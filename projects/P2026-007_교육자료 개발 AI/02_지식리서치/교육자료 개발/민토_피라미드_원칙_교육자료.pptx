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0" y="548640"/>
            <a:ext cx="2194560" cy="73152"/>
          </a:xfrm>
          <a:prstGeom prst="rect">
            <a:avLst/>
          </a:prstGeom>
          <a:solidFill>
            <a:srgbClr val="D4A843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926080" y="822960"/>
            <a:ext cx="3291840" cy="73152"/>
          </a:xfrm>
          <a:prstGeom prst="rect">
            <a:avLst/>
          </a:prstGeom>
          <a:solidFill>
            <a:srgbClr val="D4A843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1097280"/>
            <a:ext cx="4389120" cy="73152"/>
          </a:xfrm>
          <a:prstGeom prst="rect">
            <a:avLst/>
          </a:prstGeom>
          <a:solidFill>
            <a:srgbClr val="D4A843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1371600"/>
            <a:ext cx="5486400" cy="73152"/>
          </a:xfrm>
          <a:prstGeom prst="rect">
            <a:avLst/>
          </a:prstGeom>
          <a:solidFill>
            <a:srgbClr val="D4A843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민토 피라미드 원칙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Minto Pyramid Principle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논리적 글쓰기, 사고, 문제 해결의 기술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Barbara Minto 원저 기반  |  팀 교육자료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오늘의 학습 목차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1051560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C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4173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피라미드 구조인가?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인간의 인지 원리와 피라미드의 필요성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14300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43000"/>
            <a:ext cx="54864" cy="1051560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C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173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피라미드의 3가지 규칙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39496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요약, 동류 그룹핑, 논리적 순서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242316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2423160"/>
            <a:ext cx="54864" cy="1051560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C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69748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피라미드의 하위구조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8016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 관계, 수평 관계, 도입부 흐름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242316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2423160"/>
            <a:ext cx="54864" cy="1051560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24" name="Text 19"/>
          <p:cNvSpPr/>
          <p:nvPr/>
        </p:nvSpPr>
        <p:spPr>
          <a:xfrm>
            <a:off x="4892040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C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69748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SCQA 프레임워크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39496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상황-전개-질문-답변으로 도입부 작성하기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370332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48640" y="3703320"/>
            <a:ext cx="54864" cy="1051560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30" name="Text 24"/>
          <p:cNvSpPr/>
          <p:nvPr/>
        </p:nvSpPr>
        <p:spPr>
          <a:xfrm>
            <a:off x="77724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C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97764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80160" y="3813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피라미드 구축 방법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28016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탑다운 vs 바텀업 접근법과 실무 적용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663440" y="370332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663440" y="3703320"/>
            <a:ext cx="54864" cy="1051560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36" name="Text 29"/>
          <p:cNvSpPr/>
          <p:nvPr/>
        </p:nvSpPr>
        <p:spPr>
          <a:xfrm>
            <a:off x="489204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C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977640"/>
            <a:ext cx="411480" cy="4114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394960" y="3813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연습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539496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사례로 실습하기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0" y="2468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피라미드 구조인가?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인간의 두뇌가 정보를 처리하는 원리를 이해하면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글쓰기의 핵심이 보입니다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마법의 숫자 7 ±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인간의 두뇌는 한 번에 7개 이상의 정보를 처리할 수 없습니다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A. Miller의 연구에 따르면, 단기 기억은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5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5~9개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항목만 처리 가능합니다.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한계를 극복하는 방법: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정보를 논리적으로 그룹핑하여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추상화 수준을 한 단계 올리면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 대신 3개만 기억하면 됩니다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097280"/>
            <a:ext cx="3749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1208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장보기 예시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66360" y="1828800"/>
            <a:ext cx="1005840" cy="365760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828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유제품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66360" y="2286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우유, 달걀,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버터, 사워크림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1005840" cy="365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828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2286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포도, 오렌지,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43800" y="1828800"/>
            <a:ext cx="100584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1828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43800" y="2286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감자, 당근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 항목 </a:t>
            </a:r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카테고리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그룹핑 + 요약 = 피라미드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위에서 아래로 전달하라 (Top-Down)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Collins가 전화해서 3시 회의에 못 온다고 합니다. Hal Johnson은 늦게라도 괜찮다고 하는데 내일은 10:30 이전은 안 되고, Don Clifford 비서는 Clifford가 프랑크푸르트에서 내일 늦게까지 안 돌아온다고 하고, 목요일은 괜찮대요. 회의실은 내일 예약이 잡혀있고, 목요일은 비어있습니다. 목요일 11시는 어떠세요?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4023360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회의를 목요일 11시로 변경할 수 있을까요?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0" y="2468880"/>
            <a:ext cx="1005840" cy="82296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Collins와 Johnson 모두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편리한 시간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72200" y="2468880"/>
            <a:ext cx="1005840" cy="82296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Clifford도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참석 가능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15200" y="2468880"/>
            <a:ext cx="1005840" cy="82296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0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회의실도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가능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402336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메시지를 먼저, 근거는 그 아래에!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0" y="2468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피라미드의 3가지 규칙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올바른 피라미드를 구성하기 위해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지켜야 할 세 가지 원칙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피라미드의 3가지 철칙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143000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280160"/>
            <a:ext cx="640080" cy="640080"/>
          </a:xfrm>
          <a:prstGeom prst="ellipse">
            <a:avLst/>
          </a:prstGeom>
          <a:solidFill>
            <a:srgbClr val="2E5CB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레벨 = 하위의 요약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레벨의 아이디어든 그 아래 그룹핑된 아이디어들의 요약이어야 합니다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103120" cy="64008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"매출 감소의 3가지 원인" → 각 원인이 아래에 전개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80467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377440"/>
            <a:ext cx="54864" cy="1143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종류끼리 묶기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그룹의 아이디어들은 논리적으로 같은 종류여야 하며, 하나의 복수 명사로 표현 가능해야 합니다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606040"/>
            <a:ext cx="2103120" cy="64008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"이유들", "단계들", "문제점들" 등으로 라벨링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80467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703320"/>
            <a:ext cx="54864" cy="1143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9164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논리적 순서로 배열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91640" y="4160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그룹 내 아이디어들은 반드시 논리적 순서가 있어야 합니다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931920"/>
            <a:ext cx="2103120" cy="64008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시간순 / 구조순 / 중요도순 / 연역적 순서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0" y="2468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피라미드의 하위구조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 관계, 수평 관계, 도입부 흐름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하위구조가 피라미드를 완성합니다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수직 관계: 질문/답변 대화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0" y="1097280"/>
            <a:ext cx="3291840" cy="594360"/>
          </a:xfrm>
          <a:prstGeom prst="rect">
            <a:avLst/>
          </a:prstGeom>
          <a:solidFill>
            <a:srgbClr val="2E5CB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0" y="1097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 (주장)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왜? / 어떻게?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240280"/>
            <a:ext cx="2011680" cy="5029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240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2240280"/>
            <a:ext cx="2011680" cy="5029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0" y="2240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240280"/>
            <a:ext cx="2011680" cy="5029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240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왜? / 어떻게?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914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00200" y="3200400"/>
            <a:ext cx="914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0020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3200400"/>
            <a:ext cx="914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5176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92608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2926080"/>
            <a:ext cx="54864" cy="18288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 관계의 핵심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383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상위의 주장은 독자 마음속에 </a:t>
            </a:r>
            <a:pPr indent="0" marL="0">
              <a:buNone/>
            </a:pPr>
            <a:r>
              <a:rPr lang="en-US" sz="1100" b="1" dirty="0">
                <a:solidFill>
                  <a:srgbClr val="2E5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만들어냅니다.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아래 레벨에서 그 질문에 대한 </a:t>
            </a:r>
            <a:pPr indent="0" marL="0">
              <a:buNone/>
            </a:pPr>
            <a:r>
              <a:rPr lang="en-US" sz="1100" b="1" dirty="0">
                <a:solidFill>
                  <a:srgbClr val="2E5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제공합니다.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과정이 더 이상 질문이 없을 때까지 반복됩니다.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수평 관계: 연역법 vs 귀납법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연역법 (Deductive)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457200" cy="457200"/>
          </a:xfrm>
          <a:prstGeom prst="ellipse">
            <a:avLst/>
          </a:prstGeom>
          <a:solidFill>
            <a:srgbClr val="2E5CB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전제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인간은 죽는다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전제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2862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소크라테스는 인간이다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429000"/>
            <a:ext cx="457200" cy="45720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639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∴ 소크라테스는 죽는다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160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5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순차적 논증 → 결론 도출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귀납법 (Inductive)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1828800"/>
            <a:ext cx="3291840" cy="45720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프랑스 탱크가 폴란드 국경에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2423160"/>
            <a:ext cx="3291840" cy="45720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독일 탱크가 폴란드 국경에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3017520"/>
            <a:ext cx="3291840" cy="45720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러시아 탱크가 폴란드 국경에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3657600"/>
            <a:ext cx="329184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"폴란드가 탱크 침공을 받을 것이다"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4160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종류의 사실 → 패턴 추론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0" y="2468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SCQA 프레임워크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상황-전개-질문-답변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독자의 관심을 사로잡는 도입부 작성법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SCQA: 도입부의 스토리텔링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51560" y="1005840"/>
            <a:ext cx="640080" cy="640080"/>
          </a:xfrm>
          <a:prstGeom prst="ellipse">
            <a:avLst/>
          </a:prstGeom>
          <a:solidFill>
            <a:srgbClr val="2E5CB8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423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독자가 이미 알고 있는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상황을 설정합니다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474720"/>
            <a:ext cx="1920240" cy="91440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520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"현재 우리 팀은 월 보고서를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수동으로 작성하고 있습니다"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1720" y="1143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6032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237744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51760" y="2423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상황에서 발생한 문제점,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변화, 갈등을 제시합니다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3474720"/>
            <a:ext cx="1920240" cy="91440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3520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"하지만 데이터 소스가 3배로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늘어나 오류가 빈번합니다"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1143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349240" y="100584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70916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37744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2423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전개로 인해 독자 머릿속에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자연스럽게 떠오르는 질문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474720"/>
            <a:ext cx="1920240" cy="91440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520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"어떻게 하면 정확하고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효율적으로 보고할 수 있을까?"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29400" y="1143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498080" y="100584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85800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237744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49440" y="2423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피라미드 꼭대기에 위치하는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 = 당신의 답변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3474720"/>
            <a:ext cx="1920240" cy="91440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3520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"자동화 대시보드 도입을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제안드립니다"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도입부는 독자와 같은 곳에서 출발하여 자연스럽게 핵심 메시지로 이끕니다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0" y="2468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피라미드 구축 방법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탑다운(Top-Down) 접근법과 바텀업(Bottom-Up) 접근법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탑다운 vs 바텀업 접근법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탑다운 (Top-Down)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메시지를 먼저 정하고 아래로 전개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주제(Subject)를 정의한다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4505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독자가 가질 질문(Question)을 파악한다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7980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답변(Answer)을 작성한다 = 핵심 메시지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145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상황(S)-전개(C)로 질문이 유효한지 검증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493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Line에서 답변을 뒷받침할 근거를 나열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근거를 하위 레벨에서 상세 전개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주제가 명확할 때 추천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바텀업 (Bottom-Up)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아이디어를 먼저 모으고 위로 구조화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전달하고 싶은 포인트들을 모두 나열한다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4505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포인트들 간의 논리적 관계를 파악한다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27980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종류끼리 그룹핑한다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0" y="3145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그룹의 요약 문장을 작성한다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3493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요약들을 다시 상위로 그룹핑한다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최상위 핵심 메시지를 도출한다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아이디어가 흩어져 있을 때 추천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 예시: 프랜차이즈 인수 제안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0" y="1051560"/>
            <a:ext cx="4023360" cy="548640"/>
          </a:xfrm>
          <a:prstGeom prst="rect">
            <a:avLst/>
          </a:prstGeom>
          <a:solidFill>
            <a:srgbClr val="2E5CB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0" y="1051560"/>
            <a:ext cx="4023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Leyland 프랜차이즈를 인수해야 합니다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2011680" cy="594360"/>
          </a:xfrm>
          <a:prstGeom prst="rect">
            <a:avLst/>
          </a:prstGeom>
          <a:solidFill>
            <a:srgbClr val="D4A84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011680"/>
            <a:ext cx="20116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업계보다 빠르게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성장할 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2011680"/>
            <a:ext cx="2011680" cy="594360"/>
          </a:xfrm>
          <a:prstGeom prst="rect">
            <a:avLst/>
          </a:prstGeom>
          <a:solidFill>
            <a:srgbClr val="D4A84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011680"/>
            <a:ext cx="20116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긍정적 재무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기대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2011680"/>
            <a:ext cx="2011680" cy="594360"/>
          </a:xfrm>
          <a:prstGeom prst="rect">
            <a:avLst/>
          </a:prstGeom>
          <a:solidFill>
            <a:srgbClr val="D4A84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011680"/>
            <a:ext cx="20116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흡수가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용이함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914400" cy="64008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시장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점유율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00200" y="2880360"/>
            <a:ext cx="914400" cy="64008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소매 경쟁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거의 없음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08960" y="2880360"/>
            <a:ext cx="914400" cy="64008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60520" y="2880360"/>
            <a:ext cx="914400" cy="64008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증가 추세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212080" y="2880360"/>
            <a:ext cx="914400" cy="64008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수익성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897880" y="2880360"/>
            <a:ext cx="914400" cy="64008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4" name="Text 22"/>
          <p:cNvSpPr/>
          <p:nvPr/>
        </p:nvSpPr>
        <p:spPr>
          <a:xfrm>
            <a:off x="589788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사업부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49440" y="2880360"/>
            <a:ext cx="914400" cy="64008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관리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01000" y="2880360"/>
            <a:ext cx="914400" cy="640080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8" name="Text 26"/>
          <p:cNvSpPr/>
          <p:nvPr/>
        </p:nvSpPr>
        <p:spPr>
          <a:xfrm>
            <a:off x="800100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통제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840480"/>
            <a:ext cx="54864" cy="91440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023360"/>
            <a:ext cx="320040" cy="32004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8872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88720" y="4251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레벨에서 3가지 규칙이 적용됩니다. 상위는 하위의 요약이고, 같은 레벨은 같은 종류이며, 논리적 순서로 배열되어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0" y="2468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 연습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피라미드를 구축해 봅시다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연습: 이 이메일을 피라미드로 개선하세요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전: 흩어진 이메일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"지난 분기 매출이 15% 하락했고, 경쟁사 A의 신제품이 출시되었습니다. 마케팅 팀은 예산이 30% 삭감되었고, 영업 팀은 신규 고객 유치에 어려움을 겪고 있습니다. 또한 기존 고객의 이탈률이 높아지고 있으며, 고객 만족도 조사에서 서비스 응답 시간에 대한 불만이 많았습니다. R&amp;D 팀에서 개발 중인 신제품은 3개월 지연되고 있습니다. 전체적으로 조치가 필요합니다."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8046720" cy="1554480"/>
          </a:xfrm>
          <a:prstGeom prst="rect">
            <a:avLst/>
          </a:prstGeom>
          <a:solidFill>
            <a:srgbClr val="E8EE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4290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도전 과제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38404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핵심 메시지(Answer)는 무엇인가?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SCQA 프레임워크로 도입부를 구성하세요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Key Line을 3가지 이내로 정리하세요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각 Key Line의 근거를 배치하세요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요약: 오늘 배운 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2E5C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25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피라미드 구조의 이유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인간의 두뇌는 정보를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그룹핑 → 요약 → 계층화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순으로 처리합니다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06040" y="109728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06040" y="1097280"/>
            <a:ext cx="1920240" cy="5486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258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규칙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697480" y="2468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상위=하위 요약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종류끼리 묶기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논리적 순서 배열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109728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0" y="109728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3258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하위구조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46320" y="2468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수직: 질문/답변 대화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수평: 연역법 or 귀납법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도입부: SCQA 흐름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903720" y="109728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03720" y="1097280"/>
            <a:ext cx="1920240" cy="54864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3258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 방법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95160" y="2468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탑다운: 메시지→근거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바텀업: 아이디어→구조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상황에 맞게 선택!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"쓰기 전에 먼저 생각을 피라미드로 구조화하라" — Barbara Minto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1097280"/>
            <a:ext cx="2194560" cy="54864"/>
          </a:xfrm>
          <a:prstGeom prst="rect">
            <a:avLst/>
          </a:prstGeom>
          <a:solidFill>
            <a:srgbClr val="D4A84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1325880"/>
            <a:ext cx="3291840" cy="54864"/>
          </a:xfrm>
          <a:prstGeom prst="rect">
            <a:avLst/>
          </a:prstGeom>
          <a:solidFill>
            <a:srgbClr val="D4A843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377440" y="1554480"/>
            <a:ext cx="4389120" cy="54864"/>
          </a:xfrm>
          <a:prstGeom prst="rect">
            <a:avLst/>
          </a:prstGeom>
          <a:solidFill>
            <a:srgbClr val="D4A843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2011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First, Then Write.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질문이나 토론 환영합니다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민토 피라미드 원칙 - 논리적 글쓰기와 사고의 기술</dc:title>
  <dc:subject>PptxGenJS Presentation</dc:subject>
  <dc:creator>이석주</dc:creator>
  <cp:lastModifiedBy>이석주</cp:lastModifiedBy>
  <cp:revision>1</cp:revision>
  <dcterms:created xsi:type="dcterms:W3CDTF">2026-04-01T02:13:10Z</dcterms:created>
  <dcterms:modified xsi:type="dcterms:W3CDTF">2026-04-01T02:13:10Z</dcterms:modified>
</cp:coreProperties>
</file>