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9144000" cy="228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[제안발표자료]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011680" y="713232"/>
            <a:ext cx="4572000" cy="18288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630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선도기업 전략직종 직무개발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"직무디자인" 연구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108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대우인력경영컨설팅 주식회사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DAEWOO HUMAN RESOURCES MANAGEMENT CONSULTING Co., Ltd.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2026. 03.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0" name="Shape 8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E8F1FA">
              <a:alpha val="40000"/>
            </a:srgbClr>
          </a:solidFill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457200"/>
            <a:ext cx="7315200" cy="7315200"/>
          </a:xfrm>
          <a:prstGeom prst="ellipse">
            <a:avLst/>
          </a:prstGeom>
          <a:solidFill>
            <a:srgbClr val="E8F1FA">
              <a:alpha val="40000"/>
            </a:srgbClr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57200"/>
            <a:ext cx="5486400" cy="5486400"/>
          </a:xfrm>
          <a:prstGeom prst="ellipse">
            <a:avLst/>
          </a:prstGeom>
          <a:solidFill>
            <a:srgbClr val="FFFFFF">
              <a:alpha val="60000"/>
            </a:srgbClr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선도기업 전략직종 직무개발 "직무디자인" 연구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754880" y="457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1208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이해 및 제안 개요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822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연구 배경 및 목적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097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과업 범위 및 절차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371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2024~2025 수행성과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이슈사항 및 개선전략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2194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주요 이슈사항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2468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이슈 → 개선전략 매핑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수행 방안 (3대 전략)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291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직무개발 프로세스 고도화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3566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Gamification 몰입형 직무발굴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결과물 고도화 전략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1208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관리 방안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4297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4663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제안기관 일반현황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937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수행 조직 및 업무분장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5212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추진 일정 계획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5486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품질관리계획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대우인력경영컨설팅 주식회사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48006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DAEWOO HUMAN RESOURCES MANAGEMENT CONSULTING Co., Ltd.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57200"/>
            <a:ext cx="6400800" cy="6400800"/>
          </a:xfrm>
          <a:prstGeom prst="ellipse">
            <a:avLst/>
          </a:prstGeom>
          <a:solidFill>
            <a:srgbClr val="E8F1FA">
              <a:alpha val="50000"/>
            </a:srgbClr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1371600"/>
            <a:ext cx="4572000" cy="4572000"/>
          </a:xfrm>
          <a:prstGeom prst="ellipse">
            <a:avLst/>
          </a:prstGeom>
          <a:solidFill>
            <a:srgbClr val="FFFFFF">
              <a:alpha val="70000"/>
            </a:srgbClr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1828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이해 및 제안 개요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연구 배경 및 목적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과업 범위 및 절차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2024~2025 수행성과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배경 및 목적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사업 이해 및 제안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선도기업의 장애인 고용 확대를 위한 맞춤형 컨설팅을 통해 장애인에게 적합한 직무를 발굴·개발하고,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및 사례를 공유하여 유관 업종 및 산업으로 확산하는 것을 목적으로 함.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54864" cy="2743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배경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187452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장애인 적합 직무 부족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2585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'장애인 적합 직무가 부족하거나 찾지 못해서'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비율 40.0% (2025년 기업체장애인고용실태조사)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" y="28803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기업 맞춤형 직무 개발 필요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644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전략방향과 연계된 맞춤형 직무 개발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장애유형에 따른 특성을 고려한 직무 개발 필요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88620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388620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미래유망산업 직무개발 필요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702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AI·IT·디지털, 친환경 등 미래유망산업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장애인 신규 직무 개발 확대 필요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463040"/>
            <a:ext cx="54864" cy="2743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내용 및 범위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09160" y="187452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187452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선도기업 맞춤형 컨설팅 설계 및 제공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22199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240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선도기업 직무개발 컨설팅 설계 및 수행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: 선도기업 전략직종 8개소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88036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8" name="Text 26"/>
          <p:cNvSpPr/>
          <p:nvPr/>
        </p:nvSpPr>
        <p:spPr>
          <a:xfrm>
            <a:off x="4818888" y="28803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활용·확산 가능 적합직무 개발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22783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246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선도기업별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실행가능형 직무 1개 이상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전략확산형 직무 1개 이상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88620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388620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활용·확산 방안 마련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423367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251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직무개발 결과물 활용·확산 도구 개발 및 적용 지원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(기업별 3개 이상 활용도구 개발)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과업 범위 및 추진 절차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사업 이해 및 제안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과업지시서의 연구 범위 및 주요 내용을 바탕으로, 연구 절차별 수행 내용 및 방법을 다음과 같이 설정함.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54864" cy="2743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범위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83080"/>
          <a:ext cx="4114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과업 범위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주요 내용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선도기업 맞춤형 컨설팅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설계 및 제공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선도기업 직무개발 컨설팅 설계 및 수행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대상 : 선도기업 전략직종 8개소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활용·확산 가능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적합직무 개발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선도기업별 ① 실행가능형 직무 1개 이상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선도기업별 ② 전략확산형 직무 1개 이상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활용·확산 방안 마련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직무개발 결과물 활용·확산 도구 개발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(기업별 3개 이상 활용도구)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709160" y="1417320"/>
            <a:ext cx="54864" cy="2743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4" name="Text 11"/>
          <p:cNvSpPr/>
          <p:nvPr/>
        </p:nvSpPr>
        <p:spPr>
          <a:xfrm>
            <a:off x="48920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절차 및 방법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783080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연구 절차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연구 수행 내용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연구 방법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연구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구체화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장애인 고용 환경 분석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국내외 사례 분석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연구 방향 설정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문헌분석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전문가 자문회의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연구진 회의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연구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수행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M1. 요구분석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M2. 적합 직무 발굴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M3. 적합 직무 선정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M4. 직무분석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M5. 활용·확산 방안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문헌분석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전문가 자문회의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디자인팀 W/S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연구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결과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직무기술서 및 명세서 개발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연구보고서 작성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연구진 회의</a:t>
                      </a:r>
                      <a:endParaRPr lang="en-US" sz="8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최종보고회</a:t>
                      </a:r>
                      <a:endParaRPr lang="en-US" sz="8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320040" y="4114800"/>
            <a:ext cx="8503920" cy="777240"/>
          </a:xfrm>
          <a:prstGeom prst="rect">
            <a:avLst/>
          </a:prstGeom>
          <a:solidFill>
            <a:srgbClr val="E8F1FA"/>
          </a:solidFill>
          <a:ln w="6350">
            <a:solidFill>
              <a:srgbClr val="003A7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8"/>
                </a:solidFill>
              </a:rPr>
              <a:t>과업명: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2026년 선도기업 전략직종 직무개발 직무디자인 연구용역   |   </a:t>
            </a:r>
            <a:pPr indent="0" marL="0">
              <a:buNone/>
            </a:pPr>
            <a:r>
              <a:rPr lang="en-US" sz="1000" b="1" dirty="0">
                <a:solidFill>
                  <a:srgbClr val="003A78"/>
                </a:solidFill>
              </a:rPr>
              <a:t>발주기관: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한국장애인고용공단   |   </a:t>
            </a:r>
            <a:pPr indent="0" marL="0">
              <a:buNone/>
            </a:pPr>
            <a:r>
              <a:rPr lang="en-US" sz="1000" b="1" dirty="0">
                <a:solidFill>
                  <a:srgbClr val="003A78"/>
                </a:solidFill>
              </a:rPr>
              <a:t>과업기간: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계약일~'26.11.30 (8개월)   |   </a:t>
            </a:r>
            <a:pPr indent="0" marL="0">
              <a:buNone/>
            </a:pPr>
            <a:r>
              <a:rPr lang="en-US" sz="1000" b="1" dirty="0">
                <a:solidFill>
                  <a:srgbClr val="003A78"/>
                </a:solidFill>
              </a:rPr>
              <a:t>예산: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99,600천원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2024~2025년 수행 성과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사업 이해 및 제안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2024~2025년 동일 사업을 연속 수행하며 직무개발 컨설팅 방법론과 운영 체계를 축적, 발주처로부터 긍정적 평가를 획득함.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54864" cy="2743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 |  6개 선도기업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182880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 기업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1762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94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삼성전자, SK하이닉스, 한국수력원자력, 교보생명, 중앙대학교, 현대백화점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274320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성과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09067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기업별 2개 이상 장애인 적합직무 발굴 (12건 이상)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직무기술서(명세서) 개발 완료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직무개발 컨설팅 Framework 최초 구축 (5 Module, 10 Step)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일본 NIVR 모델 기반 직무발굴 체계 도입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417320"/>
            <a:ext cx="54864" cy="2743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 |  7개 선도기업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82880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182880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 기업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1762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194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스마일게이트홀딩스, 에이에이호텔매니지먼트, KT희망지음,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풀무원투게더, 한국보훈복지의료공단, 한국토지주택공사, 한진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74320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7" name="Text 25"/>
          <p:cNvSpPr/>
          <p:nvPr/>
        </p:nvSpPr>
        <p:spPr>
          <a:xfrm>
            <a:off x="4818888" y="274320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성과 및 차별화 요소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09067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1546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기업별 2개 이상 직무 발굴 (14건 이상)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003A78"/>
                </a:solidFill>
              </a:rPr>
              <a:t>Gamification 기반 직무발굴 워크숍 최초 도입 → 긍정 평가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HR 활용·확산 도구 기업별 3건 이상 개발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직무 홍보영상 제작 및 배포 완료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434840"/>
            <a:ext cx="85039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사업 2년 연속 수행  |  검증된 컨설팅 방법론 축적  |  발주처 긍정 평가 기반 2026년 고도화 추진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57200"/>
            <a:ext cx="6400800" cy="6400800"/>
          </a:xfrm>
          <a:prstGeom prst="ellipse">
            <a:avLst/>
          </a:prstGeom>
          <a:solidFill>
            <a:srgbClr val="E8F1FA">
              <a:alpha val="50000"/>
            </a:srgbClr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1371600"/>
            <a:ext cx="4572000" cy="4572000"/>
          </a:xfrm>
          <a:prstGeom prst="ellipse">
            <a:avLst/>
          </a:prstGeom>
          <a:solidFill>
            <a:srgbClr val="FFFFFF">
              <a:alpha val="70000"/>
            </a:srgbClr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1828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이슈사항 및 2026년 개선전략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2024~2025년 주요 이슈사항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이슈 → 2026 개선전략 매핑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2024~2025년 주요 이슈사항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이슈사항 및 개선전략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2년간 수행경험에서 도출된 이슈사항과 2026년 과업 변화에 따른 신규 대응 과제를 체계적으로 정리함.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536192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직무유형 구분 미흡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맞춤형/장애유형 특화 직무 구분이 불명확하여 발굴 결과의 유형별 차별성 부족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1554480"/>
            <a:ext cx="82296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1554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24~25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057400"/>
            <a:ext cx="850392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219456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참여자 몰입도 편차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395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기업별 담당자의 적극성과 이해도 차이로 워크숍 결과 품질 편차 발생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0" y="2212848"/>
            <a:ext cx="82296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22128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24~25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2715768"/>
            <a:ext cx="850392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2852928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2779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 현장 활용성 한계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3054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직무기술서 중심 산출물이 기업 HR 실무에서 바로 활용되기 어려운 구조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0" y="2871216"/>
            <a:ext cx="82296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28712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24~25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374136"/>
            <a:ext cx="850392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" y="3511296"/>
            <a:ext cx="365760" cy="365760"/>
          </a:xfrm>
          <a:prstGeom prst="ellipse">
            <a:avLst/>
          </a:prstGeom>
          <a:solidFill>
            <a:srgbClr val="003A78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기업 동시 수행 부담 (신규)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3712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8개소로 확대됨에 따라 표준화+유연화 결합 운영체계 필요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0" y="3529584"/>
            <a:ext cx="822960" cy="2743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0" y="35295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신규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4032504"/>
            <a:ext cx="850392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Shape 36"/>
          <p:cNvSpPr/>
          <p:nvPr/>
        </p:nvSpPr>
        <p:spPr>
          <a:xfrm>
            <a:off x="411480" y="4169664"/>
            <a:ext cx="365760" cy="365760"/>
          </a:xfrm>
          <a:prstGeom prst="ellipse">
            <a:avLst/>
          </a:prstGeom>
          <a:solidFill>
            <a:srgbClr val="003A78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홍보영상 제외에 따른 대안 (신규)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14400" y="4370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홍보영상 제작 과업 제외로 성과확산 대체 수단 마련 필요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72400" y="4187952"/>
            <a:ext cx="822960" cy="2743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0" y="4187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신규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이슈 → 2026 개선전략 매핑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 이슈사항 및 개선전략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2024~2025년 이슈사항을 3대 제안전략으로 체계적으로 대응, 2026년 과업 요구에 정합적으로 연결함.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63040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이슈사항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개선 방향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제안전략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직무유형 구분 미흡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실행가능형/전략확산형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이원화 트랙 운영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전략 I. 직무개발 프로세스 고도화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- 직무유형별 평가기준 차별화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- 이원화 컨설팅 프로세스 구축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참여자 몰입도 편차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기업 특성별 맞춤형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Game 도구 설계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전략 II. Gamification 기반 직무발굴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- 기업별 워크숍 도구 차별화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- 참여형 발굴 체계 고도화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결과물 활용성 한계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HR 실행도구 + 확산형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콘텐츠 이중 설계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전략 III. 결과물 고도화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- 채용/온보딩/교육 도구 개발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A78"/>
                          </a:solidFill>
                        </a:rPr>
                        <a:t>- 카드뉴스/사례 콘텐츠 제작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8개소 동시 수행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+ 홍보영상 제외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표준화+유연화 운영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대체 확산 도구 개발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전 전략 공통 적용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- 주간 진척관리 + 일정 역산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- 카드뉴스/시각화 자료 등 대체</a:t>
                      </a:r>
                      <a:endParaRPr lang="en-US" sz="9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57200"/>
            <a:ext cx="6400800" cy="6400800"/>
          </a:xfrm>
          <a:prstGeom prst="ellipse">
            <a:avLst/>
          </a:prstGeom>
          <a:solidFill>
            <a:srgbClr val="E8F1FA">
              <a:alpha val="50000"/>
            </a:srgbClr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1371600"/>
            <a:ext cx="4572000" cy="4572000"/>
          </a:xfrm>
          <a:prstGeom prst="ellipse">
            <a:avLst/>
          </a:prstGeom>
          <a:solidFill>
            <a:srgbClr val="FFFFFF">
              <a:alpha val="70000"/>
            </a:srgbClr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1828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수행 방안 (3대 제안전략)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전략 I. 실행가능형·전략확산형 대응 직무개발 프로세스 고도화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전략 II. Gamification 기반 몰입형 직무발굴 체계 구축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전략 III. HR 활용과 사업 확산을 연계한 결과물 고도화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I. 실행가능형·전략확산형 대응 직무개발 프로세스 고도화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연구 수행 방안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 유형별 목적과 평가 기준을 달리 적용하는 이원화 컨설팅 프로세스를 구축하여 직무개발의 정확성과 실효성을 제고함.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146304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 |  실행가능형 직무 개발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10512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2024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A78"/>
                </a:solidFill>
              </a:rPr>
              <a:t>목적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단기 고용성과 및 즉시 적용 가능 직무 도출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A78"/>
                </a:solidFill>
              </a:rPr>
              <a:t>핵심 검토 요소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현장 즉시 적용 가능성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기존 인프라 활용 가능성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교육·관리 용이성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단기 채용 및 운영 가능성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A78"/>
                </a:solidFill>
              </a:rPr>
              <a:t>평가 기준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67E22"/>
                </a:solidFill>
              </a:rPr>
              <a:t>실행성 · 안정성 · 적용성 중심 평가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46304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146304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 |  전략확산형 직무 개발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810512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92024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A78"/>
                </a:solidFill>
              </a:rPr>
              <a:t>목적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산업 내 파급력 및 확산 가능 직무 도출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A78"/>
                </a:solidFill>
              </a:rPr>
              <a:t>핵심 검토 요소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유사기업 확산 가능성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ESG·안전·품질·디지털 전환 파급성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직무모델화 가능성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교육훈련·확산 콘텐츠 연계 가능성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A78"/>
                </a:solidFill>
              </a:rPr>
              <a:t>평가 기준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67E22"/>
                </a:solidFill>
              </a:rPr>
              <a:t>확산성 · 모델성 · 파급성 중심 평가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solidFill>
            <a:srgbClr val="E8F1FA"/>
          </a:solidFill>
          <a:ln w="6350">
            <a:solidFill>
              <a:srgbClr val="003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일괄형 직무개발 방식이 아닌, 직무 유형별 목적에 맞는 이원화 개발 구조로 과업 적합성 제고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I. 단계별 컨설팅 프로세스 고도화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연구 수행 방안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요구분석부터 활용·확산까지 5 Module 표준 프로세스를 8개 기업 병행 수행에 맞춰 고도화함.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1600200" cy="41148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M1. 요구분석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1600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디자인팀 구성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요구조사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전략방향 수립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74520" y="1508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7E22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57400" y="1463040"/>
            <a:ext cx="1600200" cy="41148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6" name="Text 14"/>
          <p:cNvSpPr/>
          <p:nvPr/>
        </p:nvSpPr>
        <p:spPr>
          <a:xfrm>
            <a:off x="205740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M2. 적합직무발굴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57400" y="1874520"/>
            <a:ext cx="1600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0552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실행가능형 발굴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전략확산형 발굴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Gamefication W/S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1508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7E22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1463040"/>
            <a:ext cx="1600200" cy="41148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M3. 적합직무선정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1874520"/>
            <a:ext cx="1600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13632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유형별 평가기준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직무평가 실시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개발대상 선정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40680" y="1508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7E22"/>
                </a:solidFill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23560" y="1463040"/>
            <a:ext cx="1600200" cy="41148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M4. 직무분석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1874520"/>
            <a:ext cx="1600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96712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직무기술서 개발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직무프로파일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직무모형도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23760" y="1508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7E22"/>
                </a:solidFill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1463040"/>
            <a:ext cx="1600200" cy="41148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M5. 활용·확산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1874520"/>
            <a:ext cx="1600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792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활용 도구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확산 콘텐츠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적용 지원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063240"/>
            <a:ext cx="54864" cy="2743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품질관리 및 운영관리 강화 방안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3474720"/>
            <a:ext cx="2011680" cy="32004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진척관리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794760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기업 병행 수행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단위 진척관리 체계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68880" y="3474720"/>
            <a:ext cx="2011680" cy="32004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41" name="Text 39"/>
          <p:cNvSpPr/>
          <p:nvPr/>
        </p:nvSpPr>
        <p:spPr>
          <a:xfrm>
            <a:off x="246888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역산 설계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68880" y="3794760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중간보고 前 직무발굴 완료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일정 역산 설계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474720"/>
            <a:ext cx="2011680" cy="32004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45" name="Text 43"/>
          <p:cNvSpPr/>
          <p:nvPr/>
        </p:nvSpPr>
        <p:spPr>
          <a:xfrm>
            <a:off x="466344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품질 통일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3794760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작성 기준 통일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검토회의 운영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58000" y="3474720"/>
            <a:ext cx="2011680" cy="32004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49" name="Text 47"/>
          <p:cNvSpPr/>
          <p:nvPr/>
        </p:nvSpPr>
        <p:spPr>
          <a:xfrm>
            <a:off x="685800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대응 체계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58000" y="3794760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발주처 협의사항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신속 반영 체계 구축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II. Gamification 기반 몰입형 직무발굴 체계 구축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연구 수행 방안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긍정 평가받은 Gamification 기반 직무발굴 도구를 2026년 과업 특성에 맞게 고도화하여 적용함.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269748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46304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 |  경영 전략 보드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1051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92024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3A78"/>
                </a:solidFill>
              </a:rPr>
              <a:t>대상: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C-Level &amp; HR 책임자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전사적 자원 효율화 및 의무고용률 달성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ROI 극대화를 위한 자원 분배 게임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→ 실행가능형 직무 아이디어 도출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9748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46304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B  |  핵심 가치 입찰 경매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81051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92024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3A78"/>
                </a:solidFill>
              </a:rPr>
              <a:t>대상: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현업 부서장 &amp; 팀장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현장 Pain Point 해결과 부가가치 창출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세분화된 직무 리스트를 도출하는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경매 게임 → 현장 적용 직무 발굴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269748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146304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  |  시너지 연결 퍼즐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81051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92024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03A78"/>
                </a:solidFill>
              </a:rPr>
              <a:t>대상: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HR &amp; 현업 혼합 그룹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HR과 현업 간 니즈 조율 협력 퍼즐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부서 간 합의된 직무 배치 시나리오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→ 전략확산형 직무 아이디어 도출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40480"/>
            <a:ext cx="850392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고도화: 기업별 장애인 고용 적극성, 참여 부서/직급 구성, 업종 특성 반영 맞춤형 Game 도구 재설계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389120"/>
            <a:ext cx="54864" cy="2743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 몰입도 제고 장치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709160"/>
            <a:ext cx="2011680" cy="292608"/>
          </a:xfrm>
          <a:prstGeom prst="rect">
            <a:avLst/>
          </a:prstGeom>
          <a:solidFill>
            <a:srgbClr val="E8F1FA"/>
          </a:solidFill>
          <a:ln w="6350">
            <a:solidFill>
              <a:srgbClr val="003A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709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질문카드·씨앗카드·공감칩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68880" y="4709160"/>
            <a:ext cx="2011680" cy="292608"/>
          </a:xfrm>
          <a:prstGeom prst="rect">
            <a:avLst/>
          </a:prstGeom>
          <a:solidFill>
            <a:srgbClr val="E8F1FA"/>
          </a:solidFill>
          <a:ln w="6350">
            <a:solidFill>
              <a:srgbClr val="003A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709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개별발상→공유→공감→보완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4709160"/>
            <a:ext cx="2011680" cy="292608"/>
          </a:xfrm>
          <a:prstGeom prst="rect">
            <a:avLst/>
          </a:prstGeom>
          <a:solidFill>
            <a:srgbClr val="E8F1FA"/>
          </a:solidFill>
          <a:ln w="6350">
            <a:solidFill>
              <a:srgbClr val="003A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709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시각화·군집화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0" y="4709160"/>
            <a:ext cx="2011680" cy="292608"/>
          </a:xfrm>
          <a:prstGeom prst="rect">
            <a:avLst/>
          </a:prstGeom>
          <a:solidFill>
            <a:srgbClr val="E8F1FA"/>
          </a:solidFill>
          <a:ln w="6350">
            <a:solidFill>
              <a:srgbClr val="003A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4709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후보군 Pool 표준양식화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II. 직무유형 구분형 아이디어 발굴 구조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연구 수행 방안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발산 단계부터 '즉시 적용형'과 '확산 모델형'을 구분하여 수집·정리하는 구조를 적용함.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146304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실행가능형 직무 아이디어 발굴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10512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202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현장 업무부담 경감 중심 아이디어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기존 업무 재구성 기반 아이디어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빠른 교육·적응 가능 아이디어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기존 인프라 활용 가능 아이디어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46304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146304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전략확산형 직무 아이디어 발굴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810512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9202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산업 공통 업무 기반 아이디어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ESG·디지털·안전·품질 가치 반영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타기업 벤치마킹 가능 아이디어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모델화·콘텐츠화 가능 아이디어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566160"/>
            <a:ext cx="54864" cy="2743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II 차별화 포인트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977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8"/>
                </a:solidFill>
              </a:rPr>
              <a:t>1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단순 브레인스토밍이 아닌 게임화된 참여형 발굴 체계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33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8"/>
                </a:solidFill>
              </a:rPr>
              <a:t>2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직무발굴 단계부터 실행가능형·전략확산형 구분이 가능한 구조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4897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8"/>
                </a:solidFill>
              </a:rPr>
              <a:t>3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참여자 심리적 부담을 줄이면서도 아이디어 생산성을 높이는 설계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4573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8"/>
                </a:solidFill>
              </a:rPr>
              <a:t>4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기존 수행경험을 바탕으로 효과성이 검증된 도구의 고도화 적용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III. HR 활용과 사업 확산을 연계한 결과물 고도화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연구 수행 방안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직무개발 결과물을 기업 HR 실행도구 + 공단 성과확산 콘텐츠의 이중 구조로 설계하여 현장 활용성 강화.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146304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HR 활용형 결과물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10512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2024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A78"/>
                </a:solidFill>
              </a:rPr>
              <a:t>실행가능형 직무 (채용·배치 중심)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직무기술서 / 직무프로파일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채용 면접 질문지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온보딩 지원자료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직무교육자료 / 업무관리 체크리스트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A78"/>
                </a:solidFill>
              </a:rPr>
              <a:t>전략확산형 직무 (확산·홍보 중심)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직무로드맵 / 경력개발경로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직원 인식개선 교육자료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직무평가 도구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46304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146304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공단 성과 확산형 결과물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810512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92024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67E22"/>
                </a:solidFill>
              </a:rPr>
              <a:t>홍보영상 제외 대응 전략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카드뉴스 콘텐츠 제작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사례요약형 콘텐츠 개발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직무모델 요약자료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시각화 인포그래픽 자료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3A78"/>
                </a:solidFill>
              </a:rPr>
              <a:t>활용 목적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공단 사업 성과 홍보 및 대외 확산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유사업종 현장 보급 자료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전략확산형 직무 중심 모델화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III. 현장 적용 지원 및 HR 진단 체계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연구 수행 방안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장애인 근로자 HRM &amp; HRD 진단을 통해 우선순위를 도출하고, 기업별 3개 이상 활용 결과물을 개발·적용 지원함.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463040"/>
            <a:ext cx="1600200" cy="45720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도구 개발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920240"/>
            <a:ext cx="1600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지원 영역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체크리스트 작성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7E22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65960" y="1463040"/>
            <a:ext cx="1600200" cy="45720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6" name="Text 14"/>
          <p:cNvSpPr/>
          <p:nvPr/>
        </p:nvSpPr>
        <p:spPr>
          <a:xfrm>
            <a:off x="196596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진단 인터뷰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65960" y="1920240"/>
            <a:ext cx="1600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39112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장애인 적합 직무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적용 방안 논의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7E22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1463040"/>
            <a:ext cx="1600200" cy="45720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결과 도출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1920240"/>
            <a:ext cx="1600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22192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직무체계/모집선발/교육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훈련/평가/보상 진단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49240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7E22"/>
                </a:solidFill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32120" y="1463040"/>
            <a:ext cx="1600200" cy="45720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도구 선정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32120" y="1920240"/>
            <a:ext cx="1600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05272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기업별 3개 이상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 결과물 선정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32320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7E22"/>
                </a:solidFill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0" y="1463040"/>
            <a:ext cx="1600200" cy="45720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적용 지원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1920240"/>
            <a:ext cx="1600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88352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채용/배치/교육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사용성 확보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2788920"/>
            <a:ext cx="54864" cy="2743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III 차별화 포인트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3200400"/>
            <a:ext cx="2011680" cy="32004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→ 실행도구 전환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5204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결과물을 단순 보고서가 아닌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HR 실행도구로 전환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68880" y="3200400"/>
            <a:ext cx="2011680" cy="32004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41" name="Text 39"/>
          <p:cNvSpPr/>
          <p:nvPr/>
        </p:nvSpPr>
        <p:spPr>
          <a:xfrm>
            <a:off x="246888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과업 요구 이상의 확장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68880" y="35204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과업지시서 요구를 넘어서는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확장형 활용 결과물 제안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200400"/>
            <a:ext cx="2011680" cy="32004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45" name="Text 43"/>
          <p:cNvSpPr/>
          <p:nvPr/>
        </p:nvSpPr>
        <p:spPr>
          <a:xfrm>
            <a:off x="466344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유형별 목적 구분 설계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35204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실행가능형과 전략확산형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직무의 활용 목적 구분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58000" y="3200400"/>
            <a:ext cx="2011680" cy="32004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49" name="Text 47"/>
          <p:cNvSpPr/>
          <p:nvPr/>
        </p:nvSpPr>
        <p:spPr>
          <a:xfrm>
            <a:off x="685800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활용 구조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58000" y="35204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공단 성과확산 + 기업 실무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활용을 동시 고려한 설계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4297680"/>
            <a:ext cx="8503920" cy="640080"/>
          </a:xfrm>
          <a:prstGeom prst="rect">
            <a:avLst/>
          </a:prstGeom>
          <a:solidFill>
            <a:srgbClr val="E8F1FA"/>
          </a:solidFill>
          <a:ln w="6350">
            <a:solidFill>
              <a:srgbClr val="003A7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3434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8"/>
                </a:solidFill>
              </a:rPr>
              <a:t>기대효과   |  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직무개발 결과물의 현장 활용도 제고  /  기업의 채용·적응·교육 운영 지원 강화  /  공단 사업성과의 대외 확산 기반 확보  /  전략확산형 직무의 산업 모델화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3대 제안전략 종합 체계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 연구 수행 방안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3대 제안전략은 2026년 과업의 핵심 요구에 정합적으로 대응하는 체계적 수행 프레임워크를 구성함.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63040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전략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핵심 목적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핵심 차별점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기대효과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8"/>
                          </a:solidFill>
                        </a:rPr>
                        <a:t>I. 직무개발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8"/>
                          </a:solidFill>
                        </a:rPr>
                        <a:t>프로세스 고도화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2026 과업구조에 정합적인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직무개발 수행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8"/>
                          </a:solidFill>
                        </a:rPr>
                        <a:t>직무유형별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8"/>
                          </a:solidFill>
                        </a:rPr>
                        <a:t>이원화 프로세스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과업 적합성 제고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현장 적용 가능성 강화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8"/>
                          </a:solidFill>
                        </a:rPr>
                        <a:t>II. Gamification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8"/>
                          </a:solidFill>
                        </a:rPr>
                        <a:t>몰입형 직무발굴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창의적이면서도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실현 가능한 직무후보 발굴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8"/>
                          </a:solidFill>
                        </a:rPr>
                        <a:t>게임화된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8"/>
                          </a:solidFill>
                        </a:rPr>
                        <a:t>참여형 발굴 방식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직무 아이디어 다양성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참여자 협업 수준 향상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8"/>
                          </a:solidFill>
                        </a:rPr>
                        <a:t>III. 결과물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8"/>
                          </a:solidFill>
                        </a:rPr>
                        <a:t>고도화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결과물의 현장 활용성과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확산성 강화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8"/>
                          </a:solidFill>
                        </a:rPr>
                        <a:t>HR 실행도구 +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8"/>
                          </a:solidFill>
                        </a:rPr>
                        <a:t>확산형 콘텐츠 동시 설계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현장 활용도 제고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사업성과 확산 기반 확보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3794760"/>
            <a:ext cx="8503920" cy="100584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8404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67E22"/>
                </a:solidFill>
              </a:rPr>
              <a:t>핵심 메시지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2024~2025년 동일 사업 수행을 통해 축적한 검증된 방법론과 운영 경험을 기반으로,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2026년 과업의 핵심 요구(실행가능형/전략확산형 구분, 8개소 동시 수행, 결과물 활용성 강화)에 정합적으로 대응합니다.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57200"/>
            <a:ext cx="6400800" cy="6400800"/>
          </a:xfrm>
          <a:prstGeom prst="ellipse">
            <a:avLst/>
          </a:prstGeom>
          <a:solidFill>
            <a:srgbClr val="E8F1FA">
              <a:alpha val="50000"/>
            </a:srgbClr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1371600"/>
            <a:ext cx="4572000" cy="4572000"/>
          </a:xfrm>
          <a:prstGeom prst="ellipse">
            <a:avLst/>
          </a:prstGeom>
          <a:solidFill>
            <a:srgbClr val="FFFFFF">
              <a:alpha val="70000"/>
            </a:srgbClr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1828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관리 방안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2514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제안기관 일반현황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수행 조직 및 업무분장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추진 일정 계획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품질관리계획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제안기관 일반현황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연구 관리 방안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경영·HRM·HRD·노무법률 자문 파트너 기관과의 협업을 통해 요구에 따른 맞춤형 컨설팅을 수행할 계획임.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146304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현황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10512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20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 관 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1920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대우인력경영컨설팅(주)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2677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 표 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0200" y="22677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박준석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6151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분야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26151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경영컨설팅, 학술연구용역, 평생교육시설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29626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 재 지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00200" y="29626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서울시 금천구 가산디지털1로 131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3101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설립 연도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3310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11월 (대우경영컨설팅 법인분할)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46304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146304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과업 수행 경험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810512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92024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3A78"/>
                </a:solidFill>
              </a:rPr>
              <a:t>2024년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선도기업 전략직종 직무개발 직무디자인 연구용역 (한국장애인고용공단)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3A78"/>
                </a:solidFill>
              </a:rPr>
              <a:t>2025년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</a:rPr>
              <a:t>선도기업 전략직종 직무개발 직무디자인 연구용역 (한국장애인고용공단)
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67E22"/>
                </a:solidFill>
              </a:rPr>
              <a:t>→ 동일 사업 2년 연속 수행 기관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023360"/>
            <a:ext cx="54864" cy="2743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협력 파트너 네트워크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4434840"/>
            <a:ext cx="2011680" cy="32004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시앤피컨설팅(주)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75488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773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HRM·HRD 컨설팅 (88명)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68880" y="4434840"/>
            <a:ext cx="2011680" cy="32004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4" name="Text 32"/>
          <p:cNvSpPr/>
          <p:nvPr/>
        </p:nvSpPr>
        <p:spPr>
          <a:xfrm>
            <a:off x="246888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대우경영컨설팅(주)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68880" y="475488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4773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 컨설팅 (21명)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3440" y="4434840"/>
            <a:ext cx="2011680" cy="32004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시앤피노무법인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75488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773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노무법률 자문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58000" y="4434840"/>
            <a:ext cx="2011680" cy="32004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0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비즈허브코리아(주)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4773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파트너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 조직 및 업무분장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연구 관리 방안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7명의 연구진을 투입하고, 기업별 직무개발 디자인팀을 구성하여 선도기업 맞춤형 컨설팅을 수행할 계획임.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743200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책임자 (총괄 PM)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 입력]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0" cy="228600"/>
          </a:xfrm>
          <a:prstGeom prst="line">
            <a:avLst/>
          </a:prstGeom>
          <a:noFill/>
          <a:ln w="12700">
            <a:solidFill>
              <a:srgbClr val="003A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148840"/>
            <a:ext cx="6400800" cy="0"/>
          </a:xfrm>
          <a:prstGeom prst="line">
            <a:avLst/>
          </a:prstGeom>
          <a:noFill/>
          <a:ln w="12700">
            <a:solidFill>
              <a:srgbClr val="003A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148840"/>
            <a:ext cx="0" cy="137160"/>
          </a:xfrm>
          <a:prstGeom prst="line">
            <a:avLst/>
          </a:prstGeom>
          <a:noFill/>
          <a:ln w="12700">
            <a:solidFill>
              <a:srgbClr val="003A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148840"/>
            <a:ext cx="0" cy="137160"/>
          </a:xfrm>
          <a:prstGeom prst="line">
            <a:avLst/>
          </a:prstGeom>
          <a:noFill/>
          <a:ln w="12700">
            <a:solidFill>
              <a:srgbClr val="003A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2148840"/>
            <a:ext cx="0" cy="137160"/>
          </a:xfrm>
          <a:prstGeom prst="line">
            <a:avLst/>
          </a:prstGeom>
          <a:noFill/>
          <a:ln w="12700">
            <a:solidFill>
              <a:srgbClr val="003A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286000"/>
            <a:ext cx="2560320" cy="3657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수행 부문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2560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[성명] 수석연구원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[성명] 책임연구원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286000"/>
            <a:ext cx="2560320" cy="3657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컨설팅 수행 부문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651760"/>
            <a:ext cx="2560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[성명] 책임연구원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[성명] 선임연구원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[성명] 선임연구원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286000"/>
            <a:ext cx="2560320" cy="3657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품질관리 부문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651760"/>
            <a:ext cx="2560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[성명] 센터장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(겸임)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65760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" y="365760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장애인 전문가 자문위원회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00507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41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장애인직업능력평가사 및 관련 교수진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한국장애인고용공단 추천 전문가 활용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657600"/>
            <a:ext cx="411480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4" name="Text 32"/>
          <p:cNvSpPr/>
          <p:nvPr/>
        </p:nvSpPr>
        <p:spPr>
          <a:xfrm>
            <a:off x="4818888" y="365760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컨설팅 수행 '디자인팀' (기업별 구성)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400507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041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컨설턴트(HR전문가, FT) + 장애인전문가(공단) + 기업 HR 담당자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일정 계획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연구 관리 방안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계약일로부터 '26.11.30까지 약 8개월 간 추진되며, 단계별 추진 일정 계획은 다음과 같음.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63040"/>
          <a:ext cx="8503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00100"/>
                <a:gridCol w="800100"/>
                <a:gridCol w="800100"/>
                <a:gridCol w="800100"/>
                <a:gridCol w="800100"/>
                <a:gridCol w="800100"/>
                <a:gridCol w="800100"/>
                <a:gridCol w="8001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수행 업무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55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5월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6월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7월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8월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9월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10월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11월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</a:rPr>
                        <a:t>연구 구체화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</a:rPr>
                        <a:t>M1. 요구분석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</a:rPr>
                        <a:t>M2. 적합 직무 발굴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</a:rPr>
                        <a:t>M3. 적합 직무 선정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</a:rPr>
                        <a:t>M4. 직무분석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</a:rPr>
                        <a:t>M5. 활용·확산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</a:rPr>
                        <a:t>보고서 작성 및 마무리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377440" y="4297680"/>
            <a:ext cx="109728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9"/>
          <p:cNvSpPr/>
          <p:nvPr/>
        </p:nvSpPr>
        <p:spPr>
          <a:xfrm>
            <a:off x="237744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착수보고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212080" y="4297680"/>
            <a:ext cx="109728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중간보고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498080" y="4297680"/>
            <a:ext cx="109728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최종보고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91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품질관리 계획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91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 연구 관리 방안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9436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5029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성공적인 연구 수행을 위한 사업운영관리 및 선도기업별 맞춤형 컨설팅 산출물 관리 체계를 수립함.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269748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46304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사업운영 관리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10512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202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착수보고 및 모니터링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주간/월간 보고 체계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중간보고 / 최종보고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추진현황 및 Issue 정리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9748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46304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컨설팅 품질 관리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810512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9202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작성 기준 통일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검토회의 운영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전문가 자문 병행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발주처 실시간 협의 체계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2697480" cy="347472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146304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관리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810512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9202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기업별 만족도 조사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직무개발 결과 내용 검증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활용도 평가 및 피드백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개선방안 도출 및 반영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383280"/>
            <a:ext cx="54864" cy="27432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컨설팅 Module별 주요 산출물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49040"/>
          <a:ext cx="8503920" cy="914400"/>
        </p:xfrm>
        <a:graphic>
          <a:graphicData uri="http://schemas.openxmlformats.org/drawingml/2006/table">
            <a:tbl>
              <a:tblPr/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M1. 요구분석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M2. 직무발굴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M3. 직무선정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M4. 직무분석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M5. 활용·확산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요구분석 결과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컨설팅 전략방향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실행가능형 후보군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전략확산형 후보군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직무평가 도구/결과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적합 직무 선정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직무모형도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직무프로파일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HR 활용 도구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74151"/>
                          </a:solidFill>
                        </a:rPr>
                        <a:t>확산형 콘텐츠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029200" cy="5029200"/>
          </a:xfrm>
          <a:prstGeom prst="ellipse">
            <a:avLst/>
          </a:prstGeom>
          <a:solidFill>
            <a:srgbClr val="E8F1FA">
              <a:alpha val="50000"/>
            </a:srgbClr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2860"/>
          </a:xfrm>
          <a:prstGeom prst="rect">
            <a:avLst/>
          </a:prstGeom>
          <a:solidFill>
            <a:srgbClr val="003A78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선도기업 전략직종 직무개발 "직무디자인" 연구용역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대우인력경영컨설팅 주식회사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566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DAEWOO HUMAN RESOURCES MANAGEMENT CONSULTING Co., Ltd.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03A7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선도기업 전략직종 직무개발 직무디자인 연구용역 제안발표</dc:title>
  <dc:subject>PptxGenJS Presentation</dc:subject>
  <dc:creator>대우인력경영컨설팅</dc:creator>
  <cp:lastModifiedBy>대우인력경영컨설팅</cp:lastModifiedBy>
  <cp:revision>1</cp:revision>
  <dcterms:created xsi:type="dcterms:W3CDTF">2026-03-16T13:53:31Z</dcterms:created>
  <dcterms:modified xsi:type="dcterms:W3CDTF">2026-03-16T13:53:31Z</dcterms:modified>
</cp:coreProperties>
</file>