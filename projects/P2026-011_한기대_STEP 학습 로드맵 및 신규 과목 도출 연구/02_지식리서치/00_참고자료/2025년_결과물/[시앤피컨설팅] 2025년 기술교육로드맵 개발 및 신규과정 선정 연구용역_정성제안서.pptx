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2">
  <p:sldMasterIdLst>
    <p:sldMasterId id="2147484366" r:id="rId1"/>
  </p:sldMasterIdLst>
  <p:notesMasterIdLst>
    <p:notesMasterId r:id="rId70"/>
  </p:notesMasterIdLst>
  <p:handoutMasterIdLst>
    <p:handoutMasterId r:id="rId71"/>
  </p:handoutMasterIdLst>
  <p:sldIdLst>
    <p:sldId id="5392" r:id="rId2"/>
    <p:sldId id="5462" r:id="rId3"/>
    <p:sldId id="5463" r:id="rId4"/>
    <p:sldId id="5465" r:id="rId5"/>
    <p:sldId id="3308" r:id="rId6"/>
    <p:sldId id="5378" r:id="rId7"/>
    <p:sldId id="5592" r:id="rId8"/>
    <p:sldId id="5379" r:id="rId9"/>
    <p:sldId id="5398" r:id="rId10"/>
    <p:sldId id="5428" r:id="rId11"/>
    <p:sldId id="5380" r:id="rId12"/>
    <p:sldId id="5377" r:id="rId13"/>
    <p:sldId id="5353" r:id="rId14"/>
    <p:sldId id="5354" r:id="rId15"/>
    <p:sldId id="5429" r:id="rId16"/>
    <p:sldId id="5571" r:id="rId17"/>
    <p:sldId id="5572" r:id="rId18"/>
    <p:sldId id="5573" r:id="rId19"/>
    <p:sldId id="5576" r:id="rId20"/>
    <p:sldId id="5593" r:id="rId21"/>
    <p:sldId id="5577" r:id="rId22"/>
    <p:sldId id="5579" r:id="rId23"/>
    <p:sldId id="5580" r:id="rId24"/>
    <p:sldId id="5589" r:id="rId25"/>
    <p:sldId id="5590" r:id="rId26"/>
    <p:sldId id="5591" r:id="rId27"/>
    <p:sldId id="5581" r:id="rId28"/>
    <p:sldId id="5582" r:id="rId29"/>
    <p:sldId id="5594" r:id="rId30"/>
    <p:sldId id="5595" r:id="rId31"/>
    <p:sldId id="5596" r:id="rId32"/>
    <p:sldId id="5599" r:id="rId33"/>
    <p:sldId id="5598" r:id="rId34"/>
    <p:sldId id="5586" r:id="rId35"/>
    <p:sldId id="5445" r:id="rId36"/>
    <p:sldId id="5363" r:id="rId37"/>
    <p:sldId id="5466" r:id="rId38"/>
    <p:sldId id="5446" r:id="rId39"/>
    <p:sldId id="5418" r:id="rId40"/>
    <p:sldId id="5458" r:id="rId41"/>
    <p:sldId id="5459" r:id="rId42"/>
    <p:sldId id="5447" r:id="rId43"/>
    <p:sldId id="5352" r:id="rId44"/>
    <p:sldId id="5448" r:id="rId45"/>
    <p:sldId id="5449" r:id="rId46"/>
    <p:sldId id="5427" r:id="rId47"/>
    <p:sldId id="5423" r:id="rId48"/>
    <p:sldId id="5424" r:id="rId49"/>
    <p:sldId id="5460" r:id="rId50"/>
    <p:sldId id="5401" r:id="rId51"/>
    <p:sldId id="5422" r:id="rId52"/>
    <p:sldId id="5450" r:id="rId53"/>
    <p:sldId id="5451" r:id="rId54"/>
    <p:sldId id="5405" r:id="rId55"/>
    <p:sldId id="5406" r:id="rId56"/>
    <p:sldId id="5408" r:id="rId57"/>
    <p:sldId id="5409" r:id="rId58"/>
    <p:sldId id="5452" r:id="rId59"/>
    <p:sldId id="5453" r:id="rId60"/>
    <p:sldId id="5454" r:id="rId61"/>
    <p:sldId id="5455" r:id="rId62"/>
    <p:sldId id="5425" r:id="rId63"/>
    <p:sldId id="5414" r:id="rId64"/>
    <p:sldId id="5416" r:id="rId65"/>
    <p:sldId id="5417" r:id="rId66"/>
    <p:sldId id="5456" r:id="rId67"/>
    <p:sldId id="5457" r:id="rId68"/>
    <p:sldId id="5554" r:id="rId69"/>
  </p:sldIdLst>
  <p:sldSz cx="9906000" cy="6858000" type="A4"/>
  <p:notesSz cx="6797675" cy="9926638"/>
  <p:custDataLst>
    <p:tags r:id="rId72"/>
  </p:custDataLst>
  <p:defaultTextStyle>
    <a:defPPr>
      <a:defRPr lang="en-US"/>
    </a:defPPr>
    <a:lvl1pPr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1pPr>
    <a:lvl2pPr marL="4572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2pPr>
    <a:lvl3pPr marL="9144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3pPr>
    <a:lvl4pPr marL="13716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4pPr>
    <a:lvl5pPr marL="18288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sz="12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sz="12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sz="12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sz="1200" kern="1200">
        <a:solidFill>
          <a:schemeClr val="tx1"/>
        </a:solidFill>
        <a:latin typeface="맑은 고딕" pitchFamily="50" charset="-127"/>
        <a:ea typeface="맑은 고딕" pitchFamily="50" charset="-127"/>
        <a:cs typeface="+mn-cs"/>
      </a:defRPr>
    </a:lvl9pPr>
  </p:defaultTextStyle>
  <p:extLst>
    <p:ext uri="{521415D9-36F7-43E2-AB2F-B90AF26B5E84}">
      <p14:sectionLst xmlns:p14="http://schemas.microsoft.com/office/powerpoint/2010/main">
        <p14:section name="기본 구역" id="{AA3CC9E5-8D80-4DB1-8A65-433D1802B4CD}">
          <p14:sldIdLst>
            <p14:sldId id="5392"/>
            <p14:sldId id="5462"/>
            <p14:sldId id="5463"/>
            <p14:sldId id="5465"/>
          </p14:sldIdLst>
        </p14:section>
        <p14:section name="Ⅰ. 제안개요" id="{5B50240C-65C1-431E-B0B5-D2E4D9C8F299}">
          <p14:sldIdLst>
            <p14:sldId id="3308"/>
            <p14:sldId id="5378"/>
            <p14:sldId id="5592"/>
            <p14:sldId id="5379"/>
            <p14:sldId id="5398"/>
            <p14:sldId id="5428"/>
            <p14:sldId id="5380"/>
            <p14:sldId id="5377"/>
            <p14:sldId id="5353"/>
          </p14:sldIdLst>
        </p14:section>
        <p14:section name="Ⅱ. 제안 내용" id="{28CCB4CD-9E9B-425B-B19C-1A7B43782A46}">
          <p14:sldIdLst>
            <p14:sldId id="5354"/>
            <p14:sldId id="5429"/>
            <p14:sldId id="5571"/>
            <p14:sldId id="5572"/>
            <p14:sldId id="5573"/>
            <p14:sldId id="5576"/>
            <p14:sldId id="5593"/>
            <p14:sldId id="5577"/>
            <p14:sldId id="5579"/>
            <p14:sldId id="5580"/>
            <p14:sldId id="5589"/>
            <p14:sldId id="5590"/>
            <p14:sldId id="5591"/>
            <p14:sldId id="5581"/>
            <p14:sldId id="5582"/>
            <p14:sldId id="5594"/>
            <p14:sldId id="5595"/>
            <p14:sldId id="5596"/>
            <p14:sldId id="5599"/>
            <p14:sldId id="5598"/>
            <p14:sldId id="5586"/>
            <p14:sldId id="5445"/>
            <p14:sldId id="5363"/>
          </p14:sldIdLst>
        </p14:section>
        <p14:section name="Ⅲ. 수행조직 및 업무분장" id="{3E55C46D-37CA-4BEB-8E45-FD1AC1DBF063}">
          <p14:sldIdLst>
            <p14:sldId id="5466"/>
            <p14:sldId id="5446"/>
            <p14:sldId id="5418"/>
            <p14:sldId id="5458"/>
            <p14:sldId id="5459"/>
            <p14:sldId id="5447"/>
          </p14:sldIdLst>
        </p14:section>
        <p14:section name="Ⅳ. 제안업체 일반" id="{C147B914-FB8A-4C39-B769-44D6A2DFE8E5}">
          <p14:sldIdLst>
            <p14:sldId id="5352"/>
            <p14:sldId id="5448"/>
            <p14:sldId id="5449"/>
            <p14:sldId id="5427"/>
            <p14:sldId id="5423"/>
            <p14:sldId id="5424"/>
          </p14:sldIdLst>
        </p14:section>
        <p14:section name="[부록]" id="{D411A901-74F7-4D4F-A324-8936445F4D93}">
          <p14:sldIdLst>
            <p14:sldId id="5460"/>
            <p14:sldId id="5401"/>
            <p14:sldId id="5422"/>
            <p14:sldId id="5450"/>
            <p14:sldId id="5451"/>
            <p14:sldId id="5405"/>
            <p14:sldId id="5406"/>
            <p14:sldId id="5408"/>
            <p14:sldId id="5409"/>
            <p14:sldId id="5452"/>
            <p14:sldId id="5453"/>
            <p14:sldId id="5454"/>
            <p14:sldId id="5455"/>
            <p14:sldId id="5425"/>
            <p14:sldId id="5414"/>
            <p14:sldId id="5416"/>
            <p14:sldId id="5417"/>
            <p14:sldId id="5456"/>
            <p14:sldId id="5457"/>
            <p14:sldId id="5554"/>
          </p14:sldIdLst>
        </p14:section>
      </p14:sectionLst>
    </p:ext>
    <p:ext uri="{EFAFB233-063F-42B5-8137-9DF3F51BA10A}">
      <p15:sldGuideLst xmlns:p15="http://schemas.microsoft.com/office/powerpoint/2012/main">
        <p15:guide id="10" pos="3007" userDrawn="1">
          <p15:clr>
            <a:srgbClr val="A4A3A4"/>
          </p15:clr>
        </p15:guide>
        <p15:guide id="11" pos="3233" userDrawn="1">
          <p15:clr>
            <a:srgbClr val="A4A3A4"/>
          </p15:clr>
        </p15:guide>
        <p15:guide id="12" orient="horz" pos="2183" userDrawn="1">
          <p15:clr>
            <a:srgbClr val="A4A3A4"/>
          </p15:clr>
        </p15:guide>
        <p15:guide id="13" orient="horz" pos="1321"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이 나강" initials="이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E55"/>
    <a:srgbClr val="A4A3A4"/>
    <a:srgbClr val="3061A3"/>
    <a:srgbClr val="DBEEF4"/>
    <a:srgbClr val="F2F2F2"/>
    <a:srgbClr val="9D9C9D"/>
    <a:srgbClr val="DCF1F9"/>
    <a:srgbClr val="287CF8"/>
    <a:srgbClr val="13C2E8"/>
    <a:srgbClr val="82B5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62" autoAdjust="0"/>
    <p:restoredTop sz="96400" autoAdjust="0"/>
  </p:normalViewPr>
  <p:slideViewPr>
    <p:cSldViewPr snapToObjects="1" showGuides="1">
      <p:cViewPr varScale="1">
        <p:scale>
          <a:sx n="110" d="100"/>
          <a:sy n="110" d="100"/>
        </p:scale>
        <p:origin x="1482" y="96"/>
      </p:cViewPr>
      <p:guideLst>
        <p:guide pos="3007"/>
        <p:guide pos="3233"/>
        <p:guide orient="horz" pos="2183"/>
        <p:guide orient="horz" pos="1321"/>
      </p:guideLst>
    </p:cSldViewPr>
  </p:slideViewPr>
  <p:outlineViewPr>
    <p:cViewPr>
      <p:scale>
        <a:sx n="33" d="100"/>
        <a:sy n="33" d="100"/>
      </p:scale>
      <p:origin x="0" y="-19062"/>
    </p:cViewPr>
  </p:outlineViewPr>
  <p:notesTextViewPr>
    <p:cViewPr>
      <p:scale>
        <a:sx n="3" d="2"/>
        <a:sy n="3" d="2"/>
      </p:scale>
      <p:origin x="0" y="0"/>
    </p:cViewPr>
  </p:notesTextViewPr>
  <p:sorterViewPr>
    <p:cViewPr>
      <p:scale>
        <a:sx n="66" d="100"/>
        <a:sy n="66" d="100"/>
      </p:scale>
      <p:origin x="0" y="0"/>
    </p:cViewPr>
  </p:sorterViewPr>
  <p:notesViewPr>
    <p:cSldViewPr snapToObjects="1" showGuides="1">
      <p:cViewPr varScale="1">
        <p:scale>
          <a:sx n="77" d="100"/>
          <a:sy n="77" d="100"/>
        </p:scale>
        <p:origin x="4002" y="102"/>
      </p:cViewPr>
      <p:guideLst>
        <p:guide orient="horz" pos="3127"/>
        <p:guide pos="2142"/>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537720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3" y="13"/>
            <a:ext cx="2946398" cy="500063"/>
          </a:xfrm>
          <a:prstGeom prst="rect">
            <a:avLst/>
          </a:prstGeom>
          <a:noFill/>
          <a:ln w="9525">
            <a:noFill/>
            <a:miter lim="800000"/>
            <a:headEnd/>
            <a:tailEnd/>
          </a:ln>
          <a:effectLst/>
        </p:spPr>
        <p:txBody>
          <a:bodyPr vert="horz" wrap="square" lIns="19098" tIns="0" rIns="19098" bIns="0" numCol="1" anchor="t" anchorCtr="0" compatLnSpc="1">
            <a:prstTxWarp prst="textNoShape">
              <a:avLst/>
            </a:prstTxWarp>
          </a:bodyPr>
          <a:lstStyle>
            <a:lvl1pPr algn="l" defTabSz="917115" latinLnBrk="0">
              <a:buFontTx/>
              <a:buNone/>
              <a:defRPr sz="1000" i="1">
                <a:latin typeface="Arial" pitchFamily="34" charset="0"/>
                <a:ea typeface="굴림" pitchFamily="50" charset="-127"/>
              </a:defRPr>
            </a:lvl1pPr>
          </a:lstStyle>
          <a:p>
            <a:pPr>
              <a:defRPr/>
            </a:pPr>
            <a:endParaRPr lang="en-US" altLang="ko-KR"/>
          </a:p>
        </p:txBody>
      </p:sp>
      <p:sp>
        <p:nvSpPr>
          <p:cNvPr id="2051" name="Rectangle 3"/>
          <p:cNvSpPr>
            <a:spLocks noGrp="1" noChangeArrowheads="1"/>
          </p:cNvSpPr>
          <p:nvPr>
            <p:ph type="dt" idx="1"/>
          </p:nvPr>
        </p:nvSpPr>
        <p:spPr bwMode="auto">
          <a:xfrm>
            <a:off x="3851282" y="13"/>
            <a:ext cx="2946398" cy="500063"/>
          </a:xfrm>
          <a:prstGeom prst="rect">
            <a:avLst/>
          </a:prstGeom>
          <a:noFill/>
          <a:ln w="9525">
            <a:noFill/>
            <a:miter lim="800000"/>
            <a:headEnd/>
            <a:tailEnd/>
          </a:ln>
          <a:effectLst/>
        </p:spPr>
        <p:txBody>
          <a:bodyPr vert="horz" wrap="square" lIns="19098" tIns="0" rIns="19098" bIns="0" numCol="1" anchor="t" anchorCtr="0" compatLnSpc="1">
            <a:prstTxWarp prst="textNoShape">
              <a:avLst/>
            </a:prstTxWarp>
          </a:bodyPr>
          <a:lstStyle>
            <a:lvl1pPr algn="r" defTabSz="917115" latinLnBrk="0">
              <a:buFontTx/>
              <a:buNone/>
              <a:defRPr sz="1000" i="1">
                <a:latin typeface="Arial" pitchFamily="34" charset="0"/>
                <a:ea typeface="굴림" pitchFamily="50" charset="-127"/>
              </a:defRPr>
            </a:lvl1pPr>
          </a:lstStyle>
          <a:p>
            <a:pPr>
              <a:defRPr/>
            </a:pPr>
            <a:endParaRPr lang="en-US" altLang="ko-KR"/>
          </a:p>
        </p:txBody>
      </p:sp>
      <p:sp>
        <p:nvSpPr>
          <p:cNvPr id="36868" name="Rectangle 4"/>
          <p:cNvSpPr>
            <a:spLocks noGrp="1" noRot="1" noChangeAspect="1" noChangeArrowheads="1" noTextEdit="1"/>
          </p:cNvSpPr>
          <p:nvPr>
            <p:ph type="sldImg" idx="2"/>
          </p:nvPr>
        </p:nvSpPr>
        <p:spPr bwMode="auto">
          <a:xfrm>
            <a:off x="720725" y="750888"/>
            <a:ext cx="5356225" cy="3708400"/>
          </a:xfrm>
          <a:prstGeom prst="rect">
            <a:avLst/>
          </a:prstGeom>
          <a:noFill/>
          <a:ln w="12700">
            <a:solidFill>
              <a:schemeClr val="tx1"/>
            </a:solidFill>
            <a:miter lim="800000"/>
            <a:headEnd/>
            <a:tailEnd/>
          </a:ln>
        </p:spPr>
      </p:sp>
      <p:sp>
        <p:nvSpPr>
          <p:cNvPr id="2053" name="Rectangle 5"/>
          <p:cNvSpPr>
            <a:spLocks noGrp="1" noChangeArrowheads="1"/>
          </p:cNvSpPr>
          <p:nvPr>
            <p:ph type="body" sz="quarter" idx="3"/>
          </p:nvPr>
        </p:nvSpPr>
        <p:spPr bwMode="auto">
          <a:xfrm>
            <a:off x="904879" y="4716474"/>
            <a:ext cx="4987928" cy="4467225"/>
          </a:xfrm>
          <a:prstGeom prst="rect">
            <a:avLst/>
          </a:prstGeom>
          <a:noFill/>
          <a:ln w="9525">
            <a:noFill/>
            <a:miter lim="800000"/>
            <a:headEnd/>
            <a:tailEnd/>
          </a:ln>
          <a:effectLst/>
        </p:spPr>
        <p:txBody>
          <a:bodyPr vert="horz" wrap="square" lIns="92303" tIns="46152" rIns="92303" bIns="46152" numCol="1" anchor="t" anchorCtr="0" compatLnSpc="1">
            <a:prstTxWarp prst="textNoShape">
              <a:avLst/>
            </a:prstTxWarp>
          </a:bodyPr>
          <a:lstStyle/>
          <a:p>
            <a:pPr lvl="0"/>
            <a:r>
              <a:rPr lang="en-US" altLang="ko-KR" noProof="0"/>
              <a:t>Click to edit Master text styles</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
        <p:nvSpPr>
          <p:cNvPr id="2054" name="Rectangle 6"/>
          <p:cNvSpPr>
            <a:spLocks noGrp="1" noChangeArrowheads="1"/>
          </p:cNvSpPr>
          <p:nvPr>
            <p:ph type="ftr" sz="quarter" idx="4"/>
          </p:nvPr>
        </p:nvSpPr>
        <p:spPr bwMode="auto">
          <a:xfrm>
            <a:off x="3" y="9426586"/>
            <a:ext cx="2946398" cy="500063"/>
          </a:xfrm>
          <a:prstGeom prst="rect">
            <a:avLst/>
          </a:prstGeom>
          <a:noFill/>
          <a:ln w="9525">
            <a:noFill/>
            <a:miter lim="800000"/>
            <a:headEnd/>
            <a:tailEnd/>
          </a:ln>
          <a:effectLst/>
        </p:spPr>
        <p:txBody>
          <a:bodyPr vert="horz" wrap="square" lIns="19098" tIns="0" rIns="19098" bIns="0" numCol="1" anchor="b" anchorCtr="0" compatLnSpc="1">
            <a:prstTxWarp prst="textNoShape">
              <a:avLst/>
            </a:prstTxWarp>
          </a:bodyPr>
          <a:lstStyle>
            <a:lvl1pPr algn="l" defTabSz="917115" latinLnBrk="0">
              <a:buFontTx/>
              <a:buNone/>
              <a:defRPr sz="1000" i="1">
                <a:latin typeface="Arial" pitchFamily="34" charset="0"/>
                <a:ea typeface="굴림" pitchFamily="50" charset="-127"/>
              </a:defRPr>
            </a:lvl1pPr>
          </a:lstStyle>
          <a:p>
            <a:pPr>
              <a:defRPr/>
            </a:pPr>
            <a:endParaRPr lang="en-US" altLang="ko-KR"/>
          </a:p>
        </p:txBody>
      </p:sp>
      <p:sp>
        <p:nvSpPr>
          <p:cNvPr id="2055" name="Rectangle 7"/>
          <p:cNvSpPr>
            <a:spLocks noGrp="1" noChangeArrowheads="1"/>
          </p:cNvSpPr>
          <p:nvPr>
            <p:ph type="sldNum" sz="quarter" idx="5"/>
          </p:nvPr>
        </p:nvSpPr>
        <p:spPr bwMode="auto">
          <a:xfrm>
            <a:off x="3851282" y="9426586"/>
            <a:ext cx="2946398" cy="500063"/>
          </a:xfrm>
          <a:prstGeom prst="rect">
            <a:avLst/>
          </a:prstGeom>
          <a:noFill/>
          <a:ln w="9525">
            <a:noFill/>
            <a:miter lim="800000"/>
            <a:headEnd/>
            <a:tailEnd/>
          </a:ln>
          <a:effectLst/>
        </p:spPr>
        <p:txBody>
          <a:bodyPr vert="horz" wrap="square" lIns="19098" tIns="0" rIns="19098" bIns="0" numCol="1" anchor="b" anchorCtr="0" compatLnSpc="1">
            <a:prstTxWarp prst="textNoShape">
              <a:avLst/>
            </a:prstTxWarp>
          </a:bodyPr>
          <a:lstStyle>
            <a:lvl1pPr algn="r" defTabSz="917115" latinLnBrk="0">
              <a:buFontTx/>
              <a:buNone/>
              <a:defRPr sz="1000" i="1">
                <a:latin typeface="Arial" pitchFamily="34" charset="0"/>
                <a:ea typeface="굴림" pitchFamily="50" charset="-127"/>
              </a:defRPr>
            </a:lvl1pPr>
          </a:lstStyle>
          <a:p>
            <a:pPr>
              <a:defRPr/>
            </a:pPr>
            <a:fld id="{592A95EC-C496-42B2-89C7-B8C7B2B00234}" type="slidenum">
              <a:rPr lang="ko-KR" altLang="en-US"/>
              <a:pPr>
                <a:defRPr/>
              </a:pPr>
              <a:t>‹#›</a:t>
            </a:fld>
            <a:endParaRPr lang="en-US" altLang="ko-KR"/>
          </a:p>
        </p:txBody>
      </p:sp>
    </p:spTree>
    <p:extLst>
      <p:ext uri="{BB962C8B-B14F-4D97-AF65-F5344CB8AC3E}">
        <p14:creationId xmlns:p14="http://schemas.microsoft.com/office/powerpoint/2010/main" val="9654389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slideMaster" Target="../slideMasters/slideMaster1.xml"/><Relationship Id="rId4" Type="http://schemas.openxmlformats.org/officeDocument/2006/relationships/tags" Target="../tags/tag7.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703833-0C9E-4F6D-AA2F-C4C6FB848439}"/>
              </a:ext>
            </a:extLst>
          </p:cNvPr>
          <p:cNvSpPr>
            <a:spLocks noGrp="1"/>
          </p:cNvSpPr>
          <p:nvPr>
            <p:ph type="title" hasCustomPrompt="1"/>
          </p:nvPr>
        </p:nvSpPr>
        <p:spPr>
          <a:xfrm>
            <a:off x="333511" y="365126"/>
            <a:ext cx="8543925" cy="792162"/>
          </a:xfrm>
          <a:prstGeom prst="rect">
            <a:avLst/>
          </a:prstGeom>
        </p:spPr>
        <p:txBody>
          <a:bodyPr/>
          <a:lstStyle>
            <a:lvl1pPr>
              <a:defRPr baseline="0">
                <a:latin typeface="Arial Narrow" panose="020B0606020202030204" pitchFamily="34" charset="0"/>
                <a:ea typeface="HY헤드라인M" panose="02030600000101010101" pitchFamily="18" charset="-127"/>
              </a:defRPr>
            </a:lvl1pPr>
          </a:lstStyle>
          <a:p>
            <a:r>
              <a:rPr lang="en-US" altLang="ko-KR" dirty="0"/>
              <a:t>Client logo/name</a:t>
            </a:r>
            <a:endParaRPr lang="ko-KR" altLang="en-US" dirty="0"/>
          </a:p>
        </p:txBody>
      </p:sp>
      <p:sp>
        <p:nvSpPr>
          <p:cNvPr id="7" name="텍스트 개체 틀 6">
            <a:extLst>
              <a:ext uri="{FF2B5EF4-FFF2-40B4-BE49-F238E27FC236}">
                <a16:creationId xmlns:a16="http://schemas.microsoft.com/office/drawing/2014/main" id="{35713C86-C8B7-4DDB-B85A-7F87B681B953}"/>
              </a:ext>
            </a:extLst>
          </p:cNvPr>
          <p:cNvSpPr>
            <a:spLocks noGrp="1"/>
          </p:cNvSpPr>
          <p:nvPr>
            <p:ph type="body" sz="quarter" idx="10" hasCustomPrompt="1"/>
          </p:nvPr>
        </p:nvSpPr>
        <p:spPr>
          <a:xfrm>
            <a:off x="165100" y="3458684"/>
            <a:ext cx="3132138" cy="1158448"/>
          </a:xfrm>
          <a:prstGeom prst="rect">
            <a:avLst/>
          </a:prstGeom>
        </p:spPr>
        <p:txBody>
          <a:bodyPr>
            <a:noAutofit/>
          </a:bodyPr>
          <a:lstStyle>
            <a:lvl1pPr marL="0" indent="0">
              <a:buFont typeface="+mj-lt"/>
              <a:buNone/>
              <a:defRPr sz="3500" baseline="0">
                <a:latin typeface="Arial Narrow" panose="020B0606020202030204" pitchFamily="34" charset="0"/>
                <a:ea typeface="나눔고딕" panose="020D0604000000000000" pitchFamily="50" charset="-127"/>
              </a:defRPr>
            </a:lvl1pPr>
            <a:lvl2pPr marL="800100" indent="-342900">
              <a:buFont typeface="+mj-lt"/>
              <a:buAutoNum type="alphaUcPeriod"/>
              <a:defRPr sz="1600" baseline="0">
                <a:latin typeface="Arial Narrow" panose="020B0606020202030204" pitchFamily="34" charset="0"/>
                <a:ea typeface="나눔고딕" panose="020D0604000000000000" pitchFamily="50" charset="-127"/>
              </a:defRPr>
            </a:lvl2pPr>
            <a:lvl3pPr marL="1257300" indent="-342900">
              <a:buFont typeface="+mj-lt"/>
              <a:buAutoNum type="alphaUcPeriod"/>
              <a:defRPr sz="1600" baseline="0">
                <a:latin typeface="Arial Narrow" panose="020B0606020202030204" pitchFamily="34" charset="0"/>
                <a:ea typeface="나눔고딕" panose="020D0604000000000000" pitchFamily="50" charset="-127"/>
              </a:defRPr>
            </a:lvl3pPr>
            <a:lvl4pPr marL="1714500" indent="-342900">
              <a:buFont typeface="+mj-lt"/>
              <a:buAutoNum type="alphaUcPeriod"/>
              <a:defRPr sz="1600" baseline="0">
                <a:latin typeface="Arial Narrow" panose="020B0606020202030204" pitchFamily="34" charset="0"/>
                <a:ea typeface="나눔고딕" panose="020D0604000000000000" pitchFamily="50" charset="-127"/>
              </a:defRPr>
            </a:lvl4pPr>
            <a:lvl5pPr marL="2171700" indent="-342900">
              <a:buFont typeface="+mj-lt"/>
              <a:buAutoNum type="alphaUcPeriod"/>
              <a:defRPr sz="1600" baseline="0">
                <a:latin typeface="Arial Narrow" panose="020B0606020202030204" pitchFamily="34" charset="0"/>
                <a:ea typeface="나눔고딕" panose="020D0604000000000000" pitchFamily="50" charset="-127"/>
              </a:defRPr>
            </a:lvl5pPr>
          </a:lstStyle>
          <a:p>
            <a:pPr lvl="0"/>
            <a:r>
              <a:rPr lang="en-US" altLang="ko-KR" dirty="0"/>
              <a:t>Project name or</a:t>
            </a:r>
            <a:br>
              <a:rPr lang="en-US" altLang="ko-KR" dirty="0"/>
            </a:br>
            <a:r>
              <a:rPr lang="en-US" altLang="ko-KR" dirty="0"/>
              <a:t>document title</a:t>
            </a:r>
            <a:endParaRPr lang="ko-KR" altLang="en-US" dirty="0"/>
          </a:p>
        </p:txBody>
      </p:sp>
      <p:sp>
        <p:nvSpPr>
          <p:cNvPr id="4" name="텍스트 개체 틀 3">
            <a:extLst>
              <a:ext uri="{FF2B5EF4-FFF2-40B4-BE49-F238E27FC236}">
                <a16:creationId xmlns:a16="http://schemas.microsoft.com/office/drawing/2014/main" id="{0F6E4A80-B419-4FDD-94D7-015C97AD76AD}"/>
              </a:ext>
            </a:extLst>
          </p:cNvPr>
          <p:cNvSpPr>
            <a:spLocks noGrp="1"/>
          </p:cNvSpPr>
          <p:nvPr>
            <p:ph type="body" sz="quarter" idx="11" hasCustomPrompt="1"/>
          </p:nvPr>
        </p:nvSpPr>
        <p:spPr>
          <a:xfrm>
            <a:off x="165100" y="4760913"/>
            <a:ext cx="3132138" cy="647700"/>
          </a:xfrm>
        </p:spPr>
        <p:txBody>
          <a:bodyPr/>
          <a:lstStyle>
            <a:lvl1pPr>
              <a:defRPr/>
            </a:lvl1pPr>
          </a:lstStyle>
          <a:p>
            <a:pPr lvl="0"/>
            <a:r>
              <a:rPr lang="en-US" altLang="ko-KR" dirty="0"/>
              <a:t>Type of document</a:t>
            </a:r>
            <a:br>
              <a:rPr lang="en-US" altLang="ko-KR" dirty="0"/>
            </a:br>
            <a:r>
              <a:rPr lang="en-US" altLang="ko-KR" dirty="0"/>
              <a:t>(max. two lines)</a:t>
            </a:r>
            <a:endParaRPr lang="ko-KR" altLang="en-US" dirty="0"/>
          </a:p>
        </p:txBody>
      </p:sp>
      <p:sp>
        <p:nvSpPr>
          <p:cNvPr id="6" name="텍스트 개체 틀 5">
            <a:extLst>
              <a:ext uri="{FF2B5EF4-FFF2-40B4-BE49-F238E27FC236}">
                <a16:creationId xmlns:a16="http://schemas.microsoft.com/office/drawing/2014/main" id="{EB0ED209-5BE8-4414-9A0B-484C61EB0687}"/>
              </a:ext>
            </a:extLst>
          </p:cNvPr>
          <p:cNvSpPr>
            <a:spLocks noGrp="1"/>
          </p:cNvSpPr>
          <p:nvPr>
            <p:ph type="body" sz="quarter" idx="12" hasCustomPrompt="1"/>
          </p:nvPr>
        </p:nvSpPr>
        <p:spPr>
          <a:xfrm>
            <a:off x="165100" y="5900529"/>
            <a:ext cx="3132138" cy="396875"/>
          </a:xfrm>
        </p:spPr>
        <p:txBody>
          <a:bodyPr>
            <a:noAutofit/>
          </a:bodyPr>
          <a:lstStyle>
            <a:lvl1pPr>
              <a:defRPr sz="1200"/>
            </a:lvl1pPr>
            <a:lvl2pPr>
              <a:defRPr sz="1400"/>
            </a:lvl2pPr>
            <a:lvl3pPr>
              <a:defRPr sz="1400"/>
            </a:lvl3pPr>
            <a:lvl4pPr>
              <a:defRPr sz="1400"/>
            </a:lvl4pPr>
            <a:lvl5pPr>
              <a:defRPr sz="1400"/>
            </a:lvl5pPr>
          </a:lstStyle>
          <a:p>
            <a:pPr lvl="0"/>
            <a:r>
              <a:rPr lang="en-US" altLang="ko-KR" dirty="0"/>
              <a:t>Location, date of presentation (month, day, year)</a:t>
            </a:r>
            <a:endParaRPr lang="ko-KR" altLang="en-US" dirty="0"/>
          </a:p>
        </p:txBody>
      </p:sp>
    </p:spTree>
    <p:extLst>
      <p:ext uri="{BB962C8B-B14F-4D97-AF65-F5344CB8AC3E}">
        <p14:creationId xmlns:p14="http://schemas.microsoft.com/office/powerpoint/2010/main" val="2704137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14" name="Contents Title">
            <a:extLst>
              <a:ext uri="{FF2B5EF4-FFF2-40B4-BE49-F238E27FC236}">
                <a16:creationId xmlns:a16="http://schemas.microsoft.com/office/drawing/2014/main" id="{22519FFB-4565-460E-A334-C3B9CB768600}"/>
              </a:ext>
            </a:extLst>
          </p:cNvPr>
          <p:cNvSpPr txBox="1">
            <a:spLocks/>
          </p:cNvSpPr>
          <p:nvPr userDrawn="1">
            <p:custDataLst>
              <p:tags r:id="rId1"/>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lnSpc>
                <a:spcPct val="93000"/>
              </a:lnSpc>
              <a:defRPr/>
            </a:lvl1pPr>
          </a:lstStyle>
          <a:p>
            <a:pPr eaLnBrk="1" fontAlgn="auto" latinLnBrk="0" hangingPunct="1">
              <a:spcAft>
                <a:spcPts val="0"/>
              </a:spcAft>
              <a:buFontTx/>
              <a:buNone/>
              <a:tabLst>
                <a:tab pos="8532813" algn="r"/>
              </a:tabLst>
              <a:defRPr/>
            </a:pPr>
            <a:r>
              <a:rPr lang="en-US" altLang="de-DE" sz="2100" b="0" noProof="1">
                <a:solidFill>
                  <a:srgbClr val="716D6D"/>
                </a:solidFill>
                <a:latin typeface="Arial Narrow"/>
                <a:ea typeface="Malgun Gothic"/>
                <a:sym typeface="+mn-lt"/>
              </a:rPr>
              <a:t>Contents	Page</a:t>
            </a:r>
          </a:p>
        </p:txBody>
      </p:sp>
      <p:sp>
        <p:nvSpPr>
          <p:cNvPr id="15" name="Title">
            <a:extLst>
              <a:ext uri="{FF2B5EF4-FFF2-40B4-BE49-F238E27FC236}">
                <a16:creationId xmlns:a16="http://schemas.microsoft.com/office/drawing/2014/main" id="{AE0059D1-7D76-45FE-B358-1893E5D116A8}"/>
              </a:ext>
            </a:extLst>
          </p:cNvPr>
          <p:cNvSpPr txBox="1">
            <a:spLocks/>
          </p:cNvSpPr>
          <p:nvPr userDrawn="1">
            <p:custDataLst>
              <p:tags r:id="rId2"/>
            </p:custDataLst>
          </p:nvPr>
        </p:nvSpPr>
        <p:spPr>
          <a:xfrm>
            <a:off x="1314902" y="1040400"/>
            <a:ext cx="792000" cy="300531"/>
          </a:xfrm>
          <a:prstGeom prst="rect">
            <a:avLst/>
          </a:prstGeom>
        </p:spPr>
        <p:txBody>
          <a:bodyPr vert="horz" lIns="0" tIns="0" rIns="0" bIns="0" rtlCol="0" anchor="t" anchorCtr="0">
            <a:noAutofit/>
          </a:bodyPr>
          <a:lstStyle>
            <a:lvl1pPr marL="0" indent="0" algn="r" defTabSz="914400" rtl="0" eaLnBrk="1" latinLnBrk="0" hangingPunct="1">
              <a:lnSpc>
                <a:spcPct val="93000"/>
              </a:lnSpc>
              <a:spcBef>
                <a:spcPct val="0"/>
              </a:spcBef>
              <a:buNone/>
              <a:tabLst/>
              <a:defRPr lang="en-US" sz="2100" b="0" kern="1200" baseline="0" dirty="0">
                <a:solidFill>
                  <a:schemeClr val="tx2"/>
                </a:solidFill>
                <a:latin typeface="+mj-lt"/>
                <a:ea typeface="+mj-ea"/>
                <a:cs typeface="+mj-cs"/>
                <a:sym typeface="+mn-lt"/>
              </a:defRPr>
            </a:lvl1pPr>
          </a:lstStyle>
          <a:p>
            <a:pPr marL="0" marR="0" lvl="0" indent="0" algn="r" defTabSz="914400" rtl="0" eaLnBrk="1" fontAlgn="auto" latinLnBrk="0" hangingPunct="1">
              <a:lnSpc>
                <a:spcPct val="93000"/>
              </a:lnSpc>
              <a:spcBef>
                <a:spcPct val="0"/>
              </a:spcBef>
              <a:spcAft>
                <a:spcPts val="0"/>
              </a:spcAft>
              <a:buClrTx/>
              <a:buSzTx/>
              <a:buFontTx/>
              <a:buNone/>
              <a:tabLst/>
              <a:defRPr/>
            </a:pPr>
            <a:r>
              <a:rPr kumimoji="0" lang="ko-KR" altLang="en-US" sz="2100" b="0" i="0" u="none" strike="noStrike" kern="1200" cap="none" spc="0" normalizeH="0" baseline="0" noProof="1">
                <a:ln>
                  <a:noFill/>
                </a:ln>
                <a:solidFill>
                  <a:srgbClr val="716D6D"/>
                </a:solidFill>
                <a:effectLst/>
                <a:uLnTx/>
                <a:uFillTx/>
                <a:latin typeface="Arial Narrow"/>
                <a:ea typeface="Malgun Gothic"/>
                <a:cs typeface="+mj-cs"/>
                <a:sym typeface="+mn-lt"/>
              </a:rPr>
              <a:t>  </a:t>
            </a:r>
          </a:p>
        </p:txBody>
      </p:sp>
      <p:sp>
        <p:nvSpPr>
          <p:cNvPr id="21" name="텍스트 개체 틀 20">
            <a:extLst>
              <a:ext uri="{FF2B5EF4-FFF2-40B4-BE49-F238E27FC236}">
                <a16:creationId xmlns:a16="http://schemas.microsoft.com/office/drawing/2014/main" id="{EFD165CC-1485-46D5-8009-4DD5E2BBBDC7}"/>
              </a:ext>
            </a:extLst>
          </p:cNvPr>
          <p:cNvSpPr>
            <a:spLocks noGrp="1"/>
          </p:cNvSpPr>
          <p:nvPr>
            <p:ph type="body" sz="quarter" idx="10" hasCustomPrompt="1"/>
          </p:nvPr>
        </p:nvSpPr>
        <p:spPr>
          <a:xfrm>
            <a:off x="738000" y="1628775"/>
            <a:ext cx="7851404" cy="4188825"/>
          </a:xfrm>
          <a:prstGeom prst="rect">
            <a:avLst/>
          </a:prstGeom>
        </p:spPr>
        <p:txBody>
          <a:bodyPr/>
          <a:lstStyle>
            <a:lvl1pPr marL="266700" indent="-266700">
              <a:buFont typeface="+mj-lt"/>
              <a:buAutoNum type="romanUcPeriod"/>
              <a:defRPr sz="1900" b="0" baseline="0">
                <a:latin typeface="Arial Narrow" panose="020B0606020202030204" pitchFamily="34" charset="0"/>
                <a:ea typeface="나눔고딕" panose="020D0604000000000000" pitchFamily="50" charset="-127"/>
              </a:defRPr>
            </a:lvl1pPr>
            <a:lvl2pPr marL="715963" indent="-258763">
              <a:buFont typeface="+mj-lt"/>
              <a:buAutoNum type="alphaUcPeriod"/>
              <a:defRPr sz="1900" b="0" baseline="0">
                <a:latin typeface="Arial Narrow" panose="020B0606020202030204" pitchFamily="34" charset="0"/>
                <a:ea typeface="나눔고딕" panose="020D0604000000000000" pitchFamily="50" charset="-127"/>
              </a:defRPr>
            </a:lvl2pPr>
            <a:lvl3pPr marL="1165225" indent="-250825">
              <a:buFont typeface="+mj-lt"/>
              <a:buAutoNum type="arabicParenR"/>
              <a:defRPr sz="1900" b="0" baseline="0">
                <a:latin typeface="Arial Narrow" panose="020B0606020202030204" pitchFamily="34" charset="0"/>
                <a:ea typeface="나눔고딕" panose="020D0604000000000000" pitchFamily="50" charset="-127"/>
              </a:defRPr>
            </a:lvl3pPr>
            <a:lvl4pPr marL="1714500" indent="-342900">
              <a:buFont typeface="+mj-lt"/>
              <a:buAutoNum type="alphaUcPeriod"/>
              <a:defRPr sz="1400" b="0" baseline="0">
                <a:latin typeface="Arial Narrow" panose="020B0606020202030204" pitchFamily="34" charset="0"/>
                <a:ea typeface="HY헤드라인M" panose="02030600000101010101" pitchFamily="18" charset="-127"/>
              </a:defRPr>
            </a:lvl4pPr>
            <a:lvl5pPr marL="2171700" indent="-342900">
              <a:buFont typeface="+mj-lt"/>
              <a:buAutoNum type="alphaUcPeriod"/>
              <a:defRPr sz="1400" b="0" baseline="0">
                <a:latin typeface="Arial Narrow" panose="020B0606020202030204" pitchFamily="34" charset="0"/>
                <a:ea typeface="HY헤드라인M" panose="02030600000101010101" pitchFamily="18" charset="-127"/>
              </a:defRPr>
            </a:lvl5pPr>
          </a:lstStyle>
          <a:p>
            <a:pPr lvl="0"/>
            <a:r>
              <a:rPr lang="en-US" altLang="ko-KR" dirty="0"/>
              <a:t>xxx					</a:t>
            </a:r>
            <a:endParaRPr lang="ko-KR" altLang="en-US" dirty="0"/>
          </a:p>
          <a:p>
            <a:pPr lvl="1"/>
            <a:r>
              <a:rPr lang="en-US" altLang="ko-KR"/>
              <a:t>xxx</a:t>
            </a:r>
            <a:endParaRPr lang="ko-KR" altLang="en-US" dirty="0"/>
          </a:p>
        </p:txBody>
      </p:sp>
      <p:sp>
        <p:nvSpPr>
          <p:cNvPr id="25" name="텍스트 개체 틀 24">
            <a:extLst>
              <a:ext uri="{FF2B5EF4-FFF2-40B4-BE49-F238E27FC236}">
                <a16:creationId xmlns:a16="http://schemas.microsoft.com/office/drawing/2014/main" id="{BA87B230-93A4-43C7-80AA-EECBA22115BF}"/>
              </a:ext>
            </a:extLst>
          </p:cNvPr>
          <p:cNvSpPr>
            <a:spLocks noGrp="1"/>
          </p:cNvSpPr>
          <p:nvPr>
            <p:ph type="body" sz="quarter" idx="11" hasCustomPrompt="1"/>
          </p:nvPr>
        </p:nvSpPr>
        <p:spPr>
          <a:xfrm>
            <a:off x="8769350" y="1628775"/>
            <a:ext cx="539750" cy="4188825"/>
          </a:xfrm>
          <a:prstGeom prst="rect">
            <a:avLst/>
          </a:prstGeom>
        </p:spPr>
        <p:txBody>
          <a:bodyPr/>
          <a:lstStyle>
            <a:lvl1pPr marL="0" indent="0" algn="r">
              <a:buFontTx/>
              <a:buNone/>
              <a:defRPr sz="1900" b="0" baseline="0">
                <a:latin typeface="Arial Narrow" panose="020B0606020202030204" pitchFamily="34" charset="0"/>
                <a:ea typeface="나눔고딕" panose="020D0604000000000000" pitchFamily="50" charset="-127"/>
              </a:defRPr>
            </a:lvl1pPr>
            <a:lvl2pPr marL="457200" indent="0" algn="l">
              <a:buFontTx/>
              <a:buNone/>
              <a:defRPr sz="1900" baseline="0">
                <a:latin typeface="Arial Narrow" panose="020B0606020202030204" pitchFamily="34" charset="0"/>
                <a:ea typeface="나눔고딕" panose="020D0604000000000000" pitchFamily="50" charset="-127"/>
              </a:defRPr>
            </a:lvl2pPr>
            <a:lvl3pPr marL="914400" indent="0" algn="l">
              <a:buFontTx/>
              <a:buNone/>
              <a:defRPr sz="1900" baseline="0">
                <a:latin typeface="Arial Narrow" panose="020B0606020202030204" pitchFamily="34" charset="0"/>
                <a:ea typeface="나눔고딕" panose="020D0604000000000000" pitchFamily="50" charset="-127"/>
              </a:defRPr>
            </a:lvl3pPr>
            <a:lvl4pPr marL="1371600" indent="0" algn="l">
              <a:buFontTx/>
              <a:buNone/>
              <a:defRPr sz="1900" baseline="0">
                <a:latin typeface="Arial Narrow" panose="020B0606020202030204" pitchFamily="34" charset="0"/>
                <a:ea typeface="나눔고딕" panose="020D0604000000000000" pitchFamily="50" charset="-127"/>
              </a:defRPr>
            </a:lvl4pPr>
            <a:lvl5pPr marL="1828800" indent="0" algn="l">
              <a:buFontTx/>
              <a:buNone/>
              <a:defRPr sz="1900" baseline="0">
                <a:latin typeface="Arial Narrow" panose="020B0606020202030204" pitchFamily="34" charset="0"/>
                <a:ea typeface="나눔고딕" panose="020D0604000000000000" pitchFamily="50" charset="-127"/>
              </a:defRPr>
            </a:lvl5pPr>
          </a:lstStyle>
          <a:p>
            <a:pPr lvl="0"/>
            <a:r>
              <a:rPr lang="en-US" altLang="ko-KR" dirty="0"/>
              <a:t>xx</a:t>
            </a:r>
            <a:endParaRPr lang="ko-KR" altLang="en-US" dirty="0"/>
          </a:p>
        </p:txBody>
      </p:sp>
    </p:spTree>
    <p:extLst>
      <p:ext uri="{BB962C8B-B14F-4D97-AF65-F5344CB8AC3E}">
        <p14:creationId xmlns:p14="http://schemas.microsoft.com/office/powerpoint/2010/main" val="8607824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15" name="Slide Number Placeholder" hidden="1"/>
          <p:cNvSpPr>
            <a:spLocks noGrp="1"/>
          </p:cNvSpPr>
          <p:nvPr>
            <p:ph type="sldNum" sz="quarter" idx="11"/>
            <p:custDataLst>
              <p:tags r:id="rId1"/>
            </p:custDataLst>
          </p:nvPr>
        </p:nvSpPr>
        <p:spPr>
          <a:xfrm>
            <a:off x="9972000" y="178643"/>
            <a:ext cx="24046" cy="30778"/>
          </a:xfrm>
          <a:prstGeom prst="rect">
            <a:avLst/>
          </a:prstGeom>
        </p:spPr>
        <p:txBody>
          <a:bodyPr vert="horz" wrap="none" lIns="0" tIns="0" rIns="0" bIns="0" rtlCol="0" anchor="ctr">
            <a:spAutoFit/>
          </a:bodyPr>
          <a:lstStyle>
            <a:lvl1pPr algn="l">
              <a:defRPr sz="200" b="0">
                <a:solidFill>
                  <a:schemeClr val="bg1">
                    <a:lumMod val="75000"/>
                  </a:schemeClr>
                </a:solidFill>
                <a:latin typeface="+mn-lt"/>
                <a:cs typeface="+mn-cs"/>
                <a:sym typeface="+mn-lt"/>
              </a:defRPr>
            </a:lvl1pPr>
          </a:lstStyle>
          <a:p>
            <a:fld id="{01940DDA-0656-452C-A408-68789653BD9B}" type="slidenum">
              <a:rPr lang="en-US" smtClean="0">
                <a:latin typeface="+mn-lt"/>
              </a:rPr>
              <a:pPr/>
              <a:t>‹#›</a:t>
            </a:fld>
            <a:endParaRPr lang="en-US" dirty="0">
              <a:latin typeface="+mn-lt"/>
            </a:endParaRPr>
          </a:p>
        </p:txBody>
      </p:sp>
      <p:sp>
        <p:nvSpPr>
          <p:cNvPr id="16" name="Footer Placeholder" hidden="1"/>
          <p:cNvSpPr>
            <a:spLocks noGrp="1"/>
          </p:cNvSpPr>
          <p:nvPr>
            <p:ph type="ftr" sz="quarter" idx="12"/>
            <p:custDataLst>
              <p:tags r:id="rId2"/>
            </p:custDataLst>
          </p:nvPr>
        </p:nvSpPr>
        <p:spPr>
          <a:xfrm>
            <a:off x="9972000" y="228649"/>
            <a:ext cx="65" cy="30778"/>
          </a:xfrm>
          <a:prstGeom prst="rect">
            <a:avLst/>
          </a:prstGeom>
        </p:spPr>
        <p:txBody>
          <a:bodyPr vert="horz" wrap="none" lIns="0" tIns="0" rIns="0" bIns="0" rtlCol="0" anchor="t" anchorCtr="0">
            <a:spAutoFit/>
          </a:bodyPr>
          <a:lstStyle>
            <a:lvl1pPr algn="l" rtl="0" fontAlgn="base">
              <a:lnSpc>
                <a:spcPct val="100000"/>
              </a:lnSpc>
              <a:spcBef>
                <a:spcPts val="0"/>
              </a:spcBef>
              <a:spcAft>
                <a:spcPct val="0"/>
              </a:spcAft>
              <a:defRPr lang="en-US" sz="200" b="0" kern="1200" smtClean="0">
                <a:solidFill>
                  <a:schemeClr val="bg1">
                    <a:lumMod val="75000"/>
                  </a:schemeClr>
                </a:solidFill>
                <a:latin typeface="+mn-lt"/>
                <a:ea typeface="+mn-ea"/>
                <a:cs typeface="+mn-cs"/>
                <a:sym typeface="+mn-lt"/>
              </a:defRPr>
            </a:lvl1pPr>
          </a:lstStyle>
          <a:p>
            <a:endParaRPr lang="de-DE" dirty="0">
              <a:latin typeface="+mn-lt"/>
            </a:endParaRPr>
          </a:p>
        </p:txBody>
      </p:sp>
      <p:sp>
        <p:nvSpPr>
          <p:cNvPr id="10" name="Contents Title"/>
          <p:cNvSpPr txBox="1">
            <a:spLocks/>
          </p:cNvSpPr>
          <p:nvPr>
            <p:custDataLst>
              <p:tags r:id="rId3"/>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en-US"/>
            </a:defPPr>
            <a:lvl1pPr algn="l" eaLnBrk="1" fontAlgn="auto" latinLnBrk="0" hangingPunct="1">
              <a:lnSpc>
                <a:spcPct val="93000"/>
              </a:lnSpc>
              <a:spcAft>
                <a:spcPts val="0"/>
              </a:spcAft>
              <a:buFontTx/>
              <a:buNone/>
              <a:tabLst>
                <a:tab pos="8532813" algn="r"/>
              </a:tabLst>
              <a:defRPr sz="2100">
                <a:solidFill>
                  <a:srgbClr val="716D6D"/>
                </a:solidFill>
                <a:latin typeface="Arial Narrow"/>
                <a:ea typeface="Malgun Gothic"/>
              </a:defRPr>
            </a:lvl1pPr>
          </a:lstStyle>
          <a:p>
            <a:pPr lvl="0"/>
            <a:r>
              <a:rPr lang="en-US" altLang="de-DE" noProof="1">
                <a:latin typeface="Arial Narrow" panose="020B0606020202030204" pitchFamily="34" charset="0"/>
                <a:ea typeface="a고딕14" panose="02020600000000000000" pitchFamily="18" charset="-127"/>
                <a:sym typeface="+mn-lt"/>
              </a:rPr>
              <a:t>Contents	Page</a:t>
            </a:r>
          </a:p>
        </p:txBody>
      </p:sp>
      <p:sp>
        <p:nvSpPr>
          <p:cNvPr id="3" name="내용 개체 틀 2">
            <a:extLst>
              <a:ext uri="{FF2B5EF4-FFF2-40B4-BE49-F238E27FC236}">
                <a16:creationId xmlns:a16="http://schemas.microsoft.com/office/drawing/2014/main" id="{222BD9DC-DB0A-475B-9EC2-61D20DBBFAF0}"/>
              </a:ext>
            </a:extLst>
          </p:cNvPr>
          <p:cNvSpPr>
            <a:spLocks noGrp="1"/>
          </p:cNvSpPr>
          <p:nvPr>
            <p:ph sz="quarter" idx="13"/>
          </p:nvPr>
        </p:nvSpPr>
        <p:spPr>
          <a:xfrm>
            <a:off x="738188" y="1952625"/>
            <a:ext cx="8643937" cy="3168650"/>
          </a:xfrm>
        </p:spPr>
        <p:txBody>
          <a:bodyPr>
            <a:normAutofit/>
          </a:bodyPr>
          <a:lstStyle>
            <a:lvl1pPr marL="400050" indent="-400050" defTabSz="4124325">
              <a:buFont typeface="+mj-lt"/>
              <a:buAutoNum type="romanUcPeriod"/>
              <a:defRPr sz="1800">
                <a:latin typeface="Arial Narrow" panose="020B0606020202030204" pitchFamily="34" charset="0"/>
                <a:ea typeface="a고딕14" panose="02020600000000000000" pitchFamily="18" charset="-127"/>
              </a:defRPr>
            </a:lvl1pPr>
            <a:lvl2pPr marL="857250" indent="-400050">
              <a:buFont typeface="+mj-lt"/>
              <a:buAutoNum type="romanUcPeriod"/>
              <a:defRPr sz="1800">
                <a:latin typeface="Arial Narrow" panose="020B0606020202030204" pitchFamily="34" charset="0"/>
                <a:ea typeface="a고딕14" panose="02020600000000000000" pitchFamily="18" charset="-127"/>
              </a:defRPr>
            </a:lvl2pPr>
            <a:lvl3pPr marL="1314450" indent="-400050">
              <a:buFont typeface="+mj-lt"/>
              <a:buAutoNum type="romanUcPeriod"/>
              <a:defRPr sz="1800">
                <a:latin typeface="Arial Narrow" panose="020B0606020202030204" pitchFamily="34" charset="0"/>
                <a:ea typeface="a고딕14" panose="02020600000000000000" pitchFamily="18" charset="-127"/>
              </a:defRPr>
            </a:lvl3pPr>
            <a:lvl4pPr marL="1771650" indent="-400050">
              <a:buFont typeface="+mj-lt"/>
              <a:buAutoNum type="romanUcPeriod"/>
              <a:defRPr sz="1800">
                <a:latin typeface="Arial Narrow" panose="020B0606020202030204" pitchFamily="34" charset="0"/>
                <a:ea typeface="a고딕14" panose="02020600000000000000" pitchFamily="18" charset="-127"/>
              </a:defRPr>
            </a:lvl4pPr>
            <a:lvl5pPr marL="2228850" indent="-400050">
              <a:buFont typeface="+mj-lt"/>
              <a:buAutoNum type="romanUcPeriod"/>
              <a:defRPr sz="1800">
                <a:latin typeface="Arial Narrow" panose="020B0606020202030204" pitchFamily="34" charset="0"/>
                <a:ea typeface="a고딕14" panose="02020600000000000000" pitchFamily="18" charset="-127"/>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Note: Exclusive dealing">
            <a:extLst>
              <a:ext uri="{FF2B5EF4-FFF2-40B4-BE49-F238E27FC236}">
                <a16:creationId xmlns:a16="http://schemas.microsoft.com/office/drawing/2014/main" id="{8156DDEC-F00F-4DC5-81B0-7C0F199B3C3E}"/>
              </a:ext>
            </a:extLst>
          </p:cNvPr>
          <p:cNvSpPr txBox="1">
            <a:spLocks noChangeArrowheads="1"/>
          </p:cNvSpPr>
          <p:nvPr userDrawn="1">
            <p:custDataLst>
              <p:tags r:id="rId4"/>
            </p:custDataLst>
          </p:nvPr>
        </p:nvSpPr>
        <p:spPr bwMode="auto">
          <a:xfrm>
            <a:off x="738000" y="6003191"/>
            <a:ext cx="8535600" cy="830997"/>
          </a:xfrm>
          <a:prstGeom prst="rect">
            <a:avLst/>
          </a:prstGeom>
          <a:noFill/>
          <a:ln w="9525">
            <a:noFill/>
            <a:miter lim="800000"/>
            <a:headEnd/>
            <a:tailEnd/>
          </a:ln>
        </p:spPr>
        <p:txBody>
          <a:bodyPr lIns="0" tIns="0" rIns="0" bIns="0" anchor="b" anchorCtr="0">
            <a:spAutoFit/>
          </a:bodyPr>
          <a:lstStyle/>
          <a:p>
            <a:pPr algn="l" latinLnBrk="0">
              <a:buFontTx/>
              <a:buNone/>
            </a:pPr>
            <a:r>
              <a:rPr kumimoji="1" lang="en-US" altLang="de-DE" sz="900" dirty="0">
                <a:solidFill>
                  <a:srgbClr val="000000"/>
                </a:solidFill>
                <a:latin typeface="Arial Narrow"/>
                <a:ea typeface="Malgun Gothic"/>
                <a:sym typeface="+mn-lt"/>
              </a:rPr>
              <a:t>This document shall be treated as confidential. It has been compiled for the exclusive, internal use by our client and is not complete without the underlying detail analyses and the oral presentation. It may not be passed on and/or may not be made available to third parties without prior written consent from □□□. □□□ does not assume any responsibility for the completeness and accuracy of the statements made in this document.        </a:t>
            </a: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r>
              <a:rPr kumimoji="1" lang="en-US" altLang="de-DE" sz="900" dirty="0">
                <a:solidFill>
                  <a:srgbClr val="000000"/>
                </a:solidFill>
                <a:latin typeface="Arial Narrow"/>
                <a:ea typeface="Malgun Gothic"/>
                <a:sym typeface="+mn-lt"/>
              </a:rPr>
              <a:t>© </a:t>
            </a:r>
            <a:r>
              <a:rPr kumimoji="1" lang="en-US" altLang="de-DE" sz="900" dirty="0">
                <a:solidFill>
                  <a:srgbClr val="000000"/>
                </a:solidFill>
                <a:latin typeface="a고딕14" panose="02020600000000000000" pitchFamily="18" charset="-127"/>
                <a:ea typeface="a고딕14" panose="02020600000000000000" pitchFamily="18" charset="-127"/>
                <a:sym typeface="+mn-lt"/>
              </a:rPr>
              <a:t>□□□ </a:t>
            </a:r>
            <a:r>
              <a:rPr kumimoji="1" lang="en-US" altLang="de-DE" sz="900" dirty="0">
                <a:solidFill>
                  <a:srgbClr val="000000"/>
                </a:solidFill>
                <a:latin typeface="Arial Narrow"/>
                <a:ea typeface="Malgun Gothic"/>
                <a:sym typeface="+mn-lt"/>
              </a:rPr>
              <a:t>Consulting Group</a:t>
            </a:r>
          </a:p>
        </p:txBody>
      </p:sp>
    </p:spTree>
    <p:extLst>
      <p:ext uri="{BB962C8B-B14F-4D97-AF65-F5344CB8AC3E}">
        <p14:creationId xmlns:p14="http://schemas.microsoft.com/office/powerpoint/2010/main" val="2165339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s">
    <p:spTree>
      <p:nvGrpSpPr>
        <p:cNvPr id="1" name=""/>
        <p:cNvGrpSpPr/>
        <p:nvPr/>
      </p:nvGrpSpPr>
      <p:grpSpPr>
        <a:xfrm>
          <a:off x="0" y="0"/>
          <a:ext cx="0" cy="0"/>
          <a:chOff x="0" y="0"/>
          <a:chExt cx="0" cy="0"/>
        </a:xfrm>
      </p:grpSpPr>
      <p:sp>
        <p:nvSpPr>
          <p:cNvPr id="10" name="텍스트 개체 틀 9">
            <a:extLst>
              <a:ext uri="{FF2B5EF4-FFF2-40B4-BE49-F238E27FC236}">
                <a16:creationId xmlns:a16="http://schemas.microsoft.com/office/drawing/2014/main" id="{CB73DECD-94D3-4E24-AFDA-C7C94E688C39}"/>
              </a:ext>
            </a:extLst>
          </p:cNvPr>
          <p:cNvSpPr>
            <a:spLocks noGrp="1"/>
          </p:cNvSpPr>
          <p:nvPr>
            <p:ph type="body" sz="quarter" idx="12" hasCustomPrompt="1"/>
          </p:nvPr>
        </p:nvSpPr>
        <p:spPr>
          <a:xfrm>
            <a:off x="596515" y="650182"/>
            <a:ext cx="8749097" cy="815119"/>
          </a:xfrm>
          <a:prstGeom prst="rect">
            <a:avLst/>
          </a:prstGeom>
        </p:spPr>
        <p:txBody>
          <a:bodyPr wrap="square" lIns="0" rIns="0" bIns="0">
            <a:noAutofit/>
          </a:bodyPr>
          <a:lstStyle>
            <a:lvl1pPr marL="0" indent="0" algn="just">
              <a:lnSpc>
                <a:spcPct val="110000"/>
              </a:lnSpc>
              <a:spcBef>
                <a:spcPts val="300"/>
              </a:spcBef>
              <a:buNone/>
              <a:defRPr sz="1800" baseline="0">
                <a:latin typeface="Arial Narrow" panose="020B0606020202030204" pitchFamily="34" charset="0"/>
                <a:ea typeface="a고딕14" panose="02020600000000000000" pitchFamily="18" charset="-127"/>
              </a:defRPr>
            </a:lvl1pPr>
            <a:lvl2pPr marL="457200" indent="0">
              <a:buNone/>
              <a:defRPr sz="1600" baseline="0">
                <a:latin typeface="Arial Narrow" panose="020B0606020202030204" pitchFamily="34" charset="0"/>
                <a:ea typeface="나눔고딕" panose="020D0604000000000000" pitchFamily="50" charset="-127"/>
              </a:defRPr>
            </a:lvl2pPr>
            <a:lvl3pPr marL="914400" indent="0">
              <a:buNone/>
              <a:defRPr sz="1600" baseline="0">
                <a:latin typeface="Arial Narrow" panose="020B0606020202030204" pitchFamily="34" charset="0"/>
                <a:ea typeface="나눔고딕" panose="020D0604000000000000" pitchFamily="50" charset="-127"/>
              </a:defRPr>
            </a:lvl3pPr>
            <a:lvl4pPr marL="1371600" indent="0">
              <a:buNone/>
              <a:defRPr sz="1600" baseline="0">
                <a:latin typeface="Arial Narrow" panose="020B0606020202030204" pitchFamily="34" charset="0"/>
                <a:ea typeface="나눔고딕" panose="020D0604000000000000" pitchFamily="50" charset="-127"/>
              </a:defRPr>
            </a:lvl4pPr>
            <a:lvl5pPr marL="1828800" indent="0">
              <a:buNone/>
              <a:defRPr sz="1600" baseline="0">
                <a:latin typeface="Arial Narrow" panose="020B0606020202030204" pitchFamily="34" charset="0"/>
                <a:ea typeface="나눔고딕" panose="020D0604000000000000" pitchFamily="50" charset="-127"/>
              </a:defRPr>
            </a:lvl5pPr>
          </a:lstStyle>
          <a:p>
            <a:pPr lvl="0"/>
            <a:r>
              <a:rPr lang="ko-KR" altLang="en-US" dirty="0"/>
              <a:t>장표 내용</a:t>
            </a:r>
          </a:p>
        </p:txBody>
      </p:sp>
      <p:sp>
        <p:nvSpPr>
          <p:cNvPr id="11" name="TextBox 10">
            <a:extLst>
              <a:ext uri="{FF2B5EF4-FFF2-40B4-BE49-F238E27FC236}">
                <a16:creationId xmlns:a16="http://schemas.microsoft.com/office/drawing/2014/main" id="{61FCACFC-B33A-4DF3-8F64-99FDB96005F8}"/>
              </a:ext>
            </a:extLst>
          </p:cNvPr>
          <p:cNvSpPr txBox="1"/>
          <p:nvPr userDrawn="1"/>
        </p:nvSpPr>
        <p:spPr>
          <a:xfrm>
            <a:off x="6766380" y="6604048"/>
            <a:ext cx="2579232" cy="138499"/>
          </a:xfrm>
          <a:prstGeom prst="rect">
            <a:avLst/>
          </a:prstGeom>
          <a:noFill/>
        </p:spPr>
        <p:txBody>
          <a:bodyPr wrap="none" lIns="0" tIns="0" rIns="0" bIns="0" rtlCol="0" anchor="ctr">
            <a:spAutoFit/>
          </a:bodyPr>
          <a:lstStyle/>
          <a:p>
            <a:pPr lvl="0" algn="r">
              <a:buNone/>
            </a:pPr>
            <a:r>
              <a:rPr lang="en-US" altLang="ko-KR" sz="900" b="0" baseline="0" dirty="0">
                <a:solidFill>
                  <a:schemeClr val="tx1">
                    <a:lumMod val="50000"/>
                    <a:lumOff val="50000"/>
                  </a:schemeClr>
                </a:solidFill>
                <a:latin typeface="a고딕14" panose="02020600000000000000" pitchFamily="18" charset="-127"/>
                <a:ea typeface="a고딕14" panose="02020600000000000000" pitchFamily="18" charset="-127"/>
              </a:rPr>
              <a:t>2025</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년 </a:t>
            </a:r>
            <a:r>
              <a:rPr lang="ko-KR" altLang="en-US" sz="900" b="0" baseline="0" dirty="0" err="1">
                <a:solidFill>
                  <a:schemeClr val="tx1">
                    <a:lumMod val="50000"/>
                    <a:lumOff val="50000"/>
                  </a:schemeClr>
                </a:solidFill>
                <a:latin typeface="a고딕14" panose="02020600000000000000" pitchFamily="18" charset="-127"/>
                <a:ea typeface="a고딕14" panose="02020600000000000000" pitchFamily="18" charset="-127"/>
              </a:rPr>
              <a:t>기술교육로드맵</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 개발 및 신규과정 선정 연구용역</a:t>
            </a:r>
          </a:p>
        </p:txBody>
      </p:sp>
      <p:sp>
        <p:nvSpPr>
          <p:cNvPr id="9" name="텍스트 개체 틀 2">
            <a:extLst>
              <a:ext uri="{FF2B5EF4-FFF2-40B4-BE49-F238E27FC236}">
                <a16:creationId xmlns:a16="http://schemas.microsoft.com/office/drawing/2014/main" id="{EF38405C-6921-4AD3-BA7F-6DC4A0698857}"/>
              </a:ext>
            </a:extLst>
          </p:cNvPr>
          <p:cNvSpPr>
            <a:spLocks noGrp="1"/>
          </p:cNvSpPr>
          <p:nvPr>
            <p:ph type="body" sz="quarter" idx="14" hasCustomPrompt="1"/>
          </p:nvPr>
        </p:nvSpPr>
        <p:spPr>
          <a:xfrm>
            <a:off x="596516" y="1664744"/>
            <a:ext cx="2644901" cy="331935"/>
          </a:xfrm>
        </p:spPr>
        <p:txBody>
          <a:bodyPr vert="horz" wrap="none" lIns="0" tIns="0" rIns="0" bIns="0" rtlCol="0" anchor="ctr">
            <a:noAutofit/>
          </a:bodyPr>
          <a:lstStyle>
            <a:lvl1pPr>
              <a:defRPr lang="ko-KR" altLang="en-US" sz="1800" baseline="0" smtClean="0">
                <a:solidFill>
                  <a:schemeClr val="tx1">
                    <a:lumMod val="50000"/>
                    <a:lumOff val="50000"/>
                  </a:schemeClr>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13" name="텍스트 개체 틀 2">
            <a:extLst>
              <a:ext uri="{FF2B5EF4-FFF2-40B4-BE49-F238E27FC236}">
                <a16:creationId xmlns:a16="http://schemas.microsoft.com/office/drawing/2014/main" id="{8FD22BAF-09E9-4509-8C9F-1CF6A4E6EE68}"/>
              </a:ext>
            </a:extLst>
          </p:cNvPr>
          <p:cNvSpPr>
            <a:spLocks noGrp="1"/>
          </p:cNvSpPr>
          <p:nvPr>
            <p:ph type="body" sz="quarter" idx="15" hasCustomPrompt="1"/>
          </p:nvPr>
        </p:nvSpPr>
        <p:spPr>
          <a:xfrm>
            <a:off x="704528" y="252749"/>
            <a:ext cx="6156684" cy="331935"/>
          </a:xfrm>
        </p:spPr>
        <p:txBody>
          <a:bodyPr vert="horz" wrap="none" lIns="72000" tIns="0" rIns="0" bIns="0" rtlCol="0" anchor="ctr">
            <a:noAutofit/>
          </a:bodyPr>
          <a:lstStyle>
            <a:lvl1pPr>
              <a:defRPr lang="ko-KR" altLang="en-US" sz="1300" baseline="0" smtClean="0">
                <a:solidFill>
                  <a:srgbClr val="003F56"/>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8" name="텍스트 개체 틀 2">
            <a:extLst>
              <a:ext uri="{FF2B5EF4-FFF2-40B4-BE49-F238E27FC236}">
                <a16:creationId xmlns:a16="http://schemas.microsoft.com/office/drawing/2014/main" id="{8FD22BAF-09E9-4509-8C9F-1CF6A4E6EE68}"/>
              </a:ext>
            </a:extLst>
          </p:cNvPr>
          <p:cNvSpPr>
            <a:spLocks noGrp="1"/>
          </p:cNvSpPr>
          <p:nvPr>
            <p:ph type="body" sz="quarter" idx="16" hasCustomPrompt="1"/>
          </p:nvPr>
        </p:nvSpPr>
        <p:spPr>
          <a:xfrm>
            <a:off x="7293260" y="138529"/>
            <a:ext cx="2052352" cy="446155"/>
          </a:xfrm>
        </p:spPr>
        <p:txBody>
          <a:bodyPr vert="horz" wrap="none" lIns="0" tIns="0" rIns="0" bIns="0" rtlCol="0" anchor="ctr">
            <a:noAutofit/>
          </a:bodyPr>
          <a:lstStyle>
            <a:lvl1pPr algn="r">
              <a:defRPr lang="ko-KR" altLang="en-US" sz="1100" baseline="0" smtClean="0">
                <a:solidFill>
                  <a:schemeClr val="tx1">
                    <a:lumMod val="50000"/>
                    <a:lumOff val="50000"/>
                  </a:schemeClr>
                </a:solidFill>
                <a:latin typeface="a고딕14" panose="02020600000000000000" pitchFamily="18" charset="-127"/>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7"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17496" y="6610972"/>
            <a:ext cx="117020" cy="124650"/>
          </a:xfrm>
          <a:prstGeom prst="rect">
            <a:avLst/>
          </a:prstGeom>
          <a:noFill/>
          <a:ln w="9525">
            <a:noFill/>
            <a:miter lim="800000"/>
            <a:headEnd/>
            <a:tailEnd/>
          </a:ln>
          <a:effectLst/>
        </p:spPr>
        <p:txBody>
          <a:bodyPr wrap="none" lIns="0" tIns="0" rIns="0" bIns="0" anchor="ctr">
            <a:spAutoFit/>
          </a:bodyPr>
          <a:lstStyle/>
          <a:p>
            <a:pPr algn="ctr" eaLnBrk="0" fontAlgn="base" latinLnBrk="0" hangingPunct="0">
              <a:lnSpc>
                <a:spcPct val="90000"/>
              </a:lnSpc>
              <a:spcBef>
                <a:spcPct val="0"/>
              </a:spcBef>
              <a:spcAft>
                <a:spcPct val="0"/>
              </a:spcAft>
              <a:buNone/>
              <a:defRPr/>
            </a:pPr>
            <a:fld id="{9DEF99B5-B94F-45AE-8F80-FB46EC622A21}" type="slidenum">
              <a:rPr lang="en-GB" altLang="ko-KR" sz="900" b="0" i="0" baseline="0" smtClean="0">
                <a:solidFill>
                  <a:schemeClr val="tx1">
                    <a:lumMod val="50000"/>
                    <a:lumOff val="50000"/>
                  </a:schemeClr>
                </a:solidFill>
                <a:effectLst/>
                <a:latin typeface="Arial Narrow" panose="020B0606020202030204" pitchFamily="34" charset="0"/>
                <a:ea typeface="a고딕14" panose="02020600000000000000" pitchFamily="18" charset="-127"/>
              </a:rPr>
              <a:pPr algn="ctr" eaLnBrk="0" fontAlgn="base" latinLnBrk="0" hangingPunct="0">
                <a:lnSpc>
                  <a:spcPct val="90000"/>
                </a:lnSpc>
                <a:spcBef>
                  <a:spcPct val="0"/>
                </a:spcBef>
                <a:spcAft>
                  <a:spcPct val="0"/>
                </a:spcAft>
                <a:buNone/>
                <a:defRPr/>
              </a:pPr>
              <a:t>‹#›</a:t>
            </a:fld>
            <a:endParaRPr lang="en-GB" altLang="ko-KR" sz="900" b="0" i="0" baseline="0" dirty="0">
              <a:solidFill>
                <a:schemeClr val="tx1">
                  <a:lumMod val="50000"/>
                  <a:lumOff val="50000"/>
                </a:schemeClr>
              </a:solidFill>
              <a:effectLst/>
              <a:latin typeface="Arial Narrow" panose="020B0606020202030204" pitchFamily="34" charset="0"/>
              <a:ea typeface="a고딕14" panose="02020600000000000000" pitchFamily="18" charset="-127"/>
            </a:endParaRPr>
          </a:p>
        </p:txBody>
      </p:sp>
      <p:pic>
        <p:nvPicPr>
          <p:cNvPr id="4" name="그림 3">
            <a:extLst>
              <a:ext uri="{FF2B5EF4-FFF2-40B4-BE49-F238E27FC236}">
                <a16:creationId xmlns:a16="http://schemas.microsoft.com/office/drawing/2014/main" id="{2066F6EE-B576-CD4A-1DA0-616B7B0D4A53}"/>
              </a:ext>
            </a:extLst>
          </p:cNvPr>
          <p:cNvPicPr>
            <a:picLocks noChangeAspect="1"/>
          </p:cNvPicPr>
          <p:nvPr userDrawn="1"/>
        </p:nvPicPr>
        <p:blipFill>
          <a:blip r:embed="rId2"/>
          <a:stretch>
            <a:fillRect/>
          </a:stretch>
        </p:blipFill>
        <p:spPr>
          <a:xfrm>
            <a:off x="-1779748" y="0"/>
            <a:ext cx="1590897" cy="2286319"/>
          </a:xfrm>
          <a:prstGeom prst="rect">
            <a:avLst/>
          </a:prstGeom>
        </p:spPr>
      </p:pic>
    </p:spTree>
    <p:extLst>
      <p:ext uri="{BB962C8B-B14F-4D97-AF65-F5344CB8AC3E}">
        <p14:creationId xmlns:p14="http://schemas.microsoft.com/office/powerpoint/2010/main" val="2241783230"/>
      </p:ext>
    </p:extLst>
  </p:cSld>
  <p:clrMapOvr>
    <a:masterClrMapping/>
  </p:clrMapOvr>
  <p:extLst>
    <p:ext uri="{DCECCB84-F9BA-43D5-87BE-67443E8EF086}">
      <p15:sldGuideLst xmlns:p15="http://schemas.microsoft.com/office/powerpoint/2012/main">
        <p15:guide id="1" pos="376" userDrawn="1">
          <p15:clr>
            <a:srgbClr val="FBAE40"/>
          </p15:clr>
        </p15:guide>
        <p15:guide id="2" pos="5887" userDrawn="1">
          <p15:clr>
            <a:srgbClr val="FBAE40"/>
          </p15:clr>
        </p15:guide>
        <p15:guide id="3" orient="horz" pos="1049" userDrawn="1">
          <p15:clr>
            <a:srgbClr val="FBAE40"/>
          </p15:clr>
        </p15:guide>
        <p15:guide id="4" orient="horz" pos="1525" userDrawn="1">
          <p15:clr>
            <a:srgbClr val="FBAE40"/>
          </p15:clr>
        </p15:guide>
        <p15:guide id="5" orient="horz" pos="1570" userDrawn="1">
          <p15:clr>
            <a:srgbClr val="FBAE40"/>
          </p15:clr>
        </p15:guide>
        <p15:guide id="6" orient="horz" pos="4088" userDrawn="1">
          <p15:clr>
            <a:srgbClr val="FBAE40"/>
          </p15:clr>
        </p15:guide>
        <p15:guide id="7" pos="31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FCACFC-B33A-4DF3-8F64-99FDB96005F8}"/>
              </a:ext>
            </a:extLst>
          </p:cNvPr>
          <p:cNvSpPr txBox="1"/>
          <p:nvPr userDrawn="1"/>
        </p:nvSpPr>
        <p:spPr>
          <a:xfrm>
            <a:off x="7931763" y="6604048"/>
            <a:ext cx="1413849" cy="138499"/>
          </a:xfrm>
          <a:prstGeom prst="rect">
            <a:avLst/>
          </a:prstGeom>
          <a:noFill/>
        </p:spPr>
        <p:txBody>
          <a:bodyPr wrap="none" lIns="0" tIns="0" rIns="0" bIns="0" rtlCol="0" anchor="ctr">
            <a:spAutoFit/>
          </a:bodyPr>
          <a:lstStyle/>
          <a:p>
            <a:pPr lvl="0" algn="r">
              <a:buNone/>
            </a:pP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온라인 교육훈련 수요조사 용역</a:t>
            </a:r>
          </a:p>
        </p:txBody>
      </p:sp>
      <p:sp>
        <p:nvSpPr>
          <p:cNvPr id="3"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17496" y="6610972"/>
            <a:ext cx="117020" cy="124650"/>
          </a:xfrm>
          <a:prstGeom prst="rect">
            <a:avLst/>
          </a:prstGeom>
          <a:noFill/>
          <a:ln w="9525">
            <a:noFill/>
            <a:miter lim="800000"/>
            <a:headEnd/>
            <a:tailEnd/>
          </a:ln>
          <a:effectLst/>
        </p:spPr>
        <p:txBody>
          <a:bodyPr wrap="none" lIns="0" tIns="0" rIns="0" bIns="0" anchor="ctr">
            <a:spAutoFit/>
          </a:bodyPr>
          <a:lstStyle/>
          <a:p>
            <a:pPr algn="ctr" eaLnBrk="0" fontAlgn="base" latinLnBrk="0" hangingPunct="0">
              <a:lnSpc>
                <a:spcPct val="90000"/>
              </a:lnSpc>
              <a:spcBef>
                <a:spcPct val="0"/>
              </a:spcBef>
              <a:spcAft>
                <a:spcPct val="0"/>
              </a:spcAft>
              <a:buNone/>
              <a:defRPr/>
            </a:pPr>
            <a:fld id="{9DEF99B5-B94F-45AE-8F80-FB46EC622A21}" type="slidenum">
              <a:rPr lang="en-GB" altLang="ko-KR" sz="900" b="0" i="0" baseline="0" smtClean="0">
                <a:solidFill>
                  <a:schemeClr val="tx1">
                    <a:lumMod val="50000"/>
                    <a:lumOff val="50000"/>
                  </a:schemeClr>
                </a:solidFill>
                <a:effectLst/>
                <a:latin typeface="Arial Narrow" panose="020B0606020202030204" pitchFamily="34" charset="0"/>
                <a:ea typeface="a고딕14" panose="02020600000000000000" pitchFamily="18" charset="-127"/>
              </a:rPr>
              <a:pPr algn="ctr" eaLnBrk="0" fontAlgn="base" latinLnBrk="0" hangingPunct="0">
                <a:lnSpc>
                  <a:spcPct val="90000"/>
                </a:lnSpc>
                <a:spcBef>
                  <a:spcPct val="0"/>
                </a:spcBef>
                <a:spcAft>
                  <a:spcPct val="0"/>
                </a:spcAft>
                <a:buNone/>
                <a:defRPr/>
              </a:pPr>
              <a:t>‹#›</a:t>
            </a:fld>
            <a:endParaRPr lang="en-GB" altLang="ko-KR" sz="900" b="0" i="0" baseline="0" dirty="0">
              <a:solidFill>
                <a:schemeClr val="tx1">
                  <a:lumMod val="50000"/>
                  <a:lumOff val="50000"/>
                </a:schemeClr>
              </a:solidFill>
              <a:effectLst/>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13924447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090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0A42379-E437-449C-8C27-5126C0D6BF4A}"/>
              </a:ext>
            </a:extLst>
          </p:cNvPr>
          <p:cNvSpPr>
            <a:spLocks noGrp="1"/>
          </p:cNvSpPr>
          <p:nvPr>
            <p:ph type="title"/>
          </p:nvPr>
        </p:nvSpPr>
        <p:spPr>
          <a:xfrm>
            <a:off x="681038" y="548680"/>
            <a:ext cx="8543925" cy="651607"/>
          </a:xfrm>
          <a:prstGeom prst="rect">
            <a:avLst/>
          </a:prstGeom>
        </p:spPr>
        <p:txBody>
          <a:bodyPr vert="horz" lIns="91440" tIns="45720" rIns="91440" bIns="45720" rtlCol="0" anchor="ctr">
            <a:normAutofit/>
          </a:bodyPr>
          <a:lstStyle/>
          <a:p>
            <a:r>
              <a:rPr lang="en-US" altLang="ko-KR" dirty="0"/>
              <a:t>Click to edit Master style</a:t>
            </a:r>
            <a:endParaRPr lang="ko-KR" altLang="en-US" dirty="0"/>
          </a:p>
        </p:txBody>
      </p:sp>
      <p:sp>
        <p:nvSpPr>
          <p:cNvPr id="8" name="텍스트 개체 틀 7">
            <a:extLst>
              <a:ext uri="{FF2B5EF4-FFF2-40B4-BE49-F238E27FC236}">
                <a16:creationId xmlns:a16="http://schemas.microsoft.com/office/drawing/2014/main" id="{97854AE8-64DB-4318-B442-9AE1C6792159}"/>
              </a:ext>
            </a:extLst>
          </p:cNvPr>
          <p:cNvSpPr>
            <a:spLocks noGrp="1"/>
          </p:cNvSpPr>
          <p:nvPr>
            <p:ph type="body" idx="1"/>
          </p:nvPr>
        </p:nvSpPr>
        <p:spPr>
          <a:xfrm>
            <a:off x="681038" y="1520788"/>
            <a:ext cx="8543925" cy="1404156"/>
          </a:xfrm>
          <a:prstGeom prst="rect">
            <a:avLst/>
          </a:prstGeom>
        </p:spPr>
        <p:txBody>
          <a:bodyPr vert="horz" lIns="91440" tIns="45720" rIns="91440" bIns="45720" rtlCol="0">
            <a:normAutofit/>
          </a:bodyPr>
          <a:lstStyle/>
          <a:p>
            <a:pPr lvl="0"/>
            <a:r>
              <a:rPr lang="en-US" altLang="ko-KR" dirty="0"/>
              <a:t>Click to edit Master text style – Level</a:t>
            </a:r>
          </a:p>
          <a:p>
            <a:pPr lvl="0"/>
            <a:r>
              <a:rPr lang="en-US" altLang="ko-KR" dirty="0"/>
              <a:t> </a:t>
            </a:r>
          </a:p>
        </p:txBody>
      </p:sp>
    </p:spTree>
    <p:extLst>
      <p:ext uri="{BB962C8B-B14F-4D97-AF65-F5344CB8AC3E}">
        <p14:creationId xmlns:p14="http://schemas.microsoft.com/office/powerpoint/2010/main" val="1169121173"/>
      </p:ext>
    </p:extLst>
  </p:cSld>
  <p:clrMap bg1="lt1" tx1="dk1" bg2="lt2" tx2="dk2" accent1="accent1" accent2="accent2" accent3="accent3" accent4="accent4" accent5="accent5" accent6="accent6" hlink="hlink" folHlink="folHlink"/>
  <p:sldLayoutIdLst>
    <p:sldLayoutId id="2147484387" r:id="rId1"/>
    <p:sldLayoutId id="2147484391" r:id="rId2"/>
    <p:sldLayoutId id="2147484393" r:id="rId3"/>
    <p:sldLayoutId id="2147484372" r:id="rId4"/>
    <p:sldLayoutId id="2147484394" r:id="rId5"/>
    <p:sldLayoutId id="2147484395" r:id="rId6"/>
  </p:sldLayoutIdLst>
  <p:txStyles>
    <p:titleStyle>
      <a:lvl1pPr algn="l" defTabSz="914400" rtl="0" eaLnBrk="1" latinLnBrk="1" hangingPunct="1">
        <a:spcBef>
          <a:spcPct val="0"/>
        </a:spcBef>
        <a:buNone/>
        <a:defRPr sz="2000" b="1" kern="1200" baseline="0">
          <a:solidFill>
            <a:schemeClr val="tx1"/>
          </a:solidFill>
          <a:latin typeface="Arial Narrow" panose="020B0606020202030204" pitchFamily="34" charset="0"/>
          <a:ea typeface="HY헤드라인M" panose="02030600000101010101" pitchFamily="18" charset="-127"/>
          <a:cs typeface="+mj-cs"/>
        </a:defRPr>
      </a:lvl1pPr>
    </p:titleStyle>
    <p:bodyStyle>
      <a:lvl1pPr marL="0" indent="0" algn="l" defTabSz="914400" rtl="0" eaLnBrk="1" latinLnBrk="1" hangingPunct="1">
        <a:spcBef>
          <a:spcPct val="20000"/>
        </a:spcBef>
        <a:buFontTx/>
        <a:buNone/>
        <a:defRPr sz="2000" kern="1200" baseline="0">
          <a:solidFill>
            <a:schemeClr val="tx1"/>
          </a:solidFill>
          <a:latin typeface="Arial Narrow" panose="020B0606020202030204" pitchFamily="34" charset="0"/>
          <a:ea typeface="HY헤드라인M" panose="02030600000101010101" pitchFamily="18" charset="-127"/>
          <a:cs typeface="+mn-cs"/>
        </a:defRPr>
      </a:lvl1pPr>
      <a:lvl2pPr marL="4572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4.xml"/><Relationship Id="rId5" Type="http://schemas.openxmlformats.org/officeDocument/2006/relationships/tags" Target="../tags/tag12.xml"/><Relationship Id="rId4" Type="http://schemas.openxmlformats.org/officeDocument/2006/relationships/tags" Target="../tags/tag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4.xml"/><Relationship Id="rId1" Type="http://schemas.openxmlformats.org/officeDocument/2006/relationships/tags" Target="../tags/tag15.xml"/><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7.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8.jpe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jpeg"/><Relationship Id="rId7" Type="http://schemas.openxmlformats.org/officeDocument/2006/relationships/image" Target="../media/image63.png"/><Relationship Id="rId2" Type="http://schemas.openxmlformats.org/officeDocument/2006/relationships/hyperlink" Target="http://kimauclair.ca/blog/wp-content/uploads/2011/12/bilan-de-competence.jpg" TargetMode="External"/><Relationship Id="rId1" Type="http://schemas.openxmlformats.org/officeDocument/2006/relationships/slideLayout" Target="../slideLayouts/slideLayout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6.jpe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EB88D704-DBEF-67B5-9397-FB979DB8FBF3}"/>
              </a:ext>
            </a:extLst>
          </p:cNvPr>
          <p:cNvSpPr/>
          <p:nvPr/>
        </p:nvSpPr>
        <p:spPr>
          <a:xfrm>
            <a:off x="2468724" y="3747307"/>
            <a:ext cx="5184576" cy="8536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en-US" altLang="ko-KR" sz="2400" dirty="0">
                <a:solidFill>
                  <a:schemeClr val="tx1"/>
                </a:solidFill>
                <a:latin typeface="Arial Narrow" panose="020B0606020202030204" pitchFamily="34" charset="0"/>
                <a:ea typeface="a고딕14" panose="02020600000000000000" pitchFamily="18" charset="-127"/>
              </a:rPr>
              <a:t>2025.  05.  15.</a:t>
            </a:r>
            <a:endParaRPr lang="ko-KR" altLang="en-US" sz="2400" dirty="0">
              <a:solidFill>
                <a:schemeClr val="tx1"/>
              </a:solidFill>
              <a:latin typeface="Arial Narrow" panose="020B0606020202030204" pitchFamily="34" charset="0"/>
              <a:ea typeface="a고딕14" panose="02020600000000000000" pitchFamily="18" charset="-127"/>
            </a:endParaRPr>
          </a:p>
        </p:txBody>
      </p:sp>
      <p:graphicFrame>
        <p:nvGraphicFramePr>
          <p:cNvPr id="6" name="표 5">
            <a:extLst>
              <a:ext uri="{FF2B5EF4-FFF2-40B4-BE49-F238E27FC236}">
                <a16:creationId xmlns:a16="http://schemas.microsoft.com/office/drawing/2014/main" id="{B1B79EED-D456-CA5E-29CB-AB699A300B77}"/>
              </a:ext>
            </a:extLst>
          </p:cNvPr>
          <p:cNvGraphicFramePr>
            <a:graphicFrameLocks noGrp="1"/>
          </p:cNvGraphicFramePr>
          <p:nvPr>
            <p:extLst>
              <p:ext uri="{D42A27DB-BD31-4B8C-83A1-F6EECF244321}">
                <p14:modId xmlns:p14="http://schemas.microsoft.com/office/powerpoint/2010/main" val="3144476588"/>
              </p:ext>
            </p:extLst>
          </p:nvPr>
        </p:nvGraphicFramePr>
        <p:xfrm>
          <a:off x="1800426" y="1566481"/>
          <a:ext cx="6305149" cy="1312037"/>
        </p:xfrm>
        <a:graphic>
          <a:graphicData uri="http://schemas.openxmlformats.org/drawingml/2006/table">
            <a:tbl>
              <a:tblPr/>
              <a:tblGrid>
                <a:gridCol w="299588">
                  <a:extLst>
                    <a:ext uri="{9D8B030D-6E8A-4147-A177-3AD203B41FA5}">
                      <a16:colId xmlns:a16="http://schemas.microsoft.com/office/drawing/2014/main" val="1529086012"/>
                    </a:ext>
                  </a:extLst>
                </a:gridCol>
                <a:gridCol w="299588">
                  <a:extLst>
                    <a:ext uri="{9D8B030D-6E8A-4147-A177-3AD203B41FA5}">
                      <a16:colId xmlns:a16="http://schemas.microsoft.com/office/drawing/2014/main" val="3417776487"/>
                    </a:ext>
                  </a:extLst>
                </a:gridCol>
                <a:gridCol w="264541">
                  <a:extLst>
                    <a:ext uri="{9D8B030D-6E8A-4147-A177-3AD203B41FA5}">
                      <a16:colId xmlns:a16="http://schemas.microsoft.com/office/drawing/2014/main" val="1454426844"/>
                    </a:ext>
                  </a:extLst>
                </a:gridCol>
                <a:gridCol w="4577461">
                  <a:extLst>
                    <a:ext uri="{9D8B030D-6E8A-4147-A177-3AD203B41FA5}">
                      <a16:colId xmlns:a16="http://schemas.microsoft.com/office/drawing/2014/main" val="2701615502"/>
                    </a:ext>
                  </a:extLst>
                </a:gridCol>
                <a:gridCol w="264795">
                  <a:extLst>
                    <a:ext uri="{9D8B030D-6E8A-4147-A177-3AD203B41FA5}">
                      <a16:colId xmlns:a16="http://schemas.microsoft.com/office/drawing/2014/main" val="592869833"/>
                    </a:ext>
                  </a:extLst>
                </a:gridCol>
                <a:gridCol w="299588">
                  <a:extLst>
                    <a:ext uri="{9D8B030D-6E8A-4147-A177-3AD203B41FA5}">
                      <a16:colId xmlns:a16="http://schemas.microsoft.com/office/drawing/2014/main" val="127452912"/>
                    </a:ext>
                  </a:extLst>
                </a:gridCol>
                <a:gridCol w="299588">
                  <a:extLst>
                    <a:ext uri="{9D8B030D-6E8A-4147-A177-3AD203B41FA5}">
                      <a16:colId xmlns:a16="http://schemas.microsoft.com/office/drawing/2014/main" val="2146459711"/>
                    </a:ext>
                  </a:extLst>
                </a:gridCol>
              </a:tblGrid>
              <a:tr h="84455">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latin typeface="함초롬바탕" panose="02030604000101010101" pitchFamily="18" charset="-127"/>
                      </a:endParaRPr>
                    </a:p>
                  </a:txBody>
                  <a:tcPr marT="17907" marB="17907" anchor="ctr">
                    <a:lnL>
                      <a:noFill/>
                    </a:lnL>
                    <a:lnR>
                      <a:noFill/>
                    </a:lnR>
                    <a:lnT>
                      <a:noFill/>
                    </a:lnT>
                    <a:lnB w="3556" cap="flat" cmpd="sng" algn="ctr">
                      <a:solidFill>
                        <a:srgbClr val="F2F2F2"/>
                      </a:solidFill>
                      <a:prstDash val="solid"/>
                      <a:round/>
                      <a:headEnd type="none" w="med" len="med"/>
                      <a:tailEnd type="none" w="med" len="med"/>
                    </a:lnB>
                    <a:no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latin typeface="함초롬바탕" panose="02030604000101010101" pitchFamily="18" charset="-127"/>
                      </a:endParaRPr>
                    </a:p>
                  </a:txBody>
                  <a:tcPr marT="17907" marB="17907" anchor="ctr">
                    <a:lnL>
                      <a:noFill/>
                    </a:lnL>
                    <a:lnR>
                      <a:noFill/>
                    </a:lnR>
                    <a:lnT>
                      <a:noFill/>
                    </a:lnT>
                    <a:lnB w="3556" cap="flat" cmpd="sng" algn="ctr">
                      <a:solidFill>
                        <a:srgbClr val="F7941D"/>
                      </a:solidFill>
                      <a:prstDash val="solid"/>
                      <a:round/>
                      <a:headEnd type="none" w="med" len="med"/>
                      <a:tailEnd type="none" w="med" len="med"/>
                    </a:lnB>
                    <a:no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latin typeface="함초롬바탕" panose="02030604000101010101" pitchFamily="18" charset="-127"/>
                      </a:endParaRPr>
                    </a:p>
                  </a:txBody>
                  <a:tcPr marT="17907" marB="17907" anchor="ctr">
                    <a:lnL>
                      <a:noFill/>
                    </a:lnL>
                    <a:lnR>
                      <a:noFill/>
                    </a:lnR>
                    <a:lnT>
                      <a:noFill/>
                    </a:lnT>
                    <a:lnB w="3556" cap="flat" cmpd="sng" algn="ctr">
                      <a:solidFill>
                        <a:srgbClr val="F2F2F2"/>
                      </a:solidFill>
                      <a:prstDash val="solid"/>
                      <a:round/>
                      <a:headEnd type="none" w="med" len="med"/>
                      <a:tailEnd type="none" w="med" len="med"/>
                    </a:lnB>
                    <a:no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extLst>
                  <a:ext uri="{0D108BD9-81ED-4DB2-BD59-A6C34878D82A}">
                    <a16:rowId xmlns:a16="http://schemas.microsoft.com/office/drawing/2014/main" val="126704236"/>
                  </a:ext>
                </a:extLst>
              </a:tr>
              <a:tr h="1143127">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tc gridSpan="5">
                  <a:txBody>
                    <a:bodyPr/>
                    <a:lstStyle/>
                    <a:p>
                      <a:pPr marL="0" marR="0" indent="0" algn="ctr" fontAlgn="base" latinLnBrk="1">
                        <a:lnSpc>
                          <a:spcPct val="140000"/>
                        </a:lnSpc>
                        <a:spcBef>
                          <a:spcPts val="0"/>
                        </a:spcBef>
                        <a:spcAft>
                          <a:spcPts val="0"/>
                        </a:spcAft>
                      </a:pPr>
                      <a:r>
                        <a:rPr lang="en-US" altLang="ko-KR" sz="2000" b="1" kern="0" spc="-50" dirty="0">
                          <a:solidFill>
                            <a:srgbClr val="000000"/>
                          </a:solidFill>
                          <a:effectLst/>
                          <a:latin typeface="HY헤드라인M" panose="02030600000101010101" pitchFamily="18" charset="-127"/>
                          <a:ea typeface="HY헤드라인M" panose="02030600000101010101" pitchFamily="18" charset="-127"/>
                        </a:rPr>
                        <a:t>2025</a:t>
                      </a:r>
                      <a:r>
                        <a:rPr lang="ko-KR" altLang="en-US" sz="2000" b="1" kern="0" spc="-50" dirty="0">
                          <a:solidFill>
                            <a:srgbClr val="000000"/>
                          </a:solidFill>
                          <a:effectLst/>
                          <a:latin typeface="HY헤드라인M" panose="02030600000101010101" pitchFamily="18" charset="-127"/>
                          <a:ea typeface="HY헤드라인M" panose="02030600000101010101" pitchFamily="18" charset="-127"/>
                        </a:rPr>
                        <a:t>년 </a:t>
                      </a:r>
                      <a:r>
                        <a:rPr lang="ko-KR" altLang="en-US" sz="2000" b="1" kern="0" spc="-50" dirty="0" err="1">
                          <a:solidFill>
                            <a:srgbClr val="000000"/>
                          </a:solidFill>
                          <a:effectLst/>
                          <a:latin typeface="HY헤드라인M" panose="02030600000101010101" pitchFamily="18" charset="-127"/>
                          <a:ea typeface="HY헤드라인M" panose="02030600000101010101" pitchFamily="18" charset="-127"/>
                        </a:rPr>
                        <a:t>기술교육로드맵</a:t>
                      </a:r>
                      <a:r>
                        <a:rPr lang="ko-KR" altLang="en-US" sz="2000" b="1" kern="0" spc="-50" dirty="0">
                          <a:solidFill>
                            <a:srgbClr val="000000"/>
                          </a:solidFill>
                          <a:effectLst/>
                          <a:latin typeface="HY헤드라인M" panose="02030600000101010101" pitchFamily="18" charset="-127"/>
                          <a:ea typeface="HY헤드라인M" panose="02030600000101010101" pitchFamily="18" charset="-127"/>
                        </a:rPr>
                        <a:t> 개발 및 신규과정 선정</a:t>
                      </a:r>
                      <a:endParaRPr lang="ko-KR" altLang="en-US" sz="1000" kern="0" spc="0" dirty="0">
                        <a:solidFill>
                          <a:srgbClr val="000000"/>
                        </a:solidFill>
                        <a:effectLst/>
                        <a:latin typeface="함초롬바탕" panose="02030604000101010101" pitchFamily="18" charset="-127"/>
                      </a:endParaRPr>
                    </a:p>
                    <a:p>
                      <a:pPr marL="0" marR="0" indent="0" algn="ctr" fontAlgn="base" latinLnBrk="1">
                        <a:lnSpc>
                          <a:spcPct val="140000"/>
                        </a:lnSpc>
                        <a:spcBef>
                          <a:spcPts val="0"/>
                        </a:spcBef>
                        <a:spcAft>
                          <a:spcPts val="0"/>
                        </a:spcAft>
                      </a:pPr>
                      <a:r>
                        <a:rPr lang="ko-KR" altLang="en-US" sz="2200" b="1" kern="0" spc="0" dirty="0">
                          <a:solidFill>
                            <a:srgbClr val="000000"/>
                          </a:solidFill>
                          <a:effectLst>
                            <a:outerShdw blurRad="50800" dist="38100" algn="tr" rotWithShape="0">
                              <a:prstClr val="black">
                                <a:alpha val="40000"/>
                              </a:prstClr>
                            </a:outerShdw>
                          </a:effectLst>
                          <a:latin typeface="HY헤드라인M" panose="02030600000101010101" pitchFamily="18" charset="-127"/>
                          <a:ea typeface="HY헤드라인M" panose="02030600000101010101" pitchFamily="18" charset="-127"/>
                        </a:rPr>
                        <a:t>연구용역 제안서</a:t>
                      </a:r>
                      <a:endParaRPr lang="ko-KR" altLang="en-US" sz="1000" kern="0" spc="0" dirty="0">
                        <a:solidFill>
                          <a:srgbClr val="000000"/>
                        </a:solidFill>
                        <a:effectLst/>
                        <a:latin typeface="함초롬바탕" panose="02030604000101010101" pitchFamily="18" charset="-127"/>
                      </a:endParaRPr>
                    </a:p>
                  </a:txBody>
                  <a:tcPr marT="17907" marB="17907" anchor="ctr">
                    <a:lnL>
                      <a:noFill/>
                    </a:lnL>
                    <a:lnR>
                      <a:noFill/>
                    </a:lnR>
                    <a:lnT>
                      <a:noFill/>
                    </a:lnT>
                    <a:lnB>
                      <a:noFill/>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extLst>
                  <a:ext uri="{0D108BD9-81ED-4DB2-BD59-A6C34878D82A}">
                    <a16:rowId xmlns:a16="http://schemas.microsoft.com/office/drawing/2014/main" val="1536306670"/>
                  </a:ext>
                </a:extLst>
              </a:tr>
              <a:tr h="84455">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F2F2F2"/>
                        </a:highlight>
                        <a:latin typeface="함초롬바탕" panose="02030604000101010101" pitchFamily="18" charset="-127"/>
                      </a:endParaRPr>
                    </a:p>
                  </a:txBody>
                  <a:tcPr marT="17907" marB="17907" anchor="ctr">
                    <a:lnL>
                      <a:noFill/>
                    </a:lnL>
                    <a:lnR>
                      <a:noFill/>
                    </a:lnR>
                    <a:lnT>
                      <a:noFill/>
                    </a:lnT>
                    <a:lnB>
                      <a:noFill/>
                    </a:lnB>
                    <a:solidFill>
                      <a:srgbClr val="F2F2F2"/>
                    </a:solid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F7941D"/>
                        </a:highlight>
                        <a:latin typeface="함초롬바탕" panose="02030604000101010101" pitchFamily="18" charset="-127"/>
                      </a:endParaRPr>
                    </a:p>
                  </a:txBody>
                  <a:tcPr marT="17907" marB="17907" anchor="ctr">
                    <a:lnL>
                      <a:noFill/>
                    </a:lnL>
                    <a:lnR>
                      <a:noFill/>
                    </a:lnR>
                    <a:lnT>
                      <a:noFill/>
                    </a:lnT>
                    <a:lnB>
                      <a:noFill/>
                    </a:lnB>
                    <a:solidFill>
                      <a:srgbClr val="F7941D"/>
                    </a:solid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F2F2F2"/>
                        </a:highlight>
                        <a:latin typeface="함초롬바탕" panose="02030604000101010101" pitchFamily="18" charset="-127"/>
                      </a:endParaRPr>
                    </a:p>
                  </a:txBody>
                  <a:tcPr marT="17907" marB="17907" anchor="ctr">
                    <a:lnL>
                      <a:noFill/>
                    </a:lnL>
                    <a:lnR>
                      <a:noFill/>
                    </a:lnR>
                    <a:lnT>
                      <a:noFill/>
                    </a:lnT>
                    <a:lnB>
                      <a:noFill/>
                    </a:lnB>
                    <a:solidFill>
                      <a:srgbClr val="F2F2F2"/>
                    </a:solidFill>
                  </a:tcPr>
                </a:tc>
                <a:tc>
                  <a:txBody>
                    <a:bodyPr/>
                    <a:lstStyle/>
                    <a:p>
                      <a:pPr marL="0" marR="0" indent="0" algn="ctr" fontAlgn="base" latinLnBrk="1">
                        <a:lnSpc>
                          <a:spcPct val="140000"/>
                        </a:lnSpc>
                        <a:spcBef>
                          <a:spcPts val="0"/>
                        </a:spcBef>
                        <a:spcAft>
                          <a:spcPts val="0"/>
                        </a:spcAft>
                      </a:pPr>
                      <a:endParaRPr lang="ko-KR" altLang="en-US" sz="100" b="1" kern="0" spc="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tc>
                  <a:txBody>
                    <a:bodyPr/>
                    <a:lstStyle/>
                    <a:p>
                      <a:pPr marL="0" marR="0" indent="0" algn="ctr" fontAlgn="base" latinLnBrk="1">
                        <a:lnSpc>
                          <a:spcPct val="140000"/>
                        </a:lnSpc>
                        <a:spcBef>
                          <a:spcPts val="0"/>
                        </a:spcBef>
                        <a:spcAft>
                          <a:spcPts val="0"/>
                        </a:spcAft>
                      </a:pPr>
                      <a:endParaRPr lang="ko-KR" altLang="en-US" sz="100" b="1" kern="0" spc="0" dirty="0">
                        <a:solidFill>
                          <a:srgbClr val="000000"/>
                        </a:solidFill>
                        <a:effectLst/>
                        <a:highlight>
                          <a:srgbClr val="195B8E"/>
                        </a:highlight>
                        <a:latin typeface="함초롬바탕" panose="02030604000101010101" pitchFamily="18" charset="-127"/>
                      </a:endParaRPr>
                    </a:p>
                  </a:txBody>
                  <a:tcPr marT="17907" marB="17907" anchor="ctr">
                    <a:lnL>
                      <a:noFill/>
                    </a:lnL>
                    <a:lnR>
                      <a:noFill/>
                    </a:lnR>
                    <a:lnT>
                      <a:noFill/>
                    </a:lnT>
                    <a:lnB>
                      <a:noFill/>
                    </a:lnB>
                    <a:solidFill>
                      <a:srgbClr val="195B8E"/>
                    </a:solidFill>
                  </a:tcPr>
                </a:tc>
                <a:extLst>
                  <a:ext uri="{0D108BD9-81ED-4DB2-BD59-A6C34878D82A}">
                    <a16:rowId xmlns:a16="http://schemas.microsoft.com/office/drawing/2014/main" val="2293172763"/>
                  </a:ext>
                </a:extLst>
              </a:tr>
            </a:tbl>
          </a:graphicData>
        </a:graphic>
      </p:graphicFrame>
      <p:sp>
        <p:nvSpPr>
          <p:cNvPr id="10" name="직사각형 9">
            <a:extLst>
              <a:ext uri="{FF2B5EF4-FFF2-40B4-BE49-F238E27FC236}">
                <a16:creationId xmlns:a16="http://schemas.microsoft.com/office/drawing/2014/main" id="{7AF30BDA-656D-9BCD-948D-3B6A294AD1DC}"/>
              </a:ext>
            </a:extLst>
          </p:cNvPr>
          <p:cNvSpPr/>
          <p:nvPr/>
        </p:nvSpPr>
        <p:spPr>
          <a:xfrm>
            <a:off x="2468724" y="5373216"/>
            <a:ext cx="5184576" cy="8536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2400" dirty="0" err="1">
                <a:solidFill>
                  <a:schemeClr val="tx1"/>
                </a:solidFill>
                <a:latin typeface="Arial Narrow" panose="020B0606020202030204" pitchFamily="34" charset="0"/>
                <a:ea typeface="a고딕14" panose="02020600000000000000" pitchFamily="18" charset="-127"/>
              </a:rPr>
              <a:t>시앤피컨설팅</a:t>
            </a:r>
            <a:r>
              <a:rPr lang="en-US" altLang="ko-KR" sz="2400" dirty="0">
                <a:solidFill>
                  <a:schemeClr val="tx1"/>
                </a:solidFill>
                <a:latin typeface="Arial Narrow" panose="020B0606020202030204" pitchFamily="34" charset="0"/>
                <a:ea typeface="a고딕14" panose="02020600000000000000" pitchFamily="18" charset="-127"/>
              </a:rPr>
              <a:t>(</a:t>
            </a:r>
            <a:r>
              <a:rPr lang="ko-KR" altLang="en-US" sz="2400" dirty="0">
                <a:solidFill>
                  <a:schemeClr val="tx1"/>
                </a:solidFill>
                <a:latin typeface="Arial Narrow" panose="020B0606020202030204" pitchFamily="34" charset="0"/>
                <a:ea typeface="a고딕14" panose="02020600000000000000" pitchFamily="18" charset="-127"/>
              </a:rPr>
              <a:t>주</a:t>
            </a:r>
            <a:r>
              <a:rPr lang="en-US" altLang="ko-KR" sz="2400" dirty="0">
                <a:solidFill>
                  <a:schemeClr val="tx1"/>
                </a:solidFill>
                <a:latin typeface="Arial Narrow" panose="020B0606020202030204" pitchFamily="34" charset="0"/>
                <a:ea typeface="a고딕14" panose="02020600000000000000" pitchFamily="18" charset="-127"/>
              </a:rPr>
              <a:t>)</a:t>
            </a:r>
            <a:endParaRPr lang="ko-KR" altLang="en-US" sz="2400" dirty="0">
              <a:solidFill>
                <a:schemeClr val="tx1"/>
              </a:solidFill>
              <a:latin typeface="Arial Narrow" panose="020B0606020202030204" pitchFamily="34" charset="0"/>
              <a:ea typeface="a고딕14" panose="02020600000000000000" pitchFamily="18" charset="-127"/>
            </a:endParaRPr>
          </a:p>
        </p:txBody>
      </p:sp>
      <p:graphicFrame>
        <p:nvGraphicFramePr>
          <p:cNvPr id="11" name="표 10">
            <a:extLst>
              <a:ext uri="{FF2B5EF4-FFF2-40B4-BE49-F238E27FC236}">
                <a16:creationId xmlns:a16="http://schemas.microsoft.com/office/drawing/2014/main" id="{1069AF2B-BE43-93BD-C77A-88CC872F78D7}"/>
              </a:ext>
            </a:extLst>
          </p:cNvPr>
          <p:cNvGraphicFramePr>
            <a:graphicFrameLocks noGrp="1"/>
          </p:cNvGraphicFramePr>
          <p:nvPr>
            <p:extLst>
              <p:ext uri="{D42A27DB-BD31-4B8C-83A1-F6EECF244321}">
                <p14:modId xmlns:p14="http://schemas.microsoft.com/office/powerpoint/2010/main" val="1019853922"/>
              </p:ext>
            </p:extLst>
          </p:nvPr>
        </p:nvGraphicFramePr>
        <p:xfrm>
          <a:off x="98904" y="188913"/>
          <a:ext cx="2369820" cy="355600"/>
        </p:xfrm>
        <a:graphic>
          <a:graphicData uri="http://schemas.openxmlformats.org/drawingml/2006/table">
            <a:tbl>
              <a:tblPr/>
              <a:tblGrid>
                <a:gridCol w="861060">
                  <a:extLst>
                    <a:ext uri="{9D8B030D-6E8A-4147-A177-3AD203B41FA5}">
                      <a16:colId xmlns:a16="http://schemas.microsoft.com/office/drawing/2014/main" val="2685473399"/>
                    </a:ext>
                  </a:extLst>
                </a:gridCol>
                <a:gridCol w="1508760">
                  <a:extLst>
                    <a:ext uri="{9D8B030D-6E8A-4147-A177-3AD203B41FA5}">
                      <a16:colId xmlns:a16="http://schemas.microsoft.com/office/drawing/2014/main" val="2888466204"/>
                    </a:ext>
                  </a:extLst>
                </a:gridCol>
              </a:tblGrid>
              <a:tr h="355600">
                <a:tc>
                  <a:txBody>
                    <a:bodyPr/>
                    <a:lstStyle/>
                    <a:p>
                      <a:pPr marL="373380" marR="0" indent="-373380" algn="ctr" fontAlgn="base" latinLnBrk="0">
                        <a:lnSpc>
                          <a:spcPct val="160000"/>
                        </a:lnSpc>
                        <a:spcBef>
                          <a:spcPts val="300"/>
                        </a:spcBef>
                        <a:spcAft>
                          <a:spcPts val="200"/>
                        </a:spcAft>
                      </a:pPr>
                      <a:r>
                        <a:rPr lang="ko-KR" altLang="en-US" sz="1300" kern="0" spc="-50" dirty="0">
                          <a:solidFill>
                            <a:srgbClr val="000000"/>
                          </a:solidFill>
                          <a:effectLst/>
                          <a:latin typeface="HY헤드라인M" panose="02030600000101010101" pitchFamily="18" charset="-127"/>
                          <a:ea typeface="HY헤드라인M" panose="02030600000101010101" pitchFamily="18" charset="-127"/>
                        </a:rPr>
                        <a:t>접수번호</a:t>
                      </a:r>
                      <a:endParaRPr lang="ko-KR" altLang="en-US" sz="1000" kern="0" spc="0" dirty="0">
                        <a:solidFill>
                          <a:srgbClr val="000000"/>
                        </a:solidFill>
                        <a:effectLst/>
                        <a:latin typeface="함초롬바탕" panose="02030604000101010101" pitchFamily="18" charset="-127"/>
                      </a:endParaRPr>
                    </a:p>
                  </a:txBody>
                  <a:tcPr marL="17907" marR="17907" marT="17907" marB="17907">
                    <a:lnL w="21590"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21590" cap="flat" cmpd="sng" algn="ctr">
                      <a:solidFill>
                        <a:srgbClr val="000000"/>
                      </a:solidFill>
                      <a:prstDash val="solid"/>
                      <a:round/>
                      <a:headEnd type="none" w="med" len="med"/>
                      <a:tailEnd type="none" w="med" len="med"/>
                    </a:lnT>
                    <a:lnB w="21590"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60000"/>
                        </a:lnSpc>
                        <a:spcBef>
                          <a:spcPts val="300"/>
                        </a:spcBef>
                        <a:spcAft>
                          <a:spcPts val="200"/>
                        </a:spcAft>
                      </a:pPr>
                      <a:endParaRPr lang="ko-KR" altLang="en-US" sz="1300" kern="0" spc="-50" dirty="0">
                        <a:solidFill>
                          <a:srgbClr val="808080"/>
                        </a:solidFill>
                        <a:effectLst/>
                        <a:latin typeface="함초롬바탕" panose="02030604000101010101" pitchFamily="18" charset="-127"/>
                      </a:endParaRPr>
                    </a:p>
                  </a:txBody>
                  <a:tcPr marL="17907" marR="17907" marT="17907" marB="17907">
                    <a:lnL w="3556" cap="flat" cmpd="sng" algn="ctr">
                      <a:solidFill>
                        <a:srgbClr val="000000"/>
                      </a:solidFill>
                      <a:prstDash val="solid"/>
                      <a:round/>
                      <a:headEnd type="none" w="med" len="med"/>
                      <a:tailEnd type="none" w="med" len="med"/>
                    </a:lnL>
                    <a:lnR w="21590" cap="flat" cmpd="sng" algn="ctr">
                      <a:solidFill>
                        <a:srgbClr val="000000"/>
                      </a:solidFill>
                      <a:prstDash val="solid"/>
                      <a:round/>
                      <a:headEnd type="none" w="med" len="med"/>
                      <a:tailEnd type="none" w="med" len="med"/>
                    </a:lnR>
                    <a:lnT w="21590" cap="flat" cmpd="sng" algn="ctr">
                      <a:solidFill>
                        <a:srgbClr val="000000"/>
                      </a:solidFill>
                      <a:prstDash val="solid"/>
                      <a:round/>
                      <a:headEnd type="none" w="med" len="med"/>
                      <a:tailEnd type="none" w="med" len="med"/>
                    </a:lnT>
                    <a:lnB w="2159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1622640"/>
                  </a:ext>
                </a:extLst>
              </a:tr>
            </a:tbl>
          </a:graphicData>
        </a:graphic>
      </p:graphicFrame>
    </p:spTree>
    <p:extLst>
      <p:ext uri="{BB962C8B-B14F-4D97-AF65-F5344CB8AC3E}">
        <p14:creationId xmlns:p14="http://schemas.microsoft.com/office/powerpoint/2010/main" val="236286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9A4FFB0D-6623-710B-7582-BB1502151B4B}"/>
              </a:ext>
            </a:extLst>
          </p:cNvPr>
          <p:cNvPicPr>
            <a:picLocks noChangeAspect="1"/>
          </p:cNvPicPr>
          <p:nvPr/>
        </p:nvPicPr>
        <p:blipFill>
          <a:blip r:embed="rId2"/>
          <a:stretch>
            <a:fillRect/>
          </a:stretch>
        </p:blipFill>
        <p:spPr>
          <a:xfrm>
            <a:off x="200472" y="242443"/>
            <a:ext cx="4991797" cy="6373114"/>
          </a:xfrm>
          <a:prstGeom prst="rect">
            <a:avLst/>
          </a:prstGeom>
        </p:spPr>
      </p:pic>
      <p:pic>
        <p:nvPicPr>
          <p:cNvPr id="4" name="그림 3">
            <a:extLst>
              <a:ext uri="{FF2B5EF4-FFF2-40B4-BE49-F238E27FC236}">
                <a16:creationId xmlns:a16="http://schemas.microsoft.com/office/drawing/2014/main" id="{80609684-AA57-25E1-586F-6ADF9085A991}"/>
              </a:ext>
            </a:extLst>
          </p:cNvPr>
          <p:cNvPicPr>
            <a:picLocks noChangeAspect="1"/>
          </p:cNvPicPr>
          <p:nvPr/>
        </p:nvPicPr>
        <p:blipFill>
          <a:blip r:embed="rId3"/>
          <a:stretch>
            <a:fillRect/>
          </a:stretch>
        </p:blipFill>
        <p:spPr>
          <a:xfrm>
            <a:off x="5277036" y="607417"/>
            <a:ext cx="4340339" cy="5992627"/>
          </a:xfrm>
          <a:prstGeom prst="rect">
            <a:avLst/>
          </a:prstGeom>
        </p:spPr>
      </p:pic>
    </p:spTree>
    <p:extLst>
      <p:ext uri="{BB962C8B-B14F-4D97-AF65-F5344CB8AC3E}">
        <p14:creationId xmlns:p14="http://schemas.microsoft.com/office/powerpoint/2010/main" val="1749252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21CF88A1-AF31-62D2-74D0-909E7A2DE3CA}"/>
              </a:ext>
            </a:extLst>
          </p:cNvPr>
          <p:cNvPicPr>
            <a:picLocks noChangeAspect="1"/>
          </p:cNvPicPr>
          <p:nvPr/>
        </p:nvPicPr>
        <p:blipFill>
          <a:blip r:embed="rId2"/>
          <a:stretch>
            <a:fillRect/>
          </a:stretch>
        </p:blipFill>
        <p:spPr>
          <a:xfrm>
            <a:off x="337043" y="188640"/>
            <a:ext cx="4795345" cy="6674602"/>
          </a:xfrm>
          <a:prstGeom prst="rect">
            <a:avLst/>
          </a:prstGeom>
        </p:spPr>
      </p:pic>
    </p:spTree>
    <p:extLst>
      <p:ext uri="{BB962C8B-B14F-4D97-AF65-F5344CB8AC3E}">
        <p14:creationId xmlns:p14="http://schemas.microsoft.com/office/powerpoint/2010/main" val="397705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753D9364-2A70-C011-AF26-BCCA0AE51D07}"/>
            </a:ext>
          </a:extLst>
        </p:cNvPr>
        <p:cNvGrpSpPr/>
        <p:nvPr/>
      </p:nvGrpSpPr>
      <p:grpSpPr>
        <a:xfrm>
          <a:off x="0" y="0"/>
          <a:ext cx="0" cy="0"/>
          <a:chOff x="0" y="0"/>
          <a:chExt cx="0" cy="0"/>
        </a:xfrm>
      </p:grpSpPr>
      <p:sp>
        <p:nvSpPr>
          <p:cNvPr id="14" name="직사각형 13">
            <a:extLst>
              <a:ext uri="{FF2B5EF4-FFF2-40B4-BE49-F238E27FC236}">
                <a16:creationId xmlns:a16="http://schemas.microsoft.com/office/drawing/2014/main" id="{5B32C5C4-9E73-3FB9-E096-B647CEF5EEE3}"/>
              </a:ext>
            </a:extLst>
          </p:cNvPr>
          <p:cNvSpPr/>
          <p:nvPr/>
        </p:nvSpPr>
        <p:spPr>
          <a:xfrm>
            <a:off x="0" y="0"/>
            <a:ext cx="9906000" cy="1062831"/>
          </a:xfrm>
          <a:prstGeom prst="rect">
            <a:avLst/>
          </a:prstGeom>
          <a:solidFill>
            <a:schemeClr val="bg1"/>
          </a:solidFill>
          <a:ln>
            <a:noFill/>
          </a:ln>
          <a:effectLst>
            <a:outerShdw blurRad="127000" dist="254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742950" eaLnBrk="1" fontAlgn="auto" latinLnBrk="0" hangingPunct="1">
              <a:spcBef>
                <a:spcPts val="0"/>
              </a:spcBef>
              <a:spcAft>
                <a:spcPts val="0"/>
              </a:spcAft>
              <a:buNone/>
            </a:pPr>
            <a:endParaRPr lang="en-US" sz="1463" dirty="0">
              <a:solidFill>
                <a:prstClr val="white"/>
              </a:solidFill>
              <a:latin typeface="a고딕14" panose="02020600000000000000" pitchFamily="18" charset="-127"/>
              <a:ea typeface="a고딕14" panose="02020600000000000000" pitchFamily="18" charset="-127"/>
            </a:endParaRPr>
          </a:p>
        </p:txBody>
      </p:sp>
      <p:sp>
        <p:nvSpPr>
          <p:cNvPr id="15" name="TextBox 14">
            <a:extLst>
              <a:ext uri="{FF2B5EF4-FFF2-40B4-BE49-F238E27FC236}">
                <a16:creationId xmlns:a16="http://schemas.microsoft.com/office/drawing/2014/main" id="{28FFFE48-4B0B-07CD-88BA-8C8998060193}"/>
              </a:ext>
            </a:extLst>
          </p:cNvPr>
          <p:cNvSpPr txBox="1"/>
          <p:nvPr/>
        </p:nvSpPr>
        <p:spPr>
          <a:xfrm>
            <a:off x="269836" y="390694"/>
            <a:ext cx="2456313" cy="646331"/>
          </a:xfrm>
          <a:prstGeom prst="rect">
            <a:avLst/>
          </a:prstGeom>
          <a:noFill/>
        </p:spPr>
        <p:txBody>
          <a:bodyPr wrap="none" rtlCol="0">
            <a:spAutoFit/>
          </a:bodyPr>
          <a:lstStyle/>
          <a:p>
            <a:pPr algn="l" defTabSz="742950" eaLnBrk="1" fontAlgn="auto" latinLnBrk="0" hangingPunct="1">
              <a:spcBef>
                <a:spcPts val="0"/>
              </a:spcBef>
              <a:spcAft>
                <a:spcPts val="0"/>
              </a:spcAft>
              <a:buNone/>
            </a:pPr>
            <a:r>
              <a:rPr lang="en-US" altLang="ko-KR" sz="3600" dirty="0">
                <a:solidFill>
                  <a:srgbClr val="17375E"/>
                </a:solidFill>
                <a:latin typeface="a고딕14" panose="02020600000000000000" pitchFamily="18" charset="-127"/>
                <a:ea typeface="a고딕14" panose="02020600000000000000" pitchFamily="18" charset="-127"/>
              </a:rPr>
              <a:t>CONTENTS</a:t>
            </a:r>
            <a:endParaRPr lang="en-US" sz="3600" dirty="0">
              <a:solidFill>
                <a:srgbClr val="17375E"/>
              </a:solidFill>
              <a:latin typeface="a고딕14" panose="02020600000000000000" pitchFamily="18" charset="-127"/>
              <a:ea typeface="a고딕14" panose="02020600000000000000" pitchFamily="18" charset="-127"/>
            </a:endParaRPr>
          </a:p>
        </p:txBody>
      </p:sp>
      <p:sp>
        <p:nvSpPr>
          <p:cNvPr id="16" name="TextBox 15">
            <a:extLst>
              <a:ext uri="{FF2B5EF4-FFF2-40B4-BE49-F238E27FC236}">
                <a16:creationId xmlns:a16="http://schemas.microsoft.com/office/drawing/2014/main" id="{1912CDFB-EB15-23CF-43E4-71F33CC71E7D}"/>
              </a:ext>
            </a:extLst>
          </p:cNvPr>
          <p:cNvSpPr txBox="1"/>
          <p:nvPr/>
        </p:nvSpPr>
        <p:spPr>
          <a:xfrm>
            <a:off x="281627" y="174314"/>
            <a:ext cx="4095309" cy="292388"/>
          </a:xfrm>
          <a:prstGeom prst="rect">
            <a:avLst/>
          </a:prstGeom>
          <a:noFill/>
        </p:spPr>
        <p:txBody>
          <a:bodyPr wrap="square" rtlCol="0">
            <a:spAutoFit/>
          </a:bodyPr>
          <a:lstStyle>
            <a:defPPr>
              <a:defRPr lang="en-US"/>
            </a:defPPr>
            <a:lvl1pPr>
              <a:defRPr sz="2800">
                <a:solidFill>
                  <a:schemeClr val="tx2"/>
                </a:solidFill>
                <a:latin typeface="프리젠테이션 8 ExtraBold" pitchFamily="2" charset="-127"/>
                <a:ea typeface="프리젠테이션 8 ExtraBold" pitchFamily="2" charset="-127"/>
              </a:defRPr>
            </a:lvl1pPr>
          </a:lstStyle>
          <a:p>
            <a:pPr algn="l" defTabSz="742950" eaLnBrk="1" fontAlgn="auto" latinLnBrk="0" hangingPunct="1">
              <a:spcBef>
                <a:spcPts val="0"/>
              </a:spcBef>
              <a:spcAft>
                <a:spcPts val="0"/>
              </a:spcAft>
              <a:buNone/>
            </a:pPr>
            <a:r>
              <a:rPr lang="en-US" sz="1300" dirty="0">
                <a:solidFill>
                  <a:srgbClr val="266DB4">
                    <a:lumMod val="50000"/>
                  </a:srgbClr>
                </a:solidFill>
                <a:latin typeface="a고딕14" panose="02020600000000000000" pitchFamily="18" charset="-127"/>
                <a:ea typeface="a고딕14" panose="02020600000000000000" pitchFamily="18" charset="-127"/>
              </a:rPr>
              <a:t>2025</a:t>
            </a:r>
            <a:r>
              <a:rPr lang="ko-KR" altLang="en-US" sz="1300" dirty="0">
                <a:solidFill>
                  <a:srgbClr val="266DB4">
                    <a:lumMod val="50000"/>
                  </a:srgbClr>
                </a:solidFill>
                <a:latin typeface="a고딕14" panose="02020600000000000000" pitchFamily="18" charset="-127"/>
                <a:ea typeface="a고딕14" panose="02020600000000000000" pitchFamily="18" charset="-127"/>
              </a:rPr>
              <a:t>년 </a:t>
            </a:r>
            <a:r>
              <a:rPr lang="ko-KR" altLang="en-US" sz="1300" dirty="0" err="1">
                <a:solidFill>
                  <a:srgbClr val="266DB4">
                    <a:lumMod val="50000"/>
                  </a:srgbClr>
                </a:solidFill>
                <a:latin typeface="a고딕14" panose="02020600000000000000" pitchFamily="18" charset="-127"/>
                <a:ea typeface="a고딕14" panose="02020600000000000000" pitchFamily="18" charset="-127"/>
              </a:rPr>
              <a:t>기술교육로드맵</a:t>
            </a:r>
            <a:r>
              <a:rPr lang="ko-KR" altLang="en-US" sz="1300" dirty="0">
                <a:solidFill>
                  <a:srgbClr val="266DB4">
                    <a:lumMod val="50000"/>
                  </a:srgbClr>
                </a:solidFill>
                <a:latin typeface="a고딕14" panose="02020600000000000000" pitchFamily="18" charset="-127"/>
                <a:ea typeface="a고딕14" panose="02020600000000000000" pitchFamily="18" charset="-127"/>
              </a:rPr>
              <a:t> 개발 및 신규과정 선정 연구용역</a:t>
            </a:r>
            <a:endParaRPr lang="en-US" sz="1300" dirty="0">
              <a:solidFill>
                <a:srgbClr val="266DB4">
                  <a:lumMod val="50000"/>
                </a:srgbClr>
              </a:solidFill>
              <a:latin typeface="a고딕14" panose="02020600000000000000" pitchFamily="18" charset="-127"/>
              <a:ea typeface="a고딕14" panose="02020600000000000000" pitchFamily="18" charset="-127"/>
            </a:endParaRPr>
          </a:p>
        </p:txBody>
      </p:sp>
      <p:sp>
        <p:nvSpPr>
          <p:cNvPr id="17" name="사각형: 잘린 한쪽 모서리 16">
            <a:extLst>
              <a:ext uri="{FF2B5EF4-FFF2-40B4-BE49-F238E27FC236}">
                <a16:creationId xmlns:a16="http://schemas.microsoft.com/office/drawing/2014/main" id="{4075D827-70A9-3F4E-8392-0D8C1BA5DAAE}"/>
              </a:ext>
            </a:extLst>
          </p:cNvPr>
          <p:cNvSpPr/>
          <p:nvPr/>
        </p:nvSpPr>
        <p:spPr>
          <a:xfrm flipH="1">
            <a:off x="0" y="1994262"/>
            <a:ext cx="9906000" cy="4863737"/>
          </a:xfrm>
          <a:prstGeom prst="snip1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33" name="그룹 32">
            <a:extLst>
              <a:ext uri="{FF2B5EF4-FFF2-40B4-BE49-F238E27FC236}">
                <a16:creationId xmlns:a16="http://schemas.microsoft.com/office/drawing/2014/main" id="{CB6B5FDA-DF81-C6DA-2F32-D2F50A96762D}"/>
              </a:ext>
            </a:extLst>
          </p:cNvPr>
          <p:cNvGrpSpPr/>
          <p:nvPr/>
        </p:nvGrpSpPr>
        <p:grpSpPr>
          <a:xfrm>
            <a:off x="633564" y="4653136"/>
            <a:ext cx="2484000" cy="1320596"/>
            <a:chOff x="3938524" y="953012"/>
            <a:chExt cx="2016000" cy="1320596"/>
          </a:xfrm>
        </p:grpSpPr>
        <p:cxnSp>
          <p:nvCxnSpPr>
            <p:cNvPr id="35" name="직선 연결선 34">
              <a:extLst>
                <a:ext uri="{FF2B5EF4-FFF2-40B4-BE49-F238E27FC236}">
                  <a16:creationId xmlns:a16="http://schemas.microsoft.com/office/drawing/2014/main" id="{8E58361E-33F5-28DF-C28E-4D5C576170E6}"/>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39" name="TextBox 38">
              <a:extLst>
                <a:ext uri="{FF2B5EF4-FFF2-40B4-BE49-F238E27FC236}">
                  <a16:creationId xmlns:a16="http://schemas.microsoft.com/office/drawing/2014/main" id="{0594AC1F-1746-AFE1-AB3E-6A2C043FE9EA}"/>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04. </a:t>
              </a:r>
              <a:r>
                <a:rPr lang="ko-KR" altLang="en-US" sz="1600" kern="0" dirty="0">
                  <a:solidFill>
                    <a:prstClr val="black"/>
                  </a:solidFill>
                  <a:latin typeface="a고딕14" panose="02020600000000000000" pitchFamily="18" charset="-127"/>
                  <a:ea typeface="a고딕14" panose="02020600000000000000" pitchFamily="18" charset="-127"/>
                </a:rPr>
                <a:t>제안업체 일반</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43" name="TextBox 42">
              <a:extLst>
                <a:ext uri="{FF2B5EF4-FFF2-40B4-BE49-F238E27FC236}">
                  <a16:creationId xmlns:a16="http://schemas.microsoft.com/office/drawing/2014/main" id="{CB3E026F-9317-68A4-159E-6EFA23B3FC6B}"/>
                </a:ext>
              </a:extLst>
            </p:cNvPr>
            <p:cNvSpPr txBox="1"/>
            <p:nvPr/>
          </p:nvSpPr>
          <p:spPr>
            <a:xfrm>
              <a:off x="3938524" y="1668314"/>
              <a:ext cx="2016000" cy="60529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일반현황</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유사용역 수행실적</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45" name="TextBox 44">
              <a:extLst>
                <a:ext uri="{FF2B5EF4-FFF2-40B4-BE49-F238E27FC236}">
                  <a16:creationId xmlns:a16="http://schemas.microsoft.com/office/drawing/2014/main" id="{A9FF2A0E-3F39-081B-F34A-7696297EF6A4}"/>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43</a:t>
              </a:r>
            </a:p>
          </p:txBody>
        </p:sp>
      </p:grpSp>
      <p:grpSp>
        <p:nvGrpSpPr>
          <p:cNvPr id="48" name="그룹 47">
            <a:extLst>
              <a:ext uri="{FF2B5EF4-FFF2-40B4-BE49-F238E27FC236}">
                <a16:creationId xmlns:a16="http://schemas.microsoft.com/office/drawing/2014/main" id="{CD2A48F3-B95A-4D3C-AB4D-A88A2CEDA80B}"/>
              </a:ext>
            </a:extLst>
          </p:cNvPr>
          <p:cNvGrpSpPr/>
          <p:nvPr/>
        </p:nvGrpSpPr>
        <p:grpSpPr>
          <a:xfrm>
            <a:off x="3711000" y="4653136"/>
            <a:ext cx="2484000" cy="1040006"/>
            <a:chOff x="3938524" y="953012"/>
            <a:chExt cx="2016000" cy="1040006"/>
          </a:xfrm>
        </p:grpSpPr>
        <p:cxnSp>
          <p:nvCxnSpPr>
            <p:cNvPr id="52" name="직선 연결선 51">
              <a:extLst>
                <a:ext uri="{FF2B5EF4-FFF2-40B4-BE49-F238E27FC236}">
                  <a16:creationId xmlns:a16="http://schemas.microsoft.com/office/drawing/2014/main" id="{A68D3A3A-0EF6-DA1F-4908-F04B18E5A7EF}"/>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62" name="TextBox 61">
              <a:extLst>
                <a:ext uri="{FF2B5EF4-FFF2-40B4-BE49-F238E27FC236}">
                  <a16:creationId xmlns:a16="http://schemas.microsoft.com/office/drawing/2014/main" id="{952BF163-9133-3E84-82BA-44B74EF860F3}"/>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a:t>
              </a:r>
              <a:r>
                <a:rPr kumimoji="0" lang="ko-KR" altLang="en-US"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부록</a:t>
              </a: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a:t>
              </a:r>
            </a:p>
          </p:txBody>
        </p:sp>
        <p:sp>
          <p:nvSpPr>
            <p:cNvPr id="78" name="TextBox 77">
              <a:extLst>
                <a:ext uri="{FF2B5EF4-FFF2-40B4-BE49-F238E27FC236}">
                  <a16:creationId xmlns:a16="http://schemas.microsoft.com/office/drawing/2014/main" id="{CF360CFA-B88B-EE6F-A428-82D8B9810E9B}"/>
                </a:ext>
              </a:extLst>
            </p:cNvPr>
            <p:cNvSpPr txBox="1"/>
            <p:nvPr/>
          </p:nvSpPr>
          <p:spPr>
            <a:xfrm>
              <a:off x="3938524" y="1668314"/>
              <a:ext cx="2016000" cy="32470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제안사 전문가 </a:t>
              </a:r>
              <a:r>
                <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Pool</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79" name="TextBox 78">
              <a:extLst>
                <a:ext uri="{FF2B5EF4-FFF2-40B4-BE49-F238E27FC236}">
                  <a16:creationId xmlns:a16="http://schemas.microsoft.com/office/drawing/2014/main" id="{2001153E-D3DE-CF16-E0FF-9F58EA86859C}"/>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49</a:t>
              </a:r>
            </a:p>
          </p:txBody>
        </p:sp>
      </p:grpSp>
      <p:grpSp>
        <p:nvGrpSpPr>
          <p:cNvPr id="89" name="그룹 88">
            <a:extLst>
              <a:ext uri="{FF2B5EF4-FFF2-40B4-BE49-F238E27FC236}">
                <a16:creationId xmlns:a16="http://schemas.microsoft.com/office/drawing/2014/main" id="{B236BF0C-E6B1-9CB4-6BE2-571D9236957E}"/>
              </a:ext>
            </a:extLst>
          </p:cNvPr>
          <p:cNvGrpSpPr/>
          <p:nvPr/>
        </p:nvGrpSpPr>
        <p:grpSpPr>
          <a:xfrm>
            <a:off x="633564" y="2420888"/>
            <a:ext cx="2484000" cy="1320596"/>
            <a:chOff x="3938524" y="953012"/>
            <a:chExt cx="2016000" cy="1320596"/>
          </a:xfrm>
        </p:grpSpPr>
        <p:cxnSp>
          <p:nvCxnSpPr>
            <p:cNvPr id="90" name="직선 연결선 89">
              <a:extLst>
                <a:ext uri="{FF2B5EF4-FFF2-40B4-BE49-F238E27FC236}">
                  <a16:creationId xmlns:a16="http://schemas.microsoft.com/office/drawing/2014/main" id="{D7764C20-AF19-9838-A5B1-E4364032BA96}"/>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94" name="TextBox 93">
              <a:extLst>
                <a:ext uri="{FF2B5EF4-FFF2-40B4-BE49-F238E27FC236}">
                  <a16:creationId xmlns:a16="http://schemas.microsoft.com/office/drawing/2014/main" id="{6FF0E9DA-DA36-396F-2B3A-281BC42029ED}"/>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01. </a:t>
              </a:r>
              <a:r>
                <a:rPr lang="ko-KR" altLang="en-US" sz="1600" kern="0" dirty="0">
                  <a:solidFill>
                    <a:prstClr val="black"/>
                  </a:solidFill>
                  <a:latin typeface="a고딕14" panose="02020600000000000000" pitchFamily="18" charset="-127"/>
                  <a:ea typeface="a고딕14" panose="02020600000000000000" pitchFamily="18" charset="-127"/>
                </a:rPr>
                <a:t>제안 개요</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95" name="TextBox 94">
              <a:extLst>
                <a:ext uri="{FF2B5EF4-FFF2-40B4-BE49-F238E27FC236}">
                  <a16:creationId xmlns:a16="http://schemas.microsoft.com/office/drawing/2014/main" id="{81DF59AA-0563-99BE-792E-81EB06F4F9FB}"/>
                </a:ext>
              </a:extLst>
            </p:cNvPr>
            <p:cNvSpPr txBox="1"/>
            <p:nvPr/>
          </p:nvSpPr>
          <p:spPr>
            <a:xfrm>
              <a:off x="3938524" y="1668314"/>
              <a:ext cx="2016000" cy="60529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lang="ko-KR" altLang="en-US" sz="1300" kern="0">
                  <a:solidFill>
                    <a:prstClr val="black"/>
                  </a:solidFill>
                  <a:latin typeface="a고딕14" panose="02020600000000000000" pitchFamily="18" charset="-127"/>
                  <a:ea typeface="a고딕14" panose="02020600000000000000" pitchFamily="18" charset="-127"/>
                </a:rPr>
                <a:t>제안의 목적 및 범위</a:t>
              </a:r>
              <a:endParaRPr lang="en-US" altLang="ko-KR" sz="1300" kern="0">
                <a:solidFill>
                  <a:prstClr val="black"/>
                </a:solidFill>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제안의 특장점</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96" name="TextBox 95">
              <a:extLst>
                <a:ext uri="{FF2B5EF4-FFF2-40B4-BE49-F238E27FC236}">
                  <a16:creationId xmlns:a16="http://schemas.microsoft.com/office/drawing/2014/main" id="{C0991A66-4C35-BD4D-0934-455FA449412B}"/>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a:ln>
                    <a:noFill/>
                  </a:ln>
                  <a:solidFill>
                    <a:prstClr val="black"/>
                  </a:solidFill>
                  <a:effectLst/>
                  <a:uLnTx/>
                  <a:uFillTx/>
                  <a:latin typeface="a고딕12" panose="02020600000000000000" pitchFamily="18" charset="-127"/>
                  <a:ea typeface="a고딕12" panose="02020600000000000000" pitchFamily="18" charset="-127"/>
                </a:rPr>
                <a:t>05</a:t>
              </a:r>
              <a:endPar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endParaRPr>
            </a:p>
          </p:txBody>
        </p:sp>
      </p:grpSp>
      <p:grpSp>
        <p:nvGrpSpPr>
          <p:cNvPr id="98" name="그룹 97">
            <a:extLst>
              <a:ext uri="{FF2B5EF4-FFF2-40B4-BE49-F238E27FC236}">
                <a16:creationId xmlns:a16="http://schemas.microsoft.com/office/drawing/2014/main" id="{8141B391-1230-A49C-41CC-FE25D68D6641}"/>
              </a:ext>
            </a:extLst>
          </p:cNvPr>
          <p:cNvGrpSpPr/>
          <p:nvPr/>
        </p:nvGrpSpPr>
        <p:grpSpPr>
          <a:xfrm>
            <a:off x="3711000" y="2420888"/>
            <a:ext cx="2484000" cy="1577076"/>
            <a:chOff x="3938524" y="953012"/>
            <a:chExt cx="2016000" cy="1577076"/>
          </a:xfrm>
        </p:grpSpPr>
        <p:cxnSp>
          <p:nvCxnSpPr>
            <p:cNvPr id="99" name="직선 연결선 98">
              <a:extLst>
                <a:ext uri="{FF2B5EF4-FFF2-40B4-BE49-F238E27FC236}">
                  <a16:creationId xmlns:a16="http://schemas.microsoft.com/office/drawing/2014/main" id="{C0AEFE59-3E15-402C-C921-DB1A4E2FA114}"/>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100" name="TextBox 99">
              <a:extLst>
                <a:ext uri="{FF2B5EF4-FFF2-40B4-BE49-F238E27FC236}">
                  <a16:creationId xmlns:a16="http://schemas.microsoft.com/office/drawing/2014/main" id="{586C4499-A79D-E9E0-783E-B7ECDDCF01BE}"/>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02. </a:t>
              </a:r>
              <a:r>
                <a:rPr kumimoji="0" lang="ko-KR" altLang="en-US"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제안내용</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02" name="TextBox 101">
              <a:extLst>
                <a:ext uri="{FF2B5EF4-FFF2-40B4-BE49-F238E27FC236}">
                  <a16:creationId xmlns:a16="http://schemas.microsoft.com/office/drawing/2014/main" id="{815518E1-449A-76A3-1AB1-4FFC38FA1EB1}"/>
                </a:ext>
              </a:extLst>
            </p:cNvPr>
            <p:cNvSpPr txBox="1"/>
            <p:nvPr/>
          </p:nvSpPr>
          <p:spPr>
            <a:xfrm>
              <a:off x="3938524" y="1668314"/>
              <a:ext cx="2016000" cy="86177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과업 추진방향</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과업 수행계획 및 방법</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추진일정계획</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03" name="TextBox 102">
              <a:extLst>
                <a:ext uri="{FF2B5EF4-FFF2-40B4-BE49-F238E27FC236}">
                  <a16:creationId xmlns:a16="http://schemas.microsoft.com/office/drawing/2014/main" id="{4A708C7B-CE73-8ADC-31DB-D018C5291B35}"/>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a:ln>
                    <a:noFill/>
                  </a:ln>
                  <a:solidFill>
                    <a:prstClr val="black"/>
                  </a:solidFill>
                  <a:effectLst/>
                  <a:uLnTx/>
                  <a:uFillTx/>
                  <a:latin typeface="a고딕12" panose="02020600000000000000" pitchFamily="18" charset="-127"/>
                  <a:ea typeface="a고딕12" panose="02020600000000000000" pitchFamily="18" charset="-127"/>
                </a:rPr>
                <a:t>14</a:t>
              </a:r>
              <a:endPar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endParaRPr>
            </a:p>
          </p:txBody>
        </p:sp>
      </p:grpSp>
      <p:grpSp>
        <p:nvGrpSpPr>
          <p:cNvPr id="104" name="그룹 103">
            <a:extLst>
              <a:ext uri="{FF2B5EF4-FFF2-40B4-BE49-F238E27FC236}">
                <a16:creationId xmlns:a16="http://schemas.microsoft.com/office/drawing/2014/main" id="{2864A934-264C-7ED7-705A-C96D14CA6200}"/>
              </a:ext>
            </a:extLst>
          </p:cNvPr>
          <p:cNvGrpSpPr/>
          <p:nvPr/>
        </p:nvGrpSpPr>
        <p:grpSpPr>
          <a:xfrm>
            <a:off x="6788436" y="2420888"/>
            <a:ext cx="2484000" cy="1577076"/>
            <a:chOff x="3938524" y="953012"/>
            <a:chExt cx="2016000" cy="1577076"/>
          </a:xfrm>
        </p:grpSpPr>
        <p:cxnSp>
          <p:nvCxnSpPr>
            <p:cNvPr id="108" name="직선 연결선 107">
              <a:extLst>
                <a:ext uri="{FF2B5EF4-FFF2-40B4-BE49-F238E27FC236}">
                  <a16:creationId xmlns:a16="http://schemas.microsoft.com/office/drawing/2014/main" id="{0ED8E6A1-E7D7-3C7C-264C-13B921FD7412}"/>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109" name="TextBox 108">
              <a:extLst>
                <a:ext uri="{FF2B5EF4-FFF2-40B4-BE49-F238E27FC236}">
                  <a16:creationId xmlns:a16="http://schemas.microsoft.com/office/drawing/2014/main" id="{4E88AE8E-BDD7-BBE5-4F3E-7AFEFD30D361}"/>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03. </a:t>
              </a:r>
              <a:r>
                <a:rPr kumimoji="0" lang="ko-KR" altLang="en-US"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수행조직 및 업무분장</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10" name="TextBox 109">
              <a:extLst>
                <a:ext uri="{FF2B5EF4-FFF2-40B4-BE49-F238E27FC236}">
                  <a16:creationId xmlns:a16="http://schemas.microsoft.com/office/drawing/2014/main" id="{10EEDA1E-473F-5E54-D348-627D7706C079}"/>
                </a:ext>
              </a:extLst>
            </p:cNvPr>
            <p:cNvSpPr txBox="1"/>
            <p:nvPr/>
          </p:nvSpPr>
          <p:spPr>
            <a:xfrm>
              <a:off x="3938524" y="1668314"/>
              <a:ext cx="2016000" cy="86177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과업 수행인력 구성계획</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투입인력 인적 사항</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전문가 구성계획</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13" name="TextBox 112">
              <a:extLst>
                <a:ext uri="{FF2B5EF4-FFF2-40B4-BE49-F238E27FC236}">
                  <a16:creationId xmlns:a16="http://schemas.microsoft.com/office/drawing/2014/main" id="{4E747FDB-5875-E20D-FB00-216C387F4335}"/>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37</a:t>
              </a:r>
            </a:p>
          </p:txBody>
        </p:sp>
      </p:grpSp>
    </p:spTree>
    <p:extLst>
      <p:ext uri="{BB962C8B-B14F-4D97-AF65-F5344CB8AC3E}">
        <p14:creationId xmlns:p14="http://schemas.microsoft.com/office/powerpoint/2010/main" val="1286926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C9E2D407-7E86-6F95-863D-5372891516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5206" cy="6858000"/>
          </a:xfrm>
          <a:prstGeom prst="rect">
            <a:avLst/>
          </a:prstGeom>
        </p:spPr>
      </p:pic>
      <p:pic>
        <p:nvPicPr>
          <p:cNvPr id="8" name="Picture 3">
            <a:extLst>
              <a:ext uri="{FF2B5EF4-FFF2-40B4-BE49-F238E27FC236}">
                <a16:creationId xmlns:a16="http://schemas.microsoft.com/office/drawing/2014/main" id="{886FF014-3707-48AB-AF3A-55BF4E078BAC}"/>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268924" cy="6858000"/>
          </a:xfrm>
          <a:prstGeom prst="rect">
            <a:avLst/>
          </a:prstGeom>
          <a:pattFill prst="horzBrick">
            <a:fgClr>
              <a:schemeClr val="bg1">
                <a:lumMod val="75000"/>
              </a:schemeClr>
            </a:fgClr>
            <a:bgClr>
              <a:schemeClr val="bg1"/>
            </a:bgClr>
          </a:pattFill>
          <a:ln>
            <a:noFill/>
          </a:ln>
        </p:spPr>
      </p:pic>
      <p:sp>
        <p:nvSpPr>
          <p:cNvPr id="5" name="Text Placeholder 1">
            <a:extLst>
              <a:ext uri="{FF2B5EF4-FFF2-40B4-BE49-F238E27FC236}">
                <a16:creationId xmlns:a16="http://schemas.microsoft.com/office/drawing/2014/main" id="{C4E93A0F-4A59-4C96-8D4B-97E10930219B}"/>
              </a:ext>
            </a:extLst>
          </p:cNvPr>
          <p:cNvSpPr txBox="1">
            <a:spLocks/>
          </p:cNvSpPr>
          <p:nvPr/>
        </p:nvSpPr>
        <p:spPr>
          <a:xfrm>
            <a:off x="5817096"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lang="en-US" altLang="ko-KR" sz="2500" dirty="0">
                <a:solidFill>
                  <a:srgbClr val="000000"/>
                </a:solidFill>
                <a:ea typeface="a고딕14" panose="02020600000000000000" pitchFamily="18" charset="-127"/>
              </a:rPr>
              <a:t>Ⅰ</a:t>
            </a:r>
            <a:r>
              <a:rPr lang="en-US" altLang="ko-KR" sz="2500" dirty="0">
                <a:solidFill>
                  <a:srgbClr val="000000"/>
                </a:solidFill>
                <a:latin typeface="a고딕14" panose="02020600000000000000" pitchFamily="18" charset="-127"/>
                <a:ea typeface="a고딕14" panose="02020600000000000000" pitchFamily="18" charset="-127"/>
              </a:rPr>
              <a:t>. </a:t>
            </a:r>
            <a:r>
              <a:rPr lang="ko-KR" altLang="en-US" sz="2500" dirty="0">
                <a:solidFill>
                  <a:srgbClr val="000000"/>
                </a:solidFill>
                <a:latin typeface="Arial Narrow"/>
                <a:ea typeface="a고딕14" panose="02020600000000000000" pitchFamily="18" charset="-127"/>
              </a:rPr>
              <a:t>제안개요</a:t>
            </a:r>
          </a:p>
        </p:txBody>
      </p:sp>
      <p:sp>
        <p:nvSpPr>
          <p:cNvPr id="6" name="Text Placeholder 1">
            <a:extLst>
              <a:ext uri="{FF2B5EF4-FFF2-40B4-BE49-F238E27FC236}">
                <a16:creationId xmlns:a16="http://schemas.microsoft.com/office/drawing/2014/main" id="{C4E93A0F-4A59-4C96-8D4B-97E10930219B}"/>
              </a:ext>
            </a:extLst>
          </p:cNvPr>
          <p:cNvSpPr txBox="1">
            <a:spLocks/>
          </p:cNvSpPr>
          <p:nvPr/>
        </p:nvSpPr>
        <p:spPr>
          <a:xfrm>
            <a:off x="6053571"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제안의 목적 및 범위</a:t>
            </a:r>
            <a:endParaRPr lang="en-US" altLang="ko-KR" sz="2000" dirty="0">
              <a:solidFill>
                <a:srgbClr val="000000"/>
              </a:solidFill>
              <a:latin typeface="a고딕14" panose="02020600000000000000" pitchFamily="18" charset="-127"/>
              <a:ea typeface="a고딕14" panose="02020600000000000000" pitchFamily="18" charset="-127"/>
            </a:endParaRP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제안의 특장점</a:t>
            </a:r>
            <a:endParaRPr lang="en-US" altLang="ko-KR" sz="2000" dirty="0">
              <a:solidFill>
                <a:srgbClr val="000000"/>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1457435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spc="-80" dirty="0"/>
              <a:t>국내외 주요 기관은 인구구조 변화와 개인화</a:t>
            </a:r>
            <a:r>
              <a:rPr lang="en-US" altLang="ko-KR" spc="-80" dirty="0"/>
              <a:t>, </a:t>
            </a:r>
            <a:r>
              <a:rPr lang="ko-KR" altLang="en-US" spc="-80" dirty="0"/>
              <a:t>기술혁신 등을 주요 변화요인으로서 공통적으로 지목하고 있으며</a:t>
            </a:r>
            <a:r>
              <a:rPr lang="en-US" altLang="ko-KR" spc="-80" dirty="0"/>
              <a:t>, </a:t>
            </a:r>
            <a:r>
              <a:rPr lang="ko-KR" altLang="en-US" spc="-80" dirty="0"/>
              <a:t>기술정보에서는 </a:t>
            </a:r>
            <a:r>
              <a:rPr lang="ko-KR" altLang="en-US" spc="-80" dirty="0">
                <a:solidFill>
                  <a:srgbClr val="0070C0"/>
                </a:solidFill>
              </a:rPr>
              <a:t>디지털 신기술 발달 및 기술 융</a:t>
            </a:r>
            <a:r>
              <a:rPr lang="en-US" altLang="ko-KR" spc="-80" dirty="0">
                <a:solidFill>
                  <a:srgbClr val="0070C0"/>
                </a:solidFill>
              </a:rPr>
              <a:t>·</a:t>
            </a:r>
            <a:r>
              <a:rPr lang="ko-KR" altLang="en-US" spc="-80" dirty="0">
                <a:solidFill>
                  <a:srgbClr val="0070C0"/>
                </a:solidFill>
              </a:rPr>
              <a:t>복합</a:t>
            </a:r>
            <a:r>
              <a:rPr lang="ko-KR" altLang="en-US" spc="-80" dirty="0"/>
              <a:t>을 통한 </a:t>
            </a:r>
            <a:r>
              <a:rPr lang="ko-KR" altLang="en-US" spc="-80" dirty="0">
                <a:solidFill>
                  <a:srgbClr val="0070C0"/>
                </a:solidFill>
              </a:rPr>
              <a:t>산업 패러다임 변화</a:t>
            </a:r>
            <a:r>
              <a:rPr lang="ko-KR" altLang="en-US" spc="-80" dirty="0"/>
              <a:t>에 주목하고 있음</a:t>
            </a:r>
            <a:endParaRPr lang="en-US" altLang="ko-KR" spc="-80"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grpSp>
        <p:nvGrpSpPr>
          <p:cNvPr id="8" name="그룹 7">
            <a:extLst>
              <a:ext uri="{FF2B5EF4-FFF2-40B4-BE49-F238E27FC236}">
                <a16:creationId xmlns:a16="http://schemas.microsoft.com/office/drawing/2014/main" id="{98DEB9D2-321D-41F6-83B2-0E2CABAA82AB}"/>
              </a:ext>
            </a:extLst>
          </p:cNvPr>
          <p:cNvGrpSpPr/>
          <p:nvPr/>
        </p:nvGrpSpPr>
        <p:grpSpPr>
          <a:xfrm>
            <a:off x="596515" y="1681027"/>
            <a:ext cx="8749097" cy="266602"/>
            <a:chOff x="802640" y="2236632"/>
            <a:chExt cx="4130805" cy="266552"/>
          </a:xfrm>
        </p:grpSpPr>
        <p:sp>
          <p:nvSpPr>
            <p:cNvPr id="9"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국내외 주요 기관 </a:t>
              </a: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메가트렌드</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분석 주요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Keyword</a:t>
              </a:r>
            </a:p>
          </p:txBody>
        </p:sp>
        <p:cxnSp>
          <p:nvCxnSpPr>
            <p:cNvPr id="10"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12" name="표 11"/>
          <p:cNvGraphicFramePr>
            <a:graphicFrameLocks noGrp="1"/>
          </p:cNvGraphicFramePr>
          <p:nvPr>
            <p:extLst>
              <p:ext uri="{D42A27DB-BD31-4B8C-83A1-F6EECF244321}">
                <p14:modId xmlns:p14="http://schemas.microsoft.com/office/powerpoint/2010/main" val="2821155073"/>
              </p:ext>
            </p:extLst>
          </p:nvPr>
        </p:nvGraphicFramePr>
        <p:xfrm>
          <a:off x="594266" y="2097091"/>
          <a:ext cx="6266946" cy="4392609"/>
        </p:xfrm>
        <a:graphic>
          <a:graphicData uri="http://schemas.openxmlformats.org/drawingml/2006/table">
            <a:tbl>
              <a:tblPr>
                <a:tableStyleId>{5C22544A-7EE6-4342-B048-85BDC9FD1C3A}</a:tableStyleId>
              </a:tblPr>
              <a:tblGrid>
                <a:gridCol w="1044491">
                  <a:extLst>
                    <a:ext uri="{9D8B030D-6E8A-4147-A177-3AD203B41FA5}">
                      <a16:colId xmlns:a16="http://schemas.microsoft.com/office/drawing/2014/main" val="4246751774"/>
                    </a:ext>
                  </a:extLst>
                </a:gridCol>
                <a:gridCol w="1044491">
                  <a:extLst>
                    <a:ext uri="{9D8B030D-6E8A-4147-A177-3AD203B41FA5}">
                      <a16:colId xmlns:a16="http://schemas.microsoft.com/office/drawing/2014/main" val="1526333070"/>
                    </a:ext>
                  </a:extLst>
                </a:gridCol>
                <a:gridCol w="1044491">
                  <a:extLst>
                    <a:ext uri="{9D8B030D-6E8A-4147-A177-3AD203B41FA5}">
                      <a16:colId xmlns:a16="http://schemas.microsoft.com/office/drawing/2014/main" val="2640325569"/>
                    </a:ext>
                  </a:extLst>
                </a:gridCol>
                <a:gridCol w="1044491">
                  <a:extLst>
                    <a:ext uri="{9D8B030D-6E8A-4147-A177-3AD203B41FA5}">
                      <a16:colId xmlns:a16="http://schemas.microsoft.com/office/drawing/2014/main" val="1228605499"/>
                    </a:ext>
                  </a:extLst>
                </a:gridCol>
                <a:gridCol w="1044491">
                  <a:extLst>
                    <a:ext uri="{9D8B030D-6E8A-4147-A177-3AD203B41FA5}">
                      <a16:colId xmlns:a16="http://schemas.microsoft.com/office/drawing/2014/main" val="1685967233"/>
                    </a:ext>
                  </a:extLst>
                </a:gridCol>
                <a:gridCol w="1044491">
                  <a:extLst>
                    <a:ext uri="{9D8B030D-6E8A-4147-A177-3AD203B41FA5}">
                      <a16:colId xmlns:a16="http://schemas.microsoft.com/office/drawing/2014/main" val="1262479993"/>
                    </a:ext>
                  </a:extLst>
                </a:gridCol>
              </a:tblGrid>
              <a:tr h="551749">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보고서 구분</a:t>
                      </a: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사회</a:t>
                      </a:r>
                      <a:r>
                        <a:rPr lang="en-US" altLang="ko-KR" sz="1050" b="0" i="0" u="none" strike="noStrike" cap="all" baseline="0" dirty="0">
                          <a:solidFill>
                            <a:schemeClr val="bg1"/>
                          </a:solidFill>
                          <a:effectLst/>
                          <a:latin typeface="Arial Narrow" panose="020B0606020202030204" pitchFamily="34" charset="0"/>
                          <a:ea typeface="+mn-ea"/>
                        </a:rPr>
                        <a:t>·</a:t>
                      </a:r>
                      <a:r>
                        <a:rPr lang="ko-KR" altLang="en-US" sz="1050" b="0" i="0" u="none" strike="noStrike" cap="all" baseline="0" dirty="0">
                          <a:solidFill>
                            <a:schemeClr val="bg1"/>
                          </a:solidFill>
                          <a:effectLst/>
                          <a:latin typeface="Arial Narrow" panose="020B0606020202030204" pitchFamily="34" charset="0"/>
                          <a:ea typeface="+mn-ea"/>
                        </a:rPr>
                        <a:t>문화</a:t>
                      </a:r>
                    </a:p>
                    <a:p>
                      <a:pPr algn="ctr" fontAlgn="ctr" latinLnBrk="0">
                        <a:lnSpc>
                          <a:spcPts val="1000"/>
                        </a:lnSpc>
                      </a:pPr>
                      <a:r>
                        <a:rPr lang="en-US" altLang="ko-KR" sz="1050" b="0" i="0" u="none" strike="noStrike" cap="all" baseline="0" dirty="0">
                          <a:solidFill>
                            <a:schemeClr val="bg1"/>
                          </a:solidFill>
                          <a:effectLst/>
                          <a:latin typeface="Arial Narrow" panose="020B0606020202030204" pitchFamily="34" charset="0"/>
                          <a:ea typeface="+mn-ea"/>
                        </a:rPr>
                        <a:t>(Social)</a:t>
                      </a:r>
                      <a:endParaRPr lang="ko-KR" altLang="en-US" sz="1050" b="0" i="0" u="none" strike="noStrike" cap="all" baseline="0" dirty="0">
                        <a:solidFill>
                          <a:schemeClr val="bg1"/>
                        </a:solidFill>
                        <a:effectLst/>
                        <a:latin typeface="Arial Narrow" panose="020B0606020202030204" pitchFamily="34" charset="0"/>
                        <a:ea typeface="+mn-ea"/>
                      </a:endParaRP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기술정보</a:t>
                      </a:r>
                    </a:p>
                    <a:p>
                      <a:pPr algn="ctr" fontAlgn="ctr" latinLnBrk="0">
                        <a:lnSpc>
                          <a:spcPts val="1000"/>
                        </a:lnSpc>
                      </a:pPr>
                      <a:r>
                        <a:rPr lang="en-US" altLang="ko-KR" sz="1050" b="0" i="0" u="none" strike="noStrike" cap="all" baseline="0" dirty="0">
                          <a:solidFill>
                            <a:schemeClr val="bg1"/>
                          </a:solidFill>
                          <a:effectLst/>
                          <a:latin typeface="Arial Narrow" panose="020B0606020202030204" pitchFamily="34" charset="0"/>
                          <a:ea typeface="+mn-ea"/>
                        </a:rPr>
                        <a:t>(Technologic al)</a:t>
                      </a:r>
                      <a:endParaRPr lang="ko-KR" altLang="en-US" sz="1050" b="0" i="0" u="none" strike="noStrike" cap="all" baseline="0" dirty="0">
                        <a:solidFill>
                          <a:schemeClr val="bg1"/>
                        </a:solidFill>
                        <a:effectLst/>
                        <a:latin typeface="Arial Narrow" panose="020B0606020202030204" pitchFamily="34" charset="0"/>
                        <a:ea typeface="+mn-ea"/>
                      </a:endParaRP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환경</a:t>
                      </a:r>
                    </a:p>
                    <a:p>
                      <a:pPr algn="ctr" fontAlgn="ctr" latinLnBrk="0">
                        <a:lnSpc>
                          <a:spcPts val="1000"/>
                        </a:lnSpc>
                      </a:pPr>
                      <a:r>
                        <a:rPr lang="en-US" altLang="ko-KR" sz="1050" b="0" i="0" u="none" strike="noStrike" cap="all" baseline="0" dirty="0">
                          <a:solidFill>
                            <a:schemeClr val="bg1"/>
                          </a:solidFill>
                          <a:effectLst/>
                          <a:latin typeface="Arial Narrow" panose="020B0606020202030204" pitchFamily="34" charset="0"/>
                          <a:ea typeface="+mn-ea"/>
                        </a:rPr>
                        <a:t>(Ecological)</a:t>
                      </a: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경제</a:t>
                      </a:r>
                    </a:p>
                    <a:p>
                      <a:pPr algn="ctr" fontAlgn="ctr" latinLnBrk="0">
                        <a:lnSpc>
                          <a:spcPts val="1000"/>
                        </a:lnSpc>
                      </a:pPr>
                      <a:r>
                        <a:rPr lang="en-US" altLang="ko-KR" sz="1050" b="0" i="0" u="none" strike="noStrike" cap="all" baseline="0" dirty="0">
                          <a:solidFill>
                            <a:schemeClr val="bg1"/>
                          </a:solidFill>
                          <a:effectLst/>
                          <a:latin typeface="Arial Narrow" panose="020B0606020202030204" pitchFamily="34" charset="0"/>
                          <a:ea typeface="+mn-ea"/>
                        </a:rPr>
                        <a:t>(Economic)</a:t>
                      </a:r>
                      <a:endParaRPr lang="ko-KR" altLang="en-US" sz="1050" b="0" i="0" u="none" strike="noStrike" cap="all" baseline="0" dirty="0">
                        <a:solidFill>
                          <a:schemeClr val="bg1"/>
                        </a:solidFill>
                        <a:effectLst/>
                        <a:latin typeface="Arial Narrow" panose="020B0606020202030204" pitchFamily="34" charset="0"/>
                        <a:ea typeface="+mn-ea"/>
                      </a:endParaRP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정치</a:t>
                      </a:r>
                      <a:br>
                        <a:rPr lang="en-US" altLang="ko-KR" sz="1050" b="0" i="0" u="none" strike="noStrike" cap="all" baseline="0" dirty="0">
                          <a:solidFill>
                            <a:schemeClr val="bg1"/>
                          </a:solidFill>
                          <a:effectLst/>
                          <a:latin typeface="Arial Narrow" panose="020B0606020202030204" pitchFamily="34" charset="0"/>
                          <a:ea typeface="+mn-ea"/>
                        </a:rPr>
                      </a:br>
                      <a:r>
                        <a:rPr lang="en-US" altLang="ko-KR" sz="1050" b="0" i="0" u="none" strike="noStrike" cap="all" baseline="0" dirty="0">
                          <a:solidFill>
                            <a:schemeClr val="bg1"/>
                          </a:solidFill>
                          <a:effectLst/>
                          <a:latin typeface="Arial Narrow" panose="020B0606020202030204" pitchFamily="34" charset="0"/>
                          <a:ea typeface="+mn-ea"/>
                        </a:rPr>
                        <a:t>(Political)</a:t>
                      </a:r>
                      <a:endParaRPr lang="ko-KR" altLang="en-US" sz="1050" b="0" i="0" u="none" strike="noStrike" cap="all" baseline="0" dirty="0">
                        <a:solidFill>
                          <a:schemeClr val="bg1"/>
                        </a:solidFill>
                        <a:effectLst/>
                        <a:latin typeface="Arial Narrow" panose="020B0606020202030204" pitchFamily="34" charset="0"/>
                        <a:ea typeface="+mn-ea"/>
                      </a:endParaRP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49609850"/>
                  </a:ext>
                </a:extLst>
              </a:tr>
              <a:tr h="768172">
                <a:tc>
                  <a:txBody>
                    <a:bodyPr/>
                    <a:lstStyle/>
                    <a:p>
                      <a:pPr algn="ctr" latinLnBrk="0"/>
                      <a:r>
                        <a:rPr lang="en-US" altLang="ko-KR" sz="1050" dirty="0">
                          <a:solidFill>
                            <a:schemeClr val="tx1"/>
                          </a:solidFill>
                          <a:latin typeface="Arial Narrow" panose="020B0606020202030204" pitchFamily="34" charset="0"/>
                          <a:ea typeface="+mn-ea"/>
                        </a:rPr>
                        <a:t>UN </a:t>
                      </a:r>
                      <a:r>
                        <a:rPr lang="ko-KR" altLang="en-US" sz="1050" dirty="0">
                          <a:solidFill>
                            <a:schemeClr val="tx1"/>
                          </a:solidFill>
                          <a:latin typeface="Arial Narrow" panose="020B0606020202030204" pitchFamily="34" charset="0"/>
                          <a:ea typeface="+mn-ea"/>
                        </a:rPr>
                        <a:t>미래 보고서</a:t>
                      </a:r>
                    </a:p>
                    <a:p>
                      <a:pPr algn="ctr" latinLnBrk="0"/>
                      <a:r>
                        <a:rPr lang="en-US" altLang="ko-KR" sz="1050" dirty="0">
                          <a:solidFill>
                            <a:schemeClr val="tx1"/>
                          </a:solidFill>
                          <a:latin typeface="Arial Narrow" panose="020B0606020202030204" pitchFamily="34" charset="0"/>
                          <a:ea typeface="+mn-ea"/>
                        </a:rPr>
                        <a:t>2050</a:t>
                      </a:r>
                    </a:p>
                    <a:p>
                      <a:pPr algn="ctr" latinLnBrk="0"/>
                      <a:r>
                        <a:rPr lang="en-US" altLang="ko-KR" sz="1050" dirty="0">
                          <a:solidFill>
                            <a:schemeClr val="tx1"/>
                          </a:solidFill>
                          <a:latin typeface="Arial Narrow" panose="020B0606020202030204" pitchFamily="34" charset="0"/>
                          <a:ea typeface="+mn-ea"/>
                        </a:rPr>
                        <a:t>(UN</a:t>
                      </a:r>
                      <a:r>
                        <a:rPr lang="ko-KR" altLang="en-US" sz="1050" dirty="0" err="1">
                          <a:solidFill>
                            <a:schemeClr val="tx1"/>
                          </a:solidFill>
                          <a:latin typeface="Arial Narrow" panose="020B0606020202030204" pitchFamily="34" charset="0"/>
                          <a:ea typeface="+mn-ea"/>
                        </a:rPr>
                        <a:t>미래포럼</a:t>
                      </a:r>
                      <a:r>
                        <a:rPr lang="en-US" altLang="ko-KR" sz="1050" dirty="0">
                          <a:solidFill>
                            <a:schemeClr val="tx1"/>
                          </a:solidFill>
                          <a:latin typeface="Arial Narrow" panose="020B0606020202030204" pitchFamily="34" charset="0"/>
                          <a:ea typeface="+mn-ea"/>
                        </a:rPr>
                        <a:t>)</a:t>
                      </a:r>
                      <a:endParaRPr lang="ko-KR" altLang="en-US" sz="1050" dirty="0">
                        <a:solidFill>
                          <a:schemeClr val="tx1"/>
                        </a:solidFill>
                        <a:latin typeface="Arial Narrow" panose="020B0606020202030204" pitchFamily="34" charset="0"/>
                        <a:ea typeface="+mn-ea"/>
                      </a:endParaRP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고령화</a:t>
                      </a:r>
                      <a:endParaRPr lang="en-US" altLang="ko-KR" sz="1050" dirty="0">
                        <a:solidFill>
                          <a:schemeClr val="tx1"/>
                        </a:solidFill>
                        <a:latin typeface="Arial Narrow" panose="020B0606020202030204" pitchFamily="34" charset="0"/>
                        <a:ea typeface="+mn-ea"/>
                      </a:endParaRP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개인화</a:t>
                      </a:r>
                      <a:endParaRPr lang="en-US" altLang="ko-KR" sz="1050" dirty="0">
                        <a:solidFill>
                          <a:schemeClr val="tx1"/>
                        </a:solidFill>
                        <a:latin typeface="Arial Narrow" panose="020B0606020202030204" pitchFamily="34" charset="0"/>
                        <a:ea typeface="+mn-ea"/>
                      </a:endParaRP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의료</a:t>
                      </a:r>
                      <a:r>
                        <a:rPr lang="en-US" altLang="ko-KR" sz="1050" dirty="0">
                          <a:solidFill>
                            <a:schemeClr val="tx1"/>
                          </a:solidFill>
                          <a:latin typeface="Arial Narrow" panose="020B0606020202030204" pitchFamily="34" charset="0"/>
                          <a:ea typeface="+mn-ea"/>
                        </a:rPr>
                        <a:t>·</a:t>
                      </a:r>
                      <a:r>
                        <a:rPr lang="ko-KR" altLang="en-US" sz="1050" dirty="0">
                          <a:solidFill>
                            <a:schemeClr val="tx1"/>
                          </a:solidFill>
                          <a:latin typeface="Arial Narrow" panose="020B0606020202030204" pitchFamily="34" charset="0"/>
                          <a:ea typeface="+mn-ea"/>
                        </a:rPr>
                        <a:t>보건 발전</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en-US" altLang="ko-KR" sz="1050" dirty="0">
                          <a:solidFill>
                            <a:schemeClr val="tx1"/>
                          </a:solidFill>
                          <a:latin typeface="Arial Narrow" panose="020B0606020202030204" pitchFamily="34" charset="0"/>
                          <a:ea typeface="+mn-ea"/>
                        </a:rPr>
                        <a:t>IT/</a:t>
                      </a:r>
                      <a:r>
                        <a:rPr lang="ko-KR" altLang="en-US" sz="1050" dirty="0">
                          <a:solidFill>
                            <a:schemeClr val="tx1"/>
                          </a:solidFill>
                          <a:latin typeface="Arial Narrow" panose="020B0606020202030204" pitchFamily="34" charset="0"/>
                          <a:ea typeface="+mn-ea"/>
                        </a:rPr>
                        <a:t>인공지능</a:t>
                      </a:r>
                      <a:r>
                        <a:rPr lang="en-US" altLang="ko-KR" sz="1050" dirty="0">
                          <a:solidFill>
                            <a:schemeClr val="tx1"/>
                          </a:solidFill>
                          <a:latin typeface="Arial Narrow" panose="020B0606020202030204" pitchFamily="34" charset="0"/>
                          <a:ea typeface="+mn-ea"/>
                        </a:rPr>
                        <a:t>/</a:t>
                      </a:r>
                      <a:br>
                        <a:rPr lang="en-US" altLang="ko-KR" sz="1050" dirty="0">
                          <a:solidFill>
                            <a:schemeClr val="tx1"/>
                          </a:solidFill>
                          <a:latin typeface="Arial Narrow" panose="020B0606020202030204" pitchFamily="34" charset="0"/>
                          <a:ea typeface="+mn-ea"/>
                        </a:rPr>
                      </a:br>
                      <a:r>
                        <a:rPr lang="ko-KR" altLang="en-US" sz="1050" dirty="0">
                          <a:solidFill>
                            <a:schemeClr val="tx1"/>
                          </a:solidFill>
                          <a:latin typeface="Arial Narrow" panose="020B0606020202030204" pitchFamily="34" charset="0"/>
                          <a:ea typeface="+mn-ea"/>
                        </a:rPr>
                        <a:t>바이오 기술 발달</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기후변화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일자리 소멸 </a:t>
                      </a:r>
                      <a:r>
                        <a:rPr lang="en-US" altLang="ko-KR" sz="1050" dirty="0">
                          <a:solidFill>
                            <a:schemeClr val="tx1"/>
                          </a:solidFill>
                          <a:latin typeface="Arial Narrow" panose="020B0606020202030204" pitchFamily="34" charset="0"/>
                          <a:ea typeface="+mn-ea"/>
                        </a:rPr>
                        <a:t> </a:t>
                      </a: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세계 단일화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정부기능 축소</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6655205"/>
                  </a:ext>
                </a:extLst>
              </a:tr>
              <a:tr h="768172">
                <a:tc>
                  <a:txBody>
                    <a:bodyPr/>
                    <a:lstStyle/>
                    <a:p>
                      <a:pPr algn="ctr" latinLnBrk="0"/>
                      <a:r>
                        <a:rPr lang="en-US" altLang="ko-KR" sz="1050" dirty="0">
                          <a:solidFill>
                            <a:schemeClr val="tx1"/>
                          </a:solidFill>
                          <a:latin typeface="Arial Narrow" panose="020B0606020202030204" pitchFamily="34" charset="0"/>
                          <a:ea typeface="+mn-ea"/>
                        </a:rPr>
                        <a:t>2020/2050 </a:t>
                      </a:r>
                      <a:r>
                        <a:rPr lang="ko-KR" altLang="en-US" sz="1050" dirty="0">
                          <a:solidFill>
                            <a:schemeClr val="tx1"/>
                          </a:solidFill>
                          <a:latin typeface="Arial Narrow" panose="020B0606020202030204" pitchFamily="34" charset="0"/>
                          <a:ea typeface="+mn-ea"/>
                        </a:rPr>
                        <a:t>미래 전망 토론회</a:t>
                      </a:r>
                    </a:p>
                    <a:p>
                      <a:pPr algn="ctr" latinLnBrk="0"/>
                      <a:r>
                        <a:rPr lang="en-US" altLang="ko-KR" sz="1050" dirty="0">
                          <a:solidFill>
                            <a:schemeClr val="tx1"/>
                          </a:solidFill>
                          <a:latin typeface="Arial Narrow" panose="020B0606020202030204" pitchFamily="34" charset="0"/>
                          <a:ea typeface="+mn-ea"/>
                        </a:rPr>
                        <a:t>(</a:t>
                      </a:r>
                      <a:r>
                        <a:rPr lang="ko-KR" altLang="en-US" sz="1050" dirty="0">
                          <a:solidFill>
                            <a:schemeClr val="tx1"/>
                          </a:solidFill>
                          <a:latin typeface="Arial Narrow" panose="020B0606020202030204" pitchFamily="34" charset="0"/>
                          <a:ea typeface="+mn-ea"/>
                        </a:rPr>
                        <a:t>미래기획위원회</a:t>
                      </a:r>
                      <a:r>
                        <a:rPr lang="en-US" altLang="ko-KR" sz="1050" dirty="0">
                          <a:solidFill>
                            <a:schemeClr val="tx1"/>
                          </a:solidFill>
                          <a:latin typeface="Arial Narrow" panose="020B0606020202030204" pitchFamily="34" charset="0"/>
                          <a:ea typeface="+mn-ea"/>
                        </a:rPr>
                        <a:t>)</a:t>
                      </a:r>
                      <a:endParaRPr lang="ko-KR" altLang="en-US" sz="1050" dirty="0">
                        <a:solidFill>
                          <a:schemeClr val="tx1"/>
                        </a:solidFill>
                        <a:latin typeface="Arial Narrow" panose="020B0606020202030204" pitchFamily="34" charset="0"/>
                        <a:ea typeface="+mn-ea"/>
                      </a:endParaRP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인구구조</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변화</a:t>
                      </a:r>
                      <a:endParaRPr lang="en-US" altLang="ko-KR" sz="1050" dirty="0">
                        <a:solidFill>
                          <a:schemeClr val="tx1"/>
                        </a:solidFill>
                        <a:latin typeface="Arial Narrow" panose="020B0606020202030204" pitchFamily="34" charset="0"/>
                        <a:ea typeface="+mn-ea"/>
                      </a:endParaRP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도시화</a:t>
                      </a:r>
                      <a:endParaRPr lang="en-US" altLang="ko-KR" sz="1050" dirty="0">
                        <a:solidFill>
                          <a:schemeClr val="tx1"/>
                        </a:solidFill>
                        <a:latin typeface="Arial Narrow" panose="020B0606020202030204" pitchFamily="34" charset="0"/>
                        <a:ea typeface="+mn-ea"/>
                      </a:endParaRP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삶의 질 요구</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증대</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과학기술</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발달</a:t>
                      </a:r>
                    </a:p>
                    <a:p>
                      <a:pPr marL="88900" indent="-88900" algn="l" latinLnBrk="0">
                        <a:buFont typeface="Arial" panose="020B0604020202020204" pitchFamily="34" charset="0"/>
                        <a:buChar char="•"/>
                      </a:pPr>
                      <a:r>
                        <a:rPr lang="ko-KR" altLang="en-US" sz="1050" u="sng" dirty="0">
                          <a:solidFill>
                            <a:srgbClr val="0070C0"/>
                          </a:solidFill>
                          <a:latin typeface="a고딕16" panose="02020600000000000000" pitchFamily="18" charset="-127"/>
                          <a:ea typeface="a고딕16" panose="02020600000000000000" pitchFamily="18" charset="-127"/>
                        </a:rPr>
                        <a:t>기술융합</a:t>
                      </a:r>
                      <a:r>
                        <a:rPr lang="ko-KR" altLang="en-US" sz="1050" u="sng" baseline="0" dirty="0">
                          <a:solidFill>
                            <a:srgbClr val="0070C0"/>
                          </a:solidFill>
                          <a:latin typeface="a고딕16" panose="02020600000000000000" pitchFamily="18" charset="-127"/>
                          <a:ea typeface="a고딕16" panose="02020600000000000000" pitchFamily="18" charset="-127"/>
                        </a:rPr>
                        <a:t> </a:t>
                      </a:r>
                      <a:r>
                        <a:rPr lang="ko-KR" altLang="en-US" sz="1050" u="sng" dirty="0">
                          <a:solidFill>
                            <a:srgbClr val="0070C0"/>
                          </a:solidFill>
                          <a:latin typeface="a고딕16" panose="02020600000000000000" pitchFamily="18" charset="-127"/>
                          <a:ea typeface="a고딕16" panose="02020600000000000000" pitchFamily="18" charset="-127"/>
                        </a:rPr>
                        <a:t>가속화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에너지 패러다임 변화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세계경제 통합</a:t>
                      </a: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국제분업</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endParaRPr lang="ko-KR" altLang="en-US" sz="1050" dirty="0">
                        <a:solidFill>
                          <a:schemeClr val="tx1"/>
                        </a:solidFill>
                        <a:latin typeface="Arial Narrow" panose="020B0606020202030204" pitchFamily="34" charset="0"/>
                        <a:ea typeface="+mn-ea"/>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25609972"/>
                  </a:ext>
                </a:extLst>
              </a:tr>
              <a:tr h="768172">
                <a:tc>
                  <a:txBody>
                    <a:bodyPr/>
                    <a:lstStyle/>
                    <a:p>
                      <a:pPr algn="ctr" latinLnBrk="0"/>
                      <a:r>
                        <a:rPr lang="ko-KR" altLang="en-US" sz="1050" dirty="0">
                          <a:solidFill>
                            <a:schemeClr val="tx1"/>
                          </a:solidFill>
                          <a:latin typeface="Arial Narrow" panose="020B0606020202030204" pitchFamily="34" charset="0"/>
                          <a:ea typeface="+mn-ea"/>
                        </a:rPr>
                        <a:t>메가트렌드로 본 </a:t>
                      </a:r>
                      <a:r>
                        <a:rPr lang="en-US" altLang="ko-KR" sz="1050" dirty="0">
                          <a:solidFill>
                            <a:schemeClr val="tx1"/>
                          </a:solidFill>
                          <a:latin typeface="Arial Narrow" panose="020B0606020202030204" pitchFamily="34" charset="0"/>
                          <a:ea typeface="+mn-ea"/>
                        </a:rPr>
                        <a:t>10</a:t>
                      </a:r>
                      <a:r>
                        <a:rPr lang="ko-KR" altLang="en-US" sz="1050" dirty="0">
                          <a:solidFill>
                            <a:schemeClr val="tx1"/>
                          </a:solidFill>
                          <a:latin typeface="Arial Narrow" panose="020B0606020202030204" pitchFamily="34" charset="0"/>
                          <a:ea typeface="+mn-ea"/>
                        </a:rPr>
                        <a:t>대 미래 기술 전망</a:t>
                      </a:r>
                    </a:p>
                    <a:p>
                      <a:pPr algn="ctr" latinLnBrk="0"/>
                      <a:r>
                        <a:rPr lang="en-US" altLang="ko-KR" sz="1050" dirty="0">
                          <a:solidFill>
                            <a:schemeClr val="tx1"/>
                          </a:solidFill>
                          <a:latin typeface="Arial Narrow" panose="020B0606020202030204" pitchFamily="34" charset="0"/>
                          <a:ea typeface="+mn-ea"/>
                        </a:rPr>
                        <a:t>(</a:t>
                      </a:r>
                      <a:r>
                        <a:rPr lang="ko-KR" altLang="en-US" sz="1050" dirty="0">
                          <a:solidFill>
                            <a:schemeClr val="tx1"/>
                          </a:solidFill>
                          <a:latin typeface="Arial Narrow" panose="020B0606020202030204" pitchFamily="34" charset="0"/>
                          <a:ea typeface="+mn-ea"/>
                        </a:rPr>
                        <a:t>한국정보화진흥원</a:t>
                      </a:r>
                      <a:r>
                        <a:rPr lang="en-US" altLang="ko-KR" sz="1050" dirty="0">
                          <a:solidFill>
                            <a:schemeClr val="tx1"/>
                          </a:solidFill>
                          <a:latin typeface="Arial Narrow" panose="020B0606020202030204" pitchFamily="34" charset="0"/>
                          <a:ea typeface="+mn-ea"/>
                        </a:rPr>
                        <a:t>)</a:t>
                      </a:r>
                      <a:endParaRPr lang="ko-KR" altLang="en-US" sz="1050" dirty="0">
                        <a:solidFill>
                          <a:schemeClr val="tx1"/>
                        </a:solidFill>
                        <a:latin typeface="Arial Narrow" panose="020B0606020202030204" pitchFamily="34" charset="0"/>
                        <a:ea typeface="+mn-ea"/>
                      </a:endParaRP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인구구조</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변화</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양극화</a:t>
                      </a:r>
                      <a:endParaRPr lang="en-US" altLang="ko-KR" sz="1050" dirty="0">
                        <a:solidFill>
                          <a:schemeClr val="tx1"/>
                        </a:solidFill>
                        <a:latin typeface="Arial Narrow" panose="020B0606020202030204" pitchFamily="34" charset="0"/>
                        <a:ea typeface="+mn-ea"/>
                      </a:endParaRP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네트워크</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사회</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가상 </a:t>
                      </a:r>
                      <a:r>
                        <a:rPr lang="ko-KR" altLang="en-US" sz="1050" dirty="0" err="1">
                          <a:solidFill>
                            <a:schemeClr val="tx1"/>
                          </a:solidFill>
                          <a:latin typeface="Arial Narrow" panose="020B0606020202030204" pitchFamily="34" charset="0"/>
                          <a:ea typeface="+mn-ea"/>
                        </a:rPr>
                        <a:t>지능공간</a:t>
                      </a:r>
                      <a:endParaRPr lang="ko-KR" altLang="en-US" sz="1050" dirty="0">
                        <a:solidFill>
                          <a:schemeClr val="tx1"/>
                        </a:solidFill>
                        <a:latin typeface="Arial Narrow" panose="020B0606020202030204" pitchFamily="34" charset="0"/>
                        <a:ea typeface="+mn-ea"/>
                      </a:endParaRPr>
                    </a:p>
                    <a:p>
                      <a:pPr marL="88900" indent="-88900" algn="l" latinLnBrk="0">
                        <a:buFont typeface="Arial" panose="020B0604020202020204" pitchFamily="34" charset="0"/>
                        <a:buChar char="•"/>
                      </a:pPr>
                      <a:r>
                        <a:rPr lang="ko-KR" altLang="en-US" sz="1050" u="sng" dirty="0">
                          <a:solidFill>
                            <a:srgbClr val="0070C0"/>
                          </a:solidFill>
                          <a:latin typeface="a고딕16" panose="02020600000000000000" pitchFamily="18" charset="-127"/>
                          <a:ea typeface="a고딕16" panose="02020600000000000000" pitchFamily="18" charset="-127"/>
                        </a:rPr>
                        <a:t>기술</a:t>
                      </a:r>
                      <a:r>
                        <a:rPr lang="ko-KR" altLang="en-US" sz="1050" u="sng" baseline="0" dirty="0">
                          <a:solidFill>
                            <a:srgbClr val="0070C0"/>
                          </a:solidFill>
                          <a:latin typeface="a고딕16" panose="02020600000000000000" pitchFamily="18" charset="-127"/>
                          <a:ea typeface="a고딕16" panose="02020600000000000000" pitchFamily="18" charset="-127"/>
                        </a:rPr>
                        <a:t> </a:t>
                      </a:r>
                      <a:r>
                        <a:rPr lang="ko-KR" altLang="en-US" sz="1050" u="sng" dirty="0">
                          <a:solidFill>
                            <a:srgbClr val="0070C0"/>
                          </a:solidFill>
                          <a:latin typeface="a고딕16" panose="02020600000000000000" pitchFamily="18" charset="-127"/>
                          <a:ea typeface="a고딕16" panose="02020600000000000000" pitchFamily="18" charset="-127"/>
                        </a:rPr>
                        <a:t>융</a:t>
                      </a:r>
                      <a:r>
                        <a:rPr lang="en-US" altLang="ko-KR" sz="1050" u="sng" dirty="0">
                          <a:solidFill>
                            <a:srgbClr val="0070C0"/>
                          </a:solidFill>
                          <a:latin typeface="Arial Narrow" panose="020B0606020202030204" pitchFamily="34" charset="0"/>
                          <a:ea typeface="a고딕16" panose="02020600000000000000" pitchFamily="18" charset="-127"/>
                        </a:rPr>
                        <a:t>·</a:t>
                      </a:r>
                      <a:r>
                        <a:rPr lang="ko-KR" altLang="en-US" sz="1050" u="sng" dirty="0">
                          <a:solidFill>
                            <a:srgbClr val="0070C0"/>
                          </a:solidFill>
                          <a:latin typeface="a고딕16" panose="02020600000000000000" pitchFamily="18" charset="-127"/>
                          <a:ea typeface="a고딕16" panose="02020600000000000000" pitchFamily="18" charset="-127"/>
                        </a:rPr>
                        <a:t>복합화</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로봇 발전</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기후변화</a:t>
                      </a:r>
                      <a:endParaRPr lang="en-US" altLang="ko-KR" sz="1050" dirty="0">
                        <a:solidFill>
                          <a:schemeClr val="tx1"/>
                        </a:solidFill>
                        <a:latin typeface="Arial Narrow" panose="020B0606020202030204" pitchFamily="34" charset="0"/>
                        <a:ea typeface="+mn-ea"/>
                      </a:endParaRP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에너지 위기</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감성</a:t>
                      </a:r>
                      <a:r>
                        <a:rPr lang="en-US" altLang="ko-KR" sz="1050" dirty="0">
                          <a:solidFill>
                            <a:schemeClr val="tx1"/>
                          </a:solidFill>
                          <a:latin typeface="Arial Narrow" panose="020B0606020202030204" pitchFamily="34" charset="0"/>
                          <a:ea typeface="+mn-ea"/>
                        </a:rPr>
                        <a:t>/</a:t>
                      </a:r>
                      <a:r>
                        <a:rPr lang="ko-KR" altLang="en-US" sz="1050" dirty="0">
                          <a:solidFill>
                            <a:schemeClr val="tx1"/>
                          </a:solidFill>
                          <a:latin typeface="Arial Narrow" panose="020B0606020202030204" pitchFamily="34" charset="0"/>
                          <a:ea typeface="+mn-ea"/>
                        </a:rPr>
                        <a:t>복지</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경제</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지식기반경제</a:t>
                      </a:r>
                      <a:endParaRPr lang="en-US" altLang="ko-KR" sz="1050" dirty="0">
                        <a:solidFill>
                          <a:schemeClr val="tx1"/>
                        </a:solidFill>
                        <a:latin typeface="Arial Narrow" panose="020B0606020202030204" pitchFamily="34" charset="0"/>
                        <a:ea typeface="+mn-ea"/>
                      </a:endParaRP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글로벌 인</a:t>
                      </a:r>
                      <a:r>
                        <a:rPr lang="ko-KR" altLang="en-US" sz="1050" baseline="0" dirty="0">
                          <a:solidFill>
                            <a:schemeClr val="tx1"/>
                          </a:solidFill>
                          <a:latin typeface="Arial Narrow" panose="020B0606020202030204" pitchFamily="34" charset="0"/>
                          <a:ea typeface="+mn-ea"/>
                        </a:rPr>
                        <a:t>재 </a:t>
                      </a:r>
                      <a:r>
                        <a:rPr lang="ko-KR" altLang="en-US" sz="1050" dirty="0">
                          <a:solidFill>
                            <a:schemeClr val="tx1"/>
                          </a:solidFill>
                          <a:latin typeface="Arial Narrow" panose="020B0606020202030204" pitchFamily="34" charset="0"/>
                          <a:ea typeface="+mn-ea"/>
                        </a:rPr>
                        <a:t>부상</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글로벌화 </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안전 위험성 증대</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74739159"/>
                  </a:ext>
                </a:extLst>
              </a:tr>
              <a:tr h="768172">
                <a:tc>
                  <a:txBody>
                    <a:bodyPr/>
                    <a:lstStyle/>
                    <a:p>
                      <a:pPr algn="ctr" latinLnBrk="0"/>
                      <a:r>
                        <a:rPr lang="en-US" altLang="ko-KR" sz="1050" dirty="0">
                          <a:solidFill>
                            <a:schemeClr val="tx1"/>
                          </a:solidFill>
                          <a:latin typeface="Arial Narrow" panose="020B0606020202030204" pitchFamily="34" charset="0"/>
                          <a:ea typeface="+mn-ea"/>
                        </a:rPr>
                        <a:t>Future State</a:t>
                      </a:r>
                    </a:p>
                    <a:p>
                      <a:pPr algn="ctr" latinLnBrk="0"/>
                      <a:r>
                        <a:rPr lang="en-US" altLang="ko-KR" sz="1050" dirty="0">
                          <a:solidFill>
                            <a:schemeClr val="tx1"/>
                          </a:solidFill>
                          <a:latin typeface="Arial Narrow" panose="020B0606020202030204" pitchFamily="34" charset="0"/>
                          <a:ea typeface="+mn-ea"/>
                        </a:rPr>
                        <a:t>2030</a:t>
                      </a:r>
                    </a:p>
                    <a:p>
                      <a:pPr algn="ctr" latinLnBrk="0"/>
                      <a:r>
                        <a:rPr lang="en-US" altLang="ko-KR" sz="1050" dirty="0">
                          <a:solidFill>
                            <a:schemeClr val="tx1"/>
                          </a:solidFill>
                          <a:latin typeface="Arial Narrow" panose="020B0606020202030204" pitchFamily="34" charset="0"/>
                          <a:ea typeface="+mn-ea"/>
                        </a:rPr>
                        <a:t>(KPMG)</a:t>
                      </a:r>
                      <a:endParaRPr lang="ko-KR" altLang="en-US" sz="1050" dirty="0">
                        <a:solidFill>
                          <a:schemeClr val="tx1"/>
                        </a:solidFill>
                        <a:latin typeface="Arial Narrow" panose="020B0606020202030204" pitchFamily="34" charset="0"/>
                        <a:ea typeface="+mn-ea"/>
                      </a:endParaRP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인구구조</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변화</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도시화 </a:t>
                      </a:r>
                      <a:r>
                        <a:rPr lang="en-US" altLang="ko-KR" sz="1050" dirty="0">
                          <a:solidFill>
                            <a:schemeClr val="tx1"/>
                          </a:solidFill>
                          <a:latin typeface="Arial Narrow" panose="020B0606020202030204" pitchFamily="34" charset="0"/>
                          <a:ea typeface="+mn-ea"/>
                        </a:rPr>
                        <a:t> </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개인의 부상</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u="sng" dirty="0">
                          <a:solidFill>
                            <a:srgbClr val="0070C0"/>
                          </a:solidFill>
                          <a:latin typeface="a고딕16" panose="02020600000000000000" pitchFamily="18" charset="-127"/>
                          <a:ea typeface="a고딕16" panose="02020600000000000000" pitchFamily="18" charset="-127"/>
                        </a:rPr>
                        <a:t>정보통신 등 기술 혁신</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기후변화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공공부채 증가</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경제권력 이동</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자원부족</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endParaRPr lang="ko-KR" altLang="en-US" sz="1050" dirty="0">
                        <a:solidFill>
                          <a:schemeClr val="tx1"/>
                        </a:solidFill>
                        <a:latin typeface="Arial Narrow" panose="020B0606020202030204" pitchFamily="34" charset="0"/>
                        <a:ea typeface="+mn-ea"/>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7496451"/>
                  </a:ext>
                </a:extLst>
              </a:tr>
              <a:tr h="7681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글로벌 메가 트렌드 평가</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(EY</a:t>
                      </a: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한영</a:t>
                      </a:r>
                      <a:r>
                        <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a:t>
                      </a: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인구변화</a:t>
                      </a:r>
                      <a:r>
                        <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 </a:t>
                      </a:r>
                    </a:p>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도시화</a:t>
                      </a:r>
                      <a:r>
                        <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 </a:t>
                      </a:r>
                    </a:p>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err="1">
                          <a:ln>
                            <a:noFill/>
                          </a:ln>
                          <a:solidFill>
                            <a:schemeClr val="tx1"/>
                          </a:solidFill>
                          <a:effectLst/>
                          <a:uLnTx/>
                          <a:uFillTx/>
                          <a:latin typeface="Arial Narrow" panose="020B0606020202030204" pitchFamily="34" charset="0"/>
                          <a:ea typeface="+mn-ea"/>
                          <a:cs typeface="+mn-cs"/>
                        </a:rPr>
                        <a:t>질병위험</a:t>
                      </a: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 증가</a:t>
                      </a:r>
                      <a:endPar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u="sng" dirty="0">
                          <a:solidFill>
                            <a:srgbClr val="0070C0"/>
                          </a:solidFill>
                          <a:latin typeface="a고딕16" panose="02020600000000000000" pitchFamily="18" charset="-127"/>
                          <a:ea typeface="a고딕16" panose="02020600000000000000" pitchFamily="18" charset="-127"/>
                        </a:rPr>
                        <a:t>기술변화</a:t>
                      </a:r>
                      <a:r>
                        <a:rPr lang="ko-KR" altLang="en-US" sz="1050" u="sng" baseline="0" dirty="0">
                          <a:solidFill>
                            <a:srgbClr val="0070C0"/>
                          </a:solidFill>
                          <a:latin typeface="a고딕16" panose="02020600000000000000" pitchFamily="18" charset="-127"/>
                          <a:ea typeface="a고딕16" panose="02020600000000000000" pitchFamily="18" charset="-127"/>
                        </a:rPr>
                        <a:t> </a:t>
                      </a:r>
                      <a:r>
                        <a:rPr lang="ko-KR" altLang="en-US" sz="1050" u="sng" dirty="0">
                          <a:solidFill>
                            <a:srgbClr val="0070C0"/>
                          </a:solidFill>
                          <a:latin typeface="a고딕16" panose="02020600000000000000" pitchFamily="18" charset="-127"/>
                          <a:ea typeface="a고딕16" panose="02020600000000000000" pitchFamily="18" charset="-127"/>
                        </a:rPr>
                        <a:t>가속화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err="1">
                          <a:ln>
                            <a:noFill/>
                          </a:ln>
                          <a:solidFill>
                            <a:schemeClr val="tx1"/>
                          </a:solidFill>
                          <a:effectLst/>
                          <a:uLnTx/>
                          <a:uFillTx/>
                          <a:latin typeface="Arial Narrow" panose="020B0606020202030204" pitchFamily="34" charset="0"/>
                          <a:ea typeface="+mn-ea"/>
                          <a:cs typeface="+mn-cs"/>
                        </a:rPr>
                        <a:t>자원경쟁</a:t>
                      </a: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 심화</a:t>
                      </a:r>
                      <a:endPar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지속적 성장 </a:t>
                      </a:r>
                    </a:p>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양극화</a:t>
                      </a:r>
                      <a:endPar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다양한 거버넌스</a:t>
                      </a:r>
                      <a:endPar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53274917"/>
                  </a:ext>
                </a:extLst>
              </a:tr>
            </a:tbl>
          </a:graphicData>
        </a:graphic>
      </p:graphicFrame>
      <p:sp>
        <p:nvSpPr>
          <p:cNvPr id="25" name="직사각형 24">
            <a:extLst>
              <a:ext uri="{FF2B5EF4-FFF2-40B4-BE49-F238E27FC236}">
                <a16:creationId xmlns:a16="http://schemas.microsoft.com/office/drawing/2014/main" id="{313F9849-D243-4BE5-B848-A661B4DA16D8}"/>
              </a:ext>
            </a:extLst>
          </p:cNvPr>
          <p:cNvSpPr/>
          <p:nvPr/>
        </p:nvSpPr>
        <p:spPr>
          <a:xfrm>
            <a:off x="7012380" y="2097090"/>
            <a:ext cx="2333232" cy="25178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ko-KR" altLang="en-US" sz="1100" dirty="0">
                <a:solidFill>
                  <a:schemeClr val="bg1"/>
                </a:solidFill>
                <a:latin typeface="a고딕14" panose="02020600000000000000" pitchFamily="18" charset="-127"/>
                <a:ea typeface="a고딕14" panose="02020600000000000000" pitchFamily="18" charset="-127"/>
              </a:rPr>
              <a:t>미래학자들의 미래 모습</a:t>
            </a:r>
            <a:endParaRPr kumimoji="0" lang="ko-KR" altLang="en-US" sz="11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grpSp>
        <p:nvGrpSpPr>
          <p:cNvPr id="2" name="그룹 1"/>
          <p:cNvGrpSpPr/>
          <p:nvPr/>
        </p:nvGrpSpPr>
        <p:grpSpPr>
          <a:xfrm>
            <a:off x="7012380" y="2429956"/>
            <a:ext cx="2332305" cy="432048"/>
            <a:chOff x="7012380" y="2429956"/>
            <a:chExt cx="2332305" cy="422980"/>
          </a:xfrm>
        </p:grpSpPr>
        <p:sp>
          <p:nvSpPr>
            <p:cNvPr id="26" name="직사각형 25">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인구</a:t>
              </a:r>
            </a:p>
          </p:txBody>
        </p:sp>
        <p:sp>
          <p:nvSpPr>
            <p:cNvPr id="28" name="직사각형 27">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err="1">
                  <a:solidFill>
                    <a:schemeClr val="tx1"/>
                  </a:solidFill>
                  <a:latin typeface="Arial Narrow" panose="020B0606020202030204" pitchFamily="34" charset="0"/>
                  <a:ea typeface="a고딕14" panose="02020600000000000000" pitchFamily="18" charset="-127"/>
                </a:rPr>
                <a:t>저출산</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고령화 등 인구구조 변화</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주거</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건강</a:t>
              </a:r>
              <a:r>
                <a:rPr lang="en-US" altLang="ko-KR" sz="900" spc="-50" dirty="0">
                  <a:solidFill>
                    <a:schemeClr val="tx1"/>
                  </a:solidFill>
                  <a:latin typeface="Arial Narrow" panose="020B0606020202030204" pitchFamily="34" charset="0"/>
                  <a:ea typeface="a고딕14" panose="02020600000000000000" pitchFamily="18" charset="-127"/>
                </a:rPr>
                <a:t>·</a:t>
              </a:r>
              <a:r>
                <a:rPr lang="ko-KR" altLang="en-US" sz="900" spc="-50" dirty="0">
                  <a:solidFill>
                    <a:schemeClr val="tx1"/>
                  </a:solidFill>
                  <a:latin typeface="Arial Narrow" panose="020B0606020202030204" pitchFamily="34" charset="0"/>
                  <a:ea typeface="a고딕14" panose="02020600000000000000" pitchFamily="18" charset="-127"/>
                </a:rPr>
                <a:t>소비</a:t>
              </a:r>
              <a:r>
                <a:rPr lang="en-US" altLang="ko-KR" sz="900" spc="-50" dirty="0">
                  <a:solidFill>
                    <a:schemeClr val="tx1"/>
                  </a:solidFill>
                  <a:latin typeface="Arial Narrow" panose="020B0606020202030204" pitchFamily="34" charset="0"/>
                  <a:ea typeface="a고딕14" panose="02020600000000000000" pitchFamily="18" charset="-127"/>
                </a:rPr>
                <a:t>·</a:t>
              </a:r>
              <a:r>
                <a:rPr lang="ko-KR" altLang="en-US" sz="900" spc="-50" dirty="0">
                  <a:solidFill>
                    <a:schemeClr val="tx1"/>
                  </a:solidFill>
                  <a:latin typeface="Arial Narrow" panose="020B0606020202030204" pitchFamily="34" charset="0"/>
                  <a:ea typeface="a고딕14" panose="02020600000000000000" pitchFamily="18" charset="-127"/>
                </a:rPr>
                <a:t>여가 등의 소비 계층 급부상</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32" name="그룹 31"/>
          <p:cNvGrpSpPr/>
          <p:nvPr/>
        </p:nvGrpSpPr>
        <p:grpSpPr>
          <a:xfrm>
            <a:off x="7012380" y="2918200"/>
            <a:ext cx="2332305" cy="432048"/>
            <a:chOff x="7012380" y="2429956"/>
            <a:chExt cx="2332305" cy="422980"/>
          </a:xfrm>
        </p:grpSpPr>
        <p:sp>
          <p:nvSpPr>
            <p:cNvPr id="33" name="직사각형 32">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주거</a:t>
              </a:r>
            </a:p>
          </p:txBody>
        </p:sp>
        <p:sp>
          <p:nvSpPr>
            <p:cNvPr id="34" name="직사각형 33">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초고층 </a:t>
              </a:r>
              <a:r>
                <a:rPr lang="ko-KR" altLang="en-US" sz="900" spc="-50" dirty="0" err="1">
                  <a:solidFill>
                    <a:schemeClr val="tx1"/>
                  </a:solidFill>
                  <a:latin typeface="Arial Narrow" panose="020B0606020202030204" pitchFamily="34" charset="0"/>
                  <a:ea typeface="a고딕14" panose="02020600000000000000" pitchFamily="18" charset="-127"/>
                </a:rPr>
                <a:t>컴팩트</a:t>
              </a:r>
              <a:r>
                <a:rPr lang="ko-KR" altLang="en-US" sz="900" spc="-50" dirty="0">
                  <a:solidFill>
                    <a:schemeClr val="tx1"/>
                  </a:solidFill>
                  <a:latin typeface="Arial Narrow" panose="020B0606020202030204" pitchFamily="34" charset="0"/>
                  <a:ea typeface="a고딕14" panose="02020600000000000000" pitchFamily="18" charset="-127"/>
                </a:rPr>
                <a:t> 빌딩 등장</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도로의 지하화 등으로 도시의 녹지 확대</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35" name="그룹 34"/>
          <p:cNvGrpSpPr/>
          <p:nvPr/>
        </p:nvGrpSpPr>
        <p:grpSpPr>
          <a:xfrm>
            <a:off x="7012380" y="3406444"/>
            <a:ext cx="2332305" cy="432048"/>
            <a:chOff x="7012380" y="2429956"/>
            <a:chExt cx="2332305" cy="422980"/>
          </a:xfrm>
        </p:grpSpPr>
        <p:sp>
          <p:nvSpPr>
            <p:cNvPr id="36" name="직사각형 35">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교통</a:t>
              </a:r>
            </a:p>
          </p:txBody>
        </p:sp>
        <p:sp>
          <p:nvSpPr>
            <p:cNvPr id="37" name="직사각형 36">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무인자동차로 자동차 소유 불필요</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필요시 빌려 쓰는 주문형 교통으로 변화</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38" name="그룹 37"/>
          <p:cNvGrpSpPr/>
          <p:nvPr/>
        </p:nvGrpSpPr>
        <p:grpSpPr>
          <a:xfrm>
            <a:off x="7012380" y="3894688"/>
            <a:ext cx="2332305" cy="642036"/>
            <a:chOff x="7012380" y="2429956"/>
            <a:chExt cx="2332305" cy="422980"/>
          </a:xfrm>
        </p:grpSpPr>
        <p:sp>
          <p:nvSpPr>
            <p:cNvPr id="39" name="직사각형 38">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3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기술</a:t>
              </a:r>
            </a:p>
          </p:txBody>
        </p:sp>
        <p:sp>
          <p:nvSpPr>
            <p:cNvPr id="40" name="직사각형 39">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solidFill>
              <a:srgbClr val="E6E6E6"/>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chemeClr val="tx1"/>
                  </a:solidFill>
                  <a:latin typeface="Arial Narrow" panose="020B0606020202030204" pitchFamily="34" charset="0"/>
                  <a:ea typeface="a고딕14" panose="02020600000000000000" pitchFamily="18" charset="-127"/>
                </a:rPr>
                <a:t>4</a:t>
              </a:r>
              <a:r>
                <a:rPr lang="ko-KR" altLang="en-US" sz="1050" spc="-50" dirty="0">
                  <a:solidFill>
                    <a:schemeClr val="tx1"/>
                  </a:solidFill>
                  <a:latin typeface="Arial Narrow" panose="020B0606020202030204" pitchFamily="34" charset="0"/>
                  <a:ea typeface="a고딕14" panose="02020600000000000000" pitchFamily="18" charset="-127"/>
                </a:rPr>
                <a:t>차 산업혁명</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err="1">
                  <a:solidFill>
                    <a:schemeClr val="tx1"/>
                  </a:solidFill>
                  <a:latin typeface="Arial Narrow" panose="020B0606020202030204" pitchFamily="34" charset="0"/>
                  <a:ea typeface="a고딕14" panose="02020600000000000000" pitchFamily="18" charset="-127"/>
                </a:rPr>
                <a:t>소셜미디어</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err="1">
                  <a:solidFill>
                    <a:schemeClr val="tx1"/>
                  </a:solidFill>
                  <a:latin typeface="Arial Narrow" panose="020B0606020202030204" pitchFamily="34" charset="0"/>
                  <a:ea typeface="a고딕14" panose="02020600000000000000" pitchFamily="18" charset="-127"/>
                </a:rPr>
                <a:t>사물인터넷</a:t>
              </a:r>
              <a:r>
                <a:rPr lang="en-US" altLang="ko-KR" sz="1050" spc="-50" dirty="0">
                  <a:solidFill>
                    <a:schemeClr val="tx1"/>
                  </a:solidFill>
                  <a:latin typeface="Arial Narrow" panose="020B0606020202030204" pitchFamily="34" charset="0"/>
                  <a:ea typeface="a고딕14" panose="02020600000000000000" pitchFamily="18" charset="-127"/>
                </a:rPr>
                <a:t>(</a:t>
              </a:r>
              <a:r>
                <a:rPr lang="en-US" altLang="ko-KR" sz="1050" spc="-50" dirty="0" err="1">
                  <a:solidFill>
                    <a:schemeClr val="tx1"/>
                  </a:solidFill>
                  <a:latin typeface="Arial Narrow" panose="020B0606020202030204" pitchFamily="34" charset="0"/>
                  <a:ea typeface="a고딕14" panose="02020600000000000000" pitchFamily="18" charset="-127"/>
                </a:rPr>
                <a:t>IoT</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인공지능 등의 발전으로 산업구조 전면 재편</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42" name="그룹 41"/>
          <p:cNvGrpSpPr/>
          <p:nvPr/>
        </p:nvGrpSpPr>
        <p:grpSpPr>
          <a:xfrm>
            <a:off x="7012380" y="4592920"/>
            <a:ext cx="2332305" cy="432048"/>
            <a:chOff x="7012380" y="2429956"/>
            <a:chExt cx="2332305" cy="422980"/>
          </a:xfrm>
        </p:grpSpPr>
        <p:sp>
          <p:nvSpPr>
            <p:cNvPr id="43" name="직사각형 42">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정치</a:t>
              </a:r>
            </a:p>
          </p:txBody>
        </p:sp>
        <p:sp>
          <p:nvSpPr>
            <p:cNvPr id="44" name="직사각형 43">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정부의 행정 서비스 대부분 민영화</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참여 민주주의로 복지분야 이외정부역할 축소</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45" name="그룹 44"/>
          <p:cNvGrpSpPr/>
          <p:nvPr/>
        </p:nvGrpSpPr>
        <p:grpSpPr>
          <a:xfrm>
            <a:off x="7012380" y="5081164"/>
            <a:ext cx="2332305" cy="432048"/>
            <a:chOff x="7012380" y="2429956"/>
            <a:chExt cx="2332305" cy="422980"/>
          </a:xfrm>
        </p:grpSpPr>
        <p:sp>
          <p:nvSpPr>
            <p:cNvPr id="46" name="직사각형 45">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ko-KR" altLang="en-US" sz="1050" dirty="0">
                  <a:solidFill>
                    <a:schemeClr val="bg1"/>
                  </a:solidFill>
                  <a:latin typeface="a고딕14" panose="02020600000000000000" pitchFamily="18" charset="-127"/>
                  <a:ea typeface="a고딕14" panose="02020600000000000000" pitchFamily="18" charset="-127"/>
                </a:rPr>
                <a:t>안보</a:t>
              </a:r>
              <a:endPar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47" name="직사각형 46">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로봇에 의해 군대의 규모 축소</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희소 자원을 둘러싼 국지적 핵전쟁 위험 증가</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48" name="그룹 47"/>
          <p:cNvGrpSpPr/>
          <p:nvPr/>
        </p:nvGrpSpPr>
        <p:grpSpPr>
          <a:xfrm>
            <a:off x="7012380" y="5569408"/>
            <a:ext cx="2332305" cy="432048"/>
            <a:chOff x="7012380" y="2429956"/>
            <a:chExt cx="2332305" cy="422980"/>
          </a:xfrm>
        </p:grpSpPr>
        <p:sp>
          <p:nvSpPr>
            <p:cNvPr id="49" name="직사각형 48">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latinLnBrk="0">
                <a:buNone/>
                <a:defRPr/>
              </a:pPr>
              <a:r>
                <a:rPr lang="ko-KR" altLang="en-US" sz="1050" dirty="0">
                  <a:solidFill>
                    <a:schemeClr val="bg1"/>
                  </a:solidFill>
                  <a:latin typeface="a고딕14" panose="02020600000000000000" pitchFamily="18" charset="-127"/>
                  <a:ea typeface="a고딕14" panose="02020600000000000000" pitchFamily="18" charset="-127"/>
                </a:rPr>
                <a:t>에너지</a:t>
              </a:r>
              <a:endPar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50" name="직사각형 49">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태양열이 최대 에너지원</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에너지자립형 빌딩 등장</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에너지 시장 붕괴</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51" name="그룹 50"/>
          <p:cNvGrpSpPr/>
          <p:nvPr/>
        </p:nvGrpSpPr>
        <p:grpSpPr>
          <a:xfrm>
            <a:off x="7012380" y="6057652"/>
            <a:ext cx="2332305" cy="432048"/>
            <a:chOff x="7012380" y="2429956"/>
            <a:chExt cx="2332305" cy="422980"/>
          </a:xfrm>
        </p:grpSpPr>
        <p:sp>
          <p:nvSpPr>
            <p:cNvPr id="52" name="직사각형 51">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latinLnBrk="0">
                <a:buNone/>
                <a:defRPr/>
              </a:pPr>
              <a:r>
                <a:rPr lang="ko-KR" altLang="en-US" sz="1050" dirty="0">
                  <a:solidFill>
                    <a:schemeClr val="bg1"/>
                  </a:solidFill>
                  <a:latin typeface="a고딕14" panose="02020600000000000000" pitchFamily="18" charset="-127"/>
                  <a:ea typeface="a고딕14" panose="02020600000000000000" pitchFamily="18" charset="-127"/>
                </a:rPr>
                <a:t>식량</a:t>
              </a:r>
              <a:endPar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53" name="직사각형 52">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늘어난 인구의 육류소비 증가로 곡물 부족</a:t>
              </a:r>
              <a:r>
                <a:rPr lang="en-US" altLang="ko-KR" sz="900" spc="-50" dirty="0">
                  <a:solidFill>
                    <a:schemeClr val="tx1"/>
                  </a:solidFill>
                  <a:latin typeface="Arial Narrow" panose="020B0606020202030204" pitchFamily="34" charset="0"/>
                  <a:ea typeface="a고딕14" panose="02020600000000000000" pitchFamily="18" charset="-127"/>
                </a:rPr>
                <a:t>,  </a:t>
              </a:r>
            </a:p>
            <a:p>
              <a:pPr marL="92075" lvl="0" indent="-92075" algn="l" latinLnBrk="0">
                <a:buFont typeface="Arial" panose="020B0604020202020204" pitchFamily="34" charset="0"/>
                <a:buChar char="•"/>
                <a:defRPr/>
              </a:pPr>
              <a:r>
                <a:rPr lang="ko-KR" altLang="en-US" sz="900" spc="-50" dirty="0" err="1">
                  <a:solidFill>
                    <a:schemeClr val="tx1"/>
                  </a:solidFill>
                  <a:latin typeface="Arial Narrow" panose="020B0606020202030204" pitchFamily="34" charset="0"/>
                  <a:ea typeface="a고딕14" panose="02020600000000000000" pitchFamily="18" charset="-127"/>
                </a:rPr>
                <a:t>인공배양육</a:t>
              </a:r>
              <a:r>
                <a:rPr lang="en-US" altLang="ko-KR" sz="900" spc="-50" dirty="0">
                  <a:solidFill>
                    <a:schemeClr val="tx1"/>
                  </a:solidFill>
                  <a:latin typeface="Arial Narrow" panose="020B0606020202030204" pitchFamily="34" charset="0"/>
                  <a:ea typeface="a고딕14" panose="02020600000000000000" pitchFamily="18" charset="-127"/>
                </a:rPr>
                <a:t>·</a:t>
              </a:r>
              <a:r>
                <a:rPr lang="ko-KR" altLang="en-US" sz="900" spc="-50" dirty="0" err="1">
                  <a:solidFill>
                    <a:schemeClr val="tx1"/>
                  </a:solidFill>
                  <a:latin typeface="Arial Narrow" panose="020B0606020202030204" pitchFamily="34" charset="0"/>
                  <a:ea typeface="a고딕14" panose="02020600000000000000" pitchFamily="18" charset="-127"/>
                </a:rPr>
                <a:t>식용곤충</a:t>
              </a:r>
              <a:r>
                <a:rPr lang="en-US" altLang="ko-KR" sz="900" spc="-50" dirty="0">
                  <a:solidFill>
                    <a:schemeClr val="tx1"/>
                  </a:solidFill>
                  <a:latin typeface="Arial Narrow" panose="020B0606020202030204" pitchFamily="34" charset="0"/>
                  <a:ea typeface="a고딕14" panose="02020600000000000000" pitchFamily="18" charset="-127"/>
                </a:rPr>
                <a:t>·GMO</a:t>
              </a:r>
              <a:r>
                <a:rPr lang="ko-KR" altLang="en-US" sz="900" spc="-50" dirty="0">
                  <a:solidFill>
                    <a:schemeClr val="tx1"/>
                  </a:solidFill>
                  <a:latin typeface="Arial Narrow" panose="020B0606020202030204" pitchFamily="34" charset="0"/>
                  <a:ea typeface="a고딕14" panose="02020600000000000000" pitchFamily="18" charset="-127"/>
                </a:rPr>
                <a:t>로 식량문제 해결</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sp>
        <p:nvSpPr>
          <p:cNvPr id="6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a:latin typeface="a고딕14" panose="02020600000000000000" pitchFamily="18" charset="-127"/>
              </a:rPr>
              <a:t>국내외 주요 기관의 </a:t>
            </a:r>
            <a:r>
              <a:rPr lang="ko-KR" altLang="en-US" dirty="0"/>
              <a:t>글로벌 </a:t>
            </a:r>
            <a:r>
              <a:rPr lang="ko-KR" altLang="en-US" dirty="0" err="1"/>
              <a:t>메가트렌드</a:t>
            </a:r>
            <a:r>
              <a:rPr lang="ko-KR" altLang="en-US" dirty="0"/>
              <a:t> 이슈는 무엇인가</a:t>
            </a:r>
            <a:r>
              <a:rPr lang="en-US" altLang="ko-KR" dirty="0"/>
              <a:t>?</a:t>
            </a:r>
          </a:p>
        </p:txBody>
      </p:sp>
      <p:sp>
        <p:nvSpPr>
          <p:cNvPr id="66" name="직사각형 6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7" name="직사각형 66"/>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spTree>
    <p:extLst>
      <p:ext uri="{BB962C8B-B14F-4D97-AF65-F5344CB8AC3E}">
        <p14:creationId xmlns:p14="http://schemas.microsoft.com/office/powerpoint/2010/main" val="1292799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4C130-6805-14E3-DC3A-F8C7B208968D}"/>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02154FA0-7B77-6C8E-48E4-9D17F705C929}"/>
              </a:ext>
            </a:extLst>
          </p:cNvPr>
          <p:cNvSpPr>
            <a:spLocks noGrp="1"/>
          </p:cNvSpPr>
          <p:nvPr>
            <p:ph type="body" sz="quarter" idx="12"/>
          </p:nvPr>
        </p:nvSpPr>
        <p:spPr/>
        <p:txBody>
          <a:bodyPr/>
          <a:lstStyle/>
          <a:p>
            <a:pPr latinLnBrk="0"/>
            <a:r>
              <a:rPr lang="ko-KR" altLang="en-US" spc="-140" dirty="0"/>
              <a:t>글로벌 기관들이 선정한 유망기술들은 </a:t>
            </a:r>
            <a:r>
              <a:rPr lang="ko-KR" altLang="en-US" spc="-140" dirty="0">
                <a:solidFill>
                  <a:srgbClr val="0070C0"/>
                </a:solidFill>
              </a:rPr>
              <a:t>우리나라의 </a:t>
            </a:r>
            <a:r>
              <a:rPr lang="en-US" altLang="ko-KR" spc="-140" dirty="0">
                <a:solidFill>
                  <a:srgbClr val="0070C0"/>
                </a:solidFill>
              </a:rPr>
              <a:t>12</a:t>
            </a:r>
            <a:r>
              <a:rPr lang="ko-KR" altLang="en-US" spc="-140" dirty="0">
                <a:solidFill>
                  <a:srgbClr val="0070C0"/>
                </a:solidFill>
              </a:rPr>
              <a:t>대 국가전략기술과 밀접하게 연관</a:t>
            </a:r>
            <a:r>
              <a:rPr lang="ko-KR" altLang="en-US" spc="-140" dirty="0"/>
              <a:t>되어 있으며</a:t>
            </a:r>
            <a:r>
              <a:rPr lang="en-US" altLang="ko-KR" spc="-140" dirty="0"/>
              <a:t>, </a:t>
            </a:r>
            <a:r>
              <a:rPr lang="ko-KR" altLang="en-US" spc="-140" dirty="0"/>
              <a:t>경제</a:t>
            </a:r>
            <a:r>
              <a:rPr lang="en-US" altLang="ko-KR" spc="-140" dirty="0"/>
              <a:t>·</a:t>
            </a:r>
            <a:r>
              <a:rPr lang="ko-KR" altLang="en-US" spc="-140" dirty="0"/>
              <a:t>사회</a:t>
            </a:r>
            <a:r>
              <a:rPr lang="en-US" altLang="ko-KR" spc="-140" dirty="0"/>
              <a:t>,</a:t>
            </a:r>
            <a:r>
              <a:rPr lang="ko-KR" altLang="en-US" spc="-140" dirty="0"/>
              <a:t> 일하는 방식 전반에도 큰 영향을 미칠 것으로 전망되기에 해당 분야의 </a:t>
            </a:r>
            <a:r>
              <a:rPr lang="ko-KR" altLang="en-US" spc="-140" dirty="0">
                <a:solidFill>
                  <a:srgbClr val="0070C0"/>
                </a:solidFill>
              </a:rPr>
              <a:t>지속적인 전문인력 양성이 필요</a:t>
            </a:r>
            <a:r>
              <a:rPr lang="ko-KR" altLang="en-US" spc="-140" dirty="0"/>
              <a:t>함</a:t>
            </a:r>
            <a:endParaRPr lang="en-US" altLang="ko-KR" spc="-140" dirty="0"/>
          </a:p>
        </p:txBody>
      </p:sp>
      <p:sp>
        <p:nvSpPr>
          <p:cNvPr id="3" name="텍스트 개체 틀 2">
            <a:extLst>
              <a:ext uri="{FF2B5EF4-FFF2-40B4-BE49-F238E27FC236}">
                <a16:creationId xmlns:a16="http://schemas.microsoft.com/office/drawing/2014/main" id="{F630FD99-F5E0-2B63-7707-8EC226637BC0}"/>
              </a:ext>
            </a:extLst>
          </p:cNvPr>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grpSp>
        <p:nvGrpSpPr>
          <p:cNvPr id="8" name="그룹 7">
            <a:extLst>
              <a:ext uri="{FF2B5EF4-FFF2-40B4-BE49-F238E27FC236}">
                <a16:creationId xmlns:a16="http://schemas.microsoft.com/office/drawing/2014/main" id="{2888AC6F-455B-3252-93F7-7ED38B61D6C7}"/>
              </a:ext>
            </a:extLst>
          </p:cNvPr>
          <p:cNvGrpSpPr/>
          <p:nvPr/>
        </p:nvGrpSpPr>
        <p:grpSpPr>
          <a:xfrm>
            <a:off x="596515" y="1681027"/>
            <a:ext cx="8749097" cy="266602"/>
            <a:chOff x="802640" y="2236632"/>
            <a:chExt cx="4130805" cy="266552"/>
          </a:xfrm>
        </p:grpSpPr>
        <p:sp>
          <p:nvSpPr>
            <p:cNvPr id="9" name="ListLeanHorizontalTextTopic0">
              <a:extLst>
                <a:ext uri="{FF2B5EF4-FFF2-40B4-BE49-F238E27FC236}">
                  <a16:creationId xmlns:a16="http://schemas.microsoft.com/office/drawing/2014/main" id="{F915920B-6184-D74D-93A1-06A63D727B4C}"/>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글로벌 주요기관 전망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2025</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년 유망기술 트렌드 및 시사점</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0" name="Horizontal Line">
              <a:extLst>
                <a:ext uri="{FF2B5EF4-FFF2-40B4-BE49-F238E27FC236}">
                  <a16:creationId xmlns:a16="http://schemas.microsoft.com/office/drawing/2014/main" id="{5B95D5B4-75ED-387A-4D73-BF42BEBB1B85}"/>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65" name="텍스트 개체 틀 87">
            <a:extLst>
              <a:ext uri="{FF2B5EF4-FFF2-40B4-BE49-F238E27FC236}">
                <a16:creationId xmlns:a16="http://schemas.microsoft.com/office/drawing/2014/main" id="{FC84B8CF-2AE5-CD92-EAF9-D905FD3FC188}"/>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a:latin typeface="a고딕14" panose="02020600000000000000" pitchFamily="18" charset="-127"/>
              </a:rPr>
              <a:t>국내외 주요 기관의 </a:t>
            </a:r>
            <a:r>
              <a:rPr lang="ko-KR" altLang="en-US" dirty="0"/>
              <a:t>글로벌 </a:t>
            </a:r>
            <a:r>
              <a:rPr lang="ko-KR" altLang="en-US" dirty="0" err="1"/>
              <a:t>메가트렌드</a:t>
            </a:r>
            <a:r>
              <a:rPr lang="ko-KR" altLang="en-US" dirty="0"/>
              <a:t> 이슈는 무엇인가</a:t>
            </a:r>
            <a:r>
              <a:rPr lang="en-US" altLang="ko-KR" dirty="0"/>
              <a:t>?</a:t>
            </a:r>
          </a:p>
        </p:txBody>
      </p:sp>
      <p:sp>
        <p:nvSpPr>
          <p:cNvPr id="66" name="직사각형 65">
            <a:extLst>
              <a:ext uri="{FF2B5EF4-FFF2-40B4-BE49-F238E27FC236}">
                <a16:creationId xmlns:a16="http://schemas.microsoft.com/office/drawing/2014/main" id="{0FB74380-4898-9AE4-0F6D-0C2F2619EC2A}"/>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7" name="직사각형 66">
            <a:extLst>
              <a:ext uri="{FF2B5EF4-FFF2-40B4-BE49-F238E27FC236}">
                <a16:creationId xmlns:a16="http://schemas.microsoft.com/office/drawing/2014/main" id="{E5F3445F-5E20-32E7-CAAE-29187D8548BA}"/>
              </a:ext>
            </a:extLst>
          </p:cNvPr>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sp>
        <p:nvSpPr>
          <p:cNvPr id="6" name="직사각형 5">
            <a:extLst>
              <a:ext uri="{FF2B5EF4-FFF2-40B4-BE49-F238E27FC236}">
                <a16:creationId xmlns:a16="http://schemas.microsoft.com/office/drawing/2014/main" id="{401436C2-D3E0-4A4A-BEE9-775241A27CCC}"/>
              </a:ext>
            </a:extLst>
          </p:cNvPr>
          <p:cNvSpPr/>
          <p:nvPr/>
        </p:nvSpPr>
        <p:spPr>
          <a:xfrm>
            <a:off x="596514" y="2482113"/>
            <a:ext cx="1133797" cy="890922"/>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en-US" altLang="ko-KR" dirty="0">
                <a:solidFill>
                  <a:schemeClr val="tx1"/>
                </a:solidFill>
                <a:latin typeface="Arial Narrow" panose="020B0606020202030204" pitchFamily="34" charset="0"/>
                <a:ea typeface="a고딕14" panose="02020600000000000000" pitchFamily="18" charset="-127"/>
              </a:rPr>
              <a:t>MIT </a:t>
            </a:r>
            <a:r>
              <a:rPr lang="ko-KR" altLang="en-US" dirty="0">
                <a:solidFill>
                  <a:schemeClr val="tx1"/>
                </a:solidFill>
                <a:latin typeface="Arial Narrow" panose="020B0606020202030204" pitchFamily="34" charset="0"/>
                <a:ea typeface="a고딕14" panose="02020600000000000000" pitchFamily="18" charset="-127"/>
              </a:rPr>
              <a:t>테크놀로지</a:t>
            </a:r>
          </a:p>
        </p:txBody>
      </p:sp>
      <p:sp>
        <p:nvSpPr>
          <p:cNvPr id="7" name="직사각형 6">
            <a:extLst>
              <a:ext uri="{FF2B5EF4-FFF2-40B4-BE49-F238E27FC236}">
                <a16:creationId xmlns:a16="http://schemas.microsoft.com/office/drawing/2014/main" id="{9EF0013B-1FF1-10C6-BC01-8653A7201CA7}"/>
              </a:ext>
            </a:extLst>
          </p:cNvPr>
          <p:cNvSpPr/>
          <p:nvPr/>
        </p:nvSpPr>
        <p:spPr>
          <a:xfrm>
            <a:off x="1886697" y="2482113"/>
            <a:ext cx="3245690" cy="890922"/>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82563" indent="-95250" algn="l" latinLnBrk="0">
              <a:buFont typeface="Arial" panose="020B0604020202020204" pitchFamily="34" charset="0"/>
              <a:buChar char="•"/>
            </a:pPr>
            <a:r>
              <a:rPr lang="ko-KR" altLang="en-US" dirty="0">
                <a:solidFill>
                  <a:schemeClr val="tx1"/>
                </a:solidFill>
                <a:latin typeface="+mj-ea"/>
                <a:ea typeface="+mj-ea"/>
              </a:rPr>
              <a:t>매년 전 세계에 실질적인 영향을 줄 것으로 기대되는 유망한 미래기술을 선정</a:t>
            </a:r>
            <a:endParaRPr lang="en-US" altLang="ko-KR" dirty="0">
              <a:solidFill>
                <a:schemeClr val="tx1"/>
              </a:solidFill>
              <a:latin typeface="+mj-ea"/>
              <a:ea typeface="+mj-ea"/>
            </a:endParaRPr>
          </a:p>
          <a:p>
            <a:pPr marL="182563" indent="-87313" algn="l" latinLnBrk="0">
              <a:buFont typeface="Arial" panose="020B0604020202020204" pitchFamily="34" charset="0"/>
              <a:buChar char="•"/>
            </a:pPr>
            <a:r>
              <a:rPr lang="en-US" altLang="ko-KR" dirty="0">
                <a:solidFill>
                  <a:schemeClr val="tx1"/>
                </a:solidFill>
                <a:latin typeface="+mj-ea"/>
                <a:ea typeface="+mj-ea"/>
              </a:rPr>
              <a:t>’25</a:t>
            </a:r>
            <a:r>
              <a:rPr lang="ko-KR" altLang="en-US" dirty="0">
                <a:solidFill>
                  <a:schemeClr val="tx1"/>
                </a:solidFill>
                <a:latin typeface="+mj-ea"/>
                <a:ea typeface="+mj-ea"/>
              </a:rPr>
              <a:t>년에는 </a:t>
            </a:r>
            <a:r>
              <a:rPr lang="ko-KR" altLang="en-US" dirty="0">
                <a:solidFill>
                  <a:srgbClr val="0070C0"/>
                </a:solidFill>
                <a:latin typeface="+mj-ea"/>
                <a:ea typeface="+mj-ea"/>
              </a:rPr>
              <a:t>소형언어모델</a:t>
            </a:r>
            <a:r>
              <a:rPr lang="en-US" altLang="ko-KR" dirty="0">
                <a:solidFill>
                  <a:srgbClr val="0070C0"/>
                </a:solidFill>
                <a:latin typeface="+mj-ea"/>
                <a:ea typeface="+mj-ea"/>
              </a:rPr>
              <a:t>, </a:t>
            </a:r>
            <a:r>
              <a:rPr lang="ko-KR" altLang="en-US" dirty="0">
                <a:solidFill>
                  <a:srgbClr val="0070C0"/>
                </a:solidFill>
                <a:latin typeface="+mj-ea"/>
                <a:ea typeface="+mj-ea"/>
              </a:rPr>
              <a:t>고속학습 로봇</a:t>
            </a:r>
            <a:r>
              <a:rPr lang="en-US" altLang="ko-KR" dirty="0">
                <a:solidFill>
                  <a:srgbClr val="0070C0"/>
                </a:solidFill>
                <a:latin typeface="+mj-ea"/>
                <a:ea typeface="+mj-ea"/>
              </a:rPr>
              <a:t>, </a:t>
            </a:r>
            <a:r>
              <a:rPr lang="ko-KR" altLang="en-US" dirty="0">
                <a:solidFill>
                  <a:srgbClr val="0070C0"/>
                </a:solidFill>
                <a:latin typeface="+mj-ea"/>
                <a:ea typeface="+mj-ea"/>
              </a:rPr>
              <a:t>생성형 </a:t>
            </a:r>
            <a:r>
              <a:rPr lang="en-US" altLang="ko-KR" dirty="0">
                <a:solidFill>
                  <a:srgbClr val="0070C0"/>
                </a:solidFill>
                <a:latin typeface="+mj-ea"/>
                <a:ea typeface="+mj-ea"/>
              </a:rPr>
              <a:t>Ai</a:t>
            </a:r>
            <a:r>
              <a:rPr lang="ko-KR" altLang="en-US" dirty="0">
                <a:solidFill>
                  <a:srgbClr val="0070C0"/>
                </a:solidFill>
                <a:latin typeface="+mj-ea"/>
                <a:ea typeface="+mj-ea"/>
              </a:rPr>
              <a:t>검색</a:t>
            </a:r>
            <a:r>
              <a:rPr lang="ko-KR" altLang="en-US" dirty="0">
                <a:solidFill>
                  <a:schemeClr val="tx1"/>
                </a:solidFill>
                <a:latin typeface="+mj-ea"/>
                <a:ea typeface="+mj-ea"/>
              </a:rPr>
              <a:t> 등 </a:t>
            </a:r>
            <a:r>
              <a:rPr lang="en-US" altLang="ko-KR" dirty="0">
                <a:solidFill>
                  <a:schemeClr val="tx1"/>
                </a:solidFill>
                <a:latin typeface="+mj-ea"/>
                <a:ea typeface="+mj-ea"/>
              </a:rPr>
              <a:t>10</a:t>
            </a:r>
            <a:r>
              <a:rPr lang="ko-KR" altLang="en-US" dirty="0">
                <a:solidFill>
                  <a:schemeClr val="tx1"/>
                </a:solidFill>
                <a:latin typeface="+mj-ea"/>
                <a:ea typeface="+mj-ea"/>
              </a:rPr>
              <a:t>대 </a:t>
            </a:r>
            <a:r>
              <a:rPr lang="ko-KR" altLang="en-US" dirty="0" err="1">
                <a:solidFill>
                  <a:schemeClr val="tx1"/>
                </a:solidFill>
                <a:latin typeface="+mj-ea"/>
                <a:ea typeface="+mj-ea"/>
              </a:rPr>
              <a:t>미래유망기술</a:t>
            </a:r>
            <a:r>
              <a:rPr lang="ko-KR" altLang="en-US" dirty="0">
                <a:solidFill>
                  <a:schemeClr val="tx1"/>
                </a:solidFill>
                <a:latin typeface="+mj-ea"/>
                <a:ea typeface="+mj-ea"/>
              </a:rPr>
              <a:t> 제시</a:t>
            </a:r>
          </a:p>
        </p:txBody>
      </p:sp>
      <p:sp>
        <p:nvSpPr>
          <p:cNvPr id="11" name="직사각형 10">
            <a:extLst>
              <a:ext uri="{FF2B5EF4-FFF2-40B4-BE49-F238E27FC236}">
                <a16:creationId xmlns:a16="http://schemas.microsoft.com/office/drawing/2014/main" id="{220DCF1B-FD47-BFBB-39CD-E3C66AD5CD7F}"/>
              </a:ext>
            </a:extLst>
          </p:cNvPr>
          <p:cNvSpPr/>
          <p:nvPr/>
        </p:nvSpPr>
        <p:spPr>
          <a:xfrm>
            <a:off x="596514" y="3431380"/>
            <a:ext cx="1133797" cy="813840"/>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err="1">
                <a:solidFill>
                  <a:schemeClr val="tx1"/>
                </a:solidFill>
                <a:latin typeface="Arial Narrow" panose="020B0606020202030204" pitchFamily="34" charset="0"/>
                <a:ea typeface="a고딕14" panose="02020600000000000000" pitchFamily="18" charset="-127"/>
              </a:rPr>
              <a:t>딜로이트</a:t>
            </a:r>
            <a:endParaRPr lang="ko-KR" altLang="en-US" dirty="0">
              <a:solidFill>
                <a:schemeClr val="tx1"/>
              </a:solidFill>
              <a:latin typeface="Arial Narrow" panose="020B0606020202030204" pitchFamily="34" charset="0"/>
              <a:ea typeface="a고딕14" panose="02020600000000000000" pitchFamily="18" charset="-127"/>
            </a:endParaRPr>
          </a:p>
        </p:txBody>
      </p:sp>
      <p:sp>
        <p:nvSpPr>
          <p:cNvPr id="13" name="직사각형 12">
            <a:extLst>
              <a:ext uri="{FF2B5EF4-FFF2-40B4-BE49-F238E27FC236}">
                <a16:creationId xmlns:a16="http://schemas.microsoft.com/office/drawing/2014/main" id="{A446327E-D1C1-F1C1-7573-0C530E3E91BC}"/>
              </a:ext>
            </a:extLst>
          </p:cNvPr>
          <p:cNvSpPr/>
          <p:nvPr/>
        </p:nvSpPr>
        <p:spPr>
          <a:xfrm>
            <a:off x="1886697" y="3431380"/>
            <a:ext cx="3245690" cy="81384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82563" indent="-87313" algn="l" latinLnBrk="0">
              <a:buFont typeface="Arial" panose="020B0604020202020204" pitchFamily="34" charset="0"/>
              <a:buChar char="•"/>
            </a:pPr>
            <a:r>
              <a:rPr lang="ko-KR" altLang="en-US" dirty="0">
                <a:solidFill>
                  <a:schemeClr val="tx1"/>
                </a:solidFill>
                <a:latin typeface="+mj-ea"/>
                <a:ea typeface="+mj-ea"/>
              </a:rPr>
              <a:t>매년 비즈니스 및 기술 리더들에게 비즈니스를 혁신할 수 있는 기술 트렌드를 제시</a:t>
            </a:r>
            <a:endParaRPr lang="en-US" altLang="ko-KR" dirty="0">
              <a:solidFill>
                <a:schemeClr val="tx1"/>
              </a:solidFill>
              <a:latin typeface="+mj-ea"/>
              <a:ea typeface="+mj-ea"/>
            </a:endParaRPr>
          </a:p>
          <a:p>
            <a:pPr marL="182563" indent="-87313" algn="l" latinLnBrk="0">
              <a:buFont typeface="Arial" panose="020B0604020202020204" pitchFamily="34" charset="0"/>
              <a:buChar char="•"/>
            </a:pPr>
            <a:r>
              <a:rPr lang="en-US" altLang="ko-KR" dirty="0">
                <a:solidFill>
                  <a:schemeClr val="tx1"/>
                </a:solidFill>
                <a:latin typeface="+mj-ea"/>
                <a:ea typeface="+mj-ea"/>
              </a:rPr>
              <a:t>’25</a:t>
            </a:r>
            <a:r>
              <a:rPr lang="ko-KR" altLang="en-US" dirty="0">
                <a:solidFill>
                  <a:schemeClr val="tx1"/>
                </a:solidFill>
                <a:latin typeface="+mj-ea"/>
                <a:ea typeface="+mj-ea"/>
              </a:rPr>
              <a:t>년 트렌드로 </a:t>
            </a:r>
            <a:r>
              <a:rPr lang="en-US" altLang="ko-KR" dirty="0">
                <a:solidFill>
                  <a:srgbClr val="0070C0"/>
                </a:solidFill>
                <a:latin typeface="+mj-ea"/>
                <a:ea typeface="+mj-ea"/>
              </a:rPr>
              <a:t>AI</a:t>
            </a:r>
            <a:r>
              <a:rPr lang="ko-KR" altLang="en-US" dirty="0">
                <a:solidFill>
                  <a:srgbClr val="0070C0"/>
                </a:solidFill>
                <a:latin typeface="+mj-ea"/>
                <a:ea typeface="+mj-ea"/>
              </a:rPr>
              <a:t>와 공간컴퓨팅 결합</a:t>
            </a:r>
            <a:r>
              <a:rPr lang="en-US" altLang="ko-KR" dirty="0">
                <a:solidFill>
                  <a:srgbClr val="0070C0"/>
                </a:solidFill>
                <a:latin typeface="+mj-ea"/>
                <a:ea typeface="+mj-ea"/>
              </a:rPr>
              <a:t>, </a:t>
            </a:r>
            <a:r>
              <a:rPr lang="ko-KR" altLang="en-US" dirty="0">
                <a:solidFill>
                  <a:srgbClr val="0070C0"/>
                </a:solidFill>
                <a:latin typeface="+mj-ea"/>
                <a:ea typeface="+mj-ea"/>
              </a:rPr>
              <a:t>특화된 소형언어모델</a:t>
            </a:r>
            <a:r>
              <a:rPr lang="ko-KR" altLang="en-US" dirty="0">
                <a:solidFill>
                  <a:schemeClr val="tx1"/>
                </a:solidFill>
                <a:latin typeface="+mj-ea"/>
                <a:ea typeface="+mj-ea"/>
              </a:rPr>
              <a:t> 등 발표</a:t>
            </a:r>
          </a:p>
        </p:txBody>
      </p:sp>
      <p:sp>
        <p:nvSpPr>
          <p:cNvPr id="14" name="직사각형 13">
            <a:extLst>
              <a:ext uri="{FF2B5EF4-FFF2-40B4-BE49-F238E27FC236}">
                <a16:creationId xmlns:a16="http://schemas.microsoft.com/office/drawing/2014/main" id="{B9D798D3-A280-BD4F-57AC-7D3B32ECC378}"/>
              </a:ext>
            </a:extLst>
          </p:cNvPr>
          <p:cNvSpPr/>
          <p:nvPr/>
        </p:nvSpPr>
        <p:spPr>
          <a:xfrm>
            <a:off x="596514" y="4303565"/>
            <a:ext cx="1133797" cy="953777"/>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err="1">
                <a:solidFill>
                  <a:schemeClr val="tx1"/>
                </a:solidFill>
                <a:latin typeface="Arial Narrow" panose="020B0606020202030204" pitchFamily="34" charset="0"/>
                <a:ea typeface="a고딕14" panose="02020600000000000000" pitchFamily="18" charset="-127"/>
              </a:rPr>
              <a:t>가트너</a:t>
            </a:r>
            <a:endParaRPr lang="ko-KR" altLang="en-US" dirty="0">
              <a:solidFill>
                <a:schemeClr val="tx1"/>
              </a:solidFill>
              <a:latin typeface="Arial Narrow" panose="020B0606020202030204" pitchFamily="34" charset="0"/>
              <a:ea typeface="a고딕14" panose="02020600000000000000" pitchFamily="18" charset="-127"/>
            </a:endParaRPr>
          </a:p>
        </p:txBody>
      </p:sp>
      <p:sp>
        <p:nvSpPr>
          <p:cNvPr id="15" name="직사각형 14">
            <a:extLst>
              <a:ext uri="{FF2B5EF4-FFF2-40B4-BE49-F238E27FC236}">
                <a16:creationId xmlns:a16="http://schemas.microsoft.com/office/drawing/2014/main" id="{E0A4A2B4-523E-F4DD-3C43-80AA4DEE9D66}"/>
              </a:ext>
            </a:extLst>
          </p:cNvPr>
          <p:cNvSpPr/>
          <p:nvPr/>
        </p:nvSpPr>
        <p:spPr>
          <a:xfrm>
            <a:off x="1886697" y="4303565"/>
            <a:ext cx="3245690" cy="953777"/>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82563" indent="-87313" algn="l" latinLnBrk="0">
              <a:buFont typeface="Arial" panose="020B0604020202020204" pitchFamily="34" charset="0"/>
              <a:buChar char="•"/>
            </a:pPr>
            <a:r>
              <a:rPr lang="ko-KR" altLang="en-US" dirty="0">
                <a:solidFill>
                  <a:schemeClr val="tx1"/>
                </a:solidFill>
                <a:latin typeface="+mj-ea"/>
                <a:ea typeface="+mj-ea"/>
              </a:rPr>
              <a:t>매년 향후 </a:t>
            </a:r>
            <a:r>
              <a:rPr lang="en-US" altLang="ko-KR" dirty="0">
                <a:solidFill>
                  <a:schemeClr val="tx1"/>
                </a:solidFill>
                <a:latin typeface="+mj-ea"/>
                <a:ea typeface="+mj-ea"/>
              </a:rPr>
              <a:t>10</a:t>
            </a:r>
            <a:r>
              <a:rPr lang="ko-KR" altLang="en-US" dirty="0">
                <a:solidFill>
                  <a:schemeClr val="tx1"/>
                </a:solidFill>
                <a:latin typeface="+mj-ea"/>
                <a:ea typeface="+mj-ea"/>
              </a:rPr>
              <a:t>년간 </a:t>
            </a:r>
            <a:r>
              <a:rPr lang="en-US" altLang="ko-KR" dirty="0">
                <a:solidFill>
                  <a:schemeClr val="tx1"/>
                </a:solidFill>
                <a:latin typeface="+mj-ea"/>
                <a:ea typeface="+mj-ea"/>
              </a:rPr>
              <a:t>IT </a:t>
            </a:r>
            <a:r>
              <a:rPr lang="ko-KR" altLang="en-US" dirty="0">
                <a:solidFill>
                  <a:schemeClr val="tx1"/>
                </a:solidFill>
                <a:latin typeface="+mj-ea"/>
                <a:ea typeface="+mj-ea"/>
              </a:rPr>
              <a:t>업계의 주요 기회와 도전과제를 촉발할 수 있는 </a:t>
            </a:r>
            <a:r>
              <a:rPr lang="en-US" altLang="ko-KR" dirty="0">
                <a:solidFill>
                  <a:schemeClr val="tx1"/>
                </a:solidFill>
                <a:latin typeface="+mj-ea"/>
                <a:ea typeface="+mj-ea"/>
              </a:rPr>
              <a:t>10</a:t>
            </a:r>
            <a:r>
              <a:rPr lang="ko-KR" altLang="en-US" dirty="0">
                <a:solidFill>
                  <a:schemeClr val="tx1"/>
                </a:solidFill>
                <a:latin typeface="+mj-ea"/>
                <a:ea typeface="+mj-ea"/>
              </a:rPr>
              <a:t>개 전략기술 트렌드를 제시</a:t>
            </a:r>
            <a:endParaRPr lang="en-US" altLang="ko-KR" dirty="0">
              <a:solidFill>
                <a:schemeClr val="tx1"/>
              </a:solidFill>
              <a:latin typeface="+mj-ea"/>
              <a:ea typeface="+mj-ea"/>
            </a:endParaRPr>
          </a:p>
          <a:p>
            <a:pPr marL="182563" indent="-87313" algn="l" latinLnBrk="0">
              <a:buFont typeface="Arial" panose="020B0604020202020204" pitchFamily="34" charset="0"/>
              <a:buChar char="•"/>
            </a:pPr>
            <a:r>
              <a:rPr lang="en-US" altLang="ko-KR" dirty="0">
                <a:solidFill>
                  <a:schemeClr val="tx1"/>
                </a:solidFill>
                <a:latin typeface="+mj-ea"/>
                <a:ea typeface="+mj-ea"/>
              </a:rPr>
              <a:t>’25</a:t>
            </a:r>
            <a:r>
              <a:rPr lang="ko-KR" altLang="en-US" dirty="0">
                <a:solidFill>
                  <a:schemeClr val="tx1"/>
                </a:solidFill>
                <a:latin typeface="+mj-ea"/>
                <a:ea typeface="+mj-ea"/>
              </a:rPr>
              <a:t>년 </a:t>
            </a:r>
            <a:r>
              <a:rPr lang="ko-KR" altLang="en-US" dirty="0">
                <a:solidFill>
                  <a:srgbClr val="0070C0"/>
                </a:solidFill>
                <a:latin typeface="+mj-ea"/>
                <a:ea typeface="+mj-ea"/>
              </a:rPr>
              <a:t>트렌드로 </a:t>
            </a:r>
            <a:r>
              <a:rPr lang="ko-KR" altLang="en-US" dirty="0" err="1">
                <a:solidFill>
                  <a:srgbClr val="0070C0"/>
                </a:solidFill>
                <a:latin typeface="+mj-ea"/>
                <a:ea typeface="+mj-ea"/>
              </a:rPr>
              <a:t>에이전틱</a:t>
            </a:r>
            <a:r>
              <a:rPr lang="ko-KR" altLang="en-US" dirty="0">
                <a:solidFill>
                  <a:srgbClr val="0070C0"/>
                </a:solidFill>
                <a:latin typeface="+mj-ea"/>
                <a:ea typeface="+mj-ea"/>
              </a:rPr>
              <a:t> </a:t>
            </a:r>
            <a:r>
              <a:rPr lang="en-US" altLang="ko-KR" dirty="0">
                <a:solidFill>
                  <a:srgbClr val="0070C0"/>
                </a:solidFill>
                <a:latin typeface="+mj-ea"/>
                <a:ea typeface="+mj-ea"/>
              </a:rPr>
              <a:t>AI, AI </a:t>
            </a:r>
            <a:r>
              <a:rPr lang="ko-KR" altLang="en-US" dirty="0">
                <a:solidFill>
                  <a:srgbClr val="0070C0"/>
                </a:solidFill>
                <a:latin typeface="+mj-ea"/>
                <a:ea typeface="+mj-ea"/>
              </a:rPr>
              <a:t>거버넌스 플랫폼</a:t>
            </a:r>
            <a:r>
              <a:rPr lang="en-US" altLang="ko-KR" dirty="0">
                <a:solidFill>
                  <a:srgbClr val="0070C0"/>
                </a:solidFill>
                <a:latin typeface="+mj-ea"/>
                <a:ea typeface="+mj-ea"/>
              </a:rPr>
              <a:t>, </a:t>
            </a:r>
            <a:r>
              <a:rPr lang="ko-KR" altLang="en-US" dirty="0" err="1">
                <a:solidFill>
                  <a:srgbClr val="0070C0"/>
                </a:solidFill>
                <a:latin typeface="+mj-ea"/>
                <a:ea typeface="+mj-ea"/>
              </a:rPr>
              <a:t>양자내성암호</a:t>
            </a:r>
            <a:r>
              <a:rPr lang="en-US" altLang="ko-KR" dirty="0">
                <a:solidFill>
                  <a:srgbClr val="0070C0"/>
                </a:solidFill>
                <a:latin typeface="+mj-ea"/>
                <a:ea typeface="+mj-ea"/>
              </a:rPr>
              <a:t>, </a:t>
            </a:r>
            <a:r>
              <a:rPr lang="ko-KR" altLang="en-US" dirty="0">
                <a:solidFill>
                  <a:srgbClr val="0070C0"/>
                </a:solidFill>
                <a:latin typeface="+mj-ea"/>
                <a:ea typeface="+mj-ea"/>
              </a:rPr>
              <a:t>공간 컴퓨팅</a:t>
            </a:r>
            <a:r>
              <a:rPr lang="ko-KR" altLang="en-US" dirty="0">
                <a:solidFill>
                  <a:schemeClr val="tx1"/>
                </a:solidFill>
                <a:latin typeface="+mj-ea"/>
                <a:ea typeface="+mj-ea"/>
              </a:rPr>
              <a:t> 등을 발표</a:t>
            </a:r>
          </a:p>
        </p:txBody>
      </p:sp>
      <p:sp>
        <p:nvSpPr>
          <p:cNvPr id="16" name="직사각형 15">
            <a:extLst>
              <a:ext uri="{FF2B5EF4-FFF2-40B4-BE49-F238E27FC236}">
                <a16:creationId xmlns:a16="http://schemas.microsoft.com/office/drawing/2014/main" id="{B5331C6B-C0C1-222E-2C72-C93CB3F59A74}"/>
              </a:ext>
            </a:extLst>
          </p:cNvPr>
          <p:cNvSpPr/>
          <p:nvPr/>
        </p:nvSpPr>
        <p:spPr>
          <a:xfrm>
            <a:off x="596514" y="5315688"/>
            <a:ext cx="1133797" cy="1174012"/>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tx1"/>
                </a:solidFill>
                <a:latin typeface="Arial Narrow" panose="020B0606020202030204" pitchFamily="34" charset="0"/>
                <a:ea typeface="a고딕14" panose="02020600000000000000" pitchFamily="18" charset="-127"/>
              </a:rPr>
              <a:t>포브스</a:t>
            </a:r>
          </a:p>
        </p:txBody>
      </p:sp>
      <p:sp>
        <p:nvSpPr>
          <p:cNvPr id="17" name="직사각형 16">
            <a:extLst>
              <a:ext uri="{FF2B5EF4-FFF2-40B4-BE49-F238E27FC236}">
                <a16:creationId xmlns:a16="http://schemas.microsoft.com/office/drawing/2014/main" id="{2FB0C9FD-72C2-76EC-4D17-A6948525261A}"/>
              </a:ext>
            </a:extLst>
          </p:cNvPr>
          <p:cNvSpPr/>
          <p:nvPr/>
        </p:nvSpPr>
        <p:spPr>
          <a:xfrm>
            <a:off x="1886697" y="5315688"/>
            <a:ext cx="3245690" cy="1174012"/>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82563" indent="-87313" algn="l" latinLnBrk="0">
              <a:buFont typeface="Arial" panose="020B0604020202020204" pitchFamily="34" charset="0"/>
              <a:buChar char="•"/>
            </a:pPr>
            <a:r>
              <a:rPr lang="ko-KR" altLang="en-US" dirty="0">
                <a:solidFill>
                  <a:schemeClr val="tx1"/>
                </a:solidFill>
                <a:latin typeface="+mj-ea"/>
                <a:ea typeface="+mj-ea"/>
              </a:rPr>
              <a:t> 매년 우리의 생활과 일하는 방식</a:t>
            </a:r>
            <a:r>
              <a:rPr lang="en-US" altLang="ko-KR" dirty="0">
                <a:solidFill>
                  <a:schemeClr val="tx1"/>
                </a:solidFill>
                <a:latin typeface="+mj-ea"/>
                <a:ea typeface="+mj-ea"/>
              </a:rPr>
              <a:t>, </a:t>
            </a:r>
            <a:r>
              <a:rPr lang="ko-KR" altLang="en-US" dirty="0">
                <a:solidFill>
                  <a:schemeClr val="tx1"/>
                </a:solidFill>
                <a:latin typeface="+mj-ea"/>
                <a:ea typeface="+mj-ea"/>
              </a:rPr>
              <a:t>세계를 이해하고 상호작용하는 방식에 중요한 변화를 가져올 가장 변혁적인 기술들의 발전 방향을 제시하는 </a:t>
            </a:r>
            <a:r>
              <a:rPr lang="en-US" altLang="ko-KR" dirty="0">
                <a:solidFill>
                  <a:schemeClr val="tx1"/>
                </a:solidFill>
                <a:latin typeface="+mj-ea"/>
                <a:ea typeface="+mj-ea"/>
              </a:rPr>
              <a:t>5</a:t>
            </a:r>
            <a:r>
              <a:rPr lang="ko-KR" altLang="en-US" dirty="0">
                <a:solidFill>
                  <a:schemeClr val="tx1"/>
                </a:solidFill>
                <a:latin typeface="+mj-ea"/>
                <a:ea typeface="+mj-ea"/>
              </a:rPr>
              <a:t>대 </a:t>
            </a:r>
            <a:r>
              <a:rPr lang="ko-KR" altLang="en-US" dirty="0" err="1">
                <a:solidFill>
                  <a:schemeClr val="tx1"/>
                </a:solidFill>
                <a:latin typeface="+mj-ea"/>
                <a:ea typeface="+mj-ea"/>
              </a:rPr>
              <a:t>기술트렌드</a:t>
            </a:r>
            <a:r>
              <a:rPr lang="ko-KR" altLang="en-US" dirty="0">
                <a:solidFill>
                  <a:schemeClr val="tx1"/>
                </a:solidFill>
                <a:latin typeface="+mj-ea"/>
                <a:ea typeface="+mj-ea"/>
              </a:rPr>
              <a:t> 발표</a:t>
            </a:r>
            <a:endParaRPr lang="en-US" altLang="ko-KR" dirty="0">
              <a:solidFill>
                <a:schemeClr val="tx1"/>
              </a:solidFill>
              <a:latin typeface="+mj-ea"/>
              <a:ea typeface="+mj-ea"/>
            </a:endParaRPr>
          </a:p>
          <a:p>
            <a:pPr marL="182563" indent="-87313" algn="l" latinLnBrk="0">
              <a:buFont typeface="Arial" panose="020B0604020202020204" pitchFamily="34" charset="0"/>
              <a:buChar char="•"/>
            </a:pPr>
            <a:r>
              <a:rPr lang="en-US" altLang="ko-KR" dirty="0">
                <a:solidFill>
                  <a:schemeClr val="tx1"/>
                </a:solidFill>
                <a:latin typeface="+mj-ea"/>
                <a:ea typeface="+mj-ea"/>
              </a:rPr>
              <a:t>’25</a:t>
            </a:r>
            <a:r>
              <a:rPr lang="ko-KR" altLang="en-US" dirty="0">
                <a:solidFill>
                  <a:schemeClr val="tx1"/>
                </a:solidFill>
                <a:latin typeface="+mj-ea"/>
                <a:ea typeface="+mj-ea"/>
              </a:rPr>
              <a:t>년 트렌드로 </a:t>
            </a:r>
            <a:r>
              <a:rPr lang="ko-KR" altLang="en-US" dirty="0">
                <a:solidFill>
                  <a:srgbClr val="0070C0"/>
                </a:solidFill>
                <a:latin typeface="+mj-ea"/>
                <a:ea typeface="+mj-ea"/>
              </a:rPr>
              <a:t>기계와 인간 지능의 융합</a:t>
            </a:r>
            <a:r>
              <a:rPr lang="en-US" altLang="ko-KR" dirty="0">
                <a:solidFill>
                  <a:srgbClr val="0070C0"/>
                </a:solidFill>
                <a:latin typeface="+mj-ea"/>
                <a:ea typeface="+mj-ea"/>
              </a:rPr>
              <a:t>, </a:t>
            </a:r>
            <a:r>
              <a:rPr lang="ko-KR" altLang="en-US" dirty="0">
                <a:solidFill>
                  <a:srgbClr val="0070C0"/>
                </a:solidFill>
                <a:latin typeface="+mj-ea"/>
                <a:ea typeface="+mj-ea"/>
              </a:rPr>
              <a:t>양자 도약</a:t>
            </a:r>
            <a:r>
              <a:rPr lang="ko-KR" altLang="en-US" dirty="0">
                <a:solidFill>
                  <a:schemeClr val="tx1"/>
                </a:solidFill>
                <a:latin typeface="+mj-ea"/>
                <a:ea typeface="+mj-ea"/>
              </a:rPr>
              <a:t> 등 제시</a:t>
            </a:r>
          </a:p>
        </p:txBody>
      </p:sp>
      <p:sp>
        <p:nvSpPr>
          <p:cNvPr id="21" name="직사각형 20">
            <a:extLst>
              <a:ext uri="{FF2B5EF4-FFF2-40B4-BE49-F238E27FC236}">
                <a16:creationId xmlns:a16="http://schemas.microsoft.com/office/drawing/2014/main" id="{048C41FF-903E-A699-5D9B-B00394580867}"/>
              </a:ext>
            </a:extLst>
          </p:cNvPr>
          <p:cNvSpPr/>
          <p:nvPr/>
        </p:nvSpPr>
        <p:spPr>
          <a:xfrm>
            <a:off x="596514" y="2094081"/>
            <a:ext cx="1133797" cy="329687"/>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a:solidFill>
                  <a:schemeClr val="bg1"/>
                </a:solidFill>
                <a:latin typeface="Arial Narrow" panose="020B0606020202030204" pitchFamily="34" charset="0"/>
                <a:ea typeface="a고딕14" panose="02020600000000000000" pitchFamily="18" charset="-127"/>
              </a:rPr>
              <a:t>기관 명</a:t>
            </a:r>
            <a:endParaRPr lang="ko-KR" altLang="en-US" dirty="0">
              <a:solidFill>
                <a:schemeClr val="bg1"/>
              </a:solidFill>
              <a:latin typeface="Arial Narrow" panose="020B0606020202030204" pitchFamily="34" charset="0"/>
              <a:ea typeface="a고딕14" panose="02020600000000000000" pitchFamily="18" charset="-127"/>
            </a:endParaRPr>
          </a:p>
        </p:txBody>
      </p:sp>
      <p:sp>
        <p:nvSpPr>
          <p:cNvPr id="22" name="직사각형 21">
            <a:extLst>
              <a:ext uri="{FF2B5EF4-FFF2-40B4-BE49-F238E27FC236}">
                <a16:creationId xmlns:a16="http://schemas.microsoft.com/office/drawing/2014/main" id="{CB018FE7-157B-680C-9294-7E09B7806D8E}"/>
              </a:ext>
            </a:extLst>
          </p:cNvPr>
          <p:cNvSpPr/>
          <p:nvPr/>
        </p:nvSpPr>
        <p:spPr>
          <a:xfrm>
            <a:off x="1886697" y="2094081"/>
            <a:ext cx="3245690" cy="329687"/>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유망기술 및 트렌드</a:t>
            </a:r>
          </a:p>
        </p:txBody>
      </p:sp>
      <p:pic>
        <p:nvPicPr>
          <p:cNvPr id="41" name="Picture 22" descr="E:\포폴정리\멀캠\개체\자주쓰는 PNG\화살표2.png">
            <a:extLst>
              <a:ext uri="{FF2B5EF4-FFF2-40B4-BE49-F238E27FC236}">
                <a16:creationId xmlns:a16="http://schemas.microsoft.com/office/drawing/2014/main" id="{2D718BEB-BBB9-3604-B1FE-583D51A7EC14}"/>
              </a:ext>
            </a:extLst>
          </p:cNvPr>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rot="5400000" flipV="1">
            <a:off x="3487145" y="4283741"/>
            <a:ext cx="4007589" cy="404332"/>
          </a:xfrm>
          <a:prstGeom prst="rect">
            <a:avLst/>
          </a:prstGeom>
          <a:noFill/>
        </p:spPr>
      </p:pic>
      <p:pic>
        <p:nvPicPr>
          <p:cNvPr id="55" name="그림 54">
            <a:extLst>
              <a:ext uri="{FF2B5EF4-FFF2-40B4-BE49-F238E27FC236}">
                <a16:creationId xmlns:a16="http://schemas.microsoft.com/office/drawing/2014/main" id="{C45AB81A-A5B2-E46D-B2E9-D920F2467A61}"/>
              </a:ext>
            </a:extLst>
          </p:cNvPr>
          <p:cNvPicPr>
            <a:picLocks noChangeAspect="1"/>
          </p:cNvPicPr>
          <p:nvPr/>
        </p:nvPicPr>
        <p:blipFill>
          <a:blip r:embed="rId3"/>
          <a:stretch>
            <a:fillRect/>
          </a:stretch>
        </p:blipFill>
        <p:spPr>
          <a:xfrm>
            <a:off x="5902956" y="2492376"/>
            <a:ext cx="3442657" cy="3046182"/>
          </a:xfrm>
          <a:prstGeom prst="rect">
            <a:avLst/>
          </a:prstGeom>
          <a:ln w="3175">
            <a:solidFill>
              <a:schemeClr val="tx1"/>
            </a:solidFill>
          </a:ln>
        </p:spPr>
      </p:pic>
      <p:sp>
        <p:nvSpPr>
          <p:cNvPr id="56" name="직사각형 55">
            <a:extLst>
              <a:ext uri="{FF2B5EF4-FFF2-40B4-BE49-F238E27FC236}">
                <a16:creationId xmlns:a16="http://schemas.microsoft.com/office/drawing/2014/main" id="{2B1AFC3B-0E99-6877-F936-CEEB185C1554}"/>
              </a:ext>
            </a:extLst>
          </p:cNvPr>
          <p:cNvSpPr/>
          <p:nvPr/>
        </p:nvSpPr>
        <p:spPr>
          <a:xfrm>
            <a:off x="5890430" y="2094081"/>
            <a:ext cx="3455183" cy="329687"/>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시사점</a:t>
            </a:r>
          </a:p>
        </p:txBody>
      </p:sp>
      <p:sp>
        <p:nvSpPr>
          <p:cNvPr id="57" name="직사각형 56">
            <a:extLst>
              <a:ext uri="{FF2B5EF4-FFF2-40B4-BE49-F238E27FC236}">
                <a16:creationId xmlns:a16="http://schemas.microsoft.com/office/drawing/2014/main" id="{D1632943-C727-E2F6-8E4E-E0757EDA9B86}"/>
              </a:ext>
            </a:extLst>
          </p:cNvPr>
          <p:cNvSpPr/>
          <p:nvPr/>
        </p:nvSpPr>
        <p:spPr>
          <a:xfrm>
            <a:off x="5890430" y="5596900"/>
            <a:ext cx="3455183" cy="892799"/>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87313" indent="-87313" algn="l" latinLnBrk="0">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글로벌 주요 기관들은 </a:t>
            </a:r>
            <a:r>
              <a:rPr lang="en-US" altLang="ko-KR" dirty="0">
                <a:solidFill>
                  <a:schemeClr val="tx1"/>
                </a:solidFill>
                <a:latin typeface="Arial Narrow" panose="020B0606020202030204" pitchFamily="34" charset="0"/>
                <a:ea typeface="a고딕14" panose="02020600000000000000" pitchFamily="18" charset="-127"/>
              </a:rPr>
              <a:t>’24</a:t>
            </a:r>
            <a:r>
              <a:rPr lang="ko-KR" altLang="en-US" dirty="0">
                <a:solidFill>
                  <a:schemeClr val="tx1"/>
                </a:solidFill>
                <a:latin typeface="Arial Narrow" panose="020B0606020202030204" pitchFamily="34" charset="0"/>
                <a:ea typeface="a고딕14" panose="02020600000000000000" pitchFamily="18" charset="-127"/>
              </a:rPr>
              <a:t>년에 이어 </a:t>
            </a:r>
            <a:r>
              <a:rPr lang="en-US" altLang="ko-KR" dirty="0">
                <a:solidFill>
                  <a:schemeClr val="tx1"/>
                </a:solidFill>
                <a:latin typeface="Arial Narrow" panose="020B0606020202030204" pitchFamily="34" charset="0"/>
                <a:ea typeface="a고딕14" panose="02020600000000000000" pitchFamily="18" charset="-127"/>
              </a:rPr>
              <a:t>’25</a:t>
            </a:r>
            <a:r>
              <a:rPr lang="ko-KR" altLang="en-US" dirty="0">
                <a:solidFill>
                  <a:schemeClr val="tx1"/>
                </a:solidFill>
                <a:latin typeface="Arial Narrow" panose="020B0606020202030204" pitchFamily="34" charset="0"/>
                <a:ea typeface="a고딕14" panose="02020600000000000000" pitchFamily="18" charset="-127"/>
              </a:rPr>
              <a:t>년에도 </a:t>
            </a:r>
            <a:r>
              <a:rPr lang="ko-KR" altLang="en-US" dirty="0">
                <a:solidFill>
                  <a:srgbClr val="0070C0"/>
                </a:solidFill>
                <a:latin typeface="Arial Narrow" panose="020B0606020202030204" pitchFamily="34" charset="0"/>
                <a:ea typeface="a고딕14" panose="02020600000000000000" pitchFamily="18" charset="-127"/>
              </a:rPr>
              <a:t>더욱 진화된 </a:t>
            </a:r>
            <a:r>
              <a:rPr lang="en-US" altLang="ko-KR" dirty="0">
                <a:solidFill>
                  <a:srgbClr val="0070C0"/>
                </a:solidFill>
                <a:latin typeface="Arial Narrow" panose="020B0606020202030204" pitchFamily="34" charset="0"/>
                <a:ea typeface="a고딕14" panose="02020600000000000000" pitchFamily="18" charset="-127"/>
              </a:rPr>
              <a:t>AI </a:t>
            </a:r>
            <a:r>
              <a:rPr lang="ko-KR" altLang="en-US" dirty="0">
                <a:solidFill>
                  <a:srgbClr val="0070C0"/>
                </a:solidFill>
                <a:latin typeface="Arial Narrow" panose="020B0606020202030204" pitchFamily="34" charset="0"/>
                <a:ea typeface="a고딕14" panose="02020600000000000000" pitchFamily="18" charset="-127"/>
              </a:rPr>
              <a:t>기술들이 각 분야의 혁신</a:t>
            </a:r>
            <a:r>
              <a:rPr lang="ko-KR" altLang="en-US" dirty="0">
                <a:solidFill>
                  <a:schemeClr val="tx1"/>
                </a:solidFill>
                <a:latin typeface="Arial Narrow" panose="020B0606020202030204" pitchFamily="34" charset="0"/>
                <a:ea typeface="a고딕14" panose="02020600000000000000" pitchFamily="18" charset="-127"/>
              </a:rPr>
              <a:t>을 이끌며 </a:t>
            </a:r>
            <a:r>
              <a:rPr lang="ko-KR" altLang="en-US" dirty="0">
                <a:solidFill>
                  <a:srgbClr val="0070C0"/>
                </a:solidFill>
                <a:latin typeface="Arial Narrow" panose="020B0606020202030204" pitchFamily="34" charset="0"/>
                <a:ea typeface="a고딕14" panose="02020600000000000000" pitchFamily="18" charset="-127"/>
              </a:rPr>
              <a:t>경제</a:t>
            </a:r>
            <a:r>
              <a:rPr lang="en-US" altLang="ko-KR" dirty="0">
                <a:solidFill>
                  <a:srgbClr val="0070C0"/>
                </a:solidFill>
                <a:latin typeface="Arial Narrow" panose="020B0606020202030204" pitchFamily="34" charset="0"/>
                <a:ea typeface="a고딕14" panose="02020600000000000000" pitchFamily="18" charset="-127"/>
              </a:rPr>
              <a:t>·</a:t>
            </a:r>
            <a:r>
              <a:rPr lang="ko-KR" altLang="en-US" dirty="0">
                <a:solidFill>
                  <a:srgbClr val="0070C0"/>
                </a:solidFill>
                <a:latin typeface="Arial Narrow" panose="020B0606020202030204" pitchFamily="34" charset="0"/>
                <a:ea typeface="a고딕14" panose="02020600000000000000" pitchFamily="18" charset="-127"/>
              </a:rPr>
              <a:t>사회는 물론 실생활과 일하는 방식에도 큰 영향을 미칠 것으로 전망</a:t>
            </a:r>
            <a:r>
              <a:rPr lang="ko-KR" altLang="en-US" dirty="0">
                <a:solidFill>
                  <a:schemeClr val="tx1"/>
                </a:solidFill>
                <a:latin typeface="Arial Narrow" panose="020B0606020202030204" pitchFamily="34" charset="0"/>
                <a:ea typeface="a고딕14" panose="02020600000000000000" pitchFamily="18" charset="-127"/>
              </a:rPr>
              <a:t>함</a:t>
            </a:r>
          </a:p>
        </p:txBody>
      </p:sp>
      <p:sp>
        <p:nvSpPr>
          <p:cNvPr id="58" name="직사각형 57">
            <a:extLst>
              <a:ext uri="{FF2B5EF4-FFF2-40B4-BE49-F238E27FC236}">
                <a16:creationId xmlns:a16="http://schemas.microsoft.com/office/drawing/2014/main" id="{B3589AF8-A9EB-892F-62CA-871E7D55F696}"/>
              </a:ext>
            </a:extLst>
          </p:cNvPr>
          <p:cNvSpPr/>
          <p:nvPr/>
        </p:nvSpPr>
        <p:spPr>
          <a:xfrm>
            <a:off x="560512" y="6497862"/>
            <a:ext cx="3172663" cy="338554"/>
          </a:xfrm>
          <a:prstGeom prst="rect">
            <a:avLst/>
          </a:prstGeom>
        </p:spPr>
        <p:txBody>
          <a:bodyPr wrap="none">
            <a:spAutoFit/>
          </a:bodyPr>
          <a:lstStyle/>
          <a:p>
            <a:pPr algn="l">
              <a:buNone/>
            </a:pPr>
            <a:r>
              <a:rPr lang="en-US" altLang="ko-KR" sz="800" dirty="0">
                <a:latin typeface="Arial Narrow" panose="020B0606020202030204" pitchFamily="34" charset="0"/>
                <a:ea typeface="+mn-ea"/>
              </a:rPr>
              <a:t>*</a:t>
            </a:r>
            <a:r>
              <a:rPr lang="ko-KR" altLang="en-US" sz="800" dirty="0">
                <a:latin typeface="Arial Narrow" panose="020B0606020202030204" pitchFamily="34" charset="0"/>
                <a:ea typeface="+mn-ea"/>
              </a:rPr>
              <a:t>그림</a:t>
            </a:r>
            <a:r>
              <a:rPr lang="en-US" altLang="ko-KR" sz="800" dirty="0">
                <a:latin typeface="Arial Narrow" panose="020B0606020202030204" pitchFamily="34" charset="0"/>
                <a:ea typeface="+mn-ea"/>
              </a:rPr>
              <a:t>: ‘25</a:t>
            </a:r>
            <a:r>
              <a:rPr lang="ko-KR" altLang="en-US" sz="800" dirty="0">
                <a:latin typeface="Arial Narrow" panose="020B0606020202030204" pitchFamily="34" charset="0"/>
                <a:ea typeface="+mn-ea"/>
              </a:rPr>
              <a:t>년 글로벌 기관 전망 </a:t>
            </a:r>
            <a:r>
              <a:rPr lang="ko-KR" altLang="en-US" sz="800" dirty="0" err="1">
                <a:latin typeface="Arial Narrow" panose="020B0606020202030204" pitchFamily="34" charset="0"/>
                <a:ea typeface="+mn-ea"/>
              </a:rPr>
              <a:t>미래유망기술의</a:t>
            </a:r>
            <a:r>
              <a:rPr lang="ko-KR" altLang="en-US" sz="800" dirty="0">
                <a:latin typeface="Arial Narrow" panose="020B0606020202030204" pitchFamily="34" charset="0"/>
                <a:ea typeface="+mn-ea"/>
              </a:rPr>
              <a:t> 상위 기술분야</a:t>
            </a:r>
            <a:endParaRPr lang="en-US" altLang="ko-KR" sz="800" dirty="0">
              <a:latin typeface="Arial Narrow" panose="020B0606020202030204" pitchFamily="34" charset="0"/>
              <a:ea typeface="+mn-ea"/>
            </a:endParaRPr>
          </a:p>
          <a:p>
            <a:pPr algn="l">
              <a:buNone/>
            </a:pPr>
            <a:r>
              <a:rPr lang="en-US" altLang="ko-KR" sz="800" dirty="0">
                <a:latin typeface="Arial Narrow" panose="020B0606020202030204" pitchFamily="34" charset="0"/>
                <a:ea typeface="+mn-ea"/>
              </a:rPr>
              <a:t>** Source: </a:t>
            </a:r>
            <a:r>
              <a:rPr lang="ko-KR" altLang="en-US" sz="800" dirty="0">
                <a:latin typeface="Arial Narrow" panose="020B0606020202030204" pitchFamily="34" charset="0"/>
                <a:ea typeface="+mn-ea"/>
              </a:rPr>
              <a:t>글로벌 주요기관 전망 </a:t>
            </a:r>
            <a:r>
              <a:rPr lang="en-US" altLang="ko-KR" sz="800" dirty="0">
                <a:latin typeface="Arial Narrow" panose="020B0606020202030204" pitchFamily="34" charset="0"/>
                <a:ea typeface="+mn-ea"/>
              </a:rPr>
              <a:t>2025</a:t>
            </a:r>
            <a:r>
              <a:rPr lang="ko-KR" altLang="en-US" sz="800" dirty="0">
                <a:latin typeface="Arial Narrow" panose="020B0606020202030204" pitchFamily="34" charset="0"/>
                <a:ea typeface="+mn-ea"/>
              </a:rPr>
              <a:t>년 유망기술 트렌드 및 시사점</a:t>
            </a:r>
            <a:r>
              <a:rPr lang="en-US" altLang="ko-KR" sz="800" dirty="0">
                <a:latin typeface="Arial Narrow" panose="020B0606020202030204" pitchFamily="34" charset="0"/>
                <a:ea typeface="+mn-ea"/>
              </a:rPr>
              <a:t>, KISTEP</a:t>
            </a:r>
            <a:endParaRPr lang="ko-KR" altLang="en-US" sz="800" dirty="0">
              <a:latin typeface="Arial Narrow" panose="020B0606020202030204" pitchFamily="34" charset="0"/>
              <a:ea typeface="+mn-ea"/>
            </a:endParaRPr>
          </a:p>
        </p:txBody>
      </p:sp>
    </p:spTree>
    <p:extLst>
      <p:ext uri="{BB962C8B-B14F-4D97-AF65-F5344CB8AC3E}">
        <p14:creationId xmlns:p14="http://schemas.microsoft.com/office/powerpoint/2010/main" val="2564420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AutoShape 76"/>
          <p:cNvSpPr>
            <a:spLocks noChangeArrowheads="1"/>
          </p:cNvSpPr>
          <p:nvPr>
            <p:custDataLst>
              <p:tags r:id="rId1"/>
            </p:custDataLst>
          </p:nvPr>
        </p:nvSpPr>
        <p:spPr bwMode="auto">
          <a:xfrm>
            <a:off x="1784648" y="2368080"/>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3" name="AutoShape 76"/>
          <p:cNvSpPr>
            <a:spLocks noChangeArrowheads="1"/>
          </p:cNvSpPr>
          <p:nvPr>
            <p:custDataLst>
              <p:tags r:id="rId2"/>
            </p:custDataLst>
          </p:nvPr>
        </p:nvSpPr>
        <p:spPr bwMode="auto">
          <a:xfrm>
            <a:off x="1784648" y="3238407"/>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4" name="AutoShape 76"/>
          <p:cNvSpPr>
            <a:spLocks noChangeArrowheads="1"/>
          </p:cNvSpPr>
          <p:nvPr>
            <p:custDataLst>
              <p:tags r:id="rId3"/>
            </p:custDataLst>
          </p:nvPr>
        </p:nvSpPr>
        <p:spPr bwMode="auto">
          <a:xfrm>
            <a:off x="1784648" y="4112993"/>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5" name="AutoShape 76"/>
          <p:cNvSpPr>
            <a:spLocks noChangeArrowheads="1"/>
          </p:cNvSpPr>
          <p:nvPr>
            <p:custDataLst>
              <p:tags r:id="rId4"/>
            </p:custDataLst>
          </p:nvPr>
        </p:nvSpPr>
        <p:spPr bwMode="auto">
          <a:xfrm>
            <a:off x="1784648" y="4984830"/>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6" name="AutoShape 76"/>
          <p:cNvSpPr>
            <a:spLocks noChangeArrowheads="1"/>
          </p:cNvSpPr>
          <p:nvPr>
            <p:custDataLst>
              <p:tags r:id="rId5"/>
            </p:custDataLst>
          </p:nvPr>
        </p:nvSpPr>
        <p:spPr bwMode="auto">
          <a:xfrm>
            <a:off x="1784648" y="5859416"/>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spc="-80" dirty="0" err="1"/>
              <a:t>인구절벽과</a:t>
            </a:r>
            <a:r>
              <a:rPr lang="ko-KR" altLang="en-US" spc="-80" dirty="0"/>
              <a:t> </a:t>
            </a:r>
            <a:r>
              <a:rPr lang="ko-KR" altLang="en-US" spc="-80" dirty="0" err="1"/>
              <a:t>저성장기의</a:t>
            </a:r>
            <a:r>
              <a:rPr lang="ko-KR" altLang="en-US" spc="-80" dirty="0"/>
              <a:t> 지속</a:t>
            </a:r>
            <a:r>
              <a:rPr lang="en-US" altLang="ko-KR" spc="-80" dirty="0"/>
              <a:t>, </a:t>
            </a:r>
            <a:r>
              <a:rPr lang="ko-KR" altLang="en-US" spc="-80" dirty="0"/>
              <a:t>세대교체로 인한 조직문화 변화</a:t>
            </a:r>
            <a:r>
              <a:rPr lang="en-US" altLang="ko-KR" spc="-80" dirty="0"/>
              <a:t>, </a:t>
            </a:r>
            <a:r>
              <a:rPr lang="ko-KR" altLang="en-US" spc="-80" dirty="0"/>
              <a:t>디지털화 등 </a:t>
            </a:r>
            <a:r>
              <a:rPr lang="ko-KR" altLang="en-US" spc="-80" dirty="0" err="1">
                <a:solidFill>
                  <a:srgbClr val="0070C0"/>
                </a:solidFill>
              </a:rPr>
              <a:t>조직환경</a:t>
            </a:r>
            <a:r>
              <a:rPr lang="ko-KR" altLang="en-US" spc="-80" dirty="0">
                <a:solidFill>
                  <a:srgbClr val="0070C0"/>
                </a:solidFill>
              </a:rPr>
              <a:t> 변화에 대응</a:t>
            </a:r>
            <a:r>
              <a:rPr lang="ko-KR" altLang="en-US" spc="-80" dirty="0"/>
              <a:t>하기 위해서는 </a:t>
            </a:r>
            <a:r>
              <a:rPr lang="ko-KR" altLang="en-US" spc="-80" dirty="0">
                <a:solidFill>
                  <a:srgbClr val="0070C0"/>
                </a:solidFill>
              </a:rPr>
              <a:t>디지털 신기술 분야의 교육훈련 요구 분석</a:t>
            </a:r>
            <a:r>
              <a:rPr lang="ko-KR" altLang="en-US" spc="-80" dirty="0"/>
              <a:t>을 통한 </a:t>
            </a:r>
            <a:r>
              <a:rPr lang="ko-KR" altLang="en-US" spc="-80" dirty="0">
                <a:solidFill>
                  <a:srgbClr val="0070C0"/>
                </a:solidFill>
              </a:rPr>
              <a:t>교육 콘텐츠 개발이 필요</a:t>
            </a:r>
            <a:r>
              <a:rPr lang="ko-KR" altLang="en-US" spc="-80" dirty="0"/>
              <a:t>함</a:t>
            </a:r>
            <a:endParaRPr lang="en-US" altLang="ko-KR" spc="-80"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sp>
        <p:nvSpPr>
          <p:cNvPr id="29" name="직사각형 28">
            <a:extLst>
              <a:ext uri="{FF2B5EF4-FFF2-40B4-BE49-F238E27FC236}">
                <a16:creationId xmlns:a16="http://schemas.microsoft.com/office/drawing/2014/main" id="{313F9849-D243-4BE5-B848-A661B4DA16D8}"/>
              </a:ext>
            </a:extLst>
          </p:cNvPr>
          <p:cNvSpPr/>
          <p:nvPr/>
        </p:nvSpPr>
        <p:spPr>
          <a:xfrm>
            <a:off x="596900" y="1845301"/>
            <a:ext cx="2627908" cy="25178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en-US" altLang="ko-KR" dirty="0">
                <a:solidFill>
                  <a:schemeClr val="bg1"/>
                </a:solidFill>
                <a:latin typeface="a고딕14" panose="02020600000000000000" pitchFamily="18" charset="-127"/>
                <a:ea typeface="a고딕14" panose="02020600000000000000" pitchFamily="18" charset="-127"/>
              </a:rPr>
              <a:t>HR </a:t>
            </a:r>
            <a:r>
              <a:rPr lang="ko-KR" altLang="en-US" dirty="0">
                <a:solidFill>
                  <a:schemeClr val="bg1"/>
                </a:solidFill>
                <a:latin typeface="a고딕14" panose="02020600000000000000" pitchFamily="18" charset="-127"/>
                <a:ea typeface="a고딕14" panose="02020600000000000000" pitchFamily="18" charset="-127"/>
              </a:rPr>
              <a:t>관련 </a:t>
            </a:r>
            <a:r>
              <a:rPr lang="ko-KR" altLang="en-US" dirty="0" err="1">
                <a:solidFill>
                  <a:schemeClr val="bg1"/>
                </a:solidFill>
                <a:latin typeface="a고딕14" panose="02020600000000000000" pitchFamily="18" charset="-127"/>
                <a:ea typeface="a고딕14" panose="02020600000000000000" pitchFamily="18" charset="-127"/>
              </a:rPr>
              <a:t>메가트렌드</a:t>
            </a:r>
            <a:endParaRPr kumimoji="0" lang="ko-KR" altLang="en-US"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30" name="직사각형 29">
            <a:extLst>
              <a:ext uri="{FF2B5EF4-FFF2-40B4-BE49-F238E27FC236}">
                <a16:creationId xmlns:a16="http://schemas.microsoft.com/office/drawing/2014/main" id="{313F9849-D243-4BE5-B848-A661B4DA16D8}"/>
              </a:ext>
            </a:extLst>
          </p:cNvPr>
          <p:cNvSpPr/>
          <p:nvPr/>
        </p:nvSpPr>
        <p:spPr>
          <a:xfrm>
            <a:off x="3655500" y="1845301"/>
            <a:ext cx="2627908" cy="25178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en-US" altLang="ko-KR" dirty="0">
                <a:solidFill>
                  <a:schemeClr val="bg1"/>
                </a:solidFill>
                <a:latin typeface="a고딕14" panose="02020600000000000000" pitchFamily="18" charset="-127"/>
                <a:ea typeface="a고딕14" panose="02020600000000000000" pitchFamily="18" charset="-127"/>
              </a:rPr>
              <a:t>HR </a:t>
            </a:r>
            <a:r>
              <a:rPr lang="ko-KR" altLang="en-US" dirty="0">
                <a:solidFill>
                  <a:schemeClr val="bg1"/>
                </a:solidFill>
                <a:latin typeface="a고딕14" panose="02020600000000000000" pitchFamily="18" charset="-127"/>
                <a:ea typeface="a고딕14" panose="02020600000000000000" pitchFamily="18" charset="-127"/>
              </a:rPr>
              <a:t>이슈</a:t>
            </a:r>
            <a:endParaRPr kumimoji="0" lang="ko-KR" altLang="en-US"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31" name="직사각형 30">
            <a:extLst>
              <a:ext uri="{FF2B5EF4-FFF2-40B4-BE49-F238E27FC236}">
                <a16:creationId xmlns:a16="http://schemas.microsoft.com/office/drawing/2014/main" id="{313F9849-D243-4BE5-B848-A661B4DA16D8}"/>
              </a:ext>
            </a:extLst>
          </p:cNvPr>
          <p:cNvSpPr/>
          <p:nvPr/>
        </p:nvSpPr>
        <p:spPr>
          <a:xfrm>
            <a:off x="6714099" y="1845301"/>
            <a:ext cx="2627908" cy="25178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en-US" altLang="ko-KR" dirty="0">
                <a:solidFill>
                  <a:schemeClr val="bg1"/>
                </a:solidFill>
                <a:latin typeface="a고딕14" panose="02020600000000000000" pitchFamily="18" charset="-127"/>
                <a:ea typeface="a고딕14" panose="02020600000000000000" pitchFamily="18" charset="-127"/>
              </a:rPr>
              <a:t>HR </a:t>
            </a:r>
            <a:r>
              <a:rPr lang="ko-KR" altLang="en-US" dirty="0">
                <a:solidFill>
                  <a:schemeClr val="bg1"/>
                </a:solidFill>
                <a:latin typeface="a고딕14" panose="02020600000000000000" pitchFamily="18" charset="-127"/>
                <a:ea typeface="a고딕14" panose="02020600000000000000" pitchFamily="18" charset="-127"/>
              </a:rPr>
              <a:t>과제</a:t>
            </a:r>
            <a:endParaRPr kumimoji="0" lang="ko-KR" altLang="en-US"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grpSp>
        <p:nvGrpSpPr>
          <p:cNvPr id="4" name="그룹 3"/>
          <p:cNvGrpSpPr/>
          <p:nvPr/>
        </p:nvGrpSpPr>
        <p:grpSpPr>
          <a:xfrm>
            <a:off x="596515" y="2312876"/>
            <a:ext cx="2628293" cy="4176824"/>
            <a:chOff x="596515" y="2312876"/>
            <a:chExt cx="2628293" cy="3859933"/>
          </a:xfrm>
          <a:solidFill>
            <a:schemeClr val="bg1"/>
          </a:solidFill>
        </p:grpSpPr>
        <p:sp>
          <p:nvSpPr>
            <p:cNvPr id="34" name="직사각형 33"/>
            <p:cNvSpPr/>
            <p:nvPr/>
          </p:nvSpPr>
          <p:spPr>
            <a:xfrm>
              <a:off x="596515" y="2312876"/>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ko-KR" altLang="en-US" dirty="0">
                  <a:solidFill>
                    <a:srgbClr val="080808"/>
                  </a:solidFill>
                  <a:latin typeface="a고딕14"/>
                  <a:ea typeface="a고딕14"/>
                </a:rPr>
                <a:t>인구 절벽과 세대교체</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베이비붐 세대 은퇴</a:t>
              </a:r>
              <a:endParaRPr lang="en-US" altLang="ko-KR" sz="1100"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신세대 주력 등장</a:t>
              </a:r>
              <a:endParaRPr lang="en-US" altLang="ko-KR" sz="1100" dirty="0">
                <a:solidFill>
                  <a:srgbClr val="080808"/>
                </a:solidFill>
                <a:latin typeface="a고딕14"/>
                <a:ea typeface="a고딕14"/>
              </a:endParaRPr>
            </a:p>
          </p:txBody>
        </p:sp>
        <p:sp>
          <p:nvSpPr>
            <p:cNvPr id="35" name="직사각형 34"/>
            <p:cNvSpPr/>
            <p:nvPr/>
          </p:nvSpPr>
          <p:spPr>
            <a:xfrm>
              <a:off x="596515" y="3119413"/>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en-US" altLang="ko-KR" dirty="0">
                  <a:solidFill>
                    <a:srgbClr val="080808"/>
                  </a:solidFill>
                  <a:latin typeface="a고딕14"/>
                  <a:ea typeface="a고딕14"/>
                </a:rPr>
                <a:t>4</a:t>
              </a:r>
              <a:r>
                <a:rPr lang="ko-KR" altLang="en-US" dirty="0">
                  <a:solidFill>
                    <a:srgbClr val="080808"/>
                  </a:solidFill>
                  <a:latin typeface="a고딕14"/>
                  <a:ea typeface="a고딕14"/>
                </a:rPr>
                <a:t>차 산업혁명</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워크</a:t>
              </a:r>
              <a:r>
                <a:rPr lang="en-US" altLang="ko-KR" sz="1100" dirty="0">
                  <a:solidFill>
                    <a:srgbClr val="080808"/>
                  </a:solidFill>
                  <a:latin typeface="a고딕14"/>
                  <a:ea typeface="a고딕14"/>
                </a:rPr>
                <a:t>4.0 </a:t>
              </a:r>
              <a:r>
                <a:rPr lang="ko-KR" altLang="en-US" sz="1100" dirty="0">
                  <a:solidFill>
                    <a:srgbClr val="080808"/>
                  </a:solidFill>
                  <a:latin typeface="a고딕14"/>
                  <a:ea typeface="a고딕14"/>
                </a:rPr>
                <a:t>직업 변화</a:t>
              </a:r>
              <a:endParaRPr lang="en-US" altLang="ko-KR" sz="1100"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err="1">
                  <a:solidFill>
                    <a:srgbClr val="080808"/>
                  </a:solidFill>
                  <a:latin typeface="a고딕14"/>
                  <a:ea typeface="a고딕14"/>
                </a:rPr>
                <a:t>스타트업</a:t>
              </a:r>
              <a:r>
                <a:rPr lang="ko-KR" altLang="en-US" sz="1100" dirty="0">
                  <a:solidFill>
                    <a:srgbClr val="080808"/>
                  </a:solidFill>
                  <a:latin typeface="a고딕14"/>
                  <a:ea typeface="a고딕14"/>
                </a:rPr>
                <a:t> </a:t>
              </a:r>
              <a:r>
                <a:rPr lang="ko-KR" altLang="en-US" sz="1100" dirty="0" err="1">
                  <a:solidFill>
                    <a:srgbClr val="080808"/>
                  </a:solidFill>
                  <a:latin typeface="a고딕14"/>
                  <a:ea typeface="a고딕14"/>
                </a:rPr>
                <a:t>컬처</a:t>
              </a:r>
              <a:r>
                <a:rPr lang="ko-KR" altLang="en-US" sz="1100" dirty="0">
                  <a:solidFill>
                    <a:srgbClr val="080808"/>
                  </a:solidFill>
                  <a:latin typeface="a고딕14"/>
                  <a:ea typeface="a고딕14"/>
                </a:rPr>
                <a:t> 혁신</a:t>
              </a:r>
            </a:p>
          </p:txBody>
        </p:sp>
        <p:sp>
          <p:nvSpPr>
            <p:cNvPr id="36" name="직사각형 35"/>
            <p:cNvSpPr/>
            <p:nvPr/>
          </p:nvSpPr>
          <p:spPr>
            <a:xfrm>
              <a:off x="596515" y="3925950"/>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ko-KR" altLang="en-US" dirty="0" err="1">
                  <a:solidFill>
                    <a:srgbClr val="080808"/>
                  </a:solidFill>
                  <a:latin typeface="a고딕14"/>
                  <a:ea typeface="a고딕14"/>
                </a:rPr>
                <a:t>저성장기</a:t>
              </a:r>
              <a:r>
                <a:rPr lang="ko-KR" altLang="en-US" dirty="0">
                  <a:solidFill>
                    <a:srgbClr val="080808"/>
                  </a:solidFill>
                  <a:latin typeface="a고딕14"/>
                  <a:ea typeface="a고딕14"/>
                </a:rPr>
                <a:t> 사람관리</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글로벌 경기 침체</a:t>
              </a:r>
              <a:endParaRPr lang="en-US" altLang="ko-KR" sz="1100"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보호무역주의 강화</a:t>
              </a:r>
            </a:p>
          </p:txBody>
        </p:sp>
        <p:sp>
          <p:nvSpPr>
            <p:cNvPr id="37" name="직사각형 36"/>
            <p:cNvSpPr/>
            <p:nvPr/>
          </p:nvSpPr>
          <p:spPr>
            <a:xfrm>
              <a:off x="596515" y="4732487"/>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ko-KR" altLang="en-US" dirty="0">
                  <a:solidFill>
                    <a:srgbClr val="080808"/>
                  </a:solidFill>
                  <a:latin typeface="a고딕14"/>
                  <a:ea typeface="a고딕14"/>
                </a:rPr>
                <a:t>고용노동 규제 변화</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일자리 창출</a:t>
              </a:r>
              <a:endParaRPr lang="en-US" altLang="ko-KR" sz="1100"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협력적 노사관계</a:t>
              </a:r>
            </a:p>
          </p:txBody>
        </p:sp>
        <p:sp>
          <p:nvSpPr>
            <p:cNvPr id="38" name="직사각형 37"/>
            <p:cNvSpPr/>
            <p:nvPr/>
          </p:nvSpPr>
          <p:spPr>
            <a:xfrm>
              <a:off x="596515" y="5539026"/>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en-US" altLang="ko-KR" dirty="0">
                  <a:solidFill>
                    <a:srgbClr val="080808"/>
                  </a:solidFill>
                  <a:latin typeface="a고딕14"/>
                  <a:ea typeface="a고딕14"/>
                </a:rPr>
                <a:t>HR</a:t>
              </a:r>
              <a:r>
                <a:rPr lang="ko-KR" altLang="en-US" dirty="0">
                  <a:solidFill>
                    <a:srgbClr val="080808"/>
                  </a:solidFill>
                  <a:latin typeface="a고딕14"/>
                  <a:ea typeface="a고딕14"/>
                </a:rPr>
                <a:t>부서 디지털화</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인사업무 솔루션 확산</a:t>
              </a:r>
              <a:endParaRPr lang="en-US" altLang="ko-KR" sz="1100" dirty="0">
                <a:solidFill>
                  <a:srgbClr val="080808"/>
                </a:solidFill>
                <a:latin typeface="a고딕14"/>
                <a:ea typeface="a고딕14"/>
              </a:endParaRPr>
            </a:p>
          </p:txBody>
        </p:sp>
      </p:grpSp>
      <p:grpSp>
        <p:nvGrpSpPr>
          <p:cNvPr id="39" name="그룹 38"/>
          <p:cNvGrpSpPr/>
          <p:nvPr/>
        </p:nvGrpSpPr>
        <p:grpSpPr>
          <a:xfrm>
            <a:off x="3655500" y="2312876"/>
            <a:ext cx="2628293" cy="4176824"/>
            <a:chOff x="596515" y="2312876"/>
            <a:chExt cx="2628293" cy="3859933"/>
          </a:xfrm>
        </p:grpSpPr>
        <p:sp>
          <p:nvSpPr>
            <p:cNvPr id="40" name="직사각형 39"/>
            <p:cNvSpPr/>
            <p:nvPr/>
          </p:nvSpPr>
          <p:spPr>
            <a:xfrm>
              <a:off x="596515" y="2312876"/>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고령화</a:t>
              </a:r>
              <a:r>
                <a:rPr lang="en-US" altLang="ko-KR" dirty="0">
                  <a:solidFill>
                    <a:srgbClr val="080808"/>
                  </a:solidFill>
                  <a:latin typeface="a고딕14"/>
                  <a:ea typeface="a고딕14"/>
                </a:rPr>
                <a:t>, </a:t>
              </a:r>
              <a:r>
                <a:rPr lang="ko-KR" altLang="en-US" dirty="0">
                  <a:solidFill>
                    <a:srgbClr val="080808"/>
                  </a:solidFill>
                  <a:latin typeface="a고딕14"/>
                  <a:ea typeface="a고딕14"/>
                </a:rPr>
                <a:t>승진 적체</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신세대 기업 선호 변화</a:t>
              </a:r>
              <a:endParaRPr lang="en-US" altLang="ko-KR" dirty="0">
                <a:solidFill>
                  <a:srgbClr val="080808"/>
                </a:solidFill>
                <a:latin typeface="a고딕14"/>
                <a:ea typeface="a고딕14"/>
              </a:endParaRPr>
            </a:p>
          </p:txBody>
        </p:sp>
        <p:sp>
          <p:nvSpPr>
            <p:cNvPr id="41" name="직사각형 40"/>
            <p:cNvSpPr/>
            <p:nvPr/>
          </p:nvSpPr>
          <p:spPr>
            <a:xfrm>
              <a:off x="596515" y="3119413"/>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err="1">
                  <a:solidFill>
                    <a:srgbClr val="080808"/>
                  </a:solidFill>
                  <a:latin typeface="a고딕14"/>
                  <a:ea typeface="a고딕14"/>
                </a:rPr>
                <a:t>스타트업</a:t>
              </a:r>
              <a:r>
                <a:rPr lang="ko-KR" altLang="en-US" dirty="0">
                  <a:solidFill>
                    <a:srgbClr val="080808"/>
                  </a:solidFill>
                  <a:latin typeface="a고딕14"/>
                  <a:ea typeface="a고딕14"/>
                </a:rPr>
                <a:t> 제휴</a:t>
              </a:r>
              <a:r>
                <a:rPr lang="en-US" altLang="ko-KR" dirty="0">
                  <a:solidFill>
                    <a:srgbClr val="080808"/>
                  </a:solidFill>
                  <a:latin typeface="a고딕14"/>
                  <a:ea typeface="a고딕14"/>
                </a:rPr>
                <a:t>/</a:t>
              </a:r>
              <a:r>
                <a:rPr lang="ko-KR" altLang="en-US" dirty="0">
                  <a:solidFill>
                    <a:srgbClr val="080808"/>
                  </a:solidFill>
                  <a:latin typeface="a고딕14"/>
                  <a:ea typeface="a고딕14"/>
                </a:rPr>
                <a:t>협업 확산</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워크</a:t>
              </a:r>
              <a:r>
                <a:rPr lang="en-US" altLang="ko-KR" dirty="0">
                  <a:solidFill>
                    <a:srgbClr val="080808"/>
                  </a:solidFill>
                  <a:latin typeface="a고딕14"/>
                  <a:ea typeface="a고딕14"/>
                </a:rPr>
                <a:t>4.0 </a:t>
              </a:r>
              <a:r>
                <a:rPr lang="ko-KR" altLang="en-US" dirty="0" err="1">
                  <a:solidFill>
                    <a:srgbClr val="080808"/>
                  </a:solidFill>
                  <a:latin typeface="a고딕14"/>
                  <a:ea typeface="a고딕14"/>
                </a:rPr>
                <a:t>직업역량</a:t>
              </a:r>
              <a:r>
                <a:rPr lang="ko-KR" altLang="en-US" dirty="0">
                  <a:solidFill>
                    <a:srgbClr val="080808"/>
                  </a:solidFill>
                  <a:latin typeface="a고딕14"/>
                  <a:ea typeface="a고딕14"/>
                </a:rPr>
                <a:t> 고도화</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일자리 변화와 인재 확보</a:t>
              </a:r>
            </a:p>
          </p:txBody>
        </p:sp>
        <p:sp>
          <p:nvSpPr>
            <p:cNvPr id="42" name="직사각형 41"/>
            <p:cNvSpPr/>
            <p:nvPr/>
          </p:nvSpPr>
          <p:spPr>
            <a:xfrm>
              <a:off x="596515" y="3925950"/>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상시 구조조정 압력 유지</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비관세 장벽</a:t>
              </a:r>
              <a:r>
                <a:rPr lang="en-US" altLang="ko-KR" dirty="0">
                  <a:solidFill>
                    <a:srgbClr val="080808"/>
                  </a:solidFill>
                  <a:latin typeface="a고딕14"/>
                  <a:ea typeface="a고딕14"/>
                </a:rPr>
                <a:t>, </a:t>
              </a:r>
              <a:r>
                <a:rPr lang="ko-KR" altLang="en-US" dirty="0">
                  <a:solidFill>
                    <a:srgbClr val="080808"/>
                  </a:solidFill>
                  <a:latin typeface="a고딕14"/>
                  <a:ea typeface="a고딕14"/>
                </a:rPr>
                <a:t>무역 분쟁 확산</a:t>
              </a:r>
            </a:p>
          </p:txBody>
        </p:sp>
        <p:sp>
          <p:nvSpPr>
            <p:cNvPr id="43" name="직사각형 42"/>
            <p:cNvSpPr/>
            <p:nvPr/>
          </p:nvSpPr>
          <p:spPr>
            <a:xfrm>
              <a:off x="596515" y="4732487"/>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정부 고용노동 기조 변화</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현장 노사관계 변화</a:t>
              </a:r>
            </a:p>
          </p:txBody>
        </p:sp>
        <p:sp>
          <p:nvSpPr>
            <p:cNvPr id="44" name="직사각형 43"/>
            <p:cNvSpPr/>
            <p:nvPr/>
          </p:nvSpPr>
          <p:spPr>
            <a:xfrm>
              <a:off x="596515" y="5539026"/>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인사시스템 고도화</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인사업무 비용 절감 </a:t>
              </a:r>
              <a:r>
                <a:rPr lang="ko-KR" altLang="en-US" dirty="0" err="1">
                  <a:solidFill>
                    <a:srgbClr val="080808"/>
                  </a:solidFill>
                  <a:latin typeface="a고딕14"/>
                  <a:ea typeface="a고딕14"/>
                </a:rPr>
                <a:t>니즈</a:t>
              </a:r>
              <a:endParaRPr lang="en-US" altLang="ko-KR" dirty="0">
                <a:solidFill>
                  <a:srgbClr val="080808"/>
                </a:solidFill>
                <a:latin typeface="a고딕14"/>
                <a:ea typeface="a고딕14"/>
              </a:endParaRPr>
            </a:p>
          </p:txBody>
        </p:sp>
      </p:grpSp>
      <p:grpSp>
        <p:nvGrpSpPr>
          <p:cNvPr id="46" name="그룹 45"/>
          <p:cNvGrpSpPr/>
          <p:nvPr/>
        </p:nvGrpSpPr>
        <p:grpSpPr>
          <a:xfrm>
            <a:off x="6713714" y="2312876"/>
            <a:ext cx="2628293" cy="4176824"/>
            <a:chOff x="596515" y="2312876"/>
            <a:chExt cx="2628293" cy="3859933"/>
          </a:xfrm>
          <a:solidFill>
            <a:srgbClr val="565B6B"/>
          </a:solidFill>
        </p:grpSpPr>
        <p:sp>
          <p:nvSpPr>
            <p:cNvPr id="47" name="직사각형 46"/>
            <p:cNvSpPr/>
            <p:nvPr/>
          </p:nvSpPr>
          <p:spPr>
            <a:xfrm>
              <a:off x="596515" y="2312876"/>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직급 축소 및 정년 연장 논란</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일하고 싶은 기업 문화 구축</a:t>
              </a:r>
              <a:endParaRPr lang="en-US" altLang="ko-KR" sz="1100" dirty="0">
                <a:solidFill>
                  <a:schemeClr val="bg1"/>
                </a:solidFill>
                <a:latin typeface="a고딕14"/>
                <a:ea typeface="a고딕14"/>
              </a:endParaRPr>
            </a:p>
          </p:txBody>
        </p:sp>
        <p:sp>
          <p:nvSpPr>
            <p:cNvPr id="48" name="직사각형 47"/>
            <p:cNvSpPr/>
            <p:nvPr/>
          </p:nvSpPr>
          <p:spPr>
            <a:xfrm>
              <a:off x="596515" y="3119413"/>
              <a:ext cx="2628293" cy="633783"/>
            </a:xfrm>
            <a:prstGeom prst="rect">
              <a:avLst/>
            </a:prstGeom>
            <a:solidFill>
              <a:srgbClr val="3061A3"/>
            </a:solid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신기술 분야 교육훈련 콘텐츠 개발</a:t>
              </a:r>
              <a:endParaRPr lang="en-US" altLang="ko-KR" dirty="0">
                <a:solidFill>
                  <a:schemeClr val="bg1"/>
                </a:solidFill>
                <a:latin typeface="a고딕14"/>
                <a:ea typeface="a고딕14"/>
              </a:endParaRP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신기술 분야 역량 개발</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데이터 중심의 일하는 문화 구축</a:t>
              </a:r>
              <a:endParaRPr lang="ko-KR" altLang="en-US" sz="1100" dirty="0">
                <a:solidFill>
                  <a:schemeClr val="bg1"/>
                </a:solidFill>
                <a:latin typeface="a고딕14"/>
                <a:ea typeface="a고딕14"/>
              </a:endParaRPr>
            </a:p>
          </p:txBody>
        </p:sp>
        <p:sp>
          <p:nvSpPr>
            <p:cNvPr id="49" name="직사각형 48"/>
            <p:cNvSpPr/>
            <p:nvPr/>
          </p:nvSpPr>
          <p:spPr>
            <a:xfrm>
              <a:off x="596515" y="3925950"/>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err="1">
                  <a:solidFill>
                    <a:schemeClr val="bg1"/>
                  </a:solidFill>
                  <a:latin typeface="a고딕14"/>
                  <a:ea typeface="a고딕14"/>
                </a:rPr>
                <a:t>구조조종기</a:t>
              </a:r>
              <a:r>
                <a:rPr lang="ko-KR" altLang="en-US" dirty="0">
                  <a:solidFill>
                    <a:schemeClr val="bg1"/>
                  </a:solidFill>
                  <a:latin typeface="a고딕14"/>
                  <a:ea typeface="a고딕14"/>
                </a:rPr>
                <a:t> 조직관리 중시</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무역</a:t>
              </a:r>
              <a:r>
                <a:rPr lang="en-US" altLang="ko-KR" dirty="0">
                  <a:solidFill>
                    <a:schemeClr val="bg1"/>
                  </a:solidFill>
                  <a:latin typeface="a고딕14"/>
                  <a:ea typeface="a고딕14"/>
                </a:rPr>
                <a:t>/</a:t>
              </a:r>
              <a:r>
                <a:rPr lang="ko-KR" altLang="en-US" dirty="0">
                  <a:solidFill>
                    <a:schemeClr val="bg1"/>
                  </a:solidFill>
                  <a:latin typeface="a고딕14"/>
                  <a:ea typeface="a고딕14"/>
                </a:rPr>
                <a:t>통상 전문가 및 조직 강화</a:t>
              </a:r>
              <a:endParaRPr lang="ko-KR" altLang="en-US" sz="1100" dirty="0">
                <a:solidFill>
                  <a:schemeClr val="bg1"/>
                </a:solidFill>
                <a:latin typeface="a고딕14"/>
                <a:ea typeface="a고딕14"/>
              </a:endParaRPr>
            </a:p>
          </p:txBody>
        </p:sp>
        <p:sp>
          <p:nvSpPr>
            <p:cNvPr id="50" name="직사각형 49"/>
            <p:cNvSpPr/>
            <p:nvPr/>
          </p:nvSpPr>
          <p:spPr>
            <a:xfrm>
              <a:off x="596515" y="4732487"/>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일자리</a:t>
              </a:r>
              <a:r>
                <a:rPr lang="en-US" altLang="ko-KR" dirty="0">
                  <a:solidFill>
                    <a:schemeClr val="bg1"/>
                  </a:solidFill>
                  <a:latin typeface="a고딕14"/>
                  <a:ea typeface="a고딕14"/>
                </a:rPr>
                <a:t>, </a:t>
              </a:r>
              <a:r>
                <a:rPr lang="ko-KR" altLang="en-US" dirty="0">
                  <a:solidFill>
                    <a:schemeClr val="bg1"/>
                  </a:solidFill>
                  <a:latin typeface="a고딕14"/>
                  <a:ea typeface="a고딕14"/>
                </a:rPr>
                <a:t>비정규직 이슈 대응</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직무 기반 인사제도 도입</a:t>
              </a:r>
              <a:endParaRPr lang="ko-KR" altLang="en-US" sz="1100" dirty="0">
                <a:solidFill>
                  <a:schemeClr val="bg1"/>
                </a:solidFill>
                <a:latin typeface="a고딕14"/>
                <a:ea typeface="a고딕14"/>
              </a:endParaRPr>
            </a:p>
          </p:txBody>
        </p:sp>
        <p:sp>
          <p:nvSpPr>
            <p:cNvPr id="51" name="직사각형 50"/>
            <p:cNvSpPr/>
            <p:nvPr/>
          </p:nvSpPr>
          <p:spPr>
            <a:xfrm>
              <a:off x="596515" y="5539026"/>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인사 빅데이터 분석 활용</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인사업무 디지털 및 자동화</a:t>
              </a:r>
              <a:endParaRPr lang="en-US" altLang="ko-KR" sz="1100" dirty="0">
                <a:solidFill>
                  <a:schemeClr val="bg1"/>
                </a:solidFill>
                <a:latin typeface="a고딕14"/>
                <a:ea typeface="a고딕14"/>
              </a:endParaRPr>
            </a:p>
          </p:txBody>
        </p:sp>
      </p:grpSp>
      <p:sp>
        <p:nvSpPr>
          <p:cNvPr id="59"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err="1">
                <a:latin typeface="a고딕14" panose="02020600000000000000" pitchFamily="18" charset="-127"/>
              </a:rPr>
              <a:t>메가트렌드</a:t>
            </a:r>
            <a:r>
              <a:rPr lang="en-US" altLang="ko-KR" dirty="0">
                <a:latin typeface="a고딕14" panose="02020600000000000000" pitchFamily="18" charset="-127"/>
              </a:rPr>
              <a:t>(</a:t>
            </a:r>
            <a:r>
              <a:rPr lang="ko-KR" altLang="en-US" dirty="0">
                <a:latin typeface="a고딕14" panose="02020600000000000000" pitchFamily="18" charset="-127"/>
              </a:rPr>
              <a:t>산업 패러다임 변화</a:t>
            </a:r>
            <a:r>
              <a:rPr lang="en-US" altLang="ko-KR" dirty="0">
                <a:latin typeface="a고딕14" panose="02020600000000000000" pitchFamily="18" charset="-127"/>
              </a:rPr>
              <a:t>)</a:t>
            </a:r>
            <a:r>
              <a:rPr lang="ko-KR" altLang="en-US" dirty="0">
                <a:latin typeface="a고딕14" panose="02020600000000000000" pitchFamily="18" charset="-127"/>
              </a:rPr>
              <a:t>로</a:t>
            </a:r>
            <a:r>
              <a:rPr lang="en-US" altLang="ko-KR" dirty="0">
                <a:latin typeface="a고딕14" panose="02020600000000000000" pitchFamily="18" charset="-127"/>
              </a:rPr>
              <a:t> </a:t>
            </a:r>
            <a:r>
              <a:rPr lang="ko-KR" altLang="en-US" dirty="0">
                <a:latin typeface="a고딕14" panose="02020600000000000000" pitchFamily="18" charset="-127"/>
              </a:rPr>
              <a:t>인한 교육 콘텐츠 개발 </a:t>
            </a:r>
            <a:r>
              <a:rPr lang="ko-KR" altLang="en-US" dirty="0"/>
              <a:t>이슈는 무엇인가</a:t>
            </a:r>
            <a:r>
              <a:rPr lang="en-US" altLang="ko-KR" dirty="0"/>
              <a:t>?</a:t>
            </a:r>
          </a:p>
        </p:txBody>
      </p:sp>
      <p:sp>
        <p:nvSpPr>
          <p:cNvPr id="60" name="직사각형 59"/>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1" name="직사각형 60"/>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spTree>
    <p:extLst>
      <p:ext uri="{BB962C8B-B14F-4D97-AF65-F5344CB8AC3E}">
        <p14:creationId xmlns:p14="http://schemas.microsoft.com/office/powerpoint/2010/main" val="2912352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그러나 최근</a:t>
            </a:r>
            <a:r>
              <a:rPr lang="en-US" altLang="ko-KR" dirty="0"/>
              <a:t> </a:t>
            </a:r>
            <a:r>
              <a:rPr lang="ko-KR" altLang="en-US" dirty="0">
                <a:solidFill>
                  <a:srgbClr val="0070C0"/>
                </a:solidFill>
              </a:rPr>
              <a:t>빅데이터</a:t>
            </a:r>
            <a:r>
              <a:rPr lang="en-US" altLang="ko-KR" dirty="0">
                <a:solidFill>
                  <a:srgbClr val="0070C0"/>
                </a:solidFill>
              </a:rPr>
              <a:t>, </a:t>
            </a:r>
            <a:r>
              <a:rPr lang="ko-KR" altLang="en-US" dirty="0" err="1">
                <a:solidFill>
                  <a:srgbClr val="0070C0"/>
                </a:solidFill>
              </a:rPr>
              <a:t>클라우드</a:t>
            </a:r>
            <a:r>
              <a:rPr lang="en-US" altLang="ko-KR" dirty="0">
                <a:solidFill>
                  <a:srgbClr val="0070C0"/>
                </a:solidFill>
              </a:rPr>
              <a:t>, </a:t>
            </a:r>
            <a:r>
              <a:rPr lang="ko-KR" altLang="en-US" dirty="0">
                <a:solidFill>
                  <a:srgbClr val="0070C0"/>
                </a:solidFill>
              </a:rPr>
              <a:t>인공지능</a:t>
            </a:r>
            <a:r>
              <a:rPr lang="en-US" altLang="ko-KR" dirty="0">
                <a:solidFill>
                  <a:srgbClr val="0070C0"/>
                </a:solidFill>
              </a:rPr>
              <a:t>(AI), </a:t>
            </a:r>
            <a:r>
              <a:rPr lang="ko-KR" altLang="en-US" dirty="0">
                <a:solidFill>
                  <a:srgbClr val="0070C0"/>
                </a:solidFill>
              </a:rPr>
              <a:t>나노</a:t>
            </a:r>
            <a:r>
              <a:rPr lang="ko-KR" altLang="en-US" dirty="0"/>
              <a:t> 등 </a:t>
            </a:r>
            <a:r>
              <a:rPr lang="ko-KR" altLang="en-US" dirty="0">
                <a:solidFill>
                  <a:srgbClr val="0070C0"/>
                </a:solidFill>
              </a:rPr>
              <a:t>신기술 분야의 신규인력 부족 현상이 심각할 것으로 예상</a:t>
            </a:r>
            <a:r>
              <a:rPr lang="ko-KR" altLang="en-US" dirty="0"/>
              <a:t>되며</a:t>
            </a:r>
            <a:r>
              <a:rPr lang="en-US" altLang="ko-KR" dirty="0"/>
              <a:t>,</a:t>
            </a:r>
            <a:r>
              <a:rPr lang="ko-KR" altLang="en-US" dirty="0">
                <a:solidFill>
                  <a:srgbClr val="0070C0"/>
                </a:solidFill>
              </a:rPr>
              <a:t> 신기술 분야 신규인력 육성을 위한 교육훈련체계 마련이 시급</a:t>
            </a:r>
            <a:r>
              <a:rPr lang="ko-KR" altLang="en-US" dirty="0"/>
              <a:t>함</a:t>
            </a:r>
            <a:endParaRPr lang="en-US" altLang="ko-KR"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sp>
        <p:nvSpPr>
          <p:cNvPr id="59"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a:latin typeface="a고딕14" panose="02020600000000000000" pitchFamily="18" charset="-127"/>
              </a:rPr>
              <a:t>최근 주요 신기술 분야의 인력수급 전망은 어떠한가</a:t>
            </a:r>
            <a:r>
              <a:rPr lang="en-US" altLang="ko-KR" dirty="0"/>
              <a:t>?</a:t>
            </a:r>
          </a:p>
        </p:txBody>
      </p:sp>
      <p:sp>
        <p:nvSpPr>
          <p:cNvPr id="60" name="직사각형 59"/>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1" name="직사각형 60"/>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grpSp>
        <p:nvGrpSpPr>
          <p:cNvPr id="9" name="그룹 8">
            <a:extLst>
              <a:ext uri="{FF2B5EF4-FFF2-40B4-BE49-F238E27FC236}">
                <a16:creationId xmlns:a16="http://schemas.microsoft.com/office/drawing/2014/main" id="{98DEB9D2-321D-41F6-83B2-0E2CABAA82AB}"/>
              </a:ext>
            </a:extLst>
          </p:cNvPr>
          <p:cNvGrpSpPr/>
          <p:nvPr/>
        </p:nvGrpSpPr>
        <p:grpSpPr>
          <a:xfrm>
            <a:off x="596515" y="1681027"/>
            <a:ext cx="8749097" cy="266602"/>
            <a:chOff x="802640" y="2236632"/>
            <a:chExt cx="4130805" cy="266552"/>
          </a:xfrm>
        </p:grpSpPr>
        <p:sp>
          <p:nvSpPr>
            <p:cNvPr id="10"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4</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대 신기술 분야 인력수급 전망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(2023~2027)</a:t>
              </a:r>
            </a:p>
          </p:txBody>
        </p:sp>
        <p:cxnSp>
          <p:nvCxnSpPr>
            <p:cNvPr id="11"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7" name="직사각형 26"/>
          <p:cNvSpPr/>
          <p:nvPr/>
        </p:nvSpPr>
        <p:spPr>
          <a:xfrm>
            <a:off x="560512" y="6497862"/>
            <a:ext cx="3486852" cy="215444"/>
          </a:xfrm>
          <a:prstGeom prst="rect">
            <a:avLst/>
          </a:prstGeom>
        </p:spPr>
        <p:txBody>
          <a:bodyPr wrap="none">
            <a:spAutoFit/>
          </a:bodyPr>
          <a:lstStyle/>
          <a:p>
            <a:pPr algn="l">
              <a:buNone/>
            </a:pPr>
            <a:r>
              <a:rPr lang="en-US" altLang="ko-KR" sz="800" dirty="0">
                <a:latin typeface="Arial Narrow" panose="020B0606020202030204" pitchFamily="34" charset="0"/>
                <a:ea typeface="+mn-ea"/>
              </a:rPr>
              <a:t>* Source: </a:t>
            </a:r>
            <a:r>
              <a:rPr lang="ko-KR" altLang="en-US" sz="800" dirty="0">
                <a:latin typeface="Arial Narrow" panose="020B0606020202030204" pitchFamily="34" charset="0"/>
                <a:ea typeface="+mn-ea"/>
              </a:rPr>
              <a:t>제</a:t>
            </a:r>
            <a:r>
              <a:rPr lang="en-US" altLang="ko-KR" sz="800" dirty="0">
                <a:latin typeface="Arial Narrow" panose="020B0606020202030204" pitchFamily="34" charset="0"/>
                <a:ea typeface="+mn-ea"/>
              </a:rPr>
              <a:t>4</a:t>
            </a:r>
            <a:r>
              <a:rPr lang="ko-KR" altLang="en-US" sz="800" dirty="0">
                <a:latin typeface="Arial Narrow" panose="020B0606020202030204" pitchFamily="34" charset="0"/>
                <a:ea typeface="+mn-ea"/>
              </a:rPr>
              <a:t>차</a:t>
            </a: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신기술 인력수급 포럼 </a:t>
            </a:r>
            <a:r>
              <a:rPr lang="en-US" altLang="ko-KR" sz="800" dirty="0">
                <a:latin typeface="Arial Narrow" panose="020B0606020202030204" pitchFamily="34" charset="0"/>
                <a:ea typeface="+mn-ea"/>
              </a:rPr>
              <a:t>(</a:t>
            </a:r>
            <a:r>
              <a:rPr lang="ko-KR" altLang="en-US" sz="800" dirty="0">
                <a:latin typeface="Arial Narrow" panose="020B0606020202030204" pitchFamily="34" charset="0"/>
                <a:ea typeface="+mn-ea"/>
              </a:rPr>
              <a:t>고용노동부</a:t>
            </a:r>
            <a:r>
              <a:rPr lang="en-US" altLang="ko-KR" sz="800" dirty="0">
                <a:latin typeface="Arial Narrow" panose="020B0606020202030204" pitchFamily="34" charset="0"/>
                <a:ea typeface="+mn-ea"/>
              </a:rPr>
              <a:t>/</a:t>
            </a:r>
            <a:r>
              <a:rPr lang="ko-KR" altLang="en-US" sz="800" dirty="0">
                <a:latin typeface="Arial Narrow" panose="020B0606020202030204" pitchFamily="34" charset="0"/>
                <a:ea typeface="+mn-ea"/>
              </a:rPr>
              <a:t>한국직업능력연구원</a:t>
            </a:r>
            <a:r>
              <a:rPr lang="en-US" altLang="ko-KR" sz="800" dirty="0">
                <a:latin typeface="Arial Narrow" panose="020B0606020202030204" pitchFamily="34" charset="0"/>
                <a:ea typeface="+mn-ea"/>
              </a:rPr>
              <a:t>, 2023.08.31.)</a:t>
            </a:r>
            <a:endParaRPr lang="ko-KR" altLang="en-US" sz="800" dirty="0">
              <a:latin typeface="Arial Narrow" panose="020B0606020202030204" pitchFamily="34" charset="0"/>
              <a:ea typeface="+mn-ea"/>
            </a:endParaRPr>
          </a:p>
        </p:txBody>
      </p:sp>
      <p:sp>
        <p:nvSpPr>
          <p:cNvPr id="28" name="object 20"/>
          <p:cNvSpPr/>
          <p:nvPr/>
        </p:nvSpPr>
        <p:spPr>
          <a:xfrm>
            <a:off x="596900" y="2168525"/>
            <a:ext cx="4176713" cy="208765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29" name="object 20"/>
          <p:cNvSpPr/>
          <p:nvPr/>
        </p:nvSpPr>
        <p:spPr>
          <a:xfrm>
            <a:off x="5170827" y="2168525"/>
            <a:ext cx="4176713" cy="208765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31" name="object 20"/>
          <p:cNvSpPr/>
          <p:nvPr/>
        </p:nvSpPr>
        <p:spPr>
          <a:xfrm>
            <a:off x="596900" y="4393145"/>
            <a:ext cx="4176713" cy="208765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32" name="object 20"/>
          <p:cNvSpPr/>
          <p:nvPr/>
        </p:nvSpPr>
        <p:spPr>
          <a:xfrm>
            <a:off x="5170827" y="4393145"/>
            <a:ext cx="4176713" cy="208765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34" name="Rectangle 34"/>
          <p:cNvSpPr>
            <a:spLocks noChangeArrowheads="1"/>
          </p:cNvSpPr>
          <p:nvPr/>
        </p:nvSpPr>
        <p:spPr bwMode="auto">
          <a:xfrm>
            <a:off x="596515" y="2168525"/>
            <a:ext cx="936105" cy="252413"/>
          </a:xfrm>
          <a:prstGeom prst="rect">
            <a:avLst/>
          </a:prstGeom>
          <a:solidFill>
            <a:srgbClr val="212E55"/>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50" kern="0" dirty="0">
                <a:solidFill>
                  <a:schemeClr val="bg1"/>
                </a:solidFill>
                <a:latin typeface="a고딕14" panose="02020600000000000000" pitchFamily="18" charset="-127"/>
                <a:ea typeface="a고딕14" panose="02020600000000000000" pitchFamily="18" charset="-127"/>
              </a:rPr>
              <a:t>인공지능</a:t>
            </a:r>
            <a:r>
              <a:rPr kumimoji="1" lang="en-US" altLang="ko-KR" sz="1050" kern="0" dirty="0">
                <a:solidFill>
                  <a:schemeClr val="bg1"/>
                </a:solidFill>
                <a:latin typeface="a고딕14" panose="02020600000000000000" pitchFamily="18" charset="-127"/>
                <a:ea typeface="a고딕14" panose="02020600000000000000" pitchFamily="18" charset="-127"/>
              </a:rPr>
              <a:t>(AI)</a:t>
            </a:r>
            <a:endParaRPr kumimoji="1" lang="ko-KR" altLang="en-US" sz="1050" kern="0" dirty="0">
              <a:solidFill>
                <a:schemeClr val="bg1"/>
              </a:solidFill>
              <a:latin typeface="a고딕14" panose="02020600000000000000" pitchFamily="18" charset="-127"/>
              <a:ea typeface="a고딕14" panose="02020600000000000000" pitchFamily="18" charset="-127"/>
            </a:endParaRPr>
          </a:p>
        </p:txBody>
      </p:sp>
      <p:sp>
        <p:nvSpPr>
          <p:cNvPr id="35" name="Rectangle 34"/>
          <p:cNvSpPr>
            <a:spLocks noChangeArrowheads="1"/>
          </p:cNvSpPr>
          <p:nvPr/>
        </p:nvSpPr>
        <p:spPr bwMode="auto">
          <a:xfrm>
            <a:off x="5170827" y="2168525"/>
            <a:ext cx="936105" cy="252413"/>
          </a:xfrm>
          <a:prstGeom prst="rect">
            <a:avLst/>
          </a:prstGeom>
          <a:solidFill>
            <a:srgbClr val="212E55"/>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50" kern="0" dirty="0" err="1">
                <a:solidFill>
                  <a:schemeClr val="bg1"/>
                </a:solidFill>
                <a:latin typeface="a고딕14" panose="02020600000000000000" pitchFamily="18" charset="-127"/>
                <a:ea typeface="a고딕14" panose="02020600000000000000" pitchFamily="18" charset="-127"/>
              </a:rPr>
              <a:t>클라우드</a:t>
            </a:r>
            <a:endParaRPr kumimoji="1" lang="ko-KR" altLang="en-US" sz="1050" kern="0" dirty="0">
              <a:solidFill>
                <a:schemeClr val="bg1"/>
              </a:solidFill>
              <a:latin typeface="a고딕14" panose="02020600000000000000" pitchFamily="18" charset="-127"/>
              <a:ea typeface="a고딕14" panose="02020600000000000000" pitchFamily="18" charset="-127"/>
            </a:endParaRPr>
          </a:p>
        </p:txBody>
      </p:sp>
      <p:sp>
        <p:nvSpPr>
          <p:cNvPr id="36" name="Rectangle 34"/>
          <p:cNvSpPr>
            <a:spLocks noChangeArrowheads="1"/>
          </p:cNvSpPr>
          <p:nvPr/>
        </p:nvSpPr>
        <p:spPr bwMode="auto">
          <a:xfrm>
            <a:off x="596515" y="4393145"/>
            <a:ext cx="936105" cy="252413"/>
          </a:xfrm>
          <a:prstGeom prst="rect">
            <a:avLst/>
          </a:prstGeom>
          <a:solidFill>
            <a:srgbClr val="212E55"/>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50" kern="0" dirty="0">
                <a:solidFill>
                  <a:schemeClr val="bg1"/>
                </a:solidFill>
                <a:latin typeface="a고딕14" panose="02020600000000000000" pitchFamily="18" charset="-127"/>
                <a:ea typeface="a고딕14" panose="02020600000000000000" pitchFamily="18" charset="-127"/>
              </a:rPr>
              <a:t>빅데이터</a:t>
            </a:r>
          </a:p>
        </p:txBody>
      </p:sp>
      <p:sp>
        <p:nvSpPr>
          <p:cNvPr id="37" name="Rectangle 34"/>
          <p:cNvSpPr>
            <a:spLocks noChangeArrowheads="1"/>
          </p:cNvSpPr>
          <p:nvPr/>
        </p:nvSpPr>
        <p:spPr bwMode="auto">
          <a:xfrm>
            <a:off x="5170827" y="4393145"/>
            <a:ext cx="936105" cy="252413"/>
          </a:xfrm>
          <a:prstGeom prst="rect">
            <a:avLst/>
          </a:prstGeom>
          <a:solidFill>
            <a:srgbClr val="212E55"/>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50" kern="0" dirty="0">
                <a:solidFill>
                  <a:schemeClr val="bg1"/>
                </a:solidFill>
                <a:latin typeface="a고딕14" panose="02020600000000000000" pitchFamily="18" charset="-127"/>
                <a:ea typeface="a고딕14" panose="02020600000000000000" pitchFamily="18" charset="-127"/>
              </a:rPr>
              <a:t>나노</a:t>
            </a:r>
          </a:p>
        </p:txBody>
      </p:sp>
      <p:sp>
        <p:nvSpPr>
          <p:cNvPr id="38" name="직사각형 37">
            <a:extLst>
              <a:ext uri="{FF2B5EF4-FFF2-40B4-BE49-F238E27FC236}">
                <a16:creationId xmlns:a16="http://schemas.microsoft.com/office/drawing/2014/main" id="{59332514-3AEB-42C9-87BE-78886ED1D1F9}"/>
              </a:ext>
            </a:extLst>
          </p:cNvPr>
          <p:cNvSpPr/>
          <p:nvPr/>
        </p:nvSpPr>
        <p:spPr>
          <a:xfrm>
            <a:off x="1532619" y="2168526"/>
            <a:ext cx="3240993" cy="2524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rgbClr val="0070C0"/>
                </a:solidFill>
                <a:latin typeface="Arial Narrow" panose="020B0606020202030204" pitchFamily="34" charset="0"/>
                <a:ea typeface="a고딕14" panose="02020600000000000000" pitchFamily="18" charset="-127"/>
              </a:rPr>
              <a:t>12,800</a:t>
            </a:r>
            <a:r>
              <a:rPr lang="ko-KR" altLang="en-US" sz="1050" spc="-50" dirty="0">
                <a:solidFill>
                  <a:srgbClr val="0070C0"/>
                </a:solidFill>
                <a:latin typeface="Arial Narrow" panose="020B0606020202030204" pitchFamily="34" charset="0"/>
                <a:ea typeface="a고딕14" panose="02020600000000000000" pitchFamily="18" charset="-127"/>
              </a:rPr>
              <a:t>명 부족</a:t>
            </a:r>
            <a:r>
              <a:rPr lang="en-US" altLang="ko-KR" sz="1050" spc="-50" dirty="0">
                <a:solidFill>
                  <a:srgbClr val="0070C0"/>
                </a:solidFill>
                <a:latin typeface="Arial Narrow" panose="020B0606020202030204" pitchFamily="34" charset="0"/>
                <a:ea typeface="a고딕14" panose="02020600000000000000" pitchFamily="18" charset="-127"/>
              </a:rPr>
              <a:t>, </a:t>
            </a:r>
            <a:r>
              <a:rPr lang="ko-KR" altLang="en-US" sz="1050" spc="-50" dirty="0">
                <a:solidFill>
                  <a:srgbClr val="0070C0"/>
                </a:solidFill>
                <a:latin typeface="Arial Narrow" panose="020B0606020202030204" pitchFamily="34" charset="0"/>
                <a:ea typeface="a고딕14" panose="02020600000000000000" pitchFamily="18" charset="-127"/>
              </a:rPr>
              <a:t>특히 </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연구개발</a:t>
            </a:r>
            <a:r>
              <a:rPr lang="en-US" altLang="ko-KR" sz="1050" spc="-50" dirty="0">
                <a:solidFill>
                  <a:srgbClr val="0070C0"/>
                </a:solidFill>
                <a:latin typeface="Arial Narrow" panose="020B0606020202030204" pitchFamily="34" charset="0"/>
                <a:ea typeface="a고딕14" panose="02020600000000000000" pitchFamily="18" charset="-127"/>
              </a:rPr>
              <a:t>(R&amp;D)’ </a:t>
            </a:r>
            <a:r>
              <a:rPr lang="ko-KR" altLang="en-US" sz="1050" spc="-50" dirty="0">
                <a:solidFill>
                  <a:srgbClr val="0070C0"/>
                </a:solidFill>
                <a:latin typeface="Arial Narrow" panose="020B0606020202030204" pitchFamily="34" charset="0"/>
                <a:ea typeface="a고딕14" panose="02020600000000000000" pitchFamily="18" charset="-127"/>
              </a:rPr>
              <a:t>등 고급인력 부족</a:t>
            </a:r>
            <a:endParaRPr kumimoji="0" lang="ko-KR" altLang="en-US" sz="1050" b="0" i="0" u="none" strike="noStrike" kern="1200" cap="none" spc="-50" normalizeH="0" noProof="0" dirty="0">
              <a:ln>
                <a:noFill/>
              </a:ln>
              <a:solidFill>
                <a:srgbClr val="0070C0"/>
              </a:solidFill>
              <a:effectLst/>
              <a:uLnTx/>
              <a:uFillTx/>
              <a:latin typeface="Arial Narrow" panose="020B0606020202030204" pitchFamily="34" charset="0"/>
              <a:ea typeface="a고딕14" panose="02020600000000000000" pitchFamily="18" charset="-127"/>
            </a:endParaRPr>
          </a:p>
        </p:txBody>
      </p:sp>
      <p:sp>
        <p:nvSpPr>
          <p:cNvPr id="39" name="직사각형 38">
            <a:extLst>
              <a:ext uri="{FF2B5EF4-FFF2-40B4-BE49-F238E27FC236}">
                <a16:creationId xmlns:a16="http://schemas.microsoft.com/office/drawing/2014/main" id="{59332514-3AEB-42C9-87BE-78886ED1D1F9}"/>
              </a:ext>
            </a:extLst>
          </p:cNvPr>
          <p:cNvSpPr/>
          <p:nvPr/>
        </p:nvSpPr>
        <p:spPr>
          <a:xfrm>
            <a:off x="6104619" y="2168526"/>
            <a:ext cx="3240993" cy="2524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rgbClr val="0070C0"/>
                </a:solidFill>
                <a:latin typeface="Arial Narrow" panose="020B0606020202030204" pitchFamily="34" charset="0"/>
                <a:ea typeface="a고딕14" panose="02020600000000000000" pitchFamily="18" charset="-127"/>
              </a:rPr>
              <a:t>18,800</a:t>
            </a:r>
            <a:r>
              <a:rPr lang="ko-KR" altLang="en-US" sz="1050" spc="-50" dirty="0">
                <a:solidFill>
                  <a:srgbClr val="0070C0"/>
                </a:solidFill>
                <a:latin typeface="Arial Narrow" panose="020B0606020202030204" pitchFamily="34" charset="0"/>
                <a:ea typeface="a고딕14" panose="02020600000000000000" pitchFamily="18" charset="-127"/>
              </a:rPr>
              <a:t>명 부족</a:t>
            </a:r>
            <a:r>
              <a:rPr lang="en-US" altLang="ko-KR" sz="1050" spc="-50" dirty="0">
                <a:solidFill>
                  <a:srgbClr val="0070C0"/>
                </a:solidFill>
                <a:latin typeface="Arial Narrow" panose="020B0606020202030204" pitchFamily="34" charset="0"/>
                <a:ea typeface="a고딕14" panose="02020600000000000000" pitchFamily="18" charset="-127"/>
              </a:rPr>
              <a:t>, ‘</a:t>
            </a:r>
            <a:r>
              <a:rPr lang="ko-KR" altLang="en-US" sz="1050" spc="-50" dirty="0">
                <a:solidFill>
                  <a:srgbClr val="0070C0"/>
                </a:solidFill>
                <a:latin typeface="Arial Narrow" panose="020B0606020202030204" pitchFamily="34" charset="0"/>
                <a:ea typeface="a고딕14" panose="02020600000000000000" pitchFamily="18" charset="-127"/>
              </a:rPr>
              <a:t>운영</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부터 </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개발</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 전반의 인력수요 증가</a:t>
            </a:r>
            <a:endParaRPr kumimoji="0" lang="ko-KR" altLang="en-US" sz="1050" b="0" i="0" u="none" strike="noStrike" kern="1200" cap="none" spc="-50" normalizeH="0" noProof="0" dirty="0">
              <a:ln>
                <a:noFill/>
              </a:ln>
              <a:solidFill>
                <a:srgbClr val="0070C0"/>
              </a:solidFill>
              <a:effectLst/>
              <a:uLnTx/>
              <a:uFillTx/>
              <a:latin typeface="Arial Narrow" panose="020B0606020202030204" pitchFamily="34" charset="0"/>
              <a:ea typeface="a고딕14" panose="02020600000000000000" pitchFamily="18" charset="-127"/>
            </a:endParaRPr>
          </a:p>
        </p:txBody>
      </p:sp>
      <p:sp>
        <p:nvSpPr>
          <p:cNvPr id="43" name="직사각형 42">
            <a:extLst>
              <a:ext uri="{FF2B5EF4-FFF2-40B4-BE49-F238E27FC236}">
                <a16:creationId xmlns:a16="http://schemas.microsoft.com/office/drawing/2014/main" id="{59332514-3AEB-42C9-87BE-78886ED1D1F9}"/>
              </a:ext>
            </a:extLst>
          </p:cNvPr>
          <p:cNvSpPr/>
          <p:nvPr/>
        </p:nvSpPr>
        <p:spPr>
          <a:xfrm>
            <a:off x="1532619" y="4393145"/>
            <a:ext cx="3240993" cy="2524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rgbClr val="0070C0"/>
                </a:solidFill>
                <a:latin typeface="Arial Narrow" panose="020B0606020202030204" pitchFamily="34" charset="0"/>
                <a:ea typeface="a고딕14" panose="02020600000000000000" pitchFamily="18" charset="-127"/>
              </a:rPr>
              <a:t>19,600</a:t>
            </a:r>
            <a:r>
              <a:rPr lang="ko-KR" altLang="en-US" sz="1050" spc="-50" dirty="0">
                <a:solidFill>
                  <a:srgbClr val="0070C0"/>
                </a:solidFill>
                <a:latin typeface="Arial Narrow" panose="020B0606020202030204" pitchFamily="34" charset="0"/>
                <a:ea typeface="a고딕14" panose="02020600000000000000" pitchFamily="18" charset="-127"/>
              </a:rPr>
              <a:t>명 부족</a:t>
            </a:r>
            <a:r>
              <a:rPr lang="en-US" altLang="ko-KR" sz="1050" spc="-50" dirty="0">
                <a:solidFill>
                  <a:srgbClr val="0070C0"/>
                </a:solidFill>
                <a:latin typeface="Arial Narrow" panose="020B0606020202030204" pitchFamily="34" charset="0"/>
                <a:ea typeface="a고딕14" panose="02020600000000000000" pitchFamily="18" charset="-127"/>
              </a:rPr>
              <a:t>, ‘</a:t>
            </a:r>
            <a:r>
              <a:rPr lang="ko-KR" altLang="en-US" sz="1050" spc="-50" dirty="0">
                <a:solidFill>
                  <a:srgbClr val="0070C0"/>
                </a:solidFill>
                <a:latin typeface="Arial Narrow" panose="020B0606020202030204" pitchFamily="34" charset="0"/>
                <a:ea typeface="a고딕14" panose="02020600000000000000" pitchFamily="18" charset="-127"/>
              </a:rPr>
              <a:t>융합데이터전문가</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 수요 급증</a:t>
            </a:r>
          </a:p>
        </p:txBody>
      </p:sp>
      <p:sp>
        <p:nvSpPr>
          <p:cNvPr id="44" name="직사각형 43">
            <a:extLst>
              <a:ext uri="{FF2B5EF4-FFF2-40B4-BE49-F238E27FC236}">
                <a16:creationId xmlns:a16="http://schemas.microsoft.com/office/drawing/2014/main" id="{59332514-3AEB-42C9-87BE-78886ED1D1F9}"/>
              </a:ext>
            </a:extLst>
          </p:cNvPr>
          <p:cNvSpPr/>
          <p:nvPr/>
        </p:nvSpPr>
        <p:spPr>
          <a:xfrm>
            <a:off x="6104619" y="4393145"/>
            <a:ext cx="3240993" cy="2524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rgbClr val="0070C0"/>
                </a:solidFill>
                <a:latin typeface="Arial Narrow" panose="020B0606020202030204" pitchFamily="34" charset="0"/>
                <a:ea typeface="a고딕14" panose="02020600000000000000" pitchFamily="18" charset="-127"/>
              </a:rPr>
              <a:t>8,400</a:t>
            </a:r>
            <a:r>
              <a:rPr lang="ko-KR" altLang="en-US" sz="1050" spc="-50" dirty="0">
                <a:solidFill>
                  <a:srgbClr val="0070C0"/>
                </a:solidFill>
                <a:latin typeface="Arial Narrow" panose="020B0606020202030204" pitchFamily="34" charset="0"/>
                <a:ea typeface="a고딕14" panose="02020600000000000000" pitchFamily="18" charset="-127"/>
              </a:rPr>
              <a:t>명 부족</a:t>
            </a:r>
            <a:r>
              <a:rPr lang="en-US" altLang="ko-KR" sz="1050" spc="-50" dirty="0">
                <a:solidFill>
                  <a:srgbClr val="0070C0"/>
                </a:solidFill>
                <a:latin typeface="Arial Narrow" panose="020B0606020202030204" pitchFamily="34" charset="0"/>
                <a:ea typeface="a고딕14" panose="02020600000000000000" pitchFamily="18" charset="-127"/>
              </a:rPr>
              <a:t>, </a:t>
            </a:r>
            <a:r>
              <a:rPr lang="ko-KR" altLang="en-US" sz="1050" spc="-50" dirty="0">
                <a:solidFill>
                  <a:srgbClr val="0070C0"/>
                </a:solidFill>
                <a:latin typeface="Arial Narrow" panose="020B0606020202030204" pitchFamily="34" charset="0"/>
                <a:ea typeface="a고딕14" panose="02020600000000000000" pitchFamily="18" charset="-127"/>
              </a:rPr>
              <a:t>첨단산업 성장으로 </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응용기술인력</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 수요 증가</a:t>
            </a:r>
            <a:endParaRPr kumimoji="0" lang="ko-KR" altLang="en-US" sz="1050" b="0" i="0" u="none" strike="noStrike" kern="1200" cap="none" spc="-50" normalizeH="0" noProof="0" dirty="0">
              <a:ln>
                <a:noFill/>
              </a:ln>
              <a:solidFill>
                <a:srgbClr val="0070C0"/>
              </a:solidFill>
              <a:effectLst/>
              <a:uLnTx/>
              <a:uFillTx/>
              <a:latin typeface="Arial Narrow" panose="020B0606020202030204" pitchFamily="34" charset="0"/>
              <a:ea typeface="a고딕14" panose="02020600000000000000" pitchFamily="18" charset="-127"/>
            </a:endParaRPr>
          </a:p>
        </p:txBody>
      </p:sp>
      <p:graphicFrame>
        <p:nvGraphicFramePr>
          <p:cNvPr id="2" name="표 1"/>
          <p:cNvGraphicFramePr>
            <a:graphicFrameLocks noGrp="1"/>
          </p:cNvGraphicFramePr>
          <p:nvPr/>
        </p:nvGraphicFramePr>
        <p:xfrm>
          <a:off x="704528" y="2560567"/>
          <a:ext cx="3996443" cy="919714"/>
        </p:xfrm>
        <a:graphic>
          <a:graphicData uri="http://schemas.openxmlformats.org/drawingml/2006/table">
            <a:tbl>
              <a:tblPr firstRow="1" bandRow="1">
                <a:tableStyleId>{5C22544A-7EE6-4342-B048-85BDC9FD1C3A}</a:tableStyleId>
              </a:tblPr>
              <a:tblGrid>
                <a:gridCol w="363313">
                  <a:extLst>
                    <a:ext uri="{9D8B030D-6E8A-4147-A177-3AD203B41FA5}">
                      <a16:colId xmlns:a16="http://schemas.microsoft.com/office/drawing/2014/main" val="1464331779"/>
                    </a:ext>
                  </a:extLst>
                </a:gridCol>
                <a:gridCol w="363313">
                  <a:extLst>
                    <a:ext uri="{9D8B030D-6E8A-4147-A177-3AD203B41FA5}">
                      <a16:colId xmlns:a16="http://schemas.microsoft.com/office/drawing/2014/main" val="2649673415"/>
                    </a:ext>
                  </a:extLst>
                </a:gridCol>
                <a:gridCol w="363313">
                  <a:extLst>
                    <a:ext uri="{9D8B030D-6E8A-4147-A177-3AD203B41FA5}">
                      <a16:colId xmlns:a16="http://schemas.microsoft.com/office/drawing/2014/main" val="353019391"/>
                    </a:ext>
                  </a:extLst>
                </a:gridCol>
                <a:gridCol w="363313">
                  <a:extLst>
                    <a:ext uri="{9D8B030D-6E8A-4147-A177-3AD203B41FA5}">
                      <a16:colId xmlns:a16="http://schemas.microsoft.com/office/drawing/2014/main" val="2837004393"/>
                    </a:ext>
                  </a:extLst>
                </a:gridCol>
                <a:gridCol w="363313">
                  <a:extLst>
                    <a:ext uri="{9D8B030D-6E8A-4147-A177-3AD203B41FA5}">
                      <a16:colId xmlns:a16="http://schemas.microsoft.com/office/drawing/2014/main" val="1298904067"/>
                    </a:ext>
                  </a:extLst>
                </a:gridCol>
                <a:gridCol w="363313">
                  <a:extLst>
                    <a:ext uri="{9D8B030D-6E8A-4147-A177-3AD203B41FA5}">
                      <a16:colId xmlns:a16="http://schemas.microsoft.com/office/drawing/2014/main" val="2072698331"/>
                    </a:ext>
                  </a:extLst>
                </a:gridCol>
                <a:gridCol w="363313">
                  <a:extLst>
                    <a:ext uri="{9D8B030D-6E8A-4147-A177-3AD203B41FA5}">
                      <a16:colId xmlns:a16="http://schemas.microsoft.com/office/drawing/2014/main" val="932961161"/>
                    </a:ext>
                  </a:extLst>
                </a:gridCol>
                <a:gridCol w="363313">
                  <a:extLst>
                    <a:ext uri="{9D8B030D-6E8A-4147-A177-3AD203B41FA5}">
                      <a16:colId xmlns:a16="http://schemas.microsoft.com/office/drawing/2014/main" val="3188609624"/>
                    </a:ext>
                  </a:extLst>
                </a:gridCol>
                <a:gridCol w="363313">
                  <a:extLst>
                    <a:ext uri="{9D8B030D-6E8A-4147-A177-3AD203B41FA5}">
                      <a16:colId xmlns:a16="http://schemas.microsoft.com/office/drawing/2014/main" val="2999737967"/>
                    </a:ext>
                  </a:extLst>
                </a:gridCol>
                <a:gridCol w="363313">
                  <a:extLst>
                    <a:ext uri="{9D8B030D-6E8A-4147-A177-3AD203B41FA5}">
                      <a16:colId xmlns:a16="http://schemas.microsoft.com/office/drawing/2014/main" val="55751100"/>
                    </a:ext>
                  </a:extLst>
                </a:gridCol>
                <a:gridCol w="363313">
                  <a:extLst>
                    <a:ext uri="{9D8B030D-6E8A-4147-A177-3AD203B41FA5}">
                      <a16:colId xmlns:a16="http://schemas.microsoft.com/office/drawing/2014/main" val="2878669583"/>
                    </a:ext>
                  </a:extLst>
                </a:gridCol>
              </a:tblGrid>
              <a:tr h="180850">
                <a:tc rowSpan="2" gridSpan="3">
                  <a:txBody>
                    <a:bodyPr/>
                    <a:lstStyle/>
                    <a:p>
                      <a:pPr algn="ctr" latinLnBrk="1"/>
                      <a:r>
                        <a:rPr lang="ko-KR" altLang="en-US" sz="900" b="0" dirty="0">
                          <a:solidFill>
                            <a:schemeClr val="bg1"/>
                          </a:solidFill>
                          <a:latin typeface="Arial Narrow" panose="020B0606020202030204" pitchFamily="34" charset="0"/>
                        </a:rPr>
                        <a:t>수요</a:t>
                      </a:r>
                    </a:p>
                  </a:txBody>
                  <a:tcPr marL="0" marR="0" marT="0" marB="0" anchor="ctr">
                    <a:lnL w="3175"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65B6B"/>
                    </a:solidFill>
                  </a:tcPr>
                </a:tc>
                <a:tc rowSpan="2" h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5">
                  <a:txBody>
                    <a:bodyPr/>
                    <a:lstStyle/>
                    <a:p>
                      <a:pPr algn="ctr" latinLnBrk="1"/>
                      <a:r>
                        <a:rPr lang="ko-KR" altLang="en-US" sz="900" b="0" dirty="0">
                          <a:solidFill>
                            <a:schemeClr val="bg1"/>
                          </a:solidFill>
                          <a:latin typeface="Arial Narrow" panose="020B0606020202030204" pitchFamily="34" charset="0"/>
                        </a:rPr>
                        <a:t>공급</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gridSpan="3">
                  <a:txBody>
                    <a:bodyPr/>
                    <a:lstStyle/>
                    <a:p>
                      <a:pPr algn="ctr" latinLnBrk="1"/>
                      <a:r>
                        <a:rPr lang="ko-KR" altLang="en-US" sz="900" b="0" dirty="0" err="1">
                          <a:solidFill>
                            <a:schemeClr val="tx1"/>
                          </a:solidFill>
                          <a:latin typeface="Arial Narrow" panose="020B0606020202030204" pitchFamily="34" charset="0"/>
                        </a:rPr>
                        <a:t>수급차</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986214"/>
                  </a:ext>
                </a:extLst>
              </a:tr>
              <a:tr h="180850">
                <a:tc gridSpan="3" v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900" b="0" dirty="0">
                        <a:solidFill>
                          <a:schemeClr val="bg1"/>
                        </a:solidFill>
                        <a:latin typeface="Arial Narrow" panose="020B0606020202030204" pitchFamily="34" charset="0"/>
                      </a:endParaRP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gridSpan="2">
                  <a:txBody>
                    <a:bodyPr/>
                    <a:lstStyle/>
                    <a:p>
                      <a:pPr algn="ctr" latinLnBrk="1"/>
                      <a:r>
                        <a:rPr lang="ko-KR" altLang="en-US" sz="900" b="0" dirty="0">
                          <a:solidFill>
                            <a:schemeClr val="bg1"/>
                          </a:solidFill>
                          <a:latin typeface="Arial Narrow" panose="020B0606020202030204" pitchFamily="34" charset="0"/>
                        </a:rPr>
                        <a:t>정부</a:t>
                      </a:r>
                      <a:r>
                        <a:rPr lang="en-US" altLang="ko-KR" sz="900" b="0" dirty="0">
                          <a:solidFill>
                            <a:schemeClr val="bg1"/>
                          </a:solidFill>
                          <a:latin typeface="Arial Narrow" panose="020B0606020202030204" pitchFamily="34" charset="0"/>
                        </a:rPr>
                        <a:t>/</a:t>
                      </a:r>
                      <a:r>
                        <a:rPr lang="ko-KR" altLang="en-US" sz="900" b="0" dirty="0">
                          <a:solidFill>
                            <a:schemeClr val="bg1"/>
                          </a:solidFill>
                          <a:latin typeface="Arial Narrow" panose="020B0606020202030204" pitchFamily="34" charset="0"/>
                        </a:rPr>
                        <a:t>민간</a:t>
                      </a: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dirty="0">
                          <a:solidFill>
                            <a:schemeClr val="bg1"/>
                          </a:solidFill>
                          <a:latin typeface="Arial Narrow" panose="020B0606020202030204" pitchFamily="34" charset="0"/>
                        </a:rPr>
                        <a:t>대학</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3"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9699489"/>
                  </a:ext>
                </a:extLst>
              </a:tr>
              <a:tr h="180850">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704784139"/>
                  </a:ext>
                </a:extLst>
              </a:tr>
              <a:tr h="377164">
                <a:tc>
                  <a:txBody>
                    <a:bodyPr/>
                    <a:lstStyle/>
                    <a:p>
                      <a:pPr algn="ctr" latinLnBrk="1"/>
                      <a:r>
                        <a:rPr lang="en-US" altLang="ko-KR" sz="900" b="0" dirty="0">
                          <a:solidFill>
                            <a:schemeClr val="tx1"/>
                          </a:solidFill>
                          <a:latin typeface="Arial Narrow" panose="020B0606020202030204" pitchFamily="34" charset="0"/>
                        </a:rPr>
                        <a:t>66,100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44,600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21,500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53,300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46,200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2,200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900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1" dirty="0">
                          <a:solidFill>
                            <a:schemeClr val="tx1"/>
                          </a:solidFill>
                          <a:latin typeface="Arial Narrow" panose="020B0606020202030204" pitchFamily="34" charset="0"/>
                        </a:rPr>
                        <a:t>-12,800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3,800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-16,600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634128496"/>
                  </a:ext>
                </a:extLst>
              </a:tr>
            </a:tbl>
          </a:graphicData>
        </a:graphic>
      </p:graphicFrame>
      <p:sp>
        <p:nvSpPr>
          <p:cNvPr id="45" name="직사각형 44">
            <a:extLst>
              <a:ext uri="{FF2B5EF4-FFF2-40B4-BE49-F238E27FC236}">
                <a16:creationId xmlns:a16="http://schemas.microsoft.com/office/drawing/2014/main" id="{59332514-3AEB-42C9-87BE-78886ED1D1F9}"/>
              </a:ext>
            </a:extLst>
          </p:cNvPr>
          <p:cNvSpPr/>
          <p:nvPr/>
        </p:nvSpPr>
        <p:spPr>
          <a:xfrm>
            <a:off x="704528" y="3582196"/>
            <a:ext cx="3996443" cy="572064"/>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1050" spc="-50" dirty="0">
                <a:solidFill>
                  <a:schemeClr val="tx1"/>
                </a:solidFill>
                <a:latin typeface="Arial Narrow" panose="020B0606020202030204" pitchFamily="34" charset="0"/>
                <a:ea typeface="a고딕14" panose="02020600000000000000" pitchFamily="18" charset="-127"/>
              </a:rPr>
              <a:t>의료</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금융</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제조</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서비스 등 다양한 분야에서 </a:t>
            </a:r>
            <a:r>
              <a:rPr lang="en-US" altLang="ko-KR" sz="1050" spc="-50" dirty="0">
                <a:solidFill>
                  <a:schemeClr val="tx1"/>
                </a:solidFill>
                <a:latin typeface="Arial Narrow" panose="020B0606020202030204" pitchFamily="34" charset="0"/>
                <a:ea typeface="a고딕14" panose="02020600000000000000" pitchFamily="18" charset="-127"/>
              </a:rPr>
              <a:t>AI </a:t>
            </a:r>
            <a:r>
              <a:rPr lang="ko-KR" altLang="en-US" sz="1050" spc="-50" dirty="0">
                <a:solidFill>
                  <a:schemeClr val="tx1"/>
                </a:solidFill>
                <a:latin typeface="Arial Narrow" panose="020B0606020202030204" pitchFamily="34" charset="0"/>
                <a:ea typeface="a고딕14" panose="02020600000000000000" pitchFamily="18" charset="-127"/>
              </a:rPr>
              <a:t>활용 확대 및 국제적으로 </a:t>
            </a:r>
            <a:r>
              <a:rPr lang="en-US" altLang="ko-KR" sz="1050" spc="-50" dirty="0">
                <a:solidFill>
                  <a:schemeClr val="tx1"/>
                </a:solidFill>
                <a:latin typeface="Arial Narrow" panose="020B0606020202030204" pitchFamily="34" charset="0"/>
                <a:ea typeface="a고딕14" panose="02020600000000000000" pitchFamily="18" charset="-127"/>
              </a:rPr>
              <a:t>AI </a:t>
            </a:r>
            <a:r>
              <a:rPr lang="ko-KR" altLang="en-US" sz="1050" spc="-50" dirty="0">
                <a:solidFill>
                  <a:schemeClr val="tx1"/>
                </a:solidFill>
                <a:latin typeface="Arial Narrow" panose="020B0606020202030204" pitchFamily="34" charset="0"/>
                <a:ea typeface="a고딕14" panose="02020600000000000000" pitchFamily="18" charset="-127"/>
              </a:rPr>
              <a:t>기술의 중요성이 강조되는 상황으로 고급인력 해외유출 우려 등 </a:t>
            </a:r>
            <a:r>
              <a:rPr lang="ko-KR" altLang="en-US" sz="1050" spc="-50" dirty="0" err="1">
                <a:solidFill>
                  <a:schemeClr val="tx1"/>
                </a:solidFill>
                <a:latin typeface="Arial Narrow" panose="020B0606020202030204" pitchFamily="34" charset="0"/>
                <a:ea typeface="a고딕14" panose="02020600000000000000" pitchFamily="18" charset="-127"/>
              </a:rPr>
              <a:t>고급수준</a:t>
            </a:r>
            <a:r>
              <a:rPr lang="ko-KR" altLang="en-US" sz="1050" spc="-50" dirty="0">
                <a:solidFill>
                  <a:schemeClr val="tx1"/>
                </a:solidFill>
                <a:latin typeface="Arial Narrow" panose="020B0606020202030204" pitchFamily="34" charset="0"/>
                <a:ea typeface="a고딕14" panose="02020600000000000000" pitchFamily="18" charset="-127"/>
              </a:rPr>
              <a:t> 인력난 심화 전망</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aphicFrame>
        <p:nvGraphicFramePr>
          <p:cNvPr id="46" name="표 45"/>
          <p:cNvGraphicFramePr>
            <a:graphicFrameLocks noGrp="1"/>
          </p:cNvGraphicFramePr>
          <p:nvPr/>
        </p:nvGraphicFramePr>
        <p:xfrm>
          <a:off x="5277037" y="2560567"/>
          <a:ext cx="3996443" cy="919714"/>
        </p:xfrm>
        <a:graphic>
          <a:graphicData uri="http://schemas.openxmlformats.org/drawingml/2006/table">
            <a:tbl>
              <a:tblPr firstRow="1" bandRow="1">
                <a:tableStyleId>{5C22544A-7EE6-4342-B048-85BDC9FD1C3A}</a:tableStyleId>
              </a:tblPr>
              <a:tblGrid>
                <a:gridCol w="363313">
                  <a:extLst>
                    <a:ext uri="{9D8B030D-6E8A-4147-A177-3AD203B41FA5}">
                      <a16:colId xmlns:a16="http://schemas.microsoft.com/office/drawing/2014/main" val="1464331779"/>
                    </a:ext>
                  </a:extLst>
                </a:gridCol>
                <a:gridCol w="363313">
                  <a:extLst>
                    <a:ext uri="{9D8B030D-6E8A-4147-A177-3AD203B41FA5}">
                      <a16:colId xmlns:a16="http://schemas.microsoft.com/office/drawing/2014/main" val="2649673415"/>
                    </a:ext>
                  </a:extLst>
                </a:gridCol>
                <a:gridCol w="363313">
                  <a:extLst>
                    <a:ext uri="{9D8B030D-6E8A-4147-A177-3AD203B41FA5}">
                      <a16:colId xmlns:a16="http://schemas.microsoft.com/office/drawing/2014/main" val="353019391"/>
                    </a:ext>
                  </a:extLst>
                </a:gridCol>
                <a:gridCol w="363313">
                  <a:extLst>
                    <a:ext uri="{9D8B030D-6E8A-4147-A177-3AD203B41FA5}">
                      <a16:colId xmlns:a16="http://schemas.microsoft.com/office/drawing/2014/main" val="2837004393"/>
                    </a:ext>
                  </a:extLst>
                </a:gridCol>
                <a:gridCol w="363313">
                  <a:extLst>
                    <a:ext uri="{9D8B030D-6E8A-4147-A177-3AD203B41FA5}">
                      <a16:colId xmlns:a16="http://schemas.microsoft.com/office/drawing/2014/main" val="1298904067"/>
                    </a:ext>
                  </a:extLst>
                </a:gridCol>
                <a:gridCol w="363313">
                  <a:extLst>
                    <a:ext uri="{9D8B030D-6E8A-4147-A177-3AD203B41FA5}">
                      <a16:colId xmlns:a16="http://schemas.microsoft.com/office/drawing/2014/main" val="2072698331"/>
                    </a:ext>
                  </a:extLst>
                </a:gridCol>
                <a:gridCol w="363313">
                  <a:extLst>
                    <a:ext uri="{9D8B030D-6E8A-4147-A177-3AD203B41FA5}">
                      <a16:colId xmlns:a16="http://schemas.microsoft.com/office/drawing/2014/main" val="932961161"/>
                    </a:ext>
                  </a:extLst>
                </a:gridCol>
                <a:gridCol w="363313">
                  <a:extLst>
                    <a:ext uri="{9D8B030D-6E8A-4147-A177-3AD203B41FA5}">
                      <a16:colId xmlns:a16="http://schemas.microsoft.com/office/drawing/2014/main" val="3188609624"/>
                    </a:ext>
                  </a:extLst>
                </a:gridCol>
                <a:gridCol w="363313">
                  <a:extLst>
                    <a:ext uri="{9D8B030D-6E8A-4147-A177-3AD203B41FA5}">
                      <a16:colId xmlns:a16="http://schemas.microsoft.com/office/drawing/2014/main" val="2999737967"/>
                    </a:ext>
                  </a:extLst>
                </a:gridCol>
                <a:gridCol w="363313">
                  <a:extLst>
                    <a:ext uri="{9D8B030D-6E8A-4147-A177-3AD203B41FA5}">
                      <a16:colId xmlns:a16="http://schemas.microsoft.com/office/drawing/2014/main" val="55751100"/>
                    </a:ext>
                  </a:extLst>
                </a:gridCol>
                <a:gridCol w="363313">
                  <a:extLst>
                    <a:ext uri="{9D8B030D-6E8A-4147-A177-3AD203B41FA5}">
                      <a16:colId xmlns:a16="http://schemas.microsoft.com/office/drawing/2014/main" val="2878669583"/>
                    </a:ext>
                  </a:extLst>
                </a:gridCol>
              </a:tblGrid>
              <a:tr h="180850">
                <a:tc rowSpan="2" gridSpan="3">
                  <a:txBody>
                    <a:bodyPr/>
                    <a:lstStyle/>
                    <a:p>
                      <a:pPr algn="ctr" latinLnBrk="1"/>
                      <a:r>
                        <a:rPr lang="ko-KR" altLang="en-US" sz="900" b="0" dirty="0">
                          <a:solidFill>
                            <a:schemeClr val="bg1"/>
                          </a:solidFill>
                          <a:latin typeface="Arial Narrow" panose="020B0606020202030204" pitchFamily="34" charset="0"/>
                        </a:rPr>
                        <a:t>수요</a:t>
                      </a:r>
                    </a:p>
                  </a:txBody>
                  <a:tcPr marL="0" marR="0" marT="0" marB="0" anchor="ctr">
                    <a:lnL w="3175"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65B6B"/>
                    </a:solidFill>
                  </a:tcPr>
                </a:tc>
                <a:tc rowSpan="2" h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5">
                  <a:txBody>
                    <a:bodyPr/>
                    <a:lstStyle/>
                    <a:p>
                      <a:pPr algn="ctr" latinLnBrk="1"/>
                      <a:r>
                        <a:rPr lang="ko-KR" altLang="en-US" sz="900" b="0" dirty="0">
                          <a:solidFill>
                            <a:schemeClr val="bg1"/>
                          </a:solidFill>
                          <a:latin typeface="Arial Narrow" panose="020B0606020202030204" pitchFamily="34" charset="0"/>
                        </a:rPr>
                        <a:t>공급</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gridSpan="3">
                  <a:txBody>
                    <a:bodyPr/>
                    <a:lstStyle/>
                    <a:p>
                      <a:pPr algn="ctr" latinLnBrk="1"/>
                      <a:r>
                        <a:rPr lang="ko-KR" altLang="en-US" sz="900" b="0" dirty="0" err="1">
                          <a:solidFill>
                            <a:schemeClr val="tx1"/>
                          </a:solidFill>
                          <a:latin typeface="Arial Narrow" panose="020B0606020202030204" pitchFamily="34" charset="0"/>
                        </a:rPr>
                        <a:t>수급차</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986214"/>
                  </a:ext>
                </a:extLst>
              </a:tr>
              <a:tr h="180850">
                <a:tc gridSpan="3" v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900" b="0" dirty="0">
                        <a:solidFill>
                          <a:schemeClr val="bg1"/>
                        </a:solidFill>
                        <a:latin typeface="Arial Narrow" panose="020B0606020202030204" pitchFamily="34" charset="0"/>
                      </a:endParaRP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gridSpan="2">
                  <a:txBody>
                    <a:bodyPr/>
                    <a:lstStyle/>
                    <a:p>
                      <a:pPr algn="ctr" latinLnBrk="1"/>
                      <a:r>
                        <a:rPr lang="ko-KR" altLang="en-US" sz="900" b="0" dirty="0">
                          <a:solidFill>
                            <a:schemeClr val="bg1"/>
                          </a:solidFill>
                          <a:latin typeface="Arial Narrow" panose="020B0606020202030204" pitchFamily="34" charset="0"/>
                        </a:rPr>
                        <a:t>정부</a:t>
                      </a:r>
                      <a:r>
                        <a:rPr lang="en-US" altLang="ko-KR" sz="900" b="0" dirty="0">
                          <a:solidFill>
                            <a:schemeClr val="bg1"/>
                          </a:solidFill>
                          <a:latin typeface="Arial Narrow" panose="020B0606020202030204" pitchFamily="34" charset="0"/>
                        </a:rPr>
                        <a:t>/</a:t>
                      </a:r>
                      <a:r>
                        <a:rPr lang="ko-KR" altLang="en-US" sz="900" b="0" dirty="0">
                          <a:solidFill>
                            <a:schemeClr val="bg1"/>
                          </a:solidFill>
                          <a:latin typeface="Arial Narrow" panose="020B0606020202030204" pitchFamily="34" charset="0"/>
                        </a:rPr>
                        <a:t>민간</a:t>
                      </a: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dirty="0">
                          <a:solidFill>
                            <a:schemeClr val="bg1"/>
                          </a:solidFill>
                          <a:latin typeface="Arial Narrow" panose="020B0606020202030204" pitchFamily="34" charset="0"/>
                        </a:rPr>
                        <a:t>대학</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3"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9699489"/>
                  </a:ext>
                </a:extLst>
              </a:tr>
              <a:tr h="180850">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704784139"/>
                  </a:ext>
                </a:extLst>
              </a:tr>
              <a:tr h="377164">
                <a:tc>
                  <a:txBody>
                    <a:bodyPr/>
                    <a:lstStyle/>
                    <a:p>
                      <a:pPr algn="ctr" latinLnBrk="1"/>
                      <a:r>
                        <a:rPr lang="en-US" altLang="ko-KR" sz="900" b="0" dirty="0">
                          <a:solidFill>
                            <a:schemeClr val="tx1"/>
                          </a:solidFill>
                          <a:latin typeface="Arial Narrow" panose="020B0606020202030204" pitchFamily="34" charset="0"/>
                        </a:rPr>
                        <a:t>62,600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51,400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11,200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43,800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40,300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2,800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1" dirty="0">
                          <a:solidFill>
                            <a:schemeClr val="tx1"/>
                          </a:solidFill>
                          <a:latin typeface="Arial Narrow" panose="020B0606020202030204" pitchFamily="34" charset="0"/>
                        </a:rPr>
                        <a:t>-18,800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-8,300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-10,500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634128496"/>
                  </a:ext>
                </a:extLst>
              </a:tr>
            </a:tbl>
          </a:graphicData>
        </a:graphic>
      </p:graphicFrame>
      <p:sp>
        <p:nvSpPr>
          <p:cNvPr id="47" name="직사각형 46">
            <a:extLst>
              <a:ext uri="{FF2B5EF4-FFF2-40B4-BE49-F238E27FC236}">
                <a16:creationId xmlns:a16="http://schemas.microsoft.com/office/drawing/2014/main" id="{59332514-3AEB-42C9-87BE-78886ED1D1F9}"/>
              </a:ext>
            </a:extLst>
          </p:cNvPr>
          <p:cNvSpPr/>
          <p:nvPr/>
        </p:nvSpPr>
        <p:spPr>
          <a:xfrm>
            <a:off x="5277037" y="3582196"/>
            <a:ext cx="3996443" cy="572064"/>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1050" spc="-50" dirty="0">
                <a:solidFill>
                  <a:schemeClr val="tx1"/>
                </a:solidFill>
                <a:latin typeface="Arial Narrow" panose="020B0606020202030204" pitchFamily="34" charset="0"/>
                <a:ea typeface="a고딕14" panose="02020600000000000000" pitchFamily="18" charset="-127"/>
              </a:rPr>
              <a:t>서버</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소프트웨어 등 </a:t>
            </a:r>
            <a:r>
              <a:rPr lang="ko-KR" altLang="en-US" sz="1050" spc="-50" dirty="0" err="1">
                <a:solidFill>
                  <a:schemeClr val="tx1"/>
                </a:solidFill>
                <a:latin typeface="Arial Narrow" panose="020B0606020202030204" pitchFamily="34" charset="0"/>
                <a:ea typeface="a고딕14" panose="02020600000000000000" pitchFamily="18" charset="-127"/>
              </a:rPr>
              <a:t>클라우드</a:t>
            </a:r>
            <a:r>
              <a:rPr lang="ko-KR" altLang="en-US" sz="1050" spc="-50" dirty="0">
                <a:solidFill>
                  <a:schemeClr val="tx1"/>
                </a:solidFill>
                <a:latin typeface="Arial Narrow" panose="020B0606020202030204" pitchFamily="34" charset="0"/>
                <a:ea typeface="a고딕14" panose="02020600000000000000" pitchFamily="18" charset="-127"/>
              </a:rPr>
              <a:t> 서비스 확산 및 지속적인 시장 성장으로 인력 부족 심화</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특히</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서버의 관리</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보수 등을 위한 </a:t>
            </a:r>
            <a:r>
              <a:rPr lang="ko-KR" altLang="en-US" sz="1050" spc="-50" dirty="0" err="1">
                <a:solidFill>
                  <a:schemeClr val="tx1"/>
                </a:solidFill>
                <a:latin typeface="Arial Narrow" panose="020B0606020202030204" pitchFamily="34" charset="0"/>
                <a:ea typeface="a고딕14" panose="02020600000000000000" pitchFamily="18" charset="-127"/>
              </a:rPr>
              <a:t>운영인력과</a:t>
            </a:r>
            <a:r>
              <a:rPr lang="ko-KR" altLang="en-US" sz="1050" spc="-50" dirty="0">
                <a:solidFill>
                  <a:schemeClr val="tx1"/>
                </a:solidFill>
                <a:latin typeface="Arial Narrow" panose="020B0606020202030204" pitchFamily="34" charset="0"/>
                <a:ea typeface="a고딕14" panose="02020600000000000000" pitchFamily="18" charset="-127"/>
              </a:rPr>
              <a:t> 시스템 개발인력 모두 부족한 상황</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aphicFrame>
        <p:nvGraphicFramePr>
          <p:cNvPr id="48" name="표 47"/>
          <p:cNvGraphicFramePr>
            <a:graphicFrameLocks noGrp="1"/>
          </p:cNvGraphicFramePr>
          <p:nvPr/>
        </p:nvGraphicFramePr>
        <p:xfrm>
          <a:off x="704528" y="4772768"/>
          <a:ext cx="3996443" cy="919714"/>
        </p:xfrm>
        <a:graphic>
          <a:graphicData uri="http://schemas.openxmlformats.org/drawingml/2006/table">
            <a:tbl>
              <a:tblPr firstRow="1" bandRow="1">
                <a:tableStyleId>{5C22544A-7EE6-4342-B048-85BDC9FD1C3A}</a:tableStyleId>
              </a:tblPr>
              <a:tblGrid>
                <a:gridCol w="363313">
                  <a:extLst>
                    <a:ext uri="{9D8B030D-6E8A-4147-A177-3AD203B41FA5}">
                      <a16:colId xmlns:a16="http://schemas.microsoft.com/office/drawing/2014/main" val="1464331779"/>
                    </a:ext>
                  </a:extLst>
                </a:gridCol>
                <a:gridCol w="363313">
                  <a:extLst>
                    <a:ext uri="{9D8B030D-6E8A-4147-A177-3AD203B41FA5}">
                      <a16:colId xmlns:a16="http://schemas.microsoft.com/office/drawing/2014/main" val="2649673415"/>
                    </a:ext>
                  </a:extLst>
                </a:gridCol>
                <a:gridCol w="363313">
                  <a:extLst>
                    <a:ext uri="{9D8B030D-6E8A-4147-A177-3AD203B41FA5}">
                      <a16:colId xmlns:a16="http://schemas.microsoft.com/office/drawing/2014/main" val="353019391"/>
                    </a:ext>
                  </a:extLst>
                </a:gridCol>
                <a:gridCol w="363313">
                  <a:extLst>
                    <a:ext uri="{9D8B030D-6E8A-4147-A177-3AD203B41FA5}">
                      <a16:colId xmlns:a16="http://schemas.microsoft.com/office/drawing/2014/main" val="2837004393"/>
                    </a:ext>
                  </a:extLst>
                </a:gridCol>
                <a:gridCol w="363313">
                  <a:extLst>
                    <a:ext uri="{9D8B030D-6E8A-4147-A177-3AD203B41FA5}">
                      <a16:colId xmlns:a16="http://schemas.microsoft.com/office/drawing/2014/main" val="1298904067"/>
                    </a:ext>
                  </a:extLst>
                </a:gridCol>
                <a:gridCol w="363313">
                  <a:extLst>
                    <a:ext uri="{9D8B030D-6E8A-4147-A177-3AD203B41FA5}">
                      <a16:colId xmlns:a16="http://schemas.microsoft.com/office/drawing/2014/main" val="2072698331"/>
                    </a:ext>
                  </a:extLst>
                </a:gridCol>
                <a:gridCol w="363313">
                  <a:extLst>
                    <a:ext uri="{9D8B030D-6E8A-4147-A177-3AD203B41FA5}">
                      <a16:colId xmlns:a16="http://schemas.microsoft.com/office/drawing/2014/main" val="932961161"/>
                    </a:ext>
                  </a:extLst>
                </a:gridCol>
                <a:gridCol w="363313">
                  <a:extLst>
                    <a:ext uri="{9D8B030D-6E8A-4147-A177-3AD203B41FA5}">
                      <a16:colId xmlns:a16="http://schemas.microsoft.com/office/drawing/2014/main" val="3188609624"/>
                    </a:ext>
                  </a:extLst>
                </a:gridCol>
                <a:gridCol w="363313">
                  <a:extLst>
                    <a:ext uri="{9D8B030D-6E8A-4147-A177-3AD203B41FA5}">
                      <a16:colId xmlns:a16="http://schemas.microsoft.com/office/drawing/2014/main" val="2999737967"/>
                    </a:ext>
                  </a:extLst>
                </a:gridCol>
                <a:gridCol w="363313">
                  <a:extLst>
                    <a:ext uri="{9D8B030D-6E8A-4147-A177-3AD203B41FA5}">
                      <a16:colId xmlns:a16="http://schemas.microsoft.com/office/drawing/2014/main" val="55751100"/>
                    </a:ext>
                  </a:extLst>
                </a:gridCol>
                <a:gridCol w="363313">
                  <a:extLst>
                    <a:ext uri="{9D8B030D-6E8A-4147-A177-3AD203B41FA5}">
                      <a16:colId xmlns:a16="http://schemas.microsoft.com/office/drawing/2014/main" val="2878669583"/>
                    </a:ext>
                  </a:extLst>
                </a:gridCol>
              </a:tblGrid>
              <a:tr h="180850">
                <a:tc rowSpan="2" gridSpan="3">
                  <a:txBody>
                    <a:bodyPr/>
                    <a:lstStyle/>
                    <a:p>
                      <a:pPr algn="ctr" latinLnBrk="1"/>
                      <a:r>
                        <a:rPr lang="ko-KR" altLang="en-US" sz="900" b="0" dirty="0">
                          <a:solidFill>
                            <a:schemeClr val="bg1"/>
                          </a:solidFill>
                          <a:latin typeface="Arial Narrow" panose="020B0606020202030204" pitchFamily="34" charset="0"/>
                        </a:rPr>
                        <a:t>수요</a:t>
                      </a:r>
                    </a:p>
                  </a:txBody>
                  <a:tcPr marL="0" marR="0" marT="0" marB="0" anchor="ctr">
                    <a:lnL w="3175"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65B6B"/>
                    </a:solidFill>
                  </a:tcPr>
                </a:tc>
                <a:tc rowSpan="2" h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5">
                  <a:txBody>
                    <a:bodyPr/>
                    <a:lstStyle/>
                    <a:p>
                      <a:pPr algn="ctr" latinLnBrk="1"/>
                      <a:r>
                        <a:rPr lang="ko-KR" altLang="en-US" sz="900" b="0" dirty="0">
                          <a:solidFill>
                            <a:schemeClr val="bg1"/>
                          </a:solidFill>
                          <a:latin typeface="Arial Narrow" panose="020B0606020202030204" pitchFamily="34" charset="0"/>
                        </a:rPr>
                        <a:t>공급</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gridSpan="3">
                  <a:txBody>
                    <a:bodyPr/>
                    <a:lstStyle/>
                    <a:p>
                      <a:pPr algn="ctr" latinLnBrk="1"/>
                      <a:r>
                        <a:rPr lang="ko-KR" altLang="en-US" sz="900" b="0" dirty="0" err="1">
                          <a:solidFill>
                            <a:schemeClr val="tx1"/>
                          </a:solidFill>
                          <a:latin typeface="Arial Narrow" panose="020B0606020202030204" pitchFamily="34" charset="0"/>
                        </a:rPr>
                        <a:t>수급차</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986214"/>
                  </a:ext>
                </a:extLst>
              </a:tr>
              <a:tr h="180850">
                <a:tc gridSpan="3" v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900" b="0" dirty="0">
                        <a:solidFill>
                          <a:schemeClr val="bg1"/>
                        </a:solidFill>
                        <a:latin typeface="Arial Narrow" panose="020B0606020202030204" pitchFamily="34" charset="0"/>
                      </a:endParaRP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gridSpan="2">
                  <a:txBody>
                    <a:bodyPr/>
                    <a:lstStyle/>
                    <a:p>
                      <a:pPr algn="ctr" latinLnBrk="1"/>
                      <a:r>
                        <a:rPr lang="ko-KR" altLang="en-US" sz="900" b="0" dirty="0">
                          <a:solidFill>
                            <a:schemeClr val="bg1"/>
                          </a:solidFill>
                          <a:latin typeface="Arial Narrow" panose="020B0606020202030204" pitchFamily="34" charset="0"/>
                        </a:rPr>
                        <a:t>정부</a:t>
                      </a:r>
                      <a:r>
                        <a:rPr lang="en-US" altLang="ko-KR" sz="900" b="0" dirty="0">
                          <a:solidFill>
                            <a:schemeClr val="bg1"/>
                          </a:solidFill>
                          <a:latin typeface="Arial Narrow" panose="020B0606020202030204" pitchFamily="34" charset="0"/>
                        </a:rPr>
                        <a:t>/</a:t>
                      </a:r>
                      <a:r>
                        <a:rPr lang="ko-KR" altLang="en-US" sz="900" b="0" dirty="0">
                          <a:solidFill>
                            <a:schemeClr val="bg1"/>
                          </a:solidFill>
                          <a:latin typeface="Arial Narrow" panose="020B0606020202030204" pitchFamily="34" charset="0"/>
                        </a:rPr>
                        <a:t>민간</a:t>
                      </a: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dirty="0">
                          <a:solidFill>
                            <a:schemeClr val="bg1"/>
                          </a:solidFill>
                          <a:latin typeface="Arial Narrow" panose="020B0606020202030204" pitchFamily="34" charset="0"/>
                        </a:rPr>
                        <a:t>대학</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3"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9699489"/>
                  </a:ext>
                </a:extLst>
              </a:tr>
              <a:tr h="180850">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704784139"/>
                  </a:ext>
                </a:extLst>
              </a:tr>
              <a:tr h="377164">
                <a:tc>
                  <a:txBody>
                    <a:bodyPr/>
                    <a:lstStyle/>
                    <a:p>
                      <a:pPr algn="ctr" latinLnBrk="1"/>
                      <a:r>
                        <a:rPr lang="en-US" altLang="ko-KR" sz="900" b="0" dirty="0">
                          <a:solidFill>
                            <a:schemeClr val="tx1"/>
                          </a:solidFill>
                          <a:latin typeface="Arial Narrow" panose="020B0606020202030204" pitchFamily="34" charset="0"/>
                        </a:rPr>
                        <a:t>99,000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69,000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30,000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79,400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53,000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1,800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20,300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4,300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1" dirty="0">
                          <a:solidFill>
                            <a:schemeClr val="tx1"/>
                          </a:solidFill>
                          <a:latin typeface="Arial Narrow" panose="020B0606020202030204" pitchFamily="34" charset="0"/>
                        </a:rPr>
                        <a:t>-19,600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4,300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-23,900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634128496"/>
                  </a:ext>
                </a:extLst>
              </a:tr>
            </a:tbl>
          </a:graphicData>
        </a:graphic>
      </p:graphicFrame>
      <p:sp>
        <p:nvSpPr>
          <p:cNvPr id="49" name="직사각형 48">
            <a:extLst>
              <a:ext uri="{FF2B5EF4-FFF2-40B4-BE49-F238E27FC236}">
                <a16:creationId xmlns:a16="http://schemas.microsoft.com/office/drawing/2014/main" id="{59332514-3AEB-42C9-87BE-78886ED1D1F9}"/>
              </a:ext>
            </a:extLst>
          </p:cNvPr>
          <p:cNvSpPr/>
          <p:nvPr/>
        </p:nvSpPr>
        <p:spPr>
          <a:xfrm>
            <a:off x="704528" y="5794397"/>
            <a:ext cx="3996443" cy="572064"/>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1050" spc="-50" dirty="0">
                <a:solidFill>
                  <a:schemeClr val="tx1"/>
                </a:solidFill>
                <a:latin typeface="Arial Narrow" panose="020B0606020202030204" pitchFamily="34" charset="0"/>
                <a:ea typeface="a고딕14" panose="02020600000000000000" pitchFamily="18" charset="-127"/>
              </a:rPr>
              <a:t>디지털 혁신의 기초인 데이터에 대한 중요성이 전 산업으로 확산되면서</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분야별 전문지식을 겸비한 고급 데이터 인력에 대한 수요가 확대 전망</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aphicFrame>
        <p:nvGraphicFramePr>
          <p:cNvPr id="50" name="표 49"/>
          <p:cNvGraphicFramePr>
            <a:graphicFrameLocks noGrp="1"/>
          </p:cNvGraphicFramePr>
          <p:nvPr/>
        </p:nvGraphicFramePr>
        <p:xfrm>
          <a:off x="5277037" y="4772768"/>
          <a:ext cx="3996443" cy="919714"/>
        </p:xfrm>
        <a:graphic>
          <a:graphicData uri="http://schemas.openxmlformats.org/drawingml/2006/table">
            <a:tbl>
              <a:tblPr firstRow="1" bandRow="1">
                <a:tableStyleId>{5C22544A-7EE6-4342-B048-85BDC9FD1C3A}</a:tableStyleId>
              </a:tblPr>
              <a:tblGrid>
                <a:gridCol w="363313">
                  <a:extLst>
                    <a:ext uri="{9D8B030D-6E8A-4147-A177-3AD203B41FA5}">
                      <a16:colId xmlns:a16="http://schemas.microsoft.com/office/drawing/2014/main" val="1464331779"/>
                    </a:ext>
                  </a:extLst>
                </a:gridCol>
                <a:gridCol w="363313">
                  <a:extLst>
                    <a:ext uri="{9D8B030D-6E8A-4147-A177-3AD203B41FA5}">
                      <a16:colId xmlns:a16="http://schemas.microsoft.com/office/drawing/2014/main" val="2649673415"/>
                    </a:ext>
                  </a:extLst>
                </a:gridCol>
                <a:gridCol w="363313">
                  <a:extLst>
                    <a:ext uri="{9D8B030D-6E8A-4147-A177-3AD203B41FA5}">
                      <a16:colId xmlns:a16="http://schemas.microsoft.com/office/drawing/2014/main" val="353019391"/>
                    </a:ext>
                  </a:extLst>
                </a:gridCol>
                <a:gridCol w="363313">
                  <a:extLst>
                    <a:ext uri="{9D8B030D-6E8A-4147-A177-3AD203B41FA5}">
                      <a16:colId xmlns:a16="http://schemas.microsoft.com/office/drawing/2014/main" val="2837004393"/>
                    </a:ext>
                  </a:extLst>
                </a:gridCol>
                <a:gridCol w="363313">
                  <a:extLst>
                    <a:ext uri="{9D8B030D-6E8A-4147-A177-3AD203B41FA5}">
                      <a16:colId xmlns:a16="http://schemas.microsoft.com/office/drawing/2014/main" val="1298904067"/>
                    </a:ext>
                  </a:extLst>
                </a:gridCol>
                <a:gridCol w="363313">
                  <a:extLst>
                    <a:ext uri="{9D8B030D-6E8A-4147-A177-3AD203B41FA5}">
                      <a16:colId xmlns:a16="http://schemas.microsoft.com/office/drawing/2014/main" val="2072698331"/>
                    </a:ext>
                  </a:extLst>
                </a:gridCol>
                <a:gridCol w="363313">
                  <a:extLst>
                    <a:ext uri="{9D8B030D-6E8A-4147-A177-3AD203B41FA5}">
                      <a16:colId xmlns:a16="http://schemas.microsoft.com/office/drawing/2014/main" val="932961161"/>
                    </a:ext>
                  </a:extLst>
                </a:gridCol>
                <a:gridCol w="363313">
                  <a:extLst>
                    <a:ext uri="{9D8B030D-6E8A-4147-A177-3AD203B41FA5}">
                      <a16:colId xmlns:a16="http://schemas.microsoft.com/office/drawing/2014/main" val="3188609624"/>
                    </a:ext>
                  </a:extLst>
                </a:gridCol>
                <a:gridCol w="363313">
                  <a:extLst>
                    <a:ext uri="{9D8B030D-6E8A-4147-A177-3AD203B41FA5}">
                      <a16:colId xmlns:a16="http://schemas.microsoft.com/office/drawing/2014/main" val="2999737967"/>
                    </a:ext>
                  </a:extLst>
                </a:gridCol>
                <a:gridCol w="363313">
                  <a:extLst>
                    <a:ext uri="{9D8B030D-6E8A-4147-A177-3AD203B41FA5}">
                      <a16:colId xmlns:a16="http://schemas.microsoft.com/office/drawing/2014/main" val="55751100"/>
                    </a:ext>
                  </a:extLst>
                </a:gridCol>
                <a:gridCol w="363313">
                  <a:extLst>
                    <a:ext uri="{9D8B030D-6E8A-4147-A177-3AD203B41FA5}">
                      <a16:colId xmlns:a16="http://schemas.microsoft.com/office/drawing/2014/main" val="2878669583"/>
                    </a:ext>
                  </a:extLst>
                </a:gridCol>
              </a:tblGrid>
              <a:tr h="180850">
                <a:tc rowSpan="2" gridSpan="3">
                  <a:txBody>
                    <a:bodyPr/>
                    <a:lstStyle/>
                    <a:p>
                      <a:pPr algn="ctr" latinLnBrk="1"/>
                      <a:r>
                        <a:rPr lang="ko-KR" altLang="en-US" sz="900" b="0" dirty="0">
                          <a:solidFill>
                            <a:schemeClr val="bg1"/>
                          </a:solidFill>
                          <a:latin typeface="Arial Narrow" panose="020B0606020202030204" pitchFamily="34" charset="0"/>
                        </a:rPr>
                        <a:t>수요</a:t>
                      </a:r>
                    </a:p>
                  </a:txBody>
                  <a:tcPr marL="0" marR="0" marT="0" marB="0" anchor="ctr">
                    <a:lnL w="3175"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65B6B"/>
                    </a:solidFill>
                  </a:tcPr>
                </a:tc>
                <a:tc rowSpan="2" h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5">
                  <a:txBody>
                    <a:bodyPr/>
                    <a:lstStyle/>
                    <a:p>
                      <a:pPr algn="ctr" latinLnBrk="1"/>
                      <a:r>
                        <a:rPr lang="ko-KR" altLang="en-US" sz="900" b="0" dirty="0">
                          <a:solidFill>
                            <a:schemeClr val="bg1"/>
                          </a:solidFill>
                          <a:latin typeface="Arial Narrow" panose="020B0606020202030204" pitchFamily="34" charset="0"/>
                        </a:rPr>
                        <a:t>공급</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gridSpan="3">
                  <a:txBody>
                    <a:bodyPr/>
                    <a:lstStyle/>
                    <a:p>
                      <a:pPr algn="ctr" latinLnBrk="1"/>
                      <a:r>
                        <a:rPr lang="ko-KR" altLang="en-US" sz="900" b="0" dirty="0" err="1">
                          <a:solidFill>
                            <a:schemeClr val="tx1"/>
                          </a:solidFill>
                          <a:latin typeface="Arial Narrow" panose="020B0606020202030204" pitchFamily="34" charset="0"/>
                        </a:rPr>
                        <a:t>수급차</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986214"/>
                  </a:ext>
                </a:extLst>
              </a:tr>
              <a:tr h="180850">
                <a:tc gridSpan="3" v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900" b="0" dirty="0">
                        <a:solidFill>
                          <a:schemeClr val="bg1"/>
                        </a:solidFill>
                        <a:latin typeface="Arial Narrow" panose="020B0606020202030204" pitchFamily="34" charset="0"/>
                      </a:endParaRP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gridSpan="2">
                  <a:txBody>
                    <a:bodyPr/>
                    <a:lstStyle/>
                    <a:p>
                      <a:pPr algn="ctr" latinLnBrk="1"/>
                      <a:r>
                        <a:rPr lang="ko-KR" altLang="en-US" sz="900" b="0" dirty="0">
                          <a:solidFill>
                            <a:schemeClr val="bg1"/>
                          </a:solidFill>
                          <a:latin typeface="Arial Narrow" panose="020B0606020202030204" pitchFamily="34" charset="0"/>
                        </a:rPr>
                        <a:t>정부</a:t>
                      </a:r>
                      <a:r>
                        <a:rPr lang="en-US" altLang="ko-KR" sz="900" b="0" dirty="0">
                          <a:solidFill>
                            <a:schemeClr val="bg1"/>
                          </a:solidFill>
                          <a:latin typeface="Arial Narrow" panose="020B0606020202030204" pitchFamily="34" charset="0"/>
                        </a:rPr>
                        <a:t>/</a:t>
                      </a:r>
                      <a:r>
                        <a:rPr lang="ko-KR" altLang="en-US" sz="900" b="0" dirty="0">
                          <a:solidFill>
                            <a:schemeClr val="bg1"/>
                          </a:solidFill>
                          <a:latin typeface="Arial Narrow" panose="020B0606020202030204" pitchFamily="34" charset="0"/>
                        </a:rPr>
                        <a:t>민간</a:t>
                      </a: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dirty="0">
                          <a:solidFill>
                            <a:schemeClr val="bg1"/>
                          </a:solidFill>
                          <a:latin typeface="Arial Narrow" panose="020B0606020202030204" pitchFamily="34" charset="0"/>
                        </a:rPr>
                        <a:t>대학</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3"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9699489"/>
                  </a:ext>
                </a:extLst>
              </a:tr>
              <a:tr h="180850">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704784139"/>
                  </a:ext>
                </a:extLst>
              </a:tr>
              <a:tr h="377164">
                <a:tc>
                  <a:txBody>
                    <a:bodyPr/>
                    <a:lstStyle/>
                    <a:p>
                      <a:pPr algn="ctr" latinLnBrk="1"/>
                      <a:r>
                        <a:rPr lang="en-US" altLang="ko-KR" sz="900" b="0" dirty="0">
                          <a:solidFill>
                            <a:schemeClr val="tx1"/>
                          </a:solidFill>
                          <a:latin typeface="Arial Narrow" panose="020B0606020202030204" pitchFamily="34" charset="0"/>
                        </a:rPr>
                        <a:t>14,000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10,600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3,400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5,600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3,600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1,200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800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1" dirty="0">
                          <a:solidFill>
                            <a:schemeClr val="tx1"/>
                          </a:solidFill>
                          <a:latin typeface="Arial Narrow" panose="020B0606020202030204" pitchFamily="34" charset="0"/>
                        </a:rPr>
                        <a:t>-8,400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-5,800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-2,600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634128496"/>
                  </a:ext>
                </a:extLst>
              </a:tr>
            </a:tbl>
          </a:graphicData>
        </a:graphic>
      </p:graphicFrame>
      <p:sp>
        <p:nvSpPr>
          <p:cNvPr id="51" name="직사각형 50">
            <a:extLst>
              <a:ext uri="{FF2B5EF4-FFF2-40B4-BE49-F238E27FC236}">
                <a16:creationId xmlns:a16="http://schemas.microsoft.com/office/drawing/2014/main" id="{59332514-3AEB-42C9-87BE-78886ED1D1F9}"/>
              </a:ext>
            </a:extLst>
          </p:cNvPr>
          <p:cNvSpPr/>
          <p:nvPr/>
        </p:nvSpPr>
        <p:spPr>
          <a:xfrm>
            <a:off x="5277037" y="5794397"/>
            <a:ext cx="3996443" cy="572064"/>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1050" spc="-50" dirty="0">
                <a:solidFill>
                  <a:schemeClr val="tx1"/>
                </a:solidFill>
                <a:latin typeface="Arial Narrow" panose="020B0606020202030204" pitchFamily="34" charset="0"/>
                <a:ea typeface="a고딕14" panose="02020600000000000000" pitchFamily="18" charset="-127"/>
              </a:rPr>
              <a:t>나노기술은 단독 상업화는 어려우나</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디스플레이</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에너지</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환경</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err="1">
                <a:solidFill>
                  <a:schemeClr val="tx1"/>
                </a:solidFill>
                <a:latin typeface="Arial Narrow" panose="020B0606020202030204" pitchFamily="34" charset="0"/>
                <a:ea typeface="a고딕14" panose="02020600000000000000" pitchFamily="18" charset="-127"/>
              </a:rPr>
              <a:t>바이오헬스</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소재 등 첨단분야의 성장으로 응용</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복합 나노 기술인력의 수요가 매우 크게 증가 전망</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967287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en-US" altLang="ko-KR" dirty="0"/>
              <a:t>STEP</a:t>
            </a:r>
            <a:r>
              <a:rPr lang="ko-KR" altLang="en-US" dirty="0"/>
              <a:t>은 전 국민 누구나 이용할 수 있는 </a:t>
            </a:r>
            <a:r>
              <a:rPr lang="ko-KR" altLang="en-US" dirty="0">
                <a:solidFill>
                  <a:srgbClr val="0070C0"/>
                </a:solidFill>
              </a:rPr>
              <a:t>온라인 기반의 평생직업능력개발 플랫폼</a:t>
            </a:r>
            <a:r>
              <a:rPr lang="ko-KR" altLang="en-US" dirty="0"/>
              <a:t>으로서</a:t>
            </a:r>
            <a:r>
              <a:rPr lang="en-US" altLang="ko-KR" dirty="0"/>
              <a:t>,</a:t>
            </a:r>
            <a:r>
              <a:rPr lang="ko-KR" altLang="en-US" dirty="0"/>
              <a:t> 다양한 방식으로 </a:t>
            </a:r>
            <a:r>
              <a:rPr lang="ko-KR" altLang="en-US" dirty="0">
                <a:solidFill>
                  <a:srgbClr val="0070C0"/>
                </a:solidFill>
              </a:rPr>
              <a:t>맞춤 직업훈련을 받을 수 있도록 지원</a:t>
            </a:r>
            <a:r>
              <a:rPr lang="ko-KR" altLang="en-US" dirty="0"/>
              <a:t>함</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sp>
        <p:nvSpPr>
          <p:cNvPr id="59"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a:latin typeface="a고딕14" panose="02020600000000000000" pitchFamily="18" charset="-127"/>
              </a:rPr>
              <a:t>온라인평생교육원의 교육 현황은</a:t>
            </a:r>
            <a:r>
              <a:rPr lang="en-US" altLang="ko-KR" dirty="0">
                <a:latin typeface="a고딕14" panose="02020600000000000000" pitchFamily="18" charset="-127"/>
              </a:rPr>
              <a:t>?</a:t>
            </a:r>
            <a:endParaRPr lang="en-US" altLang="ko-KR" dirty="0"/>
          </a:p>
        </p:txBody>
      </p:sp>
      <p:sp>
        <p:nvSpPr>
          <p:cNvPr id="60" name="직사각형 59"/>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1" name="직사각형 60"/>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cxnSp>
        <p:nvCxnSpPr>
          <p:cNvPr id="34" name="직선 화살표 연결선 33">
            <a:extLst>
              <a:ext uri="{FF2B5EF4-FFF2-40B4-BE49-F238E27FC236}">
                <a16:creationId xmlns:a16="http://schemas.microsoft.com/office/drawing/2014/main" id="{497A9DB5-9F9F-AB46-4A8F-34775100B9A7}"/>
              </a:ext>
            </a:extLst>
          </p:cNvPr>
          <p:cNvCxnSpPr>
            <a:cxnSpLocks/>
          </p:cNvCxnSpPr>
          <p:nvPr/>
        </p:nvCxnSpPr>
        <p:spPr>
          <a:xfrm flipV="1">
            <a:off x="1515862" y="2174988"/>
            <a:ext cx="0" cy="4314712"/>
          </a:xfrm>
          <a:prstGeom prst="straightConnector1">
            <a:avLst/>
          </a:prstGeom>
          <a:ln w="19050">
            <a:solidFill>
              <a:srgbClr val="003F56"/>
            </a:solidFill>
            <a:tailEnd type="triangle"/>
          </a:ln>
        </p:spPr>
        <p:style>
          <a:lnRef idx="1">
            <a:schemeClr val="accent1"/>
          </a:lnRef>
          <a:fillRef idx="0">
            <a:schemeClr val="accent1"/>
          </a:fillRef>
          <a:effectRef idx="0">
            <a:schemeClr val="accent1"/>
          </a:effectRef>
          <a:fontRef idx="minor">
            <a:schemeClr val="tx1"/>
          </a:fontRef>
        </p:style>
      </p:cxnSp>
      <p:grpSp>
        <p:nvGrpSpPr>
          <p:cNvPr id="70" name="그룹 69">
            <a:extLst>
              <a:ext uri="{FF2B5EF4-FFF2-40B4-BE49-F238E27FC236}">
                <a16:creationId xmlns:a16="http://schemas.microsoft.com/office/drawing/2014/main" id="{809B4770-CBD5-3D19-0C85-F1823F6EDFA6}"/>
              </a:ext>
            </a:extLst>
          </p:cNvPr>
          <p:cNvGrpSpPr/>
          <p:nvPr/>
        </p:nvGrpSpPr>
        <p:grpSpPr>
          <a:xfrm>
            <a:off x="194315" y="5417753"/>
            <a:ext cx="4578618" cy="430887"/>
            <a:chOff x="194315" y="5776466"/>
            <a:chExt cx="4578618" cy="430887"/>
          </a:xfrm>
        </p:grpSpPr>
        <p:sp>
          <p:nvSpPr>
            <p:cNvPr id="36" name="Oval 16">
              <a:extLst>
                <a:ext uri="{FF2B5EF4-FFF2-40B4-BE49-F238E27FC236}">
                  <a16:creationId xmlns:a16="http://schemas.microsoft.com/office/drawing/2014/main" id="{1A0F946B-A709-CD59-993F-1253C09131C0}"/>
                </a:ext>
              </a:extLst>
            </p:cNvPr>
            <p:cNvSpPr>
              <a:spLocks noChangeArrowheads="1"/>
            </p:cNvSpPr>
            <p:nvPr/>
          </p:nvSpPr>
          <p:spPr bwMode="auto">
            <a:xfrm>
              <a:off x="1419936" y="5899944"/>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37" name="TextBox 36">
              <a:extLst>
                <a:ext uri="{FF2B5EF4-FFF2-40B4-BE49-F238E27FC236}">
                  <a16:creationId xmlns:a16="http://schemas.microsoft.com/office/drawing/2014/main" id="{3E688AD1-48E3-DF45-19B8-B21390916590}"/>
                </a:ext>
              </a:extLst>
            </p:cNvPr>
            <p:cNvSpPr txBox="1"/>
            <p:nvPr/>
          </p:nvSpPr>
          <p:spPr>
            <a:xfrm>
              <a:off x="194315" y="5856915"/>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2017</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38" name="직사각형 37">
              <a:extLst>
                <a:ext uri="{FF2B5EF4-FFF2-40B4-BE49-F238E27FC236}">
                  <a16:creationId xmlns:a16="http://schemas.microsoft.com/office/drawing/2014/main" id="{75155B44-9819-4CD8-86D7-C5F652ACD3A8}"/>
                </a:ext>
              </a:extLst>
            </p:cNvPr>
            <p:cNvSpPr/>
            <p:nvPr/>
          </p:nvSpPr>
          <p:spPr>
            <a:xfrm>
              <a:off x="1688948" y="5776466"/>
              <a:ext cx="3083985" cy="430887"/>
            </a:xfrm>
            <a:prstGeom prst="rect">
              <a:avLst/>
            </a:prstGeom>
          </p:spPr>
          <p:txBody>
            <a:bodyPr wrap="square">
              <a:spAutoFit/>
            </a:bodyPr>
            <a:lstStyle/>
            <a:p>
              <a:pPr marL="171450" indent="-171450" algn="l" fontAlgn="ctr" latinLnBrk="0">
                <a:buFontTx/>
                <a:buChar char="-"/>
              </a:pPr>
              <a:r>
                <a:rPr lang="ko-KR" altLang="en-US" sz="1100" spc="-130" dirty="0">
                  <a:latin typeface="Arial Narrow" panose="020B0606020202030204" pitchFamily="34" charset="0"/>
                  <a:ea typeface="a고딕14" panose="02020600000000000000" pitchFamily="18" charset="-127"/>
                </a:rPr>
                <a:t>온라인평생교육원 평생직업능력개발 온라인훈련 사업 확대</a:t>
              </a:r>
            </a:p>
            <a:p>
              <a:pPr marL="171450" indent="-171450" algn="l" fontAlgn="ctr" latinLnBrk="0">
                <a:buFontTx/>
                <a:buChar char="-"/>
              </a:pPr>
              <a:r>
                <a:rPr lang="ko-KR" altLang="en-US" sz="1100" spc="-70" dirty="0">
                  <a:latin typeface="Arial Narrow" panose="020B0606020202030204" pitchFamily="34" charset="0"/>
                  <a:ea typeface="a고딕14" panose="02020600000000000000" pitchFamily="18" charset="-127"/>
                </a:rPr>
                <a:t>스마트 직업훈련 플랫폼 구축 정보화전략계획</a:t>
              </a:r>
              <a:r>
                <a:rPr lang="en-US" altLang="ko-KR" sz="1100" spc="-70" dirty="0">
                  <a:latin typeface="Arial Narrow" panose="020B0606020202030204" pitchFamily="34" charset="0"/>
                  <a:ea typeface="a고딕14" panose="02020600000000000000" pitchFamily="18" charset="-127"/>
                </a:rPr>
                <a:t>(ISP) </a:t>
              </a:r>
              <a:r>
                <a:rPr lang="ko-KR" altLang="en-US" sz="1100" spc="-70" dirty="0">
                  <a:latin typeface="Arial Narrow" panose="020B0606020202030204" pitchFamily="34" charset="0"/>
                  <a:ea typeface="a고딕14" panose="02020600000000000000" pitchFamily="18" charset="-127"/>
                </a:rPr>
                <a:t>수립</a:t>
              </a:r>
              <a:endParaRPr lang="en-US" altLang="ko-KR" sz="1100" spc="-70" dirty="0">
                <a:latin typeface="Arial Narrow" panose="020B0606020202030204" pitchFamily="34" charset="0"/>
                <a:ea typeface="a고딕14" panose="02020600000000000000" pitchFamily="18" charset="-127"/>
              </a:endParaRPr>
            </a:p>
          </p:txBody>
        </p:sp>
      </p:grpSp>
      <p:grpSp>
        <p:nvGrpSpPr>
          <p:cNvPr id="71" name="그룹 70">
            <a:extLst>
              <a:ext uri="{FF2B5EF4-FFF2-40B4-BE49-F238E27FC236}">
                <a16:creationId xmlns:a16="http://schemas.microsoft.com/office/drawing/2014/main" id="{C35A0C10-A93F-F39B-E743-09A0F7EA88C7}"/>
              </a:ext>
            </a:extLst>
          </p:cNvPr>
          <p:cNvGrpSpPr/>
          <p:nvPr/>
        </p:nvGrpSpPr>
        <p:grpSpPr>
          <a:xfrm>
            <a:off x="193931" y="4789078"/>
            <a:ext cx="4428264" cy="430887"/>
            <a:chOff x="193931" y="5096499"/>
            <a:chExt cx="4428264" cy="430887"/>
          </a:xfrm>
        </p:grpSpPr>
        <p:sp>
          <p:nvSpPr>
            <p:cNvPr id="40" name="Oval 16">
              <a:extLst>
                <a:ext uri="{FF2B5EF4-FFF2-40B4-BE49-F238E27FC236}">
                  <a16:creationId xmlns:a16="http://schemas.microsoft.com/office/drawing/2014/main" id="{794C037E-E8C7-0A2A-C07A-990C8342F9E9}"/>
                </a:ext>
              </a:extLst>
            </p:cNvPr>
            <p:cNvSpPr>
              <a:spLocks noChangeArrowheads="1"/>
            </p:cNvSpPr>
            <p:nvPr/>
          </p:nvSpPr>
          <p:spPr bwMode="auto">
            <a:xfrm>
              <a:off x="1419936" y="5224166"/>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41" name="TextBox 40">
              <a:extLst>
                <a:ext uri="{FF2B5EF4-FFF2-40B4-BE49-F238E27FC236}">
                  <a16:creationId xmlns:a16="http://schemas.microsoft.com/office/drawing/2014/main" id="{9F3AB678-5BBB-38B6-DC8D-EB1F565C1E73}"/>
                </a:ext>
              </a:extLst>
            </p:cNvPr>
            <p:cNvSpPr txBox="1"/>
            <p:nvPr/>
          </p:nvSpPr>
          <p:spPr>
            <a:xfrm>
              <a:off x="193931" y="5181137"/>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2018</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42" name="직사각형 41">
              <a:extLst>
                <a:ext uri="{FF2B5EF4-FFF2-40B4-BE49-F238E27FC236}">
                  <a16:creationId xmlns:a16="http://schemas.microsoft.com/office/drawing/2014/main" id="{AFD36327-6F97-CFA2-6B79-37E503680FEC}"/>
                </a:ext>
              </a:extLst>
            </p:cNvPr>
            <p:cNvSpPr/>
            <p:nvPr/>
          </p:nvSpPr>
          <p:spPr>
            <a:xfrm>
              <a:off x="1688949" y="5096499"/>
              <a:ext cx="2933246" cy="430887"/>
            </a:xfrm>
            <a:prstGeom prst="rect">
              <a:avLst/>
            </a:prstGeom>
          </p:spPr>
          <p:txBody>
            <a:bodyPr wrap="square">
              <a:spAutoFit/>
            </a:bodyPr>
            <a:lstStyle/>
            <a:p>
              <a:pPr marL="171450" indent="-171450" algn="l" fontAlgn="ctr" latinLnBrk="0">
                <a:buFontTx/>
                <a:buChar char="-"/>
              </a:pPr>
              <a:r>
                <a:rPr lang="ko-KR" altLang="en-US" sz="1100" dirty="0">
                  <a:latin typeface="Arial Narrow" panose="020B0606020202030204" pitchFamily="34" charset="0"/>
                  <a:ea typeface="a고딕14" panose="02020600000000000000" pitchFamily="18" charset="-127"/>
                </a:rPr>
                <a:t>스마트 직업훈련 플랫폼 구축 </a:t>
              </a:r>
              <a:r>
                <a:rPr lang="en-US" altLang="ko-KR" sz="1100" dirty="0">
                  <a:latin typeface="Arial Narrow" panose="020B0606020202030204" pitchFamily="34" charset="0"/>
                  <a:ea typeface="a고딕14" panose="02020600000000000000" pitchFamily="18" charset="-127"/>
                </a:rPr>
                <a:t>1</a:t>
              </a:r>
              <a:r>
                <a:rPr lang="ko-KR" altLang="en-US" sz="1100" dirty="0">
                  <a:latin typeface="Arial Narrow" panose="020B0606020202030204" pitchFamily="34" charset="0"/>
                  <a:ea typeface="a고딕14" panose="02020600000000000000" pitchFamily="18" charset="-127"/>
                </a:rPr>
                <a:t>단계 착수</a:t>
              </a:r>
            </a:p>
            <a:p>
              <a:pPr marL="171450" indent="-171450" algn="l" fontAlgn="ctr" latinLnBrk="0">
                <a:buFontTx/>
                <a:buChar char="-"/>
              </a:pPr>
              <a:r>
                <a:rPr lang="en-US" altLang="ko-KR" sz="1100" dirty="0">
                  <a:latin typeface="Arial Narrow" panose="020B0606020202030204" pitchFamily="34" charset="0"/>
                  <a:ea typeface="a고딕14" panose="02020600000000000000" pitchFamily="18" charset="-127"/>
                </a:rPr>
                <a:t>VR EXPO 2018, VR </a:t>
              </a:r>
              <a:r>
                <a:rPr lang="ko-KR" altLang="en-US" sz="1100" dirty="0">
                  <a:latin typeface="Arial Narrow" panose="020B0606020202030204" pitchFamily="34" charset="0"/>
                  <a:ea typeface="a고딕14" panose="02020600000000000000" pitchFamily="18" charset="-127"/>
                </a:rPr>
                <a:t>교육 부문 공로상 수상</a:t>
              </a:r>
              <a:endParaRPr lang="en-US" altLang="ko-KR" sz="1100" dirty="0">
                <a:latin typeface="Arial Narrow" panose="020B0606020202030204" pitchFamily="34" charset="0"/>
                <a:ea typeface="a고딕14" panose="02020600000000000000" pitchFamily="18" charset="-127"/>
              </a:endParaRPr>
            </a:p>
          </p:txBody>
        </p:sp>
      </p:grpSp>
      <p:grpSp>
        <p:nvGrpSpPr>
          <p:cNvPr id="73" name="그룹 72">
            <a:extLst>
              <a:ext uri="{FF2B5EF4-FFF2-40B4-BE49-F238E27FC236}">
                <a16:creationId xmlns:a16="http://schemas.microsoft.com/office/drawing/2014/main" id="{FBF6F11C-8C5D-13D5-3AE0-9323572F2A74}"/>
              </a:ext>
            </a:extLst>
          </p:cNvPr>
          <p:cNvGrpSpPr/>
          <p:nvPr/>
        </p:nvGrpSpPr>
        <p:grpSpPr>
          <a:xfrm>
            <a:off x="193931" y="3193174"/>
            <a:ext cx="4428264" cy="600164"/>
            <a:chOff x="193931" y="3851434"/>
            <a:chExt cx="4428264" cy="600164"/>
          </a:xfrm>
        </p:grpSpPr>
        <p:sp>
          <p:nvSpPr>
            <p:cNvPr id="44" name="Oval 16">
              <a:extLst>
                <a:ext uri="{FF2B5EF4-FFF2-40B4-BE49-F238E27FC236}">
                  <a16:creationId xmlns:a16="http://schemas.microsoft.com/office/drawing/2014/main" id="{02D61B8D-DCFA-96CA-87B0-74A4202CD986}"/>
                </a:ext>
              </a:extLst>
            </p:cNvPr>
            <p:cNvSpPr>
              <a:spLocks noChangeArrowheads="1"/>
            </p:cNvSpPr>
            <p:nvPr/>
          </p:nvSpPr>
          <p:spPr bwMode="auto">
            <a:xfrm>
              <a:off x="1419936" y="4063740"/>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46" name="TextBox 45">
              <a:extLst>
                <a:ext uri="{FF2B5EF4-FFF2-40B4-BE49-F238E27FC236}">
                  <a16:creationId xmlns:a16="http://schemas.microsoft.com/office/drawing/2014/main" id="{CD5C552A-BD3B-912F-5A9D-1CE5E47E8711}"/>
                </a:ext>
              </a:extLst>
            </p:cNvPr>
            <p:cNvSpPr txBox="1"/>
            <p:nvPr/>
          </p:nvSpPr>
          <p:spPr>
            <a:xfrm>
              <a:off x="193931" y="4020711"/>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2020</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47" name="직사각형 46">
              <a:extLst>
                <a:ext uri="{FF2B5EF4-FFF2-40B4-BE49-F238E27FC236}">
                  <a16:creationId xmlns:a16="http://schemas.microsoft.com/office/drawing/2014/main" id="{9045A678-EE54-B547-2FB8-B075125C23B7}"/>
                </a:ext>
              </a:extLst>
            </p:cNvPr>
            <p:cNvSpPr/>
            <p:nvPr/>
          </p:nvSpPr>
          <p:spPr>
            <a:xfrm>
              <a:off x="1688949" y="3851434"/>
              <a:ext cx="2933246" cy="600164"/>
            </a:xfrm>
            <a:prstGeom prst="rect">
              <a:avLst/>
            </a:prstGeom>
          </p:spPr>
          <p:txBody>
            <a:bodyPr wrap="square">
              <a:spAutoFit/>
            </a:bodyPr>
            <a:lstStyle/>
            <a:p>
              <a:pPr marL="171450" indent="-171450" algn="l" fontAlgn="ctr" latinLnBrk="0">
                <a:buFontTx/>
                <a:buChar char="-"/>
              </a:pPr>
              <a:r>
                <a:rPr lang="en-US" altLang="ko-KR" sz="1100" dirty="0">
                  <a:latin typeface="Arial Narrow" panose="020B0606020202030204" pitchFamily="34" charset="0"/>
                  <a:ea typeface="a고딕14" panose="02020600000000000000" pitchFamily="18" charset="-127"/>
                </a:rPr>
                <a:t>STEP 1</a:t>
              </a:r>
              <a:r>
                <a:rPr lang="ko-KR" altLang="en-US" sz="1100" dirty="0">
                  <a:latin typeface="Arial Narrow" panose="020B0606020202030204" pitchFamily="34" charset="0"/>
                  <a:ea typeface="a고딕14" panose="02020600000000000000" pitchFamily="18" charset="-127"/>
                </a:rPr>
                <a:t>차 고도화</a:t>
              </a:r>
            </a:p>
            <a:p>
              <a:pPr marL="171450" indent="-171450" algn="l" fontAlgn="ctr" latinLnBrk="0">
                <a:buFontTx/>
                <a:buChar char="-"/>
              </a:pPr>
              <a:r>
                <a:rPr lang="en-US" altLang="ko-KR" sz="1100" spc="-140" dirty="0">
                  <a:latin typeface="Arial Narrow" panose="020B0606020202030204" pitchFamily="34" charset="0"/>
                  <a:ea typeface="a고딕14" panose="02020600000000000000" pitchFamily="18" charset="-127"/>
                </a:rPr>
                <a:t>2020 </a:t>
              </a:r>
              <a:r>
                <a:rPr lang="ko-KR" altLang="en-US" sz="1100" spc="-140" dirty="0">
                  <a:latin typeface="Arial Narrow" panose="020B0606020202030204" pitchFamily="34" charset="0"/>
                  <a:ea typeface="a고딕14" panose="02020600000000000000" pitchFamily="18" charset="-127"/>
                </a:rPr>
                <a:t>대한민국 인적자원개발대상 교육기관부문 대상 수상</a:t>
              </a:r>
            </a:p>
            <a:p>
              <a:pPr marL="171450" indent="-171450" algn="l" fontAlgn="ctr" latinLnBrk="0">
                <a:buFontTx/>
                <a:buChar char="-"/>
              </a:pPr>
              <a:r>
                <a:rPr lang="en-US" altLang="ko-KR" sz="1100" dirty="0">
                  <a:latin typeface="Arial Narrow" panose="020B0606020202030204" pitchFamily="34" charset="0"/>
                  <a:ea typeface="a고딕14" panose="02020600000000000000" pitchFamily="18" charset="-127"/>
                </a:rPr>
                <a:t>2020 </a:t>
              </a:r>
              <a:r>
                <a:rPr lang="ko-KR" altLang="en-US" sz="1100" dirty="0">
                  <a:latin typeface="Arial Narrow" panose="020B0606020202030204" pitchFamily="34" charset="0"/>
                  <a:ea typeface="a고딕14" panose="02020600000000000000" pitchFamily="18" charset="-127"/>
                </a:rPr>
                <a:t>원격교육연수원 운영평가 우수상 수상</a:t>
              </a:r>
              <a:endParaRPr lang="en-US" altLang="ko-KR" sz="1100" dirty="0">
                <a:latin typeface="Arial Narrow" panose="020B0606020202030204" pitchFamily="34" charset="0"/>
                <a:ea typeface="a고딕14" panose="02020600000000000000" pitchFamily="18" charset="-127"/>
              </a:endParaRPr>
            </a:p>
          </p:txBody>
        </p:sp>
      </p:grpSp>
      <p:grpSp>
        <p:nvGrpSpPr>
          <p:cNvPr id="72" name="그룹 71">
            <a:extLst>
              <a:ext uri="{FF2B5EF4-FFF2-40B4-BE49-F238E27FC236}">
                <a16:creationId xmlns:a16="http://schemas.microsoft.com/office/drawing/2014/main" id="{3EFB6278-AE09-364C-D7B0-51D3B68C7881}"/>
              </a:ext>
            </a:extLst>
          </p:cNvPr>
          <p:cNvGrpSpPr/>
          <p:nvPr/>
        </p:nvGrpSpPr>
        <p:grpSpPr>
          <a:xfrm>
            <a:off x="193931" y="3991126"/>
            <a:ext cx="4428202" cy="600164"/>
            <a:chOff x="193931" y="4414868"/>
            <a:chExt cx="4428202" cy="600164"/>
          </a:xfrm>
        </p:grpSpPr>
        <p:sp>
          <p:nvSpPr>
            <p:cNvPr id="49" name="Oval 16">
              <a:extLst>
                <a:ext uri="{FF2B5EF4-FFF2-40B4-BE49-F238E27FC236}">
                  <a16:creationId xmlns:a16="http://schemas.microsoft.com/office/drawing/2014/main" id="{91225E8F-51DE-7738-4324-C6A89C3EFC7F}"/>
                </a:ext>
              </a:extLst>
            </p:cNvPr>
            <p:cNvSpPr>
              <a:spLocks noChangeArrowheads="1"/>
            </p:cNvSpPr>
            <p:nvPr/>
          </p:nvSpPr>
          <p:spPr bwMode="auto">
            <a:xfrm>
              <a:off x="1419936" y="4627174"/>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50" name="TextBox 49">
              <a:extLst>
                <a:ext uri="{FF2B5EF4-FFF2-40B4-BE49-F238E27FC236}">
                  <a16:creationId xmlns:a16="http://schemas.microsoft.com/office/drawing/2014/main" id="{102070B1-3A6D-1BF0-A7A9-9894957E7EC6}"/>
                </a:ext>
              </a:extLst>
            </p:cNvPr>
            <p:cNvSpPr txBox="1"/>
            <p:nvPr/>
          </p:nvSpPr>
          <p:spPr>
            <a:xfrm>
              <a:off x="193931" y="4584145"/>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2019</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51" name="직사각형 50">
              <a:extLst>
                <a:ext uri="{FF2B5EF4-FFF2-40B4-BE49-F238E27FC236}">
                  <a16:creationId xmlns:a16="http://schemas.microsoft.com/office/drawing/2014/main" id="{1C46F259-F3A5-2220-6799-1867594FD476}"/>
                </a:ext>
              </a:extLst>
            </p:cNvPr>
            <p:cNvSpPr/>
            <p:nvPr/>
          </p:nvSpPr>
          <p:spPr>
            <a:xfrm>
              <a:off x="1688887" y="4414868"/>
              <a:ext cx="2933246" cy="600164"/>
            </a:xfrm>
            <a:prstGeom prst="rect">
              <a:avLst/>
            </a:prstGeom>
          </p:spPr>
          <p:txBody>
            <a:bodyPr wrap="square">
              <a:spAutoFit/>
            </a:bodyPr>
            <a:lstStyle/>
            <a:p>
              <a:pPr marL="171450" indent="-171450" algn="l" fontAlgn="ctr" latinLnBrk="0">
                <a:buFontTx/>
                <a:buChar char="-"/>
              </a:pPr>
              <a:r>
                <a:rPr lang="ko-KR" altLang="en-US" sz="1100" dirty="0">
                  <a:latin typeface="Arial Narrow" panose="020B0606020202030204" pitchFamily="34" charset="0"/>
                  <a:ea typeface="a고딕14" panose="02020600000000000000" pitchFamily="18" charset="-127"/>
                </a:rPr>
                <a:t>국가 소비자중심 브랜드 직업교육훈련 부문 대상 수상</a:t>
              </a:r>
            </a:p>
            <a:p>
              <a:pPr marL="171450" indent="-171450" algn="l" fontAlgn="ctr" latinLnBrk="0">
                <a:buFontTx/>
                <a:buChar char="-"/>
              </a:pPr>
              <a:r>
                <a:rPr lang="ko-KR" altLang="en-US" sz="1100" b="1" dirty="0">
                  <a:solidFill>
                    <a:srgbClr val="0070C0"/>
                  </a:solidFill>
                  <a:latin typeface="Arial Narrow" panose="020B0606020202030204" pitchFamily="34" charset="0"/>
                  <a:ea typeface="a고딕14" panose="02020600000000000000" pitchFamily="18" charset="-127"/>
                </a:rPr>
                <a:t>스마트 직업훈련 플랫폼</a:t>
              </a:r>
              <a:r>
                <a:rPr lang="en-US" altLang="ko-KR" sz="1100" b="1" dirty="0">
                  <a:solidFill>
                    <a:srgbClr val="0070C0"/>
                  </a:solidFill>
                  <a:latin typeface="Arial Narrow" panose="020B0606020202030204" pitchFamily="34" charset="0"/>
                  <a:ea typeface="a고딕14" panose="02020600000000000000" pitchFamily="18" charset="-127"/>
                </a:rPr>
                <a:t>(STEP) </a:t>
              </a:r>
              <a:r>
                <a:rPr lang="ko-KR" altLang="en-US" sz="1100" b="1" dirty="0">
                  <a:solidFill>
                    <a:srgbClr val="0070C0"/>
                  </a:solidFill>
                  <a:latin typeface="Arial Narrow" panose="020B0606020202030204" pitchFamily="34" charset="0"/>
                  <a:ea typeface="a고딕14" panose="02020600000000000000" pitchFamily="18" charset="-127"/>
                </a:rPr>
                <a:t>개통</a:t>
              </a:r>
              <a:endParaRPr lang="en-US" altLang="ko-KR" sz="1100" b="1" dirty="0">
                <a:solidFill>
                  <a:srgbClr val="0070C0"/>
                </a:solidFill>
                <a:latin typeface="Arial Narrow" panose="020B0606020202030204" pitchFamily="34" charset="0"/>
                <a:ea typeface="a고딕14" panose="02020600000000000000" pitchFamily="18" charset="-127"/>
              </a:endParaRPr>
            </a:p>
          </p:txBody>
        </p:sp>
      </p:grpSp>
      <p:grpSp>
        <p:nvGrpSpPr>
          <p:cNvPr id="74" name="그룹 73">
            <a:extLst>
              <a:ext uri="{FF2B5EF4-FFF2-40B4-BE49-F238E27FC236}">
                <a16:creationId xmlns:a16="http://schemas.microsoft.com/office/drawing/2014/main" id="{9FA936F0-CD07-2B36-2917-ABE64CC98813}"/>
              </a:ext>
            </a:extLst>
          </p:cNvPr>
          <p:cNvGrpSpPr/>
          <p:nvPr/>
        </p:nvGrpSpPr>
        <p:grpSpPr>
          <a:xfrm>
            <a:off x="193931" y="2733776"/>
            <a:ext cx="4428202" cy="261610"/>
            <a:chOff x="193931" y="3176563"/>
            <a:chExt cx="4428202" cy="261610"/>
          </a:xfrm>
        </p:grpSpPr>
        <p:sp>
          <p:nvSpPr>
            <p:cNvPr id="53" name="Oval 16">
              <a:extLst>
                <a:ext uri="{FF2B5EF4-FFF2-40B4-BE49-F238E27FC236}">
                  <a16:creationId xmlns:a16="http://schemas.microsoft.com/office/drawing/2014/main" id="{A940C96A-5C33-D9C9-8421-4EC2D35323BD}"/>
                </a:ext>
              </a:extLst>
            </p:cNvPr>
            <p:cNvSpPr>
              <a:spLocks noChangeArrowheads="1"/>
            </p:cNvSpPr>
            <p:nvPr/>
          </p:nvSpPr>
          <p:spPr bwMode="auto">
            <a:xfrm>
              <a:off x="1419936" y="3219592"/>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54" name="TextBox 53">
              <a:extLst>
                <a:ext uri="{FF2B5EF4-FFF2-40B4-BE49-F238E27FC236}">
                  <a16:creationId xmlns:a16="http://schemas.microsoft.com/office/drawing/2014/main" id="{48CE6919-56DB-D517-4DCB-C65C0D7DDDEA}"/>
                </a:ext>
              </a:extLst>
            </p:cNvPr>
            <p:cNvSpPr txBox="1"/>
            <p:nvPr/>
          </p:nvSpPr>
          <p:spPr>
            <a:xfrm>
              <a:off x="193931" y="3176563"/>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2021</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55" name="직사각형 54">
              <a:extLst>
                <a:ext uri="{FF2B5EF4-FFF2-40B4-BE49-F238E27FC236}">
                  <a16:creationId xmlns:a16="http://schemas.microsoft.com/office/drawing/2014/main" id="{91172DF0-D6FD-8343-194E-FF13BF50BA6C}"/>
                </a:ext>
              </a:extLst>
            </p:cNvPr>
            <p:cNvSpPr/>
            <p:nvPr/>
          </p:nvSpPr>
          <p:spPr>
            <a:xfrm>
              <a:off x="1688887" y="3176563"/>
              <a:ext cx="2933246" cy="261610"/>
            </a:xfrm>
            <a:prstGeom prst="rect">
              <a:avLst/>
            </a:prstGeom>
          </p:spPr>
          <p:txBody>
            <a:bodyPr wrap="square">
              <a:spAutoFit/>
            </a:bodyPr>
            <a:lstStyle/>
            <a:p>
              <a:pPr marL="171450" indent="-171450" algn="l" fontAlgn="ctr" latinLnBrk="0">
                <a:buFontTx/>
                <a:buChar char="-"/>
              </a:pPr>
              <a:r>
                <a:rPr lang="en-US" altLang="ko-KR" sz="1100" dirty="0">
                  <a:latin typeface="Arial Narrow" panose="020B0606020202030204" pitchFamily="34" charset="0"/>
                  <a:ea typeface="a고딕14" panose="02020600000000000000" pitchFamily="18" charset="-127"/>
                </a:rPr>
                <a:t>STEP 2</a:t>
              </a:r>
              <a:r>
                <a:rPr lang="ko-KR" altLang="en-US" sz="1100" dirty="0">
                  <a:latin typeface="Arial Narrow" panose="020B0606020202030204" pitchFamily="34" charset="0"/>
                  <a:ea typeface="a고딕14" panose="02020600000000000000" pitchFamily="18" charset="-127"/>
                </a:rPr>
                <a:t>차 고도화 착수</a:t>
              </a:r>
              <a:endParaRPr lang="en-US" altLang="ko-KR" sz="1100" dirty="0">
                <a:latin typeface="Arial Narrow" panose="020B0606020202030204" pitchFamily="34" charset="0"/>
                <a:ea typeface="a고딕14" panose="02020600000000000000" pitchFamily="18" charset="-127"/>
              </a:endParaRPr>
            </a:p>
          </p:txBody>
        </p:sp>
      </p:grpSp>
      <p:sp>
        <p:nvSpPr>
          <p:cNvPr id="56" name="모서리가 둥근 직사각형 75">
            <a:extLst>
              <a:ext uri="{FF2B5EF4-FFF2-40B4-BE49-F238E27FC236}">
                <a16:creationId xmlns:a16="http://schemas.microsoft.com/office/drawing/2014/main" id="{B2D78E1C-307D-F082-D7F5-B83E4C0168C5}"/>
              </a:ext>
            </a:extLst>
          </p:cNvPr>
          <p:cNvSpPr/>
          <p:nvPr/>
        </p:nvSpPr>
        <p:spPr>
          <a:xfrm>
            <a:off x="594456" y="6039374"/>
            <a:ext cx="4178476" cy="457335"/>
          </a:xfrm>
          <a:prstGeom prst="roundRect">
            <a:avLst/>
          </a:prstGeom>
          <a:noFill/>
          <a:ln w="222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sz="1100" dirty="0">
              <a:latin typeface="Arial Narrow" panose="020B0606020202030204" pitchFamily="34" charset="0"/>
              <a:ea typeface="a고딕14" panose="02020600000000000000" pitchFamily="18" charset="-127"/>
            </a:endParaRPr>
          </a:p>
        </p:txBody>
      </p:sp>
      <p:sp>
        <p:nvSpPr>
          <p:cNvPr id="57" name="모서리가 둥근 직사각형 76">
            <a:extLst>
              <a:ext uri="{FF2B5EF4-FFF2-40B4-BE49-F238E27FC236}">
                <a16:creationId xmlns:a16="http://schemas.microsoft.com/office/drawing/2014/main" id="{83496BD2-1254-64FC-24C9-F379F25115A4}"/>
              </a:ext>
            </a:extLst>
          </p:cNvPr>
          <p:cNvSpPr/>
          <p:nvPr/>
        </p:nvSpPr>
        <p:spPr>
          <a:xfrm>
            <a:off x="604170" y="3986868"/>
            <a:ext cx="4178476" cy="633426"/>
          </a:xfrm>
          <a:prstGeom prst="roundRect">
            <a:avLst/>
          </a:prstGeom>
          <a:noFill/>
          <a:ln w="222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58" name="직사각형 57">
            <a:extLst>
              <a:ext uri="{FF2B5EF4-FFF2-40B4-BE49-F238E27FC236}">
                <a16:creationId xmlns:a16="http://schemas.microsoft.com/office/drawing/2014/main" id="{A5FF7EED-36FB-BEC7-59B6-4975FF99EB03}"/>
              </a:ext>
            </a:extLst>
          </p:cNvPr>
          <p:cNvSpPr/>
          <p:nvPr/>
        </p:nvSpPr>
        <p:spPr bwMode="auto">
          <a:xfrm>
            <a:off x="594456" y="1847963"/>
            <a:ext cx="4178480" cy="327025"/>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kumimoji="0" lang="ko-KR" altLang="en-US" sz="1100" i="0" u="none" strike="noStrike" kern="0" cap="none" spc="0" normalizeH="0" baseline="0" noProof="0" dirty="0">
                <a:ln>
                  <a:noFill/>
                </a:ln>
                <a:solidFill>
                  <a:schemeClr val="bg1"/>
                </a:solidFill>
                <a:effectLst/>
                <a:uLnTx/>
                <a:uFillTx/>
                <a:latin typeface="+mj-ea"/>
                <a:ea typeface="+mj-ea"/>
              </a:rPr>
              <a:t>온라인평생교육원 연혁</a:t>
            </a:r>
            <a:endParaRPr kumimoji="0" lang="en-US" altLang="ko-KR" sz="1100" i="0" u="none" strike="noStrike" kern="0" cap="none" spc="0" normalizeH="0" baseline="0" noProof="0" dirty="0">
              <a:ln>
                <a:noFill/>
              </a:ln>
              <a:solidFill>
                <a:schemeClr val="bg1"/>
              </a:solidFill>
              <a:effectLst/>
              <a:uLnTx/>
              <a:uFillTx/>
              <a:latin typeface="+mj-ea"/>
              <a:ea typeface="+mj-ea"/>
            </a:endParaRPr>
          </a:p>
        </p:txBody>
      </p:sp>
      <p:grpSp>
        <p:nvGrpSpPr>
          <p:cNvPr id="75" name="그룹 74">
            <a:extLst>
              <a:ext uri="{FF2B5EF4-FFF2-40B4-BE49-F238E27FC236}">
                <a16:creationId xmlns:a16="http://schemas.microsoft.com/office/drawing/2014/main" id="{E4660DA1-1EBD-DF65-B27E-79E54762B5D7}"/>
              </a:ext>
            </a:extLst>
          </p:cNvPr>
          <p:cNvGrpSpPr/>
          <p:nvPr/>
        </p:nvGrpSpPr>
        <p:grpSpPr>
          <a:xfrm>
            <a:off x="56456" y="2274378"/>
            <a:ext cx="4565677" cy="261610"/>
            <a:chOff x="56456" y="2645202"/>
            <a:chExt cx="4565677" cy="261610"/>
          </a:xfrm>
        </p:grpSpPr>
        <p:sp>
          <p:nvSpPr>
            <p:cNvPr id="63" name="Oval 16">
              <a:extLst>
                <a:ext uri="{FF2B5EF4-FFF2-40B4-BE49-F238E27FC236}">
                  <a16:creationId xmlns:a16="http://schemas.microsoft.com/office/drawing/2014/main" id="{C9B5F40E-E884-E4B6-CF6A-096AADA76ECE}"/>
                </a:ext>
              </a:extLst>
            </p:cNvPr>
            <p:cNvSpPr>
              <a:spLocks noChangeArrowheads="1"/>
            </p:cNvSpPr>
            <p:nvPr/>
          </p:nvSpPr>
          <p:spPr bwMode="auto">
            <a:xfrm>
              <a:off x="1419936" y="2688231"/>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64" name="TextBox 63">
              <a:extLst>
                <a:ext uri="{FF2B5EF4-FFF2-40B4-BE49-F238E27FC236}">
                  <a16:creationId xmlns:a16="http://schemas.microsoft.com/office/drawing/2014/main" id="{BCF7BEBD-A1CA-F324-2826-C68DA7D8469A}"/>
                </a:ext>
              </a:extLst>
            </p:cNvPr>
            <p:cNvSpPr txBox="1"/>
            <p:nvPr/>
          </p:nvSpPr>
          <p:spPr>
            <a:xfrm>
              <a:off x="56456" y="2645202"/>
              <a:ext cx="1341013"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2022</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endParaRPr lang="ko-KR" altLang="en-US" sz="1100" spc="-80" dirty="0">
                <a:solidFill>
                  <a:schemeClr val="tx1">
                    <a:lumMod val="95000"/>
                    <a:lumOff val="5000"/>
                  </a:schemeClr>
                </a:solidFill>
                <a:latin typeface="Arial Narrow" panose="020B0606020202030204" pitchFamily="34" charset="0"/>
                <a:ea typeface="a고딕14" panose="02020600000000000000" pitchFamily="18" charset="-127"/>
              </a:endParaRPr>
            </a:p>
          </p:txBody>
        </p:sp>
        <p:sp>
          <p:nvSpPr>
            <p:cNvPr id="65" name="직사각형 64">
              <a:extLst>
                <a:ext uri="{FF2B5EF4-FFF2-40B4-BE49-F238E27FC236}">
                  <a16:creationId xmlns:a16="http://schemas.microsoft.com/office/drawing/2014/main" id="{2E4591DB-9C83-1043-5DDA-DA604210350C}"/>
                </a:ext>
              </a:extLst>
            </p:cNvPr>
            <p:cNvSpPr/>
            <p:nvPr/>
          </p:nvSpPr>
          <p:spPr>
            <a:xfrm>
              <a:off x="1688887" y="2645202"/>
              <a:ext cx="2933246" cy="261610"/>
            </a:xfrm>
            <a:prstGeom prst="rect">
              <a:avLst/>
            </a:prstGeom>
          </p:spPr>
          <p:txBody>
            <a:bodyPr wrap="square">
              <a:spAutoFit/>
            </a:bodyPr>
            <a:lstStyle/>
            <a:p>
              <a:pPr marL="171450" indent="-171450" algn="l" fontAlgn="ctr" latinLnBrk="0">
                <a:buFontTx/>
                <a:buChar char="-"/>
              </a:pPr>
              <a:r>
                <a:rPr lang="ko-KR" altLang="en-US" sz="1100" dirty="0">
                  <a:latin typeface="Arial Narrow" panose="020B0606020202030204" pitchFamily="34" charset="0"/>
                  <a:ea typeface="a고딕14" panose="02020600000000000000" pitchFamily="18" charset="-127"/>
                </a:rPr>
                <a:t>원격평생교육원 사이트 리뉴얼</a:t>
              </a:r>
              <a:endParaRPr lang="en-US" altLang="ko-KR" sz="1100" dirty="0">
                <a:latin typeface="Arial Narrow" panose="020B0606020202030204" pitchFamily="34" charset="0"/>
                <a:ea typeface="a고딕14" panose="02020600000000000000" pitchFamily="18" charset="-127"/>
              </a:endParaRPr>
            </a:p>
          </p:txBody>
        </p:sp>
      </p:grpSp>
      <p:grpSp>
        <p:nvGrpSpPr>
          <p:cNvPr id="69" name="그룹 68">
            <a:extLst>
              <a:ext uri="{FF2B5EF4-FFF2-40B4-BE49-F238E27FC236}">
                <a16:creationId xmlns:a16="http://schemas.microsoft.com/office/drawing/2014/main" id="{CE9CAA9E-FA67-F3E5-43E4-DE141AB42E66}"/>
              </a:ext>
            </a:extLst>
          </p:cNvPr>
          <p:cNvGrpSpPr/>
          <p:nvPr/>
        </p:nvGrpSpPr>
        <p:grpSpPr>
          <a:xfrm>
            <a:off x="293063" y="6046431"/>
            <a:ext cx="4329132" cy="430887"/>
            <a:chOff x="293063" y="6132348"/>
            <a:chExt cx="4329132" cy="430887"/>
          </a:xfrm>
        </p:grpSpPr>
        <p:sp>
          <p:nvSpPr>
            <p:cNvPr id="66" name="Oval 16">
              <a:extLst>
                <a:ext uri="{FF2B5EF4-FFF2-40B4-BE49-F238E27FC236}">
                  <a16:creationId xmlns:a16="http://schemas.microsoft.com/office/drawing/2014/main" id="{99452362-DE9E-1960-34F8-630D7F206B71}"/>
                </a:ext>
              </a:extLst>
            </p:cNvPr>
            <p:cNvSpPr>
              <a:spLocks noChangeArrowheads="1"/>
            </p:cNvSpPr>
            <p:nvPr/>
          </p:nvSpPr>
          <p:spPr bwMode="auto">
            <a:xfrm>
              <a:off x="1419936" y="6260015"/>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67" name="TextBox 66">
              <a:extLst>
                <a:ext uri="{FF2B5EF4-FFF2-40B4-BE49-F238E27FC236}">
                  <a16:creationId xmlns:a16="http://schemas.microsoft.com/office/drawing/2014/main" id="{F470AB15-AA21-F4C0-437B-89058B4DA749}"/>
                </a:ext>
              </a:extLst>
            </p:cNvPr>
            <p:cNvSpPr txBox="1"/>
            <p:nvPr/>
          </p:nvSpPr>
          <p:spPr>
            <a:xfrm>
              <a:off x="293063" y="6216986"/>
              <a:ext cx="1104790" cy="261610"/>
            </a:xfrm>
            <a:prstGeom prst="rect">
              <a:avLst/>
            </a:prstGeom>
            <a:noFill/>
          </p:spPr>
          <p:txBody>
            <a:bodyPr wrap="square" rtlCol="0">
              <a:spAutoFit/>
            </a:bodyPr>
            <a:lstStyle>
              <a:defPPr>
                <a:defRPr lang="en-US"/>
              </a:defPPr>
              <a:lvl1pPr latinLnBrk="0">
                <a:buNone/>
                <a:defRPr sz="800">
                  <a:latin typeface="Arial Narrow" panose="020B0606020202030204" pitchFamily="34" charset="0"/>
                  <a:ea typeface="a고딕14" panose="02020600000000000000" pitchFamily="18" charset="-127"/>
                </a:defRPr>
              </a:lvl1pPr>
            </a:lstStyle>
            <a:p>
              <a:pPr algn="r"/>
              <a:r>
                <a:rPr lang="en-US" altLang="ko-KR" sz="1100" spc="-100" dirty="0">
                  <a:solidFill>
                    <a:schemeClr val="tx1">
                      <a:lumMod val="95000"/>
                      <a:lumOff val="5000"/>
                    </a:schemeClr>
                  </a:solidFill>
                </a:rPr>
                <a:t>2014</a:t>
              </a:r>
              <a:r>
                <a:rPr lang="ko-KR" altLang="en-US" sz="1100" spc="-100" dirty="0">
                  <a:solidFill>
                    <a:schemeClr val="tx1">
                      <a:lumMod val="95000"/>
                      <a:lumOff val="5000"/>
                    </a:schemeClr>
                  </a:solidFill>
                </a:rPr>
                <a:t>년</a:t>
              </a:r>
            </a:p>
          </p:txBody>
        </p:sp>
        <p:sp>
          <p:nvSpPr>
            <p:cNvPr id="68" name="직사각형 67">
              <a:extLst>
                <a:ext uri="{FF2B5EF4-FFF2-40B4-BE49-F238E27FC236}">
                  <a16:creationId xmlns:a16="http://schemas.microsoft.com/office/drawing/2014/main" id="{6B20A543-9317-9AD2-E97A-8AF7EE5030D9}"/>
                </a:ext>
              </a:extLst>
            </p:cNvPr>
            <p:cNvSpPr/>
            <p:nvPr/>
          </p:nvSpPr>
          <p:spPr>
            <a:xfrm>
              <a:off x="1688949" y="6132348"/>
              <a:ext cx="2933246" cy="430887"/>
            </a:xfrm>
            <a:prstGeom prst="rect">
              <a:avLst/>
            </a:prstGeom>
          </p:spPr>
          <p:txBody>
            <a:bodyPr wrap="square">
              <a:spAutoFit/>
            </a:bodyPr>
            <a:lstStyle/>
            <a:p>
              <a:pPr marL="171450" indent="-171450" algn="l" fontAlgn="ctr" latinLnBrk="0">
                <a:buFontTx/>
                <a:buChar char="-"/>
              </a:pPr>
              <a:r>
                <a:rPr lang="ko-KR" altLang="en-US" sz="1100" b="1" dirty="0">
                  <a:solidFill>
                    <a:srgbClr val="0070C0"/>
                  </a:solidFill>
                  <a:latin typeface="Arial Narrow" panose="020B0606020202030204" pitchFamily="34" charset="0"/>
                  <a:ea typeface="a고딕14" panose="02020600000000000000" pitchFamily="18" charset="-127"/>
                </a:rPr>
                <a:t>온라인평생교육원 개원</a:t>
              </a:r>
            </a:p>
            <a:p>
              <a:pPr marL="171450" indent="-171450" algn="l" fontAlgn="ctr" latinLnBrk="0">
                <a:buFontTx/>
                <a:buChar char="-"/>
              </a:pPr>
              <a:r>
                <a:rPr lang="ko-KR" altLang="en-US" sz="1100" dirty="0">
                  <a:latin typeface="Arial Narrow" panose="020B0606020202030204" pitchFamily="34" charset="0"/>
                  <a:ea typeface="a고딕14" panose="02020600000000000000" pitchFamily="18" charset="-127"/>
                </a:rPr>
                <a:t>한국기술교육대학교 부설 원격평생교육원 설치</a:t>
              </a:r>
              <a:endParaRPr lang="en-US" altLang="ko-KR" sz="1100" dirty="0">
                <a:latin typeface="Arial Narrow" panose="020B0606020202030204" pitchFamily="34" charset="0"/>
                <a:ea typeface="a고딕14" panose="02020600000000000000" pitchFamily="18" charset="-127"/>
              </a:endParaRPr>
            </a:p>
          </p:txBody>
        </p:sp>
      </p:grpSp>
      <p:sp>
        <p:nvSpPr>
          <p:cNvPr id="76" name="직사각형 75">
            <a:extLst>
              <a:ext uri="{FF2B5EF4-FFF2-40B4-BE49-F238E27FC236}">
                <a16:creationId xmlns:a16="http://schemas.microsoft.com/office/drawing/2014/main" id="{DF258158-5292-DFAC-CB39-1B654727D587}"/>
              </a:ext>
            </a:extLst>
          </p:cNvPr>
          <p:cNvSpPr/>
          <p:nvPr/>
        </p:nvSpPr>
        <p:spPr bwMode="auto">
          <a:xfrm>
            <a:off x="5133066" y="1847963"/>
            <a:ext cx="4212547" cy="327025"/>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kumimoji="0" lang="ko-KR" altLang="en-US" sz="1100" i="0" u="none" strike="noStrike" kern="0" cap="none" spc="0" normalizeH="0" baseline="0" noProof="0" dirty="0">
                <a:ln>
                  <a:noFill/>
                </a:ln>
                <a:solidFill>
                  <a:schemeClr val="bg1"/>
                </a:solidFill>
                <a:effectLst/>
                <a:uLnTx/>
                <a:uFillTx/>
                <a:latin typeface="+mj-ea"/>
                <a:ea typeface="+mj-ea"/>
              </a:rPr>
              <a:t>스마트 직업훈련 플랫폼</a:t>
            </a:r>
            <a:r>
              <a:rPr kumimoji="0" lang="en-US" altLang="ko-KR" sz="1100" i="0" u="none" strike="noStrike" kern="0" cap="none" spc="0" normalizeH="0" baseline="0" noProof="0" dirty="0">
                <a:ln>
                  <a:noFill/>
                </a:ln>
                <a:solidFill>
                  <a:schemeClr val="bg1"/>
                </a:solidFill>
                <a:effectLst/>
                <a:uLnTx/>
                <a:uFillTx/>
                <a:latin typeface="+mj-ea"/>
                <a:ea typeface="+mj-ea"/>
              </a:rPr>
              <a:t>(STEP) </a:t>
            </a:r>
            <a:r>
              <a:rPr kumimoji="0" lang="ko-KR" altLang="en-US" sz="1100" i="0" u="none" strike="noStrike" kern="0" cap="none" spc="0" normalizeH="0" baseline="0" noProof="0" dirty="0">
                <a:ln>
                  <a:noFill/>
                </a:ln>
                <a:solidFill>
                  <a:schemeClr val="bg1"/>
                </a:solidFill>
                <a:effectLst/>
                <a:uLnTx/>
                <a:uFillTx/>
                <a:latin typeface="+mj-ea"/>
                <a:ea typeface="+mj-ea"/>
              </a:rPr>
              <a:t>성과</a:t>
            </a:r>
            <a:endParaRPr kumimoji="0" lang="en-US" altLang="ko-KR" sz="1100" i="0" u="none" strike="noStrike" kern="0" cap="none" spc="0" normalizeH="0" baseline="0" noProof="0" dirty="0">
              <a:ln>
                <a:noFill/>
              </a:ln>
              <a:solidFill>
                <a:schemeClr val="bg1"/>
              </a:solidFill>
              <a:effectLst/>
              <a:uLnTx/>
              <a:uFillTx/>
              <a:latin typeface="+mj-ea"/>
              <a:ea typeface="+mj-ea"/>
            </a:endParaRPr>
          </a:p>
        </p:txBody>
      </p:sp>
      <p:grpSp>
        <p:nvGrpSpPr>
          <p:cNvPr id="126" name="그룹 125">
            <a:extLst>
              <a:ext uri="{FF2B5EF4-FFF2-40B4-BE49-F238E27FC236}">
                <a16:creationId xmlns:a16="http://schemas.microsoft.com/office/drawing/2014/main" id="{08DE8E89-98AF-FA8A-117A-6FCA0E6E4908}"/>
              </a:ext>
            </a:extLst>
          </p:cNvPr>
          <p:cNvGrpSpPr/>
          <p:nvPr/>
        </p:nvGrpSpPr>
        <p:grpSpPr>
          <a:xfrm>
            <a:off x="5132354" y="2287503"/>
            <a:ext cx="4213257" cy="619309"/>
            <a:chOff x="5132354" y="2497564"/>
            <a:chExt cx="4213257" cy="619309"/>
          </a:xfrm>
        </p:grpSpPr>
        <p:cxnSp>
          <p:nvCxnSpPr>
            <p:cNvPr id="77" name="직선 연결선 76">
              <a:extLst>
                <a:ext uri="{FF2B5EF4-FFF2-40B4-BE49-F238E27FC236}">
                  <a16:creationId xmlns:a16="http://schemas.microsoft.com/office/drawing/2014/main" id="{F3E9AB13-C3F7-CDD1-AFCD-F6A276ADF04A}"/>
                </a:ext>
              </a:extLst>
            </p:cNvPr>
            <p:cNvCxnSpPr>
              <a:cxnSpLocks/>
            </p:cNvCxnSpPr>
            <p:nvPr/>
          </p:nvCxnSpPr>
          <p:spPr>
            <a:xfrm flipV="1">
              <a:off x="6066945" y="2598543"/>
              <a:ext cx="0" cy="417242"/>
            </a:xfrm>
            <a:prstGeom prst="line">
              <a:avLst/>
            </a:prstGeom>
            <a:ln w="762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97" name="그룹 96">
              <a:extLst>
                <a:ext uri="{FF2B5EF4-FFF2-40B4-BE49-F238E27FC236}">
                  <a16:creationId xmlns:a16="http://schemas.microsoft.com/office/drawing/2014/main" id="{322B8747-095A-26AC-F203-5A1E14E4F56D}"/>
                </a:ext>
              </a:extLst>
            </p:cNvPr>
            <p:cNvGrpSpPr/>
            <p:nvPr/>
          </p:nvGrpSpPr>
          <p:grpSpPr>
            <a:xfrm>
              <a:off x="6177136" y="2500334"/>
              <a:ext cx="3168475" cy="616539"/>
              <a:chOff x="5133065" y="2500334"/>
              <a:chExt cx="4212547" cy="616539"/>
            </a:xfrm>
          </p:grpSpPr>
          <p:sp>
            <p:nvSpPr>
              <p:cNvPr id="83" name="사각형: 둥근 모서리 82">
                <a:extLst>
                  <a:ext uri="{FF2B5EF4-FFF2-40B4-BE49-F238E27FC236}">
                    <a16:creationId xmlns:a16="http://schemas.microsoft.com/office/drawing/2014/main" id="{107660A4-B5D2-1C10-79BD-85DE2C8D9469}"/>
                  </a:ext>
                </a:extLst>
              </p:cNvPr>
              <p:cNvSpPr/>
              <p:nvPr/>
            </p:nvSpPr>
            <p:spPr>
              <a:xfrm>
                <a:off x="5204939" y="2590369"/>
                <a:ext cx="4140673" cy="526504"/>
              </a:xfrm>
              <a:prstGeom prst="roundRect">
                <a:avLst>
                  <a:gd name="adj" fmla="val 2814"/>
                </a:avLst>
              </a:prstGeom>
              <a:no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t"/>
              <a:lstStyle/>
              <a:p>
                <a:pPr marR="0" lvl="0" algn="l" defTabSz="914400" rtl="0" eaLnBrk="0" fontAlgn="base" latinLnBrk="0" hangingPunct="0">
                  <a:lnSpc>
                    <a:spcPct val="70000"/>
                  </a:lnSpc>
                  <a:spcBef>
                    <a:spcPct val="0"/>
                  </a:spcBef>
                  <a:spcAft>
                    <a:spcPts val="800"/>
                  </a:spcAft>
                  <a:buClrTx/>
                  <a:buSzTx/>
                  <a:buNone/>
                  <a:tabLst/>
                  <a:defRPr/>
                </a:pPr>
                <a:endParaRPr lang="en-US" altLang="ko-KR" sz="1150" dirty="0">
                  <a:solidFill>
                    <a:srgbClr val="3B4A71"/>
                  </a:solidFill>
                  <a:latin typeface="a고딕14" panose="02020600000000000000" pitchFamily="18" charset="-127"/>
                  <a:ea typeface="a고딕14" panose="02020600000000000000" pitchFamily="18" charset="-127"/>
                </a:endParaRPr>
              </a:p>
            </p:txBody>
          </p:sp>
          <p:sp>
            <p:nvSpPr>
              <p:cNvPr id="84" name="사각형: 둥근 모서리 83">
                <a:extLst>
                  <a:ext uri="{FF2B5EF4-FFF2-40B4-BE49-F238E27FC236}">
                    <a16:creationId xmlns:a16="http://schemas.microsoft.com/office/drawing/2014/main" id="{E4764C83-CBDD-68B4-A226-653DC0C310EC}"/>
                  </a:ext>
                </a:extLst>
              </p:cNvPr>
              <p:cNvSpPr/>
              <p:nvPr/>
            </p:nvSpPr>
            <p:spPr>
              <a:xfrm>
                <a:off x="5133065" y="2500334"/>
                <a:ext cx="4159828" cy="556782"/>
              </a:xfrm>
              <a:prstGeom prst="roundRect">
                <a:avLst>
                  <a:gd name="adj" fmla="val 2814"/>
                </a:avLst>
              </a:prstGeom>
              <a:solidFill>
                <a:schemeClr val="bg1">
                  <a:lumMod val="85000"/>
                  <a:alpha val="90000"/>
                </a:schemeClr>
              </a:solid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ctr"/>
              <a:lstStyle/>
              <a:p>
                <a:pPr marL="126000" marR="0" lvl="0" indent="-144000" algn="l" defTabSz="914400" rtl="0" eaLnBrk="0" fontAlgn="base" latinLnBrk="0" hangingPunct="0">
                  <a:lnSpc>
                    <a:spcPct val="100000"/>
                  </a:lnSpc>
                  <a:spcBef>
                    <a:spcPct val="0"/>
                  </a:spcBef>
                  <a:spcAft>
                    <a:spcPts val="800"/>
                  </a:spcAft>
                  <a:buClrTx/>
                  <a:buSzTx/>
                  <a:buFont typeface="Arial" panose="020B0604020202020204" pitchFamily="34" charset="0"/>
                  <a:buChar char="•"/>
                  <a:tabLst/>
                  <a:defRPr/>
                </a:pP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2019</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년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18.2</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 명에서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2023</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년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81</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만명의 누적 회원수를 보유하고 있음</a:t>
                </a:r>
              </a:p>
            </p:txBody>
          </p:sp>
        </p:grpSp>
        <p:sp>
          <p:nvSpPr>
            <p:cNvPr id="111" name="사각형: 둥근 모서리 110">
              <a:extLst>
                <a:ext uri="{FF2B5EF4-FFF2-40B4-BE49-F238E27FC236}">
                  <a16:creationId xmlns:a16="http://schemas.microsoft.com/office/drawing/2014/main" id="{3CD9B8A8-DDCA-12B6-6BDF-6685AB629655}"/>
                </a:ext>
              </a:extLst>
            </p:cNvPr>
            <p:cNvSpPr/>
            <p:nvPr/>
          </p:nvSpPr>
          <p:spPr>
            <a:xfrm>
              <a:off x="5132354" y="2497564"/>
              <a:ext cx="824400" cy="619200"/>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ko-KR" altLang="en-US" sz="1100" dirty="0">
                  <a:latin typeface="a고딕14" panose="02020600000000000000" pitchFamily="18" charset="-127"/>
                  <a:ea typeface="a고딕14" panose="02020600000000000000" pitchFamily="18" charset="-127"/>
                </a:rPr>
                <a:t>회원 수</a:t>
              </a:r>
              <a:endParaRPr lang="en-US" altLang="ko-KR" sz="1100" dirty="0">
                <a:latin typeface="a고딕14" panose="02020600000000000000" pitchFamily="18" charset="-127"/>
                <a:ea typeface="a고딕14" panose="02020600000000000000" pitchFamily="18" charset="-127"/>
              </a:endParaRPr>
            </a:p>
            <a:p>
              <a:pPr algn="ctr">
                <a:buNone/>
              </a:pPr>
              <a:r>
                <a:rPr lang="en-US" altLang="ko-KR" sz="1100" dirty="0">
                  <a:latin typeface="a고딕14" panose="02020600000000000000" pitchFamily="18" charset="-127"/>
                  <a:ea typeface="a고딕14" panose="02020600000000000000" pitchFamily="18" charset="-127"/>
                </a:rPr>
                <a:t>(</a:t>
              </a:r>
              <a:r>
                <a:rPr lang="ko-KR" altLang="en-US" sz="1100" dirty="0">
                  <a:latin typeface="a고딕14" panose="02020600000000000000" pitchFamily="18" charset="-127"/>
                  <a:ea typeface="a고딕14" panose="02020600000000000000" pitchFamily="18" charset="-127"/>
                </a:rPr>
                <a:t>누적</a:t>
              </a:r>
              <a:r>
                <a:rPr lang="en-US" altLang="ko-KR" sz="1100" dirty="0">
                  <a:latin typeface="a고딕14" panose="02020600000000000000" pitchFamily="18" charset="-127"/>
                  <a:ea typeface="a고딕14" panose="02020600000000000000" pitchFamily="18" charset="-127"/>
                </a:rPr>
                <a:t>)</a:t>
              </a:r>
              <a:endParaRPr lang="ko-KR" altLang="en-US" sz="1100" dirty="0">
                <a:latin typeface="a고딕14" panose="02020600000000000000" pitchFamily="18" charset="-127"/>
                <a:ea typeface="a고딕14" panose="02020600000000000000" pitchFamily="18" charset="-127"/>
              </a:endParaRPr>
            </a:p>
          </p:txBody>
        </p:sp>
      </p:grpSp>
      <p:grpSp>
        <p:nvGrpSpPr>
          <p:cNvPr id="124" name="그룹 123">
            <a:extLst>
              <a:ext uri="{FF2B5EF4-FFF2-40B4-BE49-F238E27FC236}">
                <a16:creationId xmlns:a16="http://schemas.microsoft.com/office/drawing/2014/main" id="{90E4BF9E-28C9-15B8-E065-990F4FFF7C48}"/>
              </a:ext>
            </a:extLst>
          </p:cNvPr>
          <p:cNvGrpSpPr/>
          <p:nvPr/>
        </p:nvGrpSpPr>
        <p:grpSpPr>
          <a:xfrm>
            <a:off x="5132354" y="3927630"/>
            <a:ext cx="4213257" cy="622067"/>
            <a:chOff x="5132354" y="4137691"/>
            <a:chExt cx="4213257" cy="622067"/>
          </a:xfrm>
        </p:grpSpPr>
        <p:grpSp>
          <p:nvGrpSpPr>
            <p:cNvPr id="93" name="그룹 92">
              <a:extLst>
                <a:ext uri="{FF2B5EF4-FFF2-40B4-BE49-F238E27FC236}">
                  <a16:creationId xmlns:a16="http://schemas.microsoft.com/office/drawing/2014/main" id="{98E30B8D-A3C7-8DAB-9199-4B56141C9604}"/>
                </a:ext>
              </a:extLst>
            </p:cNvPr>
            <p:cNvGrpSpPr/>
            <p:nvPr/>
          </p:nvGrpSpPr>
          <p:grpSpPr>
            <a:xfrm>
              <a:off x="6177136" y="4143219"/>
              <a:ext cx="3168475" cy="616539"/>
              <a:chOff x="5133065" y="4178739"/>
              <a:chExt cx="4212547" cy="616539"/>
            </a:xfrm>
          </p:grpSpPr>
          <p:sp>
            <p:nvSpPr>
              <p:cNvPr id="91" name="사각형: 둥근 모서리 90">
                <a:extLst>
                  <a:ext uri="{FF2B5EF4-FFF2-40B4-BE49-F238E27FC236}">
                    <a16:creationId xmlns:a16="http://schemas.microsoft.com/office/drawing/2014/main" id="{6C07C3C6-DA99-88BF-36F0-614F7E0B2E93}"/>
                  </a:ext>
                </a:extLst>
              </p:cNvPr>
              <p:cNvSpPr/>
              <p:nvPr/>
            </p:nvSpPr>
            <p:spPr>
              <a:xfrm>
                <a:off x="5204939" y="4268774"/>
                <a:ext cx="4140673" cy="526504"/>
              </a:xfrm>
              <a:prstGeom prst="roundRect">
                <a:avLst>
                  <a:gd name="adj" fmla="val 2814"/>
                </a:avLst>
              </a:prstGeom>
              <a:no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144000" bIns="108000" rtlCol="0" anchor="t"/>
              <a:lstStyle/>
              <a:p>
                <a:pPr marR="0" lvl="0" algn="l" defTabSz="914400" rtl="0" eaLnBrk="0" fontAlgn="base" latinLnBrk="0" hangingPunct="0">
                  <a:lnSpc>
                    <a:spcPct val="70000"/>
                  </a:lnSpc>
                  <a:spcBef>
                    <a:spcPct val="0"/>
                  </a:spcBef>
                  <a:spcAft>
                    <a:spcPts val="800"/>
                  </a:spcAft>
                  <a:buClrTx/>
                  <a:buSzTx/>
                  <a:buNone/>
                  <a:tabLst/>
                  <a:defRPr/>
                </a:pPr>
                <a:endParaRPr lang="en-US" altLang="ko-KR" sz="1150" dirty="0">
                  <a:solidFill>
                    <a:schemeClr val="tx1"/>
                  </a:solidFill>
                  <a:latin typeface="a고딕14" panose="02020600000000000000" pitchFamily="18" charset="-127"/>
                  <a:ea typeface="a고딕14" panose="02020600000000000000" pitchFamily="18" charset="-127"/>
                </a:endParaRPr>
              </a:p>
            </p:txBody>
          </p:sp>
          <p:sp>
            <p:nvSpPr>
              <p:cNvPr id="92" name="사각형: 둥근 모서리 91">
                <a:extLst>
                  <a:ext uri="{FF2B5EF4-FFF2-40B4-BE49-F238E27FC236}">
                    <a16:creationId xmlns:a16="http://schemas.microsoft.com/office/drawing/2014/main" id="{9BA679D3-F28D-FED1-860D-D1890B6D1686}"/>
                  </a:ext>
                </a:extLst>
              </p:cNvPr>
              <p:cNvSpPr/>
              <p:nvPr/>
            </p:nvSpPr>
            <p:spPr>
              <a:xfrm>
                <a:off x="5133065" y="4178739"/>
                <a:ext cx="4159828" cy="556782"/>
              </a:xfrm>
              <a:prstGeom prst="roundRect">
                <a:avLst>
                  <a:gd name="adj" fmla="val 2814"/>
                </a:avLst>
              </a:prstGeom>
              <a:solidFill>
                <a:schemeClr val="bg1">
                  <a:lumMod val="85000"/>
                  <a:alpha val="90000"/>
                </a:schemeClr>
              </a:solid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ctr"/>
              <a:lstStyle/>
              <a:p>
                <a:pPr marL="106363" marR="0" lvl="0" indent="-123825" algn="l" defTabSz="914400" rtl="0" eaLnBrk="0" fontAlgn="base" latinLnBrk="0" hangingPunct="0">
                  <a:lnSpc>
                    <a:spcPct val="100000"/>
                  </a:lnSpc>
                  <a:spcBef>
                    <a:spcPct val="0"/>
                  </a:spcBef>
                  <a:spcAft>
                    <a:spcPts val="800"/>
                  </a:spcAft>
                  <a:buClrTx/>
                  <a:buSzTx/>
                  <a:buFont typeface="Arial" panose="020B0604020202020204" pitchFamily="34" charset="0"/>
                  <a:buChar char="•"/>
                  <a:tabLst/>
                  <a:defRPr/>
                </a:pP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이러닝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148</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 명</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 </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가상훈련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 명</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 LMS </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활용 콘텐츠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 명 등 총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188</a:t>
                </a:r>
                <a:r>
                  <a:rPr lang="ko-KR" altLang="en-US" sz="1150" dirty="0">
                    <a:solidFill>
                      <a:schemeClr val="tx1"/>
                    </a:solidFill>
                    <a:latin typeface="a고딕14" panose="02020600000000000000" pitchFamily="18" charset="-127"/>
                    <a:ea typeface="a고딕14" panose="02020600000000000000" pitchFamily="18" charset="-127"/>
                  </a:rPr>
                  <a:t>만 명이 활용하고 있음</a:t>
                </a:r>
                <a:endPar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endParaRPr>
              </a:p>
            </p:txBody>
          </p:sp>
        </p:grpSp>
        <p:sp>
          <p:nvSpPr>
            <p:cNvPr id="112" name="사각형: 둥근 모서리 111">
              <a:extLst>
                <a:ext uri="{FF2B5EF4-FFF2-40B4-BE49-F238E27FC236}">
                  <a16:creationId xmlns:a16="http://schemas.microsoft.com/office/drawing/2014/main" id="{692A8FDE-F338-E4E6-8986-5A7E26069A52}"/>
                </a:ext>
              </a:extLst>
            </p:cNvPr>
            <p:cNvSpPr/>
            <p:nvPr/>
          </p:nvSpPr>
          <p:spPr>
            <a:xfrm>
              <a:off x="5132354" y="4137691"/>
              <a:ext cx="824400" cy="619200"/>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ko-KR" altLang="en-US" sz="1100" dirty="0">
                  <a:latin typeface="a고딕14" panose="02020600000000000000" pitchFamily="18" charset="-127"/>
                  <a:ea typeface="a고딕14" panose="02020600000000000000" pitchFamily="18" charset="-127"/>
                </a:rPr>
                <a:t>콘텐츠 </a:t>
              </a:r>
              <a:endParaRPr lang="en-US" altLang="ko-KR" sz="1100" dirty="0">
                <a:latin typeface="a고딕14" panose="02020600000000000000" pitchFamily="18" charset="-127"/>
                <a:ea typeface="a고딕14" panose="02020600000000000000" pitchFamily="18" charset="-127"/>
              </a:endParaRPr>
            </a:p>
            <a:p>
              <a:pPr algn="ctr">
                <a:buNone/>
              </a:pPr>
              <a:r>
                <a:rPr lang="ko-KR" altLang="en-US" sz="1100" dirty="0">
                  <a:latin typeface="a고딕14" panose="02020600000000000000" pitchFamily="18" charset="-127"/>
                  <a:ea typeface="a고딕14" panose="02020600000000000000" pitchFamily="18" charset="-127"/>
                </a:rPr>
                <a:t>활용 인원</a:t>
              </a:r>
              <a:endParaRPr lang="en-US" altLang="ko-KR" sz="1100" dirty="0">
                <a:latin typeface="a고딕14" panose="02020600000000000000" pitchFamily="18" charset="-127"/>
                <a:ea typeface="a고딕14" panose="02020600000000000000" pitchFamily="18" charset="-127"/>
              </a:endParaRPr>
            </a:p>
            <a:p>
              <a:pPr algn="ctr">
                <a:buNone/>
              </a:pPr>
              <a:r>
                <a:rPr lang="en-US" altLang="ko-KR" sz="1100" dirty="0">
                  <a:latin typeface="a고딕14" panose="02020600000000000000" pitchFamily="18" charset="-127"/>
                  <a:ea typeface="a고딕14" panose="02020600000000000000" pitchFamily="18" charset="-127"/>
                </a:rPr>
                <a:t>(</a:t>
              </a:r>
              <a:r>
                <a:rPr lang="ko-KR" altLang="en-US" sz="1100" dirty="0">
                  <a:latin typeface="a고딕14" panose="02020600000000000000" pitchFamily="18" charset="-127"/>
                  <a:ea typeface="a고딕14" panose="02020600000000000000" pitchFamily="18" charset="-127"/>
                </a:rPr>
                <a:t>누적</a:t>
              </a:r>
              <a:r>
                <a:rPr lang="en-US" altLang="ko-KR" sz="1100" dirty="0">
                  <a:latin typeface="a고딕14" panose="02020600000000000000" pitchFamily="18" charset="-127"/>
                  <a:ea typeface="a고딕14" panose="02020600000000000000" pitchFamily="18" charset="-127"/>
                </a:rPr>
                <a:t>)</a:t>
              </a:r>
              <a:endParaRPr lang="ko-KR" altLang="en-US" sz="1100" dirty="0">
                <a:latin typeface="a고딕14" panose="02020600000000000000" pitchFamily="18" charset="-127"/>
                <a:ea typeface="a고딕14" panose="02020600000000000000" pitchFamily="18" charset="-127"/>
              </a:endParaRPr>
            </a:p>
          </p:txBody>
        </p:sp>
        <p:cxnSp>
          <p:nvCxnSpPr>
            <p:cNvPr id="116" name="직선 연결선 115">
              <a:extLst>
                <a:ext uri="{FF2B5EF4-FFF2-40B4-BE49-F238E27FC236}">
                  <a16:creationId xmlns:a16="http://schemas.microsoft.com/office/drawing/2014/main" id="{F7580B4F-F4E0-4D3A-A322-F5F160229F9A}"/>
                </a:ext>
              </a:extLst>
            </p:cNvPr>
            <p:cNvCxnSpPr>
              <a:cxnSpLocks/>
            </p:cNvCxnSpPr>
            <p:nvPr/>
          </p:nvCxnSpPr>
          <p:spPr>
            <a:xfrm flipV="1">
              <a:off x="6066945" y="4242812"/>
              <a:ext cx="0" cy="417242"/>
            </a:xfrm>
            <a:prstGeom prst="line">
              <a:avLst/>
            </a:prstGeom>
            <a:ln w="762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25" name="그룹 124">
            <a:extLst>
              <a:ext uri="{FF2B5EF4-FFF2-40B4-BE49-F238E27FC236}">
                <a16:creationId xmlns:a16="http://schemas.microsoft.com/office/drawing/2014/main" id="{46DB6528-7820-DAC3-FF86-A6352506B751}"/>
              </a:ext>
            </a:extLst>
          </p:cNvPr>
          <p:cNvGrpSpPr/>
          <p:nvPr/>
        </p:nvGrpSpPr>
        <p:grpSpPr>
          <a:xfrm>
            <a:off x="5133066" y="3107277"/>
            <a:ext cx="4212545" cy="619888"/>
            <a:chOff x="5133066" y="3341598"/>
            <a:chExt cx="4212545" cy="619888"/>
          </a:xfrm>
        </p:grpSpPr>
        <p:grpSp>
          <p:nvGrpSpPr>
            <p:cNvPr id="101" name="그룹 100">
              <a:extLst>
                <a:ext uri="{FF2B5EF4-FFF2-40B4-BE49-F238E27FC236}">
                  <a16:creationId xmlns:a16="http://schemas.microsoft.com/office/drawing/2014/main" id="{64873079-F84E-1ED1-6569-73E193DEFCAE}"/>
                </a:ext>
              </a:extLst>
            </p:cNvPr>
            <p:cNvGrpSpPr/>
            <p:nvPr/>
          </p:nvGrpSpPr>
          <p:grpSpPr>
            <a:xfrm>
              <a:off x="6177136" y="3344947"/>
              <a:ext cx="3168475" cy="616539"/>
              <a:chOff x="5133065" y="3344947"/>
              <a:chExt cx="4212547" cy="616539"/>
            </a:xfrm>
          </p:grpSpPr>
          <p:sp>
            <p:nvSpPr>
              <p:cNvPr id="85" name="사각형: 둥근 모서리 84">
                <a:extLst>
                  <a:ext uri="{FF2B5EF4-FFF2-40B4-BE49-F238E27FC236}">
                    <a16:creationId xmlns:a16="http://schemas.microsoft.com/office/drawing/2014/main" id="{118E968C-D909-8B3B-C956-92337840A480}"/>
                  </a:ext>
                </a:extLst>
              </p:cNvPr>
              <p:cNvSpPr/>
              <p:nvPr/>
            </p:nvSpPr>
            <p:spPr>
              <a:xfrm>
                <a:off x="5204939" y="3434982"/>
                <a:ext cx="4140673" cy="526504"/>
              </a:xfrm>
              <a:prstGeom prst="roundRect">
                <a:avLst>
                  <a:gd name="adj" fmla="val 2814"/>
                </a:avLst>
              </a:prstGeom>
              <a:no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t"/>
              <a:lstStyle/>
              <a:p>
                <a:pPr marR="0" lvl="0" algn="l" defTabSz="914400" rtl="0" eaLnBrk="0" fontAlgn="base" latinLnBrk="0" hangingPunct="0">
                  <a:lnSpc>
                    <a:spcPct val="70000"/>
                  </a:lnSpc>
                  <a:spcBef>
                    <a:spcPct val="0"/>
                  </a:spcBef>
                  <a:spcAft>
                    <a:spcPts val="800"/>
                  </a:spcAft>
                  <a:buClrTx/>
                  <a:buSzTx/>
                  <a:buNone/>
                  <a:tabLst/>
                  <a:defRPr/>
                </a:pPr>
                <a:endParaRPr lang="en-US" altLang="ko-KR" sz="1150" dirty="0">
                  <a:solidFill>
                    <a:srgbClr val="3B4A71"/>
                  </a:solidFill>
                  <a:latin typeface="a고딕14" panose="02020600000000000000" pitchFamily="18" charset="-127"/>
                  <a:ea typeface="a고딕14" panose="02020600000000000000" pitchFamily="18" charset="-127"/>
                </a:endParaRPr>
              </a:p>
            </p:txBody>
          </p:sp>
          <p:sp>
            <p:nvSpPr>
              <p:cNvPr id="86" name="사각형: 둥근 모서리 85">
                <a:extLst>
                  <a:ext uri="{FF2B5EF4-FFF2-40B4-BE49-F238E27FC236}">
                    <a16:creationId xmlns:a16="http://schemas.microsoft.com/office/drawing/2014/main" id="{2CB40837-A55D-9B88-2A3C-1E761468EBB3}"/>
                  </a:ext>
                </a:extLst>
              </p:cNvPr>
              <p:cNvSpPr/>
              <p:nvPr/>
            </p:nvSpPr>
            <p:spPr>
              <a:xfrm>
                <a:off x="5133065" y="3344947"/>
                <a:ext cx="4159828" cy="556782"/>
              </a:xfrm>
              <a:prstGeom prst="roundRect">
                <a:avLst>
                  <a:gd name="adj" fmla="val 2814"/>
                </a:avLst>
              </a:prstGeom>
              <a:solidFill>
                <a:srgbClr val="FFFFFF"/>
              </a:solid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ctr"/>
              <a:lstStyle/>
              <a:p>
                <a:pPr marL="126000" marR="0" lvl="0" indent="-144000" algn="l" defTabSz="914400" rtl="0" eaLnBrk="0" fontAlgn="base" latinLnBrk="0" hangingPunct="0">
                  <a:lnSpc>
                    <a:spcPct val="100000"/>
                  </a:lnSpc>
                  <a:spcBef>
                    <a:spcPts val="300"/>
                  </a:spcBef>
                  <a:spcAft>
                    <a:spcPts val="0"/>
                  </a:spcAft>
                  <a:buClrTx/>
                  <a:buSzTx/>
                  <a:buFont typeface="Arial" panose="020B0604020202020204" pitchFamily="34" charset="0"/>
                  <a:buChar char="•"/>
                  <a:tabLst/>
                  <a:defRPr/>
                </a:pP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2019</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년 콘텐츠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1,191</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개에서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2023</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년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3,792</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개의 콘텐츠를 보유하고 있음</a:t>
                </a:r>
                <a:br>
                  <a:rPr lang="en-US" altLang="ko-KR" sz="1150" dirty="0">
                    <a:solidFill>
                      <a:schemeClr val="tx1"/>
                    </a:solidFill>
                    <a:latin typeface="a고딕14" panose="02020600000000000000" pitchFamily="18" charset="-127"/>
                    <a:ea typeface="a고딕14" panose="02020600000000000000" pitchFamily="18" charset="-127"/>
                  </a:rPr>
                </a:br>
                <a:r>
                  <a:rPr lang="en-US" altLang="ko-KR" sz="1150" dirty="0">
                    <a:solidFill>
                      <a:schemeClr val="tx1"/>
                    </a:solidFill>
                    <a:latin typeface="a고딕14" panose="02020600000000000000" pitchFamily="18" charset="-127"/>
                    <a:ea typeface="a고딕14" panose="02020600000000000000" pitchFamily="18" charset="-127"/>
                  </a:rPr>
                  <a:t>- </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이러닝 </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1,755</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 </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가상훈련 </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144</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 </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메타버스 </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6</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 등</a:t>
                </a:r>
                <a:endPar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endParaRPr>
              </a:p>
            </p:txBody>
          </p:sp>
        </p:grpSp>
        <p:grpSp>
          <p:nvGrpSpPr>
            <p:cNvPr id="107" name="그룹 106">
              <a:extLst>
                <a:ext uri="{FF2B5EF4-FFF2-40B4-BE49-F238E27FC236}">
                  <a16:creationId xmlns:a16="http://schemas.microsoft.com/office/drawing/2014/main" id="{1ACAE74D-8644-EC01-A791-EAB882E28E44}"/>
                </a:ext>
              </a:extLst>
            </p:cNvPr>
            <p:cNvGrpSpPr/>
            <p:nvPr/>
          </p:nvGrpSpPr>
          <p:grpSpPr>
            <a:xfrm>
              <a:off x="5133066" y="3341598"/>
              <a:ext cx="829120" cy="619309"/>
              <a:chOff x="614094" y="2036320"/>
              <a:chExt cx="2137858" cy="717960"/>
            </a:xfrm>
          </p:grpSpPr>
          <p:sp>
            <p:nvSpPr>
              <p:cNvPr id="105" name="사각형: 둥근 모서리 104">
                <a:extLst>
                  <a:ext uri="{FF2B5EF4-FFF2-40B4-BE49-F238E27FC236}">
                    <a16:creationId xmlns:a16="http://schemas.microsoft.com/office/drawing/2014/main" id="{3A105747-F411-8BDC-B2C5-19A018C336C6}"/>
                  </a:ext>
                </a:extLst>
              </p:cNvPr>
              <p:cNvSpPr/>
              <p:nvPr/>
            </p:nvSpPr>
            <p:spPr>
              <a:xfrm>
                <a:off x="628100" y="2079099"/>
                <a:ext cx="2123852" cy="675181"/>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sz="1100" dirty="0">
                  <a:latin typeface="a고딕14" panose="02020600000000000000" pitchFamily="18" charset="-127"/>
                  <a:ea typeface="a고딕14" panose="02020600000000000000" pitchFamily="18" charset="-127"/>
                </a:endParaRPr>
              </a:p>
            </p:txBody>
          </p:sp>
          <p:sp>
            <p:nvSpPr>
              <p:cNvPr id="106" name="사각형: 둥근 모서리 105">
                <a:extLst>
                  <a:ext uri="{FF2B5EF4-FFF2-40B4-BE49-F238E27FC236}">
                    <a16:creationId xmlns:a16="http://schemas.microsoft.com/office/drawing/2014/main" id="{A34394F9-B254-6D2F-5478-B7242BD7735F}"/>
                  </a:ext>
                </a:extLst>
              </p:cNvPr>
              <p:cNvSpPr/>
              <p:nvPr/>
            </p:nvSpPr>
            <p:spPr>
              <a:xfrm>
                <a:off x="614094" y="2036320"/>
                <a:ext cx="2123852" cy="675181"/>
              </a:xfrm>
              <a:prstGeom prst="roundRect">
                <a:avLst/>
              </a:prstGeom>
              <a:solidFill>
                <a:srgbClr val="021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ko-KR" altLang="en-US" sz="1100" dirty="0">
                    <a:latin typeface="a고딕14" panose="02020600000000000000" pitchFamily="18" charset="-127"/>
                    <a:ea typeface="a고딕14" panose="02020600000000000000" pitchFamily="18" charset="-127"/>
                  </a:rPr>
                  <a:t>콘텐츠 수</a:t>
                </a:r>
                <a:endParaRPr lang="en-US" altLang="ko-KR" sz="1100" dirty="0">
                  <a:latin typeface="a고딕14" panose="02020600000000000000" pitchFamily="18" charset="-127"/>
                  <a:ea typeface="a고딕14" panose="02020600000000000000" pitchFamily="18" charset="-127"/>
                </a:endParaRPr>
              </a:p>
              <a:p>
                <a:pPr algn="ctr">
                  <a:buNone/>
                </a:pPr>
                <a:r>
                  <a:rPr lang="en-US" altLang="ko-KR" sz="1100" dirty="0">
                    <a:latin typeface="a고딕14" panose="02020600000000000000" pitchFamily="18" charset="-127"/>
                    <a:ea typeface="a고딕14" panose="02020600000000000000" pitchFamily="18" charset="-127"/>
                  </a:rPr>
                  <a:t>(</a:t>
                </a:r>
                <a:r>
                  <a:rPr lang="ko-KR" altLang="en-US" sz="1100" dirty="0">
                    <a:latin typeface="a고딕14" panose="02020600000000000000" pitchFamily="18" charset="-127"/>
                    <a:ea typeface="a고딕14" panose="02020600000000000000" pitchFamily="18" charset="-127"/>
                  </a:rPr>
                  <a:t>누적</a:t>
                </a:r>
                <a:r>
                  <a:rPr lang="en-US" altLang="ko-KR" sz="1100" dirty="0">
                    <a:latin typeface="a고딕14" panose="02020600000000000000" pitchFamily="18" charset="-127"/>
                    <a:ea typeface="a고딕14" panose="02020600000000000000" pitchFamily="18" charset="-127"/>
                  </a:rPr>
                  <a:t>)</a:t>
                </a:r>
                <a:endParaRPr lang="ko-KR" altLang="en-US" sz="1100" dirty="0">
                  <a:latin typeface="a고딕14" panose="02020600000000000000" pitchFamily="18" charset="-127"/>
                  <a:ea typeface="a고딕14" panose="02020600000000000000" pitchFamily="18" charset="-127"/>
                </a:endParaRPr>
              </a:p>
            </p:txBody>
          </p:sp>
        </p:grpSp>
        <p:cxnSp>
          <p:nvCxnSpPr>
            <p:cNvPr id="117" name="직선 연결선 116">
              <a:extLst>
                <a:ext uri="{FF2B5EF4-FFF2-40B4-BE49-F238E27FC236}">
                  <a16:creationId xmlns:a16="http://schemas.microsoft.com/office/drawing/2014/main" id="{F4317604-7BCF-A0B0-3F42-EB1AB9A6C4F1}"/>
                </a:ext>
              </a:extLst>
            </p:cNvPr>
            <p:cNvCxnSpPr>
              <a:cxnSpLocks/>
            </p:cNvCxnSpPr>
            <p:nvPr/>
          </p:nvCxnSpPr>
          <p:spPr>
            <a:xfrm flipV="1">
              <a:off x="6066945" y="3443848"/>
              <a:ext cx="0" cy="417242"/>
            </a:xfrm>
            <a:prstGeom prst="line">
              <a:avLst/>
            </a:prstGeom>
            <a:ln w="762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20" name="사각형: 둥근 모서리 30">
            <a:extLst>
              <a:ext uri="{FF2B5EF4-FFF2-40B4-BE49-F238E27FC236}">
                <a16:creationId xmlns:a16="http://schemas.microsoft.com/office/drawing/2014/main" id="{BB0905A4-B5B4-C1C7-4BA3-DCABA703C5E4}"/>
              </a:ext>
            </a:extLst>
          </p:cNvPr>
          <p:cNvSpPr/>
          <p:nvPr/>
        </p:nvSpPr>
        <p:spPr>
          <a:xfrm>
            <a:off x="5138498" y="5504297"/>
            <a:ext cx="4207115" cy="992412"/>
          </a:xfrm>
          <a:prstGeom prst="roundRect">
            <a:avLst>
              <a:gd name="adj" fmla="val 11091"/>
            </a:avLst>
          </a:prstGeom>
          <a:solidFill>
            <a:srgbClr val="EEF1F9"/>
          </a:solidFill>
          <a:ln w="12700">
            <a:solidFill>
              <a:srgbClr val="C1CB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buNone/>
            </a:pPr>
            <a:r>
              <a:rPr lang="en-US" altLang="ko-KR" dirty="0">
                <a:solidFill>
                  <a:schemeClr val="tx1"/>
                </a:solidFill>
                <a:latin typeface="a고딕14" panose="02020600000000000000" pitchFamily="18" charset="-127"/>
                <a:ea typeface="a고딕14" panose="02020600000000000000" pitchFamily="18" charset="-127"/>
              </a:rPr>
              <a:t>STEP</a:t>
            </a:r>
            <a:r>
              <a:rPr lang="ko-KR" altLang="en-US" dirty="0">
                <a:solidFill>
                  <a:schemeClr val="tx1"/>
                </a:solidFill>
                <a:latin typeface="a고딕14" panose="02020600000000000000" pitchFamily="18" charset="-127"/>
                <a:ea typeface="a고딕14" panose="02020600000000000000" pitchFamily="18" charset="-127"/>
              </a:rPr>
              <a:t>은 </a:t>
            </a:r>
            <a:r>
              <a:rPr lang="ko-KR" altLang="en-US" b="1" dirty="0">
                <a:solidFill>
                  <a:srgbClr val="0070C0"/>
                </a:solidFill>
                <a:latin typeface="a고딕14" panose="02020600000000000000" pitchFamily="18" charset="-127"/>
                <a:ea typeface="a고딕14" panose="02020600000000000000" pitchFamily="18" charset="-127"/>
              </a:rPr>
              <a:t>온라인 직업교육 생태계를 만들고</a:t>
            </a:r>
            <a:r>
              <a:rPr lang="ko-KR" altLang="en-US" dirty="0">
                <a:solidFill>
                  <a:schemeClr val="tx1"/>
                </a:solidFill>
                <a:latin typeface="a고딕14" panose="02020600000000000000" pitchFamily="18" charset="-127"/>
                <a:ea typeface="a고딕14" panose="02020600000000000000" pitchFamily="18" charset="-127"/>
              </a:rPr>
              <a:t> 일자리 안전망을 좀 더 촘촘하게 만들어줄 플랫폼으로서</a:t>
            </a:r>
            <a:r>
              <a:rPr lang="en-US" altLang="ko-KR" dirty="0">
                <a:solidFill>
                  <a:schemeClr val="tx1"/>
                </a:solidFill>
                <a:latin typeface="a고딕14" panose="02020600000000000000" pitchFamily="18" charset="-127"/>
                <a:ea typeface="a고딕14" panose="02020600000000000000" pitchFamily="18" charset="-127"/>
              </a:rPr>
              <a:t> </a:t>
            </a:r>
            <a:r>
              <a:rPr lang="en-US" altLang="ko-KR" b="1" dirty="0">
                <a:solidFill>
                  <a:srgbClr val="0070C0"/>
                </a:solidFill>
                <a:latin typeface="a고딕14" panose="02020600000000000000" pitchFamily="18" charset="-127"/>
                <a:ea typeface="a고딕14" panose="02020600000000000000" pitchFamily="18" charset="-127"/>
              </a:rPr>
              <a:t>4</a:t>
            </a:r>
            <a:r>
              <a:rPr lang="ko-KR" altLang="en-US" b="1" dirty="0">
                <a:solidFill>
                  <a:srgbClr val="0070C0"/>
                </a:solidFill>
                <a:latin typeface="a고딕14" panose="02020600000000000000" pitchFamily="18" charset="-127"/>
                <a:ea typeface="a고딕14" panose="02020600000000000000" pitchFamily="18" charset="-127"/>
              </a:rPr>
              <a:t>차 산업에 대비할 수 있도록 훈련 콘텐츠를 생산</a:t>
            </a:r>
            <a:r>
              <a:rPr lang="en-US" altLang="ko-KR" b="1" dirty="0">
                <a:solidFill>
                  <a:srgbClr val="0070C0"/>
                </a:solidFill>
                <a:latin typeface="a고딕14" panose="02020600000000000000" pitchFamily="18" charset="-127"/>
                <a:ea typeface="a고딕14" panose="02020600000000000000" pitchFamily="18" charset="-127"/>
              </a:rPr>
              <a:t>·</a:t>
            </a:r>
            <a:r>
              <a:rPr lang="ko-KR" altLang="en-US" b="1" dirty="0">
                <a:solidFill>
                  <a:srgbClr val="0070C0"/>
                </a:solidFill>
                <a:latin typeface="a고딕14" panose="02020600000000000000" pitchFamily="18" charset="-127"/>
                <a:ea typeface="a고딕14" panose="02020600000000000000" pitchFamily="18" charset="-127"/>
              </a:rPr>
              <a:t>유통</a:t>
            </a:r>
            <a:r>
              <a:rPr lang="ko-KR" altLang="en-US" dirty="0">
                <a:solidFill>
                  <a:schemeClr val="tx1"/>
                </a:solidFill>
                <a:latin typeface="a고딕14" panose="02020600000000000000" pitchFamily="18" charset="-127"/>
                <a:ea typeface="a고딕14" panose="02020600000000000000" pitchFamily="18" charset="-127"/>
              </a:rPr>
              <a:t>하고 있으며</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다양한 방식으로 </a:t>
            </a:r>
            <a:r>
              <a:rPr lang="ko-KR" altLang="en-US" b="1" dirty="0">
                <a:solidFill>
                  <a:srgbClr val="0070C0"/>
                </a:solidFill>
                <a:latin typeface="a고딕14" panose="02020600000000000000" pitchFamily="18" charset="-127"/>
                <a:ea typeface="a고딕14" panose="02020600000000000000" pitchFamily="18" charset="-127"/>
              </a:rPr>
              <a:t>맞춤 직업훈련을 받을 수 있도록 지원</a:t>
            </a:r>
            <a:r>
              <a:rPr lang="ko-KR" altLang="en-US" dirty="0">
                <a:solidFill>
                  <a:schemeClr val="tx1"/>
                </a:solidFill>
                <a:latin typeface="a고딕14" panose="02020600000000000000" pitchFamily="18" charset="-127"/>
                <a:ea typeface="a고딕14" panose="02020600000000000000" pitchFamily="18" charset="-127"/>
              </a:rPr>
              <a:t>하고 있음</a:t>
            </a:r>
            <a:endParaRPr lang="en-US" altLang="ko-KR" dirty="0">
              <a:solidFill>
                <a:schemeClr val="tx1"/>
              </a:solidFill>
              <a:latin typeface="a고딕14" panose="02020600000000000000" pitchFamily="18" charset="-127"/>
              <a:ea typeface="a고딕14" panose="02020600000000000000" pitchFamily="18" charset="-127"/>
            </a:endParaRPr>
          </a:p>
        </p:txBody>
      </p:sp>
      <p:pic>
        <p:nvPicPr>
          <p:cNvPr id="128" name="그림 127">
            <a:extLst>
              <a:ext uri="{FF2B5EF4-FFF2-40B4-BE49-F238E27FC236}">
                <a16:creationId xmlns:a16="http://schemas.microsoft.com/office/drawing/2014/main" id="{15711F96-658C-0486-B43A-8690E931E602}"/>
              </a:ext>
            </a:extLst>
          </p:cNvPr>
          <p:cNvPicPr>
            <a:picLocks noChangeAspect="1"/>
          </p:cNvPicPr>
          <p:nvPr/>
        </p:nvPicPr>
        <p:blipFill rotWithShape="1">
          <a:blip r:embed="rId2"/>
          <a:srcRect l="-12995" t="23955" r="-12995" b="24413"/>
          <a:stretch/>
        </p:blipFill>
        <p:spPr>
          <a:xfrm rot="5400000" flipV="1">
            <a:off x="6761115" y="2920726"/>
            <a:ext cx="954599" cy="4212546"/>
          </a:xfrm>
          <a:prstGeom prst="rect">
            <a:avLst/>
          </a:prstGeom>
        </p:spPr>
      </p:pic>
    </p:spTree>
    <p:extLst>
      <p:ext uri="{BB962C8B-B14F-4D97-AF65-F5344CB8AC3E}">
        <p14:creationId xmlns:p14="http://schemas.microsoft.com/office/powerpoint/2010/main" val="1931616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본 용역을 통해 </a:t>
            </a:r>
            <a:r>
              <a:rPr lang="ko-KR" altLang="en-US" dirty="0">
                <a:solidFill>
                  <a:srgbClr val="0070C0"/>
                </a:solidFill>
              </a:rPr>
              <a:t>학습자들이 체계적으로 훈련</a:t>
            </a:r>
            <a:r>
              <a:rPr lang="ko-KR" altLang="en-US" dirty="0"/>
              <a:t> 받을 수 있도록 </a:t>
            </a:r>
            <a:r>
              <a:rPr lang="ko-KR" altLang="en-US" dirty="0" err="1">
                <a:solidFill>
                  <a:srgbClr val="0070C0"/>
                </a:solidFill>
              </a:rPr>
              <a:t>기술교육로드맵</a:t>
            </a:r>
            <a:r>
              <a:rPr lang="ko-KR" altLang="en-US" dirty="0">
                <a:solidFill>
                  <a:srgbClr val="0070C0"/>
                </a:solidFill>
              </a:rPr>
              <a:t> 및 과정 개요서를 개발</a:t>
            </a:r>
            <a:r>
              <a:rPr lang="ko-KR" altLang="en-US" dirty="0"/>
              <a:t>하고</a:t>
            </a:r>
            <a:r>
              <a:rPr lang="en-US" altLang="ko-KR" dirty="0"/>
              <a:t>, </a:t>
            </a:r>
            <a:r>
              <a:rPr lang="en-US" altLang="ko-KR" dirty="0">
                <a:solidFill>
                  <a:srgbClr val="0070C0"/>
                </a:solidFill>
              </a:rPr>
              <a:t>STEP </a:t>
            </a:r>
            <a:r>
              <a:rPr lang="ko-KR" altLang="en-US" dirty="0">
                <a:solidFill>
                  <a:srgbClr val="0070C0"/>
                </a:solidFill>
              </a:rPr>
              <a:t>서비스 활용 확대를 위한 기반을 마련</a:t>
            </a:r>
            <a:r>
              <a:rPr lang="ko-KR" altLang="en-US" dirty="0"/>
              <a:t>하고자 함</a:t>
            </a:r>
            <a:endParaRPr lang="ko-KR" altLang="en-US" sz="1800"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sp>
        <p:nvSpPr>
          <p:cNvPr id="95" name="Text Box 15">
            <a:extLst>
              <a:ext uri="{FF2B5EF4-FFF2-40B4-BE49-F238E27FC236}">
                <a16:creationId xmlns:a16="http://schemas.microsoft.com/office/drawing/2014/main" id="{7EED9489-7349-4DC0-98BA-61DB065DF27B}"/>
              </a:ext>
            </a:extLst>
          </p:cNvPr>
          <p:cNvSpPr txBox="1">
            <a:spLocks noChangeArrowheads="1"/>
          </p:cNvSpPr>
          <p:nvPr/>
        </p:nvSpPr>
        <p:spPr bwMode="auto">
          <a:xfrm>
            <a:off x="1699463" y="1742404"/>
            <a:ext cx="7646150" cy="519694"/>
          </a:xfrm>
          <a:prstGeom prst="rect">
            <a:avLst/>
          </a:prstGeom>
          <a:noFill/>
          <a:ln w="9525">
            <a:noFill/>
            <a:miter lim="800000"/>
            <a:headEnd/>
            <a:tailEnd/>
          </a:ln>
          <a:effectLst/>
        </p:spPr>
        <p:txBody>
          <a:bodyPr lIns="0" tIns="0" rIns="0" bIns="0">
            <a:spAutoFit/>
            <a:scene3d>
              <a:camera prst="orthographicFront"/>
              <a:lightRig rig="threePt" dir="t"/>
            </a:scene3d>
            <a:sp3d contourW="44450">
              <a:contourClr>
                <a:srgbClr val="1E59B8"/>
              </a:contourClr>
            </a:sp3d>
          </a:bodyPr>
          <a:lstStyle/>
          <a:p>
            <a:pPr lvl="0" eaLnBrk="1" fontAlgn="auto" latinLnBrk="0" hangingPunct="1">
              <a:lnSpc>
                <a:spcPct val="110000"/>
              </a:lnSpc>
              <a:spcBef>
                <a:spcPts val="0"/>
              </a:spcBef>
              <a:spcAft>
                <a:spcPts val="0"/>
              </a:spcAft>
              <a:buNone/>
              <a:defRPr/>
            </a:pPr>
            <a:r>
              <a:rPr kumimoji="1" lang="ko-KR" altLang="en-US" sz="1600" kern="0" dirty="0">
                <a:solidFill>
                  <a:srgbClr val="003F56"/>
                </a:solidFill>
                <a:latin typeface="Arial Narrow" panose="020B0606020202030204" pitchFamily="34" charset="0"/>
                <a:ea typeface="a고딕16" panose="02020600000000000000" pitchFamily="18" charset="-127"/>
              </a:rPr>
              <a:t>수요중심의 온라인평생교육 기술교육로드맵 및 신규과정 개발</a:t>
            </a:r>
            <a:endParaRPr kumimoji="1" lang="en-US" altLang="ko-KR" sz="1600" kern="0" dirty="0">
              <a:solidFill>
                <a:srgbClr val="003F56"/>
              </a:solidFill>
              <a:latin typeface="Arial Narrow" panose="020B0606020202030204" pitchFamily="34" charset="0"/>
              <a:ea typeface="a고딕16" panose="02020600000000000000" pitchFamily="18" charset="-127"/>
            </a:endParaRPr>
          </a:p>
          <a:p>
            <a:pPr lvl="0" eaLnBrk="1" fontAlgn="auto" latinLnBrk="0" hangingPunct="1">
              <a:lnSpc>
                <a:spcPct val="110000"/>
              </a:lnSpc>
              <a:spcBef>
                <a:spcPts val="0"/>
              </a:spcBef>
              <a:spcAft>
                <a:spcPts val="0"/>
              </a:spcAft>
              <a:buNone/>
              <a:defRPr/>
            </a:pPr>
            <a:r>
              <a:rPr kumimoji="1" lang="en-US" altLang="ko-KR" sz="1600" b="0" i="0" u="none" strike="noStrike" kern="0" cap="none" spc="0" normalizeH="0" baseline="0" noProof="0" dirty="0">
                <a:ln>
                  <a:noFill/>
                </a:ln>
                <a:solidFill>
                  <a:srgbClr val="003F56"/>
                </a:solidFill>
                <a:effectLst/>
                <a:uLnTx/>
                <a:uFillTx/>
                <a:latin typeface="Arial Narrow" panose="020B0606020202030204" pitchFamily="34" charset="0"/>
                <a:ea typeface="a고딕16" panose="02020600000000000000" pitchFamily="18" charset="-127"/>
              </a:rPr>
              <a:t>STEP </a:t>
            </a:r>
            <a:r>
              <a:rPr kumimoji="1" lang="ko-KR" altLang="en-US" sz="1600" b="0" i="0" u="none" strike="noStrike" kern="0" cap="none" spc="0" normalizeH="0" baseline="0" noProof="0" dirty="0">
                <a:ln>
                  <a:noFill/>
                </a:ln>
                <a:solidFill>
                  <a:srgbClr val="003F56"/>
                </a:solidFill>
                <a:effectLst/>
                <a:uLnTx/>
                <a:uFillTx/>
                <a:latin typeface="Arial Narrow" panose="020B0606020202030204" pitchFamily="34" charset="0"/>
                <a:ea typeface="a고딕16" panose="02020600000000000000" pitchFamily="18" charset="-127"/>
              </a:rPr>
              <a:t>서비스 활용 확대 방안 수립</a:t>
            </a:r>
            <a:endParaRPr kumimoji="1" lang="en-US" altLang="ko-KR" sz="1600" b="0" i="0" u="none" strike="noStrike" kern="0" cap="none" spc="0" normalizeH="0" baseline="0" noProof="0" dirty="0">
              <a:ln>
                <a:noFill/>
              </a:ln>
              <a:solidFill>
                <a:srgbClr val="003F56"/>
              </a:solidFill>
              <a:effectLst/>
              <a:uLnTx/>
              <a:uFillTx/>
              <a:latin typeface="Arial Narrow" panose="020B0606020202030204" pitchFamily="34" charset="0"/>
              <a:ea typeface="a고딕16" panose="02020600000000000000" pitchFamily="18" charset="-127"/>
            </a:endParaRPr>
          </a:p>
        </p:txBody>
      </p:sp>
      <p:pic>
        <p:nvPicPr>
          <p:cNvPr id="96" name="Picture 22" descr="E:\포폴정리\멀캠\개체\자주쓰는 PNG\화살표2.png">
            <a:extLst>
              <a:ext uri="{FF2B5EF4-FFF2-40B4-BE49-F238E27FC236}">
                <a16:creationId xmlns:a16="http://schemas.microsoft.com/office/drawing/2014/main" id="{52ED4C75-0BB5-4982-B4E4-E374F6EA447E}"/>
              </a:ext>
            </a:extLst>
          </p:cNvPr>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flipV="1">
            <a:off x="3594370" y="2376595"/>
            <a:ext cx="3856337" cy="404332"/>
          </a:xfrm>
          <a:prstGeom prst="rect">
            <a:avLst/>
          </a:prstGeom>
          <a:noFill/>
        </p:spPr>
      </p:pic>
      <p:sp>
        <p:nvSpPr>
          <p:cNvPr id="97" name="모서리가 둥근 직사각형 38">
            <a:extLst>
              <a:ext uri="{FF2B5EF4-FFF2-40B4-BE49-F238E27FC236}">
                <a16:creationId xmlns:a16="http://schemas.microsoft.com/office/drawing/2014/main" id="{EBA82249-5D1C-4EF0-B388-AE7FCF7BFFCB}"/>
              </a:ext>
            </a:extLst>
          </p:cNvPr>
          <p:cNvSpPr/>
          <p:nvPr/>
        </p:nvSpPr>
        <p:spPr bwMode="auto">
          <a:xfrm>
            <a:off x="1736534" y="3402287"/>
            <a:ext cx="2481139" cy="240297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36000" tIns="108000" rIns="0" bIns="0" rtlCol="0" anchor="t" anchorCtr="0">
            <a:noAutofit/>
          </a:bodyPr>
          <a:lstStyle/>
          <a:p>
            <a:pPr marL="92075" lvl="0" indent="-92075" algn="l" eaLnBrk="1" fontAlgn="auto" latinLnBrk="0" hangingPunct="1">
              <a:spcBef>
                <a:spcPts val="0"/>
              </a:spcBef>
              <a:spcAft>
                <a:spcPts val="0"/>
              </a:spcAft>
              <a:buFont typeface="Arial" panose="020B0604020202020204" pitchFamily="34" charset="0"/>
              <a:buChar char="•"/>
              <a:defRPr/>
            </a:pPr>
            <a:r>
              <a:rPr lang="en-US" altLang="ko-KR" sz="1100" kern="0" dirty="0">
                <a:solidFill>
                  <a:srgbClr val="0070C0"/>
                </a:solidFill>
                <a:latin typeface="Arial Narrow" panose="020B0606020202030204" pitchFamily="34" charset="0"/>
                <a:ea typeface="+mn-ea"/>
              </a:rPr>
              <a:t>NCS </a:t>
            </a:r>
            <a:r>
              <a:rPr lang="ko-KR" altLang="en-US" sz="1100" kern="0" dirty="0">
                <a:solidFill>
                  <a:srgbClr val="0070C0"/>
                </a:solidFill>
                <a:latin typeface="Arial Narrow" panose="020B0606020202030204" pitchFamily="34" charset="0"/>
                <a:ea typeface="+mn-ea"/>
              </a:rPr>
              <a:t>및 </a:t>
            </a:r>
            <a:r>
              <a:rPr lang="en-US" altLang="ko-KR" sz="1100" kern="0" dirty="0">
                <a:solidFill>
                  <a:srgbClr val="0070C0"/>
                </a:solidFill>
                <a:latin typeface="Arial Narrow" panose="020B0606020202030204" pitchFamily="34" charset="0"/>
                <a:ea typeface="+mn-ea"/>
              </a:rPr>
              <a:t>SQF Updating </a:t>
            </a:r>
            <a:r>
              <a:rPr lang="ko-KR" altLang="en-US" sz="1100" kern="0" dirty="0">
                <a:solidFill>
                  <a:srgbClr val="0070C0"/>
                </a:solidFill>
                <a:latin typeface="Arial Narrow" panose="020B0606020202030204" pitchFamily="34" charset="0"/>
                <a:ea typeface="+mn-ea"/>
              </a:rPr>
              <a:t>및 교육과정 매핑</a:t>
            </a:r>
            <a:endParaRPr lang="en-US" altLang="ko-KR" sz="1100" kern="0" dirty="0">
              <a:solidFill>
                <a:srgbClr val="0070C0"/>
              </a:solidFill>
              <a:latin typeface="Arial Narrow" panose="020B0606020202030204" pitchFamily="34" charset="0"/>
              <a:ea typeface="+mn-ea"/>
            </a:endParaRPr>
          </a:p>
          <a:p>
            <a:pPr marL="179388" lvl="0" indent="-88900" algn="l" eaLnBrk="1" fontAlgn="auto" latinLnBrk="0" hangingPunct="1">
              <a:spcBef>
                <a:spcPts val="0"/>
              </a:spcBef>
              <a:spcAft>
                <a:spcPts val="0"/>
              </a:spcAft>
              <a:buFontTx/>
              <a:buChar char="-"/>
              <a:defRPr/>
            </a:pPr>
            <a:r>
              <a:rPr lang="en-US" altLang="ko-KR" sz="1000" kern="0" dirty="0">
                <a:solidFill>
                  <a:srgbClr val="003F56"/>
                </a:solidFill>
                <a:latin typeface="Arial Narrow" panose="020B0606020202030204" pitchFamily="34" charset="0"/>
                <a:ea typeface="a고딕14"/>
              </a:rPr>
              <a:t>NCS </a:t>
            </a:r>
            <a:r>
              <a:rPr lang="ko-KR" altLang="en-US" sz="1000" kern="0" dirty="0">
                <a:solidFill>
                  <a:srgbClr val="003F56"/>
                </a:solidFill>
                <a:latin typeface="Arial Narrow" panose="020B0606020202030204" pitchFamily="34" charset="0"/>
                <a:ea typeface="a고딕14"/>
              </a:rPr>
              <a:t>및 </a:t>
            </a:r>
            <a:r>
              <a:rPr lang="en-US" altLang="ko-KR" sz="1000" kern="0" dirty="0">
                <a:solidFill>
                  <a:srgbClr val="003F56"/>
                </a:solidFill>
                <a:latin typeface="Arial Narrow" panose="020B0606020202030204" pitchFamily="34" charset="0"/>
                <a:ea typeface="a고딕14"/>
              </a:rPr>
              <a:t>SQF </a:t>
            </a:r>
            <a:r>
              <a:rPr lang="ko-KR" altLang="en-US" sz="1000" kern="0" dirty="0">
                <a:solidFill>
                  <a:srgbClr val="003F56"/>
                </a:solidFill>
                <a:latin typeface="Arial Narrow" panose="020B0606020202030204" pitchFamily="34" charset="0"/>
                <a:ea typeface="a고딕14"/>
              </a:rPr>
              <a:t>검토</a:t>
            </a:r>
            <a:r>
              <a:rPr lang="en-US" altLang="ko-KR" sz="1000" kern="0" dirty="0">
                <a:solidFill>
                  <a:srgbClr val="003F56"/>
                </a:solidFill>
                <a:latin typeface="Arial Narrow" panose="020B0606020202030204" pitchFamily="34" charset="0"/>
                <a:ea typeface="a고딕14"/>
              </a:rPr>
              <a:t> </a:t>
            </a:r>
            <a:r>
              <a:rPr lang="ko-KR" altLang="en-US" sz="1000" kern="0" dirty="0">
                <a:solidFill>
                  <a:srgbClr val="003F56"/>
                </a:solidFill>
                <a:latin typeface="Arial Narrow" panose="020B0606020202030204" pitchFamily="34" charset="0"/>
                <a:ea typeface="a고딕14"/>
              </a:rPr>
              <a:t>후</a:t>
            </a:r>
            <a:r>
              <a:rPr lang="en-US" altLang="ko-KR" sz="1000" kern="0" dirty="0">
                <a:solidFill>
                  <a:srgbClr val="003F56"/>
                </a:solidFill>
                <a:latin typeface="Arial Narrow" panose="020B0606020202030204" pitchFamily="34" charset="0"/>
                <a:ea typeface="a고딕14"/>
              </a:rPr>
              <a:t>, </a:t>
            </a:r>
            <a:r>
              <a:rPr lang="ko-KR" altLang="en-US" sz="1000" kern="0" dirty="0">
                <a:solidFill>
                  <a:srgbClr val="003F56"/>
                </a:solidFill>
                <a:latin typeface="Arial Narrow" panose="020B0606020202030204" pitchFamily="34" charset="0"/>
                <a:ea typeface="a고딕14"/>
              </a:rPr>
              <a:t>온평원의 교육과정에 반영된 능력단위와 정합성 분석</a:t>
            </a:r>
            <a:endParaRPr lang="en-US" altLang="ko-KR" sz="1000" kern="0" dirty="0">
              <a:solidFill>
                <a:srgbClr val="003F56"/>
              </a:solidFill>
              <a:latin typeface="Arial Narrow" panose="020B0606020202030204" pitchFamily="34" charset="0"/>
              <a:ea typeface="a고딕14"/>
            </a:endParaRPr>
          </a:p>
          <a:p>
            <a:pPr marL="179388" lvl="0" indent="-88900" algn="l" eaLnBrk="1" fontAlgn="auto" latinLnBrk="0" hangingPunct="1">
              <a:spcBef>
                <a:spcPts val="0"/>
              </a:spcBef>
              <a:spcAft>
                <a:spcPts val="0"/>
              </a:spcAft>
              <a:buFontTx/>
              <a:buChar char="-"/>
              <a:defRPr/>
            </a:pPr>
            <a:r>
              <a:rPr lang="ko-KR" altLang="en-US" sz="1000" kern="0" dirty="0">
                <a:solidFill>
                  <a:srgbClr val="003F56"/>
                </a:solidFill>
                <a:latin typeface="Arial Narrow" panose="020B0606020202030204" pitchFamily="34" charset="0"/>
                <a:ea typeface="a고딕14"/>
              </a:rPr>
              <a:t>최신 능력단위를 기준으로 </a:t>
            </a:r>
            <a:r>
              <a:rPr lang="ko-KR" altLang="en-US" sz="1000" kern="0" dirty="0" err="1">
                <a:solidFill>
                  <a:srgbClr val="003F56"/>
                </a:solidFill>
                <a:latin typeface="Arial Narrow" panose="020B0606020202030204" pitchFamily="34" charset="0"/>
                <a:ea typeface="a고딕14"/>
              </a:rPr>
              <a:t>온평원</a:t>
            </a:r>
            <a:r>
              <a:rPr lang="ko-KR" altLang="en-US" sz="1000" kern="0" dirty="0">
                <a:solidFill>
                  <a:srgbClr val="003F56"/>
                </a:solidFill>
                <a:latin typeface="Arial Narrow" panose="020B0606020202030204" pitchFamily="34" charset="0"/>
                <a:ea typeface="a고딕14"/>
              </a:rPr>
              <a:t> 교육과정</a:t>
            </a:r>
            <a:r>
              <a:rPr lang="en-US" altLang="ko-KR" sz="1000" kern="0" dirty="0">
                <a:solidFill>
                  <a:srgbClr val="003F56"/>
                </a:solidFill>
                <a:latin typeface="Arial Narrow" panose="020B0606020202030204" pitchFamily="34" charset="0"/>
                <a:ea typeface="a고딕14"/>
              </a:rPr>
              <a:t>-</a:t>
            </a:r>
            <a:r>
              <a:rPr lang="ko-KR" altLang="en-US" sz="1000" kern="0" dirty="0">
                <a:solidFill>
                  <a:srgbClr val="003F56"/>
                </a:solidFill>
                <a:latin typeface="Arial Narrow" panose="020B0606020202030204" pitchFamily="34" charset="0"/>
                <a:ea typeface="a고딕14"/>
              </a:rPr>
              <a:t>능력단위 </a:t>
            </a:r>
            <a:r>
              <a:rPr lang="en-US" altLang="ko-KR" sz="1000" kern="0" dirty="0">
                <a:solidFill>
                  <a:srgbClr val="003F56"/>
                </a:solidFill>
                <a:latin typeface="Arial Narrow" panose="020B0606020202030204" pitchFamily="34" charset="0"/>
                <a:ea typeface="a고딕14"/>
              </a:rPr>
              <a:t>DB </a:t>
            </a:r>
            <a:r>
              <a:rPr lang="ko-KR" altLang="en-US" sz="1000" kern="0" dirty="0">
                <a:solidFill>
                  <a:srgbClr val="003F56"/>
                </a:solidFill>
                <a:latin typeface="Arial Narrow" panose="020B0606020202030204" pitchFamily="34" charset="0"/>
                <a:ea typeface="a고딕14"/>
              </a:rPr>
              <a:t>정리</a:t>
            </a:r>
            <a:endParaRPr lang="en-US" altLang="ko-KR" sz="1000" kern="0" dirty="0">
              <a:solidFill>
                <a:srgbClr val="003F56"/>
              </a:solidFill>
              <a:latin typeface="Arial Narrow" panose="020B0606020202030204" pitchFamily="34" charset="0"/>
              <a:ea typeface="a고딕14"/>
            </a:endParaRPr>
          </a:p>
          <a:p>
            <a:pPr marL="179388" lvl="0" indent="-88900" algn="l" eaLnBrk="1" fontAlgn="auto" latinLnBrk="0" hangingPunct="1">
              <a:spcBef>
                <a:spcPts val="0"/>
              </a:spcBef>
              <a:spcAft>
                <a:spcPts val="0"/>
              </a:spcAft>
              <a:buFontTx/>
              <a:buChar char="-"/>
              <a:defRPr/>
            </a:pPr>
            <a:endParaRPr lang="en-US" altLang="ko-KR" sz="1000" kern="0" dirty="0">
              <a:solidFill>
                <a:srgbClr val="003F56"/>
              </a:solidFill>
              <a:latin typeface="Arial Narrow" panose="020B0606020202030204" pitchFamily="34" charset="0"/>
              <a:ea typeface="a고딕14"/>
            </a:endParaRPr>
          </a:p>
          <a:p>
            <a:pPr marL="92075" marR="0" lvl="0" indent="-92075" algn="l" defTabSz="914400" rtl="0" eaLnBrk="1" fontAlgn="auto" latinLnBrk="0" hangingPunct="1">
              <a:spcBef>
                <a:spcPts val="0"/>
              </a:spcBef>
              <a:spcAft>
                <a:spcPts val="0"/>
              </a:spcAft>
              <a:buClrTx/>
              <a:buSzTx/>
              <a:buFont typeface="Arial" panose="020B0604020202020204" pitchFamily="34" charset="0"/>
              <a:buChar char="•"/>
              <a:tabLst/>
              <a:defRPr/>
            </a:pPr>
            <a:r>
              <a:rPr lang="ko-KR" altLang="en-US" sz="1100" kern="0" dirty="0" err="1">
                <a:solidFill>
                  <a:srgbClr val="0070C0"/>
                </a:solidFill>
                <a:latin typeface="Arial Narrow" panose="020B0606020202030204" pitchFamily="34" charset="0"/>
                <a:ea typeface="a고딕14"/>
              </a:rPr>
              <a:t>비매칭</a:t>
            </a:r>
            <a:r>
              <a:rPr lang="ko-KR" altLang="en-US" sz="1100" kern="0" dirty="0">
                <a:solidFill>
                  <a:srgbClr val="0070C0"/>
                </a:solidFill>
                <a:latin typeface="Arial Narrow" panose="020B0606020202030204" pitchFamily="34" charset="0"/>
                <a:ea typeface="a고딕14"/>
              </a:rPr>
              <a:t> 능력단위 과정개발 여부 판단</a:t>
            </a:r>
            <a:endParaRPr kumimoji="0" lang="en-US" altLang="ko-KR"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kern="0" cap="none" spc="-60" normalizeH="0" noProof="0" dirty="0">
                <a:ln>
                  <a:noFill/>
                </a:ln>
                <a:solidFill>
                  <a:srgbClr val="003F56"/>
                </a:solidFill>
                <a:effectLst/>
                <a:uLnTx/>
                <a:uFillTx/>
                <a:latin typeface="Arial Narrow" panose="020B0606020202030204" pitchFamily="34" charset="0"/>
                <a:ea typeface="a고딕14"/>
                <a:cs typeface="+mn-cs"/>
              </a:rPr>
              <a:t>NCS 10</a:t>
            </a:r>
            <a:r>
              <a:rPr kumimoji="0" lang="ko-KR" altLang="en-US" sz="1000" b="0" i="0" u="none" kern="0" cap="none" spc="-60" normalizeH="0" noProof="0" dirty="0">
                <a:ln>
                  <a:noFill/>
                </a:ln>
                <a:solidFill>
                  <a:srgbClr val="003F56"/>
                </a:solidFill>
                <a:effectLst/>
                <a:uLnTx/>
                <a:uFillTx/>
                <a:latin typeface="Arial Narrow" panose="020B0606020202030204" pitchFamily="34" charset="0"/>
                <a:ea typeface="a고딕14"/>
                <a:cs typeface="+mn-cs"/>
              </a:rPr>
              <a:t>개 분야의 능력단위 중심의 개발 과정을 위해 능력단위 활용 및 미 활용 여부 구분</a:t>
            </a:r>
            <a:endParaRPr kumimoji="0" lang="en-US" altLang="ko-KR" sz="1000" b="0" i="0" u="none" kern="0" cap="none" spc="-60" normalizeH="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lang="ko-KR" altLang="en-US" sz="1000" kern="0" dirty="0">
                <a:solidFill>
                  <a:srgbClr val="003F56"/>
                </a:solidFill>
                <a:latin typeface="Arial Narrow" panose="020B0606020202030204" pitchFamily="34" charset="0"/>
                <a:ea typeface="a고딕14"/>
              </a:rPr>
              <a:t>미 활용 능력단위 분석 및 교육과정 개발이 가능한 능력단위 수요 도출</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p:txBody>
      </p:sp>
      <p:sp>
        <p:nvSpPr>
          <p:cNvPr id="98" name="모서리가 둥근 직사각형 38">
            <a:extLst>
              <a:ext uri="{FF2B5EF4-FFF2-40B4-BE49-F238E27FC236}">
                <a16:creationId xmlns:a16="http://schemas.microsoft.com/office/drawing/2014/main" id="{EBA82249-5D1C-4EF0-B388-AE7FCF7BFFCB}"/>
              </a:ext>
            </a:extLst>
          </p:cNvPr>
          <p:cNvSpPr/>
          <p:nvPr/>
        </p:nvSpPr>
        <p:spPr bwMode="auto">
          <a:xfrm>
            <a:off x="4292513" y="3402287"/>
            <a:ext cx="2481139" cy="240297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36000" tIns="108000" rIns="0" bIns="0" rtlCol="0" anchor="t" anchorCtr="0">
            <a:noAutofit/>
          </a:bodyPr>
          <a:lstStyle/>
          <a:p>
            <a:pPr marL="88900" marR="0" lvl="0" indent="-88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ko-KR" altLang="en-US"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rPr>
              <a:t>수요조사 실시 및 최종 선정</a:t>
            </a:r>
            <a:endParaRPr kumimoji="0" lang="en-US" altLang="ko-KR"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STEP </a:t>
            </a:r>
            <a:r>
              <a:rPr kumimoji="0" lang="ko-KR" altLang="en-US" sz="1000" b="0" i="0" u="none" strike="noStrike" kern="0" cap="none" spc="0" normalizeH="0" baseline="0" noProof="0" dirty="0" err="1">
                <a:ln>
                  <a:noFill/>
                </a:ln>
                <a:solidFill>
                  <a:srgbClr val="003F56"/>
                </a:solidFill>
                <a:effectLst/>
                <a:uLnTx/>
                <a:uFillTx/>
                <a:latin typeface="Arial Narrow" panose="020B0606020202030204" pitchFamily="34" charset="0"/>
                <a:ea typeface="a고딕14"/>
                <a:cs typeface="+mn-cs"/>
              </a:rPr>
              <a:t>활용자</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대상 수요조사 실시</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24</a:t>
            </a:r>
            <a:r>
              <a:rPr kumimoji="0" lang="ko-KR" altLang="en-US"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년 </a:t>
            </a:r>
            <a:r>
              <a:rPr kumimoji="0" lang="ko-KR" altLang="en-US" sz="1000" b="0" i="0" u="none" strike="noStrike" kern="0" cap="none" spc="-60" normalizeH="0" baseline="0" noProof="0" dirty="0" err="1">
                <a:ln>
                  <a:noFill/>
                </a:ln>
                <a:solidFill>
                  <a:srgbClr val="003F56"/>
                </a:solidFill>
                <a:effectLst/>
                <a:uLnTx/>
                <a:uFillTx/>
                <a:latin typeface="Arial Narrow" panose="020B0606020202030204" pitchFamily="34" charset="0"/>
                <a:ea typeface="a고딕14"/>
                <a:cs typeface="+mn-cs"/>
              </a:rPr>
              <a:t>세분류</a:t>
            </a:r>
            <a:r>
              <a:rPr kumimoji="0" lang="ko-KR" altLang="en-US"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 수요조사 결과 및 </a:t>
            </a:r>
            <a:r>
              <a:rPr kumimoji="0" lang="en-US" altLang="ko-KR"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25</a:t>
            </a:r>
            <a:r>
              <a:rPr kumimoji="0" lang="ko-KR" altLang="en-US"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년 교육과정 수요조사 결과를 바탕으로 신규 개발 과정 선정</a:t>
            </a:r>
            <a:endParaRPr lang="en-US" altLang="ko-KR" sz="1000" kern="0" spc="-60" dirty="0">
              <a:solidFill>
                <a:srgbClr val="003F56"/>
              </a:solidFill>
              <a:latin typeface="Arial Narrow" panose="020B0606020202030204" pitchFamily="34" charset="0"/>
              <a:ea typeface="a고딕14"/>
            </a:endParaRPr>
          </a:p>
          <a:p>
            <a:pPr marL="179388" marR="0" lvl="0" indent="-88900" algn="l" defTabSz="914400" rtl="0" eaLnBrk="1" fontAlgn="auto" latinLnBrk="0" hangingPunct="1">
              <a:spcBef>
                <a:spcPts val="0"/>
              </a:spcBef>
              <a:spcAft>
                <a:spcPts val="0"/>
              </a:spcAft>
              <a:buClrTx/>
              <a:buSzTx/>
              <a:buFontTx/>
              <a:buChar char="-"/>
              <a:tabLst/>
              <a:defRPr/>
            </a:pPr>
            <a:endParaRPr kumimoji="0" lang="en-US" altLang="ko-KR" sz="1100" b="0" i="0" u="none" strike="noStrike" kern="0" cap="none" spc="-40" normalizeH="0" baseline="0" noProof="0" dirty="0">
              <a:ln>
                <a:noFill/>
              </a:ln>
              <a:solidFill>
                <a:srgbClr val="0070C0"/>
              </a:solidFill>
              <a:effectLst/>
              <a:uLnTx/>
              <a:uFillTx/>
              <a:latin typeface="Arial Narrow" panose="020B0606020202030204" pitchFamily="34" charset="0"/>
              <a:ea typeface="a고딕14"/>
              <a:cs typeface="+mn-cs"/>
            </a:endParaRPr>
          </a:p>
          <a:p>
            <a:pPr marL="88900" marR="0" lvl="0" indent="-88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ko-KR" altLang="en-US" sz="1100" b="0" i="0" u="none" strike="noStrike" kern="0" cap="none" spc="-40" normalizeH="0" baseline="0" noProof="0" dirty="0">
                <a:ln>
                  <a:noFill/>
                </a:ln>
                <a:solidFill>
                  <a:srgbClr val="0070C0"/>
                </a:solidFill>
                <a:effectLst/>
                <a:uLnTx/>
                <a:uFillTx/>
                <a:latin typeface="Arial Narrow" panose="020B0606020202030204" pitchFamily="34" charset="0"/>
                <a:ea typeface="a고딕14"/>
                <a:cs typeface="+mn-cs"/>
              </a:rPr>
              <a:t>과정개요서 개발</a:t>
            </a:r>
            <a:endParaRPr kumimoji="0" lang="en-US" altLang="ko-KR" sz="1100" b="0" i="0" u="none" strike="noStrike" kern="0" cap="none" spc="-40" normalizeH="0" baseline="0" noProof="0" dirty="0">
              <a:ln>
                <a:noFill/>
              </a:ln>
              <a:solidFill>
                <a:srgbClr val="0070C0"/>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전문가 위원회 검증을 통한 최종 과정 선정</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NCS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학습 모듈 준거로 과정개요서 개발</a:t>
            </a:r>
            <a:endParaRPr lang="en-US" altLang="ko-KR" sz="1000" kern="0" dirty="0">
              <a:solidFill>
                <a:srgbClr val="003F56"/>
              </a:solidFill>
              <a:latin typeface="Arial Narrow" panose="020B0606020202030204" pitchFamily="34" charset="0"/>
              <a:ea typeface="a고딕14"/>
            </a:endParaRPr>
          </a:p>
          <a:p>
            <a:pPr marL="179388" marR="0" lvl="0" indent="-88900" algn="l" defTabSz="914400" rtl="0" eaLnBrk="1" fontAlgn="auto" latinLnBrk="0" hangingPunct="1">
              <a:spcBef>
                <a:spcPts val="0"/>
              </a:spcBef>
              <a:spcAft>
                <a:spcPts val="0"/>
              </a:spcAft>
              <a:buClrTx/>
              <a:buSzTx/>
              <a:buFontTx/>
              <a:buChar char="-"/>
              <a:tabLst/>
              <a:defRPr/>
            </a:pPr>
            <a:endParaRPr lang="en-US" altLang="ko-KR" sz="1100" kern="0" dirty="0">
              <a:solidFill>
                <a:srgbClr val="0070C0"/>
              </a:solidFill>
              <a:latin typeface="Arial Narrow" panose="020B0606020202030204" pitchFamily="34" charset="0"/>
              <a:ea typeface="+mn-ea"/>
            </a:endParaRPr>
          </a:p>
          <a:p>
            <a:pPr marL="92075" indent="-92075" algn="l" eaLnBrk="1" fontAlgn="auto" latinLnBrk="0" hangingPunct="1">
              <a:spcBef>
                <a:spcPts val="0"/>
              </a:spcBef>
              <a:spcAft>
                <a:spcPts val="0"/>
              </a:spcAft>
              <a:buFont typeface="Arial" panose="020B0604020202020204" pitchFamily="34" charset="0"/>
              <a:buChar char="•"/>
            </a:pPr>
            <a:r>
              <a:rPr lang="ko-KR" altLang="en-US" sz="1100" kern="0" dirty="0">
                <a:solidFill>
                  <a:srgbClr val="0070C0"/>
                </a:solidFill>
                <a:latin typeface="Arial Narrow" panose="020B0606020202030204" pitchFamily="34" charset="0"/>
                <a:ea typeface="+mn-ea"/>
              </a:rPr>
              <a:t>기 개발 </a:t>
            </a:r>
            <a:r>
              <a:rPr lang="ko-KR" altLang="en-US" sz="1100" kern="0" dirty="0" err="1">
                <a:solidFill>
                  <a:srgbClr val="0070C0"/>
                </a:solidFill>
                <a:latin typeface="Arial Narrow" panose="020B0606020202030204" pitchFamily="34" charset="0"/>
                <a:ea typeface="+mn-ea"/>
              </a:rPr>
              <a:t>기술교육로드맵</a:t>
            </a:r>
            <a:r>
              <a:rPr lang="ko-KR" altLang="en-US" sz="1100" kern="0" dirty="0">
                <a:solidFill>
                  <a:srgbClr val="0070C0"/>
                </a:solidFill>
                <a:latin typeface="Arial Narrow" panose="020B0606020202030204" pitchFamily="34" charset="0"/>
                <a:ea typeface="+mn-ea"/>
              </a:rPr>
              <a:t> 분석 및 현행화</a:t>
            </a:r>
            <a:endParaRPr lang="en-US" altLang="ko-KR" sz="1100" kern="0" dirty="0">
              <a:solidFill>
                <a:srgbClr val="0070C0"/>
              </a:solidFill>
              <a:latin typeface="Arial Narrow" panose="020B0606020202030204" pitchFamily="34" charset="0"/>
              <a:ea typeface="+mn-ea"/>
            </a:endParaRPr>
          </a:p>
          <a:p>
            <a:pPr marL="179388" indent="-88900" algn="l" eaLnBrk="1" fontAlgn="auto" latinLnBrk="0" hangingPunct="1">
              <a:spcBef>
                <a:spcPts val="0"/>
              </a:spcBef>
              <a:spcAft>
                <a:spcPts val="0"/>
              </a:spcAft>
              <a:buFontTx/>
              <a:buChar char="-"/>
            </a:pPr>
            <a:r>
              <a:rPr lang="en-US" altLang="ko-KR" sz="1000" kern="0" dirty="0">
                <a:solidFill>
                  <a:srgbClr val="003F56"/>
                </a:solidFill>
                <a:latin typeface="Arial Narrow" panose="020B0606020202030204" pitchFamily="34" charset="0"/>
                <a:ea typeface="+mn-ea"/>
              </a:rPr>
              <a:t>SQF </a:t>
            </a:r>
            <a:r>
              <a:rPr lang="ko-KR" altLang="en-US" sz="1000" kern="0" dirty="0">
                <a:solidFill>
                  <a:srgbClr val="003F56"/>
                </a:solidFill>
                <a:latin typeface="Arial Narrow" panose="020B0606020202030204" pitchFamily="34" charset="0"/>
                <a:ea typeface="+mn-ea"/>
              </a:rPr>
              <a:t>직무</a:t>
            </a:r>
            <a:r>
              <a:rPr lang="en-US" altLang="ko-KR" sz="1000" kern="0" dirty="0">
                <a:solidFill>
                  <a:srgbClr val="003F56"/>
                </a:solidFill>
                <a:latin typeface="Arial Narrow" panose="020B0606020202030204" pitchFamily="34" charset="0"/>
                <a:ea typeface="+mn-ea"/>
              </a:rPr>
              <a:t>, NCS </a:t>
            </a:r>
            <a:r>
              <a:rPr lang="ko-KR" altLang="en-US" sz="1000" kern="0" dirty="0" err="1">
                <a:solidFill>
                  <a:srgbClr val="003F56"/>
                </a:solidFill>
                <a:latin typeface="Arial Narrow" panose="020B0606020202030204" pitchFamily="34" charset="0"/>
                <a:ea typeface="+mn-ea"/>
              </a:rPr>
              <a:t>세분류</a:t>
            </a:r>
            <a:r>
              <a:rPr lang="ko-KR" altLang="en-US" sz="1000" kern="0" dirty="0">
                <a:solidFill>
                  <a:srgbClr val="003F56"/>
                </a:solidFill>
                <a:latin typeface="Arial Narrow" panose="020B0606020202030204" pitchFamily="34" charset="0"/>
                <a:ea typeface="+mn-ea"/>
              </a:rPr>
              <a:t> 직무 등을 적용한 기 개발 </a:t>
            </a:r>
            <a:r>
              <a:rPr lang="en-US" altLang="ko-KR" sz="1000" kern="0" dirty="0">
                <a:solidFill>
                  <a:srgbClr val="003F56"/>
                </a:solidFill>
                <a:latin typeface="Arial Narrow" panose="020B0606020202030204" pitchFamily="34" charset="0"/>
                <a:ea typeface="+mn-ea"/>
              </a:rPr>
              <a:t>TTR</a:t>
            </a:r>
            <a:r>
              <a:rPr lang="ko-KR" altLang="en-US" sz="1000" kern="0" dirty="0">
                <a:solidFill>
                  <a:srgbClr val="003F56"/>
                </a:solidFill>
                <a:latin typeface="Arial Narrow" panose="020B0606020202030204" pitchFamily="34" charset="0"/>
                <a:ea typeface="+mn-ea"/>
              </a:rPr>
              <a:t> 분석</a:t>
            </a:r>
            <a:endParaRPr lang="en-US" altLang="ko-KR" sz="1000" kern="0" dirty="0">
              <a:solidFill>
                <a:srgbClr val="003F56"/>
              </a:solidFill>
              <a:latin typeface="Arial Narrow" panose="020B0606020202030204" pitchFamily="34" charset="0"/>
              <a:ea typeface="+mn-ea"/>
            </a:endParaRPr>
          </a:p>
          <a:p>
            <a:pPr marL="179388" indent="-88900" algn="l" eaLnBrk="1" fontAlgn="auto" latinLnBrk="0" hangingPunct="1">
              <a:spcBef>
                <a:spcPts val="0"/>
              </a:spcBef>
              <a:spcAft>
                <a:spcPts val="0"/>
              </a:spcAft>
              <a:buFontTx/>
              <a:buChar char="-"/>
            </a:pPr>
            <a:r>
              <a:rPr lang="en-US" altLang="ko-KR" sz="1000" kern="0" dirty="0">
                <a:solidFill>
                  <a:srgbClr val="003F56"/>
                </a:solidFill>
                <a:latin typeface="Arial Narrow" panose="020B0606020202030204" pitchFamily="34" charset="0"/>
                <a:ea typeface="+mn-ea"/>
              </a:rPr>
              <a:t>25</a:t>
            </a:r>
            <a:r>
              <a:rPr lang="ko-KR" altLang="en-US" sz="1000" kern="0" dirty="0">
                <a:solidFill>
                  <a:srgbClr val="003F56"/>
                </a:solidFill>
                <a:latin typeface="Arial Narrow" panose="020B0606020202030204" pitchFamily="34" charset="0"/>
                <a:ea typeface="+mn-ea"/>
              </a:rPr>
              <a:t>년 신규 개발 과정 추가 및 </a:t>
            </a:r>
            <a:r>
              <a:rPr lang="en-US" altLang="ko-KR" sz="1000" kern="0" dirty="0">
                <a:solidFill>
                  <a:srgbClr val="003F56"/>
                </a:solidFill>
                <a:latin typeface="Arial Narrow" panose="020B0606020202030204" pitchFamily="34" charset="0"/>
                <a:ea typeface="+mn-ea"/>
              </a:rPr>
              <a:t>STEP </a:t>
            </a:r>
            <a:r>
              <a:rPr lang="ko-KR" altLang="en-US" sz="1000" kern="0" dirty="0">
                <a:solidFill>
                  <a:srgbClr val="003F56"/>
                </a:solidFill>
                <a:latin typeface="Arial Narrow" panose="020B0606020202030204" pitchFamily="34" charset="0"/>
                <a:ea typeface="+mn-ea"/>
              </a:rPr>
              <a:t>학습자에 적합한 </a:t>
            </a:r>
            <a:r>
              <a:rPr lang="en-US" altLang="ko-KR" sz="1000" kern="0" dirty="0">
                <a:solidFill>
                  <a:srgbClr val="003F56"/>
                </a:solidFill>
                <a:latin typeface="Arial Narrow" panose="020B0606020202030204" pitchFamily="34" charset="0"/>
                <a:ea typeface="+mn-ea"/>
              </a:rPr>
              <a:t>TTR</a:t>
            </a:r>
            <a:r>
              <a:rPr lang="ko-KR" altLang="en-US" sz="1000" kern="0" dirty="0">
                <a:solidFill>
                  <a:srgbClr val="003F56"/>
                </a:solidFill>
                <a:latin typeface="Arial Narrow" panose="020B0606020202030204" pitchFamily="34" charset="0"/>
                <a:ea typeface="+mn-ea"/>
              </a:rPr>
              <a:t> 정비 및 적용</a:t>
            </a:r>
            <a:endParaRPr lang="en-US" altLang="ko-KR" sz="1000" kern="0" dirty="0">
              <a:solidFill>
                <a:srgbClr val="003F56"/>
              </a:solidFill>
              <a:latin typeface="Arial Narrow" panose="020B0606020202030204" pitchFamily="34" charset="0"/>
              <a:ea typeface="+mn-ea"/>
            </a:endParaRPr>
          </a:p>
          <a:p>
            <a:pPr marL="179388" indent="-88900" algn="l" eaLnBrk="1" fontAlgn="auto" latinLnBrk="0" hangingPunct="1">
              <a:spcBef>
                <a:spcPts val="0"/>
              </a:spcBef>
              <a:spcAft>
                <a:spcPts val="0"/>
              </a:spcAft>
              <a:buFontTx/>
              <a:buChar char="-"/>
            </a:pPr>
            <a:endParaRPr lang="en-US" altLang="ko-KR" sz="1000" kern="0" dirty="0">
              <a:solidFill>
                <a:srgbClr val="003F56"/>
              </a:solidFill>
              <a:latin typeface="Arial Narrow" panose="020B0606020202030204" pitchFamily="34" charset="0"/>
              <a:ea typeface="+mn-ea"/>
            </a:endParaRPr>
          </a:p>
        </p:txBody>
      </p:sp>
      <p:sp>
        <p:nvSpPr>
          <p:cNvPr id="99" name="모서리가 둥근 직사각형 38">
            <a:extLst>
              <a:ext uri="{FF2B5EF4-FFF2-40B4-BE49-F238E27FC236}">
                <a16:creationId xmlns:a16="http://schemas.microsoft.com/office/drawing/2014/main" id="{EBA82249-5D1C-4EF0-B388-AE7FCF7BFFCB}"/>
              </a:ext>
            </a:extLst>
          </p:cNvPr>
          <p:cNvSpPr/>
          <p:nvPr/>
        </p:nvSpPr>
        <p:spPr bwMode="auto">
          <a:xfrm>
            <a:off x="6848488" y="3402287"/>
            <a:ext cx="2481139" cy="240297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36000" tIns="108000" rIns="0" bIns="0" rtlCol="0" anchor="t" anchorCtr="0">
            <a:noAutofit/>
          </a:bodyPr>
          <a:lstStyle/>
          <a:p>
            <a:pPr marL="88900" marR="0" lvl="0" indent="-88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ko-KR" altLang="en-US"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rPr>
              <a:t>데이터 관리방안 제언</a:t>
            </a: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NCS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및 </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SQF</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의 변경으로 인한 변경 사항 적용 방안</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기존 데이터 관리방안</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신규 </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NCS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적용에 따른 </a:t>
            </a:r>
            <a:r>
              <a:rPr kumimoji="0" lang="ko-KR" altLang="en-US" sz="1000" b="0" i="0" u="none" strike="noStrike" kern="0" cap="none" spc="0" normalizeH="0" baseline="0" noProof="0" dirty="0" err="1">
                <a:ln>
                  <a:noFill/>
                </a:ln>
                <a:solidFill>
                  <a:srgbClr val="003F56"/>
                </a:solidFill>
                <a:effectLst/>
                <a:uLnTx/>
                <a:uFillTx/>
                <a:latin typeface="Arial Narrow" panose="020B0606020202030204" pitchFamily="34" charset="0"/>
                <a:ea typeface="a고딕14"/>
                <a:cs typeface="+mn-cs"/>
              </a:rPr>
              <a:t>기술교육로드맵</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직무 추가 및 과정 매칭 방안을 고려한 </a:t>
            </a:r>
            <a:r>
              <a:rPr kumimoji="0" lang="ko-KR" altLang="en-US" sz="1000" b="0" i="0" u="none" strike="noStrike" kern="0" cap="none" spc="0" normalizeH="0" baseline="0" noProof="0" dirty="0" err="1">
                <a:ln>
                  <a:noFill/>
                </a:ln>
                <a:solidFill>
                  <a:srgbClr val="003F56"/>
                </a:solidFill>
                <a:effectLst/>
                <a:uLnTx/>
                <a:uFillTx/>
                <a:latin typeface="Arial Narrow" panose="020B0606020202030204" pitchFamily="34" charset="0"/>
                <a:ea typeface="a고딕14"/>
                <a:cs typeface="+mn-cs"/>
              </a:rPr>
              <a:t>기술교육로드맵</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현행화 방안 제언</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92075" indent="-92075" algn="l" eaLnBrk="1" fontAlgn="auto" latinLnBrk="0" hangingPunct="1">
              <a:spcBef>
                <a:spcPts val="0"/>
              </a:spcBef>
              <a:spcAft>
                <a:spcPts val="0"/>
              </a:spcAft>
              <a:buFont typeface="Arial" panose="020B0604020202020204" pitchFamily="34" charset="0"/>
              <a:buChar char="•"/>
            </a:pPr>
            <a:r>
              <a:rPr lang="ko-KR" altLang="en-US" sz="1100" kern="0" dirty="0">
                <a:solidFill>
                  <a:srgbClr val="0070C0"/>
                </a:solidFill>
                <a:latin typeface="Arial Narrow" panose="020B0606020202030204" pitchFamily="34" charset="0"/>
                <a:ea typeface="+mn-ea"/>
              </a:rPr>
              <a:t>직무능력은행제 연계 검토</a:t>
            </a:r>
            <a:endParaRPr lang="en-US" altLang="ko-KR" sz="1100" kern="0" dirty="0">
              <a:solidFill>
                <a:srgbClr val="0070C0"/>
              </a:solidFill>
              <a:latin typeface="Arial Narrow" panose="020B0606020202030204" pitchFamily="34" charset="0"/>
              <a:ea typeface="+mn-ea"/>
            </a:endParaRPr>
          </a:p>
          <a:p>
            <a:pPr marL="171450" indent="-82550" algn="l" eaLnBrk="1" fontAlgn="auto" latinLnBrk="0" hangingPunct="1">
              <a:spcBef>
                <a:spcPts val="0"/>
              </a:spcBef>
              <a:spcAft>
                <a:spcPts val="0"/>
              </a:spcAft>
              <a:buFontTx/>
              <a:buChar char="-"/>
            </a:pPr>
            <a:r>
              <a:rPr lang="ko-KR" altLang="en-US" sz="1000" kern="0" dirty="0" err="1">
                <a:solidFill>
                  <a:srgbClr val="003F56"/>
                </a:solidFill>
                <a:latin typeface="Arial Narrow" panose="020B0606020202030204" pitchFamily="34" charset="0"/>
                <a:ea typeface="+mn-ea"/>
              </a:rPr>
              <a:t>온평원</a:t>
            </a:r>
            <a:r>
              <a:rPr lang="ko-KR" altLang="en-US" sz="1000" kern="0" dirty="0">
                <a:solidFill>
                  <a:srgbClr val="003F56"/>
                </a:solidFill>
                <a:latin typeface="Arial Narrow" panose="020B0606020202030204" pitchFamily="34" charset="0"/>
                <a:ea typeface="+mn-ea"/>
              </a:rPr>
              <a:t> 보유 콘텐츠를 직무능력은행제와 연계할 수 있는 방향성 제시</a:t>
            </a:r>
            <a:endParaRPr lang="en-US" altLang="ko-KR" sz="1000" kern="0" dirty="0">
              <a:solidFill>
                <a:srgbClr val="003F56"/>
              </a:solidFill>
              <a:latin typeface="Arial Narrow" panose="020B0606020202030204" pitchFamily="34" charset="0"/>
              <a:ea typeface="+mn-ea"/>
            </a:endParaRPr>
          </a:p>
          <a:p>
            <a:pPr marL="88900" lvl="0" indent="-88900" algn="l" eaLnBrk="1" fontAlgn="auto" latinLnBrk="0" hangingPunct="1">
              <a:spcBef>
                <a:spcPts val="0"/>
              </a:spcBef>
              <a:spcAft>
                <a:spcPts val="0"/>
              </a:spcAft>
              <a:buFont typeface="Arial" panose="020B0604020202020204" pitchFamily="34" charset="0"/>
              <a:buChar char="•"/>
              <a:defRPr/>
            </a:pPr>
            <a:endParaRPr lang="en-US" altLang="ko-KR" sz="1100" kern="0" dirty="0">
              <a:solidFill>
                <a:srgbClr val="0070C0"/>
              </a:solidFill>
              <a:latin typeface="Arial Narrow" panose="020B0606020202030204" pitchFamily="34" charset="0"/>
              <a:ea typeface="+mn-ea"/>
            </a:endParaRPr>
          </a:p>
          <a:p>
            <a:pPr marL="88900" lvl="0" indent="-88900" algn="l" eaLnBrk="1" fontAlgn="auto" latinLnBrk="0" hangingPunct="1">
              <a:spcBef>
                <a:spcPts val="0"/>
              </a:spcBef>
              <a:spcAft>
                <a:spcPts val="0"/>
              </a:spcAft>
              <a:buFont typeface="Arial" panose="020B0604020202020204" pitchFamily="34" charset="0"/>
              <a:buChar char="•"/>
              <a:defRPr/>
            </a:pPr>
            <a:r>
              <a:rPr lang="ko-KR" altLang="en-US" sz="1100" kern="0" dirty="0" err="1">
                <a:solidFill>
                  <a:srgbClr val="0070C0"/>
                </a:solidFill>
                <a:latin typeface="Arial Narrow" panose="020B0606020202030204" pitchFamily="34" charset="0"/>
                <a:ea typeface="+mn-ea"/>
              </a:rPr>
              <a:t>기술교육로드맵</a:t>
            </a:r>
            <a:r>
              <a:rPr lang="ko-KR" altLang="en-US" sz="1100" kern="0" dirty="0">
                <a:solidFill>
                  <a:srgbClr val="0070C0"/>
                </a:solidFill>
                <a:latin typeface="Arial Narrow" panose="020B0606020202030204" pitchFamily="34" charset="0"/>
                <a:ea typeface="+mn-ea"/>
              </a:rPr>
              <a:t> 학습 흐름 제언</a:t>
            </a:r>
            <a:endParaRPr lang="en-US" altLang="ko-KR" sz="1100" kern="0" dirty="0">
              <a:solidFill>
                <a:srgbClr val="0070C0"/>
              </a:solidFill>
              <a:latin typeface="Arial Narrow" panose="020B0606020202030204" pitchFamily="34" charset="0"/>
              <a:ea typeface="+mn-ea"/>
            </a:endParaRPr>
          </a:p>
          <a:p>
            <a:pPr marL="179388" lvl="0" indent="-88900" algn="l" eaLnBrk="1" fontAlgn="auto" latinLnBrk="0" hangingPunct="1">
              <a:spcBef>
                <a:spcPts val="0"/>
              </a:spcBef>
              <a:spcAft>
                <a:spcPts val="0"/>
              </a:spcAft>
              <a:buFontTx/>
              <a:buChar char="-"/>
              <a:defRPr/>
            </a:pPr>
            <a:r>
              <a:rPr lang="ko-KR" altLang="en-US" sz="1000" kern="0" dirty="0">
                <a:solidFill>
                  <a:srgbClr val="003F56"/>
                </a:solidFill>
                <a:latin typeface="Arial Narrow" panose="020B0606020202030204" pitchFamily="34" charset="0"/>
                <a:ea typeface="+mn-ea"/>
              </a:rPr>
              <a:t>학습자의 효율적인 훈련을 위해 자격증 및 </a:t>
            </a:r>
            <a:r>
              <a:rPr lang="en-US" altLang="ko-KR" sz="1000" kern="0" dirty="0">
                <a:solidFill>
                  <a:srgbClr val="003F56"/>
                </a:solidFill>
                <a:latin typeface="Arial Narrow" panose="020B0606020202030204" pitchFamily="34" charset="0"/>
                <a:ea typeface="+mn-ea"/>
              </a:rPr>
              <a:t>SQF </a:t>
            </a:r>
            <a:r>
              <a:rPr lang="ko-KR" altLang="en-US" sz="1000" kern="0" dirty="0">
                <a:solidFill>
                  <a:srgbClr val="003F56"/>
                </a:solidFill>
                <a:latin typeface="Arial Narrow" panose="020B0606020202030204" pitchFamily="34" charset="0"/>
                <a:ea typeface="+mn-ea"/>
              </a:rPr>
              <a:t>등을 분석하여 직무별 학습 흐름 제언</a:t>
            </a:r>
            <a:endParaRPr lang="en-US" altLang="ko-KR" sz="900" kern="0" dirty="0">
              <a:solidFill>
                <a:srgbClr val="003F56"/>
              </a:solidFill>
              <a:latin typeface="Arial Narrow" panose="020B0606020202030204" pitchFamily="34" charset="0"/>
              <a:ea typeface="+mn-ea"/>
            </a:endParaRPr>
          </a:p>
        </p:txBody>
      </p:sp>
      <p:sp>
        <p:nvSpPr>
          <p:cNvPr id="101" name="모서리가 둥근 직사각형 41">
            <a:extLst>
              <a:ext uri="{FF2B5EF4-FFF2-40B4-BE49-F238E27FC236}">
                <a16:creationId xmlns:a16="http://schemas.microsoft.com/office/drawing/2014/main" id="{14142C82-8B50-460E-8C66-0EF64F259B70}"/>
              </a:ext>
            </a:extLst>
          </p:cNvPr>
          <p:cNvSpPr/>
          <p:nvPr/>
        </p:nvSpPr>
        <p:spPr bwMode="auto">
          <a:xfrm>
            <a:off x="1720547" y="2757765"/>
            <a:ext cx="2497125" cy="504138"/>
          </a:xfrm>
          <a:prstGeom prst="roundRect">
            <a:avLst/>
          </a:prstGeom>
          <a:solidFill>
            <a:srgbClr val="005E80"/>
          </a:solidFill>
          <a:ln w="38100" algn="ctr">
            <a:solidFill>
              <a:schemeClr val="bg1"/>
            </a:solidFill>
            <a:round/>
            <a:headEnd/>
            <a:tailEnd/>
          </a:ln>
          <a:effectLst/>
        </p:spPr>
        <p:txBody>
          <a:bodyPr wrap="square" lIns="0" rIns="0" anchor="ctr"/>
          <a:lstStyle/>
          <a:p>
            <a:pPr lvl="0" eaLnBrk="1" fontAlgn="auto" latinLnBrk="0" hangingPunct="1">
              <a:spcBef>
                <a:spcPts val="0"/>
              </a:spcBef>
              <a:spcAft>
                <a:spcPts val="0"/>
              </a:spcAft>
              <a:buNone/>
              <a:defRPr/>
            </a:pPr>
            <a:r>
              <a:rPr lang="ko-KR" altLang="en-US" kern="0" spc="-50" dirty="0">
                <a:solidFill>
                  <a:prstClr val="white"/>
                </a:solidFill>
                <a:latin typeface="Arial Narrow" panose="020B0606020202030204" pitchFamily="34" charset="0"/>
                <a:ea typeface="a고딕14" panose="02020600000000000000" pitchFamily="18" charset="-127"/>
              </a:rPr>
              <a:t>능력단위 기반 교육과정 매핑 및 </a:t>
            </a:r>
            <a:br>
              <a:rPr lang="en-US" altLang="ko-KR" kern="0" spc="-50" dirty="0">
                <a:solidFill>
                  <a:prstClr val="white"/>
                </a:solidFill>
                <a:latin typeface="Arial Narrow" panose="020B0606020202030204" pitchFamily="34" charset="0"/>
                <a:ea typeface="a고딕14" panose="02020600000000000000" pitchFamily="18" charset="-127"/>
              </a:rPr>
            </a:br>
            <a:r>
              <a:rPr lang="ko-KR" altLang="en-US" kern="0" spc="-50" dirty="0">
                <a:solidFill>
                  <a:prstClr val="white"/>
                </a:solidFill>
                <a:latin typeface="Arial Narrow" panose="020B0606020202030204" pitchFamily="34" charset="0"/>
                <a:ea typeface="a고딕14" panose="02020600000000000000" pitchFamily="18" charset="-127"/>
              </a:rPr>
              <a:t>개발 가능 능력단위 선정</a:t>
            </a:r>
            <a:endParaRPr lang="en-US" altLang="ko-KR" kern="0" spc="-50" dirty="0">
              <a:solidFill>
                <a:prstClr val="white"/>
              </a:solidFill>
              <a:latin typeface="Arial Narrow" panose="020B0606020202030204" pitchFamily="34" charset="0"/>
              <a:ea typeface="a고딕14" panose="02020600000000000000" pitchFamily="18" charset="-127"/>
            </a:endParaRPr>
          </a:p>
        </p:txBody>
      </p:sp>
      <p:pic>
        <p:nvPicPr>
          <p:cNvPr id="102" name="Picture 101" descr="연결링01">
            <a:extLst>
              <a:ext uri="{FF2B5EF4-FFF2-40B4-BE49-F238E27FC236}">
                <a16:creationId xmlns:a16="http://schemas.microsoft.com/office/drawing/2014/main" id="{E87BB98E-5C31-4FAB-B9C7-09DDAC4A4A9A}"/>
              </a:ext>
            </a:extLst>
          </p:cNvPr>
          <p:cNvPicPr>
            <a:picLocks noChangeAspect="1" noChangeArrowheads="1"/>
          </p:cNvPicPr>
          <p:nvPr/>
        </p:nvPicPr>
        <p:blipFill>
          <a:blip r:embed="rId3" cstate="print"/>
          <a:srcRect/>
          <a:stretch>
            <a:fillRect/>
          </a:stretch>
        </p:blipFill>
        <p:spPr bwMode="auto">
          <a:xfrm rot="16200000">
            <a:off x="1842396" y="3260144"/>
            <a:ext cx="372001" cy="117151"/>
          </a:xfrm>
          <a:prstGeom prst="rect">
            <a:avLst/>
          </a:prstGeom>
          <a:noFill/>
          <a:ln w="9525">
            <a:noFill/>
            <a:miter lim="800000"/>
            <a:headEnd/>
            <a:tailEnd/>
          </a:ln>
        </p:spPr>
      </p:pic>
      <p:pic>
        <p:nvPicPr>
          <p:cNvPr id="103" name="Picture 102" descr="연결링01">
            <a:extLst>
              <a:ext uri="{FF2B5EF4-FFF2-40B4-BE49-F238E27FC236}">
                <a16:creationId xmlns:a16="http://schemas.microsoft.com/office/drawing/2014/main" id="{E62477D5-EA85-4AAB-A7D1-34FF7E65600E}"/>
              </a:ext>
            </a:extLst>
          </p:cNvPr>
          <p:cNvPicPr>
            <a:picLocks noChangeAspect="1" noChangeArrowheads="1"/>
          </p:cNvPicPr>
          <p:nvPr/>
        </p:nvPicPr>
        <p:blipFill>
          <a:blip r:embed="rId3" cstate="print"/>
          <a:srcRect/>
          <a:stretch>
            <a:fillRect/>
          </a:stretch>
        </p:blipFill>
        <p:spPr bwMode="auto">
          <a:xfrm rot="16200000">
            <a:off x="1955842" y="3260144"/>
            <a:ext cx="372001" cy="117151"/>
          </a:xfrm>
          <a:prstGeom prst="rect">
            <a:avLst/>
          </a:prstGeom>
          <a:noFill/>
          <a:ln w="9525">
            <a:noFill/>
            <a:miter lim="800000"/>
            <a:headEnd/>
            <a:tailEnd/>
          </a:ln>
        </p:spPr>
      </p:pic>
      <p:pic>
        <p:nvPicPr>
          <p:cNvPr id="104" name="Picture 101" descr="연결링01">
            <a:extLst>
              <a:ext uri="{FF2B5EF4-FFF2-40B4-BE49-F238E27FC236}">
                <a16:creationId xmlns:a16="http://schemas.microsoft.com/office/drawing/2014/main" id="{A6C143DB-270D-4C60-AB2B-B097D77927A2}"/>
              </a:ext>
            </a:extLst>
          </p:cNvPr>
          <p:cNvPicPr>
            <a:picLocks noChangeAspect="1" noChangeArrowheads="1"/>
          </p:cNvPicPr>
          <p:nvPr/>
        </p:nvPicPr>
        <p:blipFill>
          <a:blip r:embed="rId3" cstate="print"/>
          <a:srcRect/>
          <a:stretch>
            <a:fillRect/>
          </a:stretch>
        </p:blipFill>
        <p:spPr bwMode="auto">
          <a:xfrm rot="16200000">
            <a:off x="3610382" y="3260144"/>
            <a:ext cx="372001" cy="117151"/>
          </a:xfrm>
          <a:prstGeom prst="rect">
            <a:avLst/>
          </a:prstGeom>
          <a:noFill/>
          <a:ln w="9525">
            <a:noFill/>
            <a:miter lim="800000"/>
            <a:headEnd/>
            <a:tailEnd/>
          </a:ln>
        </p:spPr>
      </p:pic>
      <p:pic>
        <p:nvPicPr>
          <p:cNvPr id="105" name="Picture 102" descr="연결링01">
            <a:extLst>
              <a:ext uri="{FF2B5EF4-FFF2-40B4-BE49-F238E27FC236}">
                <a16:creationId xmlns:a16="http://schemas.microsoft.com/office/drawing/2014/main" id="{1688DEBD-513F-4CFA-BD99-5B9199455F0B}"/>
              </a:ext>
            </a:extLst>
          </p:cNvPr>
          <p:cNvPicPr>
            <a:picLocks noChangeAspect="1" noChangeArrowheads="1"/>
          </p:cNvPicPr>
          <p:nvPr/>
        </p:nvPicPr>
        <p:blipFill>
          <a:blip r:embed="rId3" cstate="print"/>
          <a:srcRect/>
          <a:stretch>
            <a:fillRect/>
          </a:stretch>
        </p:blipFill>
        <p:spPr bwMode="auto">
          <a:xfrm rot="16200000">
            <a:off x="3723826" y="3260144"/>
            <a:ext cx="372001" cy="117151"/>
          </a:xfrm>
          <a:prstGeom prst="rect">
            <a:avLst/>
          </a:prstGeom>
          <a:noFill/>
          <a:ln w="9525">
            <a:noFill/>
            <a:miter lim="800000"/>
            <a:headEnd/>
            <a:tailEnd/>
          </a:ln>
        </p:spPr>
      </p:pic>
      <p:sp>
        <p:nvSpPr>
          <p:cNvPr id="106" name="모서리가 둥근 직사각형 42">
            <a:extLst>
              <a:ext uri="{FF2B5EF4-FFF2-40B4-BE49-F238E27FC236}">
                <a16:creationId xmlns:a16="http://schemas.microsoft.com/office/drawing/2014/main" id="{D0444355-25CE-4FF1-B3EB-8F9578D8B44C}"/>
              </a:ext>
            </a:extLst>
          </p:cNvPr>
          <p:cNvSpPr/>
          <p:nvPr/>
        </p:nvSpPr>
        <p:spPr bwMode="auto">
          <a:xfrm>
            <a:off x="4284520" y="2757765"/>
            <a:ext cx="2497125" cy="504138"/>
          </a:xfrm>
          <a:prstGeom prst="roundRect">
            <a:avLst/>
          </a:prstGeom>
          <a:solidFill>
            <a:srgbClr val="005E80"/>
          </a:solidFill>
          <a:ln w="38100" algn="ctr">
            <a:solidFill>
              <a:schemeClr val="bg1"/>
            </a:solidFill>
            <a:round/>
            <a:headEnd/>
            <a:tailEnd/>
          </a:ln>
          <a:effectLst/>
        </p:spPr>
        <p:txBody>
          <a:bodyPr wrap="square" lIns="0" rIns="0" anchor="ctr"/>
          <a:lstStyle/>
          <a:p>
            <a:pPr lvl="0" eaLnBrk="1" fontAlgn="auto" latinLnBrk="0" hangingPunct="1">
              <a:spcBef>
                <a:spcPts val="0"/>
              </a:spcBef>
              <a:spcAft>
                <a:spcPts val="0"/>
              </a:spcAft>
              <a:buNone/>
              <a:defRPr/>
            </a:pPr>
            <a:r>
              <a:rPr lang="ko-KR" altLang="en-US" kern="0" dirty="0">
                <a:solidFill>
                  <a:prstClr val="white"/>
                </a:solidFill>
                <a:latin typeface="Arial Narrow" panose="020B0606020202030204" pitchFamily="34" charset="0"/>
                <a:ea typeface="a고딕14" panose="02020600000000000000" pitchFamily="18" charset="-127"/>
              </a:rPr>
              <a:t>과정개요서 개발 및 </a:t>
            </a:r>
            <a:endParaRPr lang="en-US" altLang="ko-KR" kern="0" dirty="0">
              <a:solidFill>
                <a:prstClr val="white"/>
              </a:solidFill>
              <a:latin typeface="Arial Narrow" panose="020B0606020202030204" pitchFamily="34" charset="0"/>
              <a:ea typeface="a고딕14" panose="02020600000000000000" pitchFamily="18" charset="-127"/>
            </a:endParaRPr>
          </a:p>
          <a:p>
            <a:pPr lvl="0" eaLnBrk="1" fontAlgn="auto" latinLnBrk="0" hangingPunct="1">
              <a:spcBef>
                <a:spcPts val="0"/>
              </a:spcBef>
              <a:spcAft>
                <a:spcPts val="0"/>
              </a:spcAft>
              <a:buNone/>
              <a:defRPr/>
            </a:pPr>
            <a:r>
              <a:rPr lang="ko-KR" altLang="en-US" kern="0" dirty="0" err="1">
                <a:solidFill>
                  <a:prstClr val="white"/>
                </a:solidFill>
                <a:latin typeface="Arial Narrow" panose="020B0606020202030204" pitchFamily="34" charset="0"/>
                <a:ea typeface="a고딕14" panose="02020600000000000000" pitchFamily="18" charset="-127"/>
              </a:rPr>
              <a:t>기술교육로드맵</a:t>
            </a:r>
            <a:r>
              <a:rPr lang="ko-KR" altLang="en-US" kern="0" dirty="0">
                <a:solidFill>
                  <a:prstClr val="white"/>
                </a:solidFill>
                <a:latin typeface="Arial Narrow" panose="020B0606020202030204" pitchFamily="34" charset="0"/>
                <a:ea typeface="a고딕14" panose="02020600000000000000" pitchFamily="18" charset="-127"/>
              </a:rPr>
              <a:t> 작성</a:t>
            </a:r>
            <a:endParaRPr lang="en-US" altLang="ko-KR" kern="0" dirty="0">
              <a:solidFill>
                <a:prstClr val="white"/>
              </a:solidFill>
              <a:latin typeface="Arial Narrow" panose="020B0606020202030204" pitchFamily="34" charset="0"/>
              <a:ea typeface="a고딕14" panose="02020600000000000000" pitchFamily="18" charset="-127"/>
            </a:endParaRPr>
          </a:p>
        </p:txBody>
      </p:sp>
      <p:pic>
        <p:nvPicPr>
          <p:cNvPr id="107" name="Picture 101" descr="연결링01">
            <a:extLst>
              <a:ext uri="{FF2B5EF4-FFF2-40B4-BE49-F238E27FC236}">
                <a16:creationId xmlns:a16="http://schemas.microsoft.com/office/drawing/2014/main" id="{6640642E-9526-4D84-8200-876D2D6D1A45}"/>
              </a:ext>
            </a:extLst>
          </p:cNvPr>
          <p:cNvPicPr>
            <a:picLocks noChangeAspect="1" noChangeArrowheads="1"/>
          </p:cNvPicPr>
          <p:nvPr/>
        </p:nvPicPr>
        <p:blipFill>
          <a:blip r:embed="rId3" cstate="print"/>
          <a:srcRect/>
          <a:stretch>
            <a:fillRect/>
          </a:stretch>
        </p:blipFill>
        <p:spPr bwMode="auto">
          <a:xfrm rot="16200000">
            <a:off x="4406366" y="3260144"/>
            <a:ext cx="372001" cy="117151"/>
          </a:xfrm>
          <a:prstGeom prst="rect">
            <a:avLst/>
          </a:prstGeom>
          <a:noFill/>
          <a:ln w="9525">
            <a:noFill/>
            <a:miter lim="800000"/>
            <a:headEnd/>
            <a:tailEnd/>
          </a:ln>
        </p:spPr>
      </p:pic>
      <p:pic>
        <p:nvPicPr>
          <p:cNvPr id="108" name="Picture 102" descr="연결링01">
            <a:extLst>
              <a:ext uri="{FF2B5EF4-FFF2-40B4-BE49-F238E27FC236}">
                <a16:creationId xmlns:a16="http://schemas.microsoft.com/office/drawing/2014/main" id="{24887B94-609A-465A-9BA4-2C4B24B42E37}"/>
              </a:ext>
            </a:extLst>
          </p:cNvPr>
          <p:cNvPicPr>
            <a:picLocks noChangeAspect="1" noChangeArrowheads="1"/>
          </p:cNvPicPr>
          <p:nvPr/>
        </p:nvPicPr>
        <p:blipFill>
          <a:blip r:embed="rId3" cstate="print"/>
          <a:srcRect/>
          <a:stretch>
            <a:fillRect/>
          </a:stretch>
        </p:blipFill>
        <p:spPr bwMode="auto">
          <a:xfrm rot="16200000">
            <a:off x="4519812" y="3260144"/>
            <a:ext cx="372001" cy="117151"/>
          </a:xfrm>
          <a:prstGeom prst="rect">
            <a:avLst/>
          </a:prstGeom>
          <a:noFill/>
          <a:ln w="9525">
            <a:noFill/>
            <a:miter lim="800000"/>
            <a:headEnd/>
            <a:tailEnd/>
          </a:ln>
        </p:spPr>
      </p:pic>
      <p:pic>
        <p:nvPicPr>
          <p:cNvPr id="109" name="Picture 101" descr="연결링01">
            <a:extLst>
              <a:ext uri="{FF2B5EF4-FFF2-40B4-BE49-F238E27FC236}">
                <a16:creationId xmlns:a16="http://schemas.microsoft.com/office/drawing/2014/main" id="{E7D8E952-BE23-437E-A414-66CC99306E12}"/>
              </a:ext>
            </a:extLst>
          </p:cNvPr>
          <p:cNvPicPr>
            <a:picLocks noChangeAspect="1" noChangeArrowheads="1"/>
          </p:cNvPicPr>
          <p:nvPr/>
        </p:nvPicPr>
        <p:blipFill>
          <a:blip r:embed="rId3" cstate="print"/>
          <a:srcRect/>
          <a:stretch>
            <a:fillRect/>
          </a:stretch>
        </p:blipFill>
        <p:spPr bwMode="auto">
          <a:xfrm rot="16200000">
            <a:off x="6174352" y="3260144"/>
            <a:ext cx="372001" cy="117151"/>
          </a:xfrm>
          <a:prstGeom prst="rect">
            <a:avLst/>
          </a:prstGeom>
          <a:noFill/>
          <a:ln w="9525">
            <a:noFill/>
            <a:miter lim="800000"/>
            <a:headEnd/>
            <a:tailEnd/>
          </a:ln>
        </p:spPr>
      </p:pic>
      <p:pic>
        <p:nvPicPr>
          <p:cNvPr id="110" name="Picture 102" descr="연결링01">
            <a:extLst>
              <a:ext uri="{FF2B5EF4-FFF2-40B4-BE49-F238E27FC236}">
                <a16:creationId xmlns:a16="http://schemas.microsoft.com/office/drawing/2014/main" id="{0FD7BD59-5BB7-437F-A81F-FCC0C6F96FE3}"/>
              </a:ext>
            </a:extLst>
          </p:cNvPr>
          <p:cNvPicPr>
            <a:picLocks noChangeAspect="1" noChangeArrowheads="1"/>
          </p:cNvPicPr>
          <p:nvPr/>
        </p:nvPicPr>
        <p:blipFill>
          <a:blip r:embed="rId3" cstate="print"/>
          <a:srcRect/>
          <a:stretch>
            <a:fillRect/>
          </a:stretch>
        </p:blipFill>
        <p:spPr bwMode="auto">
          <a:xfrm rot="16200000">
            <a:off x="6287796" y="3260144"/>
            <a:ext cx="372001" cy="117151"/>
          </a:xfrm>
          <a:prstGeom prst="rect">
            <a:avLst/>
          </a:prstGeom>
          <a:noFill/>
          <a:ln w="9525">
            <a:noFill/>
            <a:miter lim="800000"/>
            <a:headEnd/>
            <a:tailEnd/>
          </a:ln>
        </p:spPr>
      </p:pic>
      <p:sp>
        <p:nvSpPr>
          <p:cNvPr id="111" name="모서리가 둥근 직사각형 42">
            <a:extLst>
              <a:ext uri="{FF2B5EF4-FFF2-40B4-BE49-F238E27FC236}">
                <a16:creationId xmlns:a16="http://schemas.microsoft.com/office/drawing/2014/main" id="{0B14C41F-3CEC-43A0-8B9D-A9012EA370B8}"/>
              </a:ext>
            </a:extLst>
          </p:cNvPr>
          <p:cNvSpPr/>
          <p:nvPr/>
        </p:nvSpPr>
        <p:spPr bwMode="auto">
          <a:xfrm>
            <a:off x="6848488" y="2757765"/>
            <a:ext cx="2497125" cy="504138"/>
          </a:xfrm>
          <a:prstGeom prst="roundRect">
            <a:avLst/>
          </a:prstGeom>
          <a:solidFill>
            <a:srgbClr val="005E80"/>
          </a:solidFill>
          <a:ln w="38100" algn="ctr">
            <a:solidFill>
              <a:schemeClr val="bg1"/>
            </a:solidFill>
            <a:round/>
            <a:headEnd/>
            <a:tailEnd/>
          </a:ln>
          <a:effectLst/>
        </p:spPr>
        <p:txBody>
          <a:bodyPr wrap="square" lIns="0" rIns="0" anchor="ctr"/>
          <a:lstStyle/>
          <a:p>
            <a:pPr lvl="0" eaLnBrk="1" fontAlgn="auto" latinLnBrk="0" hangingPunct="1">
              <a:spcBef>
                <a:spcPts val="0"/>
              </a:spcBef>
              <a:spcAft>
                <a:spcPts val="0"/>
              </a:spcAft>
              <a:buNone/>
              <a:defRPr/>
            </a:pPr>
            <a:r>
              <a:rPr lang="en-US" altLang="ko-KR" kern="0" dirty="0">
                <a:solidFill>
                  <a:prstClr val="white"/>
                </a:solidFill>
                <a:latin typeface="Arial Narrow" panose="020B0606020202030204" pitchFamily="34" charset="0"/>
                <a:ea typeface="a고딕14" panose="02020600000000000000" pitchFamily="18" charset="-127"/>
              </a:rPr>
              <a:t>STEP </a:t>
            </a:r>
            <a:r>
              <a:rPr lang="ko-KR" altLang="en-US" kern="0" dirty="0">
                <a:solidFill>
                  <a:prstClr val="white"/>
                </a:solidFill>
                <a:latin typeface="Arial Narrow" panose="020B0606020202030204" pitchFamily="34" charset="0"/>
                <a:ea typeface="a고딕14" panose="02020600000000000000" pitchFamily="18" charset="-127"/>
              </a:rPr>
              <a:t>서비스 확대 및 </a:t>
            </a:r>
            <a:endParaRPr lang="en-US" altLang="ko-KR" kern="0" dirty="0">
              <a:solidFill>
                <a:prstClr val="white"/>
              </a:solidFill>
              <a:latin typeface="Arial Narrow" panose="020B0606020202030204" pitchFamily="34" charset="0"/>
              <a:ea typeface="a고딕14" panose="02020600000000000000" pitchFamily="18" charset="-127"/>
            </a:endParaRPr>
          </a:p>
          <a:p>
            <a:pPr lvl="0" eaLnBrk="1" fontAlgn="auto" latinLnBrk="0" hangingPunct="1">
              <a:spcBef>
                <a:spcPts val="0"/>
              </a:spcBef>
              <a:spcAft>
                <a:spcPts val="0"/>
              </a:spcAft>
              <a:buNone/>
              <a:defRPr/>
            </a:pPr>
            <a:r>
              <a:rPr lang="ko-KR" altLang="en-US" kern="0" dirty="0">
                <a:solidFill>
                  <a:prstClr val="white"/>
                </a:solidFill>
                <a:latin typeface="Arial Narrow" panose="020B0606020202030204" pitchFamily="34" charset="0"/>
                <a:ea typeface="a고딕14" panose="02020600000000000000" pitchFamily="18" charset="-127"/>
              </a:rPr>
              <a:t>효율적 운영을 위한 방안 제언</a:t>
            </a:r>
          </a:p>
        </p:txBody>
      </p:sp>
      <p:grpSp>
        <p:nvGrpSpPr>
          <p:cNvPr id="112" name="그룹 65">
            <a:extLst>
              <a:ext uri="{FF2B5EF4-FFF2-40B4-BE49-F238E27FC236}">
                <a16:creationId xmlns:a16="http://schemas.microsoft.com/office/drawing/2014/main" id="{E2596474-29F9-4819-8C78-6E1FF68F0CB0}"/>
              </a:ext>
            </a:extLst>
          </p:cNvPr>
          <p:cNvGrpSpPr>
            <a:grpSpLocks/>
          </p:cNvGrpSpPr>
          <p:nvPr/>
        </p:nvGrpSpPr>
        <p:grpSpPr bwMode="auto">
          <a:xfrm rot="16200000">
            <a:off x="7027057" y="3203422"/>
            <a:ext cx="372001" cy="230595"/>
            <a:chOff x="2741909" y="2297097"/>
            <a:chExt cx="210614" cy="131735"/>
          </a:xfrm>
        </p:grpSpPr>
        <p:pic>
          <p:nvPicPr>
            <p:cNvPr id="113" name="Picture 101" descr="연결링01">
              <a:extLst>
                <a:ext uri="{FF2B5EF4-FFF2-40B4-BE49-F238E27FC236}">
                  <a16:creationId xmlns:a16="http://schemas.microsoft.com/office/drawing/2014/main" id="{17C966AB-599C-4302-956A-FD4091CDCCF7}"/>
                </a:ext>
              </a:extLst>
            </p:cNvPr>
            <p:cNvPicPr>
              <a:picLocks noChangeAspect="1" noChangeArrowheads="1"/>
            </p:cNvPicPr>
            <p:nvPr/>
          </p:nvPicPr>
          <p:blipFill>
            <a:blip r:embed="rId3" cstate="print"/>
            <a:srcRect/>
            <a:stretch>
              <a:fillRect/>
            </a:stretch>
          </p:blipFill>
          <p:spPr bwMode="auto">
            <a:xfrm>
              <a:off x="2741909" y="2297097"/>
              <a:ext cx="210614" cy="66926"/>
            </a:xfrm>
            <a:prstGeom prst="rect">
              <a:avLst/>
            </a:prstGeom>
            <a:noFill/>
            <a:ln w="9525">
              <a:noFill/>
              <a:miter lim="800000"/>
              <a:headEnd/>
              <a:tailEnd/>
            </a:ln>
          </p:spPr>
        </p:pic>
        <p:pic>
          <p:nvPicPr>
            <p:cNvPr id="114" name="Picture 102" descr="연결링01">
              <a:extLst>
                <a:ext uri="{FF2B5EF4-FFF2-40B4-BE49-F238E27FC236}">
                  <a16:creationId xmlns:a16="http://schemas.microsoft.com/office/drawing/2014/main" id="{28188172-DF43-4530-A5D9-19B47AE8F2E9}"/>
                </a:ext>
              </a:extLst>
            </p:cNvPr>
            <p:cNvPicPr>
              <a:picLocks noChangeAspect="1" noChangeArrowheads="1"/>
            </p:cNvPicPr>
            <p:nvPr/>
          </p:nvPicPr>
          <p:blipFill>
            <a:blip r:embed="rId3" cstate="print"/>
            <a:srcRect/>
            <a:stretch>
              <a:fillRect/>
            </a:stretch>
          </p:blipFill>
          <p:spPr bwMode="auto">
            <a:xfrm>
              <a:off x="2741909" y="2361906"/>
              <a:ext cx="210614" cy="66926"/>
            </a:xfrm>
            <a:prstGeom prst="rect">
              <a:avLst/>
            </a:prstGeom>
            <a:noFill/>
            <a:ln w="9525">
              <a:noFill/>
              <a:miter lim="800000"/>
              <a:headEnd/>
              <a:tailEnd/>
            </a:ln>
          </p:spPr>
        </p:pic>
      </p:grpSp>
      <p:grpSp>
        <p:nvGrpSpPr>
          <p:cNvPr id="115" name="그룹 65">
            <a:extLst>
              <a:ext uri="{FF2B5EF4-FFF2-40B4-BE49-F238E27FC236}">
                <a16:creationId xmlns:a16="http://schemas.microsoft.com/office/drawing/2014/main" id="{B8921F8A-B2CC-496F-8A07-ECDCFEB37884}"/>
              </a:ext>
            </a:extLst>
          </p:cNvPr>
          <p:cNvGrpSpPr>
            <a:grpSpLocks/>
          </p:cNvGrpSpPr>
          <p:nvPr/>
        </p:nvGrpSpPr>
        <p:grpSpPr bwMode="auto">
          <a:xfrm rot="16200000">
            <a:off x="8795043" y="3203422"/>
            <a:ext cx="372001" cy="230595"/>
            <a:chOff x="2741909" y="2297097"/>
            <a:chExt cx="210614" cy="131735"/>
          </a:xfrm>
        </p:grpSpPr>
        <p:pic>
          <p:nvPicPr>
            <p:cNvPr id="116" name="Picture 101" descr="연결링01">
              <a:extLst>
                <a:ext uri="{FF2B5EF4-FFF2-40B4-BE49-F238E27FC236}">
                  <a16:creationId xmlns:a16="http://schemas.microsoft.com/office/drawing/2014/main" id="{1B91128B-2A6B-4859-85CD-F2EB4CBC79BB}"/>
                </a:ext>
              </a:extLst>
            </p:cNvPr>
            <p:cNvPicPr>
              <a:picLocks noChangeAspect="1" noChangeArrowheads="1"/>
            </p:cNvPicPr>
            <p:nvPr/>
          </p:nvPicPr>
          <p:blipFill>
            <a:blip r:embed="rId3" cstate="print"/>
            <a:srcRect/>
            <a:stretch>
              <a:fillRect/>
            </a:stretch>
          </p:blipFill>
          <p:spPr bwMode="auto">
            <a:xfrm>
              <a:off x="2741909" y="2297097"/>
              <a:ext cx="210614" cy="66926"/>
            </a:xfrm>
            <a:prstGeom prst="rect">
              <a:avLst/>
            </a:prstGeom>
            <a:noFill/>
            <a:ln w="9525">
              <a:noFill/>
              <a:miter lim="800000"/>
              <a:headEnd/>
              <a:tailEnd/>
            </a:ln>
          </p:spPr>
        </p:pic>
        <p:pic>
          <p:nvPicPr>
            <p:cNvPr id="117" name="Picture 102" descr="연결링01">
              <a:extLst>
                <a:ext uri="{FF2B5EF4-FFF2-40B4-BE49-F238E27FC236}">
                  <a16:creationId xmlns:a16="http://schemas.microsoft.com/office/drawing/2014/main" id="{29E28915-5110-414A-8DD6-7ABF38FA84EF}"/>
                </a:ext>
              </a:extLst>
            </p:cNvPr>
            <p:cNvPicPr>
              <a:picLocks noChangeAspect="1" noChangeArrowheads="1"/>
            </p:cNvPicPr>
            <p:nvPr/>
          </p:nvPicPr>
          <p:blipFill>
            <a:blip r:embed="rId3" cstate="print"/>
            <a:srcRect/>
            <a:stretch>
              <a:fillRect/>
            </a:stretch>
          </p:blipFill>
          <p:spPr bwMode="auto">
            <a:xfrm>
              <a:off x="2741909" y="2361906"/>
              <a:ext cx="210614" cy="66926"/>
            </a:xfrm>
            <a:prstGeom prst="rect">
              <a:avLst/>
            </a:prstGeom>
            <a:noFill/>
            <a:ln w="9525">
              <a:noFill/>
              <a:miter lim="800000"/>
              <a:headEnd/>
              <a:tailEnd/>
            </a:ln>
          </p:spPr>
        </p:pic>
      </p:grpSp>
      <p:sp>
        <p:nvSpPr>
          <p:cNvPr id="125" name="모서리가 둥근 직사각형 38">
            <a:extLst>
              <a:ext uri="{FF2B5EF4-FFF2-40B4-BE49-F238E27FC236}">
                <a16:creationId xmlns:a16="http://schemas.microsoft.com/office/drawing/2014/main" id="{EBA82249-5D1C-4EF0-B388-AE7FCF7BFFCB}"/>
              </a:ext>
            </a:extLst>
          </p:cNvPr>
          <p:cNvSpPr/>
          <p:nvPr/>
        </p:nvSpPr>
        <p:spPr bwMode="auto">
          <a:xfrm>
            <a:off x="1732627" y="5945930"/>
            <a:ext cx="7612986" cy="54260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108000" tIns="36000" rIns="108000" bIns="0" rtlCol="0" anchor="ctr" anchorCtr="0">
            <a:noAutofit/>
          </a:bodyPr>
          <a:lstStyle/>
          <a:p>
            <a:pPr marL="108000" indent="-108000" algn="l" latinLnBrk="0">
              <a:spcAft>
                <a:spcPts val="0"/>
              </a:spcAft>
              <a:buFont typeface="Arial" panose="020B0604020202020204" pitchFamily="34" charset="0"/>
              <a:buChar char="•"/>
            </a:pPr>
            <a:r>
              <a:rPr lang="ko-KR" altLang="en-US" sz="1100" kern="0" dirty="0">
                <a:solidFill>
                  <a:srgbClr val="003F56"/>
                </a:solidFill>
                <a:latin typeface="Arial Narrow" panose="020B0606020202030204" pitchFamily="34" charset="0"/>
                <a:ea typeface="+mn-ea"/>
              </a:rPr>
              <a:t>수요자 중심의 콘텐츠 제공 및 체계적 학습이 가능한 </a:t>
            </a:r>
            <a:r>
              <a:rPr lang="ko-KR" altLang="en-US" sz="1100" kern="0" dirty="0" err="1">
                <a:solidFill>
                  <a:srgbClr val="003F56"/>
                </a:solidFill>
                <a:latin typeface="Arial Narrow" panose="020B0606020202030204" pitchFamily="34" charset="0"/>
                <a:ea typeface="+mn-ea"/>
              </a:rPr>
              <a:t>기술교육로드맵</a:t>
            </a:r>
            <a:r>
              <a:rPr lang="en-US" altLang="ko-KR" sz="1100" kern="0" dirty="0">
                <a:solidFill>
                  <a:srgbClr val="003F56"/>
                </a:solidFill>
                <a:latin typeface="Arial Narrow" panose="020B0606020202030204" pitchFamily="34" charset="0"/>
                <a:ea typeface="+mn-ea"/>
              </a:rPr>
              <a:t>(TTR) </a:t>
            </a:r>
            <a:r>
              <a:rPr lang="ko-KR" altLang="en-US" sz="1100" kern="0" dirty="0">
                <a:solidFill>
                  <a:srgbClr val="003F56"/>
                </a:solidFill>
                <a:latin typeface="Arial Narrow" panose="020B0606020202030204" pitchFamily="34" charset="0"/>
                <a:ea typeface="+mn-ea"/>
              </a:rPr>
              <a:t>개발</a:t>
            </a:r>
            <a:endParaRPr lang="en-US" altLang="ko-KR" sz="1100" kern="0" dirty="0">
              <a:solidFill>
                <a:srgbClr val="003F56"/>
              </a:solidFill>
              <a:latin typeface="Arial Narrow" panose="020B0606020202030204" pitchFamily="34" charset="0"/>
              <a:ea typeface="+mn-ea"/>
            </a:endParaRPr>
          </a:p>
          <a:p>
            <a:pPr marL="108000" indent="-108000" algn="l" latinLnBrk="0">
              <a:spcAft>
                <a:spcPts val="0"/>
              </a:spcAft>
              <a:buFont typeface="Arial" panose="020B0604020202020204" pitchFamily="34" charset="0"/>
              <a:buChar char="•"/>
            </a:pPr>
            <a:r>
              <a:rPr lang="ko-KR" altLang="en-US" sz="1100" kern="0" dirty="0">
                <a:solidFill>
                  <a:srgbClr val="003F56"/>
                </a:solidFill>
                <a:latin typeface="Arial Narrow" panose="020B0606020202030204" pitchFamily="34" charset="0"/>
                <a:ea typeface="+mn-ea"/>
              </a:rPr>
              <a:t>전년도 개발된 </a:t>
            </a:r>
            <a:r>
              <a:rPr lang="en-US" altLang="ko-KR" sz="1100" kern="0" dirty="0">
                <a:solidFill>
                  <a:srgbClr val="003F56"/>
                </a:solidFill>
                <a:latin typeface="Arial Narrow" panose="020B0606020202030204" pitchFamily="34" charset="0"/>
                <a:ea typeface="+mn-ea"/>
              </a:rPr>
              <a:t>STEP </a:t>
            </a:r>
            <a:r>
              <a:rPr lang="ko-KR" altLang="en-US" sz="1100" kern="0" dirty="0">
                <a:solidFill>
                  <a:srgbClr val="003F56"/>
                </a:solidFill>
                <a:latin typeface="Arial Narrow" panose="020B0606020202030204" pitchFamily="34" charset="0"/>
                <a:ea typeface="+mn-ea"/>
              </a:rPr>
              <a:t>훈련 로드맵을 </a:t>
            </a:r>
            <a:r>
              <a:rPr lang="en-US" altLang="ko-KR" sz="1100" kern="0" dirty="0">
                <a:solidFill>
                  <a:srgbClr val="003F56"/>
                </a:solidFill>
                <a:latin typeface="Arial Narrow" panose="020B0606020202030204" pitchFamily="34" charset="0"/>
                <a:ea typeface="+mn-ea"/>
              </a:rPr>
              <a:t>NCS </a:t>
            </a:r>
            <a:r>
              <a:rPr lang="ko-KR" altLang="en-US" sz="1100" kern="0" dirty="0">
                <a:solidFill>
                  <a:srgbClr val="003F56"/>
                </a:solidFill>
                <a:latin typeface="Arial Narrow" panose="020B0606020202030204" pitchFamily="34" charset="0"/>
                <a:ea typeface="+mn-ea"/>
              </a:rPr>
              <a:t>및 </a:t>
            </a:r>
            <a:r>
              <a:rPr lang="en-US" altLang="ko-KR" sz="1100" kern="0" dirty="0">
                <a:solidFill>
                  <a:srgbClr val="003F56"/>
                </a:solidFill>
                <a:latin typeface="Arial Narrow" panose="020B0606020202030204" pitchFamily="34" charset="0"/>
                <a:ea typeface="+mn-ea"/>
              </a:rPr>
              <a:t>SQF </a:t>
            </a:r>
            <a:r>
              <a:rPr lang="ko-KR" altLang="en-US" sz="1100" kern="0" dirty="0">
                <a:solidFill>
                  <a:srgbClr val="003F56"/>
                </a:solidFill>
                <a:latin typeface="Arial Narrow" panose="020B0606020202030204" pitchFamily="34" charset="0"/>
                <a:ea typeface="+mn-ea"/>
              </a:rPr>
              <a:t>변경 사항에 따른 현행화 및 전체 개발 수요 파악을 위한 방안 마련이 필요함</a:t>
            </a:r>
            <a:endParaRPr lang="en-US" altLang="ko-KR" sz="1100" kern="0" dirty="0">
              <a:solidFill>
                <a:srgbClr val="003F56"/>
              </a:solidFill>
              <a:latin typeface="Arial Narrow" panose="020B0606020202030204" pitchFamily="34" charset="0"/>
              <a:ea typeface="+mn-ea"/>
            </a:endParaRPr>
          </a:p>
          <a:p>
            <a:pPr marL="108000" indent="-108000" algn="l" latinLnBrk="0">
              <a:spcAft>
                <a:spcPts val="0"/>
              </a:spcAft>
              <a:buFont typeface="Arial" panose="020B0604020202020204" pitchFamily="34" charset="0"/>
              <a:buChar char="•"/>
            </a:pPr>
            <a:r>
              <a:rPr lang="en-US" altLang="ko-KR" sz="1100" kern="0" dirty="0">
                <a:solidFill>
                  <a:srgbClr val="003F56"/>
                </a:solidFill>
                <a:latin typeface="Arial Narrow" panose="020B0606020202030204" pitchFamily="34" charset="0"/>
                <a:ea typeface="+mn-ea"/>
              </a:rPr>
              <a:t>STEP</a:t>
            </a:r>
            <a:r>
              <a:rPr lang="ko-KR" altLang="en-US" sz="1100" kern="0" dirty="0">
                <a:solidFill>
                  <a:srgbClr val="003F56"/>
                </a:solidFill>
                <a:latin typeface="Arial Narrow" panose="020B0606020202030204" pitchFamily="34" charset="0"/>
                <a:ea typeface="+mn-ea"/>
              </a:rPr>
              <a:t>의 활용성 확대를 위한 서비스 방안 마련이 필요함</a:t>
            </a:r>
            <a:endParaRPr lang="en-US" altLang="ko-KR" sz="1100" kern="0" dirty="0">
              <a:solidFill>
                <a:srgbClr val="003F56"/>
              </a:solidFill>
              <a:latin typeface="Arial Narrow" panose="020B0606020202030204" pitchFamily="34" charset="0"/>
              <a:ea typeface="+mn-ea"/>
            </a:endParaRPr>
          </a:p>
        </p:txBody>
      </p:sp>
      <p:grpSp>
        <p:nvGrpSpPr>
          <p:cNvPr id="46" name="그룹 156">
            <a:extLst>
              <a:ext uri="{FF2B5EF4-FFF2-40B4-BE49-F238E27FC236}">
                <a16:creationId xmlns:a16="http://schemas.microsoft.com/office/drawing/2014/main" id="{D0E64B47-BD97-4546-8595-903087CFC221}"/>
              </a:ext>
            </a:extLst>
          </p:cNvPr>
          <p:cNvGrpSpPr>
            <a:grpSpLocks/>
          </p:cNvGrpSpPr>
          <p:nvPr/>
        </p:nvGrpSpPr>
        <p:grpSpPr bwMode="auto">
          <a:xfrm>
            <a:off x="530940" y="6444324"/>
            <a:ext cx="312556" cy="45016"/>
            <a:chOff x="255588" y="8324571"/>
            <a:chExt cx="192103" cy="44350"/>
          </a:xfrm>
        </p:grpSpPr>
        <p:sp>
          <p:nvSpPr>
            <p:cNvPr id="47" name="Rectangle 31">
              <a:extLst>
                <a:ext uri="{FF2B5EF4-FFF2-40B4-BE49-F238E27FC236}">
                  <a16:creationId xmlns:a16="http://schemas.microsoft.com/office/drawing/2014/main" id="{5E02481C-B2CC-4AD8-947C-079BD5879A44}"/>
                </a:ext>
              </a:extLst>
            </p:cNvPr>
            <p:cNvSpPr>
              <a:spLocks noChangeArrowheads="1"/>
            </p:cNvSpPr>
            <p:nvPr/>
          </p:nvSpPr>
          <p:spPr bwMode="auto">
            <a:xfrm flipV="1">
              <a:off x="274179" y="8325009"/>
              <a:ext cx="154922" cy="25333"/>
            </a:xfrm>
            <a:prstGeom prst="rect">
              <a:avLst/>
            </a:prstGeom>
            <a:gradFill rotWithShape="1">
              <a:gsLst>
                <a:gs pos="0">
                  <a:srgbClr val="808080"/>
                </a:gs>
                <a:gs pos="100000">
                  <a:srgbClr val="FFFFFF"/>
                </a:gs>
              </a:gsLst>
              <a:lin ang="5400000" scaled="1"/>
            </a:gradFill>
            <a:ln w="9525">
              <a:no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48" name="Rectangle 32">
              <a:extLst>
                <a:ext uri="{FF2B5EF4-FFF2-40B4-BE49-F238E27FC236}">
                  <a16:creationId xmlns:a16="http://schemas.microsoft.com/office/drawing/2014/main" id="{CEB71D71-0AFA-40FD-8170-0BA0C4115323}"/>
                </a:ext>
              </a:extLst>
            </p:cNvPr>
            <p:cNvSpPr>
              <a:spLocks noChangeArrowheads="1"/>
            </p:cNvSpPr>
            <p:nvPr/>
          </p:nvSpPr>
          <p:spPr bwMode="auto">
            <a:xfrm flipV="1">
              <a:off x="255588" y="8352032"/>
              <a:ext cx="192103" cy="16889"/>
            </a:xfrm>
            <a:prstGeom prst="rect">
              <a:avLst/>
            </a:prstGeom>
            <a:gradFill rotWithShape="1">
              <a:gsLst>
                <a:gs pos="0">
                  <a:srgbClr val="777777"/>
                </a:gs>
                <a:gs pos="50000">
                  <a:srgbClr val="FFFFFF"/>
                </a:gs>
                <a:gs pos="100000">
                  <a:srgbClr val="777777"/>
                </a:gs>
              </a:gsLst>
              <a:lin ang="0" scaled="1"/>
            </a:gradFill>
            <a:ln w="6350">
              <a:solidFill>
                <a:sysClr val="window" lastClr="FFFFFF">
                  <a:lumMod val="65000"/>
                </a:sysClr>
              </a:solid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가는각진제목체"/>
              </a:endParaRPr>
            </a:p>
          </p:txBody>
        </p:sp>
      </p:grpSp>
      <p:sp>
        <p:nvSpPr>
          <p:cNvPr id="49" name="Rectangle 33">
            <a:extLst>
              <a:ext uri="{FF2B5EF4-FFF2-40B4-BE49-F238E27FC236}">
                <a16:creationId xmlns:a16="http://schemas.microsoft.com/office/drawing/2014/main" id="{DCB7D552-AF88-451C-AFCF-A827EBBACCCD}"/>
              </a:ext>
            </a:extLst>
          </p:cNvPr>
          <p:cNvSpPr>
            <a:spLocks noChangeArrowheads="1"/>
          </p:cNvSpPr>
          <p:nvPr/>
        </p:nvSpPr>
        <p:spPr bwMode="auto">
          <a:xfrm>
            <a:off x="616641" y="1665288"/>
            <a:ext cx="141154" cy="4777766"/>
          </a:xfrm>
          <a:prstGeom prst="rect">
            <a:avLst/>
          </a:prstGeom>
          <a:gradFill rotWithShape="1">
            <a:gsLst>
              <a:gs pos="0">
                <a:sysClr val="window" lastClr="FFFFFF">
                  <a:lumMod val="65000"/>
                </a:sysClr>
              </a:gs>
              <a:gs pos="50000">
                <a:srgbClr val="FFFFFF"/>
              </a:gs>
              <a:gs pos="100000">
                <a:sysClr val="window" lastClr="FFFFFF">
                  <a:lumMod val="75000"/>
                </a:sysClr>
              </a:gs>
            </a:gsLst>
            <a:lin ang="0" scaled="1"/>
          </a:gradFill>
          <a:ln w="6350">
            <a:solidFill>
              <a:sysClr val="window" lastClr="FFFFFF">
                <a:lumMod val="65000"/>
              </a:sysClr>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가는각진제목체"/>
            </a:endParaRPr>
          </a:p>
        </p:txBody>
      </p:sp>
      <p:sp>
        <p:nvSpPr>
          <p:cNvPr id="50" name="AutoShape 93">
            <a:extLst>
              <a:ext uri="{FF2B5EF4-FFF2-40B4-BE49-F238E27FC236}">
                <a16:creationId xmlns:a16="http://schemas.microsoft.com/office/drawing/2014/main" id="{87922A55-5CFD-42C7-9CAF-86040B9DC0FC}"/>
              </a:ext>
            </a:extLst>
          </p:cNvPr>
          <p:cNvSpPr>
            <a:spLocks noChangeArrowheads="1"/>
          </p:cNvSpPr>
          <p:nvPr/>
        </p:nvSpPr>
        <p:spPr bwMode="auto">
          <a:xfrm>
            <a:off x="616642" y="1863426"/>
            <a:ext cx="1026239" cy="330859"/>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51" name="Rectangle 114">
            <a:extLst>
              <a:ext uri="{FF2B5EF4-FFF2-40B4-BE49-F238E27FC236}">
                <a16:creationId xmlns:a16="http://schemas.microsoft.com/office/drawing/2014/main" id="{FDAC5BFD-7291-4F74-AAC5-DA9D7C364461}"/>
              </a:ext>
            </a:extLst>
          </p:cNvPr>
          <p:cNvSpPr>
            <a:spLocks noChangeArrowheads="1"/>
          </p:cNvSpPr>
          <p:nvPr/>
        </p:nvSpPr>
        <p:spPr bwMode="auto">
          <a:xfrm>
            <a:off x="947893" y="1954502"/>
            <a:ext cx="651652" cy="148706"/>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rial Narrow" panose="020B0606020202030204" pitchFamily="34" charset="0"/>
                <a:ea typeface="a고딕14" panose="02020600000000000000" pitchFamily="18" charset="-127"/>
                <a:cs typeface="+mn-cs"/>
              </a:rPr>
              <a:t>추진목표</a:t>
            </a:r>
          </a:p>
        </p:txBody>
      </p:sp>
      <p:sp>
        <p:nvSpPr>
          <p:cNvPr id="52" name="AutoShape 93">
            <a:extLst>
              <a:ext uri="{FF2B5EF4-FFF2-40B4-BE49-F238E27FC236}">
                <a16:creationId xmlns:a16="http://schemas.microsoft.com/office/drawing/2014/main" id="{AF1AA22A-D103-4178-8646-F76F2379FE48}"/>
              </a:ext>
            </a:extLst>
          </p:cNvPr>
          <p:cNvSpPr>
            <a:spLocks noChangeArrowheads="1"/>
          </p:cNvSpPr>
          <p:nvPr/>
        </p:nvSpPr>
        <p:spPr bwMode="auto">
          <a:xfrm>
            <a:off x="616642" y="2818087"/>
            <a:ext cx="1026239" cy="329144"/>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53" name="Rectangle 114">
            <a:extLst>
              <a:ext uri="{FF2B5EF4-FFF2-40B4-BE49-F238E27FC236}">
                <a16:creationId xmlns:a16="http://schemas.microsoft.com/office/drawing/2014/main" id="{B1A24EC2-9C21-4E2E-8BD2-D8F8E5DF6235}"/>
              </a:ext>
            </a:extLst>
          </p:cNvPr>
          <p:cNvSpPr>
            <a:spLocks noChangeArrowheads="1"/>
          </p:cNvSpPr>
          <p:nvPr/>
        </p:nvSpPr>
        <p:spPr bwMode="auto">
          <a:xfrm>
            <a:off x="947893" y="2908306"/>
            <a:ext cx="619438" cy="148706"/>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rial Narrow" panose="020B0606020202030204" pitchFamily="34" charset="0"/>
                <a:ea typeface="a고딕14" panose="02020600000000000000" pitchFamily="18" charset="-127"/>
                <a:cs typeface="+mn-cs"/>
              </a:rPr>
              <a:t>추진범위</a:t>
            </a:r>
          </a:p>
        </p:txBody>
      </p:sp>
      <p:sp>
        <p:nvSpPr>
          <p:cNvPr id="54" name="AutoShape 93">
            <a:extLst>
              <a:ext uri="{FF2B5EF4-FFF2-40B4-BE49-F238E27FC236}">
                <a16:creationId xmlns:a16="http://schemas.microsoft.com/office/drawing/2014/main" id="{FB361C9F-6DFA-4145-A87E-C235D1F32530}"/>
              </a:ext>
            </a:extLst>
          </p:cNvPr>
          <p:cNvSpPr>
            <a:spLocks noChangeArrowheads="1"/>
          </p:cNvSpPr>
          <p:nvPr/>
        </p:nvSpPr>
        <p:spPr bwMode="auto">
          <a:xfrm>
            <a:off x="616642" y="3574731"/>
            <a:ext cx="1026239" cy="329144"/>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55" name="Rectangle 114">
            <a:extLst>
              <a:ext uri="{FF2B5EF4-FFF2-40B4-BE49-F238E27FC236}">
                <a16:creationId xmlns:a16="http://schemas.microsoft.com/office/drawing/2014/main" id="{E104A27B-B326-458C-AD7C-FA2709DC8AB6}"/>
              </a:ext>
            </a:extLst>
          </p:cNvPr>
          <p:cNvSpPr>
            <a:spLocks noChangeArrowheads="1"/>
          </p:cNvSpPr>
          <p:nvPr/>
        </p:nvSpPr>
        <p:spPr bwMode="auto">
          <a:xfrm>
            <a:off x="947893" y="3672293"/>
            <a:ext cx="619438" cy="152349"/>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고딕14"/>
                <a:ea typeface="a고딕14"/>
                <a:cs typeface="+mn-cs"/>
              </a:rPr>
              <a:t>주요내용</a:t>
            </a:r>
          </a:p>
        </p:txBody>
      </p:sp>
      <p:sp>
        <p:nvSpPr>
          <p:cNvPr id="56" name="AutoShape 93">
            <a:extLst>
              <a:ext uri="{FF2B5EF4-FFF2-40B4-BE49-F238E27FC236}">
                <a16:creationId xmlns:a16="http://schemas.microsoft.com/office/drawing/2014/main" id="{975B3163-A4F0-454F-8B1E-7A8EF4E362F8}"/>
              </a:ext>
            </a:extLst>
          </p:cNvPr>
          <p:cNvSpPr>
            <a:spLocks noChangeArrowheads="1"/>
          </p:cNvSpPr>
          <p:nvPr/>
        </p:nvSpPr>
        <p:spPr bwMode="auto">
          <a:xfrm>
            <a:off x="616642" y="5948668"/>
            <a:ext cx="1026239" cy="329144"/>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57" name="Rectangle 114">
            <a:extLst>
              <a:ext uri="{FF2B5EF4-FFF2-40B4-BE49-F238E27FC236}">
                <a16:creationId xmlns:a16="http://schemas.microsoft.com/office/drawing/2014/main" id="{CB8E10DF-B8E7-45C6-B321-A96C02D39118}"/>
              </a:ext>
            </a:extLst>
          </p:cNvPr>
          <p:cNvSpPr>
            <a:spLocks noChangeArrowheads="1"/>
          </p:cNvSpPr>
          <p:nvPr/>
        </p:nvSpPr>
        <p:spPr bwMode="auto">
          <a:xfrm>
            <a:off x="947893" y="6049061"/>
            <a:ext cx="619438" cy="152349"/>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rial Narrow" panose="020B0606020202030204" pitchFamily="34" charset="0"/>
                <a:ea typeface="a고딕14" panose="02020600000000000000" pitchFamily="18" charset="-127"/>
                <a:cs typeface="+mn-cs"/>
              </a:rPr>
              <a:t>과업 배경</a:t>
            </a:r>
          </a:p>
        </p:txBody>
      </p:sp>
      <p:sp>
        <p:nvSpPr>
          <p:cNvPr id="58" name="타원 57">
            <a:extLst>
              <a:ext uri="{FF2B5EF4-FFF2-40B4-BE49-F238E27FC236}">
                <a16:creationId xmlns:a16="http://schemas.microsoft.com/office/drawing/2014/main" id="{BE64ED99-95B3-410E-B26A-59BC4706EC9B}"/>
              </a:ext>
            </a:extLst>
          </p:cNvPr>
          <p:cNvSpPr/>
          <p:nvPr/>
        </p:nvSpPr>
        <p:spPr bwMode="gray">
          <a:xfrm>
            <a:off x="706779" y="1970944"/>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59" name="타원 58">
            <a:extLst>
              <a:ext uri="{FF2B5EF4-FFF2-40B4-BE49-F238E27FC236}">
                <a16:creationId xmlns:a16="http://schemas.microsoft.com/office/drawing/2014/main" id="{357BC5F8-10E5-4EAC-91F3-6B6EDB63575C}"/>
              </a:ext>
            </a:extLst>
          </p:cNvPr>
          <p:cNvSpPr/>
          <p:nvPr/>
        </p:nvSpPr>
        <p:spPr bwMode="gray">
          <a:xfrm>
            <a:off x="706779" y="2924748"/>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0" name="타원 59">
            <a:extLst>
              <a:ext uri="{FF2B5EF4-FFF2-40B4-BE49-F238E27FC236}">
                <a16:creationId xmlns:a16="http://schemas.microsoft.com/office/drawing/2014/main" id="{37E87F0B-866C-443B-B13F-905304FC9244}"/>
              </a:ext>
            </a:extLst>
          </p:cNvPr>
          <p:cNvSpPr/>
          <p:nvPr/>
        </p:nvSpPr>
        <p:spPr bwMode="gray">
          <a:xfrm>
            <a:off x="706779" y="3675881"/>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고딕14"/>
              <a:ea typeface="a고딕14"/>
              <a:cs typeface="+mn-cs"/>
            </a:endParaRPr>
          </a:p>
        </p:txBody>
      </p:sp>
      <p:sp>
        <p:nvSpPr>
          <p:cNvPr id="61" name="타원 60">
            <a:extLst>
              <a:ext uri="{FF2B5EF4-FFF2-40B4-BE49-F238E27FC236}">
                <a16:creationId xmlns:a16="http://schemas.microsoft.com/office/drawing/2014/main" id="{F77F89A4-B11D-49EA-807D-48FB9F54D19A}"/>
              </a:ext>
            </a:extLst>
          </p:cNvPr>
          <p:cNvSpPr/>
          <p:nvPr/>
        </p:nvSpPr>
        <p:spPr bwMode="gray">
          <a:xfrm>
            <a:off x="706779" y="6054798"/>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62" name="그룹 156">
            <a:extLst>
              <a:ext uri="{FF2B5EF4-FFF2-40B4-BE49-F238E27FC236}">
                <a16:creationId xmlns:a16="http://schemas.microsoft.com/office/drawing/2014/main" id="{D0E64B47-BD97-4546-8595-903087CFC221}"/>
              </a:ext>
            </a:extLst>
          </p:cNvPr>
          <p:cNvGrpSpPr>
            <a:grpSpLocks/>
          </p:cNvGrpSpPr>
          <p:nvPr/>
        </p:nvGrpSpPr>
        <p:grpSpPr bwMode="auto">
          <a:xfrm rot="10800000">
            <a:off x="535666" y="1655792"/>
            <a:ext cx="312556" cy="45016"/>
            <a:chOff x="255588" y="8324571"/>
            <a:chExt cx="192103" cy="44350"/>
          </a:xfrm>
        </p:grpSpPr>
        <p:sp>
          <p:nvSpPr>
            <p:cNvPr id="63" name="Rectangle 31">
              <a:extLst>
                <a:ext uri="{FF2B5EF4-FFF2-40B4-BE49-F238E27FC236}">
                  <a16:creationId xmlns:a16="http://schemas.microsoft.com/office/drawing/2014/main" id="{5E02481C-B2CC-4AD8-947C-079BD5879A44}"/>
                </a:ext>
              </a:extLst>
            </p:cNvPr>
            <p:cNvSpPr>
              <a:spLocks noChangeArrowheads="1"/>
            </p:cNvSpPr>
            <p:nvPr/>
          </p:nvSpPr>
          <p:spPr bwMode="auto">
            <a:xfrm flipV="1">
              <a:off x="274179" y="8325009"/>
              <a:ext cx="154922" cy="25333"/>
            </a:xfrm>
            <a:prstGeom prst="rect">
              <a:avLst/>
            </a:prstGeom>
            <a:gradFill rotWithShape="1">
              <a:gsLst>
                <a:gs pos="0">
                  <a:srgbClr val="808080"/>
                </a:gs>
                <a:gs pos="100000">
                  <a:srgbClr val="FFFFFF"/>
                </a:gs>
              </a:gsLst>
              <a:lin ang="5400000" scaled="1"/>
            </a:gradFill>
            <a:ln w="9525">
              <a:no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64" name="Rectangle 32">
              <a:extLst>
                <a:ext uri="{FF2B5EF4-FFF2-40B4-BE49-F238E27FC236}">
                  <a16:creationId xmlns:a16="http://schemas.microsoft.com/office/drawing/2014/main" id="{CEB71D71-0AFA-40FD-8170-0BA0C4115323}"/>
                </a:ext>
              </a:extLst>
            </p:cNvPr>
            <p:cNvSpPr>
              <a:spLocks noChangeArrowheads="1"/>
            </p:cNvSpPr>
            <p:nvPr/>
          </p:nvSpPr>
          <p:spPr bwMode="auto">
            <a:xfrm flipV="1">
              <a:off x="255588" y="8352032"/>
              <a:ext cx="192103" cy="16889"/>
            </a:xfrm>
            <a:prstGeom prst="rect">
              <a:avLst/>
            </a:prstGeom>
            <a:gradFill rotWithShape="1">
              <a:gsLst>
                <a:gs pos="0">
                  <a:srgbClr val="777777"/>
                </a:gs>
                <a:gs pos="50000">
                  <a:srgbClr val="FFFFFF"/>
                </a:gs>
                <a:gs pos="100000">
                  <a:srgbClr val="777777"/>
                </a:gs>
              </a:gsLst>
              <a:lin ang="0" scaled="1"/>
            </a:gradFill>
            <a:ln w="6350">
              <a:solidFill>
                <a:sysClr val="window" lastClr="FFFFFF">
                  <a:lumMod val="65000"/>
                </a:sysClr>
              </a:solid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가는각진제목체"/>
              </a:endParaRPr>
            </a:p>
          </p:txBody>
        </p:sp>
      </p:grpSp>
      <p:sp>
        <p:nvSpPr>
          <p:cNvPr id="6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892660" y="252749"/>
            <a:ext cx="6156683" cy="331935"/>
          </a:xfrm>
          <a:noFill/>
        </p:spPr>
        <p:txBody>
          <a:bodyPr vert="horz" wrap="none" lIns="72000" tIns="0" rIns="0" bIns="0" rtlCol="0" anchor="ctr">
            <a:noAutofit/>
          </a:bodyPr>
          <a:lstStyle/>
          <a:p>
            <a:pPr latinLnBrk="0"/>
            <a:r>
              <a:rPr lang="en-US" altLang="ko-KR" dirty="0">
                <a:latin typeface="a고딕14" panose="02020600000000000000" pitchFamily="18" charset="-127"/>
              </a:rPr>
              <a:t>Q. </a:t>
            </a:r>
            <a:r>
              <a:rPr lang="ko-KR" altLang="en-US" dirty="0"/>
              <a:t>본 </a:t>
            </a:r>
            <a:r>
              <a:rPr lang="en-US" altLang="ko-KR" dirty="0"/>
              <a:t>PJT</a:t>
            </a:r>
            <a:r>
              <a:rPr lang="ko-KR" altLang="en-US" dirty="0"/>
              <a:t>를 통해 </a:t>
            </a:r>
            <a:r>
              <a:rPr lang="ko-KR" altLang="en-US" dirty="0" err="1"/>
              <a:t>한기대가</a:t>
            </a:r>
            <a:r>
              <a:rPr lang="ko-KR" altLang="en-US" dirty="0"/>
              <a:t> 얻고자 하는 산출물의 방향과 세부 목표는 무엇인가</a:t>
            </a:r>
            <a:r>
              <a:rPr lang="en-US" altLang="ko-KR" dirty="0"/>
              <a:t>?</a:t>
            </a:r>
          </a:p>
        </p:txBody>
      </p:sp>
      <p:sp>
        <p:nvSpPr>
          <p:cNvPr id="66" name="직사각형 6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7" name="직사각형 66"/>
          <p:cNvSpPr/>
          <p:nvPr/>
        </p:nvSpPr>
        <p:spPr>
          <a:xfrm>
            <a:off x="739775" y="257475"/>
            <a:ext cx="1152885"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rial Narrow" panose="020B0606020202030204" pitchFamily="34" charset="0"/>
                <a:ea typeface="a고딕14" panose="02020600000000000000" pitchFamily="18" charset="-127"/>
              </a:rPr>
              <a:t>추진 목적 및 범위</a:t>
            </a:r>
          </a:p>
        </p:txBody>
      </p:sp>
    </p:spTree>
    <p:extLst>
      <p:ext uri="{BB962C8B-B14F-4D97-AF65-F5344CB8AC3E}">
        <p14:creationId xmlns:p14="http://schemas.microsoft.com/office/powerpoint/2010/main" val="269495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a:t>
            </a:r>
            <a:r>
              <a:rPr lang="en-US" altLang="ko-KR" dirty="0"/>
              <a:t>‘23</a:t>
            </a:r>
            <a:r>
              <a:rPr lang="ko-KR" altLang="en-US" dirty="0"/>
              <a:t>년</a:t>
            </a:r>
            <a:r>
              <a:rPr lang="en-US" altLang="ko-KR" dirty="0"/>
              <a:t>, ‘24</a:t>
            </a:r>
            <a:r>
              <a:rPr lang="ko-KR" altLang="en-US" dirty="0"/>
              <a:t>년 </a:t>
            </a:r>
            <a:r>
              <a:rPr lang="ko-KR" altLang="en-US" dirty="0" err="1"/>
              <a:t>기술교육로드맵</a:t>
            </a:r>
            <a:r>
              <a:rPr lang="ko-KR" altLang="en-US" dirty="0"/>
              <a:t> 개발 및 신규 과정 선정 용역을 수행한 경험과 </a:t>
            </a:r>
            <a:r>
              <a:rPr lang="ko-KR" altLang="en-US" dirty="0">
                <a:solidFill>
                  <a:srgbClr val="0070C0"/>
                </a:solidFill>
              </a:rPr>
              <a:t>다수의 수요조사 및 교육과정 개발 용역 수행 경험</a:t>
            </a:r>
            <a:r>
              <a:rPr lang="ko-KR" altLang="en-US" dirty="0"/>
              <a:t>을 바탕으로 전문성 높은 산출물을 제공할 수 있음</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err="1">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2. </a:t>
            </a:r>
            <a:r>
              <a:rPr lang="ko-KR" altLang="en-US" dirty="0">
                <a:latin typeface="+mn-ea"/>
              </a:rPr>
              <a:t>제안의 특장점</a:t>
            </a:r>
          </a:p>
        </p:txBody>
      </p:sp>
      <p:sp>
        <p:nvSpPr>
          <p:cNvPr id="69" name="직사각형 68"/>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1" name="텍스트 개체 틀 20"/>
          <p:cNvSpPr>
            <a:spLocks noGrp="1"/>
          </p:cNvSpPr>
          <p:nvPr>
            <p:ph type="body" sz="quarter" idx="15"/>
          </p:nvPr>
        </p:nvSpPr>
        <p:spPr/>
        <p:txBody>
          <a:bodyPr/>
          <a:lstStyle/>
          <a:p>
            <a:pPr latinLnBrk="0"/>
            <a:r>
              <a:rPr lang="en-US" altLang="ko-KR" dirty="0"/>
              <a:t>[CSF1] </a:t>
            </a:r>
            <a:r>
              <a:rPr lang="ko-KR" altLang="en-US" dirty="0"/>
              <a:t>조사 연구용역에 대한 높은 전문성 보유</a:t>
            </a:r>
            <a:endParaRPr lang="en-US" altLang="ko-KR" dirty="0"/>
          </a:p>
        </p:txBody>
      </p:sp>
      <p:sp>
        <p:nvSpPr>
          <p:cNvPr id="115" name="텍스트 개체 틀 5">
            <a:extLst>
              <a:ext uri="{FF2B5EF4-FFF2-40B4-BE49-F238E27FC236}">
                <a16:creationId xmlns:a16="http://schemas.microsoft.com/office/drawing/2014/main" id="{104314F5-5814-404E-941E-1D21123D3801}"/>
              </a:ext>
            </a:extLst>
          </p:cNvPr>
          <p:cNvSpPr>
            <a:spLocks noGrp="1"/>
          </p:cNvSpPr>
          <p:nvPr>
            <p:ph type="body" sz="quarter" idx="14"/>
          </p:nvPr>
        </p:nvSpPr>
        <p:spPr>
          <a:xfrm>
            <a:off x="596516" y="1614634"/>
            <a:ext cx="7092788" cy="331935"/>
          </a:xfrm>
        </p:spPr>
        <p:txBody>
          <a:bodyPr/>
          <a:lstStyle/>
          <a:p>
            <a:pPr latinLnBrk="0">
              <a:lnSpc>
                <a:spcPct val="90000"/>
              </a:lnSpc>
              <a:spcBef>
                <a:spcPts val="400"/>
              </a:spcBef>
              <a:buSzPct val="100000"/>
              <a:defRPr/>
            </a:pPr>
            <a:r>
              <a:rPr lang="ko-KR" altLang="en-US" kern="0" dirty="0">
                <a:cs typeface="Arial Narrow" pitchFamily="34" charset="0"/>
              </a:rPr>
              <a:t>다수의 유사용역 수행실적 보유</a:t>
            </a:r>
            <a:endParaRPr lang="en-US" altLang="ko-KR" kern="0" dirty="0">
              <a:cs typeface="Arial Narrow" pitchFamily="34" charset="0"/>
            </a:endParaRPr>
          </a:p>
        </p:txBody>
      </p:sp>
      <p:cxnSp>
        <p:nvCxnSpPr>
          <p:cNvPr id="118" name="Horizontal Line">
            <a:extLst>
              <a:ext uri="{FF2B5EF4-FFF2-40B4-BE49-F238E27FC236}">
                <a16:creationId xmlns:a16="http://schemas.microsoft.com/office/drawing/2014/main" id="{39B44751-FA0D-47D5-9EAC-3ECA135B1D02}"/>
              </a:ext>
            </a:extLst>
          </p:cNvPr>
          <p:cNvCxnSpPr/>
          <p:nvPr/>
        </p:nvCxnSpPr>
        <p:spPr>
          <a:xfrm>
            <a:off x="596653" y="1952836"/>
            <a:ext cx="8748959" cy="0"/>
          </a:xfrm>
          <a:prstGeom prst="line">
            <a:avLst/>
          </a:prstGeom>
          <a:noFill/>
          <a:ln w="22225" cap="flat" cmpd="sng" algn="ctr">
            <a:solidFill>
              <a:srgbClr val="003F56"/>
            </a:solidFill>
            <a:prstDash val="solid"/>
          </a:ln>
          <a:effectLst/>
        </p:spPr>
      </p:cxnSp>
      <p:sp>
        <p:nvSpPr>
          <p:cNvPr id="53" name="Text Box 4"/>
          <p:cNvSpPr txBox="1">
            <a:spLocks noChangeArrowheads="1"/>
          </p:cNvSpPr>
          <p:nvPr/>
        </p:nvSpPr>
        <p:spPr bwMode="auto">
          <a:xfrm>
            <a:off x="6666202" y="2036397"/>
            <a:ext cx="1328113"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기관</a:t>
            </a:r>
            <a:r>
              <a:rPr kumimoji="1" lang="en-US" altLang="ko-KR"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a:t>
            </a:r>
            <a:r>
              <a:rPr kumimoji="1" lang="ko-KR" altLang="en-US" sz="1050" u="sng" kern="0" spc="-40" dirty="0" err="1">
                <a:solidFill>
                  <a:prstClr val="black"/>
                </a:solidFill>
                <a:latin typeface="a고딕14" panose="02020600000000000000" pitchFamily="18" charset="-127"/>
                <a:ea typeface="a고딕14" panose="02020600000000000000" pitchFamily="18" charset="-127"/>
                <a:sym typeface="Wingdings 2" panose="05020102010507070707" pitchFamily="18" charset="2"/>
              </a:rPr>
              <a:t>과업명</a:t>
            </a:r>
            <a:endPar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endParaRPr>
          </a:p>
        </p:txBody>
      </p:sp>
      <p:sp>
        <p:nvSpPr>
          <p:cNvPr id="54" name="Text Box 4"/>
          <p:cNvSpPr txBox="1">
            <a:spLocks noChangeArrowheads="1"/>
          </p:cNvSpPr>
          <p:nvPr/>
        </p:nvSpPr>
        <p:spPr bwMode="auto">
          <a:xfrm>
            <a:off x="7994315" y="2036397"/>
            <a:ext cx="1351298"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err="1">
                <a:solidFill>
                  <a:prstClr val="black"/>
                </a:solidFill>
                <a:latin typeface="a고딕14" panose="02020600000000000000" pitchFamily="18" charset="-127"/>
                <a:ea typeface="a고딕14" panose="02020600000000000000" pitchFamily="18" charset="-127"/>
                <a:sym typeface="Wingdings 2" panose="05020102010507070707" pitchFamily="18" charset="2"/>
              </a:rPr>
              <a:t>수행내용</a:t>
            </a:r>
            <a:endPar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endParaRPr>
          </a:p>
        </p:txBody>
      </p:sp>
      <p:sp>
        <p:nvSpPr>
          <p:cNvPr id="55" name="Rectangle 34"/>
          <p:cNvSpPr>
            <a:spLocks noChangeArrowheads="1"/>
          </p:cNvSpPr>
          <p:nvPr/>
        </p:nvSpPr>
        <p:spPr bwMode="auto">
          <a:xfrm>
            <a:off x="7994314" y="2334070"/>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대내외 환경분석 및 수요조사</a:t>
            </a: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혁신지원사업 통한 현장중심 교육과정 개발</a:t>
            </a:r>
            <a:r>
              <a:rPr kumimoji="1" lang="en-US" altLang="ko-KR" sz="900" kern="0" dirty="0">
                <a:solidFill>
                  <a:schemeClr val="bg1"/>
                </a:solidFill>
                <a:latin typeface="Arial Narrow" panose="020B0606020202030204" pitchFamily="34" charset="0"/>
                <a:ea typeface="a고딕14" panose="02020600000000000000" pitchFamily="18" charset="-127"/>
              </a:rPr>
              <a:t>, </a:t>
            </a:r>
            <a:r>
              <a:rPr kumimoji="1" lang="ko-KR" altLang="en-US" sz="900" kern="0" dirty="0">
                <a:solidFill>
                  <a:schemeClr val="bg1"/>
                </a:solidFill>
                <a:latin typeface="Arial Narrow" panose="020B0606020202030204" pitchFamily="34" charset="0"/>
                <a:ea typeface="a고딕14" panose="02020600000000000000" pitchFamily="18" charset="-127"/>
              </a:rPr>
              <a:t>성인학습자 대상 교양교과목</a:t>
            </a:r>
            <a:r>
              <a:rPr kumimoji="1" lang="en-US" altLang="ko-KR" sz="900" kern="0" dirty="0">
                <a:solidFill>
                  <a:schemeClr val="bg1"/>
                </a:solidFill>
                <a:latin typeface="Arial Narrow" panose="020B0606020202030204" pitchFamily="34" charset="0"/>
                <a:ea typeface="a고딕14" panose="02020600000000000000" pitchFamily="18" charset="-127"/>
              </a:rPr>
              <a:t>, </a:t>
            </a:r>
            <a:r>
              <a:rPr kumimoji="1" lang="ko-KR" altLang="en-US" sz="900" kern="0" dirty="0">
                <a:solidFill>
                  <a:schemeClr val="bg1"/>
                </a:solidFill>
                <a:latin typeface="Arial Narrow" panose="020B0606020202030204" pitchFamily="34" charset="0"/>
                <a:ea typeface="a고딕14" panose="02020600000000000000" pitchFamily="18" charset="-127"/>
              </a:rPr>
              <a:t>융</a:t>
            </a:r>
            <a:r>
              <a:rPr kumimoji="1" lang="en-US" altLang="ko-KR" sz="900" kern="0" dirty="0">
                <a:solidFill>
                  <a:schemeClr val="bg1"/>
                </a:solidFill>
                <a:latin typeface="Arial Narrow" panose="020B0606020202030204" pitchFamily="34" charset="0"/>
                <a:ea typeface="a고딕14" panose="02020600000000000000" pitchFamily="18" charset="-127"/>
              </a:rPr>
              <a:t>·</a:t>
            </a:r>
            <a:r>
              <a:rPr kumimoji="1" lang="ko-KR" altLang="en-US" sz="900" kern="0" dirty="0">
                <a:solidFill>
                  <a:schemeClr val="bg1"/>
                </a:solidFill>
                <a:latin typeface="Arial Narrow" panose="020B0606020202030204" pitchFamily="34" charset="0"/>
                <a:ea typeface="a고딕14" panose="02020600000000000000" pitchFamily="18" charset="-127"/>
              </a:rPr>
              <a:t>복합 교육과정 개발</a:t>
            </a:r>
          </a:p>
        </p:txBody>
      </p:sp>
      <p:sp>
        <p:nvSpPr>
          <p:cNvPr id="56" name="Rectangle 32"/>
          <p:cNvSpPr>
            <a:spLocks noChangeArrowheads="1"/>
          </p:cNvSpPr>
          <p:nvPr/>
        </p:nvSpPr>
        <p:spPr bwMode="auto">
          <a:xfrm>
            <a:off x="6653781" y="2334072"/>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57" name="Rectangle 34"/>
          <p:cNvSpPr>
            <a:spLocks noChangeArrowheads="1"/>
          </p:cNvSpPr>
          <p:nvPr/>
        </p:nvSpPr>
        <p:spPr bwMode="auto">
          <a:xfrm>
            <a:off x="7994314" y="3403702"/>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a:solidFill>
                  <a:schemeClr val="bg1"/>
                </a:solidFill>
                <a:latin typeface="Arial Narrow" panose="020B0606020202030204" pitchFamily="34" charset="0"/>
                <a:ea typeface="a고딕14" panose="02020600000000000000" pitchFamily="18" charset="-127"/>
              </a:rPr>
              <a:t>학과별 현황분석 </a:t>
            </a:r>
            <a:endParaRPr kumimoji="1" lang="en-US" altLang="ko-KR" sz="900" kern="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a:solidFill>
                  <a:schemeClr val="bg1"/>
                </a:solidFill>
                <a:latin typeface="Arial Narrow" panose="020B0606020202030204" pitchFamily="34" charset="0"/>
                <a:ea typeface="a고딕14" panose="02020600000000000000" pitchFamily="18" charset="-127"/>
              </a:rPr>
              <a:t>학과별 인재상 설정</a:t>
            </a:r>
            <a:endParaRPr kumimoji="1" lang="en-US" altLang="ko-KR" sz="900" kern="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a:solidFill>
                  <a:schemeClr val="bg1"/>
                </a:solidFill>
                <a:latin typeface="Arial Narrow" panose="020B0606020202030204" pitchFamily="34" charset="0"/>
                <a:ea typeface="a고딕14" panose="02020600000000000000" pitchFamily="18" charset="-127"/>
              </a:rPr>
              <a:t>학과별 </a:t>
            </a:r>
            <a:r>
              <a:rPr kumimoji="1" lang="ko-KR" altLang="en-US" sz="900" kern="0" dirty="0">
                <a:solidFill>
                  <a:schemeClr val="bg1"/>
                </a:solidFill>
                <a:latin typeface="Arial Narrow" panose="020B0606020202030204" pitchFamily="34" charset="0"/>
                <a:ea typeface="a고딕14" panose="02020600000000000000" pitchFamily="18" charset="-127"/>
              </a:rPr>
              <a:t>직무 </a:t>
            </a:r>
            <a:r>
              <a:rPr kumimoji="1" lang="ko-KR" altLang="en-US" sz="900" kern="0" dirty="0" err="1">
                <a:solidFill>
                  <a:schemeClr val="bg1"/>
                </a:solidFill>
                <a:latin typeface="Arial Narrow" panose="020B0606020202030204" pitchFamily="34" charset="0"/>
                <a:ea typeface="a고딕14" panose="02020600000000000000" pitchFamily="18" charset="-127"/>
              </a:rPr>
              <a:t>재분류</a:t>
            </a:r>
            <a:endParaRPr kumimoji="1" lang="en-US" altLang="ko-KR" sz="900" kern="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학과별 역량모델 구축</a:t>
            </a:r>
            <a:endParaRPr kumimoji="1" lang="en-US" altLang="ko-KR" sz="900" kern="0" dirty="0">
              <a:solidFill>
                <a:schemeClr val="bg1"/>
              </a:solidFill>
              <a:latin typeface="Arial Narrow" panose="020B0606020202030204" pitchFamily="34" charset="0"/>
              <a:ea typeface="a고딕14" panose="02020600000000000000" pitchFamily="18" charset="-127"/>
            </a:endParaRPr>
          </a:p>
        </p:txBody>
      </p:sp>
      <p:sp>
        <p:nvSpPr>
          <p:cNvPr id="58" name="Rectangle 32"/>
          <p:cNvSpPr>
            <a:spLocks noChangeArrowheads="1"/>
          </p:cNvSpPr>
          <p:nvPr/>
        </p:nvSpPr>
        <p:spPr bwMode="auto">
          <a:xfrm>
            <a:off x="6653781" y="3403704"/>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59" name="Rectangle 34"/>
          <p:cNvSpPr>
            <a:spLocks noChangeArrowheads="1"/>
          </p:cNvSpPr>
          <p:nvPr/>
        </p:nvSpPr>
        <p:spPr bwMode="auto">
          <a:xfrm>
            <a:off x="7994314" y="4469071"/>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복지시설 이용자 문화예술교육 지원사업 사업 만족도 수준 측정</a:t>
            </a:r>
            <a:endParaRPr kumimoji="1" lang="en-US" altLang="ko-KR" sz="900" kern="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만족도 조사</a:t>
            </a:r>
            <a:r>
              <a:rPr kumimoji="1" lang="en-US" altLang="ko-KR" sz="900" kern="0" dirty="0">
                <a:solidFill>
                  <a:schemeClr val="bg1"/>
                </a:solidFill>
                <a:latin typeface="Arial Narrow" panose="020B0606020202030204" pitchFamily="34" charset="0"/>
                <a:ea typeface="a고딕14" panose="02020600000000000000" pitchFamily="18" charset="-127"/>
              </a:rPr>
              <a:t>·</a:t>
            </a:r>
            <a:r>
              <a:rPr kumimoji="1" lang="ko-KR" altLang="en-US" sz="900" kern="0" dirty="0">
                <a:solidFill>
                  <a:schemeClr val="bg1"/>
                </a:solidFill>
                <a:latin typeface="Arial Narrow" panose="020B0606020202030204" pitchFamily="34" charset="0"/>
                <a:ea typeface="a고딕14" panose="02020600000000000000" pitchFamily="18" charset="-127"/>
              </a:rPr>
              <a:t>결과 분석을 통해 개선방안 도출</a:t>
            </a:r>
            <a:endParaRPr kumimoji="1" lang="en-US" altLang="ko-KR" sz="900" kern="0" dirty="0">
              <a:solidFill>
                <a:schemeClr val="bg1"/>
              </a:solidFill>
              <a:latin typeface="Arial Narrow" panose="020B0606020202030204" pitchFamily="34" charset="0"/>
              <a:ea typeface="a고딕14" panose="02020600000000000000" pitchFamily="18" charset="-127"/>
            </a:endParaRPr>
          </a:p>
        </p:txBody>
      </p:sp>
      <p:sp>
        <p:nvSpPr>
          <p:cNvPr id="60" name="Rectangle 32"/>
          <p:cNvSpPr>
            <a:spLocks noChangeArrowheads="1"/>
          </p:cNvSpPr>
          <p:nvPr/>
        </p:nvSpPr>
        <p:spPr bwMode="auto">
          <a:xfrm>
            <a:off x="6653781" y="4469073"/>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61" name="Rectangle 34"/>
          <p:cNvSpPr>
            <a:spLocks noChangeArrowheads="1"/>
          </p:cNvSpPr>
          <p:nvPr/>
        </p:nvSpPr>
        <p:spPr bwMode="auto">
          <a:xfrm>
            <a:off x="7994314" y="5520947"/>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spc="-50" dirty="0">
                <a:solidFill>
                  <a:schemeClr val="bg1"/>
                </a:solidFill>
                <a:latin typeface="Arial Narrow" panose="020B0606020202030204" pitchFamily="34" charset="0"/>
                <a:ea typeface="a고딕14" panose="02020600000000000000" pitchFamily="18" charset="-127"/>
              </a:rPr>
              <a:t>교육 수요자 만족도 조사 실시</a:t>
            </a:r>
            <a:endParaRPr kumimoji="1" lang="en-US" altLang="ko-KR" sz="900" kern="0" spc="-5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spc="-50" dirty="0" err="1">
                <a:solidFill>
                  <a:schemeClr val="bg1"/>
                </a:solidFill>
                <a:latin typeface="Arial Narrow" panose="020B0606020202030204" pitchFamily="34" charset="0"/>
                <a:ea typeface="a고딕14" panose="02020600000000000000" pitchFamily="18" charset="-127"/>
              </a:rPr>
              <a:t>교욱</a:t>
            </a:r>
            <a:r>
              <a:rPr kumimoji="1" lang="ko-KR" altLang="en-US" sz="900" kern="0" spc="-50" dirty="0">
                <a:solidFill>
                  <a:schemeClr val="bg1"/>
                </a:solidFill>
                <a:latin typeface="Arial Narrow" panose="020B0606020202030204" pitchFamily="34" charset="0"/>
                <a:ea typeface="a고딕14" panose="02020600000000000000" pitchFamily="18" charset="-127"/>
              </a:rPr>
              <a:t> 만족도 분석</a:t>
            </a:r>
            <a:endParaRPr kumimoji="1" lang="en-US" altLang="ko-KR" sz="900" kern="0" spc="-5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spc="-50" dirty="0">
                <a:solidFill>
                  <a:schemeClr val="bg1"/>
                </a:solidFill>
                <a:latin typeface="Arial Narrow" panose="020B0606020202030204" pitchFamily="34" charset="0"/>
                <a:ea typeface="a고딕14" panose="02020600000000000000" pitchFamily="18" charset="-127"/>
              </a:rPr>
              <a:t>교육프로그램 성과관리 방안 마련</a:t>
            </a:r>
          </a:p>
        </p:txBody>
      </p:sp>
      <p:sp>
        <p:nvSpPr>
          <p:cNvPr id="62" name="Rectangle 32"/>
          <p:cNvSpPr>
            <a:spLocks noChangeArrowheads="1"/>
          </p:cNvSpPr>
          <p:nvPr/>
        </p:nvSpPr>
        <p:spPr bwMode="auto">
          <a:xfrm>
            <a:off x="6653781" y="5520949"/>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63" name="직사각형 62"/>
          <p:cNvSpPr/>
          <p:nvPr/>
        </p:nvSpPr>
        <p:spPr>
          <a:xfrm>
            <a:off x="6637850" y="2780373"/>
            <a:ext cx="1340534" cy="461665"/>
          </a:xfrm>
          <a:prstGeom prst="rect">
            <a:avLst/>
          </a:prstGeom>
        </p:spPr>
        <p:txBody>
          <a:bodyPr wrap="square" lIns="36000" tIns="0" rIns="36000" bIns="0">
            <a:spAutoFit/>
          </a:bodyPr>
          <a:lstStyle/>
          <a:p>
            <a:pPr fontAlgn="ctr" latinLnBrk="0">
              <a:buNone/>
            </a:pPr>
            <a:r>
              <a:rPr lang="ko-KR" altLang="en-US" sz="1000" dirty="0">
                <a:solidFill>
                  <a:srgbClr val="000000"/>
                </a:solidFill>
                <a:latin typeface="Arial Narrow" panose="020B0606020202030204" pitchFamily="34" charset="0"/>
                <a:ea typeface="a고딕14" panose="02020600000000000000" pitchFamily="18" charset="-127"/>
              </a:rPr>
              <a:t>혁신지원사업 현장중심 교육과정 등 개발</a:t>
            </a:r>
            <a:r>
              <a:rPr lang="en-US" altLang="ko-KR" sz="1000" dirty="0">
                <a:solidFill>
                  <a:srgbClr val="000000"/>
                </a:solidFill>
                <a:latin typeface="Arial Narrow" panose="020B0606020202030204" pitchFamily="34" charset="0"/>
                <a:ea typeface="a고딕14" panose="02020600000000000000" pitchFamily="18" charset="-127"/>
              </a:rPr>
              <a:t>(</a:t>
            </a:r>
            <a:r>
              <a:rPr lang="ko-KR" altLang="en-US" sz="1000" dirty="0">
                <a:solidFill>
                  <a:srgbClr val="000000"/>
                </a:solidFill>
                <a:latin typeface="Arial Narrow" panose="020B0606020202030204" pitchFamily="34" charset="0"/>
                <a:ea typeface="a고딕14" panose="02020600000000000000" pitchFamily="18" charset="-127"/>
              </a:rPr>
              <a:t>개편</a:t>
            </a:r>
            <a:r>
              <a:rPr lang="en-US" altLang="ko-KR" sz="1000" dirty="0">
                <a:solidFill>
                  <a:srgbClr val="000000"/>
                </a:solidFill>
                <a:latin typeface="Arial Narrow" panose="020B0606020202030204" pitchFamily="34" charset="0"/>
                <a:ea typeface="a고딕14" panose="02020600000000000000" pitchFamily="18" charset="-127"/>
              </a:rPr>
              <a:t>) </a:t>
            </a:r>
            <a:r>
              <a:rPr lang="ko-KR" altLang="en-US" sz="1000" dirty="0">
                <a:solidFill>
                  <a:srgbClr val="000000"/>
                </a:solidFill>
                <a:latin typeface="Arial Narrow" panose="020B0606020202030204" pitchFamily="34" charset="0"/>
                <a:ea typeface="a고딕14" panose="02020600000000000000" pitchFamily="18" charset="-127"/>
              </a:rPr>
              <a:t>지원</a:t>
            </a:r>
          </a:p>
        </p:txBody>
      </p:sp>
      <p:sp>
        <p:nvSpPr>
          <p:cNvPr id="64" name="직사각형 63"/>
          <p:cNvSpPr/>
          <p:nvPr/>
        </p:nvSpPr>
        <p:spPr>
          <a:xfrm>
            <a:off x="6637850" y="3950812"/>
            <a:ext cx="1340534" cy="307777"/>
          </a:xfrm>
          <a:prstGeom prst="rect">
            <a:avLst/>
          </a:prstGeom>
        </p:spPr>
        <p:txBody>
          <a:bodyPr wrap="square" lIns="0" tIns="0" rIns="0" bIns="0">
            <a:spAutoFit/>
          </a:bodyPr>
          <a:lstStyle/>
          <a:p>
            <a:pPr fontAlgn="ctr" latinLnBrk="0">
              <a:buNone/>
            </a:pPr>
            <a:r>
              <a:rPr lang="ko-KR" altLang="en-US" sz="1000" dirty="0">
                <a:latin typeface="Arial Narrow" panose="020B0606020202030204" pitchFamily="34" charset="0"/>
                <a:ea typeface="a고딕14" panose="02020600000000000000" pitchFamily="18" charset="-127"/>
              </a:rPr>
              <a:t>대전대학교 학과별 </a:t>
            </a:r>
            <a:r>
              <a:rPr lang="ko-KR" altLang="en-US" sz="1000" dirty="0" err="1">
                <a:latin typeface="Arial Narrow" panose="020B0606020202030204" pitchFamily="34" charset="0"/>
                <a:ea typeface="a고딕14" panose="02020600000000000000" pitchFamily="18" charset="-127"/>
              </a:rPr>
              <a:t>역량모델링</a:t>
            </a:r>
            <a:endParaRPr lang="ko-KR" altLang="en-US" sz="1000" dirty="0">
              <a:latin typeface="Arial Narrow" panose="020B0606020202030204" pitchFamily="34" charset="0"/>
              <a:ea typeface="a고딕14" panose="02020600000000000000" pitchFamily="18" charset="-127"/>
            </a:endParaRPr>
          </a:p>
        </p:txBody>
      </p:sp>
      <p:sp>
        <p:nvSpPr>
          <p:cNvPr id="65" name="직사각형 64"/>
          <p:cNvSpPr/>
          <p:nvPr/>
        </p:nvSpPr>
        <p:spPr>
          <a:xfrm>
            <a:off x="6637850" y="4797152"/>
            <a:ext cx="1340534" cy="615553"/>
          </a:xfrm>
          <a:prstGeom prst="rect">
            <a:avLst/>
          </a:prstGeom>
        </p:spPr>
        <p:txBody>
          <a:bodyPr wrap="square" lIns="0" tIns="0" rIns="0" bIns="0">
            <a:spAutoFit/>
          </a:bodyPr>
          <a:lstStyle/>
          <a:p>
            <a:pPr fontAlgn="ctr" latinLnBrk="0">
              <a:buNone/>
            </a:pPr>
            <a:r>
              <a:rPr lang="ko-KR" altLang="en-US" sz="1000" dirty="0">
                <a:solidFill>
                  <a:srgbClr val="000000"/>
                </a:solidFill>
                <a:latin typeface="Arial Narrow" panose="020B0606020202030204" pitchFamily="34" charset="0"/>
                <a:ea typeface="a고딕14" panose="02020600000000000000" pitchFamily="18" charset="-127"/>
              </a:rPr>
              <a:t>복지시설 이용자 문화예술교육 지원사업 만족도조사 및 협조도 평가 결과 산출 용역</a:t>
            </a:r>
          </a:p>
        </p:txBody>
      </p:sp>
      <p:sp>
        <p:nvSpPr>
          <p:cNvPr id="66" name="직사각형 65"/>
          <p:cNvSpPr/>
          <p:nvPr/>
        </p:nvSpPr>
        <p:spPr>
          <a:xfrm>
            <a:off x="6637850" y="5965539"/>
            <a:ext cx="1340534" cy="307777"/>
          </a:xfrm>
          <a:prstGeom prst="rect">
            <a:avLst/>
          </a:prstGeom>
        </p:spPr>
        <p:txBody>
          <a:bodyPr wrap="square" lIns="0" tIns="0" rIns="0" bIns="0">
            <a:spAutoFit/>
          </a:bodyPr>
          <a:lstStyle/>
          <a:p>
            <a:pPr fontAlgn="ctr" latinLnBrk="0">
              <a:buNone/>
            </a:pPr>
            <a:r>
              <a:rPr lang="en-US" altLang="ko-KR" sz="1000" dirty="0">
                <a:latin typeface="Arial Narrow" panose="020B0606020202030204" pitchFamily="34" charset="0"/>
                <a:ea typeface="a고딕14" panose="02020600000000000000" pitchFamily="18" charset="-127"/>
              </a:rPr>
              <a:t>2023</a:t>
            </a:r>
            <a:r>
              <a:rPr lang="ko-KR" altLang="en-US" sz="1000" dirty="0">
                <a:latin typeface="Arial Narrow" panose="020B0606020202030204" pitchFamily="34" charset="0"/>
                <a:ea typeface="a고딕14" panose="02020600000000000000" pitchFamily="18" charset="-127"/>
              </a:rPr>
              <a:t>학년도 </a:t>
            </a:r>
            <a:r>
              <a:rPr lang="ko-KR" altLang="en-US" sz="1000" dirty="0" err="1">
                <a:latin typeface="Arial Narrow" panose="020B0606020202030204" pitchFamily="34" charset="0"/>
                <a:ea typeface="a고딕14" panose="02020600000000000000" pitchFamily="18" charset="-127"/>
              </a:rPr>
              <a:t>대학구성원</a:t>
            </a:r>
            <a:r>
              <a:rPr lang="ko-KR" altLang="en-US" sz="1000" dirty="0">
                <a:latin typeface="Arial Narrow" panose="020B0606020202030204" pitchFamily="34" charset="0"/>
                <a:ea typeface="a고딕14" panose="02020600000000000000" pitchFamily="18" charset="-127"/>
              </a:rPr>
              <a:t> 만족도 조사 용역</a:t>
            </a:r>
          </a:p>
        </p:txBody>
      </p:sp>
      <p:pic>
        <p:nvPicPr>
          <p:cNvPr id="68" name="그림 67"/>
          <p:cNvPicPr>
            <a:picLocks noChangeAspect="1"/>
          </p:cNvPicPr>
          <p:nvPr/>
        </p:nvPicPr>
        <p:blipFill>
          <a:blip r:embed="rId2"/>
          <a:stretch>
            <a:fillRect/>
          </a:stretch>
        </p:blipFill>
        <p:spPr>
          <a:xfrm>
            <a:off x="6732101" y="3502368"/>
            <a:ext cx="1181748" cy="339874"/>
          </a:xfrm>
          <a:prstGeom prst="rect">
            <a:avLst/>
          </a:prstGeom>
        </p:spPr>
      </p:pic>
      <p:pic>
        <p:nvPicPr>
          <p:cNvPr id="70" name="그림 69"/>
          <p:cNvPicPr>
            <a:picLocks noChangeAspect="1"/>
          </p:cNvPicPr>
          <p:nvPr/>
        </p:nvPicPr>
        <p:blipFill>
          <a:blip r:embed="rId3"/>
          <a:stretch>
            <a:fillRect/>
          </a:stretch>
        </p:blipFill>
        <p:spPr>
          <a:xfrm>
            <a:off x="7034941" y="4510017"/>
            <a:ext cx="546352" cy="267159"/>
          </a:xfrm>
          <a:prstGeom prst="rect">
            <a:avLst/>
          </a:prstGeom>
        </p:spPr>
      </p:pic>
      <p:pic>
        <p:nvPicPr>
          <p:cNvPr id="71" name="그림 70"/>
          <p:cNvPicPr>
            <a:picLocks noChangeAspect="1"/>
          </p:cNvPicPr>
          <p:nvPr/>
        </p:nvPicPr>
        <p:blipFill>
          <a:blip r:embed="rId4"/>
          <a:stretch>
            <a:fillRect/>
          </a:stretch>
        </p:blipFill>
        <p:spPr>
          <a:xfrm>
            <a:off x="6745117" y="5714017"/>
            <a:ext cx="1115472" cy="181333"/>
          </a:xfrm>
          <a:prstGeom prst="rect">
            <a:avLst/>
          </a:prstGeom>
        </p:spPr>
      </p:pic>
      <p:sp>
        <p:nvSpPr>
          <p:cNvPr id="72" name="Text Box 4"/>
          <p:cNvSpPr txBox="1">
            <a:spLocks noChangeArrowheads="1"/>
          </p:cNvSpPr>
          <p:nvPr/>
        </p:nvSpPr>
        <p:spPr bwMode="auto">
          <a:xfrm>
            <a:off x="919504" y="2036397"/>
            <a:ext cx="2684720"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한국기술교육대학교 수행내용 요약</a:t>
            </a:r>
          </a:p>
        </p:txBody>
      </p:sp>
      <p:sp>
        <p:nvSpPr>
          <p:cNvPr id="73" name="직사각형 72">
            <a:extLst>
              <a:ext uri="{FF2B5EF4-FFF2-40B4-BE49-F238E27FC236}">
                <a16:creationId xmlns:a16="http://schemas.microsoft.com/office/drawing/2014/main" id="{40177B80-94B1-4F56-B5C1-630A4B55C4DA}"/>
              </a:ext>
            </a:extLst>
          </p:cNvPr>
          <p:cNvSpPr/>
          <p:nvPr/>
        </p:nvSpPr>
        <p:spPr>
          <a:xfrm>
            <a:off x="604248" y="2337244"/>
            <a:ext cx="280880" cy="415245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lang="ko-KR" altLang="en-US" dirty="0">
                <a:solidFill>
                  <a:schemeClr val="bg1"/>
                </a:solidFill>
                <a:latin typeface="a고딕14" panose="02020600000000000000" pitchFamily="18" charset="-127"/>
                <a:ea typeface="a고딕14" panose="02020600000000000000" pitchFamily="18" charset="-127"/>
              </a:rPr>
              <a:t>유사</a:t>
            </a:r>
            <a:endParaRPr lang="en-US" altLang="ko-KR" dirty="0">
              <a:solidFill>
                <a:schemeClr val="bg1"/>
              </a:solidFill>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rPr>
              <a:t>용역  </a:t>
            </a:r>
            <a:endParaRPr kumimoji="0" lang="en-US" altLang="ko-KR"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br>
              <a:rPr lang="en-US" altLang="ko-KR" dirty="0">
                <a:solidFill>
                  <a:schemeClr val="bg1"/>
                </a:solidFill>
                <a:latin typeface="a고딕14" panose="02020600000000000000" pitchFamily="18" charset="-127"/>
                <a:ea typeface="a고딕14" panose="02020600000000000000" pitchFamily="18" charset="-127"/>
              </a:rPr>
            </a:br>
            <a:r>
              <a:rPr lang="ko-KR" altLang="en-US" dirty="0">
                <a:solidFill>
                  <a:schemeClr val="bg1"/>
                </a:solidFill>
                <a:latin typeface="a고딕14" panose="02020600000000000000" pitchFamily="18" charset="-127"/>
                <a:ea typeface="a고딕14" panose="02020600000000000000" pitchFamily="18" charset="-127"/>
              </a:rPr>
              <a:t>수행</a:t>
            </a:r>
            <a:endParaRPr lang="en-US" altLang="ko-KR" dirty="0">
              <a:solidFill>
                <a:schemeClr val="bg1"/>
              </a:solidFill>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rPr>
              <a:t>실</a:t>
            </a:r>
            <a:endParaRPr kumimoji="0" lang="en-US" altLang="ko-KR"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rPr>
              <a:t>적</a:t>
            </a:r>
            <a:endParaRPr kumimoji="0" lang="ko-KR" altLang="en-US" sz="12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74" name="object 20"/>
          <p:cNvSpPr/>
          <p:nvPr/>
        </p:nvSpPr>
        <p:spPr>
          <a:xfrm>
            <a:off x="919503" y="2337241"/>
            <a:ext cx="2690933" cy="4160209"/>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800">
              <a:solidFill>
                <a:prstClr val="black"/>
              </a:solidFill>
              <a:latin typeface="Arial Narrow" panose="020B0606020202030204" pitchFamily="34" charset="0"/>
              <a:ea typeface="a고딕14" panose="02020600000000000000" pitchFamily="18" charset="-127"/>
            </a:endParaRPr>
          </a:p>
        </p:txBody>
      </p:sp>
      <p:sp>
        <p:nvSpPr>
          <p:cNvPr id="75" name="Rectangle 65">
            <a:extLst>
              <a:ext uri="{FF2B5EF4-FFF2-40B4-BE49-F238E27FC236}">
                <a16:creationId xmlns:a16="http://schemas.microsoft.com/office/drawing/2014/main" id="{89892781-0046-4266-84A4-2D52EBFE1E75}"/>
              </a:ext>
            </a:extLst>
          </p:cNvPr>
          <p:cNvSpPr>
            <a:spLocks noChangeArrowheads="1"/>
          </p:cNvSpPr>
          <p:nvPr/>
        </p:nvSpPr>
        <p:spPr bwMode="auto">
          <a:xfrm>
            <a:off x="979735" y="2949636"/>
            <a:ext cx="2569109" cy="2018636"/>
          </a:xfrm>
          <a:prstGeom prst="rect">
            <a:avLst/>
          </a:prstGeom>
          <a:solidFill>
            <a:srgbClr val="E6E6E6"/>
          </a:solidFill>
          <a:ln w="3175" cap="flat" cmpd="sng" algn="ctr">
            <a:noFill/>
            <a:prstDash val="solid"/>
          </a:ln>
          <a:effectLst/>
        </p:spPr>
        <p:txBody>
          <a:bodyPr lIns="72000" tIns="0" rIns="0" bIns="0" anchor="ctr" anchorCtr="0"/>
          <a:lstStyle/>
          <a:p>
            <a:pPr marL="85725" indent="-85725" algn="l" eaLnBrk="1" latinLnBrk="0" hangingPunct="1">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기간</a:t>
            </a:r>
            <a:r>
              <a:rPr lang="ko-KR" altLang="en-US" sz="1050" kern="0" dirty="0">
                <a:latin typeface="Arial Narrow" panose="020B0606020202030204" pitchFamily="34" charset="0"/>
                <a:ea typeface="a고딕14" panose="02020600000000000000" pitchFamily="18" charset="-127"/>
              </a:rPr>
              <a:t> </a:t>
            </a:r>
            <a:r>
              <a:rPr lang="en-US" altLang="ko-KR" sz="1050" kern="0" dirty="0">
                <a:latin typeface="Arial Narrow" panose="020B0606020202030204" pitchFamily="34" charset="0"/>
                <a:ea typeface="a고딕14" panose="02020600000000000000" pitchFamily="18" charset="-127"/>
              </a:rPr>
              <a:t>: ’24.07.30 ~’25.01.17</a:t>
            </a:r>
          </a:p>
          <a:p>
            <a:pPr marL="85725" indent="-85725" algn="l" eaLnBrk="1" latinLnBrk="0" hangingPunct="1">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과업 목적</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9388" indent="-90488" algn="l" eaLnBrk="1" latinLnBrk="0" hangingPunct="1">
              <a:spcBef>
                <a:spcPts val="0"/>
              </a:spcBef>
              <a:spcAft>
                <a:spcPts val="300"/>
              </a:spcAft>
              <a:buFont typeface="Arial" panose="020B0604020202020204" pitchFamily="34" charset="0"/>
              <a:buChar char="•"/>
            </a:pPr>
            <a:r>
              <a:rPr lang="ko-KR" altLang="en-US" sz="1000" kern="0" spc="-20" dirty="0">
                <a:latin typeface="Arial Narrow" panose="020B0606020202030204" pitchFamily="34" charset="0"/>
                <a:ea typeface="a고딕14" panose="02020600000000000000" pitchFamily="18" charset="-127"/>
              </a:rPr>
              <a:t>수요자 중심의 교육과정 개발을 통해 전 국민 평생직업능력개발 제고</a:t>
            </a:r>
            <a:endParaRPr lang="en-US" altLang="ko-KR" sz="1000" kern="0" spc="-20" dirty="0">
              <a:latin typeface="Arial Narrow" panose="020B0606020202030204" pitchFamily="34" charset="0"/>
              <a:ea typeface="a고딕14" panose="02020600000000000000" pitchFamily="18" charset="-127"/>
            </a:endParaRPr>
          </a:p>
          <a:p>
            <a:pPr marL="179388" indent="-90488" algn="l" eaLnBrk="1" latinLnBrk="0" hangingPunct="1">
              <a:spcBef>
                <a:spcPts val="0"/>
              </a:spcBef>
              <a:spcAft>
                <a:spcPts val="300"/>
              </a:spcAft>
              <a:buFont typeface="Arial" panose="020B0604020202020204" pitchFamily="34" charset="0"/>
              <a:buChar char="•"/>
            </a:pPr>
            <a:r>
              <a:rPr lang="en-US" altLang="ko-KR" sz="1000" kern="0" spc="-20" dirty="0">
                <a:latin typeface="Arial Narrow" panose="020B0606020202030204" pitchFamily="34" charset="0"/>
                <a:ea typeface="a고딕14" panose="02020600000000000000" pitchFamily="18" charset="-127"/>
              </a:rPr>
              <a:t>TTR </a:t>
            </a:r>
            <a:r>
              <a:rPr lang="ko-KR" altLang="en-US" sz="1000" kern="0" spc="-20" dirty="0">
                <a:latin typeface="Arial Narrow" panose="020B0606020202030204" pitchFamily="34" charset="0"/>
                <a:ea typeface="a고딕14" panose="02020600000000000000" pitchFamily="18" charset="-127"/>
              </a:rPr>
              <a:t>개편을 통해 수요자 중심의 맞춤 훈련 및 수준별</a:t>
            </a:r>
            <a:r>
              <a:rPr lang="en-US" altLang="ko-KR" sz="1000" kern="0" spc="-20" dirty="0">
                <a:latin typeface="Arial Narrow" panose="020B0606020202030204" pitchFamily="34" charset="0"/>
                <a:ea typeface="a고딕14" panose="02020600000000000000" pitchFamily="18" charset="-127"/>
              </a:rPr>
              <a:t>, </a:t>
            </a:r>
            <a:r>
              <a:rPr lang="ko-KR" altLang="en-US" sz="1000" kern="0" spc="-20" dirty="0">
                <a:latin typeface="Arial Narrow" panose="020B0606020202030204" pitchFamily="34" charset="0"/>
                <a:ea typeface="a고딕14" panose="02020600000000000000" pitchFamily="18" charset="-127"/>
              </a:rPr>
              <a:t>단계별 훈련이 가능한 환경 마련</a:t>
            </a:r>
            <a:endParaRPr lang="en-US" altLang="ko-KR" sz="1000" kern="0" spc="-20" dirty="0">
              <a:latin typeface="Arial Narrow" panose="020B0606020202030204" pitchFamily="34" charset="0"/>
              <a:ea typeface="a고딕14" panose="02020600000000000000" pitchFamily="18" charset="-127"/>
            </a:endParaRPr>
          </a:p>
          <a:p>
            <a:pPr marL="85725" indent="-85725" algn="l" eaLnBrk="1" latinLnBrk="0" hangingPunct="1">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범위</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평생 및 디지털신기술 분야 </a:t>
            </a:r>
            <a:r>
              <a:rPr lang="ko-KR" altLang="en-US" sz="1000" kern="0" dirty="0" err="1">
                <a:latin typeface="Arial Narrow" panose="020B0606020202030204" pitchFamily="34" charset="0"/>
                <a:ea typeface="a고딕14" panose="02020600000000000000" pitchFamily="18" charset="-127"/>
              </a:rPr>
              <a:t>기술교육로드맵</a:t>
            </a:r>
            <a:r>
              <a:rPr lang="ko-KR" altLang="en-US" sz="1000" kern="0" dirty="0">
                <a:latin typeface="Arial Narrow" panose="020B0606020202030204" pitchFamily="34" charset="0"/>
                <a:ea typeface="a고딕14" panose="02020600000000000000" pitchFamily="18" charset="-127"/>
              </a:rPr>
              <a:t> 및 과정개요서 개발</a:t>
            </a:r>
            <a:endParaRPr lang="en-US" altLang="ko-KR" sz="1000" kern="0" dirty="0">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기업</a:t>
            </a:r>
            <a:r>
              <a:rPr lang="en-US" altLang="ko-KR" sz="1000" kern="0" dirty="0">
                <a:latin typeface="Arial Narrow" panose="020B0606020202030204" pitchFamily="34" charset="0"/>
                <a:ea typeface="a고딕14" panose="02020600000000000000" pitchFamily="18" charset="-127"/>
              </a:rPr>
              <a:t>·</a:t>
            </a:r>
            <a:r>
              <a:rPr lang="ko-KR" altLang="en-US" sz="1000" kern="0" dirty="0">
                <a:latin typeface="Arial Narrow" panose="020B0606020202030204" pitchFamily="34" charset="0"/>
                <a:ea typeface="a고딕14" panose="02020600000000000000" pitchFamily="18" charset="-127"/>
              </a:rPr>
              <a:t>기관 협약 </a:t>
            </a:r>
            <a:r>
              <a:rPr lang="ko-KR" altLang="en-US" sz="1000" kern="0" dirty="0" err="1">
                <a:latin typeface="Arial Narrow" panose="020B0606020202030204" pitchFamily="34" charset="0"/>
                <a:ea typeface="a고딕14" panose="02020600000000000000" pitchFamily="18" charset="-127"/>
              </a:rPr>
              <a:t>기술교육로드맵</a:t>
            </a:r>
            <a:r>
              <a:rPr lang="ko-KR" altLang="en-US" sz="1000" kern="0" dirty="0">
                <a:latin typeface="Arial Narrow" panose="020B0606020202030204" pitchFamily="34" charset="0"/>
                <a:ea typeface="a고딕14" panose="02020600000000000000" pitchFamily="18" charset="-127"/>
              </a:rPr>
              <a:t> 및 과정 선정</a:t>
            </a:r>
          </a:p>
        </p:txBody>
      </p:sp>
      <p:sp>
        <p:nvSpPr>
          <p:cNvPr id="76" name="Rectangle 34"/>
          <p:cNvSpPr>
            <a:spLocks noChangeArrowheads="1"/>
          </p:cNvSpPr>
          <p:nvPr/>
        </p:nvSpPr>
        <p:spPr bwMode="auto">
          <a:xfrm>
            <a:off x="2056781" y="2402075"/>
            <a:ext cx="1492063" cy="482726"/>
          </a:xfrm>
          <a:prstGeom prst="rect">
            <a:avLst/>
          </a:prstGeom>
          <a:solidFill>
            <a:srgbClr val="3061A3">
              <a:alpha val="70000"/>
            </a:srgbClr>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en-US" altLang="ko-KR" sz="1000" kern="0" dirty="0">
                <a:solidFill>
                  <a:schemeClr val="bg1"/>
                </a:solidFill>
                <a:latin typeface="Arial Narrow" panose="020B0606020202030204" pitchFamily="34" charset="0"/>
                <a:ea typeface="a고딕14" panose="02020600000000000000" pitchFamily="18" charset="-127"/>
              </a:rPr>
              <a:t>2024</a:t>
            </a:r>
            <a:r>
              <a:rPr kumimoji="1" lang="ko-KR" altLang="en-US" sz="1000" kern="0" dirty="0">
                <a:solidFill>
                  <a:schemeClr val="bg1"/>
                </a:solidFill>
                <a:latin typeface="Arial Narrow" panose="020B0606020202030204" pitchFamily="34" charset="0"/>
                <a:ea typeface="a고딕14" panose="02020600000000000000" pitchFamily="18" charset="-127"/>
              </a:rPr>
              <a:t>년 </a:t>
            </a:r>
            <a:r>
              <a:rPr kumimoji="1" lang="ko-KR" altLang="en-US" sz="1000" kern="0" dirty="0" err="1">
                <a:solidFill>
                  <a:schemeClr val="bg1"/>
                </a:solidFill>
                <a:latin typeface="Arial Narrow" panose="020B0606020202030204" pitchFamily="34" charset="0"/>
                <a:ea typeface="a고딕14" panose="02020600000000000000" pitchFamily="18" charset="-127"/>
              </a:rPr>
              <a:t>기술교육로드맵</a:t>
            </a:r>
            <a:r>
              <a:rPr kumimoji="1" lang="ko-KR" altLang="en-US" sz="1000" kern="0" dirty="0">
                <a:solidFill>
                  <a:schemeClr val="bg1"/>
                </a:solidFill>
                <a:latin typeface="Arial Narrow" panose="020B0606020202030204" pitchFamily="34" charset="0"/>
                <a:ea typeface="a고딕14" panose="02020600000000000000" pitchFamily="18" charset="-127"/>
              </a:rPr>
              <a:t> 및 신규과정 선정 용역</a:t>
            </a:r>
          </a:p>
        </p:txBody>
      </p:sp>
      <p:sp>
        <p:nvSpPr>
          <p:cNvPr id="77" name="Rectangle 32"/>
          <p:cNvSpPr>
            <a:spLocks noChangeArrowheads="1"/>
          </p:cNvSpPr>
          <p:nvPr/>
        </p:nvSpPr>
        <p:spPr bwMode="auto">
          <a:xfrm>
            <a:off x="979735" y="2402076"/>
            <a:ext cx="1077046" cy="482726"/>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78" name="Text Box 4"/>
          <p:cNvSpPr txBox="1">
            <a:spLocks noChangeArrowheads="1"/>
          </p:cNvSpPr>
          <p:nvPr/>
        </p:nvSpPr>
        <p:spPr bwMode="auto">
          <a:xfrm>
            <a:off x="3768024" y="2015422"/>
            <a:ext cx="2687098"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한국기술교육대학교 수행내용 요약</a:t>
            </a:r>
          </a:p>
        </p:txBody>
      </p:sp>
      <p:sp>
        <p:nvSpPr>
          <p:cNvPr id="79" name="object 20"/>
          <p:cNvSpPr/>
          <p:nvPr/>
        </p:nvSpPr>
        <p:spPr>
          <a:xfrm>
            <a:off x="3768023" y="2337241"/>
            <a:ext cx="2690933" cy="4160209"/>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800">
              <a:solidFill>
                <a:prstClr val="black"/>
              </a:solidFill>
              <a:latin typeface="Arial Narrow" panose="020B0606020202030204" pitchFamily="34" charset="0"/>
              <a:ea typeface="a고딕14" panose="02020600000000000000" pitchFamily="18" charset="-127"/>
            </a:endParaRPr>
          </a:p>
        </p:txBody>
      </p:sp>
      <p:sp>
        <p:nvSpPr>
          <p:cNvPr id="80" name="Rectangle 65">
            <a:extLst>
              <a:ext uri="{FF2B5EF4-FFF2-40B4-BE49-F238E27FC236}">
                <a16:creationId xmlns:a16="http://schemas.microsoft.com/office/drawing/2014/main" id="{89892781-0046-4266-84A4-2D52EBFE1E75}"/>
              </a:ext>
            </a:extLst>
          </p:cNvPr>
          <p:cNvSpPr>
            <a:spLocks noChangeArrowheads="1"/>
          </p:cNvSpPr>
          <p:nvPr/>
        </p:nvSpPr>
        <p:spPr bwMode="auto">
          <a:xfrm>
            <a:off x="3828255" y="2949636"/>
            <a:ext cx="2569109" cy="2018636"/>
          </a:xfrm>
          <a:prstGeom prst="rect">
            <a:avLst/>
          </a:prstGeom>
          <a:solidFill>
            <a:srgbClr val="E6E6E6"/>
          </a:solidFill>
          <a:ln w="3175" cap="flat" cmpd="sng" algn="ctr">
            <a:noFill/>
            <a:prstDash val="solid"/>
          </a:ln>
          <a:effectLst/>
        </p:spPr>
        <p:txBody>
          <a:bodyPr lIns="72000" tIns="0" rIns="0" bIns="0" anchor="ctr" anchorCtr="0"/>
          <a:lstStyle/>
          <a:p>
            <a:pPr marL="85725" indent="-85725" algn="l" eaLnBrk="1" latinLnBrk="0" hangingPunct="1">
              <a:lnSpc>
                <a:spcPct val="150000"/>
              </a:lnSpc>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기간</a:t>
            </a:r>
            <a:r>
              <a:rPr lang="ko-KR" altLang="en-US" sz="1050" kern="0" dirty="0">
                <a:latin typeface="Arial Narrow" panose="020B0606020202030204" pitchFamily="34" charset="0"/>
                <a:ea typeface="a고딕14" panose="02020600000000000000" pitchFamily="18" charset="-127"/>
              </a:rPr>
              <a:t> </a:t>
            </a:r>
            <a:r>
              <a:rPr lang="en-US" altLang="ko-KR" sz="1050" kern="0" dirty="0">
                <a:latin typeface="Arial Narrow" panose="020B0606020202030204" pitchFamily="34" charset="0"/>
                <a:ea typeface="a고딕14" panose="02020600000000000000" pitchFamily="18" charset="-127"/>
              </a:rPr>
              <a:t>: ’23.10.23 ~’23.11.30</a:t>
            </a:r>
          </a:p>
          <a:p>
            <a:pPr marL="85725" indent="-85725" algn="l" eaLnBrk="1" latinLnBrk="0" hangingPunct="1">
              <a:lnSpc>
                <a:spcPct val="150000"/>
              </a:lnSpc>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과업 목적</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9388" indent="-90488" algn="l" eaLnBrk="1" latinLnBrk="0" hangingPunct="1">
              <a:spcBef>
                <a:spcPts val="0"/>
              </a:spcBef>
              <a:spcAft>
                <a:spcPts val="300"/>
              </a:spcAft>
              <a:buFont typeface="Arial" panose="020B0604020202020204" pitchFamily="34" charset="0"/>
              <a:buChar char="•"/>
            </a:pPr>
            <a:r>
              <a:rPr lang="ko-KR" altLang="en-US" sz="1000" kern="0" spc="-20" dirty="0">
                <a:latin typeface="Arial Narrow" panose="020B0606020202030204" pitchFamily="34" charset="0"/>
                <a:ea typeface="a고딕14" panose="02020600000000000000" pitchFamily="18" charset="-127"/>
              </a:rPr>
              <a:t>‘평생직업능력개발’ 및 ‘디지털 신기술’ 분야의 </a:t>
            </a:r>
            <a:r>
              <a:rPr lang="ko-KR" altLang="en-US" sz="1000" kern="0" spc="-20" dirty="0" err="1">
                <a:latin typeface="Arial Narrow" panose="020B0606020202030204" pitchFamily="34" charset="0"/>
                <a:ea typeface="a고딕14" panose="02020600000000000000" pitchFamily="18" charset="-127"/>
              </a:rPr>
              <a:t>로드맵</a:t>
            </a:r>
            <a:r>
              <a:rPr lang="ko-KR" altLang="en-US" sz="1000" kern="0" spc="-20" dirty="0">
                <a:latin typeface="Arial Narrow" panose="020B0606020202030204" pitchFamily="34" charset="0"/>
                <a:ea typeface="a고딕14" panose="02020600000000000000" pitchFamily="18" charset="-127"/>
              </a:rPr>
              <a:t> 및 과정개요서를 개발하여 교육훈련 과정</a:t>
            </a:r>
            <a:r>
              <a:rPr lang="en-US" altLang="ko-KR" sz="1000" kern="0" spc="-20" dirty="0">
                <a:latin typeface="Arial Narrow" panose="020B0606020202030204" pitchFamily="34" charset="0"/>
                <a:ea typeface="a고딕14" panose="02020600000000000000" pitchFamily="18" charset="-127"/>
              </a:rPr>
              <a:t>(</a:t>
            </a:r>
            <a:r>
              <a:rPr lang="ko-KR" altLang="en-US" sz="1000" kern="0" spc="-20" dirty="0">
                <a:latin typeface="Arial Narrow" panose="020B0606020202030204" pitchFamily="34" charset="0"/>
                <a:ea typeface="a고딕14" panose="02020600000000000000" pitchFamily="18" charset="-127"/>
              </a:rPr>
              <a:t>교과목</a:t>
            </a:r>
            <a:r>
              <a:rPr lang="en-US" altLang="ko-KR" sz="1000" kern="0" spc="-20" dirty="0">
                <a:latin typeface="Arial Narrow" panose="020B0606020202030204" pitchFamily="34" charset="0"/>
                <a:ea typeface="a고딕14" panose="02020600000000000000" pitchFamily="18" charset="-127"/>
              </a:rPr>
              <a:t>, </a:t>
            </a:r>
            <a:r>
              <a:rPr lang="ko-KR" altLang="en-US" sz="1000" kern="0" spc="-20" dirty="0">
                <a:latin typeface="Arial Narrow" panose="020B0606020202030204" pitchFamily="34" charset="0"/>
                <a:ea typeface="a고딕14" panose="02020600000000000000" pitchFamily="18" charset="-127"/>
              </a:rPr>
              <a:t>콘텐츠</a:t>
            </a:r>
            <a:r>
              <a:rPr lang="en-US" altLang="ko-KR" sz="1000" kern="0" spc="-20" dirty="0">
                <a:latin typeface="Arial Narrow" panose="020B0606020202030204" pitchFamily="34" charset="0"/>
                <a:ea typeface="a고딕14" panose="02020600000000000000" pitchFamily="18" charset="-127"/>
              </a:rPr>
              <a:t>) </a:t>
            </a:r>
            <a:r>
              <a:rPr lang="ko-KR" altLang="en-US" sz="1000" kern="0" spc="-20" dirty="0">
                <a:latin typeface="Arial Narrow" panose="020B0606020202030204" pitchFamily="34" charset="0"/>
                <a:ea typeface="a고딕14" panose="02020600000000000000" pitchFamily="18" charset="-127"/>
              </a:rPr>
              <a:t>개발에 활용하고자 함</a:t>
            </a:r>
            <a:endParaRPr lang="en-US" altLang="ko-KR" sz="1000" kern="0" spc="-20" dirty="0">
              <a:latin typeface="Arial Narrow" panose="020B0606020202030204" pitchFamily="34" charset="0"/>
              <a:ea typeface="a고딕14" panose="02020600000000000000" pitchFamily="18" charset="-127"/>
            </a:endParaRPr>
          </a:p>
          <a:p>
            <a:pPr marL="179388" indent="-90488" algn="l" eaLnBrk="1" latinLnBrk="0" hangingPunct="1">
              <a:lnSpc>
                <a:spcPct val="150000"/>
              </a:lnSpc>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범위</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평생 및 디지털 신기술 분야 </a:t>
            </a:r>
            <a:r>
              <a:rPr lang="en-US" altLang="ko-KR" sz="1000" kern="0" dirty="0">
                <a:latin typeface="Arial Narrow" panose="020B0606020202030204" pitchFamily="34" charset="0"/>
                <a:ea typeface="a고딕14" panose="02020600000000000000" pitchFamily="18" charset="-127"/>
              </a:rPr>
              <a:t>NCS</a:t>
            </a:r>
            <a:r>
              <a:rPr lang="ko-KR" altLang="en-US" sz="1000" kern="0" dirty="0">
                <a:latin typeface="Arial Narrow" panose="020B0606020202030204" pitchFamily="34" charset="0"/>
                <a:ea typeface="a고딕14" panose="02020600000000000000" pitchFamily="18" charset="-127"/>
              </a:rPr>
              <a:t> </a:t>
            </a:r>
            <a:r>
              <a:rPr lang="ko-KR" altLang="en-US" sz="1000" kern="0" dirty="0" err="1">
                <a:latin typeface="Arial Narrow" panose="020B0606020202030204" pitchFamily="34" charset="0"/>
                <a:ea typeface="a고딕14" panose="02020600000000000000" pitchFamily="18" charset="-127"/>
              </a:rPr>
              <a:t>능력단위</a:t>
            </a:r>
            <a:r>
              <a:rPr lang="ko-KR" altLang="en-US" sz="1000" kern="0" dirty="0">
                <a:latin typeface="Arial Narrow" panose="020B0606020202030204" pitchFamily="34" charset="0"/>
                <a:ea typeface="a고딕14" panose="02020600000000000000" pitchFamily="18" charset="-127"/>
              </a:rPr>
              <a:t> 기준 교육훈련 수요 도출</a:t>
            </a:r>
            <a:endParaRPr lang="en-US" altLang="ko-KR" sz="1000" kern="0" dirty="0">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평생 및 디지털 신기술 분야 기술교육로드맵 및 과정개요서 개발</a:t>
            </a:r>
          </a:p>
        </p:txBody>
      </p:sp>
      <p:sp>
        <p:nvSpPr>
          <p:cNvPr id="81" name="Rectangle 34"/>
          <p:cNvSpPr>
            <a:spLocks noChangeArrowheads="1"/>
          </p:cNvSpPr>
          <p:nvPr/>
        </p:nvSpPr>
        <p:spPr bwMode="auto">
          <a:xfrm>
            <a:off x="4905301" y="2402075"/>
            <a:ext cx="1492063" cy="482726"/>
          </a:xfrm>
          <a:prstGeom prst="rect">
            <a:avLst/>
          </a:prstGeom>
          <a:solidFill>
            <a:srgbClr val="3061A3">
              <a:alpha val="70000"/>
            </a:srgbClr>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00" kern="0" spc="-100" dirty="0">
                <a:solidFill>
                  <a:schemeClr val="bg1"/>
                </a:solidFill>
                <a:latin typeface="Arial Narrow" panose="020B0606020202030204" pitchFamily="34" charset="0"/>
                <a:ea typeface="a고딕14" panose="02020600000000000000" pitchFamily="18" charset="-127"/>
              </a:rPr>
              <a:t>기술교육로드맵 평생 및 디지털 신기술 분야 개발 용역</a:t>
            </a:r>
          </a:p>
        </p:txBody>
      </p:sp>
      <p:sp>
        <p:nvSpPr>
          <p:cNvPr id="82" name="Rectangle 32"/>
          <p:cNvSpPr>
            <a:spLocks noChangeArrowheads="1"/>
          </p:cNvSpPr>
          <p:nvPr/>
        </p:nvSpPr>
        <p:spPr bwMode="auto">
          <a:xfrm>
            <a:off x="3828255" y="2402076"/>
            <a:ext cx="1077046" cy="482726"/>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pic>
        <p:nvPicPr>
          <p:cNvPr id="84" name="그림 83"/>
          <p:cNvPicPr>
            <a:picLocks noChangeAspect="1"/>
          </p:cNvPicPr>
          <p:nvPr/>
        </p:nvPicPr>
        <p:blipFill>
          <a:blip r:embed="rId5"/>
          <a:stretch>
            <a:fillRect/>
          </a:stretch>
        </p:blipFill>
        <p:spPr>
          <a:xfrm>
            <a:off x="3886355" y="2530931"/>
            <a:ext cx="970914" cy="213426"/>
          </a:xfrm>
          <a:prstGeom prst="rect">
            <a:avLst/>
          </a:prstGeom>
        </p:spPr>
      </p:pic>
      <p:pic>
        <p:nvPicPr>
          <p:cNvPr id="4" name="그림 3"/>
          <p:cNvPicPr>
            <a:picLocks noChangeAspect="1"/>
          </p:cNvPicPr>
          <p:nvPr/>
        </p:nvPicPr>
        <p:blipFill>
          <a:blip r:embed="rId6"/>
          <a:stretch>
            <a:fillRect/>
          </a:stretch>
        </p:blipFill>
        <p:spPr>
          <a:xfrm>
            <a:off x="3796739" y="5021683"/>
            <a:ext cx="2638878" cy="1421462"/>
          </a:xfrm>
          <a:prstGeom prst="rect">
            <a:avLst/>
          </a:prstGeom>
        </p:spPr>
      </p:pic>
      <p:pic>
        <p:nvPicPr>
          <p:cNvPr id="6" name="그림 5">
            <a:extLst>
              <a:ext uri="{FF2B5EF4-FFF2-40B4-BE49-F238E27FC236}">
                <a16:creationId xmlns:a16="http://schemas.microsoft.com/office/drawing/2014/main" id="{DE6A196E-EA30-3697-6792-4FD0D1ECEB5D}"/>
              </a:ext>
            </a:extLst>
          </p:cNvPr>
          <p:cNvPicPr>
            <a:picLocks noChangeAspect="1"/>
          </p:cNvPicPr>
          <p:nvPr/>
        </p:nvPicPr>
        <p:blipFill>
          <a:blip r:embed="rId7"/>
          <a:stretch>
            <a:fillRect/>
          </a:stretch>
        </p:blipFill>
        <p:spPr>
          <a:xfrm>
            <a:off x="6817153" y="2426738"/>
            <a:ext cx="1011644" cy="271063"/>
          </a:xfrm>
          <a:prstGeom prst="rect">
            <a:avLst/>
          </a:prstGeom>
        </p:spPr>
      </p:pic>
      <p:pic>
        <p:nvPicPr>
          <p:cNvPr id="7" name="그림 6">
            <a:extLst>
              <a:ext uri="{FF2B5EF4-FFF2-40B4-BE49-F238E27FC236}">
                <a16:creationId xmlns:a16="http://schemas.microsoft.com/office/drawing/2014/main" id="{5D9D0DBF-63B2-2B0E-D5FF-4ADD6997205D}"/>
              </a:ext>
            </a:extLst>
          </p:cNvPr>
          <p:cNvPicPr>
            <a:picLocks noChangeAspect="1"/>
          </p:cNvPicPr>
          <p:nvPr/>
        </p:nvPicPr>
        <p:blipFill>
          <a:blip r:embed="rId5"/>
          <a:stretch>
            <a:fillRect/>
          </a:stretch>
        </p:blipFill>
        <p:spPr>
          <a:xfrm>
            <a:off x="1037835" y="2530931"/>
            <a:ext cx="970914" cy="213426"/>
          </a:xfrm>
          <a:prstGeom prst="rect">
            <a:avLst/>
          </a:prstGeom>
        </p:spPr>
      </p:pic>
      <p:pic>
        <p:nvPicPr>
          <p:cNvPr id="8" name="그림 7">
            <a:extLst>
              <a:ext uri="{FF2B5EF4-FFF2-40B4-BE49-F238E27FC236}">
                <a16:creationId xmlns:a16="http://schemas.microsoft.com/office/drawing/2014/main" id="{450F9623-F2BC-70A3-8AD9-B5780F81BCAC}"/>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997314" y="5021683"/>
            <a:ext cx="2551530" cy="1392569"/>
          </a:xfrm>
          <a:prstGeom prst="rect">
            <a:avLst/>
          </a:prstGeom>
          <a:ln>
            <a:solidFill>
              <a:srgbClr val="A4A3A4"/>
            </a:solidFill>
          </a:ln>
        </p:spPr>
      </p:pic>
    </p:spTree>
    <p:extLst>
      <p:ext uri="{BB962C8B-B14F-4D97-AF65-F5344CB8AC3E}">
        <p14:creationId xmlns:p14="http://schemas.microsoft.com/office/powerpoint/2010/main" val="3370483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a:t>
            </a:r>
            <a:r>
              <a:rPr lang="en-US" altLang="ko-KR" dirty="0"/>
              <a:t>’19~’24</a:t>
            </a:r>
            <a:r>
              <a:rPr lang="ko-KR" altLang="en-US" dirty="0"/>
              <a:t>년 기간 동안의 한기대가 발주한 다양한</a:t>
            </a:r>
            <a:r>
              <a:rPr lang="en-US" altLang="ko-KR" dirty="0"/>
              <a:t> PJT </a:t>
            </a:r>
            <a:r>
              <a:rPr lang="ko-KR" altLang="en-US" dirty="0"/>
              <a:t>수행을 통해 </a:t>
            </a:r>
            <a:r>
              <a:rPr lang="ko-KR" altLang="en-US" dirty="0">
                <a:solidFill>
                  <a:srgbClr val="0070C0"/>
                </a:solidFill>
              </a:rPr>
              <a:t>대학 사업에 대한 전문성 및 높은 이해도를 보유</a:t>
            </a:r>
            <a:r>
              <a:rPr lang="ko-KR" altLang="en-US" dirty="0"/>
              <a:t>하고 있음</a:t>
            </a:r>
            <a:endParaRPr lang="en-US" altLang="ko-KR" dirty="0"/>
          </a:p>
        </p:txBody>
      </p:sp>
      <p:sp>
        <p:nvSpPr>
          <p:cNvPr id="46"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7344816" cy="331935"/>
          </a:xfrm>
          <a:noFill/>
        </p:spPr>
        <p:txBody>
          <a:bodyPr vert="horz" wrap="none" lIns="72000" tIns="0" rIns="0" bIns="0" rtlCol="0" anchor="ctr">
            <a:noAutofit/>
          </a:bodyPr>
          <a:lstStyle/>
          <a:p>
            <a:pPr latinLnBrk="0"/>
            <a:r>
              <a:rPr lang="en-US" altLang="ko-KR" dirty="0"/>
              <a:t>[CSF2] </a:t>
            </a:r>
            <a:r>
              <a:rPr lang="ko-KR" altLang="en-US" dirty="0"/>
              <a:t>한국기술교육대학교 과업에 대한 높은 이해도 보유</a:t>
            </a:r>
            <a:endParaRPr lang="en-US" altLang="ko-KR" dirty="0"/>
          </a:p>
        </p:txBody>
      </p:sp>
      <p:sp>
        <p:nvSpPr>
          <p:cNvPr id="69" name="직사각형 68"/>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 name="텍스트 개체 틀 3"/>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err="1">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2. </a:t>
            </a:r>
            <a:r>
              <a:rPr lang="ko-KR" altLang="en-US" dirty="0">
                <a:latin typeface="+mn-ea"/>
              </a:rPr>
              <a:t>제안의 특장점</a:t>
            </a:r>
          </a:p>
        </p:txBody>
      </p:sp>
      <p:sp>
        <p:nvSpPr>
          <p:cNvPr id="14" name="텍스트 개체 틀 5">
            <a:extLst>
              <a:ext uri="{FF2B5EF4-FFF2-40B4-BE49-F238E27FC236}">
                <a16:creationId xmlns:a16="http://schemas.microsoft.com/office/drawing/2014/main" id="{104314F5-5814-404E-941E-1D21123D3801}"/>
              </a:ext>
            </a:extLst>
          </p:cNvPr>
          <p:cNvSpPr>
            <a:spLocks noGrp="1"/>
          </p:cNvSpPr>
          <p:nvPr>
            <p:ph type="body" sz="quarter" idx="14"/>
          </p:nvPr>
        </p:nvSpPr>
        <p:spPr>
          <a:xfrm>
            <a:off x="596516" y="1664744"/>
            <a:ext cx="2644901" cy="331935"/>
          </a:xfrm>
        </p:spPr>
        <p:txBody>
          <a:bodyPr/>
          <a:lstStyle/>
          <a:p>
            <a:pPr latinLnBrk="0"/>
            <a:r>
              <a:rPr lang="ko-KR" altLang="en-US" dirty="0"/>
              <a:t>한국기술교육대학교 다수 </a:t>
            </a:r>
            <a:r>
              <a:rPr lang="en-US" altLang="ko-KR" dirty="0"/>
              <a:t>PJT</a:t>
            </a:r>
            <a:r>
              <a:rPr lang="ko-KR" altLang="en-US" dirty="0"/>
              <a:t> 수행을 통한 높은 기관 이해도 및 노하우 보유</a:t>
            </a:r>
            <a:endParaRPr lang="en-US" altLang="ko-KR" dirty="0"/>
          </a:p>
        </p:txBody>
      </p:sp>
      <p:grpSp>
        <p:nvGrpSpPr>
          <p:cNvPr id="3" name="그룹 2">
            <a:extLst>
              <a:ext uri="{FF2B5EF4-FFF2-40B4-BE49-F238E27FC236}">
                <a16:creationId xmlns:a16="http://schemas.microsoft.com/office/drawing/2014/main" id="{A8B71C44-E1FB-1224-2005-ED08D7E96003}"/>
              </a:ext>
            </a:extLst>
          </p:cNvPr>
          <p:cNvGrpSpPr/>
          <p:nvPr/>
        </p:nvGrpSpPr>
        <p:grpSpPr>
          <a:xfrm>
            <a:off x="596516" y="2154338"/>
            <a:ext cx="8749098" cy="266602"/>
            <a:chOff x="802640" y="2236634"/>
            <a:chExt cx="4130805" cy="266552"/>
          </a:xfrm>
        </p:grpSpPr>
        <p:sp>
          <p:nvSpPr>
            <p:cNvPr id="8" name="ListLeanHorizontalTextTopic0">
              <a:extLst>
                <a:ext uri="{FF2B5EF4-FFF2-40B4-BE49-F238E27FC236}">
                  <a16:creationId xmlns:a16="http://schemas.microsoft.com/office/drawing/2014/main" id="{635B5764-B68C-0F93-9712-E68F27446A3E}"/>
                </a:ext>
              </a:extLst>
            </p:cNvPr>
            <p:cNvSpPr txBox="1"/>
            <p:nvPr/>
          </p:nvSpPr>
          <p:spPr>
            <a:xfrm>
              <a:off x="802640" y="2236634"/>
              <a:ext cx="3954275"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None/>
                <a:defRPr/>
              </a:pPr>
              <a:r>
                <a:rPr lang="ko-KR" altLang="en-US" sz="1400" kern="0" dirty="0">
                  <a:solidFill>
                    <a:srgbClr val="000000"/>
                  </a:solidFill>
                  <a:latin typeface="Arial Narrow" panose="020B0606020202030204" pitchFamily="34" charset="0"/>
                  <a:ea typeface="a고딕14" panose="02020600000000000000" pitchFamily="18" charset="-127"/>
                  <a:cs typeface="Arial Narrow" pitchFamily="34" charset="0"/>
                </a:rPr>
                <a:t>한국기술교육대학교 과업 수행 실적</a:t>
              </a:r>
              <a:r>
                <a:rPr lang="en-US" altLang="ko-KR" sz="1400" kern="0">
                  <a:solidFill>
                    <a:srgbClr val="000000"/>
                  </a:solidFill>
                  <a:latin typeface="Arial Narrow" panose="020B0606020202030204" pitchFamily="34" charset="0"/>
                  <a:ea typeface="a고딕14" panose="02020600000000000000" pitchFamily="18" charset="-127"/>
                  <a:cs typeface="Arial Narrow" pitchFamily="34" charset="0"/>
                </a:rPr>
                <a:t>(</a:t>
              </a:r>
              <a:r>
                <a:rPr lang="en-US" altLang="ko-KR" sz="1400" kern="0">
                  <a:solidFill>
                    <a:srgbClr val="000000"/>
                  </a:solidFill>
                  <a:latin typeface="Arial Narrow" panose="020B0606020202030204" pitchFamily="34" charset="0"/>
                  <a:cs typeface="Arial Narrow" pitchFamily="34" charset="0"/>
                </a:rPr>
                <a:t>2019~2024</a:t>
              </a:r>
              <a:r>
                <a:rPr lang="en-US" altLang="ko-KR" sz="1400" kern="0">
                  <a:solidFill>
                    <a:srgbClr val="000000"/>
                  </a:solidFill>
                  <a:latin typeface="Arial Narrow" panose="020B0606020202030204" pitchFamily="34" charset="0"/>
                  <a:ea typeface="a고딕14" panose="02020600000000000000" pitchFamily="18" charset="-127"/>
                  <a:cs typeface="Arial Narrow" pitchFamily="34" charset="0"/>
                </a:rPr>
                <a:t>) </a:t>
              </a:r>
              <a:endParaRPr lang="en-US" altLang="ko-KR" sz="1400" kern="0" dirty="0">
                <a:solidFill>
                  <a:srgbClr val="000000"/>
                </a:solidFill>
                <a:latin typeface="Arial Narrow" panose="020B0606020202030204" pitchFamily="34" charset="0"/>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859E52B4-4684-86E0-782E-612B9794F31E}"/>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pic>
        <p:nvPicPr>
          <p:cNvPr id="10" name="그림 9">
            <a:extLst>
              <a:ext uri="{FF2B5EF4-FFF2-40B4-BE49-F238E27FC236}">
                <a16:creationId xmlns:a16="http://schemas.microsoft.com/office/drawing/2014/main" id="{2D1171D9-4BC9-616D-F63F-DA3F2DD529E3}"/>
              </a:ext>
            </a:extLst>
          </p:cNvPr>
          <p:cNvPicPr>
            <a:picLocks noChangeAspect="1"/>
          </p:cNvPicPr>
          <p:nvPr/>
        </p:nvPicPr>
        <p:blipFill>
          <a:blip r:embed="rId2"/>
          <a:stretch>
            <a:fillRect/>
          </a:stretch>
        </p:blipFill>
        <p:spPr>
          <a:xfrm>
            <a:off x="4952938" y="3428982"/>
            <a:ext cx="123" cy="35"/>
          </a:xfrm>
          <a:prstGeom prst="rect">
            <a:avLst/>
          </a:prstGeom>
        </p:spPr>
      </p:pic>
      <p:pic>
        <p:nvPicPr>
          <p:cNvPr id="18" name="그림 17">
            <a:extLst>
              <a:ext uri="{FF2B5EF4-FFF2-40B4-BE49-F238E27FC236}">
                <a16:creationId xmlns:a16="http://schemas.microsoft.com/office/drawing/2014/main" id="{18CA3B67-73CC-C7FE-4284-560A822F0934}"/>
              </a:ext>
            </a:extLst>
          </p:cNvPr>
          <p:cNvPicPr>
            <a:picLocks noChangeAspect="1"/>
          </p:cNvPicPr>
          <p:nvPr/>
        </p:nvPicPr>
        <p:blipFill>
          <a:blip r:embed="rId2"/>
          <a:stretch>
            <a:fillRect/>
          </a:stretch>
        </p:blipFill>
        <p:spPr>
          <a:xfrm>
            <a:off x="5105338" y="3581382"/>
            <a:ext cx="123" cy="35"/>
          </a:xfrm>
          <a:prstGeom prst="rect">
            <a:avLst/>
          </a:prstGeom>
        </p:spPr>
      </p:pic>
      <p:pic>
        <p:nvPicPr>
          <p:cNvPr id="19" name="그림 18">
            <a:extLst>
              <a:ext uri="{FF2B5EF4-FFF2-40B4-BE49-F238E27FC236}">
                <a16:creationId xmlns:a16="http://schemas.microsoft.com/office/drawing/2014/main" id="{3296A71A-9DF2-C33D-C053-910A1DAA62E6}"/>
              </a:ext>
            </a:extLst>
          </p:cNvPr>
          <p:cNvPicPr>
            <a:picLocks noChangeAspect="1"/>
          </p:cNvPicPr>
          <p:nvPr/>
        </p:nvPicPr>
        <p:blipFill>
          <a:blip r:embed="rId2"/>
          <a:stretch>
            <a:fillRect/>
          </a:stretch>
        </p:blipFill>
        <p:spPr>
          <a:xfrm>
            <a:off x="5257738" y="3733782"/>
            <a:ext cx="123" cy="35"/>
          </a:xfrm>
          <a:prstGeom prst="rect">
            <a:avLst/>
          </a:prstGeom>
        </p:spPr>
      </p:pic>
      <p:graphicFrame>
        <p:nvGraphicFramePr>
          <p:cNvPr id="20" name="표 19">
            <a:extLst>
              <a:ext uri="{FF2B5EF4-FFF2-40B4-BE49-F238E27FC236}">
                <a16:creationId xmlns:a16="http://schemas.microsoft.com/office/drawing/2014/main" id="{692F6834-0D71-AC05-1F43-BC673FB69860}"/>
              </a:ext>
            </a:extLst>
          </p:cNvPr>
          <p:cNvGraphicFramePr>
            <a:graphicFrameLocks noGrp="1"/>
          </p:cNvGraphicFramePr>
          <p:nvPr>
            <p:extLst>
              <p:ext uri="{D42A27DB-BD31-4B8C-83A1-F6EECF244321}">
                <p14:modId xmlns:p14="http://schemas.microsoft.com/office/powerpoint/2010/main" val="1474456073"/>
              </p:ext>
            </p:extLst>
          </p:nvPr>
        </p:nvGraphicFramePr>
        <p:xfrm>
          <a:off x="4160912" y="2487677"/>
          <a:ext cx="5184704" cy="4000145"/>
        </p:xfrm>
        <a:graphic>
          <a:graphicData uri="http://schemas.openxmlformats.org/drawingml/2006/table">
            <a:tbl>
              <a:tblPr firstRow="1" bandRow="1">
                <a:tableStyleId>{5C22544A-7EE6-4342-B048-85BDC9FD1C3A}</a:tableStyleId>
              </a:tblPr>
              <a:tblGrid>
                <a:gridCol w="375694">
                  <a:extLst>
                    <a:ext uri="{9D8B030D-6E8A-4147-A177-3AD203B41FA5}">
                      <a16:colId xmlns:a16="http://schemas.microsoft.com/office/drawing/2014/main" val="506749915"/>
                    </a:ext>
                  </a:extLst>
                </a:gridCol>
                <a:gridCol w="2756654">
                  <a:extLst>
                    <a:ext uri="{9D8B030D-6E8A-4147-A177-3AD203B41FA5}">
                      <a16:colId xmlns:a16="http://schemas.microsoft.com/office/drawing/2014/main" val="3174994554"/>
                    </a:ext>
                  </a:extLst>
                </a:gridCol>
                <a:gridCol w="468052">
                  <a:extLst>
                    <a:ext uri="{9D8B030D-6E8A-4147-A177-3AD203B41FA5}">
                      <a16:colId xmlns:a16="http://schemas.microsoft.com/office/drawing/2014/main" val="3781173971"/>
                    </a:ext>
                  </a:extLst>
                </a:gridCol>
                <a:gridCol w="1008112">
                  <a:extLst>
                    <a:ext uri="{9D8B030D-6E8A-4147-A177-3AD203B41FA5}">
                      <a16:colId xmlns:a16="http://schemas.microsoft.com/office/drawing/2014/main" val="2779742567"/>
                    </a:ext>
                  </a:extLst>
                </a:gridCol>
                <a:gridCol w="576192">
                  <a:extLst>
                    <a:ext uri="{9D8B030D-6E8A-4147-A177-3AD203B41FA5}">
                      <a16:colId xmlns:a16="http://schemas.microsoft.com/office/drawing/2014/main" val="3415019663"/>
                    </a:ext>
                  </a:extLst>
                </a:gridCol>
              </a:tblGrid>
              <a:tr h="223956">
                <a:tc>
                  <a:txBody>
                    <a:bodyPr/>
                    <a:lstStyle/>
                    <a:p>
                      <a:pPr algn="ctr" latinLnBrk="1"/>
                      <a:r>
                        <a:rPr lang="en-US" altLang="ko-KR" sz="1000" b="0">
                          <a:solidFill>
                            <a:schemeClr val="bg1"/>
                          </a:solidFill>
                        </a:rPr>
                        <a:t>No.</a:t>
                      </a:r>
                      <a:endParaRPr lang="ko-KR" altLang="en-US" sz="1000" b="0" dirty="0">
                        <a:solidFill>
                          <a:schemeClr val="bg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err="1">
                          <a:solidFill>
                            <a:schemeClr val="bg1"/>
                          </a:solidFill>
                        </a:rPr>
                        <a:t>용역명</a:t>
                      </a:r>
                      <a:endParaRPr lang="ko-KR" altLang="en-US" sz="10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a:solidFill>
                            <a:schemeClr val="bg1"/>
                          </a:solidFill>
                        </a:rPr>
                        <a:t>년도</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err="1">
                          <a:solidFill>
                            <a:schemeClr val="bg1"/>
                          </a:solidFill>
                        </a:rPr>
                        <a:t>발주처</a:t>
                      </a:r>
                      <a:endParaRPr lang="ko-KR" altLang="en-US" sz="10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a:solidFill>
                            <a:schemeClr val="bg1"/>
                          </a:solidFill>
                        </a:rPr>
                        <a:t>비고</a:t>
                      </a:r>
                    </a:p>
                  </a:txBody>
                  <a:tcPr anchor="ctr">
                    <a:lnL w="6350" cap="flat" cmpd="sng" algn="ctr">
                      <a:solidFill>
                        <a:schemeClr val="bg1"/>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3626281665"/>
                  </a:ext>
                </a:extLst>
              </a:tr>
              <a:tr h="241205">
                <a:tc>
                  <a:txBody>
                    <a:bodyPr/>
                    <a:lstStyle/>
                    <a:p>
                      <a:pPr algn="ctr" latinLnBrk="1"/>
                      <a:r>
                        <a:rPr lang="en-US" altLang="ko-KR" sz="1000" b="1" dirty="0">
                          <a:solidFill>
                            <a:schemeClr val="tx1"/>
                          </a:solidFill>
                        </a:rPr>
                        <a:t>1</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a:solidFill>
                            <a:schemeClr val="tx1"/>
                          </a:solidFill>
                        </a:rPr>
                        <a:t>기술교육로드맵 개발 및 신규 과정 선정 연구용역</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a:solidFill>
                            <a:schemeClr val="tx1"/>
                          </a:solidFill>
                        </a:rPr>
                        <a:t>2024</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a:solidFill>
                            <a:schemeClr val="tx1"/>
                          </a:solidFill>
                        </a:rPr>
                        <a:t>한기대</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rowSpan="15">
                  <a:txBody>
                    <a:bodyPr/>
                    <a:lstStyle/>
                    <a:p>
                      <a:pPr algn="ctr" latinLnBrk="1"/>
                      <a:r>
                        <a:rPr lang="ko-KR" altLang="en-US" sz="1000" dirty="0" err="1">
                          <a:solidFill>
                            <a:schemeClr val="tx1"/>
                          </a:solidFill>
                        </a:rPr>
                        <a:t>제안사</a:t>
                      </a:r>
                      <a:endParaRPr lang="en-US" altLang="ko-KR" sz="1000" dirty="0">
                        <a:solidFill>
                          <a:schemeClr val="tx1"/>
                        </a:solidFill>
                      </a:endParaRPr>
                    </a:p>
                    <a:p>
                      <a:pPr algn="ctr" latinLnBrk="1"/>
                      <a:r>
                        <a:rPr lang="ko-KR" altLang="en-US" sz="1000" dirty="0">
                          <a:solidFill>
                            <a:schemeClr val="tx1"/>
                          </a:solidFill>
                        </a:rPr>
                        <a:t>실적</a:t>
                      </a:r>
                      <a:endParaRPr lang="en-US" altLang="ko-KR" sz="1000" dirty="0">
                        <a:solidFill>
                          <a:schemeClr val="tx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85445463"/>
                  </a:ext>
                </a:extLst>
              </a:tr>
              <a:tr h="241205">
                <a:tc>
                  <a:txBody>
                    <a:bodyPr/>
                    <a:lstStyle/>
                    <a:p>
                      <a:pPr algn="ctr" latinLnBrk="1"/>
                      <a:r>
                        <a:rPr lang="en-US" altLang="ko-KR" sz="1000" b="1" dirty="0">
                          <a:solidFill>
                            <a:schemeClr val="tx1"/>
                          </a:solidFill>
                        </a:rPr>
                        <a:t>2</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기술교육로드맵 평생 및 디지털 신기술 분야 개발 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4709805"/>
                  </a:ext>
                </a:extLst>
              </a:tr>
              <a:tr h="241205">
                <a:tc>
                  <a:txBody>
                    <a:bodyPr/>
                    <a:lstStyle/>
                    <a:p>
                      <a:pPr algn="ctr" latinLnBrk="1"/>
                      <a:r>
                        <a:rPr lang="en-US" altLang="ko-KR" sz="1000" b="1" dirty="0">
                          <a:solidFill>
                            <a:schemeClr val="tx1"/>
                          </a:solidFill>
                        </a:rPr>
                        <a:t>3</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온라인</a:t>
                      </a:r>
                      <a:r>
                        <a:rPr lang="ko-KR" altLang="en-US" sz="900" spc="0" baseline="0" dirty="0">
                          <a:solidFill>
                            <a:schemeClr val="tx1"/>
                          </a:solidFill>
                        </a:rPr>
                        <a:t> 교육훈련 수요조사</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en-US" altLang="ko-KR" sz="1000" dirty="0">
                        <a:solidFill>
                          <a:schemeClr val="tx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94201033"/>
                  </a:ext>
                </a:extLst>
              </a:tr>
              <a:tr h="241205">
                <a:tc>
                  <a:txBody>
                    <a:bodyPr/>
                    <a:lstStyle/>
                    <a:p>
                      <a:pPr algn="ctr" latinLnBrk="1"/>
                      <a:r>
                        <a:rPr lang="en-US" altLang="ko-KR" sz="1000" b="1" dirty="0">
                          <a:solidFill>
                            <a:schemeClr val="tx1"/>
                          </a:solidFill>
                        </a:rPr>
                        <a:t>4</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대학 중장기 발전계획 개편 연구용역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614817674"/>
                  </a:ext>
                </a:extLst>
              </a:tr>
              <a:tr h="241205">
                <a:tc>
                  <a:txBody>
                    <a:bodyPr/>
                    <a:lstStyle/>
                    <a:p>
                      <a:pPr algn="ctr" latinLnBrk="1"/>
                      <a:r>
                        <a:rPr lang="en-US" altLang="ko-KR" sz="1000" b="1" dirty="0">
                          <a:solidFill>
                            <a:schemeClr val="tx1"/>
                          </a:solidFill>
                        </a:rPr>
                        <a:t>5</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일학습병행</a:t>
                      </a:r>
                      <a:r>
                        <a:rPr lang="ko-KR" altLang="en-US" sz="900" spc="0" dirty="0">
                          <a:solidFill>
                            <a:schemeClr val="tx1"/>
                          </a:solidFill>
                        </a:rPr>
                        <a:t> 기업현장교사 교육체계 설계</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1423528351"/>
                  </a:ext>
                </a:extLst>
              </a:tr>
              <a:tr h="241205">
                <a:tc>
                  <a:txBody>
                    <a:bodyPr/>
                    <a:lstStyle/>
                    <a:p>
                      <a:pPr algn="ctr" latinLnBrk="1"/>
                      <a:r>
                        <a:rPr lang="en-US" altLang="ko-KR" sz="1000" b="1" dirty="0">
                          <a:solidFill>
                            <a:schemeClr val="tx1"/>
                          </a:solidFill>
                        </a:rPr>
                        <a:t>6</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일학습병행</a:t>
                      </a:r>
                      <a:r>
                        <a:rPr lang="ko-KR" altLang="en-US" sz="900" spc="0" dirty="0">
                          <a:solidFill>
                            <a:schemeClr val="tx1"/>
                          </a:solidFill>
                        </a:rPr>
                        <a:t> 기업현장교사 업무매뉴얼 개발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12137237"/>
                  </a:ext>
                </a:extLst>
              </a:tr>
              <a:tr h="241205">
                <a:tc>
                  <a:txBody>
                    <a:bodyPr/>
                    <a:lstStyle/>
                    <a:p>
                      <a:pPr algn="ctr" latinLnBrk="1"/>
                      <a:r>
                        <a:rPr lang="en-US" altLang="ko-KR" sz="1000" b="1" dirty="0">
                          <a:solidFill>
                            <a:schemeClr val="tx1"/>
                          </a:solidFill>
                        </a:rPr>
                        <a:t>7</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일학습병행</a:t>
                      </a:r>
                      <a:r>
                        <a:rPr lang="ko-KR" altLang="en-US" sz="900" spc="0" dirty="0">
                          <a:solidFill>
                            <a:schemeClr val="tx1"/>
                          </a:solidFill>
                        </a:rPr>
                        <a:t> </a:t>
                      </a:r>
                      <a:r>
                        <a:rPr lang="ko-KR" altLang="en-US" sz="900" spc="0" dirty="0" err="1">
                          <a:solidFill>
                            <a:schemeClr val="tx1"/>
                          </a:solidFill>
                        </a:rPr>
                        <a:t>학위연계형</a:t>
                      </a:r>
                      <a:r>
                        <a:rPr lang="ko-KR" altLang="en-US" sz="900" spc="0" dirty="0">
                          <a:solidFill>
                            <a:schemeClr val="tx1"/>
                          </a:solidFill>
                        </a:rPr>
                        <a:t> </a:t>
                      </a:r>
                      <a:r>
                        <a:rPr lang="en-US" altLang="ko-KR" sz="900" spc="0" dirty="0">
                          <a:solidFill>
                            <a:schemeClr val="tx1"/>
                          </a:solidFill>
                        </a:rPr>
                        <a:t>PBL </a:t>
                      </a:r>
                      <a:r>
                        <a:rPr lang="ko-KR" altLang="en-US" sz="900" spc="0" dirty="0">
                          <a:solidFill>
                            <a:schemeClr val="tx1"/>
                          </a:solidFill>
                        </a:rPr>
                        <a:t>표준운영모델 개발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641724263"/>
                  </a:ext>
                </a:extLst>
              </a:tr>
              <a:tr h="241205">
                <a:tc>
                  <a:txBody>
                    <a:bodyPr/>
                    <a:lstStyle/>
                    <a:p>
                      <a:pPr algn="ctr" latinLnBrk="1"/>
                      <a:r>
                        <a:rPr lang="en-US" altLang="ko-KR" sz="1000" b="1" dirty="0">
                          <a:solidFill>
                            <a:schemeClr val="tx1"/>
                          </a:solidFill>
                        </a:rPr>
                        <a:t>8</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직훈교사</a:t>
                      </a:r>
                      <a:r>
                        <a:rPr lang="ko-KR" altLang="en-US" sz="900" spc="0" dirty="0">
                          <a:solidFill>
                            <a:schemeClr val="tx1"/>
                          </a:solidFill>
                        </a:rPr>
                        <a:t> </a:t>
                      </a:r>
                      <a:r>
                        <a:rPr lang="ko-KR" altLang="en-US" sz="900" spc="0" dirty="0" err="1">
                          <a:solidFill>
                            <a:schemeClr val="tx1"/>
                          </a:solidFill>
                        </a:rPr>
                        <a:t>자격체계</a:t>
                      </a:r>
                      <a:r>
                        <a:rPr lang="ko-KR" altLang="en-US" sz="900" spc="0" dirty="0">
                          <a:solidFill>
                            <a:schemeClr val="tx1"/>
                          </a:solidFill>
                        </a:rPr>
                        <a:t> 개편</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252237019"/>
                  </a:ext>
                </a:extLst>
              </a:tr>
              <a:tr h="241205">
                <a:tc>
                  <a:txBody>
                    <a:bodyPr/>
                    <a:lstStyle/>
                    <a:p>
                      <a:pPr algn="ctr" latinLnBrk="1"/>
                      <a:r>
                        <a:rPr lang="en-US" altLang="ko-KR" sz="1000" b="1" dirty="0">
                          <a:solidFill>
                            <a:schemeClr val="tx1"/>
                          </a:solidFill>
                        </a:rPr>
                        <a:t>9</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baseline="0" dirty="0" err="1">
                          <a:solidFill>
                            <a:schemeClr val="tx1"/>
                          </a:solidFill>
                        </a:rPr>
                        <a:t>일학습병행</a:t>
                      </a:r>
                      <a:r>
                        <a:rPr lang="ko-KR" altLang="en-US" sz="900" spc="0" baseline="0" dirty="0">
                          <a:solidFill>
                            <a:schemeClr val="tx1"/>
                          </a:solidFill>
                        </a:rPr>
                        <a:t> 공동훈련센터 </a:t>
                      </a:r>
                      <a:r>
                        <a:rPr lang="ko-KR" altLang="en-US" sz="900" spc="0" baseline="0" dirty="0" err="1">
                          <a:solidFill>
                            <a:schemeClr val="tx1"/>
                          </a:solidFill>
                        </a:rPr>
                        <a:t>전담자</a:t>
                      </a:r>
                      <a:r>
                        <a:rPr lang="ko-KR" altLang="en-US" sz="900" spc="0" baseline="0" dirty="0">
                          <a:solidFill>
                            <a:schemeClr val="tx1"/>
                          </a:solidFill>
                        </a:rPr>
                        <a:t> 직무연수 역량체계개발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70" baseline="0">
                          <a:solidFill>
                            <a:schemeClr val="tx1"/>
                          </a:solidFill>
                        </a:rPr>
                        <a:t>한기대  산학협력단</a:t>
                      </a:r>
                      <a:endParaRPr lang="ko-KR" altLang="en-US" sz="900" spc="-70" baseline="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271560"/>
                  </a:ext>
                </a:extLst>
              </a:tr>
              <a:tr h="285015">
                <a:tc>
                  <a:txBody>
                    <a:bodyPr/>
                    <a:lstStyle/>
                    <a:p>
                      <a:pPr algn="ctr" latinLnBrk="1"/>
                      <a:r>
                        <a:rPr lang="en-US" altLang="ko-KR" sz="1000" b="1" dirty="0">
                          <a:solidFill>
                            <a:schemeClr val="tx1"/>
                          </a:solidFill>
                        </a:rPr>
                        <a:t>10</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신기술 인력양성 </a:t>
                      </a:r>
                      <a:r>
                        <a:rPr lang="ko-KR" altLang="en-US" sz="900" spc="0" dirty="0" err="1">
                          <a:solidFill>
                            <a:schemeClr val="tx1"/>
                          </a:solidFill>
                        </a:rPr>
                        <a:t>협업예산</a:t>
                      </a:r>
                      <a:r>
                        <a:rPr lang="ko-KR" altLang="en-US" sz="900" spc="0" dirty="0">
                          <a:solidFill>
                            <a:schemeClr val="tx1"/>
                          </a:solidFill>
                        </a:rPr>
                        <a:t> </a:t>
                      </a:r>
                      <a:r>
                        <a:rPr lang="ko-KR" altLang="en-US" sz="900" spc="0" dirty="0" err="1">
                          <a:solidFill>
                            <a:schemeClr val="tx1"/>
                          </a:solidFill>
                        </a:rPr>
                        <a:t>편성사업</a:t>
                      </a:r>
                      <a:r>
                        <a:rPr lang="ko-KR" altLang="en-US" sz="900" spc="0" dirty="0">
                          <a:solidFill>
                            <a:schemeClr val="tx1"/>
                          </a:solidFill>
                        </a:rPr>
                        <a:t> 성과관리 </a:t>
                      </a:r>
                      <a:r>
                        <a:rPr lang="ko-KR" altLang="en-US" sz="900" spc="0">
                          <a:solidFill>
                            <a:schemeClr val="tx1"/>
                          </a:solidFill>
                        </a:rPr>
                        <a:t>지원 </a:t>
                      </a:r>
                      <a:endParaRPr lang="en-US" altLang="ko-KR" sz="900" spc="0">
                        <a:solidFill>
                          <a:schemeClr val="tx1"/>
                        </a:solidFill>
                      </a:endParaRPr>
                    </a:p>
                    <a:p>
                      <a:pPr algn="ctr" latinLnBrk="1"/>
                      <a:r>
                        <a:rPr lang="ko-KR" altLang="en-US" sz="900" spc="0">
                          <a:solidFill>
                            <a:schemeClr val="tx1"/>
                          </a:solidFill>
                        </a:rPr>
                        <a:t>컨설팅 </a:t>
                      </a:r>
                      <a:r>
                        <a:rPr lang="ko-KR" altLang="en-US" sz="900" spc="0" dirty="0">
                          <a:solidFill>
                            <a:schemeClr val="tx1"/>
                          </a:solidFill>
                        </a:rPr>
                        <a:t>방안 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 심평원</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082621"/>
                  </a:ext>
                </a:extLst>
              </a:tr>
              <a:tr h="241205">
                <a:tc>
                  <a:txBody>
                    <a:bodyPr/>
                    <a:lstStyle/>
                    <a:p>
                      <a:pPr algn="ctr" latinLnBrk="1"/>
                      <a:r>
                        <a:rPr lang="en-US" altLang="ko-KR" sz="1000" b="1" dirty="0">
                          <a:solidFill>
                            <a:schemeClr val="tx1"/>
                          </a:solidFill>
                        </a:rPr>
                        <a:t>11</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기업수요</a:t>
                      </a:r>
                      <a:r>
                        <a:rPr lang="ko-KR" altLang="en-US" sz="900" spc="0" dirty="0">
                          <a:solidFill>
                            <a:schemeClr val="tx1"/>
                          </a:solidFill>
                        </a:rPr>
                        <a:t> 맞춤형 훈련 사업계획 심사 및 </a:t>
                      </a:r>
                      <a:r>
                        <a:rPr lang="ko-KR" altLang="en-US" sz="900" spc="0">
                          <a:solidFill>
                            <a:schemeClr val="tx1"/>
                          </a:solidFill>
                        </a:rPr>
                        <a:t>성과평가 도구개발</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2020</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3677158"/>
                  </a:ext>
                </a:extLst>
              </a:tr>
              <a:tr h="285015">
                <a:tc>
                  <a:txBody>
                    <a:bodyPr/>
                    <a:lstStyle/>
                    <a:p>
                      <a:pPr algn="ctr" latinLnBrk="1"/>
                      <a:r>
                        <a:rPr lang="en-US" altLang="ko-KR" sz="1000" b="1" dirty="0">
                          <a:solidFill>
                            <a:schemeClr val="tx1"/>
                          </a:solidFill>
                        </a:rPr>
                        <a:t>12</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고용직업능력개발관련</a:t>
                      </a:r>
                      <a:r>
                        <a:rPr lang="ko-KR" altLang="en-US" sz="900" spc="0" dirty="0">
                          <a:solidFill>
                            <a:schemeClr val="tx1"/>
                          </a:solidFill>
                        </a:rPr>
                        <a:t> 분야 전문가 양성을 </a:t>
                      </a:r>
                      <a:r>
                        <a:rPr lang="ko-KR" altLang="en-US" sz="900" spc="0">
                          <a:solidFill>
                            <a:schemeClr val="tx1"/>
                          </a:solidFill>
                        </a:rPr>
                        <a:t>위한 </a:t>
                      </a:r>
                      <a:endParaRPr lang="en-US" altLang="ko-KR" sz="900" spc="0">
                        <a:solidFill>
                          <a:schemeClr val="tx1"/>
                        </a:solidFill>
                      </a:endParaRPr>
                    </a:p>
                    <a:p>
                      <a:pPr algn="ctr" latinLnBrk="1"/>
                      <a:r>
                        <a:rPr lang="ko-KR" altLang="en-US" sz="900" spc="0">
                          <a:solidFill>
                            <a:schemeClr val="tx1"/>
                          </a:solidFill>
                        </a:rPr>
                        <a:t>대학원 </a:t>
                      </a:r>
                      <a:r>
                        <a:rPr lang="ko-KR" altLang="en-US" sz="900" spc="0" dirty="0">
                          <a:solidFill>
                            <a:schemeClr val="tx1"/>
                          </a:solidFill>
                        </a:rPr>
                        <a:t>활성화 </a:t>
                      </a:r>
                      <a:r>
                        <a:rPr lang="ko-KR" altLang="en-US" sz="900" spc="0" dirty="0" err="1">
                          <a:solidFill>
                            <a:schemeClr val="tx1"/>
                          </a:solidFill>
                        </a:rPr>
                        <a:t>방안연구</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2020</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9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630308"/>
                  </a:ext>
                </a:extLst>
              </a:tr>
              <a:tr h="241205">
                <a:tc>
                  <a:txBody>
                    <a:bodyPr/>
                    <a:lstStyle/>
                    <a:p>
                      <a:pPr algn="ctr" latinLnBrk="1"/>
                      <a:r>
                        <a:rPr lang="en-US" altLang="ko-KR" sz="1000" b="1" dirty="0">
                          <a:solidFill>
                            <a:schemeClr val="tx1"/>
                          </a:solidFill>
                        </a:rPr>
                        <a:t>13</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ko-KR" sz="900" spc="0" dirty="0"/>
                        <a:t>4</a:t>
                      </a:r>
                      <a:r>
                        <a:rPr lang="ko-KR" altLang="en-US" sz="900" spc="0" dirty="0"/>
                        <a:t>단계 </a:t>
                      </a:r>
                      <a:r>
                        <a:rPr lang="en-US" altLang="ko-KR" sz="900" spc="0" dirty="0"/>
                        <a:t>BK21 </a:t>
                      </a:r>
                      <a:r>
                        <a:rPr lang="ko-KR" altLang="en-US" sz="900" spc="0" dirty="0"/>
                        <a:t>플러스 대학원 경영 혁신 부문 작성</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ko-KR" sz="900" spc="0" dirty="0"/>
                        <a:t>2020</a:t>
                      </a:r>
                      <a:endParaRPr lang="ko-KR" altLang="en-US" sz="900" spc="0" dirty="0"/>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ko-KR" altLang="en-US" sz="900" spc="0" dirty="0"/>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6447663"/>
                  </a:ext>
                </a:extLst>
              </a:tr>
              <a:tr h="241205">
                <a:tc>
                  <a:txBody>
                    <a:bodyPr/>
                    <a:lstStyle/>
                    <a:p>
                      <a:pPr algn="ctr" latinLnBrk="1"/>
                      <a:r>
                        <a:rPr lang="en-US" altLang="ko-KR" sz="1000" b="1" dirty="0">
                          <a:solidFill>
                            <a:schemeClr val="tx1"/>
                          </a:solidFill>
                        </a:rPr>
                        <a:t>14</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baseline="0" dirty="0" err="1">
                          <a:solidFill>
                            <a:schemeClr val="tx1"/>
                          </a:solidFill>
                        </a:rPr>
                        <a:t>일학습병행허브사업단</a:t>
                      </a:r>
                      <a:r>
                        <a:rPr lang="ko-KR" altLang="en-US" sz="900" spc="0" baseline="0" dirty="0">
                          <a:solidFill>
                            <a:schemeClr val="tx1"/>
                          </a:solidFill>
                        </a:rPr>
                        <a:t> 조직진단 및 직무분석 연구용역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2019</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70" baseline="0">
                          <a:solidFill>
                            <a:schemeClr val="tx1"/>
                          </a:solidFill>
                        </a:rPr>
                        <a:t>한기대  산학협력단</a:t>
                      </a:r>
                      <a:endParaRPr lang="ko-KR" altLang="en-US" sz="900" spc="-70" baseline="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1217626"/>
                  </a:ext>
                </a:extLst>
              </a:tr>
              <a:tr h="241205">
                <a:tc>
                  <a:txBody>
                    <a:bodyPr/>
                    <a:lstStyle/>
                    <a:p>
                      <a:pPr algn="ctr" latinLnBrk="1"/>
                      <a:r>
                        <a:rPr lang="en-US" altLang="ko-KR" sz="1000" b="1">
                          <a:solidFill>
                            <a:schemeClr val="tx1"/>
                          </a:solidFill>
                        </a:rPr>
                        <a:t>15</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코리아텍</a:t>
                      </a:r>
                      <a:r>
                        <a:rPr lang="ko-KR" altLang="en-US" sz="900" spc="0" dirty="0">
                          <a:solidFill>
                            <a:schemeClr val="tx1"/>
                          </a:solidFill>
                        </a:rPr>
                        <a:t> </a:t>
                      </a:r>
                      <a:r>
                        <a:rPr lang="en-US" altLang="ko-KR" sz="900" spc="0" dirty="0">
                          <a:solidFill>
                            <a:schemeClr val="tx1"/>
                          </a:solidFill>
                        </a:rPr>
                        <a:t>ESI </a:t>
                      </a:r>
                      <a:r>
                        <a:rPr lang="ko-KR" altLang="en-US" sz="900" spc="0" dirty="0">
                          <a:solidFill>
                            <a:schemeClr val="tx1"/>
                          </a:solidFill>
                        </a:rPr>
                        <a:t>모델 고도화 컨설팅</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2019</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6647443"/>
                  </a:ext>
                </a:extLst>
              </a:tr>
            </a:tbl>
          </a:graphicData>
        </a:graphic>
      </p:graphicFrame>
      <p:pic>
        <p:nvPicPr>
          <p:cNvPr id="24" name="그림 23">
            <a:extLst>
              <a:ext uri="{FF2B5EF4-FFF2-40B4-BE49-F238E27FC236}">
                <a16:creationId xmlns:a16="http://schemas.microsoft.com/office/drawing/2014/main" id="{BF8386A3-5F74-B921-603E-7C48B406CED9}"/>
              </a:ext>
            </a:extLst>
          </p:cNvPr>
          <p:cNvPicPr>
            <a:picLocks noChangeAspect="1"/>
          </p:cNvPicPr>
          <p:nvPr/>
        </p:nvPicPr>
        <p:blipFill>
          <a:blip r:embed="rId3"/>
          <a:stretch>
            <a:fillRect/>
          </a:stretch>
        </p:blipFill>
        <p:spPr>
          <a:xfrm>
            <a:off x="5410182" y="3886187"/>
            <a:ext cx="36" cy="25"/>
          </a:xfrm>
          <a:prstGeom prst="rect">
            <a:avLst/>
          </a:prstGeom>
        </p:spPr>
      </p:pic>
      <p:pic>
        <p:nvPicPr>
          <p:cNvPr id="25" name="그림 24">
            <a:extLst>
              <a:ext uri="{FF2B5EF4-FFF2-40B4-BE49-F238E27FC236}">
                <a16:creationId xmlns:a16="http://schemas.microsoft.com/office/drawing/2014/main" id="{A007D358-E923-CD7E-0483-D0B21533F224}"/>
              </a:ext>
            </a:extLst>
          </p:cNvPr>
          <p:cNvPicPr>
            <a:picLocks noChangeAspect="1"/>
          </p:cNvPicPr>
          <p:nvPr/>
        </p:nvPicPr>
        <p:blipFill>
          <a:blip r:embed="rId3"/>
          <a:stretch>
            <a:fillRect/>
          </a:stretch>
        </p:blipFill>
        <p:spPr>
          <a:xfrm>
            <a:off x="5562582" y="4038587"/>
            <a:ext cx="36" cy="25"/>
          </a:xfrm>
          <a:prstGeom prst="rect">
            <a:avLst/>
          </a:prstGeom>
        </p:spPr>
      </p:pic>
      <p:pic>
        <p:nvPicPr>
          <p:cNvPr id="26" name="그림 25">
            <a:extLst>
              <a:ext uri="{FF2B5EF4-FFF2-40B4-BE49-F238E27FC236}">
                <a16:creationId xmlns:a16="http://schemas.microsoft.com/office/drawing/2014/main" id="{AFC9CAC1-65A8-A379-386F-36B42D522F3A}"/>
              </a:ext>
            </a:extLst>
          </p:cNvPr>
          <p:cNvPicPr>
            <a:picLocks noChangeAspect="1"/>
          </p:cNvPicPr>
          <p:nvPr/>
        </p:nvPicPr>
        <p:blipFill>
          <a:blip r:embed="rId4"/>
          <a:stretch>
            <a:fillRect/>
          </a:stretch>
        </p:blipFill>
        <p:spPr>
          <a:xfrm>
            <a:off x="603005" y="4871822"/>
            <a:ext cx="2232249" cy="1621371"/>
          </a:xfrm>
          <a:prstGeom prst="rect">
            <a:avLst/>
          </a:prstGeom>
          <a:ln>
            <a:solidFill>
              <a:schemeClr val="tx1"/>
            </a:solidFill>
          </a:ln>
        </p:spPr>
      </p:pic>
      <p:pic>
        <p:nvPicPr>
          <p:cNvPr id="27" name="그림 26">
            <a:extLst>
              <a:ext uri="{FF2B5EF4-FFF2-40B4-BE49-F238E27FC236}">
                <a16:creationId xmlns:a16="http://schemas.microsoft.com/office/drawing/2014/main" id="{1CB33886-C7F0-EB01-FE22-15F002003E87}"/>
              </a:ext>
            </a:extLst>
          </p:cNvPr>
          <p:cNvPicPr>
            <a:picLocks noChangeAspect="1"/>
          </p:cNvPicPr>
          <p:nvPr/>
        </p:nvPicPr>
        <p:blipFill>
          <a:blip r:embed="rId5"/>
          <a:stretch>
            <a:fillRect/>
          </a:stretch>
        </p:blipFill>
        <p:spPr>
          <a:xfrm>
            <a:off x="1785032" y="4871821"/>
            <a:ext cx="2231864" cy="1621371"/>
          </a:xfrm>
          <a:prstGeom prst="rect">
            <a:avLst/>
          </a:prstGeom>
          <a:ln>
            <a:solidFill>
              <a:schemeClr val="tx1"/>
            </a:solidFill>
          </a:ln>
        </p:spPr>
      </p:pic>
      <p:pic>
        <p:nvPicPr>
          <p:cNvPr id="29" name="그림 28">
            <a:extLst>
              <a:ext uri="{FF2B5EF4-FFF2-40B4-BE49-F238E27FC236}">
                <a16:creationId xmlns:a16="http://schemas.microsoft.com/office/drawing/2014/main" id="{8A7E01B4-4526-3166-B037-CA4519D2BC3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9726" y="2469746"/>
            <a:ext cx="1689735" cy="2384146"/>
          </a:xfrm>
          <a:prstGeom prst="rect">
            <a:avLst/>
          </a:prstGeom>
          <a:ln>
            <a:solidFill>
              <a:schemeClr val="tx1"/>
            </a:solidFill>
          </a:ln>
        </p:spPr>
      </p:pic>
      <p:pic>
        <p:nvPicPr>
          <p:cNvPr id="30" name="그림 29">
            <a:extLst>
              <a:ext uri="{FF2B5EF4-FFF2-40B4-BE49-F238E27FC236}">
                <a16:creationId xmlns:a16="http://schemas.microsoft.com/office/drawing/2014/main" id="{361C1739-17B3-EB53-16CC-3F2A62833B9C}"/>
              </a:ext>
            </a:extLst>
          </p:cNvPr>
          <p:cNvPicPr>
            <a:picLocks noChangeAspect="1"/>
          </p:cNvPicPr>
          <p:nvPr/>
        </p:nvPicPr>
        <p:blipFill>
          <a:blip r:embed="rId7"/>
          <a:stretch>
            <a:fillRect/>
          </a:stretch>
        </p:blipFill>
        <p:spPr>
          <a:xfrm>
            <a:off x="1470330" y="2474967"/>
            <a:ext cx="1683992" cy="2378926"/>
          </a:xfrm>
          <a:prstGeom prst="rect">
            <a:avLst/>
          </a:prstGeom>
          <a:ln>
            <a:solidFill>
              <a:schemeClr val="tx1"/>
            </a:solidFill>
          </a:ln>
        </p:spPr>
      </p:pic>
      <p:grpSp>
        <p:nvGrpSpPr>
          <p:cNvPr id="31" name="그룹 30">
            <a:extLst>
              <a:ext uri="{FF2B5EF4-FFF2-40B4-BE49-F238E27FC236}">
                <a16:creationId xmlns:a16="http://schemas.microsoft.com/office/drawing/2014/main" id="{8C864BBF-D653-FE8C-A563-5DE4D8D648B8}"/>
              </a:ext>
            </a:extLst>
          </p:cNvPr>
          <p:cNvGrpSpPr/>
          <p:nvPr/>
        </p:nvGrpSpPr>
        <p:grpSpPr>
          <a:xfrm>
            <a:off x="2322339" y="2477132"/>
            <a:ext cx="1683992" cy="2378926"/>
            <a:chOff x="-1213169" y="2924944"/>
            <a:chExt cx="1683992" cy="2378926"/>
          </a:xfrm>
        </p:grpSpPr>
        <p:grpSp>
          <p:nvGrpSpPr>
            <p:cNvPr id="32" name="그룹 31">
              <a:extLst>
                <a:ext uri="{FF2B5EF4-FFF2-40B4-BE49-F238E27FC236}">
                  <a16:creationId xmlns:a16="http://schemas.microsoft.com/office/drawing/2014/main" id="{38002352-ABE4-B2BB-444A-244F89EB3979}"/>
                </a:ext>
              </a:extLst>
            </p:cNvPr>
            <p:cNvGrpSpPr/>
            <p:nvPr/>
          </p:nvGrpSpPr>
          <p:grpSpPr>
            <a:xfrm>
              <a:off x="-1213169" y="2924944"/>
              <a:ext cx="1683992" cy="2378926"/>
              <a:chOff x="9448046" y="2960948"/>
              <a:chExt cx="1683992" cy="2378926"/>
            </a:xfrm>
          </p:grpSpPr>
          <p:pic>
            <p:nvPicPr>
              <p:cNvPr id="34" name="그림 33">
                <a:extLst>
                  <a:ext uri="{FF2B5EF4-FFF2-40B4-BE49-F238E27FC236}">
                    <a16:creationId xmlns:a16="http://schemas.microsoft.com/office/drawing/2014/main" id="{75005DB9-DA7F-2A90-D5B6-078982C075E6}"/>
                  </a:ext>
                </a:extLst>
              </p:cNvPr>
              <p:cNvPicPr>
                <a:picLocks noChangeAspect="1"/>
              </p:cNvPicPr>
              <p:nvPr/>
            </p:nvPicPr>
            <p:blipFill>
              <a:blip r:embed="rId7"/>
              <a:stretch>
                <a:fillRect/>
              </a:stretch>
            </p:blipFill>
            <p:spPr>
              <a:xfrm>
                <a:off x="9448046" y="2960948"/>
                <a:ext cx="1683992" cy="2378926"/>
              </a:xfrm>
              <a:prstGeom prst="rect">
                <a:avLst/>
              </a:prstGeom>
              <a:ln>
                <a:solidFill>
                  <a:schemeClr val="tx1"/>
                </a:solidFill>
              </a:ln>
            </p:spPr>
          </p:pic>
          <p:pic>
            <p:nvPicPr>
              <p:cNvPr id="37" name="그림 36">
                <a:extLst>
                  <a:ext uri="{FF2B5EF4-FFF2-40B4-BE49-F238E27FC236}">
                    <a16:creationId xmlns:a16="http://schemas.microsoft.com/office/drawing/2014/main" id="{AA8EAF8A-E71D-20CB-82CE-C3EEB5AB89D7}"/>
                  </a:ext>
                </a:extLst>
              </p:cNvPr>
              <p:cNvPicPr>
                <a:picLocks noChangeAspect="1"/>
              </p:cNvPicPr>
              <p:nvPr/>
            </p:nvPicPr>
            <p:blipFill rotWithShape="1">
              <a:blip r:embed="rId8"/>
              <a:srcRect r="6809"/>
              <a:stretch/>
            </p:blipFill>
            <p:spPr>
              <a:xfrm>
                <a:off x="9633520" y="3132820"/>
                <a:ext cx="1296144" cy="296198"/>
              </a:xfrm>
              <a:prstGeom prst="rect">
                <a:avLst/>
              </a:prstGeom>
            </p:spPr>
          </p:pic>
        </p:grpSp>
        <p:pic>
          <p:nvPicPr>
            <p:cNvPr id="33" name="그림 32">
              <a:extLst>
                <a:ext uri="{FF2B5EF4-FFF2-40B4-BE49-F238E27FC236}">
                  <a16:creationId xmlns:a16="http://schemas.microsoft.com/office/drawing/2014/main" id="{1A369111-D176-AD6B-866F-144DFDD3FB94}"/>
                </a:ext>
              </a:extLst>
            </p:cNvPr>
            <p:cNvPicPr>
              <a:picLocks noChangeAspect="1"/>
            </p:cNvPicPr>
            <p:nvPr/>
          </p:nvPicPr>
          <p:blipFill>
            <a:blip r:embed="rId9"/>
            <a:stretch>
              <a:fillRect/>
            </a:stretch>
          </p:blipFill>
          <p:spPr>
            <a:xfrm>
              <a:off x="-663624" y="4905164"/>
              <a:ext cx="762364" cy="266480"/>
            </a:xfrm>
            <a:prstGeom prst="rect">
              <a:avLst/>
            </a:prstGeom>
          </p:spPr>
        </p:pic>
      </p:grpSp>
    </p:spTree>
    <p:extLst>
      <p:ext uri="{BB962C8B-B14F-4D97-AF65-F5344CB8AC3E}">
        <p14:creationId xmlns:p14="http://schemas.microsoft.com/office/powerpoint/2010/main" val="2751305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75627478-15F8-4686-5B29-ACFE01622A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pic>
        <p:nvPicPr>
          <p:cNvPr id="13" name="Picture 3">
            <a:extLst>
              <a:ext uri="{FF2B5EF4-FFF2-40B4-BE49-F238E27FC236}">
                <a16:creationId xmlns:a16="http://schemas.microsoft.com/office/drawing/2014/main" id="{373C4892-5D23-B97C-4432-E9169E4D5C50}"/>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0" y="0"/>
            <a:ext cx="4269720" cy="6858000"/>
          </a:xfrm>
          <a:prstGeom prst="rect">
            <a:avLst/>
          </a:prstGeom>
          <a:pattFill prst="horzBrick">
            <a:fgClr>
              <a:schemeClr val="bg1">
                <a:lumMod val="75000"/>
              </a:schemeClr>
            </a:fgClr>
            <a:bgClr>
              <a:schemeClr val="bg1"/>
            </a:bgClr>
          </a:pattFill>
          <a:ln>
            <a:noFill/>
          </a:ln>
        </p:spPr>
      </p:pic>
      <p:sp>
        <p:nvSpPr>
          <p:cNvPr id="18" name="Text Placeholder 1">
            <a:extLst>
              <a:ext uri="{FF2B5EF4-FFF2-40B4-BE49-F238E27FC236}">
                <a16:creationId xmlns:a16="http://schemas.microsoft.com/office/drawing/2014/main" id="{C4E93A0F-4A59-4C96-8D4B-97E10930219B}"/>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lang="en-US" altLang="ko-KR" sz="2500" dirty="0">
                <a:solidFill>
                  <a:srgbClr val="000000"/>
                </a:solidFill>
                <a:ea typeface="a고딕14" panose="02020600000000000000" pitchFamily="18" charset="-127"/>
              </a:rPr>
              <a:t>Ⅱ</a:t>
            </a:r>
            <a:r>
              <a:rPr kumimoji="0" lang="en-US" altLang="ko-KR" sz="2500" b="0" i="0" u="none" strike="noStrike" kern="120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sym typeface="+mn-lt"/>
              </a:rPr>
              <a:t>. </a:t>
            </a:r>
            <a:r>
              <a:rPr kumimoji="0" lang="ko-KR" altLang="en-US" sz="2500" b="0" i="0" u="none" strike="noStrike" kern="120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sym typeface="+mn-lt"/>
              </a:rPr>
              <a:t>제안 내용</a:t>
            </a:r>
            <a:endParaRPr kumimoji="0" lang="ko-KR" altLang="en-US" sz="2500" b="0" i="0" u="none" strike="noStrike" kern="1200" cap="none" spc="0" normalizeH="0" baseline="0" noProof="0" dirty="0">
              <a:ln>
                <a:noFill/>
              </a:ln>
              <a:solidFill>
                <a:srgbClr val="000000"/>
              </a:solidFill>
              <a:effectLst/>
              <a:uLnTx/>
              <a:uFillTx/>
              <a:latin typeface="Arial Narrow"/>
              <a:ea typeface="a고딕14" panose="02020600000000000000" pitchFamily="18" charset="-127"/>
              <a:cs typeface="+mn-cs"/>
              <a:sym typeface="+mn-lt"/>
            </a:endParaRPr>
          </a:p>
        </p:txBody>
      </p:sp>
      <p:sp>
        <p:nvSpPr>
          <p:cNvPr id="19" name="Text Placeholder 1">
            <a:extLst>
              <a:ext uri="{FF2B5EF4-FFF2-40B4-BE49-F238E27FC236}">
                <a16:creationId xmlns:a16="http://schemas.microsoft.com/office/drawing/2014/main" id="{C4E93A0F-4A59-4C96-8D4B-97E10930219B}"/>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과업 추진방향</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과업 수행계획 및 방법</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추진일정계획</a:t>
            </a:r>
          </a:p>
        </p:txBody>
      </p:sp>
    </p:spTree>
    <p:extLst>
      <p:ext uri="{BB962C8B-B14F-4D97-AF65-F5344CB8AC3E}">
        <p14:creationId xmlns:p14="http://schemas.microsoft.com/office/powerpoint/2010/main" val="1990048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직사각형 56">
            <a:extLst>
              <a:ext uri="{FF2B5EF4-FFF2-40B4-BE49-F238E27FC236}">
                <a16:creationId xmlns:a16="http://schemas.microsoft.com/office/drawing/2014/main" id="{A76C1363-B01D-61F7-B28C-AE63FB2F5D7C}"/>
              </a:ext>
            </a:extLst>
          </p:cNvPr>
          <p:cNvSpPr/>
          <p:nvPr/>
        </p:nvSpPr>
        <p:spPr bwMode="auto">
          <a:xfrm>
            <a:off x="870214" y="6263130"/>
            <a:ext cx="1790752" cy="30253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신규 개발 교육과정 </a:t>
            </a:r>
            <a:r>
              <a:rPr lang="en-US" altLang="ko-KR" sz="1000" kern="0" dirty="0">
                <a:solidFill>
                  <a:srgbClr val="000000"/>
                </a:solidFill>
                <a:latin typeface="a고딕14"/>
                <a:ea typeface="a고딕14"/>
              </a:rPr>
              <a:t>List</a:t>
            </a:r>
            <a:endParaRPr lang="ko-KR" altLang="en-US" sz="1000" kern="0" dirty="0">
              <a:solidFill>
                <a:srgbClr val="000000"/>
              </a:solidFill>
              <a:latin typeface="a고딕14"/>
              <a:ea typeface="a고딕14"/>
            </a:endParaRPr>
          </a:p>
        </p:txBody>
      </p:sp>
      <p:sp>
        <p:nvSpPr>
          <p:cNvPr id="91" name="직사각형 56">
            <a:extLst>
              <a:ext uri="{FF2B5EF4-FFF2-40B4-BE49-F238E27FC236}">
                <a16:creationId xmlns:a16="http://schemas.microsoft.com/office/drawing/2014/main" id="{1FD3472B-4FB8-3E42-207F-AB0E5C2E9049}"/>
              </a:ext>
            </a:extLst>
          </p:cNvPr>
          <p:cNvSpPr/>
          <p:nvPr/>
        </p:nvSpPr>
        <p:spPr bwMode="auto">
          <a:xfrm>
            <a:off x="870214" y="5923554"/>
            <a:ext cx="1790752" cy="30253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수요조사 결과</a:t>
            </a:r>
          </a:p>
        </p:txBody>
      </p:sp>
      <p:sp>
        <p:nvSpPr>
          <p:cNvPr id="72" name="직사각형 71"/>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73" name="텍스트 개체 틀 3"/>
          <p:cNvSpPr>
            <a:spLocks noGrp="1"/>
          </p:cNvSpPr>
          <p:nvPr>
            <p:ph type="body" sz="quarter" idx="16"/>
          </p:nvPr>
        </p:nvSpPr>
        <p:spPr>
          <a:xfrm>
            <a:off x="7293260" y="138529"/>
            <a:ext cx="2052352" cy="446155"/>
          </a:xfrm>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1. </a:t>
            </a:r>
            <a:r>
              <a:rPr lang="ko-KR" altLang="en-US" dirty="0">
                <a:latin typeface="+mn-ea"/>
              </a:rPr>
              <a:t>과업 추진방향</a:t>
            </a:r>
          </a:p>
        </p:txBody>
      </p:sp>
      <p:sp>
        <p:nvSpPr>
          <p:cNvPr id="74"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6" cy="331935"/>
          </a:xfrm>
          <a:noFill/>
        </p:spPr>
        <p:txBody>
          <a:bodyPr vert="horz" wrap="none" lIns="72000" tIns="0" rIns="0" bIns="0" rtlCol="0" anchor="ctr">
            <a:noAutofit/>
          </a:bodyPr>
          <a:lstStyle/>
          <a:p>
            <a:pPr latinLnBrk="0"/>
            <a:r>
              <a:rPr lang="en-US" altLang="ko-KR" dirty="0"/>
              <a:t>Q. </a:t>
            </a:r>
            <a:r>
              <a:rPr lang="ko-KR" altLang="en-US" dirty="0"/>
              <a:t>본 과업의 체계적인 이행을 위해 어떠한 단계로 진행할 것인가</a:t>
            </a:r>
            <a:r>
              <a:rPr lang="en-US" altLang="ko-KR" dirty="0"/>
              <a:t>?</a:t>
            </a:r>
          </a:p>
        </p:txBody>
      </p:sp>
      <p:sp>
        <p:nvSpPr>
          <p:cNvPr id="78" name="직사각형 77"/>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en-US" altLang="ko-KR" dirty="0">
                <a:solidFill>
                  <a:prstClr val="white"/>
                </a:solidFill>
                <a:latin typeface="+mn-ea"/>
              </a:rPr>
              <a:t>Framework</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79"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2"/>
            <a:ext cx="8749097" cy="815119"/>
          </a:xfrm>
        </p:spPr>
        <p:txBody>
          <a:bodyPr/>
          <a:lstStyle/>
          <a:p>
            <a:pPr latinLnBrk="0"/>
            <a:r>
              <a:rPr lang="ko-KR" altLang="en-US" sz="1800" dirty="0"/>
              <a:t>제안사는 </a:t>
            </a:r>
            <a:r>
              <a:rPr lang="en-US" altLang="ko-KR" sz="1800" dirty="0">
                <a:solidFill>
                  <a:srgbClr val="0070C0"/>
                </a:solidFill>
              </a:rPr>
              <a:t>RFP</a:t>
            </a:r>
            <a:r>
              <a:rPr lang="ko-KR" altLang="en-US" sz="1800" dirty="0">
                <a:solidFill>
                  <a:srgbClr val="0070C0"/>
                </a:solidFill>
              </a:rPr>
              <a:t>에서 제시된 과업 내용</a:t>
            </a:r>
            <a:r>
              <a:rPr lang="ko-KR" altLang="en-US" sz="1800" dirty="0"/>
              <a:t>과 </a:t>
            </a:r>
            <a:r>
              <a:rPr lang="ko-KR" altLang="en-US" sz="1800" dirty="0">
                <a:solidFill>
                  <a:srgbClr val="0070C0"/>
                </a:solidFill>
              </a:rPr>
              <a:t>접근 전략을 기반</a:t>
            </a:r>
            <a:r>
              <a:rPr lang="ko-KR" altLang="en-US" sz="1800" dirty="0"/>
              <a:t>으로 본 프로젝트 </a:t>
            </a:r>
            <a:r>
              <a:rPr lang="en-US" altLang="ko-KR" sz="1800" dirty="0"/>
              <a:t>Framework</a:t>
            </a:r>
            <a:r>
              <a:rPr lang="ko-KR" altLang="en-US" sz="1800" dirty="0"/>
              <a:t>을 </a:t>
            </a:r>
            <a:r>
              <a:rPr lang="ko-KR" altLang="en-US" sz="1800" dirty="0">
                <a:solidFill>
                  <a:srgbClr val="0070C0"/>
                </a:solidFill>
              </a:rPr>
              <a:t>총 </a:t>
            </a:r>
            <a:r>
              <a:rPr lang="en-US" altLang="ko-KR" dirty="0">
                <a:solidFill>
                  <a:srgbClr val="0070C0"/>
                </a:solidFill>
              </a:rPr>
              <a:t>6</a:t>
            </a:r>
            <a:r>
              <a:rPr lang="ko-KR" altLang="en-US" sz="1800" dirty="0">
                <a:solidFill>
                  <a:srgbClr val="0070C0"/>
                </a:solidFill>
              </a:rPr>
              <a:t>개의 </a:t>
            </a:r>
            <a:r>
              <a:rPr lang="en-US" altLang="ko-KR" sz="1800" dirty="0">
                <a:solidFill>
                  <a:srgbClr val="0070C0"/>
                </a:solidFill>
              </a:rPr>
              <a:t>Modules</a:t>
            </a:r>
            <a:r>
              <a:rPr lang="ko-KR" altLang="en-US" sz="1800" dirty="0">
                <a:solidFill>
                  <a:srgbClr val="0070C0"/>
                </a:solidFill>
              </a:rPr>
              <a:t>로 재구조화 </a:t>
            </a:r>
            <a:r>
              <a:rPr lang="ko-KR" altLang="en-US" sz="1800" dirty="0"/>
              <a:t>하였음</a:t>
            </a:r>
          </a:p>
        </p:txBody>
      </p:sp>
      <p:grpSp>
        <p:nvGrpSpPr>
          <p:cNvPr id="3" name="그룹 2">
            <a:extLst>
              <a:ext uri="{FF2B5EF4-FFF2-40B4-BE49-F238E27FC236}">
                <a16:creationId xmlns:a16="http://schemas.microsoft.com/office/drawing/2014/main" id="{9E5EE22A-5473-F0C5-EABC-181BE7AB5726}"/>
              </a:ext>
            </a:extLst>
          </p:cNvPr>
          <p:cNvGrpSpPr/>
          <p:nvPr/>
        </p:nvGrpSpPr>
        <p:grpSpPr>
          <a:xfrm>
            <a:off x="3162248" y="1622122"/>
            <a:ext cx="1790752" cy="2417371"/>
            <a:chOff x="5208088" y="1622122"/>
            <a:chExt cx="1790752" cy="2417371"/>
          </a:xfrm>
        </p:grpSpPr>
        <p:sp>
          <p:nvSpPr>
            <p:cNvPr id="44" name="직사각형 93">
              <a:extLst>
                <a:ext uri="{FF2B5EF4-FFF2-40B4-BE49-F238E27FC236}">
                  <a16:creationId xmlns:a16="http://schemas.microsoft.com/office/drawing/2014/main" id="{ED0FFA3C-EA82-5BA2-FD00-0ADAF95EC97B}"/>
                </a:ext>
              </a:extLst>
            </p:cNvPr>
            <p:cNvSpPr/>
            <p:nvPr/>
          </p:nvSpPr>
          <p:spPr bwMode="auto">
            <a:xfrm>
              <a:off x="5208088" y="1622122"/>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신규 과정개발 </a:t>
              </a: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능력단위 도출</a:t>
              </a:r>
              <a:endParaRPr lang="en-US" altLang="ko-KR" kern="0" dirty="0">
                <a:solidFill>
                  <a:prstClr val="white"/>
                </a:solidFill>
                <a:latin typeface="a고딕14"/>
                <a:ea typeface="a고딕14"/>
              </a:endParaRPr>
            </a:p>
          </p:txBody>
        </p:sp>
        <p:sp>
          <p:nvSpPr>
            <p:cNvPr id="45" name="직사각형 44">
              <a:extLst>
                <a:ext uri="{FF2B5EF4-FFF2-40B4-BE49-F238E27FC236}">
                  <a16:creationId xmlns:a16="http://schemas.microsoft.com/office/drawing/2014/main" id="{CEADA8FA-99EE-8CFA-C47C-8CE7B67631E3}"/>
                </a:ext>
              </a:extLst>
            </p:cNvPr>
            <p:cNvSpPr/>
            <p:nvPr/>
          </p:nvSpPr>
          <p:spPr>
            <a:xfrm>
              <a:off x="5208088" y="1623630"/>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noProof="0" dirty="0">
                  <a:solidFill>
                    <a:prstClr val="black"/>
                  </a:solidFill>
                  <a:latin typeface="a고딕14" panose="02020600000000000000" pitchFamily="18" charset="-127"/>
                  <a:ea typeface="a고딕14" panose="02020600000000000000" pitchFamily="18" charset="-127"/>
                </a:rPr>
                <a:t>2</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58" name="직사각형 55">
              <a:extLst>
                <a:ext uri="{FF2B5EF4-FFF2-40B4-BE49-F238E27FC236}">
                  <a16:creationId xmlns:a16="http://schemas.microsoft.com/office/drawing/2014/main" id="{5B19382B-15F7-E9A4-08C8-69C3D7805893}"/>
                </a:ext>
              </a:extLst>
            </p:cNvPr>
            <p:cNvSpPr/>
            <p:nvPr/>
          </p:nvSpPr>
          <p:spPr bwMode="auto">
            <a:xfrm>
              <a:off x="5208088" y="2151673"/>
              <a:ext cx="1790752"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60" name="직사각형 56">
              <a:extLst>
                <a:ext uri="{FF2B5EF4-FFF2-40B4-BE49-F238E27FC236}">
                  <a16:creationId xmlns:a16="http://schemas.microsoft.com/office/drawing/2014/main" id="{0CEC8556-887A-D053-3421-1049FC2F0EE3}"/>
                </a:ext>
              </a:extLst>
            </p:cNvPr>
            <p:cNvSpPr/>
            <p:nvPr/>
          </p:nvSpPr>
          <p:spPr bwMode="auto">
            <a:xfrm>
              <a:off x="5265163" y="2182252"/>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kumimoji="0" lang="ko-KR" altLang="en-US" sz="1050" b="0" i="0" u="none" strike="noStrike" kern="0" cap="none" normalizeH="0" baseline="0" noProof="0" dirty="0">
                  <a:ln>
                    <a:noFill/>
                  </a:ln>
                  <a:solidFill>
                    <a:srgbClr val="000000"/>
                  </a:solidFill>
                  <a:effectLst/>
                  <a:uLnTx/>
                  <a:uFillTx/>
                  <a:latin typeface="a고딕14"/>
                  <a:ea typeface="a고딕14"/>
                  <a:cs typeface="+mn-cs"/>
                </a:rPr>
                <a:t>과정개발 가능 여부 판단을 위한 자문회의</a:t>
              </a:r>
              <a:r>
                <a:rPr kumimoji="0" lang="en-US" altLang="ko-KR" sz="1050" b="0" i="0" u="none" strike="noStrike" kern="0" cap="none" normalizeH="0" baseline="0" noProof="0" dirty="0">
                  <a:ln>
                    <a:noFill/>
                  </a:ln>
                  <a:solidFill>
                    <a:srgbClr val="000000"/>
                  </a:solidFill>
                  <a:effectLst/>
                  <a:uLnTx/>
                  <a:uFillTx/>
                  <a:latin typeface="a고딕14"/>
                  <a:ea typeface="a고딕14"/>
                  <a:cs typeface="+mn-cs"/>
                </a:rPr>
                <a:t> </a:t>
              </a:r>
              <a:r>
                <a:rPr kumimoji="0" lang="ko-KR" altLang="en-US" sz="1050" b="0" i="0" u="none" strike="noStrike" kern="0" cap="none" normalizeH="0" baseline="0" noProof="0" dirty="0">
                  <a:ln>
                    <a:noFill/>
                  </a:ln>
                  <a:solidFill>
                    <a:srgbClr val="000000"/>
                  </a:solidFill>
                  <a:effectLst/>
                  <a:uLnTx/>
                  <a:uFillTx/>
                  <a:latin typeface="a고딕14"/>
                  <a:ea typeface="a고딕14"/>
                  <a:cs typeface="+mn-cs"/>
                </a:rPr>
                <a:t>실시</a:t>
              </a:r>
            </a:p>
          </p:txBody>
        </p:sp>
        <p:sp>
          <p:nvSpPr>
            <p:cNvPr id="68" name="직사각형 56">
              <a:extLst>
                <a:ext uri="{FF2B5EF4-FFF2-40B4-BE49-F238E27FC236}">
                  <a16:creationId xmlns:a16="http://schemas.microsoft.com/office/drawing/2014/main" id="{02831FE8-844E-C16E-B6DD-DCE8A6D1CAF1}"/>
                </a:ext>
              </a:extLst>
            </p:cNvPr>
            <p:cNvSpPr/>
            <p:nvPr/>
          </p:nvSpPr>
          <p:spPr bwMode="auto">
            <a:xfrm>
              <a:off x="5265163" y="2571935"/>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과정개발 가능한 </a:t>
              </a:r>
              <a:endParaRPr lang="en-US" altLang="ko-KR" sz="1050" kern="0" dirty="0">
                <a:solidFill>
                  <a:srgbClr val="000000"/>
                </a:solidFill>
                <a:latin typeface="a고딕14"/>
                <a:ea typeface="a고딕14"/>
              </a:endParaRPr>
            </a:p>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능력단위 평가 실시</a:t>
              </a:r>
            </a:p>
          </p:txBody>
        </p:sp>
        <p:sp>
          <p:nvSpPr>
            <p:cNvPr id="77" name="직사각형 56">
              <a:extLst>
                <a:ext uri="{FF2B5EF4-FFF2-40B4-BE49-F238E27FC236}">
                  <a16:creationId xmlns:a16="http://schemas.microsoft.com/office/drawing/2014/main" id="{049D0E09-BAF2-2793-99ED-4F8502311FE2}"/>
                </a:ext>
              </a:extLst>
            </p:cNvPr>
            <p:cNvSpPr/>
            <p:nvPr/>
          </p:nvSpPr>
          <p:spPr bwMode="auto">
            <a:xfrm>
              <a:off x="5208450" y="3390786"/>
              <a:ext cx="1790389"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과정개발 가능 능력단위 </a:t>
              </a:r>
              <a:r>
                <a:rPr lang="en-US" altLang="ko-KR" sz="1000" kern="0" dirty="0">
                  <a:solidFill>
                    <a:srgbClr val="000000"/>
                  </a:solidFill>
                  <a:latin typeface="a고딕14"/>
                  <a:ea typeface="a고딕14"/>
                </a:rPr>
                <a:t>List</a:t>
              </a:r>
              <a:endParaRPr lang="ko-KR" altLang="en-US" sz="1000" kern="0" dirty="0">
                <a:solidFill>
                  <a:srgbClr val="000000"/>
                </a:solidFill>
                <a:latin typeface="a고딕14"/>
                <a:ea typeface="a고딕14"/>
              </a:endParaRPr>
            </a:p>
          </p:txBody>
        </p:sp>
        <p:sp>
          <p:nvSpPr>
            <p:cNvPr id="82" name="직사각형 56">
              <a:extLst>
                <a:ext uri="{FF2B5EF4-FFF2-40B4-BE49-F238E27FC236}">
                  <a16:creationId xmlns:a16="http://schemas.microsoft.com/office/drawing/2014/main" id="{16ACB2CA-43E8-1408-D15F-9A822A0B6961}"/>
                </a:ext>
              </a:extLst>
            </p:cNvPr>
            <p:cNvSpPr/>
            <p:nvPr/>
          </p:nvSpPr>
          <p:spPr bwMode="auto">
            <a:xfrm>
              <a:off x="5208450" y="3730176"/>
              <a:ext cx="1790389"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수요조사 대상 능력단위 </a:t>
              </a:r>
              <a:r>
                <a:rPr lang="en-US" altLang="ko-KR" sz="1000" kern="0" dirty="0">
                  <a:solidFill>
                    <a:srgbClr val="000000"/>
                  </a:solidFill>
                  <a:latin typeface="a고딕14"/>
                  <a:ea typeface="a고딕14"/>
                </a:rPr>
                <a:t>List</a:t>
              </a:r>
              <a:endParaRPr lang="ko-KR" altLang="en-US" sz="1000" kern="0" dirty="0">
                <a:solidFill>
                  <a:srgbClr val="000000"/>
                </a:solidFill>
                <a:latin typeface="a고딕14"/>
                <a:ea typeface="a고딕14"/>
              </a:endParaRPr>
            </a:p>
          </p:txBody>
        </p:sp>
      </p:grpSp>
      <p:sp>
        <p:nvSpPr>
          <p:cNvPr id="84" name="직사각형 55">
            <a:extLst>
              <a:ext uri="{FF2B5EF4-FFF2-40B4-BE49-F238E27FC236}">
                <a16:creationId xmlns:a16="http://schemas.microsoft.com/office/drawing/2014/main" id="{764FB41E-4538-E1E6-06AE-6C60A3F8FF64}"/>
              </a:ext>
            </a:extLst>
          </p:cNvPr>
          <p:cNvSpPr/>
          <p:nvPr/>
        </p:nvSpPr>
        <p:spPr bwMode="auto">
          <a:xfrm>
            <a:off x="870214" y="4678350"/>
            <a:ext cx="1790752"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85" name="직사각형 93">
            <a:extLst>
              <a:ext uri="{FF2B5EF4-FFF2-40B4-BE49-F238E27FC236}">
                <a16:creationId xmlns:a16="http://schemas.microsoft.com/office/drawing/2014/main" id="{A30DCF27-2EF3-DD1A-BD57-3B55F79E7EE3}"/>
              </a:ext>
            </a:extLst>
          </p:cNvPr>
          <p:cNvSpPr/>
          <p:nvPr/>
        </p:nvSpPr>
        <p:spPr bwMode="auto">
          <a:xfrm>
            <a:off x="870214" y="4148799"/>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lvl="0" eaLnBrk="1" fontAlgn="auto" latinLnBrk="0" hangingPunct="1">
              <a:spcBef>
                <a:spcPts val="0"/>
              </a:spcBef>
              <a:spcAft>
                <a:spcPts val="0"/>
              </a:spcAft>
              <a:buNone/>
              <a:defRPr/>
            </a:pPr>
            <a:r>
              <a:rPr lang="ko-KR" altLang="en-US" kern="0" dirty="0">
                <a:solidFill>
                  <a:prstClr val="white"/>
                </a:solidFill>
                <a:latin typeface="a고딕14"/>
                <a:ea typeface="a고딕14"/>
              </a:rPr>
              <a:t>수요조사</a:t>
            </a:r>
          </a:p>
        </p:txBody>
      </p:sp>
      <p:sp>
        <p:nvSpPr>
          <p:cNvPr id="86" name="직사각형 85">
            <a:extLst>
              <a:ext uri="{FF2B5EF4-FFF2-40B4-BE49-F238E27FC236}">
                <a16:creationId xmlns:a16="http://schemas.microsoft.com/office/drawing/2014/main" id="{23F2FB8A-5157-1ABB-F818-C5DE2A3FA237}"/>
              </a:ext>
            </a:extLst>
          </p:cNvPr>
          <p:cNvSpPr/>
          <p:nvPr/>
        </p:nvSpPr>
        <p:spPr>
          <a:xfrm>
            <a:off x="870214" y="4150307"/>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3</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87" name="직사각형 56">
            <a:extLst>
              <a:ext uri="{FF2B5EF4-FFF2-40B4-BE49-F238E27FC236}">
                <a16:creationId xmlns:a16="http://schemas.microsoft.com/office/drawing/2014/main" id="{42D0E9B3-7A50-9F53-07AA-7D3D01363331}"/>
              </a:ext>
            </a:extLst>
          </p:cNvPr>
          <p:cNvSpPr/>
          <p:nvPr/>
        </p:nvSpPr>
        <p:spPr bwMode="auto">
          <a:xfrm>
            <a:off x="932369" y="4708929"/>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수요조사 문항 제작</a:t>
            </a:r>
          </a:p>
        </p:txBody>
      </p:sp>
      <p:sp>
        <p:nvSpPr>
          <p:cNvPr id="88" name="직사각형 56">
            <a:extLst>
              <a:ext uri="{FF2B5EF4-FFF2-40B4-BE49-F238E27FC236}">
                <a16:creationId xmlns:a16="http://schemas.microsoft.com/office/drawing/2014/main" id="{C04B2199-D0DE-046B-D072-136440BD0D2B}"/>
              </a:ext>
            </a:extLst>
          </p:cNvPr>
          <p:cNvSpPr/>
          <p:nvPr/>
        </p:nvSpPr>
        <p:spPr bwMode="auto">
          <a:xfrm>
            <a:off x="932369" y="5098612"/>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수요조사 실시 및 분석</a:t>
            </a:r>
          </a:p>
        </p:txBody>
      </p:sp>
      <p:grpSp>
        <p:nvGrpSpPr>
          <p:cNvPr id="92" name="그룹 91">
            <a:extLst>
              <a:ext uri="{FF2B5EF4-FFF2-40B4-BE49-F238E27FC236}">
                <a16:creationId xmlns:a16="http://schemas.microsoft.com/office/drawing/2014/main" id="{5281FAB9-A0BF-00D4-7A82-2ECC24FBB265}"/>
              </a:ext>
            </a:extLst>
          </p:cNvPr>
          <p:cNvGrpSpPr/>
          <p:nvPr/>
        </p:nvGrpSpPr>
        <p:grpSpPr>
          <a:xfrm>
            <a:off x="3159937" y="4141955"/>
            <a:ext cx="1790752" cy="2429427"/>
            <a:chOff x="3226030" y="4134623"/>
            <a:chExt cx="1790752" cy="2429427"/>
          </a:xfrm>
        </p:grpSpPr>
        <p:sp>
          <p:nvSpPr>
            <p:cNvPr id="93" name="직사각형 93">
              <a:extLst>
                <a:ext uri="{FF2B5EF4-FFF2-40B4-BE49-F238E27FC236}">
                  <a16:creationId xmlns:a16="http://schemas.microsoft.com/office/drawing/2014/main" id="{7C7E4F82-E478-F724-FFA2-E57AD32A37F7}"/>
                </a:ext>
              </a:extLst>
            </p:cNvPr>
            <p:cNvSpPr/>
            <p:nvPr/>
          </p:nvSpPr>
          <p:spPr bwMode="auto">
            <a:xfrm>
              <a:off x="3226030" y="4134623"/>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lvl="0" eaLnBrk="1" fontAlgn="auto" latinLnBrk="0" hangingPunct="1">
                <a:spcBef>
                  <a:spcPts val="0"/>
                </a:spcBef>
                <a:spcAft>
                  <a:spcPts val="0"/>
                </a:spcAft>
                <a:buNone/>
                <a:defRPr/>
              </a:pPr>
              <a:r>
                <a:rPr lang="ko-KR" altLang="en-US" kern="0" dirty="0">
                  <a:solidFill>
                    <a:prstClr val="white"/>
                  </a:solidFill>
                  <a:latin typeface="a고딕14"/>
                  <a:ea typeface="a고딕14"/>
                </a:rPr>
                <a:t>교육과정 개요서 및 </a:t>
              </a:r>
              <a:r>
                <a:rPr lang="ko-KR" altLang="en-US" kern="0" dirty="0" err="1">
                  <a:solidFill>
                    <a:prstClr val="white"/>
                  </a:solidFill>
                  <a:latin typeface="a고딕14"/>
                  <a:ea typeface="a고딕14"/>
                </a:rPr>
                <a:t>기술교육로드맵</a:t>
              </a:r>
              <a:r>
                <a:rPr lang="ko-KR" altLang="en-US" kern="0" dirty="0">
                  <a:solidFill>
                    <a:prstClr val="white"/>
                  </a:solidFill>
                  <a:latin typeface="a고딕14"/>
                  <a:ea typeface="a고딕14"/>
                </a:rPr>
                <a:t> 작성</a:t>
              </a:r>
            </a:p>
          </p:txBody>
        </p:sp>
        <p:sp>
          <p:nvSpPr>
            <p:cNvPr id="94" name="직사각형 93">
              <a:extLst>
                <a:ext uri="{FF2B5EF4-FFF2-40B4-BE49-F238E27FC236}">
                  <a16:creationId xmlns:a16="http://schemas.microsoft.com/office/drawing/2014/main" id="{76664DB2-E215-9DE7-2F85-53F2C62229B1}"/>
                </a:ext>
              </a:extLst>
            </p:cNvPr>
            <p:cNvSpPr/>
            <p:nvPr/>
          </p:nvSpPr>
          <p:spPr>
            <a:xfrm>
              <a:off x="3226030" y="4136131"/>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noProof="0" dirty="0">
                  <a:solidFill>
                    <a:prstClr val="black"/>
                  </a:solidFill>
                  <a:latin typeface="a고딕14" panose="02020600000000000000" pitchFamily="18" charset="-127"/>
                  <a:ea typeface="a고딕14" panose="02020600000000000000" pitchFamily="18" charset="-127"/>
                </a:rPr>
                <a:t>4</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95" name="직사각형 55">
              <a:extLst>
                <a:ext uri="{FF2B5EF4-FFF2-40B4-BE49-F238E27FC236}">
                  <a16:creationId xmlns:a16="http://schemas.microsoft.com/office/drawing/2014/main" id="{3C33FBA6-88F4-26EA-7335-70A84FAE9CC3}"/>
                </a:ext>
              </a:extLst>
            </p:cNvPr>
            <p:cNvSpPr/>
            <p:nvPr/>
          </p:nvSpPr>
          <p:spPr bwMode="auto">
            <a:xfrm>
              <a:off x="3226030" y="4664174"/>
              <a:ext cx="1790752"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96" name="직사각형 56">
              <a:extLst>
                <a:ext uri="{FF2B5EF4-FFF2-40B4-BE49-F238E27FC236}">
                  <a16:creationId xmlns:a16="http://schemas.microsoft.com/office/drawing/2014/main" id="{F006A606-B170-B4A0-F290-6F304CB722B1}"/>
                </a:ext>
              </a:extLst>
            </p:cNvPr>
            <p:cNvSpPr/>
            <p:nvPr/>
          </p:nvSpPr>
          <p:spPr bwMode="auto">
            <a:xfrm>
              <a:off x="3283105" y="4694753"/>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교육과정 개요서 작성</a:t>
              </a:r>
            </a:p>
          </p:txBody>
        </p:sp>
        <p:sp>
          <p:nvSpPr>
            <p:cNvPr id="97" name="직사각형 56">
              <a:extLst>
                <a:ext uri="{FF2B5EF4-FFF2-40B4-BE49-F238E27FC236}">
                  <a16:creationId xmlns:a16="http://schemas.microsoft.com/office/drawing/2014/main" id="{1E876315-5F92-2C24-B49A-5F04613E02EF}"/>
                </a:ext>
              </a:extLst>
            </p:cNvPr>
            <p:cNvSpPr/>
            <p:nvPr/>
          </p:nvSpPr>
          <p:spPr bwMode="auto">
            <a:xfrm>
              <a:off x="3283105" y="5084436"/>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기술교육 로드맵 작성</a:t>
              </a:r>
            </a:p>
          </p:txBody>
        </p:sp>
        <p:sp>
          <p:nvSpPr>
            <p:cNvPr id="98" name="직사각형 56">
              <a:extLst>
                <a:ext uri="{FF2B5EF4-FFF2-40B4-BE49-F238E27FC236}">
                  <a16:creationId xmlns:a16="http://schemas.microsoft.com/office/drawing/2014/main" id="{3A99D87A-D799-51D3-9CB8-48A7E5449F96}"/>
                </a:ext>
              </a:extLst>
            </p:cNvPr>
            <p:cNvSpPr/>
            <p:nvPr/>
          </p:nvSpPr>
          <p:spPr bwMode="auto">
            <a:xfrm>
              <a:off x="3226031" y="5909442"/>
              <a:ext cx="1786582"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교육과정 개요서</a:t>
              </a:r>
              <a:r>
                <a:rPr lang="en-US" altLang="ko-KR" sz="1000" kern="0" dirty="0">
                  <a:solidFill>
                    <a:srgbClr val="000000"/>
                  </a:solidFill>
                  <a:latin typeface="a고딕14"/>
                  <a:ea typeface="a고딕14"/>
                </a:rPr>
                <a:t>(380</a:t>
              </a:r>
              <a:r>
                <a:rPr lang="ko-KR" altLang="en-US" sz="1000" kern="0" dirty="0">
                  <a:solidFill>
                    <a:srgbClr val="000000"/>
                  </a:solidFill>
                  <a:latin typeface="a고딕14"/>
                  <a:ea typeface="a고딕14"/>
                </a:rPr>
                <a:t>개</a:t>
              </a:r>
              <a:r>
                <a:rPr lang="en-US" altLang="ko-KR" sz="1000" kern="0" dirty="0">
                  <a:solidFill>
                    <a:srgbClr val="000000"/>
                  </a:solidFill>
                  <a:latin typeface="a고딕14"/>
                  <a:ea typeface="a고딕14"/>
                </a:rPr>
                <a:t>)</a:t>
              </a:r>
              <a:endParaRPr lang="ko-KR" altLang="en-US" sz="1000" kern="0" dirty="0">
                <a:solidFill>
                  <a:srgbClr val="000000"/>
                </a:solidFill>
                <a:latin typeface="a고딕14"/>
                <a:ea typeface="a고딕14"/>
              </a:endParaRPr>
            </a:p>
          </p:txBody>
        </p:sp>
        <p:sp>
          <p:nvSpPr>
            <p:cNvPr id="99" name="직사각형 56">
              <a:extLst>
                <a:ext uri="{FF2B5EF4-FFF2-40B4-BE49-F238E27FC236}">
                  <a16:creationId xmlns:a16="http://schemas.microsoft.com/office/drawing/2014/main" id="{540F4D20-0EA7-2C62-0A4B-C89FD0D24165}"/>
                </a:ext>
              </a:extLst>
            </p:cNvPr>
            <p:cNvSpPr/>
            <p:nvPr/>
          </p:nvSpPr>
          <p:spPr bwMode="auto">
            <a:xfrm>
              <a:off x="3226031" y="6254733"/>
              <a:ext cx="1786582"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spc="-80" dirty="0" err="1">
                  <a:solidFill>
                    <a:srgbClr val="000000"/>
                  </a:solidFill>
                  <a:latin typeface="a고딕14"/>
                  <a:ea typeface="a고딕14"/>
                </a:rPr>
                <a:t>기술교육로드맵</a:t>
              </a:r>
              <a:r>
                <a:rPr lang="ko-KR" altLang="en-US" sz="1000" kern="0" spc="-80" dirty="0">
                  <a:solidFill>
                    <a:srgbClr val="000000"/>
                  </a:solidFill>
                  <a:latin typeface="a고딕14"/>
                  <a:ea typeface="a고딕14"/>
                </a:rPr>
                <a:t> 및 </a:t>
              </a:r>
              <a:r>
                <a:rPr lang="en-US" altLang="ko-KR" sz="1000" kern="0" spc="-80" dirty="0">
                  <a:solidFill>
                    <a:srgbClr val="000000"/>
                  </a:solidFill>
                  <a:latin typeface="a고딕14"/>
                  <a:ea typeface="a고딕14"/>
                </a:rPr>
                <a:t>TTR Master DB</a:t>
              </a:r>
              <a:r>
                <a:rPr lang="ko-KR" altLang="en-US" sz="1000" kern="0" spc="-80" dirty="0">
                  <a:solidFill>
                    <a:srgbClr val="000000"/>
                  </a:solidFill>
                  <a:latin typeface="a고딕14"/>
                  <a:ea typeface="a고딕14"/>
                </a:rPr>
                <a:t> </a:t>
              </a:r>
            </a:p>
          </p:txBody>
        </p:sp>
      </p:grpSp>
      <p:sp>
        <p:nvSpPr>
          <p:cNvPr id="101" name="직사각형 93">
            <a:extLst>
              <a:ext uri="{FF2B5EF4-FFF2-40B4-BE49-F238E27FC236}">
                <a16:creationId xmlns:a16="http://schemas.microsoft.com/office/drawing/2014/main" id="{7E2F33E8-7542-1BD9-7F6E-E60BAB1E07F3}"/>
              </a:ext>
            </a:extLst>
          </p:cNvPr>
          <p:cNvSpPr/>
          <p:nvPr/>
        </p:nvSpPr>
        <p:spPr bwMode="auto">
          <a:xfrm>
            <a:off x="5450830" y="1621872"/>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데이터 관리방안 및 </a:t>
            </a:r>
            <a:br>
              <a:rPr lang="en-US" altLang="ko-KR" kern="0" dirty="0">
                <a:solidFill>
                  <a:prstClr val="white"/>
                </a:solidFill>
                <a:latin typeface="a고딕14"/>
                <a:ea typeface="a고딕14"/>
              </a:rPr>
            </a:br>
            <a:r>
              <a:rPr lang="en-US" altLang="ko-KR" kern="0" dirty="0">
                <a:solidFill>
                  <a:prstClr val="white"/>
                </a:solidFill>
                <a:latin typeface="a고딕14"/>
                <a:ea typeface="a고딕14"/>
              </a:rPr>
              <a:t>TTR</a:t>
            </a:r>
            <a:r>
              <a:rPr lang="ko-KR" altLang="en-US" kern="0" dirty="0">
                <a:solidFill>
                  <a:prstClr val="white"/>
                </a:solidFill>
                <a:latin typeface="a고딕14"/>
                <a:ea typeface="a고딕14"/>
              </a:rPr>
              <a:t> 학습 흐름 제언</a:t>
            </a:r>
          </a:p>
        </p:txBody>
      </p:sp>
      <p:sp>
        <p:nvSpPr>
          <p:cNvPr id="102" name="직사각형 101">
            <a:extLst>
              <a:ext uri="{FF2B5EF4-FFF2-40B4-BE49-F238E27FC236}">
                <a16:creationId xmlns:a16="http://schemas.microsoft.com/office/drawing/2014/main" id="{AEA76A39-DCE2-3519-124E-57B7E8E6440B}"/>
              </a:ext>
            </a:extLst>
          </p:cNvPr>
          <p:cNvSpPr/>
          <p:nvPr/>
        </p:nvSpPr>
        <p:spPr>
          <a:xfrm>
            <a:off x="5450830" y="1623380"/>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noProof="0" dirty="0">
                <a:solidFill>
                  <a:prstClr val="black"/>
                </a:solidFill>
                <a:latin typeface="a고딕14" panose="02020600000000000000" pitchFamily="18" charset="-127"/>
                <a:ea typeface="a고딕14" panose="02020600000000000000" pitchFamily="18" charset="-127"/>
              </a:rPr>
              <a:t>5</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03" name="직사각형 55">
            <a:extLst>
              <a:ext uri="{FF2B5EF4-FFF2-40B4-BE49-F238E27FC236}">
                <a16:creationId xmlns:a16="http://schemas.microsoft.com/office/drawing/2014/main" id="{0F19893A-7B86-6E21-6A97-83D15A035B9F}"/>
              </a:ext>
            </a:extLst>
          </p:cNvPr>
          <p:cNvSpPr/>
          <p:nvPr/>
        </p:nvSpPr>
        <p:spPr bwMode="auto">
          <a:xfrm>
            <a:off x="5450830" y="2151674"/>
            <a:ext cx="1790752" cy="1200966"/>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104" name="직사각형 56">
            <a:extLst>
              <a:ext uri="{FF2B5EF4-FFF2-40B4-BE49-F238E27FC236}">
                <a16:creationId xmlns:a16="http://schemas.microsoft.com/office/drawing/2014/main" id="{AD202689-A23B-22AF-8648-26207CD718C5}"/>
              </a:ext>
            </a:extLst>
          </p:cNvPr>
          <p:cNvSpPr/>
          <p:nvPr/>
        </p:nvSpPr>
        <p:spPr bwMode="auto">
          <a:xfrm>
            <a:off x="5507905" y="2182252"/>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US" altLang="ko-KR" sz="1050" kern="0" dirty="0">
                <a:solidFill>
                  <a:srgbClr val="000000"/>
                </a:solidFill>
                <a:latin typeface="a고딕14"/>
                <a:ea typeface="a고딕14"/>
              </a:rPr>
              <a:t>NCS </a:t>
            </a:r>
            <a:r>
              <a:rPr lang="ko-KR" altLang="en-US" sz="1050" kern="0" dirty="0">
                <a:solidFill>
                  <a:srgbClr val="000000"/>
                </a:solidFill>
                <a:latin typeface="a고딕14"/>
                <a:ea typeface="a고딕14"/>
              </a:rPr>
              <a:t>및 </a:t>
            </a:r>
            <a:r>
              <a:rPr lang="en-US" altLang="ko-KR" sz="1050" kern="0" dirty="0">
                <a:solidFill>
                  <a:srgbClr val="000000"/>
                </a:solidFill>
                <a:latin typeface="a고딕14"/>
                <a:ea typeface="a고딕14"/>
              </a:rPr>
              <a:t>SQF </a:t>
            </a:r>
            <a:r>
              <a:rPr lang="ko-KR" altLang="en-US" sz="1050" kern="0" dirty="0">
                <a:solidFill>
                  <a:srgbClr val="000000"/>
                </a:solidFill>
                <a:latin typeface="a고딕14"/>
                <a:ea typeface="a고딕14"/>
              </a:rPr>
              <a:t>변경으로 인한 변경사항 적용 방안 제언</a:t>
            </a:r>
            <a:endParaRPr kumimoji="0" lang="ko-KR" altLang="en-US" sz="1050" b="0" i="0" u="none" strike="noStrike" kern="0" cap="none" spc="0" normalizeH="0" baseline="0" noProof="0" dirty="0">
              <a:ln>
                <a:noFill/>
              </a:ln>
              <a:solidFill>
                <a:srgbClr val="000000"/>
              </a:solidFill>
              <a:effectLst/>
              <a:uLnTx/>
              <a:uFillTx/>
              <a:latin typeface="a고딕14"/>
              <a:ea typeface="a고딕14"/>
              <a:cs typeface="+mn-cs"/>
            </a:endParaRPr>
          </a:p>
        </p:txBody>
      </p:sp>
      <p:sp>
        <p:nvSpPr>
          <p:cNvPr id="105" name="직사각형 56">
            <a:extLst>
              <a:ext uri="{FF2B5EF4-FFF2-40B4-BE49-F238E27FC236}">
                <a16:creationId xmlns:a16="http://schemas.microsoft.com/office/drawing/2014/main" id="{1A943480-EADB-2E7B-93F4-0EBF948AF74A}"/>
              </a:ext>
            </a:extLst>
          </p:cNvPr>
          <p:cNvSpPr/>
          <p:nvPr/>
        </p:nvSpPr>
        <p:spPr bwMode="auto">
          <a:xfrm>
            <a:off x="5507905" y="2571934"/>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spc="-100" dirty="0">
                <a:solidFill>
                  <a:srgbClr val="000000"/>
                </a:solidFill>
                <a:latin typeface="a고딕14"/>
                <a:ea typeface="a고딕14"/>
              </a:rPr>
              <a:t>신규 </a:t>
            </a:r>
            <a:r>
              <a:rPr lang="en-US" altLang="ko-KR" sz="1050" kern="0" spc="-100" dirty="0">
                <a:solidFill>
                  <a:srgbClr val="000000"/>
                </a:solidFill>
                <a:latin typeface="a고딕14"/>
                <a:ea typeface="a고딕14"/>
              </a:rPr>
              <a:t>NCS </a:t>
            </a:r>
            <a:r>
              <a:rPr lang="ko-KR" altLang="en-US" sz="1050" kern="0" spc="-100" dirty="0">
                <a:solidFill>
                  <a:srgbClr val="000000"/>
                </a:solidFill>
                <a:latin typeface="a고딕14"/>
                <a:ea typeface="a고딕14"/>
              </a:rPr>
              <a:t>적용에 따른 </a:t>
            </a:r>
            <a:endParaRPr lang="en-US" altLang="ko-KR" sz="1050" kern="0" spc="-100" dirty="0">
              <a:solidFill>
                <a:srgbClr val="000000"/>
              </a:solidFill>
              <a:latin typeface="a고딕14"/>
              <a:ea typeface="a고딕14"/>
            </a:endParaRPr>
          </a:p>
          <a:p>
            <a:pPr lvl="0" eaLnBrk="1" fontAlgn="auto" latinLnBrk="0" hangingPunct="1">
              <a:spcBef>
                <a:spcPts val="0"/>
              </a:spcBef>
              <a:spcAft>
                <a:spcPts val="0"/>
              </a:spcAft>
              <a:buNone/>
              <a:defRPr/>
            </a:pPr>
            <a:r>
              <a:rPr lang="ko-KR" altLang="en-US" sz="1050" kern="0" spc="-100" dirty="0">
                <a:solidFill>
                  <a:srgbClr val="000000"/>
                </a:solidFill>
                <a:latin typeface="a고딕14"/>
                <a:ea typeface="a고딕14"/>
              </a:rPr>
              <a:t>現 </a:t>
            </a:r>
            <a:r>
              <a:rPr lang="en-US" altLang="ko-KR" sz="1050" kern="0" spc="-100" dirty="0">
                <a:solidFill>
                  <a:srgbClr val="000000"/>
                </a:solidFill>
                <a:latin typeface="a고딕14"/>
                <a:ea typeface="a고딕14"/>
              </a:rPr>
              <a:t>TTR </a:t>
            </a:r>
            <a:r>
              <a:rPr lang="ko-KR" altLang="en-US" sz="1050" kern="0" spc="-100" dirty="0">
                <a:solidFill>
                  <a:srgbClr val="000000"/>
                </a:solidFill>
                <a:latin typeface="a고딕14"/>
                <a:ea typeface="a고딕14"/>
              </a:rPr>
              <a:t>작성 및 수정 방안 제언</a:t>
            </a:r>
          </a:p>
        </p:txBody>
      </p:sp>
      <p:sp>
        <p:nvSpPr>
          <p:cNvPr id="106" name="직사각형 56">
            <a:extLst>
              <a:ext uri="{FF2B5EF4-FFF2-40B4-BE49-F238E27FC236}">
                <a16:creationId xmlns:a16="http://schemas.microsoft.com/office/drawing/2014/main" id="{A2C16AA8-A3D3-D32B-EEE1-090855B2C127}"/>
              </a:ext>
            </a:extLst>
          </p:cNvPr>
          <p:cNvSpPr/>
          <p:nvPr/>
        </p:nvSpPr>
        <p:spPr bwMode="auto">
          <a:xfrm>
            <a:off x="5450830" y="3390786"/>
            <a:ext cx="1790752"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en-US" altLang="ko-KR" sz="1000" kern="0" dirty="0">
                <a:solidFill>
                  <a:srgbClr val="000000"/>
                </a:solidFill>
                <a:latin typeface="a고딕14"/>
                <a:ea typeface="a고딕14"/>
              </a:rPr>
              <a:t>TTR </a:t>
            </a:r>
            <a:r>
              <a:rPr lang="ko-KR" altLang="en-US" sz="1000" kern="0" dirty="0">
                <a:solidFill>
                  <a:srgbClr val="000000"/>
                </a:solidFill>
                <a:latin typeface="a고딕14"/>
                <a:ea typeface="a고딕14"/>
              </a:rPr>
              <a:t>데이터 관리 방안 매뉴얼</a:t>
            </a:r>
          </a:p>
        </p:txBody>
      </p:sp>
      <p:sp>
        <p:nvSpPr>
          <p:cNvPr id="109" name="직사각형 93">
            <a:extLst>
              <a:ext uri="{FF2B5EF4-FFF2-40B4-BE49-F238E27FC236}">
                <a16:creationId xmlns:a16="http://schemas.microsoft.com/office/drawing/2014/main" id="{5457C583-AE85-0F14-48CF-864C96F59A6B}"/>
              </a:ext>
            </a:extLst>
          </p:cNvPr>
          <p:cNvSpPr/>
          <p:nvPr/>
        </p:nvSpPr>
        <p:spPr bwMode="auto">
          <a:xfrm>
            <a:off x="7554861" y="1622122"/>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lvl="0" eaLnBrk="1" fontAlgn="auto" latinLnBrk="0" hangingPunct="1">
              <a:spcBef>
                <a:spcPts val="0"/>
              </a:spcBef>
              <a:spcAft>
                <a:spcPts val="0"/>
              </a:spcAft>
              <a:buNone/>
              <a:defRPr/>
            </a:pPr>
            <a:r>
              <a:rPr lang="ko-KR" altLang="en-US" kern="0" dirty="0">
                <a:solidFill>
                  <a:prstClr val="white"/>
                </a:solidFill>
                <a:latin typeface="a고딕14"/>
                <a:ea typeface="a고딕14"/>
              </a:rPr>
              <a:t>직무능력은행제 연계 검토</a:t>
            </a:r>
          </a:p>
        </p:txBody>
      </p:sp>
      <p:sp>
        <p:nvSpPr>
          <p:cNvPr id="110" name="직사각형 109">
            <a:extLst>
              <a:ext uri="{FF2B5EF4-FFF2-40B4-BE49-F238E27FC236}">
                <a16:creationId xmlns:a16="http://schemas.microsoft.com/office/drawing/2014/main" id="{2013842F-D70F-31EB-3541-761936D73926}"/>
              </a:ext>
            </a:extLst>
          </p:cNvPr>
          <p:cNvSpPr/>
          <p:nvPr/>
        </p:nvSpPr>
        <p:spPr>
          <a:xfrm>
            <a:off x="7554861" y="1623630"/>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kumimoji="0" lang="en-US" altLang="ko-KR"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6</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11" name="직사각형 55">
            <a:extLst>
              <a:ext uri="{FF2B5EF4-FFF2-40B4-BE49-F238E27FC236}">
                <a16:creationId xmlns:a16="http://schemas.microsoft.com/office/drawing/2014/main" id="{652C7480-ED63-1CF7-1177-0C1151AEDAA3}"/>
              </a:ext>
            </a:extLst>
          </p:cNvPr>
          <p:cNvSpPr/>
          <p:nvPr/>
        </p:nvSpPr>
        <p:spPr bwMode="auto">
          <a:xfrm>
            <a:off x="7554861" y="2151673"/>
            <a:ext cx="1790752" cy="1200966"/>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112" name="직사각형 56">
            <a:extLst>
              <a:ext uri="{FF2B5EF4-FFF2-40B4-BE49-F238E27FC236}">
                <a16:creationId xmlns:a16="http://schemas.microsoft.com/office/drawing/2014/main" id="{99407A94-7271-AF63-9EB0-7F3AB59FC07C}"/>
              </a:ext>
            </a:extLst>
          </p:cNvPr>
          <p:cNvSpPr/>
          <p:nvPr/>
        </p:nvSpPr>
        <p:spPr bwMode="auto">
          <a:xfrm>
            <a:off x="7617016" y="2179626"/>
            <a:ext cx="167040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sz="1050" kern="0" dirty="0">
                <a:solidFill>
                  <a:srgbClr val="000000"/>
                </a:solidFill>
                <a:latin typeface="a고딕14"/>
                <a:ea typeface="a고딕14"/>
              </a:rPr>
              <a:t>문헌 분석 및 벤치마킹</a:t>
            </a:r>
            <a:endParaRPr kumimoji="0" lang="ko-KR" altLang="en-US" sz="1050" b="0" i="0" u="none" strike="noStrike" kern="0" cap="none" spc="0" normalizeH="0" baseline="0" noProof="0" dirty="0">
              <a:ln>
                <a:noFill/>
              </a:ln>
              <a:solidFill>
                <a:srgbClr val="000000"/>
              </a:solidFill>
              <a:effectLst/>
              <a:uLnTx/>
              <a:uFillTx/>
              <a:latin typeface="a고딕14"/>
              <a:ea typeface="a고딕14"/>
              <a:cs typeface="+mn-cs"/>
            </a:endParaRPr>
          </a:p>
        </p:txBody>
      </p:sp>
      <p:sp>
        <p:nvSpPr>
          <p:cNvPr id="113" name="직사각형 56">
            <a:extLst>
              <a:ext uri="{FF2B5EF4-FFF2-40B4-BE49-F238E27FC236}">
                <a16:creationId xmlns:a16="http://schemas.microsoft.com/office/drawing/2014/main" id="{8B8241EA-DB1D-50B7-9CA8-F6AF815DC00C}"/>
              </a:ext>
            </a:extLst>
          </p:cNvPr>
          <p:cNvSpPr/>
          <p:nvPr/>
        </p:nvSpPr>
        <p:spPr bwMode="auto">
          <a:xfrm>
            <a:off x="7617016" y="2571956"/>
            <a:ext cx="167040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err="1">
                <a:solidFill>
                  <a:srgbClr val="000000"/>
                </a:solidFill>
                <a:latin typeface="a고딕14"/>
                <a:ea typeface="a고딕14"/>
              </a:rPr>
              <a:t>온평원</a:t>
            </a:r>
            <a:r>
              <a:rPr lang="ko-KR" altLang="en-US" sz="1050" kern="0" dirty="0">
                <a:solidFill>
                  <a:srgbClr val="000000"/>
                </a:solidFill>
                <a:latin typeface="a고딕14"/>
                <a:ea typeface="a고딕14"/>
              </a:rPr>
              <a:t> 콘텐츠</a:t>
            </a:r>
            <a:r>
              <a:rPr lang="en-US" altLang="ko-KR" sz="1050" kern="0" dirty="0">
                <a:solidFill>
                  <a:srgbClr val="000000"/>
                </a:solidFill>
                <a:latin typeface="a고딕14"/>
                <a:ea typeface="a고딕14"/>
              </a:rPr>
              <a:t>-</a:t>
            </a:r>
            <a:r>
              <a:rPr lang="ko-KR" altLang="en-US" sz="1050" kern="0" dirty="0">
                <a:solidFill>
                  <a:srgbClr val="000000"/>
                </a:solidFill>
                <a:latin typeface="a고딕14"/>
                <a:ea typeface="a고딕14"/>
              </a:rPr>
              <a:t>직무능력은행제 연계 방향성 제시</a:t>
            </a:r>
          </a:p>
        </p:txBody>
      </p:sp>
      <p:cxnSp>
        <p:nvCxnSpPr>
          <p:cNvPr id="115" name="직선 연결선 114">
            <a:extLst>
              <a:ext uri="{FF2B5EF4-FFF2-40B4-BE49-F238E27FC236}">
                <a16:creationId xmlns:a16="http://schemas.microsoft.com/office/drawing/2014/main" id="{2EE9543F-0001-0559-B6FE-65E7F5471E27}"/>
              </a:ext>
            </a:extLst>
          </p:cNvPr>
          <p:cNvCxnSpPr/>
          <p:nvPr/>
        </p:nvCxnSpPr>
        <p:spPr>
          <a:xfrm>
            <a:off x="5205028" y="1374815"/>
            <a:ext cx="0" cy="5188107"/>
          </a:xfrm>
          <a:prstGeom prst="line">
            <a:avLst/>
          </a:prstGeom>
          <a:ln w="19050">
            <a:solidFill>
              <a:schemeClr val="accent4">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6" name="직사각형 53">
            <a:extLst>
              <a:ext uri="{FF2B5EF4-FFF2-40B4-BE49-F238E27FC236}">
                <a16:creationId xmlns:a16="http://schemas.microsoft.com/office/drawing/2014/main" id="{32D99093-9A5E-AC63-9412-B3A7962C3443}"/>
              </a:ext>
            </a:extLst>
          </p:cNvPr>
          <p:cNvSpPr/>
          <p:nvPr/>
        </p:nvSpPr>
        <p:spPr bwMode="auto">
          <a:xfrm>
            <a:off x="5450830" y="1374815"/>
            <a:ext cx="3894782" cy="190938"/>
          </a:xfrm>
          <a:prstGeom prst="rect">
            <a:avLst/>
          </a:prstGeom>
          <a:solidFill>
            <a:srgbClr val="212E55"/>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prstClr val="white"/>
                </a:solidFill>
                <a:effectLst/>
                <a:uLnTx/>
                <a:uFillTx/>
                <a:latin typeface="a고딕14"/>
                <a:ea typeface="a고딕14"/>
                <a:cs typeface="+mn-cs"/>
              </a:rPr>
              <a:t>STEP </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서비스 확대 및 효율적 운영을 위한 방안 제언</a:t>
            </a:r>
          </a:p>
        </p:txBody>
      </p:sp>
      <p:sp>
        <p:nvSpPr>
          <p:cNvPr id="117" name="직사각형 53">
            <a:extLst>
              <a:ext uri="{FF2B5EF4-FFF2-40B4-BE49-F238E27FC236}">
                <a16:creationId xmlns:a16="http://schemas.microsoft.com/office/drawing/2014/main" id="{9F453449-01C4-0298-10BA-59AACACCB88E}"/>
              </a:ext>
            </a:extLst>
          </p:cNvPr>
          <p:cNvSpPr/>
          <p:nvPr/>
        </p:nvSpPr>
        <p:spPr bwMode="auto">
          <a:xfrm>
            <a:off x="596900" y="1379588"/>
            <a:ext cx="4349620" cy="190938"/>
          </a:xfrm>
          <a:prstGeom prst="rect">
            <a:avLst/>
          </a:prstGeom>
          <a:solidFill>
            <a:srgbClr val="212E55"/>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prstClr val="white"/>
                </a:solidFill>
                <a:effectLst/>
                <a:uLnTx/>
                <a:uFillTx/>
                <a:latin typeface="a고딕14"/>
                <a:ea typeface="a고딕14"/>
                <a:cs typeface="+mn-cs"/>
              </a:rPr>
              <a:t>25</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년도 </a:t>
            </a:r>
            <a:r>
              <a:rPr kumimoji="0" lang="ko-KR" altLang="en-US" sz="1050" b="0" i="0" u="none" strike="noStrike" kern="0" cap="none" spc="0" normalizeH="0" baseline="0" noProof="0" dirty="0" err="1">
                <a:ln>
                  <a:noFill/>
                </a:ln>
                <a:solidFill>
                  <a:prstClr val="white"/>
                </a:solidFill>
                <a:effectLst/>
                <a:uLnTx/>
                <a:uFillTx/>
                <a:latin typeface="a고딕14"/>
                <a:ea typeface="a고딕14"/>
                <a:cs typeface="+mn-cs"/>
              </a:rPr>
              <a:t>기술교육로드맵</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 개발 및 신규과정 선정</a:t>
            </a:r>
          </a:p>
        </p:txBody>
      </p:sp>
      <p:sp>
        <p:nvSpPr>
          <p:cNvPr id="118" name="직사각형 93">
            <a:extLst>
              <a:ext uri="{FF2B5EF4-FFF2-40B4-BE49-F238E27FC236}">
                <a16:creationId xmlns:a16="http://schemas.microsoft.com/office/drawing/2014/main" id="{D267C102-CD18-E213-A544-9F765EE19270}"/>
              </a:ext>
            </a:extLst>
          </p:cNvPr>
          <p:cNvSpPr/>
          <p:nvPr/>
        </p:nvSpPr>
        <p:spPr bwMode="auto">
          <a:xfrm>
            <a:off x="866045" y="1622122"/>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능력단위 </a:t>
            </a:r>
            <a:r>
              <a:rPr lang="en-US" altLang="ko-KR" kern="0" dirty="0">
                <a:solidFill>
                  <a:prstClr val="white"/>
                </a:solidFill>
                <a:latin typeface="a고딕14"/>
                <a:ea typeface="a고딕14"/>
              </a:rPr>
              <a:t>Updating </a:t>
            </a:r>
            <a:r>
              <a:rPr lang="ko-KR" altLang="en-US" kern="0" dirty="0">
                <a:solidFill>
                  <a:prstClr val="white"/>
                </a:solidFill>
                <a:latin typeface="a고딕14"/>
                <a:ea typeface="a고딕14"/>
              </a:rPr>
              <a:t>및 </a:t>
            </a: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교육과정</a:t>
            </a:r>
            <a:r>
              <a:rPr lang="en-US" altLang="ko-KR" kern="0" dirty="0">
                <a:solidFill>
                  <a:prstClr val="white"/>
                </a:solidFill>
                <a:latin typeface="a고딕14"/>
                <a:ea typeface="a고딕14"/>
              </a:rPr>
              <a:t>-</a:t>
            </a:r>
            <a:r>
              <a:rPr lang="ko-KR" altLang="en-US" kern="0" dirty="0">
                <a:solidFill>
                  <a:prstClr val="white"/>
                </a:solidFill>
                <a:latin typeface="a고딕14"/>
                <a:ea typeface="a고딕14"/>
              </a:rPr>
              <a:t>능력단위 매핑</a:t>
            </a:r>
            <a:endParaRPr lang="en-US" altLang="ko-KR" kern="0" dirty="0">
              <a:solidFill>
                <a:prstClr val="white"/>
              </a:solidFill>
              <a:latin typeface="a고딕14"/>
              <a:ea typeface="a고딕14"/>
            </a:endParaRPr>
          </a:p>
        </p:txBody>
      </p:sp>
      <p:sp>
        <p:nvSpPr>
          <p:cNvPr id="119" name="직사각형 118">
            <a:extLst>
              <a:ext uri="{FF2B5EF4-FFF2-40B4-BE49-F238E27FC236}">
                <a16:creationId xmlns:a16="http://schemas.microsoft.com/office/drawing/2014/main" id="{A799C6D2-3D47-AA01-FD68-EB407AC9D923}"/>
              </a:ext>
            </a:extLst>
          </p:cNvPr>
          <p:cNvSpPr/>
          <p:nvPr/>
        </p:nvSpPr>
        <p:spPr>
          <a:xfrm>
            <a:off x="866045" y="1623630"/>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1</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20" name="직사각형 55">
            <a:extLst>
              <a:ext uri="{FF2B5EF4-FFF2-40B4-BE49-F238E27FC236}">
                <a16:creationId xmlns:a16="http://schemas.microsoft.com/office/drawing/2014/main" id="{0091C81D-7627-D29E-C3EB-6CE5413405FF}"/>
              </a:ext>
            </a:extLst>
          </p:cNvPr>
          <p:cNvSpPr/>
          <p:nvPr/>
        </p:nvSpPr>
        <p:spPr bwMode="auto">
          <a:xfrm>
            <a:off x="866045" y="2151673"/>
            <a:ext cx="1790752"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121" name="직사각형 56">
            <a:extLst>
              <a:ext uri="{FF2B5EF4-FFF2-40B4-BE49-F238E27FC236}">
                <a16:creationId xmlns:a16="http://schemas.microsoft.com/office/drawing/2014/main" id="{8BD15E39-D092-3964-EF3B-535FECA2B95E}"/>
              </a:ext>
            </a:extLst>
          </p:cNvPr>
          <p:cNvSpPr/>
          <p:nvPr/>
        </p:nvSpPr>
        <p:spPr bwMode="auto">
          <a:xfrm>
            <a:off x="923120" y="2182252"/>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t>NCS </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및 </a:t>
            </a:r>
            <a: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t>SQF </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변경내역 검토</a:t>
            </a:r>
          </a:p>
        </p:txBody>
      </p:sp>
      <p:sp>
        <p:nvSpPr>
          <p:cNvPr id="122" name="직사각형 56">
            <a:extLst>
              <a:ext uri="{FF2B5EF4-FFF2-40B4-BE49-F238E27FC236}">
                <a16:creationId xmlns:a16="http://schemas.microsoft.com/office/drawing/2014/main" id="{5BD2194D-1AB3-5C17-3984-B71DD8DF1124}"/>
              </a:ext>
            </a:extLst>
          </p:cNvPr>
          <p:cNvSpPr/>
          <p:nvPr/>
        </p:nvSpPr>
        <p:spPr bwMode="auto">
          <a:xfrm>
            <a:off x="923120" y="2571935"/>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eaLnBrk="1" fontAlgn="auto" latinLnBrk="0" hangingPunct="1">
              <a:spcBef>
                <a:spcPts val="0"/>
              </a:spcBef>
              <a:spcAft>
                <a:spcPts val="0"/>
              </a:spcAft>
              <a:buNone/>
            </a:pPr>
            <a:r>
              <a:rPr lang="ko-KR" altLang="en-US" sz="1050" kern="0" dirty="0">
                <a:solidFill>
                  <a:srgbClr val="000000"/>
                </a:solidFill>
                <a:latin typeface="a고딕14"/>
                <a:ea typeface="a고딕14"/>
              </a:rPr>
              <a:t>기존 과정 </a:t>
            </a:r>
            <a:r>
              <a:rPr lang="en-US" altLang="ko-KR" sz="1050" kern="0" dirty="0">
                <a:solidFill>
                  <a:srgbClr val="000000"/>
                </a:solidFill>
                <a:latin typeface="a고딕14"/>
                <a:ea typeface="a고딕14"/>
              </a:rPr>
              <a:t>NCS </a:t>
            </a:r>
            <a:r>
              <a:rPr lang="ko-KR" altLang="en-US" sz="1050" kern="0" dirty="0">
                <a:solidFill>
                  <a:srgbClr val="000000"/>
                </a:solidFill>
                <a:latin typeface="a고딕14"/>
                <a:ea typeface="a고딕14"/>
              </a:rPr>
              <a:t>능력단위 매핑</a:t>
            </a:r>
          </a:p>
        </p:txBody>
      </p:sp>
      <p:sp>
        <p:nvSpPr>
          <p:cNvPr id="124" name="직사각형 56">
            <a:extLst>
              <a:ext uri="{FF2B5EF4-FFF2-40B4-BE49-F238E27FC236}">
                <a16:creationId xmlns:a16="http://schemas.microsoft.com/office/drawing/2014/main" id="{22E8F116-5EB0-281F-68FB-6AAB97D8D9DF}"/>
              </a:ext>
            </a:extLst>
          </p:cNvPr>
          <p:cNvSpPr/>
          <p:nvPr/>
        </p:nvSpPr>
        <p:spPr bwMode="auto">
          <a:xfrm>
            <a:off x="870214" y="3390786"/>
            <a:ext cx="1790752" cy="645678"/>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교육과정</a:t>
            </a:r>
            <a:r>
              <a:rPr lang="en-US" altLang="ko-KR" sz="1000" kern="0" dirty="0">
                <a:solidFill>
                  <a:srgbClr val="000000"/>
                </a:solidFill>
                <a:latin typeface="a고딕14"/>
                <a:ea typeface="a고딕14"/>
              </a:rPr>
              <a:t>-</a:t>
            </a:r>
            <a:r>
              <a:rPr lang="ko-KR" altLang="en-US" sz="1000" kern="0" dirty="0">
                <a:solidFill>
                  <a:srgbClr val="000000"/>
                </a:solidFill>
                <a:latin typeface="a고딕14"/>
                <a:ea typeface="a고딕14"/>
              </a:rPr>
              <a:t>능력단위 매핑 </a:t>
            </a:r>
            <a:r>
              <a:rPr lang="en-US" altLang="ko-KR" sz="1000" kern="0" dirty="0">
                <a:solidFill>
                  <a:srgbClr val="000000"/>
                </a:solidFill>
                <a:latin typeface="a고딕14"/>
                <a:ea typeface="a고딕14"/>
              </a:rPr>
              <a:t>DB</a:t>
            </a:r>
            <a:endParaRPr lang="ko-KR" altLang="en-US" sz="1000" kern="0" dirty="0">
              <a:solidFill>
                <a:srgbClr val="000000"/>
              </a:solidFill>
              <a:latin typeface="a고딕14"/>
              <a:ea typeface="a고딕14"/>
            </a:endParaRPr>
          </a:p>
        </p:txBody>
      </p:sp>
      <p:sp>
        <p:nvSpPr>
          <p:cNvPr id="125" name="직사각형 53">
            <a:extLst>
              <a:ext uri="{FF2B5EF4-FFF2-40B4-BE49-F238E27FC236}">
                <a16:creationId xmlns:a16="http://schemas.microsoft.com/office/drawing/2014/main" id="{92B77449-2C1C-01EB-0528-CA6480F5C6EE}"/>
              </a:ext>
            </a:extLst>
          </p:cNvPr>
          <p:cNvSpPr/>
          <p:nvPr/>
        </p:nvSpPr>
        <p:spPr bwMode="auto">
          <a:xfrm>
            <a:off x="686026" y="3390785"/>
            <a:ext cx="180019" cy="648708"/>
          </a:xfrm>
          <a:prstGeom prst="rect">
            <a:avLst/>
          </a:prstGeom>
          <a:solidFill>
            <a:schemeClr val="accent3">
              <a:lumMod val="50000"/>
            </a:schemeClr>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산출물</a:t>
            </a:r>
          </a:p>
        </p:txBody>
      </p:sp>
      <p:sp>
        <p:nvSpPr>
          <p:cNvPr id="127" name="직사각형 53">
            <a:extLst>
              <a:ext uri="{FF2B5EF4-FFF2-40B4-BE49-F238E27FC236}">
                <a16:creationId xmlns:a16="http://schemas.microsoft.com/office/drawing/2014/main" id="{7DEA850E-F75A-81A8-1F2A-A2B4BA351905}"/>
              </a:ext>
            </a:extLst>
          </p:cNvPr>
          <p:cNvSpPr/>
          <p:nvPr/>
        </p:nvSpPr>
        <p:spPr bwMode="auto">
          <a:xfrm>
            <a:off x="686026" y="5920526"/>
            <a:ext cx="180019" cy="648708"/>
          </a:xfrm>
          <a:prstGeom prst="rect">
            <a:avLst/>
          </a:prstGeom>
          <a:solidFill>
            <a:schemeClr val="accent3">
              <a:lumMod val="50000"/>
            </a:schemeClr>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산출물</a:t>
            </a:r>
          </a:p>
        </p:txBody>
      </p:sp>
      <p:sp>
        <p:nvSpPr>
          <p:cNvPr id="128" name="직사각형 56">
            <a:extLst>
              <a:ext uri="{FF2B5EF4-FFF2-40B4-BE49-F238E27FC236}">
                <a16:creationId xmlns:a16="http://schemas.microsoft.com/office/drawing/2014/main" id="{D869095C-BF32-D98D-00AD-7B6C0DEF3CF4}"/>
              </a:ext>
            </a:extLst>
          </p:cNvPr>
          <p:cNvSpPr/>
          <p:nvPr/>
        </p:nvSpPr>
        <p:spPr bwMode="auto">
          <a:xfrm>
            <a:off x="3219323" y="2961620"/>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수요조사 대상 </a:t>
            </a:r>
            <a:endParaRPr lang="en-US" altLang="ko-KR" sz="1050" kern="0" dirty="0">
              <a:solidFill>
                <a:srgbClr val="000000"/>
              </a:solidFill>
              <a:latin typeface="a고딕14"/>
              <a:ea typeface="a고딕14"/>
            </a:endParaRPr>
          </a:p>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능력단위 최종 도출</a:t>
            </a:r>
            <a:r>
              <a:rPr lang="en-US" altLang="ko-KR" sz="1050" kern="0" dirty="0">
                <a:solidFill>
                  <a:srgbClr val="000000"/>
                </a:solidFill>
                <a:latin typeface="a고딕14"/>
                <a:ea typeface="a고딕14"/>
              </a:rPr>
              <a:t>(760</a:t>
            </a:r>
            <a:r>
              <a:rPr lang="ko-KR" altLang="en-US" sz="1050" kern="0" dirty="0">
                <a:solidFill>
                  <a:srgbClr val="000000"/>
                </a:solidFill>
                <a:latin typeface="a고딕14"/>
                <a:ea typeface="a고딕14"/>
              </a:rPr>
              <a:t>개</a:t>
            </a:r>
            <a:r>
              <a:rPr lang="en-US" altLang="ko-KR" sz="1050" kern="0" dirty="0">
                <a:solidFill>
                  <a:srgbClr val="000000"/>
                </a:solidFill>
                <a:latin typeface="a고딕14"/>
                <a:ea typeface="a고딕14"/>
              </a:rPr>
              <a:t>)</a:t>
            </a:r>
            <a:endParaRPr lang="ko-KR" altLang="en-US" sz="1050" kern="0" dirty="0">
              <a:solidFill>
                <a:srgbClr val="000000"/>
              </a:solidFill>
              <a:latin typeface="a고딕14"/>
              <a:ea typeface="a고딕14"/>
            </a:endParaRPr>
          </a:p>
        </p:txBody>
      </p:sp>
      <p:sp>
        <p:nvSpPr>
          <p:cNvPr id="151" name="직사각형 56">
            <a:extLst>
              <a:ext uri="{FF2B5EF4-FFF2-40B4-BE49-F238E27FC236}">
                <a16:creationId xmlns:a16="http://schemas.microsoft.com/office/drawing/2014/main" id="{0B818DE6-13B3-BF0C-A837-10C3B73C913D}"/>
              </a:ext>
            </a:extLst>
          </p:cNvPr>
          <p:cNvSpPr/>
          <p:nvPr/>
        </p:nvSpPr>
        <p:spPr bwMode="auto">
          <a:xfrm>
            <a:off x="5507905" y="2956083"/>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기술</a:t>
            </a:r>
            <a:r>
              <a:rPr lang="ko-KR" altLang="en-US" sz="1050" kern="0" dirty="0" err="1">
                <a:solidFill>
                  <a:srgbClr val="000000"/>
                </a:solidFill>
                <a:latin typeface="a고딕14"/>
                <a:ea typeface="a고딕14"/>
              </a:rPr>
              <a:t>교육로드맵</a:t>
            </a:r>
            <a:r>
              <a:rPr lang="ko-KR" altLang="en-US" sz="1050" kern="0" dirty="0">
                <a:solidFill>
                  <a:srgbClr val="000000"/>
                </a:solidFill>
                <a:latin typeface="a고딕14"/>
                <a:ea typeface="a고딕14"/>
              </a:rPr>
              <a:t> 학습 흐름 제언</a:t>
            </a:r>
            <a:endParaRPr kumimoji="0" lang="ko-KR" altLang="en-US" sz="1050" b="0" i="0" u="none" strike="noStrike" kern="0" cap="none" spc="0" normalizeH="0" baseline="0" noProof="0" dirty="0">
              <a:ln>
                <a:noFill/>
              </a:ln>
              <a:solidFill>
                <a:srgbClr val="000000"/>
              </a:solidFill>
              <a:effectLst/>
              <a:uLnTx/>
              <a:uFillTx/>
              <a:latin typeface="a고딕14"/>
              <a:ea typeface="a고딕14"/>
              <a:cs typeface="+mn-cs"/>
            </a:endParaRPr>
          </a:p>
        </p:txBody>
      </p:sp>
      <p:sp>
        <p:nvSpPr>
          <p:cNvPr id="149" name="직사각형 56">
            <a:extLst>
              <a:ext uri="{FF2B5EF4-FFF2-40B4-BE49-F238E27FC236}">
                <a16:creationId xmlns:a16="http://schemas.microsoft.com/office/drawing/2014/main" id="{8169ABF8-9263-450D-61D4-79A533D3E8CD}"/>
              </a:ext>
            </a:extLst>
          </p:cNvPr>
          <p:cNvSpPr/>
          <p:nvPr/>
        </p:nvSpPr>
        <p:spPr bwMode="auto">
          <a:xfrm>
            <a:off x="7554860" y="3390786"/>
            <a:ext cx="1790752" cy="645678"/>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직무능력은행제 연계 방안</a:t>
            </a:r>
          </a:p>
        </p:txBody>
      </p:sp>
      <p:sp>
        <p:nvSpPr>
          <p:cNvPr id="152" name="직사각형 56">
            <a:extLst>
              <a:ext uri="{FF2B5EF4-FFF2-40B4-BE49-F238E27FC236}">
                <a16:creationId xmlns:a16="http://schemas.microsoft.com/office/drawing/2014/main" id="{6FC8214F-9D27-183F-3B17-37F0C0669C92}"/>
              </a:ext>
            </a:extLst>
          </p:cNvPr>
          <p:cNvSpPr/>
          <p:nvPr/>
        </p:nvSpPr>
        <p:spPr bwMode="auto">
          <a:xfrm>
            <a:off x="5450830" y="3727148"/>
            <a:ext cx="1790752"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err="1">
                <a:solidFill>
                  <a:srgbClr val="000000"/>
                </a:solidFill>
                <a:latin typeface="a고딕14"/>
                <a:ea typeface="a고딕14"/>
              </a:rPr>
              <a:t>기술교육로드맵</a:t>
            </a:r>
            <a:r>
              <a:rPr lang="ko-KR" altLang="en-US" sz="1000" kern="0" dirty="0">
                <a:solidFill>
                  <a:srgbClr val="000000"/>
                </a:solidFill>
                <a:latin typeface="a고딕14"/>
                <a:ea typeface="a고딕14"/>
              </a:rPr>
              <a:t> 학습 흐름</a:t>
            </a:r>
          </a:p>
        </p:txBody>
      </p:sp>
    </p:spTree>
    <p:extLst>
      <p:ext uri="{BB962C8B-B14F-4D97-AF65-F5344CB8AC3E}">
        <p14:creationId xmlns:p14="http://schemas.microsoft.com/office/powerpoint/2010/main" val="2527891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표 23">
            <a:extLst>
              <a:ext uri="{FF2B5EF4-FFF2-40B4-BE49-F238E27FC236}">
                <a16:creationId xmlns:a16="http://schemas.microsoft.com/office/drawing/2014/main" id="{F3008ED3-19C7-45FC-AB0A-D846C405B5B5}"/>
              </a:ext>
            </a:extLst>
          </p:cNvPr>
          <p:cNvGraphicFramePr>
            <a:graphicFrameLocks noGrp="1"/>
          </p:cNvGraphicFramePr>
          <p:nvPr>
            <p:extLst>
              <p:ext uri="{D42A27DB-BD31-4B8C-83A1-F6EECF244321}">
                <p14:modId xmlns:p14="http://schemas.microsoft.com/office/powerpoint/2010/main" val="2303149553"/>
              </p:ext>
            </p:extLst>
          </p:nvPr>
        </p:nvGraphicFramePr>
        <p:xfrm>
          <a:off x="5349044" y="2612853"/>
          <a:ext cx="3995643" cy="1539244"/>
        </p:xfrm>
        <a:graphic>
          <a:graphicData uri="http://schemas.openxmlformats.org/drawingml/2006/table">
            <a:tbl>
              <a:tblPr/>
              <a:tblGrid>
                <a:gridCol w="1684209">
                  <a:extLst>
                    <a:ext uri="{9D8B030D-6E8A-4147-A177-3AD203B41FA5}">
                      <a16:colId xmlns:a16="http://schemas.microsoft.com/office/drawing/2014/main" val="2280850893"/>
                    </a:ext>
                  </a:extLst>
                </a:gridCol>
                <a:gridCol w="2311434">
                  <a:extLst>
                    <a:ext uri="{9D8B030D-6E8A-4147-A177-3AD203B41FA5}">
                      <a16:colId xmlns:a16="http://schemas.microsoft.com/office/drawing/2014/main" val="119208201"/>
                    </a:ext>
                  </a:extLst>
                </a:gridCol>
              </a:tblGrid>
              <a:tr h="219892">
                <a:tc gridSpan="2">
                  <a:txBody>
                    <a:bodyPr/>
                    <a:lstStyle/>
                    <a:p>
                      <a:pPr algn="ctr" fontAlgn="ct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변경 後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NCS </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체계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(2025</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03</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월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Ver)</a:t>
                      </a:r>
                      <a:endParaRPr lang="ko-KR" altLang="en-US" sz="1200" b="0" i="0" u="none" strike="noStrike" dirty="0">
                        <a:solidFill>
                          <a:schemeClr val="bg1"/>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2488968142"/>
                  </a:ext>
                </a:extLst>
              </a:tr>
              <a:tr h="219892">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분류번호</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분류명</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34115036"/>
                  </a:ext>
                </a:extLst>
              </a:tr>
              <a:tr h="219892">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[0802010718_17v3]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세부 공간계획</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0695173"/>
                  </a:ext>
                </a:extLst>
              </a:tr>
              <a:tr h="219892">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[0802010719_17v3]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실무도서 작성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754943"/>
                  </a:ext>
                </a:extLst>
              </a:tr>
              <a:tr h="219892">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[0802010720_17v3]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설계도서 작성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834511"/>
                  </a:ext>
                </a:extLst>
              </a:tr>
              <a:tr h="219892">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[0802010727_24v5]</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협력설계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248968"/>
                  </a:ext>
                </a:extLst>
              </a:tr>
              <a:tr h="219892">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[0802010723_19v4]</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마감 조사 분석</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116928"/>
                  </a:ext>
                </a:extLst>
              </a:tr>
            </a:tbl>
          </a:graphicData>
        </a:graphic>
      </p:graphicFrame>
      <p:sp>
        <p:nvSpPr>
          <p:cNvPr id="2" name="텍스트 개체 틀 1">
            <a:extLst>
              <a:ext uri="{FF2B5EF4-FFF2-40B4-BE49-F238E27FC236}">
                <a16:creationId xmlns:a16="http://schemas.microsoft.com/office/drawing/2014/main" id="{36FB46DB-9321-4359-BCED-59FFB9456A2C}"/>
              </a:ext>
            </a:extLst>
          </p:cNvPr>
          <p:cNvSpPr>
            <a:spLocks noGrp="1"/>
          </p:cNvSpPr>
          <p:nvPr>
            <p:ph type="body" sz="quarter" idx="12"/>
          </p:nvPr>
        </p:nvSpPr>
        <p:spPr/>
        <p:txBody>
          <a:bodyPr/>
          <a:lstStyle/>
          <a:p>
            <a:pPr latinLnBrk="0"/>
            <a:r>
              <a:rPr lang="en-US" altLang="ko-KR" sz="1800" dirty="0"/>
              <a:t>2024</a:t>
            </a:r>
            <a:r>
              <a:rPr lang="ko-KR" altLang="en-US" sz="1800" dirty="0"/>
              <a:t>년 용역 시 활용하였던 </a:t>
            </a:r>
            <a:r>
              <a:rPr lang="en-US" altLang="ko-KR" sz="1800" dirty="0"/>
              <a:t>NCS(‘23</a:t>
            </a:r>
            <a:r>
              <a:rPr lang="ko-KR" altLang="en-US" sz="1800" dirty="0"/>
              <a:t>년 </a:t>
            </a:r>
            <a:r>
              <a:rPr lang="en-US" altLang="ko-KR" sz="1800" dirty="0"/>
              <a:t>11</a:t>
            </a:r>
            <a:r>
              <a:rPr lang="ko-KR" altLang="en-US" sz="1800" dirty="0"/>
              <a:t>월 </a:t>
            </a:r>
            <a:r>
              <a:rPr lang="en-US" altLang="ko-KR" sz="1800" dirty="0"/>
              <a:t>Ver)</a:t>
            </a:r>
            <a:r>
              <a:rPr lang="ko-KR" altLang="en-US" sz="1800" dirty="0"/>
              <a:t>와 최근 공시된 </a:t>
            </a:r>
            <a:r>
              <a:rPr lang="en-US" altLang="ko-KR" sz="1800" dirty="0"/>
              <a:t>NCS(‘25</a:t>
            </a:r>
            <a:r>
              <a:rPr lang="ko-KR" altLang="en-US" sz="1800" dirty="0"/>
              <a:t>년 </a:t>
            </a:r>
            <a:r>
              <a:rPr lang="en-US" altLang="ko-KR" sz="1800" dirty="0"/>
              <a:t>03</a:t>
            </a:r>
            <a:r>
              <a:rPr lang="ko-KR" altLang="en-US" sz="1800" dirty="0"/>
              <a:t>월  </a:t>
            </a:r>
            <a:r>
              <a:rPr lang="en-US" altLang="ko-KR" sz="1800" dirty="0"/>
              <a:t>Ver)</a:t>
            </a:r>
            <a:r>
              <a:rPr lang="ko-KR" altLang="en-US" sz="1800" dirty="0"/>
              <a:t>를 </a:t>
            </a:r>
            <a:r>
              <a:rPr lang="ko-KR" altLang="en-US" sz="1800" dirty="0">
                <a:solidFill>
                  <a:srgbClr val="0070C0"/>
                </a:solidFill>
              </a:rPr>
              <a:t>비교하여 </a:t>
            </a:r>
            <a:br>
              <a:rPr lang="ko-KR" altLang="en-US" sz="1800" dirty="0">
                <a:solidFill>
                  <a:srgbClr val="0070C0"/>
                </a:solidFill>
              </a:rPr>
            </a:br>
            <a:r>
              <a:rPr lang="ko-KR" altLang="en-US" sz="1800" dirty="0">
                <a:solidFill>
                  <a:srgbClr val="0070C0"/>
                </a:solidFill>
              </a:rPr>
              <a:t>변경된 </a:t>
            </a:r>
            <a:r>
              <a:rPr lang="en-US" altLang="ko-KR" sz="1800" dirty="0">
                <a:solidFill>
                  <a:srgbClr val="0070C0"/>
                </a:solidFill>
              </a:rPr>
              <a:t>NCS</a:t>
            </a:r>
            <a:r>
              <a:rPr lang="ko-KR" altLang="en-US" sz="1800" dirty="0">
                <a:solidFill>
                  <a:srgbClr val="0070C0"/>
                </a:solidFill>
              </a:rPr>
              <a:t>를 찾</a:t>
            </a:r>
            <a:r>
              <a:rPr lang="ko-KR" altLang="en-US" dirty="0">
                <a:solidFill>
                  <a:srgbClr val="0070C0"/>
                </a:solidFill>
              </a:rPr>
              <a:t>고</a:t>
            </a:r>
            <a:r>
              <a:rPr lang="en-US" altLang="ko-KR" dirty="0"/>
              <a:t>, </a:t>
            </a:r>
            <a:r>
              <a:rPr lang="ko-KR" altLang="en-US" dirty="0">
                <a:solidFill>
                  <a:srgbClr val="0070C0"/>
                </a:solidFill>
              </a:rPr>
              <a:t>본 용역에서 활용 가능하도록 </a:t>
            </a:r>
            <a:r>
              <a:rPr lang="en-US" altLang="ko-KR" dirty="0">
                <a:solidFill>
                  <a:srgbClr val="0070C0"/>
                </a:solidFill>
              </a:rPr>
              <a:t>Updating</a:t>
            </a:r>
            <a:r>
              <a:rPr lang="en-US" altLang="ko-KR" dirty="0"/>
              <a:t> </a:t>
            </a:r>
            <a:r>
              <a:rPr lang="ko-KR" altLang="en-US" dirty="0"/>
              <a:t>하겠음</a:t>
            </a:r>
            <a:endParaRPr lang="ko-KR" altLang="en-US" sz="1800" dirty="0"/>
          </a:p>
        </p:txBody>
      </p:sp>
      <p:sp>
        <p:nvSpPr>
          <p:cNvPr id="5" name="텍스트 개체 틀 4">
            <a:extLst>
              <a:ext uri="{FF2B5EF4-FFF2-40B4-BE49-F238E27FC236}">
                <a16:creationId xmlns:a16="http://schemas.microsoft.com/office/drawing/2014/main" id="{51E8A3AD-C488-46A5-ADDF-87BB457AEAF6}"/>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NCS </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변경내역 검토</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NCS </a:t>
            </a:r>
            <a:r>
              <a:rPr lang="ko-KR" altLang="en-US" sz="1200" dirty="0">
                <a:solidFill>
                  <a:schemeClr val="bg1"/>
                </a:solidFill>
              </a:rPr>
              <a:t>및 </a:t>
            </a:r>
            <a:r>
              <a:rPr lang="en-US" altLang="ko-KR" sz="1200" dirty="0">
                <a:solidFill>
                  <a:schemeClr val="bg1"/>
                </a:solidFill>
              </a:rPr>
              <a:t>SQF </a:t>
            </a:r>
            <a:r>
              <a:rPr lang="ko-KR" altLang="en-US" sz="1200" dirty="0">
                <a:solidFill>
                  <a:schemeClr val="bg1"/>
                </a:solidFill>
              </a:rPr>
              <a:t>변경내역 검토</a:t>
            </a:r>
          </a:p>
        </p:txBody>
      </p:sp>
      <p:sp>
        <p:nvSpPr>
          <p:cNvPr id="12" name="직사각형 11"/>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1. </a:t>
            </a:r>
            <a:r>
              <a:rPr lang="ko-KR" altLang="en-US" sz="1100" dirty="0">
                <a:solidFill>
                  <a:srgbClr val="003F56"/>
                </a:solidFill>
                <a:latin typeface="a고딕14"/>
                <a:ea typeface="a고딕14"/>
              </a:rPr>
              <a:t>능력단위 </a:t>
            </a:r>
            <a:r>
              <a:rPr lang="en-US" altLang="ko-KR" sz="1100" dirty="0">
                <a:solidFill>
                  <a:srgbClr val="003F56"/>
                </a:solidFill>
                <a:latin typeface="a고딕14"/>
                <a:ea typeface="a고딕14"/>
              </a:rPr>
              <a:t>Updating </a:t>
            </a:r>
            <a:r>
              <a:rPr lang="ko-KR" altLang="en-US" sz="1100" dirty="0">
                <a:solidFill>
                  <a:srgbClr val="003F56"/>
                </a:solidFill>
                <a:latin typeface="a고딕14"/>
                <a:ea typeface="a고딕14"/>
              </a:rPr>
              <a:t>및 교육과정</a:t>
            </a:r>
            <a:r>
              <a:rPr lang="en-US" altLang="ko-KR" sz="1100" dirty="0">
                <a:solidFill>
                  <a:srgbClr val="003F56"/>
                </a:solidFill>
                <a:latin typeface="a고딕14"/>
                <a:ea typeface="a고딕14"/>
              </a:rPr>
              <a:t>-</a:t>
            </a:r>
            <a:r>
              <a:rPr lang="ko-KR" altLang="en-US" sz="1100" dirty="0">
                <a:solidFill>
                  <a:srgbClr val="003F56"/>
                </a:solidFill>
                <a:latin typeface="a고딕14"/>
                <a:ea typeface="a고딕14"/>
              </a:rPr>
              <a:t>능력단위 매핑</a:t>
            </a:r>
          </a:p>
        </p:txBody>
      </p:sp>
      <p:graphicFrame>
        <p:nvGraphicFramePr>
          <p:cNvPr id="18" name="표 17">
            <a:extLst>
              <a:ext uri="{FF2B5EF4-FFF2-40B4-BE49-F238E27FC236}">
                <a16:creationId xmlns:a16="http://schemas.microsoft.com/office/drawing/2014/main" id="{67E90496-D7B4-0F2A-F94F-FE386286C24C}"/>
              </a:ext>
            </a:extLst>
          </p:cNvPr>
          <p:cNvGraphicFramePr>
            <a:graphicFrameLocks noGrp="1"/>
          </p:cNvGraphicFramePr>
          <p:nvPr>
            <p:extLst>
              <p:ext uri="{D42A27DB-BD31-4B8C-83A1-F6EECF244321}">
                <p14:modId xmlns:p14="http://schemas.microsoft.com/office/powerpoint/2010/main" val="922623254"/>
              </p:ext>
            </p:extLst>
          </p:nvPr>
        </p:nvGraphicFramePr>
        <p:xfrm>
          <a:off x="604567" y="2612854"/>
          <a:ext cx="4157197" cy="1539240"/>
        </p:xfrm>
        <a:graphic>
          <a:graphicData uri="http://schemas.openxmlformats.org/drawingml/2006/table">
            <a:tbl>
              <a:tblPr/>
              <a:tblGrid>
                <a:gridCol w="1752306">
                  <a:extLst>
                    <a:ext uri="{9D8B030D-6E8A-4147-A177-3AD203B41FA5}">
                      <a16:colId xmlns:a16="http://schemas.microsoft.com/office/drawing/2014/main" val="2280850893"/>
                    </a:ext>
                  </a:extLst>
                </a:gridCol>
                <a:gridCol w="2404891">
                  <a:extLst>
                    <a:ext uri="{9D8B030D-6E8A-4147-A177-3AD203B41FA5}">
                      <a16:colId xmlns:a16="http://schemas.microsoft.com/office/drawing/2014/main" val="119208201"/>
                    </a:ext>
                  </a:extLst>
                </a:gridCol>
              </a:tblGrid>
              <a:tr h="147035">
                <a:tc gridSpan="2">
                  <a:txBody>
                    <a:bodyPr/>
                    <a:lstStyle/>
                    <a:p>
                      <a:pPr algn="ctr" fontAlgn="ct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변경 前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NCS </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체계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(2023</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년</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 11</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월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Ver)</a:t>
                      </a:r>
                      <a:endParaRPr lang="ko-KR" altLang="en-US" sz="1200" b="0" i="0" u="none" strike="noStrike" dirty="0">
                        <a:solidFill>
                          <a:schemeClr val="bg1"/>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2488968142"/>
                  </a:ext>
                </a:extLst>
              </a:tr>
              <a:tr h="147035">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분류번호</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분류명</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34115036"/>
                  </a:ext>
                </a:extLst>
              </a:tr>
              <a:tr h="147035">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[0802010718_17v3]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세부 공간계획</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0695173"/>
                  </a:ext>
                </a:extLst>
              </a:tr>
              <a:tr h="14703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[0802010719_17v3]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실무도서 작성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754943"/>
                  </a:ext>
                </a:extLst>
              </a:tr>
              <a:tr h="14703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[0802010720_17v3]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설계도서 작성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834511"/>
                  </a:ext>
                </a:extLst>
              </a:tr>
              <a:tr h="147035">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[0802010721_19v4]</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협력설계 계획</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248968"/>
                  </a:ext>
                </a:extLst>
              </a:tr>
              <a:tr h="147035">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[0802010722_19v4]</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협력설계 검토</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2204756"/>
                  </a:ext>
                </a:extLst>
              </a:tr>
              <a:tr h="147035">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[0802010723_19v4]</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마감 조사 분석</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116928"/>
                  </a:ext>
                </a:extLst>
              </a:tr>
            </a:tbl>
          </a:graphicData>
        </a:graphic>
      </p:graphicFrame>
      <p:sp>
        <p:nvSpPr>
          <p:cNvPr id="22" name="직사각형 21">
            <a:extLst>
              <a:ext uri="{FF2B5EF4-FFF2-40B4-BE49-F238E27FC236}">
                <a16:creationId xmlns:a16="http://schemas.microsoft.com/office/drawing/2014/main" id="{E679E4F5-22D3-BBAB-01BD-8115F860FE02}"/>
              </a:ext>
            </a:extLst>
          </p:cNvPr>
          <p:cNvSpPr/>
          <p:nvPr/>
        </p:nvSpPr>
        <p:spPr>
          <a:xfrm>
            <a:off x="5349044" y="3714750"/>
            <a:ext cx="3999763" cy="215900"/>
          </a:xfrm>
          <a:prstGeom prst="rect">
            <a:avLst/>
          </a:prstGeom>
          <a:solidFill>
            <a:srgbClr val="3061A3">
              <a:alpha val="20000"/>
            </a:srgbClr>
          </a:solidFill>
          <a:ln w="12700">
            <a:solidFill>
              <a:srgbClr val="212E5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23" name="직사각형 22">
            <a:extLst>
              <a:ext uri="{FF2B5EF4-FFF2-40B4-BE49-F238E27FC236}">
                <a16:creationId xmlns:a16="http://schemas.microsoft.com/office/drawing/2014/main" id="{DCEEB476-FC8F-4EAD-8EDE-BC5D54ADA07E}"/>
              </a:ext>
            </a:extLst>
          </p:cNvPr>
          <p:cNvSpPr/>
          <p:nvPr/>
        </p:nvSpPr>
        <p:spPr>
          <a:xfrm>
            <a:off x="596515" y="3576638"/>
            <a:ext cx="4177098" cy="370210"/>
          </a:xfrm>
          <a:prstGeom prst="rect">
            <a:avLst/>
          </a:prstGeom>
          <a:solidFill>
            <a:srgbClr val="3061A3">
              <a:alpha val="20000"/>
            </a:srgbClr>
          </a:solidFill>
          <a:ln w="12700">
            <a:solidFill>
              <a:srgbClr val="212E5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cxnSp>
        <p:nvCxnSpPr>
          <p:cNvPr id="28" name="직선 화살표 연결선 27">
            <a:extLst>
              <a:ext uri="{FF2B5EF4-FFF2-40B4-BE49-F238E27FC236}">
                <a16:creationId xmlns:a16="http://schemas.microsoft.com/office/drawing/2014/main" id="{3B287CDE-DF03-AC81-C1FB-B876E7B938B2}"/>
              </a:ext>
            </a:extLst>
          </p:cNvPr>
          <p:cNvCxnSpPr>
            <a:cxnSpLocks/>
            <a:stCxn id="23" idx="3"/>
            <a:endCxn id="22" idx="1"/>
          </p:cNvCxnSpPr>
          <p:nvPr/>
        </p:nvCxnSpPr>
        <p:spPr>
          <a:xfrm>
            <a:off x="4773613" y="3761743"/>
            <a:ext cx="575431" cy="60957"/>
          </a:xfrm>
          <a:prstGeom prst="straightConnector1">
            <a:avLst/>
          </a:prstGeom>
          <a:ln w="19050">
            <a:solidFill>
              <a:srgbClr val="212E55"/>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표 35">
            <a:extLst>
              <a:ext uri="{FF2B5EF4-FFF2-40B4-BE49-F238E27FC236}">
                <a16:creationId xmlns:a16="http://schemas.microsoft.com/office/drawing/2014/main" id="{4E1EC2CA-7775-0D60-B193-A6F19DF97D0C}"/>
              </a:ext>
            </a:extLst>
          </p:cNvPr>
          <p:cNvGraphicFramePr>
            <a:graphicFrameLocks noGrp="1"/>
          </p:cNvGraphicFramePr>
          <p:nvPr>
            <p:extLst>
              <p:ext uri="{D42A27DB-BD31-4B8C-83A1-F6EECF244321}">
                <p14:modId xmlns:p14="http://schemas.microsoft.com/office/powerpoint/2010/main" val="385431428"/>
              </p:ext>
            </p:extLst>
          </p:nvPr>
        </p:nvGraphicFramePr>
        <p:xfrm>
          <a:off x="596515" y="4759068"/>
          <a:ext cx="4157197" cy="1731645"/>
        </p:xfrm>
        <a:graphic>
          <a:graphicData uri="http://schemas.openxmlformats.org/drawingml/2006/table">
            <a:tbl>
              <a:tblPr/>
              <a:tblGrid>
                <a:gridCol w="1752306">
                  <a:extLst>
                    <a:ext uri="{9D8B030D-6E8A-4147-A177-3AD203B41FA5}">
                      <a16:colId xmlns:a16="http://schemas.microsoft.com/office/drawing/2014/main" val="2280850893"/>
                    </a:ext>
                  </a:extLst>
                </a:gridCol>
                <a:gridCol w="2404891">
                  <a:extLst>
                    <a:ext uri="{9D8B030D-6E8A-4147-A177-3AD203B41FA5}">
                      <a16:colId xmlns:a16="http://schemas.microsoft.com/office/drawing/2014/main" val="119208201"/>
                    </a:ext>
                  </a:extLst>
                </a:gridCol>
              </a:tblGrid>
              <a:tr h="190534">
                <a:tc gridSpan="2">
                  <a:txBody>
                    <a:bodyPr/>
                    <a:lstStyle/>
                    <a:p>
                      <a:pPr algn="ctr" fontAlgn="ct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변경 前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NCS </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체계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(2023</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년</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 11</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월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Ver)</a:t>
                      </a:r>
                      <a:endParaRPr lang="ko-KR" altLang="en-US" sz="1200" b="0" i="0" u="none" strike="noStrike" dirty="0">
                        <a:solidFill>
                          <a:schemeClr val="bg1"/>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2488968142"/>
                  </a:ext>
                </a:extLst>
              </a:tr>
              <a:tr h="190534">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분류번호</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분류명</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34115036"/>
                  </a:ext>
                </a:extLst>
              </a:tr>
              <a:tr h="190534">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[1505010401_14v2]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설치정비 준비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0695173"/>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[1505010403_14v2]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설치계획 수립</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754943"/>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[1505010404_14v2]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공작기계 운반</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834511"/>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[1505010405_14v2]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공작기계 설치</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248968"/>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[1505010406_14v2]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시운전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2204756"/>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[1505010407_14v2]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보전관리</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116928"/>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[1505010409_14v2]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공작기계 안전관리</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057948"/>
                  </a:ext>
                </a:extLst>
              </a:tr>
            </a:tbl>
          </a:graphicData>
        </a:graphic>
      </p:graphicFrame>
      <p:graphicFrame>
        <p:nvGraphicFramePr>
          <p:cNvPr id="37" name="표 36">
            <a:extLst>
              <a:ext uri="{FF2B5EF4-FFF2-40B4-BE49-F238E27FC236}">
                <a16:creationId xmlns:a16="http://schemas.microsoft.com/office/drawing/2014/main" id="{8572DDC8-8BA4-BC58-6F25-807453D0FDD1}"/>
              </a:ext>
            </a:extLst>
          </p:cNvPr>
          <p:cNvGraphicFramePr>
            <a:graphicFrameLocks noGrp="1"/>
          </p:cNvGraphicFramePr>
          <p:nvPr>
            <p:extLst>
              <p:ext uri="{D42A27DB-BD31-4B8C-83A1-F6EECF244321}">
                <p14:modId xmlns:p14="http://schemas.microsoft.com/office/powerpoint/2010/main" val="3877312940"/>
              </p:ext>
            </p:extLst>
          </p:nvPr>
        </p:nvGraphicFramePr>
        <p:xfrm>
          <a:off x="5349044" y="4759068"/>
          <a:ext cx="3987531" cy="1731645"/>
        </p:xfrm>
        <a:graphic>
          <a:graphicData uri="http://schemas.openxmlformats.org/drawingml/2006/table">
            <a:tbl>
              <a:tblPr/>
              <a:tblGrid>
                <a:gridCol w="1680790">
                  <a:extLst>
                    <a:ext uri="{9D8B030D-6E8A-4147-A177-3AD203B41FA5}">
                      <a16:colId xmlns:a16="http://schemas.microsoft.com/office/drawing/2014/main" val="2280850893"/>
                    </a:ext>
                  </a:extLst>
                </a:gridCol>
                <a:gridCol w="2306741">
                  <a:extLst>
                    <a:ext uri="{9D8B030D-6E8A-4147-A177-3AD203B41FA5}">
                      <a16:colId xmlns:a16="http://schemas.microsoft.com/office/drawing/2014/main" val="119208201"/>
                    </a:ext>
                  </a:extLst>
                </a:gridCol>
              </a:tblGrid>
              <a:tr h="190534">
                <a:tc gridSpan="2">
                  <a:txBody>
                    <a:bodyPr/>
                    <a:lstStyle/>
                    <a:p>
                      <a:pPr algn="ctr" fontAlgn="ct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변경 後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NCS </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체계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(2025</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03</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월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Ver)</a:t>
                      </a:r>
                      <a:endParaRPr lang="ko-KR" altLang="en-US" sz="1200" b="0" i="0" u="none" strike="noStrike" dirty="0">
                        <a:solidFill>
                          <a:schemeClr val="bg1"/>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2488968142"/>
                  </a:ext>
                </a:extLst>
              </a:tr>
              <a:tr h="190534">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분류번호</a:t>
                      </a:r>
                      <a:endParaRPr lang="ko-KR" altLang="en-US" sz="12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분류명</a:t>
                      </a:r>
                      <a:endParaRPr lang="ko-KR" altLang="en-US" sz="12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34115036"/>
                  </a:ext>
                </a:extLst>
              </a:tr>
              <a:tr h="190534">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[1505010401_24v3]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 준비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0695173"/>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[1505010403_24v3]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설치계획 수립</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754943"/>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[1505010404_24v3]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운반</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834511"/>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[1505010405_24v3]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248968"/>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[1505010406_24v3]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시운전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2204756"/>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[1505010407_24v3]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보전관리</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116928"/>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[1505010409_24v3]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공작기계 설치</a:t>
                      </a: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a:t>
                      </a: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정비 안전관리</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057948"/>
                  </a:ext>
                </a:extLst>
              </a:tr>
            </a:tbl>
          </a:graphicData>
        </a:graphic>
      </p:graphicFrame>
      <p:cxnSp>
        <p:nvCxnSpPr>
          <p:cNvPr id="42" name="직선 화살표 연결선 41">
            <a:extLst>
              <a:ext uri="{FF2B5EF4-FFF2-40B4-BE49-F238E27FC236}">
                <a16:creationId xmlns:a16="http://schemas.microsoft.com/office/drawing/2014/main" id="{18169C0A-0A47-D123-FAD0-C5000ECA884E}"/>
              </a:ext>
            </a:extLst>
          </p:cNvPr>
          <p:cNvCxnSpPr>
            <a:cxnSpLocks/>
          </p:cNvCxnSpPr>
          <p:nvPr/>
        </p:nvCxnSpPr>
        <p:spPr>
          <a:xfrm>
            <a:off x="4773613" y="5801424"/>
            <a:ext cx="575431" cy="0"/>
          </a:xfrm>
          <a:prstGeom prst="straightConnector1">
            <a:avLst/>
          </a:prstGeom>
          <a:ln w="19050">
            <a:solidFill>
              <a:srgbClr val="212E55"/>
            </a:solidFill>
            <a:tailEnd type="triangle"/>
          </a:ln>
        </p:spPr>
        <p:style>
          <a:lnRef idx="1">
            <a:schemeClr val="accent1"/>
          </a:lnRef>
          <a:fillRef idx="0">
            <a:schemeClr val="accent1"/>
          </a:fillRef>
          <a:effectRef idx="0">
            <a:schemeClr val="accent1"/>
          </a:effectRef>
          <a:fontRef idx="minor">
            <a:schemeClr val="tx1"/>
          </a:fontRef>
        </p:style>
      </p:cxnSp>
      <p:sp>
        <p:nvSpPr>
          <p:cNvPr id="45" name="직사각형 44">
            <a:extLst>
              <a:ext uri="{FF2B5EF4-FFF2-40B4-BE49-F238E27FC236}">
                <a16:creationId xmlns:a16="http://schemas.microsoft.com/office/drawing/2014/main" id="{3F020B79-FC02-5860-CB2A-D57AC1187532}"/>
              </a:ext>
            </a:extLst>
          </p:cNvPr>
          <p:cNvSpPr/>
          <p:nvPr/>
        </p:nvSpPr>
        <p:spPr>
          <a:xfrm>
            <a:off x="596515" y="5146483"/>
            <a:ext cx="4157197" cy="1346201"/>
          </a:xfrm>
          <a:prstGeom prst="rect">
            <a:avLst/>
          </a:prstGeom>
          <a:solidFill>
            <a:srgbClr val="3061A3">
              <a:alpha val="20000"/>
            </a:srgbClr>
          </a:solidFill>
          <a:ln w="12700">
            <a:solidFill>
              <a:srgbClr val="212E5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46" name="직사각형 45">
            <a:extLst>
              <a:ext uri="{FF2B5EF4-FFF2-40B4-BE49-F238E27FC236}">
                <a16:creationId xmlns:a16="http://schemas.microsoft.com/office/drawing/2014/main" id="{02991607-720F-ED5B-9ED8-1EE3FF24BC45}"/>
              </a:ext>
            </a:extLst>
          </p:cNvPr>
          <p:cNvSpPr/>
          <p:nvPr/>
        </p:nvSpPr>
        <p:spPr>
          <a:xfrm>
            <a:off x="5349044" y="5146483"/>
            <a:ext cx="3999763" cy="1343026"/>
          </a:xfrm>
          <a:prstGeom prst="rect">
            <a:avLst/>
          </a:prstGeom>
          <a:solidFill>
            <a:srgbClr val="3061A3">
              <a:alpha val="20000"/>
            </a:srgbClr>
          </a:solidFill>
          <a:ln w="12700">
            <a:solidFill>
              <a:srgbClr val="212E5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57" name="직사각형 56">
            <a:extLst>
              <a:ext uri="{FF2B5EF4-FFF2-40B4-BE49-F238E27FC236}">
                <a16:creationId xmlns:a16="http://schemas.microsoft.com/office/drawing/2014/main" id="{A2F9DFBE-96A3-7EB8-8D8F-244B4E0BFA6D}"/>
              </a:ext>
            </a:extLst>
          </p:cNvPr>
          <p:cNvSpPr/>
          <p:nvPr/>
        </p:nvSpPr>
        <p:spPr>
          <a:xfrm>
            <a:off x="1172580" y="2059783"/>
            <a:ext cx="1944216" cy="39528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mj-ea"/>
                <a:ea typeface="+mj-ea"/>
              </a:rPr>
              <a:t>08. </a:t>
            </a:r>
            <a:r>
              <a:rPr lang="ko-KR" altLang="en-US" dirty="0">
                <a:solidFill>
                  <a:schemeClr val="tx1"/>
                </a:solidFill>
                <a:latin typeface="+mj-ea"/>
                <a:ea typeface="+mj-ea"/>
              </a:rPr>
              <a:t>문화</a:t>
            </a:r>
            <a:r>
              <a:rPr lang="en-US" altLang="ko-KR" dirty="0">
                <a:solidFill>
                  <a:schemeClr val="tx1"/>
                </a:solidFill>
                <a:latin typeface="+mj-ea"/>
                <a:ea typeface="+mj-ea"/>
              </a:rPr>
              <a:t>·</a:t>
            </a:r>
            <a:r>
              <a:rPr lang="ko-KR" altLang="en-US" dirty="0">
                <a:solidFill>
                  <a:schemeClr val="tx1"/>
                </a:solidFill>
                <a:latin typeface="+mj-ea"/>
                <a:ea typeface="+mj-ea"/>
              </a:rPr>
              <a:t>예술</a:t>
            </a:r>
            <a:r>
              <a:rPr lang="en-US" altLang="ko-KR" dirty="0">
                <a:solidFill>
                  <a:schemeClr val="tx1"/>
                </a:solidFill>
                <a:latin typeface="+mj-ea"/>
                <a:ea typeface="+mj-ea"/>
              </a:rPr>
              <a:t>·</a:t>
            </a:r>
            <a:r>
              <a:rPr lang="ko-KR" altLang="en-US" dirty="0">
                <a:solidFill>
                  <a:schemeClr val="tx1"/>
                </a:solidFill>
                <a:latin typeface="+mj-ea"/>
                <a:ea typeface="+mj-ea"/>
              </a:rPr>
              <a:t>디자인</a:t>
            </a:r>
            <a:r>
              <a:rPr lang="en-US" altLang="ko-KR" dirty="0">
                <a:solidFill>
                  <a:schemeClr val="tx1"/>
                </a:solidFill>
                <a:latin typeface="+mj-ea"/>
                <a:ea typeface="+mj-ea"/>
              </a:rPr>
              <a:t>·</a:t>
            </a:r>
            <a:r>
              <a:rPr lang="ko-KR" altLang="en-US" dirty="0">
                <a:solidFill>
                  <a:schemeClr val="tx1"/>
                </a:solidFill>
                <a:latin typeface="+mj-ea"/>
                <a:ea typeface="+mj-ea"/>
              </a:rPr>
              <a:t>방송</a:t>
            </a:r>
          </a:p>
        </p:txBody>
      </p:sp>
      <p:grpSp>
        <p:nvGrpSpPr>
          <p:cNvPr id="63" name="그룹 62">
            <a:extLst>
              <a:ext uri="{FF2B5EF4-FFF2-40B4-BE49-F238E27FC236}">
                <a16:creationId xmlns:a16="http://schemas.microsoft.com/office/drawing/2014/main" id="{01560CC0-AF8B-A3C2-0417-4F2F1E79E4C6}"/>
              </a:ext>
            </a:extLst>
          </p:cNvPr>
          <p:cNvGrpSpPr/>
          <p:nvPr/>
        </p:nvGrpSpPr>
        <p:grpSpPr>
          <a:xfrm>
            <a:off x="551918" y="4194737"/>
            <a:ext cx="1137668" cy="525600"/>
            <a:chOff x="551918" y="4229533"/>
            <a:chExt cx="1137668" cy="525600"/>
          </a:xfrm>
        </p:grpSpPr>
        <p:pic>
          <p:nvPicPr>
            <p:cNvPr id="59" name="그림 58">
              <a:extLst>
                <a:ext uri="{FF2B5EF4-FFF2-40B4-BE49-F238E27FC236}">
                  <a16:creationId xmlns:a16="http://schemas.microsoft.com/office/drawing/2014/main" id="{87B4A769-2482-F5F8-DC43-8FF7CCA5F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1918" y="4229533"/>
              <a:ext cx="525600" cy="525600"/>
            </a:xfrm>
            <a:prstGeom prst="rect">
              <a:avLst/>
            </a:prstGeom>
          </p:spPr>
        </p:pic>
        <p:sp>
          <p:nvSpPr>
            <p:cNvPr id="60" name="직사각형 59">
              <a:extLst>
                <a:ext uri="{FF2B5EF4-FFF2-40B4-BE49-F238E27FC236}">
                  <a16:creationId xmlns:a16="http://schemas.microsoft.com/office/drawing/2014/main" id="{364D1D42-54EC-5383-C331-F7ABA022B5FE}"/>
                </a:ext>
              </a:extLst>
            </p:cNvPr>
            <p:cNvSpPr/>
            <p:nvPr/>
          </p:nvSpPr>
          <p:spPr>
            <a:xfrm>
              <a:off x="1077518" y="4294691"/>
              <a:ext cx="612068" cy="39528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mj-ea"/>
                  <a:ea typeface="+mj-ea"/>
                </a:rPr>
                <a:t>15</a:t>
              </a:r>
              <a:r>
                <a:rPr lang="en-US" altLang="ko-KR">
                  <a:solidFill>
                    <a:schemeClr val="tx1"/>
                  </a:solidFill>
                  <a:latin typeface="+mj-ea"/>
                  <a:ea typeface="+mj-ea"/>
                </a:rPr>
                <a:t>. </a:t>
              </a:r>
              <a:r>
                <a:rPr lang="ko-KR" altLang="en-US" dirty="0">
                  <a:solidFill>
                    <a:schemeClr val="tx1"/>
                  </a:solidFill>
                  <a:latin typeface="+mj-ea"/>
                  <a:ea typeface="+mj-ea"/>
                </a:rPr>
                <a:t>기계</a:t>
              </a:r>
            </a:p>
          </p:txBody>
        </p:sp>
      </p:grpSp>
      <p:pic>
        <p:nvPicPr>
          <p:cNvPr id="65" name="그림 64">
            <a:extLst>
              <a:ext uri="{FF2B5EF4-FFF2-40B4-BE49-F238E27FC236}">
                <a16:creationId xmlns:a16="http://schemas.microsoft.com/office/drawing/2014/main" id="{E3706E89-184E-DCFB-5AFF-59619D7B6D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157" y="1992107"/>
            <a:ext cx="525600" cy="525600"/>
          </a:xfrm>
          <a:prstGeom prst="rect">
            <a:avLst/>
          </a:prstGeom>
        </p:spPr>
      </p:pic>
    </p:spTree>
    <p:extLst>
      <p:ext uri="{BB962C8B-B14F-4D97-AF65-F5344CB8AC3E}">
        <p14:creationId xmlns:p14="http://schemas.microsoft.com/office/powerpoint/2010/main" val="1688885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8AD32-243D-EA4F-33B5-D7787F4B60C1}"/>
            </a:ext>
          </a:extLst>
        </p:cNvPr>
        <p:cNvGrpSpPr/>
        <p:nvPr/>
      </p:nvGrpSpPr>
      <p:grpSpPr>
        <a:xfrm>
          <a:off x="0" y="0"/>
          <a:ext cx="0" cy="0"/>
          <a:chOff x="0" y="0"/>
          <a:chExt cx="0" cy="0"/>
        </a:xfrm>
      </p:grpSpPr>
      <p:sp>
        <p:nvSpPr>
          <p:cNvPr id="10" name="자유형 145">
            <a:extLst>
              <a:ext uri="{FF2B5EF4-FFF2-40B4-BE49-F238E27FC236}">
                <a16:creationId xmlns:a16="http://schemas.microsoft.com/office/drawing/2014/main" id="{9D401E65-75CC-EBAB-B095-53DED0F11C13}"/>
              </a:ext>
            </a:extLst>
          </p:cNvPr>
          <p:cNvSpPr>
            <a:spLocks/>
          </p:cNvSpPr>
          <p:nvPr>
            <p:custDataLst>
              <p:tags r:id="rId1"/>
            </p:custDataLst>
          </p:nvPr>
        </p:nvSpPr>
        <p:spPr bwMode="auto">
          <a:xfrm rot="5400000" flipV="1">
            <a:off x="4562578" y="-370415"/>
            <a:ext cx="815119" cy="8749098"/>
          </a:xfrm>
          <a:custGeom>
            <a:avLst/>
            <a:gdLst>
              <a:gd name="connsiteX0" fmla="*/ 833286 w 833286"/>
              <a:gd name="connsiteY0" fmla="*/ 2496942 h 5034729"/>
              <a:gd name="connsiteX1" fmla="*/ 621706 w 833286"/>
              <a:gd name="connsiteY1" fmla="*/ 3061826 h 5034729"/>
              <a:gd name="connsiteX2" fmla="*/ 618254 w 833286"/>
              <a:gd name="connsiteY2" fmla="*/ 3068504 h 5034729"/>
              <a:gd name="connsiteX3" fmla="*/ 618254 w 833286"/>
              <a:gd name="connsiteY3" fmla="*/ 2909120 h 5034729"/>
              <a:gd name="connsiteX4" fmla="*/ 586913 w 833286"/>
              <a:gd name="connsiteY4" fmla="*/ 2935933 h 5034729"/>
              <a:gd name="connsiteX5" fmla="*/ 556998 w 833286"/>
              <a:gd name="connsiteY5" fmla="*/ 2952318 h 5034729"/>
              <a:gd name="connsiteX6" fmla="*/ 527083 w 833286"/>
              <a:gd name="connsiteY6" fmla="*/ 2974661 h 5034729"/>
              <a:gd name="connsiteX7" fmla="*/ 497167 w 833286"/>
              <a:gd name="connsiteY7" fmla="*/ 3008921 h 5034729"/>
              <a:gd name="connsiteX8" fmla="*/ 468676 w 833286"/>
              <a:gd name="connsiteY8" fmla="*/ 3043181 h 5034729"/>
              <a:gd name="connsiteX9" fmla="*/ 440185 w 833286"/>
              <a:gd name="connsiteY9" fmla="*/ 3077441 h 5034729"/>
              <a:gd name="connsiteX10" fmla="*/ 411694 w 833286"/>
              <a:gd name="connsiteY10" fmla="*/ 3116170 h 5034729"/>
              <a:gd name="connsiteX11" fmla="*/ 384628 w 833286"/>
              <a:gd name="connsiteY11" fmla="*/ 3159367 h 5034729"/>
              <a:gd name="connsiteX12" fmla="*/ 358986 w 833286"/>
              <a:gd name="connsiteY12" fmla="*/ 3207033 h 5034729"/>
              <a:gd name="connsiteX13" fmla="*/ 333344 w 833286"/>
              <a:gd name="connsiteY13" fmla="*/ 3259168 h 5034729"/>
              <a:gd name="connsiteX14" fmla="*/ 307702 w 833286"/>
              <a:gd name="connsiteY14" fmla="*/ 3314282 h 5034729"/>
              <a:gd name="connsiteX15" fmla="*/ 283485 w 833286"/>
              <a:gd name="connsiteY15" fmla="*/ 3370886 h 5034729"/>
              <a:gd name="connsiteX16" fmla="*/ 257843 w 833286"/>
              <a:gd name="connsiteY16" fmla="*/ 3430468 h 5034729"/>
              <a:gd name="connsiteX17" fmla="*/ 235050 w 833286"/>
              <a:gd name="connsiteY17" fmla="*/ 3496009 h 5034729"/>
              <a:gd name="connsiteX18" fmla="*/ 215107 w 833286"/>
              <a:gd name="connsiteY18" fmla="*/ 3560060 h 5034729"/>
              <a:gd name="connsiteX19" fmla="*/ 192314 w 833286"/>
              <a:gd name="connsiteY19" fmla="*/ 3630070 h 5034729"/>
              <a:gd name="connsiteX20" fmla="*/ 173795 w 833286"/>
              <a:gd name="connsiteY20" fmla="*/ 3698590 h 5034729"/>
              <a:gd name="connsiteX21" fmla="*/ 155276 w 833286"/>
              <a:gd name="connsiteY21" fmla="*/ 3776047 h 5034729"/>
              <a:gd name="connsiteX22" fmla="*/ 136757 w 833286"/>
              <a:gd name="connsiteY22" fmla="*/ 3853504 h 5034729"/>
              <a:gd name="connsiteX23" fmla="*/ 121087 w 833286"/>
              <a:gd name="connsiteY23" fmla="*/ 3930962 h 5034729"/>
              <a:gd name="connsiteX24" fmla="*/ 102568 w 833286"/>
              <a:gd name="connsiteY24" fmla="*/ 4012888 h 5034729"/>
              <a:gd name="connsiteX25" fmla="*/ 86897 w 833286"/>
              <a:gd name="connsiteY25" fmla="*/ 4094814 h 5034729"/>
              <a:gd name="connsiteX26" fmla="*/ 74077 w 833286"/>
              <a:gd name="connsiteY26" fmla="*/ 4181209 h 5034729"/>
              <a:gd name="connsiteX27" fmla="*/ 59831 w 833286"/>
              <a:gd name="connsiteY27" fmla="*/ 4267603 h 5034729"/>
              <a:gd name="connsiteX28" fmla="*/ 48435 w 833286"/>
              <a:gd name="connsiteY28" fmla="*/ 4362936 h 5034729"/>
              <a:gd name="connsiteX29" fmla="*/ 38463 w 833286"/>
              <a:gd name="connsiteY29" fmla="*/ 4452309 h 5034729"/>
              <a:gd name="connsiteX30" fmla="*/ 28491 w 833286"/>
              <a:gd name="connsiteY30" fmla="*/ 4547642 h 5034729"/>
              <a:gd name="connsiteX31" fmla="*/ 21368 w 833286"/>
              <a:gd name="connsiteY31" fmla="*/ 4642974 h 5034729"/>
              <a:gd name="connsiteX32" fmla="*/ 12821 w 833286"/>
              <a:gd name="connsiteY32" fmla="*/ 4736816 h 5034729"/>
              <a:gd name="connsiteX33" fmla="*/ 7123 w 833286"/>
              <a:gd name="connsiteY33" fmla="*/ 4836617 h 5034729"/>
              <a:gd name="connsiteX34" fmla="*/ 2849 w 833286"/>
              <a:gd name="connsiteY34" fmla="*/ 4934928 h 5034729"/>
              <a:gd name="connsiteX35" fmla="*/ 0 w 833286"/>
              <a:gd name="connsiteY35" fmla="*/ 5034729 h 5034729"/>
              <a:gd name="connsiteX36" fmla="*/ 0 w 833286"/>
              <a:gd name="connsiteY36" fmla="*/ 0 h 5034729"/>
              <a:gd name="connsiteX37" fmla="*/ 2849 w 833286"/>
              <a:gd name="connsiteY37" fmla="*/ 99801 h 5034729"/>
              <a:gd name="connsiteX38" fmla="*/ 7123 w 833286"/>
              <a:gd name="connsiteY38" fmla="*/ 202581 h 5034729"/>
              <a:gd name="connsiteX39" fmla="*/ 12821 w 833286"/>
              <a:gd name="connsiteY39" fmla="*/ 297913 h 5034729"/>
              <a:gd name="connsiteX40" fmla="*/ 21368 w 833286"/>
              <a:gd name="connsiteY40" fmla="*/ 396225 h 5034729"/>
              <a:gd name="connsiteX41" fmla="*/ 28491 w 833286"/>
              <a:gd name="connsiteY41" fmla="*/ 491557 h 5034729"/>
              <a:gd name="connsiteX42" fmla="*/ 38463 w 833286"/>
              <a:gd name="connsiteY42" fmla="*/ 582420 h 5034729"/>
              <a:gd name="connsiteX43" fmla="*/ 48435 w 833286"/>
              <a:gd name="connsiteY43" fmla="*/ 676263 h 5034729"/>
              <a:gd name="connsiteX44" fmla="*/ 59831 w 833286"/>
              <a:gd name="connsiteY44" fmla="*/ 767126 h 5034729"/>
              <a:gd name="connsiteX45" fmla="*/ 74077 w 833286"/>
              <a:gd name="connsiteY45" fmla="*/ 853521 h 5034729"/>
              <a:gd name="connsiteX46" fmla="*/ 86897 w 833286"/>
              <a:gd name="connsiteY46" fmla="*/ 944384 h 5034729"/>
              <a:gd name="connsiteX47" fmla="*/ 102567 w 833286"/>
              <a:gd name="connsiteY47" fmla="*/ 1021842 h 5034729"/>
              <a:gd name="connsiteX48" fmla="*/ 121087 w 833286"/>
              <a:gd name="connsiteY48" fmla="*/ 1108236 h 5034729"/>
              <a:gd name="connsiteX49" fmla="*/ 136757 w 833286"/>
              <a:gd name="connsiteY49" fmla="*/ 1185694 h 5034729"/>
              <a:gd name="connsiteX50" fmla="*/ 155276 w 833286"/>
              <a:gd name="connsiteY50" fmla="*/ 1258682 h 5034729"/>
              <a:gd name="connsiteX51" fmla="*/ 173795 w 833286"/>
              <a:gd name="connsiteY51" fmla="*/ 1340609 h 5034729"/>
              <a:gd name="connsiteX52" fmla="*/ 192314 w 833286"/>
              <a:gd name="connsiteY52" fmla="*/ 1404660 h 5034729"/>
              <a:gd name="connsiteX53" fmla="*/ 215107 w 833286"/>
              <a:gd name="connsiteY53" fmla="*/ 1479138 h 5034729"/>
              <a:gd name="connsiteX54" fmla="*/ 235050 w 833286"/>
              <a:gd name="connsiteY54" fmla="*/ 1543189 h 5034729"/>
              <a:gd name="connsiteX55" fmla="*/ 257843 w 833286"/>
              <a:gd name="connsiteY55" fmla="*/ 1607241 h 5034729"/>
              <a:gd name="connsiteX56" fmla="*/ 283485 w 833286"/>
              <a:gd name="connsiteY56" fmla="*/ 1668313 h 5034729"/>
              <a:gd name="connsiteX57" fmla="*/ 307702 w 833286"/>
              <a:gd name="connsiteY57" fmla="*/ 1724916 h 5034729"/>
              <a:gd name="connsiteX58" fmla="*/ 333344 w 833286"/>
              <a:gd name="connsiteY58" fmla="*/ 1775561 h 5034729"/>
              <a:gd name="connsiteX59" fmla="*/ 358986 w 833286"/>
              <a:gd name="connsiteY59" fmla="*/ 1827696 h 5034729"/>
              <a:gd name="connsiteX60" fmla="*/ 384628 w 833286"/>
              <a:gd name="connsiteY60" fmla="*/ 1879831 h 5034729"/>
              <a:gd name="connsiteX61" fmla="*/ 411694 w 833286"/>
              <a:gd name="connsiteY61" fmla="*/ 1923028 h 5034729"/>
              <a:gd name="connsiteX62" fmla="*/ 440185 w 833286"/>
              <a:gd name="connsiteY62" fmla="*/ 1961757 h 5034729"/>
              <a:gd name="connsiteX63" fmla="*/ 468676 w 833286"/>
              <a:gd name="connsiteY63" fmla="*/ 1996017 h 5034729"/>
              <a:gd name="connsiteX64" fmla="*/ 497167 w 833286"/>
              <a:gd name="connsiteY64" fmla="*/ 2030277 h 5034729"/>
              <a:gd name="connsiteX65" fmla="*/ 527083 w 833286"/>
              <a:gd name="connsiteY65" fmla="*/ 2060068 h 5034729"/>
              <a:gd name="connsiteX66" fmla="*/ 556998 w 833286"/>
              <a:gd name="connsiteY66" fmla="*/ 2086880 h 5034729"/>
              <a:gd name="connsiteX67" fmla="*/ 586913 w 833286"/>
              <a:gd name="connsiteY67" fmla="*/ 2107734 h 5034729"/>
              <a:gd name="connsiteX68" fmla="*/ 618254 w 833286"/>
              <a:gd name="connsiteY68" fmla="*/ 2125609 h 5034729"/>
              <a:gd name="connsiteX69" fmla="*/ 618254 w 833286"/>
              <a:gd name="connsiteY69" fmla="*/ 1969205 h 5034729"/>
              <a:gd name="connsiteX70" fmla="*/ 635975 w 833286"/>
              <a:gd name="connsiteY70" fmla="*/ 2001318 h 5034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33286" h="5034729">
                <a:moveTo>
                  <a:pt x="833286" y="2496942"/>
                </a:moveTo>
                <a:lnTo>
                  <a:pt x="621706" y="3061826"/>
                </a:lnTo>
                <a:lnTo>
                  <a:pt x="618254" y="3068504"/>
                </a:lnTo>
                <a:lnTo>
                  <a:pt x="618254" y="2909120"/>
                </a:lnTo>
                <a:lnTo>
                  <a:pt x="586913" y="2935933"/>
                </a:lnTo>
                <a:lnTo>
                  <a:pt x="556998" y="2952318"/>
                </a:lnTo>
                <a:lnTo>
                  <a:pt x="527083" y="2974661"/>
                </a:lnTo>
                <a:lnTo>
                  <a:pt x="497167" y="3008921"/>
                </a:lnTo>
                <a:lnTo>
                  <a:pt x="468676" y="3043181"/>
                </a:lnTo>
                <a:lnTo>
                  <a:pt x="440185" y="3077441"/>
                </a:lnTo>
                <a:lnTo>
                  <a:pt x="411694" y="3116170"/>
                </a:lnTo>
                <a:lnTo>
                  <a:pt x="384628" y="3159367"/>
                </a:lnTo>
                <a:lnTo>
                  <a:pt x="358986" y="3207033"/>
                </a:lnTo>
                <a:lnTo>
                  <a:pt x="333344" y="3259168"/>
                </a:lnTo>
                <a:lnTo>
                  <a:pt x="307702" y="3314282"/>
                </a:lnTo>
                <a:lnTo>
                  <a:pt x="283485" y="3370886"/>
                </a:lnTo>
                <a:lnTo>
                  <a:pt x="257843" y="3430468"/>
                </a:lnTo>
                <a:lnTo>
                  <a:pt x="235050" y="3496009"/>
                </a:lnTo>
                <a:lnTo>
                  <a:pt x="215107" y="3560060"/>
                </a:lnTo>
                <a:lnTo>
                  <a:pt x="192314" y="3630070"/>
                </a:lnTo>
                <a:lnTo>
                  <a:pt x="173795" y="3698590"/>
                </a:lnTo>
                <a:lnTo>
                  <a:pt x="155276" y="3776047"/>
                </a:lnTo>
                <a:lnTo>
                  <a:pt x="136757" y="3853504"/>
                </a:lnTo>
                <a:lnTo>
                  <a:pt x="121087" y="3930962"/>
                </a:lnTo>
                <a:lnTo>
                  <a:pt x="102568" y="4012888"/>
                </a:lnTo>
                <a:lnTo>
                  <a:pt x="86897" y="4094814"/>
                </a:lnTo>
                <a:lnTo>
                  <a:pt x="74077" y="4181209"/>
                </a:lnTo>
                <a:lnTo>
                  <a:pt x="59831" y="4267603"/>
                </a:lnTo>
                <a:lnTo>
                  <a:pt x="48435" y="4362936"/>
                </a:lnTo>
                <a:lnTo>
                  <a:pt x="38463" y="4452309"/>
                </a:lnTo>
                <a:lnTo>
                  <a:pt x="28491" y="4547642"/>
                </a:lnTo>
                <a:lnTo>
                  <a:pt x="21368" y="4642974"/>
                </a:lnTo>
                <a:lnTo>
                  <a:pt x="12821" y="4736816"/>
                </a:lnTo>
                <a:lnTo>
                  <a:pt x="7123" y="4836617"/>
                </a:lnTo>
                <a:lnTo>
                  <a:pt x="2849" y="4934928"/>
                </a:lnTo>
                <a:lnTo>
                  <a:pt x="0" y="5034729"/>
                </a:lnTo>
                <a:lnTo>
                  <a:pt x="0" y="0"/>
                </a:lnTo>
                <a:lnTo>
                  <a:pt x="2849" y="99801"/>
                </a:lnTo>
                <a:lnTo>
                  <a:pt x="7123" y="202581"/>
                </a:lnTo>
                <a:lnTo>
                  <a:pt x="12821" y="297913"/>
                </a:lnTo>
                <a:lnTo>
                  <a:pt x="21368" y="396225"/>
                </a:lnTo>
                <a:lnTo>
                  <a:pt x="28491" y="491557"/>
                </a:lnTo>
                <a:lnTo>
                  <a:pt x="38463" y="582420"/>
                </a:lnTo>
                <a:lnTo>
                  <a:pt x="48435" y="676263"/>
                </a:lnTo>
                <a:lnTo>
                  <a:pt x="59831" y="767126"/>
                </a:lnTo>
                <a:lnTo>
                  <a:pt x="74077" y="853521"/>
                </a:lnTo>
                <a:lnTo>
                  <a:pt x="86897" y="944384"/>
                </a:lnTo>
                <a:lnTo>
                  <a:pt x="102567" y="1021842"/>
                </a:lnTo>
                <a:lnTo>
                  <a:pt x="121087" y="1108236"/>
                </a:lnTo>
                <a:lnTo>
                  <a:pt x="136757" y="1185694"/>
                </a:lnTo>
                <a:lnTo>
                  <a:pt x="155276" y="1258682"/>
                </a:lnTo>
                <a:lnTo>
                  <a:pt x="173795" y="1340609"/>
                </a:lnTo>
                <a:lnTo>
                  <a:pt x="192314" y="1404660"/>
                </a:lnTo>
                <a:lnTo>
                  <a:pt x="215107" y="1479138"/>
                </a:lnTo>
                <a:lnTo>
                  <a:pt x="235050" y="1543189"/>
                </a:lnTo>
                <a:lnTo>
                  <a:pt x="257843" y="1607241"/>
                </a:lnTo>
                <a:lnTo>
                  <a:pt x="283485" y="1668313"/>
                </a:lnTo>
                <a:lnTo>
                  <a:pt x="307702" y="1724916"/>
                </a:lnTo>
                <a:lnTo>
                  <a:pt x="333344" y="1775561"/>
                </a:lnTo>
                <a:lnTo>
                  <a:pt x="358986" y="1827696"/>
                </a:lnTo>
                <a:lnTo>
                  <a:pt x="384628" y="1879831"/>
                </a:lnTo>
                <a:lnTo>
                  <a:pt x="411694" y="1923028"/>
                </a:lnTo>
                <a:lnTo>
                  <a:pt x="440185" y="1961757"/>
                </a:lnTo>
                <a:lnTo>
                  <a:pt x="468676" y="1996017"/>
                </a:lnTo>
                <a:lnTo>
                  <a:pt x="497167" y="2030277"/>
                </a:lnTo>
                <a:lnTo>
                  <a:pt x="527083" y="2060068"/>
                </a:lnTo>
                <a:lnTo>
                  <a:pt x="556998" y="2086880"/>
                </a:lnTo>
                <a:lnTo>
                  <a:pt x="586913" y="2107734"/>
                </a:lnTo>
                <a:lnTo>
                  <a:pt x="618254" y="2125609"/>
                </a:lnTo>
                <a:lnTo>
                  <a:pt x="618254" y="1969205"/>
                </a:lnTo>
                <a:lnTo>
                  <a:pt x="635975" y="2001318"/>
                </a:lnTo>
                <a:close/>
              </a:path>
            </a:pathLst>
          </a:custGeom>
          <a:gradFill flip="none" rotWithShape="1">
            <a:gsLst>
              <a:gs pos="0">
                <a:schemeClr val="bg1"/>
              </a:gs>
              <a:gs pos="100000">
                <a:schemeClr val="bg1">
                  <a:lumMod val="65000"/>
                </a:schemeClr>
              </a:gs>
            </a:gsLst>
            <a:lin ang="0" scaled="1"/>
            <a:tileRect/>
          </a:gradFill>
          <a:ln w="4826" cap="flat" cmpd="sng">
            <a:noFill/>
            <a:prstDash val="solid"/>
            <a:round/>
            <a:headEnd type="none" w="med" len="med"/>
            <a:tailEnd type="none" w="med" len="med"/>
          </a:ln>
          <a:effectLst/>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a고딕14" panose="02020600000000000000" pitchFamily="18" charset="-127"/>
              <a:ea typeface="a고딕14" panose="02020600000000000000" pitchFamily="18" charset="-127"/>
            </a:endParaRPr>
          </a:p>
        </p:txBody>
      </p:sp>
      <p:sp>
        <p:nvSpPr>
          <p:cNvPr id="2" name="텍스트 개체 틀 1">
            <a:extLst>
              <a:ext uri="{FF2B5EF4-FFF2-40B4-BE49-F238E27FC236}">
                <a16:creationId xmlns:a16="http://schemas.microsoft.com/office/drawing/2014/main" id="{F9845A08-C3A2-506E-77C5-6FAA2DAF7ACE}"/>
              </a:ext>
            </a:extLst>
          </p:cNvPr>
          <p:cNvSpPr>
            <a:spLocks noGrp="1"/>
          </p:cNvSpPr>
          <p:nvPr>
            <p:ph type="body" sz="quarter" idx="12"/>
          </p:nvPr>
        </p:nvSpPr>
        <p:spPr/>
        <p:txBody>
          <a:bodyPr/>
          <a:lstStyle/>
          <a:p>
            <a:pPr latinLnBrk="0"/>
            <a:r>
              <a:rPr lang="ko-KR" altLang="en-US" sz="1800" dirty="0"/>
              <a:t>한국기술교육대학교 온라인평생교육원의 </a:t>
            </a:r>
            <a:r>
              <a:rPr lang="ko-KR" altLang="en-US" sz="1800" dirty="0">
                <a:solidFill>
                  <a:srgbClr val="0070C0"/>
                </a:solidFill>
              </a:rPr>
              <a:t>기존 콘텐츠와 </a:t>
            </a:r>
            <a:r>
              <a:rPr lang="en-US" altLang="ko-KR" sz="1800" dirty="0">
                <a:solidFill>
                  <a:srgbClr val="0070C0"/>
                </a:solidFill>
              </a:rPr>
              <a:t>NCS </a:t>
            </a:r>
            <a:r>
              <a:rPr lang="ko-KR" altLang="en-US" sz="1800" dirty="0">
                <a:solidFill>
                  <a:srgbClr val="0070C0"/>
                </a:solidFill>
              </a:rPr>
              <a:t>능력단위 매칭 </a:t>
            </a:r>
            <a:r>
              <a:rPr lang="en-US" altLang="ko-KR" sz="1800" dirty="0">
                <a:solidFill>
                  <a:srgbClr val="0070C0"/>
                </a:solidFill>
              </a:rPr>
              <a:t>DB</a:t>
            </a:r>
            <a:r>
              <a:rPr lang="ko-KR" altLang="en-US" sz="1800" dirty="0">
                <a:solidFill>
                  <a:srgbClr val="0070C0"/>
                </a:solidFill>
              </a:rPr>
              <a:t>를 전반적으로 검토</a:t>
            </a:r>
            <a:r>
              <a:rPr lang="ko-KR" altLang="en-US" sz="1800" dirty="0"/>
              <a:t>하고</a:t>
            </a:r>
            <a:r>
              <a:rPr lang="en-US" altLang="ko-KR" sz="1800" dirty="0"/>
              <a:t>, </a:t>
            </a:r>
            <a:r>
              <a:rPr lang="ko-KR" altLang="en-US" sz="1800" dirty="0"/>
              <a:t>삭제 및 변경된 능력단위는 </a:t>
            </a:r>
            <a:r>
              <a:rPr lang="ko-KR" altLang="en-US" sz="1800" dirty="0">
                <a:solidFill>
                  <a:srgbClr val="0070C0"/>
                </a:solidFill>
              </a:rPr>
              <a:t>최신 </a:t>
            </a:r>
            <a:r>
              <a:rPr lang="en-US" altLang="ko-KR" sz="1800" dirty="0">
                <a:solidFill>
                  <a:srgbClr val="0070C0"/>
                </a:solidFill>
              </a:rPr>
              <a:t>NCS</a:t>
            </a:r>
            <a:r>
              <a:rPr lang="ko-KR" altLang="en-US" sz="1800" dirty="0">
                <a:solidFill>
                  <a:srgbClr val="0070C0"/>
                </a:solidFill>
              </a:rPr>
              <a:t> 능력단위 기준에 따라 수정 및 보완</a:t>
            </a:r>
            <a:r>
              <a:rPr lang="ko-KR" altLang="en-US" sz="1800" dirty="0"/>
              <a:t>하겠음</a:t>
            </a:r>
          </a:p>
        </p:txBody>
      </p:sp>
      <p:sp>
        <p:nvSpPr>
          <p:cNvPr id="5" name="텍스트 개체 틀 4">
            <a:extLst>
              <a:ext uri="{FF2B5EF4-FFF2-40B4-BE49-F238E27FC236}">
                <a16:creationId xmlns:a16="http://schemas.microsoft.com/office/drawing/2014/main" id="{83C46045-D431-0A6D-9687-F5F6C869EF9B}"/>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B3927001-EE14-EB90-363C-49807CDB177B}"/>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F84E12D3-6390-6D29-B37D-8F0AE1D683AE}"/>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기존 과정 </a:t>
              </a: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NCS </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능력단위 매칭</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87D04BB0-BB96-5DCC-766A-B1AF8EEBBCEB}"/>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A7DAFD63-E0B7-4D19-B6A6-85181DF90E92}"/>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기존 과정 </a:t>
            </a:r>
            <a:r>
              <a:rPr lang="en-US" altLang="ko-KR" sz="1200" dirty="0">
                <a:solidFill>
                  <a:schemeClr val="bg1"/>
                </a:solidFill>
              </a:rPr>
              <a:t>NCS </a:t>
            </a:r>
            <a:r>
              <a:rPr lang="ko-KR" altLang="en-US" sz="1200" dirty="0">
                <a:solidFill>
                  <a:schemeClr val="bg1"/>
                </a:solidFill>
              </a:rPr>
              <a:t>능력단위 매칭</a:t>
            </a:r>
          </a:p>
        </p:txBody>
      </p:sp>
      <p:sp>
        <p:nvSpPr>
          <p:cNvPr id="12" name="직사각형 11">
            <a:extLst>
              <a:ext uri="{FF2B5EF4-FFF2-40B4-BE49-F238E27FC236}">
                <a16:creationId xmlns:a16="http://schemas.microsoft.com/office/drawing/2014/main" id="{CEA07C88-53F6-CD58-E09B-62E06B11DC8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1. </a:t>
            </a:r>
            <a:r>
              <a:rPr lang="ko-KR" altLang="en-US" sz="1100" dirty="0">
                <a:solidFill>
                  <a:srgbClr val="003F56"/>
                </a:solidFill>
                <a:latin typeface="a고딕14"/>
                <a:ea typeface="a고딕14"/>
              </a:rPr>
              <a:t>능력단위 </a:t>
            </a:r>
            <a:r>
              <a:rPr lang="en-US" altLang="ko-KR" sz="1100" dirty="0">
                <a:solidFill>
                  <a:srgbClr val="003F56"/>
                </a:solidFill>
                <a:latin typeface="a고딕14"/>
                <a:ea typeface="a고딕14"/>
              </a:rPr>
              <a:t>Updating </a:t>
            </a:r>
            <a:r>
              <a:rPr lang="ko-KR" altLang="en-US" sz="1100" dirty="0">
                <a:solidFill>
                  <a:srgbClr val="003F56"/>
                </a:solidFill>
                <a:latin typeface="a고딕14"/>
                <a:ea typeface="a고딕14"/>
              </a:rPr>
              <a:t>및 교육과정</a:t>
            </a:r>
            <a:r>
              <a:rPr lang="en-US" altLang="ko-KR" sz="1100" dirty="0">
                <a:solidFill>
                  <a:srgbClr val="003F56"/>
                </a:solidFill>
                <a:latin typeface="a고딕14"/>
                <a:ea typeface="a고딕14"/>
              </a:rPr>
              <a:t>-</a:t>
            </a:r>
            <a:r>
              <a:rPr lang="ko-KR" altLang="en-US" sz="1100" dirty="0">
                <a:solidFill>
                  <a:srgbClr val="003F56"/>
                </a:solidFill>
                <a:latin typeface="a고딕14"/>
                <a:ea typeface="a고딕14"/>
              </a:rPr>
              <a:t>능력단위 매핑</a:t>
            </a:r>
          </a:p>
        </p:txBody>
      </p:sp>
      <p:graphicFrame>
        <p:nvGraphicFramePr>
          <p:cNvPr id="6" name="표 5">
            <a:extLst>
              <a:ext uri="{FF2B5EF4-FFF2-40B4-BE49-F238E27FC236}">
                <a16:creationId xmlns:a16="http://schemas.microsoft.com/office/drawing/2014/main" id="{3E47FD70-CBDF-BE7B-7D5D-E0A61CA7C081}"/>
              </a:ext>
            </a:extLst>
          </p:cNvPr>
          <p:cNvGraphicFramePr>
            <a:graphicFrameLocks noGrp="1"/>
          </p:cNvGraphicFramePr>
          <p:nvPr>
            <p:extLst>
              <p:ext uri="{D42A27DB-BD31-4B8C-83A1-F6EECF244321}">
                <p14:modId xmlns:p14="http://schemas.microsoft.com/office/powerpoint/2010/main" val="115109483"/>
              </p:ext>
            </p:extLst>
          </p:nvPr>
        </p:nvGraphicFramePr>
        <p:xfrm>
          <a:off x="596516" y="2094734"/>
          <a:ext cx="8748172" cy="2051018"/>
        </p:xfrm>
        <a:graphic>
          <a:graphicData uri="http://schemas.openxmlformats.org/drawingml/2006/table">
            <a:tbl>
              <a:tblPr/>
              <a:tblGrid>
                <a:gridCol w="2385235">
                  <a:extLst>
                    <a:ext uri="{9D8B030D-6E8A-4147-A177-3AD203B41FA5}">
                      <a16:colId xmlns:a16="http://schemas.microsoft.com/office/drawing/2014/main" val="2387963153"/>
                    </a:ext>
                  </a:extLst>
                </a:gridCol>
                <a:gridCol w="677741">
                  <a:extLst>
                    <a:ext uri="{9D8B030D-6E8A-4147-A177-3AD203B41FA5}">
                      <a16:colId xmlns:a16="http://schemas.microsoft.com/office/drawing/2014/main" val="1176836962"/>
                    </a:ext>
                  </a:extLst>
                </a:gridCol>
                <a:gridCol w="549200">
                  <a:extLst>
                    <a:ext uri="{9D8B030D-6E8A-4147-A177-3AD203B41FA5}">
                      <a16:colId xmlns:a16="http://schemas.microsoft.com/office/drawing/2014/main" val="470141507"/>
                    </a:ext>
                  </a:extLst>
                </a:gridCol>
                <a:gridCol w="677741">
                  <a:extLst>
                    <a:ext uri="{9D8B030D-6E8A-4147-A177-3AD203B41FA5}">
                      <a16:colId xmlns:a16="http://schemas.microsoft.com/office/drawing/2014/main" val="144599520"/>
                    </a:ext>
                  </a:extLst>
                </a:gridCol>
                <a:gridCol w="1131344">
                  <a:extLst>
                    <a:ext uri="{9D8B030D-6E8A-4147-A177-3AD203B41FA5}">
                      <a16:colId xmlns:a16="http://schemas.microsoft.com/office/drawing/2014/main" val="3303588577"/>
                    </a:ext>
                  </a:extLst>
                </a:gridCol>
                <a:gridCol w="1196146">
                  <a:extLst>
                    <a:ext uri="{9D8B030D-6E8A-4147-A177-3AD203B41FA5}">
                      <a16:colId xmlns:a16="http://schemas.microsoft.com/office/drawing/2014/main" val="1890685097"/>
                    </a:ext>
                  </a:extLst>
                </a:gridCol>
                <a:gridCol w="2130765">
                  <a:extLst>
                    <a:ext uri="{9D8B030D-6E8A-4147-A177-3AD203B41FA5}">
                      <a16:colId xmlns:a16="http://schemas.microsoft.com/office/drawing/2014/main" val="3731391125"/>
                    </a:ext>
                  </a:extLst>
                </a:gridCol>
              </a:tblGrid>
              <a:tr h="257474">
                <a:tc rowSpan="2">
                  <a:txBody>
                    <a:bodyPr/>
                    <a:lstStyle/>
                    <a:p>
                      <a:pPr algn="ctr" fontAlgn="ctr"/>
                      <a:r>
                        <a:rPr lang="ko-KR" altLang="en-US" sz="1100" b="0" i="0" u="none" strike="noStrike" dirty="0">
                          <a:solidFill>
                            <a:srgbClr val="FFFFFF"/>
                          </a:solidFill>
                          <a:effectLst/>
                          <a:latin typeface="+mj-ea"/>
                          <a:ea typeface="+mj-ea"/>
                        </a:rPr>
                        <a:t>콘텐츠 명</a:t>
                      </a:r>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gridSpan="6">
                  <a:txBody>
                    <a:bodyPr/>
                    <a:lstStyle/>
                    <a:p>
                      <a:pPr algn="ctr" fontAlgn="ctr"/>
                      <a:r>
                        <a:rPr lang="en-US" altLang="ko-KR" sz="1100" b="0" i="0" u="none" strike="noStrike" dirty="0">
                          <a:solidFill>
                            <a:srgbClr val="FFFFFF"/>
                          </a:solidFill>
                          <a:effectLst/>
                          <a:latin typeface="+mj-ea"/>
                          <a:ea typeface="+mj-ea"/>
                        </a:rPr>
                        <a:t>NCS </a:t>
                      </a:r>
                      <a:r>
                        <a:rPr lang="ko-KR" altLang="en-US" sz="1100" b="0" i="0" u="none" strike="noStrike" dirty="0">
                          <a:solidFill>
                            <a:srgbClr val="FFFFFF"/>
                          </a:solidFill>
                          <a:effectLst/>
                          <a:latin typeface="+mj-ea"/>
                          <a:ea typeface="+mj-ea"/>
                        </a:rPr>
                        <a:t>체계 </a:t>
                      </a:r>
                      <a:r>
                        <a:rPr lang="en-US" altLang="ko-KR" sz="1100" b="0" i="0" u="none" strike="noStrike" dirty="0">
                          <a:solidFill>
                            <a:srgbClr val="FFFFFF"/>
                          </a:solidFill>
                          <a:effectLst/>
                          <a:latin typeface="+mj-ea"/>
                          <a:ea typeface="+mj-ea"/>
                        </a:rPr>
                        <a:t>(2023</a:t>
                      </a:r>
                      <a:r>
                        <a:rPr lang="ko-KR" altLang="en-US" sz="1100" b="0" i="0" u="none" strike="noStrike" dirty="0">
                          <a:solidFill>
                            <a:srgbClr val="FFFFFF"/>
                          </a:solidFill>
                          <a:effectLst/>
                          <a:latin typeface="+mj-ea"/>
                          <a:ea typeface="+mj-ea"/>
                        </a:rPr>
                        <a:t>년 </a:t>
                      </a:r>
                      <a:r>
                        <a:rPr lang="en-US" altLang="ko-KR" sz="1100" b="0" i="0" u="none" strike="noStrike" dirty="0">
                          <a:solidFill>
                            <a:srgbClr val="FFFFFF"/>
                          </a:solidFill>
                          <a:effectLst/>
                          <a:latin typeface="+mj-ea"/>
                          <a:ea typeface="+mj-ea"/>
                        </a:rPr>
                        <a:t>11</a:t>
                      </a:r>
                      <a:r>
                        <a:rPr lang="ko-KR" altLang="en-US" sz="1100" b="0" i="0" u="none" strike="noStrike" dirty="0">
                          <a:solidFill>
                            <a:srgbClr val="FFFFFF"/>
                          </a:solidFill>
                          <a:effectLst/>
                          <a:latin typeface="+mj-ea"/>
                          <a:ea typeface="+mj-ea"/>
                        </a:rPr>
                        <a:t>월 </a:t>
                      </a:r>
                      <a:r>
                        <a:rPr lang="en-US" altLang="ko-KR" sz="1100" b="0" i="0" u="none" strike="noStrike" dirty="0">
                          <a:solidFill>
                            <a:srgbClr val="FFFFFF"/>
                          </a:solidFill>
                          <a:effectLst/>
                          <a:latin typeface="+mj-ea"/>
                          <a:ea typeface="+mj-ea"/>
                        </a:rPr>
                        <a:t>Ver)</a:t>
                      </a: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tc hMerge="1">
                  <a:txBody>
                    <a:bodyPr/>
                    <a:lstStyle/>
                    <a:p>
                      <a:pPr algn="ctr" fontAlgn="ct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521523268"/>
                  </a:ext>
                </a:extLst>
              </a:tr>
              <a:tr h="248700">
                <a:tc vMerge="1">
                  <a:txBody>
                    <a:bodyPr/>
                    <a:lstStyle/>
                    <a:p>
                      <a:endParaRPr dirty="0"/>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a:r>
                        <a:rPr lang="ko-KR" altLang="en-US" sz="1100" b="0" i="0" u="none" strike="noStrike" dirty="0">
                          <a:solidFill>
                            <a:srgbClr val="FFFFFF"/>
                          </a:solidFill>
                          <a:effectLst/>
                          <a:latin typeface="+mj-ea"/>
                          <a:ea typeface="+mj-ea"/>
                        </a:rPr>
                        <a:t>대분류</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중분류</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소분류</a:t>
                      </a: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err="1">
                          <a:solidFill>
                            <a:srgbClr val="FFFFFF"/>
                          </a:solidFill>
                          <a:effectLst/>
                          <a:latin typeface="+mj-ea"/>
                          <a:ea typeface="+mj-ea"/>
                        </a:rPr>
                        <a:t>세분류</a:t>
                      </a: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능력단위분류번호</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능력단위</a:t>
                      </a: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extLst>
                  <a:ext uri="{0D108BD9-81ED-4DB2-BD59-A6C34878D82A}">
                    <a16:rowId xmlns:a16="http://schemas.microsoft.com/office/drawing/2014/main" val="1233224871"/>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가솔린 전자제어 장치 정비</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a고딕12" panose="02020600000000000000" pitchFamily="18" charset="-127"/>
                          <a:ea typeface="a고딕12" panose="02020600000000000000" pitchFamily="18" charset="-127"/>
                        </a:rPr>
                        <a:t>1506030208_17v3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가솔린 전자제어장치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8692696"/>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디젤 전자제어 장치 정비</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1506030210_18v4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디젤 전자제어장치정비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037002"/>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배출가스장치정비</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검사</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1506030212_17v3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배출가스장치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855950"/>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디지털 포렌식</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2001060303_19v2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디지털 포렌식</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8372422"/>
                  </a:ext>
                </a:extLst>
              </a:tr>
              <a:tr h="257474">
                <a:tc>
                  <a:txBody>
                    <a:bodyPr/>
                    <a:lstStyle/>
                    <a:p>
                      <a:pPr algn="l" fontAlgn="ct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사이버수사</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2001060304_19v2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사이버조사</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3868034"/>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악성코드 분석</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2001060306_19v2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악성코드 분석</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531489"/>
                  </a:ext>
                </a:extLst>
              </a:tr>
            </a:tbl>
          </a:graphicData>
        </a:graphic>
      </p:graphicFrame>
      <p:graphicFrame>
        <p:nvGraphicFramePr>
          <p:cNvPr id="7" name="표 6">
            <a:extLst>
              <a:ext uri="{FF2B5EF4-FFF2-40B4-BE49-F238E27FC236}">
                <a16:creationId xmlns:a16="http://schemas.microsoft.com/office/drawing/2014/main" id="{4EDB1996-4949-7404-49B5-DA137C40B3B8}"/>
              </a:ext>
            </a:extLst>
          </p:cNvPr>
          <p:cNvGraphicFramePr>
            <a:graphicFrameLocks noGrp="1"/>
          </p:cNvGraphicFramePr>
          <p:nvPr>
            <p:extLst>
              <p:ext uri="{D42A27DB-BD31-4B8C-83A1-F6EECF244321}">
                <p14:modId xmlns:p14="http://schemas.microsoft.com/office/powerpoint/2010/main" val="1447790535"/>
              </p:ext>
            </p:extLst>
          </p:nvPr>
        </p:nvGraphicFramePr>
        <p:xfrm>
          <a:off x="596516" y="4439080"/>
          <a:ext cx="8749099" cy="2051018"/>
        </p:xfrm>
        <a:graphic>
          <a:graphicData uri="http://schemas.openxmlformats.org/drawingml/2006/table">
            <a:tbl>
              <a:tblPr/>
              <a:tblGrid>
                <a:gridCol w="2385488">
                  <a:extLst>
                    <a:ext uri="{9D8B030D-6E8A-4147-A177-3AD203B41FA5}">
                      <a16:colId xmlns:a16="http://schemas.microsoft.com/office/drawing/2014/main" val="2387963153"/>
                    </a:ext>
                  </a:extLst>
                </a:gridCol>
                <a:gridCol w="677813">
                  <a:extLst>
                    <a:ext uri="{9D8B030D-6E8A-4147-A177-3AD203B41FA5}">
                      <a16:colId xmlns:a16="http://schemas.microsoft.com/office/drawing/2014/main" val="1176836962"/>
                    </a:ext>
                  </a:extLst>
                </a:gridCol>
                <a:gridCol w="549258">
                  <a:extLst>
                    <a:ext uri="{9D8B030D-6E8A-4147-A177-3AD203B41FA5}">
                      <a16:colId xmlns:a16="http://schemas.microsoft.com/office/drawing/2014/main" val="470141507"/>
                    </a:ext>
                  </a:extLst>
                </a:gridCol>
                <a:gridCol w="677813">
                  <a:extLst>
                    <a:ext uri="{9D8B030D-6E8A-4147-A177-3AD203B41FA5}">
                      <a16:colId xmlns:a16="http://schemas.microsoft.com/office/drawing/2014/main" val="144599520"/>
                    </a:ext>
                  </a:extLst>
                </a:gridCol>
                <a:gridCol w="1131464">
                  <a:extLst>
                    <a:ext uri="{9D8B030D-6E8A-4147-A177-3AD203B41FA5}">
                      <a16:colId xmlns:a16="http://schemas.microsoft.com/office/drawing/2014/main" val="3303588577"/>
                    </a:ext>
                  </a:extLst>
                </a:gridCol>
                <a:gridCol w="1196272">
                  <a:extLst>
                    <a:ext uri="{9D8B030D-6E8A-4147-A177-3AD203B41FA5}">
                      <a16:colId xmlns:a16="http://schemas.microsoft.com/office/drawing/2014/main" val="1890685097"/>
                    </a:ext>
                  </a:extLst>
                </a:gridCol>
                <a:gridCol w="2130991">
                  <a:extLst>
                    <a:ext uri="{9D8B030D-6E8A-4147-A177-3AD203B41FA5}">
                      <a16:colId xmlns:a16="http://schemas.microsoft.com/office/drawing/2014/main" val="3731391125"/>
                    </a:ext>
                  </a:extLst>
                </a:gridCol>
              </a:tblGrid>
              <a:tr h="257474">
                <a:tc rowSpan="2">
                  <a:txBody>
                    <a:bodyPr/>
                    <a:lstStyle/>
                    <a:p>
                      <a:pPr algn="ctr" fontAlgn="ctr"/>
                      <a:r>
                        <a:rPr lang="ko-KR" altLang="en-US" sz="1100" b="0" i="0" u="none" strike="noStrike" dirty="0">
                          <a:solidFill>
                            <a:srgbClr val="FFFFFF"/>
                          </a:solidFill>
                          <a:effectLst/>
                          <a:latin typeface="+mj-ea"/>
                          <a:ea typeface="+mj-ea"/>
                        </a:rPr>
                        <a:t>콘텐츠 명</a:t>
                      </a:r>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gridSpan="6">
                  <a:txBody>
                    <a:bodyPr/>
                    <a:lstStyle/>
                    <a:p>
                      <a:pPr algn="ctr" fontAlgn="ctr"/>
                      <a:r>
                        <a:rPr lang="en-US" altLang="ko-KR" sz="1100" b="0" i="0" u="none" strike="noStrike" dirty="0">
                          <a:solidFill>
                            <a:srgbClr val="FFFFFF"/>
                          </a:solidFill>
                          <a:effectLst/>
                          <a:latin typeface="+mj-ea"/>
                          <a:ea typeface="+mj-ea"/>
                        </a:rPr>
                        <a:t>NCS </a:t>
                      </a:r>
                      <a:r>
                        <a:rPr lang="ko-KR" altLang="en-US" sz="1100" b="0" i="0" u="none" strike="noStrike" dirty="0">
                          <a:solidFill>
                            <a:srgbClr val="FFFFFF"/>
                          </a:solidFill>
                          <a:effectLst/>
                          <a:latin typeface="+mj-ea"/>
                          <a:ea typeface="+mj-ea"/>
                        </a:rPr>
                        <a:t>체계 </a:t>
                      </a:r>
                      <a:r>
                        <a:rPr lang="en-US" altLang="ko-KR" sz="1100" b="0" i="0" u="none" strike="noStrike" dirty="0">
                          <a:solidFill>
                            <a:srgbClr val="FFFFFF"/>
                          </a:solidFill>
                          <a:effectLst/>
                          <a:latin typeface="+mj-ea"/>
                          <a:ea typeface="+mj-ea"/>
                        </a:rPr>
                        <a:t>(2025</a:t>
                      </a:r>
                      <a:r>
                        <a:rPr lang="ko-KR" altLang="en-US" sz="1100" b="0" i="0" u="none" strike="noStrike" dirty="0">
                          <a:solidFill>
                            <a:srgbClr val="FFFFFF"/>
                          </a:solidFill>
                          <a:effectLst/>
                          <a:latin typeface="+mj-ea"/>
                          <a:ea typeface="+mj-ea"/>
                        </a:rPr>
                        <a:t>년 </a:t>
                      </a:r>
                      <a:r>
                        <a:rPr lang="en-US" altLang="ko-KR" sz="1100" b="0" i="0" u="none" strike="noStrike" dirty="0">
                          <a:solidFill>
                            <a:srgbClr val="FFFFFF"/>
                          </a:solidFill>
                          <a:effectLst/>
                          <a:latin typeface="+mj-ea"/>
                          <a:ea typeface="+mj-ea"/>
                        </a:rPr>
                        <a:t>03</a:t>
                      </a:r>
                      <a:r>
                        <a:rPr lang="ko-KR" altLang="en-US" sz="1100" b="0" i="0" u="none" strike="noStrike" dirty="0">
                          <a:solidFill>
                            <a:srgbClr val="FFFFFF"/>
                          </a:solidFill>
                          <a:effectLst/>
                          <a:latin typeface="+mj-ea"/>
                          <a:ea typeface="+mj-ea"/>
                        </a:rPr>
                        <a:t>월 </a:t>
                      </a:r>
                      <a:r>
                        <a:rPr lang="en-US" altLang="ko-KR" sz="1100" b="0" i="0" u="none" strike="noStrike" dirty="0">
                          <a:solidFill>
                            <a:srgbClr val="FFFFFF"/>
                          </a:solidFill>
                          <a:effectLst/>
                          <a:latin typeface="+mj-ea"/>
                          <a:ea typeface="+mj-ea"/>
                        </a:rPr>
                        <a:t>Ver)</a:t>
                      </a: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tc hMerge="1">
                  <a:txBody>
                    <a:bodyPr/>
                    <a:lstStyle/>
                    <a:p>
                      <a:pPr algn="ctr" fontAlgn="ct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521523268"/>
                  </a:ext>
                </a:extLst>
              </a:tr>
              <a:tr h="248700">
                <a:tc vMerge="1">
                  <a:txBody>
                    <a:bodyPr/>
                    <a:lstStyle/>
                    <a:p>
                      <a:endParaRPr dirty="0"/>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a:r>
                        <a:rPr lang="ko-KR" altLang="en-US" sz="1100" b="0" i="0" u="none" strike="noStrike" dirty="0">
                          <a:solidFill>
                            <a:srgbClr val="FFFFFF"/>
                          </a:solidFill>
                          <a:effectLst/>
                          <a:latin typeface="+mj-ea"/>
                          <a:ea typeface="+mj-ea"/>
                        </a:rPr>
                        <a:t>대분류</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중분류</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소분류</a:t>
                      </a: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err="1">
                          <a:solidFill>
                            <a:srgbClr val="FFFFFF"/>
                          </a:solidFill>
                          <a:effectLst/>
                          <a:latin typeface="+mj-ea"/>
                          <a:ea typeface="+mj-ea"/>
                        </a:rPr>
                        <a:t>세분류</a:t>
                      </a: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능력단위분류번호</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능력단위</a:t>
                      </a: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extLst>
                  <a:ext uri="{0D108BD9-81ED-4DB2-BD59-A6C34878D82A}">
                    <a16:rowId xmlns:a16="http://schemas.microsoft.com/office/drawing/2014/main" val="1233224871"/>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가솔린 전자제어 장치 정비</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1506030208_</a:t>
                      </a:r>
                      <a:r>
                        <a:rPr lang="en-US" sz="1000" b="0" i="0" u="none" strike="noStrike" dirty="0">
                          <a:solidFill>
                            <a:srgbClr val="0070C0"/>
                          </a:solidFill>
                          <a:effectLst/>
                          <a:latin typeface="a고딕12" panose="02020600000000000000" pitchFamily="18" charset="-127"/>
                          <a:ea typeface="a고딕12" panose="02020600000000000000" pitchFamily="18" charset="-127"/>
                        </a:rPr>
                        <a:t>24v4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70C0"/>
                          </a:solidFill>
                          <a:effectLst/>
                          <a:latin typeface="a고딕12" panose="02020600000000000000" pitchFamily="18" charset="-127"/>
                          <a:ea typeface="a고딕12" panose="02020600000000000000" pitchFamily="18" charset="-127"/>
                        </a:rPr>
                        <a:t>가솔린전자제어장치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8692696"/>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디젤 전자제어 장치 정비</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1506030210_</a:t>
                      </a:r>
                      <a:r>
                        <a:rPr lang="en-US" sz="1000" b="0" i="0" u="none" strike="noStrike" dirty="0">
                          <a:solidFill>
                            <a:srgbClr val="0070C0"/>
                          </a:solidFill>
                          <a:effectLst/>
                          <a:latin typeface="a고딕12" panose="02020600000000000000" pitchFamily="18" charset="-127"/>
                          <a:ea typeface="a고딕12" panose="02020600000000000000" pitchFamily="18" charset="-127"/>
                        </a:rPr>
                        <a:t>24v5</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70C0"/>
                          </a:solidFill>
                          <a:effectLst/>
                          <a:latin typeface="a고딕12" panose="02020600000000000000" pitchFamily="18" charset="-127"/>
                          <a:ea typeface="a고딕12" panose="02020600000000000000" pitchFamily="18" charset="-127"/>
                        </a:rPr>
                        <a:t>디젤전자제어장치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037002"/>
                  </a:ext>
                </a:extLst>
              </a:tr>
              <a:tr h="257474">
                <a:tc>
                  <a:txBody>
                    <a:bodyPr/>
                    <a:lstStyle/>
                    <a:p>
                      <a:pPr algn="l" fontAlgn="ct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배출가스장치정비</a:t>
                      </a: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검사</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1506030212_</a:t>
                      </a:r>
                      <a:r>
                        <a:rPr lang="en-US" sz="1000" b="0" i="0" u="none" strike="noStrike" dirty="0">
                          <a:solidFill>
                            <a:srgbClr val="0070C0"/>
                          </a:solidFill>
                          <a:effectLst/>
                          <a:latin typeface="a고딕12" panose="02020600000000000000" pitchFamily="18" charset="-127"/>
                          <a:ea typeface="a고딕12" panose="02020600000000000000" pitchFamily="18" charset="-127"/>
                        </a:rPr>
                        <a:t>24v4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70C0"/>
                          </a:solidFill>
                          <a:effectLst/>
                          <a:latin typeface="a고딕12" panose="02020600000000000000" pitchFamily="18" charset="-127"/>
                          <a:ea typeface="a고딕12" panose="02020600000000000000" pitchFamily="18" charset="-127"/>
                        </a:rPr>
                        <a:t>배출가스제어장치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855950"/>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디지털 포렌식</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70C0"/>
                          </a:solidFill>
                          <a:effectLst/>
                          <a:latin typeface="a고딕12" panose="02020600000000000000" pitchFamily="18" charset="-127"/>
                          <a:ea typeface="a고딕12" panose="02020600000000000000" pitchFamily="18" charset="-127"/>
                        </a:rPr>
                        <a:t>디지털포렌식</a:t>
                      </a:r>
                      <a:endParaRPr lang="ko-KR" altLang="en-US" sz="1000" b="0" i="0" u="none" strike="noStrike" dirty="0">
                        <a:solidFill>
                          <a:srgbClr val="0070C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8372422"/>
                  </a:ext>
                </a:extLst>
              </a:tr>
              <a:tr h="257474">
                <a:tc>
                  <a:txBody>
                    <a:bodyPr/>
                    <a:lstStyle/>
                    <a:p>
                      <a:pPr algn="l" fontAlgn="ct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사이버수사</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3868034"/>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악성코드 분석</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531489"/>
                  </a:ext>
                </a:extLst>
              </a:tr>
            </a:tbl>
          </a:graphicData>
        </a:graphic>
      </p:graphicFrame>
      <p:sp>
        <p:nvSpPr>
          <p:cNvPr id="8" name="직사각형 7">
            <a:extLst>
              <a:ext uri="{FF2B5EF4-FFF2-40B4-BE49-F238E27FC236}">
                <a16:creationId xmlns:a16="http://schemas.microsoft.com/office/drawing/2014/main" id="{775F2CDE-0C01-9B6A-35C2-5F3E1021A4FE}"/>
              </a:ext>
            </a:extLst>
          </p:cNvPr>
          <p:cNvSpPr/>
          <p:nvPr/>
        </p:nvSpPr>
        <p:spPr>
          <a:xfrm>
            <a:off x="6010275" y="5710238"/>
            <a:ext cx="3335340" cy="779860"/>
          </a:xfrm>
          <a:prstGeom prst="rect">
            <a:avLst/>
          </a:prstGeom>
          <a:solidFill>
            <a:schemeClr val="accent2">
              <a:alpha val="2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rgbClr val="FF0000"/>
                </a:solidFill>
                <a:latin typeface="Arial Narrow" panose="020B0606020202030204" pitchFamily="34" charset="0"/>
                <a:ea typeface="a고딕14" panose="02020600000000000000" pitchFamily="18" charset="-127"/>
              </a:rPr>
              <a:t>해당 능력단위가 삭제된 것으로 파악됨</a:t>
            </a:r>
          </a:p>
        </p:txBody>
      </p:sp>
    </p:spTree>
    <p:extLst>
      <p:ext uri="{BB962C8B-B14F-4D97-AF65-F5344CB8AC3E}">
        <p14:creationId xmlns:p14="http://schemas.microsoft.com/office/powerpoint/2010/main" val="2509068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207B4-E891-CC6A-E24E-038D5830623E}"/>
            </a:ext>
          </a:extLst>
        </p:cNvPr>
        <p:cNvGrpSpPr/>
        <p:nvPr/>
      </p:nvGrpSpPr>
      <p:grpSpPr>
        <a:xfrm>
          <a:off x="0" y="0"/>
          <a:ext cx="0" cy="0"/>
          <a:chOff x="0" y="0"/>
          <a:chExt cx="0" cy="0"/>
        </a:xfrm>
      </p:grpSpPr>
      <p:sp>
        <p:nvSpPr>
          <p:cNvPr id="36" name="직사각형 35">
            <a:extLst>
              <a:ext uri="{FF2B5EF4-FFF2-40B4-BE49-F238E27FC236}">
                <a16:creationId xmlns:a16="http://schemas.microsoft.com/office/drawing/2014/main" id="{C22E8FA8-9BE9-DF50-179A-E4275F003F6F}"/>
              </a:ext>
            </a:extLst>
          </p:cNvPr>
          <p:cNvSpPr/>
          <p:nvPr/>
        </p:nvSpPr>
        <p:spPr>
          <a:xfrm>
            <a:off x="560512" y="6497862"/>
            <a:ext cx="4783682" cy="215444"/>
          </a:xfrm>
          <a:prstGeom prst="rect">
            <a:avLst/>
          </a:prstGeom>
        </p:spPr>
        <p:txBody>
          <a:bodyPr wrap="none">
            <a:spAutoFit/>
          </a:bodyPr>
          <a:lstStyle/>
          <a:p>
            <a:pPr algn="l">
              <a:buNone/>
            </a:pP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필요 시 외부 </a:t>
            </a:r>
            <a:r>
              <a:rPr lang="ko-KR" altLang="en-US" sz="800" dirty="0" err="1">
                <a:latin typeface="Arial Narrow" panose="020B0606020202030204" pitchFamily="34" charset="0"/>
                <a:ea typeface="+mn-ea"/>
              </a:rPr>
              <a:t>전문가뿐만</a:t>
            </a:r>
            <a:r>
              <a:rPr lang="ko-KR" altLang="en-US" sz="800" dirty="0">
                <a:latin typeface="Arial Narrow" panose="020B0606020202030204" pitchFamily="34" charset="0"/>
                <a:ea typeface="+mn-ea"/>
              </a:rPr>
              <a:t> 아니라</a:t>
            </a: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내부 직원</a:t>
            </a:r>
            <a:r>
              <a:rPr lang="en-US" altLang="ko-KR" sz="800" dirty="0">
                <a:latin typeface="Arial Narrow" panose="020B0606020202030204" pitchFamily="34" charset="0"/>
                <a:ea typeface="+mn-ea"/>
              </a:rPr>
              <a:t>(ex. </a:t>
            </a:r>
            <a:r>
              <a:rPr lang="ko-KR" altLang="en-US" sz="800" dirty="0" err="1">
                <a:latin typeface="Arial Narrow" panose="020B0606020202030204" pitchFamily="34" charset="0"/>
                <a:ea typeface="+mn-ea"/>
              </a:rPr>
              <a:t>온평원</a:t>
            </a:r>
            <a:r>
              <a:rPr lang="ko-KR" altLang="en-US" sz="800" dirty="0">
                <a:latin typeface="Arial Narrow" panose="020B0606020202030204" pitchFamily="34" charset="0"/>
                <a:ea typeface="+mn-ea"/>
              </a:rPr>
              <a:t> 개발파트</a:t>
            </a: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인터뷰도 함께 실시하여 다양한 의견을 수렴하겠음</a:t>
            </a:r>
          </a:p>
        </p:txBody>
      </p:sp>
      <p:sp>
        <p:nvSpPr>
          <p:cNvPr id="2" name="텍스트 개체 틀 1">
            <a:extLst>
              <a:ext uri="{FF2B5EF4-FFF2-40B4-BE49-F238E27FC236}">
                <a16:creationId xmlns:a16="http://schemas.microsoft.com/office/drawing/2014/main" id="{5515C462-D495-3AF3-9FFE-820819124CCC}"/>
              </a:ext>
            </a:extLst>
          </p:cNvPr>
          <p:cNvSpPr>
            <a:spLocks noGrp="1"/>
          </p:cNvSpPr>
          <p:nvPr>
            <p:ph type="body" sz="quarter" idx="12"/>
          </p:nvPr>
        </p:nvSpPr>
        <p:spPr/>
        <p:txBody>
          <a:bodyPr/>
          <a:lstStyle/>
          <a:p>
            <a:pPr latinLnBrk="0"/>
            <a:r>
              <a:rPr lang="ko-KR" altLang="en-US" sz="1800" dirty="0"/>
              <a:t>외부 전문가 자문회의를 통해 </a:t>
            </a:r>
            <a:r>
              <a:rPr lang="en-US" altLang="ko-KR" sz="1800" dirty="0">
                <a:solidFill>
                  <a:srgbClr val="0070C0"/>
                </a:solidFill>
              </a:rPr>
              <a:t>NCS 10</a:t>
            </a:r>
            <a:r>
              <a:rPr lang="ko-KR" altLang="en-US" sz="1800" dirty="0">
                <a:solidFill>
                  <a:srgbClr val="0070C0"/>
                </a:solidFill>
              </a:rPr>
              <a:t>개 분야별 전체 개발 수요를 확인할 수 있는 지표를 확정</a:t>
            </a:r>
            <a:r>
              <a:rPr lang="ko-KR" altLang="en-US" sz="1800" dirty="0"/>
              <a:t>하고</a:t>
            </a:r>
            <a:r>
              <a:rPr lang="en-US" altLang="ko-KR" sz="1800" dirty="0"/>
              <a:t>, </a:t>
            </a:r>
            <a:r>
              <a:rPr lang="ko-KR" altLang="en-US" sz="1800" dirty="0"/>
              <a:t>이를 바탕으로 </a:t>
            </a:r>
            <a:r>
              <a:rPr lang="ko-KR" altLang="en-US" dirty="0">
                <a:solidFill>
                  <a:srgbClr val="0070C0"/>
                </a:solidFill>
              </a:rPr>
              <a:t>능력단위 평가를 실시</a:t>
            </a:r>
            <a:r>
              <a:rPr lang="ko-KR" altLang="en-US" dirty="0"/>
              <a:t>하겠음</a:t>
            </a:r>
            <a:endParaRPr lang="ko-KR" altLang="en-US" sz="1800" dirty="0"/>
          </a:p>
        </p:txBody>
      </p:sp>
      <p:sp>
        <p:nvSpPr>
          <p:cNvPr id="5" name="텍스트 개체 틀 4">
            <a:extLst>
              <a:ext uri="{FF2B5EF4-FFF2-40B4-BE49-F238E27FC236}">
                <a16:creationId xmlns:a16="http://schemas.microsoft.com/office/drawing/2014/main" id="{D29F7C2D-9F44-59B7-D5F3-9CA62054AAAC}"/>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C3CBCF65-4600-E0DC-148F-0D9FD3EB6F3B}"/>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1F16ADD7-EBDA-AC8A-6FF8-B8BA0D5FB03A}"/>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분야별 전체 개발 수요 확인 및 능력단위 평가 실시</a:t>
              </a: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안</a:t>
              </a: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E2273F64-C59C-238F-85FF-B9CBD1756DDA}"/>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2EDE5868-67C0-66FA-37C3-B27292657823}"/>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spc="-100" dirty="0">
                <a:solidFill>
                  <a:schemeClr val="bg1"/>
                </a:solidFill>
              </a:rPr>
              <a:t>과정개발 가능 여부 판단을 위한 자문회의</a:t>
            </a:r>
            <a:r>
              <a:rPr lang="en-US" altLang="ko-KR" sz="1200" spc="-100" dirty="0">
                <a:solidFill>
                  <a:schemeClr val="bg1"/>
                </a:solidFill>
              </a:rPr>
              <a:t> </a:t>
            </a:r>
            <a:r>
              <a:rPr lang="ko-KR" altLang="en-US" sz="1200" spc="-100" dirty="0">
                <a:solidFill>
                  <a:schemeClr val="bg1"/>
                </a:solidFill>
              </a:rPr>
              <a:t>및 능력단위 평가 실시 </a:t>
            </a:r>
          </a:p>
        </p:txBody>
      </p:sp>
      <p:sp>
        <p:nvSpPr>
          <p:cNvPr id="12" name="직사각형 11">
            <a:extLst>
              <a:ext uri="{FF2B5EF4-FFF2-40B4-BE49-F238E27FC236}">
                <a16:creationId xmlns:a16="http://schemas.microsoft.com/office/drawing/2014/main" id="{5AB6965A-4CE1-E0E3-83EA-F38B1056E8F3}"/>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2. </a:t>
            </a:r>
            <a:r>
              <a:rPr lang="ko-KR" altLang="en-US" sz="1100" dirty="0">
                <a:solidFill>
                  <a:srgbClr val="003F56"/>
                </a:solidFill>
                <a:latin typeface="a고딕14"/>
                <a:ea typeface="a고딕14"/>
              </a:rPr>
              <a:t>신규 과정개발 능력단위 도출</a:t>
            </a:r>
          </a:p>
        </p:txBody>
      </p:sp>
      <p:sp>
        <p:nvSpPr>
          <p:cNvPr id="8" name="직사각형 7">
            <a:extLst>
              <a:ext uri="{FF2B5EF4-FFF2-40B4-BE49-F238E27FC236}">
                <a16:creationId xmlns:a16="http://schemas.microsoft.com/office/drawing/2014/main" id="{B8822F4B-CB39-7E3C-C0BE-24016FB2A67D}"/>
              </a:ext>
            </a:extLst>
          </p:cNvPr>
          <p:cNvSpPr/>
          <p:nvPr/>
        </p:nvSpPr>
        <p:spPr>
          <a:xfrm>
            <a:off x="596900" y="2107024"/>
            <a:ext cx="4176713"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자문회의 계획</a:t>
            </a:r>
            <a:r>
              <a:rPr lang="en-US" altLang="ko-KR" dirty="0">
                <a:solidFill>
                  <a:schemeClr val="bg1"/>
                </a:solidFill>
                <a:latin typeface="a고딕14" panose="02020600000000000000" pitchFamily="18" charset="-127"/>
                <a:ea typeface="a고딕14" panose="02020600000000000000" pitchFamily="18" charset="-127"/>
              </a:rPr>
              <a:t>(</a:t>
            </a:r>
            <a:r>
              <a:rPr lang="ko-KR" altLang="en-US" dirty="0">
                <a:solidFill>
                  <a:schemeClr val="bg1"/>
                </a:solidFill>
                <a:latin typeface="a고딕14" panose="02020600000000000000" pitchFamily="18" charset="-127"/>
                <a:ea typeface="a고딕14" panose="02020600000000000000" pitchFamily="18" charset="-127"/>
              </a:rPr>
              <a:t>안</a:t>
            </a:r>
            <a:r>
              <a:rPr lang="en-US" altLang="ko-KR" dirty="0">
                <a:solidFill>
                  <a:schemeClr val="bg1"/>
                </a:solidFill>
                <a:latin typeface="a고딕14" panose="02020600000000000000" pitchFamily="18" charset="-127"/>
                <a:ea typeface="a고딕14" panose="02020600000000000000" pitchFamily="18" charset="-127"/>
              </a:rPr>
              <a:t>)</a:t>
            </a:r>
            <a:r>
              <a:rPr lang="en-US" altLang="ko-KR" baseline="30000" dirty="0">
                <a:solidFill>
                  <a:schemeClr val="bg1"/>
                </a:solidFill>
                <a:latin typeface="a고딕14" panose="02020600000000000000" pitchFamily="18" charset="-127"/>
                <a:ea typeface="a고딕14" panose="02020600000000000000" pitchFamily="18" charset="-127"/>
              </a:rPr>
              <a:t>*</a:t>
            </a:r>
            <a:endParaRPr lang="ko-KR" altLang="en-US" baseline="30000" dirty="0">
              <a:solidFill>
                <a:schemeClr val="bg1"/>
              </a:solidFill>
              <a:latin typeface="a고딕14" panose="02020600000000000000" pitchFamily="18" charset="-127"/>
              <a:ea typeface="a고딕14" panose="02020600000000000000" pitchFamily="18" charset="-127"/>
            </a:endParaRPr>
          </a:p>
        </p:txBody>
      </p:sp>
      <p:sp>
        <p:nvSpPr>
          <p:cNvPr id="9" name="직사각형 8">
            <a:extLst>
              <a:ext uri="{FF2B5EF4-FFF2-40B4-BE49-F238E27FC236}">
                <a16:creationId xmlns:a16="http://schemas.microsoft.com/office/drawing/2014/main" id="{8C9D51B8-CC21-C50F-846E-2D63A8292662}"/>
              </a:ext>
            </a:extLst>
          </p:cNvPr>
          <p:cNvSpPr/>
          <p:nvPr/>
        </p:nvSpPr>
        <p:spPr>
          <a:xfrm>
            <a:off x="599021" y="2437283"/>
            <a:ext cx="370519" cy="76952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목적</a:t>
            </a:r>
          </a:p>
        </p:txBody>
      </p:sp>
      <p:sp>
        <p:nvSpPr>
          <p:cNvPr id="10" name="직사각형 9">
            <a:extLst>
              <a:ext uri="{FF2B5EF4-FFF2-40B4-BE49-F238E27FC236}">
                <a16:creationId xmlns:a16="http://schemas.microsoft.com/office/drawing/2014/main" id="{C79CCBB7-12A6-D3F6-FAB7-BFFFF673F163}"/>
              </a:ext>
            </a:extLst>
          </p:cNvPr>
          <p:cNvSpPr/>
          <p:nvPr/>
        </p:nvSpPr>
        <p:spPr bwMode="auto">
          <a:xfrm>
            <a:off x="1057978" y="2438991"/>
            <a:ext cx="3715989" cy="769521"/>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NCS 10</a:t>
            </a: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 분야의 능력단위 중심의 개발 과정을 위해 능력단위의 활용 및 </a:t>
            </a:r>
            <a:r>
              <a:rPr lang="ko-KR" altLang="en-US" dirty="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미활용</a:t>
            </a: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여부를 구분하기 위함</a:t>
            </a:r>
            <a:endPar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ko-KR" altLang="en-US" spc="-10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미 활용된 능력단위의 훈련 수요를 파악하기 위한 지표 설정 등</a:t>
            </a:r>
            <a:endParaRPr lang="en-US" altLang="ko-KR" spc="-10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sp>
        <p:nvSpPr>
          <p:cNvPr id="13" name="직사각형 12">
            <a:extLst>
              <a:ext uri="{FF2B5EF4-FFF2-40B4-BE49-F238E27FC236}">
                <a16:creationId xmlns:a16="http://schemas.microsoft.com/office/drawing/2014/main" id="{71C41D85-1C32-3553-21CA-C4227A2FBC83}"/>
              </a:ext>
            </a:extLst>
          </p:cNvPr>
          <p:cNvSpPr/>
          <p:nvPr/>
        </p:nvSpPr>
        <p:spPr>
          <a:xfrm>
            <a:off x="599021" y="3263578"/>
            <a:ext cx="370519" cy="589922"/>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진행</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방식</a:t>
            </a:r>
          </a:p>
        </p:txBody>
      </p:sp>
      <p:sp>
        <p:nvSpPr>
          <p:cNvPr id="18" name="오각형 57">
            <a:extLst>
              <a:ext uri="{FF2B5EF4-FFF2-40B4-BE49-F238E27FC236}">
                <a16:creationId xmlns:a16="http://schemas.microsoft.com/office/drawing/2014/main" id="{838362DA-C9B6-E518-23F5-F375F1597949}"/>
              </a:ext>
            </a:extLst>
          </p:cNvPr>
          <p:cNvSpPr/>
          <p:nvPr/>
        </p:nvSpPr>
        <p:spPr>
          <a:xfrm>
            <a:off x="1057977" y="3257064"/>
            <a:ext cx="1196273" cy="597126"/>
          </a:xfrm>
          <a:prstGeom prst="homePlate">
            <a:avLst>
              <a:gd name="adj" fmla="val 21438"/>
            </a:avLst>
          </a:prstGeom>
          <a:solidFill>
            <a:srgbClr val="212E5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Narrow" panose="020B0606020202030204" pitchFamily="34" charset="0"/>
              <a:ea typeface="a고딕14" panose="02020600000000000000" pitchFamily="18" charset="-127"/>
            </a:endParaRPr>
          </a:p>
        </p:txBody>
      </p:sp>
      <p:sp>
        <p:nvSpPr>
          <p:cNvPr id="21" name="갈매기형 수장 55">
            <a:extLst>
              <a:ext uri="{FF2B5EF4-FFF2-40B4-BE49-F238E27FC236}">
                <a16:creationId xmlns:a16="http://schemas.microsoft.com/office/drawing/2014/main" id="{31FE3C39-FCBB-4668-6B95-01678B9C28DC}"/>
              </a:ext>
            </a:extLst>
          </p:cNvPr>
          <p:cNvSpPr/>
          <p:nvPr/>
        </p:nvSpPr>
        <p:spPr>
          <a:xfrm>
            <a:off x="2188692" y="3256720"/>
            <a:ext cx="1364133" cy="597392"/>
          </a:xfrm>
          <a:prstGeom prst="chevron">
            <a:avLst>
              <a:gd name="adj" fmla="val 18166"/>
            </a:avLst>
          </a:prstGeom>
          <a:solidFill>
            <a:srgbClr val="3061A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endParaRPr>
          </a:p>
        </p:txBody>
      </p:sp>
      <p:sp>
        <p:nvSpPr>
          <p:cNvPr id="24" name="갈매기형 수장 51">
            <a:extLst>
              <a:ext uri="{FF2B5EF4-FFF2-40B4-BE49-F238E27FC236}">
                <a16:creationId xmlns:a16="http://schemas.microsoft.com/office/drawing/2014/main" id="{F702EA3F-C333-9BD4-5AC1-CDA9EC1E8D58}"/>
              </a:ext>
            </a:extLst>
          </p:cNvPr>
          <p:cNvSpPr/>
          <p:nvPr/>
        </p:nvSpPr>
        <p:spPr>
          <a:xfrm>
            <a:off x="3495788" y="3256108"/>
            <a:ext cx="1277825" cy="597392"/>
          </a:xfrm>
          <a:prstGeom prst="chevron">
            <a:avLst>
              <a:gd name="adj" fmla="val 18842"/>
            </a:avLst>
          </a:prstGeom>
          <a:solidFill>
            <a:srgbClr val="93CDDD"/>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Arial Narrow" panose="020B0606020202030204" pitchFamily="34" charset="0"/>
              <a:ea typeface="a고딕14" panose="02020600000000000000" pitchFamily="18" charset="-127"/>
            </a:endParaRPr>
          </a:p>
        </p:txBody>
      </p:sp>
      <p:sp>
        <p:nvSpPr>
          <p:cNvPr id="26" name="TextBox 25">
            <a:extLst>
              <a:ext uri="{FF2B5EF4-FFF2-40B4-BE49-F238E27FC236}">
                <a16:creationId xmlns:a16="http://schemas.microsoft.com/office/drawing/2014/main" id="{40D12859-11A7-BE36-3C2C-504BCE2D76E8}"/>
              </a:ext>
            </a:extLst>
          </p:cNvPr>
          <p:cNvSpPr txBox="1"/>
          <p:nvPr/>
        </p:nvSpPr>
        <p:spPr>
          <a:xfrm>
            <a:off x="1201538" y="3257064"/>
            <a:ext cx="954773" cy="538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Section </a:t>
            </a:r>
            <a:r>
              <a:rPr kumimoji="0" lang="en-US" altLang="ko-KR" sz="120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1</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5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2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서면 자문</a:t>
            </a:r>
          </a:p>
        </p:txBody>
      </p:sp>
      <p:sp>
        <p:nvSpPr>
          <p:cNvPr id="27" name="TextBox 26">
            <a:extLst>
              <a:ext uri="{FF2B5EF4-FFF2-40B4-BE49-F238E27FC236}">
                <a16:creationId xmlns:a16="http://schemas.microsoft.com/office/drawing/2014/main" id="{64E7ED77-48C8-4250-402F-714F03D1C43E}"/>
              </a:ext>
            </a:extLst>
          </p:cNvPr>
          <p:cNvSpPr txBox="1"/>
          <p:nvPr/>
        </p:nvSpPr>
        <p:spPr>
          <a:xfrm>
            <a:off x="2336194" y="3257064"/>
            <a:ext cx="1114287" cy="538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2</a:t>
            </a:r>
            <a:endParaRPr kumimoji="0" lang="en-US" altLang="ko-KR" sz="120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5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ko-KR" altLang="en-US" kern="0" dirty="0">
                <a:solidFill>
                  <a:prstClr val="white"/>
                </a:solidFill>
                <a:latin typeface="Arial Narrow" panose="020B0606020202030204" pitchFamily="34" charset="0"/>
                <a:ea typeface="a고딕14" panose="02020600000000000000" pitchFamily="18" charset="-127"/>
              </a:rPr>
              <a:t>자문</a:t>
            </a:r>
            <a:r>
              <a:rPr kumimoji="0" lang="ko-KR" altLang="en-US" sz="12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결과 취합</a:t>
            </a:r>
          </a:p>
        </p:txBody>
      </p:sp>
      <p:sp>
        <p:nvSpPr>
          <p:cNvPr id="28" name="TextBox 27">
            <a:extLst>
              <a:ext uri="{FF2B5EF4-FFF2-40B4-BE49-F238E27FC236}">
                <a16:creationId xmlns:a16="http://schemas.microsoft.com/office/drawing/2014/main" id="{4F1CE8A9-A1C1-E33F-A32C-639135305851}"/>
              </a:ext>
            </a:extLst>
          </p:cNvPr>
          <p:cNvSpPr txBox="1"/>
          <p:nvPr/>
        </p:nvSpPr>
        <p:spPr>
          <a:xfrm>
            <a:off x="3657314" y="3257064"/>
            <a:ext cx="954773" cy="538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Section </a:t>
            </a:r>
            <a:r>
              <a:rPr kumimoji="0" lang="en-US" altLang="ko-KR" sz="120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3</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5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2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대면 자문</a:t>
            </a:r>
          </a:p>
        </p:txBody>
      </p:sp>
      <p:sp>
        <p:nvSpPr>
          <p:cNvPr id="29" name="TextBox 28">
            <a:extLst>
              <a:ext uri="{FF2B5EF4-FFF2-40B4-BE49-F238E27FC236}">
                <a16:creationId xmlns:a16="http://schemas.microsoft.com/office/drawing/2014/main" id="{FAA48660-03B0-E880-9E0D-02AC0CC48A15}"/>
              </a:ext>
            </a:extLst>
          </p:cNvPr>
          <p:cNvSpPr txBox="1"/>
          <p:nvPr/>
        </p:nvSpPr>
        <p:spPr>
          <a:xfrm>
            <a:off x="1057978" y="4384092"/>
            <a:ext cx="3715988" cy="1034194"/>
          </a:xfrm>
          <a:prstGeom prst="rect">
            <a:avLst/>
          </a:prstGeom>
          <a:solidFill>
            <a:schemeClr val="bg1">
              <a:lumMod val="95000"/>
            </a:schemeClr>
          </a:solidFill>
        </p:spPr>
        <p:txBody>
          <a:bodyPr wrap="square" rtlCol="0">
            <a:noAutofit/>
          </a:bodyPr>
          <a:lstStyle/>
          <a:p>
            <a:pPr marL="87313" indent="-87313" algn="l" latinLnBrk="0">
              <a:spcAft>
                <a:spcPts val="600"/>
              </a:spcAft>
              <a:buFont typeface="Arial" panose="020B0604020202020204" pitchFamily="34" charset="0"/>
              <a:buChar char="•"/>
            </a:pPr>
            <a:r>
              <a:rPr lang="en-US" altLang="ko-KR" dirty="0">
                <a:latin typeface="Arial Narrow" panose="020B0606020202030204" pitchFamily="34" charset="0"/>
                <a:ea typeface="a고딕14" panose="02020600000000000000" pitchFamily="18" charset="-127"/>
              </a:rPr>
              <a:t>NCS 10</a:t>
            </a:r>
            <a:r>
              <a:rPr lang="ko-KR" altLang="en-US" dirty="0">
                <a:latin typeface="Arial Narrow" panose="020B0606020202030204" pitchFamily="34" charset="0"/>
                <a:ea typeface="a고딕14" panose="02020600000000000000" pitchFamily="18" charset="-127"/>
              </a:rPr>
              <a:t>개 분야의 전체 개발 수요 파악을 위한 방안 검토</a:t>
            </a:r>
            <a:endParaRPr lang="en-US" altLang="ko-KR" dirty="0">
              <a:latin typeface="Arial Narrow" panose="020B0606020202030204" pitchFamily="34" charset="0"/>
              <a:ea typeface="a고딕14" panose="02020600000000000000" pitchFamily="18" charset="-127"/>
            </a:endParaRPr>
          </a:p>
          <a:p>
            <a:pPr marL="87313" indent="-87313" algn="l" latinLnBrk="0">
              <a:spcAft>
                <a:spcPts val="600"/>
              </a:spcAft>
              <a:buFont typeface="Arial" panose="020B0604020202020204" pitchFamily="34" charset="0"/>
              <a:buChar char="•"/>
            </a:pPr>
            <a:r>
              <a:rPr lang="ko-KR" altLang="en-US" spc="-50" dirty="0">
                <a:latin typeface="Arial Narrow" panose="020B0606020202030204" pitchFamily="34" charset="0"/>
                <a:ea typeface="a고딕14" panose="02020600000000000000" pitchFamily="18" charset="-127"/>
              </a:rPr>
              <a:t>교육과정 개발을 위한 </a:t>
            </a:r>
            <a:r>
              <a:rPr lang="en-US" altLang="ko-KR" spc="-50" dirty="0">
                <a:latin typeface="Arial Narrow" panose="020B0606020202030204" pitchFamily="34" charset="0"/>
                <a:ea typeface="a고딕14" panose="02020600000000000000" pitchFamily="18" charset="-127"/>
              </a:rPr>
              <a:t>Must </a:t>
            </a:r>
            <a:r>
              <a:rPr lang="ko-KR" altLang="en-US" spc="-50" dirty="0">
                <a:latin typeface="Arial Narrow" panose="020B0606020202030204" pitchFamily="34" charset="0"/>
                <a:ea typeface="a고딕14" panose="02020600000000000000" pitchFamily="18" charset="-127"/>
              </a:rPr>
              <a:t>조건 </a:t>
            </a:r>
            <a:r>
              <a:rPr lang="en-US" altLang="ko-KR" spc="-50" dirty="0">
                <a:latin typeface="Arial Narrow" panose="020B0606020202030204" pitchFamily="34" charset="0"/>
                <a:ea typeface="a고딕14" panose="02020600000000000000" pitchFamily="18" charset="-127"/>
              </a:rPr>
              <a:t>(ex. </a:t>
            </a:r>
            <a:r>
              <a:rPr lang="ko-KR" altLang="en-US" spc="-50" dirty="0">
                <a:latin typeface="Arial Narrow" panose="020B0606020202030204" pitchFamily="34" charset="0"/>
                <a:ea typeface="a고딕14" panose="02020600000000000000" pitchFamily="18" charset="-127"/>
              </a:rPr>
              <a:t>공학</a:t>
            </a:r>
            <a:r>
              <a:rPr lang="en-US" altLang="ko-KR" spc="-50" dirty="0">
                <a:latin typeface="Arial Narrow" panose="020B0606020202030204" pitchFamily="34" charset="0"/>
                <a:ea typeface="a고딕14" panose="02020600000000000000" pitchFamily="18" charset="-127"/>
              </a:rPr>
              <a:t>/</a:t>
            </a:r>
            <a:r>
              <a:rPr lang="ko-KR" altLang="en-US" spc="-50" dirty="0" err="1">
                <a:latin typeface="Arial Narrow" panose="020B0606020202030204" pitchFamily="34" charset="0"/>
                <a:ea typeface="a고딕14" panose="02020600000000000000" pitchFamily="18" charset="-127"/>
              </a:rPr>
              <a:t>비공학</a:t>
            </a:r>
            <a:r>
              <a:rPr lang="ko-KR" altLang="en-US" spc="-50" dirty="0">
                <a:latin typeface="Arial Narrow" panose="020B0606020202030204" pitchFamily="34" charset="0"/>
                <a:ea typeface="a고딕14" panose="02020600000000000000" pitchFamily="18" charset="-127"/>
              </a:rPr>
              <a:t> 여부</a:t>
            </a:r>
            <a:r>
              <a:rPr lang="en-US" altLang="ko-KR" spc="-50" dirty="0">
                <a:latin typeface="Arial Narrow" panose="020B0606020202030204" pitchFamily="34" charset="0"/>
                <a:ea typeface="a고딕14" panose="02020600000000000000" pitchFamily="18" charset="-127"/>
              </a:rPr>
              <a:t>)</a:t>
            </a:r>
            <a:r>
              <a:rPr lang="ko-KR" altLang="en-US" spc="-50" dirty="0">
                <a:latin typeface="Arial Narrow" panose="020B0606020202030204" pitchFamily="34" charset="0"/>
                <a:ea typeface="a고딕14" panose="02020600000000000000" pitchFamily="18" charset="-127"/>
              </a:rPr>
              <a:t> 설정</a:t>
            </a:r>
            <a:endParaRPr lang="en-US" altLang="ko-KR" spc="-50" dirty="0">
              <a:latin typeface="Arial Narrow" panose="020B0606020202030204" pitchFamily="34" charset="0"/>
              <a:ea typeface="a고딕14" panose="02020600000000000000" pitchFamily="18" charset="-127"/>
            </a:endParaRPr>
          </a:p>
          <a:p>
            <a:pPr marL="87313" indent="-87313" algn="l" latinLnBrk="0">
              <a:spcAft>
                <a:spcPts val="600"/>
              </a:spcAft>
              <a:buFont typeface="Arial" panose="020B0604020202020204" pitchFamily="34" charset="0"/>
              <a:buChar char="•"/>
            </a:pPr>
            <a:r>
              <a:rPr lang="ko-KR" altLang="en-US" dirty="0">
                <a:latin typeface="Arial Narrow" panose="020B0606020202030204" pitchFamily="34" charset="0"/>
                <a:ea typeface="a고딕14" panose="02020600000000000000" pitchFamily="18" charset="-127"/>
              </a:rPr>
              <a:t>교육과정 개발을 위한 </a:t>
            </a:r>
            <a:r>
              <a:rPr lang="en-US" altLang="ko-KR" dirty="0">
                <a:latin typeface="Arial Narrow" panose="020B0606020202030204" pitchFamily="34" charset="0"/>
                <a:ea typeface="a고딕14" panose="02020600000000000000" pitchFamily="18" charset="-127"/>
              </a:rPr>
              <a:t>Want </a:t>
            </a:r>
            <a:r>
              <a:rPr lang="ko-KR" altLang="en-US" dirty="0">
                <a:latin typeface="Arial Narrow" panose="020B0606020202030204" pitchFamily="34" charset="0"/>
                <a:ea typeface="a고딕14" panose="02020600000000000000" pitchFamily="18" charset="-127"/>
              </a:rPr>
              <a:t>조건 </a:t>
            </a:r>
            <a:r>
              <a:rPr lang="en-US" altLang="ko-KR" dirty="0">
                <a:latin typeface="Arial Narrow" panose="020B0606020202030204" pitchFamily="34" charset="0"/>
                <a:ea typeface="a고딕14" panose="02020600000000000000" pitchFamily="18" charset="-127"/>
              </a:rPr>
              <a:t>(ex. </a:t>
            </a:r>
            <a:r>
              <a:rPr lang="ko-KR" altLang="en-US" dirty="0">
                <a:latin typeface="Arial Narrow" panose="020B0606020202030204" pitchFamily="34" charset="0"/>
                <a:ea typeface="a고딕14" panose="02020600000000000000" pitchFamily="18" charset="-127"/>
              </a:rPr>
              <a:t>중요도</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필요도</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긴급도 등</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설정 등</a:t>
            </a:r>
            <a:endParaRPr lang="en-US" altLang="ko-KR" dirty="0">
              <a:latin typeface="Arial Narrow" panose="020B0606020202030204" pitchFamily="34" charset="0"/>
              <a:ea typeface="a고딕14" panose="02020600000000000000" pitchFamily="18" charset="-127"/>
            </a:endParaRPr>
          </a:p>
        </p:txBody>
      </p:sp>
      <p:sp>
        <p:nvSpPr>
          <p:cNvPr id="30" name="직사각형 29">
            <a:extLst>
              <a:ext uri="{FF2B5EF4-FFF2-40B4-BE49-F238E27FC236}">
                <a16:creationId xmlns:a16="http://schemas.microsoft.com/office/drawing/2014/main" id="{8E4AE149-A39D-6AE1-BBC8-E897273357CE}"/>
              </a:ext>
            </a:extLst>
          </p:cNvPr>
          <p:cNvSpPr/>
          <p:nvPr/>
        </p:nvSpPr>
        <p:spPr>
          <a:xfrm>
            <a:off x="599021" y="4384091"/>
            <a:ext cx="370519" cy="10341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주요</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내용</a:t>
            </a:r>
          </a:p>
        </p:txBody>
      </p:sp>
      <p:pic>
        <p:nvPicPr>
          <p:cNvPr id="32" name="그림 31">
            <a:extLst>
              <a:ext uri="{FF2B5EF4-FFF2-40B4-BE49-F238E27FC236}">
                <a16:creationId xmlns:a16="http://schemas.microsoft.com/office/drawing/2014/main" id="{DB124EE9-9193-2948-3806-B1E176D89C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7977" y="5453935"/>
            <a:ext cx="1777208" cy="1028683"/>
          </a:xfrm>
          <a:prstGeom prst="rect">
            <a:avLst/>
          </a:prstGeom>
        </p:spPr>
      </p:pic>
      <p:pic>
        <p:nvPicPr>
          <p:cNvPr id="34" name="그림 33">
            <a:extLst>
              <a:ext uri="{FF2B5EF4-FFF2-40B4-BE49-F238E27FC236}">
                <a16:creationId xmlns:a16="http://schemas.microsoft.com/office/drawing/2014/main" id="{94399B91-9234-D366-083F-4EE4B3E092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44842" y="5453935"/>
            <a:ext cx="1828771" cy="1028683"/>
          </a:xfrm>
          <a:prstGeom prst="rect">
            <a:avLst/>
          </a:prstGeom>
        </p:spPr>
      </p:pic>
      <p:sp>
        <p:nvSpPr>
          <p:cNvPr id="35" name="직사각형 34">
            <a:extLst>
              <a:ext uri="{FF2B5EF4-FFF2-40B4-BE49-F238E27FC236}">
                <a16:creationId xmlns:a16="http://schemas.microsoft.com/office/drawing/2014/main" id="{A90FD047-A1FC-FF90-A2B4-04B3F76F93CF}"/>
              </a:ext>
            </a:extLst>
          </p:cNvPr>
          <p:cNvSpPr/>
          <p:nvPr/>
        </p:nvSpPr>
        <p:spPr>
          <a:xfrm>
            <a:off x="596516" y="5453935"/>
            <a:ext cx="370519" cy="1050626"/>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진행 사진</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예시</a:t>
            </a:r>
          </a:p>
        </p:txBody>
      </p:sp>
      <p:sp>
        <p:nvSpPr>
          <p:cNvPr id="37" name="직사각형 36">
            <a:extLst>
              <a:ext uri="{FF2B5EF4-FFF2-40B4-BE49-F238E27FC236}">
                <a16:creationId xmlns:a16="http://schemas.microsoft.com/office/drawing/2014/main" id="{449ED2B4-BFE8-CC9F-C4F8-93AFA53BE4DF}"/>
              </a:ext>
            </a:extLst>
          </p:cNvPr>
          <p:cNvSpPr/>
          <p:nvPr/>
        </p:nvSpPr>
        <p:spPr>
          <a:xfrm>
            <a:off x="599021" y="3889151"/>
            <a:ext cx="370519" cy="46805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섭외</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대상</a:t>
            </a:r>
          </a:p>
        </p:txBody>
      </p:sp>
      <p:sp>
        <p:nvSpPr>
          <p:cNvPr id="38" name="직사각형 37">
            <a:extLst>
              <a:ext uri="{FF2B5EF4-FFF2-40B4-BE49-F238E27FC236}">
                <a16:creationId xmlns:a16="http://schemas.microsoft.com/office/drawing/2014/main" id="{DE1F5A3F-054E-3CB9-2234-DD7316B83451}"/>
              </a:ext>
            </a:extLst>
          </p:cNvPr>
          <p:cNvSpPr/>
          <p:nvPr/>
        </p:nvSpPr>
        <p:spPr bwMode="auto">
          <a:xfrm>
            <a:off x="1057978" y="3889150"/>
            <a:ext cx="3715989" cy="468056"/>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직업훈련 전문가</a:t>
            </a:r>
            <a:r>
              <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교육과정 개발 전문가 등</a:t>
            </a:r>
            <a:endParaRPr lang="en-US" altLang="ko-KR" spc="-10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sp>
        <p:nvSpPr>
          <p:cNvPr id="41" name="직사각형 40">
            <a:extLst>
              <a:ext uri="{FF2B5EF4-FFF2-40B4-BE49-F238E27FC236}">
                <a16:creationId xmlns:a16="http://schemas.microsoft.com/office/drawing/2014/main" id="{4A328507-9D5A-1614-66D3-AB311FD50871}"/>
              </a:ext>
            </a:extLst>
          </p:cNvPr>
          <p:cNvSpPr/>
          <p:nvPr/>
        </p:nvSpPr>
        <p:spPr>
          <a:xfrm>
            <a:off x="5132388" y="2107024"/>
            <a:ext cx="4213225"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과정개발 가능한 능력단위 평가 실시</a:t>
            </a:r>
            <a:r>
              <a:rPr lang="en-US" altLang="ko-KR" dirty="0">
                <a:solidFill>
                  <a:schemeClr val="bg1"/>
                </a:solidFill>
                <a:latin typeface="a고딕14" panose="02020600000000000000" pitchFamily="18" charset="-127"/>
                <a:ea typeface="a고딕14" panose="02020600000000000000" pitchFamily="18" charset="-127"/>
              </a:rPr>
              <a:t>(</a:t>
            </a:r>
            <a:r>
              <a:rPr lang="ko-KR" altLang="en-US" dirty="0">
                <a:solidFill>
                  <a:schemeClr val="bg1"/>
                </a:solidFill>
                <a:latin typeface="a고딕14" panose="02020600000000000000" pitchFamily="18" charset="-127"/>
                <a:ea typeface="a고딕14" panose="02020600000000000000" pitchFamily="18" charset="-127"/>
              </a:rPr>
              <a:t>안</a:t>
            </a:r>
            <a:r>
              <a:rPr lang="en-US" altLang="ko-KR" dirty="0">
                <a:solidFill>
                  <a:schemeClr val="bg1"/>
                </a:solidFill>
                <a:latin typeface="a고딕14" panose="02020600000000000000" pitchFamily="18" charset="-127"/>
                <a:ea typeface="a고딕14" panose="02020600000000000000" pitchFamily="18" charset="-127"/>
              </a:rPr>
              <a:t>)</a:t>
            </a:r>
            <a:endParaRPr lang="ko-KR" altLang="en-US" dirty="0">
              <a:solidFill>
                <a:schemeClr val="bg1"/>
              </a:solidFill>
              <a:latin typeface="a고딕14" panose="02020600000000000000" pitchFamily="18" charset="-127"/>
              <a:ea typeface="a고딕14" panose="02020600000000000000" pitchFamily="18" charset="-127"/>
            </a:endParaRPr>
          </a:p>
        </p:txBody>
      </p:sp>
      <p:sp>
        <p:nvSpPr>
          <p:cNvPr id="42" name="직사각형 41">
            <a:extLst>
              <a:ext uri="{FF2B5EF4-FFF2-40B4-BE49-F238E27FC236}">
                <a16:creationId xmlns:a16="http://schemas.microsoft.com/office/drawing/2014/main" id="{002A6E1C-414A-BC0D-859A-A8F4495689CA}"/>
              </a:ext>
            </a:extLst>
          </p:cNvPr>
          <p:cNvSpPr/>
          <p:nvPr/>
        </p:nvSpPr>
        <p:spPr>
          <a:xfrm>
            <a:off x="5132387" y="2645155"/>
            <a:ext cx="4212299" cy="1316541"/>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sz="1000" dirty="0">
              <a:latin typeface="Arial Narrow" panose="020B0606020202030204" pitchFamily="34" charset="0"/>
              <a:ea typeface="a고딕14" panose="02020600000000000000" pitchFamily="18" charset="-127"/>
            </a:endParaRPr>
          </a:p>
        </p:txBody>
      </p:sp>
      <p:sp>
        <p:nvSpPr>
          <p:cNvPr id="44" name="모서리가 둥근 직사각형 34">
            <a:extLst>
              <a:ext uri="{FF2B5EF4-FFF2-40B4-BE49-F238E27FC236}">
                <a16:creationId xmlns:a16="http://schemas.microsoft.com/office/drawing/2014/main" id="{3CB03451-D169-9063-167B-08FE22D6234E}"/>
              </a:ext>
            </a:extLst>
          </p:cNvPr>
          <p:cNvSpPr/>
          <p:nvPr/>
        </p:nvSpPr>
        <p:spPr>
          <a:xfrm>
            <a:off x="5206280" y="2765806"/>
            <a:ext cx="3948628" cy="318608"/>
          </a:xfrm>
          <a:prstGeom prst="round2SameRect">
            <a:avLst>
              <a:gd name="adj1" fmla="val 34076"/>
              <a:gd name="adj2" fmla="val 0"/>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dirty="0">
                <a:latin typeface="Arial Narrow" panose="020B0606020202030204" pitchFamily="34" charset="0"/>
                <a:ea typeface="a고딕14" panose="02020600000000000000" pitchFamily="18" charset="-127"/>
              </a:rPr>
              <a:t>교육과정 개발 </a:t>
            </a:r>
            <a:r>
              <a:rPr lang="en-US" altLang="ko-KR" dirty="0">
                <a:latin typeface="Arial Narrow" panose="020B0606020202030204" pitchFamily="34" charset="0"/>
                <a:ea typeface="a고딕14" panose="02020600000000000000" pitchFamily="18" charset="-127"/>
              </a:rPr>
              <a:t>Must </a:t>
            </a:r>
            <a:r>
              <a:rPr lang="ko-KR" altLang="en-US" dirty="0">
                <a:latin typeface="Arial Narrow" panose="020B0606020202030204" pitchFamily="34" charset="0"/>
                <a:ea typeface="a고딕14" panose="02020600000000000000" pitchFamily="18" charset="-127"/>
              </a:rPr>
              <a:t>조건을 활용한 능력단위 필터</a:t>
            </a:r>
            <a:endParaRPr lang="en-US" altLang="ko-KR" dirty="0">
              <a:latin typeface="Arial Narrow" panose="020B0606020202030204" pitchFamily="34" charset="0"/>
              <a:ea typeface="a고딕14" panose="02020600000000000000" pitchFamily="18" charset="-127"/>
            </a:endParaRPr>
          </a:p>
        </p:txBody>
      </p:sp>
      <p:sp>
        <p:nvSpPr>
          <p:cNvPr id="45" name="직사각형 44">
            <a:extLst>
              <a:ext uri="{FF2B5EF4-FFF2-40B4-BE49-F238E27FC236}">
                <a16:creationId xmlns:a16="http://schemas.microsoft.com/office/drawing/2014/main" id="{9167BBD7-8BF7-C99F-3DBD-E755270F0DF8}"/>
              </a:ext>
            </a:extLst>
          </p:cNvPr>
          <p:cNvSpPr/>
          <p:nvPr/>
        </p:nvSpPr>
        <p:spPr>
          <a:xfrm>
            <a:off x="5206280" y="3156073"/>
            <a:ext cx="3948630" cy="294974"/>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sz="1100" dirty="0">
                <a:solidFill>
                  <a:schemeClr val="tx1"/>
                </a:solidFill>
                <a:latin typeface="a고딕14" panose="02020600000000000000" pitchFamily="18" charset="-127"/>
                <a:ea typeface="a고딕14" panose="02020600000000000000" pitchFamily="18" charset="-127"/>
              </a:rPr>
              <a:t>능력단위 공학</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err="1">
                <a:solidFill>
                  <a:schemeClr val="tx1"/>
                </a:solidFill>
                <a:latin typeface="a고딕14" panose="02020600000000000000" pitchFamily="18" charset="-127"/>
                <a:ea typeface="a고딕14" panose="02020600000000000000" pitchFamily="18" charset="-127"/>
              </a:rPr>
              <a:t>비공학</a:t>
            </a:r>
            <a:r>
              <a:rPr lang="ko-KR" altLang="en-US" sz="1100" dirty="0">
                <a:solidFill>
                  <a:schemeClr val="tx1"/>
                </a:solidFill>
                <a:latin typeface="a고딕14" panose="02020600000000000000" pitchFamily="18" charset="-127"/>
                <a:ea typeface="a고딕14" panose="02020600000000000000" pitchFamily="18" charset="-127"/>
              </a:rPr>
              <a:t> 여부에 따라 </a:t>
            </a:r>
            <a:r>
              <a:rPr lang="ko-KR" altLang="en-US" sz="1100" dirty="0" err="1">
                <a:solidFill>
                  <a:schemeClr val="tx1"/>
                </a:solidFill>
                <a:latin typeface="a고딕14" panose="02020600000000000000" pitchFamily="18" charset="-127"/>
                <a:ea typeface="a고딕14" panose="02020600000000000000" pitchFamily="18" charset="-127"/>
              </a:rPr>
              <a:t>비공학</a:t>
            </a:r>
            <a:r>
              <a:rPr lang="ko-KR" altLang="en-US" sz="1100" dirty="0">
                <a:solidFill>
                  <a:schemeClr val="tx1"/>
                </a:solidFill>
                <a:latin typeface="a고딕14" panose="02020600000000000000" pitchFamily="18" charset="-127"/>
                <a:ea typeface="a고딕14" panose="02020600000000000000" pitchFamily="18" charset="-127"/>
              </a:rPr>
              <a:t> 능력단위는 탈락</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46" name="직사각형 45">
            <a:extLst>
              <a:ext uri="{FF2B5EF4-FFF2-40B4-BE49-F238E27FC236}">
                <a16:creationId xmlns:a16="http://schemas.microsoft.com/office/drawing/2014/main" id="{75389604-7FF0-D3C2-8DAF-A8985AE2D6A9}"/>
              </a:ext>
            </a:extLst>
          </p:cNvPr>
          <p:cNvSpPr/>
          <p:nvPr/>
        </p:nvSpPr>
        <p:spPr>
          <a:xfrm>
            <a:off x="5206280" y="3522706"/>
            <a:ext cx="3948630" cy="294974"/>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buNone/>
            </a:pPr>
            <a:r>
              <a:rPr lang="ko-KR" altLang="en-US" sz="1100" spc="-100" dirty="0">
                <a:solidFill>
                  <a:schemeClr val="tx1"/>
                </a:solidFill>
                <a:latin typeface="a고딕14" panose="02020600000000000000" pitchFamily="18" charset="-127"/>
                <a:ea typeface="a고딕14" panose="02020600000000000000" pitchFamily="18" charset="-127"/>
              </a:rPr>
              <a:t>산업의 수요가 너무 적어 교육과정 개발이 필요 없는 능력단위는 탈락</a:t>
            </a:r>
            <a:endParaRPr lang="en-US" altLang="ko-KR" sz="1100" spc="-100" dirty="0">
              <a:solidFill>
                <a:schemeClr val="tx1"/>
              </a:solidFill>
              <a:latin typeface="a고딕14" panose="02020600000000000000" pitchFamily="18" charset="-127"/>
              <a:ea typeface="a고딕14" panose="02020600000000000000" pitchFamily="18" charset="-127"/>
            </a:endParaRPr>
          </a:p>
        </p:txBody>
      </p:sp>
      <p:sp>
        <p:nvSpPr>
          <p:cNvPr id="47" name="타원 46">
            <a:extLst>
              <a:ext uri="{FF2B5EF4-FFF2-40B4-BE49-F238E27FC236}">
                <a16:creationId xmlns:a16="http://schemas.microsoft.com/office/drawing/2014/main" id="{6DB5D5AE-CA4A-FE8F-09B4-D02FB54D2E07}"/>
              </a:ext>
            </a:extLst>
          </p:cNvPr>
          <p:cNvSpPr/>
          <p:nvPr/>
        </p:nvSpPr>
        <p:spPr>
          <a:xfrm>
            <a:off x="5077631" y="2593544"/>
            <a:ext cx="277715" cy="277715"/>
          </a:xfrm>
          <a:prstGeom prst="ellipse">
            <a:avLst/>
          </a:prstGeom>
          <a:solidFill>
            <a:schemeClr val="bg1"/>
          </a:solidFill>
          <a:ln>
            <a:solidFill>
              <a:srgbClr val="3061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sz="1400" dirty="0">
                <a:solidFill>
                  <a:srgbClr val="3061A3"/>
                </a:solidFill>
                <a:latin typeface="a고딕18" panose="02020600000000000000" pitchFamily="18" charset="-127"/>
                <a:ea typeface="a고딕18" panose="02020600000000000000" pitchFamily="18" charset="-127"/>
              </a:rPr>
              <a:t>1</a:t>
            </a:r>
            <a:endParaRPr lang="ko-KR" altLang="en-US" sz="1400" dirty="0">
              <a:solidFill>
                <a:srgbClr val="3061A3"/>
              </a:solidFill>
              <a:latin typeface="a고딕18" panose="02020600000000000000" pitchFamily="18" charset="-127"/>
              <a:ea typeface="a고딕18" panose="02020600000000000000" pitchFamily="18" charset="-127"/>
            </a:endParaRPr>
          </a:p>
        </p:txBody>
      </p:sp>
      <p:sp>
        <p:nvSpPr>
          <p:cNvPr id="51" name="직사각형 50">
            <a:extLst>
              <a:ext uri="{FF2B5EF4-FFF2-40B4-BE49-F238E27FC236}">
                <a16:creationId xmlns:a16="http://schemas.microsoft.com/office/drawing/2014/main" id="{A7B5F449-F5F0-19D1-8B46-50CBA392B01C}"/>
              </a:ext>
            </a:extLst>
          </p:cNvPr>
          <p:cNvSpPr/>
          <p:nvPr/>
        </p:nvSpPr>
        <p:spPr>
          <a:xfrm>
            <a:off x="5132387" y="4242960"/>
            <a:ext cx="4212299" cy="2066302"/>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sz="1000" dirty="0">
              <a:latin typeface="Arial Narrow" panose="020B0606020202030204" pitchFamily="34" charset="0"/>
              <a:ea typeface="a고딕14" panose="02020600000000000000" pitchFamily="18" charset="-127"/>
            </a:endParaRPr>
          </a:p>
        </p:txBody>
      </p:sp>
      <p:sp>
        <p:nvSpPr>
          <p:cNvPr id="53" name="모서리가 둥근 직사각형 34">
            <a:extLst>
              <a:ext uri="{FF2B5EF4-FFF2-40B4-BE49-F238E27FC236}">
                <a16:creationId xmlns:a16="http://schemas.microsoft.com/office/drawing/2014/main" id="{8BD10903-0C37-57ED-A9B7-3DFF32FB0D27}"/>
              </a:ext>
            </a:extLst>
          </p:cNvPr>
          <p:cNvSpPr/>
          <p:nvPr/>
        </p:nvSpPr>
        <p:spPr>
          <a:xfrm>
            <a:off x="5206280" y="4363611"/>
            <a:ext cx="3948628" cy="318608"/>
          </a:xfrm>
          <a:prstGeom prst="round2SameRect">
            <a:avLst>
              <a:gd name="adj1" fmla="val 34076"/>
              <a:gd name="adj2" fmla="val 0"/>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dirty="0">
                <a:latin typeface="Arial Narrow" panose="020B0606020202030204" pitchFamily="34" charset="0"/>
                <a:ea typeface="a고딕14" panose="02020600000000000000" pitchFamily="18" charset="-127"/>
              </a:rPr>
              <a:t>교육과정 개발 </a:t>
            </a:r>
            <a:r>
              <a:rPr lang="en-US" altLang="ko-KR" dirty="0">
                <a:latin typeface="Arial Narrow" panose="020B0606020202030204" pitchFamily="34" charset="0"/>
                <a:ea typeface="a고딕14" panose="02020600000000000000" pitchFamily="18" charset="-127"/>
              </a:rPr>
              <a:t>Want </a:t>
            </a:r>
            <a:r>
              <a:rPr lang="ko-KR" altLang="en-US" dirty="0">
                <a:latin typeface="Arial Narrow" panose="020B0606020202030204" pitchFamily="34" charset="0"/>
                <a:ea typeface="a고딕14" panose="02020600000000000000" pitchFamily="18" charset="-127"/>
              </a:rPr>
              <a:t>조건을 활용한 능력단위 수요 파악</a:t>
            </a:r>
            <a:endParaRPr lang="en-US" altLang="ko-KR" dirty="0">
              <a:latin typeface="Arial Narrow" panose="020B0606020202030204" pitchFamily="34" charset="0"/>
              <a:ea typeface="a고딕14" panose="02020600000000000000" pitchFamily="18" charset="-127"/>
            </a:endParaRPr>
          </a:p>
        </p:txBody>
      </p:sp>
      <p:sp>
        <p:nvSpPr>
          <p:cNvPr id="54" name="직사각형 53">
            <a:extLst>
              <a:ext uri="{FF2B5EF4-FFF2-40B4-BE49-F238E27FC236}">
                <a16:creationId xmlns:a16="http://schemas.microsoft.com/office/drawing/2014/main" id="{B127EEE3-80CC-3114-D329-10493D4A85B3}"/>
              </a:ext>
            </a:extLst>
          </p:cNvPr>
          <p:cNvSpPr/>
          <p:nvPr/>
        </p:nvSpPr>
        <p:spPr>
          <a:xfrm>
            <a:off x="5206280" y="4753877"/>
            <a:ext cx="3948630" cy="357544"/>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sz="1100" dirty="0">
                <a:solidFill>
                  <a:schemeClr val="tx1"/>
                </a:solidFill>
                <a:latin typeface="a고딕14" panose="02020600000000000000" pitchFamily="18" charset="-127"/>
                <a:ea typeface="a고딕14" panose="02020600000000000000" pitchFamily="18" charset="-127"/>
              </a:rPr>
              <a:t>자문회의를 통해 도출된 능력단위 수요 평가 지표 </a:t>
            </a:r>
            <a:br>
              <a:rPr lang="en-US" altLang="ko-KR" sz="1100" dirty="0">
                <a:solidFill>
                  <a:schemeClr val="tx1"/>
                </a:solidFill>
                <a:latin typeface="a고딕14" panose="02020600000000000000" pitchFamily="18" charset="-127"/>
                <a:ea typeface="a고딕14" panose="02020600000000000000" pitchFamily="18" charset="-127"/>
              </a:rPr>
            </a:br>
            <a:r>
              <a:rPr lang="en-US" altLang="ko-KR" sz="1100" dirty="0">
                <a:solidFill>
                  <a:schemeClr val="tx1"/>
                </a:solidFill>
                <a:latin typeface="a고딕14" panose="02020600000000000000" pitchFamily="18" charset="-127"/>
                <a:ea typeface="a고딕14" panose="02020600000000000000" pitchFamily="18" charset="-127"/>
              </a:rPr>
              <a:t>(ex. </a:t>
            </a:r>
            <a:r>
              <a:rPr lang="ko-KR" altLang="en-US" sz="1100" dirty="0">
                <a:solidFill>
                  <a:schemeClr val="tx1"/>
                </a:solidFill>
                <a:latin typeface="a고딕14" panose="02020600000000000000" pitchFamily="18" charset="-127"/>
                <a:ea typeface="a고딕14" panose="02020600000000000000" pitchFamily="18" charset="-127"/>
              </a:rPr>
              <a:t>중요도</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필요도</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긴급도 등</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를 활용하여 평가를 실시함</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55" name="직사각형 54">
            <a:extLst>
              <a:ext uri="{FF2B5EF4-FFF2-40B4-BE49-F238E27FC236}">
                <a16:creationId xmlns:a16="http://schemas.microsoft.com/office/drawing/2014/main" id="{03A0686B-8040-80F2-3170-9EF6988F9FE1}"/>
              </a:ext>
            </a:extLst>
          </p:cNvPr>
          <p:cNvSpPr/>
          <p:nvPr/>
        </p:nvSpPr>
        <p:spPr>
          <a:xfrm>
            <a:off x="5206280" y="5692752"/>
            <a:ext cx="3948630" cy="522068"/>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buNone/>
            </a:pPr>
            <a:r>
              <a:rPr lang="ko-KR" altLang="en-US" sz="1100" dirty="0">
                <a:solidFill>
                  <a:schemeClr val="tx1"/>
                </a:solidFill>
                <a:latin typeface="a고딕14" panose="02020600000000000000" pitchFamily="18" charset="-127"/>
                <a:ea typeface="a고딕14" panose="02020600000000000000" pitchFamily="18" charset="-127"/>
              </a:rPr>
              <a:t>평가위원은 분야별 산업별 </a:t>
            </a:r>
            <a:r>
              <a:rPr lang="en-US" altLang="ko-KR" sz="1100" dirty="0">
                <a:solidFill>
                  <a:schemeClr val="tx1"/>
                </a:solidFill>
                <a:latin typeface="a고딕14" panose="02020600000000000000" pitchFamily="18" charset="-127"/>
                <a:ea typeface="a고딕14" panose="02020600000000000000" pitchFamily="18" charset="-127"/>
              </a:rPr>
              <a:t>ISC </a:t>
            </a:r>
            <a:r>
              <a:rPr lang="ko-KR" altLang="en-US" sz="1100" dirty="0">
                <a:solidFill>
                  <a:schemeClr val="tx1"/>
                </a:solidFill>
                <a:latin typeface="a고딕14" panose="02020600000000000000" pitchFamily="18" charset="-127"/>
                <a:ea typeface="a고딕14" panose="02020600000000000000" pitchFamily="18" charset="-127"/>
              </a:rPr>
              <a:t>위원 </a:t>
            </a:r>
            <a:r>
              <a:rPr lang="en-US" altLang="ko-KR" sz="1100" dirty="0">
                <a:solidFill>
                  <a:schemeClr val="tx1"/>
                </a:solidFill>
                <a:latin typeface="a고딕14" panose="02020600000000000000" pitchFamily="18" charset="-127"/>
                <a:ea typeface="a고딕14" panose="02020600000000000000" pitchFamily="18" charset="-127"/>
              </a:rPr>
              <a:t>1</a:t>
            </a:r>
            <a:r>
              <a:rPr lang="ko-KR" altLang="en-US" sz="1100" dirty="0">
                <a:solidFill>
                  <a:schemeClr val="tx1"/>
                </a:solidFill>
                <a:latin typeface="a고딕14" panose="02020600000000000000" pitchFamily="18" charset="-127"/>
                <a:ea typeface="a고딕14" panose="02020600000000000000" pitchFamily="18" charset="-127"/>
              </a:rPr>
              <a:t>인</a:t>
            </a:r>
            <a:r>
              <a:rPr lang="en-US" altLang="ko-KR" sz="1100" dirty="0">
                <a:solidFill>
                  <a:schemeClr val="tx1"/>
                </a:solidFill>
                <a:latin typeface="a고딕14" panose="02020600000000000000" pitchFamily="18" charset="-127"/>
                <a:ea typeface="a고딕14" panose="02020600000000000000" pitchFamily="18" charset="-127"/>
              </a:rPr>
              <a:t>, </a:t>
            </a:r>
            <a:br>
              <a:rPr lang="en-US" altLang="ko-KR" sz="1100" dirty="0">
                <a:solidFill>
                  <a:schemeClr val="tx1"/>
                </a:solidFill>
                <a:latin typeface="a고딕14" panose="02020600000000000000" pitchFamily="18" charset="-127"/>
                <a:ea typeface="a고딕14" panose="02020600000000000000" pitchFamily="18" charset="-127"/>
              </a:rPr>
            </a:br>
            <a:r>
              <a:rPr lang="ko-KR" altLang="en-US" sz="1100" dirty="0" err="1">
                <a:solidFill>
                  <a:schemeClr val="tx1"/>
                </a:solidFill>
                <a:latin typeface="a고딕14" panose="02020600000000000000" pitchFamily="18" charset="-127"/>
                <a:ea typeface="a고딕14" panose="02020600000000000000" pitchFamily="18" charset="-127"/>
              </a:rPr>
              <a:t>훈련교</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강사 </a:t>
            </a:r>
            <a:r>
              <a:rPr lang="en-US" altLang="ko-KR" sz="1100" dirty="0">
                <a:solidFill>
                  <a:schemeClr val="tx1"/>
                </a:solidFill>
                <a:latin typeface="a고딕14" panose="02020600000000000000" pitchFamily="18" charset="-127"/>
                <a:ea typeface="a고딕14" panose="02020600000000000000" pitchFamily="18" charset="-127"/>
              </a:rPr>
              <a:t>1</a:t>
            </a:r>
            <a:r>
              <a:rPr lang="ko-KR" altLang="en-US" sz="1100" dirty="0">
                <a:solidFill>
                  <a:schemeClr val="tx1"/>
                </a:solidFill>
                <a:latin typeface="a고딕14" panose="02020600000000000000" pitchFamily="18" charset="-127"/>
                <a:ea typeface="a고딕14" panose="02020600000000000000" pitchFamily="18" charset="-127"/>
              </a:rPr>
              <a:t>인</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산업별 현장전문가 </a:t>
            </a:r>
            <a:r>
              <a:rPr lang="en-US" altLang="ko-KR" sz="1100" dirty="0">
                <a:solidFill>
                  <a:schemeClr val="tx1"/>
                </a:solidFill>
                <a:latin typeface="a고딕14" panose="02020600000000000000" pitchFamily="18" charset="-127"/>
                <a:ea typeface="a고딕14" panose="02020600000000000000" pitchFamily="18" charset="-127"/>
              </a:rPr>
              <a:t>1</a:t>
            </a:r>
            <a:r>
              <a:rPr lang="ko-KR" altLang="en-US" sz="1100" dirty="0">
                <a:solidFill>
                  <a:schemeClr val="tx1"/>
                </a:solidFill>
                <a:latin typeface="a고딕14" panose="02020600000000000000" pitchFamily="18" charset="-127"/>
                <a:ea typeface="a고딕14" panose="02020600000000000000" pitchFamily="18" charset="-127"/>
              </a:rPr>
              <a:t>인 총 </a:t>
            </a:r>
            <a:r>
              <a:rPr lang="en-US" altLang="ko-KR" sz="1100" dirty="0">
                <a:solidFill>
                  <a:schemeClr val="tx1"/>
                </a:solidFill>
                <a:latin typeface="a고딕14" panose="02020600000000000000" pitchFamily="18" charset="-127"/>
                <a:ea typeface="a고딕14" panose="02020600000000000000" pitchFamily="18" charset="-127"/>
              </a:rPr>
              <a:t>3</a:t>
            </a:r>
            <a:r>
              <a:rPr lang="ko-KR" altLang="en-US" sz="1100" dirty="0">
                <a:solidFill>
                  <a:schemeClr val="tx1"/>
                </a:solidFill>
                <a:latin typeface="a고딕14" panose="02020600000000000000" pitchFamily="18" charset="-127"/>
                <a:ea typeface="a고딕14" panose="02020600000000000000" pitchFamily="18" charset="-127"/>
              </a:rPr>
              <a:t>인 예정 </a:t>
            </a:r>
            <a:br>
              <a:rPr lang="en-US" altLang="ko-KR" sz="1100" dirty="0">
                <a:solidFill>
                  <a:schemeClr val="tx1"/>
                </a:solidFill>
                <a:latin typeface="a고딕14" panose="02020600000000000000" pitchFamily="18" charset="-127"/>
                <a:ea typeface="a고딕14" panose="02020600000000000000" pitchFamily="18" charset="-127"/>
              </a:rPr>
            </a:br>
            <a:r>
              <a:rPr lang="en-US" altLang="ko-KR" sz="1000" dirty="0">
                <a:solidFill>
                  <a:schemeClr val="tx1"/>
                </a:solidFill>
                <a:latin typeface="a고딕14" panose="02020600000000000000" pitchFamily="18" charset="-127"/>
                <a:ea typeface="a고딕14" panose="02020600000000000000" pitchFamily="18" charset="-127"/>
              </a:rPr>
              <a:t>* </a:t>
            </a:r>
            <a:r>
              <a:rPr lang="ko-KR" altLang="en-US" sz="1000" dirty="0">
                <a:solidFill>
                  <a:schemeClr val="tx1"/>
                </a:solidFill>
                <a:latin typeface="a고딕14" panose="02020600000000000000" pitchFamily="18" charset="-127"/>
                <a:ea typeface="a고딕14" panose="02020600000000000000" pitchFamily="18" charset="-127"/>
              </a:rPr>
              <a:t>필요시 </a:t>
            </a:r>
            <a:r>
              <a:rPr lang="ko-KR" altLang="en-US" sz="1000" dirty="0" err="1">
                <a:solidFill>
                  <a:schemeClr val="tx1"/>
                </a:solidFill>
                <a:latin typeface="a고딕14" panose="02020600000000000000" pitchFamily="18" charset="-127"/>
                <a:ea typeface="a고딕14" panose="02020600000000000000" pitchFamily="18" charset="-127"/>
              </a:rPr>
              <a:t>온평원</a:t>
            </a:r>
            <a:r>
              <a:rPr lang="ko-KR" altLang="en-US" sz="1000" dirty="0">
                <a:solidFill>
                  <a:schemeClr val="tx1"/>
                </a:solidFill>
                <a:latin typeface="a고딕14" panose="02020600000000000000" pitchFamily="18" charset="-127"/>
                <a:ea typeface="a고딕14" panose="02020600000000000000" pitchFamily="18" charset="-127"/>
              </a:rPr>
              <a:t> 분야별 담당자 추가 방안 검토</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56" name="타원 55">
            <a:extLst>
              <a:ext uri="{FF2B5EF4-FFF2-40B4-BE49-F238E27FC236}">
                <a16:creationId xmlns:a16="http://schemas.microsoft.com/office/drawing/2014/main" id="{F09F97F3-2E5B-6CB6-ACEC-DEF3F037E108}"/>
              </a:ext>
            </a:extLst>
          </p:cNvPr>
          <p:cNvSpPr/>
          <p:nvPr/>
        </p:nvSpPr>
        <p:spPr>
          <a:xfrm>
            <a:off x="5077631" y="4191349"/>
            <a:ext cx="277715" cy="277715"/>
          </a:xfrm>
          <a:prstGeom prst="ellipse">
            <a:avLst/>
          </a:prstGeom>
          <a:solidFill>
            <a:schemeClr val="bg1"/>
          </a:solidFill>
          <a:ln>
            <a:solidFill>
              <a:srgbClr val="3061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sz="1400" dirty="0">
                <a:solidFill>
                  <a:srgbClr val="3061A3"/>
                </a:solidFill>
                <a:latin typeface="a고딕18" panose="02020600000000000000" pitchFamily="18" charset="-127"/>
                <a:ea typeface="a고딕18" panose="02020600000000000000" pitchFamily="18" charset="-127"/>
              </a:rPr>
              <a:t>2</a:t>
            </a:r>
            <a:endParaRPr lang="ko-KR" altLang="en-US" sz="1400" dirty="0">
              <a:solidFill>
                <a:srgbClr val="3061A3"/>
              </a:solidFill>
              <a:latin typeface="a고딕18" panose="02020600000000000000" pitchFamily="18" charset="-127"/>
              <a:ea typeface="a고딕18" panose="02020600000000000000" pitchFamily="18" charset="-127"/>
            </a:endParaRPr>
          </a:p>
        </p:txBody>
      </p:sp>
      <p:sp>
        <p:nvSpPr>
          <p:cNvPr id="57" name="직사각형 56">
            <a:extLst>
              <a:ext uri="{FF2B5EF4-FFF2-40B4-BE49-F238E27FC236}">
                <a16:creationId xmlns:a16="http://schemas.microsoft.com/office/drawing/2014/main" id="{AE86A4DD-FDE7-7E73-B72D-3E079F5D8597}"/>
              </a:ext>
            </a:extLst>
          </p:cNvPr>
          <p:cNvSpPr/>
          <p:nvPr/>
        </p:nvSpPr>
        <p:spPr>
          <a:xfrm>
            <a:off x="5206280" y="5217373"/>
            <a:ext cx="3948630" cy="357544"/>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sz="1100" dirty="0">
                <a:solidFill>
                  <a:schemeClr val="tx1"/>
                </a:solidFill>
                <a:latin typeface="a고딕14" panose="02020600000000000000" pitchFamily="18" charset="-127"/>
                <a:ea typeface="a고딕14" panose="02020600000000000000" pitchFamily="18" charset="-127"/>
              </a:rPr>
              <a:t>평가가 용이하도록 </a:t>
            </a:r>
            <a:endParaRPr lang="en-US" altLang="ko-KR" sz="1100" dirty="0">
              <a:solidFill>
                <a:schemeClr val="tx1"/>
              </a:solidFill>
              <a:latin typeface="a고딕14" panose="02020600000000000000" pitchFamily="18" charset="-127"/>
              <a:ea typeface="a고딕14" panose="02020600000000000000" pitchFamily="18" charset="-127"/>
            </a:endParaRPr>
          </a:p>
          <a:p>
            <a:pPr latinLnBrk="0">
              <a:buNone/>
            </a:pPr>
            <a:r>
              <a:rPr lang="ko-KR" altLang="en-US" sz="1100" dirty="0">
                <a:solidFill>
                  <a:schemeClr val="tx1"/>
                </a:solidFill>
                <a:latin typeface="a고딕14" panose="02020600000000000000" pitchFamily="18" charset="-127"/>
                <a:ea typeface="a고딕14" panose="02020600000000000000" pitchFamily="18" charset="-127"/>
              </a:rPr>
              <a:t>능력단위를 활용한 교육과정 명</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교육과정 정의를 함께 제시함</a:t>
            </a:r>
            <a:endParaRPr lang="en-US" altLang="ko-KR" sz="1100" dirty="0">
              <a:solidFill>
                <a:schemeClr val="tx1"/>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1092852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C237F-A972-5FA1-B4ED-196791257F83}"/>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EE98A86-93B6-8360-C6EA-44E8023F26D0}"/>
              </a:ext>
            </a:extLst>
          </p:cNvPr>
          <p:cNvSpPr>
            <a:spLocks noGrp="1"/>
          </p:cNvSpPr>
          <p:nvPr>
            <p:ph type="body" sz="quarter" idx="12"/>
          </p:nvPr>
        </p:nvSpPr>
        <p:spPr/>
        <p:txBody>
          <a:bodyPr/>
          <a:lstStyle/>
          <a:p>
            <a:pPr latinLnBrk="0"/>
            <a:r>
              <a:rPr lang="ko-KR" altLang="en-US" sz="1800" dirty="0"/>
              <a:t>전문가 평가 점수 총합에 </a:t>
            </a:r>
            <a:r>
              <a:rPr lang="en-US" altLang="ko-KR" sz="1800" dirty="0"/>
              <a:t>‘24</a:t>
            </a:r>
            <a:r>
              <a:rPr lang="ko-KR" altLang="en-US" sz="1800" dirty="0"/>
              <a:t>년도 </a:t>
            </a:r>
            <a:r>
              <a:rPr lang="ko-KR" altLang="en-US" sz="1800" dirty="0" err="1"/>
              <a:t>세분류</a:t>
            </a:r>
            <a:r>
              <a:rPr lang="ko-KR" altLang="en-US" sz="1800" dirty="0"/>
              <a:t> 수요조사 순위 기반 가중치를 적용함으로써</a:t>
            </a:r>
            <a:r>
              <a:rPr lang="en-US" altLang="ko-KR" sz="1800" dirty="0"/>
              <a:t>, </a:t>
            </a:r>
            <a:r>
              <a:rPr lang="ko-KR" altLang="en-US" sz="1800" dirty="0">
                <a:solidFill>
                  <a:srgbClr val="0070C0"/>
                </a:solidFill>
              </a:rPr>
              <a:t>수요조사 대상 능력단위 </a:t>
            </a:r>
            <a:r>
              <a:rPr lang="en-US" altLang="ko-KR" sz="1800" dirty="0">
                <a:solidFill>
                  <a:srgbClr val="0070C0"/>
                </a:solidFill>
              </a:rPr>
              <a:t>760</a:t>
            </a:r>
            <a:r>
              <a:rPr lang="ko-KR" altLang="en-US" sz="1800" dirty="0">
                <a:solidFill>
                  <a:srgbClr val="0070C0"/>
                </a:solidFill>
              </a:rPr>
              <a:t>개를 도출</a:t>
            </a:r>
            <a:r>
              <a:rPr lang="ko-KR" altLang="en-US" sz="1800" dirty="0"/>
              <a:t>하겠음</a:t>
            </a:r>
          </a:p>
        </p:txBody>
      </p:sp>
      <p:sp>
        <p:nvSpPr>
          <p:cNvPr id="5" name="텍스트 개체 틀 4">
            <a:extLst>
              <a:ext uri="{FF2B5EF4-FFF2-40B4-BE49-F238E27FC236}">
                <a16:creationId xmlns:a16="http://schemas.microsoft.com/office/drawing/2014/main" id="{9162725D-A017-9949-0EF0-A6051881ECF3}"/>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530911DD-E243-08CC-02D8-10C0E485F62E}"/>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2A44A3C7-9B45-2CA1-A966-2AA80EF9D12D}"/>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수요조사 대상 능력단위 최종 도출 방법</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3A261386-9FC0-B916-7EEC-5675A370418C}"/>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82C0F512-58C8-DA31-C0E4-C497431DC0B6}"/>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수요조사 대상 능력단위 최종 도출</a:t>
            </a:r>
          </a:p>
        </p:txBody>
      </p:sp>
      <p:sp>
        <p:nvSpPr>
          <p:cNvPr id="12" name="직사각형 11">
            <a:extLst>
              <a:ext uri="{FF2B5EF4-FFF2-40B4-BE49-F238E27FC236}">
                <a16:creationId xmlns:a16="http://schemas.microsoft.com/office/drawing/2014/main" id="{5569E47B-9572-EA9E-172B-79AF31967F1B}"/>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2. </a:t>
            </a:r>
            <a:r>
              <a:rPr lang="ko-KR" altLang="en-US" sz="1100" dirty="0">
                <a:solidFill>
                  <a:srgbClr val="003F56"/>
                </a:solidFill>
                <a:latin typeface="a고딕14"/>
                <a:ea typeface="a고딕14"/>
              </a:rPr>
              <a:t>신규 과정개발 능력단위 도출</a:t>
            </a:r>
          </a:p>
        </p:txBody>
      </p:sp>
      <p:graphicFrame>
        <p:nvGraphicFramePr>
          <p:cNvPr id="9" name="표 8">
            <a:extLst>
              <a:ext uri="{FF2B5EF4-FFF2-40B4-BE49-F238E27FC236}">
                <a16:creationId xmlns:a16="http://schemas.microsoft.com/office/drawing/2014/main" id="{D6B1A5AE-25A1-5235-7245-8E21BF68E4E5}"/>
              </a:ext>
            </a:extLst>
          </p:cNvPr>
          <p:cNvGraphicFramePr>
            <a:graphicFrameLocks noGrp="1"/>
          </p:cNvGraphicFramePr>
          <p:nvPr>
            <p:extLst>
              <p:ext uri="{D42A27DB-BD31-4B8C-83A1-F6EECF244321}">
                <p14:modId xmlns:p14="http://schemas.microsoft.com/office/powerpoint/2010/main" val="933085794"/>
              </p:ext>
            </p:extLst>
          </p:nvPr>
        </p:nvGraphicFramePr>
        <p:xfrm>
          <a:off x="564262" y="2107784"/>
          <a:ext cx="8812677" cy="2224800"/>
        </p:xfrm>
        <a:graphic>
          <a:graphicData uri="http://schemas.openxmlformats.org/drawingml/2006/table">
            <a:tbl>
              <a:tblPr/>
              <a:tblGrid>
                <a:gridCol w="530869">
                  <a:extLst>
                    <a:ext uri="{9D8B030D-6E8A-4147-A177-3AD203B41FA5}">
                      <a16:colId xmlns:a16="http://schemas.microsoft.com/office/drawing/2014/main" val="842276980"/>
                    </a:ext>
                  </a:extLst>
                </a:gridCol>
                <a:gridCol w="530869">
                  <a:extLst>
                    <a:ext uri="{9D8B030D-6E8A-4147-A177-3AD203B41FA5}">
                      <a16:colId xmlns:a16="http://schemas.microsoft.com/office/drawing/2014/main" val="3979347348"/>
                    </a:ext>
                  </a:extLst>
                </a:gridCol>
                <a:gridCol w="745330">
                  <a:extLst>
                    <a:ext uri="{9D8B030D-6E8A-4147-A177-3AD203B41FA5}">
                      <a16:colId xmlns:a16="http://schemas.microsoft.com/office/drawing/2014/main" val="2488187982"/>
                    </a:ext>
                  </a:extLst>
                </a:gridCol>
                <a:gridCol w="1353934">
                  <a:extLst>
                    <a:ext uri="{9D8B030D-6E8A-4147-A177-3AD203B41FA5}">
                      <a16:colId xmlns:a16="http://schemas.microsoft.com/office/drawing/2014/main" val="264908511"/>
                    </a:ext>
                  </a:extLst>
                </a:gridCol>
                <a:gridCol w="459865">
                  <a:extLst>
                    <a:ext uri="{9D8B030D-6E8A-4147-A177-3AD203B41FA5}">
                      <a16:colId xmlns:a16="http://schemas.microsoft.com/office/drawing/2014/main" val="1807820021"/>
                    </a:ext>
                  </a:extLst>
                </a:gridCol>
                <a:gridCol w="1635052">
                  <a:extLst>
                    <a:ext uri="{9D8B030D-6E8A-4147-A177-3AD203B41FA5}">
                      <a16:colId xmlns:a16="http://schemas.microsoft.com/office/drawing/2014/main" val="375778904"/>
                    </a:ext>
                  </a:extLst>
                </a:gridCol>
                <a:gridCol w="567095">
                  <a:extLst>
                    <a:ext uri="{9D8B030D-6E8A-4147-A177-3AD203B41FA5}">
                      <a16:colId xmlns:a16="http://schemas.microsoft.com/office/drawing/2014/main" val="1237343317"/>
                    </a:ext>
                  </a:extLst>
                </a:gridCol>
                <a:gridCol w="2197663">
                  <a:extLst>
                    <a:ext uri="{9D8B030D-6E8A-4147-A177-3AD203B41FA5}">
                      <a16:colId xmlns:a16="http://schemas.microsoft.com/office/drawing/2014/main" val="2022686884"/>
                    </a:ext>
                  </a:extLst>
                </a:gridCol>
                <a:gridCol w="792000">
                  <a:extLst>
                    <a:ext uri="{9D8B030D-6E8A-4147-A177-3AD203B41FA5}">
                      <a16:colId xmlns:a16="http://schemas.microsoft.com/office/drawing/2014/main" val="2760624910"/>
                    </a:ext>
                  </a:extLst>
                </a:gridCol>
              </a:tblGrid>
              <a:tr h="117933">
                <a:tc gridSpan="6">
                  <a:txBody>
                    <a:bodyPr/>
                    <a:lstStyle/>
                    <a:p>
                      <a:pPr algn="ctr" fontAlgn="ctr"/>
                      <a:r>
                        <a:rPr lang="en-US" sz="1000" b="1" i="0" u="none" strike="noStrike" dirty="0">
                          <a:solidFill>
                            <a:srgbClr val="FFFFFF"/>
                          </a:solidFill>
                          <a:effectLst/>
                          <a:latin typeface="+mj-ea"/>
                          <a:ea typeface="+mj-ea"/>
                        </a:rPr>
                        <a:t>NCS</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AD4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fontAlgn="ctr"/>
                      <a:r>
                        <a:rPr lang="ko-KR" altLang="en-US" sz="1000" b="1" i="0" u="none" strike="noStrike" dirty="0">
                          <a:solidFill>
                            <a:srgbClr val="FFFFFF"/>
                          </a:solidFill>
                          <a:effectLst/>
                          <a:latin typeface="+mj-ea"/>
                          <a:ea typeface="+mj-ea"/>
                        </a:rPr>
                        <a:t>평가 점수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p>
                      <a:pPr algn="ctr" fontAlgn="ctr"/>
                      <a:r>
                        <a:rPr lang="ko-KR" altLang="en-US" sz="1000" b="1" i="0" u="none" strike="noStrike" dirty="0">
                          <a:solidFill>
                            <a:srgbClr val="FFFFFF"/>
                          </a:solidFill>
                          <a:effectLst/>
                          <a:latin typeface="+mj-ea"/>
                          <a:ea typeface="+mj-ea"/>
                        </a:rPr>
                        <a:t>교육과정명</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fontAlgn="ctr"/>
                      <a:r>
                        <a:rPr lang="ko-KR" altLang="en-US" sz="1000" b="1" i="0" u="none" strike="noStrike" dirty="0">
                          <a:solidFill>
                            <a:srgbClr val="FFFFFF"/>
                          </a:solidFill>
                          <a:effectLst/>
                          <a:latin typeface="+mj-ea"/>
                          <a:ea typeface="+mj-ea"/>
                        </a:rPr>
                        <a:t>총점</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135531487"/>
                  </a:ext>
                </a:extLst>
              </a:tr>
              <a:tr h="117933">
                <a:tc>
                  <a:txBody>
                    <a:bodyPr/>
                    <a:lstStyle/>
                    <a:p>
                      <a:pPr algn="ctr" fontAlgn="ctr"/>
                      <a:r>
                        <a:rPr lang="ko-KR" altLang="en-US" sz="1000" b="1" i="0" u="none" strike="noStrike" dirty="0">
                          <a:solidFill>
                            <a:srgbClr val="000000"/>
                          </a:solidFill>
                          <a:effectLst/>
                          <a:latin typeface="+mj-ea"/>
                          <a:ea typeface="+mj-ea"/>
                        </a:rPr>
                        <a:t>대분류</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a:solidFill>
                            <a:srgbClr val="000000"/>
                          </a:solidFill>
                          <a:effectLst/>
                          <a:latin typeface="+mj-ea"/>
                          <a:ea typeface="+mj-ea"/>
                        </a:rPr>
                        <a:t>중분류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a:solidFill>
                            <a:srgbClr val="000000"/>
                          </a:solidFill>
                          <a:effectLst/>
                          <a:latin typeface="+mj-ea"/>
                          <a:ea typeface="+mj-ea"/>
                        </a:rPr>
                        <a:t>소분류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err="1">
                          <a:solidFill>
                            <a:srgbClr val="000000"/>
                          </a:solidFill>
                          <a:effectLst/>
                          <a:latin typeface="+mj-ea"/>
                          <a:ea typeface="+mj-ea"/>
                        </a:rPr>
                        <a:t>세분류</a:t>
                      </a:r>
                      <a:endParaRPr lang="ko-KR" altLang="en-US" sz="1000" b="1"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err="1">
                          <a:solidFill>
                            <a:srgbClr val="000000"/>
                          </a:solidFill>
                          <a:effectLst/>
                          <a:latin typeface="+mj-ea"/>
                          <a:ea typeface="+mj-ea"/>
                        </a:rPr>
                        <a:t>세분류</a:t>
                      </a:r>
                      <a:r>
                        <a:rPr lang="ko-KR" altLang="en-US" sz="1000" b="1" i="0" u="none" strike="noStrike" dirty="0">
                          <a:solidFill>
                            <a:srgbClr val="000000"/>
                          </a:solidFill>
                          <a:effectLst/>
                          <a:latin typeface="+mj-ea"/>
                          <a:ea typeface="+mj-ea"/>
                        </a:rPr>
                        <a:t> </a:t>
                      </a:r>
                      <a:endParaRPr lang="en-US" altLang="ko-KR" sz="1000" b="1" i="0" u="none" strike="noStrike" dirty="0">
                        <a:solidFill>
                          <a:srgbClr val="000000"/>
                        </a:solidFill>
                        <a:effectLst/>
                        <a:latin typeface="+mj-ea"/>
                        <a:ea typeface="+mj-ea"/>
                      </a:endParaRPr>
                    </a:p>
                    <a:p>
                      <a:pPr algn="ctr" fontAlgn="ctr"/>
                      <a:r>
                        <a:rPr lang="ko-KR" altLang="en-US" sz="1000" b="1" i="0" u="none" strike="noStrike" dirty="0">
                          <a:solidFill>
                            <a:srgbClr val="000000"/>
                          </a:solidFill>
                          <a:effectLst/>
                          <a:latin typeface="+mj-ea"/>
                          <a:ea typeface="+mj-ea"/>
                        </a:rPr>
                        <a:t>가중치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a:solidFill>
                            <a:srgbClr val="000000"/>
                          </a:solidFill>
                          <a:effectLst/>
                          <a:latin typeface="+mj-ea"/>
                          <a:ea typeface="+mj-ea"/>
                        </a:rPr>
                        <a:t>능력단위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a:solidFill>
                            <a:srgbClr val="000000"/>
                          </a:solidFill>
                          <a:effectLst/>
                          <a:latin typeface="+mj-ea"/>
                          <a:ea typeface="+mj-ea"/>
                        </a:rPr>
                        <a:t>총합</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fontAlgn="ctr"/>
                      <a:r>
                        <a:rPr lang="ko-KR" altLang="en-US" sz="1000" b="1" i="0" u="none" strike="noStrike" dirty="0" err="1">
                          <a:solidFill>
                            <a:srgbClr val="000000"/>
                          </a:solidFill>
                          <a:effectLst/>
                          <a:latin typeface="+mj-ea"/>
                          <a:ea typeface="+mj-ea"/>
                        </a:rPr>
                        <a:t>과정명</a:t>
                      </a:r>
                      <a:endParaRPr lang="ko-KR" altLang="en-US" sz="1000" b="1"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algn="ctr" fontAlgn="ctr"/>
                      <a:r>
                        <a:rPr lang="ko-KR" altLang="en-US" sz="1000" b="1" i="0" u="none" strike="noStrike" dirty="0" err="1">
                          <a:solidFill>
                            <a:srgbClr val="000000"/>
                          </a:solidFill>
                          <a:effectLst/>
                          <a:latin typeface="+mj-ea"/>
                          <a:ea typeface="+mj-ea"/>
                        </a:rPr>
                        <a:t>세분류</a:t>
                      </a:r>
                      <a:r>
                        <a:rPr lang="ko-KR" altLang="en-US" sz="1000" b="1" i="0" u="none" strike="noStrike" dirty="0">
                          <a:solidFill>
                            <a:srgbClr val="000000"/>
                          </a:solidFill>
                          <a:effectLst/>
                          <a:latin typeface="+mj-ea"/>
                          <a:ea typeface="+mj-ea"/>
                        </a:rPr>
                        <a:t> 가중치 </a:t>
                      </a:r>
                      <a:r>
                        <a:rPr lang="en-US" altLang="ko-KR" sz="1000" b="1" i="0" u="none" strike="noStrike" dirty="0">
                          <a:solidFill>
                            <a:srgbClr val="000000"/>
                          </a:solidFill>
                          <a:effectLst/>
                          <a:latin typeface="+mj-ea"/>
                          <a:ea typeface="+mj-ea"/>
                        </a:rPr>
                        <a:t>* </a:t>
                      </a:r>
                      <a:r>
                        <a:rPr lang="ko-KR" altLang="en-US" sz="1000" b="1" i="0" u="none" strike="noStrike" dirty="0">
                          <a:solidFill>
                            <a:srgbClr val="000000"/>
                          </a:solidFill>
                          <a:effectLst/>
                          <a:latin typeface="+mj-ea"/>
                          <a:ea typeface="+mj-ea"/>
                        </a:rPr>
                        <a:t>총합</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37581691"/>
                  </a:ext>
                </a:extLst>
              </a:tr>
              <a:tr h="117933">
                <a:tc>
                  <a:txBody>
                    <a:bodyPr/>
                    <a:lstStyle/>
                    <a:p>
                      <a:pPr algn="ctr" fontAlgn="ctr"/>
                      <a:r>
                        <a:rPr lang="ko-KR" altLang="en-US" sz="1000" b="0" i="0" u="none" strike="noStrike" dirty="0">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데이터아키텍처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9">
                  <a:txBody>
                    <a:bodyPr/>
                    <a:lstStyle/>
                    <a:p>
                      <a:pPr algn="ctr"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데이터베이스 검증</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데이터베이스 검증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9339666"/>
                  </a:ext>
                </a:extLst>
              </a:tr>
              <a:tr h="117933">
                <a:tc>
                  <a:txBody>
                    <a:bodyPr/>
                    <a:lstStyle/>
                    <a:p>
                      <a:pPr algn="ctr" fontAlgn="ctr"/>
                      <a:r>
                        <a:rPr lang="ko-KR" altLang="en-US" sz="1000" b="0" i="0" u="none" strike="noStrike" dirty="0">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시스템</a:t>
                      </a:r>
                      <a:r>
                        <a:rPr lang="en-US" altLang="ko-KR" sz="1000" b="0" i="0" u="none" strike="noStrike" dirty="0">
                          <a:solidFill>
                            <a:srgbClr val="000000"/>
                          </a:solidFill>
                          <a:effectLst/>
                          <a:latin typeface="+mj-ea"/>
                          <a:ea typeface="+mj-ea"/>
                        </a:rPr>
                        <a:t>SW</a:t>
                      </a:r>
                      <a:r>
                        <a:rPr lang="ko-KR" altLang="en-US" sz="1000" b="0" i="0" u="none" strike="noStrike" dirty="0">
                          <a:solidFill>
                            <a:srgbClr val="000000"/>
                          </a:solidFill>
                          <a:effectLst/>
                          <a:latin typeface="+mj-ea"/>
                          <a:ea typeface="+mj-ea"/>
                        </a:rPr>
                        <a:t>엔지니어링</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시스템</a:t>
                      </a:r>
                      <a:r>
                        <a:rPr lang="en-US" altLang="ko-KR" sz="1000" b="0" i="0" u="none" strike="noStrike">
                          <a:solidFill>
                            <a:srgbClr val="000000"/>
                          </a:solidFill>
                          <a:effectLst/>
                          <a:latin typeface="+mj-ea"/>
                          <a:ea typeface="+mj-ea"/>
                        </a:rPr>
                        <a:t>SW </a:t>
                      </a:r>
                      <a:r>
                        <a:rPr lang="ko-KR" altLang="en-US" sz="1000" b="0" i="0" u="none" strike="noStrike">
                          <a:solidFill>
                            <a:srgbClr val="000000"/>
                          </a:solidFill>
                          <a:effectLst/>
                          <a:latin typeface="+mj-ea"/>
                          <a:ea typeface="+mj-ea"/>
                        </a:rPr>
                        <a:t>아키텍처 설계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a:solidFill>
                            <a:srgbClr val="000000"/>
                          </a:solidFill>
                          <a:effectLst/>
                          <a:latin typeface="+mj-ea"/>
                          <a:ea typeface="+mj-ea"/>
                        </a:rPr>
                        <a:t>시스템 소프트웨어 아키텍처 설계 기초</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4242866"/>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통신기술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통신서비스</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특수이동통신서비스</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50" dirty="0">
                          <a:solidFill>
                            <a:srgbClr val="000000"/>
                          </a:solidFill>
                          <a:effectLst/>
                          <a:latin typeface="+mj-ea"/>
                          <a:ea typeface="+mj-ea"/>
                        </a:rPr>
                        <a:t>IoT</a:t>
                      </a:r>
                      <a:r>
                        <a:rPr lang="ko-KR" altLang="en-US" sz="1000" b="0" i="0" u="none" strike="noStrike" spc="-150" dirty="0">
                          <a:solidFill>
                            <a:srgbClr val="000000"/>
                          </a:solidFill>
                          <a:effectLst/>
                          <a:latin typeface="+mj-ea"/>
                          <a:ea typeface="+mj-ea"/>
                        </a:rPr>
                        <a:t>융합서비스 소프트웨어 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000" b="0" i="0" u="none" strike="noStrike" spc="-150" dirty="0">
                          <a:solidFill>
                            <a:srgbClr val="000000"/>
                          </a:solidFill>
                          <a:effectLst/>
                          <a:latin typeface="+mj-ea"/>
                          <a:ea typeface="+mj-ea"/>
                        </a:rPr>
                        <a:t>IoT</a:t>
                      </a:r>
                      <a:r>
                        <a:rPr lang="ko-KR" altLang="en-US" sz="1000" b="0" i="0" u="none" strike="noStrike" spc="-150" dirty="0">
                          <a:solidFill>
                            <a:srgbClr val="000000"/>
                          </a:solidFill>
                          <a:effectLst/>
                          <a:latin typeface="+mj-ea"/>
                          <a:ea typeface="+mj-ea"/>
                        </a:rPr>
                        <a:t>융합서비스 소프트웨어 설계와 구현 기초</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1760007"/>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시스템</a:t>
                      </a:r>
                      <a:r>
                        <a:rPr lang="en-US" altLang="ko-KR" sz="1000" b="0" i="0" u="none" strike="noStrike">
                          <a:solidFill>
                            <a:srgbClr val="000000"/>
                          </a:solidFill>
                          <a:effectLst/>
                          <a:latin typeface="+mj-ea"/>
                          <a:ea typeface="+mj-ea"/>
                        </a:rPr>
                        <a:t>SW</a:t>
                      </a:r>
                      <a:r>
                        <a:rPr lang="ko-KR" altLang="en-US" sz="1000" b="0" i="0" u="none" strike="noStrike">
                          <a:solidFill>
                            <a:srgbClr val="000000"/>
                          </a:solidFill>
                          <a:effectLst/>
                          <a:latin typeface="+mj-ea"/>
                          <a:ea typeface="+mj-ea"/>
                        </a:rPr>
                        <a:t>엔지니어링</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시스템 하드웨어 제어</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a:solidFill>
                            <a:srgbClr val="000000"/>
                          </a:solidFill>
                          <a:effectLst/>
                          <a:latin typeface="+mj-ea"/>
                          <a:ea typeface="+mj-ea"/>
                        </a:rPr>
                        <a:t>시스템 하드웨어 제어 실습</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53745"/>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디지털트윈</a:t>
                      </a: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디지털트윈구축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디지털트윈 알고리즘 실증 구현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a:solidFill>
                            <a:srgbClr val="000000"/>
                          </a:solidFill>
                          <a:effectLst/>
                          <a:latin typeface="+mj-ea"/>
                          <a:ea typeface="+mj-ea"/>
                        </a:rPr>
                        <a:t>디지털트윈 알고리즘 실증 구현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778700"/>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통신기술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통신서비스</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이동통신서비스</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이동통신서비스 보안관리</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이동통신서비스 보안관리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7527343"/>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spc="-150" dirty="0">
                          <a:solidFill>
                            <a:srgbClr val="000000"/>
                          </a:solidFill>
                          <a:effectLst/>
                          <a:latin typeface="+mj-ea"/>
                          <a:ea typeface="+mj-ea"/>
                        </a:rPr>
                        <a:t>클라우드 보안 관리</a:t>
                      </a:r>
                      <a:r>
                        <a:rPr lang="en-US" altLang="ko-KR" sz="1000" b="0" i="0" u="none" strike="noStrike" spc="-150" dirty="0">
                          <a:solidFill>
                            <a:srgbClr val="000000"/>
                          </a:solidFill>
                          <a:effectLst/>
                          <a:latin typeface="+mj-ea"/>
                          <a:ea typeface="+mj-ea"/>
                        </a:rPr>
                        <a:t>·</a:t>
                      </a:r>
                      <a:r>
                        <a:rPr lang="ko-KR" altLang="en-US" sz="1000" b="0" i="0" u="none" strike="noStrike" spc="-150" dirty="0">
                          <a:solidFill>
                            <a:srgbClr val="000000"/>
                          </a:solidFill>
                          <a:effectLst/>
                          <a:latin typeface="+mj-ea"/>
                          <a:ea typeface="+mj-ea"/>
                        </a:rPr>
                        <a:t>운영</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클라우드 애플리케이션 보안</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클라우드 애플리케이션 보안 전문가 과정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759490"/>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시스템</a:t>
                      </a:r>
                      <a:r>
                        <a:rPr lang="en-US" altLang="ko-KR" sz="1000" b="0" i="0" u="none" strike="noStrike" dirty="0">
                          <a:solidFill>
                            <a:srgbClr val="000000"/>
                          </a:solidFill>
                          <a:effectLst/>
                          <a:latin typeface="+mj-ea"/>
                          <a:ea typeface="+mj-ea"/>
                        </a:rPr>
                        <a:t>SW</a:t>
                      </a:r>
                      <a:r>
                        <a:rPr lang="ko-KR" altLang="en-US" sz="1000" b="0" i="0" u="none" strike="noStrike" dirty="0">
                          <a:solidFill>
                            <a:srgbClr val="000000"/>
                          </a:solidFill>
                          <a:effectLst/>
                          <a:latin typeface="+mj-ea"/>
                          <a:ea typeface="+mj-ea"/>
                        </a:rPr>
                        <a:t>엔지니어링</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시스템</a:t>
                      </a:r>
                      <a:r>
                        <a:rPr lang="en-US" altLang="ko-KR" sz="1000" b="0" i="0" u="none" strike="noStrike" dirty="0">
                          <a:solidFill>
                            <a:srgbClr val="000000"/>
                          </a:solidFill>
                          <a:effectLst/>
                          <a:latin typeface="+mj-ea"/>
                          <a:ea typeface="+mj-ea"/>
                        </a:rPr>
                        <a:t>SW </a:t>
                      </a:r>
                      <a:r>
                        <a:rPr lang="ko-KR" altLang="en-US" sz="1000" b="0" i="0" u="none" strike="noStrike" dirty="0">
                          <a:solidFill>
                            <a:srgbClr val="000000"/>
                          </a:solidFill>
                          <a:effectLst/>
                          <a:latin typeface="+mj-ea"/>
                          <a:ea typeface="+mj-ea"/>
                        </a:rPr>
                        <a:t>단위 모듈 구현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40</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시스템 소프트웨어 단위 모듈 구현 실습</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7652213"/>
                  </a:ext>
                </a:extLst>
              </a:tr>
              <a:tr h="117933">
                <a:tc>
                  <a:txBody>
                    <a:bodyPr/>
                    <a:lstStyle/>
                    <a:p>
                      <a:pPr algn="ctr" fontAlgn="ctr"/>
                      <a:r>
                        <a:rPr lang="ko-KR" altLang="en-US" sz="1000" b="0" i="0" u="none" strike="noStrike" dirty="0">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통신기술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유선통신구축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구내통신설비공사</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홈네트워크설비공사</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40</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홈네트워크설비공사 마스터 과정</a:t>
                      </a:r>
                      <a:r>
                        <a:rPr lang="en-US" altLang="ko-KR" sz="1000" b="0" i="0" u="none" strike="noStrike" spc="-150" dirty="0">
                          <a:solidFill>
                            <a:srgbClr val="000000"/>
                          </a:solidFill>
                          <a:effectLst/>
                          <a:latin typeface="+mj-ea"/>
                          <a:ea typeface="+mj-ea"/>
                        </a:rPr>
                        <a:t>: </a:t>
                      </a:r>
                      <a:r>
                        <a:rPr lang="ko-KR" altLang="en-US" sz="1000" b="0" i="0" u="none" strike="noStrike" spc="-150" dirty="0" err="1">
                          <a:solidFill>
                            <a:srgbClr val="000000"/>
                          </a:solidFill>
                          <a:effectLst/>
                          <a:latin typeface="+mj-ea"/>
                          <a:ea typeface="+mj-ea"/>
                        </a:rPr>
                        <a:t>스마트홈의</a:t>
                      </a:r>
                      <a:r>
                        <a:rPr lang="ko-KR" altLang="en-US" sz="1000" b="0" i="0" u="none" strike="noStrike" spc="-150" dirty="0">
                          <a:solidFill>
                            <a:srgbClr val="000000"/>
                          </a:solidFill>
                          <a:effectLst/>
                          <a:latin typeface="+mj-ea"/>
                          <a:ea typeface="+mj-ea"/>
                        </a:rPr>
                        <a:t> 배우기</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32783"/>
                  </a:ext>
                </a:extLst>
              </a:tr>
            </a:tbl>
          </a:graphicData>
        </a:graphic>
      </p:graphicFrame>
      <p:sp>
        <p:nvSpPr>
          <p:cNvPr id="10" name="직사각형 9">
            <a:extLst>
              <a:ext uri="{FF2B5EF4-FFF2-40B4-BE49-F238E27FC236}">
                <a16:creationId xmlns:a16="http://schemas.microsoft.com/office/drawing/2014/main" id="{435FF10A-8754-7499-2F3D-784C5E2AC19B}"/>
              </a:ext>
            </a:extLst>
          </p:cNvPr>
          <p:cNvSpPr/>
          <p:nvPr/>
        </p:nvSpPr>
        <p:spPr>
          <a:xfrm>
            <a:off x="5817097" y="2638424"/>
            <a:ext cx="576063" cy="1694159"/>
          </a:xfrm>
          <a:prstGeom prst="rect">
            <a:avLst/>
          </a:prstGeom>
          <a:solidFill>
            <a:srgbClr val="0070C0">
              <a:alpha val="20000"/>
            </a:srgb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cxnSp>
        <p:nvCxnSpPr>
          <p:cNvPr id="14" name="연결선: 꺾임 13">
            <a:extLst>
              <a:ext uri="{FF2B5EF4-FFF2-40B4-BE49-F238E27FC236}">
                <a16:creationId xmlns:a16="http://schemas.microsoft.com/office/drawing/2014/main" id="{6FE45E03-21A8-0804-A438-746083B9AB9F}"/>
              </a:ext>
            </a:extLst>
          </p:cNvPr>
          <p:cNvCxnSpPr>
            <a:cxnSpLocks/>
            <a:stCxn id="10" idx="2"/>
            <a:endCxn id="18" idx="0"/>
          </p:cNvCxnSpPr>
          <p:nvPr/>
        </p:nvCxnSpPr>
        <p:spPr>
          <a:xfrm rot="5400000">
            <a:off x="5175041" y="4110543"/>
            <a:ext cx="708049" cy="1152129"/>
          </a:xfrm>
          <a:prstGeom prst="bentConnector3">
            <a:avLst>
              <a:gd name="adj1" fmla="val 50000"/>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id="{63FA2D45-24A8-F786-C5AE-5266F0427855}"/>
              </a:ext>
            </a:extLst>
          </p:cNvPr>
          <p:cNvSpPr/>
          <p:nvPr/>
        </p:nvSpPr>
        <p:spPr>
          <a:xfrm>
            <a:off x="128655" y="5040632"/>
            <a:ext cx="9648689" cy="43204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buNone/>
            </a:pPr>
            <a:r>
              <a:rPr lang="en-US" altLang="ko-KR" sz="1600" b="1" dirty="0">
                <a:solidFill>
                  <a:srgbClr val="0070C0"/>
                </a:solidFill>
                <a:latin typeface="+mj-ea"/>
                <a:ea typeface="+mj-ea"/>
              </a:rPr>
              <a:t>“</a:t>
            </a:r>
            <a:r>
              <a:rPr lang="ko-KR" altLang="en-US" sz="1600" b="1" dirty="0">
                <a:solidFill>
                  <a:srgbClr val="0070C0"/>
                </a:solidFill>
                <a:latin typeface="+mj-ea"/>
                <a:ea typeface="+mj-ea"/>
              </a:rPr>
              <a:t>능력단위 평가점수에 </a:t>
            </a:r>
            <a:r>
              <a:rPr lang="en-US" altLang="ko-KR" sz="1600" b="1" dirty="0">
                <a:solidFill>
                  <a:srgbClr val="0070C0"/>
                </a:solidFill>
                <a:latin typeface="+mj-ea"/>
                <a:ea typeface="+mj-ea"/>
              </a:rPr>
              <a:t>‘24</a:t>
            </a:r>
            <a:r>
              <a:rPr lang="ko-KR" altLang="en-US" sz="1600" b="1" dirty="0">
                <a:solidFill>
                  <a:srgbClr val="0070C0"/>
                </a:solidFill>
                <a:latin typeface="+mj-ea"/>
                <a:ea typeface="+mj-ea"/>
              </a:rPr>
              <a:t>년도 </a:t>
            </a:r>
            <a:r>
              <a:rPr lang="ko-KR" altLang="en-US" sz="1600" b="1" dirty="0" err="1">
                <a:solidFill>
                  <a:srgbClr val="0070C0"/>
                </a:solidFill>
                <a:latin typeface="+mj-ea"/>
                <a:ea typeface="+mj-ea"/>
              </a:rPr>
              <a:t>세분류</a:t>
            </a:r>
            <a:r>
              <a:rPr lang="ko-KR" altLang="en-US" sz="1600" b="1" dirty="0">
                <a:solidFill>
                  <a:srgbClr val="0070C0"/>
                </a:solidFill>
                <a:latin typeface="+mj-ea"/>
                <a:ea typeface="+mj-ea"/>
              </a:rPr>
              <a:t> 수요조사 순위를 반영한 가중치를 적용하여 최종 순위를 산정하겠음</a:t>
            </a:r>
            <a:r>
              <a:rPr lang="en-US" altLang="ko-KR" sz="1600" b="1" dirty="0">
                <a:solidFill>
                  <a:srgbClr val="0070C0"/>
                </a:solidFill>
                <a:latin typeface="+mj-ea"/>
                <a:ea typeface="+mj-ea"/>
              </a:rPr>
              <a:t>”</a:t>
            </a:r>
            <a:endParaRPr lang="ko-KR" altLang="en-US" sz="1600" b="1" dirty="0">
              <a:solidFill>
                <a:srgbClr val="0070C0"/>
              </a:solidFill>
              <a:latin typeface="+mj-ea"/>
              <a:ea typeface="+mj-ea"/>
            </a:endParaRPr>
          </a:p>
        </p:txBody>
      </p:sp>
      <p:sp>
        <p:nvSpPr>
          <p:cNvPr id="31" name="TextBox 30">
            <a:extLst>
              <a:ext uri="{FF2B5EF4-FFF2-40B4-BE49-F238E27FC236}">
                <a16:creationId xmlns:a16="http://schemas.microsoft.com/office/drawing/2014/main" id="{3C7AAADA-217A-5B26-6CE3-B79E0AB7236C}"/>
              </a:ext>
            </a:extLst>
          </p:cNvPr>
          <p:cNvSpPr txBox="1"/>
          <p:nvPr/>
        </p:nvSpPr>
        <p:spPr>
          <a:xfrm>
            <a:off x="757839" y="5347305"/>
            <a:ext cx="8749098" cy="1147591"/>
          </a:xfrm>
          <a:prstGeom prst="rect">
            <a:avLst/>
          </a:prstGeom>
          <a:noFill/>
        </p:spPr>
        <p:txBody>
          <a:bodyPr wrap="square" rtlCol="0" anchor="ctr">
            <a:noAutofit/>
          </a:bodyPr>
          <a:lstStyle/>
          <a:p>
            <a:pPr marL="182563" indent="-182563" algn="l" latinLnBrk="0">
              <a:spcAft>
                <a:spcPts val="600"/>
              </a:spcAft>
              <a:buFont typeface="Arial" panose="020B0604020202020204" pitchFamily="34" charset="0"/>
              <a:buChar char="•"/>
            </a:pPr>
            <a:r>
              <a:rPr lang="ko-KR" altLang="en-US" dirty="0" err="1">
                <a:latin typeface="+mj-ea"/>
                <a:ea typeface="+mj-ea"/>
              </a:rPr>
              <a:t>세분류</a:t>
            </a:r>
            <a:r>
              <a:rPr lang="ko-KR" altLang="en-US" dirty="0">
                <a:latin typeface="+mj-ea"/>
                <a:ea typeface="+mj-ea"/>
              </a:rPr>
              <a:t> 수요는 높지만</a:t>
            </a:r>
            <a:r>
              <a:rPr lang="en-US" altLang="ko-KR" dirty="0">
                <a:latin typeface="+mj-ea"/>
                <a:ea typeface="+mj-ea"/>
              </a:rPr>
              <a:t> </a:t>
            </a:r>
            <a:r>
              <a:rPr lang="ko-KR" altLang="en-US" dirty="0">
                <a:latin typeface="+mj-ea"/>
                <a:ea typeface="+mj-ea"/>
              </a:rPr>
              <a:t>능력단위 수요가 낮은 경우</a:t>
            </a:r>
            <a:r>
              <a:rPr lang="en-US" altLang="ko-KR" dirty="0">
                <a:latin typeface="+mj-ea"/>
                <a:ea typeface="+mj-ea"/>
              </a:rPr>
              <a:t>, </a:t>
            </a:r>
            <a:r>
              <a:rPr lang="ko-KR" altLang="en-US" dirty="0">
                <a:latin typeface="+mj-ea"/>
                <a:ea typeface="+mj-ea"/>
              </a:rPr>
              <a:t>또는 </a:t>
            </a:r>
            <a:r>
              <a:rPr lang="ko-KR" altLang="en-US" dirty="0" err="1">
                <a:latin typeface="+mj-ea"/>
                <a:ea typeface="+mj-ea"/>
              </a:rPr>
              <a:t>세분류</a:t>
            </a:r>
            <a:r>
              <a:rPr lang="ko-KR" altLang="en-US" dirty="0">
                <a:latin typeface="+mj-ea"/>
                <a:ea typeface="+mj-ea"/>
              </a:rPr>
              <a:t> 수요가 낮지만</a:t>
            </a:r>
            <a:r>
              <a:rPr lang="en-US" altLang="ko-KR" dirty="0">
                <a:latin typeface="+mj-ea"/>
                <a:ea typeface="+mj-ea"/>
              </a:rPr>
              <a:t> </a:t>
            </a:r>
            <a:r>
              <a:rPr lang="ko-KR" altLang="en-US" dirty="0">
                <a:latin typeface="+mj-ea"/>
                <a:ea typeface="+mj-ea"/>
              </a:rPr>
              <a:t>능력단위 수요가 높은 경우를 모두 고려하기 위함</a:t>
            </a:r>
            <a:endParaRPr lang="en-US" altLang="ko-KR" dirty="0">
              <a:latin typeface="+mj-ea"/>
              <a:ea typeface="+mj-ea"/>
            </a:endParaRPr>
          </a:p>
          <a:p>
            <a:pPr marL="182563" indent="-182563" algn="l" latinLnBrk="0">
              <a:spcAft>
                <a:spcPts val="600"/>
              </a:spcAft>
              <a:buFont typeface="Arial" panose="020B0604020202020204" pitchFamily="34" charset="0"/>
              <a:buChar char="•"/>
            </a:pPr>
            <a:r>
              <a:rPr lang="ko-KR" altLang="en-US" dirty="0">
                <a:latin typeface="+mj-ea"/>
                <a:ea typeface="+mj-ea"/>
              </a:rPr>
              <a:t>가중치 부여 방식은 용역 수행 과정에서 시뮬레이션을 통해 몇 가지 </a:t>
            </a:r>
            <a:r>
              <a:rPr lang="en-US" altLang="ko-KR" dirty="0">
                <a:latin typeface="+mj-ea"/>
                <a:ea typeface="+mj-ea"/>
              </a:rPr>
              <a:t>(</a:t>
            </a:r>
            <a:r>
              <a:rPr lang="ko-KR" altLang="en-US" dirty="0">
                <a:latin typeface="+mj-ea"/>
                <a:ea typeface="+mj-ea"/>
              </a:rPr>
              <a:t>안</a:t>
            </a:r>
            <a:r>
              <a:rPr lang="en-US" altLang="ko-KR" dirty="0">
                <a:latin typeface="+mj-ea"/>
                <a:ea typeface="+mj-ea"/>
              </a:rPr>
              <a:t>)</a:t>
            </a:r>
            <a:r>
              <a:rPr lang="ko-KR" altLang="en-US" dirty="0">
                <a:latin typeface="+mj-ea"/>
                <a:ea typeface="+mj-ea"/>
              </a:rPr>
              <a:t>을 도출하고</a:t>
            </a:r>
            <a:r>
              <a:rPr lang="en-US" altLang="ko-KR" dirty="0">
                <a:latin typeface="+mj-ea"/>
                <a:ea typeface="+mj-ea"/>
              </a:rPr>
              <a:t>, </a:t>
            </a:r>
            <a:r>
              <a:rPr lang="ko-KR" altLang="en-US" dirty="0">
                <a:latin typeface="+mj-ea"/>
                <a:ea typeface="+mj-ea"/>
              </a:rPr>
              <a:t>이를 발주처와 협의하여 최종 확정하겠음</a:t>
            </a:r>
            <a:endParaRPr lang="en-US" altLang="ko-KR" dirty="0">
              <a:latin typeface="+mj-ea"/>
              <a:ea typeface="+mj-ea"/>
            </a:endParaRPr>
          </a:p>
          <a:p>
            <a:pPr marL="182563" indent="-182563" algn="l" latinLnBrk="0">
              <a:spcAft>
                <a:spcPts val="600"/>
              </a:spcAft>
              <a:buFont typeface="Arial" panose="020B0604020202020204" pitchFamily="34" charset="0"/>
              <a:buChar char="•"/>
            </a:pPr>
            <a:r>
              <a:rPr lang="ko-KR" altLang="en-US" dirty="0">
                <a:latin typeface="+mj-ea"/>
                <a:ea typeface="+mj-ea"/>
              </a:rPr>
              <a:t>확정된 가중치를 적용한 최종 순위에 따라</a:t>
            </a:r>
            <a:r>
              <a:rPr lang="en-US" altLang="ko-KR" dirty="0">
                <a:latin typeface="+mj-ea"/>
                <a:ea typeface="+mj-ea"/>
              </a:rPr>
              <a:t>,</a:t>
            </a:r>
            <a:r>
              <a:rPr lang="ko-KR" altLang="en-US" dirty="0">
                <a:latin typeface="+mj-ea"/>
                <a:ea typeface="+mj-ea"/>
              </a:rPr>
              <a:t> 수요조사 대상 능력단위 </a:t>
            </a:r>
            <a:r>
              <a:rPr lang="en-US" altLang="ko-KR" dirty="0">
                <a:latin typeface="+mj-ea"/>
                <a:ea typeface="+mj-ea"/>
              </a:rPr>
              <a:t>760</a:t>
            </a:r>
            <a:r>
              <a:rPr lang="ko-KR" altLang="en-US" dirty="0">
                <a:latin typeface="+mj-ea"/>
                <a:ea typeface="+mj-ea"/>
              </a:rPr>
              <a:t>개</a:t>
            </a:r>
            <a:r>
              <a:rPr lang="en-US" altLang="ko-KR" dirty="0">
                <a:latin typeface="+mj-ea"/>
                <a:ea typeface="+mj-ea"/>
              </a:rPr>
              <a:t>(</a:t>
            </a:r>
            <a:r>
              <a:rPr lang="ko-KR" altLang="en-US" dirty="0">
                <a:latin typeface="+mj-ea"/>
                <a:ea typeface="+mj-ea"/>
              </a:rPr>
              <a:t>디지털</a:t>
            </a:r>
            <a:r>
              <a:rPr lang="en-US" altLang="ko-KR" dirty="0">
                <a:latin typeface="+mj-lt"/>
                <a:ea typeface="+mj-ea"/>
              </a:rPr>
              <a:t>·</a:t>
            </a:r>
            <a:r>
              <a:rPr lang="ko-KR" altLang="en-US" dirty="0">
                <a:latin typeface="+mj-ea"/>
                <a:ea typeface="+mj-ea"/>
              </a:rPr>
              <a:t>첨단 약 </a:t>
            </a:r>
            <a:r>
              <a:rPr lang="en-US" altLang="ko-KR" dirty="0">
                <a:latin typeface="+mj-ea"/>
                <a:ea typeface="+mj-ea"/>
              </a:rPr>
              <a:t>440</a:t>
            </a:r>
            <a:r>
              <a:rPr lang="ko-KR" altLang="en-US" dirty="0">
                <a:latin typeface="+mj-ea"/>
                <a:ea typeface="+mj-ea"/>
              </a:rPr>
              <a:t>개</a:t>
            </a:r>
            <a:r>
              <a:rPr lang="en-US" altLang="ko-KR" dirty="0">
                <a:latin typeface="+mj-ea"/>
                <a:ea typeface="+mj-ea"/>
              </a:rPr>
              <a:t>, </a:t>
            </a:r>
            <a:r>
              <a:rPr lang="ko-KR" altLang="en-US" dirty="0">
                <a:latin typeface="+mj-ea"/>
                <a:ea typeface="+mj-ea"/>
              </a:rPr>
              <a:t>평생 약 </a:t>
            </a:r>
            <a:r>
              <a:rPr lang="en-US" altLang="ko-KR" dirty="0">
                <a:latin typeface="+mj-ea"/>
                <a:ea typeface="+mj-ea"/>
              </a:rPr>
              <a:t>320</a:t>
            </a:r>
            <a:r>
              <a:rPr lang="ko-KR" altLang="en-US" dirty="0">
                <a:latin typeface="+mj-ea"/>
                <a:ea typeface="+mj-ea"/>
              </a:rPr>
              <a:t>개</a:t>
            </a:r>
            <a:r>
              <a:rPr lang="en-US" altLang="ko-KR" dirty="0">
                <a:latin typeface="+mj-ea"/>
                <a:ea typeface="+mj-ea"/>
              </a:rPr>
              <a:t>)</a:t>
            </a:r>
            <a:r>
              <a:rPr lang="ko-KR" altLang="en-US" dirty="0">
                <a:latin typeface="+mj-ea"/>
                <a:ea typeface="+mj-ea"/>
              </a:rPr>
              <a:t>를 도출하겠음</a:t>
            </a:r>
            <a:endParaRPr lang="en-US" altLang="ko-KR" dirty="0">
              <a:latin typeface="+mj-ea"/>
              <a:ea typeface="+mj-ea"/>
            </a:endParaRPr>
          </a:p>
        </p:txBody>
      </p:sp>
      <p:sp>
        <p:nvSpPr>
          <p:cNvPr id="26" name="직사각형 25">
            <a:extLst>
              <a:ext uri="{FF2B5EF4-FFF2-40B4-BE49-F238E27FC236}">
                <a16:creationId xmlns:a16="http://schemas.microsoft.com/office/drawing/2014/main" id="{F4FC42E0-CE9F-233A-C0A2-C991DB444382}"/>
              </a:ext>
            </a:extLst>
          </p:cNvPr>
          <p:cNvSpPr/>
          <p:nvPr/>
        </p:nvSpPr>
        <p:spPr>
          <a:xfrm>
            <a:off x="3727450" y="2638424"/>
            <a:ext cx="460375" cy="1694159"/>
          </a:xfrm>
          <a:prstGeom prst="rect">
            <a:avLst/>
          </a:prstGeom>
          <a:solidFill>
            <a:schemeClr val="accent2">
              <a:alpha val="2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buNone/>
            </a:pPr>
            <a:r>
              <a:rPr lang="ko-KR" altLang="en-US" dirty="0">
                <a:solidFill>
                  <a:srgbClr val="FF0000"/>
                </a:solidFill>
                <a:latin typeface="Arial Narrow" panose="020B0606020202030204" pitchFamily="34" charset="0"/>
                <a:ea typeface="a고딕14" panose="02020600000000000000" pitchFamily="18" charset="-127"/>
              </a:rPr>
              <a:t>추후</a:t>
            </a:r>
            <a:endParaRPr lang="en-US" altLang="ko-KR" dirty="0">
              <a:solidFill>
                <a:srgbClr val="FF0000"/>
              </a:solidFill>
              <a:latin typeface="Arial Narrow" panose="020B0606020202030204" pitchFamily="34" charset="0"/>
              <a:ea typeface="a고딕14" panose="02020600000000000000" pitchFamily="18" charset="-127"/>
            </a:endParaRPr>
          </a:p>
          <a:p>
            <a:pPr>
              <a:buNone/>
            </a:pPr>
            <a:r>
              <a:rPr lang="ko-KR" altLang="en-US" dirty="0">
                <a:solidFill>
                  <a:srgbClr val="FF0000"/>
                </a:solidFill>
                <a:latin typeface="Arial Narrow" panose="020B0606020202030204" pitchFamily="34" charset="0"/>
                <a:ea typeface="a고딕14" panose="02020600000000000000" pitchFamily="18" charset="-127"/>
              </a:rPr>
              <a:t>확정</a:t>
            </a:r>
          </a:p>
        </p:txBody>
      </p:sp>
    </p:spTree>
    <p:extLst>
      <p:ext uri="{BB962C8B-B14F-4D97-AF65-F5344CB8AC3E}">
        <p14:creationId xmlns:p14="http://schemas.microsoft.com/office/powerpoint/2010/main" val="1215061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2C3E6-503A-4808-B4EE-7BED996172A0}"/>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180EB43-CB1C-41BC-A1BB-B9E4CF937B80}"/>
              </a:ext>
            </a:extLst>
          </p:cNvPr>
          <p:cNvSpPr>
            <a:spLocks noGrp="1"/>
          </p:cNvSpPr>
          <p:nvPr>
            <p:ph type="body" sz="quarter" idx="12"/>
          </p:nvPr>
        </p:nvSpPr>
        <p:spPr/>
        <p:txBody>
          <a:bodyPr/>
          <a:lstStyle/>
          <a:p>
            <a:pPr latinLnBrk="0"/>
            <a:r>
              <a:rPr lang="ko-KR" altLang="en-US" sz="1800" dirty="0"/>
              <a:t>개발과정의 </a:t>
            </a:r>
            <a:r>
              <a:rPr lang="en-US" altLang="ko-KR" sz="1800" dirty="0"/>
              <a:t>2</a:t>
            </a:r>
            <a:r>
              <a:rPr lang="ko-KR" altLang="en-US" sz="1800" dirty="0"/>
              <a:t>배수</a:t>
            </a:r>
            <a:r>
              <a:rPr lang="en-US" altLang="ko-KR" sz="1800" dirty="0"/>
              <a:t>(760</a:t>
            </a:r>
            <a:r>
              <a:rPr lang="ko-KR" altLang="en-US" sz="1800" dirty="0"/>
              <a:t>개</a:t>
            </a:r>
            <a:r>
              <a:rPr lang="en-US" altLang="ko-KR" sz="1800" dirty="0"/>
              <a:t>)</a:t>
            </a:r>
            <a:r>
              <a:rPr lang="ko-KR" altLang="en-US" sz="1800" dirty="0"/>
              <a:t>를 대상으로 수요조사를 실시하며</a:t>
            </a:r>
            <a:r>
              <a:rPr lang="en-US" altLang="ko-KR" sz="1800" dirty="0"/>
              <a:t>, </a:t>
            </a:r>
            <a:r>
              <a:rPr lang="ko-KR" altLang="en-US" sz="1800" dirty="0">
                <a:solidFill>
                  <a:srgbClr val="0070C0"/>
                </a:solidFill>
              </a:rPr>
              <a:t>수요조사 대상은 </a:t>
            </a:r>
            <a:r>
              <a:rPr lang="en-US" altLang="ko-KR" sz="1800" dirty="0">
                <a:solidFill>
                  <a:srgbClr val="0070C0"/>
                </a:solidFill>
              </a:rPr>
              <a:t>STEP </a:t>
            </a:r>
            <a:r>
              <a:rPr lang="ko-KR" altLang="en-US" sz="1800" dirty="0">
                <a:solidFill>
                  <a:srgbClr val="0070C0"/>
                </a:solidFill>
              </a:rPr>
              <a:t>학습자를 대상</a:t>
            </a:r>
            <a:r>
              <a:rPr lang="ko-KR" altLang="en-US" sz="1800" dirty="0"/>
              <a:t>으로 하되</a:t>
            </a:r>
            <a:r>
              <a:rPr lang="en-US" altLang="ko-KR" sz="1800" dirty="0"/>
              <a:t> </a:t>
            </a:r>
            <a:r>
              <a:rPr lang="ko-KR" altLang="en-US" dirty="0"/>
              <a:t>발주처와의 협의를 통해 최종 확정하겠음</a:t>
            </a:r>
            <a:endParaRPr lang="ko-KR" altLang="en-US" sz="1800" dirty="0"/>
          </a:p>
        </p:txBody>
      </p:sp>
      <p:sp>
        <p:nvSpPr>
          <p:cNvPr id="5" name="텍스트 개체 틀 4">
            <a:extLst>
              <a:ext uri="{FF2B5EF4-FFF2-40B4-BE49-F238E27FC236}">
                <a16:creationId xmlns:a16="http://schemas.microsoft.com/office/drawing/2014/main" id="{117CF82C-AAC1-03BC-3A57-9AA86E29A361}"/>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A7BC4F60-B1E9-F9AC-3DD8-BD5CDA3285B4}"/>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25C740BD-DD84-4F8D-B744-F030A5437403}"/>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수요조사 대상 및 문항개발</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0745C93A-DF45-A731-9578-E90BB9E3CF9B}"/>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BD8AD0F7-B30A-088A-D7A9-B777CF5F10D4}"/>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수요조사 문항 제작</a:t>
            </a:r>
          </a:p>
        </p:txBody>
      </p:sp>
      <p:sp>
        <p:nvSpPr>
          <p:cNvPr id="12" name="직사각형 11">
            <a:extLst>
              <a:ext uri="{FF2B5EF4-FFF2-40B4-BE49-F238E27FC236}">
                <a16:creationId xmlns:a16="http://schemas.microsoft.com/office/drawing/2014/main" id="{7972D3E1-8B6E-8FDE-A107-161AA1938052}"/>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3.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수요조사</a:t>
            </a:r>
            <a:endParaRPr lang="ko-KR" altLang="en-US" sz="1100" dirty="0">
              <a:solidFill>
                <a:srgbClr val="003F56"/>
              </a:solidFill>
              <a:latin typeface="a고딕14"/>
              <a:ea typeface="a고딕14"/>
            </a:endParaRPr>
          </a:p>
        </p:txBody>
      </p:sp>
      <p:grpSp>
        <p:nvGrpSpPr>
          <p:cNvPr id="23" name="그룹 22">
            <a:extLst>
              <a:ext uri="{FF2B5EF4-FFF2-40B4-BE49-F238E27FC236}">
                <a16:creationId xmlns:a16="http://schemas.microsoft.com/office/drawing/2014/main" id="{7811E1D0-B170-928A-51CE-8305118728ED}"/>
              </a:ext>
            </a:extLst>
          </p:cNvPr>
          <p:cNvGrpSpPr/>
          <p:nvPr/>
        </p:nvGrpSpPr>
        <p:grpSpPr>
          <a:xfrm>
            <a:off x="599021" y="2048731"/>
            <a:ext cx="4174946" cy="634280"/>
            <a:chOff x="599021" y="2048731"/>
            <a:chExt cx="4174946" cy="634280"/>
          </a:xfrm>
        </p:grpSpPr>
        <p:sp>
          <p:nvSpPr>
            <p:cNvPr id="6" name="직사각형 5">
              <a:extLst>
                <a:ext uri="{FF2B5EF4-FFF2-40B4-BE49-F238E27FC236}">
                  <a16:creationId xmlns:a16="http://schemas.microsoft.com/office/drawing/2014/main" id="{BD98904E-3262-EDA2-E478-10C021E03108}"/>
                </a:ext>
              </a:extLst>
            </p:cNvPr>
            <p:cNvSpPr/>
            <p:nvPr/>
          </p:nvSpPr>
          <p:spPr>
            <a:xfrm>
              <a:off x="599021" y="2048731"/>
              <a:ext cx="370519" cy="632571"/>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대상</a:t>
              </a:r>
            </a:p>
          </p:txBody>
        </p:sp>
        <p:sp>
          <p:nvSpPr>
            <p:cNvPr id="8" name="직사각형 7">
              <a:extLst>
                <a:ext uri="{FF2B5EF4-FFF2-40B4-BE49-F238E27FC236}">
                  <a16:creationId xmlns:a16="http://schemas.microsoft.com/office/drawing/2014/main" id="{C906251E-CBAA-4594-0249-F86AF00DDC0E}"/>
                </a:ext>
              </a:extLst>
            </p:cNvPr>
            <p:cNvSpPr/>
            <p:nvPr/>
          </p:nvSpPr>
          <p:spPr bwMode="auto">
            <a:xfrm>
              <a:off x="1057978" y="2050440"/>
              <a:ext cx="3715989" cy="632571"/>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22</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년 이후 훈련기관</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2023</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년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2024</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년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STEP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학습자 대상</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algn="l" latinLnBrk="0">
                <a:lnSpc>
                  <a:spcPct val="120000"/>
                </a:lnSpc>
                <a:spcAft>
                  <a:spcPts val="300"/>
                </a:spcAft>
                <a:buNone/>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 STEP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직무 과정 분야별로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 과정 이상 수강한 수강생</a:t>
              </a:r>
              <a:r>
                <a:rPr lang="en-US" altLang="ko-KR" sz="1050" baseline="3000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p>
          </p:txBody>
        </p:sp>
      </p:grpSp>
      <p:grpSp>
        <p:nvGrpSpPr>
          <p:cNvPr id="9" name="그룹 8">
            <a:extLst>
              <a:ext uri="{FF2B5EF4-FFF2-40B4-BE49-F238E27FC236}">
                <a16:creationId xmlns:a16="http://schemas.microsoft.com/office/drawing/2014/main" id="{8E402C89-546C-A68E-36AD-AC4CED4408DD}"/>
              </a:ext>
            </a:extLst>
          </p:cNvPr>
          <p:cNvGrpSpPr/>
          <p:nvPr/>
        </p:nvGrpSpPr>
        <p:grpSpPr>
          <a:xfrm>
            <a:off x="599021" y="3217197"/>
            <a:ext cx="4174946" cy="402414"/>
            <a:chOff x="599021" y="2778969"/>
            <a:chExt cx="3993616" cy="434753"/>
          </a:xfrm>
        </p:grpSpPr>
        <p:sp>
          <p:nvSpPr>
            <p:cNvPr id="10" name="직사각형 9">
              <a:extLst>
                <a:ext uri="{FF2B5EF4-FFF2-40B4-BE49-F238E27FC236}">
                  <a16:creationId xmlns:a16="http://schemas.microsoft.com/office/drawing/2014/main" id="{08A5998D-68AB-EB2F-409C-93F7BE0770A5}"/>
                </a:ext>
              </a:extLst>
            </p:cNvPr>
            <p:cNvSpPr/>
            <p:nvPr/>
          </p:nvSpPr>
          <p:spPr>
            <a:xfrm>
              <a:off x="599021" y="2778969"/>
              <a:ext cx="354426" cy="43200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설문</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기간</a:t>
              </a:r>
            </a:p>
          </p:txBody>
        </p:sp>
        <p:sp>
          <p:nvSpPr>
            <p:cNvPr id="13" name="직사각형 12">
              <a:extLst>
                <a:ext uri="{FF2B5EF4-FFF2-40B4-BE49-F238E27FC236}">
                  <a16:creationId xmlns:a16="http://schemas.microsoft.com/office/drawing/2014/main" id="{4B6F51EA-6483-1D5D-CEA5-D708D7E3A00E}"/>
                </a:ext>
              </a:extLst>
            </p:cNvPr>
            <p:cNvSpPr/>
            <p:nvPr/>
          </p:nvSpPr>
          <p:spPr bwMode="auto">
            <a:xfrm>
              <a:off x="1038044" y="2781722"/>
              <a:ext cx="3554593" cy="432000"/>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약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주</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(14</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일간</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p>
          </p:txBody>
        </p:sp>
      </p:grpSp>
      <p:grpSp>
        <p:nvGrpSpPr>
          <p:cNvPr id="14" name="그룹 13">
            <a:extLst>
              <a:ext uri="{FF2B5EF4-FFF2-40B4-BE49-F238E27FC236}">
                <a16:creationId xmlns:a16="http://schemas.microsoft.com/office/drawing/2014/main" id="{46E818F2-43A5-67FC-1055-E7B9CC372D1B}"/>
              </a:ext>
            </a:extLst>
          </p:cNvPr>
          <p:cNvGrpSpPr/>
          <p:nvPr/>
        </p:nvGrpSpPr>
        <p:grpSpPr>
          <a:xfrm>
            <a:off x="599021" y="3685497"/>
            <a:ext cx="4174946" cy="2013690"/>
            <a:chOff x="599021" y="3283585"/>
            <a:chExt cx="3993616" cy="2018584"/>
          </a:xfrm>
        </p:grpSpPr>
        <p:sp>
          <p:nvSpPr>
            <p:cNvPr id="15" name="직사각형 14">
              <a:extLst>
                <a:ext uri="{FF2B5EF4-FFF2-40B4-BE49-F238E27FC236}">
                  <a16:creationId xmlns:a16="http://schemas.microsoft.com/office/drawing/2014/main" id="{1E8E48F8-AEB8-7F6B-2FDF-9034471842D7}"/>
                </a:ext>
              </a:extLst>
            </p:cNvPr>
            <p:cNvSpPr/>
            <p:nvPr/>
          </p:nvSpPr>
          <p:spPr>
            <a:xfrm>
              <a:off x="599021" y="3285945"/>
              <a:ext cx="354426" cy="201622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조사</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방법</a:t>
              </a:r>
            </a:p>
          </p:txBody>
        </p:sp>
        <p:sp>
          <p:nvSpPr>
            <p:cNvPr id="16" name="직사각형 15">
              <a:extLst>
                <a:ext uri="{FF2B5EF4-FFF2-40B4-BE49-F238E27FC236}">
                  <a16:creationId xmlns:a16="http://schemas.microsoft.com/office/drawing/2014/main" id="{3E25069C-6911-ADF3-8DF6-43591BFF872C}"/>
                </a:ext>
              </a:extLst>
            </p:cNvPr>
            <p:cNvSpPr/>
            <p:nvPr/>
          </p:nvSpPr>
          <p:spPr bwMode="auto">
            <a:xfrm>
              <a:off x="1038044" y="3283585"/>
              <a:ext cx="3554593" cy="2016224"/>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5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온라인 설문</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r>
                <a:rPr lang="ko-KR" altLang="en-US" sz="1050" dirty="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모아폼</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sz="1050" dirty="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서베이몽키</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등 활용</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진행 하겠음</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5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E-</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러닝</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가상훈련 수강자 대상 설문지와</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훈련기관 대상 설문지를 구분하여 수요조사를 실시하겠음</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5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교육과정 별로 </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이러닝 개발 필요성</a:t>
              </a:r>
              <a:r>
                <a:rPr lang="en-US" altLang="ko-KR"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 </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수강의향</a:t>
              </a:r>
              <a:r>
                <a:rPr lang="en-US" altLang="ko-KR"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 </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가상훈련 필요성을 </a:t>
              </a:r>
              <a:r>
                <a:rPr lang="en-US" altLang="ko-KR"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5</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점 척도로 체크하도록 하겠음</a:t>
              </a:r>
              <a:endParaRPr lang="en-US" altLang="ko-KR"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5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도출된 교육과정이 많아 </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한번에 응답하기 어려운 대분류는 수요조사 집단을 나누어 평가</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하도록 하겠음</a:t>
              </a:r>
              <a:b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b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-&gt;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대분류 별 교육과정을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N</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개로 나누어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N</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개의 집단에 배포</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grpSp>
      <p:grpSp>
        <p:nvGrpSpPr>
          <p:cNvPr id="17" name="그룹 16">
            <a:extLst>
              <a:ext uri="{FF2B5EF4-FFF2-40B4-BE49-F238E27FC236}">
                <a16:creationId xmlns:a16="http://schemas.microsoft.com/office/drawing/2014/main" id="{316DFC51-3BF9-5C5D-A4EE-D7A743A1DE61}"/>
              </a:ext>
            </a:extLst>
          </p:cNvPr>
          <p:cNvGrpSpPr/>
          <p:nvPr/>
        </p:nvGrpSpPr>
        <p:grpSpPr>
          <a:xfrm>
            <a:off x="606801" y="5765074"/>
            <a:ext cx="4166812" cy="724626"/>
            <a:chOff x="606801" y="5450429"/>
            <a:chExt cx="3985836" cy="1039271"/>
          </a:xfrm>
        </p:grpSpPr>
        <p:sp>
          <p:nvSpPr>
            <p:cNvPr id="18" name="직사각형 17">
              <a:extLst>
                <a:ext uri="{FF2B5EF4-FFF2-40B4-BE49-F238E27FC236}">
                  <a16:creationId xmlns:a16="http://schemas.microsoft.com/office/drawing/2014/main" id="{93BB9C12-B00B-EBF4-CDAC-1796E104E506}"/>
                </a:ext>
              </a:extLst>
            </p:cNvPr>
            <p:cNvSpPr/>
            <p:nvPr/>
          </p:nvSpPr>
          <p:spPr>
            <a:xfrm>
              <a:off x="606801" y="5450429"/>
              <a:ext cx="354426" cy="103813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설문</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문항</a:t>
              </a:r>
            </a:p>
          </p:txBody>
        </p:sp>
        <p:sp>
          <p:nvSpPr>
            <p:cNvPr id="19" name="직사각형 18">
              <a:extLst>
                <a:ext uri="{FF2B5EF4-FFF2-40B4-BE49-F238E27FC236}">
                  <a16:creationId xmlns:a16="http://schemas.microsoft.com/office/drawing/2014/main" id="{83CA5D58-EB03-055E-7385-9770D1361747}"/>
                </a:ext>
              </a:extLst>
            </p:cNvPr>
            <p:cNvSpPr/>
            <p:nvPr/>
          </p:nvSpPr>
          <p:spPr bwMode="auto">
            <a:xfrm>
              <a:off x="1045825" y="5451566"/>
              <a:ext cx="3546812" cy="1038134"/>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응답자 일반사항</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B.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온라인 교육과정</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(e-learning)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수요조사</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C.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가상훈련 교육과정 수요조사</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필요시 실시</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p>
          </p:txBody>
        </p:sp>
      </p:grpSp>
      <p:sp>
        <p:nvSpPr>
          <p:cNvPr id="20" name="직사각형 19">
            <a:extLst>
              <a:ext uri="{FF2B5EF4-FFF2-40B4-BE49-F238E27FC236}">
                <a16:creationId xmlns:a16="http://schemas.microsoft.com/office/drawing/2014/main" id="{C77159BE-7340-3D1E-6B8F-0786D5344873}"/>
              </a:ext>
            </a:extLst>
          </p:cNvPr>
          <p:cNvSpPr/>
          <p:nvPr/>
        </p:nvSpPr>
        <p:spPr>
          <a:xfrm>
            <a:off x="560512" y="6497862"/>
            <a:ext cx="2539478" cy="215444"/>
          </a:xfrm>
          <a:prstGeom prst="rect">
            <a:avLst/>
          </a:prstGeom>
        </p:spPr>
        <p:txBody>
          <a:bodyPr wrap="none">
            <a:spAutoFit/>
          </a:bodyPr>
          <a:lstStyle/>
          <a:p>
            <a:pPr algn="l">
              <a:buNone/>
            </a:pP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수요조사 대상은 발주처와의 협의를 통해 최종 확정하겠음</a:t>
            </a:r>
          </a:p>
        </p:txBody>
      </p:sp>
      <p:pic>
        <p:nvPicPr>
          <p:cNvPr id="22" name="그림 21">
            <a:extLst>
              <a:ext uri="{FF2B5EF4-FFF2-40B4-BE49-F238E27FC236}">
                <a16:creationId xmlns:a16="http://schemas.microsoft.com/office/drawing/2014/main" id="{C429607C-3D8C-5469-B88E-CF40EDCF59EE}"/>
              </a:ext>
            </a:extLst>
          </p:cNvPr>
          <p:cNvPicPr>
            <a:picLocks noChangeAspect="1"/>
          </p:cNvPicPr>
          <p:nvPr/>
        </p:nvPicPr>
        <p:blipFill>
          <a:blip r:embed="rId2"/>
          <a:srcRect l="1966"/>
          <a:stretch/>
        </p:blipFill>
        <p:spPr>
          <a:xfrm>
            <a:off x="4953000" y="2492375"/>
            <a:ext cx="3430795" cy="2599698"/>
          </a:xfrm>
          <a:prstGeom prst="rect">
            <a:avLst/>
          </a:prstGeom>
          <a:ln w="3175">
            <a:solidFill>
              <a:schemeClr val="tx1"/>
            </a:solidFill>
          </a:ln>
        </p:spPr>
      </p:pic>
      <p:pic>
        <p:nvPicPr>
          <p:cNvPr id="24" name="그림 23">
            <a:extLst>
              <a:ext uri="{FF2B5EF4-FFF2-40B4-BE49-F238E27FC236}">
                <a16:creationId xmlns:a16="http://schemas.microsoft.com/office/drawing/2014/main" id="{00202EAC-3CED-11F3-1910-5F78F5F15F7B}"/>
              </a:ext>
            </a:extLst>
          </p:cNvPr>
          <p:cNvPicPr>
            <a:picLocks noChangeAspect="1"/>
          </p:cNvPicPr>
          <p:nvPr/>
        </p:nvPicPr>
        <p:blipFill>
          <a:blip r:embed="rId3"/>
          <a:srcRect l="900"/>
          <a:stretch/>
        </p:blipFill>
        <p:spPr>
          <a:xfrm>
            <a:off x="5925107" y="3999590"/>
            <a:ext cx="3430795" cy="2498271"/>
          </a:xfrm>
          <a:prstGeom prst="rect">
            <a:avLst/>
          </a:prstGeom>
          <a:ln w="3175">
            <a:solidFill>
              <a:schemeClr val="tx1"/>
            </a:solidFill>
          </a:ln>
        </p:spPr>
      </p:pic>
      <p:sp>
        <p:nvSpPr>
          <p:cNvPr id="25" name="직사각형 24">
            <a:extLst>
              <a:ext uri="{FF2B5EF4-FFF2-40B4-BE49-F238E27FC236}">
                <a16:creationId xmlns:a16="http://schemas.microsoft.com/office/drawing/2014/main" id="{D4EA18D8-850B-C475-7053-CA0E821FAA97}"/>
              </a:ext>
            </a:extLst>
          </p:cNvPr>
          <p:cNvSpPr/>
          <p:nvPr/>
        </p:nvSpPr>
        <p:spPr>
          <a:xfrm>
            <a:off x="4956996" y="2107024"/>
            <a:ext cx="4387691"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설문조사</a:t>
            </a:r>
            <a:r>
              <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진행</a:t>
            </a:r>
            <a:r>
              <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dirty="0">
                <a:solidFill>
                  <a:schemeClr val="bg1"/>
                </a:solidFill>
                <a:latin typeface="a고딕14" panose="02020600000000000000" pitchFamily="18" charset="-127"/>
                <a:ea typeface="a고딕14" panose="02020600000000000000" pitchFamily="18" charset="-127"/>
              </a:rPr>
              <a:t>예시</a:t>
            </a:r>
          </a:p>
        </p:txBody>
      </p:sp>
      <p:sp>
        <p:nvSpPr>
          <p:cNvPr id="4" name="Text Box 350">
            <a:extLst>
              <a:ext uri="{FF2B5EF4-FFF2-40B4-BE49-F238E27FC236}">
                <a16:creationId xmlns:a16="http://schemas.microsoft.com/office/drawing/2014/main" id="{4E8FCB8A-E767-0311-2CF9-ABA129E2F7CD}"/>
              </a:ext>
            </a:extLst>
          </p:cNvPr>
          <p:cNvSpPr txBox="1">
            <a:spLocks noChangeArrowheads="1"/>
          </p:cNvSpPr>
          <p:nvPr/>
        </p:nvSpPr>
        <p:spPr bwMode="auto">
          <a:xfrm rot="21154115">
            <a:off x="7845283" y="6048733"/>
            <a:ext cx="1417199" cy="276999"/>
          </a:xfrm>
          <a:prstGeom prst="rect">
            <a:avLst/>
          </a:prstGeom>
          <a:solidFill>
            <a:schemeClr val="accent2">
              <a:lumMod val="20000"/>
              <a:lumOff val="80000"/>
              <a:alpha val="36000"/>
            </a:schemeClr>
          </a:solidFill>
          <a:ln w="12700" algn="ctr">
            <a:solidFill>
              <a:schemeClr val="accent2"/>
            </a:solidFill>
            <a:prstDash val="dash"/>
            <a:miter lim="800000"/>
            <a:headEnd/>
            <a:tailEnd/>
          </a:ln>
        </p:spPr>
        <p:txBody>
          <a:bodyPr wrap="square">
            <a:spAutoFit/>
          </a:bodyPr>
          <a:lstStyle>
            <a:defPPr>
              <a:defRPr lang="en-US"/>
            </a:defPPr>
            <a:lvl1pPr marL="0" marR="0" lvl="0" indent="0" defTabSz="914400" eaLnBrk="1" fontAlgn="auto" hangingPunct="1">
              <a:lnSpc>
                <a:spcPct val="100000"/>
              </a:lnSpc>
              <a:spcBef>
                <a:spcPct val="50000"/>
              </a:spcBef>
              <a:spcAft>
                <a:spcPts val="0"/>
              </a:spcAft>
              <a:buClr>
                <a:srgbClr val="006699"/>
              </a:buClr>
              <a:buSzTx/>
              <a:buFont typeface="a고딕14"/>
              <a:buNone/>
              <a:tabLst/>
              <a:defRPr b="1" i="0" u="none" strike="noStrike" kern="0" cap="none" spc="0" normalizeH="0" baseline="0">
                <a:ln>
                  <a:noFill/>
                </a:ln>
                <a:solidFill>
                  <a:srgbClr val="A50021"/>
                </a:solidFill>
                <a:effectLst/>
                <a:uLnTx/>
                <a:uFillTx/>
                <a:latin typeface="a고딕14" panose="02020600000000000000" pitchFamily="18" charset="-127"/>
                <a:ea typeface="a고딕14" panose="02020600000000000000" pitchFamily="18" charset="-127"/>
              </a:defRPr>
            </a:lvl1pPr>
            <a:lvl2pPr marL="742950" indent="-285750">
              <a:defRPr sz="800">
                <a:latin typeface="Arial" pitchFamily="34" charset="0"/>
              </a:defRPr>
            </a:lvl2pPr>
            <a:lvl3pPr marL="1143000" indent="-228600">
              <a:defRPr sz="800">
                <a:latin typeface="Arial" pitchFamily="34" charset="0"/>
              </a:defRPr>
            </a:lvl3pPr>
            <a:lvl4pPr marL="1600200" indent="-228600">
              <a:defRPr sz="800">
                <a:latin typeface="Arial" pitchFamily="34" charset="0"/>
              </a:defRPr>
            </a:lvl4pPr>
            <a:lvl5pPr marL="2057400" indent="-228600">
              <a:defRPr sz="800">
                <a:latin typeface="Arial" pitchFamily="34" charset="0"/>
              </a:defRPr>
            </a:lvl5pPr>
            <a:lvl6pPr marL="2514600" indent="-228600" algn="ctr" eaLnBrk="0" fontAlgn="base" hangingPunct="0">
              <a:spcBef>
                <a:spcPct val="0"/>
              </a:spcBef>
              <a:spcAft>
                <a:spcPct val="0"/>
              </a:spcAft>
              <a:buFont typeface="Wingdings" pitchFamily="2" charset="2"/>
              <a:defRPr sz="800">
                <a:latin typeface="Arial" pitchFamily="34" charset="0"/>
              </a:defRPr>
            </a:lvl6pPr>
            <a:lvl7pPr marL="2971800" indent="-228600" algn="ctr" eaLnBrk="0" fontAlgn="base" hangingPunct="0">
              <a:spcBef>
                <a:spcPct val="0"/>
              </a:spcBef>
              <a:spcAft>
                <a:spcPct val="0"/>
              </a:spcAft>
              <a:buFont typeface="Wingdings" pitchFamily="2" charset="2"/>
              <a:defRPr sz="800">
                <a:latin typeface="Arial" pitchFamily="34" charset="0"/>
              </a:defRPr>
            </a:lvl7pPr>
            <a:lvl8pPr marL="3429000" indent="-228600" algn="ctr" eaLnBrk="0" fontAlgn="base" hangingPunct="0">
              <a:spcBef>
                <a:spcPct val="0"/>
              </a:spcBef>
              <a:spcAft>
                <a:spcPct val="0"/>
              </a:spcAft>
              <a:buFont typeface="Wingdings" pitchFamily="2" charset="2"/>
              <a:defRPr sz="800">
                <a:latin typeface="Arial" pitchFamily="34" charset="0"/>
              </a:defRPr>
            </a:lvl8pPr>
            <a:lvl9pPr marL="3886200" indent="-228600" algn="ctr" eaLnBrk="0" fontAlgn="base" hangingPunct="0">
              <a:spcBef>
                <a:spcPct val="0"/>
              </a:spcBef>
              <a:spcAft>
                <a:spcPct val="0"/>
              </a:spcAft>
              <a:buFont typeface="Wingdings" pitchFamily="2" charset="2"/>
              <a:defRPr sz="800">
                <a:latin typeface="Arial" pitchFamily="34" charset="0"/>
              </a:defRPr>
            </a:lvl9pPr>
          </a:lstStyle>
          <a:p>
            <a:r>
              <a:rPr lang="en-US" altLang="ko-KR" dirty="0"/>
              <a:t>Illustrative</a:t>
            </a:r>
          </a:p>
        </p:txBody>
      </p:sp>
      <p:grpSp>
        <p:nvGrpSpPr>
          <p:cNvPr id="3" name="그룹 2">
            <a:extLst>
              <a:ext uri="{FF2B5EF4-FFF2-40B4-BE49-F238E27FC236}">
                <a16:creationId xmlns:a16="http://schemas.microsoft.com/office/drawing/2014/main" id="{7C0D26DE-1069-BE5D-534D-0F9637EDED4E}"/>
              </a:ext>
            </a:extLst>
          </p:cNvPr>
          <p:cNvGrpSpPr/>
          <p:nvPr/>
        </p:nvGrpSpPr>
        <p:grpSpPr>
          <a:xfrm>
            <a:off x="599021" y="2748897"/>
            <a:ext cx="4174946" cy="402414"/>
            <a:chOff x="599021" y="2778969"/>
            <a:chExt cx="3993616" cy="434753"/>
          </a:xfrm>
        </p:grpSpPr>
        <p:sp>
          <p:nvSpPr>
            <p:cNvPr id="7" name="직사각형 6">
              <a:extLst>
                <a:ext uri="{FF2B5EF4-FFF2-40B4-BE49-F238E27FC236}">
                  <a16:creationId xmlns:a16="http://schemas.microsoft.com/office/drawing/2014/main" id="{7255063D-4B02-9A68-3ED8-AE35ED126355}"/>
                </a:ext>
              </a:extLst>
            </p:cNvPr>
            <p:cNvSpPr/>
            <p:nvPr/>
          </p:nvSpPr>
          <p:spPr>
            <a:xfrm>
              <a:off x="599021" y="2778969"/>
              <a:ext cx="354426" cy="43200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목표</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표본</a:t>
              </a:r>
            </a:p>
          </p:txBody>
        </p:sp>
        <p:sp>
          <p:nvSpPr>
            <p:cNvPr id="21" name="직사각형 20">
              <a:extLst>
                <a:ext uri="{FF2B5EF4-FFF2-40B4-BE49-F238E27FC236}">
                  <a16:creationId xmlns:a16="http://schemas.microsoft.com/office/drawing/2014/main" id="{34CE81CF-CDB1-EB2B-4C25-73495721772A}"/>
                </a:ext>
              </a:extLst>
            </p:cNvPr>
            <p:cNvSpPr/>
            <p:nvPr/>
          </p:nvSpPr>
          <p:spPr bwMode="auto">
            <a:xfrm>
              <a:off x="1038044" y="2781722"/>
              <a:ext cx="3554593" cy="432000"/>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약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2,000</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grpSp>
    </p:spTree>
    <p:extLst>
      <p:ext uri="{BB962C8B-B14F-4D97-AF65-F5344CB8AC3E}">
        <p14:creationId xmlns:p14="http://schemas.microsoft.com/office/powerpoint/2010/main" val="2412420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2899B-B5BF-9D41-5BEF-6B2AB1CA4E9D}"/>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9D748DF9-6D06-500F-870E-6E303EACDB32}"/>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B8C804E1-E8D9-40F8-1648-F8DD19D40F0A}"/>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수요조사 실시 및 분석</a:t>
            </a:r>
          </a:p>
        </p:txBody>
      </p:sp>
      <p:sp>
        <p:nvSpPr>
          <p:cNvPr id="12" name="직사각형 11">
            <a:extLst>
              <a:ext uri="{FF2B5EF4-FFF2-40B4-BE49-F238E27FC236}">
                <a16:creationId xmlns:a16="http://schemas.microsoft.com/office/drawing/2014/main" id="{57B40EAB-DD58-C99C-3377-037A385D87FE}"/>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3.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수요조사</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6CAC00DD-AE2E-5F3C-5294-C3343AC45DD9}"/>
              </a:ext>
            </a:extLst>
          </p:cNvPr>
          <p:cNvSpPr>
            <a:spLocks noGrp="1"/>
          </p:cNvSpPr>
          <p:nvPr>
            <p:ph type="body" sz="quarter" idx="12"/>
          </p:nvPr>
        </p:nvSpPr>
        <p:spPr>
          <a:xfrm>
            <a:off x="596515" y="650182"/>
            <a:ext cx="8749097" cy="815119"/>
          </a:xfrm>
        </p:spPr>
        <p:txBody>
          <a:bodyPr/>
          <a:lstStyle/>
          <a:p>
            <a:pPr latinLnBrk="0"/>
            <a:r>
              <a:rPr lang="en-US" altLang="ko-KR" spc="-120" dirty="0"/>
              <a:t>STEP </a:t>
            </a:r>
            <a:r>
              <a:rPr lang="ko-KR" altLang="en-US" spc="-120" dirty="0"/>
              <a:t>홈페이지에 수요조사 </a:t>
            </a:r>
            <a:r>
              <a:rPr lang="ko-KR" altLang="en-US" spc="-120" dirty="0">
                <a:solidFill>
                  <a:srgbClr val="0070C0"/>
                </a:solidFill>
              </a:rPr>
              <a:t>관련 내용을 사전 공지</a:t>
            </a:r>
            <a:r>
              <a:rPr lang="ko-KR" altLang="en-US" spc="-120" dirty="0"/>
              <a:t>하고</a:t>
            </a:r>
            <a:r>
              <a:rPr lang="en-US" altLang="ko-KR" spc="-120" dirty="0"/>
              <a:t>, </a:t>
            </a:r>
            <a:r>
              <a:rPr lang="ko-KR" altLang="en-US" spc="-120" dirty="0">
                <a:solidFill>
                  <a:srgbClr val="0070C0"/>
                </a:solidFill>
              </a:rPr>
              <a:t>답례품을 제공하여 회수율을 높이고</a:t>
            </a:r>
            <a:r>
              <a:rPr lang="en-US" altLang="ko-KR" spc="-120" dirty="0"/>
              <a:t>, </a:t>
            </a:r>
            <a:r>
              <a:rPr lang="ko-KR" altLang="en-US" spc="-120" dirty="0"/>
              <a:t>아울러</a:t>
            </a:r>
            <a:r>
              <a:rPr lang="en-US" altLang="ko-KR" spc="-120" dirty="0"/>
              <a:t> </a:t>
            </a:r>
            <a:r>
              <a:rPr lang="ko-KR" altLang="en-US" spc="-120" dirty="0"/>
              <a:t>결과 분석 시 </a:t>
            </a:r>
            <a:r>
              <a:rPr lang="ko-KR" altLang="en-US" spc="-120" dirty="0">
                <a:solidFill>
                  <a:srgbClr val="0070C0"/>
                </a:solidFill>
              </a:rPr>
              <a:t> </a:t>
            </a:r>
            <a:r>
              <a:rPr lang="en-US" altLang="ko-KR" spc="-120" dirty="0">
                <a:solidFill>
                  <a:srgbClr val="0070C0"/>
                </a:solidFill>
              </a:rPr>
              <a:t>‘24</a:t>
            </a:r>
            <a:r>
              <a:rPr lang="ko-KR" altLang="en-US" spc="-120" dirty="0">
                <a:solidFill>
                  <a:srgbClr val="0070C0"/>
                </a:solidFill>
              </a:rPr>
              <a:t>년 </a:t>
            </a:r>
            <a:r>
              <a:rPr lang="ko-KR" altLang="en-US" spc="-120" dirty="0" err="1">
                <a:solidFill>
                  <a:srgbClr val="0070C0"/>
                </a:solidFill>
              </a:rPr>
              <a:t>세분류</a:t>
            </a:r>
            <a:r>
              <a:rPr lang="ko-KR" altLang="en-US" spc="-120" dirty="0">
                <a:solidFill>
                  <a:srgbClr val="0070C0"/>
                </a:solidFill>
              </a:rPr>
              <a:t> 평가 결과와 </a:t>
            </a:r>
            <a:r>
              <a:rPr lang="en-US" altLang="ko-KR" spc="-120" dirty="0">
                <a:solidFill>
                  <a:srgbClr val="0070C0"/>
                </a:solidFill>
              </a:rPr>
              <a:t>‘25</a:t>
            </a:r>
            <a:r>
              <a:rPr lang="ko-KR" altLang="en-US" spc="-120" dirty="0">
                <a:solidFill>
                  <a:srgbClr val="0070C0"/>
                </a:solidFill>
              </a:rPr>
              <a:t>년 수요조사 결과를 통합</a:t>
            </a:r>
            <a:r>
              <a:rPr lang="ko-KR" altLang="en-US" spc="-120" dirty="0"/>
              <a:t>하여 </a:t>
            </a:r>
            <a:r>
              <a:rPr lang="ko-KR" altLang="en-US" spc="-120" dirty="0">
                <a:solidFill>
                  <a:srgbClr val="0070C0"/>
                </a:solidFill>
              </a:rPr>
              <a:t>전문가 검토 후 최종 순위를 확정</a:t>
            </a:r>
            <a:r>
              <a:rPr lang="ko-KR" altLang="en-US" spc="-120" dirty="0"/>
              <a:t>하겠음</a:t>
            </a:r>
            <a:endParaRPr lang="ko-KR" altLang="en-US" sz="1800" spc="-120" dirty="0"/>
          </a:p>
        </p:txBody>
      </p:sp>
      <p:grpSp>
        <p:nvGrpSpPr>
          <p:cNvPr id="7" name="그룹 6">
            <a:extLst>
              <a:ext uri="{FF2B5EF4-FFF2-40B4-BE49-F238E27FC236}">
                <a16:creationId xmlns:a16="http://schemas.microsoft.com/office/drawing/2014/main" id="{F1BFCC3A-7D54-0A0F-94C2-F8093442D94B}"/>
              </a:ext>
            </a:extLst>
          </p:cNvPr>
          <p:cNvGrpSpPr/>
          <p:nvPr/>
        </p:nvGrpSpPr>
        <p:grpSpPr>
          <a:xfrm>
            <a:off x="596515" y="1681027"/>
            <a:ext cx="8749098" cy="266602"/>
            <a:chOff x="802640" y="2236632"/>
            <a:chExt cx="4130805" cy="266552"/>
          </a:xfrm>
        </p:grpSpPr>
        <p:sp>
          <p:nvSpPr>
            <p:cNvPr id="8" name="ListLeanHorizontalTextTopic0">
              <a:extLst>
                <a:ext uri="{FF2B5EF4-FFF2-40B4-BE49-F238E27FC236}">
                  <a16:creationId xmlns:a16="http://schemas.microsoft.com/office/drawing/2014/main" id="{84B96D16-72F1-706F-09FE-682B11DFECF1}"/>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응답률 및 회수율 제고방안</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1471FC16-391C-7655-A5B6-A049C53FEFB9}"/>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 name="직사각형 1">
            <a:extLst>
              <a:ext uri="{FF2B5EF4-FFF2-40B4-BE49-F238E27FC236}">
                <a16:creationId xmlns:a16="http://schemas.microsoft.com/office/drawing/2014/main" id="{E978C63E-30F1-4BDE-6724-964323A7B9B2}"/>
              </a:ext>
            </a:extLst>
          </p:cNvPr>
          <p:cNvSpPr/>
          <p:nvPr/>
        </p:nvSpPr>
        <p:spPr>
          <a:xfrm>
            <a:off x="606790" y="2107585"/>
            <a:ext cx="2880000" cy="4359890"/>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 name="모서리가 둥근 직사각형 18">
            <a:extLst>
              <a:ext uri="{FF2B5EF4-FFF2-40B4-BE49-F238E27FC236}">
                <a16:creationId xmlns:a16="http://schemas.microsoft.com/office/drawing/2014/main" id="{510B6B7A-5DEE-5132-DE74-310BA6BAB125}"/>
              </a:ext>
            </a:extLst>
          </p:cNvPr>
          <p:cNvSpPr/>
          <p:nvPr/>
        </p:nvSpPr>
        <p:spPr bwMode="auto">
          <a:xfrm flipH="1" flipV="1">
            <a:off x="607283" y="2032195"/>
            <a:ext cx="2434864" cy="85044"/>
          </a:xfrm>
          <a:prstGeom prst="roundRect">
            <a:avLst/>
          </a:prstGeom>
          <a:solidFill>
            <a:srgbClr val="004A64"/>
          </a:solidFill>
          <a:ln w="25400" cap="flat" cmpd="sng" algn="ctr">
            <a:noFill/>
            <a:prstDash val="solid"/>
          </a:ln>
          <a:effectLst/>
        </p:spPr>
        <p:txBody>
          <a:bodyPr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4" name="AutoShape 94">
            <a:extLst>
              <a:ext uri="{FF2B5EF4-FFF2-40B4-BE49-F238E27FC236}">
                <a16:creationId xmlns:a16="http://schemas.microsoft.com/office/drawing/2014/main" id="{2810FE6A-7DF7-F9D6-CBD6-D9678065F7B9}"/>
              </a:ext>
            </a:extLst>
          </p:cNvPr>
          <p:cNvSpPr>
            <a:spLocks noChangeArrowheads="1"/>
          </p:cNvSpPr>
          <p:nvPr/>
        </p:nvSpPr>
        <p:spPr bwMode="auto">
          <a:xfrm>
            <a:off x="696444" y="2024844"/>
            <a:ext cx="2245134" cy="31633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000 w 10000"/>
              <a:gd name="connsiteY2" fmla="*/ 10000 h 10000"/>
              <a:gd name="connsiteX3" fmla="*/ 1375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723 w 10000"/>
              <a:gd name="connsiteY2" fmla="*/ 10000 h 10000"/>
              <a:gd name="connsiteX3" fmla="*/ 1375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lnTo>
                  <a:pt x="8723" y="10000"/>
                </a:lnTo>
                <a:lnTo>
                  <a:pt x="1375" y="10000"/>
                </a:lnTo>
                <a:lnTo>
                  <a:pt x="0" y="0"/>
                </a:lnTo>
                <a:close/>
              </a:path>
            </a:pathLst>
          </a:custGeom>
          <a:solidFill>
            <a:srgbClr val="00B0F0"/>
          </a:solidFill>
          <a:ln>
            <a:noFill/>
          </a:ln>
          <a:effectLst/>
        </p:spPr>
        <p:txBody>
          <a:bodyPr wrap="none" tIns="0" bIns="36000"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홈페이지</a:t>
            </a:r>
            <a:r>
              <a:rPr kumimoji="0" lang="en-US" altLang="ko-KR"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 </a:t>
            </a:r>
            <a:r>
              <a:rPr kumimoji="0" lang="ko-KR" altLang="en-US"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주요 사이트</a:t>
            </a:r>
            <a:r>
              <a:rPr kumimoji="0" lang="en-US" altLang="ko-KR"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 </a:t>
            </a:r>
            <a:r>
              <a:rPr kumimoji="0" lang="ko-KR" altLang="en-US"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활용 방안</a:t>
            </a:r>
            <a:endParaRPr kumimoji="0" lang="en-US" altLang="ko-KR"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16" name="그룹 15">
            <a:extLst>
              <a:ext uri="{FF2B5EF4-FFF2-40B4-BE49-F238E27FC236}">
                <a16:creationId xmlns:a16="http://schemas.microsoft.com/office/drawing/2014/main" id="{A647325C-F2F2-B856-7A28-6CD0F98924E4}"/>
              </a:ext>
            </a:extLst>
          </p:cNvPr>
          <p:cNvGrpSpPr/>
          <p:nvPr/>
        </p:nvGrpSpPr>
        <p:grpSpPr>
          <a:xfrm>
            <a:off x="697081" y="2536237"/>
            <a:ext cx="1880398" cy="885344"/>
            <a:chOff x="697081" y="2536237"/>
            <a:chExt cx="1880398" cy="885344"/>
          </a:xfrm>
        </p:grpSpPr>
        <p:sp>
          <p:nvSpPr>
            <p:cNvPr id="17" name="사각형 설명선 122">
              <a:extLst>
                <a:ext uri="{FF2B5EF4-FFF2-40B4-BE49-F238E27FC236}">
                  <a16:creationId xmlns:a16="http://schemas.microsoft.com/office/drawing/2014/main" id="{B4B012D8-3C97-BCB0-21E4-EFB3FB510FD6}"/>
                </a:ext>
              </a:extLst>
            </p:cNvPr>
            <p:cNvSpPr/>
            <p:nvPr/>
          </p:nvSpPr>
          <p:spPr>
            <a:xfrm>
              <a:off x="697081" y="2536237"/>
              <a:ext cx="1880398" cy="885344"/>
            </a:xfrm>
            <a:prstGeom prst="wedgeRectCallout">
              <a:avLst>
                <a:gd name="adj1" fmla="val 21633"/>
                <a:gd name="adj2" fmla="val 77047"/>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18" name="직사각형 17">
              <a:extLst>
                <a:ext uri="{FF2B5EF4-FFF2-40B4-BE49-F238E27FC236}">
                  <a16:creationId xmlns:a16="http://schemas.microsoft.com/office/drawing/2014/main" id="{44496345-850D-960F-B05E-8B8E7D42F9D7}"/>
                </a:ext>
              </a:extLst>
            </p:cNvPr>
            <p:cNvSpPr/>
            <p:nvPr/>
          </p:nvSpPr>
          <p:spPr>
            <a:xfrm>
              <a:off x="699547" y="2540159"/>
              <a:ext cx="761065" cy="258331"/>
            </a:xfrm>
            <a:prstGeom prst="rect">
              <a:avLst/>
            </a:prstGeom>
            <a:noFill/>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900" b="0" i="0" u="none" strike="noStrike" kern="1200" cap="none" spc="-80" normalizeH="0" baseline="0" noProof="0">
                  <a:ln w="3175">
                    <a:solidFill>
                      <a:prstClr val="white">
                        <a:alpha val="15000"/>
                      </a:prstClr>
                    </a:solidFill>
                  </a:ln>
                  <a:solidFill>
                    <a:prstClr val="black">
                      <a:lumMod val="85000"/>
                      <a:lumOff val="1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공지사항</a:t>
              </a:r>
              <a:endParaRPr kumimoji="0" lang="en-US" altLang="ko-KR" sz="900" b="0" i="0" u="none" strike="noStrike" kern="1200" cap="none" spc="-80" normalizeH="0" baseline="0" noProof="0" dirty="0">
                <a:ln w="3175">
                  <a:solidFill>
                    <a:prstClr val="white">
                      <a:alpha val="15000"/>
                    </a:prstClr>
                  </a:solidFill>
                </a:ln>
                <a:solidFill>
                  <a:prstClr val="black">
                    <a:lumMod val="85000"/>
                    <a:lumOff val="1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endParaRPr>
            </a:p>
          </p:txBody>
        </p:sp>
        <p:sp>
          <p:nvSpPr>
            <p:cNvPr id="19" name="직사각형 18">
              <a:extLst>
                <a:ext uri="{FF2B5EF4-FFF2-40B4-BE49-F238E27FC236}">
                  <a16:creationId xmlns:a16="http://schemas.microsoft.com/office/drawing/2014/main" id="{DEC502FB-B8C4-22DA-ED2A-173124DAD7A1}"/>
                </a:ext>
              </a:extLst>
            </p:cNvPr>
            <p:cNvSpPr/>
            <p:nvPr/>
          </p:nvSpPr>
          <p:spPr>
            <a:xfrm>
              <a:off x="733425" y="2807243"/>
              <a:ext cx="1819275" cy="459631"/>
            </a:xfrm>
            <a:prstGeom prst="rect">
              <a:avLst/>
            </a:prstGeom>
            <a:solidFill>
              <a:srgbClr val="FFDB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20" name="직사각형 19">
              <a:extLst>
                <a:ext uri="{FF2B5EF4-FFF2-40B4-BE49-F238E27FC236}">
                  <a16:creationId xmlns:a16="http://schemas.microsoft.com/office/drawing/2014/main" id="{3DE89736-3A42-87A9-ECB1-766928B65E04}"/>
                </a:ext>
              </a:extLst>
            </p:cNvPr>
            <p:cNvSpPr/>
            <p:nvPr/>
          </p:nvSpPr>
          <p:spPr>
            <a:xfrm>
              <a:off x="700264" y="2849192"/>
              <a:ext cx="1859137" cy="369332"/>
            </a:xfrm>
            <a:prstGeom prst="rect">
              <a:avLst/>
            </a:prstGeom>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300"/>
                </a:spcBef>
                <a:spcAft>
                  <a:spcPct val="0"/>
                </a:spcAft>
                <a:buClrTx/>
                <a:buSzTx/>
                <a:buFont typeface="Wingdings" pitchFamily="2" charset="2"/>
                <a:buNone/>
                <a:tabLst/>
                <a:defRPr/>
              </a:pPr>
              <a:r>
                <a:rPr kumimoji="0" lang="en-US" altLang="ko-KR" sz="9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2026</a:t>
              </a:r>
              <a:r>
                <a:rPr kumimoji="0" lang="ko-KR" altLang="en-US" sz="9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년도 </a:t>
              </a:r>
              <a:r>
                <a:rPr kumimoji="0" lang="ko-KR" altLang="en-US" sz="900" b="0" i="0" u="none" strike="noStrike" kern="1200" cap="none" spc="-100" normalizeH="0" baseline="0" noProof="0" dirty="0" err="1">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신규콘텐츠</a:t>
              </a:r>
              <a:r>
                <a:rPr kumimoji="0" lang="ko-KR" altLang="en-US" sz="9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 개발을 위한 수요조사 실시 안내</a:t>
              </a:r>
              <a:endParaRPr kumimoji="0" lang="en-US" altLang="ko-KR" sz="900" b="0" i="0" u="none" strike="noStrike" kern="1200" cap="none" spc="-100" normalizeH="0" baseline="0" noProof="0" dirty="0">
                <a:ln w="3175">
                  <a:solidFill>
                    <a:prstClr val="white">
                      <a:alpha val="15000"/>
                    </a:prstClr>
                  </a:solidFill>
                </a:ln>
                <a:solidFill>
                  <a:prstClr val="black">
                    <a:lumMod val="85000"/>
                    <a:lumOff val="1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endParaRPr>
            </a:p>
          </p:txBody>
        </p:sp>
      </p:grpSp>
      <p:sp>
        <p:nvSpPr>
          <p:cNvPr id="22" name="직사각형 21">
            <a:extLst>
              <a:ext uri="{FF2B5EF4-FFF2-40B4-BE49-F238E27FC236}">
                <a16:creationId xmlns:a16="http://schemas.microsoft.com/office/drawing/2014/main" id="{0CEAF2A7-4E62-6AB7-5034-92309E63AC19}"/>
              </a:ext>
            </a:extLst>
          </p:cNvPr>
          <p:cNvSpPr/>
          <p:nvPr/>
        </p:nvSpPr>
        <p:spPr>
          <a:xfrm>
            <a:off x="700264" y="5803042"/>
            <a:ext cx="2718807" cy="589399"/>
          </a:xfrm>
          <a:prstGeom prst="rect">
            <a:avLst/>
          </a:prstGeom>
          <a:solidFill>
            <a:schemeClr val="bg1">
              <a:lumMod val="9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88900" marR="0" lvl="0" indent="-3810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STEP</a:t>
            </a:r>
            <a:r>
              <a:rPr kumimoji="0" lang="ko-KR" altLang="en-US"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 홈페이지를 활용한 </a:t>
            </a:r>
            <a:r>
              <a:rPr lang="ko-KR" altLang="en-US" sz="1000" spc="-50" dirty="0">
                <a:ln w="3175">
                  <a:solidFill>
                    <a:prstClr val="white">
                      <a:alpha val="15000"/>
                    </a:prstClr>
                  </a:solidFill>
                </a:ln>
                <a:solidFill>
                  <a:prstClr val="black">
                    <a:lumMod val="95000"/>
                    <a:lumOff val="5000"/>
                  </a:prstClr>
                </a:solidFill>
                <a:latin typeface="a고딕14" panose="02020600000000000000" pitchFamily="18" charset="-127"/>
                <a:ea typeface="a고딕14" panose="02020600000000000000" pitchFamily="18" charset="-127"/>
              </a:rPr>
              <a:t>공지 및 홍보</a:t>
            </a:r>
            <a:endParaRPr kumimoji="0" lang="en-US" altLang="ko-KR"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a:p>
            <a:pPr marL="88900" marR="0" lvl="0" indent="-3810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ko-KR" altLang="en-US"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설문 조사기간 </a:t>
            </a:r>
            <a:r>
              <a:rPr lang="ko-KR" altLang="en-US" sz="1000" spc="-50" dirty="0">
                <a:ln w="3175">
                  <a:solidFill>
                    <a:prstClr val="white">
                      <a:alpha val="15000"/>
                    </a:prstClr>
                  </a:solidFill>
                </a:ln>
                <a:solidFill>
                  <a:prstClr val="black">
                    <a:lumMod val="95000"/>
                    <a:lumOff val="5000"/>
                  </a:prstClr>
                </a:solidFill>
                <a:latin typeface="a고딕14" panose="02020600000000000000" pitchFamily="18" charset="-127"/>
                <a:ea typeface="a고딕14" panose="02020600000000000000" pitchFamily="18" charset="-127"/>
              </a:rPr>
              <a:t>동안 발주처에 누적 응답자 현황 공유</a:t>
            </a:r>
            <a:endParaRPr kumimoji="0" lang="en-US" altLang="ko-KR"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sp>
        <p:nvSpPr>
          <p:cNvPr id="25" name="직사각형 24">
            <a:extLst>
              <a:ext uri="{FF2B5EF4-FFF2-40B4-BE49-F238E27FC236}">
                <a16:creationId xmlns:a16="http://schemas.microsoft.com/office/drawing/2014/main" id="{F36EBED7-238F-AE67-28BC-5511457328EB}"/>
              </a:ext>
            </a:extLst>
          </p:cNvPr>
          <p:cNvSpPr/>
          <p:nvPr/>
        </p:nvSpPr>
        <p:spPr>
          <a:xfrm>
            <a:off x="3620876" y="2107585"/>
            <a:ext cx="2880000" cy="4359890"/>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26" name="모서리가 둥근 직사각형 24">
            <a:extLst>
              <a:ext uri="{FF2B5EF4-FFF2-40B4-BE49-F238E27FC236}">
                <a16:creationId xmlns:a16="http://schemas.microsoft.com/office/drawing/2014/main" id="{D9922D3B-D189-FC05-D2BB-98769A7AC562}"/>
              </a:ext>
            </a:extLst>
          </p:cNvPr>
          <p:cNvSpPr/>
          <p:nvPr/>
        </p:nvSpPr>
        <p:spPr bwMode="auto">
          <a:xfrm flipH="1" flipV="1">
            <a:off x="3621369" y="2032195"/>
            <a:ext cx="2434864" cy="85044"/>
          </a:xfrm>
          <a:prstGeom prst="roundRect">
            <a:avLst/>
          </a:prstGeom>
          <a:solidFill>
            <a:srgbClr val="004A64"/>
          </a:solidFill>
          <a:ln w="25400" cap="flat" cmpd="sng" algn="ctr">
            <a:noFill/>
            <a:prstDash val="solid"/>
          </a:ln>
          <a:effectLst/>
        </p:spPr>
        <p:txBody>
          <a:bodyPr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27" name="AutoShape 94">
            <a:extLst>
              <a:ext uri="{FF2B5EF4-FFF2-40B4-BE49-F238E27FC236}">
                <a16:creationId xmlns:a16="http://schemas.microsoft.com/office/drawing/2014/main" id="{8049D301-7809-F2FC-BE76-89127C162DC3}"/>
              </a:ext>
            </a:extLst>
          </p:cNvPr>
          <p:cNvSpPr>
            <a:spLocks noChangeArrowheads="1"/>
          </p:cNvSpPr>
          <p:nvPr/>
        </p:nvSpPr>
        <p:spPr bwMode="auto">
          <a:xfrm>
            <a:off x="3710530" y="2024844"/>
            <a:ext cx="2245134" cy="31633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000 w 10000"/>
              <a:gd name="connsiteY2" fmla="*/ 10000 h 10000"/>
              <a:gd name="connsiteX3" fmla="*/ 1375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723 w 10000"/>
              <a:gd name="connsiteY2" fmla="*/ 10000 h 10000"/>
              <a:gd name="connsiteX3" fmla="*/ 1375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lnTo>
                  <a:pt x="8723" y="10000"/>
                </a:lnTo>
                <a:lnTo>
                  <a:pt x="1375" y="10000"/>
                </a:lnTo>
                <a:lnTo>
                  <a:pt x="0" y="0"/>
                </a:lnTo>
                <a:close/>
              </a:path>
            </a:pathLst>
          </a:custGeom>
          <a:solidFill>
            <a:srgbClr val="00B0F0"/>
          </a:solidFill>
          <a:ln>
            <a:noFill/>
          </a:ln>
          <a:effectLst/>
        </p:spPr>
        <p:txBody>
          <a:bodyPr wrap="none" tIns="0" bIns="36000"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100" b="0" i="0" u="none" strike="noStrike" kern="1200" cap="none" spc="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답례품 활용 방안</a:t>
            </a:r>
            <a:endParaRPr kumimoji="0" lang="en-US" altLang="ko-KR" sz="1100" b="0" i="0" u="none" strike="noStrike" kern="1200" cap="none" spc="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28" name="그룹 27">
            <a:extLst>
              <a:ext uri="{FF2B5EF4-FFF2-40B4-BE49-F238E27FC236}">
                <a16:creationId xmlns:a16="http://schemas.microsoft.com/office/drawing/2014/main" id="{1C01648F-3807-EBE8-89EB-C7708B4D20B4}"/>
              </a:ext>
            </a:extLst>
          </p:cNvPr>
          <p:cNvGrpSpPr/>
          <p:nvPr/>
        </p:nvGrpSpPr>
        <p:grpSpPr>
          <a:xfrm>
            <a:off x="3594819" y="2420471"/>
            <a:ext cx="2853563" cy="2043954"/>
            <a:chOff x="6429083" y="2483224"/>
            <a:chExt cx="2853563" cy="2043954"/>
          </a:xfrm>
        </p:grpSpPr>
        <p:sp>
          <p:nvSpPr>
            <p:cNvPr id="29" name="자유형 66">
              <a:extLst>
                <a:ext uri="{FF2B5EF4-FFF2-40B4-BE49-F238E27FC236}">
                  <a16:creationId xmlns:a16="http://schemas.microsoft.com/office/drawing/2014/main" id="{11638BDB-5C2E-1E1B-9CE0-20B5ED585E53}"/>
                </a:ext>
              </a:extLst>
            </p:cNvPr>
            <p:cNvSpPr/>
            <p:nvPr/>
          </p:nvSpPr>
          <p:spPr>
            <a:xfrm>
              <a:off x="6823769" y="3452779"/>
              <a:ext cx="368825" cy="540693"/>
            </a:xfrm>
            <a:custGeom>
              <a:avLst/>
              <a:gdLst>
                <a:gd name="connsiteX0" fmla="*/ 952500 w 952500"/>
                <a:gd name="connsiteY0" fmla="*/ 0 h 698500"/>
                <a:gd name="connsiteX1" fmla="*/ 0 w 952500"/>
                <a:gd name="connsiteY1" fmla="*/ 0 h 698500"/>
                <a:gd name="connsiteX2" fmla="*/ 0 w 952500"/>
                <a:gd name="connsiteY2" fmla="*/ 698500 h 698500"/>
              </a:gdLst>
              <a:ahLst/>
              <a:cxnLst>
                <a:cxn ang="0">
                  <a:pos x="connsiteX0" y="connsiteY0"/>
                </a:cxn>
                <a:cxn ang="0">
                  <a:pos x="connsiteX1" y="connsiteY1"/>
                </a:cxn>
                <a:cxn ang="0">
                  <a:pos x="connsiteX2" y="connsiteY2"/>
                </a:cxn>
              </a:cxnLst>
              <a:rect l="l" t="t" r="r" b="b"/>
              <a:pathLst>
                <a:path w="952500" h="698500">
                  <a:moveTo>
                    <a:pt x="952500" y="0"/>
                  </a:moveTo>
                  <a:lnTo>
                    <a:pt x="0" y="0"/>
                  </a:lnTo>
                  <a:lnTo>
                    <a:pt x="0" y="698500"/>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0" name="자유형 67">
              <a:extLst>
                <a:ext uri="{FF2B5EF4-FFF2-40B4-BE49-F238E27FC236}">
                  <a16:creationId xmlns:a16="http://schemas.microsoft.com/office/drawing/2014/main" id="{EC9FF6E7-7994-2469-4EA5-F496C44E9837}"/>
                </a:ext>
              </a:extLst>
            </p:cNvPr>
            <p:cNvSpPr/>
            <p:nvPr/>
          </p:nvSpPr>
          <p:spPr>
            <a:xfrm flipH="1">
              <a:off x="8439720" y="3452659"/>
              <a:ext cx="545119" cy="401307"/>
            </a:xfrm>
            <a:custGeom>
              <a:avLst/>
              <a:gdLst>
                <a:gd name="connsiteX0" fmla="*/ 952500 w 952500"/>
                <a:gd name="connsiteY0" fmla="*/ 0 h 698500"/>
                <a:gd name="connsiteX1" fmla="*/ 0 w 952500"/>
                <a:gd name="connsiteY1" fmla="*/ 0 h 698500"/>
                <a:gd name="connsiteX2" fmla="*/ 0 w 952500"/>
                <a:gd name="connsiteY2" fmla="*/ 698500 h 698500"/>
              </a:gdLst>
              <a:ahLst/>
              <a:cxnLst>
                <a:cxn ang="0">
                  <a:pos x="connsiteX0" y="connsiteY0"/>
                </a:cxn>
                <a:cxn ang="0">
                  <a:pos x="connsiteX1" y="connsiteY1"/>
                </a:cxn>
                <a:cxn ang="0">
                  <a:pos x="connsiteX2" y="connsiteY2"/>
                </a:cxn>
              </a:cxnLst>
              <a:rect l="l" t="t" r="r" b="b"/>
              <a:pathLst>
                <a:path w="952500" h="698500">
                  <a:moveTo>
                    <a:pt x="952500" y="0"/>
                  </a:moveTo>
                  <a:lnTo>
                    <a:pt x="0" y="0"/>
                  </a:lnTo>
                  <a:lnTo>
                    <a:pt x="0" y="698500"/>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31" name="그룹 30">
              <a:extLst>
                <a:ext uri="{FF2B5EF4-FFF2-40B4-BE49-F238E27FC236}">
                  <a16:creationId xmlns:a16="http://schemas.microsoft.com/office/drawing/2014/main" id="{83836C37-555F-0858-97AC-79F4F1C2EC2A}"/>
                </a:ext>
              </a:extLst>
            </p:cNvPr>
            <p:cNvGrpSpPr/>
            <p:nvPr/>
          </p:nvGrpSpPr>
          <p:grpSpPr>
            <a:xfrm>
              <a:off x="6546973" y="3784213"/>
              <a:ext cx="530102" cy="556318"/>
              <a:chOff x="8358162" y="4462667"/>
              <a:chExt cx="764814" cy="574303"/>
            </a:xfrm>
          </p:grpSpPr>
          <p:sp>
            <p:nvSpPr>
              <p:cNvPr id="47" name="타원 46">
                <a:extLst>
                  <a:ext uri="{FF2B5EF4-FFF2-40B4-BE49-F238E27FC236}">
                    <a16:creationId xmlns:a16="http://schemas.microsoft.com/office/drawing/2014/main" id="{460DE167-A391-7AEC-AFA9-0E488C83EE77}"/>
                  </a:ext>
                </a:extLst>
              </p:cNvPr>
              <p:cNvSpPr/>
              <p:nvPr/>
            </p:nvSpPr>
            <p:spPr>
              <a:xfrm>
                <a:off x="8358162" y="4462667"/>
                <a:ext cx="764814" cy="57430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pic>
            <p:nvPicPr>
              <p:cNvPr id="48" name="그림 47">
                <a:extLst>
                  <a:ext uri="{FF2B5EF4-FFF2-40B4-BE49-F238E27FC236}">
                    <a16:creationId xmlns:a16="http://schemas.microsoft.com/office/drawing/2014/main" id="{8DFECB34-68D2-4538-85BF-A29AE00DB2B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8118"/>
              <a:stretch/>
            </p:blipFill>
            <p:spPr>
              <a:xfrm>
                <a:off x="8468099" y="4499128"/>
                <a:ext cx="544939" cy="424697"/>
              </a:xfrm>
              <a:prstGeom prst="rect">
                <a:avLst/>
              </a:prstGeom>
            </p:spPr>
          </p:pic>
        </p:grpSp>
        <p:pic>
          <p:nvPicPr>
            <p:cNvPr id="32" name="그림 31">
              <a:extLst>
                <a:ext uri="{FF2B5EF4-FFF2-40B4-BE49-F238E27FC236}">
                  <a16:creationId xmlns:a16="http://schemas.microsoft.com/office/drawing/2014/main" id="{DF3AE1C1-7033-6D58-74BD-6F87DA18FC2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8118"/>
            <a:stretch/>
          </p:blipFill>
          <p:spPr>
            <a:xfrm>
              <a:off x="6918062" y="2483224"/>
              <a:ext cx="1939068" cy="2043954"/>
            </a:xfrm>
            <a:prstGeom prst="rect">
              <a:avLst/>
            </a:prstGeom>
          </p:spPr>
        </p:pic>
        <p:sp>
          <p:nvSpPr>
            <p:cNvPr id="33" name="타원 32">
              <a:extLst>
                <a:ext uri="{FF2B5EF4-FFF2-40B4-BE49-F238E27FC236}">
                  <a16:creationId xmlns:a16="http://schemas.microsoft.com/office/drawing/2014/main" id="{033DFA93-EA89-4928-2331-8BA9211CBC2E}"/>
                </a:ext>
              </a:extLst>
            </p:cNvPr>
            <p:cNvSpPr/>
            <p:nvPr/>
          </p:nvSpPr>
          <p:spPr>
            <a:xfrm>
              <a:off x="7334472" y="3249361"/>
              <a:ext cx="252013" cy="3522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4" name="타원 33">
              <a:extLst>
                <a:ext uri="{FF2B5EF4-FFF2-40B4-BE49-F238E27FC236}">
                  <a16:creationId xmlns:a16="http://schemas.microsoft.com/office/drawing/2014/main" id="{FAEBFE45-C122-EB9D-4AA5-5FAEC922EEC7}"/>
                </a:ext>
              </a:extLst>
            </p:cNvPr>
            <p:cNvSpPr/>
            <p:nvPr/>
          </p:nvSpPr>
          <p:spPr>
            <a:xfrm>
              <a:off x="7320011" y="3217831"/>
              <a:ext cx="259340" cy="3837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5" name="타원 34">
              <a:extLst>
                <a:ext uri="{FF2B5EF4-FFF2-40B4-BE49-F238E27FC236}">
                  <a16:creationId xmlns:a16="http://schemas.microsoft.com/office/drawing/2014/main" id="{F768F2F8-83D9-F262-D477-E4A0F123E964}"/>
                </a:ext>
              </a:extLst>
            </p:cNvPr>
            <p:cNvSpPr/>
            <p:nvPr/>
          </p:nvSpPr>
          <p:spPr>
            <a:xfrm>
              <a:off x="7249284" y="3217832"/>
              <a:ext cx="341284" cy="3943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6" name="직사각형 35">
              <a:extLst>
                <a:ext uri="{FF2B5EF4-FFF2-40B4-BE49-F238E27FC236}">
                  <a16:creationId xmlns:a16="http://schemas.microsoft.com/office/drawing/2014/main" id="{B147E213-7B65-BF21-24CE-355F667F2FE2}"/>
                </a:ext>
              </a:extLst>
            </p:cNvPr>
            <p:cNvSpPr/>
            <p:nvPr/>
          </p:nvSpPr>
          <p:spPr>
            <a:xfrm>
              <a:off x="6429083" y="3267742"/>
              <a:ext cx="1943506" cy="338554"/>
            </a:xfrm>
            <a:prstGeom prst="rect">
              <a:avLst/>
            </a:prstGeom>
            <a:ln>
              <a:noFill/>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en-US" altLang="ko-KR"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1,000</a:t>
              </a:r>
              <a:r>
                <a:rPr kumimoji="0" lang="ko-KR" altLang="en-US"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명</a:t>
              </a:r>
              <a:endParaRPr kumimoji="0" lang="en-US" altLang="ko-KR"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이상</a:t>
              </a:r>
              <a:endParaRPr kumimoji="0" lang="en-US" altLang="ko-KR"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grpSp>
          <p:nvGrpSpPr>
            <p:cNvPr id="37" name="그룹 36">
              <a:extLst>
                <a:ext uri="{FF2B5EF4-FFF2-40B4-BE49-F238E27FC236}">
                  <a16:creationId xmlns:a16="http://schemas.microsoft.com/office/drawing/2014/main" id="{4FD93537-91DF-4501-1A3C-EFA39E9B492A}"/>
                </a:ext>
              </a:extLst>
            </p:cNvPr>
            <p:cNvGrpSpPr/>
            <p:nvPr/>
          </p:nvGrpSpPr>
          <p:grpSpPr>
            <a:xfrm>
              <a:off x="7448782" y="3234926"/>
              <a:ext cx="1833864" cy="404323"/>
              <a:chOff x="7410682" y="3234926"/>
              <a:chExt cx="1833864" cy="404323"/>
            </a:xfrm>
          </p:grpSpPr>
          <p:grpSp>
            <p:nvGrpSpPr>
              <p:cNvPr id="41" name="그룹 40">
                <a:extLst>
                  <a:ext uri="{FF2B5EF4-FFF2-40B4-BE49-F238E27FC236}">
                    <a16:creationId xmlns:a16="http://schemas.microsoft.com/office/drawing/2014/main" id="{F519967D-19B0-B916-C240-D1BEC67C6B02}"/>
                  </a:ext>
                </a:extLst>
              </p:cNvPr>
              <p:cNvGrpSpPr/>
              <p:nvPr/>
            </p:nvGrpSpPr>
            <p:grpSpPr>
              <a:xfrm>
                <a:off x="8144783" y="3234926"/>
                <a:ext cx="392616" cy="404323"/>
                <a:chOff x="8144783" y="3234926"/>
                <a:chExt cx="392616" cy="404323"/>
              </a:xfrm>
            </p:grpSpPr>
            <p:sp>
              <p:nvSpPr>
                <p:cNvPr id="43" name="타원 42">
                  <a:extLst>
                    <a:ext uri="{FF2B5EF4-FFF2-40B4-BE49-F238E27FC236}">
                      <a16:creationId xmlns:a16="http://schemas.microsoft.com/office/drawing/2014/main" id="{50D855C6-CACB-AB7A-223C-A17469360040}"/>
                    </a:ext>
                  </a:extLst>
                </p:cNvPr>
                <p:cNvSpPr/>
                <p:nvPr/>
              </p:nvSpPr>
              <p:spPr>
                <a:xfrm>
                  <a:off x="8238074" y="3535669"/>
                  <a:ext cx="68955" cy="96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44" name="타원 43">
                  <a:extLst>
                    <a:ext uri="{FF2B5EF4-FFF2-40B4-BE49-F238E27FC236}">
                      <a16:creationId xmlns:a16="http://schemas.microsoft.com/office/drawing/2014/main" id="{0059BE86-438E-A0FC-E845-08AEC653C6E4}"/>
                    </a:ext>
                  </a:extLst>
                </p:cNvPr>
                <p:cNvSpPr/>
                <p:nvPr/>
              </p:nvSpPr>
              <p:spPr>
                <a:xfrm>
                  <a:off x="8144784" y="3239121"/>
                  <a:ext cx="259340" cy="3624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45" name="타원 44">
                  <a:extLst>
                    <a:ext uri="{FF2B5EF4-FFF2-40B4-BE49-F238E27FC236}">
                      <a16:creationId xmlns:a16="http://schemas.microsoft.com/office/drawing/2014/main" id="{54E2A379-8E9A-92B0-0DB8-C4219F6A0CD2}"/>
                    </a:ext>
                  </a:extLst>
                </p:cNvPr>
                <p:cNvSpPr/>
                <p:nvPr/>
              </p:nvSpPr>
              <p:spPr>
                <a:xfrm>
                  <a:off x="8144783" y="3234926"/>
                  <a:ext cx="392616" cy="4043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46" name="타원 45">
                  <a:extLst>
                    <a:ext uri="{FF2B5EF4-FFF2-40B4-BE49-F238E27FC236}">
                      <a16:creationId xmlns:a16="http://schemas.microsoft.com/office/drawing/2014/main" id="{87F6F4DC-E69B-E7AB-957F-B7414EC8AD5D}"/>
                    </a:ext>
                  </a:extLst>
                </p:cNvPr>
                <p:cNvSpPr/>
                <p:nvPr/>
              </p:nvSpPr>
              <p:spPr>
                <a:xfrm>
                  <a:off x="8230249" y="3531475"/>
                  <a:ext cx="68955" cy="96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sp>
            <p:nvSpPr>
              <p:cNvPr id="42" name="직사각형 41">
                <a:extLst>
                  <a:ext uri="{FF2B5EF4-FFF2-40B4-BE49-F238E27FC236}">
                    <a16:creationId xmlns:a16="http://schemas.microsoft.com/office/drawing/2014/main" id="{9514A14E-6EF0-A84A-D97E-66E3FA3079FE}"/>
                  </a:ext>
                </a:extLst>
              </p:cNvPr>
              <p:cNvSpPr/>
              <p:nvPr/>
            </p:nvSpPr>
            <p:spPr>
              <a:xfrm>
                <a:off x="7410682" y="3276457"/>
                <a:ext cx="1833864" cy="307777"/>
              </a:xfrm>
              <a:prstGeom prst="rect">
                <a:avLst/>
              </a:prstGeom>
              <a:ln>
                <a:noFill/>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답례품은</a:t>
                </a:r>
                <a:endParaRPr kumimoji="0" lang="en-US" altLang="ko-KR"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협의 후 결정</a:t>
                </a:r>
                <a:endParaRPr kumimoji="0" lang="en-US" altLang="ko-KR"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grpSp>
        <p:sp>
          <p:nvSpPr>
            <p:cNvPr id="38" name="타원 37">
              <a:extLst>
                <a:ext uri="{FF2B5EF4-FFF2-40B4-BE49-F238E27FC236}">
                  <a16:creationId xmlns:a16="http://schemas.microsoft.com/office/drawing/2014/main" id="{37DEF44B-7803-907C-CA19-0F0942ED3971}"/>
                </a:ext>
              </a:extLst>
            </p:cNvPr>
            <p:cNvSpPr/>
            <p:nvPr/>
          </p:nvSpPr>
          <p:spPr>
            <a:xfrm>
              <a:off x="8716142" y="3780838"/>
              <a:ext cx="504058" cy="55631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9" name="TextBox 38">
              <a:extLst>
                <a:ext uri="{FF2B5EF4-FFF2-40B4-BE49-F238E27FC236}">
                  <a16:creationId xmlns:a16="http://schemas.microsoft.com/office/drawing/2014/main" id="{F6B32F46-9D80-6137-5415-8706DA3AFB3C}"/>
                </a:ext>
              </a:extLst>
            </p:cNvPr>
            <p:cNvSpPr txBox="1"/>
            <p:nvPr/>
          </p:nvSpPr>
          <p:spPr>
            <a:xfrm>
              <a:off x="8868962" y="3993472"/>
              <a:ext cx="199638" cy="268324"/>
            </a:xfrm>
            <a:prstGeom prst="rect">
              <a:avLst/>
            </a:prstGeom>
            <a:noFill/>
          </p:spPr>
          <p:txBody>
            <a:bodyPr wrap="square" rtlCol="0">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12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 </a:t>
              </a:r>
              <a:endParaRPr kumimoji="0" lang="ko-KR" altLang="en-US" sz="12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40" name="직사각형 39">
              <a:extLst>
                <a:ext uri="{FF2B5EF4-FFF2-40B4-BE49-F238E27FC236}">
                  <a16:creationId xmlns:a16="http://schemas.microsoft.com/office/drawing/2014/main" id="{5E11EBB7-B2A6-B799-36BC-AE6BBA4506E9}"/>
                </a:ext>
              </a:extLst>
            </p:cNvPr>
            <p:cNvSpPr/>
            <p:nvPr/>
          </p:nvSpPr>
          <p:spPr>
            <a:xfrm>
              <a:off x="8796167" y="3891363"/>
              <a:ext cx="359266" cy="327952"/>
            </a:xfrm>
            <a:prstGeom prst="rect">
              <a:avLst/>
            </a:prstGeom>
          </p:spPr>
          <p:txBody>
            <a:bodyPr wrap="square">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Char char="ü"/>
                <a:tabLst/>
                <a:defRPr/>
              </a:pPr>
              <a:r>
                <a:rPr kumimoji="0" lang="en-US" altLang="ko-KR" sz="16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rPr>
                <a:t> </a:t>
              </a:r>
              <a:endParaRPr kumimoji="0" lang="ko-KR" altLang="en-US" sz="16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endParaRPr>
            </a:p>
          </p:txBody>
        </p:sp>
      </p:grpSp>
      <p:sp>
        <p:nvSpPr>
          <p:cNvPr id="49" name="직사각형 48">
            <a:extLst>
              <a:ext uri="{FF2B5EF4-FFF2-40B4-BE49-F238E27FC236}">
                <a16:creationId xmlns:a16="http://schemas.microsoft.com/office/drawing/2014/main" id="{5C39A64B-AFD4-EE86-1718-FB1C1F751305}"/>
              </a:ext>
            </a:extLst>
          </p:cNvPr>
          <p:cNvSpPr/>
          <p:nvPr/>
        </p:nvSpPr>
        <p:spPr>
          <a:xfrm>
            <a:off x="3745831" y="4525568"/>
            <a:ext cx="2627238" cy="438825"/>
          </a:xfrm>
          <a:prstGeom prst="rect">
            <a:avLst/>
          </a:prstGeom>
          <a:solidFill>
            <a:schemeClr val="bg1">
              <a:lumMod val="9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설문 응답자 중 성실 응답자 </a:t>
            </a:r>
            <a:r>
              <a:rPr lang="en-US" altLang="ko-KR" sz="1000" spc="-30" dirty="0">
                <a:ln w="3175">
                  <a:solidFill>
                    <a:prstClr val="white">
                      <a:alpha val="15000"/>
                    </a:prstClr>
                  </a:solidFill>
                </a:ln>
                <a:solidFill>
                  <a:prstClr val="black">
                    <a:lumMod val="95000"/>
                    <a:lumOff val="5000"/>
                  </a:prstClr>
                </a:solidFill>
                <a:latin typeface="a고딕14" panose="02020600000000000000" pitchFamily="18" charset="-127"/>
                <a:ea typeface="a고딕14" panose="02020600000000000000" pitchFamily="18" charset="-127"/>
              </a:rPr>
              <a:t>1,000</a:t>
            </a: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명</a:t>
            </a:r>
            <a:r>
              <a:rPr kumimoji="0" lang="ko-KR" altLang="en-US" sz="1000" b="0" i="0" u="none" strike="noStrike" kern="1200" cap="none" spc="-30" normalizeH="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 이상</a:t>
            </a: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 </a:t>
            </a:r>
            <a:br>
              <a:rPr kumimoji="0" lang="en-US" altLang="ko-KR"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b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추첨하여 답례품 제공</a:t>
            </a:r>
            <a:endParaRPr kumimoji="0" lang="en-US" altLang="ko-KR"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pic>
        <p:nvPicPr>
          <p:cNvPr id="57" name="그림 56">
            <a:extLst>
              <a:ext uri="{FF2B5EF4-FFF2-40B4-BE49-F238E27FC236}">
                <a16:creationId xmlns:a16="http://schemas.microsoft.com/office/drawing/2014/main" id="{19825E3E-A325-16CF-BC50-3439CF5F6D05}"/>
              </a:ext>
            </a:extLst>
          </p:cNvPr>
          <p:cNvPicPr>
            <a:picLocks noChangeAspect="1"/>
          </p:cNvPicPr>
          <p:nvPr/>
        </p:nvPicPr>
        <p:blipFill>
          <a:blip r:embed="rId5"/>
          <a:stretch>
            <a:fillRect/>
          </a:stretch>
        </p:blipFill>
        <p:spPr>
          <a:xfrm>
            <a:off x="3744173" y="5015407"/>
            <a:ext cx="1142378" cy="1400172"/>
          </a:xfrm>
          <a:prstGeom prst="rect">
            <a:avLst/>
          </a:prstGeom>
          <a:ln w="3175">
            <a:solidFill>
              <a:schemeClr val="tx1">
                <a:lumMod val="85000"/>
                <a:lumOff val="15000"/>
              </a:schemeClr>
            </a:solidFill>
          </a:ln>
        </p:spPr>
      </p:pic>
      <p:pic>
        <p:nvPicPr>
          <p:cNvPr id="61" name="그림 60">
            <a:extLst>
              <a:ext uri="{FF2B5EF4-FFF2-40B4-BE49-F238E27FC236}">
                <a16:creationId xmlns:a16="http://schemas.microsoft.com/office/drawing/2014/main" id="{735013B8-4157-41DF-DA7A-7C86E3870369}"/>
              </a:ext>
            </a:extLst>
          </p:cNvPr>
          <p:cNvPicPr>
            <a:picLocks noChangeAspect="1"/>
          </p:cNvPicPr>
          <p:nvPr/>
        </p:nvPicPr>
        <p:blipFill>
          <a:blip r:embed="rId6"/>
          <a:stretch>
            <a:fillRect/>
          </a:stretch>
        </p:blipFill>
        <p:spPr>
          <a:xfrm>
            <a:off x="5011335" y="5015407"/>
            <a:ext cx="1364757" cy="1401054"/>
          </a:xfrm>
          <a:prstGeom prst="rect">
            <a:avLst/>
          </a:prstGeom>
          <a:ln w="3175">
            <a:solidFill>
              <a:schemeClr val="tx1">
                <a:lumMod val="85000"/>
                <a:lumOff val="15000"/>
              </a:schemeClr>
            </a:solidFill>
          </a:ln>
        </p:spPr>
      </p:pic>
      <p:pic>
        <p:nvPicPr>
          <p:cNvPr id="65" name="그림 64">
            <a:extLst>
              <a:ext uri="{FF2B5EF4-FFF2-40B4-BE49-F238E27FC236}">
                <a16:creationId xmlns:a16="http://schemas.microsoft.com/office/drawing/2014/main" id="{476DD984-A64F-B369-DD11-6E434839A068}"/>
              </a:ext>
            </a:extLst>
          </p:cNvPr>
          <p:cNvPicPr>
            <a:picLocks noChangeAspect="1"/>
          </p:cNvPicPr>
          <p:nvPr/>
        </p:nvPicPr>
        <p:blipFill>
          <a:blip r:embed="rId7"/>
          <a:stretch>
            <a:fillRect/>
          </a:stretch>
        </p:blipFill>
        <p:spPr>
          <a:xfrm>
            <a:off x="710619" y="3714672"/>
            <a:ext cx="2434864" cy="958387"/>
          </a:xfrm>
          <a:prstGeom prst="rect">
            <a:avLst/>
          </a:prstGeom>
          <a:ln w="3175">
            <a:solidFill>
              <a:schemeClr val="tx1">
                <a:lumMod val="85000"/>
                <a:lumOff val="15000"/>
              </a:schemeClr>
            </a:solidFill>
          </a:ln>
        </p:spPr>
      </p:pic>
      <p:pic>
        <p:nvPicPr>
          <p:cNvPr id="63" name="그림 62">
            <a:extLst>
              <a:ext uri="{FF2B5EF4-FFF2-40B4-BE49-F238E27FC236}">
                <a16:creationId xmlns:a16="http://schemas.microsoft.com/office/drawing/2014/main" id="{83A1290C-15E1-9C2D-26CC-D2224E138AB4}"/>
              </a:ext>
            </a:extLst>
          </p:cNvPr>
          <p:cNvPicPr>
            <a:picLocks noChangeAspect="1"/>
          </p:cNvPicPr>
          <p:nvPr/>
        </p:nvPicPr>
        <p:blipFill>
          <a:blip r:embed="rId8"/>
          <a:stretch>
            <a:fillRect/>
          </a:stretch>
        </p:blipFill>
        <p:spPr>
          <a:xfrm>
            <a:off x="890131" y="4361343"/>
            <a:ext cx="2452426" cy="1224035"/>
          </a:xfrm>
          <a:prstGeom prst="rect">
            <a:avLst/>
          </a:prstGeom>
          <a:ln w="3175">
            <a:solidFill>
              <a:schemeClr val="tx1">
                <a:lumMod val="85000"/>
                <a:lumOff val="15000"/>
              </a:schemeClr>
            </a:solidFill>
          </a:ln>
        </p:spPr>
      </p:pic>
      <p:sp>
        <p:nvSpPr>
          <p:cNvPr id="66" name="직사각형 65">
            <a:extLst>
              <a:ext uri="{FF2B5EF4-FFF2-40B4-BE49-F238E27FC236}">
                <a16:creationId xmlns:a16="http://schemas.microsoft.com/office/drawing/2014/main" id="{EDBBB997-472D-EF2C-FC36-E58671AD4641}"/>
              </a:ext>
            </a:extLst>
          </p:cNvPr>
          <p:cNvSpPr/>
          <p:nvPr/>
        </p:nvSpPr>
        <p:spPr>
          <a:xfrm>
            <a:off x="6624047" y="2035066"/>
            <a:ext cx="2720640"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결과분석</a:t>
            </a:r>
          </a:p>
        </p:txBody>
      </p:sp>
      <p:sp>
        <p:nvSpPr>
          <p:cNvPr id="67" name="직사각형 66">
            <a:extLst>
              <a:ext uri="{FF2B5EF4-FFF2-40B4-BE49-F238E27FC236}">
                <a16:creationId xmlns:a16="http://schemas.microsoft.com/office/drawing/2014/main" id="{DE8E10CF-49E7-7132-B085-99126AF3EA39}"/>
              </a:ext>
            </a:extLst>
          </p:cNvPr>
          <p:cNvSpPr/>
          <p:nvPr/>
        </p:nvSpPr>
        <p:spPr>
          <a:xfrm>
            <a:off x="6624510" y="2425922"/>
            <a:ext cx="2720640" cy="458818"/>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a고딕14" panose="02020600000000000000" pitchFamily="18" charset="-127"/>
                <a:ea typeface="a고딕14" panose="02020600000000000000" pitchFamily="18" charset="-127"/>
              </a:rPr>
              <a:t>2024</a:t>
            </a:r>
            <a:r>
              <a:rPr lang="ko-KR" altLang="en-US" dirty="0">
                <a:solidFill>
                  <a:schemeClr val="tx1"/>
                </a:solidFill>
                <a:latin typeface="a고딕14" panose="02020600000000000000" pitchFamily="18" charset="-127"/>
                <a:ea typeface="a고딕14" panose="02020600000000000000" pitchFamily="18" charset="-127"/>
              </a:rPr>
              <a:t>년도 </a:t>
            </a:r>
            <a:r>
              <a:rPr lang="ko-KR" altLang="en-US" dirty="0" err="1">
                <a:solidFill>
                  <a:schemeClr val="tx1"/>
                </a:solidFill>
                <a:latin typeface="a고딕14" panose="02020600000000000000" pitchFamily="18" charset="-127"/>
                <a:ea typeface="a고딕14" panose="02020600000000000000" pitchFamily="18" charset="-127"/>
              </a:rPr>
              <a:t>세분류</a:t>
            </a:r>
            <a:r>
              <a:rPr lang="ko-KR" altLang="en-US" dirty="0">
                <a:solidFill>
                  <a:schemeClr val="tx1"/>
                </a:solidFill>
                <a:latin typeface="a고딕14" panose="02020600000000000000" pitchFamily="18" charset="-127"/>
                <a:ea typeface="a고딕14" panose="02020600000000000000" pitchFamily="18" charset="-127"/>
              </a:rPr>
              <a:t> 정량평가 결과</a:t>
            </a:r>
          </a:p>
        </p:txBody>
      </p:sp>
      <p:sp>
        <p:nvSpPr>
          <p:cNvPr id="68" name="직사각형 67">
            <a:extLst>
              <a:ext uri="{FF2B5EF4-FFF2-40B4-BE49-F238E27FC236}">
                <a16:creationId xmlns:a16="http://schemas.microsoft.com/office/drawing/2014/main" id="{3DBAF4A8-71C4-F743-6B1B-7090038F36B6}"/>
              </a:ext>
            </a:extLst>
          </p:cNvPr>
          <p:cNvSpPr/>
          <p:nvPr/>
        </p:nvSpPr>
        <p:spPr>
          <a:xfrm>
            <a:off x="6624510" y="3498772"/>
            <a:ext cx="2720640" cy="458818"/>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a고딕14" panose="02020600000000000000" pitchFamily="18" charset="-127"/>
                <a:ea typeface="a고딕14" panose="02020600000000000000" pitchFamily="18" charset="-127"/>
              </a:rPr>
              <a:t>2024</a:t>
            </a:r>
            <a:r>
              <a:rPr lang="ko-KR" altLang="en-US" dirty="0">
                <a:solidFill>
                  <a:schemeClr val="tx1"/>
                </a:solidFill>
                <a:latin typeface="a고딕14" panose="02020600000000000000" pitchFamily="18" charset="-127"/>
                <a:ea typeface="a고딕14" panose="02020600000000000000" pitchFamily="18" charset="-127"/>
              </a:rPr>
              <a:t>년도 </a:t>
            </a:r>
            <a:r>
              <a:rPr lang="ko-KR" altLang="en-US" dirty="0" err="1">
                <a:solidFill>
                  <a:schemeClr val="tx1"/>
                </a:solidFill>
                <a:latin typeface="a고딕14" panose="02020600000000000000" pitchFamily="18" charset="-127"/>
                <a:ea typeface="a고딕14" panose="02020600000000000000" pitchFamily="18" charset="-127"/>
              </a:rPr>
              <a:t>세분류</a:t>
            </a:r>
            <a:r>
              <a:rPr lang="ko-KR" altLang="en-US" dirty="0">
                <a:solidFill>
                  <a:schemeClr val="tx1"/>
                </a:solidFill>
                <a:latin typeface="a고딕14" panose="02020600000000000000" pitchFamily="18" charset="-127"/>
                <a:ea typeface="a고딕14" panose="02020600000000000000" pitchFamily="18" charset="-127"/>
              </a:rPr>
              <a:t> 정성평가 결과</a:t>
            </a:r>
          </a:p>
        </p:txBody>
      </p:sp>
      <p:sp>
        <p:nvSpPr>
          <p:cNvPr id="69" name="직사각형 68">
            <a:extLst>
              <a:ext uri="{FF2B5EF4-FFF2-40B4-BE49-F238E27FC236}">
                <a16:creationId xmlns:a16="http://schemas.microsoft.com/office/drawing/2014/main" id="{537235DA-14B5-D907-8EE8-40132264E45B}"/>
              </a:ext>
            </a:extLst>
          </p:cNvPr>
          <p:cNvSpPr/>
          <p:nvPr/>
        </p:nvSpPr>
        <p:spPr>
          <a:xfrm>
            <a:off x="6624510" y="4571622"/>
            <a:ext cx="2720640" cy="458818"/>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a고딕14" panose="02020600000000000000" pitchFamily="18" charset="-127"/>
                <a:ea typeface="a고딕14" panose="02020600000000000000" pitchFamily="18" charset="-127"/>
              </a:rPr>
              <a:t>2025</a:t>
            </a:r>
            <a:r>
              <a:rPr lang="ko-KR" altLang="en-US" dirty="0">
                <a:solidFill>
                  <a:schemeClr val="tx1"/>
                </a:solidFill>
                <a:latin typeface="a고딕14" panose="02020600000000000000" pitchFamily="18" charset="-127"/>
                <a:ea typeface="a고딕14" panose="02020600000000000000" pitchFamily="18" charset="-127"/>
              </a:rPr>
              <a:t>년도 수요조사 결과</a:t>
            </a:r>
          </a:p>
        </p:txBody>
      </p:sp>
      <p:sp>
        <p:nvSpPr>
          <p:cNvPr id="70" name="더하기 기호 69">
            <a:extLst>
              <a:ext uri="{FF2B5EF4-FFF2-40B4-BE49-F238E27FC236}">
                <a16:creationId xmlns:a16="http://schemas.microsoft.com/office/drawing/2014/main" id="{7AA45C5D-582A-B79E-D586-3DF9788B0EC6}"/>
              </a:ext>
            </a:extLst>
          </p:cNvPr>
          <p:cNvSpPr/>
          <p:nvPr/>
        </p:nvSpPr>
        <p:spPr>
          <a:xfrm>
            <a:off x="7661357" y="2868283"/>
            <a:ext cx="646946" cy="646946"/>
          </a:xfrm>
          <a:prstGeom prst="mathPlus">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71" name="더하기 기호 70">
            <a:extLst>
              <a:ext uri="{FF2B5EF4-FFF2-40B4-BE49-F238E27FC236}">
                <a16:creationId xmlns:a16="http://schemas.microsoft.com/office/drawing/2014/main" id="{D4E19378-5708-0051-0E51-9EE850426E37}"/>
              </a:ext>
            </a:extLst>
          </p:cNvPr>
          <p:cNvSpPr/>
          <p:nvPr/>
        </p:nvSpPr>
        <p:spPr>
          <a:xfrm>
            <a:off x="7661357" y="3941133"/>
            <a:ext cx="646946" cy="646946"/>
          </a:xfrm>
          <a:prstGeom prst="mathPlus">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72" name="자유형 3">
            <a:extLst>
              <a:ext uri="{FF2B5EF4-FFF2-40B4-BE49-F238E27FC236}">
                <a16:creationId xmlns:a16="http://schemas.microsoft.com/office/drawing/2014/main" id="{F185579A-F167-6A18-42C1-B851E90C5920}"/>
              </a:ext>
            </a:extLst>
          </p:cNvPr>
          <p:cNvSpPr>
            <a:spLocks/>
          </p:cNvSpPr>
          <p:nvPr>
            <p:custDataLst>
              <p:tags r:id="rId1"/>
            </p:custDataLst>
          </p:nvPr>
        </p:nvSpPr>
        <p:spPr bwMode="auto">
          <a:xfrm rot="5400000" flipV="1">
            <a:off x="7718521" y="3936432"/>
            <a:ext cx="532160" cy="2720177"/>
          </a:xfrm>
          <a:custGeom>
            <a:avLst/>
            <a:gdLst>
              <a:gd name="connsiteX0" fmla="*/ 833286 w 833286"/>
              <a:gd name="connsiteY0" fmla="*/ 2496942 h 5034729"/>
              <a:gd name="connsiteX1" fmla="*/ 621706 w 833286"/>
              <a:gd name="connsiteY1" fmla="*/ 3061826 h 5034729"/>
              <a:gd name="connsiteX2" fmla="*/ 618254 w 833286"/>
              <a:gd name="connsiteY2" fmla="*/ 3068504 h 5034729"/>
              <a:gd name="connsiteX3" fmla="*/ 618254 w 833286"/>
              <a:gd name="connsiteY3" fmla="*/ 2909120 h 5034729"/>
              <a:gd name="connsiteX4" fmla="*/ 586913 w 833286"/>
              <a:gd name="connsiteY4" fmla="*/ 2935933 h 5034729"/>
              <a:gd name="connsiteX5" fmla="*/ 556998 w 833286"/>
              <a:gd name="connsiteY5" fmla="*/ 2952318 h 5034729"/>
              <a:gd name="connsiteX6" fmla="*/ 527083 w 833286"/>
              <a:gd name="connsiteY6" fmla="*/ 2974661 h 5034729"/>
              <a:gd name="connsiteX7" fmla="*/ 497167 w 833286"/>
              <a:gd name="connsiteY7" fmla="*/ 3008921 h 5034729"/>
              <a:gd name="connsiteX8" fmla="*/ 468676 w 833286"/>
              <a:gd name="connsiteY8" fmla="*/ 3043181 h 5034729"/>
              <a:gd name="connsiteX9" fmla="*/ 440185 w 833286"/>
              <a:gd name="connsiteY9" fmla="*/ 3077441 h 5034729"/>
              <a:gd name="connsiteX10" fmla="*/ 411694 w 833286"/>
              <a:gd name="connsiteY10" fmla="*/ 3116170 h 5034729"/>
              <a:gd name="connsiteX11" fmla="*/ 384628 w 833286"/>
              <a:gd name="connsiteY11" fmla="*/ 3159367 h 5034729"/>
              <a:gd name="connsiteX12" fmla="*/ 358986 w 833286"/>
              <a:gd name="connsiteY12" fmla="*/ 3207033 h 5034729"/>
              <a:gd name="connsiteX13" fmla="*/ 333344 w 833286"/>
              <a:gd name="connsiteY13" fmla="*/ 3259168 h 5034729"/>
              <a:gd name="connsiteX14" fmla="*/ 307702 w 833286"/>
              <a:gd name="connsiteY14" fmla="*/ 3314282 h 5034729"/>
              <a:gd name="connsiteX15" fmla="*/ 283485 w 833286"/>
              <a:gd name="connsiteY15" fmla="*/ 3370886 h 5034729"/>
              <a:gd name="connsiteX16" fmla="*/ 257843 w 833286"/>
              <a:gd name="connsiteY16" fmla="*/ 3430468 h 5034729"/>
              <a:gd name="connsiteX17" fmla="*/ 235050 w 833286"/>
              <a:gd name="connsiteY17" fmla="*/ 3496009 h 5034729"/>
              <a:gd name="connsiteX18" fmla="*/ 215107 w 833286"/>
              <a:gd name="connsiteY18" fmla="*/ 3560060 h 5034729"/>
              <a:gd name="connsiteX19" fmla="*/ 192314 w 833286"/>
              <a:gd name="connsiteY19" fmla="*/ 3630070 h 5034729"/>
              <a:gd name="connsiteX20" fmla="*/ 173795 w 833286"/>
              <a:gd name="connsiteY20" fmla="*/ 3698590 h 5034729"/>
              <a:gd name="connsiteX21" fmla="*/ 155276 w 833286"/>
              <a:gd name="connsiteY21" fmla="*/ 3776047 h 5034729"/>
              <a:gd name="connsiteX22" fmla="*/ 136757 w 833286"/>
              <a:gd name="connsiteY22" fmla="*/ 3853504 h 5034729"/>
              <a:gd name="connsiteX23" fmla="*/ 121087 w 833286"/>
              <a:gd name="connsiteY23" fmla="*/ 3930962 h 5034729"/>
              <a:gd name="connsiteX24" fmla="*/ 102568 w 833286"/>
              <a:gd name="connsiteY24" fmla="*/ 4012888 h 5034729"/>
              <a:gd name="connsiteX25" fmla="*/ 86897 w 833286"/>
              <a:gd name="connsiteY25" fmla="*/ 4094814 h 5034729"/>
              <a:gd name="connsiteX26" fmla="*/ 74077 w 833286"/>
              <a:gd name="connsiteY26" fmla="*/ 4181209 h 5034729"/>
              <a:gd name="connsiteX27" fmla="*/ 59831 w 833286"/>
              <a:gd name="connsiteY27" fmla="*/ 4267603 h 5034729"/>
              <a:gd name="connsiteX28" fmla="*/ 48435 w 833286"/>
              <a:gd name="connsiteY28" fmla="*/ 4362936 h 5034729"/>
              <a:gd name="connsiteX29" fmla="*/ 38463 w 833286"/>
              <a:gd name="connsiteY29" fmla="*/ 4452309 h 5034729"/>
              <a:gd name="connsiteX30" fmla="*/ 28491 w 833286"/>
              <a:gd name="connsiteY30" fmla="*/ 4547642 h 5034729"/>
              <a:gd name="connsiteX31" fmla="*/ 21368 w 833286"/>
              <a:gd name="connsiteY31" fmla="*/ 4642974 h 5034729"/>
              <a:gd name="connsiteX32" fmla="*/ 12821 w 833286"/>
              <a:gd name="connsiteY32" fmla="*/ 4736816 h 5034729"/>
              <a:gd name="connsiteX33" fmla="*/ 7123 w 833286"/>
              <a:gd name="connsiteY33" fmla="*/ 4836617 h 5034729"/>
              <a:gd name="connsiteX34" fmla="*/ 2849 w 833286"/>
              <a:gd name="connsiteY34" fmla="*/ 4934928 h 5034729"/>
              <a:gd name="connsiteX35" fmla="*/ 0 w 833286"/>
              <a:gd name="connsiteY35" fmla="*/ 5034729 h 5034729"/>
              <a:gd name="connsiteX36" fmla="*/ 0 w 833286"/>
              <a:gd name="connsiteY36" fmla="*/ 0 h 5034729"/>
              <a:gd name="connsiteX37" fmla="*/ 2849 w 833286"/>
              <a:gd name="connsiteY37" fmla="*/ 99801 h 5034729"/>
              <a:gd name="connsiteX38" fmla="*/ 7123 w 833286"/>
              <a:gd name="connsiteY38" fmla="*/ 202581 h 5034729"/>
              <a:gd name="connsiteX39" fmla="*/ 12821 w 833286"/>
              <a:gd name="connsiteY39" fmla="*/ 297913 h 5034729"/>
              <a:gd name="connsiteX40" fmla="*/ 21368 w 833286"/>
              <a:gd name="connsiteY40" fmla="*/ 396225 h 5034729"/>
              <a:gd name="connsiteX41" fmla="*/ 28491 w 833286"/>
              <a:gd name="connsiteY41" fmla="*/ 491557 h 5034729"/>
              <a:gd name="connsiteX42" fmla="*/ 38463 w 833286"/>
              <a:gd name="connsiteY42" fmla="*/ 582420 h 5034729"/>
              <a:gd name="connsiteX43" fmla="*/ 48435 w 833286"/>
              <a:gd name="connsiteY43" fmla="*/ 676263 h 5034729"/>
              <a:gd name="connsiteX44" fmla="*/ 59831 w 833286"/>
              <a:gd name="connsiteY44" fmla="*/ 767126 h 5034729"/>
              <a:gd name="connsiteX45" fmla="*/ 74077 w 833286"/>
              <a:gd name="connsiteY45" fmla="*/ 853521 h 5034729"/>
              <a:gd name="connsiteX46" fmla="*/ 86897 w 833286"/>
              <a:gd name="connsiteY46" fmla="*/ 944384 h 5034729"/>
              <a:gd name="connsiteX47" fmla="*/ 102567 w 833286"/>
              <a:gd name="connsiteY47" fmla="*/ 1021842 h 5034729"/>
              <a:gd name="connsiteX48" fmla="*/ 121087 w 833286"/>
              <a:gd name="connsiteY48" fmla="*/ 1108236 h 5034729"/>
              <a:gd name="connsiteX49" fmla="*/ 136757 w 833286"/>
              <a:gd name="connsiteY49" fmla="*/ 1185694 h 5034729"/>
              <a:gd name="connsiteX50" fmla="*/ 155276 w 833286"/>
              <a:gd name="connsiteY50" fmla="*/ 1258682 h 5034729"/>
              <a:gd name="connsiteX51" fmla="*/ 173795 w 833286"/>
              <a:gd name="connsiteY51" fmla="*/ 1340609 h 5034729"/>
              <a:gd name="connsiteX52" fmla="*/ 192314 w 833286"/>
              <a:gd name="connsiteY52" fmla="*/ 1404660 h 5034729"/>
              <a:gd name="connsiteX53" fmla="*/ 215107 w 833286"/>
              <a:gd name="connsiteY53" fmla="*/ 1479138 h 5034729"/>
              <a:gd name="connsiteX54" fmla="*/ 235050 w 833286"/>
              <a:gd name="connsiteY54" fmla="*/ 1543189 h 5034729"/>
              <a:gd name="connsiteX55" fmla="*/ 257843 w 833286"/>
              <a:gd name="connsiteY55" fmla="*/ 1607241 h 5034729"/>
              <a:gd name="connsiteX56" fmla="*/ 283485 w 833286"/>
              <a:gd name="connsiteY56" fmla="*/ 1668313 h 5034729"/>
              <a:gd name="connsiteX57" fmla="*/ 307702 w 833286"/>
              <a:gd name="connsiteY57" fmla="*/ 1724916 h 5034729"/>
              <a:gd name="connsiteX58" fmla="*/ 333344 w 833286"/>
              <a:gd name="connsiteY58" fmla="*/ 1775561 h 5034729"/>
              <a:gd name="connsiteX59" fmla="*/ 358986 w 833286"/>
              <a:gd name="connsiteY59" fmla="*/ 1827696 h 5034729"/>
              <a:gd name="connsiteX60" fmla="*/ 384628 w 833286"/>
              <a:gd name="connsiteY60" fmla="*/ 1879831 h 5034729"/>
              <a:gd name="connsiteX61" fmla="*/ 411694 w 833286"/>
              <a:gd name="connsiteY61" fmla="*/ 1923028 h 5034729"/>
              <a:gd name="connsiteX62" fmla="*/ 440185 w 833286"/>
              <a:gd name="connsiteY62" fmla="*/ 1961757 h 5034729"/>
              <a:gd name="connsiteX63" fmla="*/ 468676 w 833286"/>
              <a:gd name="connsiteY63" fmla="*/ 1996017 h 5034729"/>
              <a:gd name="connsiteX64" fmla="*/ 497167 w 833286"/>
              <a:gd name="connsiteY64" fmla="*/ 2030277 h 5034729"/>
              <a:gd name="connsiteX65" fmla="*/ 527083 w 833286"/>
              <a:gd name="connsiteY65" fmla="*/ 2060068 h 5034729"/>
              <a:gd name="connsiteX66" fmla="*/ 556998 w 833286"/>
              <a:gd name="connsiteY66" fmla="*/ 2086880 h 5034729"/>
              <a:gd name="connsiteX67" fmla="*/ 586913 w 833286"/>
              <a:gd name="connsiteY67" fmla="*/ 2107734 h 5034729"/>
              <a:gd name="connsiteX68" fmla="*/ 618254 w 833286"/>
              <a:gd name="connsiteY68" fmla="*/ 2125609 h 5034729"/>
              <a:gd name="connsiteX69" fmla="*/ 618254 w 833286"/>
              <a:gd name="connsiteY69" fmla="*/ 1969205 h 5034729"/>
              <a:gd name="connsiteX70" fmla="*/ 635975 w 833286"/>
              <a:gd name="connsiteY70" fmla="*/ 2001318 h 5034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33286" h="5034729">
                <a:moveTo>
                  <a:pt x="833286" y="2496942"/>
                </a:moveTo>
                <a:lnTo>
                  <a:pt x="621706" y="3061826"/>
                </a:lnTo>
                <a:lnTo>
                  <a:pt x="618254" y="3068504"/>
                </a:lnTo>
                <a:lnTo>
                  <a:pt x="618254" y="2909120"/>
                </a:lnTo>
                <a:lnTo>
                  <a:pt x="586913" y="2935933"/>
                </a:lnTo>
                <a:lnTo>
                  <a:pt x="556998" y="2952318"/>
                </a:lnTo>
                <a:lnTo>
                  <a:pt x="527083" y="2974661"/>
                </a:lnTo>
                <a:lnTo>
                  <a:pt x="497167" y="3008921"/>
                </a:lnTo>
                <a:lnTo>
                  <a:pt x="468676" y="3043181"/>
                </a:lnTo>
                <a:lnTo>
                  <a:pt x="440185" y="3077441"/>
                </a:lnTo>
                <a:lnTo>
                  <a:pt x="411694" y="3116170"/>
                </a:lnTo>
                <a:lnTo>
                  <a:pt x="384628" y="3159367"/>
                </a:lnTo>
                <a:lnTo>
                  <a:pt x="358986" y="3207033"/>
                </a:lnTo>
                <a:lnTo>
                  <a:pt x="333344" y="3259168"/>
                </a:lnTo>
                <a:lnTo>
                  <a:pt x="307702" y="3314282"/>
                </a:lnTo>
                <a:lnTo>
                  <a:pt x="283485" y="3370886"/>
                </a:lnTo>
                <a:lnTo>
                  <a:pt x="257843" y="3430468"/>
                </a:lnTo>
                <a:lnTo>
                  <a:pt x="235050" y="3496009"/>
                </a:lnTo>
                <a:lnTo>
                  <a:pt x="215107" y="3560060"/>
                </a:lnTo>
                <a:lnTo>
                  <a:pt x="192314" y="3630070"/>
                </a:lnTo>
                <a:lnTo>
                  <a:pt x="173795" y="3698590"/>
                </a:lnTo>
                <a:lnTo>
                  <a:pt x="155276" y="3776047"/>
                </a:lnTo>
                <a:lnTo>
                  <a:pt x="136757" y="3853504"/>
                </a:lnTo>
                <a:lnTo>
                  <a:pt x="121087" y="3930962"/>
                </a:lnTo>
                <a:lnTo>
                  <a:pt x="102568" y="4012888"/>
                </a:lnTo>
                <a:lnTo>
                  <a:pt x="86897" y="4094814"/>
                </a:lnTo>
                <a:lnTo>
                  <a:pt x="74077" y="4181209"/>
                </a:lnTo>
                <a:lnTo>
                  <a:pt x="59831" y="4267603"/>
                </a:lnTo>
                <a:lnTo>
                  <a:pt x="48435" y="4362936"/>
                </a:lnTo>
                <a:lnTo>
                  <a:pt x="38463" y="4452309"/>
                </a:lnTo>
                <a:lnTo>
                  <a:pt x="28491" y="4547642"/>
                </a:lnTo>
                <a:lnTo>
                  <a:pt x="21368" y="4642974"/>
                </a:lnTo>
                <a:lnTo>
                  <a:pt x="12821" y="4736816"/>
                </a:lnTo>
                <a:lnTo>
                  <a:pt x="7123" y="4836617"/>
                </a:lnTo>
                <a:lnTo>
                  <a:pt x="2849" y="4934928"/>
                </a:lnTo>
                <a:lnTo>
                  <a:pt x="0" y="5034729"/>
                </a:lnTo>
                <a:lnTo>
                  <a:pt x="0" y="0"/>
                </a:lnTo>
                <a:lnTo>
                  <a:pt x="2849" y="99801"/>
                </a:lnTo>
                <a:lnTo>
                  <a:pt x="7123" y="202581"/>
                </a:lnTo>
                <a:lnTo>
                  <a:pt x="12821" y="297913"/>
                </a:lnTo>
                <a:lnTo>
                  <a:pt x="21368" y="396225"/>
                </a:lnTo>
                <a:lnTo>
                  <a:pt x="28491" y="491557"/>
                </a:lnTo>
                <a:lnTo>
                  <a:pt x="38463" y="582420"/>
                </a:lnTo>
                <a:lnTo>
                  <a:pt x="48435" y="676263"/>
                </a:lnTo>
                <a:lnTo>
                  <a:pt x="59831" y="767126"/>
                </a:lnTo>
                <a:lnTo>
                  <a:pt x="74077" y="853521"/>
                </a:lnTo>
                <a:lnTo>
                  <a:pt x="86897" y="944384"/>
                </a:lnTo>
                <a:lnTo>
                  <a:pt x="102567" y="1021842"/>
                </a:lnTo>
                <a:lnTo>
                  <a:pt x="121087" y="1108236"/>
                </a:lnTo>
                <a:lnTo>
                  <a:pt x="136757" y="1185694"/>
                </a:lnTo>
                <a:lnTo>
                  <a:pt x="155276" y="1258682"/>
                </a:lnTo>
                <a:lnTo>
                  <a:pt x="173795" y="1340609"/>
                </a:lnTo>
                <a:lnTo>
                  <a:pt x="192314" y="1404660"/>
                </a:lnTo>
                <a:lnTo>
                  <a:pt x="215107" y="1479138"/>
                </a:lnTo>
                <a:lnTo>
                  <a:pt x="235050" y="1543189"/>
                </a:lnTo>
                <a:lnTo>
                  <a:pt x="257843" y="1607241"/>
                </a:lnTo>
                <a:lnTo>
                  <a:pt x="283485" y="1668313"/>
                </a:lnTo>
                <a:lnTo>
                  <a:pt x="307702" y="1724916"/>
                </a:lnTo>
                <a:lnTo>
                  <a:pt x="333344" y="1775561"/>
                </a:lnTo>
                <a:lnTo>
                  <a:pt x="358986" y="1827696"/>
                </a:lnTo>
                <a:lnTo>
                  <a:pt x="384628" y="1879831"/>
                </a:lnTo>
                <a:lnTo>
                  <a:pt x="411694" y="1923028"/>
                </a:lnTo>
                <a:lnTo>
                  <a:pt x="440185" y="1961757"/>
                </a:lnTo>
                <a:lnTo>
                  <a:pt x="468676" y="1996017"/>
                </a:lnTo>
                <a:lnTo>
                  <a:pt x="497167" y="2030277"/>
                </a:lnTo>
                <a:lnTo>
                  <a:pt x="527083" y="2060068"/>
                </a:lnTo>
                <a:lnTo>
                  <a:pt x="556998" y="2086880"/>
                </a:lnTo>
                <a:lnTo>
                  <a:pt x="586913" y="2107734"/>
                </a:lnTo>
                <a:lnTo>
                  <a:pt x="618254" y="2125609"/>
                </a:lnTo>
                <a:lnTo>
                  <a:pt x="618254" y="1969205"/>
                </a:lnTo>
                <a:lnTo>
                  <a:pt x="635975" y="2001318"/>
                </a:lnTo>
                <a:close/>
              </a:path>
            </a:pathLst>
          </a:custGeom>
          <a:gradFill flip="none" rotWithShape="1">
            <a:gsLst>
              <a:gs pos="0">
                <a:schemeClr val="bg1"/>
              </a:gs>
              <a:gs pos="100000">
                <a:schemeClr val="bg1">
                  <a:lumMod val="50000"/>
                </a:schemeClr>
              </a:gs>
            </a:gsLst>
            <a:lin ang="0" scaled="1"/>
            <a:tileRect/>
          </a:gradFill>
          <a:ln w="4826" cap="flat" cmpd="sng">
            <a:noFill/>
            <a:prstDash val="solid"/>
            <a:round/>
            <a:headEnd type="none" w="med" len="med"/>
            <a:tailEnd type="none" w="med" len="med"/>
          </a:ln>
          <a:effectLst/>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a고딕14" panose="02020600000000000000" pitchFamily="18" charset="-127"/>
              <a:ea typeface="a고딕14" panose="02020600000000000000" pitchFamily="18" charset="-127"/>
            </a:endParaRPr>
          </a:p>
        </p:txBody>
      </p:sp>
      <p:sp>
        <p:nvSpPr>
          <p:cNvPr id="73" name="직사각형 72">
            <a:extLst>
              <a:ext uri="{FF2B5EF4-FFF2-40B4-BE49-F238E27FC236}">
                <a16:creationId xmlns:a16="http://schemas.microsoft.com/office/drawing/2014/main" id="{03C08936-63E8-07F7-47B9-DFB510F11908}"/>
              </a:ext>
            </a:extLst>
          </p:cNvPr>
          <p:cNvSpPr/>
          <p:nvPr/>
        </p:nvSpPr>
        <p:spPr>
          <a:xfrm>
            <a:off x="6624512" y="5586116"/>
            <a:ext cx="2721101" cy="916871"/>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tIns="18000" rIns="72000" bIns="18000" rtlCol="0" anchor="ctr"/>
          <a:lstStyle/>
          <a:p>
            <a:pPr marL="85725" indent="-85725" algn="l" latinLnBrk="0">
              <a:spcBef>
                <a:spcPts val="0"/>
              </a:spcBef>
              <a:spcAft>
                <a:spcPts val="300"/>
              </a:spcAft>
              <a:buFont typeface="Arial" panose="020B0604020202020204" pitchFamily="34" charset="0"/>
              <a:buChar char="•"/>
            </a:pPr>
            <a:r>
              <a:rPr lang="en-US" altLang="ko-KR" sz="1100" dirty="0">
                <a:solidFill>
                  <a:schemeClr val="tx1"/>
                </a:solidFill>
                <a:latin typeface="Arial Narrow" panose="020B0606020202030204" pitchFamily="34" charset="0"/>
                <a:ea typeface="a고딕14" panose="02020600000000000000" pitchFamily="18" charset="-127"/>
              </a:rPr>
              <a:t>(</a:t>
            </a:r>
            <a:r>
              <a:rPr lang="ko-KR" altLang="en-US" sz="1100" dirty="0">
                <a:solidFill>
                  <a:schemeClr val="tx1"/>
                </a:solidFill>
                <a:latin typeface="Arial Narrow" panose="020B0606020202030204" pitchFamily="34" charset="0"/>
                <a:ea typeface="a고딕14" panose="02020600000000000000" pitchFamily="18" charset="-127"/>
              </a:rPr>
              <a:t>정량</a:t>
            </a:r>
            <a:r>
              <a:rPr lang="en-US" altLang="ko-KR" sz="1100" dirty="0">
                <a:solidFill>
                  <a:schemeClr val="tx1"/>
                </a:solidFill>
                <a:latin typeface="Arial Narrow" panose="020B0606020202030204" pitchFamily="34" charset="0"/>
                <a:ea typeface="a고딕14" panose="02020600000000000000" pitchFamily="18" charset="-127"/>
              </a:rPr>
              <a:t>70%:</a:t>
            </a:r>
            <a:r>
              <a:rPr lang="ko-KR" altLang="en-US" sz="1100" dirty="0">
                <a:solidFill>
                  <a:schemeClr val="tx1"/>
                </a:solidFill>
                <a:latin typeface="Arial Narrow" panose="020B0606020202030204" pitchFamily="34" charset="0"/>
                <a:ea typeface="a고딕14" panose="02020600000000000000" pitchFamily="18" charset="-127"/>
              </a:rPr>
              <a:t>정성</a:t>
            </a:r>
            <a:r>
              <a:rPr lang="en-US" altLang="ko-KR" sz="1100" dirty="0">
                <a:solidFill>
                  <a:schemeClr val="tx1"/>
                </a:solidFill>
                <a:latin typeface="Arial Narrow" panose="020B0606020202030204" pitchFamily="34" charset="0"/>
                <a:ea typeface="a고딕14" panose="02020600000000000000" pitchFamily="18" charset="-127"/>
              </a:rPr>
              <a:t>30%) + </a:t>
            </a:r>
            <a:r>
              <a:rPr lang="ko-KR" altLang="en-US" sz="1100" dirty="0">
                <a:solidFill>
                  <a:schemeClr val="tx1"/>
                </a:solidFill>
                <a:latin typeface="Arial Narrow" panose="020B0606020202030204" pitchFamily="34" charset="0"/>
                <a:ea typeface="a고딕14" panose="02020600000000000000" pitchFamily="18" charset="-127"/>
              </a:rPr>
              <a:t>수요조사 </a:t>
            </a:r>
            <a:r>
              <a:rPr lang="en-US" altLang="ko-KR" sz="1100" dirty="0">
                <a:solidFill>
                  <a:schemeClr val="tx1"/>
                </a:solidFill>
                <a:latin typeface="Arial Narrow" panose="020B0606020202030204" pitchFamily="34" charset="0"/>
                <a:ea typeface="a고딕14" panose="02020600000000000000" pitchFamily="18" charset="-127"/>
              </a:rPr>
              <a:t>= 200</a:t>
            </a:r>
            <a:r>
              <a:rPr lang="ko-KR" altLang="en-US" sz="1100" dirty="0">
                <a:solidFill>
                  <a:schemeClr val="tx1"/>
                </a:solidFill>
                <a:latin typeface="Arial Narrow" panose="020B0606020202030204" pitchFamily="34" charset="0"/>
                <a:ea typeface="a고딕14" panose="02020600000000000000" pitchFamily="18" charset="-127"/>
              </a:rPr>
              <a:t>점 만점으로 항목별 가중치를 부여하여 계산하겠음</a:t>
            </a:r>
            <a:endParaRPr lang="en-US" altLang="ko-KR" sz="1100" dirty="0">
              <a:solidFill>
                <a:schemeClr val="tx1"/>
              </a:solidFill>
              <a:latin typeface="Arial Narrow" panose="020B0606020202030204" pitchFamily="34" charset="0"/>
              <a:ea typeface="a고딕14" panose="02020600000000000000" pitchFamily="18" charset="-127"/>
            </a:endParaRPr>
          </a:p>
          <a:p>
            <a:pPr marL="85725" indent="-85725" algn="l" latinLnBrk="0">
              <a:spcBef>
                <a:spcPts val="0"/>
              </a:spcBef>
              <a:spcAft>
                <a:spcPts val="300"/>
              </a:spcAft>
              <a:buFont typeface="Arial" panose="020B0604020202020204" pitchFamily="34" charset="0"/>
              <a:buChar char="•"/>
            </a:pPr>
            <a:r>
              <a:rPr lang="en-US" altLang="ko-KR" sz="1100" dirty="0">
                <a:solidFill>
                  <a:schemeClr val="tx1"/>
                </a:solidFill>
                <a:latin typeface="Arial Narrow" panose="020B0606020202030204" pitchFamily="34" charset="0"/>
                <a:ea typeface="a고딕14" panose="02020600000000000000" pitchFamily="18" charset="-127"/>
              </a:rPr>
              <a:t> </a:t>
            </a:r>
            <a:r>
              <a:rPr lang="ko-KR" altLang="en-US" sz="1100" dirty="0">
                <a:solidFill>
                  <a:schemeClr val="tx1"/>
                </a:solidFill>
                <a:latin typeface="Arial Narrow" panose="020B0606020202030204" pitchFamily="34" charset="0"/>
                <a:ea typeface="a고딕14" panose="02020600000000000000" pitchFamily="18" charset="-127"/>
              </a:rPr>
              <a:t>점수 통합 후 전문가 검토를 실시하여  교육과정 중복 여부 및 타당도를 검증하겠음</a:t>
            </a:r>
            <a:endParaRPr lang="en-US" altLang="ko-KR" sz="1100" dirty="0">
              <a:solidFill>
                <a:schemeClr val="tx1"/>
              </a:solidFill>
              <a:latin typeface="Arial Narrow" panose="020B0606020202030204" pitchFamily="34" charset="0"/>
              <a:ea typeface="a고딕14" panose="02020600000000000000" pitchFamily="18" charset="-127"/>
            </a:endParaRPr>
          </a:p>
        </p:txBody>
      </p:sp>
      <p:sp>
        <p:nvSpPr>
          <p:cNvPr id="74" name="사각형: 둥근 모서리 73">
            <a:extLst>
              <a:ext uri="{FF2B5EF4-FFF2-40B4-BE49-F238E27FC236}">
                <a16:creationId xmlns:a16="http://schemas.microsoft.com/office/drawing/2014/main" id="{4D85DBB8-1FE1-475E-4EC0-5A09071D2BA9}"/>
              </a:ext>
            </a:extLst>
          </p:cNvPr>
          <p:cNvSpPr/>
          <p:nvPr/>
        </p:nvSpPr>
        <p:spPr>
          <a:xfrm>
            <a:off x="6534426" y="2357164"/>
            <a:ext cx="468052" cy="220478"/>
          </a:xfrm>
          <a:prstGeom prst="round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①</a:t>
            </a:r>
            <a:endParaRPr lang="en-US" altLang="ko-KR" dirty="0">
              <a:solidFill>
                <a:schemeClr val="bg1"/>
              </a:solidFill>
              <a:latin typeface="Arial Narrow" panose="020B0606020202030204" pitchFamily="34" charset="0"/>
              <a:ea typeface="a고딕14" panose="02020600000000000000" pitchFamily="18" charset="-127"/>
            </a:endParaRPr>
          </a:p>
        </p:txBody>
      </p:sp>
      <p:sp>
        <p:nvSpPr>
          <p:cNvPr id="75" name="사각형: 둥근 모서리 74">
            <a:extLst>
              <a:ext uri="{FF2B5EF4-FFF2-40B4-BE49-F238E27FC236}">
                <a16:creationId xmlns:a16="http://schemas.microsoft.com/office/drawing/2014/main" id="{21B712B3-DCE8-1B15-35E2-8EB8AB93D122}"/>
              </a:ext>
            </a:extLst>
          </p:cNvPr>
          <p:cNvSpPr/>
          <p:nvPr/>
        </p:nvSpPr>
        <p:spPr>
          <a:xfrm>
            <a:off x="6534426" y="3443789"/>
            <a:ext cx="468052" cy="220478"/>
          </a:xfrm>
          <a:prstGeom prst="round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②</a:t>
            </a:r>
            <a:endParaRPr lang="en-US" altLang="ko-KR" dirty="0">
              <a:solidFill>
                <a:schemeClr val="bg1"/>
              </a:solidFill>
              <a:latin typeface="Arial Narrow" panose="020B0606020202030204" pitchFamily="34" charset="0"/>
              <a:ea typeface="a고딕14" panose="02020600000000000000" pitchFamily="18" charset="-127"/>
            </a:endParaRPr>
          </a:p>
        </p:txBody>
      </p:sp>
      <p:sp>
        <p:nvSpPr>
          <p:cNvPr id="76" name="사각형: 둥근 모서리 75">
            <a:extLst>
              <a:ext uri="{FF2B5EF4-FFF2-40B4-BE49-F238E27FC236}">
                <a16:creationId xmlns:a16="http://schemas.microsoft.com/office/drawing/2014/main" id="{A8146201-7709-DAA6-466A-E394462D2B72}"/>
              </a:ext>
            </a:extLst>
          </p:cNvPr>
          <p:cNvSpPr/>
          <p:nvPr/>
        </p:nvSpPr>
        <p:spPr>
          <a:xfrm>
            <a:off x="6534426" y="4502946"/>
            <a:ext cx="468052" cy="220478"/>
          </a:xfrm>
          <a:prstGeom prst="round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③</a:t>
            </a:r>
            <a:endParaRPr lang="en-US" altLang="ko-KR" dirty="0">
              <a:solidFill>
                <a:schemeClr val="bg1"/>
              </a:solidFill>
              <a:latin typeface="Arial Narrow" panose="020B0606020202030204" pitchFamily="34" charset="0"/>
              <a:ea typeface="a고딕14" panose="02020600000000000000" pitchFamily="18" charset="-127"/>
            </a:endParaRPr>
          </a:p>
        </p:txBody>
      </p:sp>
      <p:pic>
        <p:nvPicPr>
          <p:cNvPr id="21" name="Picture 3">
            <a:extLst>
              <a:ext uri="{FF2B5EF4-FFF2-40B4-BE49-F238E27FC236}">
                <a16:creationId xmlns:a16="http://schemas.microsoft.com/office/drawing/2014/main" id="{1B134ED9-896D-8C3F-BB97-55BA99592357}"/>
              </a:ext>
            </a:extLst>
          </p:cNvPr>
          <p:cNvPicPr>
            <a:picLocks noChangeAspect="1" noChangeArrowheads="1"/>
          </p:cNvPicPr>
          <p:nvPr/>
        </p:nvPicPr>
        <p:blipFill>
          <a:blip r:embed="rId9" cstate="print">
            <a:grayscl/>
            <a:extLst>
              <a:ext uri="{28A0092B-C50C-407E-A947-70E740481C1C}">
                <a14:useLocalDpi xmlns:a14="http://schemas.microsoft.com/office/drawing/2010/main" val="0"/>
              </a:ext>
            </a:extLst>
          </a:blip>
          <a:srcRect/>
          <a:stretch>
            <a:fillRect/>
          </a:stretch>
        </p:blipFill>
        <p:spPr bwMode="auto">
          <a:xfrm rot="9412876" flipH="1" flipV="1">
            <a:off x="2218177" y="5516046"/>
            <a:ext cx="410061" cy="279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9106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CE884-7B99-9874-D596-B9DAFD2CC802}"/>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877B9371-85FA-C56D-E5D7-47F98D4E66AF}"/>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B20153FD-329E-6D58-A20E-AA6694974A1D}"/>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교육과정 개요서 작성</a:t>
            </a:r>
          </a:p>
        </p:txBody>
      </p:sp>
      <p:sp>
        <p:nvSpPr>
          <p:cNvPr id="12" name="직사각형 11">
            <a:extLst>
              <a:ext uri="{FF2B5EF4-FFF2-40B4-BE49-F238E27FC236}">
                <a16:creationId xmlns:a16="http://schemas.microsoft.com/office/drawing/2014/main" id="{AA867FA0-F7FB-4CE3-E4F1-A8DAE2A38E4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E9D31215-A946-AB0B-204F-8B430A341B48}"/>
              </a:ext>
            </a:extLst>
          </p:cNvPr>
          <p:cNvSpPr>
            <a:spLocks noGrp="1"/>
          </p:cNvSpPr>
          <p:nvPr>
            <p:ph type="body" sz="quarter" idx="12"/>
          </p:nvPr>
        </p:nvSpPr>
        <p:spPr>
          <a:xfrm>
            <a:off x="596515" y="650182"/>
            <a:ext cx="8749097" cy="815119"/>
          </a:xfrm>
        </p:spPr>
        <p:txBody>
          <a:bodyPr/>
          <a:lstStyle/>
          <a:p>
            <a:pPr latinLnBrk="0"/>
            <a:r>
              <a:rPr lang="ko-KR" altLang="en-US" sz="1800" dirty="0"/>
              <a:t>교육과정 개요서는 </a:t>
            </a:r>
            <a:r>
              <a:rPr lang="ko-KR" altLang="en-US" sz="1800" dirty="0">
                <a:solidFill>
                  <a:srgbClr val="0070C0"/>
                </a:solidFill>
              </a:rPr>
              <a:t>제안요청서 제공 양식에 따라 작성</a:t>
            </a:r>
            <a:r>
              <a:rPr lang="ko-KR" altLang="en-US" sz="1800" dirty="0"/>
              <a:t>하며</a:t>
            </a:r>
            <a:r>
              <a:rPr lang="en-US" altLang="ko-KR" sz="1800" dirty="0"/>
              <a:t>, </a:t>
            </a:r>
            <a:r>
              <a:rPr lang="ko-KR" altLang="en-US" sz="1800" dirty="0">
                <a:solidFill>
                  <a:srgbClr val="0070C0"/>
                </a:solidFill>
              </a:rPr>
              <a:t>총 </a:t>
            </a:r>
            <a:r>
              <a:rPr lang="en-US" altLang="ko-KR" sz="1800" dirty="0">
                <a:solidFill>
                  <a:srgbClr val="0070C0"/>
                </a:solidFill>
              </a:rPr>
              <a:t>380</a:t>
            </a:r>
            <a:r>
              <a:rPr lang="ko-KR" altLang="en-US" sz="1800" dirty="0">
                <a:solidFill>
                  <a:srgbClr val="0070C0"/>
                </a:solidFill>
              </a:rPr>
              <a:t>개 과정 개요서를 개발</a:t>
            </a:r>
            <a:r>
              <a:rPr lang="ko-KR" altLang="en-US" sz="1800" dirty="0"/>
              <a:t>하겠음</a:t>
            </a:r>
          </a:p>
        </p:txBody>
      </p:sp>
      <p:sp>
        <p:nvSpPr>
          <p:cNvPr id="31" name="TextBox 30">
            <a:extLst>
              <a:ext uri="{FF2B5EF4-FFF2-40B4-BE49-F238E27FC236}">
                <a16:creationId xmlns:a16="http://schemas.microsoft.com/office/drawing/2014/main" id="{87CC1FA7-EC93-B19E-5C3F-6F2C716CC41A}"/>
              </a:ext>
            </a:extLst>
          </p:cNvPr>
          <p:cNvSpPr txBox="1"/>
          <p:nvPr/>
        </p:nvSpPr>
        <p:spPr>
          <a:xfrm>
            <a:off x="6033120" y="1853498"/>
            <a:ext cx="3780420" cy="647673"/>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자격증 명</a:t>
            </a:r>
            <a:endPar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과정평가형 및 일학습병행 자격과 능력단위를 매칭하여 작성하겠음</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자격증이 있는 경우 자격연계 가능</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없는 경우 불가능 체크하겠음</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32" name="TextBox 31">
            <a:extLst>
              <a:ext uri="{FF2B5EF4-FFF2-40B4-BE49-F238E27FC236}">
                <a16:creationId xmlns:a16="http://schemas.microsoft.com/office/drawing/2014/main" id="{C899F3C1-F97B-7D59-ACF1-48B953A31CD5}"/>
              </a:ext>
            </a:extLst>
          </p:cNvPr>
          <p:cNvSpPr txBox="1"/>
          <p:nvPr/>
        </p:nvSpPr>
        <p:spPr>
          <a:xfrm>
            <a:off x="6033120" y="3603007"/>
            <a:ext cx="3435951" cy="938906"/>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 활용도구</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첫 번째</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NCS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학습 모듈을 참고하여 작성하겠음</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두 번째</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전문가가 과정 개요서를 작성하며 필요하다고 생각하는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SW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및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HW</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를 작성하겠음</a:t>
            </a:r>
          </a:p>
        </p:txBody>
      </p:sp>
      <p:sp>
        <p:nvSpPr>
          <p:cNvPr id="33" name="TextBox 32">
            <a:extLst>
              <a:ext uri="{FF2B5EF4-FFF2-40B4-BE49-F238E27FC236}">
                <a16:creationId xmlns:a16="http://schemas.microsoft.com/office/drawing/2014/main" id="{42B4AA98-F64E-1058-BFBC-1B1039526594}"/>
              </a:ext>
            </a:extLst>
          </p:cNvPr>
          <p:cNvSpPr txBox="1"/>
          <p:nvPr/>
        </p:nvSpPr>
        <p:spPr>
          <a:xfrm>
            <a:off x="6033120" y="2946484"/>
            <a:ext cx="3924436" cy="64767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 </a:t>
            </a:r>
            <a:r>
              <a:rPr lang="ko-KR" altLang="en-US"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과정수준</a:t>
            </a:r>
            <a:endParaRPr lang="en-US"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Level</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과정 개요서에 활용된 능력단위 수준 확인 후 작성하겠음</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Level 1~3</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초급</a:t>
            </a: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4~6</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중급</a:t>
            </a: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7~8</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고급으로 체크하겠음</a:t>
            </a:r>
            <a:endPar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graphicFrame>
        <p:nvGraphicFramePr>
          <p:cNvPr id="34" name="표 33">
            <a:extLst>
              <a:ext uri="{FF2B5EF4-FFF2-40B4-BE49-F238E27FC236}">
                <a16:creationId xmlns:a16="http://schemas.microsoft.com/office/drawing/2014/main" id="{83DA8B12-7589-BD87-2197-02BE6B3767D8}"/>
              </a:ext>
            </a:extLst>
          </p:cNvPr>
          <p:cNvGraphicFramePr>
            <a:graphicFrameLocks noGrp="1"/>
          </p:cNvGraphicFramePr>
          <p:nvPr>
            <p:extLst>
              <p:ext uri="{D42A27DB-BD31-4B8C-83A1-F6EECF244321}">
                <p14:modId xmlns:p14="http://schemas.microsoft.com/office/powerpoint/2010/main" val="1714622661"/>
              </p:ext>
            </p:extLst>
          </p:nvPr>
        </p:nvGraphicFramePr>
        <p:xfrm>
          <a:off x="596900" y="1196975"/>
          <a:ext cx="5328460" cy="5296203"/>
        </p:xfrm>
        <a:graphic>
          <a:graphicData uri="http://schemas.openxmlformats.org/drawingml/2006/table">
            <a:tbl>
              <a:tblPr/>
              <a:tblGrid>
                <a:gridCol w="1079736">
                  <a:extLst>
                    <a:ext uri="{9D8B030D-6E8A-4147-A177-3AD203B41FA5}">
                      <a16:colId xmlns:a16="http://schemas.microsoft.com/office/drawing/2014/main" val="2468389198"/>
                    </a:ext>
                  </a:extLst>
                </a:gridCol>
                <a:gridCol w="468052">
                  <a:extLst>
                    <a:ext uri="{9D8B030D-6E8A-4147-A177-3AD203B41FA5}">
                      <a16:colId xmlns:a16="http://schemas.microsoft.com/office/drawing/2014/main" val="1151610060"/>
                    </a:ext>
                  </a:extLst>
                </a:gridCol>
                <a:gridCol w="144016">
                  <a:extLst>
                    <a:ext uri="{9D8B030D-6E8A-4147-A177-3AD203B41FA5}">
                      <a16:colId xmlns:a16="http://schemas.microsoft.com/office/drawing/2014/main" val="2798674245"/>
                    </a:ext>
                  </a:extLst>
                </a:gridCol>
                <a:gridCol w="225361">
                  <a:extLst>
                    <a:ext uri="{9D8B030D-6E8A-4147-A177-3AD203B41FA5}">
                      <a16:colId xmlns:a16="http://schemas.microsoft.com/office/drawing/2014/main" val="1201742399"/>
                    </a:ext>
                  </a:extLst>
                </a:gridCol>
                <a:gridCol w="242691">
                  <a:extLst>
                    <a:ext uri="{9D8B030D-6E8A-4147-A177-3AD203B41FA5}">
                      <a16:colId xmlns:a16="http://schemas.microsoft.com/office/drawing/2014/main" val="3835800896"/>
                    </a:ext>
                  </a:extLst>
                </a:gridCol>
                <a:gridCol w="396044">
                  <a:extLst>
                    <a:ext uri="{9D8B030D-6E8A-4147-A177-3AD203B41FA5}">
                      <a16:colId xmlns:a16="http://schemas.microsoft.com/office/drawing/2014/main" val="3292686089"/>
                    </a:ext>
                  </a:extLst>
                </a:gridCol>
                <a:gridCol w="448887">
                  <a:extLst>
                    <a:ext uri="{9D8B030D-6E8A-4147-A177-3AD203B41FA5}">
                      <a16:colId xmlns:a16="http://schemas.microsoft.com/office/drawing/2014/main" val="2594785630"/>
                    </a:ext>
                  </a:extLst>
                </a:gridCol>
                <a:gridCol w="307197">
                  <a:extLst>
                    <a:ext uri="{9D8B030D-6E8A-4147-A177-3AD203B41FA5}">
                      <a16:colId xmlns:a16="http://schemas.microsoft.com/office/drawing/2014/main" val="1701691995"/>
                    </a:ext>
                  </a:extLst>
                </a:gridCol>
                <a:gridCol w="194983">
                  <a:extLst>
                    <a:ext uri="{9D8B030D-6E8A-4147-A177-3AD203B41FA5}">
                      <a16:colId xmlns:a16="http://schemas.microsoft.com/office/drawing/2014/main" val="1926901461"/>
                    </a:ext>
                  </a:extLst>
                </a:gridCol>
                <a:gridCol w="273069">
                  <a:extLst>
                    <a:ext uri="{9D8B030D-6E8A-4147-A177-3AD203B41FA5}">
                      <a16:colId xmlns:a16="http://schemas.microsoft.com/office/drawing/2014/main" val="797755131"/>
                    </a:ext>
                  </a:extLst>
                </a:gridCol>
                <a:gridCol w="158883">
                  <a:extLst>
                    <a:ext uri="{9D8B030D-6E8A-4147-A177-3AD203B41FA5}">
                      <a16:colId xmlns:a16="http://schemas.microsoft.com/office/drawing/2014/main" val="2244871114"/>
                    </a:ext>
                  </a:extLst>
                </a:gridCol>
                <a:gridCol w="366693">
                  <a:extLst>
                    <a:ext uri="{9D8B030D-6E8A-4147-A177-3AD203B41FA5}">
                      <a16:colId xmlns:a16="http://schemas.microsoft.com/office/drawing/2014/main" val="2478085267"/>
                    </a:ext>
                  </a:extLst>
                </a:gridCol>
                <a:gridCol w="97400">
                  <a:extLst>
                    <a:ext uri="{9D8B030D-6E8A-4147-A177-3AD203B41FA5}">
                      <a16:colId xmlns:a16="http://schemas.microsoft.com/office/drawing/2014/main" val="853848392"/>
                    </a:ext>
                  </a:extLst>
                </a:gridCol>
                <a:gridCol w="97400">
                  <a:extLst>
                    <a:ext uri="{9D8B030D-6E8A-4147-A177-3AD203B41FA5}">
                      <a16:colId xmlns:a16="http://schemas.microsoft.com/office/drawing/2014/main" val="1212860725"/>
                    </a:ext>
                  </a:extLst>
                </a:gridCol>
                <a:gridCol w="360048">
                  <a:extLst>
                    <a:ext uri="{9D8B030D-6E8A-4147-A177-3AD203B41FA5}">
                      <a16:colId xmlns:a16="http://schemas.microsoft.com/office/drawing/2014/main" val="3153792975"/>
                    </a:ext>
                  </a:extLst>
                </a:gridCol>
                <a:gridCol w="468000">
                  <a:extLst>
                    <a:ext uri="{9D8B030D-6E8A-4147-A177-3AD203B41FA5}">
                      <a16:colId xmlns:a16="http://schemas.microsoft.com/office/drawing/2014/main" val="918562014"/>
                    </a:ext>
                  </a:extLst>
                </a:gridCol>
              </a:tblGrid>
              <a:tr h="234960">
                <a:tc gridSpan="16">
                  <a:txBody>
                    <a:bodyPr/>
                    <a:lstStyle/>
                    <a:p>
                      <a:pPr algn="ctr" fontAlgn="ctr"/>
                      <a:r>
                        <a:rPr lang="ko-KR" altLang="en-US" sz="1400" b="1" i="0" u="none" strike="noStrike" dirty="0">
                          <a:solidFill>
                            <a:schemeClr val="bg1"/>
                          </a:solidFill>
                          <a:effectLst/>
                          <a:latin typeface="+mj-ea"/>
                          <a:ea typeface="+mj-ea"/>
                        </a:rPr>
                        <a:t>과정 개요서</a:t>
                      </a:r>
                    </a:p>
                  </a:txBody>
                  <a:tcPr marL="72000" marR="72000" marT="10800" marB="10800" anchor="ctr">
                    <a:lnL w="3175" cap="flat" cmpd="sng" algn="ctr">
                      <a:noFill/>
                      <a:prstDash val="solid"/>
                      <a:round/>
                      <a:headEnd type="none" w="med" len="med"/>
                      <a:tailEnd type="none" w="med" len="med"/>
                    </a:lnL>
                    <a:lnR w="12700" cmpd="sng">
                      <a:noFill/>
                      <a:prstDash val="soli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3064321093"/>
                  </a:ext>
                </a:extLst>
              </a:tr>
              <a:tr h="174000">
                <a:tc rowSpan="2">
                  <a:txBody>
                    <a:bodyPr/>
                    <a:lstStyle/>
                    <a:p>
                      <a:pPr algn="ctr" fontAlgn="ctr"/>
                      <a:r>
                        <a:rPr lang="ko-KR" altLang="en-US" sz="1000" b="0" i="0" u="none" strike="noStrike" dirty="0">
                          <a:solidFill>
                            <a:srgbClr val="000000"/>
                          </a:solidFill>
                          <a:effectLst/>
                          <a:latin typeface="+mj-ea"/>
                          <a:ea typeface="+mj-ea"/>
                        </a:rPr>
                        <a:t>분야 구분</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a:r>
                        <a:rPr lang="ko-KR" altLang="en-US" sz="1000" b="0" i="0" u="none" strike="noStrike">
                          <a:solidFill>
                            <a:srgbClr val="000000"/>
                          </a:solidFill>
                          <a:effectLst/>
                          <a:latin typeface="+mj-ea"/>
                          <a:ea typeface="+mj-ea"/>
                        </a:rPr>
                        <a:t>　</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디지털 신기술</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디지털 신기술</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디지털 신기술</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gridSpan="4">
                  <a:txBody>
                    <a:bodyPr/>
                    <a:lstStyle/>
                    <a:p>
                      <a:pPr algn="ctr"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❶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활용 여부</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algn="ctr" fontAlgn="ct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활용 여부</a:t>
                      </a:r>
                      <a:endParaRPr lang="ko-KR" altLang="en-US" sz="12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rowSpan="2" hMerge="1">
                  <a:txBody>
                    <a:bodyPr/>
                    <a:lstStyle/>
                    <a:p>
                      <a:pPr latinLnBrk="1"/>
                      <a:endParaRPr lang="ko-KR" altLang="en-US"/>
                    </a:p>
                  </a:txBody>
                  <a:tcPr/>
                </a:tc>
                <a:tc gridSpan="3">
                  <a:txBody>
                    <a:bodyPr/>
                    <a:lstStyle/>
                    <a:p>
                      <a:pPr algn="ctr" fontAlgn="ctr"/>
                      <a:r>
                        <a:rPr lang="ko-KR" altLang="en-US" sz="1000" b="0" i="0" u="none" strike="noStrike">
                          <a:solidFill>
                            <a:srgbClr val="000000"/>
                          </a:solidFill>
                          <a:effectLst/>
                          <a:latin typeface="+mj-ea"/>
                          <a:ea typeface="+mj-ea"/>
                        </a:rPr>
                        <a:t>　</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3">
                  <a:txBody>
                    <a:bodyPr/>
                    <a:lstStyle/>
                    <a:p>
                      <a:pPr algn="ctr" latinLnBrk="1"/>
                      <a:r>
                        <a:rPr lang="ko-KR" altLang="en-US" sz="1000" b="0" i="0" u="none" strike="noStrike" dirty="0">
                          <a:solidFill>
                            <a:srgbClr val="000000"/>
                          </a:solidFill>
                          <a:effectLst/>
                          <a:latin typeface="+mj-ea"/>
                          <a:ea typeface="+mj-ea"/>
                        </a:rPr>
                        <a:t>활용</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활용</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620525137"/>
                  </a:ext>
                </a:extLst>
              </a:tr>
              <a:tr h="174000">
                <a:tc vMerge="1">
                  <a:txBody>
                    <a:bodyPr/>
                    <a:lstStyle/>
                    <a:p>
                      <a:pPr latinLnBrk="1"/>
                      <a:endParaRPr lang="ko-KR" altLang="en-US"/>
                    </a:p>
                  </a:txBody>
                  <a:tcPr/>
                </a:tc>
                <a:tc>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1000" b="0" i="0" u="none" strike="noStrike" spc="-150" dirty="0">
                          <a:solidFill>
                            <a:srgbClr val="000000"/>
                          </a:solidFill>
                          <a:effectLst/>
                          <a:latin typeface="+mj-ea"/>
                          <a:ea typeface="+mj-ea"/>
                        </a:rPr>
                        <a:t>평생직업능력개발</a:t>
                      </a:r>
                      <a:endParaRPr lang="ko-KR" altLang="en-US" spc="-15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평생직업능력개발</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평생직업능력개발</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dirty="0">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vMerge="1">
                  <a:txBody>
                    <a:bodyPr/>
                    <a:lstStyle/>
                    <a:p>
                      <a:pPr algn="ctr" latinLnBrk="1"/>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3">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ctr" latinLnBrk="1"/>
                      <a:r>
                        <a:rPr lang="ko-KR" altLang="en-US" sz="1000" b="0" i="0" u="none" strike="noStrike" dirty="0">
                          <a:solidFill>
                            <a:srgbClr val="000000"/>
                          </a:solidFill>
                          <a:effectLst/>
                          <a:latin typeface="+mj-ea"/>
                          <a:ea typeface="+mj-ea"/>
                        </a:rPr>
                        <a:t>미 활용</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미활용</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1647760639"/>
                  </a:ext>
                </a:extLst>
              </a:tr>
              <a:tr h="174000">
                <a:tc rowSpan="2">
                  <a:txBody>
                    <a:bodyPr/>
                    <a:lstStyle/>
                    <a:p>
                      <a:pPr algn="ctr" fontAlgn="ctr"/>
                      <a:r>
                        <a:rPr lang="ko-KR" altLang="en-US" sz="1000" b="0" i="0" u="none" strike="noStrike" dirty="0">
                          <a:solidFill>
                            <a:srgbClr val="000000"/>
                          </a:solidFill>
                          <a:effectLst/>
                          <a:latin typeface="+mj-ea"/>
                          <a:ea typeface="+mj-ea"/>
                        </a:rPr>
                        <a:t>자격연계 가능</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fontAlgn="ctr"/>
                      <a:r>
                        <a:rPr lang="ko-KR" altLang="en-US" sz="1000" b="0" i="0" u="none" strike="noStrike" kern="1200" spc="-150" dirty="0">
                          <a:solidFill>
                            <a:srgbClr val="000000"/>
                          </a:solidFill>
                          <a:effectLst/>
                          <a:latin typeface="+mj-ea"/>
                          <a:ea typeface="+mn-ea"/>
                          <a:cs typeface="+mn-cs"/>
                        </a:rPr>
                        <a:t>❷</a:t>
                      </a: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0000"/>
                          </a:solidFill>
                          <a:effectLst/>
                          <a:latin typeface="+mj-ea"/>
                          <a:ea typeface="+mj-ea"/>
                        </a:rPr>
                        <a:t>자격증 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❶ </a:t>
                      </a:r>
                      <a:r>
                        <a:rPr lang="ko-KR" altLang="en-US" sz="1000" b="0" i="0" u="none" strike="noStrike">
                          <a:solidFill>
                            <a:srgbClr val="000000"/>
                          </a:solidFill>
                          <a:effectLst/>
                          <a:latin typeface="+mj-ea"/>
                          <a:ea typeface="+mj-ea"/>
                        </a:rPr>
                        <a:t>자격증 명</a:t>
                      </a:r>
                      <a:endParaRPr lang="ko-KR" altLang="en-US" sz="12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6">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943697204"/>
                  </a:ext>
                </a:extLst>
              </a:tr>
              <a:tr h="174000">
                <a:tc vMerge="1">
                  <a:txBody>
                    <a:bodyPr/>
                    <a:lstStyle/>
                    <a:p>
                      <a:pPr latinLnBrk="1"/>
                      <a:endParaRPr lang="ko-KR" altLang="en-US"/>
                    </a:p>
                  </a:txBody>
                  <a:tcPr/>
                </a:tc>
                <a:tc>
                  <a:txBody>
                    <a:bodyPr/>
                    <a:lstStyle/>
                    <a:p>
                      <a:pPr algn="ctr" latinLnBrk="1"/>
                      <a:r>
                        <a:rPr lang="ko-KR" altLang="en-US" sz="1000" b="0" i="0" u="none" strike="noStrike" dirty="0">
                          <a:solidFill>
                            <a:srgbClr val="000000"/>
                          </a:solidFill>
                          <a:effectLst/>
                          <a:latin typeface="+mj-ea"/>
                          <a:ea typeface="+mj-ea"/>
                        </a:rPr>
                        <a:t>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1000" b="0" i="0" u="none" strike="noStrike" dirty="0">
                          <a:solidFill>
                            <a:srgbClr val="000000"/>
                          </a:solidFill>
                          <a:effectLst/>
                          <a:latin typeface="+mj-ea"/>
                          <a:ea typeface="+mj-ea"/>
                        </a:rPr>
                        <a:t>불가능</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불가능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불가능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latinLnBrk="1"/>
                      <a:r>
                        <a:rPr lang="ko-KR" altLang="en-US" sz="1000" b="1" kern="0" spc="-50" baseline="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a:t>
                      </a:r>
                      <a:r>
                        <a:rPr lang="ko-KR" altLang="en-US" sz="1000" b="0" i="0" u="none" strike="noStrike" spc="-50" baseline="0" dirty="0">
                          <a:solidFill>
                            <a:srgbClr val="000000"/>
                          </a:solidFill>
                          <a:effectLst/>
                          <a:latin typeface="+mj-ea"/>
                          <a:ea typeface="+mj-ea"/>
                        </a:rPr>
                        <a:t>과정개정 검토주기</a:t>
                      </a:r>
                      <a:endParaRPr lang="ko-KR" altLang="en-US" spc="-50" baseline="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r>
                        <a:rPr lang="ko-KR" altLang="en-US" sz="1000" b="0" i="0" u="none" strike="noStrike" spc="-150" dirty="0">
                          <a:solidFill>
                            <a:srgbClr val="000000"/>
                          </a:solidFill>
                          <a:effectLst/>
                          <a:latin typeface="+mj-ea"/>
                          <a:ea typeface="+mj-ea"/>
                        </a:rPr>
                        <a:t>❷ 과정개정 검토주기</a:t>
                      </a:r>
                      <a:endParaRPr lang="ko-KR" altLang="en-US" sz="12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6">
                  <a:txBody>
                    <a:bodyPr/>
                    <a:lstStyle/>
                    <a:p>
                      <a:pPr algn="ctr" latinLnBrk="1"/>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3</a:t>
                      </a:r>
                      <a:r>
                        <a:rPr lang="ko-KR" altLang="en-US" sz="1000" b="0" i="0" u="none" strike="noStrike" dirty="0">
                          <a:solidFill>
                            <a:srgbClr val="000000"/>
                          </a:solidFill>
                          <a:effectLst/>
                          <a:latin typeface="+mj-ea"/>
                          <a:ea typeface="+mj-ea"/>
                        </a:rPr>
                        <a:t>년 </a:t>
                      </a:r>
                      <a:r>
                        <a:rPr lang="ko-KR" altLang="en-US" sz="1000" b="0" i="0" u="none" strike="noStrike" kern="1200" dirty="0">
                          <a:solidFill>
                            <a:srgbClr val="000000"/>
                          </a:solidFill>
                          <a:effectLst/>
                          <a:latin typeface="+mj-ea"/>
                          <a:ea typeface="+mn-ea"/>
                          <a:cs typeface="+mn-cs"/>
                        </a:rPr>
                        <a:t>□</a:t>
                      </a:r>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5</a:t>
                      </a:r>
                      <a:r>
                        <a:rPr lang="ko-KR" altLang="en-US" sz="1000" b="0" i="0" u="none" strike="noStrike" dirty="0">
                          <a:solidFill>
                            <a:srgbClr val="000000"/>
                          </a:solidFill>
                          <a:effectLst/>
                          <a:latin typeface="+mj-ea"/>
                          <a:ea typeface="+mj-ea"/>
                        </a:rPr>
                        <a:t>년 □ </a:t>
                      </a:r>
                      <a:r>
                        <a:rPr lang="ko-KR" altLang="en-US" sz="1000" b="0" i="0" u="none" strike="noStrike" dirty="0" err="1">
                          <a:solidFill>
                            <a:srgbClr val="000000"/>
                          </a:solidFill>
                          <a:effectLst/>
                          <a:latin typeface="+mj-ea"/>
                          <a:ea typeface="+mj-ea"/>
                        </a:rPr>
                        <a:t>해당없음</a:t>
                      </a:r>
                      <a:r>
                        <a:rPr lang="ko-KR" altLang="en-US" sz="1000" b="0" i="0" u="none" strike="noStrike" dirty="0">
                          <a:solidFill>
                            <a:srgbClr val="000000"/>
                          </a:solidFill>
                          <a:effectLst/>
                          <a:latin typeface="+mj-ea"/>
                          <a:ea typeface="+mj-ea"/>
                        </a:rPr>
                        <a:t> □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3</a:t>
                      </a:r>
                      <a:r>
                        <a:rPr lang="ko-KR" altLang="en-US" sz="1000" b="0" i="0" u="none" strike="noStrike" dirty="0">
                          <a:solidFill>
                            <a:srgbClr val="000000"/>
                          </a:solidFill>
                          <a:effectLst/>
                          <a:latin typeface="+mj-ea"/>
                          <a:ea typeface="+mj-ea"/>
                        </a:rPr>
                        <a:t>년 </a:t>
                      </a:r>
                      <a:r>
                        <a:rPr lang="ko-KR" altLang="en-US" sz="1000" b="0" i="0" u="none" strike="noStrike" kern="1200" dirty="0">
                          <a:solidFill>
                            <a:srgbClr val="000000"/>
                          </a:solidFill>
                          <a:effectLst/>
                          <a:latin typeface="+mj-ea"/>
                          <a:ea typeface="+mn-ea"/>
                          <a:cs typeface="+mn-cs"/>
                        </a:rPr>
                        <a:t>□</a:t>
                      </a:r>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5</a:t>
                      </a:r>
                      <a:r>
                        <a:rPr lang="ko-KR" altLang="en-US" sz="1000" b="0" i="0" u="none" strike="noStrike" dirty="0">
                          <a:solidFill>
                            <a:srgbClr val="000000"/>
                          </a:solidFill>
                          <a:effectLst/>
                          <a:latin typeface="+mj-ea"/>
                          <a:ea typeface="+mj-ea"/>
                        </a:rPr>
                        <a:t>년 □ </a:t>
                      </a:r>
                      <a:r>
                        <a:rPr lang="ko-KR" altLang="en-US" sz="1000" b="0" i="0" u="none" strike="noStrike" dirty="0" err="1">
                          <a:solidFill>
                            <a:srgbClr val="000000"/>
                          </a:solidFill>
                          <a:effectLst/>
                          <a:latin typeface="+mj-ea"/>
                          <a:ea typeface="+mj-ea"/>
                        </a:rPr>
                        <a:t>해당없음</a:t>
                      </a:r>
                      <a:r>
                        <a:rPr lang="ko-KR" altLang="en-US" sz="1000" b="0" i="0" u="none" strike="noStrike" dirty="0">
                          <a:solidFill>
                            <a:srgbClr val="000000"/>
                          </a:solidFill>
                          <a:effectLst/>
                          <a:latin typeface="+mj-ea"/>
                          <a:ea typeface="+mj-ea"/>
                        </a:rPr>
                        <a:t> □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40846400"/>
                  </a:ext>
                </a:extLst>
              </a:tr>
              <a:tr h="189241">
                <a:tc gridSpan="16">
                  <a:txBody>
                    <a:bodyPr/>
                    <a:lstStyle/>
                    <a:p>
                      <a:pPr algn="l" fontAlgn="ctr"/>
                      <a:r>
                        <a:rPr lang="en-US" altLang="ko-KR" sz="1100" b="0" i="0" u="none" strike="noStrike" dirty="0">
                          <a:solidFill>
                            <a:schemeClr val="bg1"/>
                          </a:solidFill>
                          <a:effectLst/>
                          <a:latin typeface="+mj-ea"/>
                          <a:ea typeface="+mj-ea"/>
                        </a:rPr>
                        <a:t>1. </a:t>
                      </a:r>
                      <a:r>
                        <a:rPr lang="ko-KR" altLang="en-US" sz="1100" b="0" i="0" u="none" strike="noStrike" dirty="0">
                          <a:solidFill>
                            <a:schemeClr val="bg1"/>
                          </a:solidFill>
                          <a:effectLst/>
                          <a:latin typeface="+mj-ea"/>
                          <a:ea typeface="+mj-ea"/>
                        </a:rPr>
                        <a:t>과정개요</a:t>
                      </a:r>
                    </a:p>
                  </a:txBody>
                  <a:tcPr marL="72000" marR="72000" marT="10800" marB="10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97190291"/>
                  </a:ext>
                </a:extLst>
              </a:tr>
              <a:tr h="174000">
                <a:tc>
                  <a:txBody>
                    <a:bodyPr/>
                    <a:lstStyle/>
                    <a:p>
                      <a:pPr algn="ctr" fontAlgn="ctr"/>
                      <a:r>
                        <a:rPr lang="ko-KR" altLang="en-US" sz="1000" b="0" i="0" u="none" strike="noStrike" dirty="0" err="1">
                          <a:solidFill>
                            <a:srgbClr val="000000"/>
                          </a:solidFill>
                          <a:effectLst/>
                          <a:latin typeface="+mj-ea"/>
                          <a:ea typeface="+mj-ea"/>
                        </a:rPr>
                        <a:t>과정명</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577316796"/>
                  </a:ext>
                </a:extLst>
              </a:tr>
              <a:tr h="174000">
                <a:tc>
                  <a:txBody>
                    <a:bodyPr/>
                    <a:lstStyle/>
                    <a:p>
                      <a:pPr algn="ctr" fontAlgn="ctr"/>
                      <a:r>
                        <a:rPr lang="en-US" altLang="ko-KR" sz="1000" b="0" i="0" u="none" strike="noStrike" spc="-100" baseline="0" dirty="0">
                          <a:solidFill>
                            <a:srgbClr val="000000"/>
                          </a:solidFill>
                          <a:effectLst/>
                          <a:latin typeface="+mj-ea"/>
                          <a:ea typeface="+mj-ea"/>
                        </a:rPr>
                        <a:t>NCS </a:t>
                      </a:r>
                      <a:r>
                        <a:rPr lang="ko-KR" altLang="en-US" sz="1000" b="0" i="0" u="none" strike="noStrike" spc="-100" baseline="0" dirty="0">
                          <a:solidFill>
                            <a:srgbClr val="000000"/>
                          </a:solidFill>
                          <a:effectLst/>
                          <a:latin typeface="+mj-ea"/>
                          <a:ea typeface="+mj-ea"/>
                        </a:rPr>
                        <a:t>능력단위 정보</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356028320"/>
                  </a:ext>
                </a:extLst>
              </a:tr>
              <a:tr h="174000">
                <a:tc>
                  <a:txBody>
                    <a:bodyPr/>
                    <a:lstStyle/>
                    <a:p>
                      <a:pPr algn="ctr" fontAlgn="ctr"/>
                      <a:r>
                        <a:rPr lang="ko-KR" altLang="en-US" sz="1000" b="0" i="0" u="none" strike="noStrike" dirty="0">
                          <a:solidFill>
                            <a:srgbClr val="000000"/>
                          </a:solidFill>
                          <a:effectLst/>
                          <a:latin typeface="+mj-ea"/>
                          <a:ea typeface="+mj-ea"/>
                        </a:rPr>
                        <a:t>과정설명</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549997002"/>
                  </a:ext>
                </a:extLst>
              </a:tr>
              <a:tr h="174000">
                <a:tc>
                  <a:txBody>
                    <a:bodyPr/>
                    <a:lstStyle/>
                    <a:p>
                      <a:pPr algn="ctr" fontAlgn="ctr"/>
                      <a:r>
                        <a:rPr lang="ko-KR" altLang="en-US" sz="1000" b="0" i="0" u="none" strike="noStrike" dirty="0">
                          <a:solidFill>
                            <a:srgbClr val="000000"/>
                          </a:solidFill>
                          <a:effectLst/>
                          <a:latin typeface="+mj-ea"/>
                          <a:ea typeface="+mj-ea"/>
                        </a:rPr>
                        <a:t>학습목표</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9552846"/>
                  </a:ext>
                </a:extLst>
              </a:tr>
              <a:tr h="174000">
                <a:tc>
                  <a:txBody>
                    <a:bodyPr/>
                    <a:lstStyle/>
                    <a:p>
                      <a:pPr algn="ctr" fontAlgn="ctr"/>
                      <a:r>
                        <a:rPr lang="ko-KR" altLang="en-US" sz="1000" b="0" i="0" u="none" strike="noStrike" dirty="0">
                          <a:solidFill>
                            <a:srgbClr val="000000"/>
                          </a:solidFill>
                          <a:effectLst/>
                          <a:latin typeface="+mj-ea"/>
                          <a:ea typeface="+mj-ea"/>
                        </a:rPr>
                        <a:t>학습대상</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a:solidFill>
                            <a:srgbClr val="000000"/>
                          </a:solidFill>
                          <a:effectLst/>
                          <a:latin typeface="+mj-ea"/>
                          <a:ea typeface="+mj-ea"/>
                        </a:rPr>
                        <a:t>　</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609575344"/>
                  </a:ext>
                </a:extLst>
              </a:tr>
              <a:tr h="174000">
                <a:tc rowSpan="2">
                  <a:txBody>
                    <a:bodyPr/>
                    <a:lstStyle/>
                    <a:p>
                      <a:pPr algn="ctr" fontAlgn="ctr"/>
                      <a:r>
                        <a:rPr lang="ko-KR" altLang="en-US" sz="1000" b="0" i="0" u="none" strike="noStrike" kern="1200" dirty="0">
                          <a:solidFill>
                            <a:srgbClr val="000000"/>
                          </a:solidFill>
                          <a:effectLst/>
                          <a:latin typeface="+mj-ea"/>
                          <a:ea typeface="+mn-ea"/>
                          <a:cs typeface="+mn-cs"/>
                        </a:rPr>
                        <a:t>❹ </a:t>
                      </a:r>
                      <a:r>
                        <a:rPr lang="ko-KR" altLang="en-US" sz="1000" b="0" i="0" u="none" strike="noStrike" dirty="0">
                          <a:solidFill>
                            <a:srgbClr val="000000"/>
                          </a:solidFill>
                          <a:effectLst/>
                          <a:latin typeface="+mj-ea"/>
                          <a:ea typeface="+mj-ea"/>
                        </a:rPr>
                        <a:t>과정수준</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6">
                  <a:txBody>
                    <a:bodyPr/>
                    <a:lstStyle/>
                    <a:p>
                      <a:pPr algn="ctr" fontAlgn="ctr"/>
                      <a:r>
                        <a:rPr lang="ko-KR" altLang="en-US" sz="1000" b="0" i="0" u="none" strike="noStrike" dirty="0">
                          <a:solidFill>
                            <a:schemeClr val="tx1"/>
                          </a:solidFill>
                          <a:effectLst/>
                          <a:latin typeface="+mj-ea"/>
                          <a:ea typeface="+mj-ea"/>
                        </a:rPr>
                        <a:t>난이도</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chemeClr val="tx1"/>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9">
                  <a:txBody>
                    <a:bodyPr/>
                    <a:lstStyle/>
                    <a:p>
                      <a:pPr algn="ctr" fontAlgn="ctr"/>
                      <a:r>
                        <a:rPr lang="en-US" sz="1000" b="0" i="0" u="none" strike="noStrike" dirty="0">
                          <a:solidFill>
                            <a:schemeClr val="tx1"/>
                          </a:solidFill>
                          <a:effectLst/>
                          <a:latin typeface="+mj-ea"/>
                          <a:ea typeface="+mj-ea"/>
                        </a:rPr>
                        <a:t>NCS Level (1~8)</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21477508"/>
                  </a:ext>
                </a:extLst>
              </a:tr>
              <a:tr h="174000">
                <a:tc vMerge="1">
                  <a:txBody>
                    <a:bodyPr/>
                    <a:lstStyle/>
                    <a:p>
                      <a:pPr latinLnBrk="1"/>
                      <a:endParaRPr lang="ko-KR" altLang="en-US"/>
                    </a:p>
                  </a:txBody>
                  <a:tcPr/>
                </a:tc>
                <a:tc gridSpan="6">
                  <a:txBody>
                    <a:bodyPr/>
                    <a:lstStyle/>
                    <a:p>
                      <a:pPr algn="ctr" latinLnBrk="1"/>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초급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중급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고급</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r>
                        <a:rPr lang="ko-KR" altLang="en-US" sz="1000" b="0" i="0" u="none" strike="noStrike">
                          <a:solidFill>
                            <a:srgbClr val="000000"/>
                          </a:solidFill>
                          <a:effectLst/>
                          <a:latin typeface="+mj-ea"/>
                          <a:ea typeface="+mj-ea"/>
                        </a:rPr>
                        <a:t>①  ②  ③  ④  ⑤  ⑥  ⑦  ⑧</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899481179"/>
                  </a:ext>
                </a:extLst>
              </a:tr>
              <a:tr h="174000">
                <a:tc rowSpan="2">
                  <a:txBody>
                    <a:bodyPr/>
                    <a:lstStyle/>
                    <a:p>
                      <a:pPr algn="ctr" fontAlgn="ctr"/>
                      <a:r>
                        <a:rPr lang="ko-KR" altLang="en-US" sz="1000" b="0" i="0" u="none" strike="noStrike" kern="1200" spc="0" dirty="0">
                          <a:solidFill>
                            <a:schemeClr val="tx1"/>
                          </a:solidFill>
                          <a:effectLst/>
                          <a:latin typeface="+mj-ea"/>
                          <a:ea typeface="+mn-ea"/>
                          <a:cs typeface="+mn-cs"/>
                        </a:rPr>
                        <a:t>❺ </a:t>
                      </a:r>
                      <a:r>
                        <a:rPr lang="ko-KR" altLang="en-US" sz="1000" b="0" i="0" u="none" strike="noStrike" spc="0" dirty="0">
                          <a:solidFill>
                            <a:srgbClr val="000000"/>
                          </a:solidFill>
                          <a:effectLst/>
                          <a:latin typeface="+mj-ea"/>
                          <a:ea typeface="+mj-ea"/>
                        </a:rPr>
                        <a:t>활용도구</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4">
                  <a:txBody>
                    <a:bodyPr/>
                    <a:lstStyle/>
                    <a:p>
                      <a:pPr algn="ctr" fontAlgn="ctr"/>
                      <a:r>
                        <a:rPr lang="en-US" sz="1000" b="0" i="0" u="none" strike="noStrike" dirty="0">
                          <a:solidFill>
                            <a:srgbClr val="000000"/>
                          </a:solidFill>
                          <a:effectLst/>
                          <a:latin typeface="+mj-ea"/>
                          <a:ea typeface="+mj-ea"/>
                        </a:rPr>
                        <a:t>SW</a:t>
                      </a:r>
                      <a:r>
                        <a:rPr lang="ko-KR" altLang="en-US" sz="1000" b="0" i="0" u="none" strike="noStrike" dirty="0">
                          <a:solidFill>
                            <a:srgbClr val="000000"/>
                          </a:solidFill>
                          <a:effectLst/>
                          <a:latin typeface="+mj-ea"/>
                          <a:ea typeface="+mj-ea"/>
                        </a:rPr>
                        <a:t>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algn="l" fontAlgn="ctr"/>
                      <a:r>
                        <a:rPr lang="ko-KR" altLang="en-US" sz="1200" b="0" i="0" u="none" strike="noStrike" dirty="0">
                          <a:solidFill>
                            <a:srgbClr val="000000"/>
                          </a:solidFill>
                          <a:effectLst/>
                          <a:latin typeface="+mj-ea"/>
                          <a:ea typeface="+mj-ea"/>
                        </a:rPr>
                        <a:t>버전</a:t>
                      </a:r>
                    </a:p>
                  </a:txBody>
                  <a:tcPr marL="1772" marR="1772" marT="1772" marB="0" anchor="ctr">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2">
                  <a:txBody>
                    <a:bodyPr/>
                    <a:lstStyle/>
                    <a:p>
                      <a:pPr algn="ctr" fontAlgn="ctr"/>
                      <a:r>
                        <a:rPr lang="ko-KR" altLang="en-US" sz="1000" b="0" i="0" u="none" strike="noStrike" dirty="0">
                          <a:solidFill>
                            <a:srgbClr val="000000"/>
                          </a:solidFill>
                          <a:effectLst/>
                          <a:latin typeface="+mj-ea"/>
                          <a:ea typeface="+mj-ea"/>
                        </a:rPr>
                        <a:t>버전</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5">
                  <a:txBody>
                    <a:bodyPr/>
                    <a:lstStyle/>
                    <a:p>
                      <a:pPr algn="ctr" fontAlgn="ctr"/>
                      <a:r>
                        <a:rPr lang="en-US" sz="1000" b="0" i="0" u="none" strike="noStrike">
                          <a:solidFill>
                            <a:srgbClr val="000000"/>
                          </a:solidFill>
                          <a:effectLst/>
                          <a:latin typeface="+mj-ea"/>
                          <a:ea typeface="+mj-ea"/>
                        </a:rPr>
                        <a:t>HW</a:t>
                      </a:r>
                      <a:r>
                        <a:rPr lang="ko-KR" altLang="en-US" sz="1000" b="0" i="0" u="none" strike="noStrike">
                          <a:solidFill>
                            <a:srgbClr val="000000"/>
                          </a:solidFill>
                          <a:effectLst/>
                          <a:latin typeface="+mj-ea"/>
                          <a:ea typeface="+mj-ea"/>
                        </a:rPr>
                        <a:t>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4">
                  <a:txBody>
                    <a:bodyPr/>
                    <a:lstStyle/>
                    <a:p>
                      <a:pPr algn="ctr" fontAlgn="ctr"/>
                      <a:r>
                        <a:rPr lang="ko-KR" altLang="en-US" sz="1000" b="0" i="0" u="none" strike="noStrike" dirty="0">
                          <a:solidFill>
                            <a:srgbClr val="000000"/>
                          </a:solidFill>
                          <a:effectLst/>
                          <a:latin typeface="+mj-ea"/>
                          <a:ea typeface="+mj-ea"/>
                        </a:rPr>
                        <a:t>버전</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algn="l" fontAlgn="ctr"/>
                      <a:r>
                        <a:rPr lang="ko-KR" altLang="en-US" sz="1200" b="0" i="0" u="none" strike="noStrike">
                          <a:solidFill>
                            <a:srgbClr val="000000"/>
                          </a:solidFill>
                          <a:effectLst/>
                          <a:latin typeface="+mj-ea"/>
                          <a:ea typeface="+mj-ea"/>
                        </a:rPr>
                        <a:t>버전</a:t>
                      </a: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2157529761"/>
                  </a:ext>
                </a:extLst>
              </a:tr>
              <a:tr h="174000">
                <a:tc vMerge="1">
                  <a:txBody>
                    <a:bodyPr/>
                    <a:lstStyle/>
                    <a:p>
                      <a:pPr latinLnBrk="1"/>
                      <a:endParaRPr lang="ko-KR" altLang="en-US"/>
                    </a:p>
                  </a:txBody>
                  <a:tcPr/>
                </a:tc>
                <a:tc gridSpan="4">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algn="l" fontAlgn="ctr"/>
                      <a:r>
                        <a:rPr lang="ko-KR" altLang="en-US" sz="1200" b="0" i="0" u="none" strike="noStrike" dirty="0">
                          <a:solidFill>
                            <a:srgbClr val="000000"/>
                          </a:solidFill>
                          <a:effectLst/>
                          <a:latin typeface="+mj-ea"/>
                          <a:ea typeface="+mj-ea"/>
                        </a:rPr>
                        <a:t>　</a:t>
                      </a:r>
                    </a:p>
                  </a:txBody>
                  <a:tcPr marL="1772" marR="1772" marT="1772"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4">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algn="l" fontAlgn="ctr"/>
                      <a:r>
                        <a:rPr lang="ko-KR" altLang="en-US" sz="1200" b="0" i="0" u="none" strike="noStrike" dirty="0">
                          <a:solidFill>
                            <a:srgbClr val="000000"/>
                          </a:solidFill>
                          <a:effectLst/>
                          <a:latin typeface="+mj-ea"/>
                          <a:ea typeface="+mj-ea"/>
                        </a:rPr>
                        <a:t>　</a:t>
                      </a: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1371144467"/>
                  </a:ext>
                </a:extLst>
              </a:tr>
              <a:tr h="174000">
                <a:tc>
                  <a:txBody>
                    <a:bodyPr/>
                    <a:lstStyle/>
                    <a:p>
                      <a:pPr algn="ctr" fontAlgn="ctr"/>
                      <a:r>
                        <a:rPr lang="ko-KR" altLang="en-US" sz="1000" b="0" i="0" u="none" strike="noStrike" dirty="0">
                          <a:solidFill>
                            <a:srgbClr val="000000"/>
                          </a:solidFill>
                          <a:effectLst/>
                          <a:latin typeface="+mj-ea"/>
                          <a:ea typeface="+mj-ea"/>
                        </a:rPr>
                        <a:t>키워드</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571168455"/>
                  </a:ext>
                </a:extLst>
              </a:tr>
              <a:tr h="189241">
                <a:tc gridSpan="16">
                  <a:txBody>
                    <a:bodyPr/>
                    <a:lstStyle/>
                    <a:p>
                      <a:pPr algn="l" fontAlgn="ctr"/>
                      <a:r>
                        <a:rPr lang="en-US" altLang="ko-KR" sz="1100" b="0" i="0" u="none" strike="noStrike" dirty="0">
                          <a:solidFill>
                            <a:schemeClr val="bg1"/>
                          </a:solidFill>
                          <a:effectLst/>
                          <a:latin typeface="+mj-ea"/>
                          <a:ea typeface="+mj-ea"/>
                        </a:rPr>
                        <a:t>2. </a:t>
                      </a:r>
                      <a:r>
                        <a:rPr lang="ko-KR" altLang="en-US" sz="1100" b="0" i="0" u="none" strike="noStrike" dirty="0">
                          <a:solidFill>
                            <a:schemeClr val="bg1"/>
                          </a:solidFill>
                          <a:effectLst/>
                          <a:latin typeface="+mj-ea"/>
                          <a:ea typeface="+mj-ea"/>
                        </a:rPr>
                        <a:t>과정내용</a:t>
                      </a:r>
                    </a:p>
                  </a:txBody>
                  <a:tcPr marL="72000" marR="72000" marT="10800" marB="10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477418870"/>
                  </a:ext>
                </a:extLst>
              </a:tr>
              <a:tr h="174000">
                <a:tc>
                  <a:txBody>
                    <a:bodyPr/>
                    <a:lstStyle/>
                    <a:p>
                      <a:pPr algn="ctr" fontAlgn="ctr"/>
                      <a:r>
                        <a:rPr lang="ko-KR" altLang="en-US" sz="1000" b="0" i="0" u="none" strike="noStrike" dirty="0">
                          <a:solidFill>
                            <a:srgbClr val="000000"/>
                          </a:solidFill>
                          <a:effectLst/>
                          <a:latin typeface="+mj-ea"/>
                          <a:ea typeface="+mj-ea"/>
                        </a:rPr>
                        <a:t>차시</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3">
                  <a:txBody>
                    <a:bodyPr/>
                    <a:lstStyle/>
                    <a:p>
                      <a:pPr algn="ctr" fontAlgn="ctr"/>
                      <a:r>
                        <a:rPr lang="ko-KR" altLang="en-US" sz="1000" b="0" i="0" u="none" strike="noStrike" dirty="0" err="1">
                          <a:solidFill>
                            <a:srgbClr val="000000"/>
                          </a:solidFill>
                          <a:effectLst/>
                          <a:latin typeface="+mj-ea"/>
                          <a:ea typeface="+mj-ea"/>
                        </a:rPr>
                        <a:t>차시명</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algn="ctr" fontAlgn="ctr"/>
                      <a:endParaRPr lang="ko-KR" altLang="en-US" sz="10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차시내용</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fontAlgn="ctr"/>
                      <a:r>
                        <a:rPr lang="en-US" altLang="ko-KR" sz="1000" b="0" i="0" u="none" strike="noStrike" dirty="0">
                          <a:solidFill>
                            <a:srgbClr val="000000"/>
                          </a:solidFill>
                          <a:effectLst/>
                          <a:latin typeface="+mj-ea"/>
                          <a:ea typeface="+mj-ea"/>
                        </a:rPr>
                        <a:t>NSC </a:t>
                      </a:r>
                      <a:r>
                        <a:rPr lang="ko-KR" altLang="en-US" sz="1000" b="0" i="0" u="none" strike="noStrike" dirty="0">
                          <a:solidFill>
                            <a:srgbClr val="000000"/>
                          </a:solidFill>
                          <a:effectLst/>
                          <a:latin typeface="+mj-ea"/>
                          <a:ea typeface="+mj-ea"/>
                        </a:rPr>
                        <a:t>능력단위요소명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1000" b="0" i="0" u="none" strike="noStrike" spc="-150" dirty="0">
                          <a:solidFill>
                            <a:srgbClr val="000000"/>
                          </a:solidFill>
                          <a:effectLst/>
                          <a:latin typeface="+mj-ea"/>
                          <a:ea typeface="+mj-ea"/>
                        </a:rPr>
                        <a:t>NSC </a:t>
                      </a:r>
                      <a:r>
                        <a:rPr lang="ko-KR" altLang="en-US" sz="1000" b="0" i="0" u="none" strike="noStrike" spc="-150" dirty="0">
                          <a:solidFill>
                            <a:srgbClr val="000000"/>
                          </a:solidFill>
                          <a:effectLst/>
                          <a:latin typeface="+mj-ea"/>
                          <a:ea typeface="+mj-ea"/>
                        </a:rPr>
                        <a:t>능력단위요소명</a:t>
                      </a:r>
                      <a:endParaRPr lang="ko-KR" altLang="en-US" spc="-15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2">
                  <a:txBody>
                    <a:bodyPr/>
                    <a:lstStyle/>
                    <a:p>
                      <a:pPr algn="ctr" fontAlgn="ctr"/>
                      <a:r>
                        <a:rPr lang="en-US" sz="1000" b="0" i="0" u="none" strike="noStrike" dirty="0">
                          <a:solidFill>
                            <a:srgbClr val="000000"/>
                          </a:solidFill>
                          <a:effectLst/>
                          <a:latin typeface="+mj-ea"/>
                          <a:ea typeface="+mj-ea"/>
                        </a:rPr>
                        <a:t>NCS Level</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extLst>
                  <a:ext uri="{0D108BD9-81ED-4DB2-BD59-A6C34878D82A}">
                    <a16:rowId xmlns:a16="http://schemas.microsoft.com/office/drawing/2014/main" val="2848433269"/>
                  </a:ext>
                </a:extLst>
              </a:tr>
              <a:tr h="143520">
                <a:tc>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algn="ctr" fontAlgn="ctr"/>
                      <a:endParaRPr lang="ko-KR" altLang="en-US" sz="10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endParaRPr lang="ko-KR" altLang="en-US" sz="80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2">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2360229889"/>
                  </a:ext>
                </a:extLst>
              </a:tr>
              <a:tr h="189241">
                <a:tc gridSpan="16">
                  <a:txBody>
                    <a:bodyPr/>
                    <a:lstStyle/>
                    <a:p>
                      <a:pPr algn="l" fontAlgn="ctr"/>
                      <a:r>
                        <a:rPr lang="en-US" altLang="ko-KR" sz="1100" b="0" i="0" u="none" strike="noStrike" dirty="0">
                          <a:solidFill>
                            <a:schemeClr val="bg1"/>
                          </a:solidFill>
                          <a:effectLst/>
                          <a:latin typeface="+mj-ea"/>
                          <a:ea typeface="+mj-ea"/>
                        </a:rPr>
                        <a:t>3. </a:t>
                      </a:r>
                      <a:r>
                        <a:rPr lang="ko-KR" altLang="en-US" sz="1100" b="0" i="0" u="none" strike="noStrike" dirty="0">
                          <a:solidFill>
                            <a:schemeClr val="bg1"/>
                          </a:solidFill>
                          <a:effectLst/>
                          <a:latin typeface="+mj-ea"/>
                          <a:ea typeface="+mj-ea"/>
                        </a:rPr>
                        <a:t>부가정보</a:t>
                      </a:r>
                    </a:p>
                  </a:txBody>
                  <a:tcPr marL="72000" marR="72000" marT="10800" marB="10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63074883"/>
                  </a:ext>
                </a:extLst>
              </a:tr>
              <a:tr h="174000">
                <a:tc rowSpan="2">
                  <a:txBody>
                    <a:bodyPr/>
                    <a:lstStyle/>
                    <a:p>
                      <a:pPr algn="ctr" fontAlgn="ctr"/>
                      <a:r>
                        <a:rPr lang="ko-KR" altLang="en-US" sz="1000" b="0" i="0" u="none" strike="noStrike" spc="-150" dirty="0">
                          <a:solidFill>
                            <a:srgbClr val="000000"/>
                          </a:solidFill>
                          <a:effectLst/>
                          <a:latin typeface="+mj-ea"/>
                          <a:ea typeface="+mj-ea"/>
                        </a:rPr>
                        <a:t>❻ 선</a:t>
                      </a:r>
                      <a:r>
                        <a:rPr lang="en-US" altLang="ko-KR" sz="1000" b="0" i="0" u="none" strike="noStrike" spc="-150" dirty="0">
                          <a:solidFill>
                            <a:srgbClr val="000000"/>
                          </a:solidFill>
                          <a:effectLst/>
                          <a:latin typeface="+mj-ea"/>
                          <a:ea typeface="+mj-ea"/>
                        </a:rPr>
                        <a:t>·</a:t>
                      </a:r>
                      <a:r>
                        <a:rPr lang="ko-KR" altLang="en-US" sz="1000" b="0" i="0" u="none" strike="noStrike" spc="-150" dirty="0">
                          <a:solidFill>
                            <a:srgbClr val="000000"/>
                          </a:solidFill>
                          <a:effectLst/>
                          <a:latin typeface="+mj-ea"/>
                          <a:ea typeface="+mj-ea"/>
                        </a:rPr>
                        <a:t>후수 과정정보</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6">
                  <a:txBody>
                    <a:bodyPr/>
                    <a:lstStyle/>
                    <a:p>
                      <a:pPr algn="ctr" fontAlgn="ctr"/>
                      <a:r>
                        <a:rPr lang="ko-KR" altLang="en-US" sz="1000" b="0" i="0" u="none" strike="noStrike" dirty="0">
                          <a:solidFill>
                            <a:srgbClr val="000000"/>
                          </a:solidFill>
                          <a:effectLst/>
                          <a:latin typeface="+mj-ea"/>
                          <a:ea typeface="+mj-ea"/>
                        </a:rPr>
                        <a:t>선수과정</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9">
                  <a:txBody>
                    <a:bodyPr/>
                    <a:lstStyle/>
                    <a:p>
                      <a:pPr algn="ctr" fontAlgn="ctr"/>
                      <a:r>
                        <a:rPr lang="ko-KR" altLang="en-US" sz="1000" b="0" i="0" u="none" strike="noStrike" dirty="0">
                          <a:solidFill>
                            <a:srgbClr val="000000"/>
                          </a:solidFill>
                          <a:effectLst/>
                          <a:latin typeface="+mj-ea"/>
                          <a:ea typeface="+mj-ea"/>
                        </a:rPr>
                        <a:t>후수과정</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178456327"/>
                  </a:ext>
                </a:extLst>
              </a:tr>
              <a:tr h="174000">
                <a:tc vMerge="1">
                  <a:txBody>
                    <a:bodyPr/>
                    <a:lstStyle/>
                    <a:p>
                      <a:pPr latinLnBrk="1"/>
                      <a:endParaRPr lang="ko-KR" altLang="en-US"/>
                    </a:p>
                  </a:txBody>
                  <a:tcPr/>
                </a:tc>
                <a:tc gridSpan="6">
                  <a:txBody>
                    <a:bodyPr/>
                    <a:lstStyle/>
                    <a:p>
                      <a:pPr algn="ctr" latinLnBrk="1"/>
                      <a:r>
                        <a:rPr lang="ko-KR" altLang="en-US" sz="1000" b="0" i="0" u="none" strike="noStrike" dirty="0">
                          <a:solidFill>
                            <a:srgbClr val="000000"/>
                          </a:solidFill>
                          <a:effectLst/>
                          <a:latin typeface="+mj-ea"/>
                          <a:ea typeface="+mj-ea"/>
                        </a:rPr>
                        <a:t>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latinLnBrk="1"/>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060332294"/>
                  </a:ext>
                </a:extLst>
              </a:tr>
              <a:tr h="174000">
                <a:tc rowSpan="6">
                  <a:txBody>
                    <a:bodyPr/>
                    <a:lstStyle/>
                    <a:p>
                      <a:pPr algn="ctr" fontAlgn="ctr"/>
                      <a:r>
                        <a:rPr lang="ko-KR" altLang="en-US" sz="1000" b="0" i="0" u="none" strike="noStrike" spc="0" dirty="0">
                          <a:solidFill>
                            <a:srgbClr val="000000"/>
                          </a:solidFill>
                          <a:effectLst/>
                          <a:latin typeface="+mj-ea"/>
                          <a:ea typeface="+mj-ea"/>
                        </a:rPr>
                        <a:t>❼과정개발 필요성</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gridSpan="6">
                  <a:txBody>
                    <a:bodyPr/>
                    <a:lstStyle/>
                    <a:p>
                      <a:pPr algn="ctr" fontAlgn="ctr"/>
                      <a:r>
                        <a:rPr lang="ko-KR" altLang="en-US" sz="1000" b="0" i="0" u="none" strike="noStrike" dirty="0">
                          <a:solidFill>
                            <a:srgbClr val="000000"/>
                          </a:solidFill>
                          <a:effectLst/>
                          <a:latin typeface="+mj-ea"/>
                          <a:ea typeface="+mj-ea"/>
                        </a:rPr>
                        <a:t>구분</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latinLnBrk="1"/>
                      <a:endParaRPr lang="ko-KR" altLang="en-US"/>
                    </a:p>
                  </a:txBody>
                  <a:tcPr/>
                </a:tc>
                <a:tc rowSpan="2"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rowSpan="2" hMerge="1">
                  <a:txBody>
                    <a:bodyPr/>
                    <a:lstStyle/>
                    <a:p>
                      <a:pPr latinLnBrk="1"/>
                      <a:endParaRPr lang="ko-KR" altLang="en-US"/>
                    </a:p>
                  </a:txBody>
                  <a:tcPr/>
                </a:tc>
                <a:tc rowSpan="2"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9">
                  <a:txBody>
                    <a:bodyPr/>
                    <a:lstStyle/>
                    <a:p>
                      <a:pPr algn="ctr" fontAlgn="ctr"/>
                      <a:r>
                        <a:rPr lang="ko-KR" altLang="en-US" sz="1000" b="0" i="0" u="none" strike="noStrike" dirty="0" err="1">
                          <a:solidFill>
                            <a:srgbClr val="000000"/>
                          </a:solidFill>
                          <a:effectLst/>
                          <a:latin typeface="+mj-ea"/>
                          <a:ea typeface="+mj-ea"/>
                        </a:rPr>
                        <a:t>개발필요성</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253713709"/>
                  </a:ext>
                </a:extLst>
              </a:tr>
              <a:tr h="174000">
                <a:tc vMerge="1">
                  <a:txBody>
                    <a:bodyPr/>
                    <a:lstStyle/>
                    <a:p>
                      <a:pPr latinLnBrk="1"/>
                      <a:endParaRPr lang="ko-KR" altLang="en-US"/>
                    </a:p>
                  </a:txBody>
                  <a:tcPr/>
                </a:tc>
                <a:tc gridSpan="6" v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2">
                  <a:txBody>
                    <a:bodyPr/>
                    <a:lstStyle/>
                    <a:p>
                      <a:pPr algn="ctr" fontAlgn="ctr"/>
                      <a:r>
                        <a:rPr lang="ko-KR" altLang="en-US" sz="1000" b="0" i="0" u="none" strike="noStrike" spc="-250" baseline="0" dirty="0" err="1">
                          <a:solidFill>
                            <a:srgbClr val="000000"/>
                          </a:solidFill>
                          <a:effectLst/>
                          <a:latin typeface="+mj-ea"/>
                          <a:ea typeface="+mj-ea"/>
                        </a:rPr>
                        <a:t>매우낮음</a:t>
                      </a:r>
                      <a:endParaRPr lang="ko-KR" altLang="en-US" sz="1000" b="0" i="0" u="none" strike="noStrike" spc="-250" baseline="0"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r>
                        <a:rPr lang="ko-KR" altLang="en-US" sz="1000" b="0" i="0" u="none" strike="noStrike" dirty="0">
                          <a:solidFill>
                            <a:srgbClr val="000000"/>
                          </a:solidFill>
                          <a:effectLst/>
                          <a:latin typeface="+mj-ea"/>
                          <a:ea typeface="+mj-ea"/>
                        </a:rPr>
                        <a:t>낮음</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2">
                  <a:txBody>
                    <a:bodyPr/>
                    <a:lstStyle/>
                    <a:p>
                      <a:pPr algn="ctr" fontAlgn="ctr"/>
                      <a:r>
                        <a:rPr lang="ko-KR" altLang="en-US" sz="1000" b="0" i="0" u="none" strike="noStrike" dirty="0">
                          <a:solidFill>
                            <a:srgbClr val="000000"/>
                          </a:solidFill>
                          <a:effectLst/>
                          <a:latin typeface="+mj-ea"/>
                          <a:ea typeface="+mj-ea"/>
                        </a:rPr>
                        <a:t>보통</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gridSpan="2">
                  <a:txBody>
                    <a:bodyPr/>
                    <a:lstStyle/>
                    <a:p>
                      <a:pPr algn="ctr" fontAlgn="ctr"/>
                      <a:r>
                        <a:rPr lang="ko-KR" altLang="en-US" sz="1000" b="0" i="0" u="none" strike="noStrike" dirty="0">
                          <a:solidFill>
                            <a:srgbClr val="000000"/>
                          </a:solidFill>
                          <a:effectLst/>
                          <a:latin typeface="+mj-ea"/>
                          <a:ea typeface="+mj-ea"/>
                        </a:rPr>
                        <a:t>높음</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a:txBody>
                    <a:bodyPr/>
                    <a:lstStyle/>
                    <a:p>
                      <a:pPr algn="ctr" fontAlgn="ctr"/>
                      <a:r>
                        <a:rPr lang="ko-KR" altLang="en-US" sz="1000" b="0" i="0" u="none" strike="noStrike" spc="-250" baseline="0" dirty="0" err="1">
                          <a:solidFill>
                            <a:srgbClr val="000000"/>
                          </a:solidFill>
                          <a:effectLst/>
                          <a:latin typeface="+mj-ea"/>
                          <a:ea typeface="+mj-ea"/>
                        </a:rPr>
                        <a:t>매우높음</a:t>
                      </a:r>
                      <a:endParaRPr lang="ko-KR" altLang="en-US" sz="1000" b="0" i="0" u="none" strike="noStrike" spc="-250" baseline="0"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1467472307"/>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집체교육</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집체교육</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05005"/>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이러닝</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이러닝</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4352981"/>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가상훈련</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가상훈련</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966370"/>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메타버스</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메타버스</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445672"/>
                  </a:ext>
                </a:extLst>
              </a:tr>
              <a:tr h="174000">
                <a:tc>
                  <a:txBody>
                    <a:bodyPr/>
                    <a:lstStyle/>
                    <a:p>
                      <a:pPr algn="ctr" fontAlgn="ctr"/>
                      <a:r>
                        <a:rPr lang="ko-KR" altLang="en-US" sz="1000" b="0" i="0" u="none" strike="noStrike" dirty="0">
                          <a:solidFill>
                            <a:srgbClr val="000000"/>
                          </a:solidFill>
                          <a:effectLst/>
                          <a:latin typeface="+mj-ea"/>
                          <a:ea typeface="+mj-ea"/>
                        </a:rPr>
                        <a:t>수요기관 </a:t>
                      </a:r>
                      <a:r>
                        <a:rPr lang="ko-KR" altLang="en-US" sz="1000" b="0" i="0" u="none" strike="noStrike" dirty="0" err="1">
                          <a:solidFill>
                            <a:srgbClr val="000000"/>
                          </a:solidFill>
                          <a:effectLst/>
                          <a:latin typeface="+mj-ea"/>
                          <a:ea typeface="+mj-ea"/>
                        </a:rPr>
                        <a:t>활용처</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74609764"/>
                  </a:ext>
                </a:extLst>
              </a:tr>
              <a:tr h="174000">
                <a:tc>
                  <a:txBody>
                    <a:bodyPr/>
                    <a:lstStyle/>
                    <a:p>
                      <a:pPr algn="ctr" fontAlgn="ctr"/>
                      <a:r>
                        <a:rPr lang="ko-KR" altLang="en-US" sz="1000" b="0" i="0" u="none" strike="noStrike" dirty="0">
                          <a:solidFill>
                            <a:srgbClr val="000000"/>
                          </a:solidFill>
                          <a:effectLst/>
                          <a:latin typeface="+mj-ea"/>
                          <a:ea typeface="+mj-ea"/>
                        </a:rPr>
                        <a:t>참고 자료</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664409060"/>
                  </a:ext>
                </a:extLst>
              </a:tr>
            </a:tbl>
          </a:graphicData>
        </a:graphic>
      </p:graphicFrame>
      <p:sp>
        <p:nvSpPr>
          <p:cNvPr id="35" name="TextBox 34">
            <a:extLst>
              <a:ext uri="{FF2B5EF4-FFF2-40B4-BE49-F238E27FC236}">
                <a16:creationId xmlns:a16="http://schemas.microsoft.com/office/drawing/2014/main" id="{9D8FD57B-5F4F-61C8-3BB1-5653EAE6E089}"/>
              </a:ext>
            </a:extLst>
          </p:cNvPr>
          <p:cNvSpPr txBox="1"/>
          <p:nvPr/>
        </p:nvSpPr>
        <p:spPr>
          <a:xfrm>
            <a:off x="6033120" y="2510021"/>
            <a:ext cx="3490738"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a:t>
            </a:r>
            <a:r>
              <a:rPr lang="ko-KR" altLang="en-US"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과정개정 검토주기</a:t>
            </a:r>
            <a:endParaRPr lang="en-US"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본 과정 개요서를 검토하고</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수정이 필요한 주기를 체크하겠음</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sp>
        <p:nvSpPr>
          <p:cNvPr id="36" name="TextBox 35">
            <a:extLst>
              <a:ext uri="{FF2B5EF4-FFF2-40B4-BE49-F238E27FC236}">
                <a16:creationId xmlns:a16="http://schemas.microsoft.com/office/drawing/2014/main" id="{7708D39C-6181-76DF-7706-DEE2EE323B8F}"/>
              </a:ext>
            </a:extLst>
          </p:cNvPr>
          <p:cNvSpPr txBox="1"/>
          <p:nvPr/>
        </p:nvSpPr>
        <p:spPr>
          <a:xfrm>
            <a:off x="6033120" y="4550763"/>
            <a:ext cx="3490738" cy="704996"/>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 선</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후수</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 </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과정정보</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같은 직무의 전 수준 교육과정과 후 수준 교육과정을 참고하여 선</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후수 과정 작성하겠음</a:t>
            </a:r>
          </a:p>
        </p:txBody>
      </p:sp>
      <p:sp>
        <p:nvSpPr>
          <p:cNvPr id="37" name="TextBox 36">
            <a:extLst>
              <a:ext uri="{FF2B5EF4-FFF2-40B4-BE49-F238E27FC236}">
                <a16:creationId xmlns:a16="http://schemas.microsoft.com/office/drawing/2014/main" id="{BE61B531-61E7-859B-1310-164EDB485C1A}"/>
              </a:ext>
            </a:extLst>
          </p:cNvPr>
          <p:cNvSpPr txBox="1"/>
          <p:nvPr/>
        </p:nvSpPr>
        <p:spPr>
          <a:xfrm>
            <a:off x="6033120" y="1196975"/>
            <a:ext cx="3600350" cy="64767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NCS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활용 여부</a:t>
            </a:r>
            <a:endPar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를 활용하여 제작한 과정 개요서는 활용에 체크하겠음</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협약 기업</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기관 교육과정 개발인 경우에는 미 활용에 체크하겠음</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38" name="TextBox 37">
            <a:extLst>
              <a:ext uri="{FF2B5EF4-FFF2-40B4-BE49-F238E27FC236}">
                <a16:creationId xmlns:a16="http://schemas.microsoft.com/office/drawing/2014/main" id="{299C2829-E188-71F6-369C-4D883C1D2F3D}"/>
              </a:ext>
            </a:extLst>
          </p:cNvPr>
          <p:cNvSpPr txBox="1"/>
          <p:nvPr/>
        </p:nvSpPr>
        <p:spPr>
          <a:xfrm>
            <a:off x="6033120" y="5264607"/>
            <a:ext cx="3435952" cy="1166661"/>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 과정개발 필요성</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집체교육</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이러닝</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설문조사 결과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~60</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매우 높음</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61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120</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높음</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121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보통으로 체크하겠음</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가상훈련</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수요조사 결과 가상훈련 개발 필요성이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4</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점 이상인 교육과정 중</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전문가 검토를 통해 필요한 경우 체크하겠음</a:t>
            </a:r>
          </a:p>
        </p:txBody>
      </p:sp>
    </p:spTree>
    <p:extLst>
      <p:ext uri="{BB962C8B-B14F-4D97-AF65-F5344CB8AC3E}">
        <p14:creationId xmlns:p14="http://schemas.microsoft.com/office/powerpoint/2010/main" val="217729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A5585-F5DE-EA6A-4072-1B09FEBCD2FB}"/>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F16B6963-4886-CFC1-54E6-A7B497C347D6}"/>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52F9D36C-645A-2700-56C0-04AF7E0441BD}"/>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작성</a:t>
            </a:r>
          </a:p>
        </p:txBody>
      </p:sp>
      <p:sp>
        <p:nvSpPr>
          <p:cNvPr id="12" name="직사각형 11">
            <a:extLst>
              <a:ext uri="{FF2B5EF4-FFF2-40B4-BE49-F238E27FC236}">
                <a16:creationId xmlns:a16="http://schemas.microsoft.com/office/drawing/2014/main" id="{2C3FB1FD-377E-689C-70A7-ABF594C0AA29}"/>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594F255A-2BC4-7622-FC49-65413BF26C97}"/>
              </a:ext>
            </a:extLst>
          </p:cNvPr>
          <p:cNvSpPr>
            <a:spLocks noGrp="1"/>
          </p:cNvSpPr>
          <p:nvPr>
            <p:ph type="body" sz="quarter" idx="12"/>
          </p:nvPr>
        </p:nvSpPr>
        <p:spPr>
          <a:xfrm>
            <a:off x="596515" y="650182"/>
            <a:ext cx="8749097" cy="815119"/>
          </a:xfrm>
        </p:spPr>
        <p:txBody>
          <a:bodyPr/>
          <a:lstStyle/>
          <a:p>
            <a:pPr latinLnBrk="0"/>
            <a:r>
              <a:rPr lang="ko-KR" altLang="en-US" sz="1800" dirty="0" err="1"/>
              <a:t>기술교육로드맵은</a:t>
            </a:r>
            <a:r>
              <a:rPr lang="ko-KR" altLang="en-US" sz="1800" dirty="0"/>
              <a:t> </a:t>
            </a:r>
            <a:r>
              <a:rPr lang="en-US" altLang="ko-KR" sz="1800" dirty="0"/>
              <a:t>’24</a:t>
            </a:r>
            <a:r>
              <a:rPr lang="ko-KR" altLang="en-US" sz="1800" dirty="0"/>
              <a:t>년 </a:t>
            </a:r>
            <a:r>
              <a:rPr lang="ko-KR" altLang="en-US" sz="1800" dirty="0" err="1"/>
              <a:t>기술교육로드맵과</a:t>
            </a:r>
            <a:r>
              <a:rPr lang="ko-KR" altLang="en-US" sz="1800" dirty="0"/>
              <a:t> 같이 </a:t>
            </a:r>
            <a:r>
              <a:rPr lang="ko-KR" altLang="en-US" sz="1800" dirty="0">
                <a:solidFill>
                  <a:srgbClr val="0070C0"/>
                </a:solidFill>
              </a:rPr>
              <a:t>수요자 관점에서의 활용도를 고려해 산업별 역량체계</a:t>
            </a:r>
            <a:r>
              <a:rPr lang="en-US" altLang="ko-KR" sz="1800" dirty="0">
                <a:solidFill>
                  <a:srgbClr val="0070C0"/>
                </a:solidFill>
              </a:rPr>
              <a:t>(SQF) </a:t>
            </a:r>
            <a:r>
              <a:rPr lang="ko-KR" altLang="en-US" sz="1800" dirty="0">
                <a:solidFill>
                  <a:srgbClr val="0070C0"/>
                </a:solidFill>
              </a:rPr>
              <a:t>바탕으로 작성</a:t>
            </a:r>
            <a:r>
              <a:rPr lang="ko-KR" altLang="en-US" sz="1800" dirty="0"/>
              <a:t>하겠음</a:t>
            </a:r>
          </a:p>
        </p:txBody>
      </p:sp>
      <p:sp>
        <p:nvSpPr>
          <p:cNvPr id="27" name="사다리꼴 12">
            <a:extLst>
              <a:ext uri="{FF2B5EF4-FFF2-40B4-BE49-F238E27FC236}">
                <a16:creationId xmlns:a16="http://schemas.microsoft.com/office/drawing/2014/main" id="{03EF8C6B-01B6-6FE2-AB8E-2E0F0D257300}"/>
              </a:ext>
            </a:extLst>
          </p:cNvPr>
          <p:cNvSpPr/>
          <p:nvPr/>
        </p:nvSpPr>
        <p:spPr>
          <a:xfrm rot="16200000" flipH="1">
            <a:off x="1745691" y="2849982"/>
            <a:ext cx="3354280" cy="1044115"/>
          </a:xfrm>
          <a:custGeom>
            <a:avLst/>
            <a:gdLst>
              <a:gd name="connsiteX0" fmla="*/ 0 w 1756457"/>
              <a:gd name="connsiteY0" fmla="*/ 457113 h 457113"/>
              <a:gd name="connsiteX1" fmla="*/ 371157 w 1756457"/>
              <a:gd name="connsiteY1" fmla="*/ 0 h 457113"/>
              <a:gd name="connsiteX2" fmla="*/ 13853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711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57113 h 457113"/>
              <a:gd name="connsiteX1" fmla="*/ 633060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70144 h 470144"/>
              <a:gd name="connsiteX1" fmla="*/ 633060 w 1756457"/>
              <a:gd name="connsiteY1" fmla="*/ 13031 h 470144"/>
              <a:gd name="connsiteX2" fmla="*/ 1586261 w 1756457"/>
              <a:gd name="connsiteY2" fmla="*/ 0 h 470144"/>
              <a:gd name="connsiteX3" fmla="*/ 1756457 w 1756457"/>
              <a:gd name="connsiteY3" fmla="*/ 470144 h 470144"/>
              <a:gd name="connsiteX4" fmla="*/ 0 w 1756457"/>
              <a:gd name="connsiteY4" fmla="*/ 470144 h 470144"/>
              <a:gd name="connsiteX0" fmla="*/ 0 w 1756457"/>
              <a:gd name="connsiteY0" fmla="*/ 459394 h 459394"/>
              <a:gd name="connsiteX1" fmla="*/ 633060 w 1756457"/>
              <a:gd name="connsiteY1" fmla="*/ 2281 h 459394"/>
              <a:gd name="connsiteX2" fmla="*/ 1590015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633060 w 1756457"/>
              <a:gd name="connsiteY1" fmla="*/ 2281 h 459394"/>
              <a:gd name="connsiteX2" fmla="*/ 1480571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131440 w 1756457"/>
              <a:gd name="connsiteY1" fmla="*/ 18620 h 459394"/>
              <a:gd name="connsiteX2" fmla="*/ 1480571 w 1756457"/>
              <a:gd name="connsiteY2" fmla="*/ 0 h 459394"/>
              <a:gd name="connsiteX3" fmla="*/ 1756457 w 1756457"/>
              <a:gd name="connsiteY3" fmla="*/ 459394 h 459394"/>
              <a:gd name="connsiteX4" fmla="*/ 0 w 1756457"/>
              <a:gd name="connsiteY4" fmla="*/ 459394 h 459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6457" h="459394">
                <a:moveTo>
                  <a:pt x="0" y="459394"/>
                </a:moveTo>
                <a:lnTo>
                  <a:pt x="131440" y="18620"/>
                </a:lnTo>
                <a:lnTo>
                  <a:pt x="1480571" y="0"/>
                </a:lnTo>
                <a:lnTo>
                  <a:pt x="1756457" y="459394"/>
                </a:lnTo>
                <a:lnTo>
                  <a:pt x="0" y="459394"/>
                </a:lnTo>
                <a:close/>
              </a:path>
            </a:pathLst>
          </a:custGeom>
          <a:gradFill>
            <a:gsLst>
              <a:gs pos="0">
                <a:srgbClr val="F0F5FA">
                  <a:alpha val="41000"/>
                </a:srgbClr>
              </a:gs>
              <a:gs pos="53000">
                <a:schemeClr val="bg1">
                  <a:lumMod val="85000"/>
                </a:schemeClr>
              </a:gs>
              <a:gs pos="100000">
                <a:schemeClr val="bg1">
                  <a:lumMod val="65000"/>
                  <a:alpha val="87000"/>
                </a:schemeClr>
              </a:gs>
            </a:gsLst>
            <a:lin ang="5400000" scaled="1"/>
          </a:gradFill>
          <a:ln w="25400" cap="flat" cmpd="sng" algn="ctr">
            <a:noFill/>
            <a:prstDash val="solid"/>
          </a:ln>
          <a:effectLst/>
        </p:spPr>
        <p:txBody>
          <a:bodyPr rtlCol="0" anchor="t"/>
          <a:lstStyle/>
          <a:p>
            <a:pPr marL="90488" marR="0" lvl="0" indent="-904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28" name="직사각형 27">
            <a:extLst>
              <a:ext uri="{FF2B5EF4-FFF2-40B4-BE49-F238E27FC236}">
                <a16:creationId xmlns:a16="http://schemas.microsoft.com/office/drawing/2014/main" id="{4C7444A7-DA84-22D7-DB87-AFF7E2A59364}"/>
              </a:ext>
            </a:extLst>
          </p:cNvPr>
          <p:cNvSpPr/>
          <p:nvPr/>
        </p:nvSpPr>
        <p:spPr>
          <a:xfrm>
            <a:off x="596515" y="1817648"/>
            <a:ext cx="2700301" cy="3041404"/>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a고딕14" panose="02020600000000000000" pitchFamily="18" charset="-127"/>
            </a:endParaRPr>
          </a:p>
        </p:txBody>
      </p:sp>
      <p:graphicFrame>
        <p:nvGraphicFramePr>
          <p:cNvPr id="29" name="표 28">
            <a:extLst>
              <a:ext uri="{FF2B5EF4-FFF2-40B4-BE49-F238E27FC236}">
                <a16:creationId xmlns:a16="http://schemas.microsoft.com/office/drawing/2014/main" id="{7A6CDA6B-8700-03B1-30B7-5739C5EFC283}"/>
              </a:ext>
            </a:extLst>
          </p:cNvPr>
          <p:cNvGraphicFramePr>
            <a:graphicFrameLocks noGrp="1"/>
          </p:cNvGraphicFramePr>
          <p:nvPr>
            <p:extLst>
              <p:ext uri="{D42A27DB-BD31-4B8C-83A1-F6EECF244321}">
                <p14:modId xmlns:p14="http://schemas.microsoft.com/office/powerpoint/2010/main" val="1676429892"/>
              </p:ext>
            </p:extLst>
          </p:nvPr>
        </p:nvGraphicFramePr>
        <p:xfrm>
          <a:off x="3944888" y="1694899"/>
          <a:ext cx="5400725" cy="3354281"/>
        </p:xfrm>
        <a:graphic>
          <a:graphicData uri="http://schemas.openxmlformats.org/drawingml/2006/table">
            <a:tbl>
              <a:tblPr firstRow="1" bandRow="1">
                <a:tableStyleId>{5C22544A-7EE6-4342-B048-85BDC9FD1C3A}</a:tableStyleId>
              </a:tblPr>
              <a:tblGrid>
                <a:gridCol w="865040">
                  <a:extLst>
                    <a:ext uri="{9D8B030D-6E8A-4147-A177-3AD203B41FA5}">
                      <a16:colId xmlns:a16="http://schemas.microsoft.com/office/drawing/2014/main" val="164857499"/>
                    </a:ext>
                  </a:extLst>
                </a:gridCol>
                <a:gridCol w="865040">
                  <a:extLst>
                    <a:ext uri="{9D8B030D-6E8A-4147-A177-3AD203B41FA5}">
                      <a16:colId xmlns:a16="http://schemas.microsoft.com/office/drawing/2014/main" val="763990160"/>
                    </a:ext>
                  </a:extLst>
                </a:gridCol>
                <a:gridCol w="856236">
                  <a:extLst>
                    <a:ext uri="{9D8B030D-6E8A-4147-A177-3AD203B41FA5}">
                      <a16:colId xmlns:a16="http://schemas.microsoft.com/office/drawing/2014/main" val="1946369431"/>
                    </a:ext>
                  </a:extLst>
                </a:gridCol>
                <a:gridCol w="992146">
                  <a:extLst>
                    <a:ext uri="{9D8B030D-6E8A-4147-A177-3AD203B41FA5}">
                      <a16:colId xmlns:a16="http://schemas.microsoft.com/office/drawing/2014/main" val="1869670391"/>
                    </a:ext>
                  </a:extLst>
                </a:gridCol>
                <a:gridCol w="992146">
                  <a:extLst>
                    <a:ext uri="{9D8B030D-6E8A-4147-A177-3AD203B41FA5}">
                      <a16:colId xmlns:a16="http://schemas.microsoft.com/office/drawing/2014/main" val="983315998"/>
                    </a:ext>
                  </a:extLst>
                </a:gridCol>
                <a:gridCol w="830117">
                  <a:extLst>
                    <a:ext uri="{9D8B030D-6E8A-4147-A177-3AD203B41FA5}">
                      <a16:colId xmlns:a16="http://schemas.microsoft.com/office/drawing/2014/main" val="3973353625"/>
                    </a:ext>
                  </a:extLst>
                </a:gridCol>
              </a:tblGrid>
              <a:tr h="361869">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dirty="0">
                          <a:solidFill>
                            <a:schemeClr val="tx1"/>
                          </a:solidFill>
                          <a:latin typeface="a고딕14" panose="02020600000000000000" pitchFamily="18" charset="-127"/>
                          <a:ea typeface="a고딕14" panose="02020600000000000000" pitchFamily="18" charset="-127"/>
                          <a:cs typeface="+mn-cs"/>
                        </a:rPr>
                        <a:t>…</a:t>
                      </a:r>
                      <a:endParaRPr lang="ko-KR" altLang="en-US" sz="1000" b="0" kern="1200" dirty="0">
                        <a:solidFill>
                          <a:schemeClr val="tx1"/>
                        </a:solidFill>
                        <a:latin typeface="a고딕14" panose="02020600000000000000" pitchFamily="18" charset="-127"/>
                        <a:ea typeface="a고딕14" panose="02020600000000000000" pitchFamily="18" charset="-127"/>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0231308"/>
                  </a:ext>
                </a:extLst>
              </a:tr>
              <a:tr h="36186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5</a:t>
                      </a:r>
                      <a:r>
                        <a:rPr lang="ko-KR" altLang="en-US" sz="1000" b="0" dirty="0">
                          <a:solidFill>
                            <a:schemeClr val="tx1"/>
                          </a:solidFill>
                          <a:latin typeface="a고딕14" panose="02020600000000000000" pitchFamily="18" charset="-127"/>
                          <a:ea typeface="a고딕14" panose="02020600000000000000" pitchFamily="18" charset="-127"/>
                        </a:rPr>
                        <a:t>수준</a:t>
                      </a:r>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en-US" altLang="ko-KR"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6051067"/>
                  </a:ext>
                </a:extLst>
              </a:tr>
              <a:tr h="36186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4</a:t>
                      </a:r>
                      <a:r>
                        <a:rPr lang="ko-KR" altLang="en-US" sz="1000" b="0" dirty="0">
                          <a:solidFill>
                            <a:schemeClr val="tx1"/>
                          </a:solidFill>
                          <a:latin typeface="a고딕14" panose="02020600000000000000" pitchFamily="18" charset="-127"/>
                          <a:ea typeface="a고딕14" panose="02020600000000000000" pitchFamily="18" charset="-127"/>
                        </a:rPr>
                        <a:t>수준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9899323"/>
                  </a:ext>
                </a:extLst>
              </a:tr>
              <a:tr h="36186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3</a:t>
                      </a:r>
                      <a:r>
                        <a:rPr lang="ko-KR" altLang="en-US" sz="1000" b="0" dirty="0">
                          <a:solidFill>
                            <a:schemeClr val="tx1"/>
                          </a:solidFill>
                          <a:latin typeface="a고딕14" panose="02020600000000000000" pitchFamily="18" charset="-127"/>
                          <a:ea typeface="a고딕14" panose="02020600000000000000" pitchFamily="18" charset="-127"/>
                        </a:rPr>
                        <a:t>수준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en-US" altLang="ko-KR"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013489"/>
                  </a:ext>
                </a:extLst>
              </a:tr>
              <a:tr h="45410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2</a:t>
                      </a:r>
                      <a:r>
                        <a:rPr lang="ko-KR" altLang="en-US" sz="1000" b="0" dirty="0">
                          <a:solidFill>
                            <a:schemeClr val="tx1"/>
                          </a:solidFill>
                          <a:latin typeface="a고딕14" panose="02020600000000000000" pitchFamily="18" charset="-127"/>
                          <a:ea typeface="a고딕14" panose="02020600000000000000" pitchFamily="18" charset="-127"/>
                        </a:rPr>
                        <a:t>수준</a:t>
                      </a:r>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28806"/>
                  </a:ext>
                </a:extLst>
              </a:tr>
              <a:tr h="36186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1</a:t>
                      </a:r>
                      <a:r>
                        <a:rPr lang="ko-KR" altLang="en-US" sz="1000" b="0" dirty="0">
                          <a:solidFill>
                            <a:schemeClr val="tx1"/>
                          </a:solidFill>
                          <a:latin typeface="a고딕14" panose="02020600000000000000" pitchFamily="18" charset="-127"/>
                          <a:ea typeface="a고딕14" panose="02020600000000000000" pitchFamily="18" charset="-127"/>
                        </a:rPr>
                        <a:t>수준</a:t>
                      </a:r>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7136992"/>
                  </a:ext>
                </a:extLst>
              </a:tr>
              <a:tr h="470429">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BlToTr w="3175" cap="flat" cmpd="sng" algn="ctr">
                      <a:solidFill>
                        <a:schemeClr val="bg1">
                          <a:lumMod val="50000"/>
                        </a:schemeClr>
                      </a:solidFill>
                      <a:prstDash val="solid"/>
                      <a:round/>
                      <a:headEnd type="none" w="med" len="med"/>
                      <a:tailEnd type="none" w="med" len="med"/>
                    </a:lnBlToTr>
                    <a:solidFill>
                      <a:schemeClr val="bg1">
                        <a:lumMod val="85000"/>
                      </a:schemeClr>
                    </a:solidFill>
                  </a:tcPr>
                </a:tc>
                <a:tc>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사출금형설계</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프레스금형설계</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사출금형제작</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프레스금형제작</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a고딕14" panose="02020600000000000000" pitchFamily="18" charset="-127"/>
                          <a:ea typeface="a고딕14" panose="02020600000000000000" pitchFamily="18" charset="-127"/>
                          <a:cs typeface="+mn-cs"/>
                        </a:rPr>
                        <a:t>…</a:t>
                      </a:r>
                      <a:endParaRPr lang="ko-KR" altLang="en-US" sz="900" b="0" kern="1200" dirty="0">
                        <a:solidFill>
                          <a:schemeClr val="tx1"/>
                        </a:solidFill>
                        <a:latin typeface="a고딕14" panose="02020600000000000000" pitchFamily="18" charset="-127"/>
                        <a:ea typeface="a고딕14" panose="02020600000000000000" pitchFamily="18" charset="-127"/>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5747701"/>
                  </a:ext>
                </a:extLst>
              </a:tr>
              <a:tr h="330904">
                <a:tc>
                  <a:txBody>
                    <a:bodyPr/>
                    <a:lstStyle/>
                    <a:p>
                      <a:pPr algn="ctr" latinLnBrk="1"/>
                      <a:r>
                        <a:rPr lang="ko-KR" altLang="en-US" sz="1000" b="0">
                          <a:solidFill>
                            <a:schemeClr val="tx1"/>
                          </a:solidFill>
                          <a:latin typeface="a고딕14" panose="02020600000000000000" pitchFamily="18" charset="-127"/>
                          <a:ea typeface="a고딕14" panose="02020600000000000000" pitchFamily="18" charset="-127"/>
                        </a:rPr>
                        <a:t>하위산업분야</a:t>
                      </a:r>
                      <a:endParaRPr lang="ko-KR" altLang="en-US" sz="10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금형설계</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a:solidFill>
                            <a:schemeClr val="tx1"/>
                          </a:solidFill>
                          <a:latin typeface="a고딕14" panose="02020600000000000000" pitchFamily="18" charset="-127"/>
                          <a:ea typeface="a고딕14" panose="02020600000000000000" pitchFamily="18" charset="-127"/>
                        </a:rPr>
                        <a:t>금형제작</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a고딕14" panose="02020600000000000000" pitchFamily="18" charset="-127"/>
                          <a:ea typeface="a고딕14" panose="02020600000000000000" pitchFamily="18" charset="-127"/>
                          <a:cs typeface="+mn-cs"/>
                        </a:rPr>
                        <a:t>…</a:t>
                      </a:r>
                      <a:endParaRPr lang="ko-KR" altLang="en-US" sz="900" b="0" kern="1200" dirty="0">
                        <a:solidFill>
                          <a:schemeClr val="tx1"/>
                        </a:solidFill>
                        <a:latin typeface="a고딕14" panose="02020600000000000000" pitchFamily="18" charset="-127"/>
                        <a:ea typeface="a고딕14" panose="02020600000000000000" pitchFamily="18" charset="-127"/>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3491343"/>
                  </a:ext>
                </a:extLst>
              </a:tr>
              <a:tr h="289494">
                <a:tc>
                  <a:txBody>
                    <a:bodyPr/>
                    <a:lstStyle/>
                    <a:p>
                      <a:pPr algn="ctr" latinLnBrk="1"/>
                      <a:r>
                        <a:rPr lang="ko-KR" altLang="en-US" sz="1000" b="0">
                          <a:solidFill>
                            <a:schemeClr val="tx1"/>
                          </a:solidFill>
                          <a:latin typeface="a고딕14" panose="02020600000000000000" pitchFamily="18" charset="-127"/>
                          <a:ea typeface="a고딕14" panose="02020600000000000000" pitchFamily="18" charset="-127"/>
                        </a:rPr>
                        <a:t>산업분야</a:t>
                      </a:r>
                      <a:endParaRPr lang="ko-KR" altLang="en-US" sz="10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gridSpan="5">
                  <a:txBody>
                    <a:bodyPr/>
                    <a:lstStyle/>
                    <a:p>
                      <a:pPr algn="ctr" latinLnBrk="1"/>
                      <a:r>
                        <a:rPr lang="ko-KR" altLang="en-US" sz="900" b="0" dirty="0">
                          <a:solidFill>
                            <a:schemeClr val="tx1"/>
                          </a:solidFill>
                          <a:latin typeface="a고딕14" panose="02020600000000000000" pitchFamily="18" charset="-127"/>
                          <a:ea typeface="a고딕14" panose="02020600000000000000" pitchFamily="18" charset="-127"/>
                        </a:rPr>
                        <a:t>금형</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lnL w="12700" cmpd="sng">
                      <a:noFill/>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algn="ctr" latinLnBrk="1"/>
                      <a:endParaRPr lang="ko-KR" altLang="en-US" sz="1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9819156"/>
                  </a:ext>
                </a:extLst>
              </a:tr>
            </a:tbl>
          </a:graphicData>
        </a:graphic>
      </p:graphicFrame>
      <p:sp>
        <p:nvSpPr>
          <p:cNvPr id="30" name="직사각형 29">
            <a:extLst>
              <a:ext uri="{FF2B5EF4-FFF2-40B4-BE49-F238E27FC236}">
                <a16:creationId xmlns:a16="http://schemas.microsoft.com/office/drawing/2014/main" id="{BB4CD926-5408-81E7-3127-6514D176A00A}"/>
              </a:ext>
            </a:extLst>
          </p:cNvPr>
          <p:cNvSpPr/>
          <p:nvPr/>
        </p:nvSpPr>
        <p:spPr>
          <a:xfrm>
            <a:off x="596515" y="5458354"/>
            <a:ext cx="8749097" cy="103134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80000" indent="-171450" algn="l">
              <a:lnSpc>
                <a:spcPct val="130000"/>
              </a:lnSpc>
            </a:pPr>
            <a:r>
              <a:rPr lang="ko-KR" altLang="en-US" dirty="0">
                <a:solidFill>
                  <a:schemeClr val="tx1"/>
                </a:solidFill>
                <a:latin typeface="+mj-ea"/>
                <a:ea typeface="+mj-ea"/>
              </a:rPr>
              <a:t>산업분야별로 현장에서 통용되는 표준 직무를 활용하여 현장 수용성을 높이고자 함</a:t>
            </a:r>
            <a:endParaRPr lang="en-US" altLang="ko-KR" dirty="0">
              <a:solidFill>
                <a:schemeClr val="tx1"/>
              </a:solidFill>
              <a:latin typeface="+mj-ea"/>
              <a:ea typeface="+mj-ea"/>
            </a:endParaRPr>
          </a:p>
          <a:p>
            <a:pPr marL="1080000" indent="-171450" algn="l">
              <a:lnSpc>
                <a:spcPct val="130000"/>
              </a:lnSpc>
            </a:pPr>
            <a:r>
              <a:rPr lang="ko-KR" altLang="en-US" dirty="0">
                <a:solidFill>
                  <a:schemeClr val="tx1"/>
                </a:solidFill>
                <a:latin typeface="+mj-ea"/>
                <a:ea typeface="+mj-ea"/>
              </a:rPr>
              <a:t>산업별역량체계 내 역량인정방안</a:t>
            </a:r>
            <a:r>
              <a:rPr lang="en-US" altLang="ko-KR" dirty="0">
                <a:solidFill>
                  <a:schemeClr val="tx1"/>
                </a:solidFill>
                <a:latin typeface="+mj-ea"/>
                <a:ea typeface="+mj-ea"/>
              </a:rPr>
              <a:t>(Qualification Map)</a:t>
            </a:r>
            <a:r>
              <a:rPr lang="ko-KR" altLang="en-US" dirty="0">
                <a:solidFill>
                  <a:schemeClr val="tx1"/>
                </a:solidFill>
                <a:latin typeface="+mj-ea"/>
                <a:ea typeface="+mj-ea"/>
              </a:rPr>
              <a:t>을 참고하여 </a:t>
            </a:r>
            <a:r>
              <a:rPr lang="ko-KR" altLang="en-US" dirty="0" err="1">
                <a:solidFill>
                  <a:schemeClr val="tx1"/>
                </a:solidFill>
                <a:latin typeface="+mj-ea"/>
                <a:ea typeface="+mj-ea"/>
              </a:rPr>
              <a:t>기술교육로드맵을</a:t>
            </a:r>
            <a:r>
              <a:rPr lang="ko-KR" altLang="en-US" dirty="0">
                <a:solidFill>
                  <a:schemeClr val="tx1"/>
                </a:solidFill>
                <a:latin typeface="+mj-ea"/>
                <a:ea typeface="+mj-ea"/>
              </a:rPr>
              <a:t> 도출하겠음</a:t>
            </a:r>
            <a:endParaRPr lang="en-US" altLang="ko-KR" dirty="0">
              <a:solidFill>
                <a:schemeClr val="tx1"/>
              </a:solidFill>
              <a:latin typeface="+mj-ea"/>
              <a:ea typeface="+mj-ea"/>
            </a:endParaRPr>
          </a:p>
          <a:p>
            <a:pPr marL="1080000" indent="-171450" algn="l">
              <a:lnSpc>
                <a:spcPct val="130000"/>
              </a:lnSpc>
            </a:pPr>
            <a:r>
              <a:rPr lang="ko-KR" altLang="en-US" dirty="0">
                <a:solidFill>
                  <a:schemeClr val="tx1"/>
                </a:solidFill>
                <a:latin typeface="+mj-ea"/>
                <a:ea typeface="+mj-ea"/>
              </a:rPr>
              <a:t>직무에 해당하는 수준별 교육과정 </a:t>
            </a:r>
            <a:r>
              <a:rPr lang="ko-KR" altLang="en-US" dirty="0" err="1">
                <a:solidFill>
                  <a:schemeClr val="tx1"/>
                </a:solidFill>
                <a:latin typeface="+mj-ea"/>
                <a:ea typeface="+mj-ea"/>
              </a:rPr>
              <a:t>매칭을</a:t>
            </a:r>
            <a:r>
              <a:rPr lang="ko-KR" altLang="en-US" dirty="0">
                <a:solidFill>
                  <a:schemeClr val="tx1"/>
                </a:solidFill>
                <a:latin typeface="+mj-ea"/>
                <a:ea typeface="+mj-ea"/>
              </a:rPr>
              <a:t> 위해 교육훈련</a:t>
            </a:r>
            <a:r>
              <a:rPr lang="en-US" altLang="ko-KR" dirty="0">
                <a:solidFill>
                  <a:schemeClr val="tx1"/>
                </a:solidFill>
                <a:latin typeface="+mj-ea"/>
                <a:ea typeface="+mj-ea"/>
              </a:rPr>
              <a:t>, </a:t>
            </a:r>
            <a:r>
              <a:rPr lang="ko-KR" altLang="en-US" dirty="0">
                <a:solidFill>
                  <a:schemeClr val="tx1"/>
                </a:solidFill>
                <a:latin typeface="+mj-ea"/>
                <a:ea typeface="+mj-ea"/>
              </a:rPr>
              <a:t>자격정보 등과 연계 가능하도록 하겠음</a:t>
            </a:r>
            <a:endParaRPr lang="en-US" altLang="ko-KR" dirty="0">
              <a:solidFill>
                <a:schemeClr val="tx1"/>
              </a:solidFill>
              <a:latin typeface="+mj-ea"/>
              <a:ea typeface="+mj-ea"/>
            </a:endParaRPr>
          </a:p>
        </p:txBody>
      </p:sp>
      <p:sp>
        <p:nvSpPr>
          <p:cNvPr id="31" name="직사각형 30">
            <a:extLst>
              <a:ext uri="{FF2B5EF4-FFF2-40B4-BE49-F238E27FC236}">
                <a16:creationId xmlns:a16="http://schemas.microsoft.com/office/drawing/2014/main" id="{6ED0CDA7-7665-C7E4-C80C-2EB1C7376DDF}"/>
              </a:ext>
            </a:extLst>
          </p:cNvPr>
          <p:cNvSpPr/>
          <p:nvPr/>
        </p:nvSpPr>
        <p:spPr>
          <a:xfrm>
            <a:off x="596515" y="5458354"/>
            <a:ext cx="792089" cy="1031346"/>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a:latin typeface="a고딕14" panose="02020600000000000000" pitchFamily="18" charset="-127"/>
                <a:ea typeface="a고딕14" panose="02020600000000000000" pitchFamily="18" charset="-127"/>
              </a:rPr>
              <a:t>Key</a:t>
            </a:r>
          </a:p>
          <a:p>
            <a:pPr algn="ctr">
              <a:buNone/>
            </a:pPr>
            <a:r>
              <a:rPr lang="en-US" altLang="ko-KR">
                <a:latin typeface="a고딕14" panose="02020600000000000000" pitchFamily="18" charset="-127"/>
                <a:ea typeface="a고딕14" panose="02020600000000000000" pitchFamily="18" charset="-127"/>
              </a:rPr>
              <a:t>Point</a:t>
            </a:r>
          </a:p>
        </p:txBody>
      </p:sp>
      <p:sp>
        <p:nvSpPr>
          <p:cNvPr id="32" name="직사각형 31">
            <a:extLst>
              <a:ext uri="{FF2B5EF4-FFF2-40B4-BE49-F238E27FC236}">
                <a16:creationId xmlns:a16="http://schemas.microsoft.com/office/drawing/2014/main" id="{7AA89470-0088-752D-A736-26084618F42E}"/>
              </a:ext>
            </a:extLst>
          </p:cNvPr>
          <p:cNvSpPr/>
          <p:nvPr/>
        </p:nvSpPr>
        <p:spPr>
          <a:xfrm>
            <a:off x="758565" y="1963027"/>
            <a:ext cx="2426442" cy="7098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33" name="직사각형 32">
            <a:extLst>
              <a:ext uri="{FF2B5EF4-FFF2-40B4-BE49-F238E27FC236}">
                <a16:creationId xmlns:a16="http://schemas.microsoft.com/office/drawing/2014/main" id="{A9C2C562-5239-D497-1DF5-5BB6BD28978A}"/>
              </a:ext>
            </a:extLst>
          </p:cNvPr>
          <p:cNvSpPr/>
          <p:nvPr/>
        </p:nvSpPr>
        <p:spPr>
          <a:xfrm>
            <a:off x="758564" y="1963027"/>
            <a:ext cx="217116" cy="196869"/>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a:latin typeface="a고딕14" panose="02020600000000000000" pitchFamily="18" charset="-127"/>
                <a:ea typeface="a고딕14" panose="02020600000000000000" pitchFamily="18" charset="-127"/>
              </a:rPr>
              <a:t>1</a:t>
            </a:r>
            <a:endParaRPr lang="ko-KR" altLang="en-US" dirty="0">
              <a:latin typeface="a고딕14" panose="02020600000000000000" pitchFamily="18" charset="-127"/>
              <a:ea typeface="a고딕14" panose="02020600000000000000" pitchFamily="18" charset="-127"/>
            </a:endParaRPr>
          </a:p>
        </p:txBody>
      </p:sp>
      <p:sp>
        <p:nvSpPr>
          <p:cNvPr id="34" name="TextBox 33">
            <a:extLst>
              <a:ext uri="{FF2B5EF4-FFF2-40B4-BE49-F238E27FC236}">
                <a16:creationId xmlns:a16="http://schemas.microsoft.com/office/drawing/2014/main" id="{D5BDC867-0034-97F7-B03D-BAE3A9FACCAA}"/>
              </a:ext>
            </a:extLst>
          </p:cNvPr>
          <p:cNvSpPr txBox="1"/>
          <p:nvPr/>
        </p:nvSpPr>
        <p:spPr>
          <a:xfrm>
            <a:off x="954626" y="2096703"/>
            <a:ext cx="2322289" cy="461665"/>
          </a:xfrm>
          <a:prstGeom prst="rect">
            <a:avLst/>
          </a:prstGeom>
          <a:noFill/>
        </p:spPr>
        <p:txBody>
          <a:bodyPr wrap="square" rtlCol="0">
            <a:spAutoFit/>
          </a:bodyPr>
          <a:lstStyle/>
          <a:p>
            <a:pPr algn="l">
              <a:buNone/>
            </a:pPr>
            <a:r>
              <a:rPr lang="ko-KR" altLang="en-US" dirty="0">
                <a:latin typeface="Arial Narrow" panose="020B0606020202030204" pitchFamily="34" charset="0"/>
                <a:ea typeface="a고딕14" panose="02020600000000000000" pitchFamily="18" charset="-127"/>
              </a:rPr>
              <a:t>기 구축된 </a:t>
            </a:r>
            <a:r>
              <a:rPr lang="en-US" altLang="ko-KR" dirty="0">
                <a:latin typeface="Arial Narrow" panose="020B0606020202030204" pitchFamily="34" charset="0"/>
                <a:ea typeface="a고딕14" panose="02020600000000000000" pitchFamily="18" charset="-127"/>
              </a:rPr>
              <a:t>SQF </a:t>
            </a:r>
            <a:r>
              <a:rPr lang="ko-KR" altLang="en-US" dirty="0">
                <a:latin typeface="Arial Narrow" panose="020B0606020202030204" pitchFamily="34" charset="0"/>
                <a:ea typeface="a고딕14" panose="02020600000000000000" pitchFamily="18" charset="-127"/>
              </a:rPr>
              <a:t>체계를 활용</a:t>
            </a:r>
            <a:endParaRPr lang="en-US" altLang="ko-KR" dirty="0">
              <a:latin typeface="Arial Narrow" panose="020B0606020202030204" pitchFamily="34" charset="0"/>
              <a:ea typeface="a고딕14" panose="02020600000000000000" pitchFamily="18" charset="-127"/>
            </a:endParaRPr>
          </a:p>
          <a:p>
            <a:pPr algn="l">
              <a:buNone/>
            </a:pPr>
            <a:r>
              <a:rPr lang="en-US" altLang="ko-KR" dirty="0">
                <a:latin typeface="Arial Narrow" panose="020B0606020202030204" pitchFamily="34" charset="0"/>
                <a:ea typeface="a고딕14" panose="02020600000000000000" pitchFamily="18" charset="-127"/>
              </a:rPr>
              <a:t>(</a:t>
            </a:r>
            <a:r>
              <a:rPr lang="ko-KR" altLang="en-US" dirty="0">
                <a:latin typeface="Arial Narrow" panose="020B0606020202030204" pitchFamily="34" charset="0"/>
                <a:ea typeface="a고딕14" panose="02020600000000000000" pitchFamily="18" charset="-127"/>
              </a:rPr>
              <a:t>산업분야</a:t>
            </a:r>
            <a:r>
              <a:rPr lang="en-US" altLang="ko-KR" dirty="0">
                <a:latin typeface="Arial Narrow" panose="020B0606020202030204" pitchFamily="34" charset="0"/>
                <a:ea typeface="a고딕14" panose="02020600000000000000" pitchFamily="18" charset="-127"/>
              </a:rPr>
              <a:t>-</a:t>
            </a:r>
            <a:r>
              <a:rPr lang="ko-KR" altLang="en-US" dirty="0">
                <a:latin typeface="Arial Narrow" panose="020B0606020202030204" pitchFamily="34" charset="0"/>
                <a:ea typeface="a고딕14" panose="02020600000000000000" pitchFamily="18" charset="-127"/>
              </a:rPr>
              <a:t>하위산업분야</a:t>
            </a:r>
            <a:r>
              <a:rPr lang="en-US" altLang="ko-KR" dirty="0">
                <a:latin typeface="Arial Narrow" panose="020B0606020202030204" pitchFamily="34" charset="0"/>
                <a:ea typeface="a고딕14" panose="02020600000000000000" pitchFamily="18" charset="-127"/>
              </a:rPr>
              <a:t>-</a:t>
            </a:r>
            <a:r>
              <a:rPr lang="ko-KR" altLang="en-US" dirty="0">
                <a:latin typeface="Arial Narrow" panose="020B0606020202030204" pitchFamily="34" charset="0"/>
                <a:ea typeface="a고딕14" panose="02020600000000000000" pitchFamily="18" charset="-127"/>
              </a:rPr>
              <a:t>직무</a:t>
            </a:r>
            <a:r>
              <a:rPr lang="en-US" altLang="ko-KR" dirty="0">
                <a:latin typeface="Arial Narrow" panose="020B0606020202030204" pitchFamily="34" charset="0"/>
                <a:ea typeface="a고딕14" panose="02020600000000000000" pitchFamily="18" charset="-127"/>
              </a:rPr>
              <a:t>)</a:t>
            </a:r>
          </a:p>
        </p:txBody>
      </p:sp>
      <p:sp>
        <p:nvSpPr>
          <p:cNvPr id="35" name="직사각형 34">
            <a:extLst>
              <a:ext uri="{FF2B5EF4-FFF2-40B4-BE49-F238E27FC236}">
                <a16:creationId xmlns:a16="http://schemas.microsoft.com/office/drawing/2014/main" id="{D8404DF2-05C7-6FB9-47A3-213205C74CDE}"/>
              </a:ext>
            </a:extLst>
          </p:cNvPr>
          <p:cNvSpPr/>
          <p:nvPr/>
        </p:nvSpPr>
        <p:spPr>
          <a:xfrm>
            <a:off x="758565" y="2894184"/>
            <a:ext cx="2426442" cy="7098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36" name="직사각형 35">
            <a:extLst>
              <a:ext uri="{FF2B5EF4-FFF2-40B4-BE49-F238E27FC236}">
                <a16:creationId xmlns:a16="http://schemas.microsoft.com/office/drawing/2014/main" id="{F64F5E14-4091-77C3-CD38-BE6FFDC17C96}"/>
              </a:ext>
            </a:extLst>
          </p:cNvPr>
          <p:cNvSpPr/>
          <p:nvPr/>
        </p:nvSpPr>
        <p:spPr>
          <a:xfrm>
            <a:off x="758564" y="2894184"/>
            <a:ext cx="217116" cy="196869"/>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a:latin typeface="a고딕14" panose="02020600000000000000" pitchFamily="18" charset="-127"/>
                <a:ea typeface="a고딕14" panose="02020600000000000000" pitchFamily="18" charset="-127"/>
              </a:rPr>
              <a:t>2</a:t>
            </a:r>
            <a:endParaRPr lang="ko-KR" altLang="en-US" dirty="0">
              <a:latin typeface="a고딕14" panose="02020600000000000000" pitchFamily="18" charset="-127"/>
              <a:ea typeface="a고딕14" panose="02020600000000000000" pitchFamily="18" charset="-127"/>
            </a:endParaRPr>
          </a:p>
        </p:txBody>
      </p:sp>
      <p:sp>
        <p:nvSpPr>
          <p:cNvPr id="37" name="TextBox 36">
            <a:extLst>
              <a:ext uri="{FF2B5EF4-FFF2-40B4-BE49-F238E27FC236}">
                <a16:creationId xmlns:a16="http://schemas.microsoft.com/office/drawing/2014/main" id="{85D799EF-D7F6-C7A4-577C-23CAB0BFC3FE}"/>
              </a:ext>
            </a:extLst>
          </p:cNvPr>
          <p:cNvSpPr txBox="1"/>
          <p:nvPr/>
        </p:nvSpPr>
        <p:spPr>
          <a:xfrm>
            <a:off x="954626" y="3027860"/>
            <a:ext cx="2322289" cy="461665"/>
          </a:xfrm>
          <a:prstGeom prst="rect">
            <a:avLst/>
          </a:prstGeom>
          <a:noFill/>
        </p:spPr>
        <p:txBody>
          <a:bodyPr wrap="square" rtlCol="0">
            <a:spAutoFit/>
          </a:bodyPr>
          <a:lstStyle/>
          <a:p>
            <a:pPr algn="l">
              <a:buNone/>
            </a:pPr>
            <a:r>
              <a:rPr lang="ko-KR" altLang="en-US" dirty="0">
                <a:latin typeface="Arial Narrow" panose="020B0606020202030204" pitchFamily="34" charset="0"/>
                <a:ea typeface="a고딕14" panose="02020600000000000000" pitchFamily="18" charset="-127"/>
              </a:rPr>
              <a:t>각 직무별 능력단위에 따라 </a:t>
            </a:r>
            <a:br>
              <a:rPr lang="en-US" altLang="ko-KR" dirty="0">
                <a:latin typeface="Arial Narrow" panose="020B0606020202030204" pitchFamily="34" charset="0"/>
                <a:ea typeface="a고딕14" panose="02020600000000000000" pitchFamily="18" charset="-127"/>
              </a:rPr>
            </a:br>
            <a:r>
              <a:rPr lang="ko-KR" altLang="en-US" dirty="0">
                <a:latin typeface="Arial Narrow" panose="020B0606020202030204" pitchFamily="34" charset="0"/>
                <a:ea typeface="a고딕14" panose="02020600000000000000" pitchFamily="18" charset="-127"/>
              </a:rPr>
              <a:t>교육과정 매칭</a:t>
            </a:r>
          </a:p>
        </p:txBody>
      </p:sp>
      <p:sp>
        <p:nvSpPr>
          <p:cNvPr id="38" name="직사각형 37">
            <a:extLst>
              <a:ext uri="{FF2B5EF4-FFF2-40B4-BE49-F238E27FC236}">
                <a16:creationId xmlns:a16="http://schemas.microsoft.com/office/drawing/2014/main" id="{BF4CABC0-A99D-E361-D34B-6AB19EF4B2E2}"/>
              </a:ext>
            </a:extLst>
          </p:cNvPr>
          <p:cNvSpPr/>
          <p:nvPr/>
        </p:nvSpPr>
        <p:spPr>
          <a:xfrm>
            <a:off x="758377" y="3847649"/>
            <a:ext cx="2426442" cy="7098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39" name="직사각형 38">
            <a:extLst>
              <a:ext uri="{FF2B5EF4-FFF2-40B4-BE49-F238E27FC236}">
                <a16:creationId xmlns:a16="http://schemas.microsoft.com/office/drawing/2014/main" id="{719DD245-82E9-F142-41EF-C3BDD7090131}"/>
              </a:ext>
            </a:extLst>
          </p:cNvPr>
          <p:cNvSpPr/>
          <p:nvPr/>
        </p:nvSpPr>
        <p:spPr>
          <a:xfrm>
            <a:off x="758376" y="3847649"/>
            <a:ext cx="217116" cy="196869"/>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a:latin typeface="a고딕14" panose="02020600000000000000" pitchFamily="18" charset="-127"/>
                <a:ea typeface="a고딕14" panose="02020600000000000000" pitchFamily="18" charset="-127"/>
              </a:rPr>
              <a:t>3</a:t>
            </a:r>
            <a:endParaRPr lang="ko-KR" altLang="en-US" dirty="0">
              <a:latin typeface="a고딕14" panose="02020600000000000000" pitchFamily="18" charset="-127"/>
              <a:ea typeface="a고딕14" panose="02020600000000000000" pitchFamily="18" charset="-127"/>
            </a:endParaRPr>
          </a:p>
        </p:txBody>
      </p:sp>
      <p:sp>
        <p:nvSpPr>
          <p:cNvPr id="40" name="TextBox 39">
            <a:extLst>
              <a:ext uri="{FF2B5EF4-FFF2-40B4-BE49-F238E27FC236}">
                <a16:creationId xmlns:a16="http://schemas.microsoft.com/office/drawing/2014/main" id="{592B675F-085C-25CB-1F05-3231E08BF581}"/>
              </a:ext>
            </a:extLst>
          </p:cNvPr>
          <p:cNvSpPr txBox="1"/>
          <p:nvPr/>
        </p:nvSpPr>
        <p:spPr>
          <a:xfrm>
            <a:off x="954438" y="3981325"/>
            <a:ext cx="2230381" cy="461665"/>
          </a:xfrm>
          <a:prstGeom prst="rect">
            <a:avLst/>
          </a:prstGeom>
          <a:noFill/>
        </p:spPr>
        <p:txBody>
          <a:bodyPr wrap="square" rtlCol="0">
            <a:spAutoFit/>
          </a:bodyPr>
          <a:lstStyle/>
          <a:p>
            <a:pPr algn="l" latinLnBrk="0">
              <a:buNone/>
            </a:pPr>
            <a:r>
              <a:rPr lang="ko-KR" altLang="en-US" dirty="0">
                <a:latin typeface="a고딕14" panose="02020600000000000000" pitchFamily="18" charset="-127"/>
                <a:ea typeface="a고딕14" panose="02020600000000000000" pitchFamily="18" charset="-127"/>
              </a:rPr>
              <a:t>직무전문가로 성장하기 위해 필요한 수준별 교육과정 확인 가능 </a:t>
            </a:r>
          </a:p>
        </p:txBody>
      </p:sp>
      <p:sp>
        <p:nvSpPr>
          <p:cNvPr id="41" name="직사각형 40">
            <a:extLst>
              <a:ext uri="{FF2B5EF4-FFF2-40B4-BE49-F238E27FC236}">
                <a16:creationId xmlns:a16="http://schemas.microsoft.com/office/drawing/2014/main" id="{DB75A1C0-A8F4-D30F-F146-EEC7CD8ED140}"/>
              </a:ext>
            </a:extLst>
          </p:cNvPr>
          <p:cNvSpPr/>
          <p:nvPr/>
        </p:nvSpPr>
        <p:spPr>
          <a:xfrm>
            <a:off x="4837140" y="3119704"/>
            <a:ext cx="864702" cy="437292"/>
          </a:xfrm>
          <a:prstGeom prst="rect">
            <a:avLst/>
          </a:prstGeom>
          <a:solidFill>
            <a:schemeClr val="bg1"/>
          </a:solidFill>
          <a:ln w="3175">
            <a:solidFill>
              <a:schemeClr val="tx2">
                <a:lumMod val="5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tx1"/>
                </a:solidFill>
                <a:latin typeface="Arial Narrow" panose="020B0606020202030204" pitchFamily="34" charset="0"/>
                <a:ea typeface="a고딕14" panose="02020600000000000000" pitchFamily="18" charset="-127"/>
              </a:rPr>
              <a:t>능력단위 </a:t>
            </a:r>
            <a:r>
              <a:rPr lang="en-US" altLang="ko-KR" sz="1100" dirty="0">
                <a:solidFill>
                  <a:schemeClr val="tx1"/>
                </a:solidFill>
                <a:latin typeface="Arial Narrow" panose="020B0606020202030204" pitchFamily="34" charset="0"/>
                <a:ea typeface="a고딕14" panose="02020600000000000000" pitchFamily="18" charset="-127"/>
              </a:rPr>
              <a:t>– </a:t>
            </a:r>
          </a:p>
          <a:p>
            <a:pPr>
              <a:buNone/>
            </a:pPr>
            <a:r>
              <a:rPr lang="ko-KR" altLang="en-US" sz="1100" dirty="0">
                <a:solidFill>
                  <a:schemeClr val="tx1"/>
                </a:solidFill>
                <a:latin typeface="Arial Narrow" panose="020B0606020202030204" pitchFamily="34" charset="0"/>
                <a:ea typeface="a고딕14" panose="02020600000000000000" pitchFamily="18" charset="-127"/>
              </a:rPr>
              <a:t>교육과정 매칭</a:t>
            </a:r>
          </a:p>
        </p:txBody>
      </p:sp>
      <p:sp>
        <p:nvSpPr>
          <p:cNvPr id="42" name="직사각형 41">
            <a:extLst>
              <a:ext uri="{FF2B5EF4-FFF2-40B4-BE49-F238E27FC236}">
                <a16:creationId xmlns:a16="http://schemas.microsoft.com/office/drawing/2014/main" id="{A22693EC-6AA7-B358-8EE7-8EBF7E81180C}"/>
              </a:ext>
            </a:extLst>
          </p:cNvPr>
          <p:cNvSpPr/>
          <p:nvPr/>
        </p:nvSpPr>
        <p:spPr>
          <a:xfrm>
            <a:off x="4837139" y="3964084"/>
            <a:ext cx="4508473" cy="478906"/>
          </a:xfrm>
          <a:prstGeom prst="rect">
            <a:avLst/>
          </a:prstGeom>
          <a:noFill/>
          <a:ln w="190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cxnSp>
        <p:nvCxnSpPr>
          <p:cNvPr id="43" name="연결선: 꺾임 42">
            <a:extLst>
              <a:ext uri="{FF2B5EF4-FFF2-40B4-BE49-F238E27FC236}">
                <a16:creationId xmlns:a16="http://schemas.microsoft.com/office/drawing/2014/main" id="{78133F6E-5439-64F2-7D7E-2E421E289F53}"/>
              </a:ext>
            </a:extLst>
          </p:cNvPr>
          <p:cNvCxnSpPr>
            <a:cxnSpLocks/>
            <a:stCxn id="42" idx="0"/>
            <a:endCxn id="44" idx="1"/>
          </p:cNvCxnSpPr>
          <p:nvPr/>
        </p:nvCxnSpPr>
        <p:spPr>
          <a:xfrm rot="5400000" flipH="1" flipV="1">
            <a:off x="7077526" y="3389736"/>
            <a:ext cx="588198" cy="560499"/>
          </a:xfrm>
          <a:prstGeom prst="bentConnector2">
            <a:avLst/>
          </a:prstGeom>
          <a:noFill/>
          <a:ln w="19050">
            <a:solidFill>
              <a:srgbClr val="0070C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4" name="TextBox 43">
            <a:extLst>
              <a:ext uri="{FF2B5EF4-FFF2-40B4-BE49-F238E27FC236}">
                <a16:creationId xmlns:a16="http://schemas.microsoft.com/office/drawing/2014/main" id="{CA4AF55A-176A-9F1B-3358-35E539A776DD}"/>
              </a:ext>
            </a:extLst>
          </p:cNvPr>
          <p:cNvSpPr txBox="1"/>
          <p:nvPr/>
        </p:nvSpPr>
        <p:spPr>
          <a:xfrm>
            <a:off x="7651875" y="3233539"/>
            <a:ext cx="1765621" cy="284693"/>
          </a:xfrm>
          <a:prstGeom prst="rect">
            <a:avLst/>
          </a:prstGeom>
          <a:noFill/>
        </p:spPr>
        <p:txBody>
          <a:bodyPr wrap="square" rtlCol="0">
            <a:spAutoFit/>
          </a:bodyPr>
          <a:lstStyle/>
          <a:p>
            <a:pPr algn="l">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직무 기준 </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TTR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도출</a:t>
            </a:r>
          </a:p>
        </p:txBody>
      </p:sp>
      <p:sp>
        <p:nvSpPr>
          <p:cNvPr id="45" name="TextBox 44">
            <a:extLst>
              <a:ext uri="{FF2B5EF4-FFF2-40B4-BE49-F238E27FC236}">
                <a16:creationId xmlns:a16="http://schemas.microsoft.com/office/drawing/2014/main" id="{FD9EA819-CF1C-37AD-3FA2-4009DDB48776}"/>
              </a:ext>
            </a:extLst>
          </p:cNvPr>
          <p:cNvSpPr txBox="1"/>
          <p:nvPr/>
        </p:nvSpPr>
        <p:spPr>
          <a:xfrm>
            <a:off x="4385921" y="4187180"/>
            <a:ext cx="412285" cy="190240"/>
          </a:xfrm>
          <a:prstGeom prst="rect">
            <a:avLst/>
          </a:prstGeom>
          <a:noFill/>
        </p:spPr>
        <p:txBody>
          <a:bodyPr wrap="square" lIns="36000" tIns="18000" rIns="36000" bIns="18000" rtlCol="0">
            <a:spAutoFit/>
          </a:bodyPr>
          <a:lstStyle/>
          <a:p>
            <a:pPr>
              <a:buNone/>
            </a:pPr>
            <a:r>
              <a:rPr lang="ko-KR" altLang="en-US" sz="1000" dirty="0">
                <a:latin typeface="Arial Narrow" panose="020B0606020202030204" pitchFamily="34" charset="0"/>
                <a:ea typeface="a고딕14" panose="02020600000000000000" pitchFamily="18" charset="-127"/>
              </a:rPr>
              <a:t>직무</a:t>
            </a:r>
          </a:p>
        </p:txBody>
      </p:sp>
      <p:sp>
        <p:nvSpPr>
          <p:cNvPr id="46" name="TextBox 45">
            <a:extLst>
              <a:ext uri="{FF2B5EF4-FFF2-40B4-BE49-F238E27FC236}">
                <a16:creationId xmlns:a16="http://schemas.microsoft.com/office/drawing/2014/main" id="{D000876F-0084-F522-0CDA-0107070FD89C}"/>
              </a:ext>
            </a:extLst>
          </p:cNvPr>
          <p:cNvSpPr txBox="1"/>
          <p:nvPr/>
        </p:nvSpPr>
        <p:spPr>
          <a:xfrm>
            <a:off x="3973636" y="3988369"/>
            <a:ext cx="412285" cy="190240"/>
          </a:xfrm>
          <a:prstGeom prst="rect">
            <a:avLst/>
          </a:prstGeom>
          <a:noFill/>
        </p:spPr>
        <p:txBody>
          <a:bodyPr wrap="square" lIns="36000" tIns="18000" rIns="36000" bIns="18000" rtlCol="0">
            <a:spAutoFit/>
          </a:bodyPr>
          <a:lstStyle/>
          <a:p>
            <a:pPr>
              <a:buNone/>
            </a:pPr>
            <a:r>
              <a:rPr lang="ko-KR" altLang="en-US" sz="1000" dirty="0">
                <a:latin typeface="Arial Narrow" panose="020B0606020202030204" pitchFamily="34" charset="0"/>
                <a:ea typeface="a고딕14" panose="02020600000000000000" pitchFamily="18" charset="-127"/>
              </a:rPr>
              <a:t>수준</a:t>
            </a:r>
          </a:p>
        </p:txBody>
      </p:sp>
    </p:spTree>
    <p:extLst>
      <p:ext uri="{BB962C8B-B14F-4D97-AF65-F5344CB8AC3E}">
        <p14:creationId xmlns:p14="http://schemas.microsoft.com/office/powerpoint/2010/main" val="1284465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C517-D170-C68A-29B8-99E78E0E6793}"/>
            </a:ext>
          </a:extLst>
        </p:cNvPr>
        <p:cNvGrpSpPr/>
        <p:nvPr/>
      </p:nvGrpSpPr>
      <p:grpSpPr>
        <a:xfrm>
          <a:off x="0" y="0"/>
          <a:ext cx="0" cy="0"/>
          <a:chOff x="0" y="0"/>
          <a:chExt cx="0" cy="0"/>
        </a:xfrm>
      </p:grpSpPr>
      <p:pic>
        <p:nvPicPr>
          <p:cNvPr id="22" name="그림 21">
            <a:extLst>
              <a:ext uri="{FF2B5EF4-FFF2-40B4-BE49-F238E27FC236}">
                <a16:creationId xmlns:a16="http://schemas.microsoft.com/office/drawing/2014/main" id="{4320F66C-429B-B13E-7332-B26C2509A4E5}"/>
              </a:ext>
            </a:extLst>
          </p:cNvPr>
          <p:cNvPicPr>
            <a:picLocks noChangeAspect="1"/>
          </p:cNvPicPr>
          <p:nvPr/>
        </p:nvPicPr>
        <p:blipFill>
          <a:blip r:embed="rId2"/>
          <a:stretch>
            <a:fillRect/>
          </a:stretch>
        </p:blipFill>
        <p:spPr>
          <a:xfrm>
            <a:off x="705186" y="2214233"/>
            <a:ext cx="5637888" cy="3879064"/>
          </a:xfrm>
          <a:prstGeom prst="rect">
            <a:avLst/>
          </a:prstGeom>
          <a:ln>
            <a:solidFill>
              <a:srgbClr val="A4A3A4"/>
            </a:solidFill>
          </a:ln>
        </p:spPr>
      </p:pic>
      <p:sp>
        <p:nvSpPr>
          <p:cNvPr id="5" name="텍스트 개체 틀 4">
            <a:extLst>
              <a:ext uri="{FF2B5EF4-FFF2-40B4-BE49-F238E27FC236}">
                <a16:creationId xmlns:a16="http://schemas.microsoft.com/office/drawing/2014/main" id="{BFE05DE7-6057-9BFC-4C37-7DF3F0890BCB}"/>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7C6D69EE-C4B3-C1EB-DB5D-9E16C3169ADF}"/>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작성</a:t>
            </a:r>
          </a:p>
        </p:txBody>
      </p:sp>
      <p:sp>
        <p:nvSpPr>
          <p:cNvPr id="12" name="직사각형 11">
            <a:extLst>
              <a:ext uri="{FF2B5EF4-FFF2-40B4-BE49-F238E27FC236}">
                <a16:creationId xmlns:a16="http://schemas.microsoft.com/office/drawing/2014/main" id="{2DFC3B47-1434-F76A-F907-C0B270C17548}"/>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0DEC9FC2-F04B-3332-3CE2-9EDAEFF493EF}"/>
              </a:ext>
            </a:extLst>
          </p:cNvPr>
          <p:cNvSpPr>
            <a:spLocks noGrp="1"/>
          </p:cNvSpPr>
          <p:nvPr>
            <p:ph type="body" sz="quarter" idx="12"/>
          </p:nvPr>
        </p:nvSpPr>
        <p:spPr>
          <a:xfrm>
            <a:off x="596515" y="650182"/>
            <a:ext cx="8749097" cy="815119"/>
          </a:xfrm>
        </p:spPr>
        <p:txBody>
          <a:bodyPr/>
          <a:lstStyle/>
          <a:p>
            <a:r>
              <a:rPr lang="ko-KR" altLang="en-US" dirty="0" err="1"/>
              <a:t>기술교육로드맵</a:t>
            </a:r>
            <a:r>
              <a:rPr lang="ko-KR" altLang="en-US" dirty="0"/>
              <a:t> 표지는 </a:t>
            </a:r>
            <a:r>
              <a:rPr lang="ko-KR" altLang="en-US" dirty="0">
                <a:solidFill>
                  <a:srgbClr val="0070C0"/>
                </a:solidFill>
              </a:rPr>
              <a:t>산업분야명과 디지털</a:t>
            </a:r>
            <a:r>
              <a:rPr lang="en-US" altLang="ko-KR" dirty="0">
                <a:solidFill>
                  <a:srgbClr val="0070C0"/>
                </a:solidFill>
              </a:rPr>
              <a:t>·</a:t>
            </a:r>
            <a:r>
              <a:rPr lang="ko-KR" altLang="en-US" dirty="0">
                <a:solidFill>
                  <a:srgbClr val="0070C0"/>
                </a:solidFill>
              </a:rPr>
              <a:t>첨단</a:t>
            </a:r>
            <a:r>
              <a:rPr lang="en-US" altLang="ko-KR" dirty="0">
                <a:solidFill>
                  <a:srgbClr val="0070C0"/>
                </a:solidFill>
              </a:rPr>
              <a:t>, </a:t>
            </a:r>
            <a:r>
              <a:rPr lang="ko-KR" altLang="en-US" dirty="0">
                <a:solidFill>
                  <a:srgbClr val="0070C0"/>
                </a:solidFill>
              </a:rPr>
              <a:t>평생능력개발분야</a:t>
            </a:r>
            <a:r>
              <a:rPr lang="en-US" altLang="ko-KR" dirty="0">
                <a:solidFill>
                  <a:srgbClr val="0070C0"/>
                </a:solidFill>
              </a:rPr>
              <a:t>(NCS)</a:t>
            </a:r>
            <a:r>
              <a:rPr lang="ko-KR" altLang="en-US" dirty="0">
                <a:solidFill>
                  <a:srgbClr val="0070C0"/>
                </a:solidFill>
              </a:rPr>
              <a:t> 중 해당 분야를 확인할 수 있도록 구성</a:t>
            </a:r>
            <a:r>
              <a:rPr lang="ko-KR" altLang="en-US" dirty="0"/>
              <a:t>하겠음</a:t>
            </a:r>
          </a:p>
        </p:txBody>
      </p:sp>
      <p:grpSp>
        <p:nvGrpSpPr>
          <p:cNvPr id="2" name="그룹 1">
            <a:extLst>
              <a:ext uri="{FF2B5EF4-FFF2-40B4-BE49-F238E27FC236}">
                <a16:creationId xmlns:a16="http://schemas.microsoft.com/office/drawing/2014/main" id="{538E829D-7E14-F7F8-0485-C45DE794AED4}"/>
              </a:ext>
            </a:extLst>
          </p:cNvPr>
          <p:cNvGrpSpPr/>
          <p:nvPr/>
        </p:nvGrpSpPr>
        <p:grpSpPr>
          <a:xfrm>
            <a:off x="596515" y="1681027"/>
            <a:ext cx="8749098" cy="266602"/>
            <a:chOff x="802640" y="2236632"/>
            <a:chExt cx="4130805" cy="266552"/>
          </a:xfrm>
        </p:grpSpPr>
        <p:sp>
          <p:nvSpPr>
            <p:cNvPr id="3" name="ListLeanHorizontalTextTopic0">
              <a:extLst>
                <a:ext uri="{FF2B5EF4-FFF2-40B4-BE49-F238E27FC236}">
                  <a16:creationId xmlns:a16="http://schemas.microsoft.com/office/drawing/2014/main" id="{5EFD3230-B171-3F63-9F51-57DC01E7B2D2}"/>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표지 구성</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4" name="Horizontal Line">
              <a:extLst>
                <a:ext uri="{FF2B5EF4-FFF2-40B4-BE49-F238E27FC236}">
                  <a16:creationId xmlns:a16="http://schemas.microsoft.com/office/drawing/2014/main" id="{A312FA77-85C7-690F-6FBB-890C8AFAA6B0}"/>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8" name="TextBox 7">
            <a:extLst>
              <a:ext uri="{FF2B5EF4-FFF2-40B4-BE49-F238E27FC236}">
                <a16:creationId xmlns:a16="http://schemas.microsoft.com/office/drawing/2014/main" id="{B7BDCFF7-20BB-C90C-F0D6-FFE8E2377BDC}"/>
              </a:ext>
            </a:extLst>
          </p:cNvPr>
          <p:cNvSpPr txBox="1"/>
          <p:nvPr/>
        </p:nvSpPr>
        <p:spPr>
          <a:xfrm>
            <a:off x="6609059" y="2606964"/>
            <a:ext cx="2735628" cy="647673"/>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디지털</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첨단분야 중 해당 직종</a:t>
            </a: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21</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개 신기술 분야 관련 직종에 해당하는지 표기</a:t>
            </a: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한 산업분야에 여러 직종이 포함될 수 있음</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9" name="TextBox 8">
            <a:extLst>
              <a:ext uri="{FF2B5EF4-FFF2-40B4-BE49-F238E27FC236}">
                <a16:creationId xmlns:a16="http://schemas.microsoft.com/office/drawing/2014/main" id="{17A2D4A0-80F3-4FED-D2C1-8F8DA15AC642}"/>
              </a:ext>
            </a:extLst>
          </p:cNvPr>
          <p:cNvSpPr txBox="1"/>
          <p:nvPr/>
        </p:nvSpPr>
        <p:spPr>
          <a:xfrm>
            <a:off x="6609059" y="3429000"/>
            <a:ext cx="2735628"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평생능력개발분야</a:t>
            </a: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해당 산업분야의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구성을 보여줌</a:t>
            </a:r>
          </a:p>
        </p:txBody>
      </p:sp>
      <p:sp>
        <p:nvSpPr>
          <p:cNvPr id="10" name="TextBox 9">
            <a:extLst>
              <a:ext uri="{FF2B5EF4-FFF2-40B4-BE49-F238E27FC236}">
                <a16:creationId xmlns:a16="http://schemas.microsoft.com/office/drawing/2014/main" id="{05F41241-5D8D-75F8-97EF-A08F0F92EF39}"/>
              </a:ext>
            </a:extLst>
          </p:cNvPr>
          <p:cNvSpPr txBox="1"/>
          <p:nvPr/>
        </p:nvSpPr>
        <p:spPr>
          <a:xfrm>
            <a:off x="6609059" y="2115954"/>
            <a:ext cx="2735628"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산업분야명</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 </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대분류 명과 동일하게 적용함</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cxnSp>
        <p:nvCxnSpPr>
          <p:cNvPr id="14" name="직선 화살표 연결선 13">
            <a:extLst>
              <a:ext uri="{FF2B5EF4-FFF2-40B4-BE49-F238E27FC236}">
                <a16:creationId xmlns:a16="http://schemas.microsoft.com/office/drawing/2014/main" id="{42637AF5-BD71-43E9-4E54-725D91F51F23}"/>
              </a:ext>
            </a:extLst>
          </p:cNvPr>
          <p:cNvCxnSpPr>
            <a:cxnSpLocks/>
            <a:stCxn id="15" idx="6"/>
            <a:endCxn id="10" idx="1"/>
          </p:cNvCxnSpPr>
          <p:nvPr/>
        </p:nvCxnSpPr>
        <p:spPr>
          <a:xfrm flipV="1">
            <a:off x="4315309" y="2329761"/>
            <a:ext cx="2293750" cy="651925"/>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15" name="타원 14">
            <a:extLst>
              <a:ext uri="{FF2B5EF4-FFF2-40B4-BE49-F238E27FC236}">
                <a16:creationId xmlns:a16="http://schemas.microsoft.com/office/drawing/2014/main" id="{D23D78FC-1CCF-B4BE-5F6C-52F208E4801B}"/>
              </a:ext>
            </a:extLst>
          </p:cNvPr>
          <p:cNvSpPr/>
          <p:nvPr/>
        </p:nvSpPr>
        <p:spPr>
          <a:xfrm>
            <a:off x="2612740" y="2729658"/>
            <a:ext cx="1702569" cy="504056"/>
          </a:xfrm>
          <a:prstGeom prst="ellipse">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cxnSp>
        <p:nvCxnSpPr>
          <p:cNvPr id="16" name="직선 화살표 연결선 15">
            <a:extLst>
              <a:ext uri="{FF2B5EF4-FFF2-40B4-BE49-F238E27FC236}">
                <a16:creationId xmlns:a16="http://schemas.microsoft.com/office/drawing/2014/main" id="{CFC81503-FA2E-B76F-3E05-C605FE4FD11E}"/>
              </a:ext>
            </a:extLst>
          </p:cNvPr>
          <p:cNvCxnSpPr>
            <a:cxnSpLocks/>
            <a:stCxn id="17" idx="3"/>
            <a:endCxn id="8" idx="1"/>
          </p:cNvCxnSpPr>
          <p:nvPr/>
        </p:nvCxnSpPr>
        <p:spPr>
          <a:xfrm flipV="1">
            <a:off x="6042660" y="2930801"/>
            <a:ext cx="566399" cy="661712"/>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17" name="직사각형 16">
            <a:extLst>
              <a:ext uri="{FF2B5EF4-FFF2-40B4-BE49-F238E27FC236}">
                <a16:creationId xmlns:a16="http://schemas.microsoft.com/office/drawing/2014/main" id="{88846641-5058-39C3-F3B4-CD335B892866}"/>
              </a:ext>
            </a:extLst>
          </p:cNvPr>
          <p:cNvSpPr/>
          <p:nvPr/>
        </p:nvSpPr>
        <p:spPr>
          <a:xfrm>
            <a:off x="984250" y="3390900"/>
            <a:ext cx="5058410" cy="403225"/>
          </a:xfrm>
          <a:prstGeom prst="rect">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sp>
        <p:nvSpPr>
          <p:cNvPr id="18" name="직사각형 17">
            <a:extLst>
              <a:ext uri="{FF2B5EF4-FFF2-40B4-BE49-F238E27FC236}">
                <a16:creationId xmlns:a16="http://schemas.microsoft.com/office/drawing/2014/main" id="{57E434CE-4E0E-2C0F-20CE-0625EBF0F0F7}"/>
              </a:ext>
            </a:extLst>
          </p:cNvPr>
          <p:cNvSpPr/>
          <p:nvPr/>
        </p:nvSpPr>
        <p:spPr>
          <a:xfrm>
            <a:off x="984250" y="3919738"/>
            <a:ext cx="5058410" cy="1381470"/>
          </a:xfrm>
          <a:prstGeom prst="rect">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cxnSp>
        <p:nvCxnSpPr>
          <p:cNvPr id="19" name="직선 화살표 연결선 18">
            <a:extLst>
              <a:ext uri="{FF2B5EF4-FFF2-40B4-BE49-F238E27FC236}">
                <a16:creationId xmlns:a16="http://schemas.microsoft.com/office/drawing/2014/main" id="{F7693B62-807E-D27C-73C3-B958A3D01DCF}"/>
              </a:ext>
            </a:extLst>
          </p:cNvPr>
          <p:cNvCxnSpPr>
            <a:cxnSpLocks/>
            <a:stCxn id="18" idx="3"/>
            <a:endCxn id="9" idx="1"/>
          </p:cNvCxnSpPr>
          <p:nvPr/>
        </p:nvCxnSpPr>
        <p:spPr>
          <a:xfrm flipV="1">
            <a:off x="6042660" y="3642807"/>
            <a:ext cx="566399" cy="967666"/>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85907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670AD-FCD2-6E1E-6354-971C959F1B7D}"/>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3D3F2582-35B4-5234-7068-D776337FE693}"/>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EB1D4A62-584C-8EF8-DED1-0689A886DBA1}"/>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작성</a:t>
            </a:r>
          </a:p>
        </p:txBody>
      </p:sp>
      <p:sp>
        <p:nvSpPr>
          <p:cNvPr id="12" name="직사각형 11">
            <a:extLst>
              <a:ext uri="{FF2B5EF4-FFF2-40B4-BE49-F238E27FC236}">
                <a16:creationId xmlns:a16="http://schemas.microsoft.com/office/drawing/2014/main" id="{EDB5F186-5AF3-A04D-B053-888FA06B5B9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C647E535-80F0-D4B2-9B20-2AFF88DF47E0}"/>
              </a:ext>
            </a:extLst>
          </p:cNvPr>
          <p:cNvSpPr>
            <a:spLocks noGrp="1"/>
          </p:cNvSpPr>
          <p:nvPr>
            <p:ph type="body" sz="quarter" idx="12"/>
          </p:nvPr>
        </p:nvSpPr>
        <p:spPr>
          <a:xfrm>
            <a:off x="596515" y="650182"/>
            <a:ext cx="8749097" cy="815119"/>
          </a:xfrm>
        </p:spPr>
        <p:txBody>
          <a:bodyPr/>
          <a:lstStyle/>
          <a:p>
            <a:pPr latinLnBrk="0"/>
            <a:r>
              <a:rPr lang="en-US" altLang="ko-KR" dirty="0"/>
              <a:t>‘</a:t>
            </a:r>
            <a:r>
              <a:rPr lang="ko-KR" altLang="en-US" dirty="0"/>
              <a:t>산업별 직무체계</a:t>
            </a:r>
            <a:r>
              <a:rPr lang="en-US" altLang="ko-KR" dirty="0"/>
              <a:t>’ </a:t>
            </a:r>
            <a:r>
              <a:rPr lang="ko-KR" altLang="en-US" dirty="0"/>
              <a:t>파트에서는 </a:t>
            </a:r>
            <a:r>
              <a:rPr lang="en-US" altLang="ko-KR" dirty="0">
                <a:solidFill>
                  <a:srgbClr val="0070C0"/>
                </a:solidFill>
              </a:rPr>
              <a:t>SQF </a:t>
            </a:r>
            <a:r>
              <a:rPr lang="ko-KR" altLang="en-US" dirty="0">
                <a:solidFill>
                  <a:srgbClr val="0070C0"/>
                </a:solidFill>
              </a:rPr>
              <a:t>기반의 직무 구성</a:t>
            </a:r>
            <a:r>
              <a:rPr lang="ko-KR" altLang="en-US" dirty="0"/>
              <a:t>과 </a:t>
            </a:r>
            <a:r>
              <a:rPr lang="ko-KR" altLang="en-US" dirty="0">
                <a:solidFill>
                  <a:srgbClr val="0070C0"/>
                </a:solidFill>
              </a:rPr>
              <a:t>직무와 디지털</a:t>
            </a:r>
            <a:r>
              <a:rPr lang="en-US" altLang="ko-KR" dirty="0">
                <a:solidFill>
                  <a:srgbClr val="0070C0"/>
                </a:solidFill>
              </a:rPr>
              <a:t>·</a:t>
            </a:r>
            <a:r>
              <a:rPr lang="ko-KR" altLang="en-US" dirty="0">
                <a:solidFill>
                  <a:srgbClr val="0070C0"/>
                </a:solidFill>
              </a:rPr>
              <a:t>첨단분야와 매칭된 직종</a:t>
            </a:r>
            <a:r>
              <a:rPr lang="en-US" altLang="ko-KR" dirty="0"/>
              <a:t>, </a:t>
            </a:r>
            <a:r>
              <a:rPr lang="ko-KR" altLang="en-US" dirty="0">
                <a:solidFill>
                  <a:srgbClr val="0070C0"/>
                </a:solidFill>
              </a:rPr>
              <a:t>능력단위 기준 매칭된 과정평가형 및 일학습병행 자격명과 제시</a:t>
            </a:r>
            <a:r>
              <a:rPr lang="ko-KR" altLang="en-US" dirty="0"/>
              <a:t>하겠음</a:t>
            </a:r>
          </a:p>
        </p:txBody>
      </p:sp>
      <p:pic>
        <p:nvPicPr>
          <p:cNvPr id="2" name="그림 1">
            <a:extLst>
              <a:ext uri="{FF2B5EF4-FFF2-40B4-BE49-F238E27FC236}">
                <a16:creationId xmlns:a16="http://schemas.microsoft.com/office/drawing/2014/main" id="{4FA66B70-55C2-1446-37A9-F7DA1CE0E1E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9964" y="2328429"/>
            <a:ext cx="5641944" cy="3650669"/>
          </a:xfrm>
          <a:prstGeom prst="rect">
            <a:avLst/>
          </a:prstGeom>
          <a:ln>
            <a:solidFill>
              <a:srgbClr val="A4A3A4"/>
            </a:solidFill>
          </a:ln>
        </p:spPr>
      </p:pic>
      <p:sp>
        <p:nvSpPr>
          <p:cNvPr id="3" name="TextBox 2">
            <a:extLst>
              <a:ext uri="{FF2B5EF4-FFF2-40B4-BE49-F238E27FC236}">
                <a16:creationId xmlns:a16="http://schemas.microsoft.com/office/drawing/2014/main" id="{4478A3B8-506F-58CC-96BE-4BC09109AA7A}"/>
              </a:ext>
            </a:extLst>
          </p:cNvPr>
          <p:cNvSpPr txBox="1"/>
          <p:nvPr/>
        </p:nvSpPr>
        <p:spPr>
          <a:xfrm>
            <a:off x="6609059" y="3037391"/>
            <a:ext cx="2735628" cy="1527914"/>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대분류</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중분류</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소분류</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직무</a:t>
            </a: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SQF</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의 경우 소관분야</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산업분야</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하위 산업분야</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 순임</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경력개발경로의 경우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대분류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중분류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소분류와 경력개발경로 상의 직무 순임</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구성 체계를 적용한 경우</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NCS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대분류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중분류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소분류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err="1">
                <a:ln>
                  <a:solidFill>
                    <a:srgbClr val="DF2D32">
                      <a:alpha val="0"/>
                    </a:srgbClr>
                  </a:solidFill>
                </a:ln>
                <a:solidFill>
                  <a:prstClr val="black"/>
                </a:solidFill>
                <a:latin typeface="a고딕14" panose="02020600000000000000" pitchFamily="18" charset="-127"/>
                <a:ea typeface="a고딕14" panose="02020600000000000000" pitchFamily="18" charset="-127"/>
              </a:rPr>
              <a:t>세분류</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순임</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4" name="TextBox 3">
            <a:extLst>
              <a:ext uri="{FF2B5EF4-FFF2-40B4-BE49-F238E27FC236}">
                <a16:creationId xmlns:a16="http://schemas.microsoft.com/office/drawing/2014/main" id="{FE534503-771E-DA18-6BE5-DACFB6157926}"/>
              </a:ext>
            </a:extLst>
          </p:cNvPr>
          <p:cNvSpPr txBox="1"/>
          <p:nvPr/>
        </p:nvSpPr>
        <p:spPr>
          <a:xfrm>
            <a:off x="6609860" y="4617132"/>
            <a:ext cx="2735628" cy="64767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디지털</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첨단 직종</a:t>
            </a: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해당 직무 내 능력단위의 세분류가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21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개 신기술 분야 관련 직종에 해당하는지 표기</a:t>
            </a:r>
          </a:p>
        </p:txBody>
      </p:sp>
      <p:sp>
        <p:nvSpPr>
          <p:cNvPr id="7" name="TextBox 6">
            <a:extLst>
              <a:ext uri="{FF2B5EF4-FFF2-40B4-BE49-F238E27FC236}">
                <a16:creationId xmlns:a16="http://schemas.microsoft.com/office/drawing/2014/main" id="{454094DE-7293-0E1B-F9AA-C6D0F4C85479}"/>
              </a:ext>
            </a:extLst>
          </p:cNvPr>
          <p:cNvSpPr txBox="1"/>
          <p:nvPr/>
        </p:nvSpPr>
        <p:spPr>
          <a:xfrm>
            <a:off x="6609059" y="2115954"/>
            <a:ext cx="2735628" cy="88889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체계 구분 값</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직무체계의 근거자료가 </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SQF</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인지</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 NCS </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경력개발경로인지</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 NCS </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구성체계인지 구분 값</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cxnSp>
        <p:nvCxnSpPr>
          <p:cNvPr id="13" name="직선 화살표 연결선 12">
            <a:extLst>
              <a:ext uri="{FF2B5EF4-FFF2-40B4-BE49-F238E27FC236}">
                <a16:creationId xmlns:a16="http://schemas.microsoft.com/office/drawing/2014/main" id="{B42B62B8-5EAC-F4DC-6771-EEDF572B2EF7}"/>
              </a:ext>
            </a:extLst>
          </p:cNvPr>
          <p:cNvCxnSpPr>
            <a:cxnSpLocks/>
            <a:stCxn id="14" idx="2"/>
          </p:cNvCxnSpPr>
          <p:nvPr/>
        </p:nvCxnSpPr>
        <p:spPr>
          <a:xfrm>
            <a:off x="2951065" y="2859855"/>
            <a:ext cx="3657994" cy="353121"/>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14" name="직사각형 13">
            <a:extLst>
              <a:ext uri="{FF2B5EF4-FFF2-40B4-BE49-F238E27FC236}">
                <a16:creationId xmlns:a16="http://schemas.microsoft.com/office/drawing/2014/main" id="{82A25CC6-92D0-8102-76BD-0EF3E7236028}"/>
              </a:ext>
            </a:extLst>
          </p:cNvPr>
          <p:cNvSpPr/>
          <p:nvPr/>
        </p:nvSpPr>
        <p:spPr>
          <a:xfrm>
            <a:off x="704528" y="2625829"/>
            <a:ext cx="4493074" cy="234026"/>
          </a:xfrm>
          <a:prstGeom prst="rect">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cxnSp>
        <p:nvCxnSpPr>
          <p:cNvPr id="15" name="직선 화살표 연결선 14">
            <a:extLst>
              <a:ext uri="{FF2B5EF4-FFF2-40B4-BE49-F238E27FC236}">
                <a16:creationId xmlns:a16="http://schemas.microsoft.com/office/drawing/2014/main" id="{17B10305-0D42-406C-D1A5-04DFEF4D5186}"/>
              </a:ext>
            </a:extLst>
          </p:cNvPr>
          <p:cNvCxnSpPr>
            <a:cxnSpLocks/>
            <a:stCxn id="16" idx="2"/>
          </p:cNvCxnSpPr>
          <p:nvPr/>
        </p:nvCxnSpPr>
        <p:spPr>
          <a:xfrm>
            <a:off x="5769355" y="2863065"/>
            <a:ext cx="890565" cy="1808964"/>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16" name="직사각형 15">
            <a:extLst>
              <a:ext uri="{FF2B5EF4-FFF2-40B4-BE49-F238E27FC236}">
                <a16:creationId xmlns:a16="http://schemas.microsoft.com/office/drawing/2014/main" id="{4496DAC5-E060-462C-8455-0B2C1B5C79AF}"/>
              </a:ext>
            </a:extLst>
          </p:cNvPr>
          <p:cNvSpPr/>
          <p:nvPr/>
        </p:nvSpPr>
        <p:spPr>
          <a:xfrm flipH="1">
            <a:off x="5233206" y="2629039"/>
            <a:ext cx="1072298" cy="234026"/>
          </a:xfrm>
          <a:prstGeom prst="rect">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grpSp>
        <p:nvGrpSpPr>
          <p:cNvPr id="17" name="그룹 16">
            <a:extLst>
              <a:ext uri="{FF2B5EF4-FFF2-40B4-BE49-F238E27FC236}">
                <a16:creationId xmlns:a16="http://schemas.microsoft.com/office/drawing/2014/main" id="{F63897D6-4A2D-1281-0D48-6B6BD4D17357}"/>
              </a:ext>
            </a:extLst>
          </p:cNvPr>
          <p:cNvGrpSpPr/>
          <p:nvPr/>
        </p:nvGrpSpPr>
        <p:grpSpPr>
          <a:xfrm>
            <a:off x="596515" y="1681027"/>
            <a:ext cx="8749098" cy="266602"/>
            <a:chOff x="802640" y="2236632"/>
            <a:chExt cx="4130805" cy="266552"/>
          </a:xfrm>
        </p:grpSpPr>
        <p:sp>
          <p:nvSpPr>
            <p:cNvPr id="18" name="ListLeanHorizontalTextTopic0">
              <a:extLst>
                <a:ext uri="{FF2B5EF4-FFF2-40B4-BE49-F238E27FC236}">
                  <a16:creationId xmlns:a16="http://schemas.microsoft.com/office/drawing/2014/main" id="{30C30E71-C512-FDA5-843E-E8D31462D34B}"/>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산업별 직무체계 파트 구성</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9" name="Horizontal Line">
              <a:extLst>
                <a:ext uri="{FF2B5EF4-FFF2-40B4-BE49-F238E27FC236}">
                  <a16:creationId xmlns:a16="http://schemas.microsoft.com/office/drawing/2014/main" id="{5A29C6D0-E229-5517-01EC-64520566001B}"/>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2" name="직사각형 21">
            <a:extLst>
              <a:ext uri="{FF2B5EF4-FFF2-40B4-BE49-F238E27FC236}">
                <a16:creationId xmlns:a16="http://schemas.microsoft.com/office/drawing/2014/main" id="{A5DD5FAB-0DB8-B82C-86E9-176577AB7419}"/>
              </a:ext>
            </a:extLst>
          </p:cNvPr>
          <p:cNvSpPr/>
          <p:nvPr/>
        </p:nvSpPr>
        <p:spPr>
          <a:xfrm>
            <a:off x="1803698" y="2384884"/>
            <a:ext cx="396044" cy="180020"/>
          </a:xfrm>
          <a:prstGeom prst="rect">
            <a:avLst/>
          </a:prstGeom>
          <a:solidFill>
            <a:srgbClr val="366092"/>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10" name="타원 9">
            <a:extLst>
              <a:ext uri="{FF2B5EF4-FFF2-40B4-BE49-F238E27FC236}">
                <a16:creationId xmlns:a16="http://schemas.microsoft.com/office/drawing/2014/main" id="{73432CF4-9B72-0B4D-55E8-F527B994A87B}"/>
              </a:ext>
            </a:extLst>
          </p:cNvPr>
          <p:cNvSpPr/>
          <p:nvPr/>
        </p:nvSpPr>
        <p:spPr>
          <a:xfrm>
            <a:off x="763966" y="2331639"/>
            <a:ext cx="1072298" cy="297400"/>
          </a:xfrm>
          <a:prstGeom prst="ellipse">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cxnSp>
        <p:nvCxnSpPr>
          <p:cNvPr id="9" name="직선 화살표 연결선 8">
            <a:extLst>
              <a:ext uri="{FF2B5EF4-FFF2-40B4-BE49-F238E27FC236}">
                <a16:creationId xmlns:a16="http://schemas.microsoft.com/office/drawing/2014/main" id="{87C88131-1D00-016B-41D5-72EDA1BA64D5}"/>
              </a:ext>
            </a:extLst>
          </p:cNvPr>
          <p:cNvCxnSpPr>
            <a:cxnSpLocks/>
            <a:stCxn id="10" idx="6"/>
          </p:cNvCxnSpPr>
          <p:nvPr/>
        </p:nvCxnSpPr>
        <p:spPr>
          <a:xfrm flipV="1">
            <a:off x="1836264" y="2244078"/>
            <a:ext cx="4773596" cy="236261"/>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74096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75C1-11AE-2B2D-0A92-0F4F10C57EA6}"/>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349A6438-02FD-06D2-C840-0A8C30D2C62F}"/>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C356A2DB-8C9F-DAFE-2FEB-FDBB0D65CB75}"/>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작성</a:t>
            </a:r>
          </a:p>
        </p:txBody>
      </p:sp>
      <p:sp>
        <p:nvSpPr>
          <p:cNvPr id="12" name="직사각형 11">
            <a:extLst>
              <a:ext uri="{FF2B5EF4-FFF2-40B4-BE49-F238E27FC236}">
                <a16:creationId xmlns:a16="http://schemas.microsoft.com/office/drawing/2014/main" id="{E2251AFC-9500-A09A-04FF-DDDD2D0B5BBB}"/>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2B62A56A-C9F7-7C09-73F2-D3FC55115F22}"/>
              </a:ext>
            </a:extLst>
          </p:cNvPr>
          <p:cNvSpPr>
            <a:spLocks noGrp="1"/>
          </p:cNvSpPr>
          <p:nvPr>
            <p:ph type="body" sz="quarter" idx="12"/>
          </p:nvPr>
        </p:nvSpPr>
        <p:spPr>
          <a:xfrm>
            <a:off x="596515" y="650182"/>
            <a:ext cx="8749097" cy="815119"/>
          </a:xfrm>
        </p:spPr>
        <p:txBody>
          <a:bodyPr/>
          <a:lstStyle/>
          <a:p>
            <a:pPr latinLnBrk="0"/>
            <a:r>
              <a:rPr lang="ko-KR" altLang="en-US" spc="-80" dirty="0"/>
              <a:t>직무별 </a:t>
            </a:r>
            <a:r>
              <a:rPr lang="ko-KR" altLang="en-US" spc="-80" dirty="0" err="1"/>
              <a:t>기술교육로드맵은</a:t>
            </a:r>
            <a:r>
              <a:rPr lang="ko-KR" altLang="en-US" spc="-80" dirty="0"/>
              <a:t> </a:t>
            </a:r>
            <a:r>
              <a:rPr lang="ko-KR" altLang="en-US" spc="-80" dirty="0">
                <a:solidFill>
                  <a:srgbClr val="0070C0"/>
                </a:solidFill>
              </a:rPr>
              <a:t>분류</a:t>
            </a:r>
            <a:r>
              <a:rPr lang="en-US" altLang="ko-KR" spc="-80" dirty="0">
                <a:solidFill>
                  <a:srgbClr val="0070C0"/>
                </a:solidFill>
              </a:rPr>
              <a:t>, </a:t>
            </a:r>
            <a:r>
              <a:rPr lang="ko-KR" altLang="en-US" spc="-80" dirty="0">
                <a:solidFill>
                  <a:srgbClr val="0070C0"/>
                </a:solidFill>
              </a:rPr>
              <a:t>범례</a:t>
            </a:r>
            <a:r>
              <a:rPr lang="en-US" altLang="ko-KR" spc="-80" dirty="0">
                <a:solidFill>
                  <a:srgbClr val="0070C0"/>
                </a:solidFill>
              </a:rPr>
              <a:t>, </a:t>
            </a:r>
            <a:r>
              <a:rPr lang="ko-KR" altLang="en-US" spc="-80" dirty="0">
                <a:solidFill>
                  <a:srgbClr val="0070C0"/>
                </a:solidFill>
              </a:rPr>
              <a:t>직무와 수준</a:t>
            </a:r>
            <a:r>
              <a:rPr lang="en-US" altLang="ko-KR" spc="-80" dirty="0">
                <a:solidFill>
                  <a:srgbClr val="0070C0"/>
                </a:solidFill>
              </a:rPr>
              <a:t>, </a:t>
            </a:r>
            <a:r>
              <a:rPr lang="ko-KR" altLang="en-US" spc="-80" dirty="0">
                <a:solidFill>
                  <a:srgbClr val="0070C0"/>
                </a:solidFill>
              </a:rPr>
              <a:t>직무별 능력단위와 매칭된 교육과정으로 구성</a:t>
            </a:r>
            <a:r>
              <a:rPr lang="ko-KR" altLang="en-US" spc="-80" dirty="0"/>
              <a:t>하겠음</a:t>
            </a:r>
          </a:p>
        </p:txBody>
      </p:sp>
      <p:grpSp>
        <p:nvGrpSpPr>
          <p:cNvPr id="4" name="그룹 3">
            <a:extLst>
              <a:ext uri="{FF2B5EF4-FFF2-40B4-BE49-F238E27FC236}">
                <a16:creationId xmlns:a16="http://schemas.microsoft.com/office/drawing/2014/main" id="{3821D8D0-D90F-81F9-7AEF-8F315FFD159A}"/>
              </a:ext>
            </a:extLst>
          </p:cNvPr>
          <p:cNvGrpSpPr/>
          <p:nvPr/>
        </p:nvGrpSpPr>
        <p:grpSpPr>
          <a:xfrm>
            <a:off x="596515" y="1268760"/>
            <a:ext cx="8749098" cy="266602"/>
            <a:chOff x="802640" y="2236632"/>
            <a:chExt cx="4130805" cy="266552"/>
          </a:xfrm>
        </p:grpSpPr>
        <p:sp>
          <p:nvSpPr>
            <p:cNvPr id="7" name="ListLeanHorizontalTextTopic0">
              <a:extLst>
                <a:ext uri="{FF2B5EF4-FFF2-40B4-BE49-F238E27FC236}">
                  <a16:creationId xmlns:a16="http://schemas.microsoft.com/office/drawing/2014/main" id="{ABF8E820-98B3-400C-B7DD-2146E4F8F05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직무별 기술로드맵 구성</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8" name="Horizontal Line">
              <a:extLst>
                <a:ext uri="{FF2B5EF4-FFF2-40B4-BE49-F238E27FC236}">
                  <a16:creationId xmlns:a16="http://schemas.microsoft.com/office/drawing/2014/main" id="{43B40BE6-4B95-B559-3E66-5A4476444E38}"/>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pic>
        <p:nvPicPr>
          <p:cNvPr id="9" name="그림 8">
            <a:extLst>
              <a:ext uri="{FF2B5EF4-FFF2-40B4-BE49-F238E27FC236}">
                <a16:creationId xmlns:a16="http://schemas.microsoft.com/office/drawing/2014/main" id="{723E4B8C-8B80-5541-34AD-E63D9A059C7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96515" y="2488417"/>
            <a:ext cx="5277880" cy="3650669"/>
          </a:xfrm>
          <a:prstGeom prst="rect">
            <a:avLst/>
          </a:prstGeom>
          <a:ln>
            <a:solidFill>
              <a:srgbClr val="A4A3A4"/>
            </a:solidFill>
          </a:ln>
        </p:spPr>
      </p:pic>
      <p:sp>
        <p:nvSpPr>
          <p:cNvPr id="10" name="TextBox 9">
            <a:extLst>
              <a:ext uri="{FF2B5EF4-FFF2-40B4-BE49-F238E27FC236}">
                <a16:creationId xmlns:a16="http://schemas.microsoft.com/office/drawing/2014/main" id="{ED4B2AD3-C521-3123-4A0F-2666E1427F0E}"/>
              </a:ext>
            </a:extLst>
          </p:cNvPr>
          <p:cNvSpPr txBox="1"/>
          <p:nvPr/>
        </p:nvSpPr>
        <p:spPr>
          <a:xfrm>
            <a:off x="6018184" y="1996093"/>
            <a:ext cx="3579331" cy="994691"/>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수준</a:t>
            </a: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 내 능력단위와 매칭된 과정의 수준을 표기함</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과정 내 능력단위 중 다수를 차지하는 능력단위 값을 차용하였으며</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동일한 비율인 경우 그 중 가장 낮은 능력단위 값을 적용함</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13" name="TextBox 12">
            <a:extLst>
              <a:ext uri="{FF2B5EF4-FFF2-40B4-BE49-F238E27FC236}">
                <a16:creationId xmlns:a16="http://schemas.microsoft.com/office/drawing/2014/main" id="{B811D39C-42E9-0BED-28DC-4B7DB67AC7FF}"/>
              </a:ext>
            </a:extLst>
          </p:cNvPr>
          <p:cNvSpPr txBox="1"/>
          <p:nvPr/>
        </p:nvSpPr>
        <p:spPr>
          <a:xfrm>
            <a:off x="6018184" y="3002472"/>
            <a:ext cx="3218211" cy="228712"/>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직무</a:t>
            </a:r>
            <a:endPar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sp>
        <p:nvSpPr>
          <p:cNvPr id="14" name="TextBox 13">
            <a:extLst>
              <a:ext uri="{FF2B5EF4-FFF2-40B4-BE49-F238E27FC236}">
                <a16:creationId xmlns:a16="http://schemas.microsoft.com/office/drawing/2014/main" id="{FA8AE636-39DE-7FC6-770B-EDDF31D61790}"/>
              </a:ext>
            </a:extLst>
          </p:cNvPr>
          <p:cNvSpPr txBox="1"/>
          <p:nvPr/>
        </p:nvSpPr>
        <p:spPr>
          <a:xfrm>
            <a:off x="6018184" y="1556792"/>
            <a:ext cx="3579331"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분류</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산업분야</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중분류</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하위 산업분야</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소분류</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를 표기</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15" name="TextBox 14">
            <a:extLst>
              <a:ext uri="{FF2B5EF4-FFF2-40B4-BE49-F238E27FC236}">
                <a16:creationId xmlns:a16="http://schemas.microsoft.com/office/drawing/2014/main" id="{5FEAF219-C843-5786-79DA-D0973A808775}"/>
              </a:ext>
            </a:extLst>
          </p:cNvPr>
          <p:cNvSpPr txBox="1"/>
          <p:nvPr/>
        </p:nvSpPr>
        <p:spPr>
          <a:xfrm>
            <a:off x="6018184" y="3242872"/>
            <a:ext cx="3579331" cy="588426"/>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 </a:t>
            </a:r>
            <a:r>
              <a:rPr lang="ko-KR" altLang="en-US"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직무의 능력단위 정보와 교육과정의 수준 간의 매칭 이후 교육과정 수준에 따라 배치</a:t>
            </a:r>
          </a:p>
        </p:txBody>
      </p:sp>
      <p:sp>
        <p:nvSpPr>
          <p:cNvPr id="16" name="TextBox 15">
            <a:extLst>
              <a:ext uri="{FF2B5EF4-FFF2-40B4-BE49-F238E27FC236}">
                <a16:creationId xmlns:a16="http://schemas.microsoft.com/office/drawing/2014/main" id="{28BB777A-43DE-DF55-1948-EE93F3C9A451}"/>
              </a:ext>
            </a:extLst>
          </p:cNvPr>
          <p:cNvSpPr txBox="1"/>
          <p:nvPr/>
        </p:nvSpPr>
        <p:spPr>
          <a:xfrm>
            <a:off x="6018184" y="3842986"/>
            <a:ext cx="3579331" cy="1371717"/>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 콘텐츠 개발여부</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10000"/>
              </a:lnSpc>
              <a:buFont typeface="Arial" panose="020B0604020202020204" pitchFamily="34" charset="0"/>
              <a:buChar char="•"/>
            </a:pPr>
            <a:r>
              <a:rPr lang="ko-KR" altLang="en-US" sz="1100" kern="0" spc="-100" dirty="0" err="1">
                <a:ln>
                  <a:solidFill>
                    <a:srgbClr val="DF2D32">
                      <a:alpha val="0"/>
                    </a:srgbClr>
                  </a:solidFill>
                </a:ln>
                <a:solidFill>
                  <a:prstClr val="black"/>
                </a:solidFill>
                <a:latin typeface="a고딕14" panose="02020600000000000000" pitchFamily="18" charset="-127"/>
                <a:ea typeface="a고딕14" panose="02020600000000000000" pitchFamily="18" charset="-127"/>
              </a:rPr>
              <a:t>기개발</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콘텐츠</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콘텐츠로 개발되어 온라인평생교육원에서 보유하고 있는 과정</a:t>
            </a: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’24</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년 이전 과정개요서 개발 과정</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콘텐츠로 개발되지 않고 온라인평생교육원에서 과정개요서 형태로 보유하고 있는 과정</a:t>
            </a:r>
          </a:p>
          <a:p>
            <a:pPr marL="268288" indent="-88900" algn="l" latinLnBrk="0">
              <a:lnSpc>
                <a:spcPct val="11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’24</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년 이후 과정개요서 개발 과정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본 용역을 통해 </a:t>
            </a:r>
            <a:r>
              <a:rPr lang="ko-KR" altLang="en-US" sz="1100" kern="0" spc="-100" dirty="0" err="1">
                <a:ln>
                  <a:solidFill>
                    <a:srgbClr val="DF2D32">
                      <a:alpha val="0"/>
                    </a:srgbClr>
                  </a:solidFill>
                </a:ln>
                <a:solidFill>
                  <a:prstClr val="black"/>
                </a:solidFill>
                <a:latin typeface="a고딕14" panose="02020600000000000000" pitchFamily="18" charset="-127"/>
                <a:ea typeface="a고딕14" panose="02020600000000000000" pitchFamily="18" charset="-127"/>
              </a:rPr>
              <a:t>과정개요서를</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개발한 과정</a:t>
            </a:r>
          </a:p>
        </p:txBody>
      </p:sp>
      <p:sp>
        <p:nvSpPr>
          <p:cNvPr id="17" name="TextBox 16">
            <a:extLst>
              <a:ext uri="{FF2B5EF4-FFF2-40B4-BE49-F238E27FC236}">
                <a16:creationId xmlns:a16="http://schemas.microsoft.com/office/drawing/2014/main" id="{96C1F9C0-2552-2058-1AAD-BEC867643C86}"/>
              </a:ext>
            </a:extLst>
          </p:cNvPr>
          <p:cNvSpPr txBox="1"/>
          <p:nvPr/>
        </p:nvSpPr>
        <p:spPr>
          <a:xfrm>
            <a:off x="6018184" y="5226391"/>
            <a:ext cx="3579332" cy="813103"/>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 콘텐츠 특징</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훈련 방법에 따라 가상훈련</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(V),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이러닝</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(E)</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로 표기</a:t>
            </a: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해당 과정 개발 시 활용한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능력단위가 과정평가형  일학습병행 자격의 편성 기준에 해당하는 경우 자격연계</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(L)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표기</a:t>
            </a:r>
          </a:p>
        </p:txBody>
      </p:sp>
      <p:sp>
        <p:nvSpPr>
          <p:cNvPr id="18" name="TextBox 17">
            <a:extLst>
              <a:ext uri="{FF2B5EF4-FFF2-40B4-BE49-F238E27FC236}">
                <a16:creationId xmlns:a16="http://schemas.microsoft.com/office/drawing/2014/main" id="{586C0D63-6403-BCE6-F488-303C767BE862}"/>
              </a:ext>
            </a:extLst>
          </p:cNvPr>
          <p:cNvSpPr txBox="1"/>
          <p:nvPr/>
        </p:nvSpPr>
        <p:spPr>
          <a:xfrm>
            <a:off x="6018184" y="6051180"/>
            <a:ext cx="3579331" cy="474164"/>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 디지털</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첨단 직종 여부</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직무가 디지털</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첨단 직종과 매칭된 경우 표기</a:t>
            </a:r>
          </a:p>
        </p:txBody>
      </p:sp>
      <p:pic>
        <p:nvPicPr>
          <p:cNvPr id="19" name="그림 18">
            <a:extLst>
              <a:ext uri="{FF2B5EF4-FFF2-40B4-BE49-F238E27FC236}">
                <a16:creationId xmlns:a16="http://schemas.microsoft.com/office/drawing/2014/main" id="{220889AE-4EA2-11D0-EEE8-B4E5229CB3FC}"/>
              </a:ext>
            </a:extLst>
          </p:cNvPr>
          <p:cNvPicPr>
            <a:picLocks noChangeAspect="1"/>
          </p:cNvPicPr>
          <p:nvPr/>
        </p:nvPicPr>
        <p:blipFill>
          <a:blip r:embed="rId3"/>
          <a:stretch>
            <a:fillRect/>
          </a:stretch>
        </p:blipFill>
        <p:spPr>
          <a:xfrm>
            <a:off x="3417326" y="1693816"/>
            <a:ext cx="2742550" cy="995979"/>
          </a:xfrm>
          <a:prstGeom prst="rect">
            <a:avLst/>
          </a:prstGeom>
        </p:spPr>
      </p:pic>
      <p:sp>
        <p:nvSpPr>
          <p:cNvPr id="20" name="사다리꼴 19">
            <a:extLst>
              <a:ext uri="{FF2B5EF4-FFF2-40B4-BE49-F238E27FC236}">
                <a16:creationId xmlns:a16="http://schemas.microsoft.com/office/drawing/2014/main" id="{D443189A-B03A-590A-9A67-54AC49DFBC87}"/>
              </a:ext>
            </a:extLst>
          </p:cNvPr>
          <p:cNvSpPr/>
          <p:nvPr/>
        </p:nvSpPr>
        <p:spPr>
          <a:xfrm flipV="1">
            <a:off x="3440832" y="2689795"/>
            <a:ext cx="2577352" cy="137024"/>
          </a:xfrm>
          <a:prstGeom prst="trapezoid">
            <a:avLst>
              <a:gd name="adj" fmla="val 848866"/>
            </a:avLst>
          </a:prstGeom>
          <a:gradFill flip="none" rotWithShape="1">
            <a:gsLst>
              <a:gs pos="0">
                <a:srgbClr val="A4A3A4"/>
              </a:gs>
              <a:gs pos="50000">
                <a:schemeClr val="bg1">
                  <a:lumMod val="85000"/>
                </a:schemeClr>
              </a:gs>
              <a:gs pos="100000">
                <a:schemeClr val="bg1">
                  <a:lumMod val="95000"/>
                </a:schemeClr>
              </a:gs>
            </a:gsLst>
            <a:lin ang="162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21" name="TextBox 20">
            <a:extLst>
              <a:ext uri="{FF2B5EF4-FFF2-40B4-BE49-F238E27FC236}">
                <a16:creationId xmlns:a16="http://schemas.microsoft.com/office/drawing/2014/main" id="{AF0DF6F2-AD0B-0289-644B-E7BE0D20D019}"/>
              </a:ext>
            </a:extLst>
          </p:cNvPr>
          <p:cNvSpPr txBox="1"/>
          <p:nvPr/>
        </p:nvSpPr>
        <p:spPr>
          <a:xfrm>
            <a:off x="384791" y="2689795"/>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a:t>
            </a:r>
            <a:endParaRPr lang="ko-KR" altLang="en-US" sz="1800" dirty="0"/>
          </a:p>
        </p:txBody>
      </p:sp>
      <p:sp>
        <p:nvSpPr>
          <p:cNvPr id="22" name="TextBox 21">
            <a:extLst>
              <a:ext uri="{FF2B5EF4-FFF2-40B4-BE49-F238E27FC236}">
                <a16:creationId xmlns:a16="http://schemas.microsoft.com/office/drawing/2014/main" id="{7D9C8464-7D42-F510-0C3B-C90C1F5EC854}"/>
              </a:ext>
            </a:extLst>
          </p:cNvPr>
          <p:cNvSpPr txBox="1"/>
          <p:nvPr/>
        </p:nvSpPr>
        <p:spPr>
          <a:xfrm>
            <a:off x="325467" y="5670162"/>
            <a:ext cx="423447" cy="369332"/>
          </a:xfrm>
          <a:prstGeom prst="rect">
            <a:avLst/>
          </a:prstGeom>
          <a:noFill/>
        </p:spPr>
        <p:txBody>
          <a:bodyPr wrap="square">
            <a:spAutoFit/>
          </a:bodyPr>
          <a:lstStyle/>
          <a:p>
            <a:pPr>
              <a:buNone/>
            </a:pPr>
            <a:r>
              <a:rPr lang="ko-KR" altLang="ko-KR" sz="180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endParaRPr lang="ko-KR" altLang="en-US" sz="1800" dirty="0"/>
          </a:p>
        </p:txBody>
      </p:sp>
      <p:sp>
        <p:nvSpPr>
          <p:cNvPr id="23" name="TextBox 22">
            <a:extLst>
              <a:ext uri="{FF2B5EF4-FFF2-40B4-BE49-F238E27FC236}">
                <a16:creationId xmlns:a16="http://schemas.microsoft.com/office/drawing/2014/main" id="{578DDCEA-AFE6-B8A2-F9A8-7698FC82826A}"/>
              </a:ext>
            </a:extLst>
          </p:cNvPr>
          <p:cNvSpPr txBox="1"/>
          <p:nvPr/>
        </p:nvSpPr>
        <p:spPr>
          <a:xfrm>
            <a:off x="866554" y="5915458"/>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a:t>
            </a:r>
            <a:endParaRPr lang="ko-KR" altLang="en-US" sz="1800" dirty="0"/>
          </a:p>
        </p:txBody>
      </p:sp>
      <p:sp>
        <p:nvSpPr>
          <p:cNvPr id="24" name="TextBox 23">
            <a:extLst>
              <a:ext uri="{FF2B5EF4-FFF2-40B4-BE49-F238E27FC236}">
                <a16:creationId xmlns:a16="http://schemas.microsoft.com/office/drawing/2014/main" id="{D3B35D5B-0120-8668-BBB3-511EA95FEF07}"/>
              </a:ext>
            </a:extLst>
          </p:cNvPr>
          <p:cNvSpPr txBox="1"/>
          <p:nvPr/>
        </p:nvSpPr>
        <p:spPr>
          <a:xfrm>
            <a:off x="4052900" y="5137972"/>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a:t>
            </a:r>
            <a:endParaRPr lang="ko-KR" altLang="en-US" sz="1800" dirty="0"/>
          </a:p>
        </p:txBody>
      </p:sp>
      <p:sp>
        <p:nvSpPr>
          <p:cNvPr id="25" name="TextBox 24">
            <a:extLst>
              <a:ext uri="{FF2B5EF4-FFF2-40B4-BE49-F238E27FC236}">
                <a16:creationId xmlns:a16="http://schemas.microsoft.com/office/drawing/2014/main" id="{94AB4F90-0621-37EF-DB3C-1BAB27E04100}"/>
              </a:ext>
            </a:extLst>
          </p:cNvPr>
          <p:cNvSpPr txBox="1"/>
          <p:nvPr/>
        </p:nvSpPr>
        <p:spPr>
          <a:xfrm>
            <a:off x="3197405" y="2383310"/>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a:t>
            </a:r>
            <a:endParaRPr lang="ko-KR" altLang="en-US" sz="1800" dirty="0"/>
          </a:p>
        </p:txBody>
      </p:sp>
      <p:sp>
        <p:nvSpPr>
          <p:cNvPr id="26" name="TextBox 25">
            <a:extLst>
              <a:ext uri="{FF2B5EF4-FFF2-40B4-BE49-F238E27FC236}">
                <a16:creationId xmlns:a16="http://schemas.microsoft.com/office/drawing/2014/main" id="{A9C34666-F178-37AC-2348-EA80CE516FF6}"/>
              </a:ext>
            </a:extLst>
          </p:cNvPr>
          <p:cNvSpPr txBox="1"/>
          <p:nvPr/>
        </p:nvSpPr>
        <p:spPr>
          <a:xfrm>
            <a:off x="3197405" y="2136940"/>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a:t>
            </a:r>
            <a:endParaRPr lang="ko-KR" altLang="en-US" sz="1800" dirty="0"/>
          </a:p>
        </p:txBody>
      </p:sp>
      <p:sp>
        <p:nvSpPr>
          <p:cNvPr id="47" name="TextBox 46">
            <a:extLst>
              <a:ext uri="{FF2B5EF4-FFF2-40B4-BE49-F238E27FC236}">
                <a16:creationId xmlns:a16="http://schemas.microsoft.com/office/drawing/2014/main" id="{CD1F4E02-DF87-CFA0-DFCA-D5547E1C5A47}"/>
              </a:ext>
            </a:extLst>
          </p:cNvPr>
          <p:cNvSpPr txBox="1"/>
          <p:nvPr/>
        </p:nvSpPr>
        <p:spPr>
          <a:xfrm>
            <a:off x="3197405" y="1890570"/>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a:t>
            </a:r>
            <a:endParaRPr lang="ko-KR" altLang="en-US" sz="1800" dirty="0"/>
          </a:p>
        </p:txBody>
      </p:sp>
    </p:spTree>
    <p:extLst>
      <p:ext uri="{BB962C8B-B14F-4D97-AF65-F5344CB8AC3E}">
        <p14:creationId xmlns:p14="http://schemas.microsoft.com/office/powerpoint/2010/main" val="2500003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9ABE2-989A-2DB7-F51B-769C1E359667}"/>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FB819A3B-7D82-B9AC-6334-0065418451C9}"/>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BAB2CA1C-FE23-F66D-C93A-B861DF136004}"/>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데이터 관리방안 제언</a:t>
            </a:r>
          </a:p>
        </p:txBody>
      </p:sp>
      <p:sp>
        <p:nvSpPr>
          <p:cNvPr id="12" name="직사각형 11">
            <a:extLst>
              <a:ext uri="{FF2B5EF4-FFF2-40B4-BE49-F238E27FC236}">
                <a16:creationId xmlns:a16="http://schemas.microsoft.com/office/drawing/2014/main" id="{C8B29B66-CE2A-1133-0F2A-57BC41CE23A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5.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데이터 관리방안 및 </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TTR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흐름 제언</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D97A0B08-1ED1-B7A9-44F7-3A431FBBA64E}"/>
              </a:ext>
            </a:extLst>
          </p:cNvPr>
          <p:cNvSpPr>
            <a:spLocks noGrp="1"/>
          </p:cNvSpPr>
          <p:nvPr>
            <p:ph type="body" sz="quarter" idx="12"/>
          </p:nvPr>
        </p:nvSpPr>
        <p:spPr>
          <a:xfrm>
            <a:off x="596515" y="650182"/>
            <a:ext cx="8749097" cy="815119"/>
          </a:xfrm>
        </p:spPr>
        <p:txBody>
          <a:bodyPr/>
          <a:lstStyle/>
          <a:p>
            <a:pPr latinLnBrk="0"/>
            <a:r>
              <a:rPr lang="ko-KR" altLang="en-US" sz="1800" dirty="0"/>
              <a:t>기 개발된 </a:t>
            </a:r>
            <a:r>
              <a:rPr lang="ko-KR" altLang="en-US" sz="1800" dirty="0" err="1">
                <a:solidFill>
                  <a:srgbClr val="0070C0"/>
                </a:solidFill>
              </a:rPr>
              <a:t>기술교육로드맵과</a:t>
            </a:r>
            <a:r>
              <a:rPr lang="ko-KR" altLang="en-US" sz="1800" dirty="0">
                <a:solidFill>
                  <a:srgbClr val="0070C0"/>
                </a:solidFill>
              </a:rPr>
              <a:t> 콘텐츠가 이후에도 안정적으로 활용</a:t>
            </a:r>
            <a:r>
              <a:rPr lang="ko-KR" altLang="en-US" sz="1800" dirty="0"/>
              <a:t>되고</a:t>
            </a:r>
            <a:r>
              <a:rPr lang="en-US" altLang="ko-KR" sz="1800" dirty="0"/>
              <a:t>, </a:t>
            </a:r>
            <a:r>
              <a:rPr lang="ko-KR" altLang="en-US" sz="1800" dirty="0">
                <a:solidFill>
                  <a:srgbClr val="0070C0"/>
                </a:solidFill>
              </a:rPr>
              <a:t>체계적으로 </a:t>
            </a:r>
            <a:r>
              <a:rPr lang="ko-KR" altLang="en-US" dirty="0">
                <a:solidFill>
                  <a:srgbClr val="0070C0"/>
                </a:solidFill>
              </a:rPr>
              <a:t>관리</a:t>
            </a:r>
            <a:r>
              <a:rPr lang="ko-KR" altLang="en-US" dirty="0"/>
              <a:t>될 수 있도록 하기 위해 </a:t>
            </a:r>
            <a:r>
              <a:rPr lang="ko-KR" altLang="en-US" dirty="0">
                <a:solidFill>
                  <a:srgbClr val="0070C0"/>
                </a:solidFill>
              </a:rPr>
              <a:t>현실적이고 지속 가능한 데이터 관리방안을 제언</a:t>
            </a:r>
            <a:r>
              <a:rPr lang="ko-KR" altLang="en-US" dirty="0"/>
              <a:t>하겠음</a:t>
            </a:r>
            <a:endParaRPr lang="ko-KR" altLang="en-US" sz="1800" dirty="0"/>
          </a:p>
        </p:txBody>
      </p:sp>
      <p:grpSp>
        <p:nvGrpSpPr>
          <p:cNvPr id="31" name="그룹 30">
            <a:extLst>
              <a:ext uri="{FF2B5EF4-FFF2-40B4-BE49-F238E27FC236}">
                <a16:creationId xmlns:a16="http://schemas.microsoft.com/office/drawing/2014/main" id="{F74C4F1A-00ED-EB0A-A287-9CD539682CE8}"/>
              </a:ext>
            </a:extLst>
          </p:cNvPr>
          <p:cNvGrpSpPr/>
          <p:nvPr/>
        </p:nvGrpSpPr>
        <p:grpSpPr>
          <a:xfrm>
            <a:off x="596515" y="1681027"/>
            <a:ext cx="8749098" cy="266602"/>
            <a:chOff x="802640" y="2236632"/>
            <a:chExt cx="4130805" cy="266552"/>
          </a:xfrm>
        </p:grpSpPr>
        <p:sp>
          <p:nvSpPr>
            <p:cNvPr id="32" name="ListLeanHorizontalTextTopic0">
              <a:extLst>
                <a:ext uri="{FF2B5EF4-FFF2-40B4-BE49-F238E27FC236}">
                  <a16:creationId xmlns:a16="http://schemas.microsoft.com/office/drawing/2014/main" id="{DB8427C0-89A7-DEFD-E2DE-F7A1B2B6404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데이터 관리 방안</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33" name="Horizontal Line">
              <a:extLst>
                <a:ext uri="{FF2B5EF4-FFF2-40B4-BE49-F238E27FC236}">
                  <a16:creationId xmlns:a16="http://schemas.microsoft.com/office/drawing/2014/main" id="{30FB5646-0DDC-891E-E5AD-EF52B02CF163}"/>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8" name="직사각형 7">
            <a:extLst>
              <a:ext uri="{FF2B5EF4-FFF2-40B4-BE49-F238E27FC236}">
                <a16:creationId xmlns:a16="http://schemas.microsoft.com/office/drawing/2014/main" id="{0D3C3A93-9BE5-9E43-2F33-AD3247808AA1}"/>
              </a:ext>
            </a:extLst>
          </p:cNvPr>
          <p:cNvSpPr/>
          <p:nvPr/>
        </p:nvSpPr>
        <p:spPr>
          <a:xfrm>
            <a:off x="616417" y="2349949"/>
            <a:ext cx="4157196" cy="82690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sz="1400" dirty="0">
                <a:solidFill>
                  <a:srgbClr val="0070C0"/>
                </a:solidFill>
                <a:latin typeface="Arial Narrow" panose="020B0606020202030204" pitchFamily="34" charset="0"/>
                <a:ea typeface="a고딕14" panose="02020600000000000000" pitchFamily="18" charset="-127"/>
              </a:rPr>
              <a:t>연 </a:t>
            </a:r>
            <a:r>
              <a:rPr lang="en-US" altLang="ko-KR" sz="1400" dirty="0">
                <a:solidFill>
                  <a:srgbClr val="0070C0"/>
                </a:solidFill>
                <a:latin typeface="Arial Narrow" panose="020B0606020202030204" pitchFamily="34" charset="0"/>
                <a:ea typeface="a고딕14" panose="02020600000000000000" pitchFamily="18" charset="-127"/>
              </a:rPr>
              <a:t>1</a:t>
            </a:r>
            <a:r>
              <a:rPr lang="ko-KR" altLang="en-US" sz="1400" dirty="0">
                <a:solidFill>
                  <a:srgbClr val="0070C0"/>
                </a:solidFill>
                <a:latin typeface="Arial Narrow" panose="020B0606020202030204" pitchFamily="34" charset="0"/>
                <a:ea typeface="a고딕14" panose="02020600000000000000" pitchFamily="18" charset="-127"/>
              </a:rPr>
              <a:t>회 정기 점검</a:t>
            </a:r>
            <a:r>
              <a:rPr lang="ko-KR" altLang="en-US" sz="1400" dirty="0">
                <a:solidFill>
                  <a:schemeClr val="tx1"/>
                </a:solidFill>
                <a:latin typeface="Arial Narrow" panose="020B0606020202030204" pitchFamily="34" charset="0"/>
                <a:ea typeface="a고딕14" panose="02020600000000000000" pitchFamily="18" charset="-127"/>
              </a:rPr>
              <a:t>을 진행하여 </a:t>
            </a:r>
            <a:endParaRPr lang="en-US" altLang="ko-KR" sz="1400" dirty="0">
              <a:solidFill>
                <a:schemeClr val="tx1"/>
              </a:solidFill>
              <a:latin typeface="Arial Narrow" panose="020B0606020202030204" pitchFamily="34" charset="0"/>
              <a:ea typeface="a고딕14" panose="02020600000000000000" pitchFamily="18" charset="-127"/>
            </a:endParaRPr>
          </a:p>
          <a:p>
            <a:pPr latinLnBrk="0">
              <a:buNone/>
            </a:pPr>
            <a:r>
              <a:rPr lang="ko-KR" altLang="en-US" sz="1400" dirty="0" err="1">
                <a:solidFill>
                  <a:srgbClr val="0070C0"/>
                </a:solidFill>
                <a:latin typeface="Arial Narrow" panose="020B0606020202030204" pitchFamily="34" charset="0"/>
                <a:ea typeface="a고딕14" panose="02020600000000000000" pitchFamily="18" charset="-127"/>
              </a:rPr>
              <a:t>기술교육로드맵과</a:t>
            </a:r>
            <a:r>
              <a:rPr lang="ko-KR" altLang="en-US" sz="1400" dirty="0">
                <a:solidFill>
                  <a:srgbClr val="0070C0"/>
                </a:solidFill>
                <a:latin typeface="Arial Narrow" panose="020B0606020202030204" pitchFamily="34" charset="0"/>
                <a:ea typeface="a고딕14" panose="02020600000000000000" pitchFamily="18" charset="-127"/>
              </a:rPr>
              <a:t> 콘텐츠 전반에 대한 최신화 작업</a:t>
            </a:r>
            <a:r>
              <a:rPr lang="ko-KR" altLang="en-US" sz="1400" dirty="0">
                <a:solidFill>
                  <a:schemeClr val="tx1"/>
                </a:solidFill>
                <a:latin typeface="Arial Narrow" panose="020B0606020202030204" pitchFamily="34" charset="0"/>
                <a:ea typeface="a고딕14" panose="02020600000000000000" pitchFamily="18" charset="-127"/>
              </a:rPr>
              <a:t>을 수행</a:t>
            </a:r>
          </a:p>
        </p:txBody>
      </p:sp>
      <p:sp>
        <p:nvSpPr>
          <p:cNvPr id="9" name="직사각형 8">
            <a:extLst>
              <a:ext uri="{FF2B5EF4-FFF2-40B4-BE49-F238E27FC236}">
                <a16:creationId xmlns:a16="http://schemas.microsoft.com/office/drawing/2014/main" id="{BF627DDA-4C91-C6C6-6DB6-7154D4E9B888}"/>
              </a:ext>
            </a:extLst>
          </p:cNvPr>
          <p:cNvSpPr/>
          <p:nvPr/>
        </p:nvSpPr>
        <p:spPr bwMode="auto">
          <a:xfrm>
            <a:off x="596515" y="2060847"/>
            <a:ext cx="4177098" cy="318775"/>
          </a:xfrm>
          <a:prstGeom prst="rect">
            <a:avLst/>
          </a:prstGeom>
          <a:solidFill>
            <a:srgbClr val="212E55"/>
          </a:solidFill>
          <a:ln w="3175">
            <a:noFill/>
            <a:miter lim="800000"/>
            <a:headEnd/>
            <a:tailEnd/>
          </a:ln>
          <a:effectLst/>
        </p:spPr>
        <p:txBody>
          <a:bodyPr wrap="square" lIns="36000" tIns="36000" rIns="36000" bIns="3600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정기 점검 주기 설정</a:t>
            </a:r>
          </a:p>
        </p:txBody>
      </p:sp>
      <p:sp>
        <p:nvSpPr>
          <p:cNvPr id="10" name="직사각형 9">
            <a:extLst>
              <a:ext uri="{FF2B5EF4-FFF2-40B4-BE49-F238E27FC236}">
                <a16:creationId xmlns:a16="http://schemas.microsoft.com/office/drawing/2014/main" id="{088E3245-91B7-3516-7FB0-63D3322EDE2F}"/>
              </a:ext>
            </a:extLst>
          </p:cNvPr>
          <p:cNvSpPr/>
          <p:nvPr/>
        </p:nvSpPr>
        <p:spPr bwMode="auto">
          <a:xfrm>
            <a:off x="5132389" y="2060848"/>
            <a:ext cx="4213224" cy="223636"/>
          </a:xfrm>
          <a:prstGeom prst="rect">
            <a:avLst/>
          </a:prstGeom>
          <a:solidFill>
            <a:srgbClr val="212E55"/>
          </a:solidFill>
          <a:ln w="3175">
            <a:noFill/>
            <a:miter lim="800000"/>
            <a:headEnd/>
            <a:tailEnd/>
          </a:ln>
          <a:effectLst/>
        </p:spPr>
        <p:txBody>
          <a:bodyPr wrap="square" lIns="36000" tIns="36000" rIns="36000" bIns="3600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운영 매뉴얼 제작</a:t>
            </a:r>
          </a:p>
        </p:txBody>
      </p:sp>
      <p:grpSp>
        <p:nvGrpSpPr>
          <p:cNvPr id="42" name="그룹 41">
            <a:extLst>
              <a:ext uri="{FF2B5EF4-FFF2-40B4-BE49-F238E27FC236}">
                <a16:creationId xmlns:a16="http://schemas.microsoft.com/office/drawing/2014/main" id="{DD5B203E-23C2-5803-70D3-9C5C58E5D75C}"/>
              </a:ext>
            </a:extLst>
          </p:cNvPr>
          <p:cNvGrpSpPr/>
          <p:nvPr/>
        </p:nvGrpSpPr>
        <p:grpSpPr>
          <a:xfrm>
            <a:off x="494028" y="3679003"/>
            <a:ext cx="4279585" cy="613850"/>
            <a:chOff x="494028" y="3541292"/>
            <a:chExt cx="4279585" cy="613850"/>
          </a:xfrm>
        </p:grpSpPr>
        <p:sp>
          <p:nvSpPr>
            <p:cNvPr id="20" name="사각형: 둥근 모서리 161">
              <a:extLst>
                <a:ext uri="{FF2B5EF4-FFF2-40B4-BE49-F238E27FC236}">
                  <a16:creationId xmlns:a16="http://schemas.microsoft.com/office/drawing/2014/main" id="{92B46198-6059-B0EE-C398-B34AD750B611}"/>
                </a:ext>
              </a:extLst>
            </p:cNvPr>
            <p:cNvSpPr/>
            <p:nvPr/>
          </p:nvSpPr>
          <p:spPr>
            <a:xfrm>
              <a:off x="616417" y="3607099"/>
              <a:ext cx="4157196" cy="548043"/>
            </a:xfrm>
            <a:prstGeom prst="roundRect">
              <a:avLst/>
            </a:prstGeom>
            <a:solidFill>
              <a:srgbClr val="DBEEF4"/>
            </a:solidFill>
            <a:ln w="12700" cap="flat" cmpd="sng" algn="ctr">
              <a:solidFill>
                <a:sysClr val="window" lastClr="FFFFFF">
                  <a:lumMod val="50000"/>
                </a:sysClr>
              </a:solidFill>
              <a:prstDash val="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kern="0" dirty="0">
                  <a:solidFill>
                    <a:prstClr val="black"/>
                  </a:solidFill>
                  <a:latin typeface="a고딕14" panose="02020600000000000000" pitchFamily="18" charset="-127"/>
                  <a:ea typeface="a고딕14" panose="02020600000000000000" pitchFamily="18" charset="-127"/>
                </a:rPr>
                <a:t>최근 개정된 </a:t>
              </a:r>
              <a:r>
                <a:rPr lang="en-US" altLang="ko-KR" kern="0" dirty="0">
                  <a:solidFill>
                    <a:prstClr val="black"/>
                  </a:solidFill>
                  <a:latin typeface="a고딕14" panose="02020600000000000000" pitchFamily="18" charset="-127"/>
                  <a:ea typeface="a고딕14" panose="02020600000000000000" pitchFamily="18" charset="-127"/>
                </a:rPr>
                <a:t>NCS/SQF </a:t>
              </a:r>
              <a:r>
                <a:rPr lang="ko-KR" altLang="en-US" kern="0" dirty="0">
                  <a:solidFill>
                    <a:prstClr val="black"/>
                  </a:solidFill>
                  <a:latin typeface="a고딕14" panose="02020600000000000000" pitchFamily="18" charset="-127"/>
                  <a:ea typeface="a고딕14" panose="02020600000000000000" pitchFamily="18" charset="-127"/>
                </a:rPr>
                <a:t>기준 반영 여부</a:t>
              </a:r>
              <a:endParaRPr kumimoji="0" lang="ko-KR" altLang="en-US"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1" name="모서리가 둥근 직사각형 26">
              <a:extLst>
                <a:ext uri="{FF2B5EF4-FFF2-40B4-BE49-F238E27FC236}">
                  <a16:creationId xmlns:a16="http://schemas.microsoft.com/office/drawing/2014/main" id="{5403D35B-0EE9-75D7-4019-EF63A0C4C877}"/>
                </a:ext>
              </a:extLst>
            </p:cNvPr>
            <p:cNvSpPr/>
            <p:nvPr/>
          </p:nvSpPr>
          <p:spPr>
            <a:xfrm>
              <a:off x="494028" y="3541292"/>
              <a:ext cx="520856" cy="210425"/>
            </a:xfrm>
            <a:prstGeom prst="roundRect">
              <a:avLst/>
            </a:prstGeom>
            <a:solidFill>
              <a:srgbClr val="3061A3"/>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①</a:t>
              </a:r>
              <a:endParaRPr kumimoji="0" lang="en-US" altLang="ko-KR" sz="11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grpSp>
        <p:nvGrpSpPr>
          <p:cNvPr id="43" name="그룹 42">
            <a:extLst>
              <a:ext uri="{FF2B5EF4-FFF2-40B4-BE49-F238E27FC236}">
                <a16:creationId xmlns:a16="http://schemas.microsoft.com/office/drawing/2014/main" id="{C09D1AE1-CB11-5B9D-6D62-BA99CD0F3A4C}"/>
              </a:ext>
            </a:extLst>
          </p:cNvPr>
          <p:cNvGrpSpPr/>
          <p:nvPr/>
        </p:nvGrpSpPr>
        <p:grpSpPr>
          <a:xfrm>
            <a:off x="494028" y="4390617"/>
            <a:ext cx="4279585" cy="613850"/>
            <a:chOff x="494028" y="4322393"/>
            <a:chExt cx="4279585" cy="613850"/>
          </a:xfrm>
        </p:grpSpPr>
        <p:sp>
          <p:nvSpPr>
            <p:cNvPr id="23" name="사각형: 둥근 모서리 161">
              <a:extLst>
                <a:ext uri="{FF2B5EF4-FFF2-40B4-BE49-F238E27FC236}">
                  <a16:creationId xmlns:a16="http://schemas.microsoft.com/office/drawing/2014/main" id="{C9DDF926-5B6D-96F6-E215-5B46FB22DB30}"/>
                </a:ext>
              </a:extLst>
            </p:cNvPr>
            <p:cNvSpPr/>
            <p:nvPr/>
          </p:nvSpPr>
          <p:spPr>
            <a:xfrm>
              <a:off x="616417" y="4388200"/>
              <a:ext cx="4157196" cy="548043"/>
            </a:xfrm>
            <a:prstGeom prst="roundRect">
              <a:avLst/>
            </a:prstGeom>
            <a:solidFill>
              <a:srgbClr val="DBEEF4"/>
            </a:solidFill>
            <a:ln w="12700" cap="flat" cmpd="sng" algn="ctr">
              <a:solidFill>
                <a:sysClr val="window" lastClr="FFFFFF">
                  <a:lumMod val="50000"/>
                </a:sysClr>
              </a:solidFill>
              <a:prstDash val="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kern="0" dirty="0" err="1">
                  <a:solidFill>
                    <a:prstClr val="black"/>
                  </a:solidFill>
                  <a:latin typeface="a고딕14" panose="02020600000000000000" pitchFamily="18" charset="-127"/>
                  <a:ea typeface="a고딕14" panose="02020600000000000000" pitchFamily="18" charset="-127"/>
                </a:rPr>
                <a:t>기술교육로드맵</a:t>
              </a:r>
              <a:r>
                <a:rPr lang="ko-KR" altLang="en-US" kern="0" dirty="0">
                  <a:solidFill>
                    <a:prstClr val="black"/>
                  </a:solidFill>
                  <a:latin typeface="a고딕14" panose="02020600000000000000" pitchFamily="18" charset="-127"/>
                  <a:ea typeface="a고딕14" panose="02020600000000000000" pitchFamily="18" charset="-127"/>
                </a:rPr>
                <a:t> 내 중복 또는 비활성화 콘텐츠 존재 여부</a:t>
              </a:r>
              <a:endParaRPr kumimoji="0" lang="ko-KR" altLang="en-US"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4" name="모서리가 둥근 직사각형 26">
              <a:extLst>
                <a:ext uri="{FF2B5EF4-FFF2-40B4-BE49-F238E27FC236}">
                  <a16:creationId xmlns:a16="http://schemas.microsoft.com/office/drawing/2014/main" id="{F28D694E-1CC1-63F2-3FE4-4A55AFB976CA}"/>
                </a:ext>
              </a:extLst>
            </p:cNvPr>
            <p:cNvSpPr/>
            <p:nvPr/>
          </p:nvSpPr>
          <p:spPr>
            <a:xfrm>
              <a:off x="494028" y="4322393"/>
              <a:ext cx="520856" cy="210425"/>
            </a:xfrm>
            <a:prstGeom prst="roundRect">
              <a:avLst/>
            </a:prstGeom>
            <a:solidFill>
              <a:srgbClr val="3061A3"/>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②</a:t>
              </a:r>
              <a:endParaRPr kumimoji="0" lang="en-US" altLang="ko-KR"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grpSp>
        <p:nvGrpSpPr>
          <p:cNvPr id="44" name="그룹 43">
            <a:extLst>
              <a:ext uri="{FF2B5EF4-FFF2-40B4-BE49-F238E27FC236}">
                <a16:creationId xmlns:a16="http://schemas.microsoft.com/office/drawing/2014/main" id="{7B203B74-47E2-3A8A-0178-47255C7C5617}"/>
              </a:ext>
            </a:extLst>
          </p:cNvPr>
          <p:cNvGrpSpPr/>
          <p:nvPr/>
        </p:nvGrpSpPr>
        <p:grpSpPr>
          <a:xfrm>
            <a:off x="494028" y="5102231"/>
            <a:ext cx="4279585" cy="613850"/>
            <a:chOff x="494028" y="5103494"/>
            <a:chExt cx="4279585" cy="613850"/>
          </a:xfrm>
        </p:grpSpPr>
        <p:sp>
          <p:nvSpPr>
            <p:cNvPr id="25" name="사각형: 둥근 모서리 161">
              <a:extLst>
                <a:ext uri="{FF2B5EF4-FFF2-40B4-BE49-F238E27FC236}">
                  <a16:creationId xmlns:a16="http://schemas.microsoft.com/office/drawing/2014/main" id="{8411DBF7-F15F-7776-F453-9A9BAFDEF359}"/>
                </a:ext>
              </a:extLst>
            </p:cNvPr>
            <p:cNvSpPr/>
            <p:nvPr/>
          </p:nvSpPr>
          <p:spPr>
            <a:xfrm>
              <a:off x="616417" y="5169301"/>
              <a:ext cx="4157196" cy="548043"/>
            </a:xfrm>
            <a:prstGeom prst="roundRect">
              <a:avLst/>
            </a:prstGeom>
            <a:solidFill>
              <a:srgbClr val="DBEEF4"/>
            </a:solidFill>
            <a:ln w="12700" cap="flat" cmpd="sng" algn="ctr">
              <a:solidFill>
                <a:sysClr val="window" lastClr="FFFFFF">
                  <a:lumMod val="50000"/>
                </a:sysClr>
              </a:solidFill>
              <a:prstDash val="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kern="0" dirty="0">
                  <a:solidFill>
                    <a:prstClr val="black"/>
                  </a:solidFill>
                  <a:latin typeface="a고딕14" panose="02020600000000000000" pitchFamily="18" charset="-127"/>
                  <a:ea typeface="a고딕14" panose="02020600000000000000" pitchFamily="18" charset="-127"/>
                </a:rPr>
                <a:t>자격연계</a:t>
              </a:r>
              <a:r>
                <a:rPr lang="en-US" altLang="ko-KR" kern="0" dirty="0">
                  <a:solidFill>
                    <a:prstClr val="black"/>
                  </a:solidFill>
                  <a:latin typeface="a고딕14" panose="02020600000000000000" pitchFamily="18" charset="-127"/>
                  <a:ea typeface="a고딕14" panose="02020600000000000000" pitchFamily="18" charset="-127"/>
                </a:rPr>
                <a:t>, </a:t>
              </a:r>
              <a:r>
                <a:rPr lang="ko-KR" altLang="en-US" kern="0" dirty="0">
                  <a:solidFill>
                    <a:prstClr val="black"/>
                  </a:solidFill>
                  <a:latin typeface="a고딕14" panose="02020600000000000000" pitchFamily="18" charset="-127"/>
                  <a:ea typeface="a고딕14" panose="02020600000000000000" pitchFamily="18" charset="-127"/>
                </a:rPr>
                <a:t>학습 흐름 적용 구조의 적절성</a:t>
              </a:r>
              <a:endParaRPr kumimoji="0" lang="ko-KR" altLang="en-US"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6" name="모서리가 둥근 직사각형 26">
              <a:extLst>
                <a:ext uri="{FF2B5EF4-FFF2-40B4-BE49-F238E27FC236}">
                  <a16:creationId xmlns:a16="http://schemas.microsoft.com/office/drawing/2014/main" id="{0C0DC322-E2CE-5CC7-5AD3-4EECA02637C9}"/>
                </a:ext>
              </a:extLst>
            </p:cNvPr>
            <p:cNvSpPr/>
            <p:nvPr/>
          </p:nvSpPr>
          <p:spPr>
            <a:xfrm>
              <a:off x="494028" y="5103494"/>
              <a:ext cx="520856" cy="210425"/>
            </a:xfrm>
            <a:prstGeom prst="roundRect">
              <a:avLst/>
            </a:prstGeom>
            <a:solidFill>
              <a:srgbClr val="3061A3"/>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③</a:t>
              </a:r>
              <a:endParaRPr kumimoji="0" lang="en-US" altLang="ko-KR"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grpSp>
        <p:nvGrpSpPr>
          <p:cNvPr id="45" name="그룹 44">
            <a:extLst>
              <a:ext uri="{FF2B5EF4-FFF2-40B4-BE49-F238E27FC236}">
                <a16:creationId xmlns:a16="http://schemas.microsoft.com/office/drawing/2014/main" id="{0A046F41-0107-5F94-15A8-F6B2C7C436EE}"/>
              </a:ext>
            </a:extLst>
          </p:cNvPr>
          <p:cNvGrpSpPr/>
          <p:nvPr/>
        </p:nvGrpSpPr>
        <p:grpSpPr>
          <a:xfrm>
            <a:off x="494028" y="5813844"/>
            <a:ext cx="4279585" cy="613850"/>
            <a:chOff x="494028" y="5813844"/>
            <a:chExt cx="4279585" cy="613850"/>
          </a:xfrm>
        </p:grpSpPr>
        <p:sp>
          <p:nvSpPr>
            <p:cNvPr id="27" name="사각형: 둥근 모서리 161">
              <a:extLst>
                <a:ext uri="{FF2B5EF4-FFF2-40B4-BE49-F238E27FC236}">
                  <a16:creationId xmlns:a16="http://schemas.microsoft.com/office/drawing/2014/main" id="{EDFE03FA-80AB-7C19-0081-FA0C2193AF17}"/>
                </a:ext>
              </a:extLst>
            </p:cNvPr>
            <p:cNvSpPr/>
            <p:nvPr/>
          </p:nvSpPr>
          <p:spPr>
            <a:xfrm>
              <a:off x="616417" y="5879651"/>
              <a:ext cx="4157196" cy="548043"/>
            </a:xfrm>
            <a:prstGeom prst="roundRect">
              <a:avLst/>
            </a:prstGeom>
            <a:solidFill>
              <a:srgbClr val="DBEEF4"/>
            </a:solidFill>
            <a:ln w="12700" cap="flat" cmpd="sng" algn="ctr">
              <a:solidFill>
                <a:sysClr val="window" lastClr="FFFFFF">
                  <a:lumMod val="50000"/>
                </a:sysClr>
              </a:solidFill>
              <a:prstDash val="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kern="0" dirty="0">
                  <a:solidFill>
                    <a:prstClr val="black"/>
                  </a:solidFill>
                  <a:latin typeface="a고딕14" panose="02020600000000000000" pitchFamily="18" charset="-127"/>
                  <a:ea typeface="a고딕14" panose="02020600000000000000" pitchFamily="18" charset="-127"/>
                </a:rPr>
                <a:t>신규 직무 또는 산업 트렌드 반영 가능성 검토</a:t>
              </a:r>
              <a:endParaRPr kumimoji="0" lang="ko-KR" altLang="en-US"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8" name="모서리가 둥근 직사각형 26">
              <a:extLst>
                <a:ext uri="{FF2B5EF4-FFF2-40B4-BE49-F238E27FC236}">
                  <a16:creationId xmlns:a16="http://schemas.microsoft.com/office/drawing/2014/main" id="{20174CA5-FA62-6973-9E43-146686D0C398}"/>
                </a:ext>
              </a:extLst>
            </p:cNvPr>
            <p:cNvSpPr/>
            <p:nvPr/>
          </p:nvSpPr>
          <p:spPr>
            <a:xfrm>
              <a:off x="494028" y="5813844"/>
              <a:ext cx="520856" cy="210425"/>
            </a:xfrm>
            <a:prstGeom prst="roundRect">
              <a:avLst/>
            </a:prstGeom>
            <a:solidFill>
              <a:srgbClr val="3061A3"/>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④</a:t>
              </a:r>
              <a:endParaRPr kumimoji="0" lang="en-US" altLang="ko-KR"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sp>
        <p:nvSpPr>
          <p:cNvPr id="36" name="말풍선: 모서리가 둥근 사각형 35">
            <a:extLst>
              <a:ext uri="{FF2B5EF4-FFF2-40B4-BE49-F238E27FC236}">
                <a16:creationId xmlns:a16="http://schemas.microsoft.com/office/drawing/2014/main" id="{03CABC58-948B-17C1-BF34-EA33BBE04AA9}"/>
              </a:ext>
            </a:extLst>
          </p:cNvPr>
          <p:cNvSpPr/>
          <p:nvPr/>
        </p:nvSpPr>
        <p:spPr>
          <a:xfrm>
            <a:off x="236476" y="3176298"/>
            <a:ext cx="1116124" cy="318775"/>
          </a:xfrm>
          <a:prstGeom prst="wedgeRoundRectCallout">
            <a:avLst>
              <a:gd name="adj1" fmla="val 21992"/>
              <a:gd name="adj2" fmla="val 104029"/>
              <a:gd name="adj3" fmla="val 16667"/>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buNone/>
            </a:pPr>
            <a:r>
              <a:rPr lang="ko-KR" altLang="en-US" sz="1400" dirty="0">
                <a:solidFill>
                  <a:schemeClr val="bg1"/>
                </a:solidFill>
                <a:latin typeface="Arial Narrow" panose="020B0606020202030204" pitchFamily="34" charset="0"/>
                <a:ea typeface="a고딕14" panose="02020600000000000000" pitchFamily="18" charset="-127"/>
              </a:rPr>
              <a:t>점검내용</a:t>
            </a:r>
          </a:p>
        </p:txBody>
      </p:sp>
      <p:pic>
        <p:nvPicPr>
          <p:cNvPr id="38" name="그림 37">
            <a:extLst>
              <a:ext uri="{FF2B5EF4-FFF2-40B4-BE49-F238E27FC236}">
                <a16:creationId xmlns:a16="http://schemas.microsoft.com/office/drawing/2014/main" id="{D35335E6-B38D-A2DB-87E5-08CE0B6FCB09}"/>
              </a:ext>
            </a:extLst>
          </p:cNvPr>
          <p:cNvPicPr>
            <a:picLocks noChangeAspect="1"/>
          </p:cNvPicPr>
          <p:nvPr/>
        </p:nvPicPr>
        <p:blipFill>
          <a:blip r:embed="rId2"/>
          <a:stretch>
            <a:fillRect/>
          </a:stretch>
        </p:blipFill>
        <p:spPr>
          <a:xfrm>
            <a:off x="6322889" y="4386138"/>
            <a:ext cx="3101328" cy="2182707"/>
          </a:xfrm>
          <a:prstGeom prst="rect">
            <a:avLst/>
          </a:prstGeom>
        </p:spPr>
      </p:pic>
      <p:pic>
        <p:nvPicPr>
          <p:cNvPr id="15" name="그림 14">
            <a:extLst>
              <a:ext uri="{FF2B5EF4-FFF2-40B4-BE49-F238E27FC236}">
                <a16:creationId xmlns:a16="http://schemas.microsoft.com/office/drawing/2014/main" id="{7E0C5030-4C5C-CEF0-B536-5E71EC7DF101}"/>
              </a:ext>
            </a:extLst>
          </p:cNvPr>
          <p:cNvPicPr>
            <a:picLocks noChangeAspect="1"/>
          </p:cNvPicPr>
          <p:nvPr/>
        </p:nvPicPr>
        <p:blipFill>
          <a:blip r:embed="rId3"/>
          <a:stretch>
            <a:fillRect/>
          </a:stretch>
        </p:blipFill>
        <p:spPr>
          <a:xfrm>
            <a:off x="5129947" y="3759587"/>
            <a:ext cx="2874688" cy="1989495"/>
          </a:xfrm>
          <a:prstGeom prst="rect">
            <a:avLst/>
          </a:prstGeom>
        </p:spPr>
      </p:pic>
      <p:sp>
        <p:nvSpPr>
          <p:cNvPr id="39" name="Text Box 350">
            <a:extLst>
              <a:ext uri="{FF2B5EF4-FFF2-40B4-BE49-F238E27FC236}">
                <a16:creationId xmlns:a16="http://schemas.microsoft.com/office/drawing/2014/main" id="{75D23FE3-E633-0705-6BEE-809F76AF9F2D}"/>
              </a:ext>
            </a:extLst>
          </p:cNvPr>
          <p:cNvSpPr txBox="1">
            <a:spLocks noChangeArrowheads="1"/>
          </p:cNvSpPr>
          <p:nvPr/>
        </p:nvSpPr>
        <p:spPr bwMode="auto">
          <a:xfrm rot="21154115">
            <a:off x="7929733" y="5839569"/>
            <a:ext cx="1417199" cy="276999"/>
          </a:xfrm>
          <a:prstGeom prst="rect">
            <a:avLst/>
          </a:prstGeom>
          <a:solidFill>
            <a:schemeClr val="accent2">
              <a:lumMod val="20000"/>
              <a:lumOff val="80000"/>
              <a:alpha val="36000"/>
            </a:schemeClr>
          </a:solidFill>
          <a:ln w="12700" algn="ctr">
            <a:solidFill>
              <a:schemeClr val="accent2"/>
            </a:solidFill>
            <a:prstDash val="dash"/>
            <a:miter lim="800000"/>
            <a:headEnd/>
            <a:tailEnd/>
          </a:ln>
        </p:spPr>
        <p:txBody>
          <a:bodyPr wrap="square">
            <a:spAutoFit/>
          </a:bodyPr>
          <a:lstStyle>
            <a:defPPr>
              <a:defRPr lang="en-US"/>
            </a:defPPr>
            <a:lvl1pPr marL="0" marR="0" lvl="0" indent="0" defTabSz="914400" eaLnBrk="1" fontAlgn="auto" hangingPunct="1">
              <a:lnSpc>
                <a:spcPct val="100000"/>
              </a:lnSpc>
              <a:spcBef>
                <a:spcPct val="50000"/>
              </a:spcBef>
              <a:spcAft>
                <a:spcPts val="0"/>
              </a:spcAft>
              <a:buClr>
                <a:srgbClr val="006699"/>
              </a:buClr>
              <a:buSzTx/>
              <a:buFont typeface="a고딕14"/>
              <a:buNone/>
              <a:tabLst/>
              <a:defRPr b="1" i="0" u="none" strike="noStrike" kern="0" cap="none" spc="0" normalizeH="0" baseline="0">
                <a:ln>
                  <a:noFill/>
                </a:ln>
                <a:solidFill>
                  <a:srgbClr val="A50021"/>
                </a:solidFill>
                <a:effectLst/>
                <a:uLnTx/>
                <a:uFillTx/>
                <a:latin typeface="a고딕14" panose="02020600000000000000" pitchFamily="18" charset="-127"/>
                <a:ea typeface="a고딕14" panose="02020600000000000000" pitchFamily="18" charset="-127"/>
              </a:defRPr>
            </a:lvl1pPr>
            <a:lvl2pPr marL="742950" indent="-285750">
              <a:defRPr sz="800">
                <a:latin typeface="Arial" pitchFamily="34" charset="0"/>
              </a:defRPr>
            </a:lvl2pPr>
            <a:lvl3pPr marL="1143000" indent="-228600">
              <a:defRPr sz="800">
                <a:latin typeface="Arial" pitchFamily="34" charset="0"/>
              </a:defRPr>
            </a:lvl3pPr>
            <a:lvl4pPr marL="1600200" indent="-228600">
              <a:defRPr sz="800">
                <a:latin typeface="Arial" pitchFamily="34" charset="0"/>
              </a:defRPr>
            </a:lvl4pPr>
            <a:lvl5pPr marL="2057400" indent="-228600">
              <a:defRPr sz="800">
                <a:latin typeface="Arial" pitchFamily="34" charset="0"/>
              </a:defRPr>
            </a:lvl5pPr>
            <a:lvl6pPr marL="2514600" indent="-228600" algn="ctr" eaLnBrk="0" fontAlgn="base" hangingPunct="0">
              <a:spcBef>
                <a:spcPct val="0"/>
              </a:spcBef>
              <a:spcAft>
                <a:spcPct val="0"/>
              </a:spcAft>
              <a:buFont typeface="Wingdings" pitchFamily="2" charset="2"/>
              <a:defRPr sz="800">
                <a:latin typeface="Arial" pitchFamily="34" charset="0"/>
              </a:defRPr>
            </a:lvl6pPr>
            <a:lvl7pPr marL="2971800" indent="-228600" algn="ctr" eaLnBrk="0" fontAlgn="base" hangingPunct="0">
              <a:spcBef>
                <a:spcPct val="0"/>
              </a:spcBef>
              <a:spcAft>
                <a:spcPct val="0"/>
              </a:spcAft>
              <a:buFont typeface="Wingdings" pitchFamily="2" charset="2"/>
              <a:defRPr sz="800">
                <a:latin typeface="Arial" pitchFamily="34" charset="0"/>
              </a:defRPr>
            </a:lvl7pPr>
            <a:lvl8pPr marL="3429000" indent="-228600" algn="ctr" eaLnBrk="0" fontAlgn="base" hangingPunct="0">
              <a:spcBef>
                <a:spcPct val="0"/>
              </a:spcBef>
              <a:spcAft>
                <a:spcPct val="0"/>
              </a:spcAft>
              <a:buFont typeface="Wingdings" pitchFamily="2" charset="2"/>
              <a:defRPr sz="800">
                <a:latin typeface="Arial" pitchFamily="34" charset="0"/>
              </a:defRPr>
            </a:lvl8pPr>
            <a:lvl9pPr marL="3886200" indent="-228600" algn="ctr" eaLnBrk="0" fontAlgn="base" hangingPunct="0">
              <a:spcBef>
                <a:spcPct val="0"/>
              </a:spcBef>
              <a:spcAft>
                <a:spcPct val="0"/>
              </a:spcAft>
              <a:buFont typeface="Wingdings" pitchFamily="2" charset="2"/>
              <a:defRPr sz="800">
                <a:latin typeface="Arial" pitchFamily="34" charset="0"/>
              </a:defRPr>
            </a:lvl9pPr>
          </a:lstStyle>
          <a:p>
            <a:r>
              <a:rPr lang="en-US" altLang="ko-KR" dirty="0"/>
              <a:t>Illustrative</a:t>
            </a:r>
          </a:p>
        </p:txBody>
      </p:sp>
      <p:sp>
        <p:nvSpPr>
          <p:cNvPr id="40" name="직사각형 39">
            <a:extLst>
              <a:ext uri="{FF2B5EF4-FFF2-40B4-BE49-F238E27FC236}">
                <a16:creationId xmlns:a16="http://schemas.microsoft.com/office/drawing/2014/main" id="{2E408857-4DDE-10AE-68C6-60CF3EDD7F49}"/>
              </a:ext>
            </a:extLst>
          </p:cNvPr>
          <p:cNvSpPr/>
          <p:nvPr/>
        </p:nvSpPr>
        <p:spPr>
          <a:xfrm>
            <a:off x="5126343" y="2349949"/>
            <a:ext cx="4218344" cy="82690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en-US" altLang="ko-KR" sz="1400" dirty="0">
                <a:solidFill>
                  <a:schemeClr val="tx1"/>
                </a:solidFill>
                <a:latin typeface="Arial Narrow" panose="020B0606020202030204" pitchFamily="34" charset="0"/>
                <a:ea typeface="a고딕14" panose="02020600000000000000" pitchFamily="18" charset="-127"/>
              </a:rPr>
              <a:t>TTR Maste DB </a:t>
            </a:r>
            <a:r>
              <a:rPr lang="ko-KR" altLang="en-US" sz="1400" dirty="0">
                <a:solidFill>
                  <a:schemeClr val="tx1"/>
                </a:solidFill>
                <a:latin typeface="Arial Narrow" panose="020B0606020202030204" pitchFamily="34" charset="0"/>
                <a:ea typeface="a고딕14" panose="02020600000000000000" pitchFamily="18" charset="-127"/>
              </a:rPr>
              <a:t>활용법</a:t>
            </a:r>
            <a:r>
              <a:rPr lang="en-US" altLang="ko-KR" sz="1400" dirty="0">
                <a:solidFill>
                  <a:schemeClr val="tx1"/>
                </a:solidFill>
                <a:latin typeface="Arial Narrow" panose="020B0606020202030204" pitchFamily="34" charset="0"/>
                <a:ea typeface="a고딕14" panose="02020600000000000000" pitchFamily="18" charset="-127"/>
              </a:rPr>
              <a:t>, TTR </a:t>
            </a:r>
            <a:r>
              <a:rPr lang="ko-KR" altLang="en-US" sz="1400" dirty="0">
                <a:solidFill>
                  <a:schemeClr val="tx1"/>
                </a:solidFill>
                <a:latin typeface="Arial Narrow" panose="020B0606020202030204" pitchFamily="34" charset="0"/>
                <a:ea typeface="a고딕14" panose="02020600000000000000" pitchFamily="18" charset="-127"/>
              </a:rPr>
              <a:t>작성 방법</a:t>
            </a:r>
            <a:r>
              <a:rPr lang="en-US" altLang="ko-KR" sz="1400" dirty="0">
                <a:solidFill>
                  <a:schemeClr val="tx1"/>
                </a:solidFill>
                <a:latin typeface="Arial Narrow" panose="020B0606020202030204" pitchFamily="34" charset="0"/>
                <a:ea typeface="a고딕14" panose="02020600000000000000" pitchFamily="18" charset="-127"/>
              </a:rPr>
              <a:t>, </a:t>
            </a:r>
            <a:r>
              <a:rPr lang="ko-KR" altLang="en-US" sz="1400" dirty="0">
                <a:solidFill>
                  <a:schemeClr val="tx1"/>
                </a:solidFill>
                <a:latin typeface="Arial Narrow" panose="020B0606020202030204" pitchFamily="34" charset="0"/>
                <a:ea typeface="a고딕14" panose="02020600000000000000" pitchFamily="18" charset="-127"/>
              </a:rPr>
              <a:t>자주 발생할 수 있는 오류 사례 및 </a:t>
            </a:r>
            <a:r>
              <a:rPr lang="ko-KR" altLang="en-US" sz="1400" dirty="0" err="1">
                <a:solidFill>
                  <a:schemeClr val="tx1"/>
                </a:solidFill>
                <a:latin typeface="Arial Narrow" panose="020B0606020202030204" pitchFamily="34" charset="0"/>
                <a:ea typeface="a고딕14" panose="02020600000000000000" pitchFamily="18" charset="-127"/>
              </a:rPr>
              <a:t>대처법</a:t>
            </a:r>
            <a:r>
              <a:rPr lang="ko-KR" altLang="en-US" sz="1400" dirty="0">
                <a:solidFill>
                  <a:schemeClr val="tx1"/>
                </a:solidFill>
                <a:latin typeface="Arial Narrow" panose="020B0606020202030204" pitchFamily="34" charset="0"/>
                <a:ea typeface="a고딕14" panose="02020600000000000000" pitchFamily="18" charset="-127"/>
              </a:rPr>
              <a:t> 등 </a:t>
            </a:r>
            <a:r>
              <a:rPr lang="en-US" altLang="ko-KR" sz="1400" dirty="0">
                <a:solidFill>
                  <a:srgbClr val="0070C0"/>
                </a:solidFill>
                <a:latin typeface="Arial Narrow" panose="020B0606020202030204" pitchFamily="34" charset="0"/>
                <a:ea typeface="a고딕14" panose="02020600000000000000" pitchFamily="18" charset="-127"/>
              </a:rPr>
              <a:t>TTR </a:t>
            </a:r>
            <a:r>
              <a:rPr lang="ko-KR" altLang="en-US" sz="1400" dirty="0">
                <a:solidFill>
                  <a:srgbClr val="0070C0"/>
                </a:solidFill>
                <a:latin typeface="Arial Narrow" panose="020B0606020202030204" pitchFamily="34" charset="0"/>
                <a:ea typeface="a고딕14" panose="02020600000000000000" pitchFamily="18" charset="-127"/>
              </a:rPr>
              <a:t>작성 매뉴얼을 제작</a:t>
            </a:r>
            <a:r>
              <a:rPr lang="ko-KR" altLang="en-US" sz="1400" dirty="0">
                <a:solidFill>
                  <a:schemeClr val="tx1"/>
                </a:solidFill>
                <a:latin typeface="Arial Narrow" panose="020B0606020202030204" pitchFamily="34" charset="0"/>
                <a:ea typeface="a고딕14" panose="02020600000000000000" pitchFamily="18" charset="-127"/>
              </a:rPr>
              <a:t>하여</a:t>
            </a:r>
            <a:endParaRPr lang="en-US" altLang="ko-KR" sz="1400" dirty="0">
              <a:solidFill>
                <a:schemeClr val="tx1"/>
              </a:solidFill>
              <a:latin typeface="Arial Narrow" panose="020B0606020202030204" pitchFamily="34" charset="0"/>
              <a:ea typeface="a고딕14" panose="02020600000000000000" pitchFamily="18" charset="-127"/>
            </a:endParaRPr>
          </a:p>
          <a:p>
            <a:pPr latinLnBrk="0">
              <a:buNone/>
            </a:pPr>
            <a:r>
              <a:rPr lang="ko-KR" altLang="en-US" sz="1400" dirty="0">
                <a:solidFill>
                  <a:srgbClr val="0070C0"/>
                </a:solidFill>
                <a:latin typeface="Arial Narrow" panose="020B0606020202030204" pitchFamily="34" charset="0"/>
                <a:ea typeface="a고딕14" panose="02020600000000000000" pitchFamily="18" charset="-127"/>
              </a:rPr>
              <a:t>체계적인 </a:t>
            </a:r>
            <a:r>
              <a:rPr lang="en-US" altLang="ko-KR" sz="1400" dirty="0">
                <a:solidFill>
                  <a:srgbClr val="0070C0"/>
                </a:solidFill>
                <a:latin typeface="Arial Narrow" panose="020B0606020202030204" pitchFamily="34" charset="0"/>
                <a:ea typeface="a고딕14" panose="02020600000000000000" pitchFamily="18" charset="-127"/>
              </a:rPr>
              <a:t>TTR </a:t>
            </a:r>
            <a:r>
              <a:rPr lang="ko-KR" altLang="en-US" sz="1400" dirty="0">
                <a:solidFill>
                  <a:srgbClr val="0070C0"/>
                </a:solidFill>
                <a:latin typeface="Arial Narrow" panose="020B0606020202030204" pitchFamily="34" charset="0"/>
                <a:ea typeface="a고딕14" panose="02020600000000000000" pitchFamily="18" charset="-127"/>
              </a:rPr>
              <a:t>작성이 가능</a:t>
            </a:r>
            <a:r>
              <a:rPr lang="ko-KR" altLang="en-US" sz="1400" dirty="0">
                <a:solidFill>
                  <a:schemeClr val="tx1"/>
                </a:solidFill>
                <a:latin typeface="Arial Narrow" panose="020B0606020202030204" pitchFamily="34" charset="0"/>
                <a:ea typeface="a고딕14" panose="02020600000000000000" pitchFamily="18" charset="-127"/>
              </a:rPr>
              <a:t>하도록 하겠음</a:t>
            </a:r>
          </a:p>
        </p:txBody>
      </p:sp>
      <p:sp>
        <p:nvSpPr>
          <p:cNvPr id="41" name="말풍선: 모서리가 둥근 사각형 40">
            <a:extLst>
              <a:ext uri="{FF2B5EF4-FFF2-40B4-BE49-F238E27FC236}">
                <a16:creationId xmlns:a16="http://schemas.microsoft.com/office/drawing/2014/main" id="{8945668A-43B7-276B-5F26-EE7139209F26}"/>
              </a:ext>
            </a:extLst>
          </p:cNvPr>
          <p:cNvSpPr/>
          <p:nvPr/>
        </p:nvSpPr>
        <p:spPr>
          <a:xfrm>
            <a:off x="5126343" y="3176298"/>
            <a:ext cx="1116124" cy="318775"/>
          </a:xfrm>
          <a:prstGeom prst="wedgeRoundRectCallout">
            <a:avLst>
              <a:gd name="adj1" fmla="val 21992"/>
              <a:gd name="adj2" fmla="val 104029"/>
              <a:gd name="adj3" fmla="val 16667"/>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buNone/>
            </a:pPr>
            <a:r>
              <a:rPr lang="ko-KR" altLang="en-US" sz="1400" dirty="0">
                <a:solidFill>
                  <a:schemeClr val="bg1"/>
                </a:solidFill>
                <a:latin typeface="Arial Narrow" panose="020B0606020202030204" pitchFamily="34" charset="0"/>
                <a:ea typeface="a고딕14" panose="02020600000000000000" pitchFamily="18" charset="-127"/>
              </a:rPr>
              <a:t>매뉴얼 예시</a:t>
            </a:r>
          </a:p>
        </p:txBody>
      </p:sp>
    </p:spTree>
    <p:extLst>
      <p:ext uri="{BB962C8B-B14F-4D97-AF65-F5344CB8AC3E}">
        <p14:creationId xmlns:p14="http://schemas.microsoft.com/office/powerpoint/2010/main" val="2397965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510D4-161C-CF32-68E8-89B673E02356}"/>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36F71BAD-141B-5EA0-0966-2A01FBB05F84}"/>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BEC02489-ABF6-0099-052B-376394B0E8F6}"/>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학습 흐름 제언</a:t>
            </a:r>
          </a:p>
        </p:txBody>
      </p:sp>
      <p:sp>
        <p:nvSpPr>
          <p:cNvPr id="12" name="직사각형 11">
            <a:extLst>
              <a:ext uri="{FF2B5EF4-FFF2-40B4-BE49-F238E27FC236}">
                <a16:creationId xmlns:a16="http://schemas.microsoft.com/office/drawing/2014/main" id="{863EF2BB-AF9E-DB38-CDAE-58E8F9F78C38}"/>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5.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데이터 관리방안 및 </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TTR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흐름 제언</a:t>
            </a:r>
            <a:endParaRPr lang="ko-KR" altLang="en-US" sz="1100" dirty="0">
              <a:solidFill>
                <a:srgbClr val="003F56"/>
              </a:solidFill>
              <a:latin typeface="a고딕14"/>
              <a:ea typeface="a고딕14"/>
            </a:endParaRPr>
          </a:p>
        </p:txBody>
      </p:sp>
      <p:sp>
        <p:nvSpPr>
          <p:cNvPr id="10" name="텍스트 개체 틀 1">
            <a:extLst>
              <a:ext uri="{FF2B5EF4-FFF2-40B4-BE49-F238E27FC236}">
                <a16:creationId xmlns:a16="http://schemas.microsoft.com/office/drawing/2014/main" id="{81419B36-4E28-212C-ECC6-BB6B7E995B2E}"/>
              </a:ext>
            </a:extLst>
          </p:cNvPr>
          <p:cNvSpPr>
            <a:spLocks noGrp="1"/>
          </p:cNvSpPr>
          <p:nvPr>
            <p:ph type="body" sz="quarter" idx="12"/>
          </p:nvPr>
        </p:nvSpPr>
        <p:spPr>
          <a:xfrm>
            <a:off x="596515" y="650182"/>
            <a:ext cx="8749097" cy="815119"/>
          </a:xfrm>
        </p:spPr>
        <p:txBody>
          <a:bodyPr/>
          <a:lstStyle/>
          <a:p>
            <a:pPr latinLnBrk="0"/>
            <a:r>
              <a:rPr lang="ko-KR" altLang="en-US" dirty="0">
                <a:latin typeface="a고딕14" panose="02020600000000000000" pitchFamily="18" charset="-127"/>
              </a:rPr>
              <a:t>현재 </a:t>
            </a:r>
            <a:r>
              <a:rPr lang="ko-KR" altLang="en-US" dirty="0" err="1">
                <a:latin typeface="a고딕14" panose="02020600000000000000" pitchFamily="18" charset="-127"/>
              </a:rPr>
              <a:t>기술교육로드맵의</a:t>
            </a:r>
            <a:r>
              <a:rPr lang="ko-KR" altLang="en-US" dirty="0">
                <a:latin typeface="a고딕14" panose="02020600000000000000" pitchFamily="18" charset="-127"/>
              </a:rPr>
              <a:t> 특징을 고려할 때 직무 중심의 훈련흐름도를 작성함에 있어서 </a:t>
            </a:r>
            <a:r>
              <a:rPr lang="ko-KR" altLang="en-US" dirty="0">
                <a:solidFill>
                  <a:srgbClr val="0070C0"/>
                </a:solidFill>
                <a:latin typeface="a고딕14" panose="02020600000000000000" pitchFamily="18" charset="-127"/>
              </a:rPr>
              <a:t>다음과 같은 이슈와 대응방안이 예상</a:t>
            </a:r>
            <a:r>
              <a:rPr lang="ko-KR" altLang="en-US" dirty="0">
                <a:latin typeface="a고딕14" panose="02020600000000000000" pitchFamily="18" charset="-127"/>
              </a:rPr>
              <a:t>되며</a:t>
            </a:r>
            <a:r>
              <a:rPr lang="en-US" altLang="ko-KR" dirty="0">
                <a:latin typeface="a고딕14" panose="02020600000000000000" pitchFamily="18" charset="-127"/>
              </a:rPr>
              <a:t>, </a:t>
            </a:r>
            <a:r>
              <a:rPr lang="ko-KR" altLang="en-US" dirty="0">
                <a:latin typeface="a고딕14" panose="02020600000000000000" pitchFamily="18" charset="-127"/>
              </a:rPr>
              <a:t>발주기관과의 협의를 통해 구체화할 계획임</a:t>
            </a:r>
            <a:endParaRPr lang="ko-KR" altLang="en-US" sz="1800" dirty="0">
              <a:solidFill>
                <a:srgbClr val="FF0000"/>
              </a:solidFill>
              <a:latin typeface="a고딕14" panose="02020600000000000000" pitchFamily="18" charset="-127"/>
            </a:endParaRPr>
          </a:p>
        </p:txBody>
      </p:sp>
      <p:grpSp>
        <p:nvGrpSpPr>
          <p:cNvPr id="13" name="그룹 12">
            <a:extLst>
              <a:ext uri="{FF2B5EF4-FFF2-40B4-BE49-F238E27FC236}">
                <a16:creationId xmlns:a16="http://schemas.microsoft.com/office/drawing/2014/main" id="{660E021E-E0C8-094E-89FB-C4034CED05AC}"/>
              </a:ext>
            </a:extLst>
          </p:cNvPr>
          <p:cNvGrpSpPr/>
          <p:nvPr/>
        </p:nvGrpSpPr>
        <p:grpSpPr>
          <a:xfrm>
            <a:off x="596515" y="1681030"/>
            <a:ext cx="8749098" cy="266602"/>
            <a:chOff x="802640" y="2236635"/>
            <a:chExt cx="4130805" cy="266552"/>
          </a:xfrm>
        </p:grpSpPr>
        <p:sp>
          <p:nvSpPr>
            <p:cNvPr id="14" name="ListLeanHorizontalTextTopic0">
              <a:extLst>
                <a:ext uri="{FF2B5EF4-FFF2-40B4-BE49-F238E27FC236}">
                  <a16:creationId xmlns:a16="http://schemas.microsoft.com/office/drawing/2014/main" id="{D84582F1-1AC6-FE9E-568F-52A81A2A8748}"/>
                </a:ext>
              </a:extLst>
            </p:cNvPr>
            <p:cNvSpPr txBox="1"/>
            <p:nvPr/>
          </p:nvSpPr>
          <p:spPr>
            <a:xfrm>
              <a:off x="802640" y="2236635"/>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학습 흐름 적용을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위한 고려사항</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5" name="Horizontal Line">
              <a:extLst>
                <a:ext uri="{FF2B5EF4-FFF2-40B4-BE49-F238E27FC236}">
                  <a16:creationId xmlns:a16="http://schemas.microsoft.com/office/drawing/2014/main" id="{ACA8399E-802B-A666-8D10-3058B9BEBD3F}"/>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6" name="직사각형 15">
            <a:extLst>
              <a:ext uri="{FF2B5EF4-FFF2-40B4-BE49-F238E27FC236}">
                <a16:creationId xmlns:a16="http://schemas.microsoft.com/office/drawing/2014/main" id="{54DCDC12-0E5E-7E3A-03D8-7B0F4D41D50E}"/>
              </a:ext>
            </a:extLst>
          </p:cNvPr>
          <p:cNvSpPr/>
          <p:nvPr/>
        </p:nvSpPr>
        <p:spPr>
          <a:xfrm>
            <a:off x="593541" y="2327096"/>
            <a:ext cx="2880000" cy="684075"/>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latinLnBrk="0">
              <a:buNone/>
            </a:pPr>
            <a:r>
              <a:rPr lang="en-US" altLang="ko-KR" dirty="0">
                <a:solidFill>
                  <a:schemeClr val="tx1"/>
                </a:solidFill>
                <a:latin typeface="Arial Narrow" panose="020B0606020202030204" pitchFamily="34" charset="0"/>
                <a:ea typeface="a고딕14" panose="02020600000000000000" pitchFamily="18" charset="-127"/>
              </a:rPr>
              <a:t>SQF, NCS </a:t>
            </a:r>
            <a:r>
              <a:rPr lang="ko-KR" altLang="en-US" dirty="0">
                <a:solidFill>
                  <a:schemeClr val="tx1"/>
                </a:solidFill>
                <a:latin typeface="Arial Narrow" panose="020B0606020202030204" pitchFamily="34" charset="0"/>
                <a:ea typeface="a고딕14" panose="02020600000000000000" pitchFamily="18" charset="-127"/>
              </a:rPr>
              <a:t>경력개발경로 모형</a:t>
            </a:r>
            <a:r>
              <a:rPr lang="en-US" altLang="ko-KR" dirty="0">
                <a:solidFill>
                  <a:schemeClr val="tx1"/>
                </a:solidFill>
                <a:latin typeface="Arial Narrow" panose="020B0606020202030204" pitchFamily="34" charset="0"/>
                <a:ea typeface="a고딕14" panose="02020600000000000000" pitchFamily="18" charset="-127"/>
              </a:rPr>
              <a:t>, </a:t>
            </a:r>
          </a:p>
          <a:p>
            <a:pPr latinLnBrk="0">
              <a:buNone/>
            </a:pPr>
            <a:r>
              <a:rPr lang="en-US" altLang="ko-KR" dirty="0">
                <a:solidFill>
                  <a:schemeClr val="tx1"/>
                </a:solidFill>
                <a:latin typeface="Arial Narrow" panose="020B0606020202030204" pitchFamily="34" charset="0"/>
                <a:ea typeface="a고딕14" panose="02020600000000000000" pitchFamily="18" charset="-127"/>
              </a:rPr>
              <a:t>NCS </a:t>
            </a:r>
            <a:r>
              <a:rPr lang="ko-KR" altLang="en-US" dirty="0">
                <a:solidFill>
                  <a:schemeClr val="tx1"/>
                </a:solidFill>
                <a:latin typeface="Arial Narrow" panose="020B0606020202030204" pitchFamily="34" charset="0"/>
                <a:ea typeface="a고딕14" panose="02020600000000000000" pitchFamily="18" charset="-127"/>
              </a:rPr>
              <a:t>분류체계</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통해 </a:t>
            </a:r>
            <a:endParaRPr lang="en-US" altLang="ko-KR" dirty="0">
              <a:solidFill>
                <a:schemeClr val="tx1"/>
              </a:solidFill>
              <a:latin typeface="Arial Narrow" panose="020B0606020202030204" pitchFamily="34" charset="0"/>
              <a:ea typeface="a고딕14" panose="02020600000000000000" pitchFamily="18" charset="-127"/>
            </a:endParaRPr>
          </a:p>
          <a:p>
            <a:pPr latinLnBrk="0">
              <a:buNone/>
            </a:pPr>
            <a:r>
              <a:rPr lang="ko-KR" altLang="en-US" dirty="0">
                <a:solidFill>
                  <a:schemeClr val="tx1"/>
                </a:solidFill>
                <a:latin typeface="Arial Narrow" panose="020B0606020202030204" pitchFamily="34" charset="0"/>
                <a:ea typeface="a고딕14" panose="02020600000000000000" pitchFamily="18" charset="-127"/>
              </a:rPr>
              <a:t>직무별 능력단위를 파악함</a:t>
            </a:r>
          </a:p>
        </p:txBody>
      </p:sp>
      <p:sp>
        <p:nvSpPr>
          <p:cNvPr id="17" name="오른쪽 화살표 8">
            <a:extLst>
              <a:ext uri="{FF2B5EF4-FFF2-40B4-BE49-F238E27FC236}">
                <a16:creationId xmlns:a16="http://schemas.microsoft.com/office/drawing/2014/main" id="{7850338E-0F78-C091-90BC-AE5C115A457A}"/>
              </a:ext>
            </a:extLst>
          </p:cNvPr>
          <p:cNvSpPr/>
          <p:nvPr/>
        </p:nvSpPr>
        <p:spPr>
          <a:xfrm rot="5400000">
            <a:off x="1871541" y="3097579"/>
            <a:ext cx="324000"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18" name="직사각형 17">
            <a:extLst>
              <a:ext uri="{FF2B5EF4-FFF2-40B4-BE49-F238E27FC236}">
                <a16:creationId xmlns:a16="http://schemas.microsoft.com/office/drawing/2014/main" id="{66D80F3C-CC69-14F7-A119-A763748F6B86}"/>
              </a:ext>
            </a:extLst>
          </p:cNvPr>
          <p:cNvSpPr/>
          <p:nvPr/>
        </p:nvSpPr>
        <p:spPr bwMode="auto">
          <a:xfrm>
            <a:off x="596514" y="2060848"/>
            <a:ext cx="5814549"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dirty="0">
                <a:solidFill>
                  <a:schemeClr val="bg1"/>
                </a:solidFill>
                <a:latin typeface="+mj-ea"/>
                <a:ea typeface="+mj-ea"/>
              </a:rPr>
              <a:t>현행 </a:t>
            </a:r>
            <a:r>
              <a:rPr lang="en-US" altLang="ko-KR" sz="1100" kern="0" dirty="0">
                <a:solidFill>
                  <a:schemeClr val="bg1"/>
                </a:solidFill>
                <a:latin typeface="+mj-ea"/>
                <a:ea typeface="+mj-ea"/>
              </a:rPr>
              <a:t>TTR</a:t>
            </a:r>
            <a:r>
              <a:rPr lang="ko-KR" altLang="en-US" sz="1100" kern="0" dirty="0">
                <a:solidFill>
                  <a:schemeClr val="bg1"/>
                </a:solidFill>
                <a:latin typeface="+mj-ea"/>
                <a:ea typeface="+mj-ea"/>
              </a:rPr>
              <a:t>의 특징</a:t>
            </a:r>
          </a:p>
        </p:txBody>
      </p:sp>
      <p:sp>
        <p:nvSpPr>
          <p:cNvPr id="19" name="직사각형 18">
            <a:extLst>
              <a:ext uri="{FF2B5EF4-FFF2-40B4-BE49-F238E27FC236}">
                <a16:creationId xmlns:a16="http://schemas.microsoft.com/office/drawing/2014/main" id="{BCC82918-719B-6B96-F958-8BF95921E91A}"/>
              </a:ext>
            </a:extLst>
          </p:cNvPr>
          <p:cNvSpPr/>
          <p:nvPr/>
        </p:nvSpPr>
        <p:spPr bwMode="auto">
          <a:xfrm>
            <a:off x="6465381" y="2060849"/>
            <a:ext cx="2880000"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dirty="0">
                <a:solidFill>
                  <a:schemeClr val="bg1"/>
                </a:solidFill>
                <a:latin typeface="+mj-ea"/>
                <a:ea typeface="+mj-ea"/>
              </a:rPr>
              <a:t>제안 요청사항</a:t>
            </a:r>
          </a:p>
        </p:txBody>
      </p:sp>
      <p:grpSp>
        <p:nvGrpSpPr>
          <p:cNvPr id="20" name="그룹 19">
            <a:extLst>
              <a:ext uri="{FF2B5EF4-FFF2-40B4-BE49-F238E27FC236}">
                <a16:creationId xmlns:a16="http://schemas.microsoft.com/office/drawing/2014/main" id="{1E3633FA-BD5E-2E99-3B9A-DD6F5D60C6E0}"/>
              </a:ext>
            </a:extLst>
          </p:cNvPr>
          <p:cNvGrpSpPr/>
          <p:nvPr/>
        </p:nvGrpSpPr>
        <p:grpSpPr>
          <a:xfrm>
            <a:off x="593541" y="3527193"/>
            <a:ext cx="2880000" cy="837911"/>
            <a:chOff x="596514" y="3504220"/>
            <a:chExt cx="2880000" cy="837911"/>
          </a:xfrm>
        </p:grpSpPr>
        <p:sp>
          <p:nvSpPr>
            <p:cNvPr id="21" name="직사각형 20">
              <a:extLst>
                <a:ext uri="{FF2B5EF4-FFF2-40B4-BE49-F238E27FC236}">
                  <a16:creationId xmlns:a16="http://schemas.microsoft.com/office/drawing/2014/main" id="{B10F6D5F-8C60-8BFC-F539-FF94DCFCB3CC}"/>
                </a:ext>
              </a:extLst>
            </p:cNvPr>
            <p:cNvSpPr/>
            <p:nvPr/>
          </p:nvSpPr>
          <p:spPr>
            <a:xfrm>
              <a:off x="596514" y="3504220"/>
              <a:ext cx="2880000" cy="837911"/>
            </a:xfrm>
            <a:prstGeom prst="rect">
              <a:avLst/>
            </a:prstGeom>
            <a:solidFill>
              <a:srgbClr val="DCF1F9"/>
            </a:solidFill>
            <a:ln w="6350" cap="flat" cmpd="sng" algn="ctr">
              <a:solidFill>
                <a:srgbClr val="BFBFBF"/>
              </a:solidFill>
              <a:prstDash val="solid"/>
            </a:ln>
            <a:effectLst/>
          </p:spPr>
          <p:txBody>
            <a:bodyPr lIns="36000" tIns="108000" rIns="36000" bIns="0" rtlCol="0" anchor="ctr"/>
            <a:lstStyle/>
            <a:p>
              <a:pPr eaLnBrk="1" fontAlgn="auto" latinLnBrk="0" hangingPunct="1">
                <a:spcBef>
                  <a:spcPts val="0"/>
                </a:spcBef>
                <a:spcAft>
                  <a:spcPts val="0"/>
                </a:spcAft>
                <a:buNone/>
              </a:pPr>
              <a:r>
                <a:rPr lang="en-US" altLang="ko-KR" kern="0">
                  <a:solidFill>
                    <a:prstClr val="black"/>
                  </a:solidFill>
                  <a:latin typeface="Arial Narrow" panose="020B0606020202030204" pitchFamily="34" charset="0"/>
                  <a:ea typeface="a고딕14" panose="02020600000000000000" pitchFamily="18" charset="-127"/>
                  <a:cs typeface="Arial" pitchFamily="34" charset="0"/>
                </a:rPr>
                <a:t>NCS </a:t>
              </a:r>
              <a:r>
                <a:rPr lang="ko-KR" altLang="en-US" kern="0">
                  <a:solidFill>
                    <a:prstClr val="black"/>
                  </a:solidFill>
                  <a:latin typeface="Arial Narrow" panose="020B0606020202030204" pitchFamily="34" charset="0"/>
                  <a:ea typeface="a고딕14" panose="02020600000000000000" pitchFamily="18" charset="-127"/>
                  <a:cs typeface="Arial" pitchFamily="34" charset="0"/>
                </a:rPr>
                <a:t>미개발 능력단위</a:t>
              </a:r>
              <a:r>
                <a:rPr lang="en-US" altLang="ko-KR" kern="0">
                  <a:solidFill>
                    <a:prstClr val="black"/>
                  </a:solidFill>
                  <a:latin typeface="Arial Narrow" panose="020B0606020202030204" pitchFamily="34" charset="0"/>
                  <a:ea typeface="a고딕14" panose="02020600000000000000" pitchFamily="18" charset="-127"/>
                  <a:cs typeface="Arial" pitchFamily="34" charset="0"/>
                </a:rPr>
                <a:t>(</a:t>
              </a:r>
              <a:r>
                <a:rPr lang="ko-KR" altLang="en-US" kern="0">
                  <a:solidFill>
                    <a:prstClr val="black"/>
                  </a:solidFill>
                  <a:latin typeface="Arial Narrow" panose="020B0606020202030204" pitchFamily="34" charset="0"/>
                  <a:ea typeface="a고딕14" panose="02020600000000000000" pitchFamily="18" charset="-127"/>
                  <a:cs typeface="Arial" pitchFamily="34" charset="0"/>
                </a:rPr>
                <a:t>비</a:t>
              </a:r>
              <a:r>
                <a:rPr lang="en-US" altLang="ko-KR" kern="0">
                  <a:solidFill>
                    <a:prstClr val="black"/>
                  </a:solidFill>
                  <a:latin typeface="Arial Narrow" panose="020B0606020202030204" pitchFamily="34" charset="0"/>
                  <a:ea typeface="a고딕14" panose="02020600000000000000" pitchFamily="18" charset="-127"/>
                  <a:cs typeface="Arial" pitchFamily="34" charset="0"/>
                </a:rPr>
                <a:t>NCS), </a:t>
              </a:r>
              <a:br>
                <a:rPr lang="en-US" altLang="ko-KR" kern="0">
                  <a:solidFill>
                    <a:prstClr val="black"/>
                  </a:solidFill>
                  <a:latin typeface="Arial Narrow" panose="020B0606020202030204" pitchFamily="34" charset="0"/>
                  <a:ea typeface="a고딕14" panose="02020600000000000000" pitchFamily="18" charset="-127"/>
                  <a:cs typeface="Arial" pitchFamily="34" charset="0"/>
                </a:rPr>
              </a:br>
              <a:r>
                <a:rPr lang="en-US" altLang="ko-KR" kern="0">
                  <a:solidFill>
                    <a:prstClr val="black"/>
                  </a:solidFill>
                  <a:latin typeface="Arial Narrow" panose="020B0606020202030204" pitchFamily="34" charset="0"/>
                  <a:ea typeface="a고딕14" panose="02020600000000000000" pitchFamily="18" charset="-127"/>
                  <a:cs typeface="Arial" pitchFamily="34" charset="0"/>
                </a:rPr>
                <a:t>SQF </a:t>
              </a:r>
              <a:r>
                <a:rPr lang="ko-KR" altLang="en-US" kern="0">
                  <a:solidFill>
                    <a:prstClr val="black"/>
                  </a:solidFill>
                  <a:latin typeface="Arial Narrow" panose="020B0606020202030204" pitchFamily="34" charset="0"/>
                  <a:ea typeface="a고딕14" panose="02020600000000000000" pitchFamily="18" charset="-127"/>
                  <a:cs typeface="Arial" pitchFamily="34" charset="0"/>
                </a:rPr>
                <a:t>미개발 직무</a:t>
              </a:r>
              <a:r>
                <a:rPr lang="en-US" altLang="ko-KR" kern="0">
                  <a:solidFill>
                    <a:prstClr val="black"/>
                  </a:solidFill>
                  <a:latin typeface="Arial Narrow" panose="020B0606020202030204" pitchFamily="34" charset="0"/>
                  <a:ea typeface="a고딕14" panose="02020600000000000000" pitchFamily="18" charset="-127"/>
                  <a:cs typeface="Arial" pitchFamily="34" charset="0"/>
                </a:rPr>
                <a:t> </a:t>
              </a:r>
              <a:r>
                <a:rPr lang="ko-KR" altLang="en-US" kern="0">
                  <a:solidFill>
                    <a:prstClr val="black"/>
                  </a:solidFill>
                  <a:latin typeface="Arial Narrow" panose="020B0606020202030204" pitchFamily="34" charset="0"/>
                  <a:ea typeface="a고딕14" panose="02020600000000000000" pitchFamily="18" charset="-127"/>
                  <a:cs typeface="Arial" pitchFamily="34" charset="0"/>
                </a:rPr>
                <a:t>등</a:t>
              </a:r>
              <a:endParaRPr lang="en-US" altLang="ko-KR" kern="0" dirty="0">
                <a:solidFill>
                  <a:prstClr val="black"/>
                </a:solidFill>
                <a:latin typeface="Arial Narrow" panose="020B0606020202030204" pitchFamily="34" charset="0"/>
                <a:ea typeface="a고딕14" panose="02020600000000000000" pitchFamily="18" charset="-127"/>
                <a:cs typeface="Arial" pitchFamily="34" charset="0"/>
              </a:endParaRPr>
            </a:p>
            <a:p>
              <a:pPr eaLnBrk="1" fontAlgn="auto" latinLnBrk="0" hangingPunct="1">
                <a:spcBef>
                  <a:spcPts val="0"/>
                </a:spcBef>
                <a:spcAft>
                  <a:spcPts val="0"/>
                </a:spcAft>
                <a:buNone/>
              </a:pPr>
              <a:r>
                <a:rPr lang="ko-KR" altLang="en-US" kern="0">
                  <a:solidFill>
                    <a:prstClr val="black"/>
                  </a:solidFill>
                  <a:latin typeface="Arial Narrow" panose="020B0606020202030204" pitchFamily="34" charset="0"/>
                  <a:ea typeface="a고딕14" panose="02020600000000000000" pitchFamily="18" charset="-127"/>
                  <a:cs typeface="Arial" pitchFamily="34" charset="0"/>
                </a:rPr>
                <a:t>제약사항을 어떻게 대응할 것인가</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p>
          </p:txBody>
        </p:sp>
        <p:sp>
          <p:nvSpPr>
            <p:cNvPr id="22" name="직사각형 21">
              <a:extLst>
                <a:ext uri="{FF2B5EF4-FFF2-40B4-BE49-F238E27FC236}">
                  <a16:creationId xmlns:a16="http://schemas.microsoft.com/office/drawing/2014/main" id="{31224493-DA1D-C42C-E353-D043CD70F2C8}"/>
                </a:ext>
              </a:extLst>
            </p:cNvPr>
            <p:cNvSpPr/>
            <p:nvPr/>
          </p:nvSpPr>
          <p:spPr bwMode="auto">
            <a:xfrm>
              <a:off x="596514" y="3504220"/>
              <a:ext cx="539535" cy="194756"/>
            </a:xfrm>
            <a:prstGeom prst="rect">
              <a:avLst/>
            </a:prstGeom>
            <a:solidFill>
              <a:srgbClr val="3061A3"/>
            </a:solidFill>
            <a:ln w="9525" cap="flat" cmpd="sng" algn="ctr">
              <a:noFill/>
              <a:prstDash val="solid"/>
              <a:round/>
              <a:headEnd type="none" w="med" len="med"/>
              <a:tailEnd type="none" w="med" len="med"/>
            </a:ln>
            <a:effectLst/>
          </p:spPr>
          <p:txBody>
            <a:bodyPr vert="horz" wrap="square" lIns="36000" tIns="0" rIns="36000" bIns="0" numCol="1" rtlCol="0" anchor="ctr" anchorCtr="0" compatLnSpc="1">
              <a:prstTxWarp prst="textNoShape">
                <a:avLst/>
              </a:prstTxWarp>
              <a:noAutofit/>
            </a:bodyPr>
            <a:lstStyle/>
            <a:p>
              <a:pPr eaLnBrk="1" fontAlgn="auto" latinLnBrk="0" hangingPunct="1">
                <a:spcBef>
                  <a:spcPts val="0"/>
                </a:spcBef>
                <a:spcAft>
                  <a:spcPts val="0"/>
                </a:spcAft>
                <a:buNone/>
              </a:pPr>
              <a:r>
                <a:rPr lang="en-US" altLang="ko-KR" sz="1050" kern="0" dirty="0">
                  <a:ln>
                    <a:solidFill>
                      <a:srgbClr val="000000">
                        <a:alpha val="5000"/>
                      </a:srgbClr>
                    </a:solidFill>
                  </a:ln>
                  <a:solidFill>
                    <a:prstClr val="white"/>
                  </a:solidFill>
                  <a:latin typeface="a고딕16" panose="02020600000000000000" pitchFamily="18" charset="-127"/>
                  <a:ea typeface="a고딕16" panose="02020600000000000000" pitchFamily="18" charset="-127"/>
                </a:rPr>
                <a:t>Issue 1 </a:t>
              </a:r>
            </a:p>
          </p:txBody>
        </p:sp>
      </p:grpSp>
      <p:sp>
        <p:nvSpPr>
          <p:cNvPr id="23" name="직사각형 22">
            <a:extLst>
              <a:ext uri="{FF2B5EF4-FFF2-40B4-BE49-F238E27FC236}">
                <a16:creationId xmlns:a16="http://schemas.microsoft.com/office/drawing/2014/main" id="{287BDE47-C355-68D2-B771-D1FD09F25571}"/>
              </a:ext>
            </a:extLst>
          </p:cNvPr>
          <p:cNvSpPr/>
          <p:nvPr/>
        </p:nvSpPr>
        <p:spPr>
          <a:xfrm>
            <a:off x="6465381" y="2327096"/>
            <a:ext cx="2880000" cy="684075"/>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latinLnBrk="0">
              <a:buNone/>
            </a:pPr>
            <a:r>
              <a:rPr lang="ko-KR" altLang="en-US" dirty="0">
                <a:solidFill>
                  <a:schemeClr val="tx1"/>
                </a:solidFill>
                <a:latin typeface="Arial Narrow" panose="020B0606020202030204" pitchFamily="34" charset="0"/>
                <a:ea typeface="a고딕14" panose="02020600000000000000" pitchFamily="18" charset="-127"/>
              </a:rPr>
              <a:t>자격연계와 경력이동 체계 등을 </a:t>
            </a:r>
            <a:br>
              <a:rPr lang="en-US" altLang="ko-KR" dirty="0">
                <a:solidFill>
                  <a:schemeClr val="tx1"/>
                </a:solidFill>
                <a:latin typeface="Arial Narrow" panose="020B0606020202030204" pitchFamily="34" charset="0"/>
                <a:ea typeface="a고딕14" panose="02020600000000000000" pitchFamily="18" charset="-127"/>
              </a:rPr>
            </a:br>
            <a:r>
              <a:rPr lang="ko-KR" altLang="en-US" dirty="0">
                <a:solidFill>
                  <a:schemeClr val="tx1"/>
                </a:solidFill>
                <a:latin typeface="Arial Narrow" panose="020B0606020202030204" pitchFamily="34" charset="0"/>
                <a:ea typeface="a고딕14" panose="02020600000000000000" pitchFamily="18" charset="-127"/>
              </a:rPr>
              <a:t>고려한 훈련 흐름도</a:t>
            </a:r>
          </a:p>
        </p:txBody>
      </p:sp>
      <p:sp>
        <p:nvSpPr>
          <p:cNvPr id="24" name="직사각형 23">
            <a:extLst>
              <a:ext uri="{FF2B5EF4-FFF2-40B4-BE49-F238E27FC236}">
                <a16:creationId xmlns:a16="http://schemas.microsoft.com/office/drawing/2014/main" id="{8422666B-FD68-0C5E-D202-0359363A1EBF}"/>
              </a:ext>
            </a:extLst>
          </p:cNvPr>
          <p:cNvSpPr/>
          <p:nvPr/>
        </p:nvSpPr>
        <p:spPr>
          <a:xfrm>
            <a:off x="3529577" y="2323039"/>
            <a:ext cx="2880000" cy="684075"/>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latinLnBrk="0">
              <a:buNone/>
            </a:pPr>
            <a:r>
              <a:rPr lang="ko-KR" altLang="en-US" dirty="0">
                <a:solidFill>
                  <a:schemeClr val="tx1"/>
                </a:solidFill>
                <a:latin typeface="Arial Narrow" panose="020B0606020202030204" pitchFamily="34" charset="0"/>
                <a:ea typeface="a고딕14" panose="02020600000000000000" pitchFamily="18" charset="-127"/>
              </a:rPr>
              <a:t>훈련과정별 </a:t>
            </a:r>
            <a:r>
              <a:rPr lang="ko-KR" altLang="en-US">
                <a:solidFill>
                  <a:schemeClr val="tx1"/>
                </a:solidFill>
                <a:latin typeface="Arial Narrow" panose="020B0606020202030204" pitchFamily="34" charset="0"/>
                <a:ea typeface="a고딕14" panose="02020600000000000000" pitchFamily="18" charset="-127"/>
              </a:rPr>
              <a:t>능력단위를 </a:t>
            </a:r>
            <a:endParaRPr lang="en-US" altLang="ko-KR">
              <a:solidFill>
                <a:schemeClr val="tx1"/>
              </a:solidFill>
              <a:latin typeface="Arial Narrow" panose="020B0606020202030204" pitchFamily="34" charset="0"/>
              <a:ea typeface="a고딕14" panose="02020600000000000000" pitchFamily="18" charset="-127"/>
            </a:endParaRPr>
          </a:p>
          <a:p>
            <a:pPr latinLnBrk="0">
              <a:buNone/>
            </a:pPr>
            <a:r>
              <a:rPr lang="ko-KR" altLang="en-US">
                <a:solidFill>
                  <a:schemeClr val="tx1"/>
                </a:solidFill>
                <a:latin typeface="Arial Narrow" panose="020B0606020202030204" pitchFamily="34" charset="0"/>
                <a:ea typeface="a고딕14" panose="02020600000000000000" pitchFamily="18" charset="-127"/>
              </a:rPr>
              <a:t>직무별 능력단위와 매칭함</a:t>
            </a:r>
            <a:endParaRPr lang="ko-KR" altLang="en-US" dirty="0">
              <a:solidFill>
                <a:schemeClr val="tx1"/>
              </a:solidFill>
              <a:latin typeface="Arial Narrow" panose="020B0606020202030204" pitchFamily="34" charset="0"/>
              <a:ea typeface="a고딕14" panose="02020600000000000000" pitchFamily="18" charset="-127"/>
            </a:endParaRPr>
          </a:p>
        </p:txBody>
      </p:sp>
      <p:grpSp>
        <p:nvGrpSpPr>
          <p:cNvPr id="25" name="그룹 24">
            <a:extLst>
              <a:ext uri="{FF2B5EF4-FFF2-40B4-BE49-F238E27FC236}">
                <a16:creationId xmlns:a16="http://schemas.microsoft.com/office/drawing/2014/main" id="{D1E9197E-AFCC-8CB8-AB23-B3EC33E8BD22}"/>
              </a:ext>
            </a:extLst>
          </p:cNvPr>
          <p:cNvGrpSpPr/>
          <p:nvPr/>
        </p:nvGrpSpPr>
        <p:grpSpPr>
          <a:xfrm>
            <a:off x="3529577" y="3527193"/>
            <a:ext cx="2880000" cy="837911"/>
            <a:chOff x="3531063" y="3531137"/>
            <a:chExt cx="2880000" cy="837911"/>
          </a:xfrm>
        </p:grpSpPr>
        <p:sp>
          <p:nvSpPr>
            <p:cNvPr id="26" name="직사각형 25">
              <a:extLst>
                <a:ext uri="{FF2B5EF4-FFF2-40B4-BE49-F238E27FC236}">
                  <a16:creationId xmlns:a16="http://schemas.microsoft.com/office/drawing/2014/main" id="{5D389C58-6039-3ACA-E073-714D2EB041EC}"/>
                </a:ext>
              </a:extLst>
            </p:cNvPr>
            <p:cNvSpPr/>
            <p:nvPr/>
          </p:nvSpPr>
          <p:spPr>
            <a:xfrm>
              <a:off x="3531063" y="3531137"/>
              <a:ext cx="2880000" cy="837911"/>
            </a:xfrm>
            <a:prstGeom prst="rect">
              <a:avLst/>
            </a:prstGeom>
            <a:solidFill>
              <a:srgbClr val="DCF1F9"/>
            </a:solidFill>
            <a:ln w="6350" cap="flat" cmpd="sng" algn="ctr">
              <a:solidFill>
                <a:srgbClr val="BFBFBF"/>
              </a:solidFill>
              <a:prstDash val="solid"/>
            </a:ln>
            <a:effectLst/>
          </p:spPr>
          <p:txBody>
            <a:bodyPr lIns="36000" tIns="108000" rIns="36000" bIns="0" rtlCol="0" anchor="ctr"/>
            <a:lstStyle/>
            <a:p>
              <a:pPr eaLnBrk="1" fontAlgn="auto" latinLnBrk="0" hangingPunct="1">
                <a:spcBef>
                  <a:spcPts val="0"/>
                </a:spcBef>
                <a:spcAft>
                  <a:spcPts val="0"/>
                </a:spcAft>
                <a:buNone/>
              </a:pPr>
              <a:r>
                <a:rPr lang="ko-KR" altLang="en-US" kern="0">
                  <a:solidFill>
                    <a:prstClr val="black"/>
                  </a:solidFill>
                  <a:latin typeface="Arial Narrow" panose="020B0606020202030204" pitchFamily="34" charset="0"/>
                  <a:ea typeface="a고딕14" panose="02020600000000000000" pitchFamily="18" charset="-127"/>
                  <a:cs typeface="Arial" pitchFamily="34" charset="0"/>
                </a:rPr>
                <a:t>능력단위의 수준이 훈련내용의 </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수준을 </a:t>
              </a:r>
              <a:endParaRPr lang="en-US" altLang="ko-KR" kern="0" dirty="0">
                <a:solidFill>
                  <a:prstClr val="black"/>
                </a:solidFill>
                <a:latin typeface="Arial Narrow" panose="020B0606020202030204" pitchFamily="34" charset="0"/>
                <a:ea typeface="a고딕14" panose="02020600000000000000" pitchFamily="18" charset="-127"/>
                <a:cs typeface="Arial" pitchFamily="34" charset="0"/>
              </a:endParaRPr>
            </a:p>
            <a:p>
              <a:pPr eaLnBrk="1" fontAlgn="auto" latinLnBrk="0" hangingPunct="1">
                <a:spcBef>
                  <a:spcPts val="0"/>
                </a:spcBef>
                <a:spcAft>
                  <a:spcPts val="0"/>
                </a:spcAft>
                <a:buNone/>
              </a:pP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설명할 수 있는가</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p>
          </p:txBody>
        </p:sp>
        <p:sp>
          <p:nvSpPr>
            <p:cNvPr id="27" name="직사각형 26">
              <a:extLst>
                <a:ext uri="{FF2B5EF4-FFF2-40B4-BE49-F238E27FC236}">
                  <a16:creationId xmlns:a16="http://schemas.microsoft.com/office/drawing/2014/main" id="{87D2E816-1976-9972-7103-83EB5BFA9084}"/>
                </a:ext>
              </a:extLst>
            </p:cNvPr>
            <p:cNvSpPr/>
            <p:nvPr/>
          </p:nvSpPr>
          <p:spPr bwMode="auto">
            <a:xfrm>
              <a:off x="3531063" y="3531137"/>
              <a:ext cx="539535" cy="194756"/>
            </a:xfrm>
            <a:prstGeom prst="rect">
              <a:avLst/>
            </a:prstGeom>
            <a:solidFill>
              <a:srgbClr val="3061A3"/>
            </a:solidFill>
            <a:ln w="9525" cap="flat" cmpd="sng" algn="ctr">
              <a:noFill/>
              <a:prstDash val="solid"/>
              <a:round/>
              <a:headEnd type="none" w="med" len="med"/>
              <a:tailEnd type="none" w="med" len="med"/>
            </a:ln>
            <a:effectLst/>
          </p:spPr>
          <p:txBody>
            <a:bodyPr vert="horz" wrap="square" lIns="36000" tIns="0" rIns="36000" bIns="0" numCol="1" rtlCol="0" anchor="ctr" anchorCtr="0" compatLnSpc="1">
              <a:prstTxWarp prst="textNoShape">
                <a:avLst/>
              </a:prstTxWarp>
              <a:noAutofit/>
            </a:bodyPr>
            <a:lstStyle/>
            <a:p>
              <a:pPr eaLnBrk="1" fontAlgn="auto" latinLnBrk="0" hangingPunct="1">
                <a:spcBef>
                  <a:spcPts val="0"/>
                </a:spcBef>
                <a:spcAft>
                  <a:spcPts val="0"/>
                </a:spcAft>
                <a:buNone/>
              </a:pPr>
              <a:r>
                <a:rPr lang="en-US" altLang="ko-KR" sz="1050" kern="0" dirty="0">
                  <a:ln>
                    <a:solidFill>
                      <a:srgbClr val="000000">
                        <a:alpha val="5000"/>
                      </a:srgbClr>
                    </a:solidFill>
                  </a:ln>
                  <a:solidFill>
                    <a:prstClr val="white"/>
                  </a:solidFill>
                  <a:latin typeface="a고딕16" panose="02020600000000000000" pitchFamily="18" charset="-127"/>
                  <a:ea typeface="a고딕16" panose="02020600000000000000" pitchFamily="18" charset="-127"/>
                </a:rPr>
                <a:t>Issue 2 </a:t>
              </a:r>
            </a:p>
          </p:txBody>
        </p:sp>
      </p:grpSp>
      <p:grpSp>
        <p:nvGrpSpPr>
          <p:cNvPr id="28" name="그룹 27">
            <a:extLst>
              <a:ext uri="{FF2B5EF4-FFF2-40B4-BE49-F238E27FC236}">
                <a16:creationId xmlns:a16="http://schemas.microsoft.com/office/drawing/2014/main" id="{C537FD0F-303A-F711-2805-CAD7498A8F71}"/>
              </a:ext>
            </a:extLst>
          </p:cNvPr>
          <p:cNvGrpSpPr/>
          <p:nvPr/>
        </p:nvGrpSpPr>
        <p:grpSpPr>
          <a:xfrm>
            <a:off x="6465381" y="3527193"/>
            <a:ext cx="2880000" cy="837911"/>
            <a:chOff x="6464687" y="3531137"/>
            <a:chExt cx="2880000" cy="837911"/>
          </a:xfrm>
        </p:grpSpPr>
        <p:sp>
          <p:nvSpPr>
            <p:cNvPr id="29" name="직사각형 28">
              <a:extLst>
                <a:ext uri="{FF2B5EF4-FFF2-40B4-BE49-F238E27FC236}">
                  <a16:creationId xmlns:a16="http://schemas.microsoft.com/office/drawing/2014/main" id="{3C30CC2B-2714-2798-D252-49138C3B18CB}"/>
                </a:ext>
              </a:extLst>
            </p:cNvPr>
            <p:cNvSpPr/>
            <p:nvPr/>
          </p:nvSpPr>
          <p:spPr>
            <a:xfrm>
              <a:off x="6464687" y="3531137"/>
              <a:ext cx="2880000" cy="837911"/>
            </a:xfrm>
            <a:prstGeom prst="rect">
              <a:avLst/>
            </a:prstGeom>
            <a:solidFill>
              <a:srgbClr val="DCF1F9"/>
            </a:solidFill>
            <a:ln w="6350" cap="flat" cmpd="sng" algn="ctr">
              <a:solidFill>
                <a:srgbClr val="BFBFBF"/>
              </a:solidFill>
              <a:prstDash val="solid"/>
            </a:ln>
            <a:effectLst/>
          </p:spPr>
          <p:txBody>
            <a:bodyPr lIns="36000" tIns="108000" rIns="36000" bIns="0" rtlCol="0" anchor="ctr"/>
            <a:lstStyle/>
            <a:p>
              <a:pPr eaLnBrk="1" fontAlgn="auto" latinLnBrk="0" hangingPunct="1">
                <a:spcBef>
                  <a:spcPts val="0"/>
                </a:spcBef>
                <a:spcAft>
                  <a:spcPts val="0"/>
                </a:spcAft>
                <a:buNone/>
              </a:pPr>
              <a:r>
                <a:rPr lang="ko-KR" altLang="en-US" kern="0">
                  <a:solidFill>
                    <a:prstClr val="black"/>
                  </a:solidFill>
                  <a:latin typeface="Arial Narrow" panose="020B0606020202030204" pitchFamily="34" charset="0"/>
                  <a:ea typeface="a고딕14" panose="02020600000000000000" pitchFamily="18" charset="-127"/>
                  <a:cs typeface="Arial" pitchFamily="34" charset="0"/>
                </a:rPr>
                <a:t>학습흐름의 초점은 </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무엇인가</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p>
            <a:p>
              <a:pPr eaLnBrk="1" fontAlgn="auto" latinLnBrk="0" hangingPunct="1">
                <a:spcBef>
                  <a:spcPts val="0"/>
                </a:spcBef>
                <a:spcAft>
                  <a:spcPts val="0"/>
                </a:spcAft>
                <a:buNone/>
              </a:pP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자격취득</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 </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직무전문성</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 </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함양 등</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p>
          </p:txBody>
        </p:sp>
        <p:sp>
          <p:nvSpPr>
            <p:cNvPr id="30" name="직사각형 29">
              <a:extLst>
                <a:ext uri="{FF2B5EF4-FFF2-40B4-BE49-F238E27FC236}">
                  <a16:creationId xmlns:a16="http://schemas.microsoft.com/office/drawing/2014/main" id="{7CD40804-D42A-F81E-1FA5-73731AB90447}"/>
                </a:ext>
              </a:extLst>
            </p:cNvPr>
            <p:cNvSpPr/>
            <p:nvPr/>
          </p:nvSpPr>
          <p:spPr bwMode="auto">
            <a:xfrm>
              <a:off x="6464687" y="3531137"/>
              <a:ext cx="539535" cy="194756"/>
            </a:xfrm>
            <a:prstGeom prst="rect">
              <a:avLst/>
            </a:prstGeom>
            <a:solidFill>
              <a:srgbClr val="3061A3"/>
            </a:solidFill>
            <a:ln w="9525" cap="flat" cmpd="sng" algn="ctr">
              <a:noFill/>
              <a:prstDash val="solid"/>
              <a:round/>
              <a:headEnd type="none" w="med" len="med"/>
              <a:tailEnd type="none" w="med" len="med"/>
            </a:ln>
            <a:effectLst/>
          </p:spPr>
          <p:txBody>
            <a:bodyPr vert="horz" wrap="square" lIns="36000" tIns="0" rIns="36000" bIns="0" numCol="1" rtlCol="0" anchor="ctr" anchorCtr="0" compatLnSpc="1">
              <a:prstTxWarp prst="textNoShape">
                <a:avLst/>
              </a:prstTxWarp>
              <a:noAutofit/>
            </a:bodyPr>
            <a:lstStyle/>
            <a:p>
              <a:pPr eaLnBrk="1" fontAlgn="auto" latinLnBrk="0" hangingPunct="1">
                <a:spcBef>
                  <a:spcPts val="0"/>
                </a:spcBef>
                <a:spcAft>
                  <a:spcPts val="0"/>
                </a:spcAft>
                <a:buNone/>
              </a:pPr>
              <a:r>
                <a:rPr lang="en-US" altLang="ko-KR" sz="1050" kern="0" dirty="0">
                  <a:ln>
                    <a:solidFill>
                      <a:srgbClr val="000000">
                        <a:alpha val="5000"/>
                      </a:srgbClr>
                    </a:solidFill>
                  </a:ln>
                  <a:solidFill>
                    <a:prstClr val="white"/>
                  </a:solidFill>
                  <a:latin typeface="a고딕16" panose="02020600000000000000" pitchFamily="18" charset="-127"/>
                  <a:ea typeface="a고딕16" panose="02020600000000000000" pitchFamily="18" charset="-127"/>
                </a:rPr>
                <a:t>Issue 3 </a:t>
              </a:r>
            </a:p>
          </p:txBody>
        </p:sp>
      </p:grpSp>
      <p:sp>
        <p:nvSpPr>
          <p:cNvPr id="31" name="오른쪽 화살표 8">
            <a:extLst>
              <a:ext uri="{FF2B5EF4-FFF2-40B4-BE49-F238E27FC236}">
                <a16:creationId xmlns:a16="http://schemas.microsoft.com/office/drawing/2014/main" id="{FE9D1C99-7378-36A6-CFB1-8DF083FC4D8A}"/>
              </a:ext>
            </a:extLst>
          </p:cNvPr>
          <p:cNvSpPr/>
          <p:nvPr/>
        </p:nvSpPr>
        <p:spPr>
          <a:xfrm rot="5400000">
            <a:off x="4807577" y="3095550"/>
            <a:ext cx="324000"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32" name="오른쪽 화살표 8">
            <a:extLst>
              <a:ext uri="{FF2B5EF4-FFF2-40B4-BE49-F238E27FC236}">
                <a16:creationId xmlns:a16="http://schemas.microsoft.com/office/drawing/2014/main" id="{6F9BD1F3-2816-567D-BCFB-15184E42CB71}"/>
              </a:ext>
            </a:extLst>
          </p:cNvPr>
          <p:cNvSpPr/>
          <p:nvPr/>
        </p:nvSpPr>
        <p:spPr>
          <a:xfrm rot="5400000">
            <a:off x="7743381" y="3097579"/>
            <a:ext cx="324000"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33" name="직사각형 32">
            <a:extLst>
              <a:ext uri="{FF2B5EF4-FFF2-40B4-BE49-F238E27FC236}">
                <a16:creationId xmlns:a16="http://schemas.microsoft.com/office/drawing/2014/main" id="{962012E7-57D9-32C2-E420-DD12E73A9B1F}"/>
              </a:ext>
            </a:extLst>
          </p:cNvPr>
          <p:cNvSpPr/>
          <p:nvPr/>
        </p:nvSpPr>
        <p:spPr>
          <a:xfrm>
            <a:off x="593541" y="4401108"/>
            <a:ext cx="2880000" cy="174670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36000" rIns="144000" rtlCol="0" anchor="t"/>
          <a:lstStyle/>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현황</a:t>
            </a:r>
            <a:r>
              <a:rPr lang="en-US" altLang="ko-KR">
                <a:solidFill>
                  <a:schemeClr val="tx1"/>
                </a:solidFill>
                <a:latin typeface="Arial Narrow" panose="020B0606020202030204" pitchFamily="34" charset="0"/>
                <a:ea typeface="a고딕14" panose="02020600000000000000" pitchFamily="18" charset="-127"/>
              </a:rPr>
              <a:t>) </a:t>
            </a:r>
            <a:r>
              <a:rPr lang="ko-KR" altLang="en-US">
                <a:solidFill>
                  <a:schemeClr val="tx1"/>
                </a:solidFill>
                <a:latin typeface="Arial Narrow" panose="020B0606020202030204" pitchFamily="34" charset="0"/>
                <a:ea typeface="a고딕14" panose="02020600000000000000" pitchFamily="18" charset="-127"/>
              </a:rPr>
              <a:t>현재 여러 체계가 혼재되어 있음</a:t>
            </a:r>
            <a:endParaRPr lang="en-US" altLang="ko-KR">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대안</a:t>
            </a:r>
            <a:r>
              <a:rPr lang="en-US" altLang="ko-KR">
                <a:solidFill>
                  <a:schemeClr val="tx1"/>
                </a:solidFill>
                <a:latin typeface="Arial Narrow" panose="020B0606020202030204" pitchFamily="34" charset="0"/>
                <a:ea typeface="a고딕14" panose="02020600000000000000" pitchFamily="18" charset="-127"/>
              </a:rPr>
              <a:t>1)</a:t>
            </a:r>
            <a:r>
              <a:rPr lang="ko-KR" altLang="en-US">
                <a:solidFill>
                  <a:schemeClr val="tx1"/>
                </a:solidFill>
                <a:latin typeface="Arial Narrow" panose="020B0606020202030204" pitchFamily="34" charset="0"/>
                <a:ea typeface="a고딕14" panose="02020600000000000000" pitchFamily="18" charset="-127"/>
              </a:rPr>
              <a:t> </a:t>
            </a:r>
            <a:r>
              <a:rPr lang="en-US" altLang="ko-KR">
                <a:solidFill>
                  <a:srgbClr val="0070C0"/>
                </a:solidFill>
                <a:latin typeface="Arial Narrow" panose="020B0606020202030204" pitchFamily="34" charset="0"/>
                <a:ea typeface="a고딕14" panose="02020600000000000000" pitchFamily="18" charset="-127"/>
              </a:rPr>
              <a:t>SQF</a:t>
            </a:r>
            <a:r>
              <a:rPr lang="ko-KR" altLang="en-US">
                <a:solidFill>
                  <a:srgbClr val="0070C0"/>
                </a:solidFill>
                <a:latin typeface="Arial Narrow" panose="020B0606020202030204" pitchFamily="34" charset="0"/>
                <a:ea typeface="a고딕14" panose="02020600000000000000" pitchFamily="18" charset="-127"/>
              </a:rPr>
              <a:t>의 성숙도가 높은 산업</a:t>
            </a:r>
            <a:r>
              <a:rPr lang="ko-KR" altLang="en-US">
                <a:solidFill>
                  <a:schemeClr val="tx1"/>
                </a:solidFill>
                <a:latin typeface="Arial Narrow" panose="020B0606020202030204" pitchFamily="34" charset="0"/>
                <a:ea typeface="a고딕14" panose="02020600000000000000" pitchFamily="18" charset="-127"/>
              </a:rPr>
              <a:t> 분야를 선정해 우선 개발하는 방안 </a:t>
            </a:r>
            <a:endParaRPr lang="en-US" altLang="ko-KR">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대안</a:t>
            </a:r>
            <a:r>
              <a:rPr lang="en-US" altLang="ko-KR">
                <a:solidFill>
                  <a:schemeClr val="tx1"/>
                </a:solidFill>
                <a:latin typeface="Arial Narrow" panose="020B0606020202030204" pitchFamily="34" charset="0"/>
                <a:ea typeface="a고딕14" panose="02020600000000000000" pitchFamily="18" charset="-127"/>
              </a:rPr>
              <a:t>2) SQF</a:t>
            </a:r>
            <a:r>
              <a:rPr lang="ko-KR" altLang="en-US" dirty="0">
                <a:solidFill>
                  <a:schemeClr val="tx1"/>
                </a:solidFill>
                <a:latin typeface="Arial Narrow" panose="020B0606020202030204" pitchFamily="34" charset="0"/>
                <a:ea typeface="a고딕14" panose="02020600000000000000" pitchFamily="18" charset="-127"/>
              </a:rPr>
              <a:t>보다 변동가능성이 보다 적은</a:t>
            </a:r>
            <a:br>
              <a:rPr lang="en-US" altLang="ko-KR" dirty="0">
                <a:solidFill>
                  <a:schemeClr val="tx1"/>
                </a:solidFill>
                <a:latin typeface="Arial Narrow" panose="020B0606020202030204" pitchFamily="34" charset="0"/>
                <a:ea typeface="a고딕14" panose="02020600000000000000" pitchFamily="18" charset="-127"/>
              </a:rPr>
            </a:br>
            <a:r>
              <a:rPr lang="en-US" altLang="ko-KR" dirty="0">
                <a:solidFill>
                  <a:srgbClr val="0070C0"/>
                </a:solidFill>
                <a:latin typeface="Arial Narrow" panose="020B0606020202030204" pitchFamily="34" charset="0"/>
                <a:ea typeface="a고딕14" panose="02020600000000000000" pitchFamily="18" charset="-127"/>
              </a:rPr>
              <a:t>NCS </a:t>
            </a:r>
            <a:r>
              <a:rPr lang="ko-KR" altLang="en-US" dirty="0">
                <a:solidFill>
                  <a:srgbClr val="0070C0"/>
                </a:solidFill>
                <a:latin typeface="Arial Narrow" panose="020B0606020202030204" pitchFamily="34" charset="0"/>
                <a:ea typeface="a고딕14" panose="02020600000000000000" pitchFamily="18" charset="-127"/>
              </a:rPr>
              <a:t>경력개발경로모형과</a:t>
            </a:r>
            <a:r>
              <a:rPr lang="en-US" altLang="ko-KR" dirty="0">
                <a:solidFill>
                  <a:srgbClr val="0070C0"/>
                </a:solidFill>
                <a:latin typeface="Arial Narrow" panose="020B0606020202030204" pitchFamily="34" charset="0"/>
                <a:ea typeface="a고딕14" panose="02020600000000000000" pitchFamily="18" charset="-127"/>
              </a:rPr>
              <a:t> </a:t>
            </a:r>
            <a:r>
              <a:rPr lang="ko-KR" altLang="en-US">
                <a:solidFill>
                  <a:srgbClr val="0070C0"/>
                </a:solidFill>
                <a:latin typeface="Arial Narrow" panose="020B0606020202030204" pitchFamily="34" charset="0"/>
                <a:ea typeface="a고딕14" panose="02020600000000000000" pitchFamily="18" charset="-127"/>
              </a:rPr>
              <a:t>분류체계를 일괄적으로 적용</a:t>
            </a:r>
            <a:r>
              <a:rPr lang="ko-KR" altLang="en-US">
                <a:solidFill>
                  <a:schemeClr val="tx1"/>
                </a:solidFill>
                <a:latin typeface="Arial Narrow" panose="020B0606020202030204" pitchFamily="34" charset="0"/>
                <a:ea typeface="a고딕14" panose="02020600000000000000" pitchFamily="18" charset="-127"/>
              </a:rPr>
              <a:t>하는 방안 등</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endParaRPr lang="ko-KR" altLang="en-US" dirty="0">
              <a:solidFill>
                <a:schemeClr val="tx1"/>
              </a:solidFill>
              <a:latin typeface="Arial Narrow" panose="020B0606020202030204" pitchFamily="34" charset="0"/>
              <a:ea typeface="a고딕14" panose="02020600000000000000" pitchFamily="18" charset="-127"/>
            </a:endParaRPr>
          </a:p>
        </p:txBody>
      </p:sp>
      <p:sp>
        <p:nvSpPr>
          <p:cNvPr id="34" name="직사각형 33">
            <a:extLst>
              <a:ext uri="{FF2B5EF4-FFF2-40B4-BE49-F238E27FC236}">
                <a16:creationId xmlns:a16="http://schemas.microsoft.com/office/drawing/2014/main" id="{6984F15C-AA81-A6D3-D856-A3B53E3B2DE8}"/>
              </a:ext>
            </a:extLst>
          </p:cNvPr>
          <p:cNvSpPr/>
          <p:nvPr/>
        </p:nvSpPr>
        <p:spPr>
          <a:xfrm>
            <a:off x="3529577" y="4401108"/>
            <a:ext cx="2880000" cy="174670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36000" rIns="144000" rtlCol="0" anchor="t"/>
          <a:lstStyle/>
          <a:p>
            <a:pPr marL="171450" indent="-171450" algn="l" latinLnBrk="0">
              <a:spcAft>
                <a:spcPts val="1200"/>
              </a:spcAft>
              <a:buFont typeface="Arial" panose="020B0604020202020204" pitchFamily="34" charset="0"/>
              <a:buChar char="•"/>
            </a:pPr>
            <a:r>
              <a:rPr lang="en-US" altLang="ko-KR" dirty="0">
                <a:solidFill>
                  <a:schemeClr val="tx1"/>
                </a:solidFill>
                <a:latin typeface="Arial Narrow" panose="020B0606020202030204" pitchFamily="34" charset="0"/>
                <a:ea typeface="a고딕14" panose="02020600000000000000" pitchFamily="18" charset="-127"/>
              </a:rPr>
              <a:t>(</a:t>
            </a:r>
            <a:r>
              <a:rPr lang="ko-KR" altLang="en-US" dirty="0">
                <a:solidFill>
                  <a:schemeClr val="tx1"/>
                </a:solidFill>
                <a:latin typeface="Arial Narrow" panose="020B0606020202030204" pitchFamily="34" charset="0"/>
                <a:ea typeface="a고딕14" panose="02020600000000000000" pitchFamily="18" charset="-127"/>
              </a:rPr>
              <a:t>현황</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현재 훈련과정의 수준을 훈련과정을 구성한 능력단위 중 다수의 능력단위 수준으로 보고 있음</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dirty="0">
                <a:solidFill>
                  <a:schemeClr val="tx1"/>
                </a:solidFill>
                <a:latin typeface="Arial Narrow" panose="020B0606020202030204" pitchFamily="34" charset="0"/>
                <a:ea typeface="a고딕14" panose="02020600000000000000" pitchFamily="18" charset="-127"/>
              </a:rPr>
              <a:t>(</a:t>
            </a:r>
            <a:r>
              <a:rPr lang="ko-KR" altLang="en-US" dirty="0">
                <a:solidFill>
                  <a:schemeClr val="tx1"/>
                </a:solidFill>
                <a:latin typeface="Arial Narrow" panose="020B0606020202030204" pitchFamily="34" charset="0"/>
                <a:ea typeface="a고딕14" panose="02020600000000000000" pitchFamily="18" charset="-127"/>
              </a:rPr>
              <a:t>대안</a:t>
            </a:r>
            <a:r>
              <a:rPr lang="en-US" altLang="ko-KR" dirty="0">
                <a:solidFill>
                  <a:schemeClr val="tx1"/>
                </a:solidFill>
                <a:latin typeface="Arial Narrow" panose="020B0606020202030204" pitchFamily="34" charset="0"/>
                <a:ea typeface="a고딕14" panose="02020600000000000000" pitchFamily="18" charset="-127"/>
              </a:rPr>
              <a:t>1) </a:t>
            </a:r>
            <a:r>
              <a:rPr lang="ko-KR" altLang="en-US" dirty="0">
                <a:solidFill>
                  <a:schemeClr val="tx1"/>
                </a:solidFill>
                <a:latin typeface="Arial Narrow" panose="020B0606020202030204" pitchFamily="34" charset="0"/>
                <a:ea typeface="a고딕14" panose="02020600000000000000" pitchFamily="18" charset="-127"/>
              </a:rPr>
              <a:t>학습의 흐름이 </a:t>
            </a:r>
            <a:r>
              <a:rPr lang="ko-KR" altLang="en-US" dirty="0">
                <a:solidFill>
                  <a:srgbClr val="0070C0"/>
                </a:solidFill>
                <a:latin typeface="Arial Narrow" panose="020B0606020202030204" pitchFamily="34" charset="0"/>
                <a:ea typeface="a고딕14" panose="02020600000000000000" pitchFamily="18" charset="-127"/>
              </a:rPr>
              <a:t>능력단위의 수준이 낮은 과정에서 높은 과정 순으로 진행</a:t>
            </a:r>
            <a:r>
              <a:rPr lang="ko-KR" altLang="en-US" dirty="0">
                <a:solidFill>
                  <a:schemeClr val="tx1"/>
                </a:solidFill>
                <a:latin typeface="Arial Narrow" panose="020B0606020202030204" pitchFamily="34" charset="0"/>
                <a:ea typeface="a고딕14" panose="02020600000000000000" pitchFamily="18" charset="-127"/>
              </a:rPr>
              <a:t>한다고 작성하는 방안</a:t>
            </a:r>
          </a:p>
          <a:p>
            <a:pPr marL="171450" indent="-171450" algn="l" latinLnBrk="0">
              <a:spcAft>
                <a:spcPts val="1200"/>
              </a:spcAft>
              <a:buFont typeface="Arial" panose="020B0604020202020204" pitchFamily="34" charset="0"/>
              <a:buChar char="•"/>
            </a:pPr>
            <a:r>
              <a:rPr lang="en-US" altLang="ko-KR" dirty="0">
                <a:solidFill>
                  <a:schemeClr val="tx1"/>
                </a:solidFill>
                <a:latin typeface="Arial Narrow" panose="020B0606020202030204" pitchFamily="34" charset="0"/>
                <a:ea typeface="a고딕14" panose="02020600000000000000" pitchFamily="18" charset="-127"/>
              </a:rPr>
              <a:t>(</a:t>
            </a:r>
            <a:r>
              <a:rPr lang="ko-KR" altLang="en-US" dirty="0">
                <a:solidFill>
                  <a:schemeClr val="tx1"/>
                </a:solidFill>
                <a:latin typeface="Arial Narrow" panose="020B0606020202030204" pitchFamily="34" charset="0"/>
                <a:ea typeface="a고딕14" panose="02020600000000000000" pitchFamily="18" charset="-127"/>
              </a:rPr>
              <a:t>대안</a:t>
            </a:r>
            <a:r>
              <a:rPr lang="en-US" altLang="ko-KR" dirty="0">
                <a:solidFill>
                  <a:schemeClr val="tx1"/>
                </a:solidFill>
                <a:latin typeface="Arial Narrow" panose="020B0606020202030204" pitchFamily="34" charset="0"/>
                <a:ea typeface="a고딕14" panose="02020600000000000000" pitchFamily="18" charset="-127"/>
              </a:rPr>
              <a:t>2) </a:t>
            </a:r>
            <a:r>
              <a:rPr lang="ko-KR" altLang="en-US" dirty="0">
                <a:solidFill>
                  <a:schemeClr val="tx1"/>
                </a:solidFill>
                <a:latin typeface="Arial Narrow" panose="020B0606020202030204" pitchFamily="34" charset="0"/>
                <a:ea typeface="a고딕14" panose="02020600000000000000" pitchFamily="18" charset="-127"/>
              </a:rPr>
              <a:t>직무별 </a:t>
            </a:r>
            <a:r>
              <a:rPr lang="ko-KR" altLang="en-US" dirty="0">
                <a:solidFill>
                  <a:srgbClr val="0070C0"/>
                </a:solidFill>
                <a:latin typeface="Arial Narrow" panose="020B0606020202030204" pitchFamily="34" charset="0"/>
                <a:ea typeface="a고딕14" panose="02020600000000000000" pitchFamily="18" charset="-127"/>
              </a:rPr>
              <a:t>경력경로가 학습의 흐름과 동일</a:t>
            </a:r>
            <a:r>
              <a:rPr lang="ko-KR" altLang="en-US" dirty="0">
                <a:solidFill>
                  <a:schemeClr val="tx1"/>
                </a:solidFill>
                <a:latin typeface="Arial Narrow" panose="020B0606020202030204" pitchFamily="34" charset="0"/>
                <a:ea typeface="a고딕14" panose="02020600000000000000" pitchFamily="18" charset="-127"/>
              </a:rPr>
              <a:t>하다고 보는 방안 등</a:t>
            </a:r>
            <a:endParaRPr lang="en-US" altLang="ko-KR" dirty="0">
              <a:solidFill>
                <a:schemeClr val="tx1"/>
              </a:solidFill>
              <a:latin typeface="Arial Narrow" panose="020B0606020202030204" pitchFamily="34" charset="0"/>
              <a:ea typeface="a고딕14" panose="02020600000000000000" pitchFamily="18" charset="-127"/>
            </a:endParaRPr>
          </a:p>
        </p:txBody>
      </p:sp>
      <p:sp>
        <p:nvSpPr>
          <p:cNvPr id="35" name="직사각형 34">
            <a:extLst>
              <a:ext uri="{FF2B5EF4-FFF2-40B4-BE49-F238E27FC236}">
                <a16:creationId xmlns:a16="http://schemas.microsoft.com/office/drawing/2014/main" id="{C024418E-E2A8-3234-F30B-D463421BC876}"/>
              </a:ext>
            </a:extLst>
          </p:cNvPr>
          <p:cNvSpPr/>
          <p:nvPr/>
        </p:nvSpPr>
        <p:spPr>
          <a:xfrm>
            <a:off x="6465381" y="4401108"/>
            <a:ext cx="2880000" cy="174670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36000" rIns="144000" rtlCol="0" anchor="t"/>
          <a:lstStyle/>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현황</a:t>
            </a:r>
            <a:r>
              <a:rPr lang="en-US" altLang="ko-KR">
                <a:solidFill>
                  <a:schemeClr val="tx1"/>
                </a:solidFill>
                <a:latin typeface="Arial Narrow" panose="020B0606020202030204" pitchFamily="34" charset="0"/>
                <a:ea typeface="a고딕14" panose="02020600000000000000" pitchFamily="18" charset="-127"/>
              </a:rPr>
              <a:t>) </a:t>
            </a:r>
            <a:r>
              <a:rPr lang="ko-KR" altLang="en-US">
                <a:solidFill>
                  <a:schemeClr val="tx1"/>
                </a:solidFill>
                <a:latin typeface="Arial Narrow" panose="020B0606020202030204" pitchFamily="34" charset="0"/>
                <a:ea typeface="a고딕14" panose="02020600000000000000" pitchFamily="18" charset="-127"/>
              </a:rPr>
              <a:t>학습자 자기진단</a:t>
            </a:r>
            <a:r>
              <a:rPr lang="en-US" altLang="ko-KR">
                <a:solidFill>
                  <a:schemeClr val="tx1"/>
                </a:solidFill>
                <a:latin typeface="Arial Narrow" panose="020B0606020202030204" pitchFamily="34" charset="0"/>
                <a:ea typeface="a고딕14" panose="02020600000000000000" pitchFamily="18" charset="-127"/>
              </a:rPr>
              <a:t> </a:t>
            </a:r>
            <a:r>
              <a:rPr lang="ko-KR" altLang="en-US">
                <a:solidFill>
                  <a:schemeClr val="tx1"/>
                </a:solidFill>
                <a:latin typeface="Arial Narrow" panose="020B0606020202030204" pitchFamily="34" charset="0"/>
                <a:ea typeface="a고딕14" panose="02020600000000000000" pitchFamily="18" charset="-127"/>
              </a:rPr>
              <a:t>등 별도 보조적 장치 없이 선제적으로 훈련로드맵을 제시하는 형태임</a:t>
            </a:r>
            <a:endParaRPr lang="en-US" altLang="ko-KR">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대안</a:t>
            </a:r>
            <a:r>
              <a:rPr lang="en-US" altLang="ko-KR">
                <a:solidFill>
                  <a:schemeClr val="tx1"/>
                </a:solidFill>
                <a:latin typeface="Arial Narrow" panose="020B0606020202030204" pitchFamily="34" charset="0"/>
                <a:ea typeface="a고딕14" panose="02020600000000000000" pitchFamily="18" charset="-127"/>
              </a:rPr>
              <a:t>1) </a:t>
            </a:r>
            <a:r>
              <a:rPr lang="ko-KR" altLang="en-US">
                <a:solidFill>
                  <a:schemeClr val="tx1"/>
                </a:solidFill>
                <a:latin typeface="Arial Narrow" panose="020B0606020202030204" pitchFamily="34" charset="0"/>
                <a:ea typeface="a고딕14" panose="02020600000000000000" pitchFamily="18" charset="-127"/>
              </a:rPr>
              <a:t>범위가 </a:t>
            </a:r>
            <a:r>
              <a:rPr lang="ko-KR" altLang="en-US" dirty="0">
                <a:solidFill>
                  <a:schemeClr val="tx1"/>
                </a:solidFill>
                <a:latin typeface="Arial Narrow" panose="020B0606020202030204" pitchFamily="34" charset="0"/>
                <a:ea typeface="a고딕14" panose="02020600000000000000" pitchFamily="18" charset="-127"/>
              </a:rPr>
              <a:t>명확한 </a:t>
            </a:r>
            <a:r>
              <a:rPr lang="ko-KR" altLang="en-US" dirty="0">
                <a:solidFill>
                  <a:srgbClr val="0070C0"/>
                </a:solidFill>
                <a:latin typeface="Arial Narrow" panose="020B0606020202030204" pitchFamily="34" charset="0"/>
                <a:ea typeface="a고딕14" panose="02020600000000000000" pitchFamily="18" charset="-127"/>
              </a:rPr>
              <a:t>자격과 연계된 능력단위</a:t>
            </a:r>
            <a:r>
              <a:rPr lang="en-US" altLang="ko-KR" dirty="0">
                <a:solidFill>
                  <a:srgbClr val="0070C0"/>
                </a:solidFill>
                <a:latin typeface="Arial Narrow" panose="020B0606020202030204" pitchFamily="34" charset="0"/>
                <a:ea typeface="a고딕14" panose="02020600000000000000" pitchFamily="18" charset="-127"/>
              </a:rPr>
              <a:t>(</a:t>
            </a:r>
            <a:r>
              <a:rPr lang="ko-KR" altLang="en-US" dirty="0">
                <a:solidFill>
                  <a:srgbClr val="0070C0"/>
                </a:solidFill>
                <a:latin typeface="Arial Narrow" panose="020B0606020202030204" pitchFamily="34" charset="0"/>
                <a:ea typeface="a고딕14" panose="02020600000000000000" pitchFamily="18" charset="-127"/>
              </a:rPr>
              <a:t>과정</a:t>
            </a:r>
            <a:r>
              <a:rPr lang="en-US" altLang="ko-KR" dirty="0">
                <a:solidFill>
                  <a:srgbClr val="0070C0"/>
                </a:solidFill>
                <a:latin typeface="Arial Narrow" panose="020B0606020202030204" pitchFamily="34" charset="0"/>
                <a:ea typeface="a고딕14" panose="02020600000000000000" pitchFamily="18" charset="-127"/>
              </a:rPr>
              <a:t>)</a:t>
            </a:r>
            <a:r>
              <a:rPr lang="ko-KR" altLang="en-US">
                <a:solidFill>
                  <a:srgbClr val="0070C0"/>
                </a:solidFill>
                <a:latin typeface="Arial Narrow" panose="020B0606020202030204" pitchFamily="34" charset="0"/>
                <a:ea typeface="a고딕14" panose="02020600000000000000" pitchFamily="18" charset="-127"/>
              </a:rPr>
              <a:t>만 적용</a:t>
            </a:r>
            <a:r>
              <a:rPr lang="ko-KR" altLang="en-US">
                <a:solidFill>
                  <a:schemeClr val="tx1"/>
                </a:solidFill>
                <a:latin typeface="Arial Narrow" panose="020B0606020202030204" pitchFamily="34" charset="0"/>
                <a:ea typeface="a고딕14" panose="02020600000000000000" pitchFamily="18" charset="-127"/>
              </a:rPr>
              <a:t>하여 </a:t>
            </a:r>
            <a:r>
              <a:rPr lang="ko-KR" altLang="en-US">
                <a:solidFill>
                  <a:srgbClr val="0070C0"/>
                </a:solidFill>
                <a:latin typeface="Arial Narrow" panose="020B0606020202030204" pitchFamily="34" charset="0"/>
                <a:ea typeface="a고딕14" panose="02020600000000000000" pitchFamily="18" charset="-127"/>
              </a:rPr>
              <a:t>자격취득을 </a:t>
            </a:r>
            <a:r>
              <a:rPr lang="ko-KR" altLang="en-US" dirty="0">
                <a:solidFill>
                  <a:srgbClr val="0070C0"/>
                </a:solidFill>
                <a:latin typeface="Arial Narrow" panose="020B0606020202030204" pitchFamily="34" charset="0"/>
                <a:ea typeface="a고딕14" panose="02020600000000000000" pitchFamily="18" charset="-127"/>
              </a:rPr>
              <a:t>위한 훈련흐름도를 먼저 개발</a:t>
            </a:r>
            <a:r>
              <a:rPr lang="ko-KR" altLang="en-US" dirty="0">
                <a:solidFill>
                  <a:schemeClr val="tx1"/>
                </a:solidFill>
                <a:latin typeface="Arial Narrow" panose="020B0606020202030204" pitchFamily="34" charset="0"/>
                <a:ea typeface="a고딕14" panose="02020600000000000000" pitchFamily="18" charset="-127"/>
              </a:rPr>
              <a:t>하는 방안</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대안</a:t>
            </a:r>
            <a:r>
              <a:rPr lang="en-US" altLang="ko-KR">
                <a:solidFill>
                  <a:schemeClr val="tx1"/>
                </a:solidFill>
                <a:latin typeface="Arial Narrow" panose="020B0606020202030204" pitchFamily="34" charset="0"/>
                <a:ea typeface="a고딕14" panose="02020600000000000000" pitchFamily="18" charset="-127"/>
              </a:rPr>
              <a:t>2) </a:t>
            </a:r>
            <a:r>
              <a:rPr lang="ko-KR" altLang="en-US">
                <a:solidFill>
                  <a:schemeClr val="tx1"/>
                </a:solidFill>
                <a:latin typeface="Arial Narrow" panose="020B0606020202030204" pitchFamily="34" charset="0"/>
                <a:ea typeface="a고딕14" panose="02020600000000000000" pitchFamily="18" charset="-127"/>
              </a:rPr>
              <a:t>직무 </a:t>
            </a:r>
            <a:r>
              <a:rPr lang="ko-KR" altLang="en-US" dirty="0">
                <a:solidFill>
                  <a:schemeClr val="tx1"/>
                </a:solidFill>
                <a:latin typeface="Arial Narrow" panose="020B0606020202030204" pitchFamily="34" charset="0"/>
                <a:ea typeface="a고딕14" panose="02020600000000000000" pitchFamily="18" charset="-127"/>
              </a:rPr>
              <a:t>전문가 함양에 초점을 맞춰 </a:t>
            </a:r>
            <a:br>
              <a:rPr lang="en-US" altLang="ko-KR" dirty="0">
                <a:solidFill>
                  <a:schemeClr val="tx1"/>
                </a:solidFill>
                <a:latin typeface="Arial Narrow" panose="020B0606020202030204" pitchFamily="34" charset="0"/>
                <a:ea typeface="a고딕14" panose="02020600000000000000" pitchFamily="18" charset="-127"/>
              </a:rPr>
            </a:br>
            <a:r>
              <a:rPr lang="ko-KR" altLang="en-US" dirty="0">
                <a:solidFill>
                  <a:srgbClr val="0070C0"/>
                </a:solidFill>
                <a:latin typeface="Arial Narrow" panose="020B0606020202030204" pitchFamily="34" charset="0"/>
                <a:ea typeface="a고딕14" panose="02020600000000000000" pitchFamily="18" charset="-127"/>
              </a:rPr>
              <a:t>타 직무로의 이직 등 연계 고려하지 않고 </a:t>
            </a:r>
            <a:r>
              <a:rPr lang="ko-KR" altLang="en-US">
                <a:solidFill>
                  <a:srgbClr val="0070C0"/>
                </a:solidFill>
                <a:latin typeface="Arial Narrow" panose="020B0606020202030204" pitchFamily="34" charset="0"/>
                <a:ea typeface="a고딕14" panose="02020600000000000000" pitchFamily="18" charset="-127"/>
              </a:rPr>
              <a:t>개발</a:t>
            </a:r>
            <a:r>
              <a:rPr lang="ko-KR" altLang="en-US">
                <a:solidFill>
                  <a:schemeClr val="tx1"/>
                </a:solidFill>
                <a:latin typeface="Arial Narrow" panose="020B0606020202030204" pitchFamily="34" charset="0"/>
                <a:ea typeface="a고딕14" panose="02020600000000000000" pitchFamily="18" charset="-127"/>
              </a:rPr>
              <a:t>하는 방안 등</a:t>
            </a:r>
            <a:endParaRPr lang="en-US" altLang="ko-KR">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endParaRPr lang="ko-KR" altLang="en-US" dirty="0">
              <a:solidFill>
                <a:schemeClr val="tx1"/>
              </a:solidFill>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2507573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5CDF8-0949-DCE5-C6A4-41EBBD7E0D59}"/>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23AA75A4-2DA8-B09E-2621-DA371DD21217}"/>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394DC451-1FD4-8DE0-5080-51DEC5EF11C5}"/>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학습 흐름 제언</a:t>
            </a:r>
          </a:p>
        </p:txBody>
      </p:sp>
      <p:sp>
        <p:nvSpPr>
          <p:cNvPr id="12" name="직사각형 11">
            <a:extLst>
              <a:ext uri="{FF2B5EF4-FFF2-40B4-BE49-F238E27FC236}">
                <a16:creationId xmlns:a16="http://schemas.microsoft.com/office/drawing/2014/main" id="{059514AA-AC2B-4CCE-3C04-2D0A7DD79088}"/>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5.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데이터 관리방안 및 </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TTR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흐름 제언</a:t>
            </a:r>
            <a:endParaRPr lang="ko-KR" altLang="en-US" sz="1100" dirty="0">
              <a:solidFill>
                <a:srgbClr val="003F56"/>
              </a:solidFill>
              <a:latin typeface="a고딕14"/>
              <a:ea typeface="a고딕14"/>
            </a:endParaRPr>
          </a:p>
        </p:txBody>
      </p:sp>
      <p:sp>
        <p:nvSpPr>
          <p:cNvPr id="13" name="텍스트 개체 틀 1">
            <a:extLst>
              <a:ext uri="{FF2B5EF4-FFF2-40B4-BE49-F238E27FC236}">
                <a16:creationId xmlns:a16="http://schemas.microsoft.com/office/drawing/2014/main" id="{C6B84DDB-F167-A55C-CD74-13EDEFD82A66}"/>
              </a:ext>
            </a:extLst>
          </p:cNvPr>
          <p:cNvSpPr>
            <a:spLocks noGrp="1"/>
          </p:cNvSpPr>
          <p:nvPr>
            <p:ph type="body" sz="quarter" idx="12"/>
          </p:nvPr>
        </p:nvSpPr>
        <p:spPr>
          <a:xfrm>
            <a:off x="596515" y="650182"/>
            <a:ext cx="8749097" cy="815119"/>
          </a:xfrm>
        </p:spPr>
        <p:txBody>
          <a:bodyPr/>
          <a:lstStyle/>
          <a:p>
            <a:pPr latinLnBrk="0"/>
            <a:r>
              <a:rPr lang="ko-KR" altLang="en-US" dirty="0">
                <a:latin typeface="a고딕14" panose="02020600000000000000" pitchFamily="18" charset="-127"/>
              </a:rPr>
              <a:t>제안 단계에서 검토한 방안으로는 </a:t>
            </a:r>
            <a:r>
              <a:rPr lang="ko-KR" altLang="en-US" dirty="0">
                <a:solidFill>
                  <a:srgbClr val="0070C0"/>
                </a:solidFill>
                <a:latin typeface="a고딕14" panose="02020600000000000000" pitchFamily="18" charset="-127"/>
              </a:rPr>
              <a:t>과정평가형</a:t>
            </a:r>
            <a:r>
              <a:rPr lang="en-US" altLang="ko-KR" dirty="0">
                <a:solidFill>
                  <a:srgbClr val="0070C0"/>
                </a:solidFill>
                <a:latin typeface="a고딕14" panose="02020600000000000000" pitchFamily="18" charset="-127"/>
              </a:rPr>
              <a:t> </a:t>
            </a:r>
            <a:r>
              <a:rPr lang="ko-KR" altLang="en-US" dirty="0">
                <a:solidFill>
                  <a:srgbClr val="0070C0"/>
                </a:solidFill>
                <a:latin typeface="a고딕14" panose="02020600000000000000" pitchFamily="18" charset="-127"/>
              </a:rPr>
              <a:t>자격을 단위로 하여</a:t>
            </a:r>
            <a:r>
              <a:rPr lang="en-US" altLang="ko-KR" dirty="0">
                <a:solidFill>
                  <a:srgbClr val="0070C0"/>
                </a:solidFill>
                <a:latin typeface="a고딕14" panose="02020600000000000000" pitchFamily="18" charset="-127"/>
              </a:rPr>
              <a:t>,</a:t>
            </a:r>
            <a:r>
              <a:rPr lang="ko-KR" altLang="en-US" dirty="0">
                <a:solidFill>
                  <a:srgbClr val="0070C0"/>
                </a:solidFill>
                <a:latin typeface="a고딕14" panose="02020600000000000000" pitchFamily="18" charset="-127"/>
              </a:rPr>
              <a:t> 능력단위 수준 순서로 훈련흐름을 도출</a:t>
            </a:r>
            <a:r>
              <a:rPr lang="ko-KR" altLang="en-US" dirty="0">
                <a:latin typeface="a고딕14" panose="02020600000000000000" pitchFamily="18" charset="-127"/>
              </a:rPr>
              <a:t>할 수 있었으나 </a:t>
            </a:r>
            <a:r>
              <a:rPr lang="ko-KR" altLang="en-US" dirty="0">
                <a:solidFill>
                  <a:srgbClr val="0070C0"/>
                </a:solidFill>
                <a:latin typeface="a고딕14" panose="02020600000000000000" pitchFamily="18" charset="-127"/>
              </a:rPr>
              <a:t>과정단위의 순서 도출 방안 등 추가 검토가 필요</a:t>
            </a:r>
            <a:r>
              <a:rPr lang="ko-KR" altLang="en-US" dirty="0">
                <a:latin typeface="a고딕14" panose="02020600000000000000" pitchFamily="18" charset="-127"/>
              </a:rPr>
              <a:t>함</a:t>
            </a:r>
          </a:p>
        </p:txBody>
      </p:sp>
      <p:grpSp>
        <p:nvGrpSpPr>
          <p:cNvPr id="14" name="그룹 13">
            <a:extLst>
              <a:ext uri="{FF2B5EF4-FFF2-40B4-BE49-F238E27FC236}">
                <a16:creationId xmlns:a16="http://schemas.microsoft.com/office/drawing/2014/main" id="{97F9EDFE-4724-C019-A51A-12D8C2C3D533}"/>
              </a:ext>
            </a:extLst>
          </p:cNvPr>
          <p:cNvGrpSpPr/>
          <p:nvPr/>
        </p:nvGrpSpPr>
        <p:grpSpPr>
          <a:xfrm>
            <a:off x="596515" y="1681030"/>
            <a:ext cx="8749098" cy="266602"/>
            <a:chOff x="802640" y="2236635"/>
            <a:chExt cx="4130805" cy="266552"/>
          </a:xfrm>
        </p:grpSpPr>
        <p:sp>
          <p:nvSpPr>
            <p:cNvPr id="15" name="ListLeanHorizontalTextTopic0">
              <a:extLst>
                <a:ext uri="{FF2B5EF4-FFF2-40B4-BE49-F238E27FC236}">
                  <a16:creationId xmlns:a16="http://schemas.microsoft.com/office/drawing/2014/main" id="{A6E52618-5377-73EE-AD64-030869F1B532}"/>
                </a:ext>
              </a:extLst>
            </p:cNvPr>
            <p:cNvSpPr txBox="1"/>
            <p:nvPr/>
          </p:nvSpPr>
          <p:spPr>
            <a:xfrm>
              <a:off x="802640" y="2236635"/>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예시</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과정평가형 자격 연계 </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X</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능력단위 수준 순서 적용 훈련흐름도</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553CE4A3-BF96-D233-0D56-937FCDA09BC0}"/>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17" name="표 16">
            <a:extLst>
              <a:ext uri="{FF2B5EF4-FFF2-40B4-BE49-F238E27FC236}">
                <a16:creationId xmlns:a16="http://schemas.microsoft.com/office/drawing/2014/main" id="{20A82BD9-8698-0BDE-4BCC-27D09A85CBB4}"/>
              </a:ext>
            </a:extLst>
          </p:cNvPr>
          <p:cNvGraphicFramePr>
            <a:graphicFrameLocks noGrp="1"/>
          </p:cNvGraphicFramePr>
          <p:nvPr>
            <p:extLst>
              <p:ext uri="{D42A27DB-BD31-4B8C-83A1-F6EECF244321}">
                <p14:modId xmlns:p14="http://schemas.microsoft.com/office/powerpoint/2010/main" val="3188199802"/>
              </p:ext>
            </p:extLst>
          </p:nvPr>
        </p:nvGraphicFramePr>
        <p:xfrm>
          <a:off x="596514" y="2626500"/>
          <a:ext cx="3649105" cy="3792807"/>
        </p:xfrm>
        <a:graphic>
          <a:graphicData uri="http://schemas.openxmlformats.org/drawingml/2006/table">
            <a:tbl>
              <a:tblPr/>
              <a:tblGrid>
                <a:gridCol w="1161560">
                  <a:extLst>
                    <a:ext uri="{9D8B030D-6E8A-4147-A177-3AD203B41FA5}">
                      <a16:colId xmlns:a16="http://schemas.microsoft.com/office/drawing/2014/main" val="889987157"/>
                    </a:ext>
                  </a:extLst>
                </a:gridCol>
                <a:gridCol w="948998">
                  <a:extLst>
                    <a:ext uri="{9D8B030D-6E8A-4147-A177-3AD203B41FA5}">
                      <a16:colId xmlns:a16="http://schemas.microsoft.com/office/drawing/2014/main" val="507442510"/>
                    </a:ext>
                  </a:extLst>
                </a:gridCol>
                <a:gridCol w="512849">
                  <a:extLst>
                    <a:ext uri="{9D8B030D-6E8A-4147-A177-3AD203B41FA5}">
                      <a16:colId xmlns:a16="http://schemas.microsoft.com/office/drawing/2014/main" val="104069063"/>
                    </a:ext>
                  </a:extLst>
                </a:gridCol>
                <a:gridCol w="512849">
                  <a:extLst>
                    <a:ext uri="{9D8B030D-6E8A-4147-A177-3AD203B41FA5}">
                      <a16:colId xmlns:a16="http://schemas.microsoft.com/office/drawing/2014/main" val="2925688091"/>
                    </a:ext>
                  </a:extLst>
                </a:gridCol>
                <a:gridCol w="512849">
                  <a:extLst>
                    <a:ext uri="{9D8B030D-6E8A-4147-A177-3AD203B41FA5}">
                      <a16:colId xmlns:a16="http://schemas.microsoft.com/office/drawing/2014/main" val="4006146377"/>
                    </a:ext>
                  </a:extLst>
                </a:gridCol>
              </a:tblGrid>
              <a:tr h="324385">
                <a:tc>
                  <a:txBody>
                    <a:bodyPr/>
                    <a:lstStyle/>
                    <a:p>
                      <a:pPr algn="ctr"/>
                      <a:r>
                        <a:rPr lang="ko-KR" altLang="en-US" sz="1000" b="0">
                          <a:solidFill>
                            <a:srgbClr val="000000"/>
                          </a:solidFill>
                          <a:effectLst/>
                          <a:latin typeface="+mn-ea"/>
                          <a:ea typeface="+mn-ea"/>
                        </a:rPr>
                        <a:t>능력단위명</a:t>
                      </a:r>
                    </a:p>
                  </a:txBody>
                  <a:tcPr marL="0" marR="0" marT="0" marB="0" anchor="ctr">
                    <a:lnL>
                      <a:noFill/>
                    </a:lnL>
                    <a:lnR w="9525" cap="flat" cmpd="sng" algn="ctr">
                      <a:solidFill>
                        <a:srgbClr val="D1D1D1"/>
                      </a:solidFill>
                      <a:prstDash val="solid"/>
                      <a:round/>
                      <a:headEnd type="none" w="med" len="med"/>
                      <a:tailEnd type="none" w="med" len="med"/>
                    </a:lnR>
                    <a:lnT>
                      <a:noFill/>
                    </a:lnT>
                    <a:lnB w="9525" cap="flat" cmpd="sng" algn="ctr">
                      <a:solidFill>
                        <a:srgbClr val="D1D1D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능력단위코드</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a:noFill/>
                    </a:lnT>
                    <a:lnB w="9525" cap="flat" cmpd="sng" algn="ctr">
                      <a:solidFill>
                        <a:srgbClr val="D1D1D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최소훈련</a:t>
                      </a:r>
                      <a:endParaRPr lang="en-US" altLang="ko-KR" sz="1000" b="0">
                        <a:solidFill>
                          <a:srgbClr val="000000"/>
                        </a:solidFill>
                        <a:effectLst/>
                        <a:latin typeface="+mn-ea"/>
                        <a:ea typeface="+mn-ea"/>
                      </a:endParaRPr>
                    </a:p>
                    <a:p>
                      <a:pPr algn="ctr"/>
                      <a:r>
                        <a:rPr lang="ko-KR" altLang="en-US" sz="1000" b="0">
                          <a:solidFill>
                            <a:srgbClr val="000000"/>
                          </a:solidFill>
                          <a:effectLst/>
                          <a:latin typeface="+mn-ea"/>
                          <a:ea typeface="+mn-ea"/>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a:noFill/>
                    </a:lnT>
                    <a:lnB w="9525" cap="flat" cmpd="sng" algn="ctr">
                      <a:solidFill>
                        <a:srgbClr val="D1D1D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필수여부</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a:noFill/>
                    </a:lnT>
                    <a:lnB w="9525" cap="flat" cmpd="sng" algn="ctr">
                      <a:solidFill>
                        <a:srgbClr val="D1D1D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능력단위</a:t>
                      </a:r>
                      <a:endParaRPr lang="en-US" altLang="ko-KR" sz="1000" b="0">
                        <a:solidFill>
                          <a:srgbClr val="000000"/>
                        </a:solidFill>
                        <a:effectLst/>
                        <a:latin typeface="+mn-ea"/>
                        <a:ea typeface="+mn-ea"/>
                      </a:endParaRPr>
                    </a:p>
                    <a:p>
                      <a:pPr algn="ctr"/>
                      <a:r>
                        <a:rPr lang="ko-KR" altLang="en-US" sz="1000" b="0">
                          <a:solidFill>
                            <a:srgbClr val="000000"/>
                          </a:solidFill>
                          <a:effectLst/>
                          <a:latin typeface="+mn-ea"/>
                          <a:ea typeface="+mn-ea"/>
                        </a:rPr>
                        <a:t>수준</a:t>
                      </a:r>
                    </a:p>
                  </a:txBody>
                  <a:tcPr marL="0" marR="0" marT="0" marB="0" anchor="ctr">
                    <a:lnL w="9525" cap="flat" cmpd="sng" algn="ctr">
                      <a:solidFill>
                        <a:srgbClr val="D1D1D1"/>
                      </a:solidFill>
                      <a:prstDash val="solid"/>
                      <a:round/>
                      <a:headEnd type="none" w="med" len="med"/>
                      <a:tailEnd type="none" w="med" len="med"/>
                    </a:lnL>
                    <a:lnR>
                      <a:noFill/>
                    </a:lnR>
                    <a:lnT>
                      <a:noFill/>
                    </a:lnT>
                    <a:lnB w="9525" cap="flat" cmpd="sng" algn="ctr">
                      <a:solidFill>
                        <a:srgbClr val="D1D1D1"/>
                      </a:solidFill>
                      <a:prstDash val="solid"/>
                      <a:round/>
                      <a:headEnd type="none" w="med" len="med"/>
                      <a:tailEnd type="none" w="med" len="med"/>
                    </a:lnB>
                    <a:solidFill>
                      <a:srgbClr val="DFE3EC"/>
                    </a:solidFill>
                  </a:tcPr>
                </a:tc>
                <a:extLst>
                  <a:ext uri="{0D108BD9-81ED-4DB2-BD59-A6C34878D82A}">
                    <a16:rowId xmlns:a16="http://schemas.microsoft.com/office/drawing/2014/main" val="1125168293"/>
                  </a:ext>
                </a:extLst>
              </a:tr>
              <a:tr h="353967">
                <a:tc>
                  <a:txBody>
                    <a:bodyPr/>
                    <a:lstStyle/>
                    <a:p>
                      <a:pPr algn="ctr"/>
                      <a:r>
                        <a:rPr lang="ko-KR" altLang="en-US" sz="1000" b="0" kern="1200">
                          <a:solidFill>
                            <a:srgbClr val="111111"/>
                          </a:solidFill>
                          <a:effectLst/>
                          <a:latin typeface="+mn-ea"/>
                          <a:ea typeface="+mn-ea"/>
                          <a:cs typeface="+mn-cs"/>
                        </a:rPr>
                        <a:t>공기압 제어</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1503010215_16v4</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60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414097739"/>
                  </a:ext>
                </a:extLst>
              </a:tr>
              <a:tr h="353967">
                <a:tc>
                  <a:txBody>
                    <a:bodyPr/>
                    <a:lstStyle/>
                    <a:p>
                      <a:pPr marL="0" algn="ctr" defTabSz="914400" rtl="0" eaLnBrk="1" latinLnBrk="1" hangingPunct="1"/>
                      <a:r>
                        <a:rPr lang="ko-KR" altLang="en-US" sz="1000" b="0" kern="1200">
                          <a:solidFill>
                            <a:srgbClr val="111111"/>
                          </a:solidFill>
                          <a:effectLst/>
                          <a:latin typeface="+mn-ea"/>
                          <a:ea typeface="+mn-ea"/>
                          <a:cs typeface="+mn-cs"/>
                        </a:rPr>
                        <a:t>유압제어</a:t>
                      </a:r>
                    </a:p>
                  </a:txBody>
                  <a:tcPr marL="0" marR="0" marT="0" marB="0" anchor="ctr">
                    <a:lnL w="6350" cap="flat" cmpd="sng" algn="ctr">
                      <a:solidFill>
                        <a:srgbClr val="0070C0"/>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1503010216_16v4</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60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3</a:t>
                      </a:r>
                    </a:p>
                  </a:txBody>
                  <a:tcPr marL="59088" marR="59088" marT="29544" marB="29544" anchor="ctr">
                    <a:lnL w="9525" cap="flat" cmpd="sng" algn="ctr">
                      <a:solidFill>
                        <a:srgbClr val="D1D1D1"/>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538532806"/>
                  </a:ext>
                </a:extLst>
              </a:tr>
              <a:tr h="353967">
                <a:tc>
                  <a:txBody>
                    <a:bodyPr/>
                    <a:lstStyle/>
                    <a:p>
                      <a:pPr marL="0" algn="ctr" defTabSz="914400" rtl="0" eaLnBrk="1" latinLnBrk="1" hangingPunct="1"/>
                      <a:r>
                        <a:rPr lang="ko-KR" altLang="en-US" sz="1000" b="0" kern="1200">
                          <a:solidFill>
                            <a:srgbClr val="111111"/>
                          </a:solidFill>
                          <a:effectLst/>
                          <a:latin typeface="+mn-ea"/>
                          <a:ea typeface="+mn-ea"/>
                          <a:cs typeface="+mn-cs"/>
                        </a:rPr>
                        <a:t>조립도면해독</a:t>
                      </a:r>
                    </a:p>
                  </a:txBody>
                  <a:tcPr marL="0" marR="0" marT="0" marB="0" anchor="ctr">
                    <a:lnL>
                      <a:noFill/>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1503010111_16v4</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30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545249592"/>
                  </a:ext>
                </a:extLst>
              </a:tr>
              <a:tr h="353967">
                <a:tc>
                  <a:txBody>
                    <a:bodyPr/>
                    <a:lstStyle/>
                    <a:p>
                      <a:pPr marL="0" algn="ctr" defTabSz="914400" rtl="0" eaLnBrk="1" latinLnBrk="1" hangingPunct="1"/>
                      <a:r>
                        <a:rPr lang="en-US" sz="1000" b="0" kern="1200">
                          <a:solidFill>
                            <a:srgbClr val="111111"/>
                          </a:solidFill>
                          <a:effectLst/>
                          <a:latin typeface="+mn-ea"/>
                          <a:ea typeface="+mn-ea"/>
                          <a:cs typeface="+mn-cs"/>
                        </a:rPr>
                        <a:t>2D</a:t>
                      </a:r>
                      <a:r>
                        <a:rPr lang="ko-KR" altLang="en-US" sz="1000" b="0" kern="1200">
                          <a:solidFill>
                            <a:srgbClr val="111111"/>
                          </a:solidFill>
                          <a:effectLst/>
                          <a:latin typeface="+mn-ea"/>
                          <a:ea typeface="+mn-ea"/>
                          <a:cs typeface="+mn-cs"/>
                        </a:rPr>
                        <a:t>도면작업</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1501020111_16v3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45</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60661415"/>
                  </a:ext>
                </a:extLst>
              </a:tr>
              <a:tr h="353967">
                <a:tc>
                  <a:txBody>
                    <a:bodyPr/>
                    <a:lstStyle/>
                    <a:p>
                      <a:pPr marL="0" algn="ctr" defTabSz="914400" rtl="0" eaLnBrk="1" latinLnBrk="1" hangingPunct="1"/>
                      <a:r>
                        <a:rPr lang="ko-KR" altLang="en-US" sz="1000" b="0" kern="1200">
                          <a:solidFill>
                            <a:srgbClr val="111111"/>
                          </a:solidFill>
                          <a:effectLst/>
                          <a:latin typeface="+mn-ea"/>
                          <a:ea typeface="+mn-ea"/>
                          <a:cs typeface="+mn-cs"/>
                        </a:rPr>
                        <a:t>센서 활용 기술</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1503010204_14v3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30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3</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518030846"/>
                  </a:ext>
                </a:extLst>
              </a:tr>
              <a:tr h="353967">
                <a:tc>
                  <a:txBody>
                    <a:bodyPr/>
                    <a:lstStyle/>
                    <a:p>
                      <a:pPr marL="0" algn="ctr" defTabSz="914400" rtl="0" eaLnBrk="1" latinLnBrk="1" hangingPunct="1"/>
                      <a:r>
                        <a:rPr lang="en-US" altLang="ko-KR" sz="1000" b="0" kern="1200">
                          <a:solidFill>
                            <a:srgbClr val="111111"/>
                          </a:solidFill>
                          <a:effectLst/>
                          <a:latin typeface="+mn-ea"/>
                          <a:ea typeface="+mn-ea"/>
                          <a:cs typeface="+mn-cs"/>
                        </a:rPr>
                        <a:t>PLC</a:t>
                      </a:r>
                      <a:r>
                        <a:rPr lang="ko-KR" altLang="en-US" sz="1000" b="0" kern="1200">
                          <a:solidFill>
                            <a:srgbClr val="111111"/>
                          </a:solidFill>
                          <a:effectLst/>
                          <a:latin typeface="+mn-ea"/>
                          <a:ea typeface="+mn-ea"/>
                          <a:cs typeface="+mn-cs"/>
                        </a:rPr>
                        <a:t>제어 기본 모듈 </a:t>
                      </a:r>
                      <a:endParaRPr lang="en-US" altLang="ko-KR" sz="1000" b="0" kern="1200">
                        <a:solidFill>
                          <a:srgbClr val="111111"/>
                        </a:solidFill>
                        <a:effectLst/>
                        <a:latin typeface="+mn-ea"/>
                        <a:ea typeface="+mn-ea"/>
                        <a:cs typeface="+mn-cs"/>
                      </a:endParaRPr>
                    </a:p>
                    <a:p>
                      <a:pPr marL="0" algn="ctr" defTabSz="914400" rtl="0" eaLnBrk="1" latinLnBrk="1" hangingPunct="1"/>
                      <a:r>
                        <a:rPr lang="ko-KR" altLang="en-US" sz="1000" b="0" kern="1200">
                          <a:solidFill>
                            <a:srgbClr val="111111"/>
                          </a:solidFill>
                          <a:effectLst/>
                          <a:latin typeface="+mn-ea"/>
                          <a:ea typeface="+mn-ea"/>
                          <a:cs typeface="+mn-cs"/>
                        </a:rPr>
                        <a:t>프로그램 개발</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1503010210_14v3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45</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26379867"/>
                  </a:ext>
                </a:extLst>
              </a:tr>
              <a:tr h="353967">
                <a:tc>
                  <a:txBody>
                    <a:bodyPr/>
                    <a:lstStyle/>
                    <a:p>
                      <a:pPr marL="0" algn="ctr" defTabSz="914400" rtl="0" eaLnBrk="1" latinLnBrk="1" hangingPunct="1"/>
                      <a:r>
                        <a:rPr lang="en-US" altLang="ko-KR" sz="1000" b="0" kern="1200">
                          <a:solidFill>
                            <a:srgbClr val="111111"/>
                          </a:solidFill>
                          <a:effectLst/>
                          <a:latin typeface="+mn-ea"/>
                          <a:ea typeface="+mn-ea"/>
                          <a:cs typeface="+mn-cs"/>
                        </a:rPr>
                        <a:t>PLC</a:t>
                      </a:r>
                      <a:r>
                        <a:rPr lang="ko-KR" altLang="en-US" sz="1000" b="0" kern="1200">
                          <a:solidFill>
                            <a:srgbClr val="111111"/>
                          </a:solidFill>
                          <a:effectLst/>
                          <a:latin typeface="+mn-ea"/>
                          <a:ea typeface="+mn-ea"/>
                          <a:cs typeface="+mn-cs"/>
                        </a:rPr>
                        <a:t>제어 </a:t>
                      </a:r>
                      <a:endParaRPr lang="en-US" altLang="ko-KR" sz="1000" b="0" kern="1200">
                        <a:solidFill>
                          <a:srgbClr val="111111"/>
                        </a:solidFill>
                        <a:effectLst/>
                        <a:latin typeface="+mn-ea"/>
                        <a:ea typeface="+mn-ea"/>
                        <a:cs typeface="+mn-cs"/>
                      </a:endParaRPr>
                    </a:p>
                    <a:p>
                      <a:pPr marL="0" algn="ctr" defTabSz="914400" rtl="0" eaLnBrk="1" latinLnBrk="1" hangingPunct="1"/>
                      <a:r>
                        <a:rPr lang="ko-KR" altLang="en-US" sz="1000" b="0" kern="1200">
                          <a:solidFill>
                            <a:srgbClr val="111111"/>
                          </a:solidFill>
                          <a:effectLst/>
                          <a:latin typeface="+mn-ea"/>
                          <a:ea typeface="+mn-ea"/>
                          <a:cs typeface="+mn-cs"/>
                        </a:rPr>
                        <a:t>프로그램 테스트</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1503010212_14v3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30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47015676"/>
                  </a:ext>
                </a:extLst>
              </a:tr>
              <a:tr h="353967">
                <a:tc>
                  <a:txBody>
                    <a:bodyPr/>
                    <a:lstStyle/>
                    <a:p>
                      <a:pPr marL="0" algn="ctr" defTabSz="914400" rtl="0" eaLnBrk="1" latinLnBrk="1" hangingPunct="1"/>
                      <a:r>
                        <a:rPr lang="ko-KR" altLang="en-US" sz="1000" b="0" kern="1200">
                          <a:solidFill>
                            <a:srgbClr val="111111"/>
                          </a:solidFill>
                          <a:effectLst/>
                          <a:latin typeface="+mn-ea"/>
                          <a:ea typeface="+mn-ea"/>
                          <a:cs typeface="+mn-cs"/>
                        </a:rPr>
                        <a:t>공기압 장치조립</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1503010116_16v4</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30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149094659"/>
                  </a:ext>
                </a:extLst>
              </a:tr>
              <a:tr h="425198">
                <a:tc>
                  <a:txBody>
                    <a:bodyPr/>
                    <a:lstStyle/>
                    <a:p>
                      <a:pPr marL="0" algn="ctr" defTabSz="914400" rtl="0" eaLnBrk="1" latinLnBrk="1" hangingPunct="1"/>
                      <a:r>
                        <a:rPr lang="en-US" altLang="ko-KR" sz="1000" b="0" kern="1200">
                          <a:solidFill>
                            <a:srgbClr val="111111"/>
                          </a:solidFill>
                          <a:effectLst/>
                          <a:latin typeface="+mn-ea"/>
                          <a:ea typeface="+mn-ea"/>
                          <a:cs typeface="+mn-cs"/>
                        </a:rPr>
                        <a:t>3D</a:t>
                      </a:r>
                      <a:r>
                        <a:rPr lang="ko-KR" altLang="en-US" sz="1000" b="0" kern="1200">
                          <a:solidFill>
                            <a:srgbClr val="111111"/>
                          </a:solidFill>
                          <a:effectLst/>
                          <a:latin typeface="+mn-ea"/>
                          <a:ea typeface="+mn-ea"/>
                          <a:cs typeface="+mn-cs"/>
                        </a:rPr>
                        <a:t>형상모델링작업</a:t>
                      </a:r>
                    </a:p>
                  </a:txBody>
                  <a:tcPr marL="0" marR="0" marT="0" marB="0" anchor="ctr">
                    <a:lnL w="6350" cap="flat" cmpd="sng" algn="ctr">
                      <a:solidFill>
                        <a:srgbClr val="0070C0"/>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1501020113_16v3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45</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3400622752"/>
                  </a:ext>
                </a:extLst>
              </a:tr>
              <a:tr h="144000">
                <a:tc>
                  <a:txBody>
                    <a:bodyPr/>
                    <a:lstStyle/>
                    <a:p>
                      <a:pPr marL="0" algn="ctr" defTabSz="914400" rtl="0" eaLnBrk="1" latinLnBrk="1" hangingPunct="1"/>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0" marR="0" marT="0" marB="0" anchor="ctr">
                    <a:lnL>
                      <a:noFill/>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kern="1200">
                          <a:solidFill>
                            <a:srgbClr val="111111"/>
                          </a:solidFill>
                          <a:effectLst/>
                          <a:latin typeface="+mn-ea"/>
                          <a:ea typeface="+mn-ea"/>
                          <a:cs typeface="+mn-cs"/>
                        </a:rPr>
                        <a:t>…</a:t>
                      </a:r>
                      <a:endParaRPr lang="ko-KR" altLang="en-US" sz="800" b="0" kern="1200">
                        <a:solidFill>
                          <a:srgbClr val="111111"/>
                        </a:solidFill>
                        <a:effectLst/>
                        <a:latin typeface="+mn-ea"/>
                        <a:ea typeface="+mn-ea"/>
                        <a:cs typeface="+mn-cs"/>
                      </a:endParaRP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a:noFill/>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020371577"/>
                  </a:ext>
                </a:extLst>
              </a:tr>
            </a:tbl>
          </a:graphicData>
        </a:graphic>
      </p:graphicFrame>
      <p:sp>
        <p:nvSpPr>
          <p:cNvPr id="18" name="TextBox 17">
            <a:extLst>
              <a:ext uri="{FF2B5EF4-FFF2-40B4-BE49-F238E27FC236}">
                <a16:creationId xmlns:a16="http://schemas.microsoft.com/office/drawing/2014/main" id="{9EA531D2-E3CD-2846-9BAF-73B843BE45AB}"/>
              </a:ext>
            </a:extLst>
          </p:cNvPr>
          <p:cNvSpPr txBox="1"/>
          <p:nvPr/>
        </p:nvSpPr>
        <p:spPr>
          <a:xfrm>
            <a:off x="596515" y="2312876"/>
            <a:ext cx="1423788" cy="261610"/>
          </a:xfrm>
          <a:prstGeom prst="rect">
            <a:avLst/>
          </a:prstGeom>
          <a:noFill/>
        </p:spPr>
        <p:txBody>
          <a:bodyPr wrap="none" rtlCol="0">
            <a:spAutoFit/>
          </a:bodyPr>
          <a:lstStyle/>
          <a:p>
            <a:pPr algn="l">
              <a:buNone/>
            </a:pPr>
            <a:r>
              <a:rPr lang="ko-KR" altLang="en-US" sz="1100">
                <a:solidFill>
                  <a:srgbClr val="535353"/>
                </a:solidFill>
                <a:latin typeface="Arial Narrow" panose="020B0606020202030204" pitchFamily="34" charset="0"/>
                <a:ea typeface="a고딕14" panose="02020600000000000000" pitchFamily="18" charset="-127"/>
              </a:rPr>
              <a:t>종목명</a:t>
            </a:r>
            <a:r>
              <a:rPr lang="ko-KR" altLang="en-US" sz="1100">
                <a:latin typeface="Arial Narrow" panose="020B0606020202030204" pitchFamily="34" charset="0"/>
                <a:ea typeface="a고딕14" panose="02020600000000000000" pitchFamily="18" charset="-127"/>
              </a:rPr>
              <a:t> </a:t>
            </a:r>
            <a:r>
              <a:rPr lang="en-US" altLang="ko-KR" sz="1100">
                <a:latin typeface="Arial Narrow" panose="020B0606020202030204" pitchFamily="34" charset="0"/>
                <a:ea typeface="a고딕14" panose="02020600000000000000" pitchFamily="18" charset="-127"/>
              </a:rPr>
              <a:t>: </a:t>
            </a:r>
            <a:r>
              <a:rPr lang="ko-KR" altLang="en-US" sz="1100">
                <a:latin typeface="Arial Narrow" panose="020B0606020202030204" pitchFamily="34" charset="0"/>
                <a:ea typeface="a고딕14" panose="02020600000000000000" pitchFamily="18" charset="-127"/>
              </a:rPr>
              <a:t>공유압기능사</a:t>
            </a:r>
            <a:endParaRPr lang="ko-KR" altLang="en-US" sz="1100" dirty="0">
              <a:latin typeface="Arial Narrow" panose="020B0606020202030204" pitchFamily="34" charset="0"/>
              <a:ea typeface="a고딕14" panose="02020600000000000000" pitchFamily="18" charset="-127"/>
            </a:endParaRPr>
          </a:p>
        </p:txBody>
      </p:sp>
      <p:sp>
        <p:nvSpPr>
          <p:cNvPr id="19" name="직사각형 18">
            <a:extLst>
              <a:ext uri="{FF2B5EF4-FFF2-40B4-BE49-F238E27FC236}">
                <a16:creationId xmlns:a16="http://schemas.microsoft.com/office/drawing/2014/main" id="{5599E687-3B8C-2F7B-AA28-7B287514C7FF}"/>
              </a:ext>
            </a:extLst>
          </p:cNvPr>
          <p:cNvSpPr/>
          <p:nvPr/>
        </p:nvSpPr>
        <p:spPr bwMode="auto">
          <a:xfrm>
            <a:off x="596515" y="2060849"/>
            <a:ext cx="3649104"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a:solidFill>
                  <a:schemeClr val="bg1"/>
                </a:solidFill>
                <a:latin typeface="+mj-ea"/>
                <a:ea typeface="+mj-ea"/>
              </a:rPr>
              <a:t>과정평가형자격 정보</a:t>
            </a:r>
            <a:endParaRPr lang="ko-KR" altLang="en-US" sz="1100" kern="0" dirty="0">
              <a:solidFill>
                <a:schemeClr val="bg1"/>
              </a:solidFill>
              <a:latin typeface="+mj-ea"/>
              <a:ea typeface="+mj-ea"/>
            </a:endParaRPr>
          </a:p>
        </p:txBody>
      </p:sp>
      <p:sp>
        <p:nvSpPr>
          <p:cNvPr id="20" name="직사각형 19">
            <a:extLst>
              <a:ext uri="{FF2B5EF4-FFF2-40B4-BE49-F238E27FC236}">
                <a16:creationId xmlns:a16="http://schemas.microsoft.com/office/drawing/2014/main" id="{21DEF284-18A8-F7E5-BDCC-E9D3C8DCF904}"/>
              </a:ext>
            </a:extLst>
          </p:cNvPr>
          <p:cNvSpPr/>
          <p:nvPr/>
        </p:nvSpPr>
        <p:spPr bwMode="auto">
          <a:xfrm>
            <a:off x="4376937" y="2060849"/>
            <a:ext cx="4967750"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a:solidFill>
                  <a:schemeClr val="bg1"/>
                </a:solidFill>
                <a:latin typeface="+mj-ea"/>
                <a:ea typeface="+mj-ea"/>
              </a:rPr>
              <a:t>훈련흐름 도출 예시 및 이슈</a:t>
            </a:r>
            <a:endParaRPr lang="ko-KR" altLang="en-US" sz="1100" kern="0" dirty="0">
              <a:solidFill>
                <a:schemeClr val="bg1"/>
              </a:solidFill>
              <a:latin typeface="+mj-ea"/>
              <a:ea typeface="+mj-ea"/>
            </a:endParaRPr>
          </a:p>
        </p:txBody>
      </p:sp>
      <p:graphicFrame>
        <p:nvGraphicFramePr>
          <p:cNvPr id="21" name="표 8">
            <a:extLst>
              <a:ext uri="{FF2B5EF4-FFF2-40B4-BE49-F238E27FC236}">
                <a16:creationId xmlns:a16="http://schemas.microsoft.com/office/drawing/2014/main" id="{05CC89C1-DC82-6E32-FEFE-70F7CBB7FDC8}"/>
              </a:ext>
            </a:extLst>
          </p:cNvPr>
          <p:cNvGraphicFramePr>
            <a:graphicFrameLocks noGrp="1"/>
          </p:cNvGraphicFramePr>
          <p:nvPr>
            <p:extLst>
              <p:ext uri="{D42A27DB-BD31-4B8C-83A1-F6EECF244321}">
                <p14:modId xmlns:p14="http://schemas.microsoft.com/office/powerpoint/2010/main" val="2170999682"/>
              </p:ext>
            </p:extLst>
          </p:nvPr>
        </p:nvGraphicFramePr>
        <p:xfrm>
          <a:off x="4376936" y="2342206"/>
          <a:ext cx="4104000" cy="4064846"/>
        </p:xfrm>
        <a:graphic>
          <a:graphicData uri="http://schemas.openxmlformats.org/drawingml/2006/table">
            <a:tbl>
              <a:tblPr firstRow="1" bandRow="1">
                <a:tableStyleId>{5C22544A-7EE6-4342-B048-85BDC9FD1C3A}</a:tableStyleId>
              </a:tblPr>
              <a:tblGrid>
                <a:gridCol w="324000">
                  <a:extLst>
                    <a:ext uri="{9D8B030D-6E8A-4147-A177-3AD203B41FA5}">
                      <a16:colId xmlns:a16="http://schemas.microsoft.com/office/drawing/2014/main" val="1380521767"/>
                    </a:ext>
                  </a:extLst>
                </a:gridCol>
                <a:gridCol w="3780000">
                  <a:extLst>
                    <a:ext uri="{9D8B030D-6E8A-4147-A177-3AD203B41FA5}">
                      <a16:colId xmlns:a16="http://schemas.microsoft.com/office/drawing/2014/main" val="2417938963"/>
                    </a:ext>
                  </a:extLst>
                </a:gridCol>
              </a:tblGrid>
              <a:tr h="1482838">
                <a:tc>
                  <a:txBody>
                    <a:bodyPr/>
                    <a:lstStyle/>
                    <a:p>
                      <a:pPr marL="0" algn="ctr" defTabSz="914400" rtl="0" eaLnBrk="1" latinLnBrk="1" hangingPunct="1"/>
                      <a:r>
                        <a:rPr lang="en-US" altLang="ko-KR" sz="1050" b="0" kern="1200">
                          <a:solidFill>
                            <a:schemeClr val="dk1"/>
                          </a:solidFill>
                          <a:latin typeface="+mn-lt"/>
                          <a:ea typeface="+mn-ea"/>
                          <a:cs typeface="+mn-cs"/>
                        </a:rPr>
                        <a:t>3</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8692317"/>
                  </a:ext>
                </a:extLst>
              </a:tr>
              <a:tr h="2232000">
                <a:tc>
                  <a:txBody>
                    <a:bodyPr/>
                    <a:lstStyle/>
                    <a:p>
                      <a:pPr marL="0" algn="ctr" defTabSz="914400" rtl="0" eaLnBrk="1" latinLnBrk="1" hangingPunct="1"/>
                      <a:r>
                        <a:rPr lang="en-US" altLang="ko-KR" sz="1050" b="0" kern="1200">
                          <a:solidFill>
                            <a:schemeClr val="dk1"/>
                          </a:solidFill>
                          <a:latin typeface="+mn-lt"/>
                          <a:ea typeface="+mn-ea"/>
                          <a:cs typeface="+mn-cs"/>
                        </a:rPr>
                        <a:t>2</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2783502"/>
                  </a:ext>
                </a:extLst>
              </a:tr>
              <a:tr h="350008">
                <a:tc>
                  <a:txBody>
                    <a:bodyPr/>
                    <a:lstStyle/>
                    <a:p>
                      <a:pPr algn="ctr" latinLnBrk="1"/>
                      <a:r>
                        <a:rPr lang="ko-KR" altLang="en-US" sz="800"/>
                        <a:t>과정</a:t>
                      </a:r>
                      <a:endParaRPr lang="en-US" altLang="ko-KR" sz="800"/>
                    </a:p>
                    <a:p>
                      <a:pPr algn="ctr" latinLnBrk="1"/>
                      <a:r>
                        <a:rPr lang="ko-KR" altLang="en-US" sz="800"/>
                        <a:t>수준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r>
                        <a:rPr lang="ko-KR" altLang="en-US" sz="1050"/>
                        <a:t>공유압기능사</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414334"/>
                  </a:ext>
                </a:extLst>
              </a:tr>
            </a:tbl>
          </a:graphicData>
        </a:graphic>
      </p:graphicFrame>
      <p:grpSp>
        <p:nvGrpSpPr>
          <p:cNvPr id="22" name="그룹 21">
            <a:extLst>
              <a:ext uri="{FF2B5EF4-FFF2-40B4-BE49-F238E27FC236}">
                <a16:creationId xmlns:a16="http://schemas.microsoft.com/office/drawing/2014/main" id="{689389D7-0B29-9DF0-E8C0-1349A19391FB}"/>
              </a:ext>
            </a:extLst>
          </p:cNvPr>
          <p:cNvGrpSpPr/>
          <p:nvPr/>
        </p:nvGrpSpPr>
        <p:grpSpPr>
          <a:xfrm>
            <a:off x="4844989" y="4009221"/>
            <a:ext cx="3132348" cy="1796043"/>
            <a:chOff x="5709084" y="3910263"/>
            <a:chExt cx="3132348" cy="1796043"/>
          </a:xfrm>
        </p:grpSpPr>
        <p:sp>
          <p:nvSpPr>
            <p:cNvPr id="23" name="직사각형 22">
              <a:extLst>
                <a:ext uri="{FF2B5EF4-FFF2-40B4-BE49-F238E27FC236}">
                  <a16:creationId xmlns:a16="http://schemas.microsoft.com/office/drawing/2014/main" id="{ECE1EF23-F0DC-157B-7752-7BAEE1EEA524}"/>
                </a:ext>
              </a:extLst>
            </p:cNvPr>
            <p:cNvSpPr/>
            <p:nvPr/>
          </p:nvSpPr>
          <p:spPr>
            <a:xfrm>
              <a:off x="5709084" y="3910263"/>
              <a:ext cx="3132348" cy="1796043"/>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24" name="그룹 23">
              <a:extLst>
                <a:ext uri="{FF2B5EF4-FFF2-40B4-BE49-F238E27FC236}">
                  <a16:creationId xmlns:a16="http://schemas.microsoft.com/office/drawing/2014/main" id="{284CAA92-1D19-C835-18B3-FCAFB39683EC}"/>
                </a:ext>
              </a:extLst>
            </p:cNvPr>
            <p:cNvGrpSpPr/>
            <p:nvPr/>
          </p:nvGrpSpPr>
          <p:grpSpPr>
            <a:xfrm>
              <a:off x="5862400" y="4187006"/>
              <a:ext cx="2825717" cy="1373362"/>
              <a:chOff x="5887993" y="4185084"/>
              <a:chExt cx="2825717" cy="1373362"/>
            </a:xfrm>
          </p:grpSpPr>
          <p:grpSp>
            <p:nvGrpSpPr>
              <p:cNvPr id="25" name="그룹 24">
                <a:extLst>
                  <a:ext uri="{FF2B5EF4-FFF2-40B4-BE49-F238E27FC236}">
                    <a16:creationId xmlns:a16="http://schemas.microsoft.com/office/drawing/2014/main" id="{C9966F31-31CF-90D5-AC57-A5B2C4884AE7}"/>
                  </a:ext>
                </a:extLst>
              </p:cNvPr>
              <p:cNvGrpSpPr/>
              <p:nvPr/>
            </p:nvGrpSpPr>
            <p:grpSpPr>
              <a:xfrm>
                <a:off x="5887993" y="5270446"/>
                <a:ext cx="2810534" cy="288000"/>
                <a:chOff x="673240" y="2007241"/>
                <a:chExt cx="2810534" cy="288000"/>
              </a:xfrm>
            </p:grpSpPr>
            <p:sp>
              <p:nvSpPr>
                <p:cNvPr id="38" name="사각형: 둥근 모서리 33">
                  <a:extLst>
                    <a:ext uri="{FF2B5EF4-FFF2-40B4-BE49-F238E27FC236}">
                      <a16:creationId xmlns:a16="http://schemas.microsoft.com/office/drawing/2014/main" id="{33C67DD6-0472-7798-C399-0B8EF09A3AAC}"/>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lang="en-US" altLang="ko-KR" sz="900" kern="0">
                      <a:solidFill>
                        <a:prstClr val="white"/>
                      </a:solidFill>
                      <a:latin typeface="나눔스퀘어_ac Bold" panose="020B0600000101010101" pitchFamily="50" charset="-127"/>
                      <a:ea typeface="나눔스퀘어_ac Bold" panose="020B0600000101010101" pitchFamily="50" charset="-127"/>
                    </a:rPr>
                    <a:t>V</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9" name="사각형: 둥근 모서리 34">
                  <a:extLst>
                    <a:ext uri="{FF2B5EF4-FFF2-40B4-BE49-F238E27FC236}">
                      <a16:creationId xmlns:a16="http://schemas.microsoft.com/office/drawing/2014/main" id="{0940FF4B-B85A-55F6-1F60-2C8190C4BD2D}"/>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algn="r" defTabSz="457200" eaLnBrk="1" fontAlgn="auto" latinLnBrk="0" hangingPunct="1">
                    <a:spcBef>
                      <a:spcPts val="0"/>
                    </a:spcBef>
                    <a:spcAft>
                      <a:spcPts val="0"/>
                    </a:spcAft>
                    <a:buNone/>
                  </a:pPr>
                  <a:r>
                    <a:rPr lang="ko-KR" altLang="en-US" sz="700" kern="0">
                      <a:solidFill>
                        <a:prstClr val="white"/>
                      </a:solidFill>
                      <a:latin typeface="+mn-ea"/>
                      <a:ea typeface="+mn-ea"/>
                    </a:rPr>
                    <a:t>선택</a:t>
                  </a:r>
                  <a:endParaRPr lang="ko-KR" altLang="en-US" sz="700" kern="0" dirty="0">
                    <a:solidFill>
                      <a:prstClr val="white"/>
                    </a:solidFill>
                    <a:latin typeface="+mn-ea"/>
                    <a:ea typeface="+mn-ea"/>
                  </a:endParaRPr>
                </a:p>
              </p:txBody>
            </p:sp>
            <p:sp>
              <p:nvSpPr>
                <p:cNvPr id="40" name="모서리가 둥근 직사각형 110">
                  <a:extLst>
                    <a:ext uri="{FF2B5EF4-FFF2-40B4-BE49-F238E27FC236}">
                      <a16:creationId xmlns:a16="http://schemas.microsoft.com/office/drawing/2014/main" id="{3B28506C-D846-F8ED-D350-F3C6E6B02932}"/>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인벤터를 활용한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3D</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형상모델링작업</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모델링편</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26" name="그룹 25">
                <a:extLst>
                  <a:ext uri="{FF2B5EF4-FFF2-40B4-BE49-F238E27FC236}">
                    <a16:creationId xmlns:a16="http://schemas.microsoft.com/office/drawing/2014/main" id="{5A91D82E-D4E3-BEA2-6A4B-D6268B2B11C4}"/>
                  </a:ext>
                </a:extLst>
              </p:cNvPr>
              <p:cNvGrpSpPr/>
              <p:nvPr/>
            </p:nvGrpSpPr>
            <p:grpSpPr>
              <a:xfrm>
                <a:off x="5887993" y="4930200"/>
                <a:ext cx="2810534" cy="288000"/>
                <a:chOff x="673240" y="2007241"/>
                <a:chExt cx="2810534" cy="288000"/>
              </a:xfrm>
            </p:grpSpPr>
            <p:sp>
              <p:nvSpPr>
                <p:cNvPr id="35" name="사각형: 둥근 모서리 33">
                  <a:extLst>
                    <a:ext uri="{FF2B5EF4-FFF2-40B4-BE49-F238E27FC236}">
                      <a16:creationId xmlns:a16="http://schemas.microsoft.com/office/drawing/2014/main" id="{42CAE191-1252-16EC-56D3-02E9389C755F}"/>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V</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6" name="사각형: 둥근 모서리 34">
                  <a:extLst>
                    <a:ext uri="{FF2B5EF4-FFF2-40B4-BE49-F238E27FC236}">
                      <a16:creationId xmlns:a16="http://schemas.microsoft.com/office/drawing/2014/main" id="{422F0419-2E3E-0E6C-9E33-DDAE3267D720}"/>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algn="r" defTabSz="457200" eaLnBrk="1" fontAlgn="auto" latinLnBrk="0" hangingPunct="1">
                    <a:spcBef>
                      <a:spcPts val="0"/>
                    </a:spcBef>
                    <a:spcAft>
                      <a:spcPts val="0"/>
                    </a:spcAft>
                    <a:buNone/>
                  </a:pPr>
                  <a:r>
                    <a:rPr lang="ko-KR" altLang="en-US" sz="700" kern="0">
                      <a:solidFill>
                        <a:prstClr val="white"/>
                      </a:solidFill>
                      <a:latin typeface="+mn-ea"/>
                      <a:ea typeface="+mn-ea"/>
                    </a:rPr>
                    <a:t>선택</a:t>
                  </a:r>
                  <a:endParaRPr lang="ko-KR" altLang="en-US" sz="700" kern="0" dirty="0">
                    <a:solidFill>
                      <a:prstClr val="white"/>
                    </a:solidFill>
                    <a:latin typeface="+mn-ea"/>
                    <a:ea typeface="+mn-ea"/>
                  </a:endParaRPr>
                </a:p>
              </p:txBody>
            </p:sp>
            <p:sp>
              <p:nvSpPr>
                <p:cNvPr id="37" name="모서리가 둥근 직사각형 110">
                  <a:extLst>
                    <a:ext uri="{FF2B5EF4-FFF2-40B4-BE49-F238E27FC236}">
                      <a16:creationId xmlns:a16="http://schemas.microsoft.com/office/drawing/2014/main" id="{3BEEC416-16D5-1139-3589-840DEB4E6157}"/>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솔리드웍스를 활용한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3D</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형상모델링</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27" name="그룹 26">
                <a:extLst>
                  <a:ext uri="{FF2B5EF4-FFF2-40B4-BE49-F238E27FC236}">
                    <a16:creationId xmlns:a16="http://schemas.microsoft.com/office/drawing/2014/main" id="{4B62C5EC-E46F-A72E-9116-128C901E315B}"/>
                  </a:ext>
                </a:extLst>
              </p:cNvPr>
              <p:cNvGrpSpPr/>
              <p:nvPr/>
            </p:nvGrpSpPr>
            <p:grpSpPr>
              <a:xfrm>
                <a:off x="5887993" y="4559946"/>
                <a:ext cx="2810534" cy="288000"/>
                <a:chOff x="673240" y="2007241"/>
                <a:chExt cx="2810534" cy="288000"/>
              </a:xfrm>
            </p:grpSpPr>
            <p:sp>
              <p:nvSpPr>
                <p:cNvPr id="32" name="사각형: 둥근 모서리 33">
                  <a:extLst>
                    <a:ext uri="{FF2B5EF4-FFF2-40B4-BE49-F238E27FC236}">
                      <a16:creationId xmlns:a16="http://schemas.microsoft.com/office/drawing/2014/main" id="{37AA35D1-DA54-7A56-B88A-888B50FCCC9E}"/>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3" name="사각형: 둥근 모서리 34">
                  <a:extLst>
                    <a:ext uri="{FF2B5EF4-FFF2-40B4-BE49-F238E27FC236}">
                      <a16:creationId xmlns:a16="http://schemas.microsoft.com/office/drawing/2014/main" id="{42BF55AA-7348-2240-2EC1-FA755C4768EF}"/>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algn="r" defTabSz="457200" eaLnBrk="1" fontAlgn="auto" latinLnBrk="0" hangingPunct="1">
                    <a:spcBef>
                      <a:spcPts val="0"/>
                    </a:spcBef>
                    <a:spcAft>
                      <a:spcPts val="0"/>
                    </a:spcAft>
                    <a:buNone/>
                  </a:pPr>
                  <a:r>
                    <a:rPr lang="ko-KR" altLang="en-US" sz="700" kern="0">
                      <a:solidFill>
                        <a:prstClr val="white"/>
                      </a:solidFill>
                      <a:latin typeface="+mn-ea"/>
                      <a:ea typeface="+mn-ea"/>
                    </a:rPr>
                    <a:t>선택</a:t>
                  </a:r>
                  <a:endParaRPr lang="ko-KR" altLang="en-US" sz="700" kern="0" dirty="0">
                    <a:solidFill>
                      <a:prstClr val="white"/>
                    </a:solidFill>
                    <a:latin typeface="+mn-ea"/>
                    <a:ea typeface="+mn-ea"/>
                  </a:endParaRPr>
                </a:p>
              </p:txBody>
            </p:sp>
            <p:sp>
              <p:nvSpPr>
                <p:cNvPr id="34" name="모서리가 둥근 직사각형 110">
                  <a:extLst>
                    <a:ext uri="{FF2B5EF4-FFF2-40B4-BE49-F238E27FC236}">
                      <a16:creationId xmlns:a16="http://schemas.microsoft.com/office/drawing/2014/main" id="{6A51E6C2-CFC7-5558-6460-E7CAC9AB4B5B}"/>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정적구조해석을 위한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SolidWorks Simulation </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사용</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28" name="그룹 27">
                <a:extLst>
                  <a:ext uri="{FF2B5EF4-FFF2-40B4-BE49-F238E27FC236}">
                    <a16:creationId xmlns:a16="http://schemas.microsoft.com/office/drawing/2014/main" id="{FC49446A-1166-881F-96B3-D198CC2F0C98}"/>
                  </a:ext>
                </a:extLst>
              </p:cNvPr>
              <p:cNvGrpSpPr/>
              <p:nvPr/>
            </p:nvGrpSpPr>
            <p:grpSpPr>
              <a:xfrm>
                <a:off x="5903176" y="4185084"/>
                <a:ext cx="2810534" cy="288000"/>
                <a:chOff x="673240" y="2007241"/>
                <a:chExt cx="2810534" cy="288000"/>
              </a:xfrm>
            </p:grpSpPr>
            <p:sp>
              <p:nvSpPr>
                <p:cNvPr id="29" name="사각형: 둥근 모서리 33">
                  <a:extLst>
                    <a:ext uri="{FF2B5EF4-FFF2-40B4-BE49-F238E27FC236}">
                      <a16:creationId xmlns:a16="http://schemas.microsoft.com/office/drawing/2014/main" id="{8030820B-214D-F9C4-D481-9CDA6F766BE0}"/>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0" name="사각형: 둥근 모서리 34">
                  <a:extLst>
                    <a:ext uri="{FF2B5EF4-FFF2-40B4-BE49-F238E27FC236}">
                      <a16:creationId xmlns:a16="http://schemas.microsoft.com/office/drawing/2014/main" id="{465A8FE8-6EA9-CC80-A58D-45A116E21164}"/>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0" normalizeH="0" baseline="0" noProof="0">
                      <a:ln>
                        <a:noFill/>
                      </a:ln>
                      <a:solidFill>
                        <a:prstClr val="white"/>
                      </a:solidFill>
                      <a:effectLst/>
                      <a:uLnTx/>
                      <a:uFillTx/>
                      <a:latin typeface="+mn-ea"/>
                      <a:ea typeface="+mn-ea"/>
                      <a:cs typeface="+mn-cs"/>
                    </a:rPr>
                    <a:t>선택</a:t>
                  </a:r>
                  <a:endParaRPr kumimoji="0" lang="ko-KR" altLang="en-US" sz="900" b="0" i="0" u="none" strike="noStrike" kern="0" cap="none" spc="0" normalizeH="0" baseline="0" noProof="0" dirty="0">
                    <a:ln>
                      <a:noFill/>
                    </a:ln>
                    <a:solidFill>
                      <a:prstClr val="white"/>
                    </a:solidFill>
                    <a:effectLst/>
                    <a:uLnTx/>
                    <a:uFillTx/>
                    <a:latin typeface="+mn-ea"/>
                    <a:ea typeface="+mn-ea"/>
                    <a:cs typeface="+mn-cs"/>
                  </a:endParaRPr>
                </a:p>
              </p:txBody>
            </p:sp>
            <p:sp>
              <p:nvSpPr>
                <p:cNvPr id="31" name="모서리가 둥근 직사각형 110">
                  <a:extLst>
                    <a:ext uri="{FF2B5EF4-FFF2-40B4-BE49-F238E27FC236}">
                      <a16:creationId xmlns:a16="http://schemas.microsoft.com/office/drawing/2014/main" id="{F497B30D-512C-FE9A-D044-00562EE9CAF9}"/>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SolidWorks</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를 활용한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3D</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설계</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grpSp>
      <p:sp>
        <p:nvSpPr>
          <p:cNvPr id="41" name="직사각형 40">
            <a:extLst>
              <a:ext uri="{FF2B5EF4-FFF2-40B4-BE49-F238E27FC236}">
                <a16:creationId xmlns:a16="http://schemas.microsoft.com/office/drawing/2014/main" id="{8EFFE50D-B972-8428-36F9-27EAE5BA2036}"/>
              </a:ext>
            </a:extLst>
          </p:cNvPr>
          <p:cNvSpPr/>
          <p:nvPr/>
        </p:nvSpPr>
        <p:spPr>
          <a:xfrm>
            <a:off x="4844989" y="2521768"/>
            <a:ext cx="3132348" cy="1141912"/>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42" name="그룹 41">
            <a:extLst>
              <a:ext uri="{FF2B5EF4-FFF2-40B4-BE49-F238E27FC236}">
                <a16:creationId xmlns:a16="http://schemas.microsoft.com/office/drawing/2014/main" id="{3C3F6D7D-97C3-8C35-C196-F21170DC9FCF}"/>
              </a:ext>
            </a:extLst>
          </p:cNvPr>
          <p:cNvGrpSpPr/>
          <p:nvPr/>
        </p:nvGrpSpPr>
        <p:grpSpPr>
          <a:xfrm>
            <a:off x="4999593" y="2838146"/>
            <a:ext cx="2825717" cy="662862"/>
            <a:chOff x="5860058" y="2694130"/>
            <a:chExt cx="2825717" cy="662862"/>
          </a:xfrm>
        </p:grpSpPr>
        <p:grpSp>
          <p:nvGrpSpPr>
            <p:cNvPr id="43" name="그룹 42">
              <a:extLst>
                <a:ext uri="{FF2B5EF4-FFF2-40B4-BE49-F238E27FC236}">
                  <a16:creationId xmlns:a16="http://schemas.microsoft.com/office/drawing/2014/main" id="{2B37DBCF-F966-3A7F-5BEC-6A76FBF7FD68}"/>
                </a:ext>
              </a:extLst>
            </p:cNvPr>
            <p:cNvGrpSpPr/>
            <p:nvPr/>
          </p:nvGrpSpPr>
          <p:grpSpPr>
            <a:xfrm>
              <a:off x="5860058" y="3068992"/>
              <a:ext cx="2810534" cy="288000"/>
              <a:chOff x="673240" y="2007241"/>
              <a:chExt cx="2810534" cy="288000"/>
            </a:xfrm>
          </p:grpSpPr>
          <p:sp>
            <p:nvSpPr>
              <p:cNvPr id="48" name="사각형: 둥근 모서리 33">
                <a:extLst>
                  <a:ext uri="{FF2B5EF4-FFF2-40B4-BE49-F238E27FC236}">
                    <a16:creationId xmlns:a16="http://schemas.microsoft.com/office/drawing/2014/main" id="{AAAA2D50-5F01-759B-A32F-C6235883E8B0}"/>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49" name="사각형: 둥근 모서리 34">
                <a:extLst>
                  <a:ext uri="{FF2B5EF4-FFF2-40B4-BE49-F238E27FC236}">
                    <a16:creationId xmlns:a16="http://schemas.microsoft.com/office/drawing/2014/main" id="{915FE6C9-FA73-CDA1-C760-DE436DD3223D}"/>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algn="r" defTabSz="457200" eaLnBrk="1" fontAlgn="auto" latinLnBrk="0" hangingPunct="1">
                  <a:spcBef>
                    <a:spcPts val="0"/>
                  </a:spcBef>
                  <a:spcAft>
                    <a:spcPts val="0"/>
                  </a:spcAft>
                  <a:buNone/>
                </a:pPr>
                <a:r>
                  <a:rPr lang="ko-KR" altLang="en-US" sz="700" kern="0">
                    <a:solidFill>
                      <a:prstClr val="white"/>
                    </a:solidFill>
                    <a:latin typeface="+mn-ea"/>
                    <a:ea typeface="+mn-ea"/>
                  </a:rPr>
                  <a:t>필수</a:t>
                </a:r>
                <a:endParaRPr lang="ko-KR" altLang="en-US" sz="700" kern="0" dirty="0">
                  <a:solidFill>
                    <a:prstClr val="white"/>
                  </a:solidFill>
                  <a:latin typeface="+mn-ea"/>
                  <a:ea typeface="+mn-ea"/>
                </a:endParaRPr>
              </a:p>
            </p:txBody>
          </p:sp>
          <p:sp>
            <p:nvSpPr>
              <p:cNvPr id="50" name="모서리가 둥근 직사각형 110">
                <a:extLst>
                  <a:ext uri="{FF2B5EF4-FFF2-40B4-BE49-F238E27FC236}">
                    <a16:creationId xmlns:a16="http://schemas.microsoft.com/office/drawing/2014/main" id="{F74E9949-5EF8-3463-8175-FA357F513FA8}"/>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유압제어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part 2</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44" name="그룹 43">
              <a:extLst>
                <a:ext uri="{FF2B5EF4-FFF2-40B4-BE49-F238E27FC236}">
                  <a16:creationId xmlns:a16="http://schemas.microsoft.com/office/drawing/2014/main" id="{5B5CE273-315A-BCDE-94CA-9F60CDFEED37}"/>
                </a:ext>
              </a:extLst>
            </p:cNvPr>
            <p:cNvGrpSpPr/>
            <p:nvPr/>
          </p:nvGrpSpPr>
          <p:grpSpPr>
            <a:xfrm>
              <a:off x="5875241" y="2694130"/>
              <a:ext cx="2810534" cy="288000"/>
              <a:chOff x="673240" y="2007241"/>
              <a:chExt cx="2810534" cy="288000"/>
            </a:xfrm>
          </p:grpSpPr>
          <p:sp>
            <p:nvSpPr>
              <p:cNvPr id="45" name="사각형: 둥근 모서리 33">
                <a:extLst>
                  <a:ext uri="{FF2B5EF4-FFF2-40B4-BE49-F238E27FC236}">
                    <a16:creationId xmlns:a16="http://schemas.microsoft.com/office/drawing/2014/main" id="{45DB7367-4B3A-B113-300C-5A77F70CACBC}"/>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46" name="사각형: 둥근 모서리 34">
                <a:extLst>
                  <a:ext uri="{FF2B5EF4-FFF2-40B4-BE49-F238E27FC236}">
                    <a16:creationId xmlns:a16="http://schemas.microsoft.com/office/drawing/2014/main" id="{CEDBDA63-B2EB-25DC-C724-536487B42166}"/>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0" normalizeH="0" baseline="0" noProof="0">
                    <a:ln>
                      <a:noFill/>
                    </a:ln>
                    <a:solidFill>
                      <a:prstClr val="white"/>
                    </a:solidFill>
                    <a:effectLst/>
                    <a:uLnTx/>
                    <a:uFillTx/>
                    <a:latin typeface="+mn-ea"/>
                    <a:ea typeface="+mn-ea"/>
                    <a:cs typeface="+mn-cs"/>
                  </a:rPr>
                  <a:t>필수</a:t>
                </a:r>
                <a:endParaRPr kumimoji="0" lang="ko-KR" altLang="en-US" sz="900" b="0" i="0" u="none" strike="noStrike" kern="0" cap="none" spc="0" normalizeH="0" baseline="0" noProof="0" dirty="0">
                  <a:ln>
                    <a:noFill/>
                  </a:ln>
                  <a:solidFill>
                    <a:prstClr val="white"/>
                  </a:solidFill>
                  <a:effectLst/>
                  <a:uLnTx/>
                  <a:uFillTx/>
                  <a:latin typeface="+mn-ea"/>
                  <a:ea typeface="+mn-ea"/>
                  <a:cs typeface="+mn-cs"/>
                </a:endParaRPr>
              </a:p>
            </p:txBody>
          </p:sp>
          <p:sp>
            <p:nvSpPr>
              <p:cNvPr id="47" name="모서리가 둥근 직사각형 110">
                <a:extLst>
                  <a:ext uri="{FF2B5EF4-FFF2-40B4-BE49-F238E27FC236}">
                    <a16:creationId xmlns:a16="http://schemas.microsoft.com/office/drawing/2014/main" id="{E26461C0-80AD-1157-7665-D0C9D094C5B9}"/>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유압제어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part 1</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cxnSp>
        <p:nvCxnSpPr>
          <p:cNvPr id="51" name="연결선: 꺾임 50">
            <a:extLst>
              <a:ext uri="{FF2B5EF4-FFF2-40B4-BE49-F238E27FC236}">
                <a16:creationId xmlns:a16="http://schemas.microsoft.com/office/drawing/2014/main" id="{47F24691-ACD8-2C09-C96B-8AF56D1B0026}"/>
              </a:ext>
            </a:extLst>
          </p:cNvPr>
          <p:cNvCxnSpPr>
            <a:cxnSpLocks/>
            <a:stCxn id="23" idx="3"/>
            <a:endCxn id="41" idx="3"/>
          </p:cNvCxnSpPr>
          <p:nvPr/>
        </p:nvCxnSpPr>
        <p:spPr>
          <a:xfrm flipV="1">
            <a:off x="7977337" y="3092724"/>
            <a:ext cx="12700" cy="181451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9D6AE68-D52E-A3B2-F331-914446C9F4F0}"/>
              </a:ext>
            </a:extLst>
          </p:cNvPr>
          <p:cNvSpPr txBox="1"/>
          <p:nvPr/>
        </p:nvSpPr>
        <p:spPr>
          <a:xfrm>
            <a:off x="8229364" y="4359036"/>
            <a:ext cx="1186145" cy="672044"/>
          </a:xfrm>
          <a:prstGeom prst="rect">
            <a:avLst/>
          </a:prstGeom>
          <a:solidFill>
            <a:schemeClr val="accent6">
              <a:lumMod val="20000"/>
              <a:lumOff val="8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defPPr>
              <a:defRPr lang="en-US"/>
            </a:defPPr>
            <a:lvl1pPr>
              <a:buNone/>
              <a:defRPr>
                <a:solidFill>
                  <a:schemeClr val="lt1"/>
                </a:solidFill>
                <a:latin typeface="Arial Narrow" panose="020B0606020202030204" pitchFamily="34"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171450" indent="-171450" algn="l">
              <a:buFont typeface="Wingdings" panose="05000000000000000000" pitchFamily="2" charset="2"/>
              <a:buChar char="Ø"/>
            </a:pPr>
            <a:r>
              <a:rPr lang="ko-KR" altLang="en-US" sz="1100">
                <a:solidFill>
                  <a:schemeClr val="accent6">
                    <a:lumMod val="75000"/>
                  </a:schemeClr>
                </a:solidFill>
                <a:ea typeface="a고딕14" panose="02020600000000000000" pitchFamily="18" charset="-127"/>
              </a:rPr>
              <a:t>미시적인 </a:t>
            </a:r>
            <a:r>
              <a:rPr lang="ko-KR" altLang="en-US" sz="1100" u="sng">
                <a:solidFill>
                  <a:schemeClr val="accent6">
                    <a:lumMod val="75000"/>
                  </a:schemeClr>
                </a:solidFill>
                <a:ea typeface="a고딕14" panose="02020600000000000000" pitchFamily="18" charset="-127"/>
              </a:rPr>
              <a:t>과정별 </a:t>
            </a:r>
            <a:br>
              <a:rPr lang="en-US" altLang="ko-KR" sz="1100" u="sng">
                <a:solidFill>
                  <a:schemeClr val="accent6">
                    <a:lumMod val="75000"/>
                  </a:schemeClr>
                </a:solidFill>
                <a:ea typeface="a고딕14" panose="02020600000000000000" pitchFamily="18" charset="-127"/>
              </a:rPr>
            </a:br>
            <a:r>
              <a:rPr lang="ko-KR" altLang="en-US" sz="1100" u="sng">
                <a:solidFill>
                  <a:schemeClr val="accent6">
                    <a:lumMod val="75000"/>
                  </a:schemeClr>
                </a:solidFill>
                <a:ea typeface="a고딕14" panose="02020600000000000000" pitchFamily="18" charset="-127"/>
              </a:rPr>
              <a:t>순서 도출</a:t>
            </a:r>
            <a:r>
              <a:rPr lang="ko-KR" altLang="en-US" sz="1100">
                <a:solidFill>
                  <a:schemeClr val="accent6">
                    <a:lumMod val="75000"/>
                  </a:schemeClr>
                </a:solidFill>
                <a:ea typeface="a고딕14" panose="02020600000000000000" pitchFamily="18" charset="-127"/>
              </a:rPr>
              <a:t>에는 </a:t>
            </a:r>
            <a:br>
              <a:rPr lang="en-US" altLang="ko-KR" sz="1100">
                <a:solidFill>
                  <a:schemeClr val="accent6">
                    <a:lumMod val="75000"/>
                  </a:schemeClr>
                </a:solidFill>
                <a:ea typeface="a고딕14" panose="02020600000000000000" pitchFamily="18" charset="-127"/>
              </a:rPr>
            </a:br>
            <a:r>
              <a:rPr lang="ko-KR" altLang="en-US" sz="1100" u="sng">
                <a:solidFill>
                  <a:schemeClr val="accent6">
                    <a:lumMod val="75000"/>
                  </a:schemeClr>
                </a:solidFill>
                <a:ea typeface="a고딕14" panose="02020600000000000000" pitchFamily="18" charset="-127"/>
              </a:rPr>
              <a:t>한계</a:t>
            </a:r>
            <a:r>
              <a:rPr lang="ko-KR" altLang="en-US" sz="1100">
                <a:solidFill>
                  <a:schemeClr val="accent6">
                    <a:lumMod val="75000"/>
                  </a:schemeClr>
                </a:solidFill>
                <a:ea typeface="a고딕14" panose="02020600000000000000" pitchFamily="18" charset="-127"/>
              </a:rPr>
              <a:t>가 있음</a:t>
            </a:r>
            <a:endParaRPr lang="ko-KR" altLang="en-US" sz="1100" dirty="0">
              <a:solidFill>
                <a:schemeClr val="accent6">
                  <a:lumMod val="75000"/>
                </a:schemeClr>
              </a:solidFill>
              <a:ea typeface="a고딕14" panose="02020600000000000000" pitchFamily="18" charset="-127"/>
            </a:endParaRPr>
          </a:p>
        </p:txBody>
      </p:sp>
      <p:sp>
        <p:nvSpPr>
          <p:cNvPr id="53" name="TextBox 52">
            <a:extLst>
              <a:ext uri="{FF2B5EF4-FFF2-40B4-BE49-F238E27FC236}">
                <a16:creationId xmlns:a16="http://schemas.microsoft.com/office/drawing/2014/main" id="{A0D37CA4-5B82-C56A-141B-35411FB55097}"/>
              </a:ext>
            </a:extLst>
          </p:cNvPr>
          <p:cNvSpPr txBox="1"/>
          <p:nvPr/>
        </p:nvSpPr>
        <p:spPr>
          <a:xfrm>
            <a:off x="4818361" y="2528900"/>
            <a:ext cx="1762021" cy="261610"/>
          </a:xfrm>
          <a:prstGeom prst="rect">
            <a:avLst/>
          </a:prstGeom>
          <a:noFill/>
        </p:spPr>
        <p:txBody>
          <a:bodyPr wrap="none" rtlCol="0">
            <a:spAutoFit/>
          </a:bodyPr>
          <a:lstStyle/>
          <a:p>
            <a:pPr algn="l">
              <a:buNone/>
            </a:pPr>
            <a:r>
              <a:rPr lang="ko-KR" altLang="en-US" sz="1050">
                <a:latin typeface="Arial Narrow" panose="020B0606020202030204" pitchFamily="34" charset="0"/>
                <a:ea typeface="a고딕14" panose="02020600000000000000" pitchFamily="18" charset="-127"/>
              </a:rPr>
              <a:t>매칭된 능력단위명</a:t>
            </a:r>
            <a:r>
              <a:rPr lang="en-US" altLang="ko-KR" sz="1050">
                <a:latin typeface="Arial Narrow" panose="020B0606020202030204" pitchFamily="34" charset="0"/>
                <a:ea typeface="a고딕14" panose="02020600000000000000" pitchFamily="18" charset="-127"/>
              </a:rPr>
              <a:t>: </a:t>
            </a:r>
            <a:r>
              <a:rPr lang="ko-KR" altLang="en-US" sz="1050">
                <a:latin typeface="Arial Narrow" panose="020B0606020202030204" pitchFamily="34" charset="0"/>
                <a:ea typeface="a고딕14" panose="02020600000000000000" pitchFamily="18" charset="-127"/>
              </a:rPr>
              <a:t>유압제어</a:t>
            </a:r>
            <a:endParaRPr lang="ko-KR" altLang="en-US" sz="1050" dirty="0">
              <a:latin typeface="Arial Narrow" panose="020B0606020202030204" pitchFamily="34" charset="0"/>
              <a:ea typeface="a고딕14" panose="02020600000000000000" pitchFamily="18" charset="-127"/>
            </a:endParaRPr>
          </a:p>
        </p:txBody>
      </p:sp>
      <p:sp>
        <p:nvSpPr>
          <p:cNvPr id="54" name="TextBox 53">
            <a:extLst>
              <a:ext uri="{FF2B5EF4-FFF2-40B4-BE49-F238E27FC236}">
                <a16:creationId xmlns:a16="http://schemas.microsoft.com/office/drawing/2014/main" id="{63C3CEE1-E7BC-9467-84F6-8EDB833C9475}"/>
              </a:ext>
            </a:extLst>
          </p:cNvPr>
          <p:cNvSpPr txBox="1"/>
          <p:nvPr/>
        </p:nvSpPr>
        <p:spPr>
          <a:xfrm>
            <a:off x="4818360" y="4009221"/>
            <a:ext cx="2257349" cy="253916"/>
          </a:xfrm>
          <a:prstGeom prst="rect">
            <a:avLst/>
          </a:prstGeom>
          <a:noFill/>
        </p:spPr>
        <p:txBody>
          <a:bodyPr wrap="none" rtlCol="0">
            <a:spAutoFit/>
          </a:bodyPr>
          <a:lstStyle/>
          <a:p>
            <a:pPr algn="l">
              <a:buNone/>
            </a:pPr>
            <a:r>
              <a:rPr lang="ko-KR" altLang="en-US" sz="1050">
                <a:latin typeface="Arial Narrow" panose="020B0606020202030204" pitchFamily="34" charset="0"/>
                <a:ea typeface="a고딕14" panose="02020600000000000000" pitchFamily="18" charset="-127"/>
              </a:rPr>
              <a:t>매칭된 능력단위명</a:t>
            </a:r>
            <a:r>
              <a:rPr lang="en-US" altLang="ko-KR" sz="1050">
                <a:latin typeface="Arial Narrow" panose="020B0606020202030204" pitchFamily="34" charset="0"/>
                <a:ea typeface="a고딕14" panose="02020600000000000000" pitchFamily="18" charset="-127"/>
              </a:rPr>
              <a:t>: 3D</a:t>
            </a:r>
            <a:r>
              <a:rPr lang="ko-KR" altLang="en-US" sz="1050">
                <a:latin typeface="Arial Narrow" panose="020B0606020202030204" pitchFamily="34" charset="0"/>
                <a:ea typeface="a고딕14" panose="02020600000000000000" pitchFamily="18" charset="-127"/>
              </a:rPr>
              <a:t>형상 모델링 작업</a:t>
            </a:r>
            <a:endParaRPr lang="ko-KR" altLang="en-US" sz="1050" dirty="0">
              <a:latin typeface="Arial Narrow" panose="020B0606020202030204" pitchFamily="34" charset="0"/>
              <a:ea typeface="a고딕14" panose="02020600000000000000" pitchFamily="18" charset="-127"/>
            </a:endParaRPr>
          </a:p>
        </p:txBody>
      </p:sp>
      <p:sp>
        <p:nvSpPr>
          <p:cNvPr id="55" name="TextBox 54">
            <a:extLst>
              <a:ext uri="{FF2B5EF4-FFF2-40B4-BE49-F238E27FC236}">
                <a16:creationId xmlns:a16="http://schemas.microsoft.com/office/drawing/2014/main" id="{06CDA070-5D76-C814-7D6E-60B0165529DB}"/>
              </a:ext>
            </a:extLst>
          </p:cNvPr>
          <p:cNvSpPr txBox="1"/>
          <p:nvPr/>
        </p:nvSpPr>
        <p:spPr>
          <a:xfrm>
            <a:off x="8183719" y="3320988"/>
            <a:ext cx="1198845" cy="1015663"/>
          </a:xfrm>
          <a:prstGeom prst="rect">
            <a:avLst/>
          </a:prstGeom>
          <a:noFill/>
        </p:spPr>
        <p:txBody>
          <a:bodyPr wrap="square">
            <a:spAutoFit/>
          </a:bodyPr>
          <a:lstStyle/>
          <a:p>
            <a:pPr algn="l">
              <a:buNone/>
            </a:pPr>
            <a:r>
              <a:rPr lang="ko-KR" altLang="en-US">
                <a:ea typeface="a고딕14" panose="02020600000000000000" pitchFamily="18" charset="-127"/>
              </a:rPr>
              <a:t>높은 수준의 </a:t>
            </a:r>
            <a:br>
              <a:rPr lang="en-US" altLang="ko-KR">
                <a:ea typeface="a고딕14" panose="02020600000000000000" pitchFamily="18" charset="-127"/>
              </a:rPr>
            </a:br>
            <a:r>
              <a:rPr lang="ko-KR" altLang="en-US">
                <a:ea typeface="a고딕14" panose="02020600000000000000" pitchFamily="18" charset="-127"/>
              </a:rPr>
              <a:t>능력단위와 </a:t>
            </a:r>
            <a:br>
              <a:rPr lang="en-US" altLang="ko-KR">
                <a:ea typeface="a고딕14" panose="02020600000000000000" pitchFamily="18" charset="-127"/>
              </a:rPr>
            </a:br>
            <a:r>
              <a:rPr lang="ko-KR" altLang="en-US">
                <a:ea typeface="a고딕14" panose="02020600000000000000" pitchFamily="18" charset="-127"/>
              </a:rPr>
              <a:t>매칭된 과정을 후수과정으로 </a:t>
            </a:r>
            <a:br>
              <a:rPr lang="en-US" altLang="ko-KR">
                <a:ea typeface="a고딕14" panose="02020600000000000000" pitchFamily="18" charset="-127"/>
              </a:rPr>
            </a:br>
            <a:r>
              <a:rPr lang="ko-KR" altLang="en-US">
                <a:ea typeface="a고딕14" panose="02020600000000000000" pitchFamily="18" charset="-127"/>
              </a:rPr>
              <a:t>보고 작성</a:t>
            </a:r>
            <a:endParaRPr lang="ko-KR" altLang="en-US" sz="1200" dirty="0">
              <a:ea typeface="a고딕14" panose="02020600000000000000" pitchFamily="18" charset="-127"/>
            </a:endParaRPr>
          </a:p>
        </p:txBody>
      </p:sp>
    </p:spTree>
    <p:extLst>
      <p:ext uri="{BB962C8B-B14F-4D97-AF65-F5344CB8AC3E}">
        <p14:creationId xmlns:p14="http://schemas.microsoft.com/office/powerpoint/2010/main" val="1302860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EF928-15E0-8C58-340D-5D1CE9247C27}"/>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17E8D267-3A19-C558-D09E-C5F1E59DFAA2}"/>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921EE17D-FCBA-0BB9-1D5A-78A8F60F3DDC}"/>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학습 흐름 제언</a:t>
            </a:r>
          </a:p>
        </p:txBody>
      </p:sp>
      <p:sp>
        <p:nvSpPr>
          <p:cNvPr id="12" name="직사각형 11">
            <a:extLst>
              <a:ext uri="{FF2B5EF4-FFF2-40B4-BE49-F238E27FC236}">
                <a16:creationId xmlns:a16="http://schemas.microsoft.com/office/drawing/2014/main" id="{4C9A41F3-3786-9823-E23C-E02065E957F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5.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데이터 관리방안 및 </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TTR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흐름 제언</a:t>
            </a:r>
            <a:endParaRPr lang="ko-KR" altLang="en-US" sz="1100" dirty="0">
              <a:solidFill>
                <a:srgbClr val="003F56"/>
              </a:solidFill>
              <a:latin typeface="a고딕14"/>
              <a:ea typeface="a고딕14"/>
            </a:endParaRPr>
          </a:p>
        </p:txBody>
      </p:sp>
      <p:sp>
        <p:nvSpPr>
          <p:cNvPr id="13" name="텍스트 개체 틀 1">
            <a:extLst>
              <a:ext uri="{FF2B5EF4-FFF2-40B4-BE49-F238E27FC236}">
                <a16:creationId xmlns:a16="http://schemas.microsoft.com/office/drawing/2014/main" id="{57149C0B-0B1B-EF89-AA46-5A31C6555E66}"/>
              </a:ext>
            </a:extLst>
          </p:cNvPr>
          <p:cNvSpPr>
            <a:spLocks noGrp="1"/>
          </p:cNvSpPr>
          <p:nvPr>
            <p:ph type="body" sz="quarter" idx="12"/>
          </p:nvPr>
        </p:nvSpPr>
        <p:spPr>
          <a:xfrm>
            <a:off x="596515" y="650182"/>
            <a:ext cx="8749097" cy="815119"/>
          </a:xfrm>
        </p:spPr>
        <p:txBody>
          <a:bodyPr/>
          <a:lstStyle/>
          <a:p>
            <a:pPr latinLnBrk="0"/>
            <a:r>
              <a:rPr lang="ko-KR" altLang="en-US" dirty="0">
                <a:latin typeface="a고딕14" panose="02020600000000000000" pitchFamily="18" charset="-127"/>
              </a:rPr>
              <a:t>또</a:t>
            </a:r>
            <a:r>
              <a:rPr lang="en-US" altLang="ko-KR" dirty="0">
                <a:latin typeface="a고딕14" panose="02020600000000000000" pitchFamily="18" charset="-127"/>
              </a:rPr>
              <a:t>, IT SQF</a:t>
            </a:r>
            <a:r>
              <a:rPr lang="ko-KR" altLang="en-US" dirty="0">
                <a:latin typeface="a고딕14" panose="02020600000000000000" pitchFamily="18" charset="-127"/>
              </a:rPr>
              <a:t>를 예시로 </a:t>
            </a:r>
            <a:r>
              <a:rPr lang="ko-KR" altLang="en-US" dirty="0">
                <a:solidFill>
                  <a:srgbClr val="0070C0"/>
                </a:solidFill>
                <a:latin typeface="a고딕14" panose="02020600000000000000" pitchFamily="18" charset="-127"/>
              </a:rPr>
              <a:t>직무 수준 순서로 훈련 흐름을 도출하는 방안을 모색</a:t>
            </a:r>
            <a:r>
              <a:rPr lang="ko-KR" altLang="en-US" dirty="0">
                <a:latin typeface="a고딕14" panose="02020600000000000000" pitchFamily="18" charset="-127"/>
              </a:rPr>
              <a:t>하였으나 </a:t>
            </a:r>
            <a:r>
              <a:rPr lang="ko-KR" altLang="en-US" dirty="0">
                <a:solidFill>
                  <a:srgbClr val="0070C0"/>
                </a:solidFill>
                <a:latin typeface="a고딕14" panose="02020600000000000000" pitchFamily="18" charset="-127"/>
              </a:rPr>
              <a:t>동일한 능력단위가 여러 직무에 걸쳐 있는 경우에 대한 추가 검토가 필요</a:t>
            </a:r>
            <a:r>
              <a:rPr lang="ko-KR" altLang="en-US" dirty="0">
                <a:latin typeface="a고딕14" panose="02020600000000000000" pitchFamily="18" charset="-127"/>
              </a:rPr>
              <a:t>함</a:t>
            </a:r>
          </a:p>
        </p:txBody>
      </p:sp>
      <p:grpSp>
        <p:nvGrpSpPr>
          <p:cNvPr id="14" name="그룹 13">
            <a:extLst>
              <a:ext uri="{FF2B5EF4-FFF2-40B4-BE49-F238E27FC236}">
                <a16:creationId xmlns:a16="http://schemas.microsoft.com/office/drawing/2014/main" id="{CD13FE46-5419-4275-C708-363CDD826398}"/>
              </a:ext>
            </a:extLst>
          </p:cNvPr>
          <p:cNvGrpSpPr/>
          <p:nvPr/>
        </p:nvGrpSpPr>
        <p:grpSpPr>
          <a:xfrm>
            <a:off x="596515" y="1681030"/>
            <a:ext cx="8749098" cy="266602"/>
            <a:chOff x="802640" y="2236635"/>
            <a:chExt cx="4130805" cy="266552"/>
          </a:xfrm>
        </p:grpSpPr>
        <p:sp>
          <p:nvSpPr>
            <p:cNvPr id="15" name="ListLeanHorizontalTextTopic0">
              <a:extLst>
                <a:ext uri="{FF2B5EF4-FFF2-40B4-BE49-F238E27FC236}">
                  <a16:creationId xmlns:a16="http://schemas.microsoft.com/office/drawing/2014/main" id="{5E913DA1-1C7C-A7E5-061F-D1B538B972A4}"/>
                </a:ext>
              </a:extLst>
            </p:cNvPr>
            <p:cNvSpPr txBox="1"/>
            <p:nvPr/>
          </p:nvSpPr>
          <p:spPr>
            <a:xfrm>
              <a:off x="802640" y="2236635"/>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예시</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SQF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활용 훈련흐름도 </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정보통신 분야</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(ITSQF))</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C7FD286E-400A-1709-2D60-5B503C94E950}"/>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17" name="표 16">
            <a:extLst>
              <a:ext uri="{FF2B5EF4-FFF2-40B4-BE49-F238E27FC236}">
                <a16:creationId xmlns:a16="http://schemas.microsoft.com/office/drawing/2014/main" id="{14C486F0-7160-731D-80D4-9DC053389BC0}"/>
              </a:ext>
            </a:extLst>
          </p:cNvPr>
          <p:cNvGraphicFramePr>
            <a:graphicFrameLocks noGrp="1"/>
          </p:cNvGraphicFramePr>
          <p:nvPr>
            <p:extLst>
              <p:ext uri="{D42A27DB-BD31-4B8C-83A1-F6EECF244321}">
                <p14:modId xmlns:p14="http://schemas.microsoft.com/office/powerpoint/2010/main" val="1785976613"/>
              </p:ext>
            </p:extLst>
          </p:nvPr>
        </p:nvGraphicFramePr>
        <p:xfrm>
          <a:off x="596514" y="2626501"/>
          <a:ext cx="3964428" cy="3809430"/>
        </p:xfrm>
        <a:graphic>
          <a:graphicData uri="http://schemas.openxmlformats.org/drawingml/2006/table">
            <a:tbl>
              <a:tblPr/>
              <a:tblGrid>
                <a:gridCol w="481013">
                  <a:extLst>
                    <a:ext uri="{9D8B030D-6E8A-4147-A177-3AD203B41FA5}">
                      <a16:colId xmlns:a16="http://schemas.microsoft.com/office/drawing/2014/main" val="1167727015"/>
                    </a:ext>
                  </a:extLst>
                </a:gridCol>
                <a:gridCol w="1370013">
                  <a:extLst>
                    <a:ext uri="{9D8B030D-6E8A-4147-A177-3AD203B41FA5}">
                      <a16:colId xmlns:a16="http://schemas.microsoft.com/office/drawing/2014/main" val="889987157"/>
                    </a:ext>
                  </a:extLst>
                </a:gridCol>
                <a:gridCol w="1015658">
                  <a:extLst>
                    <a:ext uri="{9D8B030D-6E8A-4147-A177-3AD203B41FA5}">
                      <a16:colId xmlns:a16="http://schemas.microsoft.com/office/drawing/2014/main" val="507442510"/>
                    </a:ext>
                  </a:extLst>
                </a:gridCol>
                <a:gridCol w="548872">
                  <a:extLst>
                    <a:ext uri="{9D8B030D-6E8A-4147-A177-3AD203B41FA5}">
                      <a16:colId xmlns:a16="http://schemas.microsoft.com/office/drawing/2014/main" val="2925688091"/>
                    </a:ext>
                  </a:extLst>
                </a:gridCol>
                <a:gridCol w="548872">
                  <a:extLst>
                    <a:ext uri="{9D8B030D-6E8A-4147-A177-3AD203B41FA5}">
                      <a16:colId xmlns:a16="http://schemas.microsoft.com/office/drawing/2014/main" val="4006146377"/>
                    </a:ext>
                  </a:extLst>
                </a:gridCol>
              </a:tblGrid>
              <a:tr h="297049">
                <a:tc>
                  <a:txBody>
                    <a:bodyPr/>
                    <a:lstStyle/>
                    <a:p>
                      <a:pPr algn="ctr"/>
                      <a:r>
                        <a:rPr lang="ko-KR" altLang="en-US" sz="1000" b="0">
                          <a:solidFill>
                            <a:srgbClr val="000000"/>
                          </a:solidFill>
                          <a:effectLst/>
                          <a:latin typeface="+mn-ea"/>
                          <a:ea typeface="+mn-ea"/>
                        </a:rPr>
                        <a:t>직무수준</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필요능력단위명</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능력단위코드</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필수여부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능력단위</a:t>
                      </a:r>
                      <a:endParaRPr lang="en-US" altLang="ko-KR" sz="1000" b="0">
                        <a:solidFill>
                          <a:srgbClr val="000000"/>
                        </a:solidFill>
                        <a:effectLst/>
                        <a:latin typeface="+mn-ea"/>
                        <a:ea typeface="+mn-ea"/>
                      </a:endParaRPr>
                    </a:p>
                    <a:p>
                      <a:pPr algn="ctr"/>
                      <a:r>
                        <a:rPr lang="ko-KR" altLang="en-US" sz="1000" b="0">
                          <a:solidFill>
                            <a:srgbClr val="000000"/>
                          </a:solidFill>
                          <a:effectLst/>
                          <a:latin typeface="+mn-ea"/>
                          <a:ea typeface="+mn-ea"/>
                        </a:rPr>
                        <a:t>수준</a:t>
                      </a: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extLst>
                  <a:ext uri="{0D108BD9-81ED-4DB2-BD59-A6C34878D82A}">
                    <a16:rowId xmlns:a16="http://schemas.microsoft.com/office/drawing/2014/main" val="1125168293"/>
                  </a:ext>
                </a:extLst>
              </a:tr>
              <a:tr h="322818">
                <a:tc rowSpan="3">
                  <a:txBody>
                    <a:bodyPr/>
                    <a:lstStyle/>
                    <a:p>
                      <a:pPr algn="ctr"/>
                      <a:r>
                        <a:rPr lang="en-US" altLang="ko-KR" sz="1000" b="0" kern="1200">
                          <a:solidFill>
                            <a:srgbClr val="111111"/>
                          </a:solidFill>
                          <a:effectLst/>
                          <a:latin typeface="+mn-ea"/>
                          <a:ea typeface="+mn-ea"/>
                          <a:cs typeface="+mn-cs"/>
                        </a:rPr>
                        <a:t>7</a:t>
                      </a: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분석 데이터 피처</a:t>
                      </a:r>
                      <a:r>
                        <a:rPr lang="en-US" altLang="ko-KR" sz="1000" b="0" kern="1200">
                          <a:solidFill>
                            <a:srgbClr val="111111"/>
                          </a:solidFill>
                          <a:effectLst/>
                          <a:latin typeface="+mn-ea"/>
                          <a:ea typeface="+mn-ea"/>
                          <a:cs typeface="+mn-cs"/>
                        </a:rPr>
                        <a:t>(Feature) </a:t>
                      </a:r>
                      <a:r>
                        <a:rPr lang="ko-KR" altLang="en-US" sz="1000" b="0" kern="1200">
                          <a:solidFill>
                            <a:srgbClr val="111111"/>
                          </a:solidFill>
                          <a:effectLst/>
                          <a:latin typeface="+mn-ea"/>
                          <a:ea typeface="+mn-ea"/>
                          <a:cs typeface="+mn-cs"/>
                        </a:rPr>
                        <a:t>엔지니어링</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2001010512_21v1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7</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414097739"/>
                  </a:ext>
                </a:extLst>
              </a:tr>
              <a:tr h="322818">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빅데이터 분석 모델링</a:t>
                      </a:r>
                    </a:p>
                  </a:txBody>
                  <a:tcPr marL="45720" marR="45720" marT="0" marB="0" anchor="ctr">
                    <a:lnL w="6350" cap="flat" cmpd="sng" algn="ctr">
                      <a:solidFill>
                        <a:srgbClr val="0070C0"/>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2001010513_21v1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7</a:t>
                      </a:r>
                    </a:p>
                  </a:txBody>
                  <a:tcPr marL="59088" marR="59088" marT="29544" marB="29544" anchor="ctr">
                    <a:lnL w="3175" cap="flat" cmpd="sng" algn="ctr">
                      <a:solidFill>
                        <a:schemeClr val="tx1"/>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538532806"/>
                  </a:ext>
                </a:extLst>
              </a:tr>
              <a:tr h="322818">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fontAlgn="ctr"/>
                      <a:r>
                        <a:rPr lang="ko-KR" altLang="en-US" sz="1000" b="0" kern="1200">
                          <a:solidFill>
                            <a:srgbClr val="111111"/>
                          </a:solidFill>
                          <a:effectLst/>
                          <a:latin typeface="+mn-ea"/>
                          <a:ea typeface="+mn-ea"/>
                          <a:cs typeface="+mn-cs"/>
                        </a:rPr>
                        <a:t>빅데이터 분석 결과 평가</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2001010514_21v1</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7</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45249592"/>
                  </a:ext>
                </a:extLst>
              </a:tr>
              <a:tr h="322818">
                <a:tc rowSpan="3">
                  <a:txBody>
                    <a:bodyPr/>
                    <a:lstStyle/>
                    <a:p>
                      <a:pPr algn="ctr"/>
                      <a:r>
                        <a:rPr lang="en-US" altLang="ko-KR" sz="1000" b="0" kern="1200">
                          <a:solidFill>
                            <a:srgbClr val="111111"/>
                          </a:solidFill>
                          <a:effectLst/>
                          <a:latin typeface="+mn-ea"/>
                          <a:ea typeface="+mn-ea"/>
                          <a:cs typeface="+mn-cs"/>
                        </a:rPr>
                        <a:t>6</a:t>
                      </a: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분석 데이터 전처리</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2001010510_21v4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fontAlgn="ctr" latinLnBrk="1" hangingPunct="1"/>
                      <a:r>
                        <a:rPr lang="en-US" altLang="ko-KR" sz="1000" b="0" kern="1200">
                          <a:solidFill>
                            <a:srgbClr val="11111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3981945450"/>
                  </a:ext>
                </a:extLst>
              </a:tr>
              <a:tr h="322818">
                <a:tc vMerge="1">
                  <a:txBody>
                    <a:bodyPr/>
                    <a:lstStyle/>
                    <a:p>
                      <a:pPr algn="ct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탐색적 데이터 분석</a:t>
                      </a:r>
                    </a:p>
                  </a:txBody>
                  <a:tcPr marL="45720" marR="45720" marT="0" marB="0" anchor="ctr">
                    <a:lnL w="6350" cap="flat" cmpd="sng" algn="ctr">
                      <a:solidFill>
                        <a:srgbClr val="0070C0"/>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2001010511_21v4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fontAlgn="ctr" latinLnBrk="1" hangingPunct="1"/>
                      <a:r>
                        <a:rPr lang="en-US" altLang="ko-KR" sz="1000" b="0" kern="1200">
                          <a:solidFill>
                            <a:srgbClr val="11111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389172137"/>
                  </a:ext>
                </a:extLst>
              </a:tr>
              <a:tr h="322818">
                <a:tc vMerge="1">
                  <a:txBody>
                    <a:bodyPr/>
                    <a:lstStyle/>
                    <a:p>
                      <a:pPr algn="ct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분석 데이터 피처</a:t>
                      </a:r>
                      <a:r>
                        <a:rPr lang="en-US" altLang="ko-KR" sz="1000" b="0" kern="1200">
                          <a:solidFill>
                            <a:srgbClr val="111111"/>
                          </a:solidFill>
                          <a:effectLst/>
                          <a:latin typeface="+mn-ea"/>
                          <a:ea typeface="+mn-ea"/>
                          <a:cs typeface="+mn-cs"/>
                        </a:rPr>
                        <a:t>(Feature) </a:t>
                      </a:r>
                      <a:r>
                        <a:rPr lang="ko-KR" altLang="en-US" sz="1000" b="0" kern="1200">
                          <a:solidFill>
                            <a:srgbClr val="111111"/>
                          </a:solidFill>
                          <a:effectLst/>
                          <a:latin typeface="+mn-ea"/>
                          <a:ea typeface="+mn-ea"/>
                          <a:cs typeface="+mn-cs"/>
                        </a:rPr>
                        <a:t>엔지니어링</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2001010512_21v1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7</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7311904"/>
                  </a:ext>
                </a:extLst>
              </a:tr>
              <a:tr h="322818">
                <a:tc rowSpan="4">
                  <a:txBody>
                    <a:bodyPr/>
                    <a:lstStyle/>
                    <a:p>
                      <a:pPr marL="0" algn="ctr" defTabSz="914400" rtl="0" eaLnBrk="1" latinLnBrk="1" hangingPunct="1"/>
                      <a:r>
                        <a:rPr lang="en-US" altLang="ko-KR" sz="1000" b="0" kern="1200">
                          <a:solidFill>
                            <a:srgbClr val="111111"/>
                          </a:solidFill>
                          <a:effectLst/>
                          <a:latin typeface="+mn-ea"/>
                          <a:ea typeface="+mn-ea"/>
                          <a:cs typeface="+mn-cs"/>
                        </a:rPr>
                        <a:t>5</a:t>
                      </a: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분석 데이터 전처리</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2001010510_21v4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fontAlgn="ctr" latinLnBrk="1" hangingPunct="1"/>
                      <a:r>
                        <a:rPr lang="en-US" altLang="ko-KR" sz="1000" b="0" kern="1200">
                          <a:solidFill>
                            <a:srgbClr val="11111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18030846"/>
                  </a:ext>
                </a:extLst>
              </a:tr>
              <a:tr h="322818">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탐색적 데이터 분석</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2001010511_21v4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fontAlgn="ctr" latinLnBrk="1" hangingPunct="1"/>
                      <a:r>
                        <a:rPr lang="en-US" altLang="ko-KR" sz="1000" b="0" kern="1200">
                          <a:solidFill>
                            <a:srgbClr val="11111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6379867"/>
                  </a:ext>
                </a:extLst>
              </a:tr>
              <a:tr h="322818">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빅데이터 분석 기획</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2001010703_24v3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6</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49094659"/>
                  </a:ext>
                </a:extLst>
              </a:tr>
              <a:tr h="387780">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SQL </a:t>
                      </a:r>
                      <a:r>
                        <a:rPr lang="ko-KR" altLang="en-US" sz="1000" b="0" kern="1200">
                          <a:solidFill>
                            <a:srgbClr val="111111"/>
                          </a:solidFill>
                          <a:effectLst/>
                          <a:latin typeface="+mn-ea"/>
                          <a:ea typeface="+mn-ea"/>
                          <a:cs typeface="+mn-cs"/>
                        </a:rPr>
                        <a:t>응용</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2001020414_19v4</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5</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00622752"/>
                  </a:ext>
                </a:extLst>
              </a:tr>
              <a:tr h="20611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kern="1200">
                          <a:solidFill>
                            <a:srgbClr val="111111"/>
                          </a:solidFill>
                          <a:effectLst/>
                          <a:latin typeface="+mn-ea"/>
                          <a:ea typeface="+mn-ea"/>
                          <a:cs typeface="+mn-cs"/>
                        </a:rPr>
                        <a:t>…</a:t>
                      </a:r>
                      <a:endParaRPr lang="ko-KR" altLang="en-US" sz="800" b="0" kern="1200">
                        <a:solidFill>
                          <a:srgbClr val="111111"/>
                        </a:solidFill>
                        <a:effectLst/>
                        <a:latin typeface="+mn-ea"/>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08995320"/>
                  </a:ext>
                </a:extLst>
              </a:tr>
            </a:tbl>
          </a:graphicData>
        </a:graphic>
      </p:graphicFrame>
      <p:sp>
        <p:nvSpPr>
          <p:cNvPr id="18" name="TextBox 17">
            <a:extLst>
              <a:ext uri="{FF2B5EF4-FFF2-40B4-BE49-F238E27FC236}">
                <a16:creationId xmlns:a16="http://schemas.microsoft.com/office/drawing/2014/main" id="{61BE89D9-81AB-F2CD-F5F5-9868B4C23E2E}"/>
              </a:ext>
            </a:extLst>
          </p:cNvPr>
          <p:cNvSpPr txBox="1"/>
          <p:nvPr/>
        </p:nvSpPr>
        <p:spPr>
          <a:xfrm>
            <a:off x="596515" y="2312876"/>
            <a:ext cx="1268296" cy="261610"/>
          </a:xfrm>
          <a:prstGeom prst="rect">
            <a:avLst/>
          </a:prstGeom>
          <a:noFill/>
        </p:spPr>
        <p:txBody>
          <a:bodyPr wrap="none" rtlCol="0">
            <a:spAutoFit/>
          </a:bodyPr>
          <a:lstStyle/>
          <a:p>
            <a:pPr algn="l">
              <a:buNone/>
            </a:pPr>
            <a:r>
              <a:rPr lang="ko-KR" altLang="en-US" sz="1100">
                <a:solidFill>
                  <a:srgbClr val="535353"/>
                </a:solidFill>
                <a:latin typeface="Arial Narrow" panose="020B0606020202030204" pitchFamily="34" charset="0"/>
                <a:ea typeface="a고딕14" panose="02020600000000000000" pitchFamily="18" charset="-127"/>
              </a:rPr>
              <a:t>직무명</a:t>
            </a:r>
            <a:r>
              <a:rPr lang="ko-KR" altLang="en-US" sz="1100">
                <a:latin typeface="Arial Narrow" panose="020B0606020202030204" pitchFamily="34" charset="0"/>
                <a:ea typeface="a고딕14" panose="02020600000000000000" pitchFamily="18" charset="-127"/>
              </a:rPr>
              <a:t> </a:t>
            </a:r>
            <a:r>
              <a:rPr lang="en-US" altLang="ko-KR" sz="1100">
                <a:latin typeface="Arial Narrow" panose="020B0606020202030204" pitchFamily="34" charset="0"/>
                <a:ea typeface="a고딕14" panose="02020600000000000000" pitchFamily="18" charset="-127"/>
              </a:rPr>
              <a:t>: </a:t>
            </a:r>
            <a:r>
              <a:rPr lang="ko-KR" altLang="en-US" sz="1100">
                <a:latin typeface="Arial Narrow" panose="020B0606020202030204" pitchFamily="34" charset="0"/>
                <a:ea typeface="a고딕14" panose="02020600000000000000" pitchFamily="18" charset="-127"/>
              </a:rPr>
              <a:t>데이터분석</a:t>
            </a:r>
            <a:endParaRPr lang="ko-KR" altLang="en-US" sz="1100" dirty="0">
              <a:latin typeface="Arial Narrow" panose="020B0606020202030204" pitchFamily="34" charset="0"/>
              <a:ea typeface="a고딕14" panose="02020600000000000000" pitchFamily="18" charset="-127"/>
            </a:endParaRPr>
          </a:p>
        </p:txBody>
      </p:sp>
      <p:sp>
        <p:nvSpPr>
          <p:cNvPr id="19" name="직사각형 18">
            <a:extLst>
              <a:ext uri="{FF2B5EF4-FFF2-40B4-BE49-F238E27FC236}">
                <a16:creationId xmlns:a16="http://schemas.microsoft.com/office/drawing/2014/main" id="{F1B104CE-07F1-2DCD-2982-31CEAEBD9E6B}"/>
              </a:ext>
            </a:extLst>
          </p:cNvPr>
          <p:cNvSpPr/>
          <p:nvPr/>
        </p:nvSpPr>
        <p:spPr bwMode="auto">
          <a:xfrm>
            <a:off x="596514" y="2060849"/>
            <a:ext cx="3964427"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a:solidFill>
                  <a:schemeClr val="bg1"/>
                </a:solidFill>
                <a:latin typeface="+mj-ea"/>
                <a:ea typeface="+mj-ea"/>
              </a:rPr>
              <a:t>직무기술서 정보 </a:t>
            </a:r>
            <a:r>
              <a:rPr lang="en-US" altLang="ko-KR" sz="1100" kern="0">
                <a:solidFill>
                  <a:schemeClr val="bg1"/>
                </a:solidFill>
                <a:latin typeface="+mj-ea"/>
                <a:ea typeface="+mj-ea"/>
              </a:rPr>
              <a:t>(</a:t>
            </a:r>
            <a:r>
              <a:rPr lang="ko-KR" altLang="en-US" sz="1100" kern="0">
                <a:solidFill>
                  <a:schemeClr val="bg1"/>
                </a:solidFill>
                <a:latin typeface="+mj-ea"/>
                <a:ea typeface="+mj-ea"/>
              </a:rPr>
              <a:t>예시</a:t>
            </a:r>
            <a:r>
              <a:rPr lang="en-US" altLang="ko-KR" sz="1100" kern="0">
                <a:solidFill>
                  <a:schemeClr val="bg1"/>
                </a:solidFill>
                <a:latin typeface="+mj-ea"/>
                <a:ea typeface="+mj-ea"/>
              </a:rPr>
              <a:t>)</a:t>
            </a:r>
            <a:endParaRPr lang="ko-KR" altLang="en-US" sz="1100" kern="0" dirty="0">
              <a:solidFill>
                <a:schemeClr val="bg1"/>
              </a:solidFill>
              <a:latin typeface="+mj-ea"/>
              <a:ea typeface="+mj-ea"/>
            </a:endParaRPr>
          </a:p>
        </p:txBody>
      </p:sp>
      <p:sp>
        <p:nvSpPr>
          <p:cNvPr id="20" name="직사각형 19">
            <a:extLst>
              <a:ext uri="{FF2B5EF4-FFF2-40B4-BE49-F238E27FC236}">
                <a16:creationId xmlns:a16="http://schemas.microsoft.com/office/drawing/2014/main" id="{1F6FB7D2-B6D5-7367-223B-A18F837CA304}"/>
              </a:ext>
            </a:extLst>
          </p:cNvPr>
          <p:cNvSpPr/>
          <p:nvPr/>
        </p:nvSpPr>
        <p:spPr bwMode="auto">
          <a:xfrm>
            <a:off x="4628963" y="2060849"/>
            <a:ext cx="4715723"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a:solidFill>
                  <a:schemeClr val="bg1"/>
                </a:solidFill>
                <a:latin typeface="+mj-ea"/>
                <a:ea typeface="+mj-ea"/>
              </a:rPr>
              <a:t>훈련흐름 도출 예시 및 이슈</a:t>
            </a:r>
            <a:endParaRPr lang="ko-KR" altLang="en-US" sz="1100" kern="0" dirty="0">
              <a:solidFill>
                <a:schemeClr val="bg1"/>
              </a:solidFill>
              <a:latin typeface="+mj-ea"/>
              <a:ea typeface="+mj-ea"/>
            </a:endParaRPr>
          </a:p>
        </p:txBody>
      </p:sp>
      <p:graphicFrame>
        <p:nvGraphicFramePr>
          <p:cNvPr id="21" name="표 8">
            <a:extLst>
              <a:ext uri="{FF2B5EF4-FFF2-40B4-BE49-F238E27FC236}">
                <a16:creationId xmlns:a16="http://schemas.microsoft.com/office/drawing/2014/main" id="{853798BC-6CD4-7F71-8B58-4AB8A403E1DE}"/>
              </a:ext>
            </a:extLst>
          </p:cNvPr>
          <p:cNvGraphicFramePr>
            <a:graphicFrameLocks noGrp="1"/>
          </p:cNvGraphicFramePr>
          <p:nvPr>
            <p:extLst>
              <p:ext uri="{D42A27DB-BD31-4B8C-83A1-F6EECF244321}">
                <p14:modId xmlns:p14="http://schemas.microsoft.com/office/powerpoint/2010/main" val="1524281267"/>
              </p:ext>
            </p:extLst>
          </p:nvPr>
        </p:nvGraphicFramePr>
        <p:xfrm>
          <a:off x="4628962" y="2342205"/>
          <a:ext cx="3851973" cy="4081872"/>
        </p:xfrm>
        <a:graphic>
          <a:graphicData uri="http://schemas.openxmlformats.org/drawingml/2006/table">
            <a:tbl>
              <a:tblPr firstRow="1" bandRow="1">
                <a:tableStyleId>{5C22544A-7EE6-4342-B048-85BDC9FD1C3A}</a:tableStyleId>
              </a:tblPr>
              <a:tblGrid>
                <a:gridCol w="304103">
                  <a:extLst>
                    <a:ext uri="{9D8B030D-6E8A-4147-A177-3AD203B41FA5}">
                      <a16:colId xmlns:a16="http://schemas.microsoft.com/office/drawing/2014/main" val="1380521767"/>
                    </a:ext>
                  </a:extLst>
                </a:gridCol>
                <a:gridCol w="3547870">
                  <a:extLst>
                    <a:ext uri="{9D8B030D-6E8A-4147-A177-3AD203B41FA5}">
                      <a16:colId xmlns:a16="http://schemas.microsoft.com/office/drawing/2014/main" val="2417938963"/>
                    </a:ext>
                  </a:extLst>
                </a:gridCol>
              </a:tblGrid>
              <a:tr h="1194807">
                <a:tc>
                  <a:txBody>
                    <a:bodyPr/>
                    <a:lstStyle/>
                    <a:p>
                      <a:pPr marL="0" algn="ctr" defTabSz="914400" rtl="0" eaLnBrk="1" latinLnBrk="1" hangingPunct="1"/>
                      <a:r>
                        <a:rPr lang="en-US" altLang="ko-KR" sz="1050" b="0" kern="1200">
                          <a:solidFill>
                            <a:schemeClr val="dk1"/>
                          </a:solidFill>
                          <a:latin typeface="+mn-lt"/>
                          <a:ea typeface="+mn-ea"/>
                          <a:cs typeface="+mn-cs"/>
                        </a:rPr>
                        <a:t>7</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8692317"/>
                  </a:ext>
                </a:extLst>
              </a:tr>
              <a:tr h="1152128">
                <a:tc>
                  <a:txBody>
                    <a:bodyPr/>
                    <a:lstStyle/>
                    <a:p>
                      <a:pPr marL="0" algn="ctr" defTabSz="914400" rtl="0" eaLnBrk="1" latinLnBrk="1" hangingPunct="1"/>
                      <a:r>
                        <a:rPr lang="en-US" altLang="ko-KR" sz="1050" b="0" kern="1200">
                          <a:solidFill>
                            <a:schemeClr val="dk1"/>
                          </a:solidFill>
                          <a:latin typeface="+mn-lt"/>
                          <a:ea typeface="+mn-ea"/>
                          <a:cs typeface="+mn-cs"/>
                        </a:rPr>
                        <a:t>6</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2783502"/>
                  </a:ext>
                </a:extLst>
              </a:tr>
              <a:tr h="1368000">
                <a:tc>
                  <a:txBody>
                    <a:bodyPr/>
                    <a:lstStyle/>
                    <a:p>
                      <a:pPr marL="0" algn="ctr" defTabSz="914400" rtl="0" eaLnBrk="1" latinLnBrk="1" hangingPunct="1"/>
                      <a:r>
                        <a:rPr lang="en-US" altLang="ko-KR" sz="1050" b="0" kern="1200">
                          <a:solidFill>
                            <a:schemeClr val="dk1"/>
                          </a:solidFill>
                          <a:latin typeface="+mn-lt"/>
                          <a:ea typeface="+mn-ea"/>
                          <a:cs typeface="+mn-cs"/>
                        </a:rPr>
                        <a:t>5</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1510031"/>
                  </a:ext>
                </a:extLst>
              </a:tr>
              <a:tr h="366937">
                <a:tc>
                  <a:txBody>
                    <a:bodyPr/>
                    <a:lstStyle/>
                    <a:p>
                      <a:pPr algn="ctr" latinLnBrk="1"/>
                      <a:r>
                        <a:rPr lang="ko-KR" altLang="en-US" sz="800"/>
                        <a:t>과정</a:t>
                      </a:r>
                      <a:endParaRPr lang="en-US" altLang="ko-KR" sz="800"/>
                    </a:p>
                    <a:p>
                      <a:pPr algn="ctr" latinLnBrk="1"/>
                      <a:r>
                        <a:rPr lang="ko-KR" altLang="en-US" sz="800"/>
                        <a:t>수준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r>
                        <a:rPr lang="ko-KR" altLang="en-US" sz="1050"/>
                        <a:t>데이터분석</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414334"/>
                  </a:ext>
                </a:extLst>
              </a:tr>
            </a:tbl>
          </a:graphicData>
        </a:graphic>
      </p:graphicFrame>
      <p:sp>
        <p:nvSpPr>
          <p:cNvPr id="22" name="직사각형 21">
            <a:extLst>
              <a:ext uri="{FF2B5EF4-FFF2-40B4-BE49-F238E27FC236}">
                <a16:creationId xmlns:a16="http://schemas.microsoft.com/office/drawing/2014/main" id="{EE0E9AEB-E233-4368-39DE-54D6A5135852}"/>
              </a:ext>
            </a:extLst>
          </p:cNvPr>
          <p:cNvSpPr/>
          <p:nvPr/>
        </p:nvSpPr>
        <p:spPr>
          <a:xfrm>
            <a:off x="5015632" y="2433086"/>
            <a:ext cx="3132348" cy="1031918"/>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23" name="그룹 22">
            <a:extLst>
              <a:ext uri="{FF2B5EF4-FFF2-40B4-BE49-F238E27FC236}">
                <a16:creationId xmlns:a16="http://schemas.microsoft.com/office/drawing/2014/main" id="{526B11FF-8A68-2B76-77C5-59AD7507C45F}"/>
              </a:ext>
            </a:extLst>
          </p:cNvPr>
          <p:cNvGrpSpPr/>
          <p:nvPr/>
        </p:nvGrpSpPr>
        <p:grpSpPr>
          <a:xfrm>
            <a:off x="5170236" y="2685114"/>
            <a:ext cx="2825717" cy="662862"/>
            <a:chOff x="5860058" y="2694130"/>
            <a:chExt cx="2825717" cy="662862"/>
          </a:xfrm>
        </p:grpSpPr>
        <p:grpSp>
          <p:nvGrpSpPr>
            <p:cNvPr id="24" name="그룹 23">
              <a:extLst>
                <a:ext uri="{FF2B5EF4-FFF2-40B4-BE49-F238E27FC236}">
                  <a16:creationId xmlns:a16="http://schemas.microsoft.com/office/drawing/2014/main" id="{93F2BBD5-044D-3869-E089-7B795296F725}"/>
                </a:ext>
              </a:extLst>
            </p:cNvPr>
            <p:cNvGrpSpPr/>
            <p:nvPr/>
          </p:nvGrpSpPr>
          <p:grpSpPr>
            <a:xfrm>
              <a:off x="5860058" y="3068992"/>
              <a:ext cx="2810534" cy="288000"/>
              <a:chOff x="673240" y="2007241"/>
              <a:chExt cx="2810534" cy="288000"/>
            </a:xfrm>
          </p:grpSpPr>
          <p:sp>
            <p:nvSpPr>
              <p:cNvPr id="28" name="사각형: 둥근 모서리 33">
                <a:extLst>
                  <a:ext uri="{FF2B5EF4-FFF2-40B4-BE49-F238E27FC236}">
                    <a16:creationId xmlns:a16="http://schemas.microsoft.com/office/drawing/2014/main" id="{6A38692F-0FD4-167E-C328-F50DC8315638}"/>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29" name="모서리가 둥근 직사각형 110">
                <a:extLst>
                  <a:ext uri="{FF2B5EF4-FFF2-40B4-BE49-F238E27FC236}">
                    <a16:creationId xmlns:a16="http://schemas.microsoft.com/office/drawing/2014/main" id="{08BC8049-17EE-D4AB-00A2-A320982E324F}"/>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Python</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으로 배우는 머신러닝과 데이터 분석</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25" name="그룹 24">
              <a:extLst>
                <a:ext uri="{FF2B5EF4-FFF2-40B4-BE49-F238E27FC236}">
                  <a16:creationId xmlns:a16="http://schemas.microsoft.com/office/drawing/2014/main" id="{0A295880-94FE-2AD3-CF32-6AD8F7D5556D}"/>
                </a:ext>
              </a:extLst>
            </p:cNvPr>
            <p:cNvGrpSpPr/>
            <p:nvPr/>
          </p:nvGrpSpPr>
          <p:grpSpPr>
            <a:xfrm>
              <a:off x="5875241" y="2694130"/>
              <a:ext cx="2810534" cy="288000"/>
              <a:chOff x="673240" y="2007241"/>
              <a:chExt cx="2810534" cy="288000"/>
            </a:xfrm>
          </p:grpSpPr>
          <p:sp>
            <p:nvSpPr>
              <p:cNvPr id="26" name="사각형: 둥근 모서리 33">
                <a:extLst>
                  <a:ext uri="{FF2B5EF4-FFF2-40B4-BE49-F238E27FC236}">
                    <a16:creationId xmlns:a16="http://schemas.microsoft.com/office/drawing/2014/main" id="{A41FB149-81C7-122D-9AB6-FEEBCFB34534}"/>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27" name="모서리가 둥근 직사각형 110">
                <a:extLst>
                  <a:ext uri="{FF2B5EF4-FFF2-40B4-BE49-F238E27FC236}">
                    <a16:creationId xmlns:a16="http://schemas.microsoft.com/office/drawing/2014/main" id="{ACDB5010-15B6-9FAD-AC9F-6FE9B728CE7E}"/>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비지도학습과 데이터 모델링</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sp>
        <p:nvSpPr>
          <p:cNvPr id="30" name="TextBox 29">
            <a:extLst>
              <a:ext uri="{FF2B5EF4-FFF2-40B4-BE49-F238E27FC236}">
                <a16:creationId xmlns:a16="http://schemas.microsoft.com/office/drawing/2014/main" id="{D18DE740-8575-3701-BC3D-929711F2B4F5}"/>
              </a:ext>
            </a:extLst>
          </p:cNvPr>
          <p:cNvSpPr txBox="1"/>
          <p:nvPr/>
        </p:nvSpPr>
        <p:spPr>
          <a:xfrm>
            <a:off x="4989004" y="2440218"/>
            <a:ext cx="1741182" cy="215444"/>
          </a:xfrm>
          <a:prstGeom prst="rect">
            <a:avLst/>
          </a:prstGeom>
          <a:noFill/>
        </p:spPr>
        <p:txBody>
          <a:bodyPr wrap="none" rtlCol="0">
            <a:spAutoFit/>
          </a:bodyPr>
          <a:lstStyle/>
          <a:p>
            <a:pPr algn="l">
              <a:buNone/>
            </a:pPr>
            <a:r>
              <a:rPr lang="ko-KR" altLang="en-US" sz="800">
                <a:latin typeface="Arial Narrow" panose="020B0606020202030204" pitchFamily="34" charset="0"/>
                <a:ea typeface="a고딕14" panose="02020600000000000000" pitchFamily="18" charset="-127"/>
              </a:rPr>
              <a:t>매칭된 능력단위</a:t>
            </a:r>
            <a:r>
              <a:rPr lang="en-US" altLang="ko-KR" sz="800">
                <a:latin typeface="Arial Narrow" panose="020B0606020202030204" pitchFamily="34" charset="0"/>
                <a:ea typeface="a고딕14" panose="02020600000000000000" pitchFamily="18" charset="-127"/>
              </a:rPr>
              <a:t>: </a:t>
            </a:r>
            <a:r>
              <a:rPr lang="ko-KR" altLang="en-US" sz="800">
                <a:latin typeface="Arial Narrow" panose="020B0606020202030204" pitchFamily="34" charset="0"/>
                <a:ea typeface="a고딕14" panose="02020600000000000000" pitchFamily="18" charset="-127"/>
              </a:rPr>
              <a:t>빅데이터 분석 모델링</a:t>
            </a:r>
          </a:p>
        </p:txBody>
      </p:sp>
      <p:sp>
        <p:nvSpPr>
          <p:cNvPr id="31" name="직사각형 30">
            <a:extLst>
              <a:ext uri="{FF2B5EF4-FFF2-40B4-BE49-F238E27FC236}">
                <a16:creationId xmlns:a16="http://schemas.microsoft.com/office/drawing/2014/main" id="{4E0ECD33-27A2-CCE3-D1E6-32F98647BE99}"/>
              </a:ext>
            </a:extLst>
          </p:cNvPr>
          <p:cNvSpPr/>
          <p:nvPr/>
        </p:nvSpPr>
        <p:spPr>
          <a:xfrm>
            <a:off x="5015632" y="3585214"/>
            <a:ext cx="3132348" cy="1031918"/>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32" name="그룹 31">
            <a:extLst>
              <a:ext uri="{FF2B5EF4-FFF2-40B4-BE49-F238E27FC236}">
                <a16:creationId xmlns:a16="http://schemas.microsoft.com/office/drawing/2014/main" id="{6FB78BED-F4CC-30E7-F246-F6D1E163B767}"/>
              </a:ext>
            </a:extLst>
          </p:cNvPr>
          <p:cNvGrpSpPr/>
          <p:nvPr/>
        </p:nvGrpSpPr>
        <p:grpSpPr>
          <a:xfrm>
            <a:off x="5174232" y="4199906"/>
            <a:ext cx="2810534" cy="288000"/>
            <a:chOff x="673240" y="2007241"/>
            <a:chExt cx="2810534" cy="288000"/>
          </a:xfrm>
        </p:grpSpPr>
        <p:sp>
          <p:nvSpPr>
            <p:cNvPr id="33" name="사각형: 둥근 모서리 33">
              <a:extLst>
                <a:ext uri="{FF2B5EF4-FFF2-40B4-BE49-F238E27FC236}">
                  <a16:creationId xmlns:a16="http://schemas.microsoft.com/office/drawing/2014/main" id="{F5DF6E98-B4A3-2A54-FDC4-9CA8C9D59ADF}"/>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4" name="사각형: 둥근 모서리 34">
              <a:extLst>
                <a:ext uri="{FF2B5EF4-FFF2-40B4-BE49-F238E27FC236}">
                  <a16:creationId xmlns:a16="http://schemas.microsoft.com/office/drawing/2014/main" id="{2ACDFDB9-5B6C-46D3-B5C6-BC4ADAB055E5}"/>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90000" bIns="0" rtlCol="0" anchor="ctr"/>
            <a:lstStyle/>
            <a:p>
              <a:pPr algn="r" defTabSz="457200" eaLnBrk="1" fontAlgn="auto" latinLnBrk="0" hangingPunct="1">
                <a:spcBef>
                  <a:spcPts val="0"/>
                </a:spcBef>
                <a:spcAft>
                  <a:spcPts val="0"/>
                </a:spcAft>
                <a:buNone/>
              </a:pPr>
              <a:r>
                <a:rPr lang="en-US" altLang="ko-KR" sz="700" kern="0">
                  <a:solidFill>
                    <a:prstClr val="white"/>
                  </a:solidFill>
                  <a:latin typeface="+mn-ea"/>
                  <a:ea typeface="+mn-ea"/>
                </a:rPr>
                <a:t>L</a:t>
              </a:r>
              <a:endParaRPr lang="ko-KR" altLang="en-US" sz="700" kern="0" dirty="0">
                <a:solidFill>
                  <a:prstClr val="white"/>
                </a:solidFill>
                <a:latin typeface="+mn-ea"/>
                <a:ea typeface="+mn-ea"/>
              </a:endParaRPr>
            </a:p>
          </p:txBody>
        </p:sp>
        <p:sp>
          <p:nvSpPr>
            <p:cNvPr id="35" name="모서리가 둥근 직사각형 110">
              <a:extLst>
                <a:ext uri="{FF2B5EF4-FFF2-40B4-BE49-F238E27FC236}">
                  <a16:creationId xmlns:a16="http://schemas.microsoft.com/office/drawing/2014/main" id="{FE4285AA-0B97-BD61-F190-105B0E9076FC}"/>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머신러닝 수학</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미분학</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36" name="그룹 35">
            <a:extLst>
              <a:ext uri="{FF2B5EF4-FFF2-40B4-BE49-F238E27FC236}">
                <a16:creationId xmlns:a16="http://schemas.microsoft.com/office/drawing/2014/main" id="{0A554D1A-BA2A-103C-F452-790143ADAD3C}"/>
              </a:ext>
            </a:extLst>
          </p:cNvPr>
          <p:cNvGrpSpPr/>
          <p:nvPr/>
        </p:nvGrpSpPr>
        <p:grpSpPr>
          <a:xfrm>
            <a:off x="5189415" y="3825044"/>
            <a:ext cx="2810534" cy="288000"/>
            <a:chOff x="673240" y="2007241"/>
            <a:chExt cx="2810534" cy="288000"/>
          </a:xfrm>
        </p:grpSpPr>
        <p:sp>
          <p:nvSpPr>
            <p:cNvPr id="37" name="사각형: 둥근 모서리 33">
              <a:extLst>
                <a:ext uri="{FF2B5EF4-FFF2-40B4-BE49-F238E27FC236}">
                  <a16:creationId xmlns:a16="http://schemas.microsoft.com/office/drawing/2014/main" id="{3F15222B-8BC8-A117-3620-C1D298406DF7}"/>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8" name="사각형: 둥근 모서리 34">
              <a:extLst>
                <a:ext uri="{FF2B5EF4-FFF2-40B4-BE49-F238E27FC236}">
                  <a16:creationId xmlns:a16="http://schemas.microsoft.com/office/drawing/2014/main" id="{9CE8DE73-B676-0A92-7515-9FE9397D9C32}"/>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90000" bIns="0"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mn-ea"/>
                  <a:ea typeface="+mn-ea"/>
                  <a:cs typeface="+mn-cs"/>
                </a:rPr>
                <a:t>L</a:t>
              </a:r>
              <a:endParaRPr kumimoji="0" lang="ko-KR" altLang="en-US" sz="900" b="0" i="0" u="none" strike="noStrike" kern="0" cap="none" spc="0" normalizeH="0" baseline="0" noProof="0" dirty="0">
                <a:ln>
                  <a:noFill/>
                </a:ln>
                <a:solidFill>
                  <a:prstClr val="white"/>
                </a:solidFill>
                <a:effectLst/>
                <a:uLnTx/>
                <a:uFillTx/>
                <a:latin typeface="+mn-ea"/>
                <a:ea typeface="+mn-ea"/>
                <a:cs typeface="+mn-cs"/>
              </a:endParaRPr>
            </a:p>
          </p:txBody>
        </p:sp>
        <p:sp>
          <p:nvSpPr>
            <p:cNvPr id="39" name="모서리가 둥근 직사각형 110">
              <a:extLst>
                <a:ext uri="{FF2B5EF4-FFF2-40B4-BE49-F238E27FC236}">
                  <a16:creationId xmlns:a16="http://schemas.microsoft.com/office/drawing/2014/main" id="{FF3AAB41-309E-AEBA-FF32-517A63B214E5}"/>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분석용 데이터 탐색</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sp>
        <p:nvSpPr>
          <p:cNvPr id="40" name="TextBox 39">
            <a:extLst>
              <a:ext uri="{FF2B5EF4-FFF2-40B4-BE49-F238E27FC236}">
                <a16:creationId xmlns:a16="http://schemas.microsoft.com/office/drawing/2014/main" id="{EB989C9F-AECC-EBEE-29DD-BB424884171F}"/>
              </a:ext>
            </a:extLst>
          </p:cNvPr>
          <p:cNvSpPr txBox="1"/>
          <p:nvPr/>
        </p:nvSpPr>
        <p:spPr>
          <a:xfrm>
            <a:off x="4981779" y="3592346"/>
            <a:ext cx="1664238" cy="215444"/>
          </a:xfrm>
          <a:prstGeom prst="rect">
            <a:avLst/>
          </a:prstGeom>
          <a:noFill/>
        </p:spPr>
        <p:txBody>
          <a:bodyPr wrap="none" rtlCol="0">
            <a:spAutoFit/>
          </a:bodyPr>
          <a:lstStyle/>
          <a:p>
            <a:pPr algn="l">
              <a:buNone/>
            </a:pPr>
            <a:r>
              <a:rPr lang="ko-KR" altLang="en-US" sz="800">
                <a:latin typeface="Arial Narrow" panose="020B0606020202030204" pitchFamily="34" charset="0"/>
                <a:ea typeface="a고딕14" panose="02020600000000000000" pitchFamily="18" charset="-127"/>
              </a:rPr>
              <a:t>매칭된 능력단위</a:t>
            </a:r>
            <a:r>
              <a:rPr lang="en-US" altLang="ko-KR" sz="800">
                <a:latin typeface="Arial Narrow" panose="020B0606020202030204" pitchFamily="34" charset="0"/>
                <a:ea typeface="a고딕14" panose="02020600000000000000" pitchFamily="18" charset="-127"/>
              </a:rPr>
              <a:t>: </a:t>
            </a:r>
            <a:r>
              <a:rPr lang="ko-KR" altLang="en-US" sz="800" b="0" kern="1200">
                <a:solidFill>
                  <a:srgbClr val="111111"/>
                </a:solidFill>
                <a:effectLst/>
                <a:latin typeface="+mn-ea"/>
                <a:ea typeface="+mn-ea"/>
                <a:cs typeface="+mn-cs"/>
              </a:rPr>
              <a:t>탐색적 데이터 분석</a:t>
            </a:r>
          </a:p>
        </p:txBody>
      </p:sp>
      <p:grpSp>
        <p:nvGrpSpPr>
          <p:cNvPr id="41" name="그룹 40">
            <a:extLst>
              <a:ext uri="{FF2B5EF4-FFF2-40B4-BE49-F238E27FC236}">
                <a16:creationId xmlns:a16="http://schemas.microsoft.com/office/drawing/2014/main" id="{26E0D0AB-DC60-C6A4-C396-EF609B3FEB62}"/>
              </a:ext>
            </a:extLst>
          </p:cNvPr>
          <p:cNvGrpSpPr/>
          <p:nvPr/>
        </p:nvGrpSpPr>
        <p:grpSpPr>
          <a:xfrm>
            <a:off x="5015632" y="4761148"/>
            <a:ext cx="3132348" cy="586782"/>
            <a:chOff x="5015632" y="4797152"/>
            <a:chExt cx="3132348" cy="586782"/>
          </a:xfrm>
        </p:grpSpPr>
        <p:sp>
          <p:nvSpPr>
            <p:cNvPr id="42" name="직사각형 41">
              <a:extLst>
                <a:ext uri="{FF2B5EF4-FFF2-40B4-BE49-F238E27FC236}">
                  <a16:creationId xmlns:a16="http://schemas.microsoft.com/office/drawing/2014/main" id="{1B3790A1-C0E5-4C77-EB81-4AAA7D4DB69E}"/>
                </a:ext>
              </a:extLst>
            </p:cNvPr>
            <p:cNvSpPr/>
            <p:nvPr/>
          </p:nvSpPr>
          <p:spPr>
            <a:xfrm>
              <a:off x="5015632" y="4797152"/>
              <a:ext cx="3132348" cy="586782"/>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43" name="TextBox 42">
              <a:extLst>
                <a:ext uri="{FF2B5EF4-FFF2-40B4-BE49-F238E27FC236}">
                  <a16:creationId xmlns:a16="http://schemas.microsoft.com/office/drawing/2014/main" id="{26B5A7E3-DA90-F0A6-B38C-94DA8F21436E}"/>
                </a:ext>
              </a:extLst>
            </p:cNvPr>
            <p:cNvSpPr txBox="1"/>
            <p:nvPr/>
          </p:nvSpPr>
          <p:spPr>
            <a:xfrm>
              <a:off x="5021606" y="4804284"/>
              <a:ext cx="1741182" cy="215444"/>
            </a:xfrm>
            <a:prstGeom prst="rect">
              <a:avLst/>
            </a:prstGeom>
            <a:noFill/>
          </p:spPr>
          <p:txBody>
            <a:bodyPr wrap="none" rtlCol="0">
              <a:spAutoFit/>
            </a:bodyPr>
            <a:lstStyle/>
            <a:p>
              <a:pPr algn="l">
                <a:buNone/>
              </a:pPr>
              <a:r>
                <a:rPr lang="ko-KR" altLang="en-US" sz="800">
                  <a:latin typeface="Arial Narrow" panose="020B0606020202030204" pitchFamily="34" charset="0"/>
                  <a:ea typeface="a고딕14" panose="02020600000000000000" pitchFamily="18" charset="-127"/>
                </a:rPr>
                <a:t>매칭된 능력단위</a:t>
              </a:r>
              <a:r>
                <a:rPr lang="en-US" altLang="ko-KR" sz="800">
                  <a:latin typeface="Arial Narrow" panose="020B0606020202030204" pitchFamily="34" charset="0"/>
                  <a:ea typeface="a고딕14" panose="02020600000000000000" pitchFamily="18" charset="-127"/>
                </a:rPr>
                <a:t>: </a:t>
              </a:r>
              <a:r>
                <a:rPr lang="ko-KR" altLang="en-US" sz="800">
                  <a:latin typeface="Arial Narrow" panose="020B0606020202030204" pitchFamily="34" charset="0"/>
                  <a:ea typeface="a고딕14" panose="02020600000000000000" pitchFamily="18" charset="-127"/>
                </a:rPr>
                <a:t>빅데이터 분석 모델링</a:t>
              </a:r>
            </a:p>
          </p:txBody>
        </p:sp>
      </p:grpSp>
      <p:grpSp>
        <p:nvGrpSpPr>
          <p:cNvPr id="44" name="그룹 43">
            <a:extLst>
              <a:ext uri="{FF2B5EF4-FFF2-40B4-BE49-F238E27FC236}">
                <a16:creationId xmlns:a16="http://schemas.microsoft.com/office/drawing/2014/main" id="{147CCD30-37B5-4CC1-AF55-C73C259723B1}"/>
              </a:ext>
            </a:extLst>
          </p:cNvPr>
          <p:cNvGrpSpPr/>
          <p:nvPr/>
        </p:nvGrpSpPr>
        <p:grpSpPr>
          <a:xfrm>
            <a:off x="5158799" y="4989712"/>
            <a:ext cx="2810534" cy="288000"/>
            <a:chOff x="673240" y="2007241"/>
            <a:chExt cx="2810534" cy="288000"/>
          </a:xfrm>
        </p:grpSpPr>
        <p:sp>
          <p:nvSpPr>
            <p:cNvPr id="45" name="사각형: 둥근 모서리 33">
              <a:extLst>
                <a:ext uri="{FF2B5EF4-FFF2-40B4-BE49-F238E27FC236}">
                  <a16:creationId xmlns:a16="http://schemas.microsoft.com/office/drawing/2014/main" id="{AF9D09AB-8D19-A5EC-577B-D9A3ABDFE58F}"/>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46" name="모서리가 둥근 직사각형 110">
              <a:extLst>
                <a:ext uri="{FF2B5EF4-FFF2-40B4-BE49-F238E27FC236}">
                  <a16:creationId xmlns:a16="http://schemas.microsoft.com/office/drawing/2014/main" id="{EB082CF3-3918-C08F-4CCA-071F405F367A}"/>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빅데이터 분석을 위한 아마존웹서비스</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(AWS) </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활용</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47" name="그룹 46">
            <a:extLst>
              <a:ext uri="{FF2B5EF4-FFF2-40B4-BE49-F238E27FC236}">
                <a16:creationId xmlns:a16="http://schemas.microsoft.com/office/drawing/2014/main" id="{511CFF85-11E2-F646-F30A-4B20060A6A96}"/>
              </a:ext>
            </a:extLst>
          </p:cNvPr>
          <p:cNvGrpSpPr/>
          <p:nvPr/>
        </p:nvGrpSpPr>
        <p:grpSpPr>
          <a:xfrm>
            <a:off x="5015632" y="5411622"/>
            <a:ext cx="3132348" cy="586782"/>
            <a:chOff x="4992758" y="5447626"/>
            <a:chExt cx="3132348" cy="586782"/>
          </a:xfrm>
        </p:grpSpPr>
        <p:sp>
          <p:nvSpPr>
            <p:cNvPr id="48" name="직사각형 47">
              <a:extLst>
                <a:ext uri="{FF2B5EF4-FFF2-40B4-BE49-F238E27FC236}">
                  <a16:creationId xmlns:a16="http://schemas.microsoft.com/office/drawing/2014/main" id="{5D3D613C-1364-A8C0-2C2B-49759F66A1B0}"/>
                </a:ext>
              </a:extLst>
            </p:cNvPr>
            <p:cNvSpPr/>
            <p:nvPr/>
          </p:nvSpPr>
          <p:spPr>
            <a:xfrm>
              <a:off x="4992758" y="5447626"/>
              <a:ext cx="3132348" cy="586782"/>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49" name="TextBox 48">
              <a:extLst>
                <a:ext uri="{FF2B5EF4-FFF2-40B4-BE49-F238E27FC236}">
                  <a16:creationId xmlns:a16="http://schemas.microsoft.com/office/drawing/2014/main" id="{9D33164C-5C57-F53C-D03F-0C6EDB4DD845}"/>
                </a:ext>
              </a:extLst>
            </p:cNvPr>
            <p:cNvSpPr txBox="1"/>
            <p:nvPr/>
          </p:nvSpPr>
          <p:spPr>
            <a:xfrm>
              <a:off x="4998732" y="5454758"/>
              <a:ext cx="1651414" cy="215444"/>
            </a:xfrm>
            <a:prstGeom prst="rect">
              <a:avLst/>
            </a:prstGeom>
            <a:noFill/>
          </p:spPr>
          <p:txBody>
            <a:bodyPr wrap="none" rtlCol="0">
              <a:spAutoFit/>
            </a:bodyPr>
            <a:lstStyle/>
            <a:p>
              <a:pPr algn="l">
                <a:buNone/>
              </a:pPr>
              <a:r>
                <a:rPr lang="ko-KR" altLang="en-US" sz="800">
                  <a:latin typeface="Arial Narrow" panose="020B0606020202030204" pitchFamily="34" charset="0"/>
                  <a:ea typeface="a고딕14" panose="02020600000000000000" pitchFamily="18" charset="-127"/>
                </a:rPr>
                <a:t>매칭된 능력단위</a:t>
              </a:r>
              <a:r>
                <a:rPr lang="en-US" altLang="ko-KR" sz="800">
                  <a:latin typeface="Arial Narrow" panose="020B0606020202030204" pitchFamily="34" charset="0"/>
                  <a:ea typeface="a고딕14" panose="02020600000000000000" pitchFamily="18" charset="-127"/>
                </a:rPr>
                <a:t>: </a:t>
              </a:r>
              <a:r>
                <a:rPr lang="ko-KR" altLang="en-US" sz="800">
                  <a:latin typeface="Arial Narrow" panose="020B0606020202030204" pitchFamily="34" charset="0"/>
                  <a:ea typeface="a고딕14" panose="02020600000000000000" pitchFamily="18" charset="-127"/>
                </a:rPr>
                <a:t>탐색적 데이터 분석</a:t>
              </a:r>
            </a:p>
          </p:txBody>
        </p:sp>
      </p:grpSp>
      <p:grpSp>
        <p:nvGrpSpPr>
          <p:cNvPr id="50" name="그룹 49">
            <a:extLst>
              <a:ext uri="{FF2B5EF4-FFF2-40B4-BE49-F238E27FC236}">
                <a16:creationId xmlns:a16="http://schemas.microsoft.com/office/drawing/2014/main" id="{F1C7AF41-9B87-96A0-69D1-08C22BB204AE}"/>
              </a:ext>
            </a:extLst>
          </p:cNvPr>
          <p:cNvGrpSpPr/>
          <p:nvPr/>
        </p:nvGrpSpPr>
        <p:grpSpPr>
          <a:xfrm>
            <a:off x="5158799" y="5640186"/>
            <a:ext cx="2810534" cy="288000"/>
            <a:chOff x="673240" y="2007241"/>
            <a:chExt cx="2810534" cy="288000"/>
          </a:xfrm>
        </p:grpSpPr>
        <p:sp>
          <p:nvSpPr>
            <p:cNvPr id="51" name="사각형: 둥근 모서리 33">
              <a:extLst>
                <a:ext uri="{FF2B5EF4-FFF2-40B4-BE49-F238E27FC236}">
                  <a16:creationId xmlns:a16="http://schemas.microsoft.com/office/drawing/2014/main" id="{27CF4A83-E50F-5AEF-E760-E56B4374062D}"/>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52" name="사각형: 둥근 모서리 34">
              <a:extLst>
                <a:ext uri="{FF2B5EF4-FFF2-40B4-BE49-F238E27FC236}">
                  <a16:creationId xmlns:a16="http://schemas.microsoft.com/office/drawing/2014/main" id="{3EDD70A9-14E5-1505-8541-23FDF90F639A}"/>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lIns="90000" tIns="0" rIns="90000" bIns="0" rtlCol="0" anchor="ctr"/>
            <a:lstStyle/>
            <a:p>
              <a:pPr algn="r" defTabSz="457200" eaLnBrk="1" fontAlgn="auto" latinLnBrk="0" hangingPunct="1">
                <a:spcBef>
                  <a:spcPts val="0"/>
                </a:spcBef>
                <a:spcAft>
                  <a:spcPts val="0"/>
                </a:spcAft>
                <a:buNone/>
              </a:pPr>
              <a:r>
                <a:rPr lang="en-US" altLang="ko-KR" sz="700" kern="0">
                  <a:solidFill>
                    <a:prstClr val="white"/>
                  </a:solidFill>
                  <a:latin typeface="+mn-ea"/>
                  <a:ea typeface="+mn-ea"/>
                </a:rPr>
                <a:t>L</a:t>
              </a:r>
              <a:endParaRPr lang="ko-KR" altLang="en-US" sz="700" kern="0" dirty="0">
                <a:solidFill>
                  <a:prstClr val="white"/>
                </a:solidFill>
                <a:latin typeface="+mn-ea"/>
                <a:ea typeface="+mn-ea"/>
              </a:endParaRPr>
            </a:p>
          </p:txBody>
        </p:sp>
        <p:sp>
          <p:nvSpPr>
            <p:cNvPr id="53" name="모서리가 둥근 직사각형 110">
              <a:extLst>
                <a:ext uri="{FF2B5EF4-FFF2-40B4-BE49-F238E27FC236}">
                  <a16:creationId xmlns:a16="http://schemas.microsoft.com/office/drawing/2014/main" id="{F45643E8-CFE7-B757-7B93-43BF2ABADFAC}"/>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Orange</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를 활용한 정형 데이터 분석</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sp>
        <p:nvSpPr>
          <p:cNvPr id="54" name="TextBox 53">
            <a:extLst>
              <a:ext uri="{FF2B5EF4-FFF2-40B4-BE49-F238E27FC236}">
                <a16:creationId xmlns:a16="http://schemas.microsoft.com/office/drawing/2014/main" id="{98D20CE3-E9FA-C88D-563B-E631A1352071}"/>
              </a:ext>
            </a:extLst>
          </p:cNvPr>
          <p:cNvSpPr txBox="1"/>
          <p:nvPr/>
        </p:nvSpPr>
        <p:spPr>
          <a:xfrm>
            <a:off x="8363412" y="3750752"/>
            <a:ext cx="1186145" cy="672044"/>
          </a:xfrm>
          <a:prstGeom prst="rect">
            <a:avLst/>
          </a:prstGeom>
          <a:solidFill>
            <a:schemeClr val="accent6">
              <a:lumMod val="20000"/>
              <a:lumOff val="8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defPPr>
              <a:defRPr lang="en-US"/>
            </a:defPPr>
            <a:lvl1pPr>
              <a:buNone/>
              <a:defRPr>
                <a:solidFill>
                  <a:schemeClr val="lt1"/>
                </a:solidFill>
                <a:latin typeface="Arial Narrow" panose="020B0606020202030204" pitchFamily="34"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171450" indent="-171450" algn="l">
              <a:buFont typeface="Wingdings" panose="05000000000000000000" pitchFamily="2" charset="2"/>
              <a:buChar char="Ø"/>
            </a:pPr>
            <a:r>
              <a:rPr lang="ko-KR" altLang="en-US" sz="1100">
                <a:solidFill>
                  <a:schemeClr val="accent6">
                    <a:lumMod val="75000"/>
                  </a:schemeClr>
                </a:solidFill>
                <a:ea typeface="a고딕14" panose="02020600000000000000" pitchFamily="18" charset="-127"/>
              </a:rPr>
              <a:t>여러 직무수준에 걸쳐있는 능력</a:t>
            </a:r>
            <a:br>
              <a:rPr lang="en-US" altLang="ko-KR" sz="1100">
                <a:solidFill>
                  <a:schemeClr val="accent6">
                    <a:lumMod val="75000"/>
                  </a:schemeClr>
                </a:solidFill>
                <a:ea typeface="a고딕14" panose="02020600000000000000" pitchFamily="18" charset="-127"/>
              </a:rPr>
            </a:br>
            <a:r>
              <a:rPr lang="ko-KR" altLang="en-US" sz="1100">
                <a:solidFill>
                  <a:schemeClr val="accent6">
                    <a:lumMod val="75000"/>
                  </a:schemeClr>
                </a:solidFill>
                <a:ea typeface="a고딕14" panose="02020600000000000000" pitchFamily="18" charset="-127"/>
              </a:rPr>
              <a:t>단위 대처 어려움</a:t>
            </a:r>
            <a:endParaRPr lang="ko-KR" altLang="en-US" sz="1100" dirty="0">
              <a:solidFill>
                <a:schemeClr val="accent6">
                  <a:lumMod val="75000"/>
                </a:schemeClr>
              </a:solidFill>
              <a:ea typeface="a고딕14" panose="02020600000000000000" pitchFamily="18" charset="-127"/>
            </a:endParaRPr>
          </a:p>
        </p:txBody>
      </p:sp>
      <p:sp>
        <p:nvSpPr>
          <p:cNvPr id="55" name="TextBox 54">
            <a:extLst>
              <a:ext uri="{FF2B5EF4-FFF2-40B4-BE49-F238E27FC236}">
                <a16:creationId xmlns:a16="http://schemas.microsoft.com/office/drawing/2014/main" id="{89049792-9F83-69E8-FD1F-A405C1892D5C}"/>
              </a:ext>
            </a:extLst>
          </p:cNvPr>
          <p:cNvSpPr txBox="1"/>
          <p:nvPr/>
        </p:nvSpPr>
        <p:spPr>
          <a:xfrm>
            <a:off x="8445834" y="2712704"/>
            <a:ext cx="1198845" cy="1015663"/>
          </a:xfrm>
          <a:prstGeom prst="rect">
            <a:avLst/>
          </a:prstGeom>
          <a:noFill/>
        </p:spPr>
        <p:txBody>
          <a:bodyPr wrap="square">
            <a:spAutoFit/>
          </a:bodyPr>
          <a:lstStyle/>
          <a:p>
            <a:pPr algn="l">
              <a:buNone/>
            </a:pPr>
            <a:r>
              <a:rPr lang="ko-KR" altLang="en-US" dirty="0">
                <a:ea typeface="a고딕14" panose="02020600000000000000" pitchFamily="18" charset="-127"/>
              </a:rPr>
              <a:t>높은 </a:t>
            </a:r>
            <a:r>
              <a:rPr lang="ko-KR" altLang="en-US" dirty="0" err="1">
                <a:ea typeface="a고딕14" panose="02020600000000000000" pitchFamily="18" charset="-127"/>
              </a:rPr>
              <a:t>직무수준의능력단위와</a:t>
            </a:r>
            <a:br>
              <a:rPr lang="en-US" altLang="ko-KR" dirty="0">
                <a:ea typeface="a고딕14" panose="02020600000000000000" pitchFamily="18" charset="-127"/>
              </a:rPr>
            </a:br>
            <a:r>
              <a:rPr lang="ko-KR" altLang="en-US" dirty="0">
                <a:ea typeface="a고딕14" panose="02020600000000000000" pitchFamily="18" charset="-127"/>
              </a:rPr>
              <a:t>매칭된 과정을 후수과정으로 </a:t>
            </a:r>
            <a:br>
              <a:rPr lang="en-US" altLang="ko-KR" dirty="0">
                <a:ea typeface="a고딕14" panose="02020600000000000000" pitchFamily="18" charset="-127"/>
              </a:rPr>
            </a:br>
            <a:r>
              <a:rPr lang="ko-KR" altLang="en-US" dirty="0">
                <a:ea typeface="a고딕14" panose="02020600000000000000" pitchFamily="18" charset="-127"/>
              </a:rPr>
              <a:t>보고 작성</a:t>
            </a:r>
            <a:endParaRPr lang="ko-KR" altLang="en-US" sz="1200" dirty="0">
              <a:ea typeface="a고딕14" panose="02020600000000000000" pitchFamily="18" charset="-127"/>
            </a:endParaRPr>
          </a:p>
        </p:txBody>
      </p:sp>
      <p:cxnSp>
        <p:nvCxnSpPr>
          <p:cNvPr id="56" name="연결선: 꺾임 55">
            <a:extLst>
              <a:ext uri="{FF2B5EF4-FFF2-40B4-BE49-F238E27FC236}">
                <a16:creationId xmlns:a16="http://schemas.microsoft.com/office/drawing/2014/main" id="{BB9A1E5C-2209-BE6B-3574-1363AAECD002}"/>
              </a:ext>
            </a:extLst>
          </p:cNvPr>
          <p:cNvCxnSpPr>
            <a:endCxn id="22" idx="3"/>
          </p:cNvCxnSpPr>
          <p:nvPr/>
        </p:nvCxnSpPr>
        <p:spPr>
          <a:xfrm rot="5400000" flipH="1" flipV="1">
            <a:off x="7565981" y="3531045"/>
            <a:ext cx="1163999" cy="12700"/>
          </a:xfrm>
          <a:prstGeom prst="bentConnector4">
            <a:avLst>
              <a:gd name="adj1" fmla="val 239"/>
              <a:gd name="adj2" fmla="val 154706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D1310BE-2F94-919E-2BAA-645ED2613380}"/>
              </a:ext>
            </a:extLst>
          </p:cNvPr>
          <p:cNvSpPr txBox="1"/>
          <p:nvPr/>
        </p:nvSpPr>
        <p:spPr>
          <a:xfrm>
            <a:off x="8445834" y="4956716"/>
            <a:ext cx="983594" cy="830997"/>
          </a:xfrm>
          <a:prstGeom prst="rect">
            <a:avLst/>
          </a:prstGeom>
          <a:noFill/>
        </p:spPr>
        <p:txBody>
          <a:bodyPr wrap="square">
            <a:spAutoFit/>
          </a:bodyPr>
          <a:lstStyle/>
          <a:p>
            <a:pPr algn="l">
              <a:buNone/>
            </a:pPr>
            <a:r>
              <a:rPr lang="ko-KR" altLang="en-US">
                <a:ea typeface="a고딕14" panose="02020600000000000000" pitchFamily="18" charset="-127"/>
              </a:rPr>
              <a:t>과정수준이 동일하여도 직무수준따라 선후수 결정</a:t>
            </a:r>
            <a:endParaRPr lang="ko-KR" altLang="en-US" sz="1200" dirty="0">
              <a:ea typeface="a고딕14" panose="02020600000000000000" pitchFamily="18" charset="-127"/>
            </a:endParaRPr>
          </a:p>
        </p:txBody>
      </p:sp>
      <p:cxnSp>
        <p:nvCxnSpPr>
          <p:cNvPr id="58" name="연결선: 꺾임 57">
            <a:extLst>
              <a:ext uri="{FF2B5EF4-FFF2-40B4-BE49-F238E27FC236}">
                <a16:creationId xmlns:a16="http://schemas.microsoft.com/office/drawing/2014/main" id="{DEE5D5AA-C1ED-9997-19CC-6971799FE450}"/>
              </a:ext>
            </a:extLst>
          </p:cNvPr>
          <p:cNvCxnSpPr>
            <a:cxnSpLocks/>
            <a:stCxn id="48" idx="3"/>
            <a:endCxn id="42" idx="3"/>
          </p:cNvCxnSpPr>
          <p:nvPr/>
        </p:nvCxnSpPr>
        <p:spPr>
          <a:xfrm flipV="1">
            <a:off x="8147980" y="5054539"/>
            <a:ext cx="12700" cy="65047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321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AAC8C-711D-98D7-56E0-302E54AA7EAA}"/>
            </a:ext>
          </a:extLst>
        </p:cNvPr>
        <p:cNvGrpSpPr/>
        <p:nvPr/>
      </p:nvGrpSpPr>
      <p:grpSpPr>
        <a:xfrm>
          <a:off x="0" y="0"/>
          <a:ext cx="0" cy="0"/>
          <a:chOff x="0" y="0"/>
          <a:chExt cx="0" cy="0"/>
        </a:xfrm>
      </p:grpSpPr>
      <p:sp>
        <p:nvSpPr>
          <p:cNvPr id="30" name="오른쪽 화살표 8">
            <a:extLst>
              <a:ext uri="{FF2B5EF4-FFF2-40B4-BE49-F238E27FC236}">
                <a16:creationId xmlns:a16="http://schemas.microsoft.com/office/drawing/2014/main" id="{2B8FE6D1-D9E5-2E89-078E-7638388CD3DB}"/>
              </a:ext>
            </a:extLst>
          </p:cNvPr>
          <p:cNvSpPr/>
          <p:nvPr/>
        </p:nvSpPr>
        <p:spPr>
          <a:xfrm rot="5400000">
            <a:off x="7867527" y="5404617"/>
            <a:ext cx="1075332"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29" name="오른쪽 화살표 8">
            <a:extLst>
              <a:ext uri="{FF2B5EF4-FFF2-40B4-BE49-F238E27FC236}">
                <a16:creationId xmlns:a16="http://schemas.microsoft.com/office/drawing/2014/main" id="{B78DABC0-66F6-65C8-7A84-DE42BC661924}"/>
              </a:ext>
            </a:extLst>
          </p:cNvPr>
          <p:cNvSpPr/>
          <p:nvPr/>
        </p:nvSpPr>
        <p:spPr>
          <a:xfrm rot="5400000">
            <a:off x="5939143" y="5404615"/>
            <a:ext cx="1075332"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5" name="텍스트 개체 틀 4">
            <a:extLst>
              <a:ext uri="{FF2B5EF4-FFF2-40B4-BE49-F238E27FC236}">
                <a16:creationId xmlns:a16="http://schemas.microsoft.com/office/drawing/2014/main" id="{A7EE46D5-DEBB-52DD-8DA3-BB12FCB7AD31}"/>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CDA4C352-FB92-EF58-647C-7E5BC83BC12C}"/>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문헌 분석 및 벤치마킹</a:t>
            </a:r>
          </a:p>
        </p:txBody>
      </p:sp>
      <p:sp>
        <p:nvSpPr>
          <p:cNvPr id="12" name="직사각형 11">
            <a:extLst>
              <a:ext uri="{FF2B5EF4-FFF2-40B4-BE49-F238E27FC236}">
                <a16:creationId xmlns:a16="http://schemas.microsoft.com/office/drawing/2014/main" id="{78D1DDDB-0455-23B8-5C89-2D9D8339584E}"/>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6.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직무능력은행제 연계 검토</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23715D63-B68E-5B28-4F1E-773B2A0692FB}"/>
              </a:ext>
            </a:extLst>
          </p:cNvPr>
          <p:cNvSpPr>
            <a:spLocks noGrp="1"/>
          </p:cNvSpPr>
          <p:nvPr>
            <p:ph type="body" sz="quarter" idx="12"/>
          </p:nvPr>
        </p:nvSpPr>
        <p:spPr>
          <a:xfrm>
            <a:off x="596515" y="650182"/>
            <a:ext cx="8749097" cy="815119"/>
          </a:xfrm>
        </p:spPr>
        <p:txBody>
          <a:bodyPr/>
          <a:lstStyle/>
          <a:p>
            <a:pPr latinLnBrk="0"/>
            <a:r>
              <a:rPr lang="ko-KR" altLang="en-US" spc="-150" dirty="0"/>
              <a:t>직무능력은행제는 개인의 직무능력을 저축</a:t>
            </a:r>
            <a:r>
              <a:rPr lang="en-US" altLang="ko-KR" spc="-150" dirty="0"/>
              <a:t>·</a:t>
            </a:r>
            <a:r>
              <a:rPr lang="ko-KR" altLang="en-US" spc="-150" dirty="0"/>
              <a:t>통합하여 관리하고 인정하는 </a:t>
            </a:r>
            <a:r>
              <a:rPr lang="ko-KR" altLang="en-US" spc="-150" dirty="0">
                <a:solidFill>
                  <a:srgbClr val="0070C0"/>
                </a:solidFill>
              </a:rPr>
              <a:t>개인별 직무능력 인정</a:t>
            </a:r>
            <a:r>
              <a:rPr lang="en-US" altLang="ko-KR" spc="-150" dirty="0">
                <a:solidFill>
                  <a:srgbClr val="0070C0"/>
                </a:solidFill>
              </a:rPr>
              <a:t>·</a:t>
            </a:r>
            <a:r>
              <a:rPr lang="ko-KR" altLang="en-US" spc="-150" dirty="0">
                <a:solidFill>
                  <a:srgbClr val="0070C0"/>
                </a:solidFill>
              </a:rPr>
              <a:t>관리체계</a:t>
            </a:r>
            <a:r>
              <a:rPr lang="ko-KR" altLang="en-US" spc="-150" dirty="0"/>
              <a:t>로</a:t>
            </a:r>
            <a:r>
              <a:rPr lang="en-US" altLang="ko-KR" spc="-150" dirty="0"/>
              <a:t>, </a:t>
            </a:r>
            <a:r>
              <a:rPr lang="ko-KR" altLang="en-US" spc="-150" dirty="0"/>
              <a:t>현재 </a:t>
            </a:r>
            <a:r>
              <a:rPr lang="en-US" altLang="ko-KR" spc="-150" dirty="0"/>
              <a:t>NCS </a:t>
            </a:r>
            <a:r>
              <a:rPr lang="ko-KR" altLang="en-US" spc="-150" dirty="0"/>
              <a:t>교과 인정 사업을 통해 </a:t>
            </a:r>
            <a:r>
              <a:rPr lang="ko-KR" altLang="en-US" spc="-150" dirty="0">
                <a:solidFill>
                  <a:srgbClr val="0070C0"/>
                </a:solidFill>
              </a:rPr>
              <a:t>대학 교육과 연계하여 취업 등 실질적 활용이 가능하도록 운영</a:t>
            </a:r>
            <a:r>
              <a:rPr lang="ko-KR" altLang="en-US" spc="-150" dirty="0"/>
              <a:t>하고 있음</a:t>
            </a:r>
            <a:endParaRPr lang="ko-KR" altLang="en-US" sz="1800" spc="-150" dirty="0"/>
          </a:p>
        </p:txBody>
      </p:sp>
      <p:sp>
        <p:nvSpPr>
          <p:cNvPr id="8" name="ListLeanHorizontalTextTopic0">
            <a:extLst>
              <a:ext uri="{FF2B5EF4-FFF2-40B4-BE49-F238E27FC236}">
                <a16:creationId xmlns:a16="http://schemas.microsoft.com/office/drawing/2014/main" id="{C0583C45-26E8-7FD8-FE2E-870984566000}"/>
              </a:ext>
            </a:extLst>
          </p:cNvPr>
          <p:cNvSpPr txBox="1"/>
          <p:nvPr/>
        </p:nvSpPr>
        <p:spPr>
          <a:xfrm>
            <a:off x="596515" y="1681027"/>
            <a:ext cx="8748172" cy="26660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직무능력은행제 소개</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6E2C8118-0E31-D14F-065E-4DA5C84B6421}"/>
              </a:ext>
            </a:extLst>
          </p:cNvPr>
          <p:cNvCxnSpPr/>
          <p:nvPr/>
        </p:nvCxnSpPr>
        <p:spPr>
          <a:xfrm>
            <a:off x="596515" y="1947629"/>
            <a:ext cx="8749098" cy="0"/>
          </a:xfrm>
          <a:prstGeom prst="line">
            <a:avLst/>
          </a:prstGeom>
          <a:noFill/>
          <a:ln w="22225" cap="flat" cmpd="sng" algn="ctr">
            <a:solidFill>
              <a:srgbClr val="003F56"/>
            </a:solidFill>
            <a:prstDash val="solid"/>
          </a:ln>
          <a:effectLst/>
        </p:spPr>
      </p:cxnSp>
      <p:sp>
        <p:nvSpPr>
          <p:cNvPr id="57" name="직사각형 56">
            <a:extLst>
              <a:ext uri="{FF2B5EF4-FFF2-40B4-BE49-F238E27FC236}">
                <a16:creationId xmlns:a16="http://schemas.microsoft.com/office/drawing/2014/main" id="{77007C26-29CE-9BD7-B375-01DB465AF72D}"/>
              </a:ext>
            </a:extLst>
          </p:cNvPr>
          <p:cNvSpPr/>
          <p:nvPr/>
        </p:nvSpPr>
        <p:spPr>
          <a:xfrm>
            <a:off x="5133020" y="3711248"/>
            <a:ext cx="386370" cy="2778452"/>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절차</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63" name="직사각형 62">
            <a:extLst>
              <a:ext uri="{FF2B5EF4-FFF2-40B4-BE49-F238E27FC236}">
                <a16:creationId xmlns:a16="http://schemas.microsoft.com/office/drawing/2014/main" id="{4A1C3D42-475F-E8DD-3D2B-C2FD2A14BAA0}"/>
              </a:ext>
            </a:extLst>
          </p:cNvPr>
          <p:cNvSpPr/>
          <p:nvPr/>
        </p:nvSpPr>
        <p:spPr>
          <a:xfrm>
            <a:off x="5561161" y="3137424"/>
            <a:ext cx="3783526" cy="511485"/>
          </a:xfrm>
          <a:prstGeom prst="rect">
            <a:avLst/>
          </a:prstGeom>
          <a:solidFill>
            <a:srgbClr val="DCF1F9"/>
          </a:solidFill>
          <a:ln w="25400" cap="flat" cmpd="sng" algn="ctr">
            <a:noFill/>
            <a:prstDash val="solid"/>
          </a:ln>
          <a:effectLst/>
        </p:spPr>
        <p:txBody>
          <a:bodyPr lIns="72000" tIns="36000" rIns="72000" bIns="36000" rtlCol="0" anchor="t">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108000" lvl="0" indent="-108000" defTabSz="514231" fontAlgn="auto" latinLnBrk="0">
              <a:spcBef>
                <a:spcPts val="0"/>
              </a:spcBef>
              <a:spcAft>
                <a:spcPts val="300"/>
              </a:spcAft>
              <a:buFont typeface="Arial" panose="020B0604020202020204" pitchFamily="34" charset="0"/>
              <a:buChar char="•"/>
              <a:defRPr/>
            </a:pPr>
            <a:r>
              <a:rPr lang="en-US" altLang="ko-KR" sz="1200" dirty="0">
                <a:solidFill>
                  <a:prstClr val="black"/>
                </a:solidFill>
                <a:latin typeface="Arial Narrow" panose="020B0606020202030204" pitchFamily="34" charset="0"/>
                <a:ea typeface="a고딕14" panose="02020600000000000000" pitchFamily="18" charset="-127"/>
              </a:rPr>
              <a:t>NCS </a:t>
            </a:r>
            <a:r>
              <a:rPr lang="ko-KR" altLang="en-US" sz="1200" dirty="0">
                <a:solidFill>
                  <a:prstClr val="black"/>
                </a:solidFill>
                <a:latin typeface="Arial Narrow" panose="020B0606020202030204" pitchFamily="34" charset="0"/>
                <a:ea typeface="a고딕14" panose="02020600000000000000" pitchFamily="18" charset="-127"/>
              </a:rPr>
              <a:t>기반으로 운영 예정인 전문대학 등 교과로서</a:t>
            </a:r>
            <a:r>
              <a:rPr lang="en-US" altLang="ko-KR" sz="1200" dirty="0">
                <a:solidFill>
                  <a:prstClr val="black"/>
                </a:solidFill>
                <a:latin typeface="Arial Narrow" panose="020B0606020202030204" pitchFamily="34" charset="0"/>
                <a:ea typeface="a고딕14" panose="02020600000000000000" pitchFamily="18" charset="-127"/>
              </a:rPr>
              <a:t>, </a:t>
            </a:r>
            <a:r>
              <a:rPr lang="ko-KR" altLang="en-US" sz="1200" dirty="0">
                <a:solidFill>
                  <a:prstClr val="black"/>
                </a:solidFill>
                <a:latin typeface="Arial Narrow" panose="020B0606020202030204" pitchFamily="34" charset="0"/>
                <a:ea typeface="a고딕14" panose="02020600000000000000" pitchFamily="18" charset="-127"/>
              </a:rPr>
              <a:t>운영 결과를 직무능력은행에 저축하려는 교과</a:t>
            </a:r>
            <a:endParaRPr lang="ko-KR" altLang="en-US" sz="1200" dirty="0">
              <a:solidFill>
                <a:srgbClr val="0070C0"/>
              </a:solidFill>
              <a:latin typeface="a고딕15" panose="02020600000000000000" pitchFamily="18" charset="-127"/>
              <a:ea typeface="a고딕15" panose="02020600000000000000" pitchFamily="18" charset="-127"/>
            </a:endParaRPr>
          </a:p>
        </p:txBody>
      </p:sp>
      <p:sp>
        <p:nvSpPr>
          <p:cNvPr id="67" name="직사각형 66">
            <a:extLst>
              <a:ext uri="{FF2B5EF4-FFF2-40B4-BE49-F238E27FC236}">
                <a16:creationId xmlns:a16="http://schemas.microsoft.com/office/drawing/2014/main" id="{77007C26-29CE-9BD7-B375-01DB465AF72D}"/>
              </a:ext>
            </a:extLst>
          </p:cNvPr>
          <p:cNvSpPr/>
          <p:nvPr/>
        </p:nvSpPr>
        <p:spPr>
          <a:xfrm>
            <a:off x="5133020" y="2478250"/>
            <a:ext cx="386370" cy="596836"/>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개념</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68" name="직사각형 67">
            <a:extLst>
              <a:ext uri="{FF2B5EF4-FFF2-40B4-BE49-F238E27FC236}">
                <a16:creationId xmlns:a16="http://schemas.microsoft.com/office/drawing/2014/main" id="{77007C26-29CE-9BD7-B375-01DB465AF72D}"/>
              </a:ext>
            </a:extLst>
          </p:cNvPr>
          <p:cNvSpPr/>
          <p:nvPr/>
        </p:nvSpPr>
        <p:spPr>
          <a:xfrm>
            <a:off x="5133020" y="3137424"/>
            <a:ext cx="386370" cy="511485"/>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a:solidFill>
                  <a:prstClr val="white"/>
                </a:solidFill>
                <a:latin typeface="+mn-ea"/>
              </a:rPr>
              <a:t>대상</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112" name="직사각형 111">
            <a:extLst>
              <a:ext uri="{FF2B5EF4-FFF2-40B4-BE49-F238E27FC236}">
                <a16:creationId xmlns:a16="http://schemas.microsoft.com/office/drawing/2014/main" id="{77007C26-29CE-9BD7-B375-01DB465AF72D}"/>
              </a:ext>
            </a:extLst>
          </p:cNvPr>
          <p:cNvSpPr/>
          <p:nvPr/>
        </p:nvSpPr>
        <p:spPr>
          <a:xfrm>
            <a:off x="5133019" y="2107247"/>
            <a:ext cx="4216767" cy="30866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직무능력은행 </a:t>
            </a:r>
            <a:r>
              <a:rPr lang="en-US" altLang="ko-KR" dirty="0">
                <a:solidFill>
                  <a:prstClr val="white"/>
                </a:solidFill>
                <a:latin typeface="+mn-ea"/>
              </a:rPr>
              <a:t>NCS </a:t>
            </a:r>
            <a:r>
              <a:rPr lang="ko-KR" altLang="en-US" dirty="0">
                <a:solidFill>
                  <a:prstClr val="white"/>
                </a:solidFill>
                <a:latin typeface="+mn-ea"/>
              </a:rPr>
              <a:t>교과인정</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113" name="직사각형 112">
            <a:extLst>
              <a:ext uri="{FF2B5EF4-FFF2-40B4-BE49-F238E27FC236}">
                <a16:creationId xmlns:a16="http://schemas.microsoft.com/office/drawing/2014/main" id="{4A1C3D42-475F-E8DD-3D2B-C2FD2A14BAA0}"/>
              </a:ext>
            </a:extLst>
          </p:cNvPr>
          <p:cNvSpPr/>
          <p:nvPr/>
        </p:nvSpPr>
        <p:spPr>
          <a:xfrm>
            <a:off x="5562599" y="2479858"/>
            <a:ext cx="3787187" cy="595228"/>
          </a:xfrm>
          <a:prstGeom prst="rect">
            <a:avLst/>
          </a:prstGeom>
          <a:solidFill>
            <a:srgbClr val="DCF1F9"/>
          </a:solidFill>
          <a:ln w="25400" cap="flat" cmpd="sng" algn="ctr">
            <a:noFill/>
            <a:prstDash val="solid"/>
          </a:ln>
          <a:effectLst/>
        </p:spPr>
        <p:txBody>
          <a:bodyPr lIns="72000" tIns="36000" rIns="72000" bIns="36000" rtlCol="0" anchor="t">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108000" lvl="0" indent="-108000" defTabSz="514231" fontAlgn="auto" latinLnBrk="0">
              <a:spcBef>
                <a:spcPts val="0"/>
              </a:spcBef>
              <a:spcAft>
                <a:spcPts val="300"/>
              </a:spcAft>
              <a:buFont typeface="Arial" panose="020B0604020202020204" pitchFamily="34" charset="0"/>
              <a:buChar char="•"/>
              <a:defRPr/>
            </a:pPr>
            <a:r>
              <a:rPr lang="ko-KR" altLang="en-US" sz="1200" dirty="0">
                <a:solidFill>
                  <a:prstClr val="black"/>
                </a:solidFill>
                <a:latin typeface="Arial Narrow" panose="020B0606020202030204" pitchFamily="34" charset="0"/>
                <a:ea typeface="a고딕14" panose="02020600000000000000" pitchFamily="18" charset="-127"/>
              </a:rPr>
              <a:t>재학생</a:t>
            </a:r>
            <a:r>
              <a:rPr lang="en-US" altLang="ko-KR" sz="1200" dirty="0">
                <a:solidFill>
                  <a:prstClr val="black"/>
                </a:solidFill>
                <a:latin typeface="Arial Narrow" panose="020B0606020202030204" pitchFamily="34" charset="0"/>
                <a:ea typeface="a고딕14" panose="02020600000000000000" pitchFamily="18" charset="-127"/>
              </a:rPr>
              <a:t>(</a:t>
            </a:r>
            <a:r>
              <a:rPr lang="ko-KR" altLang="en-US" sz="1200" dirty="0">
                <a:solidFill>
                  <a:prstClr val="black"/>
                </a:solidFill>
                <a:latin typeface="Arial Narrow" panose="020B0606020202030204" pitchFamily="34" charset="0"/>
                <a:ea typeface="a고딕14" panose="02020600000000000000" pitchFamily="18" charset="-127"/>
              </a:rPr>
              <a:t>졸업생</a:t>
            </a:r>
            <a:r>
              <a:rPr lang="en-US" altLang="ko-KR" sz="1200" dirty="0">
                <a:solidFill>
                  <a:prstClr val="black"/>
                </a:solidFill>
                <a:latin typeface="Arial Narrow" panose="020B0606020202030204" pitchFamily="34" charset="0"/>
                <a:ea typeface="a고딕14" panose="02020600000000000000" pitchFamily="18" charset="-127"/>
              </a:rPr>
              <a:t>)</a:t>
            </a:r>
            <a:r>
              <a:rPr lang="ko-KR" altLang="en-US" sz="1200" dirty="0">
                <a:solidFill>
                  <a:prstClr val="black"/>
                </a:solidFill>
                <a:latin typeface="Arial Narrow" panose="020B0606020202030204" pitchFamily="34" charset="0"/>
                <a:ea typeface="a고딕14" panose="02020600000000000000" pitchFamily="18" charset="-127"/>
              </a:rPr>
              <a:t>이 </a:t>
            </a:r>
            <a:r>
              <a:rPr lang="ko-KR" altLang="en-US" sz="1200" dirty="0">
                <a:solidFill>
                  <a:srgbClr val="0070C0"/>
                </a:solidFill>
                <a:latin typeface="a고딕15" panose="02020600000000000000" pitchFamily="18" charset="-127"/>
                <a:ea typeface="a고딕15" panose="02020600000000000000" pitchFamily="18" charset="-127"/>
              </a:rPr>
              <a:t>대학교육으로 습득한 직무능력</a:t>
            </a:r>
            <a:r>
              <a:rPr lang="ko-KR" altLang="en-US" sz="1200" dirty="0">
                <a:solidFill>
                  <a:prstClr val="black"/>
                </a:solidFill>
                <a:latin typeface="Arial Narrow" panose="020B0606020202030204" pitchFamily="34" charset="0"/>
                <a:ea typeface="a고딕14" panose="02020600000000000000" pitchFamily="18" charset="-127"/>
              </a:rPr>
              <a:t>을 직무능력은행에 </a:t>
            </a:r>
            <a:r>
              <a:rPr lang="ko-KR" altLang="en-US" sz="1200" dirty="0">
                <a:solidFill>
                  <a:srgbClr val="0070C0"/>
                </a:solidFill>
                <a:latin typeface="a고딕15" panose="02020600000000000000" pitchFamily="18" charset="-127"/>
                <a:ea typeface="a고딕15" panose="02020600000000000000" pitchFamily="18" charset="-127"/>
              </a:rPr>
              <a:t>저축하여 취업 등에 활용</a:t>
            </a:r>
            <a:r>
              <a:rPr lang="ko-KR" altLang="en-US" sz="1200" dirty="0">
                <a:solidFill>
                  <a:prstClr val="black"/>
                </a:solidFill>
                <a:latin typeface="Arial Narrow" panose="020B0606020202030204" pitchFamily="34" charset="0"/>
                <a:ea typeface="a고딕14" panose="02020600000000000000" pitchFamily="18" charset="-127"/>
              </a:rPr>
              <a:t>할 수 있도록 지원하기 위한 사업</a:t>
            </a:r>
            <a:endParaRPr lang="en-US" altLang="ko-KR" sz="1200" dirty="0">
              <a:solidFill>
                <a:prstClr val="black"/>
              </a:solidFill>
              <a:latin typeface="Arial Narrow" panose="020B0606020202030204" pitchFamily="34" charset="0"/>
              <a:ea typeface="a고딕14" panose="02020600000000000000" pitchFamily="18" charset="-127"/>
            </a:endParaRPr>
          </a:p>
        </p:txBody>
      </p:sp>
      <p:sp>
        <p:nvSpPr>
          <p:cNvPr id="115" name="직사각형 114">
            <a:extLst>
              <a:ext uri="{FF2B5EF4-FFF2-40B4-BE49-F238E27FC236}">
                <a16:creationId xmlns:a16="http://schemas.microsoft.com/office/drawing/2014/main" id="{4A1C3D42-475F-E8DD-3D2B-C2FD2A14BAA0}"/>
              </a:ext>
            </a:extLst>
          </p:cNvPr>
          <p:cNvSpPr/>
          <p:nvPr/>
        </p:nvSpPr>
        <p:spPr>
          <a:xfrm>
            <a:off x="5532382" y="3720546"/>
            <a:ext cx="3817405" cy="485645"/>
          </a:xfrm>
          <a:prstGeom prst="rect">
            <a:avLst/>
          </a:prstGeom>
          <a:noFill/>
          <a:ln w="25400" cap="flat" cmpd="sng" algn="ctr">
            <a:noFill/>
            <a:prstDash val="solid"/>
          </a:ln>
          <a:effectLst/>
        </p:spPr>
        <p:txBody>
          <a:bodyPr lIns="72000" tIns="36000" rIns="72000" bIns="36000"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lvl="0" algn="ctr" defTabSz="514231" fontAlgn="auto" latinLnBrk="0">
              <a:lnSpc>
                <a:spcPct val="110000"/>
              </a:lnSpc>
              <a:spcBef>
                <a:spcPts val="100"/>
              </a:spcBef>
              <a:spcAft>
                <a:spcPts val="100"/>
              </a:spcAft>
              <a:buNone/>
              <a:defRPr/>
            </a:pPr>
            <a:r>
              <a:rPr lang="ko-KR" altLang="en-US" sz="1200" dirty="0">
                <a:solidFill>
                  <a:prstClr val="black"/>
                </a:solidFill>
                <a:latin typeface="Arial Narrow" panose="020B0606020202030204" pitchFamily="34" charset="0"/>
                <a:ea typeface="a고딕14" panose="02020600000000000000" pitchFamily="18" charset="-127"/>
              </a:rPr>
              <a:t>전문대학 등이 운영하는 교과의 </a:t>
            </a:r>
            <a:r>
              <a:rPr lang="en-US" altLang="ko-KR" sz="1200" dirty="0">
                <a:solidFill>
                  <a:srgbClr val="0070C0"/>
                </a:solidFill>
                <a:latin typeface="Arial Narrow" panose="020B0606020202030204" pitchFamily="34" charset="0"/>
                <a:ea typeface="a고딕14" panose="02020600000000000000" pitchFamily="18" charset="-127"/>
              </a:rPr>
              <a:t>NCS </a:t>
            </a:r>
            <a:r>
              <a:rPr lang="ko-KR" altLang="en-US" sz="1200" dirty="0">
                <a:solidFill>
                  <a:srgbClr val="0070C0"/>
                </a:solidFill>
                <a:latin typeface="Arial Narrow" panose="020B0606020202030204" pitchFamily="34" charset="0"/>
                <a:ea typeface="a고딕14" panose="02020600000000000000" pitchFamily="18" charset="-127"/>
              </a:rPr>
              <a:t>기반 여부 검토</a:t>
            </a:r>
            <a:r>
              <a:rPr lang="en-US" altLang="ko-KR" sz="1200" dirty="0">
                <a:solidFill>
                  <a:srgbClr val="0070C0"/>
                </a:solidFill>
                <a:latin typeface="Arial Narrow" panose="020B0606020202030204" pitchFamily="34" charset="0"/>
                <a:ea typeface="a고딕14" panose="02020600000000000000" pitchFamily="18" charset="-127"/>
              </a:rPr>
              <a:t>·</a:t>
            </a:r>
            <a:r>
              <a:rPr lang="ko-KR" altLang="en-US" sz="1200" dirty="0">
                <a:solidFill>
                  <a:srgbClr val="0070C0"/>
                </a:solidFill>
                <a:latin typeface="Arial Narrow" panose="020B0606020202030204" pitchFamily="34" charset="0"/>
                <a:ea typeface="a고딕14" panose="02020600000000000000" pitchFamily="18" charset="-127"/>
              </a:rPr>
              <a:t>심사</a:t>
            </a:r>
            <a:r>
              <a:rPr lang="en-US" altLang="ko-KR" sz="1200" dirty="0">
                <a:solidFill>
                  <a:prstClr val="black"/>
                </a:solidFill>
                <a:latin typeface="Arial Narrow" panose="020B0606020202030204" pitchFamily="34" charset="0"/>
                <a:ea typeface="a고딕14" panose="02020600000000000000" pitchFamily="18" charset="-127"/>
              </a:rPr>
              <a:t>, </a:t>
            </a:r>
            <a:r>
              <a:rPr lang="ko-KR" altLang="en-US" sz="1200" dirty="0">
                <a:solidFill>
                  <a:prstClr val="black"/>
                </a:solidFill>
                <a:latin typeface="Arial Narrow" panose="020B0606020202030204" pitchFamily="34" charset="0"/>
                <a:ea typeface="a고딕14" panose="02020600000000000000" pitchFamily="18" charset="-127"/>
              </a:rPr>
              <a:t>직무능력은행에 </a:t>
            </a:r>
            <a:r>
              <a:rPr lang="ko-KR" altLang="en-US" sz="1200" dirty="0">
                <a:solidFill>
                  <a:srgbClr val="0070C0"/>
                </a:solidFill>
                <a:latin typeface="Arial Narrow" panose="020B0606020202030204" pitchFamily="34" charset="0"/>
                <a:ea typeface="a고딕14" panose="02020600000000000000" pitchFamily="18" charset="-127"/>
              </a:rPr>
              <a:t>저축 가능한 교과로 인정</a:t>
            </a:r>
            <a:endParaRPr lang="ko-KR" altLang="en-US" sz="1200" dirty="0">
              <a:solidFill>
                <a:srgbClr val="0070C0"/>
              </a:solidFill>
              <a:latin typeface="a고딕15" panose="02020600000000000000" pitchFamily="18" charset="-127"/>
              <a:ea typeface="a고딕15" panose="02020600000000000000" pitchFamily="18" charset="-127"/>
            </a:endParaRPr>
          </a:p>
        </p:txBody>
      </p:sp>
      <p:sp>
        <p:nvSpPr>
          <p:cNvPr id="90" name="모서리가 둥근 직사각형 3">
            <a:extLst>
              <a:ext uri="{FF2B5EF4-FFF2-40B4-BE49-F238E27FC236}">
                <a16:creationId xmlns:a16="http://schemas.microsoft.com/office/drawing/2014/main" id="{1D0C2A7F-D3A1-9E93-B1A9-712EA21FC070}"/>
              </a:ext>
            </a:extLst>
          </p:cNvPr>
          <p:cNvSpPr/>
          <p:nvPr/>
        </p:nvSpPr>
        <p:spPr>
          <a:xfrm>
            <a:off x="616417" y="2096852"/>
            <a:ext cx="4157195" cy="2198581"/>
          </a:xfrm>
          <a:prstGeom prst="rect">
            <a:avLst/>
          </a:prstGeom>
          <a:solidFill>
            <a:schemeClr val="accent1">
              <a:lumMod val="20000"/>
              <a:lumOff val="8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맑은 고딕" panose="020B0503020000020004" pitchFamily="50" charset="-127"/>
            </a:endParaRPr>
          </a:p>
        </p:txBody>
      </p:sp>
      <p:pic>
        <p:nvPicPr>
          <p:cNvPr id="91" name="Picture 8" descr="물음표 - 무료 상호 작용개 아이콘">
            <a:extLst>
              <a:ext uri="{FF2B5EF4-FFF2-40B4-BE49-F238E27FC236}">
                <a16:creationId xmlns:a16="http://schemas.microsoft.com/office/drawing/2014/main" id="{83A0D2C5-8745-D474-DCCF-BD3C6A31AE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22" y="2137563"/>
            <a:ext cx="263856" cy="239729"/>
          </a:xfrm>
          <a:prstGeom prst="rect">
            <a:avLst/>
          </a:prstGeom>
          <a:noFill/>
          <a:extLst>
            <a:ext uri="{909E8E84-426E-40DD-AFC4-6F175D3DCCD1}">
              <a14:hiddenFill xmlns:a14="http://schemas.microsoft.com/office/drawing/2010/main">
                <a:solidFill>
                  <a:srgbClr val="FFFFFF"/>
                </a:solidFill>
              </a14:hiddenFill>
            </a:ext>
          </a:extLst>
        </p:spPr>
      </p:pic>
      <p:sp>
        <p:nvSpPr>
          <p:cNvPr id="92" name="TextBox 91">
            <a:extLst>
              <a:ext uri="{FF2B5EF4-FFF2-40B4-BE49-F238E27FC236}">
                <a16:creationId xmlns:a16="http://schemas.microsoft.com/office/drawing/2014/main" id="{90EA893F-DCF5-6071-ABB9-65314EE173D2}"/>
              </a:ext>
            </a:extLst>
          </p:cNvPr>
          <p:cNvSpPr txBox="1"/>
          <p:nvPr/>
        </p:nvSpPr>
        <p:spPr>
          <a:xfrm>
            <a:off x="785878" y="2128699"/>
            <a:ext cx="1963423" cy="2656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Noto Sans Symbols"/>
              <a:buNone/>
              <a:tabLst/>
              <a:defRPr/>
            </a:pPr>
            <a:r>
              <a:rPr kumimoji="0" lang="ko-KR" altLang="en-US" sz="1300" b="0" i="0" u="sng" strike="noStrike" kern="0" cap="none" spc="0" normalizeH="0" baseline="0" noProof="0">
                <a:ln>
                  <a:noFill/>
                </a:ln>
                <a:solidFill>
                  <a:srgbClr val="000000"/>
                </a:solidFill>
                <a:effectLst/>
                <a:uLnTx/>
                <a:uFillTx/>
                <a:latin typeface="a고딕15" panose="02020600000000000000" pitchFamily="18" charset="-127"/>
                <a:ea typeface="a고딕15" panose="02020600000000000000" pitchFamily="18" charset="-127"/>
                <a:cs typeface="Arial"/>
                <a:sym typeface="Arial"/>
              </a:rPr>
              <a:t>직무능력은행제란</a:t>
            </a:r>
            <a:r>
              <a:rPr kumimoji="0" lang="en-US" altLang="ko-KR" sz="1300" b="0" i="0" u="sng" strike="noStrike" kern="0" cap="none" spc="0" normalizeH="0" baseline="0" noProof="0" dirty="0">
                <a:ln>
                  <a:noFill/>
                </a:ln>
                <a:solidFill>
                  <a:srgbClr val="000000"/>
                </a:solidFill>
                <a:effectLst/>
                <a:uLnTx/>
                <a:uFillTx/>
                <a:latin typeface="a고딕15" panose="02020600000000000000" pitchFamily="18" charset="-127"/>
                <a:ea typeface="a고딕15" panose="02020600000000000000" pitchFamily="18" charset="-127"/>
                <a:cs typeface="Arial"/>
                <a:sym typeface="Arial"/>
              </a:rPr>
              <a:t>?</a:t>
            </a:r>
          </a:p>
        </p:txBody>
      </p:sp>
      <p:sp>
        <p:nvSpPr>
          <p:cNvPr id="93" name="직사각형 92">
            <a:extLst>
              <a:ext uri="{FF2B5EF4-FFF2-40B4-BE49-F238E27FC236}">
                <a16:creationId xmlns:a16="http://schemas.microsoft.com/office/drawing/2014/main" id="{4A1C3D42-475F-E8DD-3D2B-C2FD2A14BAA0}"/>
              </a:ext>
            </a:extLst>
          </p:cNvPr>
          <p:cNvSpPr/>
          <p:nvPr/>
        </p:nvSpPr>
        <p:spPr>
          <a:xfrm>
            <a:off x="765345" y="2420410"/>
            <a:ext cx="4008267" cy="576907"/>
          </a:xfrm>
          <a:prstGeom prst="rect">
            <a:avLst/>
          </a:prstGeom>
          <a:noFill/>
          <a:ln w="25400" cap="flat" cmpd="sng" algn="ctr">
            <a:noFill/>
            <a:prstDash val="solid"/>
          </a:ln>
          <a:effectLst/>
        </p:spPr>
        <p:txBody>
          <a:bodyPr lIns="72000" tIns="36000" rIns="72000" bIns="36000" rtlCol="0" anchor="t"/>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108000" lvl="0" indent="-108000" defTabSz="514231" fontAlgn="auto" latinLnBrk="0">
              <a:lnSpc>
                <a:spcPct val="110000"/>
              </a:lnSpc>
              <a:spcBef>
                <a:spcPts val="100"/>
              </a:spcBef>
              <a:spcAft>
                <a:spcPts val="100"/>
              </a:spcAft>
              <a:buFont typeface="Arial" panose="020B0604020202020204" pitchFamily="34" charset="0"/>
              <a:buChar char="•"/>
              <a:defRPr/>
            </a:pPr>
            <a:r>
              <a:rPr lang="ko-KR" altLang="en-US" sz="1200" dirty="0">
                <a:solidFill>
                  <a:prstClr val="black"/>
                </a:solidFill>
                <a:latin typeface="+mj-ea"/>
                <a:ea typeface="+mj-ea"/>
              </a:rPr>
              <a:t>국민 개인</a:t>
            </a:r>
            <a:r>
              <a:rPr kumimoji="0" lang="ko-KR" altLang="en-US" sz="1200" b="0" i="0" u="none" strike="noStrike" kern="1200" cap="none" spc="0" normalizeH="0" baseline="0" noProof="0" dirty="0">
                <a:ln>
                  <a:noFill/>
                </a:ln>
                <a:solidFill>
                  <a:prstClr val="black"/>
                </a:solidFill>
                <a:effectLst/>
                <a:uLnTx/>
                <a:uFillTx/>
                <a:latin typeface="+mj-ea"/>
                <a:ea typeface="+mj-ea"/>
                <a:cs typeface="+mn-cs"/>
              </a:rPr>
              <a:t>의 </a:t>
            </a:r>
            <a:r>
              <a:rPr lang="ko-KR" altLang="en-US" sz="1200" dirty="0">
                <a:solidFill>
                  <a:srgbClr val="0070C0"/>
                </a:solidFill>
                <a:latin typeface="+mj-ea"/>
                <a:ea typeface="+mj-ea"/>
              </a:rPr>
              <a:t>다양한 직무능력</a:t>
            </a:r>
            <a:r>
              <a:rPr lang="en-US" altLang="ko-KR" sz="1200" dirty="0">
                <a:solidFill>
                  <a:srgbClr val="0070C0"/>
                </a:solidFill>
                <a:latin typeface="+mj-ea"/>
                <a:ea typeface="+mj-ea"/>
              </a:rPr>
              <a:t>(</a:t>
            </a:r>
            <a:r>
              <a:rPr lang="ko-KR" altLang="en-US" sz="1200" dirty="0">
                <a:solidFill>
                  <a:srgbClr val="0070C0"/>
                </a:solidFill>
                <a:latin typeface="+mj-ea"/>
                <a:ea typeface="+mj-ea"/>
              </a:rPr>
              <a:t>교육</a:t>
            </a:r>
            <a:r>
              <a:rPr lang="en-US" altLang="ko-KR" sz="1200" dirty="0">
                <a:solidFill>
                  <a:srgbClr val="0070C0"/>
                </a:solidFill>
                <a:latin typeface="+mj-ea"/>
                <a:ea typeface="+mj-ea"/>
              </a:rPr>
              <a:t>, </a:t>
            </a:r>
            <a:r>
              <a:rPr lang="ko-KR" altLang="en-US" sz="1200" dirty="0">
                <a:solidFill>
                  <a:srgbClr val="0070C0"/>
                </a:solidFill>
                <a:latin typeface="+mj-ea"/>
                <a:ea typeface="+mj-ea"/>
              </a:rPr>
              <a:t>훈련</a:t>
            </a:r>
            <a:r>
              <a:rPr lang="en-US" altLang="ko-KR" sz="1200" dirty="0">
                <a:solidFill>
                  <a:srgbClr val="0070C0"/>
                </a:solidFill>
                <a:latin typeface="+mj-ea"/>
                <a:ea typeface="+mj-ea"/>
              </a:rPr>
              <a:t>, </a:t>
            </a:r>
            <a:r>
              <a:rPr lang="ko-KR" altLang="en-US" sz="1200" dirty="0">
                <a:solidFill>
                  <a:srgbClr val="0070C0"/>
                </a:solidFill>
                <a:latin typeface="+mj-ea"/>
                <a:ea typeface="+mj-ea"/>
              </a:rPr>
              <a:t>자격</a:t>
            </a:r>
            <a:r>
              <a:rPr lang="en-US" altLang="ko-KR" sz="1200" dirty="0">
                <a:solidFill>
                  <a:srgbClr val="0070C0"/>
                </a:solidFill>
                <a:latin typeface="+mj-ea"/>
                <a:ea typeface="+mj-ea"/>
              </a:rPr>
              <a:t> </a:t>
            </a:r>
            <a:r>
              <a:rPr lang="ko-KR" altLang="en-US" sz="1200" dirty="0">
                <a:solidFill>
                  <a:srgbClr val="0070C0"/>
                </a:solidFill>
                <a:latin typeface="+mj-ea"/>
                <a:ea typeface="+mj-ea"/>
              </a:rPr>
              <a:t>등</a:t>
            </a:r>
            <a:r>
              <a:rPr lang="en-US" altLang="ko-KR" sz="1200" dirty="0">
                <a:solidFill>
                  <a:srgbClr val="0070C0"/>
                </a:solidFill>
                <a:latin typeface="+mj-ea"/>
                <a:ea typeface="+mj-ea"/>
              </a:rPr>
              <a:t>)</a:t>
            </a:r>
            <a:r>
              <a:rPr lang="ko-KR" altLang="en-US" sz="1200" dirty="0">
                <a:solidFill>
                  <a:srgbClr val="0070C0"/>
                </a:solidFill>
                <a:latin typeface="+mj-ea"/>
                <a:ea typeface="+mj-ea"/>
              </a:rPr>
              <a:t>을 저축</a:t>
            </a:r>
            <a:r>
              <a:rPr lang="en-US" altLang="ko-KR" sz="1200" dirty="0">
                <a:solidFill>
                  <a:srgbClr val="0070C0"/>
                </a:solidFill>
                <a:latin typeface="+mj-lt"/>
                <a:ea typeface="+mj-ea"/>
              </a:rPr>
              <a:t>·</a:t>
            </a:r>
            <a:r>
              <a:rPr lang="ko-KR" altLang="en-US" sz="1200" dirty="0">
                <a:solidFill>
                  <a:srgbClr val="0070C0"/>
                </a:solidFill>
                <a:latin typeface="+mj-ea"/>
                <a:ea typeface="+mj-ea"/>
              </a:rPr>
              <a:t>통합</a:t>
            </a:r>
            <a:r>
              <a:rPr lang="ko-KR" altLang="en-US" sz="1200" dirty="0">
                <a:solidFill>
                  <a:prstClr val="black"/>
                </a:solidFill>
                <a:latin typeface="+mj-ea"/>
                <a:ea typeface="+mj-ea"/>
              </a:rPr>
              <a:t>하여 관리하고 이를 인정서로 발급하는 </a:t>
            </a:r>
            <a:r>
              <a:rPr lang="en-US" altLang="ko-KR" sz="1200" dirty="0">
                <a:solidFill>
                  <a:srgbClr val="0070C0"/>
                </a:solidFill>
                <a:latin typeface="a고딕15" panose="02020600000000000000" pitchFamily="18" charset="-127"/>
                <a:ea typeface="a고딕15" panose="02020600000000000000" pitchFamily="18" charset="-127"/>
              </a:rPr>
              <a:t>‘</a:t>
            </a:r>
            <a:r>
              <a:rPr lang="ko-KR" altLang="en-US" sz="1200" dirty="0">
                <a:solidFill>
                  <a:srgbClr val="0070C0"/>
                </a:solidFill>
                <a:latin typeface="a고딕15" panose="02020600000000000000" pitchFamily="18" charset="-127"/>
                <a:ea typeface="a고딕15" panose="02020600000000000000" pitchFamily="18" charset="-127"/>
              </a:rPr>
              <a:t>개인별 직무능력 인정</a:t>
            </a:r>
            <a:r>
              <a:rPr lang="en-US" altLang="ko-KR" sz="1200" dirty="0">
                <a:solidFill>
                  <a:srgbClr val="0070C0"/>
                </a:solidFill>
                <a:latin typeface="a고딕15" panose="02020600000000000000" pitchFamily="18" charset="-127"/>
                <a:ea typeface="a고딕15" panose="02020600000000000000" pitchFamily="18" charset="-127"/>
              </a:rPr>
              <a:t>·</a:t>
            </a:r>
            <a:r>
              <a:rPr lang="ko-KR" altLang="en-US" sz="1200" dirty="0">
                <a:solidFill>
                  <a:srgbClr val="0070C0"/>
                </a:solidFill>
                <a:latin typeface="a고딕15" panose="02020600000000000000" pitchFamily="18" charset="-127"/>
                <a:ea typeface="a고딕15" panose="02020600000000000000" pitchFamily="18" charset="-127"/>
              </a:rPr>
              <a:t>관리체계</a:t>
            </a:r>
            <a:r>
              <a:rPr lang="en-US" altLang="ko-KR" sz="1200" dirty="0">
                <a:solidFill>
                  <a:srgbClr val="0070C0"/>
                </a:solidFill>
                <a:latin typeface="a고딕15" panose="02020600000000000000" pitchFamily="18" charset="-127"/>
                <a:ea typeface="a고딕15" panose="02020600000000000000" pitchFamily="18" charset="-127"/>
              </a:rPr>
              <a:t>’</a:t>
            </a:r>
            <a:endParaRPr lang="ko-KR" altLang="en-US" sz="1200" dirty="0">
              <a:solidFill>
                <a:srgbClr val="0070C0"/>
              </a:solidFill>
              <a:latin typeface="a고딕15" panose="02020600000000000000" pitchFamily="18" charset="-127"/>
              <a:ea typeface="a고딕15" panose="02020600000000000000" pitchFamily="18" charset="-127"/>
            </a:endParaRPr>
          </a:p>
        </p:txBody>
      </p:sp>
      <p:sp>
        <p:nvSpPr>
          <p:cNvPr id="94" name="직사각형 93"/>
          <p:cNvSpPr/>
          <p:nvPr/>
        </p:nvSpPr>
        <p:spPr>
          <a:xfrm>
            <a:off x="740531" y="4401108"/>
            <a:ext cx="1383760" cy="22953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l">
              <a:buNone/>
            </a:pPr>
            <a:r>
              <a:rPr lang="ko-KR" altLang="en-US" sz="1100" dirty="0">
                <a:solidFill>
                  <a:schemeClr val="tx1"/>
                </a:solidFill>
                <a:latin typeface="Arial Narrow" panose="020B0606020202030204" pitchFamily="34" charset="0"/>
                <a:ea typeface="a고딕14" panose="02020600000000000000" pitchFamily="18" charset="-127"/>
              </a:rPr>
              <a:t>직무능력 인정서</a:t>
            </a:r>
          </a:p>
        </p:txBody>
      </p:sp>
      <p:sp>
        <p:nvSpPr>
          <p:cNvPr id="108" name="사다리꼴 12">
            <a:extLst>
              <a:ext uri="{FF2B5EF4-FFF2-40B4-BE49-F238E27FC236}">
                <a16:creationId xmlns:a16="http://schemas.microsoft.com/office/drawing/2014/main" id="{03EF8C6B-01B6-6FE2-AB8E-2E0F0D257300}"/>
              </a:ext>
            </a:extLst>
          </p:cNvPr>
          <p:cNvSpPr/>
          <p:nvPr/>
        </p:nvSpPr>
        <p:spPr>
          <a:xfrm rot="5400000">
            <a:off x="576313" y="3578011"/>
            <a:ext cx="1067621" cy="216647"/>
          </a:xfrm>
          <a:custGeom>
            <a:avLst/>
            <a:gdLst>
              <a:gd name="connsiteX0" fmla="*/ 0 w 1756457"/>
              <a:gd name="connsiteY0" fmla="*/ 457113 h 457113"/>
              <a:gd name="connsiteX1" fmla="*/ 371157 w 1756457"/>
              <a:gd name="connsiteY1" fmla="*/ 0 h 457113"/>
              <a:gd name="connsiteX2" fmla="*/ 13853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711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57113 h 457113"/>
              <a:gd name="connsiteX1" fmla="*/ 633060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70144 h 470144"/>
              <a:gd name="connsiteX1" fmla="*/ 633060 w 1756457"/>
              <a:gd name="connsiteY1" fmla="*/ 13031 h 470144"/>
              <a:gd name="connsiteX2" fmla="*/ 1586261 w 1756457"/>
              <a:gd name="connsiteY2" fmla="*/ 0 h 470144"/>
              <a:gd name="connsiteX3" fmla="*/ 1756457 w 1756457"/>
              <a:gd name="connsiteY3" fmla="*/ 470144 h 470144"/>
              <a:gd name="connsiteX4" fmla="*/ 0 w 1756457"/>
              <a:gd name="connsiteY4" fmla="*/ 470144 h 470144"/>
              <a:gd name="connsiteX0" fmla="*/ 0 w 1756457"/>
              <a:gd name="connsiteY0" fmla="*/ 459394 h 459394"/>
              <a:gd name="connsiteX1" fmla="*/ 633060 w 1756457"/>
              <a:gd name="connsiteY1" fmla="*/ 2281 h 459394"/>
              <a:gd name="connsiteX2" fmla="*/ 1590015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633060 w 1756457"/>
              <a:gd name="connsiteY1" fmla="*/ 2281 h 459394"/>
              <a:gd name="connsiteX2" fmla="*/ 1480571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131440 w 1756457"/>
              <a:gd name="connsiteY1" fmla="*/ 18620 h 459394"/>
              <a:gd name="connsiteX2" fmla="*/ 1480571 w 1756457"/>
              <a:gd name="connsiteY2" fmla="*/ 0 h 459394"/>
              <a:gd name="connsiteX3" fmla="*/ 1756457 w 1756457"/>
              <a:gd name="connsiteY3" fmla="*/ 459394 h 459394"/>
              <a:gd name="connsiteX4" fmla="*/ 0 w 1756457"/>
              <a:gd name="connsiteY4" fmla="*/ 459394 h 459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6457" h="459394">
                <a:moveTo>
                  <a:pt x="0" y="459394"/>
                </a:moveTo>
                <a:lnTo>
                  <a:pt x="131440" y="18620"/>
                </a:lnTo>
                <a:lnTo>
                  <a:pt x="1480571" y="0"/>
                </a:lnTo>
                <a:lnTo>
                  <a:pt x="1756457" y="459394"/>
                </a:lnTo>
                <a:lnTo>
                  <a:pt x="0" y="459394"/>
                </a:lnTo>
                <a:close/>
              </a:path>
            </a:pathLst>
          </a:custGeom>
          <a:gradFill>
            <a:gsLst>
              <a:gs pos="0">
                <a:srgbClr val="F0F5FA">
                  <a:alpha val="41000"/>
                </a:srgbClr>
              </a:gs>
              <a:gs pos="100000">
                <a:schemeClr val="bg1">
                  <a:lumMod val="75000"/>
                </a:schemeClr>
              </a:gs>
            </a:gsLst>
            <a:lin ang="5400000" scaled="1"/>
          </a:gradFill>
          <a:ln w="25400" cap="flat" cmpd="sng" algn="ctr">
            <a:noFill/>
            <a:prstDash val="solid"/>
          </a:ln>
          <a:effectLst/>
        </p:spPr>
        <p:txBody>
          <a:bodyPr rtlCol="0" anchor="t"/>
          <a:lstStyle/>
          <a:p>
            <a:pPr marL="90488" marR="0" lvl="0" indent="-904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110" name="모서리가 둥근 직사각형 109"/>
          <p:cNvSpPr/>
          <p:nvPr/>
        </p:nvSpPr>
        <p:spPr>
          <a:xfrm>
            <a:off x="677763" y="3152524"/>
            <a:ext cx="360041" cy="229535"/>
          </a:xfrm>
          <a:prstGeom prst="roundRect">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자격</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11" name="모서리가 둥근 직사각형 110"/>
          <p:cNvSpPr/>
          <p:nvPr/>
        </p:nvSpPr>
        <p:spPr>
          <a:xfrm>
            <a:off x="677763" y="3431886"/>
            <a:ext cx="360041" cy="229535"/>
          </a:xfrm>
          <a:prstGeom prst="roundRect">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교육</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14" name="모서리가 둥근 직사각형 113"/>
          <p:cNvSpPr/>
          <p:nvPr/>
        </p:nvSpPr>
        <p:spPr>
          <a:xfrm>
            <a:off x="677763" y="3711248"/>
            <a:ext cx="360041" cy="229535"/>
          </a:xfrm>
          <a:prstGeom prst="roundRect">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tx1"/>
                </a:solidFill>
                <a:latin typeface="Arial Narrow" panose="020B0606020202030204" pitchFamily="34" charset="0"/>
                <a:ea typeface="a고딕14" panose="02020600000000000000" pitchFamily="18" charset="-127"/>
              </a:rPr>
              <a:t>훈련</a:t>
            </a:r>
          </a:p>
        </p:txBody>
      </p:sp>
      <p:sp>
        <p:nvSpPr>
          <p:cNvPr id="116" name="모서리가 둥근 직사각형 115"/>
          <p:cNvSpPr/>
          <p:nvPr/>
        </p:nvSpPr>
        <p:spPr>
          <a:xfrm>
            <a:off x="677763" y="3990609"/>
            <a:ext cx="360041" cy="229535"/>
          </a:xfrm>
          <a:prstGeom prst="roundRect">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경력</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17" name="오각형 116"/>
          <p:cNvSpPr/>
          <p:nvPr/>
        </p:nvSpPr>
        <p:spPr>
          <a:xfrm>
            <a:off x="1183066" y="3426078"/>
            <a:ext cx="806050" cy="516971"/>
          </a:xfrm>
          <a:prstGeom prst="homePlate">
            <a:avLst>
              <a:gd name="adj" fmla="val 24489"/>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직무능력</a:t>
            </a:r>
            <a:endParaRPr lang="en-US" altLang="ko-KR" sz="1100">
              <a:solidFill>
                <a:schemeClr val="tx1"/>
              </a:solidFill>
              <a:latin typeface="Arial Narrow" panose="020B0606020202030204" pitchFamily="34" charset="0"/>
              <a:ea typeface="a고딕14" panose="02020600000000000000" pitchFamily="18" charset="-127"/>
            </a:endParaRPr>
          </a:p>
          <a:p>
            <a:pPr>
              <a:buNone/>
            </a:pPr>
            <a:r>
              <a:rPr lang="ko-KR" altLang="en-US" sz="1100">
                <a:solidFill>
                  <a:schemeClr val="tx1"/>
                </a:solidFill>
                <a:latin typeface="Arial Narrow" panose="020B0606020202030204" pitchFamily="34" charset="0"/>
                <a:ea typeface="a고딕14" panose="02020600000000000000" pitchFamily="18" charset="-127"/>
              </a:rPr>
              <a:t>습득</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18" name="갈매기형 수장 117"/>
          <p:cNvSpPr/>
          <p:nvPr/>
        </p:nvSpPr>
        <p:spPr>
          <a:xfrm>
            <a:off x="1943537" y="3426078"/>
            <a:ext cx="818041" cy="516971"/>
          </a:xfrm>
          <a:prstGeom prst="chevron">
            <a:avLst>
              <a:gd name="adj" fmla="val 22788"/>
            </a:avLst>
          </a:prstGeom>
          <a:solidFill>
            <a:schemeClr val="bg1">
              <a:lumMod val="8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tx1"/>
                </a:solidFill>
                <a:latin typeface="Arial Narrow" panose="020B0606020202030204" pitchFamily="34" charset="0"/>
                <a:ea typeface="a고딕14" panose="02020600000000000000" pitchFamily="18" charset="-127"/>
              </a:rPr>
              <a:t>능력단위 기반 저축</a:t>
            </a:r>
          </a:p>
        </p:txBody>
      </p:sp>
      <p:sp>
        <p:nvSpPr>
          <p:cNvPr id="119" name="갈매기형 수장 118"/>
          <p:cNvSpPr/>
          <p:nvPr/>
        </p:nvSpPr>
        <p:spPr>
          <a:xfrm>
            <a:off x="2715999" y="3426078"/>
            <a:ext cx="818041" cy="516971"/>
          </a:xfrm>
          <a:prstGeom prst="chevron">
            <a:avLst>
              <a:gd name="adj" fmla="val 24489"/>
            </a:avLst>
          </a:prstGeom>
          <a:solidFill>
            <a:schemeClr val="bg1">
              <a:lumMod val="7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직무능력 인출</a:t>
            </a:r>
            <a:r>
              <a:rPr lang="en-US" altLang="ko-KR" sz="1100">
                <a:solidFill>
                  <a:schemeClr val="tx1"/>
                </a:solidFill>
                <a:latin typeface="Arial Narrow" panose="020B0606020202030204" pitchFamily="34" charset="0"/>
                <a:ea typeface="a고딕14" panose="02020600000000000000" pitchFamily="18" charset="-127"/>
              </a:rPr>
              <a:t>·</a:t>
            </a:r>
            <a:r>
              <a:rPr lang="ko-KR" altLang="en-US" sz="1100">
                <a:solidFill>
                  <a:schemeClr val="tx1"/>
                </a:solidFill>
                <a:latin typeface="Arial Narrow" panose="020B0606020202030204" pitchFamily="34" charset="0"/>
                <a:ea typeface="a고딕14" panose="02020600000000000000" pitchFamily="18" charset="-127"/>
              </a:rPr>
              <a:t>활용</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20" name="모서리가 둥근 직사각형 119"/>
          <p:cNvSpPr/>
          <p:nvPr/>
        </p:nvSpPr>
        <p:spPr>
          <a:xfrm>
            <a:off x="3630714" y="3206440"/>
            <a:ext cx="360041" cy="412574"/>
          </a:xfrm>
          <a:prstGeom prst="round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개인</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21" name="모서리가 둥근 직사각형 120"/>
          <p:cNvSpPr/>
          <p:nvPr/>
        </p:nvSpPr>
        <p:spPr>
          <a:xfrm>
            <a:off x="3630714" y="3688003"/>
            <a:ext cx="360041" cy="412574"/>
          </a:xfrm>
          <a:prstGeom prst="roundRect">
            <a:avLst/>
          </a:prstGeom>
          <a:solidFill>
            <a:schemeClr val="tx2">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기업</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22" name="직사각형 121"/>
          <p:cNvSpPr/>
          <p:nvPr/>
        </p:nvSpPr>
        <p:spPr>
          <a:xfrm>
            <a:off x="3976568" y="3206440"/>
            <a:ext cx="842911" cy="41257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marL="108000" indent="-108000" algn="l">
              <a:buFont typeface="Arial" panose="020B0604020202020204" pitchFamily="34" charset="0"/>
              <a:buChar char="•"/>
            </a:pPr>
            <a:r>
              <a:rPr lang="ko-KR" altLang="en-US" sz="1100" dirty="0">
                <a:solidFill>
                  <a:schemeClr val="tx1"/>
                </a:solidFill>
                <a:latin typeface="Arial Narrow" panose="020B0606020202030204" pitchFamily="34" charset="0"/>
                <a:ea typeface="a고딕14" panose="02020600000000000000" pitchFamily="18" charset="-127"/>
              </a:rPr>
              <a:t>취업</a:t>
            </a:r>
            <a:endParaRPr lang="en-US" altLang="ko-KR" sz="1100" dirty="0">
              <a:solidFill>
                <a:schemeClr val="tx1"/>
              </a:solidFill>
              <a:latin typeface="Arial Narrow" panose="020B0606020202030204" pitchFamily="34" charset="0"/>
              <a:ea typeface="a고딕14" panose="02020600000000000000" pitchFamily="18" charset="-127"/>
            </a:endParaRPr>
          </a:p>
          <a:p>
            <a:pPr marL="108000" indent="-108000" algn="l">
              <a:buFont typeface="Arial" panose="020B0604020202020204" pitchFamily="34" charset="0"/>
              <a:buChar char="•"/>
            </a:pPr>
            <a:r>
              <a:rPr lang="ko-KR" altLang="en-US" sz="1100" dirty="0">
                <a:solidFill>
                  <a:schemeClr val="tx1"/>
                </a:solidFill>
                <a:latin typeface="Arial Narrow" panose="020B0606020202030204" pitchFamily="34" charset="0"/>
                <a:ea typeface="a고딕14" panose="02020600000000000000" pitchFamily="18" charset="-127"/>
              </a:rPr>
              <a:t>자기계발</a:t>
            </a:r>
          </a:p>
        </p:txBody>
      </p:sp>
      <p:sp>
        <p:nvSpPr>
          <p:cNvPr id="123" name="직사각형 122"/>
          <p:cNvSpPr/>
          <p:nvPr/>
        </p:nvSpPr>
        <p:spPr>
          <a:xfrm>
            <a:off x="3976568" y="3688003"/>
            <a:ext cx="842911" cy="41257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marL="108000" indent="-108000" algn="l">
              <a:buFont typeface="Arial" panose="020B0604020202020204" pitchFamily="34" charset="0"/>
              <a:buChar char="•"/>
            </a:pPr>
            <a:r>
              <a:rPr lang="ko-KR" altLang="en-US" sz="1100">
                <a:solidFill>
                  <a:schemeClr val="tx1"/>
                </a:solidFill>
                <a:latin typeface="Arial Narrow" panose="020B0606020202030204" pitchFamily="34" charset="0"/>
                <a:ea typeface="a고딕14" panose="02020600000000000000" pitchFamily="18" charset="-127"/>
              </a:rPr>
              <a:t>인재채용</a:t>
            </a:r>
            <a:endParaRPr lang="en-US" altLang="ko-KR" sz="1100">
              <a:solidFill>
                <a:schemeClr val="tx1"/>
              </a:solidFill>
              <a:latin typeface="Arial Narrow" panose="020B0606020202030204" pitchFamily="34" charset="0"/>
              <a:ea typeface="a고딕14" panose="02020600000000000000" pitchFamily="18" charset="-127"/>
            </a:endParaRPr>
          </a:p>
          <a:p>
            <a:pPr marL="108000" indent="-108000" algn="l">
              <a:buFont typeface="Arial" panose="020B0604020202020204" pitchFamily="34" charset="0"/>
              <a:buChar char="•"/>
            </a:pPr>
            <a:r>
              <a:rPr lang="ko-KR" altLang="en-US" sz="1100">
                <a:solidFill>
                  <a:schemeClr val="tx1"/>
                </a:solidFill>
                <a:latin typeface="Arial Narrow" panose="020B0606020202030204" pitchFamily="34" charset="0"/>
                <a:ea typeface="a고딕14" panose="02020600000000000000" pitchFamily="18" charset="-127"/>
              </a:rPr>
              <a:t>인사관리</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24" name="직사각형 123"/>
          <p:cNvSpPr/>
          <p:nvPr/>
        </p:nvSpPr>
        <p:spPr>
          <a:xfrm>
            <a:off x="616417" y="4401108"/>
            <a:ext cx="70140" cy="229535"/>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125" name="그림 124"/>
          <p:cNvPicPr>
            <a:picLocks noChangeAspect="1"/>
          </p:cNvPicPr>
          <p:nvPr/>
        </p:nvPicPr>
        <p:blipFill>
          <a:blip r:embed="rId3"/>
          <a:srcRect b="6465"/>
          <a:stretch/>
        </p:blipFill>
        <p:spPr>
          <a:xfrm>
            <a:off x="1430250" y="4966411"/>
            <a:ext cx="1369454" cy="1735436"/>
          </a:xfrm>
          <a:prstGeom prst="rect">
            <a:avLst/>
          </a:prstGeom>
        </p:spPr>
      </p:pic>
      <p:pic>
        <p:nvPicPr>
          <p:cNvPr id="126" name="그림 125"/>
          <p:cNvPicPr>
            <a:picLocks noChangeAspect="1"/>
          </p:cNvPicPr>
          <p:nvPr/>
        </p:nvPicPr>
        <p:blipFill>
          <a:blip r:embed="rId4"/>
          <a:srcRect b="6378"/>
          <a:stretch/>
        </p:blipFill>
        <p:spPr>
          <a:xfrm>
            <a:off x="679208" y="4684328"/>
            <a:ext cx="1369454" cy="1797950"/>
          </a:xfrm>
          <a:prstGeom prst="rect">
            <a:avLst/>
          </a:prstGeom>
        </p:spPr>
      </p:pic>
      <p:sp>
        <p:nvSpPr>
          <p:cNvPr id="18" name="직사각형 17">
            <a:extLst>
              <a:ext uri="{FF2B5EF4-FFF2-40B4-BE49-F238E27FC236}">
                <a16:creationId xmlns:a16="http://schemas.microsoft.com/office/drawing/2014/main" id="{C0AF70DA-4988-BB1B-98FC-450029953E19}"/>
              </a:ext>
            </a:extLst>
          </p:cNvPr>
          <p:cNvSpPr/>
          <p:nvPr/>
        </p:nvSpPr>
        <p:spPr>
          <a:xfrm>
            <a:off x="2960322" y="4724588"/>
            <a:ext cx="1813290" cy="176511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3" name="직사각형 2">
            <a:extLst>
              <a:ext uri="{FF2B5EF4-FFF2-40B4-BE49-F238E27FC236}">
                <a16:creationId xmlns:a16="http://schemas.microsoft.com/office/drawing/2014/main" id="{84AED149-28C2-EDE6-FEFB-11D36EA4C78C}"/>
              </a:ext>
            </a:extLst>
          </p:cNvPr>
          <p:cNvSpPr/>
          <p:nvPr/>
        </p:nvSpPr>
        <p:spPr>
          <a:xfrm>
            <a:off x="2996058" y="4782694"/>
            <a:ext cx="372960" cy="614784"/>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항목</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4" name="직사각형 3">
            <a:extLst>
              <a:ext uri="{FF2B5EF4-FFF2-40B4-BE49-F238E27FC236}">
                <a16:creationId xmlns:a16="http://schemas.microsoft.com/office/drawing/2014/main" id="{DDDFB57D-469B-1B54-886A-A05A7C8C8438}"/>
              </a:ext>
            </a:extLst>
          </p:cNvPr>
          <p:cNvSpPr/>
          <p:nvPr/>
        </p:nvSpPr>
        <p:spPr>
          <a:xfrm>
            <a:off x="2996058" y="5503151"/>
            <a:ext cx="372960" cy="950186"/>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정보</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13" name="직사각형 12">
            <a:extLst>
              <a:ext uri="{FF2B5EF4-FFF2-40B4-BE49-F238E27FC236}">
                <a16:creationId xmlns:a16="http://schemas.microsoft.com/office/drawing/2014/main" id="{CC85FA8A-4E35-4E1D-5EE7-8BA94819C181}"/>
              </a:ext>
            </a:extLst>
          </p:cNvPr>
          <p:cNvSpPr/>
          <p:nvPr/>
        </p:nvSpPr>
        <p:spPr>
          <a:xfrm>
            <a:off x="3445504" y="4782694"/>
            <a:ext cx="612000" cy="288000"/>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kumimoji="0" lang="ko-KR" altLang="en-US" sz="1100" b="0" i="0" u="none" strike="noStrike" kern="1200" cap="none" spc="0" normalizeH="0" baseline="0" noProof="0" dirty="0">
                <a:ln>
                  <a:noFill/>
                </a:ln>
                <a:solidFill>
                  <a:schemeClr val="tx1"/>
                </a:solidFill>
                <a:effectLst/>
                <a:uLnTx/>
                <a:uFillTx/>
                <a:latin typeface="+mn-ea"/>
              </a:rPr>
              <a:t>자격</a:t>
            </a:r>
          </a:p>
        </p:txBody>
      </p:sp>
      <p:sp>
        <p:nvSpPr>
          <p:cNvPr id="14" name="직사각형 13">
            <a:extLst>
              <a:ext uri="{FF2B5EF4-FFF2-40B4-BE49-F238E27FC236}">
                <a16:creationId xmlns:a16="http://schemas.microsoft.com/office/drawing/2014/main" id="{74617088-6FF2-6AF1-351D-D593A876D881}"/>
              </a:ext>
            </a:extLst>
          </p:cNvPr>
          <p:cNvSpPr/>
          <p:nvPr/>
        </p:nvSpPr>
        <p:spPr>
          <a:xfrm>
            <a:off x="4107005" y="4782694"/>
            <a:ext cx="612000" cy="288000"/>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100" dirty="0">
                <a:solidFill>
                  <a:schemeClr val="tx1"/>
                </a:solidFill>
                <a:latin typeface="+mn-ea"/>
              </a:rPr>
              <a:t>교육</a:t>
            </a:r>
            <a:endParaRPr kumimoji="0" lang="ko-KR" altLang="en-US" sz="1100" b="0" i="0" u="none" strike="noStrike" kern="1200" cap="none" spc="0" normalizeH="0" baseline="0" noProof="0" dirty="0">
              <a:ln>
                <a:noFill/>
              </a:ln>
              <a:solidFill>
                <a:schemeClr val="tx1"/>
              </a:solidFill>
              <a:effectLst/>
              <a:uLnTx/>
              <a:uFillTx/>
              <a:latin typeface="+mn-ea"/>
            </a:endParaRPr>
          </a:p>
        </p:txBody>
      </p:sp>
      <p:sp>
        <p:nvSpPr>
          <p:cNvPr id="16" name="직사각형 15">
            <a:extLst>
              <a:ext uri="{FF2B5EF4-FFF2-40B4-BE49-F238E27FC236}">
                <a16:creationId xmlns:a16="http://schemas.microsoft.com/office/drawing/2014/main" id="{E1112BDE-DF25-94B6-3197-F61680E377EA}"/>
              </a:ext>
            </a:extLst>
          </p:cNvPr>
          <p:cNvSpPr/>
          <p:nvPr/>
        </p:nvSpPr>
        <p:spPr>
          <a:xfrm>
            <a:off x="3445504" y="5109478"/>
            <a:ext cx="612000" cy="288000"/>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100" dirty="0">
                <a:solidFill>
                  <a:schemeClr val="tx1"/>
                </a:solidFill>
                <a:latin typeface="+mn-ea"/>
              </a:rPr>
              <a:t>훈련</a:t>
            </a:r>
            <a:endParaRPr kumimoji="0" lang="ko-KR" altLang="en-US" sz="1100" b="0" i="0" u="none" strike="noStrike" kern="1200" cap="none" spc="0" normalizeH="0" baseline="0" noProof="0" dirty="0">
              <a:ln>
                <a:noFill/>
              </a:ln>
              <a:solidFill>
                <a:schemeClr val="tx1"/>
              </a:solidFill>
              <a:effectLst/>
              <a:uLnTx/>
              <a:uFillTx/>
              <a:latin typeface="+mn-ea"/>
            </a:endParaRPr>
          </a:p>
        </p:txBody>
      </p:sp>
      <p:sp>
        <p:nvSpPr>
          <p:cNvPr id="17" name="직사각형 16">
            <a:extLst>
              <a:ext uri="{FF2B5EF4-FFF2-40B4-BE49-F238E27FC236}">
                <a16:creationId xmlns:a16="http://schemas.microsoft.com/office/drawing/2014/main" id="{A4D3249F-E0CB-512E-E92A-FDF9E946EFE4}"/>
              </a:ext>
            </a:extLst>
          </p:cNvPr>
          <p:cNvSpPr/>
          <p:nvPr/>
        </p:nvSpPr>
        <p:spPr>
          <a:xfrm>
            <a:off x="4107005" y="5109478"/>
            <a:ext cx="612000" cy="288000"/>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100" dirty="0">
                <a:solidFill>
                  <a:schemeClr val="tx1"/>
                </a:solidFill>
                <a:latin typeface="+mn-ea"/>
              </a:rPr>
              <a:t>경력</a:t>
            </a:r>
            <a:endParaRPr kumimoji="0" lang="ko-KR" altLang="en-US" sz="1100" b="0" i="0" u="none" strike="noStrike" kern="1200" cap="none" spc="0" normalizeH="0" baseline="0" noProof="0" dirty="0">
              <a:ln>
                <a:noFill/>
              </a:ln>
              <a:solidFill>
                <a:schemeClr val="tx1"/>
              </a:solidFill>
              <a:effectLst/>
              <a:uLnTx/>
              <a:uFillTx/>
              <a:latin typeface="+mn-ea"/>
            </a:endParaRPr>
          </a:p>
        </p:txBody>
      </p:sp>
      <p:sp>
        <p:nvSpPr>
          <p:cNvPr id="19" name="직사각형 18">
            <a:extLst>
              <a:ext uri="{FF2B5EF4-FFF2-40B4-BE49-F238E27FC236}">
                <a16:creationId xmlns:a16="http://schemas.microsoft.com/office/drawing/2014/main" id="{9328D544-BF60-961E-8593-142D2CB99241}"/>
              </a:ext>
            </a:extLst>
          </p:cNvPr>
          <p:cNvSpPr/>
          <p:nvPr/>
        </p:nvSpPr>
        <p:spPr>
          <a:xfrm>
            <a:off x="3445504" y="5503149"/>
            <a:ext cx="1276944" cy="950187"/>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indent="-79375" algn="l" latinLnBrk="0">
              <a:spcAft>
                <a:spcPts val="0"/>
              </a:spcAft>
              <a:buFontTx/>
              <a:buChar char="-"/>
            </a:pPr>
            <a:r>
              <a:rPr lang="ko-KR" altLang="en-US" sz="1100" spc="-100" dirty="0" err="1">
                <a:solidFill>
                  <a:schemeClr val="tx1"/>
                </a:solidFill>
                <a:latin typeface="Arial Narrow" panose="020B0606020202030204" pitchFamily="34" charset="0"/>
                <a:ea typeface="a고딕14" panose="02020600000000000000" pitchFamily="18" charset="-127"/>
              </a:rPr>
              <a:t>자격명</a:t>
            </a:r>
            <a:r>
              <a:rPr lang="en-US" altLang="ko-KR" sz="1100" spc="-100" dirty="0">
                <a:solidFill>
                  <a:schemeClr val="tx1"/>
                </a:solidFill>
                <a:latin typeface="Arial Narrow" panose="020B0606020202030204" pitchFamily="34" charset="0"/>
                <a:ea typeface="a고딕14" panose="02020600000000000000" pitchFamily="18" charset="-127"/>
              </a:rPr>
              <a:t>, </a:t>
            </a:r>
            <a:r>
              <a:rPr lang="ko-KR" altLang="en-US" sz="1100" spc="-100" dirty="0" err="1">
                <a:solidFill>
                  <a:schemeClr val="tx1"/>
                </a:solidFill>
                <a:latin typeface="Arial Narrow" panose="020B0606020202030204" pitchFamily="34" charset="0"/>
                <a:ea typeface="a고딕14" panose="02020600000000000000" pitchFamily="18" charset="-127"/>
              </a:rPr>
              <a:t>과정명</a:t>
            </a:r>
            <a:r>
              <a:rPr lang="en-US" altLang="ko-KR" sz="1100" spc="-100" dirty="0">
                <a:solidFill>
                  <a:schemeClr val="tx1"/>
                </a:solidFill>
                <a:latin typeface="Arial Narrow" panose="020B0606020202030204" pitchFamily="34" charset="0"/>
                <a:ea typeface="a고딕14" panose="02020600000000000000" pitchFamily="18" charset="-127"/>
              </a:rPr>
              <a:t> </a:t>
            </a:r>
            <a:r>
              <a:rPr lang="ko-KR" altLang="en-US" sz="1100" spc="-100" dirty="0">
                <a:solidFill>
                  <a:schemeClr val="tx1"/>
                </a:solidFill>
                <a:latin typeface="Arial Narrow" panose="020B0606020202030204" pitchFamily="34" charset="0"/>
                <a:ea typeface="a고딕14" panose="02020600000000000000" pitchFamily="18" charset="-127"/>
              </a:rPr>
              <a:t>및 업종</a:t>
            </a:r>
            <a:endParaRPr lang="en-US" altLang="ko-KR" sz="1100" spc="-100" dirty="0">
              <a:solidFill>
                <a:schemeClr val="tx1"/>
              </a:solidFill>
              <a:latin typeface="Arial Narrow" panose="020B0606020202030204" pitchFamily="34" charset="0"/>
              <a:ea typeface="a고딕14" panose="02020600000000000000" pitchFamily="18" charset="-127"/>
            </a:endParaRPr>
          </a:p>
          <a:p>
            <a:pPr marL="171450" indent="-79375" algn="l" latinLnBrk="0">
              <a:spcAft>
                <a:spcPts val="0"/>
              </a:spcAft>
              <a:buFontTx/>
              <a:buChar char="-"/>
            </a:pPr>
            <a:r>
              <a:rPr lang="ko-KR" altLang="en-US" sz="1100" spc="-100" dirty="0">
                <a:solidFill>
                  <a:schemeClr val="tx1"/>
                </a:solidFill>
                <a:latin typeface="Arial Narrow" panose="020B0606020202030204" pitchFamily="34" charset="0"/>
                <a:ea typeface="a고딕14" panose="02020600000000000000" pitchFamily="18" charset="-127"/>
              </a:rPr>
              <a:t>훈련</a:t>
            </a:r>
            <a:r>
              <a:rPr lang="en-US" altLang="ko-KR" sz="1100" spc="-100" dirty="0">
                <a:solidFill>
                  <a:schemeClr val="tx1"/>
                </a:solidFill>
                <a:latin typeface="Arial Narrow" panose="020B0606020202030204" pitchFamily="34" charset="0"/>
                <a:ea typeface="a고딕14" panose="02020600000000000000" pitchFamily="18" charset="-127"/>
              </a:rPr>
              <a:t>·</a:t>
            </a:r>
            <a:r>
              <a:rPr lang="ko-KR" altLang="en-US" sz="1100" spc="-100" dirty="0">
                <a:solidFill>
                  <a:schemeClr val="tx1"/>
                </a:solidFill>
                <a:latin typeface="Arial Narrow" panose="020B0606020202030204" pitchFamily="34" charset="0"/>
                <a:ea typeface="a고딕14" panose="02020600000000000000" pitchFamily="18" charset="-127"/>
              </a:rPr>
              <a:t>교육 등 기관名</a:t>
            </a:r>
            <a:endParaRPr lang="en-US" altLang="ko-KR" sz="1100" spc="-100" dirty="0">
              <a:solidFill>
                <a:schemeClr val="tx1"/>
              </a:solidFill>
              <a:latin typeface="Arial Narrow" panose="020B0606020202030204" pitchFamily="34" charset="0"/>
              <a:ea typeface="a고딕14" panose="02020600000000000000" pitchFamily="18" charset="-127"/>
            </a:endParaRPr>
          </a:p>
          <a:p>
            <a:pPr marL="171450" indent="-79375" algn="l" latinLnBrk="0">
              <a:spcAft>
                <a:spcPts val="0"/>
              </a:spcAft>
              <a:buFontTx/>
              <a:buChar char="-"/>
            </a:pPr>
            <a:r>
              <a:rPr lang="ko-KR" altLang="en-US" sz="1100" spc="-100" dirty="0">
                <a:solidFill>
                  <a:schemeClr val="tx1"/>
                </a:solidFill>
                <a:latin typeface="Arial Narrow" panose="020B0606020202030204" pitchFamily="34" charset="0"/>
                <a:ea typeface="a고딕14" panose="02020600000000000000" pitchFamily="18" charset="-127"/>
              </a:rPr>
              <a:t>교육기간</a:t>
            </a:r>
            <a:r>
              <a:rPr lang="en-US" altLang="ko-KR" sz="1100" spc="-100" dirty="0">
                <a:solidFill>
                  <a:schemeClr val="tx1"/>
                </a:solidFill>
                <a:latin typeface="Arial Narrow" panose="020B0606020202030204" pitchFamily="34" charset="0"/>
                <a:ea typeface="a고딕14" panose="02020600000000000000" pitchFamily="18" charset="-127"/>
              </a:rPr>
              <a:t>, </a:t>
            </a:r>
            <a:r>
              <a:rPr lang="ko-KR" altLang="en-US" sz="1100" spc="-100" dirty="0">
                <a:solidFill>
                  <a:schemeClr val="tx1"/>
                </a:solidFill>
                <a:latin typeface="Arial Narrow" panose="020B0606020202030204" pitchFamily="34" charset="0"/>
                <a:ea typeface="a고딕14" panose="02020600000000000000" pitchFamily="18" charset="-127"/>
              </a:rPr>
              <a:t>취득일자 등 일시</a:t>
            </a:r>
            <a:endParaRPr lang="en-US" altLang="ko-KR" sz="1100" spc="-100" dirty="0">
              <a:solidFill>
                <a:schemeClr val="tx1"/>
              </a:solidFill>
              <a:latin typeface="Arial Narrow" panose="020B0606020202030204" pitchFamily="34" charset="0"/>
              <a:ea typeface="a고딕14" panose="02020600000000000000" pitchFamily="18" charset="-127"/>
            </a:endParaRPr>
          </a:p>
          <a:p>
            <a:pPr marL="171450" indent="-79375" algn="l" latinLnBrk="0">
              <a:spcAft>
                <a:spcPts val="0"/>
              </a:spcAft>
              <a:buFontTx/>
              <a:buChar char="-"/>
            </a:pPr>
            <a:r>
              <a:rPr lang="en-US" altLang="ko-KR" sz="1100" spc="-100" dirty="0">
                <a:solidFill>
                  <a:schemeClr val="tx1"/>
                </a:solidFill>
                <a:latin typeface="Arial Narrow" panose="020B0606020202030204" pitchFamily="34" charset="0"/>
                <a:ea typeface="a고딕14" panose="02020600000000000000" pitchFamily="18" charset="-127"/>
              </a:rPr>
              <a:t>NCS </a:t>
            </a:r>
            <a:r>
              <a:rPr lang="ko-KR" altLang="en-US" sz="1100" spc="-100" dirty="0">
                <a:solidFill>
                  <a:schemeClr val="tx1"/>
                </a:solidFill>
                <a:latin typeface="Arial Narrow" panose="020B0606020202030204" pitchFamily="34" charset="0"/>
                <a:ea typeface="a고딕14" panose="02020600000000000000" pitchFamily="18" charset="-127"/>
              </a:rPr>
              <a:t>정보 등</a:t>
            </a:r>
            <a:endParaRPr lang="en-US" altLang="ko-KR" sz="1100" spc="-100" dirty="0">
              <a:solidFill>
                <a:schemeClr val="tx1"/>
              </a:solidFill>
              <a:latin typeface="Arial Narrow" panose="020B0606020202030204" pitchFamily="34" charset="0"/>
              <a:ea typeface="a고딕14" panose="02020600000000000000" pitchFamily="18" charset="-127"/>
            </a:endParaRPr>
          </a:p>
        </p:txBody>
      </p:sp>
      <p:sp>
        <p:nvSpPr>
          <p:cNvPr id="65" name="오각형 64"/>
          <p:cNvSpPr/>
          <p:nvPr/>
        </p:nvSpPr>
        <p:spPr>
          <a:xfrm>
            <a:off x="5570166" y="4243535"/>
            <a:ext cx="1813291" cy="323168"/>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rial Narrow" panose="020B0606020202030204" pitchFamily="34" charset="0"/>
                <a:ea typeface="a고딕14" panose="02020600000000000000" pitchFamily="18" charset="-127"/>
              </a:rPr>
              <a:t>국가직무능력표준 교과 인정</a:t>
            </a:r>
          </a:p>
        </p:txBody>
      </p:sp>
      <p:sp>
        <p:nvSpPr>
          <p:cNvPr id="66" name="갈매기형 수장 65"/>
          <p:cNvSpPr/>
          <p:nvPr/>
        </p:nvSpPr>
        <p:spPr>
          <a:xfrm>
            <a:off x="7461824" y="4243535"/>
            <a:ext cx="1882863" cy="323168"/>
          </a:xfrm>
          <a:prstGeom prst="rect">
            <a:avLst/>
          </a:prstGeom>
          <a:solidFill>
            <a:srgbClr val="3061A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rial Narrow" panose="020B0606020202030204" pitchFamily="34" charset="0"/>
                <a:ea typeface="a고딕14" panose="02020600000000000000" pitchFamily="18" charset="-127"/>
              </a:rPr>
              <a:t>운영결과 확인 및 저축</a:t>
            </a:r>
          </a:p>
        </p:txBody>
      </p:sp>
      <p:sp>
        <p:nvSpPr>
          <p:cNvPr id="89" name="직사각형 88">
            <a:extLst>
              <a:ext uri="{FF2B5EF4-FFF2-40B4-BE49-F238E27FC236}">
                <a16:creationId xmlns:a16="http://schemas.microsoft.com/office/drawing/2014/main" id="{77007C26-29CE-9BD7-B375-01DB465AF72D}"/>
              </a:ext>
            </a:extLst>
          </p:cNvPr>
          <p:cNvSpPr/>
          <p:nvPr/>
        </p:nvSpPr>
        <p:spPr>
          <a:xfrm>
            <a:off x="5572048" y="6111700"/>
            <a:ext cx="1813291" cy="37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국가직무능력표준 교과 인정</a:t>
            </a:r>
            <a:endParaRPr kumimoji="0" lang="ko-KR" altLang="en-US" sz="1050" b="0" i="0" u="none" strike="noStrike" kern="1200" cap="none" spc="0" normalizeH="0" baseline="0" noProof="0" dirty="0">
              <a:ln>
                <a:noFill/>
              </a:ln>
              <a:solidFill>
                <a:schemeClr val="tx1"/>
              </a:solidFill>
              <a:effectLst/>
              <a:uLnTx/>
              <a:uFillTx/>
              <a:latin typeface="+mn-ea"/>
            </a:endParaRPr>
          </a:p>
        </p:txBody>
      </p:sp>
      <p:sp>
        <p:nvSpPr>
          <p:cNvPr id="70" name="직사각형 69">
            <a:extLst>
              <a:ext uri="{FF2B5EF4-FFF2-40B4-BE49-F238E27FC236}">
                <a16:creationId xmlns:a16="http://schemas.microsoft.com/office/drawing/2014/main" id="{77007C26-29CE-9BD7-B375-01DB465AF72D}"/>
              </a:ext>
            </a:extLst>
          </p:cNvPr>
          <p:cNvSpPr/>
          <p:nvPr/>
        </p:nvSpPr>
        <p:spPr>
          <a:xfrm>
            <a:off x="5572048" y="4639363"/>
            <a:ext cx="1813291"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spc="-50" dirty="0">
                <a:solidFill>
                  <a:srgbClr val="212E55"/>
                </a:solidFill>
                <a:latin typeface="+mn-ea"/>
              </a:rPr>
              <a:t>전문대학 등</a:t>
            </a:r>
            <a:endParaRPr kumimoji="0" lang="ko-KR" altLang="en-US" sz="1050" b="0" i="0" u="none" strike="noStrike" kern="1200" cap="none" spc="-50" normalizeH="0" noProof="0" dirty="0">
              <a:ln>
                <a:noFill/>
              </a:ln>
              <a:solidFill>
                <a:srgbClr val="212E55"/>
              </a:solidFill>
              <a:effectLst/>
              <a:uLnTx/>
              <a:uFillTx/>
              <a:latin typeface="+mn-ea"/>
            </a:endParaRPr>
          </a:p>
        </p:txBody>
      </p:sp>
      <p:sp>
        <p:nvSpPr>
          <p:cNvPr id="71" name="직사각형 70">
            <a:extLst>
              <a:ext uri="{FF2B5EF4-FFF2-40B4-BE49-F238E27FC236}">
                <a16:creationId xmlns:a16="http://schemas.microsoft.com/office/drawing/2014/main" id="{77007C26-29CE-9BD7-B375-01DB465AF72D}"/>
              </a:ext>
            </a:extLst>
          </p:cNvPr>
          <p:cNvSpPr/>
          <p:nvPr/>
        </p:nvSpPr>
        <p:spPr>
          <a:xfrm>
            <a:off x="6314296" y="4639363"/>
            <a:ext cx="1071044"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교과 인정 신청</a:t>
            </a:r>
            <a:endParaRPr kumimoji="0" lang="ko-KR" altLang="en-US" sz="1050" b="0" i="0" u="none" strike="noStrike" kern="1200" cap="none" spc="0" normalizeH="0" baseline="0" noProof="0" dirty="0">
              <a:ln>
                <a:noFill/>
              </a:ln>
              <a:solidFill>
                <a:schemeClr val="tx1"/>
              </a:solidFill>
              <a:effectLst/>
              <a:uLnTx/>
              <a:uFillTx/>
              <a:latin typeface="+mn-ea"/>
            </a:endParaRPr>
          </a:p>
        </p:txBody>
      </p:sp>
      <p:cxnSp>
        <p:nvCxnSpPr>
          <p:cNvPr id="78" name="직선 연결선 77"/>
          <p:cNvCxnSpPr>
            <a:cxnSpLocks/>
          </p:cNvCxnSpPr>
          <p:nvPr/>
        </p:nvCxnSpPr>
        <p:spPr>
          <a:xfrm>
            <a:off x="6290533" y="4684100"/>
            <a:ext cx="0" cy="288527"/>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97" name="직사각형 96">
            <a:extLst>
              <a:ext uri="{FF2B5EF4-FFF2-40B4-BE49-F238E27FC236}">
                <a16:creationId xmlns:a16="http://schemas.microsoft.com/office/drawing/2014/main" id="{77007C26-29CE-9BD7-B375-01DB465AF72D}"/>
              </a:ext>
            </a:extLst>
          </p:cNvPr>
          <p:cNvSpPr/>
          <p:nvPr/>
        </p:nvSpPr>
        <p:spPr>
          <a:xfrm>
            <a:off x="7461824" y="4639367"/>
            <a:ext cx="1886738"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spc="-50" dirty="0">
                <a:solidFill>
                  <a:srgbClr val="3061A3"/>
                </a:solidFill>
                <a:latin typeface="+mn-ea"/>
              </a:rPr>
              <a:t>전문대학 등</a:t>
            </a:r>
            <a:endParaRPr kumimoji="0" lang="ko-KR" altLang="en-US" sz="1050" b="0" i="0" u="none" strike="noStrike" kern="1200" cap="none" spc="-50" normalizeH="0" noProof="0" dirty="0">
              <a:ln>
                <a:noFill/>
              </a:ln>
              <a:solidFill>
                <a:srgbClr val="3061A3"/>
              </a:solidFill>
              <a:effectLst/>
              <a:uLnTx/>
              <a:uFillTx/>
              <a:latin typeface="+mn-ea"/>
            </a:endParaRPr>
          </a:p>
        </p:txBody>
      </p:sp>
      <p:sp>
        <p:nvSpPr>
          <p:cNvPr id="98" name="직사각형 97">
            <a:extLst>
              <a:ext uri="{FF2B5EF4-FFF2-40B4-BE49-F238E27FC236}">
                <a16:creationId xmlns:a16="http://schemas.microsoft.com/office/drawing/2014/main" id="{77007C26-29CE-9BD7-B375-01DB465AF72D}"/>
              </a:ext>
            </a:extLst>
          </p:cNvPr>
          <p:cNvSpPr/>
          <p:nvPr/>
        </p:nvSpPr>
        <p:spPr>
          <a:xfrm>
            <a:off x="8234137" y="4639367"/>
            <a:ext cx="1114426"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교과 운영 및 </a:t>
            </a:r>
            <a:endParaRPr lang="en-US" altLang="ko-KR" sz="1050" dirty="0">
              <a:solidFill>
                <a:schemeClr val="tx1"/>
              </a:solidFill>
              <a:latin typeface="+mn-ea"/>
            </a:endParaRPr>
          </a:p>
          <a:p>
            <a:pPr lvl="0">
              <a:buNone/>
              <a:defRPr/>
            </a:pPr>
            <a:r>
              <a:rPr lang="ko-KR" altLang="en-US" sz="1050" dirty="0">
                <a:solidFill>
                  <a:schemeClr val="tx1"/>
                </a:solidFill>
                <a:latin typeface="+mn-ea"/>
              </a:rPr>
              <a:t>이수자</a:t>
            </a:r>
            <a:r>
              <a:rPr lang="en-US" altLang="ko-KR" sz="1050" dirty="0">
                <a:solidFill>
                  <a:schemeClr val="tx1"/>
                </a:solidFill>
                <a:latin typeface="+mn-ea"/>
              </a:rPr>
              <a:t> </a:t>
            </a:r>
            <a:r>
              <a:rPr lang="ko-KR" altLang="en-US" sz="1050" dirty="0">
                <a:solidFill>
                  <a:schemeClr val="tx1"/>
                </a:solidFill>
                <a:latin typeface="+mn-ea"/>
              </a:rPr>
              <a:t>등록</a:t>
            </a:r>
            <a:endParaRPr kumimoji="0" lang="ko-KR" altLang="en-US" sz="1050" b="0" i="0" u="none" strike="noStrike" kern="1200" cap="none" normalizeH="0" noProof="0" dirty="0">
              <a:ln>
                <a:noFill/>
              </a:ln>
              <a:solidFill>
                <a:schemeClr val="tx1"/>
              </a:solidFill>
              <a:effectLst/>
              <a:uLnTx/>
              <a:uFillTx/>
              <a:latin typeface="+mn-ea"/>
            </a:endParaRPr>
          </a:p>
        </p:txBody>
      </p:sp>
      <p:cxnSp>
        <p:nvCxnSpPr>
          <p:cNvPr id="99" name="직선 연결선 98"/>
          <p:cNvCxnSpPr>
            <a:cxnSpLocks/>
          </p:cNvCxnSpPr>
          <p:nvPr/>
        </p:nvCxnSpPr>
        <p:spPr>
          <a:xfrm>
            <a:off x="8189590" y="4696092"/>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81" name="직사각형 80">
            <a:extLst>
              <a:ext uri="{FF2B5EF4-FFF2-40B4-BE49-F238E27FC236}">
                <a16:creationId xmlns:a16="http://schemas.microsoft.com/office/drawing/2014/main" id="{77007C26-29CE-9BD7-B375-01DB465AF72D}"/>
              </a:ext>
            </a:extLst>
          </p:cNvPr>
          <p:cNvSpPr/>
          <p:nvPr/>
        </p:nvSpPr>
        <p:spPr>
          <a:xfrm>
            <a:off x="5572048" y="5092035"/>
            <a:ext cx="1813291"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dirty="0">
                <a:solidFill>
                  <a:srgbClr val="212E55"/>
                </a:solidFill>
                <a:latin typeface="+mn-ea"/>
              </a:rPr>
              <a:t>인력공단</a:t>
            </a:r>
            <a:endParaRPr kumimoji="0" lang="ko-KR" altLang="en-US" sz="1050" b="0" i="0" u="none" strike="noStrike" kern="1200" cap="none" spc="0" normalizeH="0" baseline="0" noProof="0" dirty="0">
              <a:ln>
                <a:noFill/>
              </a:ln>
              <a:solidFill>
                <a:srgbClr val="212E55"/>
              </a:solidFill>
              <a:effectLst/>
              <a:uLnTx/>
              <a:uFillTx/>
              <a:latin typeface="+mn-ea"/>
            </a:endParaRPr>
          </a:p>
        </p:txBody>
      </p:sp>
      <p:sp>
        <p:nvSpPr>
          <p:cNvPr id="82" name="직사각형 81">
            <a:extLst>
              <a:ext uri="{FF2B5EF4-FFF2-40B4-BE49-F238E27FC236}">
                <a16:creationId xmlns:a16="http://schemas.microsoft.com/office/drawing/2014/main" id="{77007C26-29CE-9BD7-B375-01DB465AF72D}"/>
              </a:ext>
            </a:extLst>
          </p:cNvPr>
          <p:cNvSpPr/>
          <p:nvPr/>
        </p:nvSpPr>
        <p:spPr>
          <a:xfrm>
            <a:off x="6314296" y="5092035"/>
            <a:ext cx="1071044"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spc="-70" dirty="0">
                <a:solidFill>
                  <a:schemeClr val="tx1"/>
                </a:solidFill>
                <a:latin typeface="+mn-ea"/>
              </a:rPr>
              <a:t>교과 심사위원회 구성</a:t>
            </a:r>
            <a:endParaRPr kumimoji="0" lang="ko-KR" altLang="en-US" sz="1050" b="0" i="0" u="none" strike="noStrike" kern="1200" cap="none" spc="-70" normalizeH="0" noProof="0" dirty="0">
              <a:ln>
                <a:noFill/>
              </a:ln>
              <a:solidFill>
                <a:schemeClr val="tx1"/>
              </a:solidFill>
              <a:effectLst/>
              <a:uLnTx/>
              <a:uFillTx/>
              <a:latin typeface="+mn-ea"/>
            </a:endParaRPr>
          </a:p>
        </p:txBody>
      </p:sp>
      <p:cxnSp>
        <p:nvCxnSpPr>
          <p:cNvPr id="83" name="직선 연결선 82"/>
          <p:cNvCxnSpPr>
            <a:cxnSpLocks/>
          </p:cNvCxnSpPr>
          <p:nvPr/>
        </p:nvCxnSpPr>
        <p:spPr>
          <a:xfrm>
            <a:off x="6290533" y="5148760"/>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101" name="직사각형 100">
            <a:extLst>
              <a:ext uri="{FF2B5EF4-FFF2-40B4-BE49-F238E27FC236}">
                <a16:creationId xmlns:a16="http://schemas.microsoft.com/office/drawing/2014/main" id="{77007C26-29CE-9BD7-B375-01DB465AF72D}"/>
              </a:ext>
            </a:extLst>
          </p:cNvPr>
          <p:cNvSpPr/>
          <p:nvPr/>
        </p:nvSpPr>
        <p:spPr>
          <a:xfrm>
            <a:off x="7461824" y="5092035"/>
            <a:ext cx="1886738"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spc="-50" dirty="0">
                <a:solidFill>
                  <a:srgbClr val="3061A3"/>
                </a:solidFill>
                <a:latin typeface="+mn-ea"/>
              </a:rPr>
              <a:t>전문대학 등</a:t>
            </a:r>
            <a:endParaRPr kumimoji="0" lang="ko-KR" altLang="en-US" sz="1050" b="0" i="0" u="none" strike="noStrike" kern="1200" cap="none" spc="-50" normalizeH="0" noProof="0" dirty="0">
              <a:ln>
                <a:noFill/>
              </a:ln>
              <a:solidFill>
                <a:srgbClr val="3061A3"/>
              </a:solidFill>
              <a:effectLst/>
              <a:uLnTx/>
              <a:uFillTx/>
              <a:latin typeface="+mn-ea"/>
            </a:endParaRPr>
          </a:p>
        </p:txBody>
      </p:sp>
      <p:sp>
        <p:nvSpPr>
          <p:cNvPr id="102" name="직사각형 101">
            <a:extLst>
              <a:ext uri="{FF2B5EF4-FFF2-40B4-BE49-F238E27FC236}">
                <a16:creationId xmlns:a16="http://schemas.microsoft.com/office/drawing/2014/main" id="{77007C26-29CE-9BD7-B375-01DB465AF72D}"/>
              </a:ext>
            </a:extLst>
          </p:cNvPr>
          <p:cNvSpPr/>
          <p:nvPr/>
        </p:nvSpPr>
        <p:spPr>
          <a:xfrm>
            <a:off x="8234137" y="5092035"/>
            <a:ext cx="1114426"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spc="-70" dirty="0">
                <a:solidFill>
                  <a:schemeClr val="tx1"/>
                </a:solidFill>
                <a:latin typeface="+mn-ea"/>
              </a:rPr>
              <a:t>자율 점검 모니터링 등</a:t>
            </a:r>
            <a:endParaRPr kumimoji="0" lang="ko-KR" altLang="en-US" sz="1050" b="0" i="0" u="none" strike="noStrike" kern="1200" cap="none" spc="-70" normalizeH="0" noProof="0" dirty="0">
              <a:ln>
                <a:noFill/>
              </a:ln>
              <a:solidFill>
                <a:schemeClr val="tx1"/>
              </a:solidFill>
              <a:effectLst/>
              <a:uLnTx/>
              <a:uFillTx/>
              <a:latin typeface="+mn-ea"/>
            </a:endParaRPr>
          </a:p>
        </p:txBody>
      </p:sp>
      <p:cxnSp>
        <p:nvCxnSpPr>
          <p:cNvPr id="103" name="직선 연결선 102"/>
          <p:cNvCxnSpPr>
            <a:cxnSpLocks/>
          </p:cNvCxnSpPr>
          <p:nvPr/>
        </p:nvCxnSpPr>
        <p:spPr>
          <a:xfrm>
            <a:off x="8189590" y="5148760"/>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id="{77007C26-29CE-9BD7-B375-01DB465AF72D}"/>
              </a:ext>
            </a:extLst>
          </p:cNvPr>
          <p:cNvSpPr/>
          <p:nvPr/>
        </p:nvSpPr>
        <p:spPr>
          <a:xfrm>
            <a:off x="5572048" y="5544702"/>
            <a:ext cx="1813291"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dirty="0">
                <a:solidFill>
                  <a:srgbClr val="212E55"/>
                </a:solidFill>
                <a:latin typeface="+mn-ea"/>
              </a:rPr>
              <a:t>심사위원회</a:t>
            </a:r>
            <a:endParaRPr kumimoji="0" lang="ko-KR" altLang="en-US" sz="1050" b="0" i="0" u="none" strike="noStrike" kern="1200" cap="none" spc="0" normalizeH="0" baseline="0" noProof="0" dirty="0">
              <a:ln>
                <a:noFill/>
              </a:ln>
              <a:solidFill>
                <a:srgbClr val="212E55"/>
              </a:solidFill>
              <a:effectLst/>
              <a:uLnTx/>
              <a:uFillTx/>
              <a:latin typeface="+mn-ea"/>
            </a:endParaRPr>
          </a:p>
        </p:txBody>
      </p:sp>
      <p:sp>
        <p:nvSpPr>
          <p:cNvPr id="86" name="직사각형 85">
            <a:extLst>
              <a:ext uri="{FF2B5EF4-FFF2-40B4-BE49-F238E27FC236}">
                <a16:creationId xmlns:a16="http://schemas.microsoft.com/office/drawing/2014/main" id="{77007C26-29CE-9BD7-B375-01DB465AF72D}"/>
              </a:ext>
            </a:extLst>
          </p:cNvPr>
          <p:cNvSpPr/>
          <p:nvPr/>
        </p:nvSpPr>
        <p:spPr>
          <a:xfrm>
            <a:off x="6314296" y="5544702"/>
            <a:ext cx="1071044"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교과 심사</a:t>
            </a:r>
            <a:endParaRPr kumimoji="0" lang="ko-KR" altLang="en-US" sz="1050" b="0" i="0" u="none" strike="noStrike" kern="1200" cap="none" spc="0" normalizeH="0" baseline="0" noProof="0" dirty="0">
              <a:ln>
                <a:noFill/>
              </a:ln>
              <a:solidFill>
                <a:schemeClr val="tx1"/>
              </a:solidFill>
              <a:effectLst/>
              <a:uLnTx/>
              <a:uFillTx/>
              <a:latin typeface="+mn-ea"/>
            </a:endParaRPr>
          </a:p>
        </p:txBody>
      </p:sp>
      <p:cxnSp>
        <p:nvCxnSpPr>
          <p:cNvPr id="87" name="직선 연결선 86"/>
          <p:cNvCxnSpPr>
            <a:cxnSpLocks/>
          </p:cNvCxnSpPr>
          <p:nvPr/>
        </p:nvCxnSpPr>
        <p:spPr>
          <a:xfrm>
            <a:off x="6290533" y="5601427"/>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105" name="직사각형 104">
            <a:extLst>
              <a:ext uri="{FF2B5EF4-FFF2-40B4-BE49-F238E27FC236}">
                <a16:creationId xmlns:a16="http://schemas.microsoft.com/office/drawing/2014/main" id="{77007C26-29CE-9BD7-B375-01DB465AF72D}"/>
              </a:ext>
            </a:extLst>
          </p:cNvPr>
          <p:cNvSpPr/>
          <p:nvPr/>
        </p:nvSpPr>
        <p:spPr>
          <a:xfrm>
            <a:off x="7461824" y="5544702"/>
            <a:ext cx="1886738"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dirty="0">
                <a:solidFill>
                  <a:srgbClr val="3061A3"/>
                </a:solidFill>
                <a:latin typeface="+mn-ea"/>
              </a:rPr>
              <a:t>인력공단</a:t>
            </a:r>
            <a:endParaRPr kumimoji="0" lang="ko-KR" altLang="en-US" sz="1050" b="0" i="0" u="none" strike="noStrike" kern="1200" cap="none" spc="0" normalizeH="0" baseline="0" noProof="0" dirty="0">
              <a:ln>
                <a:noFill/>
              </a:ln>
              <a:solidFill>
                <a:srgbClr val="3061A3"/>
              </a:solidFill>
              <a:effectLst/>
              <a:uLnTx/>
              <a:uFillTx/>
              <a:latin typeface="+mn-ea"/>
            </a:endParaRPr>
          </a:p>
        </p:txBody>
      </p:sp>
      <p:sp>
        <p:nvSpPr>
          <p:cNvPr id="106" name="직사각형 105">
            <a:extLst>
              <a:ext uri="{FF2B5EF4-FFF2-40B4-BE49-F238E27FC236}">
                <a16:creationId xmlns:a16="http://schemas.microsoft.com/office/drawing/2014/main" id="{77007C26-29CE-9BD7-B375-01DB465AF72D}"/>
              </a:ext>
            </a:extLst>
          </p:cNvPr>
          <p:cNvSpPr/>
          <p:nvPr/>
        </p:nvSpPr>
        <p:spPr>
          <a:xfrm>
            <a:off x="8234137" y="5544702"/>
            <a:ext cx="1114426"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운영결과 확인</a:t>
            </a:r>
            <a:endParaRPr kumimoji="0" lang="ko-KR" altLang="en-US" sz="1050" b="0" i="0" u="none" strike="noStrike" kern="1200" cap="none" spc="0" normalizeH="0" baseline="0" noProof="0" dirty="0">
              <a:ln>
                <a:noFill/>
              </a:ln>
              <a:solidFill>
                <a:schemeClr val="tx1"/>
              </a:solidFill>
              <a:effectLst/>
              <a:uLnTx/>
              <a:uFillTx/>
              <a:latin typeface="+mn-ea"/>
            </a:endParaRPr>
          </a:p>
        </p:txBody>
      </p:sp>
      <p:cxnSp>
        <p:nvCxnSpPr>
          <p:cNvPr id="107" name="직선 연결선 106"/>
          <p:cNvCxnSpPr>
            <a:cxnSpLocks/>
          </p:cNvCxnSpPr>
          <p:nvPr/>
        </p:nvCxnSpPr>
        <p:spPr>
          <a:xfrm>
            <a:off x="8189590" y="5601427"/>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109" name="직사각형 108">
            <a:extLst>
              <a:ext uri="{FF2B5EF4-FFF2-40B4-BE49-F238E27FC236}">
                <a16:creationId xmlns:a16="http://schemas.microsoft.com/office/drawing/2014/main" id="{77007C26-29CE-9BD7-B375-01DB465AF72D}"/>
              </a:ext>
            </a:extLst>
          </p:cNvPr>
          <p:cNvSpPr/>
          <p:nvPr/>
        </p:nvSpPr>
        <p:spPr>
          <a:xfrm>
            <a:off x="7461825" y="6111700"/>
            <a:ext cx="1886738" cy="37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직무능력은행 저축</a:t>
            </a:r>
            <a:r>
              <a:rPr lang="en-US" altLang="ko-KR" sz="1050" dirty="0">
                <a:solidFill>
                  <a:schemeClr val="tx1"/>
                </a:solidFill>
                <a:latin typeface="+mn-ea"/>
              </a:rPr>
              <a:t>(</a:t>
            </a:r>
            <a:r>
              <a:rPr lang="ko-KR" altLang="en-US" sz="1050" dirty="0">
                <a:solidFill>
                  <a:schemeClr val="tx1"/>
                </a:solidFill>
                <a:latin typeface="+mn-ea"/>
              </a:rPr>
              <a:t>이수정보</a:t>
            </a:r>
            <a:r>
              <a:rPr lang="en-US" altLang="ko-KR" sz="1050" dirty="0">
                <a:solidFill>
                  <a:schemeClr val="tx1"/>
                </a:solidFill>
                <a:latin typeface="+mn-ea"/>
              </a:rPr>
              <a:t>)</a:t>
            </a:r>
            <a:endParaRPr kumimoji="0" lang="ko-KR" altLang="en-US" sz="1050" b="0" i="0" u="none" strike="noStrike" kern="1200" cap="none" spc="0" normalizeH="0" baseline="0" noProof="0" dirty="0">
              <a:ln>
                <a:noFill/>
              </a:ln>
              <a:solidFill>
                <a:schemeClr val="tx1"/>
              </a:solidFill>
              <a:effectLst/>
              <a:uLnTx/>
              <a:uFillTx/>
              <a:latin typeface="+mn-ea"/>
            </a:endParaRPr>
          </a:p>
        </p:txBody>
      </p:sp>
      <p:sp>
        <p:nvSpPr>
          <p:cNvPr id="22" name="TextBox 21">
            <a:extLst>
              <a:ext uri="{FF2B5EF4-FFF2-40B4-BE49-F238E27FC236}">
                <a16:creationId xmlns:a16="http://schemas.microsoft.com/office/drawing/2014/main" id="{E0F4179A-8AE9-FF97-3A28-A04A3790C116}"/>
              </a:ext>
            </a:extLst>
          </p:cNvPr>
          <p:cNvSpPr txBox="1"/>
          <p:nvPr/>
        </p:nvSpPr>
        <p:spPr>
          <a:xfrm>
            <a:off x="5108935" y="3643671"/>
            <a:ext cx="1116124" cy="461665"/>
          </a:xfrm>
          <a:prstGeom prst="rect">
            <a:avLst/>
          </a:prstGeom>
          <a:noFill/>
        </p:spPr>
        <p:txBody>
          <a:bodyPr wrap="square" rtlCol="0">
            <a:spAutoFit/>
          </a:bodyPr>
          <a:lstStyle/>
          <a:p>
            <a:pPr marL="0" marR="0" lvl="0" indent="0"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a:t>
            </a:r>
            <a:endParaRPr kumimoji="0" lang="ko-KR" altLang="en-US"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endParaRPr>
          </a:p>
        </p:txBody>
      </p:sp>
      <p:sp>
        <p:nvSpPr>
          <p:cNvPr id="23" name="TextBox 22">
            <a:extLst>
              <a:ext uri="{FF2B5EF4-FFF2-40B4-BE49-F238E27FC236}">
                <a16:creationId xmlns:a16="http://schemas.microsoft.com/office/drawing/2014/main" id="{69BFF35F-2971-A607-9E6B-37D4D3D97FCE}"/>
              </a:ext>
            </a:extLst>
          </p:cNvPr>
          <p:cNvSpPr txBox="1"/>
          <p:nvPr/>
        </p:nvSpPr>
        <p:spPr>
          <a:xfrm>
            <a:off x="8194793" y="3894290"/>
            <a:ext cx="1116124" cy="461665"/>
          </a:xfrm>
          <a:prstGeom prst="rect">
            <a:avLst/>
          </a:prstGeom>
          <a:noFill/>
        </p:spPr>
        <p:txBody>
          <a:bodyPr wrap="square" rtlCol="0">
            <a:spAutoFit/>
          </a:bodyPr>
          <a:lstStyle/>
          <a:p>
            <a:pPr marL="0" marR="0" lvl="0" indent="0"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a:t>
            </a:r>
            <a:endParaRPr kumimoji="0" lang="ko-KR" altLang="en-US"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endParaRPr>
          </a:p>
        </p:txBody>
      </p:sp>
    </p:spTree>
    <p:extLst>
      <p:ext uri="{BB962C8B-B14F-4D97-AF65-F5344CB8AC3E}">
        <p14:creationId xmlns:p14="http://schemas.microsoft.com/office/powerpoint/2010/main" val="4031663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C70AC-52AC-D383-2BAA-7B7F810116E2}"/>
            </a:ext>
          </a:extLst>
        </p:cNvPr>
        <p:cNvGrpSpPr/>
        <p:nvPr/>
      </p:nvGrpSpPr>
      <p:grpSpPr>
        <a:xfrm>
          <a:off x="0" y="0"/>
          <a:ext cx="0" cy="0"/>
          <a:chOff x="0" y="0"/>
          <a:chExt cx="0" cy="0"/>
        </a:xfrm>
      </p:grpSpPr>
      <p:pic>
        <p:nvPicPr>
          <p:cNvPr id="74" name="그림 73">
            <a:extLst>
              <a:ext uri="{FF2B5EF4-FFF2-40B4-BE49-F238E27FC236}">
                <a16:creationId xmlns:a16="http://schemas.microsoft.com/office/drawing/2014/main" id="{1696069C-3081-56E7-1953-4DF137F68B08}"/>
              </a:ext>
            </a:extLst>
          </p:cNvPr>
          <p:cNvPicPr>
            <a:picLocks noChangeAspect="1"/>
          </p:cNvPicPr>
          <p:nvPr/>
        </p:nvPicPr>
        <p:blipFill>
          <a:blip r:embed="rId3"/>
          <a:stretch>
            <a:fillRect/>
          </a:stretch>
        </p:blipFill>
        <p:spPr>
          <a:xfrm>
            <a:off x="5133019" y="4535929"/>
            <a:ext cx="4220531" cy="1936750"/>
          </a:xfrm>
          <a:prstGeom prst="rect">
            <a:avLst/>
          </a:prstGeom>
        </p:spPr>
      </p:pic>
      <p:sp>
        <p:nvSpPr>
          <p:cNvPr id="5" name="텍스트 개체 틀 4">
            <a:extLst>
              <a:ext uri="{FF2B5EF4-FFF2-40B4-BE49-F238E27FC236}">
                <a16:creationId xmlns:a16="http://schemas.microsoft.com/office/drawing/2014/main" id="{E56249C3-FF14-AFE1-CEB7-32CA20B7C6A0}"/>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338D38AC-5FCF-6CA4-6D29-707935C3F96A}"/>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문헌 분석 및 벤치마킹</a:t>
            </a:r>
          </a:p>
        </p:txBody>
      </p:sp>
      <p:sp>
        <p:nvSpPr>
          <p:cNvPr id="12" name="직사각형 11">
            <a:extLst>
              <a:ext uri="{FF2B5EF4-FFF2-40B4-BE49-F238E27FC236}">
                <a16:creationId xmlns:a16="http://schemas.microsoft.com/office/drawing/2014/main" id="{4B3CED2C-0EC6-EB07-7023-AE2BF74FAD65}"/>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6.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직무능력은행제 연계 검토</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D2DE485C-A6CB-EBD8-74EB-CFF224687249}"/>
              </a:ext>
            </a:extLst>
          </p:cNvPr>
          <p:cNvSpPr>
            <a:spLocks noGrp="1"/>
          </p:cNvSpPr>
          <p:nvPr>
            <p:ph type="body" sz="quarter" idx="12"/>
          </p:nvPr>
        </p:nvSpPr>
        <p:spPr>
          <a:xfrm>
            <a:off x="596515" y="650182"/>
            <a:ext cx="8749097" cy="815119"/>
          </a:xfrm>
        </p:spPr>
        <p:txBody>
          <a:bodyPr/>
          <a:lstStyle/>
          <a:p>
            <a:pPr latinLnBrk="0"/>
            <a:r>
              <a:rPr lang="en-US" altLang="ko-KR" spc="-120" dirty="0"/>
              <a:t>STEP-</a:t>
            </a:r>
            <a:r>
              <a:rPr lang="ko-KR" altLang="en-US" spc="-120" dirty="0"/>
              <a:t>직무능력은행제 연계 방안 마련을 위해</a:t>
            </a:r>
            <a:r>
              <a:rPr lang="en-US" altLang="ko-KR" spc="-120" dirty="0"/>
              <a:t> </a:t>
            </a:r>
            <a:r>
              <a:rPr lang="ko-KR" altLang="en-US" spc="-120" dirty="0"/>
              <a:t>국내 대학의 </a:t>
            </a:r>
            <a:r>
              <a:rPr lang="en-US" altLang="ko-KR" spc="-120" dirty="0"/>
              <a:t>NCS </a:t>
            </a:r>
            <a:r>
              <a:rPr lang="ko-KR" altLang="en-US" spc="-120" dirty="0"/>
              <a:t>기반 교과 이수 인정 사례와</a:t>
            </a:r>
            <a:r>
              <a:rPr lang="en-US" altLang="ko-KR" spc="-120" dirty="0"/>
              <a:t> </a:t>
            </a:r>
            <a:r>
              <a:rPr lang="ko-KR" altLang="en-US" spc="-120" dirty="0"/>
              <a:t>해외 유사 제도를 벤치마킹하고</a:t>
            </a:r>
            <a:r>
              <a:rPr lang="en-US" altLang="ko-KR" spc="-120" dirty="0"/>
              <a:t>, </a:t>
            </a:r>
            <a:r>
              <a:rPr lang="ko-KR" altLang="en-US" spc="-120" dirty="0"/>
              <a:t>특히 온라인 교육 이수 인정에 관한 </a:t>
            </a:r>
            <a:r>
              <a:rPr lang="ko-KR" altLang="en-US" spc="-120" dirty="0">
                <a:solidFill>
                  <a:srgbClr val="0070C0"/>
                </a:solidFill>
              </a:rPr>
              <a:t>사례를 분석하여 효과적인 연계 방안을 제시하겠음</a:t>
            </a:r>
            <a:endParaRPr lang="ko-KR" altLang="en-US" spc="-120" dirty="0"/>
          </a:p>
        </p:txBody>
      </p:sp>
      <p:grpSp>
        <p:nvGrpSpPr>
          <p:cNvPr id="7" name="그룹 6">
            <a:extLst>
              <a:ext uri="{FF2B5EF4-FFF2-40B4-BE49-F238E27FC236}">
                <a16:creationId xmlns:a16="http://schemas.microsoft.com/office/drawing/2014/main" id="{353A2FB8-DA8F-70AB-5339-812A1E4D7BC9}"/>
              </a:ext>
            </a:extLst>
          </p:cNvPr>
          <p:cNvGrpSpPr/>
          <p:nvPr/>
        </p:nvGrpSpPr>
        <p:grpSpPr>
          <a:xfrm>
            <a:off x="596515" y="1681027"/>
            <a:ext cx="8749098" cy="266602"/>
            <a:chOff x="802640" y="2236632"/>
            <a:chExt cx="4130805" cy="266552"/>
          </a:xfrm>
        </p:grpSpPr>
        <p:sp>
          <p:nvSpPr>
            <p:cNvPr id="8" name="ListLeanHorizontalTextTopic0">
              <a:extLst>
                <a:ext uri="{FF2B5EF4-FFF2-40B4-BE49-F238E27FC236}">
                  <a16:creationId xmlns:a16="http://schemas.microsoft.com/office/drawing/2014/main" id="{0519E5A4-23A2-D2CD-E46A-5953056E317F}"/>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직무능력은행제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적용 사례</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예시</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A408DF43-8EE3-6EBB-74F9-C33900EB63A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2" name="직사각형 21">
            <a:extLst>
              <a:ext uri="{FF2B5EF4-FFF2-40B4-BE49-F238E27FC236}">
                <a16:creationId xmlns:a16="http://schemas.microsoft.com/office/drawing/2014/main" id="{77007C26-29CE-9BD7-B375-01DB465AF72D}"/>
              </a:ext>
            </a:extLst>
          </p:cNvPr>
          <p:cNvSpPr/>
          <p:nvPr/>
        </p:nvSpPr>
        <p:spPr>
          <a:xfrm>
            <a:off x="5133019" y="2107247"/>
            <a:ext cx="4216767" cy="30866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a:solidFill>
                  <a:prstClr val="white"/>
                </a:solidFill>
                <a:latin typeface="+mn-ea"/>
              </a:rPr>
              <a:t>해외 유사제도</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23" name="직사각형 22">
            <a:extLst>
              <a:ext uri="{FF2B5EF4-FFF2-40B4-BE49-F238E27FC236}">
                <a16:creationId xmlns:a16="http://schemas.microsoft.com/office/drawing/2014/main" id="{77007C26-29CE-9BD7-B375-01DB465AF72D}"/>
              </a:ext>
            </a:extLst>
          </p:cNvPr>
          <p:cNvSpPr/>
          <p:nvPr/>
        </p:nvSpPr>
        <p:spPr>
          <a:xfrm>
            <a:off x="596516" y="2107247"/>
            <a:ext cx="4177098" cy="30866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a:solidFill>
                  <a:prstClr val="white"/>
                </a:solidFill>
                <a:latin typeface="+mn-ea"/>
              </a:rPr>
              <a:t>국내대학 </a:t>
            </a:r>
            <a:r>
              <a:rPr lang="en-US" altLang="ko-KR">
                <a:solidFill>
                  <a:prstClr val="white"/>
                </a:solidFill>
                <a:latin typeface="+mn-ea"/>
              </a:rPr>
              <a:t>NCS </a:t>
            </a:r>
            <a:r>
              <a:rPr lang="ko-KR" altLang="en-US">
                <a:solidFill>
                  <a:prstClr val="white"/>
                </a:solidFill>
                <a:latin typeface="+mn-ea"/>
              </a:rPr>
              <a:t>기반 교과 이수 인정 사례</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27" name="모서리가 둥근 직사각형 3">
            <a:extLst>
              <a:ext uri="{FF2B5EF4-FFF2-40B4-BE49-F238E27FC236}">
                <a16:creationId xmlns:a16="http://schemas.microsoft.com/office/drawing/2014/main" id="{1D0C2A7F-D3A1-9E93-B1A9-712EA21FC070}"/>
              </a:ext>
            </a:extLst>
          </p:cNvPr>
          <p:cNvSpPr/>
          <p:nvPr/>
        </p:nvSpPr>
        <p:spPr>
          <a:xfrm>
            <a:off x="596515" y="2482942"/>
            <a:ext cx="4177099" cy="13956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8000" rIns="72000" bIns="18000" rtlCol="0" anchor="ctr"/>
          <a:lstStyle/>
          <a:p>
            <a:pPr marL="87313" indent="-87313" algn="l" latinLnBrk="0">
              <a:lnSpc>
                <a:spcPct val="120000"/>
              </a:lnSpc>
              <a:spcAft>
                <a:spcPts val="200"/>
              </a:spcAft>
              <a:buFont typeface="Arial" panose="020B0604020202020204" pitchFamily="34" charset="0"/>
              <a:buChar char="•"/>
            </a:pPr>
            <a:r>
              <a:rPr lang="en-US" altLang="ko-KR" dirty="0">
                <a:solidFill>
                  <a:schemeClr val="tx1"/>
                </a:solidFill>
                <a:latin typeface="+mn-ea"/>
              </a:rPr>
              <a:t>’24</a:t>
            </a:r>
            <a:r>
              <a:rPr lang="ko-KR" altLang="en-US" dirty="0">
                <a:solidFill>
                  <a:schemeClr val="tx1"/>
                </a:solidFill>
                <a:latin typeface="+mn-ea"/>
              </a:rPr>
              <a:t>년 </a:t>
            </a:r>
            <a:r>
              <a:rPr lang="ko-KR" altLang="en-US" dirty="0" err="1">
                <a:solidFill>
                  <a:schemeClr val="tx1"/>
                </a:solidFill>
                <a:latin typeface="+mn-ea"/>
              </a:rPr>
              <a:t>거제대</a:t>
            </a:r>
            <a:r>
              <a:rPr lang="en-US" altLang="ko-KR" dirty="0">
                <a:solidFill>
                  <a:schemeClr val="tx1"/>
                </a:solidFill>
                <a:latin typeface="+mn-ea"/>
              </a:rPr>
              <a:t>(27), </a:t>
            </a:r>
            <a:r>
              <a:rPr lang="ko-KR" altLang="en-US" dirty="0" err="1">
                <a:solidFill>
                  <a:schemeClr val="tx1"/>
                </a:solidFill>
                <a:latin typeface="+mn-ea"/>
              </a:rPr>
              <a:t>부천대</a:t>
            </a:r>
            <a:r>
              <a:rPr lang="en-US" altLang="ko-KR" dirty="0">
                <a:solidFill>
                  <a:schemeClr val="tx1"/>
                </a:solidFill>
                <a:latin typeface="+mn-ea"/>
              </a:rPr>
              <a:t>(21) </a:t>
            </a:r>
            <a:r>
              <a:rPr lang="ko-KR" altLang="en-US" dirty="0">
                <a:solidFill>
                  <a:schemeClr val="tx1"/>
                </a:solidFill>
                <a:latin typeface="+mn-ea"/>
              </a:rPr>
              <a:t>등 총 </a:t>
            </a:r>
            <a:r>
              <a:rPr lang="en-US" altLang="ko-KR" dirty="0">
                <a:solidFill>
                  <a:schemeClr val="tx1"/>
                </a:solidFill>
                <a:latin typeface="+mn-ea"/>
              </a:rPr>
              <a:t>17</a:t>
            </a:r>
            <a:r>
              <a:rPr lang="ko-KR" altLang="en-US" dirty="0">
                <a:solidFill>
                  <a:schemeClr val="tx1"/>
                </a:solidFill>
                <a:latin typeface="+mn-ea"/>
              </a:rPr>
              <a:t>개 대학</a:t>
            </a:r>
            <a:r>
              <a:rPr lang="en-US" altLang="ko-KR" dirty="0">
                <a:solidFill>
                  <a:schemeClr val="tx1"/>
                </a:solidFill>
                <a:latin typeface="+mn-ea"/>
              </a:rPr>
              <a:t>, 174</a:t>
            </a:r>
            <a:r>
              <a:rPr lang="ko-KR" altLang="en-US" dirty="0">
                <a:solidFill>
                  <a:schemeClr val="tx1"/>
                </a:solidFill>
                <a:latin typeface="+mn-ea"/>
              </a:rPr>
              <a:t>개 교과가 인정됨으로써 현재 총 </a:t>
            </a:r>
            <a:r>
              <a:rPr lang="en-US" altLang="ko-KR" dirty="0">
                <a:solidFill>
                  <a:schemeClr val="tx1"/>
                </a:solidFill>
                <a:latin typeface="+mn-ea"/>
              </a:rPr>
              <a:t>34</a:t>
            </a:r>
            <a:r>
              <a:rPr lang="ko-KR" altLang="en-US" dirty="0">
                <a:solidFill>
                  <a:schemeClr val="tx1"/>
                </a:solidFill>
                <a:latin typeface="+mn-ea"/>
              </a:rPr>
              <a:t>개 대학</a:t>
            </a:r>
            <a:r>
              <a:rPr lang="en-US" altLang="ko-KR" dirty="0">
                <a:solidFill>
                  <a:schemeClr val="tx1"/>
                </a:solidFill>
                <a:latin typeface="+mn-ea"/>
              </a:rPr>
              <a:t>, 438</a:t>
            </a:r>
            <a:r>
              <a:rPr lang="ko-KR" altLang="en-US" dirty="0">
                <a:solidFill>
                  <a:schemeClr val="tx1"/>
                </a:solidFill>
                <a:latin typeface="+mn-ea"/>
              </a:rPr>
              <a:t>개 교과가 인정됨</a:t>
            </a:r>
            <a:endParaRPr lang="en-US" altLang="ko-KR" dirty="0">
              <a:solidFill>
                <a:schemeClr val="tx1"/>
              </a:solidFill>
              <a:latin typeface="+mn-ea"/>
            </a:endParaRPr>
          </a:p>
          <a:p>
            <a:pPr marL="87313" indent="-87313" algn="l" latinLnBrk="0">
              <a:lnSpc>
                <a:spcPct val="120000"/>
              </a:lnSpc>
              <a:spcAft>
                <a:spcPts val="200"/>
              </a:spcAft>
              <a:buFont typeface="Arial" panose="020B0604020202020204" pitchFamily="34" charset="0"/>
              <a:buChar char="•"/>
            </a:pPr>
            <a:r>
              <a:rPr lang="ko-KR" altLang="en-US" dirty="0">
                <a:solidFill>
                  <a:schemeClr val="tx1"/>
                </a:solidFill>
                <a:latin typeface="+mn-ea"/>
              </a:rPr>
              <a:t>확인가능한 인정 교과 강의계획서를 토대로</a:t>
            </a:r>
            <a:r>
              <a:rPr lang="en-US" altLang="ko-KR" dirty="0">
                <a:solidFill>
                  <a:schemeClr val="tx1"/>
                </a:solidFill>
                <a:latin typeface="+mn-ea"/>
              </a:rPr>
              <a:t>, NCS </a:t>
            </a:r>
            <a:r>
              <a:rPr lang="ko-KR" altLang="en-US" dirty="0">
                <a:solidFill>
                  <a:schemeClr val="tx1"/>
                </a:solidFill>
                <a:latin typeface="+mn-ea"/>
              </a:rPr>
              <a:t>교과 인정 기준항목 </a:t>
            </a:r>
            <a:r>
              <a:rPr lang="en-US" altLang="ko-KR" dirty="0">
                <a:solidFill>
                  <a:schemeClr val="tx1"/>
                </a:solidFill>
                <a:latin typeface="+mn-ea"/>
              </a:rPr>
              <a:t>(</a:t>
            </a:r>
            <a:r>
              <a:rPr lang="ko-KR" altLang="en-US" dirty="0">
                <a:solidFill>
                  <a:schemeClr val="tx1"/>
                </a:solidFill>
                <a:latin typeface="+mn-ea"/>
              </a:rPr>
              <a:t>학습목표</a:t>
            </a:r>
            <a:r>
              <a:rPr lang="en-US" altLang="ko-KR" dirty="0">
                <a:solidFill>
                  <a:schemeClr val="tx1"/>
                </a:solidFill>
                <a:latin typeface="+mn-ea"/>
              </a:rPr>
              <a:t>, </a:t>
            </a:r>
            <a:r>
              <a:rPr lang="ko-KR" altLang="en-US" dirty="0">
                <a:solidFill>
                  <a:schemeClr val="tx1"/>
                </a:solidFill>
                <a:latin typeface="+mn-ea"/>
              </a:rPr>
              <a:t>평가</a:t>
            </a:r>
            <a:r>
              <a:rPr lang="en-US" altLang="ko-KR" dirty="0">
                <a:solidFill>
                  <a:schemeClr val="tx1"/>
                </a:solidFill>
                <a:latin typeface="+mn-ea"/>
              </a:rPr>
              <a:t>, </a:t>
            </a:r>
            <a:r>
              <a:rPr lang="ko-KR" altLang="en-US" dirty="0">
                <a:solidFill>
                  <a:schemeClr val="tx1"/>
                </a:solidFill>
                <a:latin typeface="+mn-ea"/>
              </a:rPr>
              <a:t>연계하위역량 등</a:t>
            </a:r>
            <a:r>
              <a:rPr lang="en-US" altLang="ko-KR" dirty="0">
                <a:solidFill>
                  <a:schemeClr val="tx1"/>
                </a:solidFill>
                <a:latin typeface="+mn-ea"/>
              </a:rPr>
              <a:t>)</a:t>
            </a:r>
            <a:r>
              <a:rPr lang="ko-KR" altLang="en-US" dirty="0">
                <a:solidFill>
                  <a:schemeClr val="tx1"/>
                </a:solidFill>
                <a:latin typeface="+mn-ea"/>
              </a:rPr>
              <a:t>을 파악하여 </a:t>
            </a:r>
            <a:r>
              <a:rPr lang="en-US" altLang="ko-KR" dirty="0">
                <a:solidFill>
                  <a:schemeClr val="tx1"/>
                </a:solidFill>
                <a:latin typeface="+mn-ea"/>
              </a:rPr>
              <a:t>STEP-</a:t>
            </a:r>
            <a:r>
              <a:rPr lang="ko-KR" altLang="en-US" dirty="0">
                <a:solidFill>
                  <a:schemeClr val="tx1"/>
                </a:solidFill>
                <a:latin typeface="+mn-ea"/>
              </a:rPr>
              <a:t>직무능력은행제 연계방안 검토 시 활용하겠음</a:t>
            </a:r>
            <a:endParaRPr lang="en-US" altLang="ko-KR" dirty="0">
              <a:solidFill>
                <a:schemeClr val="tx1"/>
              </a:solidFill>
              <a:latin typeface="+mn-ea"/>
            </a:endParaRPr>
          </a:p>
        </p:txBody>
      </p:sp>
      <p:sp>
        <p:nvSpPr>
          <p:cNvPr id="35" name="모서리가 둥근 직사각형 3">
            <a:extLst>
              <a:ext uri="{FF2B5EF4-FFF2-40B4-BE49-F238E27FC236}">
                <a16:creationId xmlns:a16="http://schemas.microsoft.com/office/drawing/2014/main" id="{1D0C2A7F-D3A1-9E93-B1A9-712EA21FC070}"/>
              </a:ext>
            </a:extLst>
          </p:cNvPr>
          <p:cNvSpPr/>
          <p:nvPr/>
        </p:nvSpPr>
        <p:spPr>
          <a:xfrm>
            <a:off x="703594" y="4120938"/>
            <a:ext cx="399737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err="1">
                <a:solidFill>
                  <a:schemeClr val="tx1"/>
                </a:solidFill>
                <a:latin typeface="+mn-ea"/>
              </a:rPr>
              <a:t>거제대</a:t>
            </a:r>
            <a:r>
              <a:rPr lang="ko-KR" altLang="en-US" sz="1100" dirty="0">
                <a:solidFill>
                  <a:schemeClr val="tx1"/>
                </a:solidFill>
                <a:latin typeface="+mn-ea"/>
              </a:rPr>
              <a:t> 기계공학 </a:t>
            </a:r>
            <a:r>
              <a:rPr lang="en-US" altLang="ko-KR" sz="1100" dirty="0">
                <a:solidFill>
                  <a:schemeClr val="tx1"/>
                </a:solidFill>
                <a:latin typeface="+mn-ea"/>
              </a:rPr>
              <a:t>‘</a:t>
            </a:r>
            <a:r>
              <a:rPr lang="ko-KR" altLang="en-US" sz="1100" dirty="0">
                <a:solidFill>
                  <a:schemeClr val="tx1"/>
                </a:solidFill>
                <a:latin typeface="+mn-ea"/>
              </a:rPr>
              <a:t>기계설계제도</a:t>
            </a:r>
            <a:r>
              <a:rPr lang="en-US" altLang="ko-KR" sz="1100" dirty="0">
                <a:solidFill>
                  <a:schemeClr val="tx1"/>
                </a:solidFill>
                <a:latin typeface="+mn-ea"/>
              </a:rPr>
              <a:t>’(NCS </a:t>
            </a:r>
            <a:r>
              <a:rPr lang="ko-KR" altLang="en-US" sz="1100" dirty="0">
                <a:solidFill>
                  <a:schemeClr val="tx1"/>
                </a:solidFill>
                <a:latin typeface="+mn-ea"/>
              </a:rPr>
              <a:t>기반 인정 교과</a:t>
            </a:r>
            <a:r>
              <a:rPr lang="en-US" altLang="ko-KR" sz="1100" dirty="0">
                <a:solidFill>
                  <a:schemeClr val="tx1"/>
                </a:solidFill>
                <a:latin typeface="+mn-ea"/>
              </a:rPr>
              <a:t>) </a:t>
            </a:r>
            <a:r>
              <a:rPr lang="ko-KR" altLang="en-US" sz="1100" dirty="0">
                <a:solidFill>
                  <a:schemeClr val="tx1"/>
                </a:solidFill>
                <a:latin typeface="+mn-ea"/>
              </a:rPr>
              <a:t>강의계획서</a:t>
            </a:r>
          </a:p>
        </p:txBody>
      </p:sp>
      <p:sp>
        <p:nvSpPr>
          <p:cNvPr id="36" name="직사각형 35"/>
          <p:cNvSpPr/>
          <p:nvPr/>
        </p:nvSpPr>
        <p:spPr>
          <a:xfrm>
            <a:off x="668524" y="4143431"/>
            <a:ext cx="70140" cy="229535"/>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26" name="그림 25"/>
          <p:cNvPicPr>
            <a:picLocks noChangeAspect="1"/>
          </p:cNvPicPr>
          <p:nvPr/>
        </p:nvPicPr>
        <p:blipFill>
          <a:blip r:embed="rId4"/>
          <a:stretch>
            <a:fillRect/>
          </a:stretch>
        </p:blipFill>
        <p:spPr>
          <a:xfrm>
            <a:off x="613966" y="4594194"/>
            <a:ext cx="2718425" cy="1878485"/>
          </a:xfrm>
          <a:prstGeom prst="rect">
            <a:avLst/>
          </a:prstGeom>
        </p:spPr>
      </p:pic>
      <p:sp>
        <p:nvSpPr>
          <p:cNvPr id="45" name="타원 44">
            <a:extLst>
              <a:ext uri="{FF2B5EF4-FFF2-40B4-BE49-F238E27FC236}">
                <a16:creationId xmlns:a16="http://schemas.microsoft.com/office/drawing/2014/main" id="{BE7D789A-9836-1DA5-A32B-1FB188F76B92}"/>
              </a:ext>
            </a:extLst>
          </p:cNvPr>
          <p:cNvSpPr/>
          <p:nvPr/>
        </p:nvSpPr>
        <p:spPr>
          <a:xfrm>
            <a:off x="1296776" y="546022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dirty="0">
                <a:solidFill>
                  <a:schemeClr val="tx1"/>
                </a:solidFill>
                <a:latin typeface="+mn-ea"/>
              </a:rPr>
              <a:t>1</a:t>
            </a:r>
            <a:endParaRPr lang="ko-KR" altLang="en-US" sz="1050" dirty="0">
              <a:solidFill>
                <a:schemeClr val="tx1"/>
              </a:solidFill>
              <a:latin typeface="+mn-ea"/>
            </a:endParaRPr>
          </a:p>
        </p:txBody>
      </p:sp>
      <p:sp>
        <p:nvSpPr>
          <p:cNvPr id="46" name="타원 45">
            <a:extLst>
              <a:ext uri="{FF2B5EF4-FFF2-40B4-BE49-F238E27FC236}">
                <a16:creationId xmlns:a16="http://schemas.microsoft.com/office/drawing/2014/main" id="{BE7D789A-9836-1DA5-A32B-1FB188F76B92}"/>
              </a:ext>
            </a:extLst>
          </p:cNvPr>
          <p:cNvSpPr/>
          <p:nvPr/>
        </p:nvSpPr>
        <p:spPr>
          <a:xfrm>
            <a:off x="1902034" y="546022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a:solidFill>
                  <a:schemeClr val="tx1"/>
                </a:solidFill>
                <a:latin typeface="+mn-ea"/>
              </a:rPr>
              <a:t>2</a:t>
            </a:r>
            <a:endParaRPr lang="ko-KR" altLang="en-US" sz="1050" dirty="0">
              <a:solidFill>
                <a:schemeClr val="tx1"/>
              </a:solidFill>
              <a:latin typeface="+mn-ea"/>
            </a:endParaRPr>
          </a:p>
        </p:txBody>
      </p:sp>
      <p:sp>
        <p:nvSpPr>
          <p:cNvPr id="47" name="타원 46">
            <a:extLst>
              <a:ext uri="{FF2B5EF4-FFF2-40B4-BE49-F238E27FC236}">
                <a16:creationId xmlns:a16="http://schemas.microsoft.com/office/drawing/2014/main" id="{BE7D789A-9836-1DA5-A32B-1FB188F76B92}"/>
              </a:ext>
            </a:extLst>
          </p:cNvPr>
          <p:cNvSpPr/>
          <p:nvPr/>
        </p:nvSpPr>
        <p:spPr>
          <a:xfrm>
            <a:off x="2499187" y="546022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a:solidFill>
                  <a:schemeClr val="tx1"/>
                </a:solidFill>
                <a:latin typeface="+mn-ea"/>
              </a:rPr>
              <a:t>3</a:t>
            </a:r>
            <a:endParaRPr lang="ko-KR" altLang="en-US" sz="1050" dirty="0">
              <a:solidFill>
                <a:schemeClr val="tx1"/>
              </a:solidFill>
              <a:latin typeface="+mn-ea"/>
            </a:endParaRPr>
          </a:p>
        </p:txBody>
      </p:sp>
      <p:sp>
        <p:nvSpPr>
          <p:cNvPr id="48" name="타원 47">
            <a:extLst>
              <a:ext uri="{FF2B5EF4-FFF2-40B4-BE49-F238E27FC236}">
                <a16:creationId xmlns:a16="http://schemas.microsoft.com/office/drawing/2014/main" id="{BE7D789A-9836-1DA5-A32B-1FB188F76B92}"/>
              </a:ext>
            </a:extLst>
          </p:cNvPr>
          <p:cNvSpPr/>
          <p:nvPr/>
        </p:nvSpPr>
        <p:spPr>
          <a:xfrm>
            <a:off x="2917506" y="546022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a:solidFill>
                  <a:schemeClr val="tx1"/>
                </a:solidFill>
                <a:latin typeface="+mn-ea"/>
              </a:rPr>
              <a:t>4</a:t>
            </a:r>
            <a:endParaRPr lang="ko-KR" altLang="en-US" sz="1050" dirty="0">
              <a:solidFill>
                <a:schemeClr val="tx1"/>
              </a:solidFill>
              <a:latin typeface="+mn-ea"/>
            </a:endParaRPr>
          </a:p>
        </p:txBody>
      </p:sp>
      <p:grpSp>
        <p:nvGrpSpPr>
          <p:cNvPr id="58" name="그룹 57"/>
          <p:cNvGrpSpPr/>
          <p:nvPr/>
        </p:nvGrpSpPr>
        <p:grpSpPr>
          <a:xfrm>
            <a:off x="3439595" y="4594194"/>
            <a:ext cx="1510188" cy="248792"/>
            <a:chOff x="3509776" y="4453671"/>
            <a:chExt cx="1510188" cy="248792"/>
          </a:xfrm>
        </p:grpSpPr>
        <p:sp>
          <p:nvSpPr>
            <p:cNvPr id="49" name="타원 48">
              <a:extLst>
                <a:ext uri="{FF2B5EF4-FFF2-40B4-BE49-F238E27FC236}">
                  <a16:creationId xmlns:a16="http://schemas.microsoft.com/office/drawing/2014/main" id="{BE7D789A-9836-1DA5-A32B-1FB188F76B92}"/>
                </a:ext>
              </a:extLst>
            </p:cNvPr>
            <p:cNvSpPr/>
            <p:nvPr/>
          </p:nvSpPr>
          <p:spPr>
            <a:xfrm>
              <a:off x="3509776" y="4453671"/>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dirty="0">
                  <a:solidFill>
                    <a:schemeClr val="tx1"/>
                  </a:solidFill>
                  <a:latin typeface="+mn-ea"/>
                </a:rPr>
                <a:t>1</a:t>
              </a:r>
              <a:endParaRPr lang="ko-KR" altLang="en-US" sz="1100" dirty="0">
                <a:solidFill>
                  <a:schemeClr val="tx1"/>
                </a:solidFill>
                <a:latin typeface="+mn-ea"/>
              </a:endParaRPr>
            </a:p>
          </p:txBody>
        </p:sp>
        <p:sp>
          <p:nvSpPr>
            <p:cNvPr id="53" name="모서리가 둥근 직사각형 3">
              <a:extLst>
                <a:ext uri="{FF2B5EF4-FFF2-40B4-BE49-F238E27FC236}">
                  <a16:creationId xmlns:a16="http://schemas.microsoft.com/office/drawing/2014/main" id="{1D0C2A7F-D3A1-9E93-B1A9-712EA21FC070}"/>
                </a:ext>
              </a:extLst>
            </p:cNvPr>
            <p:cNvSpPr/>
            <p:nvPr/>
          </p:nvSpPr>
          <p:spPr>
            <a:xfrm>
              <a:off x="3656856" y="4453671"/>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a:solidFill>
                    <a:schemeClr val="tx1"/>
                  </a:solidFill>
                  <a:latin typeface="+mn-ea"/>
                </a:rPr>
                <a:t>교과목표와 능력단위 </a:t>
              </a:r>
              <a:endParaRPr lang="en-US" altLang="ko-KR" sz="1100" dirty="0">
                <a:solidFill>
                  <a:schemeClr val="tx1"/>
                </a:solidFill>
                <a:latin typeface="+mn-ea"/>
              </a:endParaRPr>
            </a:p>
            <a:p>
              <a:pPr algn="l">
                <a:buNone/>
              </a:pPr>
              <a:r>
                <a:rPr lang="ko-KR" altLang="en-US" sz="1100" dirty="0">
                  <a:solidFill>
                    <a:schemeClr val="tx1"/>
                  </a:solidFill>
                  <a:latin typeface="+mn-ea"/>
                </a:rPr>
                <a:t>정의 간 적합성</a:t>
              </a:r>
            </a:p>
          </p:txBody>
        </p:sp>
      </p:grpSp>
      <p:grpSp>
        <p:nvGrpSpPr>
          <p:cNvPr id="59" name="그룹 58"/>
          <p:cNvGrpSpPr/>
          <p:nvPr/>
        </p:nvGrpSpPr>
        <p:grpSpPr>
          <a:xfrm>
            <a:off x="3439595" y="5003194"/>
            <a:ext cx="1515232" cy="248792"/>
            <a:chOff x="3509776" y="4862671"/>
            <a:chExt cx="1515232" cy="248792"/>
          </a:xfrm>
        </p:grpSpPr>
        <p:sp>
          <p:nvSpPr>
            <p:cNvPr id="50" name="타원 49">
              <a:extLst>
                <a:ext uri="{FF2B5EF4-FFF2-40B4-BE49-F238E27FC236}">
                  <a16:creationId xmlns:a16="http://schemas.microsoft.com/office/drawing/2014/main" id="{BE7D789A-9836-1DA5-A32B-1FB188F76B92}"/>
                </a:ext>
              </a:extLst>
            </p:cNvPr>
            <p:cNvSpPr/>
            <p:nvPr/>
          </p:nvSpPr>
          <p:spPr>
            <a:xfrm>
              <a:off x="3509776" y="4862671"/>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a:solidFill>
                    <a:schemeClr val="tx1"/>
                  </a:solidFill>
                  <a:latin typeface="+mn-ea"/>
                </a:rPr>
                <a:t>2</a:t>
              </a:r>
              <a:endParaRPr lang="ko-KR" altLang="en-US" sz="1100" dirty="0">
                <a:solidFill>
                  <a:schemeClr val="tx1"/>
                </a:solidFill>
                <a:latin typeface="+mn-ea"/>
              </a:endParaRPr>
            </a:p>
          </p:txBody>
        </p:sp>
        <p:sp>
          <p:nvSpPr>
            <p:cNvPr id="55" name="모서리가 둥근 직사각형 3">
              <a:extLst>
                <a:ext uri="{FF2B5EF4-FFF2-40B4-BE49-F238E27FC236}">
                  <a16:creationId xmlns:a16="http://schemas.microsoft.com/office/drawing/2014/main" id="{1D0C2A7F-D3A1-9E93-B1A9-712EA21FC070}"/>
                </a:ext>
              </a:extLst>
            </p:cNvPr>
            <p:cNvSpPr/>
            <p:nvPr/>
          </p:nvSpPr>
          <p:spPr>
            <a:xfrm>
              <a:off x="3661900" y="4862671"/>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a:solidFill>
                    <a:schemeClr val="tx1"/>
                  </a:solidFill>
                  <a:latin typeface="+mn-ea"/>
                </a:rPr>
                <a:t>교과내용과 </a:t>
              </a:r>
              <a:endParaRPr lang="en-US" altLang="ko-KR" sz="1100" dirty="0">
                <a:solidFill>
                  <a:schemeClr val="tx1"/>
                </a:solidFill>
                <a:latin typeface="+mn-ea"/>
              </a:endParaRPr>
            </a:p>
            <a:p>
              <a:pPr algn="l">
                <a:buNone/>
              </a:pPr>
              <a:r>
                <a:rPr lang="ko-KR" altLang="en-US" sz="1100" dirty="0" err="1">
                  <a:solidFill>
                    <a:schemeClr val="tx1"/>
                  </a:solidFill>
                  <a:latin typeface="+mn-ea"/>
                </a:rPr>
                <a:t>수행준거의</a:t>
              </a:r>
              <a:r>
                <a:rPr lang="ko-KR" altLang="en-US" sz="1100" dirty="0">
                  <a:solidFill>
                    <a:schemeClr val="tx1"/>
                  </a:solidFill>
                  <a:latin typeface="+mn-ea"/>
                </a:rPr>
                <a:t> 연계성</a:t>
              </a:r>
            </a:p>
          </p:txBody>
        </p:sp>
      </p:grpSp>
      <p:grpSp>
        <p:nvGrpSpPr>
          <p:cNvPr id="60" name="그룹 59"/>
          <p:cNvGrpSpPr/>
          <p:nvPr/>
        </p:nvGrpSpPr>
        <p:grpSpPr>
          <a:xfrm>
            <a:off x="3439595" y="5428564"/>
            <a:ext cx="1515232" cy="248792"/>
            <a:chOff x="3509776" y="5288041"/>
            <a:chExt cx="1515232" cy="248792"/>
          </a:xfrm>
        </p:grpSpPr>
        <p:sp>
          <p:nvSpPr>
            <p:cNvPr id="51" name="타원 50">
              <a:extLst>
                <a:ext uri="{FF2B5EF4-FFF2-40B4-BE49-F238E27FC236}">
                  <a16:creationId xmlns:a16="http://schemas.microsoft.com/office/drawing/2014/main" id="{BE7D789A-9836-1DA5-A32B-1FB188F76B92}"/>
                </a:ext>
              </a:extLst>
            </p:cNvPr>
            <p:cNvSpPr/>
            <p:nvPr/>
          </p:nvSpPr>
          <p:spPr>
            <a:xfrm>
              <a:off x="3509776" y="5288041"/>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a:solidFill>
                    <a:schemeClr val="tx1"/>
                  </a:solidFill>
                  <a:latin typeface="+mn-ea"/>
                </a:rPr>
                <a:t>3</a:t>
              </a:r>
              <a:endParaRPr lang="ko-KR" altLang="en-US" sz="1100" dirty="0">
                <a:solidFill>
                  <a:schemeClr val="tx1"/>
                </a:solidFill>
                <a:latin typeface="+mn-ea"/>
              </a:endParaRPr>
            </a:p>
          </p:txBody>
        </p:sp>
        <p:sp>
          <p:nvSpPr>
            <p:cNvPr id="56" name="모서리가 둥근 직사각형 3">
              <a:extLst>
                <a:ext uri="{FF2B5EF4-FFF2-40B4-BE49-F238E27FC236}">
                  <a16:creationId xmlns:a16="http://schemas.microsoft.com/office/drawing/2014/main" id="{1D0C2A7F-D3A1-9E93-B1A9-712EA21FC070}"/>
                </a:ext>
              </a:extLst>
            </p:cNvPr>
            <p:cNvSpPr/>
            <p:nvPr/>
          </p:nvSpPr>
          <p:spPr>
            <a:xfrm>
              <a:off x="3661900" y="5288041"/>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a:solidFill>
                    <a:schemeClr val="tx1"/>
                  </a:solidFill>
                  <a:latin typeface="+mn-ea"/>
                </a:rPr>
                <a:t>교수학습 방법의</a:t>
              </a:r>
              <a:endParaRPr lang="en-US" altLang="ko-KR" sz="1100" dirty="0">
                <a:solidFill>
                  <a:schemeClr val="tx1"/>
                </a:solidFill>
                <a:latin typeface="+mn-ea"/>
              </a:endParaRPr>
            </a:p>
            <a:p>
              <a:pPr algn="l">
                <a:buNone/>
              </a:pPr>
              <a:r>
                <a:rPr lang="ko-KR" altLang="en-US" sz="1100" dirty="0">
                  <a:solidFill>
                    <a:schemeClr val="tx1"/>
                  </a:solidFill>
                  <a:latin typeface="+mn-ea"/>
                </a:rPr>
                <a:t>적정성</a:t>
              </a:r>
            </a:p>
          </p:txBody>
        </p:sp>
      </p:grpSp>
      <p:grpSp>
        <p:nvGrpSpPr>
          <p:cNvPr id="61" name="그룹 60"/>
          <p:cNvGrpSpPr/>
          <p:nvPr/>
        </p:nvGrpSpPr>
        <p:grpSpPr>
          <a:xfrm>
            <a:off x="3439595" y="5805007"/>
            <a:ext cx="1515232" cy="248792"/>
            <a:chOff x="3509776" y="5664484"/>
            <a:chExt cx="1515232" cy="248792"/>
          </a:xfrm>
        </p:grpSpPr>
        <p:sp>
          <p:nvSpPr>
            <p:cNvPr id="52" name="타원 51">
              <a:extLst>
                <a:ext uri="{FF2B5EF4-FFF2-40B4-BE49-F238E27FC236}">
                  <a16:creationId xmlns:a16="http://schemas.microsoft.com/office/drawing/2014/main" id="{BE7D789A-9836-1DA5-A32B-1FB188F76B92}"/>
                </a:ext>
              </a:extLst>
            </p:cNvPr>
            <p:cNvSpPr/>
            <p:nvPr/>
          </p:nvSpPr>
          <p:spPr>
            <a:xfrm>
              <a:off x="3509776" y="566448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a:solidFill>
                    <a:schemeClr val="tx1"/>
                  </a:solidFill>
                  <a:latin typeface="+mn-ea"/>
                </a:rPr>
                <a:t>4</a:t>
              </a:r>
              <a:endParaRPr lang="ko-KR" altLang="en-US" sz="1100" dirty="0">
                <a:solidFill>
                  <a:schemeClr val="tx1"/>
                </a:solidFill>
                <a:latin typeface="+mn-ea"/>
              </a:endParaRPr>
            </a:p>
          </p:txBody>
        </p:sp>
        <p:sp>
          <p:nvSpPr>
            <p:cNvPr id="57" name="모서리가 둥근 직사각형 3">
              <a:extLst>
                <a:ext uri="{FF2B5EF4-FFF2-40B4-BE49-F238E27FC236}">
                  <a16:creationId xmlns:a16="http://schemas.microsoft.com/office/drawing/2014/main" id="{1D0C2A7F-D3A1-9E93-B1A9-712EA21FC070}"/>
                </a:ext>
              </a:extLst>
            </p:cNvPr>
            <p:cNvSpPr/>
            <p:nvPr/>
          </p:nvSpPr>
          <p:spPr>
            <a:xfrm>
              <a:off x="3661900" y="5664484"/>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a:solidFill>
                    <a:schemeClr val="tx1"/>
                  </a:solidFill>
                  <a:latin typeface="+mn-ea"/>
                </a:rPr>
                <a:t>능력단위 內 모든</a:t>
              </a:r>
              <a:endParaRPr lang="en-US" altLang="ko-KR" sz="1100" dirty="0">
                <a:solidFill>
                  <a:schemeClr val="tx1"/>
                </a:solidFill>
                <a:latin typeface="+mn-ea"/>
              </a:endParaRPr>
            </a:p>
            <a:p>
              <a:pPr algn="l">
                <a:buNone/>
              </a:pPr>
              <a:r>
                <a:rPr lang="ko-KR" altLang="en-US" sz="1100" dirty="0">
                  <a:solidFill>
                    <a:schemeClr val="tx1"/>
                  </a:solidFill>
                  <a:latin typeface="+mn-ea"/>
                </a:rPr>
                <a:t>능력단위요소 활용</a:t>
              </a:r>
            </a:p>
          </p:txBody>
        </p:sp>
      </p:grpSp>
      <p:grpSp>
        <p:nvGrpSpPr>
          <p:cNvPr id="62" name="그룹 61"/>
          <p:cNvGrpSpPr/>
          <p:nvPr/>
        </p:nvGrpSpPr>
        <p:grpSpPr>
          <a:xfrm>
            <a:off x="3439595" y="6212387"/>
            <a:ext cx="1515232" cy="248792"/>
            <a:chOff x="3509776" y="5664484"/>
            <a:chExt cx="1515232" cy="248792"/>
          </a:xfrm>
        </p:grpSpPr>
        <p:sp>
          <p:nvSpPr>
            <p:cNvPr id="63" name="타원 62">
              <a:extLst>
                <a:ext uri="{FF2B5EF4-FFF2-40B4-BE49-F238E27FC236}">
                  <a16:creationId xmlns:a16="http://schemas.microsoft.com/office/drawing/2014/main" id="{BE7D789A-9836-1DA5-A32B-1FB188F76B92}"/>
                </a:ext>
              </a:extLst>
            </p:cNvPr>
            <p:cNvSpPr/>
            <p:nvPr/>
          </p:nvSpPr>
          <p:spPr>
            <a:xfrm>
              <a:off x="3509776" y="566448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a:solidFill>
                    <a:schemeClr val="tx1"/>
                  </a:solidFill>
                  <a:latin typeface="+mn-ea"/>
                </a:rPr>
                <a:t>5</a:t>
              </a:r>
              <a:endParaRPr lang="ko-KR" altLang="en-US" sz="1100" dirty="0">
                <a:solidFill>
                  <a:schemeClr val="tx1"/>
                </a:solidFill>
                <a:latin typeface="+mn-ea"/>
              </a:endParaRPr>
            </a:p>
          </p:txBody>
        </p:sp>
        <p:sp>
          <p:nvSpPr>
            <p:cNvPr id="64" name="모서리가 둥근 직사각형 3">
              <a:extLst>
                <a:ext uri="{FF2B5EF4-FFF2-40B4-BE49-F238E27FC236}">
                  <a16:creationId xmlns:a16="http://schemas.microsoft.com/office/drawing/2014/main" id="{1D0C2A7F-D3A1-9E93-B1A9-712EA21FC070}"/>
                </a:ext>
              </a:extLst>
            </p:cNvPr>
            <p:cNvSpPr/>
            <p:nvPr/>
          </p:nvSpPr>
          <p:spPr>
            <a:xfrm>
              <a:off x="3661900" y="5664484"/>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err="1">
                  <a:solidFill>
                    <a:schemeClr val="tx1"/>
                  </a:solidFill>
                  <a:latin typeface="+mn-ea"/>
                </a:rPr>
                <a:t>수행준거</a:t>
              </a:r>
              <a:r>
                <a:rPr lang="en-US" altLang="ko-KR" sz="1100" dirty="0">
                  <a:solidFill>
                    <a:schemeClr val="tx1"/>
                  </a:solidFill>
                  <a:latin typeface="+mn-ea"/>
                </a:rPr>
                <a:t>-</a:t>
              </a:r>
              <a:r>
                <a:rPr lang="ko-KR" altLang="en-US" sz="1100" dirty="0">
                  <a:solidFill>
                    <a:schemeClr val="tx1"/>
                  </a:solidFill>
                  <a:latin typeface="+mn-ea"/>
                </a:rPr>
                <a:t>수업내용</a:t>
              </a:r>
              <a:r>
                <a:rPr lang="en-US" altLang="ko-KR" sz="1100" dirty="0">
                  <a:solidFill>
                    <a:schemeClr val="tx1"/>
                  </a:solidFill>
                  <a:latin typeface="+mn-ea"/>
                </a:rPr>
                <a:t>-</a:t>
              </a:r>
              <a:r>
                <a:rPr lang="ko-KR" altLang="en-US" sz="1100" dirty="0">
                  <a:solidFill>
                    <a:schemeClr val="tx1"/>
                  </a:solidFill>
                  <a:latin typeface="+mn-ea"/>
                </a:rPr>
                <a:t>평가의 일관성</a:t>
              </a:r>
            </a:p>
          </p:txBody>
        </p:sp>
      </p:grpSp>
      <p:sp>
        <p:nvSpPr>
          <p:cNvPr id="65" name="타원 64">
            <a:extLst>
              <a:ext uri="{FF2B5EF4-FFF2-40B4-BE49-F238E27FC236}">
                <a16:creationId xmlns:a16="http://schemas.microsoft.com/office/drawing/2014/main" id="{BE7D789A-9836-1DA5-A32B-1FB188F76B92}"/>
              </a:ext>
            </a:extLst>
          </p:cNvPr>
          <p:cNvSpPr/>
          <p:nvPr/>
        </p:nvSpPr>
        <p:spPr>
          <a:xfrm>
            <a:off x="813724" y="6263642"/>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a:solidFill>
                  <a:schemeClr val="tx1"/>
                </a:solidFill>
                <a:latin typeface="+mn-ea"/>
              </a:rPr>
              <a:t>5</a:t>
            </a:r>
            <a:endParaRPr lang="ko-KR" altLang="en-US" sz="1050" dirty="0">
              <a:solidFill>
                <a:schemeClr val="tx1"/>
              </a:solidFill>
              <a:latin typeface="+mn-ea"/>
            </a:endParaRPr>
          </a:p>
        </p:txBody>
      </p:sp>
      <p:sp>
        <p:nvSpPr>
          <p:cNvPr id="66" name="모서리가 둥근 직사각형 3">
            <a:extLst>
              <a:ext uri="{FF2B5EF4-FFF2-40B4-BE49-F238E27FC236}">
                <a16:creationId xmlns:a16="http://schemas.microsoft.com/office/drawing/2014/main" id="{1D0C2A7F-D3A1-9E93-B1A9-712EA21FC070}"/>
              </a:ext>
            </a:extLst>
          </p:cNvPr>
          <p:cNvSpPr/>
          <p:nvPr/>
        </p:nvSpPr>
        <p:spPr>
          <a:xfrm>
            <a:off x="3898152" y="6538289"/>
            <a:ext cx="390805"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n-ea"/>
              </a:rPr>
              <a:t>…</a:t>
            </a:r>
            <a:endParaRPr lang="ko-KR" altLang="en-US" sz="1100" dirty="0">
              <a:solidFill>
                <a:schemeClr val="tx1"/>
              </a:solidFill>
              <a:latin typeface="+mn-ea"/>
            </a:endParaRPr>
          </a:p>
        </p:txBody>
      </p:sp>
      <p:sp>
        <p:nvSpPr>
          <p:cNvPr id="54" name="모서리가 둥근 직사각형 3">
            <a:extLst>
              <a:ext uri="{FF2B5EF4-FFF2-40B4-BE49-F238E27FC236}">
                <a16:creationId xmlns:a16="http://schemas.microsoft.com/office/drawing/2014/main" id="{1D0C2A7F-D3A1-9E93-B1A9-712EA21FC070}"/>
              </a:ext>
            </a:extLst>
          </p:cNvPr>
          <p:cNvSpPr/>
          <p:nvPr/>
        </p:nvSpPr>
        <p:spPr>
          <a:xfrm>
            <a:off x="5133019" y="2482943"/>
            <a:ext cx="4216777" cy="13956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8000" rIns="72000" bIns="18000" rtlCol="0" anchor="ctr"/>
          <a:lstStyle/>
          <a:p>
            <a:pPr marL="87313" indent="-87313" algn="l" latinLnBrk="0">
              <a:lnSpc>
                <a:spcPct val="130000"/>
              </a:lnSpc>
              <a:spcAft>
                <a:spcPts val="200"/>
              </a:spcAft>
              <a:buFont typeface="Arial" panose="020B0604020202020204" pitchFamily="34" charset="0"/>
              <a:buChar char="•"/>
            </a:pPr>
            <a:r>
              <a:rPr lang="ko-KR" altLang="en-US" dirty="0">
                <a:solidFill>
                  <a:schemeClr val="tx1"/>
                </a:solidFill>
                <a:latin typeface="+mn-ea"/>
              </a:rPr>
              <a:t>유사한 사업</a:t>
            </a:r>
            <a:r>
              <a:rPr lang="en-US" altLang="ko-KR" dirty="0">
                <a:solidFill>
                  <a:schemeClr val="tx1"/>
                </a:solidFill>
                <a:latin typeface="+mn-ea"/>
              </a:rPr>
              <a:t>(</a:t>
            </a:r>
            <a:r>
              <a:rPr lang="ko-KR" altLang="en-US" dirty="0">
                <a:solidFill>
                  <a:schemeClr val="tx1"/>
                </a:solidFill>
                <a:latin typeface="+mn-ea"/>
              </a:rPr>
              <a:t>제도</a:t>
            </a:r>
            <a:r>
              <a:rPr lang="en-US" altLang="ko-KR" dirty="0">
                <a:solidFill>
                  <a:schemeClr val="tx1"/>
                </a:solidFill>
                <a:latin typeface="+mn-ea"/>
              </a:rPr>
              <a:t>)</a:t>
            </a:r>
            <a:r>
              <a:rPr lang="ko-KR" altLang="en-US" dirty="0">
                <a:solidFill>
                  <a:schemeClr val="tx1"/>
                </a:solidFill>
                <a:latin typeface="+mn-ea"/>
              </a:rPr>
              <a:t>을 운영하고 있는 해외국가별 비교</a:t>
            </a:r>
            <a:r>
              <a:rPr lang="en-US" altLang="ko-KR" dirty="0">
                <a:solidFill>
                  <a:schemeClr val="tx1"/>
                </a:solidFill>
                <a:latin typeface="+mj-lt"/>
              </a:rPr>
              <a:t>·</a:t>
            </a:r>
            <a:r>
              <a:rPr lang="ko-KR" altLang="en-US" dirty="0">
                <a:solidFill>
                  <a:schemeClr val="tx1"/>
                </a:solidFill>
                <a:latin typeface="+mn-ea"/>
              </a:rPr>
              <a:t>분석을 통해 직무능력은행제 연계 시 </a:t>
            </a:r>
            <a:r>
              <a:rPr lang="en-US" altLang="ko-KR" dirty="0">
                <a:solidFill>
                  <a:schemeClr val="tx1"/>
                </a:solidFill>
                <a:latin typeface="+mn-ea"/>
              </a:rPr>
              <a:t>STEP</a:t>
            </a:r>
            <a:r>
              <a:rPr lang="ko-KR" altLang="en-US" dirty="0">
                <a:solidFill>
                  <a:schemeClr val="tx1"/>
                </a:solidFill>
                <a:latin typeface="+mn-ea"/>
              </a:rPr>
              <a:t>의 온라인 콘텐츠에 적용할 수 있는 방안을 검토하겠음</a:t>
            </a:r>
            <a:endParaRPr lang="en-US" altLang="ko-KR" dirty="0">
              <a:solidFill>
                <a:schemeClr val="tx1"/>
              </a:solidFill>
              <a:latin typeface="+mn-ea"/>
            </a:endParaRPr>
          </a:p>
          <a:p>
            <a:pPr marL="87313" indent="-87313" algn="l" latinLnBrk="0">
              <a:lnSpc>
                <a:spcPct val="130000"/>
              </a:lnSpc>
              <a:spcAft>
                <a:spcPts val="200"/>
              </a:spcAft>
              <a:buFont typeface="Arial" panose="020B0604020202020204" pitchFamily="34" charset="0"/>
              <a:buChar char="•"/>
            </a:pPr>
            <a:r>
              <a:rPr lang="ko-KR" altLang="en-US" dirty="0">
                <a:solidFill>
                  <a:schemeClr val="tx1"/>
                </a:solidFill>
                <a:latin typeface="+mn-ea"/>
              </a:rPr>
              <a:t>분석항목 </a:t>
            </a:r>
            <a:r>
              <a:rPr lang="en-US" altLang="ko-KR" dirty="0">
                <a:solidFill>
                  <a:schemeClr val="tx1"/>
                </a:solidFill>
                <a:latin typeface="+mn-ea"/>
              </a:rPr>
              <a:t>: </a:t>
            </a:r>
            <a:r>
              <a:rPr lang="ko-KR" altLang="en-US" dirty="0">
                <a:solidFill>
                  <a:schemeClr val="tx1"/>
                </a:solidFill>
                <a:latin typeface="+mn-ea"/>
              </a:rPr>
              <a:t>사업 운영 주요목적</a:t>
            </a:r>
            <a:r>
              <a:rPr lang="en-US" altLang="ko-KR" dirty="0">
                <a:solidFill>
                  <a:schemeClr val="tx1"/>
                </a:solidFill>
                <a:latin typeface="+mn-ea"/>
              </a:rPr>
              <a:t>, </a:t>
            </a:r>
            <a:r>
              <a:rPr lang="ko-KR" altLang="en-US" dirty="0">
                <a:solidFill>
                  <a:schemeClr val="tx1"/>
                </a:solidFill>
                <a:latin typeface="+mn-ea"/>
              </a:rPr>
              <a:t>관리정보</a:t>
            </a:r>
            <a:r>
              <a:rPr lang="en-US" altLang="ko-KR" dirty="0">
                <a:solidFill>
                  <a:schemeClr val="tx1"/>
                </a:solidFill>
                <a:latin typeface="+mn-ea"/>
              </a:rPr>
              <a:t>, </a:t>
            </a:r>
            <a:r>
              <a:rPr lang="ko-KR" altLang="en-US" dirty="0">
                <a:solidFill>
                  <a:schemeClr val="tx1"/>
                </a:solidFill>
                <a:latin typeface="+mn-ea"/>
              </a:rPr>
              <a:t>활용 예시</a:t>
            </a:r>
            <a:r>
              <a:rPr lang="en-US" altLang="ko-KR" dirty="0">
                <a:solidFill>
                  <a:schemeClr val="tx1"/>
                </a:solidFill>
                <a:latin typeface="+mn-ea"/>
              </a:rPr>
              <a:t>, </a:t>
            </a:r>
            <a:r>
              <a:rPr lang="ko-KR" altLang="en-US" dirty="0">
                <a:solidFill>
                  <a:schemeClr val="tx1"/>
                </a:solidFill>
                <a:latin typeface="+mn-ea"/>
              </a:rPr>
              <a:t>온라인 교육 인정 여부</a:t>
            </a:r>
            <a:r>
              <a:rPr lang="en-US" altLang="ko-KR" dirty="0">
                <a:solidFill>
                  <a:schemeClr val="tx1"/>
                </a:solidFill>
                <a:latin typeface="+mn-ea"/>
              </a:rPr>
              <a:t>, </a:t>
            </a:r>
            <a:r>
              <a:rPr lang="ko-KR" altLang="en-US" dirty="0">
                <a:solidFill>
                  <a:schemeClr val="tx1"/>
                </a:solidFill>
                <a:latin typeface="+mn-ea"/>
              </a:rPr>
              <a:t>온라인 교육 활용 유무</a:t>
            </a:r>
            <a:r>
              <a:rPr lang="en-US" altLang="ko-KR" dirty="0">
                <a:solidFill>
                  <a:schemeClr val="tx1"/>
                </a:solidFill>
                <a:latin typeface="+mn-ea"/>
              </a:rPr>
              <a:t>, </a:t>
            </a:r>
            <a:r>
              <a:rPr lang="ko-KR" altLang="en-US" dirty="0">
                <a:solidFill>
                  <a:schemeClr val="tx1"/>
                </a:solidFill>
                <a:latin typeface="+mn-ea"/>
              </a:rPr>
              <a:t>공통점</a:t>
            </a:r>
            <a:r>
              <a:rPr lang="en-US" altLang="ko-KR" dirty="0">
                <a:solidFill>
                  <a:schemeClr val="tx1"/>
                </a:solidFill>
                <a:latin typeface="+mn-ea"/>
              </a:rPr>
              <a:t> </a:t>
            </a:r>
            <a:r>
              <a:rPr lang="ko-KR" altLang="en-US" dirty="0">
                <a:solidFill>
                  <a:schemeClr val="tx1"/>
                </a:solidFill>
                <a:latin typeface="+mn-ea"/>
              </a:rPr>
              <a:t>및 차이점 등</a:t>
            </a:r>
            <a:endParaRPr lang="en-US" altLang="ko-KR" dirty="0">
              <a:solidFill>
                <a:schemeClr val="tx1"/>
              </a:solidFill>
              <a:latin typeface="+mn-ea"/>
            </a:endParaRPr>
          </a:p>
        </p:txBody>
      </p:sp>
      <p:sp>
        <p:nvSpPr>
          <p:cNvPr id="68" name="Text Box 350">
            <a:extLst>
              <a:ext uri="{FF2B5EF4-FFF2-40B4-BE49-F238E27FC236}">
                <a16:creationId xmlns:a16="http://schemas.microsoft.com/office/drawing/2014/main" id="{4E8FCB8A-E767-0311-2CF9-ABA129E2F7CD}"/>
              </a:ext>
            </a:extLst>
          </p:cNvPr>
          <p:cNvSpPr txBox="1">
            <a:spLocks noChangeArrowheads="1"/>
          </p:cNvSpPr>
          <p:nvPr/>
        </p:nvSpPr>
        <p:spPr bwMode="auto">
          <a:xfrm rot="20838175">
            <a:off x="7990449" y="5509672"/>
            <a:ext cx="1417199" cy="276999"/>
          </a:xfrm>
          <a:prstGeom prst="rect">
            <a:avLst/>
          </a:prstGeom>
          <a:solidFill>
            <a:schemeClr val="accent2">
              <a:lumMod val="20000"/>
              <a:lumOff val="80000"/>
              <a:alpha val="36000"/>
            </a:schemeClr>
          </a:solidFill>
          <a:ln w="12700" algn="ctr">
            <a:solidFill>
              <a:schemeClr val="accent2"/>
            </a:solidFill>
            <a:prstDash val="dash"/>
            <a:miter lim="800000"/>
            <a:headEnd/>
            <a:tailEnd/>
          </a:ln>
        </p:spPr>
        <p:txBody>
          <a:bodyPr wrap="square">
            <a:spAutoFit/>
          </a:bodyPr>
          <a:lstStyle>
            <a:defPPr>
              <a:defRPr lang="en-US"/>
            </a:defPPr>
            <a:lvl1pPr marL="0" marR="0" lvl="0" indent="0" defTabSz="914400" eaLnBrk="1" fontAlgn="auto" hangingPunct="1">
              <a:lnSpc>
                <a:spcPct val="100000"/>
              </a:lnSpc>
              <a:spcBef>
                <a:spcPct val="50000"/>
              </a:spcBef>
              <a:spcAft>
                <a:spcPts val="0"/>
              </a:spcAft>
              <a:buClr>
                <a:srgbClr val="006699"/>
              </a:buClr>
              <a:buSzTx/>
              <a:buFont typeface="a고딕14"/>
              <a:buNone/>
              <a:tabLst/>
              <a:defRPr b="1" i="0" u="none" strike="noStrike" kern="0" cap="none" spc="0" normalizeH="0" baseline="0">
                <a:ln>
                  <a:noFill/>
                </a:ln>
                <a:solidFill>
                  <a:srgbClr val="A50021"/>
                </a:solidFill>
                <a:effectLst/>
                <a:uLnTx/>
                <a:uFillTx/>
                <a:latin typeface="a고딕14" panose="02020600000000000000" pitchFamily="18" charset="-127"/>
                <a:ea typeface="a고딕14" panose="02020600000000000000" pitchFamily="18" charset="-127"/>
              </a:defRPr>
            </a:lvl1pPr>
            <a:lvl2pPr marL="742950" indent="-285750">
              <a:defRPr sz="800">
                <a:latin typeface="Arial" pitchFamily="34" charset="0"/>
              </a:defRPr>
            </a:lvl2pPr>
            <a:lvl3pPr marL="1143000" indent="-228600">
              <a:defRPr sz="800">
                <a:latin typeface="Arial" pitchFamily="34" charset="0"/>
              </a:defRPr>
            </a:lvl3pPr>
            <a:lvl4pPr marL="1600200" indent="-228600">
              <a:defRPr sz="800">
                <a:latin typeface="Arial" pitchFamily="34" charset="0"/>
              </a:defRPr>
            </a:lvl4pPr>
            <a:lvl5pPr marL="2057400" indent="-228600">
              <a:defRPr sz="800">
                <a:latin typeface="Arial" pitchFamily="34" charset="0"/>
              </a:defRPr>
            </a:lvl5pPr>
            <a:lvl6pPr marL="2514600" indent="-228600" algn="ctr" eaLnBrk="0" fontAlgn="base" hangingPunct="0">
              <a:spcBef>
                <a:spcPct val="0"/>
              </a:spcBef>
              <a:spcAft>
                <a:spcPct val="0"/>
              </a:spcAft>
              <a:buFont typeface="Wingdings" pitchFamily="2" charset="2"/>
              <a:defRPr sz="800">
                <a:latin typeface="Arial" pitchFamily="34" charset="0"/>
              </a:defRPr>
            </a:lvl6pPr>
            <a:lvl7pPr marL="2971800" indent="-228600" algn="ctr" eaLnBrk="0" fontAlgn="base" hangingPunct="0">
              <a:spcBef>
                <a:spcPct val="0"/>
              </a:spcBef>
              <a:spcAft>
                <a:spcPct val="0"/>
              </a:spcAft>
              <a:buFont typeface="Wingdings" pitchFamily="2" charset="2"/>
              <a:defRPr sz="800">
                <a:latin typeface="Arial" pitchFamily="34" charset="0"/>
              </a:defRPr>
            </a:lvl7pPr>
            <a:lvl8pPr marL="3429000" indent="-228600" algn="ctr" eaLnBrk="0" fontAlgn="base" hangingPunct="0">
              <a:spcBef>
                <a:spcPct val="0"/>
              </a:spcBef>
              <a:spcAft>
                <a:spcPct val="0"/>
              </a:spcAft>
              <a:buFont typeface="Wingdings" pitchFamily="2" charset="2"/>
              <a:defRPr sz="800">
                <a:latin typeface="Arial" pitchFamily="34" charset="0"/>
              </a:defRPr>
            </a:lvl8pPr>
            <a:lvl9pPr marL="3886200" indent="-228600" algn="ctr" eaLnBrk="0" fontAlgn="base" hangingPunct="0">
              <a:spcBef>
                <a:spcPct val="0"/>
              </a:spcBef>
              <a:spcAft>
                <a:spcPct val="0"/>
              </a:spcAft>
              <a:buFont typeface="Wingdings" pitchFamily="2" charset="2"/>
              <a:defRPr sz="800">
                <a:latin typeface="Arial" pitchFamily="34" charset="0"/>
              </a:defRPr>
            </a:lvl9pPr>
          </a:lstStyle>
          <a:p>
            <a:r>
              <a:rPr lang="en-US" altLang="ko-KR" dirty="0"/>
              <a:t>Illustrative</a:t>
            </a:r>
          </a:p>
        </p:txBody>
      </p:sp>
      <p:sp>
        <p:nvSpPr>
          <p:cNvPr id="69" name="자유형 145">
            <a:extLst>
              <a:ext uri="{FF2B5EF4-FFF2-40B4-BE49-F238E27FC236}">
                <a16:creationId xmlns:a16="http://schemas.microsoft.com/office/drawing/2014/main" id="{9D401E65-75CC-EBAB-B095-53DED0F11C13}"/>
              </a:ext>
            </a:extLst>
          </p:cNvPr>
          <p:cNvSpPr>
            <a:spLocks/>
          </p:cNvSpPr>
          <p:nvPr>
            <p:custDataLst>
              <p:tags r:id="rId1"/>
            </p:custDataLst>
          </p:nvPr>
        </p:nvSpPr>
        <p:spPr bwMode="auto">
          <a:xfrm rot="5400000" flipV="1">
            <a:off x="6964914" y="2129347"/>
            <a:ext cx="547249" cy="4212297"/>
          </a:xfrm>
          <a:custGeom>
            <a:avLst/>
            <a:gdLst>
              <a:gd name="connsiteX0" fmla="*/ 833286 w 833286"/>
              <a:gd name="connsiteY0" fmla="*/ 2496942 h 5034729"/>
              <a:gd name="connsiteX1" fmla="*/ 621706 w 833286"/>
              <a:gd name="connsiteY1" fmla="*/ 3061826 h 5034729"/>
              <a:gd name="connsiteX2" fmla="*/ 618254 w 833286"/>
              <a:gd name="connsiteY2" fmla="*/ 3068504 h 5034729"/>
              <a:gd name="connsiteX3" fmla="*/ 618254 w 833286"/>
              <a:gd name="connsiteY3" fmla="*/ 2909120 h 5034729"/>
              <a:gd name="connsiteX4" fmla="*/ 586913 w 833286"/>
              <a:gd name="connsiteY4" fmla="*/ 2935933 h 5034729"/>
              <a:gd name="connsiteX5" fmla="*/ 556998 w 833286"/>
              <a:gd name="connsiteY5" fmla="*/ 2952318 h 5034729"/>
              <a:gd name="connsiteX6" fmla="*/ 527083 w 833286"/>
              <a:gd name="connsiteY6" fmla="*/ 2974661 h 5034729"/>
              <a:gd name="connsiteX7" fmla="*/ 497167 w 833286"/>
              <a:gd name="connsiteY7" fmla="*/ 3008921 h 5034729"/>
              <a:gd name="connsiteX8" fmla="*/ 468676 w 833286"/>
              <a:gd name="connsiteY8" fmla="*/ 3043181 h 5034729"/>
              <a:gd name="connsiteX9" fmla="*/ 440185 w 833286"/>
              <a:gd name="connsiteY9" fmla="*/ 3077441 h 5034729"/>
              <a:gd name="connsiteX10" fmla="*/ 411694 w 833286"/>
              <a:gd name="connsiteY10" fmla="*/ 3116170 h 5034729"/>
              <a:gd name="connsiteX11" fmla="*/ 384628 w 833286"/>
              <a:gd name="connsiteY11" fmla="*/ 3159367 h 5034729"/>
              <a:gd name="connsiteX12" fmla="*/ 358986 w 833286"/>
              <a:gd name="connsiteY12" fmla="*/ 3207033 h 5034729"/>
              <a:gd name="connsiteX13" fmla="*/ 333344 w 833286"/>
              <a:gd name="connsiteY13" fmla="*/ 3259168 h 5034729"/>
              <a:gd name="connsiteX14" fmla="*/ 307702 w 833286"/>
              <a:gd name="connsiteY14" fmla="*/ 3314282 h 5034729"/>
              <a:gd name="connsiteX15" fmla="*/ 283485 w 833286"/>
              <a:gd name="connsiteY15" fmla="*/ 3370886 h 5034729"/>
              <a:gd name="connsiteX16" fmla="*/ 257843 w 833286"/>
              <a:gd name="connsiteY16" fmla="*/ 3430468 h 5034729"/>
              <a:gd name="connsiteX17" fmla="*/ 235050 w 833286"/>
              <a:gd name="connsiteY17" fmla="*/ 3496009 h 5034729"/>
              <a:gd name="connsiteX18" fmla="*/ 215107 w 833286"/>
              <a:gd name="connsiteY18" fmla="*/ 3560060 h 5034729"/>
              <a:gd name="connsiteX19" fmla="*/ 192314 w 833286"/>
              <a:gd name="connsiteY19" fmla="*/ 3630070 h 5034729"/>
              <a:gd name="connsiteX20" fmla="*/ 173795 w 833286"/>
              <a:gd name="connsiteY20" fmla="*/ 3698590 h 5034729"/>
              <a:gd name="connsiteX21" fmla="*/ 155276 w 833286"/>
              <a:gd name="connsiteY21" fmla="*/ 3776047 h 5034729"/>
              <a:gd name="connsiteX22" fmla="*/ 136757 w 833286"/>
              <a:gd name="connsiteY22" fmla="*/ 3853504 h 5034729"/>
              <a:gd name="connsiteX23" fmla="*/ 121087 w 833286"/>
              <a:gd name="connsiteY23" fmla="*/ 3930962 h 5034729"/>
              <a:gd name="connsiteX24" fmla="*/ 102568 w 833286"/>
              <a:gd name="connsiteY24" fmla="*/ 4012888 h 5034729"/>
              <a:gd name="connsiteX25" fmla="*/ 86897 w 833286"/>
              <a:gd name="connsiteY25" fmla="*/ 4094814 h 5034729"/>
              <a:gd name="connsiteX26" fmla="*/ 74077 w 833286"/>
              <a:gd name="connsiteY26" fmla="*/ 4181209 h 5034729"/>
              <a:gd name="connsiteX27" fmla="*/ 59831 w 833286"/>
              <a:gd name="connsiteY27" fmla="*/ 4267603 h 5034729"/>
              <a:gd name="connsiteX28" fmla="*/ 48435 w 833286"/>
              <a:gd name="connsiteY28" fmla="*/ 4362936 h 5034729"/>
              <a:gd name="connsiteX29" fmla="*/ 38463 w 833286"/>
              <a:gd name="connsiteY29" fmla="*/ 4452309 h 5034729"/>
              <a:gd name="connsiteX30" fmla="*/ 28491 w 833286"/>
              <a:gd name="connsiteY30" fmla="*/ 4547642 h 5034729"/>
              <a:gd name="connsiteX31" fmla="*/ 21368 w 833286"/>
              <a:gd name="connsiteY31" fmla="*/ 4642974 h 5034729"/>
              <a:gd name="connsiteX32" fmla="*/ 12821 w 833286"/>
              <a:gd name="connsiteY32" fmla="*/ 4736816 h 5034729"/>
              <a:gd name="connsiteX33" fmla="*/ 7123 w 833286"/>
              <a:gd name="connsiteY33" fmla="*/ 4836617 h 5034729"/>
              <a:gd name="connsiteX34" fmla="*/ 2849 w 833286"/>
              <a:gd name="connsiteY34" fmla="*/ 4934928 h 5034729"/>
              <a:gd name="connsiteX35" fmla="*/ 0 w 833286"/>
              <a:gd name="connsiteY35" fmla="*/ 5034729 h 5034729"/>
              <a:gd name="connsiteX36" fmla="*/ 0 w 833286"/>
              <a:gd name="connsiteY36" fmla="*/ 0 h 5034729"/>
              <a:gd name="connsiteX37" fmla="*/ 2849 w 833286"/>
              <a:gd name="connsiteY37" fmla="*/ 99801 h 5034729"/>
              <a:gd name="connsiteX38" fmla="*/ 7123 w 833286"/>
              <a:gd name="connsiteY38" fmla="*/ 202581 h 5034729"/>
              <a:gd name="connsiteX39" fmla="*/ 12821 w 833286"/>
              <a:gd name="connsiteY39" fmla="*/ 297913 h 5034729"/>
              <a:gd name="connsiteX40" fmla="*/ 21368 w 833286"/>
              <a:gd name="connsiteY40" fmla="*/ 396225 h 5034729"/>
              <a:gd name="connsiteX41" fmla="*/ 28491 w 833286"/>
              <a:gd name="connsiteY41" fmla="*/ 491557 h 5034729"/>
              <a:gd name="connsiteX42" fmla="*/ 38463 w 833286"/>
              <a:gd name="connsiteY42" fmla="*/ 582420 h 5034729"/>
              <a:gd name="connsiteX43" fmla="*/ 48435 w 833286"/>
              <a:gd name="connsiteY43" fmla="*/ 676263 h 5034729"/>
              <a:gd name="connsiteX44" fmla="*/ 59831 w 833286"/>
              <a:gd name="connsiteY44" fmla="*/ 767126 h 5034729"/>
              <a:gd name="connsiteX45" fmla="*/ 74077 w 833286"/>
              <a:gd name="connsiteY45" fmla="*/ 853521 h 5034729"/>
              <a:gd name="connsiteX46" fmla="*/ 86897 w 833286"/>
              <a:gd name="connsiteY46" fmla="*/ 944384 h 5034729"/>
              <a:gd name="connsiteX47" fmla="*/ 102567 w 833286"/>
              <a:gd name="connsiteY47" fmla="*/ 1021842 h 5034729"/>
              <a:gd name="connsiteX48" fmla="*/ 121087 w 833286"/>
              <a:gd name="connsiteY48" fmla="*/ 1108236 h 5034729"/>
              <a:gd name="connsiteX49" fmla="*/ 136757 w 833286"/>
              <a:gd name="connsiteY49" fmla="*/ 1185694 h 5034729"/>
              <a:gd name="connsiteX50" fmla="*/ 155276 w 833286"/>
              <a:gd name="connsiteY50" fmla="*/ 1258682 h 5034729"/>
              <a:gd name="connsiteX51" fmla="*/ 173795 w 833286"/>
              <a:gd name="connsiteY51" fmla="*/ 1340609 h 5034729"/>
              <a:gd name="connsiteX52" fmla="*/ 192314 w 833286"/>
              <a:gd name="connsiteY52" fmla="*/ 1404660 h 5034729"/>
              <a:gd name="connsiteX53" fmla="*/ 215107 w 833286"/>
              <a:gd name="connsiteY53" fmla="*/ 1479138 h 5034729"/>
              <a:gd name="connsiteX54" fmla="*/ 235050 w 833286"/>
              <a:gd name="connsiteY54" fmla="*/ 1543189 h 5034729"/>
              <a:gd name="connsiteX55" fmla="*/ 257843 w 833286"/>
              <a:gd name="connsiteY55" fmla="*/ 1607241 h 5034729"/>
              <a:gd name="connsiteX56" fmla="*/ 283485 w 833286"/>
              <a:gd name="connsiteY56" fmla="*/ 1668313 h 5034729"/>
              <a:gd name="connsiteX57" fmla="*/ 307702 w 833286"/>
              <a:gd name="connsiteY57" fmla="*/ 1724916 h 5034729"/>
              <a:gd name="connsiteX58" fmla="*/ 333344 w 833286"/>
              <a:gd name="connsiteY58" fmla="*/ 1775561 h 5034729"/>
              <a:gd name="connsiteX59" fmla="*/ 358986 w 833286"/>
              <a:gd name="connsiteY59" fmla="*/ 1827696 h 5034729"/>
              <a:gd name="connsiteX60" fmla="*/ 384628 w 833286"/>
              <a:gd name="connsiteY60" fmla="*/ 1879831 h 5034729"/>
              <a:gd name="connsiteX61" fmla="*/ 411694 w 833286"/>
              <a:gd name="connsiteY61" fmla="*/ 1923028 h 5034729"/>
              <a:gd name="connsiteX62" fmla="*/ 440185 w 833286"/>
              <a:gd name="connsiteY62" fmla="*/ 1961757 h 5034729"/>
              <a:gd name="connsiteX63" fmla="*/ 468676 w 833286"/>
              <a:gd name="connsiteY63" fmla="*/ 1996017 h 5034729"/>
              <a:gd name="connsiteX64" fmla="*/ 497167 w 833286"/>
              <a:gd name="connsiteY64" fmla="*/ 2030277 h 5034729"/>
              <a:gd name="connsiteX65" fmla="*/ 527083 w 833286"/>
              <a:gd name="connsiteY65" fmla="*/ 2060068 h 5034729"/>
              <a:gd name="connsiteX66" fmla="*/ 556998 w 833286"/>
              <a:gd name="connsiteY66" fmla="*/ 2086880 h 5034729"/>
              <a:gd name="connsiteX67" fmla="*/ 586913 w 833286"/>
              <a:gd name="connsiteY67" fmla="*/ 2107734 h 5034729"/>
              <a:gd name="connsiteX68" fmla="*/ 618254 w 833286"/>
              <a:gd name="connsiteY68" fmla="*/ 2125609 h 5034729"/>
              <a:gd name="connsiteX69" fmla="*/ 618254 w 833286"/>
              <a:gd name="connsiteY69" fmla="*/ 1969205 h 5034729"/>
              <a:gd name="connsiteX70" fmla="*/ 635975 w 833286"/>
              <a:gd name="connsiteY70" fmla="*/ 2001318 h 5034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33286" h="5034729">
                <a:moveTo>
                  <a:pt x="833286" y="2496942"/>
                </a:moveTo>
                <a:lnTo>
                  <a:pt x="621706" y="3061826"/>
                </a:lnTo>
                <a:lnTo>
                  <a:pt x="618254" y="3068504"/>
                </a:lnTo>
                <a:lnTo>
                  <a:pt x="618254" y="2909120"/>
                </a:lnTo>
                <a:lnTo>
                  <a:pt x="586913" y="2935933"/>
                </a:lnTo>
                <a:lnTo>
                  <a:pt x="556998" y="2952318"/>
                </a:lnTo>
                <a:lnTo>
                  <a:pt x="527083" y="2974661"/>
                </a:lnTo>
                <a:lnTo>
                  <a:pt x="497167" y="3008921"/>
                </a:lnTo>
                <a:lnTo>
                  <a:pt x="468676" y="3043181"/>
                </a:lnTo>
                <a:lnTo>
                  <a:pt x="440185" y="3077441"/>
                </a:lnTo>
                <a:lnTo>
                  <a:pt x="411694" y="3116170"/>
                </a:lnTo>
                <a:lnTo>
                  <a:pt x="384628" y="3159367"/>
                </a:lnTo>
                <a:lnTo>
                  <a:pt x="358986" y="3207033"/>
                </a:lnTo>
                <a:lnTo>
                  <a:pt x="333344" y="3259168"/>
                </a:lnTo>
                <a:lnTo>
                  <a:pt x="307702" y="3314282"/>
                </a:lnTo>
                <a:lnTo>
                  <a:pt x="283485" y="3370886"/>
                </a:lnTo>
                <a:lnTo>
                  <a:pt x="257843" y="3430468"/>
                </a:lnTo>
                <a:lnTo>
                  <a:pt x="235050" y="3496009"/>
                </a:lnTo>
                <a:lnTo>
                  <a:pt x="215107" y="3560060"/>
                </a:lnTo>
                <a:lnTo>
                  <a:pt x="192314" y="3630070"/>
                </a:lnTo>
                <a:lnTo>
                  <a:pt x="173795" y="3698590"/>
                </a:lnTo>
                <a:lnTo>
                  <a:pt x="155276" y="3776047"/>
                </a:lnTo>
                <a:lnTo>
                  <a:pt x="136757" y="3853504"/>
                </a:lnTo>
                <a:lnTo>
                  <a:pt x="121087" y="3930962"/>
                </a:lnTo>
                <a:lnTo>
                  <a:pt x="102568" y="4012888"/>
                </a:lnTo>
                <a:lnTo>
                  <a:pt x="86897" y="4094814"/>
                </a:lnTo>
                <a:lnTo>
                  <a:pt x="74077" y="4181209"/>
                </a:lnTo>
                <a:lnTo>
                  <a:pt x="59831" y="4267603"/>
                </a:lnTo>
                <a:lnTo>
                  <a:pt x="48435" y="4362936"/>
                </a:lnTo>
                <a:lnTo>
                  <a:pt x="38463" y="4452309"/>
                </a:lnTo>
                <a:lnTo>
                  <a:pt x="28491" y="4547642"/>
                </a:lnTo>
                <a:lnTo>
                  <a:pt x="21368" y="4642974"/>
                </a:lnTo>
                <a:lnTo>
                  <a:pt x="12821" y="4736816"/>
                </a:lnTo>
                <a:lnTo>
                  <a:pt x="7123" y="4836617"/>
                </a:lnTo>
                <a:lnTo>
                  <a:pt x="2849" y="4934928"/>
                </a:lnTo>
                <a:lnTo>
                  <a:pt x="0" y="5034729"/>
                </a:lnTo>
                <a:lnTo>
                  <a:pt x="0" y="0"/>
                </a:lnTo>
                <a:lnTo>
                  <a:pt x="2849" y="99801"/>
                </a:lnTo>
                <a:lnTo>
                  <a:pt x="7123" y="202581"/>
                </a:lnTo>
                <a:lnTo>
                  <a:pt x="12821" y="297913"/>
                </a:lnTo>
                <a:lnTo>
                  <a:pt x="21368" y="396225"/>
                </a:lnTo>
                <a:lnTo>
                  <a:pt x="28491" y="491557"/>
                </a:lnTo>
                <a:lnTo>
                  <a:pt x="38463" y="582420"/>
                </a:lnTo>
                <a:lnTo>
                  <a:pt x="48435" y="676263"/>
                </a:lnTo>
                <a:lnTo>
                  <a:pt x="59831" y="767126"/>
                </a:lnTo>
                <a:lnTo>
                  <a:pt x="74077" y="853521"/>
                </a:lnTo>
                <a:lnTo>
                  <a:pt x="86897" y="944384"/>
                </a:lnTo>
                <a:lnTo>
                  <a:pt x="102567" y="1021842"/>
                </a:lnTo>
                <a:lnTo>
                  <a:pt x="121087" y="1108236"/>
                </a:lnTo>
                <a:lnTo>
                  <a:pt x="136757" y="1185694"/>
                </a:lnTo>
                <a:lnTo>
                  <a:pt x="155276" y="1258682"/>
                </a:lnTo>
                <a:lnTo>
                  <a:pt x="173795" y="1340609"/>
                </a:lnTo>
                <a:lnTo>
                  <a:pt x="192314" y="1404660"/>
                </a:lnTo>
                <a:lnTo>
                  <a:pt x="215107" y="1479138"/>
                </a:lnTo>
                <a:lnTo>
                  <a:pt x="235050" y="1543189"/>
                </a:lnTo>
                <a:lnTo>
                  <a:pt x="257843" y="1607241"/>
                </a:lnTo>
                <a:lnTo>
                  <a:pt x="283485" y="1668313"/>
                </a:lnTo>
                <a:lnTo>
                  <a:pt x="307702" y="1724916"/>
                </a:lnTo>
                <a:lnTo>
                  <a:pt x="333344" y="1775561"/>
                </a:lnTo>
                <a:lnTo>
                  <a:pt x="358986" y="1827696"/>
                </a:lnTo>
                <a:lnTo>
                  <a:pt x="384628" y="1879831"/>
                </a:lnTo>
                <a:lnTo>
                  <a:pt x="411694" y="1923028"/>
                </a:lnTo>
                <a:lnTo>
                  <a:pt x="440185" y="1961757"/>
                </a:lnTo>
                <a:lnTo>
                  <a:pt x="468676" y="1996017"/>
                </a:lnTo>
                <a:lnTo>
                  <a:pt x="497167" y="2030277"/>
                </a:lnTo>
                <a:lnTo>
                  <a:pt x="527083" y="2060068"/>
                </a:lnTo>
                <a:lnTo>
                  <a:pt x="556998" y="2086880"/>
                </a:lnTo>
                <a:lnTo>
                  <a:pt x="586913" y="2107734"/>
                </a:lnTo>
                <a:lnTo>
                  <a:pt x="618254" y="2125609"/>
                </a:lnTo>
                <a:lnTo>
                  <a:pt x="618254" y="1969205"/>
                </a:lnTo>
                <a:lnTo>
                  <a:pt x="635975" y="2001318"/>
                </a:lnTo>
                <a:close/>
              </a:path>
            </a:pathLst>
          </a:custGeom>
          <a:gradFill flip="none" rotWithShape="1">
            <a:gsLst>
              <a:gs pos="0">
                <a:schemeClr val="bg1"/>
              </a:gs>
              <a:gs pos="100000">
                <a:schemeClr val="bg1">
                  <a:lumMod val="65000"/>
                </a:schemeClr>
              </a:gs>
            </a:gsLst>
            <a:lin ang="0" scaled="1"/>
            <a:tileRect/>
          </a:gradFill>
          <a:ln w="4826" cap="flat" cmpd="sng">
            <a:noFill/>
            <a:prstDash val="solid"/>
            <a:round/>
            <a:headEnd type="none" w="med" len="med"/>
            <a:tailEnd type="none" w="med" len="med"/>
          </a:ln>
          <a:effectLst/>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32967251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A1A4D-88C7-CAD5-9DDD-3BD47CED23A4}"/>
            </a:ext>
          </a:extLst>
        </p:cNvPr>
        <p:cNvGrpSpPr/>
        <p:nvPr/>
      </p:nvGrpSpPr>
      <p:grpSpPr>
        <a:xfrm>
          <a:off x="0" y="0"/>
          <a:ext cx="0" cy="0"/>
          <a:chOff x="0" y="0"/>
          <a:chExt cx="0" cy="0"/>
        </a:xfrm>
      </p:grpSpPr>
      <p:sp>
        <p:nvSpPr>
          <p:cNvPr id="48" name="직사각형 47">
            <a:extLst>
              <a:ext uri="{FF2B5EF4-FFF2-40B4-BE49-F238E27FC236}">
                <a16:creationId xmlns:a16="http://schemas.microsoft.com/office/drawing/2014/main" id="{77007C26-29CE-9BD7-B375-01DB465AF72D}"/>
              </a:ext>
            </a:extLst>
          </p:cNvPr>
          <p:cNvSpPr/>
          <p:nvPr/>
        </p:nvSpPr>
        <p:spPr>
          <a:xfrm>
            <a:off x="5125215" y="2153332"/>
            <a:ext cx="4213224" cy="4227996"/>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14" name="TextBox 13">
            <a:extLst>
              <a:ext uri="{FF2B5EF4-FFF2-40B4-BE49-F238E27FC236}">
                <a16:creationId xmlns:a16="http://schemas.microsoft.com/office/drawing/2014/main" id="{D96977CB-43D0-8F00-5B47-70E791091E3D}"/>
              </a:ext>
            </a:extLst>
          </p:cNvPr>
          <p:cNvSpPr txBox="1"/>
          <p:nvPr/>
        </p:nvSpPr>
        <p:spPr>
          <a:xfrm>
            <a:off x="5185394" y="2571291"/>
            <a:ext cx="4088085" cy="461665"/>
          </a:xfrm>
          <a:prstGeom prst="rect">
            <a:avLst/>
          </a:prstGeom>
          <a:solidFill>
            <a:schemeClr val="bg1"/>
          </a:solidFill>
          <a:ln>
            <a:noFill/>
          </a:ln>
        </p:spPr>
        <p:txBody>
          <a:bodyPr wrap="square" lIns="360000" rtlCol="0">
            <a:spAutoFit/>
          </a:bodyPr>
          <a:lstStyle/>
          <a:p>
            <a:pPr algn="l">
              <a:buNone/>
            </a:pPr>
            <a:r>
              <a:rPr lang="ko-KR" altLang="en-US" dirty="0">
                <a:latin typeface="Arial Narrow" panose="020B0606020202030204" pitchFamily="34" charset="0"/>
                <a:ea typeface="a고딕14" panose="02020600000000000000" pitchFamily="18" charset="-127"/>
              </a:rPr>
              <a:t>집체교육 원칙</a:t>
            </a:r>
            <a:endParaRPr lang="en-US" altLang="ko-KR" dirty="0">
              <a:latin typeface="Arial Narrow" panose="020B0606020202030204" pitchFamily="34" charset="0"/>
              <a:ea typeface="a고딕14" panose="02020600000000000000" pitchFamily="18" charset="-127"/>
            </a:endParaRPr>
          </a:p>
          <a:p>
            <a:pPr algn="l">
              <a:buNone/>
            </a:pPr>
            <a:r>
              <a:rPr lang="en-US" altLang="ko-KR">
                <a:latin typeface="Arial Narrow" panose="020B0606020202030204" pitchFamily="34" charset="0"/>
                <a:ea typeface="a고딕14" panose="02020600000000000000" pitchFamily="18" charset="-127"/>
              </a:rPr>
              <a:t>- </a:t>
            </a:r>
            <a:r>
              <a:rPr lang="ko-KR" altLang="en-US">
                <a:latin typeface="Arial Narrow" panose="020B0606020202030204" pitchFamily="34" charset="0"/>
                <a:ea typeface="a고딕14" panose="02020600000000000000" pitchFamily="18" charset="-127"/>
              </a:rPr>
              <a:t>온라인교육의 </a:t>
            </a:r>
            <a:r>
              <a:rPr lang="ko-KR" altLang="en-US" dirty="0">
                <a:latin typeface="Arial Narrow" panose="020B0606020202030204" pitchFamily="34" charset="0"/>
                <a:ea typeface="a고딕14" panose="02020600000000000000" pitchFamily="18" charset="-127"/>
              </a:rPr>
              <a:t>대상 인정 여부 및 방법에 대한 협의가 필요함</a:t>
            </a:r>
          </a:p>
        </p:txBody>
      </p:sp>
      <p:sp>
        <p:nvSpPr>
          <p:cNvPr id="5" name="텍스트 개체 틀 4">
            <a:extLst>
              <a:ext uri="{FF2B5EF4-FFF2-40B4-BE49-F238E27FC236}">
                <a16:creationId xmlns:a16="http://schemas.microsoft.com/office/drawing/2014/main" id="{0347F7A3-B7EA-231B-AB92-F393EC5EBAD5}"/>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8B32099C-950F-DF59-3F2A-9F4A3B43C98F}"/>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온평원</a:t>
            </a:r>
            <a:r>
              <a:rPr lang="ko-KR" altLang="en-US" sz="1200" dirty="0">
                <a:solidFill>
                  <a:schemeClr val="bg1"/>
                </a:solidFill>
              </a:rPr>
              <a:t> 콘텐츠</a:t>
            </a:r>
            <a:r>
              <a:rPr lang="en-US" altLang="ko-KR" sz="1200" dirty="0">
                <a:solidFill>
                  <a:schemeClr val="bg1"/>
                </a:solidFill>
              </a:rPr>
              <a:t>-</a:t>
            </a:r>
            <a:r>
              <a:rPr lang="ko-KR" altLang="en-US" sz="1200" dirty="0">
                <a:solidFill>
                  <a:schemeClr val="bg1"/>
                </a:solidFill>
              </a:rPr>
              <a:t>직무능력은행제 연계 방향성 제시</a:t>
            </a:r>
          </a:p>
        </p:txBody>
      </p:sp>
      <p:sp>
        <p:nvSpPr>
          <p:cNvPr id="12" name="직사각형 11">
            <a:extLst>
              <a:ext uri="{FF2B5EF4-FFF2-40B4-BE49-F238E27FC236}">
                <a16:creationId xmlns:a16="http://schemas.microsoft.com/office/drawing/2014/main" id="{126D294A-0D7F-22A1-DDDE-F69A98AB291A}"/>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6.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직무능력은행제 연계 검토</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0A48DFBC-87DE-0606-72EB-CAD42CA7BD20}"/>
              </a:ext>
            </a:extLst>
          </p:cNvPr>
          <p:cNvSpPr>
            <a:spLocks noGrp="1"/>
          </p:cNvSpPr>
          <p:nvPr>
            <p:ph type="body" sz="quarter" idx="12"/>
          </p:nvPr>
        </p:nvSpPr>
        <p:spPr>
          <a:xfrm>
            <a:off x="596515" y="650182"/>
            <a:ext cx="8749097" cy="815119"/>
          </a:xfrm>
        </p:spPr>
        <p:txBody>
          <a:bodyPr/>
          <a:lstStyle/>
          <a:p>
            <a:pPr latinLnBrk="0"/>
            <a:r>
              <a:rPr lang="ko-KR" altLang="en-US" sz="1800" dirty="0"/>
              <a:t>온평원의 콘텐츠와 직무능력은행제 연계 과정에서 발생할 수 있는 </a:t>
            </a:r>
            <a:r>
              <a:rPr lang="ko-KR" altLang="en-US" sz="1800" dirty="0">
                <a:solidFill>
                  <a:srgbClr val="0070C0"/>
                </a:solidFill>
              </a:rPr>
              <a:t>제도적</a:t>
            </a:r>
            <a:r>
              <a:rPr lang="en-US" altLang="ko-KR" sz="1800" dirty="0">
                <a:solidFill>
                  <a:srgbClr val="0070C0"/>
                </a:solidFill>
              </a:rPr>
              <a:t>·</a:t>
            </a:r>
            <a:r>
              <a:rPr lang="ko-KR" altLang="en-US" sz="1800" dirty="0">
                <a:solidFill>
                  <a:srgbClr val="0070C0"/>
                </a:solidFill>
              </a:rPr>
              <a:t>운영적</a:t>
            </a:r>
            <a:r>
              <a:rPr lang="en-US" altLang="ko-KR" dirty="0">
                <a:solidFill>
                  <a:srgbClr val="0070C0"/>
                </a:solidFill>
              </a:rPr>
              <a:t> </a:t>
            </a:r>
            <a:r>
              <a:rPr lang="en-US" altLang="ko-KR" sz="1800" dirty="0">
                <a:solidFill>
                  <a:srgbClr val="0070C0"/>
                </a:solidFill>
              </a:rPr>
              <a:t>Issue</a:t>
            </a:r>
            <a:r>
              <a:rPr lang="ko-KR" altLang="en-US" sz="1800" dirty="0">
                <a:solidFill>
                  <a:srgbClr val="0070C0"/>
                </a:solidFill>
              </a:rPr>
              <a:t>에 효과적으로 대응</a:t>
            </a:r>
            <a:r>
              <a:rPr lang="ko-KR" altLang="en-US" sz="1800" dirty="0"/>
              <a:t>하기 위한 </a:t>
            </a:r>
            <a:r>
              <a:rPr lang="ko-KR" altLang="en-US" sz="1800" dirty="0">
                <a:solidFill>
                  <a:srgbClr val="0070C0"/>
                </a:solidFill>
              </a:rPr>
              <a:t>인정 기준 정비 및 연계 방안 마련이 필요</a:t>
            </a:r>
            <a:r>
              <a:rPr lang="ko-KR" altLang="en-US" sz="1800" dirty="0"/>
              <a:t>함</a:t>
            </a:r>
          </a:p>
        </p:txBody>
      </p:sp>
      <p:grpSp>
        <p:nvGrpSpPr>
          <p:cNvPr id="7" name="그룹 6">
            <a:extLst>
              <a:ext uri="{FF2B5EF4-FFF2-40B4-BE49-F238E27FC236}">
                <a16:creationId xmlns:a16="http://schemas.microsoft.com/office/drawing/2014/main" id="{C305C153-236B-97C7-DD57-1570803CC433}"/>
              </a:ext>
            </a:extLst>
          </p:cNvPr>
          <p:cNvGrpSpPr/>
          <p:nvPr/>
        </p:nvGrpSpPr>
        <p:grpSpPr>
          <a:xfrm>
            <a:off x="596515" y="1681027"/>
            <a:ext cx="8749098" cy="266602"/>
            <a:chOff x="802640" y="2236632"/>
            <a:chExt cx="4130805" cy="266552"/>
          </a:xfrm>
        </p:grpSpPr>
        <p:sp>
          <p:nvSpPr>
            <p:cNvPr id="8" name="ListLeanHorizontalTextTopic0">
              <a:extLst>
                <a:ext uri="{FF2B5EF4-FFF2-40B4-BE49-F238E27FC236}">
                  <a16:creationId xmlns:a16="http://schemas.microsoft.com/office/drawing/2014/main" id="{33701E9A-5509-8604-1DEE-3B19C421503D}"/>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직무능력은행제 적용을 위한 </a:t>
              </a: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Issue </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사항</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45A3CD89-EC18-270E-F633-5E3E60C812E9}"/>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0" name="타원 9">
            <a:extLst>
              <a:ext uri="{FF2B5EF4-FFF2-40B4-BE49-F238E27FC236}">
                <a16:creationId xmlns:a16="http://schemas.microsoft.com/office/drawing/2014/main" id="{BE7D789A-9836-1DA5-A32B-1FB188F76B92}"/>
              </a:ext>
            </a:extLst>
          </p:cNvPr>
          <p:cNvSpPr/>
          <p:nvPr/>
        </p:nvSpPr>
        <p:spPr>
          <a:xfrm>
            <a:off x="5205028" y="2634603"/>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1</a:t>
            </a:r>
            <a:endParaRPr lang="ko-KR" altLang="en-US" dirty="0">
              <a:solidFill>
                <a:schemeClr val="tx1"/>
              </a:solidFill>
              <a:latin typeface="+mn-ea"/>
            </a:endParaRPr>
          </a:p>
        </p:txBody>
      </p:sp>
      <p:sp>
        <p:nvSpPr>
          <p:cNvPr id="15" name="직사각형 14">
            <a:extLst>
              <a:ext uri="{FF2B5EF4-FFF2-40B4-BE49-F238E27FC236}">
                <a16:creationId xmlns:a16="http://schemas.microsoft.com/office/drawing/2014/main" id="{77007C26-29CE-9BD7-B375-01DB465AF72D}"/>
              </a:ext>
            </a:extLst>
          </p:cNvPr>
          <p:cNvSpPr/>
          <p:nvPr/>
        </p:nvSpPr>
        <p:spPr>
          <a:xfrm>
            <a:off x="5132389" y="2153332"/>
            <a:ext cx="4213224" cy="324846"/>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en-US" altLang="ko-KR">
                <a:solidFill>
                  <a:prstClr val="white"/>
                </a:solidFill>
                <a:latin typeface="+mn-ea"/>
              </a:rPr>
              <a:t>STEP-</a:t>
            </a:r>
            <a:r>
              <a:rPr lang="ko-KR" altLang="en-US">
                <a:solidFill>
                  <a:prstClr val="white"/>
                </a:solidFill>
                <a:latin typeface="+mn-ea"/>
              </a:rPr>
              <a:t>직무능력은행제 연계 시 </a:t>
            </a:r>
            <a:r>
              <a:rPr lang="en-US" altLang="ko-KR">
                <a:solidFill>
                  <a:prstClr val="white"/>
                </a:solidFill>
                <a:latin typeface="+mn-ea"/>
              </a:rPr>
              <a:t>Issue </a:t>
            </a:r>
            <a:r>
              <a:rPr lang="ko-KR" altLang="en-US">
                <a:solidFill>
                  <a:prstClr val="white"/>
                </a:solidFill>
                <a:latin typeface="+mn-ea"/>
              </a:rPr>
              <a:t>사항</a:t>
            </a:r>
            <a:endParaRPr kumimoji="0" lang="ko-KR" altLang="en-US" sz="1200" b="0" i="0" u="none" strike="noStrike" kern="1200" cap="none" spc="0" normalizeH="0" baseline="0" noProof="0" dirty="0">
              <a:ln>
                <a:noFill/>
              </a:ln>
              <a:solidFill>
                <a:prstClr val="white"/>
              </a:solidFill>
              <a:effectLst/>
              <a:uLnTx/>
              <a:uFillTx/>
              <a:latin typeface="+mn-ea"/>
            </a:endParaRPr>
          </a:p>
        </p:txBody>
      </p:sp>
      <p:graphicFrame>
        <p:nvGraphicFramePr>
          <p:cNvPr id="19" name="표 18"/>
          <p:cNvGraphicFramePr>
            <a:graphicFrameLocks noGrp="1"/>
          </p:cNvGraphicFramePr>
          <p:nvPr>
            <p:extLst>
              <p:ext uri="{D42A27DB-BD31-4B8C-83A1-F6EECF244321}">
                <p14:modId xmlns:p14="http://schemas.microsoft.com/office/powerpoint/2010/main" val="410458799"/>
              </p:ext>
            </p:extLst>
          </p:nvPr>
        </p:nvGraphicFramePr>
        <p:xfrm>
          <a:off x="596514" y="2000932"/>
          <a:ext cx="4177099" cy="4488769"/>
        </p:xfrm>
        <a:graphic>
          <a:graphicData uri="http://schemas.openxmlformats.org/drawingml/2006/table">
            <a:tbl>
              <a:tblPr/>
              <a:tblGrid>
                <a:gridCol w="379170">
                  <a:extLst>
                    <a:ext uri="{9D8B030D-6E8A-4147-A177-3AD203B41FA5}">
                      <a16:colId xmlns:a16="http://schemas.microsoft.com/office/drawing/2014/main" val="926128828"/>
                    </a:ext>
                  </a:extLst>
                </a:gridCol>
                <a:gridCol w="599577">
                  <a:extLst>
                    <a:ext uri="{9D8B030D-6E8A-4147-A177-3AD203B41FA5}">
                      <a16:colId xmlns:a16="http://schemas.microsoft.com/office/drawing/2014/main" val="162428158"/>
                    </a:ext>
                  </a:extLst>
                </a:gridCol>
                <a:gridCol w="3198352">
                  <a:extLst>
                    <a:ext uri="{9D8B030D-6E8A-4147-A177-3AD203B41FA5}">
                      <a16:colId xmlns:a16="http://schemas.microsoft.com/office/drawing/2014/main" val="1196497160"/>
                    </a:ext>
                  </a:extLst>
                </a:gridCol>
              </a:tblGrid>
              <a:tr h="207192">
                <a:tc>
                  <a:txBody>
                    <a:bodyPr/>
                    <a:lstStyle/>
                    <a:p>
                      <a:pPr marL="0" marR="0" indent="0" algn="ctr" fontAlgn="base" latinLnBrk="0">
                        <a:lnSpc>
                          <a:spcPct val="100000"/>
                        </a:lnSpc>
                        <a:spcBef>
                          <a:spcPts val="0"/>
                        </a:spcBef>
                        <a:spcAft>
                          <a:spcPts val="0"/>
                        </a:spcAft>
                      </a:pPr>
                      <a:r>
                        <a:rPr lang="ko-KR" altLang="en-US" sz="1200" kern="0" spc="-100" dirty="0">
                          <a:solidFill>
                            <a:schemeClr val="bg1"/>
                          </a:solidFill>
                          <a:effectLst/>
                          <a:latin typeface="Arial Narrow" panose="020B0606020202030204" pitchFamily="34" charset="0"/>
                          <a:ea typeface="a고딕14" panose="02020600000000000000" pitchFamily="18" charset="-127"/>
                        </a:rPr>
                        <a:t>구 분</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212E55"/>
                    </a:solidFill>
                  </a:tcPr>
                </a:tc>
                <a:tc gridSpan="2">
                  <a:txBody>
                    <a:bodyPr/>
                    <a:lstStyle/>
                    <a:p>
                      <a:pPr marL="0" marR="0" indent="0" algn="ctr" fontAlgn="base" latinLnBrk="0">
                        <a:lnSpc>
                          <a:spcPct val="100000"/>
                        </a:lnSpc>
                        <a:spcBef>
                          <a:spcPts val="0"/>
                        </a:spcBef>
                        <a:spcAft>
                          <a:spcPts val="0"/>
                        </a:spcAft>
                      </a:pPr>
                      <a:r>
                        <a:rPr lang="ko-KR" altLang="en-US" sz="1200" kern="0" spc="0" noProof="0">
                          <a:solidFill>
                            <a:schemeClr val="bg1"/>
                          </a:solidFill>
                          <a:effectLst/>
                          <a:latin typeface="Arial Narrow" panose="020B0606020202030204" pitchFamily="34" charset="0"/>
                          <a:ea typeface="a고딕14" panose="02020600000000000000" pitchFamily="18" charset="-127"/>
                          <a:cs typeface="+mn-cs"/>
                        </a:rPr>
                        <a:t>교과 인정 기준</a:t>
                      </a:r>
                      <a:endParaRPr lang="ko-KR" altLang="en-US" sz="1200" kern="0" spc="0" noProof="0" dirty="0">
                        <a:solidFill>
                          <a:schemeClr val="bg1"/>
                        </a:solidFill>
                        <a:effectLst/>
                        <a:latin typeface="Arial Narrow" panose="020B0606020202030204" pitchFamily="34" charset="0"/>
                        <a:ea typeface="a고딕14" panose="02020600000000000000" pitchFamily="18" charset="-127"/>
                        <a:cs typeface="+mn-cs"/>
                      </a:endParaRPr>
                    </a:p>
                  </a:txBody>
                  <a:tcPr marL="36000" marR="3600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212E55"/>
                    </a:solidFill>
                  </a:tcPr>
                </a:tc>
                <a:tc hMerge="1">
                  <a:txBody>
                    <a:bodyPr/>
                    <a:lstStyle/>
                    <a:p>
                      <a:pPr latinLnBrk="1"/>
                      <a:endParaRPr lang="ko-KR" altLang="en-US"/>
                    </a:p>
                  </a:txBody>
                  <a:tcPr/>
                </a:tc>
                <a:extLst>
                  <a:ext uri="{0D108BD9-81ED-4DB2-BD59-A6C34878D82A}">
                    <a16:rowId xmlns:a16="http://schemas.microsoft.com/office/drawing/2014/main" val="6966451"/>
                  </a:ext>
                </a:extLst>
              </a:tr>
              <a:tr h="353424">
                <a:tc rowSpan="2">
                  <a:txBody>
                    <a:bodyPr/>
                    <a:lstStyle/>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일반</a:t>
                      </a:r>
                      <a:endParaRPr lang="en-US" altLang="ko-KR" sz="1100" kern="0" spc="0">
                        <a:solidFill>
                          <a:schemeClr val="bg1"/>
                        </a:solidFill>
                        <a:effectLst/>
                        <a:latin typeface="+mn-ea"/>
                        <a:ea typeface="+mn-ea"/>
                      </a:endParaRPr>
                    </a:p>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요건</a:t>
                      </a:r>
                      <a:endParaRPr lang="ko-KR" altLang="en-US" sz="1100" kern="0" spc="0" dirty="0">
                        <a:solidFill>
                          <a:schemeClr val="bg1"/>
                        </a:solidFill>
                        <a:effectLst/>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535353"/>
                    </a:solidFill>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dirty="0">
                          <a:latin typeface="+mn-ea"/>
                          <a:ea typeface="+mn-ea"/>
                        </a:rPr>
                        <a:t>대상</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latinLnBrk="1">
                        <a:lnSpc>
                          <a:spcPct val="100000"/>
                        </a:lnSpc>
                        <a:spcAft>
                          <a:spcPts val="200"/>
                        </a:spcAft>
                      </a:pPr>
                      <a:r>
                        <a:rPr lang="ko-KR" altLang="en-US" sz="1100">
                          <a:latin typeface="+mn-ea"/>
                          <a:ea typeface="+mn-ea"/>
                        </a:rPr>
                        <a:t>고등교육법 제</a:t>
                      </a:r>
                      <a:r>
                        <a:rPr lang="en-US" altLang="ko-KR" sz="1100">
                          <a:latin typeface="+mn-ea"/>
                          <a:ea typeface="+mn-ea"/>
                        </a:rPr>
                        <a:t>2</a:t>
                      </a:r>
                      <a:r>
                        <a:rPr lang="ko-KR" altLang="en-US" sz="1100">
                          <a:latin typeface="+mn-ea"/>
                          <a:ea typeface="+mn-ea"/>
                        </a:rPr>
                        <a:t>조에 의한 전문대학 등에서 </a:t>
                      </a:r>
                      <a:r>
                        <a:rPr lang="en-US" altLang="ko-KR" sz="1100">
                          <a:latin typeface="+mn-ea"/>
                          <a:ea typeface="+mn-ea"/>
                        </a:rPr>
                        <a:t>’25</a:t>
                      </a:r>
                      <a:r>
                        <a:rPr lang="ko-KR" altLang="en-US" sz="1100">
                          <a:latin typeface="+mn-ea"/>
                          <a:ea typeface="+mn-ea"/>
                        </a:rPr>
                        <a:t>년도 운영 예정인 교과</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1134184"/>
                  </a:ext>
                </a:extLst>
              </a:tr>
              <a:tr h="380198">
                <a:tc vMerge="1">
                  <a:txBody>
                    <a:bodyPr/>
                    <a:lstStyle/>
                    <a:p>
                      <a:pPr latinLnBrk="1"/>
                      <a:endParaRPr lang="ko-KR" altLang="en-US"/>
                    </a:p>
                  </a:txBody>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dirty="0">
                          <a:latin typeface="+mn-ea"/>
                          <a:ea typeface="+mn-ea"/>
                        </a:rPr>
                        <a:t>수업</a:t>
                      </a:r>
                      <a:endParaRPr lang="en-US" altLang="ko-KR" sz="1100" dirty="0">
                        <a:latin typeface="+mn-ea"/>
                        <a:ea typeface="+mn-ea"/>
                      </a:endParaRPr>
                    </a:p>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dirty="0">
                          <a:latin typeface="+mn-ea"/>
                          <a:ea typeface="+mn-ea"/>
                        </a:rPr>
                        <a:t>운영방식</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latinLnBrk="1">
                        <a:lnSpc>
                          <a:spcPct val="100000"/>
                        </a:lnSpc>
                        <a:spcAft>
                          <a:spcPts val="200"/>
                        </a:spcAft>
                      </a:pPr>
                      <a:r>
                        <a:rPr lang="ko-KR" altLang="en-US" sz="1100" dirty="0">
                          <a:solidFill>
                            <a:srgbClr val="0070C0"/>
                          </a:solidFill>
                          <a:highlight>
                            <a:srgbClr val="DCF1F9"/>
                          </a:highlight>
                          <a:latin typeface="+mn-ea"/>
                          <a:ea typeface="+mn-ea"/>
                        </a:rPr>
                        <a:t>집체교육을 원칙</a:t>
                      </a:r>
                      <a:r>
                        <a:rPr lang="ko-KR" altLang="en-US" sz="1100" kern="1200" dirty="0">
                          <a:solidFill>
                            <a:schemeClr val="tx1"/>
                          </a:solidFill>
                          <a:latin typeface="+mn-ea"/>
                          <a:ea typeface="+mn-ea"/>
                          <a:cs typeface="+mn-cs"/>
                        </a:rPr>
                        <a:t>으로</a:t>
                      </a:r>
                      <a:r>
                        <a:rPr lang="ko-KR" altLang="en-US" sz="1100" dirty="0">
                          <a:latin typeface="+mn-ea"/>
                          <a:ea typeface="+mn-ea"/>
                        </a:rPr>
                        <a:t> 함</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78025941"/>
                  </a:ext>
                </a:extLst>
              </a:tr>
              <a:tr h="353424">
                <a:tc rowSpan="2">
                  <a:txBody>
                    <a:bodyPr/>
                    <a:lstStyle/>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형식</a:t>
                      </a:r>
                      <a:endParaRPr lang="en-US" altLang="ko-KR" sz="1100" kern="0" spc="0">
                        <a:solidFill>
                          <a:schemeClr val="bg1"/>
                        </a:solidFill>
                        <a:effectLst/>
                        <a:latin typeface="+mn-ea"/>
                        <a:ea typeface="+mn-ea"/>
                      </a:endParaRPr>
                    </a:p>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요건</a:t>
                      </a:r>
                      <a:endParaRPr lang="ko-KR" altLang="en-US" sz="1100" kern="0" spc="0" dirty="0">
                        <a:solidFill>
                          <a:schemeClr val="bg1"/>
                        </a:solidFill>
                        <a:effectLst/>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535353"/>
                    </a:solidFill>
                  </a:tcPr>
                </a:tc>
                <a:tc gridSpan="2">
                  <a:txBody>
                    <a:bodyPr/>
                    <a:lstStyle/>
                    <a:p>
                      <a:pPr marL="0" indent="0" algn="ctr" defTabSz="180975">
                        <a:lnSpc>
                          <a:spcPct val="100000"/>
                        </a:lnSpc>
                        <a:spcBef>
                          <a:spcPct val="20000"/>
                        </a:spcBef>
                        <a:spcAft>
                          <a:spcPts val="200"/>
                        </a:spcAft>
                        <a:buClr>
                          <a:srgbClr val="006666"/>
                        </a:buClr>
                        <a:buSzPct val="120000"/>
                        <a:buFont typeface="Arial" panose="020B0604020202020204" pitchFamily="34" charset="0"/>
                        <a:buNone/>
                        <a:tabLst>
                          <a:tab pos="176213" algn="l"/>
                          <a:tab pos="269875" algn="l"/>
                        </a:tabLst>
                      </a:pPr>
                      <a:r>
                        <a:rPr lang="ko-KR" altLang="en-US" sz="1100" dirty="0">
                          <a:solidFill>
                            <a:srgbClr val="0070C0"/>
                          </a:solidFill>
                          <a:highlight>
                            <a:srgbClr val="DCF1F9"/>
                          </a:highlight>
                          <a:latin typeface="+mn-ea"/>
                          <a:ea typeface="+mn-ea"/>
                        </a:rPr>
                        <a:t>교과 </a:t>
                      </a:r>
                      <a:r>
                        <a:rPr lang="en-US" altLang="ko-KR" sz="1100" dirty="0">
                          <a:solidFill>
                            <a:srgbClr val="0070C0"/>
                          </a:solidFill>
                          <a:highlight>
                            <a:srgbClr val="DCF1F9"/>
                          </a:highlight>
                          <a:latin typeface="+mn-ea"/>
                          <a:ea typeface="+mn-ea"/>
                        </a:rPr>
                        <a:t>NCS </a:t>
                      </a:r>
                      <a:r>
                        <a:rPr lang="ko-KR" altLang="en-US" sz="1100" dirty="0">
                          <a:solidFill>
                            <a:srgbClr val="0070C0"/>
                          </a:solidFill>
                          <a:highlight>
                            <a:srgbClr val="DCF1F9"/>
                          </a:highlight>
                          <a:latin typeface="+mn-ea"/>
                          <a:ea typeface="+mn-ea"/>
                        </a:rPr>
                        <a:t>최신능력단위</a:t>
                      </a:r>
                      <a:r>
                        <a:rPr lang="en-US" altLang="ko-KR" sz="1100" dirty="0">
                          <a:solidFill>
                            <a:srgbClr val="0070C0"/>
                          </a:solidFill>
                          <a:highlight>
                            <a:srgbClr val="DCF1F9"/>
                          </a:highlight>
                          <a:latin typeface="+mn-ea"/>
                          <a:ea typeface="+mn-ea"/>
                        </a:rPr>
                        <a:t>(</a:t>
                      </a:r>
                      <a:r>
                        <a:rPr lang="ko-KR" altLang="en-US" sz="1100" dirty="0">
                          <a:solidFill>
                            <a:srgbClr val="0070C0"/>
                          </a:solidFill>
                          <a:highlight>
                            <a:srgbClr val="DCF1F9"/>
                          </a:highlight>
                          <a:latin typeface="+mn-ea"/>
                          <a:ea typeface="+mn-ea"/>
                        </a:rPr>
                        <a:t>능력단위 內 전체 능력단위요소</a:t>
                      </a:r>
                      <a:r>
                        <a:rPr lang="en-US" altLang="ko-KR" sz="1100" dirty="0">
                          <a:solidFill>
                            <a:srgbClr val="0070C0"/>
                          </a:solidFill>
                          <a:highlight>
                            <a:srgbClr val="DCF1F9"/>
                          </a:highlight>
                          <a:latin typeface="+mn-ea"/>
                          <a:ea typeface="+mn-ea"/>
                        </a:rPr>
                        <a:t>) </a:t>
                      </a:r>
                      <a:r>
                        <a:rPr lang="ko-KR" altLang="en-US" sz="1100" dirty="0">
                          <a:solidFill>
                            <a:srgbClr val="0070C0"/>
                          </a:solidFill>
                          <a:highlight>
                            <a:srgbClr val="DCF1F9"/>
                          </a:highlight>
                          <a:latin typeface="+mn-ea"/>
                          <a:ea typeface="+mn-ea"/>
                        </a:rPr>
                        <a:t>활용</a:t>
                      </a:r>
                      <a:endParaRPr lang="en-US" altLang="ko-KR" sz="1100" dirty="0">
                        <a:solidFill>
                          <a:srgbClr val="0070C0"/>
                        </a:solidFill>
                        <a:highlight>
                          <a:srgbClr val="DCF1F9"/>
                        </a:highlight>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extLst>
                  <a:ext uri="{0D108BD9-81ED-4DB2-BD59-A6C34878D82A}">
                    <a16:rowId xmlns:a16="http://schemas.microsoft.com/office/drawing/2014/main" val="780876018"/>
                  </a:ext>
                </a:extLst>
              </a:tr>
              <a:tr h="937110">
                <a:tc vMerge="1">
                  <a:txBody>
                    <a:bodyPr/>
                    <a:lstStyle/>
                    <a:p>
                      <a:pPr latinLnBrk="1"/>
                      <a:endParaRPr lang="ko-KR" altLang="en-US"/>
                    </a:p>
                  </a:txBody>
                  <a:tcPr/>
                </a:tc>
                <a:tc>
                  <a:txBody>
                    <a:bodyPr/>
                    <a:lstStyle/>
                    <a:p>
                      <a:pPr marL="0" marR="0" indent="0" algn="ctr" defTabSz="180975" rtl="0" eaLnBrk="1" fontAlgn="auto" latinLnBrk="1" hangingPunct="1">
                        <a:lnSpc>
                          <a:spcPct val="100000"/>
                        </a:lnSpc>
                        <a:spcBef>
                          <a:spcPct val="20000"/>
                        </a:spcBef>
                        <a:spcAft>
                          <a:spcPts val="200"/>
                        </a:spcAft>
                        <a:buClr>
                          <a:srgbClr val="006666"/>
                        </a:buClr>
                        <a:buSzPct val="120000"/>
                        <a:buFont typeface="Arial" panose="020B0604020202020204" pitchFamily="34" charset="0"/>
                        <a:buNone/>
                        <a:tabLst>
                          <a:tab pos="176213" algn="l"/>
                          <a:tab pos="269875" algn="l"/>
                        </a:tabLst>
                        <a:defRPr/>
                      </a:pPr>
                      <a:r>
                        <a:rPr lang="ko-KR" altLang="en-US" sz="1100">
                          <a:latin typeface="+mn-ea"/>
                          <a:ea typeface="+mn-ea"/>
                        </a:rPr>
                        <a:t>능력단위 </a:t>
                      </a:r>
                      <a:endParaRPr lang="en-US" altLang="ko-KR" sz="1100">
                        <a:latin typeface="+mn-ea"/>
                        <a:ea typeface="+mn-ea"/>
                      </a:endParaRPr>
                    </a:p>
                    <a:p>
                      <a:pPr marL="0" marR="0" indent="0" algn="ctr" defTabSz="180975" rtl="0" eaLnBrk="1" fontAlgn="auto" latinLnBrk="1" hangingPunct="1">
                        <a:lnSpc>
                          <a:spcPct val="100000"/>
                        </a:lnSpc>
                        <a:spcBef>
                          <a:spcPct val="20000"/>
                        </a:spcBef>
                        <a:spcAft>
                          <a:spcPts val="200"/>
                        </a:spcAft>
                        <a:buClr>
                          <a:srgbClr val="006666"/>
                        </a:buClr>
                        <a:buSzPct val="120000"/>
                        <a:buFont typeface="Arial" panose="020B0604020202020204" pitchFamily="34" charset="0"/>
                        <a:buNone/>
                        <a:tabLst>
                          <a:tab pos="176213" algn="l"/>
                          <a:tab pos="269875" algn="l"/>
                        </a:tabLst>
                        <a:defRPr/>
                      </a:pPr>
                      <a:r>
                        <a:rPr lang="ko-KR" altLang="en-US" sz="1100">
                          <a:latin typeface="+mn-ea"/>
                          <a:ea typeface="+mn-ea"/>
                        </a:rPr>
                        <a:t>활용 </a:t>
                      </a:r>
                      <a:endParaRPr lang="en-US" altLang="ko-KR" sz="1100">
                        <a:latin typeface="+mn-ea"/>
                        <a:ea typeface="+mn-ea"/>
                      </a:endParaRPr>
                    </a:p>
                    <a:p>
                      <a:pPr marL="0" marR="0" indent="0" algn="ctr" defTabSz="180975" rtl="0" eaLnBrk="1" fontAlgn="auto" latinLnBrk="1" hangingPunct="1">
                        <a:lnSpc>
                          <a:spcPct val="100000"/>
                        </a:lnSpc>
                        <a:spcBef>
                          <a:spcPct val="20000"/>
                        </a:spcBef>
                        <a:spcAft>
                          <a:spcPts val="200"/>
                        </a:spcAft>
                        <a:buClr>
                          <a:srgbClr val="006666"/>
                        </a:buClr>
                        <a:buSzPct val="120000"/>
                        <a:buFont typeface="Arial" panose="020B0604020202020204" pitchFamily="34" charset="0"/>
                        <a:buNone/>
                        <a:tabLst>
                          <a:tab pos="176213" algn="l"/>
                          <a:tab pos="269875" algn="l"/>
                        </a:tabLst>
                        <a:defRPr/>
                      </a:pPr>
                      <a:r>
                        <a:rPr lang="ko-KR" altLang="en-US" sz="1100">
                          <a:latin typeface="+mn-ea"/>
                          <a:ea typeface="+mn-ea"/>
                        </a:rPr>
                        <a:t>유형</a:t>
                      </a:r>
                      <a:endParaRPr lang="en-US" altLang="ko-KR" sz="1100">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marL="90488" marR="0" indent="-90488" algn="l" defTabSz="914400" rtl="0" eaLnBrk="1" fontAlgn="auto" latinLnBrk="1" hangingPunct="1">
                        <a:lnSpc>
                          <a:spcPct val="100000"/>
                        </a:lnSpc>
                        <a:spcBef>
                          <a:spcPts val="0"/>
                        </a:spcBef>
                        <a:spcAft>
                          <a:spcPts val="200"/>
                        </a:spcAft>
                        <a:buClrTx/>
                        <a:buSzTx/>
                        <a:buFont typeface="Arial" panose="020B0604020202020204" pitchFamily="34" charset="0"/>
                        <a:buChar char="•"/>
                        <a:tabLst/>
                        <a:defRPr/>
                      </a:pPr>
                      <a:r>
                        <a:rPr lang="en-US" altLang="ko-KR" sz="1100" dirty="0">
                          <a:latin typeface="+mn-ea"/>
                          <a:ea typeface="+mn-ea"/>
                        </a:rPr>
                        <a:t>1</a:t>
                      </a:r>
                      <a:r>
                        <a:rPr lang="ko-KR" altLang="en-US" sz="1100" dirty="0">
                          <a:latin typeface="+mn-ea"/>
                          <a:ea typeface="+mn-ea"/>
                        </a:rPr>
                        <a:t>개 </a:t>
                      </a:r>
                      <a:r>
                        <a:rPr lang="en-US" altLang="ko-KR" sz="1100" dirty="0">
                          <a:latin typeface="+mn-ea"/>
                          <a:ea typeface="+mn-ea"/>
                        </a:rPr>
                        <a:t>NCS </a:t>
                      </a:r>
                      <a:r>
                        <a:rPr lang="ko-KR" altLang="en-US" sz="1100" dirty="0">
                          <a:latin typeface="+mn-ea"/>
                          <a:ea typeface="+mn-ea"/>
                        </a:rPr>
                        <a:t>능력단위를 </a:t>
                      </a:r>
                      <a:r>
                        <a:rPr lang="en-US" altLang="ko-KR" sz="1100" dirty="0">
                          <a:latin typeface="+mn-ea"/>
                          <a:ea typeface="+mn-ea"/>
                        </a:rPr>
                        <a:t>1</a:t>
                      </a:r>
                      <a:r>
                        <a:rPr lang="ko-KR" altLang="en-US" sz="1100" dirty="0">
                          <a:latin typeface="+mn-ea"/>
                          <a:ea typeface="+mn-ea"/>
                        </a:rPr>
                        <a:t>개의 교과로 구성</a:t>
                      </a:r>
                      <a:r>
                        <a:rPr lang="en-US" altLang="ko-KR" sz="1100" dirty="0">
                          <a:latin typeface="+mn-ea"/>
                          <a:ea typeface="+mn-ea"/>
                        </a:rPr>
                        <a:t>(1:1)</a:t>
                      </a:r>
                    </a:p>
                    <a:p>
                      <a:pPr marL="90488" marR="0" indent="-90488" algn="l" defTabSz="914400" rtl="0" eaLnBrk="1" fontAlgn="auto" latinLnBrk="1" hangingPunct="1">
                        <a:lnSpc>
                          <a:spcPct val="100000"/>
                        </a:lnSpc>
                        <a:spcBef>
                          <a:spcPts val="0"/>
                        </a:spcBef>
                        <a:spcAft>
                          <a:spcPts val="200"/>
                        </a:spcAft>
                        <a:buClrTx/>
                        <a:buSzTx/>
                        <a:buFont typeface="Arial" panose="020B0604020202020204" pitchFamily="34" charset="0"/>
                        <a:buChar char="•"/>
                        <a:tabLst/>
                        <a:defRPr/>
                      </a:pPr>
                      <a:r>
                        <a:rPr lang="en-US" altLang="ko-KR" sz="1100" dirty="0">
                          <a:latin typeface="+mn-ea"/>
                          <a:ea typeface="+mn-ea"/>
                        </a:rPr>
                        <a:t>2</a:t>
                      </a:r>
                      <a:r>
                        <a:rPr lang="ko-KR" altLang="en-US" sz="1100" dirty="0">
                          <a:latin typeface="+mn-ea"/>
                          <a:ea typeface="+mn-ea"/>
                        </a:rPr>
                        <a:t>개 이상의 </a:t>
                      </a:r>
                      <a:r>
                        <a:rPr lang="en-US" altLang="ko-KR" sz="1100" dirty="0">
                          <a:latin typeface="+mn-ea"/>
                          <a:ea typeface="+mn-ea"/>
                        </a:rPr>
                        <a:t>NCS </a:t>
                      </a:r>
                      <a:r>
                        <a:rPr lang="ko-KR" altLang="en-US" sz="1100" dirty="0">
                          <a:latin typeface="+mn-ea"/>
                          <a:ea typeface="+mn-ea"/>
                        </a:rPr>
                        <a:t>능력단위를 </a:t>
                      </a:r>
                      <a:r>
                        <a:rPr lang="en-US" altLang="ko-KR" sz="1100" dirty="0">
                          <a:latin typeface="+mn-ea"/>
                          <a:ea typeface="+mn-ea"/>
                        </a:rPr>
                        <a:t>1</a:t>
                      </a:r>
                      <a:r>
                        <a:rPr lang="ko-KR" altLang="en-US" sz="1100" dirty="0">
                          <a:latin typeface="+mn-ea"/>
                          <a:ea typeface="+mn-ea"/>
                        </a:rPr>
                        <a:t>개의 교과로 구성</a:t>
                      </a:r>
                      <a:r>
                        <a:rPr lang="en-US" altLang="ko-KR" sz="1100" dirty="0">
                          <a:latin typeface="+mn-ea"/>
                          <a:ea typeface="+mn-ea"/>
                        </a:rPr>
                        <a:t>(N:1)</a:t>
                      </a:r>
                    </a:p>
                    <a:p>
                      <a:pPr marL="90488" marR="0" indent="-90488" algn="l" defTabSz="914400" rtl="0" eaLnBrk="1" fontAlgn="auto" latinLnBrk="1" hangingPunct="1">
                        <a:lnSpc>
                          <a:spcPct val="100000"/>
                        </a:lnSpc>
                        <a:spcBef>
                          <a:spcPts val="0"/>
                        </a:spcBef>
                        <a:spcAft>
                          <a:spcPts val="200"/>
                        </a:spcAft>
                        <a:buClrTx/>
                        <a:buSzTx/>
                        <a:buFont typeface="Arial" panose="020B0604020202020204" pitchFamily="34" charset="0"/>
                        <a:buChar char="•"/>
                        <a:tabLst/>
                        <a:defRPr/>
                      </a:pPr>
                      <a:r>
                        <a:rPr lang="en-US" altLang="ko-KR" sz="1100" dirty="0">
                          <a:latin typeface="+mn-ea"/>
                          <a:ea typeface="+mn-ea"/>
                        </a:rPr>
                        <a:t>1</a:t>
                      </a:r>
                      <a:r>
                        <a:rPr lang="ko-KR" altLang="en-US" sz="1100" dirty="0">
                          <a:latin typeface="+mn-ea"/>
                          <a:ea typeface="+mn-ea"/>
                        </a:rPr>
                        <a:t>개 </a:t>
                      </a:r>
                      <a:r>
                        <a:rPr lang="en-US" altLang="ko-KR" sz="1100" dirty="0">
                          <a:latin typeface="+mn-ea"/>
                          <a:ea typeface="+mn-ea"/>
                        </a:rPr>
                        <a:t>NCS </a:t>
                      </a:r>
                      <a:r>
                        <a:rPr lang="ko-KR" altLang="en-US" sz="1100" dirty="0">
                          <a:latin typeface="+mn-ea"/>
                          <a:ea typeface="+mn-ea"/>
                        </a:rPr>
                        <a:t>능력단위를 </a:t>
                      </a:r>
                      <a:r>
                        <a:rPr lang="en-US" altLang="ko-KR" sz="1100" dirty="0">
                          <a:latin typeface="+mn-ea"/>
                          <a:ea typeface="+mn-ea"/>
                        </a:rPr>
                        <a:t>2</a:t>
                      </a:r>
                      <a:r>
                        <a:rPr lang="ko-KR" altLang="en-US" sz="1100" dirty="0">
                          <a:latin typeface="+mn-ea"/>
                          <a:ea typeface="+mn-ea"/>
                        </a:rPr>
                        <a:t>개 이상의 교과로 구성</a:t>
                      </a:r>
                      <a:r>
                        <a:rPr lang="en-US" altLang="ko-KR" sz="1100" dirty="0">
                          <a:latin typeface="+mn-ea"/>
                          <a:ea typeface="+mn-ea"/>
                        </a:rPr>
                        <a:t>(1:N) </a:t>
                      </a:r>
                      <a:br>
                        <a:rPr lang="en-US" altLang="ko-KR" sz="1100" dirty="0">
                          <a:latin typeface="+mn-ea"/>
                          <a:ea typeface="+mn-ea"/>
                        </a:rPr>
                      </a:br>
                      <a:r>
                        <a:rPr lang="en-US" altLang="ko-KR" sz="1100" dirty="0">
                          <a:latin typeface="+mn-ea"/>
                          <a:ea typeface="+mn-ea"/>
                        </a:rPr>
                        <a:t>(</a:t>
                      </a:r>
                      <a:r>
                        <a:rPr lang="ko-KR" altLang="en-US" sz="1100" dirty="0">
                          <a:latin typeface="+mn-ea"/>
                          <a:ea typeface="+mn-ea"/>
                        </a:rPr>
                        <a:t>단</a:t>
                      </a:r>
                      <a:r>
                        <a:rPr lang="en-US" altLang="ko-KR" sz="1100" dirty="0">
                          <a:latin typeface="+mn-ea"/>
                          <a:ea typeface="+mn-ea"/>
                        </a:rPr>
                        <a:t>, </a:t>
                      </a:r>
                      <a:r>
                        <a:rPr lang="ko-KR" altLang="en-US" sz="1100" dirty="0">
                          <a:latin typeface="+mn-ea"/>
                          <a:ea typeface="+mn-ea"/>
                        </a:rPr>
                        <a:t>능력단위가 속한 모든 교과에 대한 인정심사서류 제출 필요</a:t>
                      </a:r>
                      <a:r>
                        <a:rPr lang="en-US" altLang="ko-KR" sz="1100" dirty="0">
                          <a:latin typeface="+mn-ea"/>
                          <a:ea typeface="+mn-ea"/>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8485234"/>
                  </a:ext>
                </a:extLst>
              </a:tr>
              <a:tr h="990659">
                <a:tc rowSpan="3">
                  <a:txBody>
                    <a:bodyPr/>
                    <a:lstStyle/>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내용</a:t>
                      </a:r>
                      <a:endParaRPr lang="en-US" altLang="ko-KR" sz="1100" kern="0" spc="0">
                        <a:solidFill>
                          <a:schemeClr val="bg1"/>
                        </a:solidFill>
                        <a:effectLst/>
                        <a:latin typeface="+mn-ea"/>
                        <a:ea typeface="+mn-ea"/>
                      </a:endParaRPr>
                    </a:p>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요건</a:t>
                      </a:r>
                      <a:endParaRPr lang="en-US" altLang="ko-KR" sz="1100" kern="0" spc="0" dirty="0">
                        <a:solidFill>
                          <a:schemeClr val="bg1"/>
                        </a:solidFill>
                        <a:effectLst/>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535353"/>
                    </a:solidFill>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dirty="0">
                          <a:latin typeface="+mn-ea"/>
                          <a:ea typeface="+mn-ea"/>
                        </a:rPr>
                        <a:t>교과구성</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교과목표</a:t>
                      </a:r>
                      <a:r>
                        <a:rPr lang="en-US" altLang="ko-KR" sz="1100" dirty="0">
                          <a:latin typeface="+mn-ea"/>
                          <a:ea typeface="+mn-ea"/>
                        </a:rPr>
                        <a:t>: </a:t>
                      </a:r>
                      <a:r>
                        <a:rPr lang="ko-KR" altLang="en-US" sz="1100" dirty="0">
                          <a:latin typeface="+mn-ea"/>
                          <a:ea typeface="+mn-ea"/>
                        </a:rPr>
                        <a:t>능력단위 정의와의 적합성</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교과내용</a:t>
                      </a:r>
                      <a:r>
                        <a:rPr lang="en-US" altLang="ko-KR" sz="1100" dirty="0">
                          <a:latin typeface="+mn-ea"/>
                          <a:ea typeface="+mn-ea"/>
                        </a:rPr>
                        <a:t>: </a:t>
                      </a:r>
                      <a:r>
                        <a:rPr lang="ko-KR" altLang="en-US" sz="1100" dirty="0" err="1">
                          <a:latin typeface="+mn-ea"/>
                          <a:ea typeface="+mn-ea"/>
                        </a:rPr>
                        <a:t>수행준거와의</a:t>
                      </a:r>
                      <a:r>
                        <a:rPr lang="ko-KR" altLang="en-US" sz="1100" dirty="0">
                          <a:latin typeface="+mn-ea"/>
                          <a:ea typeface="+mn-ea"/>
                        </a:rPr>
                        <a:t> 연계성</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교수학습 방법</a:t>
                      </a:r>
                      <a:r>
                        <a:rPr lang="en-US" altLang="ko-KR" sz="1100" dirty="0">
                          <a:latin typeface="+mn-ea"/>
                          <a:ea typeface="+mn-ea"/>
                        </a:rPr>
                        <a:t>:</a:t>
                      </a:r>
                      <a:r>
                        <a:rPr lang="en-US" altLang="ko-KR" sz="1100" baseline="0" dirty="0">
                          <a:latin typeface="+mn-ea"/>
                          <a:ea typeface="+mn-ea"/>
                        </a:rPr>
                        <a:t> </a:t>
                      </a:r>
                      <a:r>
                        <a:rPr lang="ko-KR" altLang="en-US" sz="1100" baseline="0" dirty="0">
                          <a:latin typeface="+mn-ea"/>
                          <a:ea typeface="+mn-ea"/>
                        </a:rPr>
                        <a:t>방법의 적정성</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solidFill>
                            <a:srgbClr val="0070C0"/>
                          </a:solidFill>
                          <a:highlight>
                            <a:srgbClr val="DCF1F9"/>
                          </a:highlight>
                          <a:latin typeface="+mn-ea"/>
                          <a:ea typeface="+mn-ea"/>
                        </a:rPr>
                        <a:t>교육시간</a:t>
                      </a:r>
                      <a:r>
                        <a:rPr lang="en-US" altLang="ko-KR" sz="1100" dirty="0">
                          <a:solidFill>
                            <a:srgbClr val="0070C0"/>
                          </a:solidFill>
                          <a:highlight>
                            <a:srgbClr val="DCF1F9"/>
                          </a:highlight>
                          <a:latin typeface="+mn-ea"/>
                          <a:ea typeface="+mn-ea"/>
                        </a:rPr>
                        <a:t>:</a:t>
                      </a:r>
                      <a:r>
                        <a:rPr lang="en-US" altLang="ko-KR" sz="1100" baseline="0" dirty="0">
                          <a:solidFill>
                            <a:srgbClr val="0070C0"/>
                          </a:solidFill>
                          <a:highlight>
                            <a:srgbClr val="DCF1F9"/>
                          </a:highlight>
                          <a:latin typeface="+mn-ea"/>
                          <a:ea typeface="+mn-ea"/>
                        </a:rPr>
                        <a:t> </a:t>
                      </a:r>
                      <a:r>
                        <a:rPr lang="ko-KR" altLang="en-US" sz="1100" baseline="0" dirty="0">
                          <a:solidFill>
                            <a:srgbClr val="0070C0"/>
                          </a:solidFill>
                          <a:highlight>
                            <a:srgbClr val="DCF1F9"/>
                          </a:highlight>
                          <a:latin typeface="+mn-ea"/>
                          <a:ea typeface="+mn-ea"/>
                        </a:rPr>
                        <a:t>대학별 학사편람 교육과정표 기준 준용</a:t>
                      </a:r>
                      <a:endParaRPr lang="en-US" altLang="ko-KR" sz="1100" dirty="0">
                        <a:solidFill>
                          <a:srgbClr val="0070C0"/>
                        </a:solidFill>
                        <a:highlight>
                          <a:srgbClr val="DCF1F9"/>
                        </a:highlight>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산업계현장성</a:t>
                      </a:r>
                      <a:r>
                        <a:rPr lang="en-US" altLang="ko-KR" sz="1100" dirty="0">
                          <a:latin typeface="+mn-ea"/>
                          <a:ea typeface="+mn-ea"/>
                        </a:rPr>
                        <a:t>: </a:t>
                      </a:r>
                      <a:r>
                        <a:rPr lang="ko-KR" altLang="en-US" sz="1100" dirty="0">
                          <a:latin typeface="+mn-ea"/>
                          <a:ea typeface="+mn-ea"/>
                        </a:rPr>
                        <a:t>내용</a:t>
                      </a:r>
                      <a:r>
                        <a:rPr lang="en-US" altLang="ko-KR" sz="1100" dirty="0">
                          <a:latin typeface="+mn-ea"/>
                          <a:ea typeface="+mn-ea"/>
                        </a:rPr>
                        <a:t>·</a:t>
                      </a:r>
                      <a:r>
                        <a:rPr lang="ko-KR" altLang="en-US" sz="1100" dirty="0">
                          <a:latin typeface="+mn-ea"/>
                          <a:ea typeface="+mn-ea"/>
                        </a:rPr>
                        <a:t>능력단위의 산업계 유효성 여부</a:t>
                      </a:r>
                      <a:endParaRPr lang="en-US" altLang="ko-KR" sz="1100" dirty="0">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2855050"/>
                  </a:ext>
                </a:extLst>
              </a:tr>
              <a:tr h="633381">
                <a:tc vMerge="1">
                  <a:txBody>
                    <a:bodyPr/>
                    <a:lstStyle/>
                    <a:p>
                      <a:pPr latinLnBrk="1"/>
                      <a:endParaRPr lang="ko-KR" altLang="en-US"/>
                    </a:p>
                  </a:txBody>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kern="1200" dirty="0">
                          <a:solidFill>
                            <a:schemeClr val="tx1"/>
                          </a:solidFill>
                          <a:latin typeface="+mn-ea"/>
                          <a:ea typeface="+mn-ea"/>
                          <a:cs typeface="+mn-cs"/>
                        </a:rPr>
                        <a:t>교육</a:t>
                      </a:r>
                      <a:endParaRPr lang="en-US" altLang="ko-KR" sz="1100" kern="1200" dirty="0">
                        <a:solidFill>
                          <a:schemeClr val="tx1"/>
                        </a:solidFill>
                        <a:latin typeface="+mn-ea"/>
                        <a:ea typeface="+mn-ea"/>
                        <a:cs typeface="+mn-cs"/>
                      </a:endParaRPr>
                    </a:p>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kern="1200" dirty="0">
                          <a:solidFill>
                            <a:schemeClr val="tx1"/>
                          </a:solidFill>
                          <a:latin typeface="+mn-ea"/>
                          <a:ea typeface="+mn-ea"/>
                          <a:cs typeface="+mn-cs"/>
                        </a:rPr>
                        <a:t>인프라</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교육시설장비</a:t>
                      </a:r>
                      <a:r>
                        <a:rPr lang="en-US" altLang="ko-KR" sz="1100" dirty="0">
                          <a:latin typeface="+mn-ea"/>
                          <a:ea typeface="+mn-ea"/>
                        </a:rPr>
                        <a:t>: NCS </a:t>
                      </a:r>
                      <a:r>
                        <a:rPr lang="ko-KR" altLang="en-US" sz="1100" dirty="0">
                          <a:latin typeface="+mn-ea"/>
                          <a:ea typeface="+mn-ea"/>
                        </a:rPr>
                        <a:t>기준 준용</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교재</a:t>
                      </a:r>
                      <a:r>
                        <a:rPr lang="en-US" altLang="ko-KR" sz="1100" dirty="0">
                          <a:latin typeface="+mn-ea"/>
                          <a:ea typeface="+mn-ea"/>
                        </a:rPr>
                        <a:t>: </a:t>
                      </a:r>
                      <a:r>
                        <a:rPr lang="ko-KR" altLang="en-US" sz="1100" dirty="0">
                          <a:latin typeface="+mn-ea"/>
                          <a:ea typeface="+mn-ea"/>
                        </a:rPr>
                        <a:t>자체교재 및 </a:t>
                      </a:r>
                      <a:r>
                        <a:rPr lang="en-US" altLang="ko-KR" sz="1100" dirty="0">
                          <a:latin typeface="+mn-ea"/>
                          <a:ea typeface="+mn-ea"/>
                        </a:rPr>
                        <a:t>NCS </a:t>
                      </a:r>
                      <a:r>
                        <a:rPr lang="ko-KR" altLang="en-US" sz="1100" dirty="0" err="1">
                          <a:latin typeface="+mn-ea"/>
                          <a:ea typeface="+mn-ea"/>
                        </a:rPr>
                        <a:t>학습모듈</a:t>
                      </a:r>
                      <a:r>
                        <a:rPr lang="ko-KR" altLang="en-US" sz="1100" dirty="0">
                          <a:latin typeface="+mn-ea"/>
                          <a:ea typeface="+mn-ea"/>
                        </a:rPr>
                        <a:t> 모두 가능</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34300724"/>
                  </a:ext>
                </a:extLst>
              </a:tr>
              <a:tr h="633381">
                <a:tc vMerge="1">
                  <a:txBody>
                    <a:bodyPr/>
                    <a:lstStyle/>
                    <a:p>
                      <a:pPr latinLnBrk="1"/>
                      <a:endParaRPr lang="ko-KR" altLang="en-US"/>
                    </a:p>
                  </a:txBody>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kern="1200">
                          <a:solidFill>
                            <a:schemeClr val="tx1"/>
                          </a:solidFill>
                          <a:latin typeface="+mn-ea"/>
                          <a:ea typeface="+mn-ea"/>
                          <a:cs typeface="+mn-cs"/>
                        </a:rPr>
                        <a:t>교육평가</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err="1">
                          <a:solidFill>
                            <a:srgbClr val="0070C0"/>
                          </a:solidFill>
                          <a:highlight>
                            <a:srgbClr val="DCF1F9"/>
                          </a:highlight>
                          <a:latin typeface="+mn-ea"/>
                          <a:ea typeface="+mn-ea"/>
                        </a:rPr>
                        <a:t>수행준거</a:t>
                      </a:r>
                      <a:r>
                        <a:rPr lang="en-US" altLang="ko-KR" sz="1100" dirty="0">
                          <a:solidFill>
                            <a:srgbClr val="0070C0"/>
                          </a:solidFill>
                          <a:highlight>
                            <a:srgbClr val="DCF1F9"/>
                          </a:highlight>
                          <a:latin typeface="+mn-ea"/>
                          <a:ea typeface="+mn-ea"/>
                        </a:rPr>
                        <a:t>-</a:t>
                      </a:r>
                      <a:r>
                        <a:rPr lang="ko-KR" altLang="en-US" sz="1100" dirty="0">
                          <a:solidFill>
                            <a:srgbClr val="0070C0"/>
                          </a:solidFill>
                          <a:highlight>
                            <a:srgbClr val="DCF1F9"/>
                          </a:highlight>
                          <a:latin typeface="+mn-ea"/>
                          <a:ea typeface="+mn-ea"/>
                        </a:rPr>
                        <a:t>수업내용</a:t>
                      </a:r>
                      <a:r>
                        <a:rPr lang="en-US" altLang="ko-KR" sz="1100" dirty="0">
                          <a:solidFill>
                            <a:srgbClr val="0070C0"/>
                          </a:solidFill>
                          <a:highlight>
                            <a:srgbClr val="DCF1F9"/>
                          </a:highlight>
                          <a:latin typeface="+mn-ea"/>
                          <a:ea typeface="+mn-ea"/>
                        </a:rPr>
                        <a:t>-</a:t>
                      </a:r>
                      <a:r>
                        <a:rPr lang="ko-KR" altLang="en-US" sz="1100" dirty="0">
                          <a:solidFill>
                            <a:srgbClr val="0070C0"/>
                          </a:solidFill>
                          <a:highlight>
                            <a:srgbClr val="DCF1F9"/>
                          </a:highlight>
                          <a:latin typeface="+mn-ea"/>
                          <a:ea typeface="+mn-ea"/>
                        </a:rPr>
                        <a:t>평가의 일관성</a:t>
                      </a:r>
                      <a:endParaRPr lang="en-US" altLang="ko-KR" sz="1100" dirty="0">
                        <a:solidFill>
                          <a:srgbClr val="0070C0"/>
                        </a:solidFill>
                        <a:highlight>
                          <a:srgbClr val="DCF1F9"/>
                        </a:highlight>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능력단위별 평가지침 권장 방법 참조</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대학 교칙</a:t>
                      </a:r>
                      <a:r>
                        <a:rPr lang="ko-KR" altLang="en-US" sz="1100" baseline="0" dirty="0">
                          <a:latin typeface="+mn-ea"/>
                          <a:ea typeface="+mn-ea"/>
                        </a:rPr>
                        <a:t> 등</a:t>
                      </a:r>
                      <a:r>
                        <a:rPr lang="ko-KR" altLang="en-US" sz="1100" dirty="0">
                          <a:latin typeface="+mn-ea"/>
                          <a:ea typeface="+mn-ea"/>
                        </a:rPr>
                        <a:t>에 따른 평가방법 적용 가능</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64768737"/>
                  </a:ext>
                </a:extLst>
              </a:tr>
            </a:tbl>
          </a:graphicData>
        </a:graphic>
      </p:graphicFrame>
      <p:sp>
        <p:nvSpPr>
          <p:cNvPr id="21" name="타원 20">
            <a:extLst>
              <a:ext uri="{FF2B5EF4-FFF2-40B4-BE49-F238E27FC236}">
                <a16:creationId xmlns:a16="http://schemas.microsoft.com/office/drawing/2014/main" id="{9657F3E6-D9D5-61A9-1820-C87271BDD00E}"/>
              </a:ext>
            </a:extLst>
          </p:cNvPr>
          <p:cNvSpPr/>
          <p:nvPr/>
        </p:nvSpPr>
        <p:spPr>
          <a:xfrm>
            <a:off x="883959" y="246257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1</a:t>
            </a:r>
            <a:endParaRPr lang="ko-KR" altLang="en-US" dirty="0">
              <a:solidFill>
                <a:schemeClr val="tx1"/>
              </a:solidFill>
              <a:latin typeface="+mn-ea"/>
            </a:endParaRPr>
          </a:p>
        </p:txBody>
      </p:sp>
      <p:sp>
        <p:nvSpPr>
          <p:cNvPr id="24" name="TextBox 23">
            <a:extLst>
              <a:ext uri="{FF2B5EF4-FFF2-40B4-BE49-F238E27FC236}">
                <a16:creationId xmlns:a16="http://schemas.microsoft.com/office/drawing/2014/main" id="{D96977CB-43D0-8F00-5B47-70E791091E3D}"/>
              </a:ext>
            </a:extLst>
          </p:cNvPr>
          <p:cNvSpPr txBox="1"/>
          <p:nvPr/>
        </p:nvSpPr>
        <p:spPr>
          <a:xfrm>
            <a:off x="5185213" y="3285176"/>
            <a:ext cx="4088263" cy="830997"/>
          </a:xfrm>
          <a:prstGeom prst="rect">
            <a:avLst/>
          </a:prstGeom>
          <a:solidFill>
            <a:schemeClr val="bg1"/>
          </a:solidFill>
          <a:ln>
            <a:noFill/>
          </a:ln>
        </p:spPr>
        <p:txBody>
          <a:bodyPr wrap="square" lIns="360000" rtlCol="0">
            <a:spAutoFit/>
          </a:bodyPr>
          <a:lstStyle/>
          <a:p>
            <a:pPr algn="l">
              <a:buNone/>
            </a:pPr>
            <a:r>
              <a:rPr lang="ko-KR" altLang="en-US" dirty="0">
                <a:latin typeface="Arial Narrow" panose="020B0606020202030204" pitchFamily="34" charset="0"/>
                <a:ea typeface="a고딕14" panose="02020600000000000000" pitchFamily="18" charset="-127"/>
              </a:rPr>
              <a:t>능력단위 활용 기준</a:t>
            </a:r>
            <a:endParaRPr lang="en-US" altLang="ko-KR" dirty="0">
              <a:latin typeface="Arial Narrow" panose="020B0606020202030204" pitchFamily="34" charset="0"/>
              <a:ea typeface="a고딕14" panose="02020600000000000000" pitchFamily="18" charset="-127"/>
            </a:endParaRPr>
          </a:p>
          <a:p>
            <a:pPr marL="85725" indent="-85725" algn="l">
              <a:buNone/>
            </a:pPr>
            <a:r>
              <a:rPr lang="en-US" altLang="ko-KR">
                <a:latin typeface="Arial Narrow" panose="020B0606020202030204" pitchFamily="34" charset="0"/>
                <a:ea typeface="a고딕14" panose="02020600000000000000" pitchFamily="18" charset="-127"/>
              </a:rPr>
              <a:t>- </a:t>
            </a:r>
            <a:r>
              <a:rPr lang="ko-KR" altLang="en-US">
                <a:latin typeface="Arial Narrow" panose="020B0606020202030204" pitchFamily="34" charset="0"/>
                <a:ea typeface="a고딕14" panose="02020600000000000000" pitchFamily="18" charset="-127"/>
              </a:rPr>
              <a:t>능력단위 </a:t>
            </a:r>
            <a:r>
              <a:rPr lang="ko-KR" altLang="en-US" dirty="0">
                <a:latin typeface="Arial Narrow" panose="020B0606020202030204" pitchFamily="34" charset="0"/>
                <a:ea typeface="a고딕14" panose="02020600000000000000" pitchFamily="18" charset="-127"/>
              </a:rPr>
              <a:t>內 전체 능력단위요소를 활용해야 하나</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이에 대한 명확한 기준이 없으므로 교육시간 대비 능력단위 활용 비율</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능력단위 활용 절대시간 등의 기준 마련이 필요함</a:t>
            </a:r>
          </a:p>
        </p:txBody>
      </p:sp>
      <p:sp>
        <p:nvSpPr>
          <p:cNvPr id="23" name="타원 22">
            <a:extLst>
              <a:ext uri="{FF2B5EF4-FFF2-40B4-BE49-F238E27FC236}">
                <a16:creationId xmlns:a16="http://schemas.microsoft.com/office/drawing/2014/main" id="{BE7D789A-9836-1DA5-A32B-1FB188F76B92}"/>
              </a:ext>
            </a:extLst>
          </p:cNvPr>
          <p:cNvSpPr/>
          <p:nvPr/>
        </p:nvSpPr>
        <p:spPr>
          <a:xfrm>
            <a:off x="5205028" y="332098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2</a:t>
            </a:r>
            <a:endParaRPr lang="ko-KR" altLang="en-US" dirty="0">
              <a:solidFill>
                <a:schemeClr val="tx1"/>
              </a:solidFill>
              <a:latin typeface="+mn-ea"/>
            </a:endParaRPr>
          </a:p>
        </p:txBody>
      </p:sp>
      <p:sp>
        <p:nvSpPr>
          <p:cNvPr id="26" name="TextBox 25">
            <a:extLst>
              <a:ext uri="{FF2B5EF4-FFF2-40B4-BE49-F238E27FC236}">
                <a16:creationId xmlns:a16="http://schemas.microsoft.com/office/drawing/2014/main" id="{D96977CB-43D0-8F00-5B47-70E791091E3D}"/>
              </a:ext>
            </a:extLst>
          </p:cNvPr>
          <p:cNvSpPr txBox="1"/>
          <p:nvPr/>
        </p:nvSpPr>
        <p:spPr>
          <a:xfrm>
            <a:off x="5185213" y="4368393"/>
            <a:ext cx="4088263" cy="646331"/>
          </a:xfrm>
          <a:prstGeom prst="rect">
            <a:avLst/>
          </a:prstGeom>
          <a:solidFill>
            <a:schemeClr val="bg1"/>
          </a:solidFill>
          <a:ln>
            <a:noFill/>
          </a:ln>
        </p:spPr>
        <p:txBody>
          <a:bodyPr wrap="square" lIns="360000" rtlCol="0">
            <a:spAutoFit/>
          </a:bodyPr>
          <a:lstStyle/>
          <a:p>
            <a:pPr algn="l">
              <a:buNone/>
            </a:pPr>
            <a:r>
              <a:rPr lang="ko-KR" altLang="en-US" dirty="0">
                <a:latin typeface="Arial Narrow" panose="020B0606020202030204" pitchFamily="34" charset="0"/>
                <a:ea typeface="a고딕14" panose="02020600000000000000" pitchFamily="18" charset="-127"/>
              </a:rPr>
              <a:t>인정 최소교육시간 기준</a:t>
            </a:r>
            <a:endParaRPr lang="en-US" altLang="ko-KR" dirty="0">
              <a:latin typeface="Arial Narrow" panose="020B0606020202030204" pitchFamily="34" charset="0"/>
              <a:ea typeface="a고딕14" panose="02020600000000000000" pitchFamily="18" charset="-127"/>
            </a:endParaRPr>
          </a:p>
          <a:p>
            <a:pPr marL="85725" indent="-85725" algn="l">
              <a:buNone/>
            </a:pPr>
            <a:r>
              <a:rPr lang="en-US" altLang="ko-KR">
                <a:latin typeface="Arial Narrow" panose="020B0606020202030204" pitchFamily="34" charset="0"/>
                <a:ea typeface="a고딕14" panose="02020600000000000000" pitchFamily="18" charset="-127"/>
              </a:rPr>
              <a:t>- </a:t>
            </a:r>
            <a:r>
              <a:rPr lang="ko-KR" altLang="en-US">
                <a:latin typeface="Arial Narrow" panose="020B0606020202030204" pitchFamily="34" charset="0"/>
                <a:ea typeface="a고딕14" panose="02020600000000000000" pitchFamily="18" charset="-127"/>
              </a:rPr>
              <a:t>대학 </a:t>
            </a:r>
            <a:r>
              <a:rPr lang="ko-KR" altLang="en-US" dirty="0">
                <a:latin typeface="Arial Narrow" panose="020B0606020202030204" pitchFamily="34" charset="0"/>
                <a:ea typeface="a고딕14" panose="02020600000000000000" pitchFamily="18" charset="-127"/>
              </a:rPr>
              <a:t>오프라인 강의와는 달리</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상대적으로 짧은 온라인 교육의 특성에 따라 인정 교육시간의 기준 마련이 필요함</a:t>
            </a:r>
          </a:p>
        </p:txBody>
      </p:sp>
      <p:sp>
        <p:nvSpPr>
          <p:cNvPr id="25" name="타원 24">
            <a:extLst>
              <a:ext uri="{FF2B5EF4-FFF2-40B4-BE49-F238E27FC236}">
                <a16:creationId xmlns:a16="http://schemas.microsoft.com/office/drawing/2014/main" id="{BE7D789A-9836-1DA5-A32B-1FB188F76B92}"/>
              </a:ext>
            </a:extLst>
          </p:cNvPr>
          <p:cNvSpPr/>
          <p:nvPr/>
        </p:nvSpPr>
        <p:spPr>
          <a:xfrm>
            <a:off x="5205028" y="440110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3</a:t>
            </a:r>
            <a:endParaRPr lang="ko-KR" altLang="en-US" dirty="0">
              <a:solidFill>
                <a:schemeClr val="tx1"/>
              </a:solidFill>
              <a:latin typeface="+mn-ea"/>
            </a:endParaRPr>
          </a:p>
        </p:txBody>
      </p:sp>
      <p:sp>
        <p:nvSpPr>
          <p:cNvPr id="28" name="TextBox 27">
            <a:extLst>
              <a:ext uri="{FF2B5EF4-FFF2-40B4-BE49-F238E27FC236}">
                <a16:creationId xmlns:a16="http://schemas.microsoft.com/office/drawing/2014/main" id="{D96977CB-43D0-8F00-5B47-70E791091E3D}"/>
              </a:ext>
            </a:extLst>
          </p:cNvPr>
          <p:cNvSpPr txBox="1"/>
          <p:nvPr/>
        </p:nvSpPr>
        <p:spPr>
          <a:xfrm>
            <a:off x="5185213" y="5266945"/>
            <a:ext cx="4088263" cy="830997"/>
          </a:xfrm>
          <a:prstGeom prst="rect">
            <a:avLst/>
          </a:prstGeom>
          <a:solidFill>
            <a:schemeClr val="bg1"/>
          </a:solidFill>
          <a:ln>
            <a:noFill/>
          </a:ln>
        </p:spPr>
        <p:txBody>
          <a:bodyPr wrap="square" lIns="360000" rtlCol="0">
            <a:spAutoFit/>
          </a:bodyPr>
          <a:lstStyle/>
          <a:p>
            <a:pPr algn="l">
              <a:buNone/>
            </a:pPr>
            <a:r>
              <a:rPr lang="ko-KR" altLang="en-US" dirty="0">
                <a:latin typeface="Arial Narrow" panose="020B0606020202030204" pitchFamily="34" charset="0"/>
                <a:ea typeface="a고딕14" panose="02020600000000000000" pitchFamily="18" charset="-127"/>
              </a:rPr>
              <a:t>교육평가 기준</a:t>
            </a:r>
            <a:endParaRPr lang="en-US" altLang="ko-KR" dirty="0">
              <a:latin typeface="Arial Narrow" panose="020B0606020202030204" pitchFamily="34" charset="0"/>
              <a:ea typeface="a고딕14" panose="02020600000000000000" pitchFamily="18" charset="-127"/>
            </a:endParaRPr>
          </a:p>
          <a:p>
            <a:pPr marL="85725" indent="-85725" algn="l">
              <a:buNone/>
            </a:pPr>
            <a:r>
              <a:rPr lang="en-US" altLang="ko-KR" dirty="0">
                <a:latin typeface="Arial Narrow" panose="020B0606020202030204" pitchFamily="34" charset="0"/>
                <a:ea typeface="a고딕14" panose="02020600000000000000" pitchFamily="18" charset="-127"/>
              </a:rPr>
              <a:t>-  NCS </a:t>
            </a:r>
            <a:r>
              <a:rPr lang="ko-KR" altLang="en-US" dirty="0">
                <a:latin typeface="Arial Narrow" panose="020B0606020202030204" pitchFamily="34" charset="0"/>
                <a:ea typeface="a고딕14" panose="02020600000000000000" pitchFamily="18" charset="-127"/>
              </a:rPr>
              <a:t>능력단위별 </a:t>
            </a:r>
            <a:r>
              <a:rPr lang="ko-KR" altLang="en-US" dirty="0" err="1">
                <a:latin typeface="Arial Narrow" panose="020B0606020202030204" pitchFamily="34" charset="0"/>
                <a:ea typeface="a고딕14" panose="02020600000000000000" pitchFamily="18" charset="-127"/>
              </a:rPr>
              <a:t>수행준거와</a:t>
            </a:r>
            <a:r>
              <a:rPr lang="ko-KR" altLang="en-US" dirty="0">
                <a:latin typeface="Arial Narrow" panose="020B0606020202030204" pitchFamily="34" charset="0"/>
                <a:ea typeface="a고딕14" panose="02020600000000000000" pitchFamily="18" charset="-127"/>
              </a:rPr>
              <a:t> 수업내용의 평가 일관성 따라 평가가 이루어져야 함</a:t>
            </a:r>
            <a:endParaRPr lang="en-US" altLang="ko-KR" dirty="0">
              <a:latin typeface="Arial Narrow" panose="020B0606020202030204" pitchFamily="34" charset="0"/>
              <a:ea typeface="a고딕14" panose="02020600000000000000" pitchFamily="18" charset="-127"/>
            </a:endParaRPr>
          </a:p>
          <a:p>
            <a:pPr algn="l">
              <a:buNone/>
            </a:pP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온라인 교육 특성 반영 및 평가방법 등의 기준 마련이 필요함</a:t>
            </a:r>
          </a:p>
        </p:txBody>
      </p:sp>
      <p:sp>
        <p:nvSpPr>
          <p:cNvPr id="27" name="타원 26">
            <a:extLst>
              <a:ext uri="{FF2B5EF4-FFF2-40B4-BE49-F238E27FC236}">
                <a16:creationId xmlns:a16="http://schemas.microsoft.com/office/drawing/2014/main" id="{BE7D789A-9836-1DA5-A32B-1FB188F76B92}"/>
              </a:ext>
            </a:extLst>
          </p:cNvPr>
          <p:cNvSpPr/>
          <p:nvPr/>
        </p:nvSpPr>
        <p:spPr>
          <a:xfrm>
            <a:off x="5205028" y="530120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4</a:t>
            </a:r>
            <a:endParaRPr lang="ko-KR" altLang="en-US" dirty="0">
              <a:solidFill>
                <a:schemeClr val="tx1"/>
              </a:solidFill>
              <a:latin typeface="+mn-ea"/>
            </a:endParaRPr>
          </a:p>
        </p:txBody>
      </p:sp>
      <p:sp>
        <p:nvSpPr>
          <p:cNvPr id="29" name="타원 28">
            <a:extLst>
              <a:ext uri="{FF2B5EF4-FFF2-40B4-BE49-F238E27FC236}">
                <a16:creationId xmlns:a16="http://schemas.microsoft.com/office/drawing/2014/main" id="{9657F3E6-D9D5-61A9-1820-C87271BDD00E}"/>
              </a:ext>
            </a:extLst>
          </p:cNvPr>
          <p:cNvSpPr/>
          <p:nvPr/>
        </p:nvSpPr>
        <p:spPr>
          <a:xfrm>
            <a:off x="884548" y="2981149"/>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2</a:t>
            </a:r>
            <a:endParaRPr lang="ko-KR" altLang="en-US" dirty="0">
              <a:solidFill>
                <a:schemeClr val="tx1"/>
              </a:solidFill>
              <a:latin typeface="+mn-ea"/>
            </a:endParaRPr>
          </a:p>
        </p:txBody>
      </p:sp>
      <p:sp>
        <p:nvSpPr>
          <p:cNvPr id="30" name="타원 29">
            <a:extLst>
              <a:ext uri="{FF2B5EF4-FFF2-40B4-BE49-F238E27FC236}">
                <a16:creationId xmlns:a16="http://schemas.microsoft.com/office/drawing/2014/main" id="{9657F3E6-D9D5-61A9-1820-C87271BDD00E}"/>
              </a:ext>
            </a:extLst>
          </p:cNvPr>
          <p:cNvSpPr/>
          <p:nvPr/>
        </p:nvSpPr>
        <p:spPr>
          <a:xfrm>
            <a:off x="881727" y="435052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3</a:t>
            </a:r>
            <a:endParaRPr lang="ko-KR" altLang="en-US" dirty="0">
              <a:solidFill>
                <a:schemeClr val="tx1"/>
              </a:solidFill>
              <a:latin typeface="+mn-ea"/>
            </a:endParaRPr>
          </a:p>
        </p:txBody>
      </p:sp>
      <p:sp>
        <p:nvSpPr>
          <p:cNvPr id="32" name="타원 31">
            <a:extLst>
              <a:ext uri="{FF2B5EF4-FFF2-40B4-BE49-F238E27FC236}">
                <a16:creationId xmlns:a16="http://schemas.microsoft.com/office/drawing/2014/main" id="{9657F3E6-D9D5-61A9-1820-C87271BDD00E}"/>
              </a:ext>
            </a:extLst>
          </p:cNvPr>
          <p:cNvSpPr/>
          <p:nvPr/>
        </p:nvSpPr>
        <p:spPr>
          <a:xfrm>
            <a:off x="884548" y="5807970"/>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4</a:t>
            </a:r>
            <a:endParaRPr lang="ko-KR" altLang="en-US" dirty="0">
              <a:solidFill>
                <a:schemeClr val="tx1"/>
              </a:solidFill>
              <a:latin typeface="+mn-ea"/>
            </a:endParaRPr>
          </a:p>
        </p:txBody>
      </p:sp>
    </p:spTree>
    <p:extLst>
      <p:ext uri="{BB962C8B-B14F-4D97-AF65-F5344CB8AC3E}">
        <p14:creationId xmlns:p14="http://schemas.microsoft.com/office/powerpoint/2010/main" val="2109946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6C3E3-0E51-C2FD-BBFF-85AF29B66BEE}"/>
            </a:ext>
          </a:extLst>
        </p:cNvPr>
        <p:cNvGrpSpPr/>
        <p:nvPr/>
      </p:nvGrpSpPr>
      <p:grpSpPr>
        <a:xfrm>
          <a:off x="0" y="0"/>
          <a:ext cx="0" cy="0"/>
          <a:chOff x="0" y="0"/>
          <a:chExt cx="0" cy="0"/>
        </a:xfrm>
      </p:grpSpPr>
      <p:sp>
        <p:nvSpPr>
          <p:cNvPr id="54" name="오른쪽 화살표 8">
            <a:extLst>
              <a:ext uri="{FF2B5EF4-FFF2-40B4-BE49-F238E27FC236}">
                <a16:creationId xmlns:a16="http://schemas.microsoft.com/office/drawing/2014/main" id="{5C201F6A-2948-201A-8D35-38FFCE884F27}"/>
              </a:ext>
            </a:extLst>
          </p:cNvPr>
          <p:cNvSpPr/>
          <p:nvPr/>
        </p:nvSpPr>
        <p:spPr>
          <a:xfrm>
            <a:off x="3779287" y="2442025"/>
            <a:ext cx="2729433" cy="891028"/>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r>
              <a:rPr kumimoji="1" lang="ko-KR" altLang="en-US" dirty="0" err="1">
                <a:latin typeface="a고딕14" panose="02020600000000000000" pitchFamily="18" charset="-127"/>
                <a:ea typeface="a고딕14" panose="02020600000000000000" pitchFamily="18" charset="-127"/>
              </a:rPr>
              <a:t>온평원</a:t>
            </a:r>
            <a:r>
              <a:rPr kumimoji="1" lang="en-US" altLang="ko-KR" dirty="0">
                <a:latin typeface="a고딕14" panose="02020600000000000000" pitchFamily="18" charset="-127"/>
                <a:ea typeface="a고딕14" panose="02020600000000000000" pitchFamily="18" charset="-127"/>
              </a:rPr>
              <a:t>, </a:t>
            </a:r>
            <a:r>
              <a:rPr kumimoji="1" lang="ko-KR" altLang="en-US" dirty="0">
                <a:latin typeface="a고딕14" panose="02020600000000000000" pitchFamily="18" charset="-127"/>
                <a:ea typeface="a고딕14" panose="02020600000000000000" pitchFamily="18" charset="-127"/>
              </a:rPr>
              <a:t>제안사</a:t>
            </a:r>
            <a:r>
              <a:rPr kumimoji="1" lang="en-US" altLang="ko-KR" dirty="0">
                <a:latin typeface="a고딕14" panose="02020600000000000000" pitchFamily="18" charset="-127"/>
                <a:ea typeface="a고딕14" panose="02020600000000000000" pitchFamily="18" charset="-127"/>
              </a:rPr>
              <a:t>, </a:t>
            </a:r>
            <a:r>
              <a:rPr kumimoji="1" lang="ko-KR" altLang="en-US" dirty="0">
                <a:latin typeface="a고딕14" panose="02020600000000000000" pitchFamily="18" charset="-127"/>
                <a:ea typeface="a고딕14" panose="02020600000000000000" pitchFamily="18" charset="-127"/>
              </a:rPr>
              <a:t>전문가 협의 진행 후</a:t>
            </a:r>
            <a:endParaRPr kumimoji="1" lang="en-US" altLang="ko-KR" dirty="0">
              <a:latin typeface="a고딕14" panose="02020600000000000000" pitchFamily="18" charset="-127"/>
              <a:ea typeface="a고딕14" panose="02020600000000000000" pitchFamily="18" charset="-127"/>
            </a:endParaRPr>
          </a:p>
          <a:p>
            <a:pPr eaLnBrk="1" latinLnBrk="0" hangingPunct="1">
              <a:buNone/>
            </a:pPr>
            <a:r>
              <a:rPr kumimoji="1" lang="ko-KR" altLang="en-US" dirty="0">
                <a:latin typeface="a고딕14" panose="02020600000000000000" pitchFamily="18" charset="-127"/>
                <a:ea typeface="a고딕14" panose="02020600000000000000" pitchFamily="18" charset="-127"/>
              </a:rPr>
              <a:t>산인공과 연계 방안을 논의하겠음</a:t>
            </a:r>
          </a:p>
        </p:txBody>
      </p:sp>
      <p:sp>
        <p:nvSpPr>
          <p:cNvPr id="5" name="텍스트 개체 틀 4">
            <a:extLst>
              <a:ext uri="{FF2B5EF4-FFF2-40B4-BE49-F238E27FC236}">
                <a16:creationId xmlns:a16="http://schemas.microsoft.com/office/drawing/2014/main" id="{969D4FE1-20A3-033F-5CF4-CFBEE6815B4A}"/>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638957AE-469D-F05B-5F32-9D7531BC0A0B}"/>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온평원</a:t>
            </a:r>
            <a:r>
              <a:rPr lang="ko-KR" altLang="en-US" sz="1200" dirty="0">
                <a:solidFill>
                  <a:schemeClr val="bg1"/>
                </a:solidFill>
              </a:rPr>
              <a:t> 콘텐츠</a:t>
            </a:r>
            <a:r>
              <a:rPr lang="en-US" altLang="ko-KR" sz="1200" dirty="0">
                <a:solidFill>
                  <a:schemeClr val="bg1"/>
                </a:solidFill>
              </a:rPr>
              <a:t>-</a:t>
            </a:r>
            <a:r>
              <a:rPr lang="ko-KR" altLang="en-US" sz="1200" dirty="0">
                <a:solidFill>
                  <a:schemeClr val="bg1"/>
                </a:solidFill>
              </a:rPr>
              <a:t>직무능력은행제 연계 방향성 제시</a:t>
            </a:r>
          </a:p>
        </p:txBody>
      </p:sp>
      <p:sp>
        <p:nvSpPr>
          <p:cNvPr id="12" name="직사각형 11">
            <a:extLst>
              <a:ext uri="{FF2B5EF4-FFF2-40B4-BE49-F238E27FC236}">
                <a16:creationId xmlns:a16="http://schemas.microsoft.com/office/drawing/2014/main" id="{E17A0D73-78DB-9DB1-3275-030D66A25CA8}"/>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6.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직무능력은행제 연계 검토</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C099A86D-F8EC-A3B9-BC78-D85166A5052F}"/>
              </a:ext>
            </a:extLst>
          </p:cNvPr>
          <p:cNvSpPr>
            <a:spLocks noGrp="1"/>
          </p:cNvSpPr>
          <p:nvPr>
            <p:ph type="body" sz="quarter" idx="12"/>
          </p:nvPr>
        </p:nvSpPr>
        <p:spPr>
          <a:xfrm>
            <a:off x="596515" y="650182"/>
            <a:ext cx="8749097" cy="815119"/>
          </a:xfrm>
        </p:spPr>
        <p:txBody>
          <a:bodyPr/>
          <a:lstStyle/>
          <a:p>
            <a:pPr latinLnBrk="0"/>
            <a:r>
              <a:rPr lang="ko-KR" altLang="en-US" sz="1800" dirty="0" err="1"/>
              <a:t>온평원</a:t>
            </a:r>
            <a:r>
              <a:rPr lang="ko-KR" altLang="en-US" sz="1800" dirty="0"/>
              <a:t> 콘텐츠와 직무능력은행제 연계를 위해</a:t>
            </a:r>
            <a:r>
              <a:rPr lang="en-US" altLang="ko-KR" sz="1800" dirty="0"/>
              <a:t>, </a:t>
            </a:r>
            <a:r>
              <a:rPr lang="ko-KR" altLang="en-US" sz="1800" dirty="0">
                <a:solidFill>
                  <a:srgbClr val="0070C0"/>
                </a:solidFill>
              </a:rPr>
              <a:t>제도적</a:t>
            </a:r>
            <a:r>
              <a:rPr lang="en-US" altLang="ko-KR" sz="1800" dirty="0">
                <a:solidFill>
                  <a:srgbClr val="0070C0"/>
                </a:solidFill>
              </a:rPr>
              <a:t>·</a:t>
            </a:r>
            <a:r>
              <a:rPr lang="ko-KR" altLang="en-US" sz="1800" dirty="0">
                <a:solidFill>
                  <a:srgbClr val="0070C0"/>
                </a:solidFill>
              </a:rPr>
              <a:t>구조적 문제를 해결할</a:t>
            </a:r>
            <a:r>
              <a:rPr lang="en-US" altLang="ko-KR" dirty="0">
                <a:solidFill>
                  <a:srgbClr val="0070C0"/>
                </a:solidFill>
              </a:rPr>
              <a:t> </a:t>
            </a:r>
            <a:r>
              <a:rPr lang="ko-KR" altLang="en-US" dirty="0">
                <a:solidFill>
                  <a:srgbClr val="0070C0"/>
                </a:solidFill>
              </a:rPr>
              <a:t>수 있는 협의체를 구성 및 운영</a:t>
            </a:r>
            <a:r>
              <a:rPr lang="ko-KR" altLang="en-US" dirty="0"/>
              <a:t>하고</a:t>
            </a:r>
            <a:r>
              <a:rPr lang="en-US" altLang="ko-KR" dirty="0"/>
              <a:t>, </a:t>
            </a:r>
            <a:r>
              <a:rPr lang="ko-KR" altLang="en-US" dirty="0"/>
              <a:t>구조적 이슈에 대해 </a:t>
            </a:r>
            <a:r>
              <a:rPr lang="ko-KR" altLang="en-US" dirty="0">
                <a:solidFill>
                  <a:srgbClr val="0070C0"/>
                </a:solidFill>
              </a:rPr>
              <a:t>실질적이고 정책적인 논의를 체계적으로 추진</a:t>
            </a:r>
            <a:r>
              <a:rPr lang="ko-KR" altLang="en-US" dirty="0"/>
              <a:t>하겠음</a:t>
            </a:r>
            <a:endParaRPr lang="ko-KR" altLang="en-US" sz="1800" dirty="0"/>
          </a:p>
        </p:txBody>
      </p:sp>
      <p:grpSp>
        <p:nvGrpSpPr>
          <p:cNvPr id="7" name="그룹 6">
            <a:extLst>
              <a:ext uri="{FF2B5EF4-FFF2-40B4-BE49-F238E27FC236}">
                <a16:creationId xmlns:a16="http://schemas.microsoft.com/office/drawing/2014/main" id="{2021A7E5-427B-4E01-260B-635CE3E2DA7D}"/>
              </a:ext>
            </a:extLst>
          </p:cNvPr>
          <p:cNvGrpSpPr/>
          <p:nvPr/>
        </p:nvGrpSpPr>
        <p:grpSpPr>
          <a:xfrm>
            <a:off x="596515" y="1681027"/>
            <a:ext cx="8749098" cy="266602"/>
            <a:chOff x="802640" y="2236632"/>
            <a:chExt cx="4130805" cy="266552"/>
          </a:xfrm>
        </p:grpSpPr>
        <p:sp>
          <p:nvSpPr>
            <p:cNvPr id="8" name="ListLeanHorizontalTextTopic0">
              <a:extLst>
                <a:ext uri="{FF2B5EF4-FFF2-40B4-BE49-F238E27FC236}">
                  <a16:creationId xmlns:a16="http://schemas.microsoft.com/office/drawing/2014/main" id="{C437C6F9-2687-991A-BA0C-A23CBAA03682}"/>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직무능력은행제 대응</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35D73150-C5EB-B349-2EEF-D39B02E31B91}"/>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pic>
        <p:nvPicPr>
          <p:cNvPr id="2050" name="Picture 2" descr="HRDK 한국산업인력공단">
            <a:extLst>
              <a:ext uri="{FF2B5EF4-FFF2-40B4-BE49-F238E27FC236}">
                <a16:creationId xmlns:a16="http://schemas.microsoft.com/office/drawing/2014/main" id="{39359CEE-2191-B28F-2490-E759CB1BB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3093" y="2667103"/>
            <a:ext cx="2638484" cy="356195"/>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그룹 31">
            <a:extLst>
              <a:ext uri="{FF2B5EF4-FFF2-40B4-BE49-F238E27FC236}">
                <a16:creationId xmlns:a16="http://schemas.microsoft.com/office/drawing/2014/main" id="{F1615917-F057-51FB-615F-849122F78C68}"/>
              </a:ext>
            </a:extLst>
          </p:cNvPr>
          <p:cNvGrpSpPr/>
          <p:nvPr/>
        </p:nvGrpSpPr>
        <p:grpSpPr>
          <a:xfrm>
            <a:off x="1514913" y="2048248"/>
            <a:ext cx="2324371" cy="2146489"/>
            <a:chOff x="2951742" y="2828246"/>
            <a:chExt cx="3134252" cy="2894390"/>
          </a:xfrm>
        </p:grpSpPr>
        <p:grpSp>
          <p:nvGrpSpPr>
            <p:cNvPr id="28" name="그룹 27">
              <a:extLst>
                <a:ext uri="{FF2B5EF4-FFF2-40B4-BE49-F238E27FC236}">
                  <a16:creationId xmlns:a16="http://schemas.microsoft.com/office/drawing/2014/main" id="{9A0F4C2B-F56B-6AA8-EA33-FA42C7919FFA}"/>
                </a:ext>
              </a:extLst>
            </p:cNvPr>
            <p:cNvGrpSpPr/>
            <p:nvPr/>
          </p:nvGrpSpPr>
          <p:grpSpPr>
            <a:xfrm>
              <a:off x="4321798" y="3958440"/>
              <a:ext cx="1764196" cy="1764196"/>
              <a:chOff x="2612082" y="3875118"/>
              <a:chExt cx="1764196" cy="1764196"/>
            </a:xfrm>
          </p:grpSpPr>
          <p:sp>
            <p:nvSpPr>
              <p:cNvPr id="22" name="타원 21">
                <a:extLst>
                  <a:ext uri="{FF2B5EF4-FFF2-40B4-BE49-F238E27FC236}">
                    <a16:creationId xmlns:a16="http://schemas.microsoft.com/office/drawing/2014/main" id="{060588BD-A865-11AF-C12C-FC490A06F4B8}"/>
                  </a:ext>
                </a:extLst>
              </p:cNvPr>
              <p:cNvSpPr/>
              <p:nvPr/>
            </p:nvSpPr>
            <p:spPr>
              <a:xfrm>
                <a:off x="2612082" y="3875118"/>
                <a:ext cx="1764196" cy="1764196"/>
              </a:xfrm>
              <a:prstGeom prst="ellipse">
                <a:avLst/>
              </a:prstGeom>
              <a:solidFill>
                <a:schemeClr val="accent3">
                  <a:lumMod val="20000"/>
                  <a:lumOff val="80000"/>
                  <a:alpha val="7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13" name="그림 12">
                <a:extLst>
                  <a:ext uri="{FF2B5EF4-FFF2-40B4-BE49-F238E27FC236}">
                    <a16:creationId xmlns:a16="http://schemas.microsoft.com/office/drawing/2014/main" id="{E4B85EF0-627D-F5C4-A904-AEF56C0F46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63865" y="4713904"/>
                <a:ext cx="642988" cy="642988"/>
              </a:xfrm>
              <a:prstGeom prst="rect">
                <a:avLst/>
              </a:prstGeom>
              <a:ln>
                <a:noFill/>
              </a:ln>
            </p:spPr>
          </p:pic>
          <p:sp>
            <p:nvSpPr>
              <p:cNvPr id="16" name="TextBox 15">
                <a:extLst>
                  <a:ext uri="{FF2B5EF4-FFF2-40B4-BE49-F238E27FC236}">
                    <a16:creationId xmlns:a16="http://schemas.microsoft.com/office/drawing/2014/main" id="{3A715636-707C-0A6A-1F0F-C5BD7EF95BF2}"/>
                  </a:ext>
                </a:extLst>
              </p:cNvPr>
              <p:cNvSpPr txBox="1"/>
              <p:nvPr/>
            </p:nvSpPr>
            <p:spPr>
              <a:xfrm>
                <a:off x="2989015" y="4391178"/>
                <a:ext cx="1233660" cy="373514"/>
              </a:xfrm>
              <a:prstGeom prst="rect">
                <a:avLst/>
              </a:prstGeom>
              <a:noFill/>
              <a:ln>
                <a:noFill/>
              </a:ln>
            </p:spPr>
            <p:txBody>
              <a:bodyPr wrap="square" rtlCol="0">
                <a:spAutoFit/>
              </a:bodyPr>
              <a:lstStyle/>
              <a:p>
                <a:pPr>
                  <a:buNone/>
                </a:pPr>
                <a:r>
                  <a:rPr lang="ko-KR" altLang="en-US" dirty="0">
                    <a:solidFill>
                      <a:schemeClr val="accent3"/>
                    </a:solidFill>
                    <a:latin typeface="+mj-ea"/>
                    <a:ea typeface="+mj-ea"/>
                  </a:rPr>
                  <a:t>외부 전문가</a:t>
                </a:r>
              </a:p>
            </p:txBody>
          </p:sp>
        </p:grpSp>
        <p:grpSp>
          <p:nvGrpSpPr>
            <p:cNvPr id="25" name="그룹 24">
              <a:extLst>
                <a:ext uri="{FF2B5EF4-FFF2-40B4-BE49-F238E27FC236}">
                  <a16:creationId xmlns:a16="http://schemas.microsoft.com/office/drawing/2014/main" id="{8D7BE43B-FD26-0825-04B5-C5D1C959EB44}"/>
                </a:ext>
              </a:extLst>
            </p:cNvPr>
            <p:cNvGrpSpPr/>
            <p:nvPr/>
          </p:nvGrpSpPr>
          <p:grpSpPr>
            <a:xfrm>
              <a:off x="2951742" y="3958439"/>
              <a:ext cx="1764196" cy="1764196"/>
              <a:chOff x="1891904" y="2956974"/>
              <a:chExt cx="1764196" cy="1764196"/>
            </a:xfrm>
          </p:grpSpPr>
          <p:sp>
            <p:nvSpPr>
              <p:cNvPr id="23" name="타원 22">
                <a:extLst>
                  <a:ext uri="{FF2B5EF4-FFF2-40B4-BE49-F238E27FC236}">
                    <a16:creationId xmlns:a16="http://schemas.microsoft.com/office/drawing/2014/main" id="{3B7F82E8-44F1-5DFE-583F-BBB6EBA82792}"/>
                  </a:ext>
                </a:extLst>
              </p:cNvPr>
              <p:cNvSpPr/>
              <p:nvPr/>
            </p:nvSpPr>
            <p:spPr>
              <a:xfrm>
                <a:off x="1891904" y="2956974"/>
                <a:ext cx="1764196" cy="1764196"/>
              </a:xfrm>
              <a:prstGeom prst="ellipse">
                <a:avLst/>
              </a:prstGeom>
              <a:solidFill>
                <a:schemeClr val="accent6">
                  <a:lumMod val="20000"/>
                  <a:lumOff val="80000"/>
                  <a:alpha val="7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15" name="그림 14">
                <a:extLst>
                  <a:ext uri="{FF2B5EF4-FFF2-40B4-BE49-F238E27FC236}">
                    <a16:creationId xmlns:a16="http://schemas.microsoft.com/office/drawing/2014/main" id="{A96193FC-C675-A487-B0C6-EC733569F3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45506" y="3783288"/>
                <a:ext cx="1446392" cy="258568"/>
              </a:xfrm>
              <a:prstGeom prst="rect">
                <a:avLst/>
              </a:prstGeom>
              <a:ln>
                <a:noFill/>
              </a:ln>
            </p:spPr>
          </p:pic>
        </p:grpSp>
        <p:grpSp>
          <p:nvGrpSpPr>
            <p:cNvPr id="26" name="그룹 25">
              <a:extLst>
                <a:ext uri="{FF2B5EF4-FFF2-40B4-BE49-F238E27FC236}">
                  <a16:creationId xmlns:a16="http://schemas.microsoft.com/office/drawing/2014/main" id="{AE58587E-8405-E7CB-185C-F7A6BA4C27CB}"/>
                </a:ext>
              </a:extLst>
            </p:cNvPr>
            <p:cNvGrpSpPr/>
            <p:nvPr/>
          </p:nvGrpSpPr>
          <p:grpSpPr>
            <a:xfrm>
              <a:off x="3636770" y="2828246"/>
              <a:ext cx="1764196" cy="1764196"/>
              <a:chOff x="1165006" y="3881955"/>
              <a:chExt cx="1764196" cy="1764196"/>
            </a:xfrm>
          </p:grpSpPr>
          <p:sp>
            <p:nvSpPr>
              <p:cNvPr id="21" name="타원 20">
                <a:extLst>
                  <a:ext uri="{FF2B5EF4-FFF2-40B4-BE49-F238E27FC236}">
                    <a16:creationId xmlns:a16="http://schemas.microsoft.com/office/drawing/2014/main" id="{4ADEC308-1222-87DA-DA5A-AB74DF52CFAE}"/>
                  </a:ext>
                </a:extLst>
              </p:cNvPr>
              <p:cNvSpPr/>
              <p:nvPr/>
            </p:nvSpPr>
            <p:spPr>
              <a:xfrm>
                <a:off x="1165006" y="3881955"/>
                <a:ext cx="1764196" cy="1764196"/>
              </a:xfrm>
              <a:prstGeom prst="ellipse">
                <a:avLst/>
              </a:prstGeom>
              <a:solidFill>
                <a:schemeClr val="accent1">
                  <a:lumMod val="20000"/>
                  <a:lumOff val="80000"/>
                  <a:alpha val="7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4" name="Picture 1">
                <a:extLst>
                  <a:ext uri="{FF2B5EF4-FFF2-40B4-BE49-F238E27FC236}">
                    <a16:creationId xmlns:a16="http://schemas.microsoft.com/office/drawing/2014/main" id="{B5805FE2-9222-5F93-9107-D3270E6EE48B}"/>
                  </a:ext>
                </a:extLst>
              </p:cNvPr>
              <p:cNvPicPr>
                <a:picLocks noChangeAspect="1"/>
              </p:cNvPicPr>
              <p:nvPr/>
            </p:nvPicPr>
            <p:blipFill>
              <a:blip r:embed="rId5"/>
              <a:stretch>
                <a:fillRect/>
              </a:stretch>
            </p:blipFill>
            <p:spPr>
              <a:xfrm>
                <a:off x="1266750" y="4546838"/>
                <a:ext cx="1509821" cy="429656"/>
              </a:xfrm>
              <a:prstGeom prst="rect">
                <a:avLst/>
              </a:prstGeom>
              <a:noFill/>
              <a:ln>
                <a:noFill/>
              </a:ln>
              <a:effectLst/>
            </p:spPr>
          </p:pic>
        </p:grpSp>
      </p:grpSp>
      <p:sp>
        <p:nvSpPr>
          <p:cNvPr id="29" name="직사각형 28">
            <a:extLst>
              <a:ext uri="{FF2B5EF4-FFF2-40B4-BE49-F238E27FC236}">
                <a16:creationId xmlns:a16="http://schemas.microsoft.com/office/drawing/2014/main" id="{AB84BF7B-4081-6A10-E66F-FA310BACA6AB}"/>
              </a:ext>
            </a:extLst>
          </p:cNvPr>
          <p:cNvSpPr/>
          <p:nvPr/>
        </p:nvSpPr>
        <p:spPr>
          <a:xfrm>
            <a:off x="1579057" y="4325456"/>
            <a:ext cx="3703030" cy="7228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현재 운영 중인 콘텐츠 및 과정개요서 자료 제공</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운영현황</a:t>
            </a:r>
            <a:r>
              <a:rPr lang="en-US" altLang="ko-KR" dirty="0">
                <a:solidFill>
                  <a:schemeClr val="tx1"/>
                </a:solidFill>
                <a:latin typeface="Arial Narrow" panose="020B0606020202030204" pitchFamily="34" charset="0"/>
                <a:ea typeface="a고딕14" panose="02020600000000000000" pitchFamily="18" charset="-127"/>
              </a:rPr>
              <a:t>(</a:t>
            </a:r>
            <a:r>
              <a:rPr lang="ko-KR" altLang="en-US" dirty="0">
                <a:solidFill>
                  <a:schemeClr val="tx1"/>
                </a:solidFill>
                <a:latin typeface="Arial Narrow" panose="020B0606020202030204" pitchFamily="34" charset="0"/>
                <a:ea typeface="a고딕14" panose="02020600000000000000" pitchFamily="18" charset="-127"/>
              </a:rPr>
              <a:t>학습대상</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수강현황 등 실질 운영 데이터 제공</a:t>
            </a:r>
            <a:r>
              <a:rPr lang="en-US" altLang="ko-KR" dirty="0">
                <a:solidFill>
                  <a:schemeClr val="tx1"/>
                </a:solidFill>
                <a:latin typeface="Arial Narrow" panose="020B0606020202030204" pitchFamily="34" charset="0"/>
                <a:ea typeface="a고딕14" panose="02020600000000000000" pitchFamily="18" charset="-127"/>
              </a:rPr>
              <a:t>)</a:t>
            </a:r>
          </a:p>
          <a:p>
            <a:pPr marL="171450" indent="-171450" algn="l" latinLnBrk="0">
              <a:spcAft>
                <a:spcPts val="300"/>
              </a:spcAft>
              <a:buFont typeface="Arial" panose="020B0604020202020204" pitchFamily="34" charset="0"/>
              <a:buChar char="•"/>
            </a:pPr>
            <a:r>
              <a:rPr lang="ko-KR" altLang="en-US" dirty="0" err="1">
                <a:solidFill>
                  <a:schemeClr val="tx1"/>
                </a:solidFill>
                <a:latin typeface="Arial Narrow" panose="020B0606020202030204" pitchFamily="34" charset="0"/>
                <a:ea typeface="a고딕14" panose="02020600000000000000" pitchFamily="18" charset="-127"/>
              </a:rPr>
              <a:t>온평원</a:t>
            </a:r>
            <a:r>
              <a:rPr lang="ko-KR" altLang="en-US" dirty="0">
                <a:solidFill>
                  <a:schemeClr val="tx1"/>
                </a:solidFill>
                <a:latin typeface="Arial Narrow" panose="020B0606020202030204" pitchFamily="34" charset="0"/>
                <a:ea typeface="a고딕14" panose="02020600000000000000" pitchFamily="18" charset="-127"/>
              </a:rPr>
              <a:t> 내부 콘텐츠 개발 실무자</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기획자 연계 자문 협조 등</a:t>
            </a:r>
          </a:p>
        </p:txBody>
      </p:sp>
      <p:sp>
        <p:nvSpPr>
          <p:cNvPr id="43" name="사각형: 둥근 모서리 42">
            <a:extLst>
              <a:ext uri="{FF2B5EF4-FFF2-40B4-BE49-F238E27FC236}">
                <a16:creationId xmlns:a16="http://schemas.microsoft.com/office/drawing/2014/main" id="{045ADB26-3854-49D1-9E8C-B3A3BC634CED}"/>
              </a:ext>
            </a:extLst>
          </p:cNvPr>
          <p:cNvSpPr/>
          <p:nvPr/>
        </p:nvSpPr>
        <p:spPr>
          <a:xfrm>
            <a:off x="596900" y="4349383"/>
            <a:ext cx="719696" cy="698885"/>
          </a:xfrm>
          <a:prstGeom prst="roundRect">
            <a:avLst/>
          </a:prstGeom>
          <a:solidFill>
            <a:srgbClr val="E6EDF6"/>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err="1">
                <a:solidFill>
                  <a:schemeClr val="tx1"/>
                </a:solidFill>
                <a:latin typeface="Arial Narrow" panose="020B0606020202030204" pitchFamily="34" charset="0"/>
                <a:ea typeface="a고딕14" panose="02020600000000000000" pitchFamily="18" charset="-127"/>
              </a:rPr>
              <a:t>한기대</a:t>
            </a:r>
            <a:endParaRPr lang="en-US" altLang="ko-KR" dirty="0">
              <a:solidFill>
                <a:schemeClr val="tx1"/>
              </a:solidFill>
              <a:latin typeface="Arial Narrow" panose="020B0606020202030204" pitchFamily="34" charset="0"/>
              <a:ea typeface="a고딕14" panose="02020600000000000000" pitchFamily="18" charset="-127"/>
            </a:endParaRPr>
          </a:p>
          <a:p>
            <a:pPr>
              <a:buNone/>
            </a:pPr>
            <a:r>
              <a:rPr lang="ko-KR" altLang="en-US" dirty="0" err="1">
                <a:solidFill>
                  <a:schemeClr val="tx1"/>
                </a:solidFill>
                <a:latin typeface="Arial Narrow" panose="020B0606020202030204" pitchFamily="34" charset="0"/>
                <a:ea typeface="a고딕14" panose="02020600000000000000" pitchFamily="18" charset="-127"/>
              </a:rPr>
              <a:t>온평원</a:t>
            </a:r>
            <a:endParaRPr lang="ko-KR" altLang="en-US" dirty="0">
              <a:solidFill>
                <a:schemeClr val="tx1"/>
              </a:solidFill>
              <a:latin typeface="Arial Narrow" panose="020B0606020202030204" pitchFamily="34" charset="0"/>
              <a:ea typeface="a고딕14" panose="02020600000000000000" pitchFamily="18" charset="-127"/>
            </a:endParaRPr>
          </a:p>
        </p:txBody>
      </p:sp>
      <p:sp>
        <p:nvSpPr>
          <p:cNvPr id="30" name="직사각형 29">
            <a:extLst>
              <a:ext uri="{FF2B5EF4-FFF2-40B4-BE49-F238E27FC236}">
                <a16:creationId xmlns:a16="http://schemas.microsoft.com/office/drawing/2014/main" id="{3310A722-802A-AD55-C259-E0FAC5076942}"/>
              </a:ext>
            </a:extLst>
          </p:cNvPr>
          <p:cNvSpPr/>
          <p:nvPr/>
        </p:nvSpPr>
        <p:spPr>
          <a:xfrm>
            <a:off x="1579056" y="5099881"/>
            <a:ext cx="4058019" cy="733908"/>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전체 협의체 운영 및 회의 진행</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인정 가능성 판단 </a:t>
            </a:r>
            <a:r>
              <a:rPr lang="ko-KR" altLang="en-US" dirty="0" err="1">
                <a:solidFill>
                  <a:schemeClr val="tx1"/>
                </a:solidFill>
                <a:latin typeface="Arial Narrow" panose="020B0606020202030204" pitchFamily="34" charset="0"/>
                <a:ea typeface="a고딕14" panose="02020600000000000000" pitchFamily="18" charset="-127"/>
              </a:rPr>
              <a:t>기준안</a:t>
            </a:r>
            <a:r>
              <a:rPr lang="ko-KR" altLang="en-US" dirty="0">
                <a:solidFill>
                  <a:schemeClr val="tx1"/>
                </a:solidFill>
                <a:latin typeface="Arial Narrow" panose="020B0606020202030204" pitchFamily="34" charset="0"/>
                <a:ea typeface="a고딕14" panose="02020600000000000000" pitchFamily="18" charset="-127"/>
              </a:rPr>
              <a:t> 도출 </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err="1">
                <a:solidFill>
                  <a:schemeClr val="tx1"/>
                </a:solidFill>
                <a:latin typeface="Arial Narrow" panose="020B0606020202030204" pitchFamily="34" charset="0"/>
                <a:ea typeface="a고딕14" panose="02020600000000000000" pitchFamily="18" charset="-127"/>
              </a:rPr>
              <a:t>온평원</a:t>
            </a:r>
            <a:r>
              <a:rPr lang="ko-KR" altLang="en-US" dirty="0">
                <a:solidFill>
                  <a:schemeClr val="tx1"/>
                </a:solidFill>
                <a:latin typeface="Arial Narrow" panose="020B0606020202030204" pitchFamily="34" charset="0"/>
                <a:ea typeface="a고딕14" panose="02020600000000000000" pitchFamily="18" charset="-127"/>
              </a:rPr>
              <a:t> 콘텐츠 분석 및 직무능력은행제 인정 요건 간 </a:t>
            </a:r>
            <a:r>
              <a:rPr lang="en-US" altLang="ko-KR" dirty="0">
                <a:solidFill>
                  <a:schemeClr val="tx1"/>
                </a:solidFill>
                <a:latin typeface="Arial Narrow" panose="020B0606020202030204" pitchFamily="34" charset="0"/>
                <a:ea typeface="a고딕14" panose="02020600000000000000" pitchFamily="18" charset="-127"/>
              </a:rPr>
              <a:t>Gap </a:t>
            </a:r>
            <a:r>
              <a:rPr lang="ko-KR" altLang="en-US" dirty="0">
                <a:solidFill>
                  <a:schemeClr val="tx1"/>
                </a:solidFill>
                <a:latin typeface="Arial Narrow" panose="020B0606020202030204" pitchFamily="34" charset="0"/>
                <a:ea typeface="a고딕14" panose="02020600000000000000" pitchFamily="18" charset="-127"/>
              </a:rPr>
              <a:t>분석</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등</a:t>
            </a:r>
          </a:p>
        </p:txBody>
      </p:sp>
      <p:sp>
        <p:nvSpPr>
          <p:cNvPr id="44" name="사각형: 둥근 모서리 43">
            <a:extLst>
              <a:ext uri="{FF2B5EF4-FFF2-40B4-BE49-F238E27FC236}">
                <a16:creationId xmlns:a16="http://schemas.microsoft.com/office/drawing/2014/main" id="{BA80446F-2396-6AE0-3B57-975587C25BD5}"/>
              </a:ext>
            </a:extLst>
          </p:cNvPr>
          <p:cNvSpPr/>
          <p:nvPr/>
        </p:nvSpPr>
        <p:spPr>
          <a:xfrm>
            <a:off x="596900" y="5099881"/>
            <a:ext cx="719696" cy="733908"/>
          </a:xfrm>
          <a:prstGeom prst="roundRect">
            <a:avLst/>
          </a:prstGeom>
          <a:solidFill>
            <a:srgbClr val="FEF0E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제안사</a:t>
            </a:r>
          </a:p>
        </p:txBody>
      </p:sp>
      <p:sp>
        <p:nvSpPr>
          <p:cNvPr id="31" name="직사각형 30">
            <a:extLst>
              <a:ext uri="{FF2B5EF4-FFF2-40B4-BE49-F238E27FC236}">
                <a16:creationId xmlns:a16="http://schemas.microsoft.com/office/drawing/2014/main" id="{BDBEFC9B-BD14-C2E7-1972-91EDE599FCF3}"/>
              </a:ext>
            </a:extLst>
          </p:cNvPr>
          <p:cNvSpPr/>
          <p:nvPr/>
        </p:nvSpPr>
        <p:spPr>
          <a:xfrm>
            <a:off x="1579057" y="5890950"/>
            <a:ext cx="3199873" cy="7228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콘텐츠의 정규성</a:t>
            </a:r>
            <a:r>
              <a:rPr lang="en-US" altLang="ko-KR" dirty="0">
                <a:solidFill>
                  <a:schemeClr val="tx1"/>
                </a:solidFill>
                <a:latin typeface="Arial Narrow" panose="020B0606020202030204" pitchFamily="34" charset="0"/>
                <a:ea typeface="a고딕14" panose="02020600000000000000" pitchFamily="18" charset="-127"/>
              </a:rPr>
              <a:t>, NCS </a:t>
            </a:r>
            <a:r>
              <a:rPr lang="ko-KR" altLang="en-US" dirty="0">
                <a:solidFill>
                  <a:schemeClr val="tx1"/>
                </a:solidFill>
                <a:latin typeface="Arial Narrow" panose="020B0606020202030204" pitchFamily="34" charset="0"/>
                <a:ea typeface="a고딕14" panose="02020600000000000000" pitchFamily="18" charset="-127"/>
              </a:rPr>
              <a:t>코드 매핑 적정성 등 평가</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학습성과 기반 평가기준 구성에 대한 구조적 조언</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직무능력은행제 연계 방안 방향성 제시 등</a:t>
            </a:r>
          </a:p>
        </p:txBody>
      </p:sp>
      <p:sp>
        <p:nvSpPr>
          <p:cNvPr id="45" name="사각형: 둥근 모서리 44">
            <a:extLst>
              <a:ext uri="{FF2B5EF4-FFF2-40B4-BE49-F238E27FC236}">
                <a16:creationId xmlns:a16="http://schemas.microsoft.com/office/drawing/2014/main" id="{F16FF9E3-D4CD-AC50-D2CB-790A99102757}"/>
              </a:ext>
            </a:extLst>
          </p:cNvPr>
          <p:cNvSpPr/>
          <p:nvPr/>
        </p:nvSpPr>
        <p:spPr>
          <a:xfrm>
            <a:off x="596900" y="5885402"/>
            <a:ext cx="719696" cy="733908"/>
          </a:xfrm>
          <a:prstGeom prst="roundRect">
            <a:avLst/>
          </a:prstGeom>
          <a:solidFill>
            <a:srgbClr val="F1F5E8"/>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외부 </a:t>
            </a:r>
            <a:endParaRPr lang="en-US" altLang="ko-KR" dirty="0">
              <a:solidFill>
                <a:schemeClr val="tx1"/>
              </a:solidFill>
              <a:latin typeface="Arial Narrow" panose="020B0606020202030204" pitchFamily="34" charset="0"/>
              <a:ea typeface="a고딕14" panose="02020600000000000000" pitchFamily="18" charset="-127"/>
            </a:endParaRPr>
          </a:p>
          <a:p>
            <a:pPr>
              <a:buNone/>
            </a:pPr>
            <a:r>
              <a:rPr lang="ko-KR" altLang="en-US" dirty="0">
                <a:solidFill>
                  <a:schemeClr val="tx1"/>
                </a:solidFill>
                <a:latin typeface="Arial Narrow" panose="020B0606020202030204" pitchFamily="34" charset="0"/>
                <a:ea typeface="a고딕14" panose="02020600000000000000" pitchFamily="18" charset="-127"/>
              </a:rPr>
              <a:t>전문가</a:t>
            </a:r>
            <a:endParaRPr lang="en-US" altLang="ko-KR" dirty="0">
              <a:solidFill>
                <a:schemeClr val="tx1"/>
              </a:solidFill>
              <a:latin typeface="Arial Narrow" panose="020B0606020202030204" pitchFamily="34" charset="0"/>
              <a:ea typeface="a고딕14" panose="02020600000000000000" pitchFamily="18" charset="-127"/>
            </a:endParaRPr>
          </a:p>
        </p:txBody>
      </p:sp>
      <p:sp>
        <p:nvSpPr>
          <p:cNvPr id="58" name="사각형: 둥근 모서리 57">
            <a:extLst>
              <a:ext uri="{FF2B5EF4-FFF2-40B4-BE49-F238E27FC236}">
                <a16:creationId xmlns:a16="http://schemas.microsoft.com/office/drawing/2014/main" id="{93F44539-E93D-C31C-62A1-A0586B8F0C70}"/>
              </a:ext>
            </a:extLst>
          </p:cNvPr>
          <p:cNvSpPr/>
          <p:nvPr/>
        </p:nvSpPr>
        <p:spPr>
          <a:xfrm>
            <a:off x="6477079" y="3831599"/>
            <a:ext cx="2868533" cy="635625"/>
          </a:xfrm>
          <a:prstGeom prst="roundRect">
            <a:avLst/>
          </a:prstGeom>
          <a:solidFill>
            <a:srgbClr val="DCF1F9"/>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spcAft>
                <a:spcPts val="300"/>
              </a:spcAft>
              <a:buNone/>
            </a:pPr>
            <a:r>
              <a:rPr lang="ko-KR" altLang="en-US" dirty="0" err="1">
                <a:solidFill>
                  <a:schemeClr val="tx1"/>
                </a:solidFill>
                <a:latin typeface="Arial Narrow" panose="020B0606020202030204" pitchFamily="34" charset="0"/>
                <a:ea typeface="a고딕14" panose="02020600000000000000" pitchFamily="18" charset="-127"/>
              </a:rPr>
              <a:t>온평원</a:t>
            </a:r>
            <a:r>
              <a:rPr lang="ko-KR" altLang="en-US" dirty="0">
                <a:solidFill>
                  <a:schemeClr val="tx1"/>
                </a:solidFill>
                <a:latin typeface="Arial Narrow" panose="020B0606020202030204" pitchFamily="34" charset="0"/>
                <a:ea typeface="a고딕14" panose="02020600000000000000" pitchFamily="18" charset="-127"/>
              </a:rPr>
              <a:t> 콘텐츠의 직무능력은행제 연계 인정 기준 적용 가능성 검토</a:t>
            </a:r>
            <a:endParaRPr lang="en-US" altLang="ko-KR" dirty="0">
              <a:solidFill>
                <a:schemeClr val="tx1"/>
              </a:solidFill>
              <a:latin typeface="Arial Narrow" panose="020B0606020202030204" pitchFamily="34" charset="0"/>
              <a:ea typeface="a고딕14" panose="02020600000000000000" pitchFamily="18" charset="-127"/>
            </a:endParaRPr>
          </a:p>
        </p:txBody>
      </p:sp>
      <p:sp>
        <p:nvSpPr>
          <p:cNvPr id="59" name="사각형: 둥근 모서리 58">
            <a:extLst>
              <a:ext uri="{FF2B5EF4-FFF2-40B4-BE49-F238E27FC236}">
                <a16:creationId xmlns:a16="http://schemas.microsoft.com/office/drawing/2014/main" id="{6B26CB0B-2335-1160-1125-571DAA21DE4F}"/>
              </a:ext>
            </a:extLst>
          </p:cNvPr>
          <p:cNvSpPr/>
          <p:nvPr/>
        </p:nvSpPr>
        <p:spPr>
          <a:xfrm>
            <a:off x="6477079" y="4724687"/>
            <a:ext cx="2868533" cy="635625"/>
          </a:xfrm>
          <a:prstGeom prst="roundRect">
            <a:avLst/>
          </a:prstGeom>
          <a:solidFill>
            <a:srgbClr val="DCF1F9"/>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spcAft>
                <a:spcPts val="300"/>
              </a:spcAft>
              <a:buNone/>
            </a:pPr>
            <a:r>
              <a:rPr lang="ko-KR" altLang="en-US" dirty="0">
                <a:solidFill>
                  <a:schemeClr val="tx1"/>
                </a:solidFill>
                <a:latin typeface="Arial Narrow" panose="020B0606020202030204" pitchFamily="34" charset="0"/>
                <a:ea typeface="a고딕14" panose="02020600000000000000" pitchFamily="18" charset="-127"/>
              </a:rPr>
              <a:t>연계 콘텐츠 등록 및 검토 절차 설계</a:t>
            </a:r>
            <a:endParaRPr lang="en-US" altLang="ko-KR" dirty="0">
              <a:solidFill>
                <a:schemeClr val="tx1"/>
              </a:solidFill>
              <a:latin typeface="Arial Narrow" panose="020B0606020202030204" pitchFamily="34" charset="0"/>
              <a:ea typeface="a고딕14" panose="02020600000000000000" pitchFamily="18" charset="-127"/>
            </a:endParaRPr>
          </a:p>
        </p:txBody>
      </p:sp>
      <p:sp>
        <p:nvSpPr>
          <p:cNvPr id="60" name="사각형: 둥근 모서리 59">
            <a:extLst>
              <a:ext uri="{FF2B5EF4-FFF2-40B4-BE49-F238E27FC236}">
                <a16:creationId xmlns:a16="http://schemas.microsoft.com/office/drawing/2014/main" id="{FBD942B2-E1E1-C075-BBB2-2871DCB3E4B8}"/>
              </a:ext>
            </a:extLst>
          </p:cNvPr>
          <p:cNvSpPr/>
          <p:nvPr/>
        </p:nvSpPr>
        <p:spPr>
          <a:xfrm>
            <a:off x="6477079" y="5589240"/>
            <a:ext cx="2868533" cy="635625"/>
          </a:xfrm>
          <a:prstGeom prst="roundRect">
            <a:avLst/>
          </a:prstGeom>
          <a:solidFill>
            <a:srgbClr val="DCF1F9"/>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err="1">
                <a:solidFill>
                  <a:schemeClr val="tx1"/>
                </a:solidFill>
                <a:latin typeface="Arial Narrow" panose="020B0606020202030204" pitchFamily="34" charset="0"/>
                <a:ea typeface="a고딕14" panose="02020600000000000000" pitchFamily="18" charset="-127"/>
              </a:rPr>
              <a:t>온평원</a:t>
            </a:r>
            <a:r>
              <a:rPr lang="en-US" altLang="ko-KR" dirty="0">
                <a:solidFill>
                  <a:schemeClr val="tx1"/>
                </a:solidFill>
                <a:latin typeface="Arial Narrow" panose="020B0606020202030204" pitchFamily="34" charset="0"/>
                <a:ea typeface="a고딕14" panose="02020600000000000000" pitchFamily="18" charset="-127"/>
              </a:rPr>
              <a:t>-</a:t>
            </a:r>
            <a:r>
              <a:rPr lang="ko-KR" altLang="en-US" dirty="0" err="1">
                <a:solidFill>
                  <a:schemeClr val="tx1"/>
                </a:solidFill>
                <a:latin typeface="Arial Narrow" panose="020B0606020202030204" pitchFamily="34" charset="0"/>
                <a:ea typeface="a고딕14" panose="02020600000000000000" pitchFamily="18" charset="-127"/>
              </a:rPr>
              <a:t>산인공</a:t>
            </a:r>
            <a:r>
              <a:rPr lang="ko-KR" altLang="en-US" dirty="0">
                <a:solidFill>
                  <a:schemeClr val="tx1"/>
                </a:solidFill>
                <a:latin typeface="Arial Narrow" panose="020B0606020202030204" pitchFamily="34" charset="0"/>
                <a:ea typeface="a고딕14" panose="02020600000000000000" pitchFamily="18" charset="-127"/>
              </a:rPr>
              <a:t> 간 상시 협력체계 구축 여부 협의</a:t>
            </a:r>
          </a:p>
        </p:txBody>
      </p:sp>
      <p:sp>
        <p:nvSpPr>
          <p:cNvPr id="62" name="타원 61">
            <a:extLst>
              <a:ext uri="{FF2B5EF4-FFF2-40B4-BE49-F238E27FC236}">
                <a16:creationId xmlns:a16="http://schemas.microsoft.com/office/drawing/2014/main" id="{AB49FFB8-1B91-0DC3-7789-A0E571BCF2FE}"/>
              </a:ext>
            </a:extLst>
          </p:cNvPr>
          <p:cNvSpPr/>
          <p:nvPr/>
        </p:nvSpPr>
        <p:spPr>
          <a:xfrm>
            <a:off x="6351065" y="3768247"/>
            <a:ext cx="252028" cy="252028"/>
          </a:xfrm>
          <a:prstGeom prst="ellipse">
            <a:avLst/>
          </a:prstGeom>
          <a:ln>
            <a:solidFill>
              <a:srgbClr val="212E55"/>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1</a:t>
            </a:r>
            <a:endParaRPr lang="ko-KR" altLang="en-US" dirty="0">
              <a:solidFill>
                <a:schemeClr val="tx1"/>
              </a:solidFill>
              <a:latin typeface="+mn-ea"/>
            </a:endParaRPr>
          </a:p>
        </p:txBody>
      </p:sp>
      <p:sp>
        <p:nvSpPr>
          <p:cNvPr id="2048" name="타원 2047">
            <a:extLst>
              <a:ext uri="{FF2B5EF4-FFF2-40B4-BE49-F238E27FC236}">
                <a16:creationId xmlns:a16="http://schemas.microsoft.com/office/drawing/2014/main" id="{5662FFC3-2442-85E4-21CE-BFD4A5D89EE8}"/>
              </a:ext>
            </a:extLst>
          </p:cNvPr>
          <p:cNvSpPr/>
          <p:nvPr/>
        </p:nvSpPr>
        <p:spPr>
          <a:xfrm>
            <a:off x="6351065" y="4686862"/>
            <a:ext cx="252028" cy="252028"/>
          </a:xfrm>
          <a:prstGeom prst="ellipse">
            <a:avLst/>
          </a:prstGeom>
          <a:ln>
            <a:solidFill>
              <a:srgbClr val="212E55"/>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2</a:t>
            </a:r>
            <a:endParaRPr lang="ko-KR" altLang="en-US" dirty="0">
              <a:solidFill>
                <a:schemeClr val="tx1"/>
              </a:solidFill>
              <a:latin typeface="+mn-ea"/>
            </a:endParaRPr>
          </a:p>
        </p:txBody>
      </p:sp>
      <p:sp>
        <p:nvSpPr>
          <p:cNvPr id="2049" name="타원 2048">
            <a:extLst>
              <a:ext uri="{FF2B5EF4-FFF2-40B4-BE49-F238E27FC236}">
                <a16:creationId xmlns:a16="http://schemas.microsoft.com/office/drawing/2014/main" id="{4C0A295B-FBF5-81CE-FF49-91840D74AE7F}"/>
              </a:ext>
            </a:extLst>
          </p:cNvPr>
          <p:cNvSpPr/>
          <p:nvPr/>
        </p:nvSpPr>
        <p:spPr>
          <a:xfrm>
            <a:off x="6351065" y="5536034"/>
            <a:ext cx="252028" cy="252028"/>
          </a:xfrm>
          <a:prstGeom prst="ellipse">
            <a:avLst/>
          </a:prstGeom>
          <a:ln>
            <a:solidFill>
              <a:srgbClr val="212E55"/>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3</a:t>
            </a:r>
            <a:endParaRPr lang="ko-KR" altLang="en-US" dirty="0">
              <a:solidFill>
                <a:schemeClr val="tx1"/>
              </a:solidFill>
              <a:latin typeface="+mn-ea"/>
            </a:endParaRPr>
          </a:p>
        </p:txBody>
      </p:sp>
    </p:spTree>
    <p:extLst>
      <p:ext uri="{BB962C8B-B14F-4D97-AF65-F5344CB8AC3E}">
        <p14:creationId xmlns:p14="http://schemas.microsoft.com/office/powerpoint/2010/main" val="1614302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r>
              <a:rPr lang="ko-KR" altLang="en-US" dirty="0">
                <a:latin typeface="Arial Narrow" panose="020B0606020202030204" pitchFamily="34" charset="0"/>
              </a:rPr>
              <a:t>과업 세부 일정계획</a:t>
            </a: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 name="텍스트 개체 틀 3">
            <a:extLst>
              <a:ext uri="{FF2B5EF4-FFF2-40B4-BE49-F238E27FC236}">
                <a16:creationId xmlns:a16="http://schemas.microsoft.com/office/drawing/2014/main" id="{15A9C422-1548-67A5-C435-C8A3D44EC7F1}"/>
              </a:ext>
            </a:extLst>
          </p:cNvPr>
          <p:cNvSpPr>
            <a:spLocks noGrp="1"/>
          </p:cNvSpPr>
          <p:nvPr>
            <p:ph type="body" sz="quarter" idx="16"/>
          </p:nvPr>
        </p:nvSpPr>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3. </a:t>
            </a:r>
            <a:r>
              <a:rPr lang="ko-KR" altLang="en-US" dirty="0">
                <a:latin typeface="+mn-ea"/>
              </a:rPr>
              <a:t>추진일정계획</a:t>
            </a:r>
          </a:p>
        </p:txBody>
      </p:sp>
      <p:sp>
        <p:nvSpPr>
          <p:cNvPr id="19" name="텍스트 개체 틀 5"/>
          <p:cNvSpPr>
            <a:spLocks noGrp="1"/>
          </p:cNvSpPr>
          <p:nvPr>
            <p:ph type="body" sz="quarter" idx="12"/>
          </p:nvPr>
        </p:nvSpPr>
        <p:spPr>
          <a:xfrm>
            <a:off x="596515" y="650182"/>
            <a:ext cx="8749097" cy="815119"/>
          </a:xfrm>
        </p:spPr>
        <p:txBody>
          <a:bodyPr/>
          <a:lstStyle/>
          <a:p>
            <a:r>
              <a:rPr lang="ko-KR" altLang="en-US" sz="1800" dirty="0"/>
              <a:t>본 과업은 </a:t>
            </a:r>
            <a:r>
              <a:rPr lang="ko-KR" altLang="en-US" sz="1800" dirty="0">
                <a:solidFill>
                  <a:srgbClr val="0070C0"/>
                </a:solidFill>
              </a:rPr>
              <a:t>약 </a:t>
            </a:r>
            <a:r>
              <a:rPr lang="en-US" altLang="ko-KR" dirty="0">
                <a:solidFill>
                  <a:srgbClr val="0070C0"/>
                </a:solidFill>
              </a:rPr>
              <a:t>6.5</a:t>
            </a:r>
            <a:r>
              <a:rPr lang="ko-KR" altLang="en-US" sz="1800" dirty="0">
                <a:solidFill>
                  <a:srgbClr val="0070C0"/>
                </a:solidFill>
              </a:rPr>
              <a:t>개월 동안 진행</a:t>
            </a:r>
            <a:r>
              <a:rPr lang="ko-KR" altLang="en-US" sz="1800" dirty="0"/>
              <a:t>될 예정이며</a:t>
            </a:r>
            <a:r>
              <a:rPr lang="en-US" altLang="ko-KR" sz="1800" dirty="0"/>
              <a:t>, </a:t>
            </a:r>
            <a:r>
              <a:rPr lang="ko-KR" altLang="en-US" sz="1800" dirty="0"/>
              <a:t>종료 이후 </a:t>
            </a:r>
            <a:r>
              <a:rPr lang="en-US" altLang="ko-KR" sz="1800" dirty="0">
                <a:solidFill>
                  <a:srgbClr val="0070C0"/>
                </a:solidFill>
              </a:rPr>
              <a:t>3</a:t>
            </a:r>
            <a:r>
              <a:rPr lang="ko-KR" altLang="en-US" sz="1800" dirty="0">
                <a:solidFill>
                  <a:srgbClr val="0070C0"/>
                </a:solidFill>
              </a:rPr>
              <a:t>개월 간 사후관리</a:t>
            </a:r>
            <a:r>
              <a:rPr lang="ko-KR" altLang="en-US" sz="1800" dirty="0"/>
              <a:t>를 지원할 예정임</a:t>
            </a:r>
          </a:p>
        </p:txBody>
      </p:sp>
      <p:graphicFrame>
        <p:nvGraphicFramePr>
          <p:cNvPr id="8" name="Group 1055">
            <a:extLst>
              <a:ext uri="{FF2B5EF4-FFF2-40B4-BE49-F238E27FC236}">
                <a16:creationId xmlns:a16="http://schemas.microsoft.com/office/drawing/2014/main" id="{4FEA9ACE-4337-E09B-4AC5-37BDE9FB7E08}"/>
              </a:ext>
            </a:extLst>
          </p:cNvPr>
          <p:cNvGraphicFramePr>
            <a:graphicFrameLocks noGrp="1"/>
          </p:cNvGraphicFramePr>
          <p:nvPr>
            <p:extLst>
              <p:ext uri="{D42A27DB-BD31-4B8C-83A1-F6EECF244321}">
                <p14:modId xmlns:p14="http://schemas.microsoft.com/office/powerpoint/2010/main" val="164039103"/>
              </p:ext>
            </p:extLst>
          </p:nvPr>
        </p:nvGraphicFramePr>
        <p:xfrm>
          <a:off x="596901" y="1232756"/>
          <a:ext cx="8748708" cy="5256942"/>
        </p:xfrm>
        <a:graphic>
          <a:graphicData uri="http://schemas.openxmlformats.org/drawingml/2006/table">
            <a:tbl>
              <a:tblPr/>
              <a:tblGrid>
                <a:gridCol w="193147">
                  <a:extLst>
                    <a:ext uri="{9D8B030D-6E8A-4147-A177-3AD203B41FA5}">
                      <a16:colId xmlns:a16="http://schemas.microsoft.com/office/drawing/2014/main" val="20000"/>
                    </a:ext>
                  </a:extLst>
                </a:gridCol>
                <a:gridCol w="2879789">
                  <a:extLst>
                    <a:ext uri="{9D8B030D-6E8A-4147-A177-3AD203B41FA5}">
                      <a16:colId xmlns:a16="http://schemas.microsoft.com/office/drawing/2014/main" val="3748297214"/>
                    </a:ext>
                  </a:extLst>
                </a:gridCol>
                <a:gridCol w="182629">
                  <a:extLst>
                    <a:ext uri="{9D8B030D-6E8A-4147-A177-3AD203B41FA5}">
                      <a16:colId xmlns:a16="http://schemas.microsoft.com/office/drawing/2014/main" val="20002"/>
                    </a:ext>
                  </a:extLst>
                </a:gridCol>
                <a:gridCol w="179287">
                  <a:extLst>
                    <a:ext uri="{9D8B030D-6E8A-4147-A177-3AD203B41FA5}">
                      <a16:colId xmlns:a16="http://schemas.microsoft.com/office/drawing/2014/main" val="290037645"/>
                    </a:ext>
                  </a:extLst>
                </a:gridCol>
                <a:gridCol w="179287">
                  <a:extLst>
                    <a:ext uri="{9D8B030D-6E8A-4147-A177-3AD203B41FA5}">
                      <a16:colId xmlns:a16="http://schemas.microsoft.com/office/drawing/2014/main" val="1478321707"/>
                    </a:ext>
                  </a:extLst>
                </a:gridCol>
                <a:gridCol w="179287">
                  <a:extLst>
                    <a:ext uri="{9D8B030D-6E8A-4147-A177-3AD203B41FA5}">
                      <a16:colId xmlns:a16="http://schemas.microsoft.com/office/drawing/2014/main" val="3089304665"/>
                    </a:ext>
                  </a:extLst>
                </a:gridCol>
                <a:gridCol w="179287">
                  <a:extLst>
                    <a:ext uri="{9D8B030D-6E8A-4147-A177-3AD203B41FA5}">
                      <a16:colId xmlns:a16="http://schemas.microsoft.com/office/drawing/2014/main" val="2769476973"/>
                    </a:ext>
                  </a:extLst>
                </a:gridCol>
                <a:gridCol w="179287">
                  <a:extLst>
                    <a:ext uri="{9D8B030D-6E8A-4147-A177-3AD203B41FA5}">
                      <a16:colId xmlns:a16="http://schemas.microsoft.com/office/drawing/2014/main" val="1705595123"/>
                    </a:ext>
                  </a:extLst>
                </a:gridCol>
                <a:gridCol w="179287">
                  <a:extLst>
                    <a:ext uri="{9D8B030D-6E8A-4147-A177-3AD203B41FA5}">
                      <a16:colId xmlns:a16="http://schemas.microsoft.com/office/drawing/2014/main" val="2269840878"/>
                    </a:ext>
                  </a:extLst>
                </a:gridCol>
                <a:gridCol w="179287">
                  <a:extLst>
                    <a:ext uri="{9D8B030D-6E8A-4147-A177-3AD203B41FA5}">
                      <a16:colId xmlns:a16="http://schemas.microsoft.com/office/drawing/2014/main" val="2949588554"/>
                    </a:ext>
                  </a:extLst>
                </a:gridCol>
                <a:gridCol w="179287">
                  <a:extLst>
                    <a:ext uri="{9D8B030D-6E8A-4147-A177-3AD203B41FA5}">
                      <a16:colId xmlns:a16="http://schemas.microsoft.com/office/drawing/2014/main" val="2472780640"/>
                    </a:ext>
                  </a:extLst>
                </a:gridCol>
                <a:gridCol w="179287">
                  <a:extLst>
                    <a:ext uri="{9D8B030D-6E8A-4147-A177-3AD203B41FA5}">
                      <a16:colId xmlns:a16="http://schemas.microsoft.com/office/drawing/2014/main" val="2235233887"/>
                    </a:ext>
                  </a:extLst>
                </a:gridCol>
                <a:gridCol w="179287">
                  <a:extLst>
                    <a:ext uri="{9D8B030D-6E8A-4147-A177-3AD203B41FA5}">
                      <a16:colId xmlns:a16="http://schemas.microsoft.com/office/drawing/2014/main" val="984053331"/>
                    </a:ext>
                  </a:extLst>
                </a:gridCol>
                <a:gridCol w="179287">
                  <a:extLst>
                    <a:ext uri="{9D8B030D-6E8A-4147-A177-3AD203B41FA5}">
                      <a16:colId xmlns:a16="http://schemas.microsoft.com/office/drawing/2014/main" val="855599042"/>
                    </a:ext>
                  </a:extLst>
                </a:gridCol>
                <a:gridCol w="179287">
                  <a:extLst>
                    <a:ext uri="{9D8B030D-6E8A-4147-A177-3AD203B41FA5}">
                      <a16:colId xmlns:a16="http://schemas.microsoft.com/office/drawing/2014/main" val="1349060933"/>
                    </a:ext>
                  </a:extLst>
                </a:gridCol>
                <a:gridCol w="179287">
                  <a:extLst>
                    <a:ext uri="{9D8B030D-6E8A-4147-A177-3AD203B41FA5}">
                      <a16:colId xmlns:a16="http://schemas.microsoft.com/office/drawing/2014/main" val="2558426284"/>
                    </a:ext>
                  </a:extLst>
                </a:gridCol>
                <a:gridCol w="179287">
                  <a:extLst>
                    <a:ext uri="{9D8B030D-6E8A-4147-A177-3AD203B41FA5}">
                      <a16:colId xmlns:a16="http://schemas.microsoft.com/office/drawing/2014/main" val="1139220145"/>
                    </a:ext>
                  </a:extLst>
                </a:gridCol>
                <a:gridCol w="179287">
                  <a:extLst>
                    <a:ext uri="{9D8B030D-6E8A-4147-A177-3AD203B41FA5}">
                      <a16:colId xmlns:a16="http://schemas.microsoft.com/office/drawing/2014/main" val="1007915663"/>
                    </a:ext>
                  </a:extLst>
                </a:gridCol>
                <a:gridCol w="179287">
                  <a:extLst>
                    <a:ext uri="{9D8B030D-6E8A-4147-A177-3AD203B41FA5}">
                      <a16:colId xmlns:a16="http://schemas.microsoft.com/office/drawing/2014/main" val="4285630999"/>
                    </a:ext>
                  </a:extLst>
                </a:gridCol>
                <a:gridCol w="179287">
                  <a:extLst>
                    <a:ext uri="{9D8B030D-6E8A-4147-A177-3AD203B41FA5}">
                      <a16:colId xmlns:a16="http://schemas.microsoft.com/office/drawing/2014/main" val="2780451315"/>
                    </a:ext>
                  </a:extLst>
                </a:gridCol>
                <a:gridCol w="179287">
                  <a:extLst>
                    <a:ext uri="{9D8B030D-6E8A-4147-A177-3AD203B41FA5}">
                      <a16:colId xmlns:a16="http://schemas.microsoft.com/office/drawing/2014/main" val="3681239798"/>
                    </a:ext>
                  </a:extLst>
                </a:gridCol>
                <a:gridCol w="179287">
                  <a:extLst>
                    <a:ext uri="{9D8B030D-6E8A-4147-A177-3AD203B41FA5}">
                      <a16:colId xmlns:a16="http://schemas.microsoft.com/office/drawing/2014/main" val="3041176148"/>
                    </a:ext>
                  </a:extLst>
                </a:gridCol>
                <a:gridCol w="179287">
                  <a:extLst>
                    <a:ext uri="{9D8B030D-6E8A-4147-A177-3AD203B41FA5}">
                      <a16:colId xmlns:a16="http://schemas.microsoft.com/office/drawing/2014/main" val="1732806516"/>
                    </a:ext>
                  </a:extLst>
                </a:gridCol>
                <a:gridCol w="176343">
                  <a:extLst>
                    <a:ext uri="{9D8B030D-6E8A-4147-A177-3AD203B41FA5}">
                      <a16:colId xmlns:a16="http://schemas.microsoft.com/office/drawing/2014/main" val="2896556249"/>
                    </a:ext>
                  </a:extLst>
                </a:gridCol>
                <a:gridCol w="179287">
                  <a:extLst>
                    <a:ext uri="{9D8B030D-6E8A-4147-A177-3AD203B41FA5}">
                      <a16:colId xmlns:a16="http://schemas.microsoft.com/office/drawing/2014/main" val="3070336304"/>
                    </a:ext>
                  </a:extLst>
                </a:gridCol>
                <a:gridCol w="182231">
                  <a:extLst>
                    <a:ext uri="{9D8B030D-6E8A-4147-A177-3AD203B41FA5}">
                      <a16:colId xmlns:a16="http://schemas.microsoft.com/office/drawing/2014/main" val="1634746801"/>
                    </a:ext>
                  </a:extLst>
                </a:gridCol>
                <a:gridCol w="179287">
                  <a:extLst>
                    <a:ext uri="{9D8B030D-6E8A-4147-A177-3AD203B41FA5}">
                      <a16:colId xmlns:a16="http://schemas.microsoft.com/office/drawing/2014/main" val="1302827799"/>
                    </a:ext>
                  </a:extLst>
                </a:gridCol>
                <a:gridCol w="179287">
                  <a:extLst>
                    <a:ext uri="{9D8B030D-6E8A-4147-A177-3AD203B41FA5}">
                      <a16:colId xmlns:a16="http://schemas.microsoft.com/office/drawing/2014/main" val="2532358467"/>
                    </a:ext>
                  </a:extLst>
                </a:gridCol>
                <a:gridCol w="1010968">
                  <a:extLst>
                    <a:ext uri="{9D8B030D-6E8A-4147-A177-3AD203B41FA5}">
                      <a16:colId xmlns:a16="http://schemas.microsoft.com/office/drawing/2014/main" val="515082745"/>
                    </a:ext>
                  </a:extLst>
                </a:gridCol>
              </a:tblGrid>
              <a:tr h="252072">
                <a:tc gridSpan="2">
                  <a:txBody>
                    <a:bodyPr/>
                    <a:lstStyle/>
                    <a:p>
                      <a:pPr marL="0" marR="0" lvl="0" indent="0" algn="ctr" defTabSz="893763" rtl="0" eaLnBrk="1" fontAlgn="base" latinLnBrk="0" hangingPunct="1">
                        <a:lnSpc>
                          <a:spcPct val="100000"/>
                        </a:lnSpc>
                        <a:spcBef>
                          <a:spcPts val="0"/>
                        </a:spcBef>
                        <a:spcAft>
                          <a:spcPts val="0"/>
                        </a:spcAft>
                        <a:buClr>
                          <a:schemeClr val="tx1"/>
                        </a:buClr>
                        <a:buSzTx/>
                        <a:buFont typeface="Wingdings 2" pitchFamily="18" charset="2"/>
                        <a:buNone/>
                        <a:tabLst/>
                      </a:pPr>
                      <a:r>
                        <a:rPr kumimoji="1"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Modules / Step</a:t>
                      </a: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latinLnBrk="1"/>
                      <a:endParaRPr lang="ko-KR" altLang="en-US"/>
                    </a:p>
                  </a:txBody>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1M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2M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3M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4M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5M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6M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2">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7M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212E55"/>
                    </a:solidFill>
                  </a:tcPr>
                </a:tc>
                <a:tc>
                  <a:txBody>
                    <a:bodyPr/>
                    <a:lstStyle/>
                    <a:p>
                      <a:pPr marL="0" marR="0" lvl="0" indent="0" algn="ctr" defTabSz="893763" rtl="0" eaLnBrk="1" fontAlgn="base" latinLnBrk="0" hangingPunct="1">
                        <a:lnSpc>
                          <a:spcPct val="100000"/>
                        </a:lnSpc>
                        <a:spcBef>
                          <a:spcPts val="0"/>
                        </a:spcBef>
                        <a:spcAft>
                          <a:spcPts val="0"/>
                        </a:spcAft>
                        <a:buClr>
                          <a:schemeClr val="tx1"/>
                        </a:buClr>
                        <a:buSzTx/>
                        <a:buFont typeface="Wingdings 2" pitchFamily="18" charset="2"/>
                        <a:buNone/>
                        <a:tabLst/>
                      </a:pPr>
                      <a:r>
                        <a:rPr kumimoji="1" lang="ko-KR" altLang="en-US"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산출물</a:t>
                      </a:r>
                      <a:endParaRPr kumimoji="1"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extLst>
                  <a:ext uri="{0D108BD9-81ED-4DB2-BD59-A6C34878D82A}">
                    <a16:rowId xmlns:a16="http://schemas.microsoft.com/office/drawing/2014/main" val="1548447289"/>
                  </a:ext>
                </a:extLst>
              </a:tr>
              <a:tr h="252072">
                <a:tc gridSpan="2">
                  <a:txBody>
                    <a:bodyPr/>
                    <a:lstStyle/>
                    <a:p>
                      <a:pPr marL="631825" marR="0" lvl="0" indent="-631825" algn="l" defTabSz="893763" rtl="0" eaLnBrk="1" fontAlgn="base" latinLnBrk="0" hangingPunct="1">
                        <a:lnSpc>
                          <a:spcPts val="1000"/>
                        </a:lnSpc>
                        <a:spcBef>
                          <a:spcPts val="0"/>
                        </a:spcBef>
                        <a:spcAft>
                          <a:spcPts val="0"/>
                        </a:spcAft>
                        <a:buClr>
                          <a:schemeClr val="tx1"/>
                        </a:buClr>
                        <a:buSzTx/>
                        <a:buFont typeface="Wingdings 2" pitchFamily="18" charset="2"/>
                        <a:buNone/>
                        <a:tabLst/>
                        <a:defRPr/>
                      </a:pPr>
                      <a:r>
                        <a:rPr kumimoji="1" lang="en-US" altLang="ko-KR"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1. </a:t>
                      </a:r>
                      <a:r>
                        <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능력단위 </a:t>
                      </a:r>
                      <a:r>
                        <a:rPr kumimoji="1" lang="en-US" altLang="ko-KR"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Updating </a:t>
                      </a:r>
                      <a:r>
                        <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및 교육과정 매핑</a:t>
                      </a: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1"/>
                      <a:endParaRPr lang="ko-KR" altLang="en-US"/>
                    </a:p>
                  </a:txBody>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3">
                  <a:txBody>
                    <a:bodyPr/>
                    <a:lstStyle/>
                    <a:p>
                      <a:pPr marL="85725" marR="0" lvl="0" indent="-85725" algn="l" defTabSz="893763" rtl="0" eaLnBrk="0" fontAlgn="base" latinLnBrk="0" hangingPunct="0">
                        <a:lnSpc>
                          <a:spcPct val="100000"/>
                        </a:lnSpc>
                        <a:spcBef>
                          <a:spcPts val="0"/>
                        </a:spcBef>
                        <a:spcAft>
                          <a:spcPts val="600"/>
                        </a:spcAft>
                        <a:buClr>
                          <a:schemeClr val="tx1"/>
                        </a:buClr>
                        <a:buSzTx/>
                        <a:buFont typeface="Arial" panose="020B0604020202020204" pitchFamily="34" charset="0"/>
                        <a:buChar char="•"/>
                        <a:tabLst/>
                      </a:pPr>
                      <a:r>
                        <a:rPr kumimoji="1" lang="ko-KR" altLang="en-US"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rPr>
                        <a:t>교육과정</a:t>
                      </a:r>
                      <a:r>
                        <a:rPr kumimoji="1" lang="en-US"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rPr>
                        <a:t>-</a:t>
                      </a:r>
                      <a:r>
                        <a:rPr kumimoji="1" lang="ko-KR" altLang="en-US"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rPr>
                        <a:t>능력단위 매핑 </a:t>
                      </a:r>
                      <a:r>
                        <a:rPr kumimoji="1" lang="en-US"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rPr>
                        <a:t>DB</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466573438"/>
                  </a:ext>
                </a:extLst>
              </a:tr>
              <a:tr h="252072">
                <a:tc rowSpan="2">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914400"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 NCS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및 </a:t>
                      </a: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SQF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변경내역 검토</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0002"/>
                  </a:ext>
                </a:extLst>
              </a:tr>
              <a:tr h="252072">
                <a:tc vMerge="1">
                  <a:txBody>
                    <a:bodyPr/>
                    <a:lstStyle/>
                    <a:p>
                      <a:pPr latinLnBrk="1"/>
                      <a:endParaRPr lang="ko-KR" altLang="en-US"/>
                    </a:p>
                  </a:txBody>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2.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기존 과정 </a:t>
                      </a: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NCS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능력단위 매핑</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0003"/>
                  </a:ext>
                </a:extLst>
              </a:tr>
              <a:tr h="252072">
                <a:tc gridSpan="2">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pPr>
                      <a:r>
                        <a:rPr kumimoji="1" lang="en-US" altLang="ko-KR"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2. </a:t>
                      </a:r>
                      <a:r>
                        <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신규 과정개발 능력단위 도출</a:t>
                      </a: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4">
                  <a:txBody>
                    <a:bodyPr/>
                    <a:lstStyle/>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과정개발 가능 능력단위 </a:t>
                      </a:r>
                      <a:r>
                        <a:rPr lang="en-US" altLang="ko-KR" sz="900" spc="0" dirty="0">
                          <a:latin typeface="a고딕14" panose="02020600000000000000" pitchFamily="18" charset="-127"/>
                          <a:ea typeface="a고딕14" panose="02020600000000000000" pitchFamily="18" charset="-127"/>
                        </a:rPr>
                        <a:t>List</a:t>
                      </a:r>
                    </a:p>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수요조사 대상 능력단위 </a:t>
                      </a:r>
                      <a:r>
                        <a:rPr lang="en-US" altLang="ko-KR" sz="900" spc="0" dirty="0">
                          <a:latin typeface="a고딕14" panose="02020600000000000000" pitchFamily="18" charset="-127"/>
                          <a:ea typeface="a고딕14" panose="02020600000000000000" pitchFamily="18" charset="-127"/>
                        </a:rPr>
                        <a:t>List</a:t>
                      </a:r>
                      <a:endParaRPr lang="ko-KR" altLang="en-US" sz="9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r h="252072">
                <a:tc rowSpan="3">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914400"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spcBef>
                          <a:spcPts val="600"/>
                        </a:spcBef>
                        <a:buFontTx/>
                        <a:buNone/>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3.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과정개발 가능 여부 판단 자문회의</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0006"/>
                  </a:ext>
                </a:extLst>
              </a:tr>
              <a:tr h="252072">
                <a:tc vMerge="1">
                  <a:txBody>
                    <a:bodyPr/>
                    <a:lstStyle/>
                    <a:p>
                      <a:pPr latinLnBrk="1"/>
                      <a:endParaRPr lang="ko-KR" altLang="en-US"/>
                    </a:p>
                  </a:txBody>
                  <a:tcPr/>
                </a:tc>
                <a:tc>
                  <a:txBody>
                    <a:bodyPr/>
                    <a:lstStyle/>
                    <a:p>
                      <a:pPr latinLnBrk="0">
                        <a:spcBef>
                          <a:spcPts val="600"/>
                        </a:spcBef>
                        <a:buFontTx/>
                        <a:buNone/>
                        <a:defRPr/>
                      </a:pPr>
                      <a:r>
                        <a:rPr lang="en-US" altLang="ko-KR" sz="1000" b="0" spc="0" dirty="0">
                          <a:solidFill>
                            <a:srgbClr val="000000"/>
                          </a:solidFill>
                          <a:latin typeface="a고딕14" panose="02020600000000000000" pitchFamily="18" charset="-127"/>
                          <a:ea typeface="a고딕14" panose="02020600000000000000" pitchFamily="18" charset="-127"/>
                        </a:rPr>
                        <a:t>Step 4. </a:t>
                      </a:r>
                      <a:r>
                        <a:rPr lang="ko-KR" altLang="en-US" sz="1000" b="0" spc="0" dirty="0">
                          <a:solidFill>
                            <a:srgbClr val="000000"/>
                          </a:solidFill>
                          <a:latin typeface="a고딕14" panose="02020600000000000000" pitchFamily="18" charset="-127"/>
                          <a:ea typeface="a고딕14" panose="02020600000000000000" pitchFamily="18" charset="-127"/>
                        </a:rPr>
                        <a:t>과정개발 가능한 능력단위 평가</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3446127187"/>
                  </a:ext>
                </a:extLst>
              </a:tr>
              <a:tr h="252072">
                <a:tc vMerge="1">
                  <a:txBody>
                    <a:bodyPr/>
                    <a:lstStyle/>
                    <a:p>
                      <a:pPr marL="0" marR="0" lvl="0" indent="0" algn="l" defTabSz="914400"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F2F2F2"/>
                    </a:solidFill>
                  </a:tcPr>
                </a:tc>
                <a:tc>
                  <a:txBody>
                    <a:bodyPr/>
                    <a:lstStyle/>
                    <a:p>
                      <a:pPr latinLnBrk="0">
                        <a:spcBef>
                          <a:spcPts val="600"/>
                        </a:spcBef>
                        <a:buFontTx/>
                        <a:buNone/>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5.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수요조사 대상 능력단위 최종 도출</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2140810378"/>
                  </a:ext>
                </a:extLst>
              </a:tr>
              <a:tr h="252072">
                <a:tc gridSpan="2">
                  <a:txBody>
                    <a:body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pPr>
                      <a:r>
                        <a:rPr kumimoji="1" lang="en-US" altLang="ko-KR"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3. </a:t>
                      </a:r>
                      <a:r>
                        <a:rPr kumimoji="1" lang="ko-KR" altLang="en-US" sz="1050" b="0" i="0" u="none" strike="noStrike" kern="1200"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수요조사</a:t>
                      </a:r>
                      <a:endPar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algn="l">
                        <a:buNone/>
                      </a:pPr>
                      <a:endParaRPr lang="ko-KR" altLang="en-US" sz="1000" dirty="0">
                        <a:latin typeface="a고딕14" panose="02020600000000000000" pitchFamily="18" charset="-127"/>
                        <a:ea typeface="a고딕14" panose="02020600000000000000" pitchFamily="18" charset="-127"/>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3">
                  <a:txBody>
                    <a:bodyPr/>
                    <a:lstStyle/>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수요조사 결과</a:t>
                      </a:r>
                      <a:endParaRPr lang="en-US" altLang="ko-KR" sz="900" spc="0" dirty="0">
                        <a:latin typeface="a고딕14" panose="02020600000000000000" pitchFamily="18" charset="-127"/>
                        <a:ea typeface="a고딕14" panose="02020600000000000000" pitchFamily="18" charset="-127"/>
                      </a:endParaRPr>
                    </a:p>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신규 개발 교육과정 </a:t>
                      </a:r>
                      <a:r>
                        <a:rPr lang="en-US" altLang="ko-KR" sz="900" spc="0" dirty="0">
                          <a:latin typeface="a고딕14" panose="02020600000000000000" pitchFamily="18" charset="-127"/>
                          <a:ea typeface="a고딕14" panose="02020600000000000000" pitchFamily="18" charset="-127"/>
                        </a:rPr>
                        <a:t>List</a:t>
                      </a:r>
                      <a:endParaRPr lang="ko-KR" altLang="en-US" sz="9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306276662"/>
                  </a:ext>
                </a:extLst>
              </a:tr>
              <a:tr h="210114">
                <a:tc rowSpan="2">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pPr>
                      <a:endPar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spcBef>
                          <a:spcPts val="600"/>
                        </a:spcBef>
                        <a:buFontTx/>
                        <a:buNone/>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6.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수요조사 문항 제작</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161503581"/>
                  </a:ext>
                </a:extLst>
              </a:tr>
              <a:tr h="252072">
                <a:tc vMerge="1">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latinLnBrk="0">
                        <a:spcBef>
                          <a:spcPts val="600"/>
                        </a:spcBef>
                        <a:buFontTx/>
                        <a:buNone/>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7.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수요조사 실시 및 분석</a:t>
                      </a:r>
                      <a:endParaRPr lang="ko-KR" altLang="en-US" sz="1000" b="0" spc="0" baseline="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2755821734"/>
                  </a:ext>
                </a:extLst>
              </a:tr>
              <a:tr h="264155">
                <a:tc gridSpan="2">
                  <a:txBody>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4. </a:t>
                      </a:r>
                      <a:r>
                        <a:rPr kumimoji="0" lang="en-US" altLang="ko-KR" sz="1000" b="0" i="0" u="none" strike="noStrike" kern="0" cap="none" spc="0" normalizeH="0" baseline="0" dirty="0">
                          <a:ln>
                            <a:noFill/>
                          </a:ln>
                          <a:solidFill>
                            <a:prstClr val="white"/>
                          </a:solidFill>
                          <a:effectLst/>
                          <a:latin typeface="a고딕14" panose="02020600000000000000" pitchFamily="18" charset="-127"/>
                          <a:ea typeface="a고딕14" panose="02020600000000000000" pitchFamily="18" charset="-127"/>
                          <a:cs typeface="Arial" panose="020B0604020202020204" pitchFamily="34" charset="0"/>
                        </a:rPr>
                        <a:t> </a:t>
                      </a:r>
                      <a:r>
                        <a:rPr kumimoji="0" lang="ko-KR" altLang="en-US" sz="1000" b="0" i="0" u="none" strike="noStrike" kern="0" cap="none" spc="0" normalizeH="0" baseline="0" dirty="0">
                          <a:ln>
                            <a:noFill/>
                          </a:ln>
                          <a:solidFill>
                            <a:prstClr val="white"/>
                          </a:solidFill>
                          <a:effectLst/>
                          <a:latin typeface="a고딕14" panose="02020600000000000000" pitchFamily="18" charset="-127"/>
                          <a:ea typeface="a고딕14" panose="02020600000000000000" pitchFamily="18" charset="-127"/>
                          <a:cs typeface="Arial" panose="020B0604020202020204" pitchFamily="34" charset="0"/>
                        </a:rPr>
                        <a:t>교육과정 개요서 및 </a:t>
                      </a:r>
                      <a:r>
                        <a:rPr kumimoji="0" lang="ko-KR" altLang="en-US" sz="1000" b="0" i="0" u="none" strike="noStrike" kern="0" cap="none" spc="0" normalizeH="0" baseline="0" dirty="0" err="1">
                          <a:ln>
                            <a:noFill/>
                          </a:ln>
                          <a:solidFill>
                            <a:prstClr val="white"/>
                          </a:solidFill>
                          <a:effectLst/>
                          <a:latin typeface="a고딕14" panose="02020600000000000000" pitchFamily="18" charset="-127"/>
                          <a:ea typeface="a고딕14" panose="02020600000000000000" pitchFamily="18" charset="-127"/>
                          <a:cs typeface="Arial" panose="020B0604020202020204" pitchFamily="34" charset="0"/>
                        </a:rPr>
                        <a:t>기술교육로드맵</a:t>
                      </a:r>
                      <a:r>
                        <a:rPr kumimoji="0" lang="ko-KR" altLang="en-US" sz="1000" b="0" i="0" u="none" strike="noStrike" kern="0" cap="none" spc="0" normalizeH="0" baseline="0" dirty="0">
                          <a:ln>
                            <a:noFill/>
                          </a:ln>
                          <a:solidFill>
                            <a:prstClr val="white"/>
                          </a:solidFill>
                          <a:effectLst/>
                          <a:latin typeface="a고딕14" panose="02020600000000000000" pitchFamily="18" charset="-127"/>
                          <a:ea typeface="a고딕14" panose="02020600000000000000" pitchFamily="18" charset="-127"/>
                          <a:cs typeface="Arial" panose="020B0604020202020204" pitchFamily="34" charset="0"/>
                        </a:rPr>
                        <a:t> 작성</a:t>
                      </a:r>
                      <a:endParaRPr lang="ko-KR" altLang="en-US" sz="1000" b="0" kern="0" spc="0" dirty="0">
                        <a:solidFill>
                          <a:prstClr val="white"/>
                        </a:solidFill>
                        <a:latin typeface="a고딕14" panose="02020600000000000000" pitchFamily="18" charset="-127"/>
                        <a:ea typeface="a고딕14" panose="02020600000000000000" pitchFamily="18" charset="-127"/>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0">
                        <a:spcBef>
                          <a:spcPts val="600"/>
                        </a:spcBef>
                        <a:buFontTx/>
                        <a:buNone/>
                        <a:defRPr/>
                      </a:pPr>
                      <a:endParaRPr lang="ko-KR" altLang="en-US" sz="1000" dirty="0">
                        <a:solidFill>
                          <a:srgbClr val="000000"/>
                        </a:solidFill>
                        <a:latin typeface="+mn-ea"/>
                        <a:ea typeface="+mn-ea"/>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3">
                  <a:txBody>
                    <a:bodyPr/>
                    <a:lstStyle/>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교육과정 개요서</a:t>
                      </a:r>
                      <a:r>
                        <a:rPr lang="en-US" altLang="ko-KR" sz="900" spc="0" dirty="0">
                          <a:latin typeface="a고딕14" panose="02020600000000000000" pitchFamily="18" charset="-127"/>
                          <a:ea typeface="a고딕14" panose="02020600000000000000" pitchFamily="18" charset="-127"/>
                        </a:rPr>
                        <a:t>(380</a:t>
                      </a:r>
                      <a:r>
                        <a:rPr lang="ko-KR" altLang="en-US" sz="900" spc="0" dirty="0">
                          <a:latin typeface="a고딕14" panose="02020600000000000000" pitchFamily="18" charset="-127"/>
                          <a:ea typeface="a고딕14" panose="02020600000000000000" pitchFamily="18" charset="-127"/>
                        </a:rPr>
                        <a:t>개</a:t>
                      </a:r>
                      <a:r>
                        <a:rPr lang="en-US" altLang="ko-KR" sz="900" spc="0" dirty="0">
                          <a:latin typeface="a고딕14" panose="02020600000000000000" pitchFamily="18" charset="-127"/>
                          <a:ea typeface="a고딕14" panose="02020600000000000000" pitchFamily="18" charset="-127"/>
                        </a:rPr>
                        <a:t>)</a:t>
                      </a:r>
                    </a:p>
                    <a:p>
                      <a:pPr marL="85725" indent="-85725" algn="l" eaLnBrk="0" latinLnBrk="0" hangingPunct="0">
                        <a:spcAft>
                          <a:spcPts val="600"/>
                        </a:spcAft>
                        <a:buFont typeface="Arial" panose="020B0604020202020204" pitchFamily="34" charset="0"/>
                        <a:buChar char="•"/>
                      </a:pPr>
                      <a:r>
                        <a:rPr lang="ko-KR" altLang="en-US" sz="900" spc="0" dirty="0" err="1">
                          <a:latin typeface="a고딕14" panose="02020600000000000000" pitchFamily="18" charset="-127"/>
                          <a:ea typeface="a고딕14" panose="02020600000000000000" pitchFamily="18" charset="-127"/>
                        </a:rPr>
                        <a:t>기술교육로드맵</a:t>
                      </a:r>
                      <a:r>
                        <a:rPr lang="ko-KR" altLang="en-US" sz="900" spc="0" dirty="0">
                          <a:latin typeface="a고딕14" panose="02020600000000000000" pitchFamily="18" charset="-127"/>
                          <a:ea typeface="a고딕14" panose="02020600000000000000" pitchFamily="18" charset="-127"/>
                        </a:rPr>
                        <a:t> 및 </a:t>
                      </a:r>
                      <a:r>
                        <a:rPr lang="en-US" altLang="ko-KR" sz="900" spc="0" dirty="0">
                          <a:latin typeface="a고딕14" panose="02020600000000000000" pitchFamily="18" charset="-127"/>
                          <a:ea typeface="a고딕14" panose="02020600000000000000" pitchFamily="18" charset="-127"/>
                        </a:rPr>
                        <a:t>TTR Maste DB</a:t>
                      </a:r>
                      <a:endParaRPr lang="ko-KR" altLang="en-US" sz="9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4095662694"/>
                  </a:ext>
                </a:extLst>
              </a:tr>
              <a:tr h="252072">
                <a:tc rowSpan="2">
                  <a:txBody>
                    <a:body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defRPr/>
                      </a:pPr>
                      <a:endParaRPr kumimoji="1"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8.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교육과정 개요서 작성</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4203646013"/>
                  </a:ext>
                </a:extLst>
              </a:tr>
              <a:tr h="263746">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9.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기술교육 로드맵 작성</a:t>
                      </a:r>
                      <a:endParaRPr lang="ko-KR" altLang="en-US" sz="1000" b="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4018991659"/>
                  </a:ext>
                </a:extLst>
              </a:tr>
              <a:tr h="267277">
                <a:tc gridSpan="2">
                  <a:txBody>
                    <a:bodyPr/>
                    <a:lstStyle/>
                    <a:p>
                      <a:pPr marL="631825" marR="0" lvl="0" indent="-631825" algn="l" defTabSz="893763" rtl="0" eaLnBrk="1" fontAlgn="base" latinLnBrk="0" hangingPunct="1">
                        <a:lnSpc>
                          <a:spcPts val="1000"/>
                        </a:lnSpc>
                        <a:spcBef>
                          <a:spcPts val="0"/>
                        </a:spcBef>
                        <a:spcAft>
                          <a:spcPts val="0"/>
                        </a:spcAft>
                        <a:buClrTx/>
                        <a:buSzTx/>
                        <a:buFontTx/>
                        <a:buNone/>
                        <a:tabLst/>
                        <a:defRPr/>
                      </a:pPr>
                      <a:r>
                        <a:rPr kumimoji="0"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5. </a:t>
                      </a:r>
                      <a:r>
                        <a:rPr kumimoji="0" lang="ko-KR" altLang="en-US"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데이터 관리방안 및 </a:t>
                      </a:r>
                      <a:r>
                        <a:rPr kumimoji="0"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TTR </a:t>
                      </a:r>
                      <a:r>
                        <a:rPr kumimoji="0" lang="ko-KR" altLang="en-US"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학습 흐름 제언</a:t>
                      </a:r>
                      <a:endParaRPr kumimoji="0"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0">
                        <a:spcBef>
                          <a:spcPts val="600"/>
                        </a:spcBef>
                        <a:buFontTx/>
                        <a:buNone/>
                        <a:defRPr/>
                      </a:pPr>
                      <a:endParaRPr lang="ko-KR" altLang="en-US" sz="1000" dirty="0">
                        <a:solidFill>
                          <a:srgbClr val="000000"/>
                        </a:solidFill>
                        <a:latin typeface="+mn-ea"/>
                        <a:ea typeface="+mn-ea"/>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rowSpan="4">
                  <a:txBody>
                    <a:bodyPr/>
                    <a:lstStyle/>
                    <a:p>
                      <a:pPr marL="85725" indent="-85725" algn="l" eaLnBrk="0" latinLnBrk="0" hangingPunct="0">
                        <a:spcAft>
                          <a:spcPts val="600"/>
                        </a:spcAft>
                        <a:buFont typeface="Arial" panose="020B0604020202020204" pitchFamily="34" charset="0"/>
                        <a:buChar char="•"/>
                      </a:pPr>
                      <a:r>
                        <a:rPr lang="en-US" altLang="ko-KR" sz="900" spc="0" dirty="0">
                          <a:latin typeface="a고딕14" panose="02020600000000000000" pitchFamily="18" charset="-127"/>
                          <a:ea typeface="a고딕14" panose="02020600000000000000" pitchFamily="18" charset="-127"/>
                        </a:rPr>
                        <a:t>TTR </a:t>
                      </a:r>
                      <a:r>
                        <a:rPr lang="ko-KR" altLang="en-US" sz="900" spc="0" dirty="0">
                          <a:latin typeface="a고딕14" panose="02020600000000000000" pitchFamily="18" charset="-127"/>
                          <a:ea typeface="a고딕14" panose="02020600000000000000" pitchFamily="18" charset="-127"/>
                        </a:rPr>
                        <a:t>데이터 관리 방안 매뉴얼</a:t>
                      </a:r>
                      <a:endParaRPr lang="en-US" altLang="ko-KR" sz="900" spc="0" dirty="0">
                        <a:latin typeface="a고딕14" panose="02020600000000000000" pitchFamily="18" charset="-127"/>
                        <a:ea typeface="a고딕14" panose="02020600000000000000" pitchFamily="18" charset="-127"/>
                      </a:endParaRPr>
                    </a:p>
                    <a:p>
                      <a:pPr marL="85725" indent="-85725" algn="l" eaLnBrk="0" latinLnBrk="0" hangingPunct="0">
                        <a:spcAft>
                          <a:spcPts val="600"/>
                        </a:spcAft>
                        <a:buFont typeface="Arial" panose="020B0604020202020204" pitchFamily="34" charset="0"/>
                        <a:buChar char="•"/>
                      </a:pPr>
                      <a:r>
                        <a:rPr lang="ko-KR" altLang="en-US" sz="900" spc="0" dirty="0" err="1">
                          <a:latin typeface="a고딕14" panose="02020600000000000000" pitchFamily="18" charset="-127"/>
                          <a:ea typeface="a고딕14" panose="02020600000000000000" pitchFamily="18" charset="-127"/>
                        </a:rPr>
                        <a:t>기술교육로드맵</a:t>
                      </a:r>
                      <a:r>
                        <a:rPr lang="ko-KR" altLang="en-US" sz="900" spc="0" dirty="0">
                          <a:latin typeface="a고딕14" panose="02020600000000000000" pitchFamily="18" charset="-127"/>
                          <a:ea typeface="a고딕14" panose="02020600000000000000" pitchFamily="18" charset="-127"/>
                        </a:rPr>
                        <a:t> 학습 흐름</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047248549"/>
                  </a:ext>
                </a:extLst>
              </a:tr>
              <a:tr h="252072">
                <a:tc rowSpan="3">
                  <a:txBody>
                    <a:bodyPr/>
                    <a:lstStyle/>
                    <a:p>
                      <a:pPr marL="631825" marR="0" lvl="0" indent="-631825" algn="l" defTabSz="893763"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10. NCS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및 </a:t>
                      </a: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SQF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변경사항 적용 방안 제언</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3367608480"/>
                  </a:ext>
                </a:extLst>
              </a:tr>
              <a:tr h="252072">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11. </a:t>
                      </a:r>
                      <a:r>
                        <a:rPr kumimoji="1" lang="ko-KR" altLang="en-US"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신규 </a:t>
                      </a:r>
                      <a:r>
                        <a:rPr kumimoji="1" lang="en-US" altLang="ko-KR"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NCS </a:t>
                      </a:r>
                      <a:r>
                        <a:rPr kumimoji="1" lang="ko-KR" altLang="en-US"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적용에 따른 </a:t>
                      </a:r>
                      <a:r>
                        <a:rPr kumimoji="1" lang="en-US" altLang="ko-KR"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TTR </a:t>
                      </a:r>
                      <a:r>
                        <a:rPr kumimoji="1" lang="ko-KR" altLang="en-US"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작성 방안 제언</a:t>
                      </a:r>
                      <a:endParaRPr lang="ko-KR" altLang="en-US" sz="1000" b="0" spc="-50" baseline="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2601584062"/>
                  </a:ext>
                </a:extLst>
              </a:tr>
              <a:tr h="252072">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12. </a:t>
                      </a:r>
                      <a:r>
                        <a:rPr kumimoji="1" lang="ko-KR" altLang="en-US" sz="1000" b="0" i="0" u="none" strike="noStrike" cap="none" spc="0" normalizeH="0" baseline="0" dirty="0" err="1">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기술교육로드맵</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 학습 흐름 제언</a:t>
                      </a:r>
                      <a:endParaRPr lang="ko-KR" altLang="en-US" sz="1000" b="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vMerge="1">
                  <a:txBody>
                    <a:bodyPr/>
                    <a:lstStyle/>
                    <a:p>
                      <a:pPr latinLnBrk="1"/>
                      <a:endParaRPr lang="ko-KR" altLang="en-US"/>
                    </a:p>
                  </a:txBody>
                  <a:tcPr/>
                </a:tc>
                <a:extLst>
                  <a:ext uri="{0D108BD9-81ED-4DB2-BD59-A6C34878D82A}">
                    <a16:rowId xmlns:a16="http://schemas.microsoft.com/office/drawing/2014/main" val="3793026337"/>
                  </a:ext>
                </a:extLst>
              </a:tr>
              <a:tr h="252072">
                <a:tc gridSpan="2">
                  <a:txBody>
                    <a:bodyPr/>
                    <a:lstStyle/>
                    <a:p>
                      <a:pPr marL="631825" marR="0" lvl="0" indent="-631825" algn="l" defTabSz="893763" rtl="0" eaLnBrk="1" fontAlgn="base" latinLnBrk="0" hangingPunct="1">
                        <a:lnSpc>
                          <a:spcPts val="1000"/>
                        </a:lnSpc>
                        <a:spcBef>
                          <a:spcPts val="0"/>
                        </a:spcBef>
                        <a:spcAft>
                          <a:spcPts val="0"/>
                        </a:spcAft>
                        <a:buClrTx/>
                        <a:buSzTx/>
                        <a:buFontTx/>
                        <a:buNone/>
                        <a:tabLst/>
                      </a:pPr>
                      <a:r>
                        <a:rPr kumimoji="0"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6. </a:t>
                      </a:r>
                      <a:r>
                        <a:rPr kumimoji="0" lang="ko-KR" altLang="en-US"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직무능력은행제 연계 검토</a:t>
                      </a:r>
                      <a:endParaRPr kumimoji="0" lang="ko-KR"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000" dirty="0">
                        <a:latin typeface="a고딕14" panose="02020600000000000000" pitchFamily="18" charset="-127"/>
                        <a:ea typeface="a고딕14" panose="02020600000000000000" pitchFamily="18" charset="-127"/>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3">
                  <a:txBody>
                    <a:bodyPr/>
                    <a:lstStyle/>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직무능력은행제 연계 방안</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265598580"/>
                  </a:ext>
                </a:extLst>
              </a:tr>
              <a:tr h="252072">
                <a:tc rowSpan="2">
                  <a:txBody>
                    <a:bodyPr/>
                    <a:lstStyle/>
                    <a:p>
                      <a:pPr marL="631825" marR="0" lvl="0" indent="-631825" algn="l" defTabSz="893763"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13.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문헌 분석 및 벤치마킹</a:t>
                      </a:r>
                      <a:endParaRPr lang="ko-KR" altLang="en-US" sz="1000" b="0" spc="0" baseline="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290375163"/>
                  </a:ext>
                </a:extLst>
              </a:tr>
              <a:tr h="218498">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8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14. </a:t>
                      </a:r>
                      <a:r>
                        <a:rPr kumimoji="1" lang="ko-KR" altLang="en-US" sz="1000" b="0" i="0" u="none" strike="noStrike" cap="none" spc="-80" normalizeH="0" baseline="0" dirty="0" err="1">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온평원</a:t>
                      </a:r>
                      <a:r>
                        <a:rPr kumimoji="1" lang="ko-KR" altLang="en-US" sz="1000" b="0" i="0" u="none" strike="noStrike" cap="none" spc="-8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 콘텐츠</a:t>
                      </a:r>
                      <a:r>
                        <a:rPr kumimoji="1" lang="en-US" altLang="ko-KR" sz="1000" b="0" i="0" u="none" strike="noStrike" cap="none" spc="-8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a:t>
                      </a:r>
                      <a:r>
                        <a:rPr kumimoji="1" lang="ko-KR" altLang="en-US" sz="1000" b="0" i="0" u="none" strike="noStrike" cap="none" spc="-8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직무능력은행제 연계 방향성 제시</a:t>
                      </a:r>
                      <a:endParaRPr lang="ko-KR" altLang="en-US" sz="1000" b="0" spc="-80" baseline="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3298392515"/>
                  </a:ext>
                </a:extLst>
              </a:tr>
            </a:tbl>
          </a:graphicData>
        </a:graphic>
      </p:graphicFrame>
    </p:spTree>
    <p:extLst>
      <p:ext uri="{BB962C8B-B14F-4D97-AF65-F5344CB8AC3E}">
        <p14:creationId xmlns:p14="http://schemas.microsoft.com/office/powerpoint/2010/main" val="2165924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sz="1800" dirty="0"/>
              <a:t>철저한 과업관리를 위해 </a:t>
            </a:r>
            <a:r>
              <a:rPr lang="ko-KR" altLang="en-US" sz="1800" dirty="0">
                <a:solidFill>
                  <a:srgbClr val="0070C0"/>
                </a:solidFill>
              </a:rPr>
              <a:t>컨설팅 진행 단계별로 </a:t>
            </a:r>
            <a:r>
              <a:rPr lang="ko-KR" altLang="en-US" dirty="0">
                <a:solidFill>
                  <a:srgbClr val="0070C0"/>
                </a:solidFill>
              </a:rPr>
              <a:t>발주처와 </a:t>
            </a:r>
            <a:r>
              <a:rPr lang="ko-KR" altLang="en-US" sz="1800" dirty="0">
                <a:solidFill>
                  <a:srgbClr val="0070C0"/>
                </a:solidFill>
              </a:rPr>
              <a:t>추진상황을 공유</a:t>
            </a:r>
            <a:r>
              <a:rPr lang="ko-KR" altLang="en-US" sz="1800" dirty="0"/>
              <a:t>하고</a:t>
            </a:r>
            <a:r>
              <a:rPr lang="en-US" altLang="ko-KR" sz="1800" dirty="0"/>
              <a:t>, </a:t>
            </a:r>
            <a:r>
              <a:rPr lang="ko-KR" altLang="en-US" sz="1800" dirty="0"/>
              <a:t>그 결과를 </a:t>
            </a:r>
            <a:r>
              <a:rPr lang="ko-KR" altLang="en-US" sz="1800" dirty="0">
                <a:solidFill>
                  <a:srgbClr val="0070C0"/>
                </a:solidFill>
              </a:rPr>
              <a:t>과업 추진 과정에 반영</a:t>
            </a:r>
            <a:r>
              <a:rPr lang="ko-KR" altLang="en-US" dirty="0">
                <a:solidFill>
                  <a:srgbClr val="0070C0"/>
                </a:solidFill>
              </a:rPr>
              <a:t>하겠음</a:t>
            </a:r>
            <a:endParaRPr lang="en-US" altLang="ko-KR" sz="1800" dirty="0"/>
          </a:p>
        </p:txBody>
      </p:sp>
      <p:sp>
        <p:nvSpPr>
          <p:cNvPr id="94" name="텍스트 개체 틀 14"/>
          <p:cNvSpPr>
            <a:spLocks noGrp="1"/>
          </p:cNvSpPr>
          <p:nvPr>
            <p:ph type="body" sz="quarter" idx="14"/>
          </p:nvPr>
        </p:nvSpPr>
        <p:spPr/>
        <p:txBody>
          <a:bodyPr/>
          <a:lstStyle/>
          <a:p>
            <a:r>
              <a:rPr lang="ko-KR" altLang="en-US" dirty="0"/>
              <a:t>과업 보고</a:t>
            </a:r>
            <a:r>
              <a:rPr lang="en-US" altLang="ko-KR" dirty="0"/>
              <a:t>, </a:t>
            </a:r>
            <a:r>
              <a:rPr lang="ko-KR" altLang="en-US" dirty="0"/>
              <a:t>보고 결과 과업 추진 과정에 반영</a:t>
            </a: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noFill/>
        </p:spPr>
        <p:txBody>
          <a:bodyPr/>
          <a:lstStyle/>
          <a:p>
            <a:pPr latinLnBrk="0"/>
            <a:r>
              <a:rPr lang="ko-KR" altLang="en-US" dirty="0">
                <a:latin typeface="Arial Narrow" panose="020B0606020202030204" pitchFamily="34" charset="0"/>
              </a:rPr>
              <a:t>업무보고 및 </a:t>
            </a:r>
            <a:r>
              <a:rPr lang="ko-KR" altLang="en-US" dirty="0" err="1">
                <a:latin typeface="Arial Narrow" panose="020B0606020202030204" pitchFamily="34" charset="0"/>
              </a:rPr>
              <a:t>검토계획</a:t>
            </a:r>
            <a:endParaRPr lang="en-US" altLang="ko-KR" dirty="0">
              <a:latin typeface="Arial Narrow" panose="020B0606020202030204" pitchFamily="34" charset="0"/>
            </a:endParaRP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3. </a:t>
            </a:r>
            <a:r>
              <a:rPr lang="ko-KR" altLang="en-US" dirty="0">
                <a:latin typeface="+mn-ea"/>
              </a:rPr>
              <a:t>추진일정계획</a:t>
            </a: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8" name="object 20"/>
          <p:cNvSpPr/>
          <p:nvPr/>
        </p:nvSpPr>
        <p:spPr>
          <a:xfrm>
            <a:off x="3603006" y="2485230"/>
            <a:ext cx="2724904" cy="400447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49" name="object 20"/>
          <p:cNvSpPr/>
          <p:nvPr/>
        </p:nvSpPr>
        <p:spPr>
          <a:xfrm>
            <a:off x="6620708" y="2485230"/>
            <a:ext cx="2724904" cy="400447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50" name="object 20"/>
          <p:cNvSpPr/>
          <p:nvPr/>
        </p:nvSpPr>
        <p:spPr>
          <a:xfrm>
            <a:off x="593029" y="2485230"/>
            <a:ext cx="2719619" cy="400447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51" name="ListLeanHorizontalTextTopic1">
            <a:extLst>
              <a:ext uri="{FF2B5EF4-FFF2-40B4-BE49-F238E27FC236}">
                <a16:creationId xmlns:a16="http://schemas.microsoft.com/office/drawing/2014/main" id="{2A0E79FF-ADB6-4F8C-ACEB-987E8EECCAF9}"/>
              </a:ext>
            </a:extLst>
          </p:cNvPr>
          <p:cNvSpPr txBox="1">
            <a:spLocks noChangeArrowheads="1"/>
          </p:cNvSpPr>
          <p:nvPr/>
        </p:nvSpPr>
        <p:spPr bwMode="auto">
          <a:xfrm>
            <a:off x="632521" y="6306197"/>
            <a:ext cx="2559290" cy="183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latinLnBrk="0">
              <a:lnSpc>
                <a:spcPct val="90000"/>
              </a:lnSpc>
              <a:spcBef>
                <a:spcPts val="400"/>
              </a:spcBef>
              <a:buSzPct val="100000"/>
              <a:buNone/>
              <a:defRPr/>
            </a:pPr>
            <a:r>
              <a:rPr lang="en-US" altLang="ko-KR" sz="800" b="0" dirty="0">
                <a:solidFill>
                  <a:srgbClr val="000000"/>
                </a:solidFill>
                <a:ea typeface="a고딕14" panose="02020600000000000000" pitchFamily="18" charset="-127"/>
                <a:cs typeface="Arial Narrow" pitchFamily="34" charset="0"/>
              </a:rPr>
              <a:t>* </a:t>
            </a:r>
            <a:r>
              <a:rPr lang="ko-KR" altLang="en-US" sz="800" b="0" dirty="0">
                <a:solidFill>
                  <a:srgbClr val="000000"/>
                </a:solidFill>
                <a:ea typeface="a고딕14" panose="02020600000000000000" pitchFamily="18" charset="-127"/>
                <a:cs typeface="Arial Narrow" pitchFamily="34" charset="0"/>
              </a:rPr>
              <a:t>구체적 일자는</a:t>
            </a:r>
            <a:r>
              <a:rPr lang="en-US" altLang="ko-KR" sz="800" b="0" dirty="0">
                <a:solidFill>
                  <a:srgbClr val="000000"/>
                </a:solidFill>
                <a:ea typeface="a고딕14" panose="02020600000000000000" pitchFamily="18" charset="-127"/>
                <a:cs typeface="Arial Narrow" pitchFamily="34" charset="0"/>
              </a:rPr>
              <a:t> </a:t>
            </a:r>
            <a:r>
              <a:rPr lang="ko-KR" altLang="en-US" sz="800" b="0" dirty="0">
                <a:solidFill>
                  <a:srgbClr val="000000"/>
                </a:solidFill>
                <a:ea typeface="a고딕14" panose="02020600000000000000" pitchFamily="18" charset="-127"/>
                <a:cs typeface="Arial Narrow" pitchFamily="34" charset="0"/>
              </a:rPr>
              <a:t>실무자와의 협의 후 최종 결정함</a:t>
            </a:r>
            <a:r>
              <a:rPr lang="en-US" altLang="ko-KR" sz="800" b="0" dirty="0">
                <a:solidFill>
                  <a:srgbClr val="000000"/>
                </a:solidFill>
                <a:ea typeface="a고딕14" panose="02020600000000000000" pitchFamily="18" charset="-127"/>
                <a:cs typeface="Arial Narrow" pitchFamily="34" charset="0"/>
              </a:rPr>
              <a:t> </a:t>
            </a:r>
            <a:endParaRPr lang="en-US" sz="800" b="0" dirty="0">
              <a:solidFill>
                <a:srgbClr val="000000"/>
              </a:solidFill>
              <a:ea typeface="a고딕14" panose="02020600000000000000" pitchFamily="18" charset="-127"/>
              <a:cs typeface="Arial Narrow" pitchFamily="34" charset="0"/>
            </a:endParaRPr>
          </a:p>
        </p:txBody>
      </p:sp>
      <p:grpSp>
        <p:nvGrpSpPr>
          <p:cNvPr id="52" name="그룹 51"/>
          <p:cNvGrpSpPr/>
          <p:nvPr/>
        </p:nvGrpSpPr>
        <p:grpSpPr>
          <a:xfrm>
            <a:off x="596900" y="2153262"/>
            <a:ext cx="2724904" cy="266602"/>
            <a:chOff x="350576" y="1793973"/>
            <a:chExt cx="2648545" cy="266602"/>
          </a:xfrm>
        </p:grpSpPr>
        <p:sp>
          <p:nvSpPr>
            <p:cNvPr id="53" name="ListLeanHorizontalTextTopic1">
              <a:extLst>
                <a:ext uri="{FF2B5EF4-FFF2-40B4-BE49-F238E27FC236}">
                  <a16:creationId xmlns:a16="http://schemas.microsoft.com/office/drawing/2014/main" id="{86528A09-E614-4CF0-AE3A-71B312525DCA}"/>
                </a:ext>
              </a:extLst>
            </p:cNvPr>
            <p:cNvSpPr txBox="1">
              <a:spLocks noChangeArrowheads="1"/>
            </p:cNvSpPr>
            <p:nvPr/>
          </p:nvSpPr>
          <p:spPr bwMode="auto">
            <a:xfrm>
              <a:off x="350576" y="1793973"/>
              <a:ext cx="2648545" cy="26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72000" anchor="b">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400" b="0" dirty="0">
                  <a:solidFill>
                    <a:srgbClr val="000000"/>
                  </a:solidFill>
                  <a:ea typeface="a고딕14" panose="02020600000000000000" pitchFamily="18" charset="-127"/>
                  <a:cs typeface="Arial Narrow" pitchFamily="34" charset="0"/>
                </a:rPr>
                <a:t>보고 대상 및 시기</a:t>
              </a:r>
              <a:endParaRPr lang="en-US" sz="1400" b="0" dirty="0">
                <a:solidFill>
                  <a:srgbClr val="000000"/>
                </a:solidFill>
                <a:ea typeface="a고딕14" panose="02020600000000000000" pitchFamily="18" charset="-127"/>
                <a:cs typeface="Arial Narrow" pitchFamily="34" charset="0"/>
              </a:endParaRPr>
            </a:p>
          </p:txBody>
        </p:sp>
        <p:cxnSp>
          <p:nvCxnSpPr>
            <p:cNvPr id="54" name="Horizontal Line">
              <a:extLst>
                <a:ext uri="{FF2B5EF4-FFF2-40B4-BE49-F238E27FC236}">
                  <a16:creationId xmlns:a16="http://schemas.microsoft.com/office/drawing/2014/main" id="{80DD8D81-D282-4063-B462-D29DF8D31A9E}"/>
                </a:ext>
              </a:extLst>
            </p:cNvPr>
            <p:cNvCxnSpPr>
              <a:cxnSpLocks/>
            </p:cNvCxnSpPr>
            <p:nvPr/>
          </p:nvCxnSpPr>
          <p:spPr>
            <a:xfrm>
              <a:off x="350576" y="2060575"/>
              <a:ext cx="2648545" cy="0"/>
            </a:xfrm>
            <a:prstGeom prst="line">
              <a:avLst/>
            </a:prstGeom>
            <a:noFill/>
            <a:ln w="22225" cap="flat" cmpd="sng" algn="ctr">
              <a:solidFill>
                <a:srgbClr val="003F56"/>
              </a:solidFill>
              <a:prstDash val="solid"/>
            </a:ln>
            <a:effectLst/>
          </p:spPr>
        </p:cxnSp>
      </p:grpSp>
      <p:grpSp>
        <p:nvGrpSpPr>
          <p:cNvPr id="55" name="그룹 54"/>
          <p:cNvGrpSpPr/>
          <p:nvPr/>
        </p:nvGrpSpPr>
        <p:grpSpPr>
          <a:xfrm>
            <a:off x="3603006" y="2157936"/>
            <a:ext cx="2734272" cy="266602"/>
            <a:chOff x="3311055" y="1793973"/>
            <a:chExt cx="2657650" cy="266602"/>
          </a:xfrm>
        </p:grpSpPr>
        <p:sp>
          <p:nvSpPr>
            <p:cNvPr id="56" name="ListLeanHorizontalTextTopic1">
              <a:extLst>
                <a:ext uri="{FF2B5EF4-FFF2-40B4-BE49-F238E27FC236}">
                  <a16:creationId xmlns:a16="http://schemas.microsoft.com/office/drawing/2014/main" id="{1BFA6A99-8F00-4CE4-92D4-8E2BD7F193E8}"/>
                </a:ext>
              </a:extLst>
            </p:cNvPr>
            <p:cNvSpPr txBox="1">
              <a:spLocks noChangeArrowheads="1"/>
            </p:cNvSpPr>
            <p:nvPr/>
          </p:nvSpPr>
          <p:spPr bwMode="auto">
            <a:xfrm>
              <a:off x="3311055" y="1793973"/>
              <a:ext cx="2648545" cy="26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72000" anchor="b">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400" b="0" dirty="0">
                  <a:solidFill>
                    <a:srgbClr val="000000"/>
                  </a:solidFill>
                  <a:ea typeface="a고딕14" panose="02020600000000000000" pitchFamily="18" charset="-127"/>
                  <a:cs typeface="Arial Narrow" pitchFamily="34" charset="0"/>
                </a:rPr>
                <a:t>보고 내용</a:t>
              </a:r>
              <a:endParaRPr lang="en-US" sz="1400" b="0" dirty="0">
                <a:solidFill>
                  <a:srgbClr val="000000"/>
                </a:solidFill>
                <a:ea typeface="a고딕14" panose="02020600000000000000" pitchFamily="18" charset="-127"/>
                <a:cs typeface="Arial Narrow" pitchFamily="34" charset="0"/>
              </a:endParaRPr>
            </a:p>
          </p:txBody>
        </p:sp>
        <p:cxnSp>
          <p:nvCxnSpPr>
            <p:cNvPr id="57" name="Horizontal Line">
              <a:extLst>
                <a:ext uri="{FF2B5EF4-FFF2-40B4-BE49-F238E27FC236}">
                  <a16:creationId xmlns:a16="http://schemas.microsoft.com/office/drawing/2014/main" id="{9132A8A1-40B3-423C-AFA0-2CCC29C66C6D}"/>
                </a:ext>
              </a:extLst>
            </p:cNvPr>
            <p:cNvCxnSpPr>
              <a:cxnSpLocks/>
            </p:cNvCxnSpPr>
            <p:nvPr/>
          </p:nvCxnSpPr>
          <p:spPr>
            <a:xfrm>
              <a:off x="3311055" y="2060575"/>
              <a:ext cx="2657650" cy="0"/>
            </a:xfrm>
            <a:prstGeom prst="line">
              <a:avLst/>
            </a:prstGeom>
            <a:noFill/>
            <a:ln w="22225" cap="flat" cmpd="sng" algn="ctr">
              <a:solidFill>
                <a:srgbClr val="003F56"/>
              </a:solidFill>
              <a:prstDash val="solid"/>
            </a:ln>
            <a:effectLst/>
          </p:spPr>
        </p:cxnSp>
      </p:grpSp>
      <p:grpSp>
        <p:nvGrpSpPr>
          <p:cNvPr id="58" name="그룹 57"/>
          <p:cNvGrpSpPr/>
          <p:nvPr/>
        </p:nvGrpSpPr>
        <p:grpSpPr>
          <a:xfrm>
            <a:off x="6620708" y="2157936"/>
            <a:ext cx="2724904" cy="266602"/>
            <a:chOff x="6271534" y="1793973"/>
            <a:chExt cx="2648545" cy="266602"/>
          </a:xfrm>
        </p:grpSpPr>
        <p:sp>
          <p:nvSpPr>
            <p:cNvPr id="59" name="ListLeanHorizontalTextTopic1">
              <a:extLst>
                <a:ext uri="{FF2B5EF4-FFF2-40B4-BE49-F238E27FC236}">
                  <a16:creationId xmlns:a16="http://schemas.microsoft.com/office/drawing/2014/main" id="{E5E2E26F-D70A-4875-B6E0-3F53FEE5E9EB}"/>
                </a:ext>
              </a:extLst>
            </p:cNvPr>
            <p:cNvSpPr txBox="1">
              <a:spLocks noChangeArrowheads="1"/>
            </p:cNvSpPr>
            <p:nvPr/>
          </p:nvSpPr>
          <p:spPr bwMode="auto">
            <a:xfrm>
              <a:off x="6271534" y="1793973"/>
              <a:ext cx="2648545" cy="26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72000" anchor="b">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400" b="0">
                  <a:solidFill>
                    <a:srgbClr val="000000"/>
                  </a:solidFill>
                  <a:ea typeface="a고딕14" panose="02020600000000000000" pitchFamily="18" charset="-127"/>
                  <a:cs typeface="Arial Narrow" pitchFamily="34" charset="0"/>
                </a:rPr>
                <a:t>보고 형태</a:t>
              </a:r>
              <a:endParaRPr lang="en-US" sz="1400" b="0" dirty="0">
                <a:solidFill>
                  <a:srgbClr val="000000"/>
                </a:solidFill>
                <a:ea typeface="a고딕14" panose="02020600000000000000" pitchFamily="18" charset="-127"/>
                <a:cs typeface="Arial Narrow" pitchFamily="34" charset="0"/>
              </a:endParaRPr>
            </a:p>
          </p:txBody>
        </p:sp>
        <p:cxnSp>
          <p:nvCxnSpPr>
            <p:cNvPr id="60" name="Horizontal Line">
              <a:extLst>
                <a:ext uri="{FF2B5EF4-FFF2-40B4-BE49-F238E27FC236}">
                  <a16:creationId xmlns:a16="http://schemas.microsoft.com/office/drawing/2014/main" id="{19D8606E-CC38-42C8-9526-3E439B368A95}"/>
                </a:ext>
              </a:extLst>
            </p:cNvPr>
            <p:cNvCxnSpPr>
              <a:cxnSpLocks/>
            </p:cNvCxnSpPr>
            <p:nvPr/>
          </p:nvCxnSpPr>
          <p:spPr>
            <a:xfrm>
              <a:off x="6271534" y="2060575"/>
              <a:ext cx="2648545" cy="0"/>
            </a:xfrm>
            <a:prstGeom prst="line">
              <a:avLst/>
            </a:prstGeom>
            <a:noFill/>
            <a:ln w="22225" cap="flat" cmpd="sng" algn="ctr">
              <a:solidFill>
                <a:srgbClr val="003F56"/>
              </a:solidFill>
              <a:prstDash val="solid"/>
            </a:ln>
            <a:effectLst/>
          </p:spPr>
        </p:cxnSp>
      </p:grpSp>
      <p:sp>
        <p:nvSpPr>
          <p:cNvPr id="61" name="ListLeanHorizontalTextTopic1">
            <a:extLst>
              <a:ext uri="{FF2B5EF4-FFF2-40B4-BE49-F238E27FC236}">
                <a16:creationId xmlns:a16="http://schemas.microsoft.com/office/drawing/2014/main" id="{9373E672-941E-4949-9D4C-B330E964B5D5}"/>
              </a:ext>
            </a:extLst>
          </p:cNvPr>
          <p:cNvSpPr txBox="1">
            <a:spLocks noChangeArrowheads="1"/>
          </p:cNvSpPr>
          <p:nvPr/>
        </p:nvSpPr>
        <p:spPr bwMode="auto">
          <a:xfrm>
            <a:off x="666580" y="2536453"/>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보고 대상</a:t>
            </a:r>
            <a:endParaRPr lang="en-US" sz="1100" dirty="0">
              <a:solidFill>
                <a:srgbClr val="000000"/>
              </a:solidFill>
              <a:ea typeface="a고딕14" panose="02020600000000000000" pitchFamily="18" charset="-127"/>
              <a:cs typeface="Arial Narrow" pitchFamily="34" charset="0"/>
            </a:endParaRPr>
          </a:p>
        </p:txBody>
      </p:sp>
      <p:sp>
        <p:nvSpPr>
          <p:cNvPr id="62" name="ListLeanHorizontalTextTopic1">
            <a:extLst>
              <a:ext uri="{FF2B5EF4-FFF2-40B4-BE49-F238E27FC236}">
                <a16:creationId xmlns:a16="http://schemas.microsoft.com/office/drawing/2014/main" id="{F067639C-4CB1-48D1-A0AA-641A041BB98C}"/>
              </a:ext>
            </a:extLst>
          </p:cNvPr>
          <p:cNvSpPr txBox="1">
            <a:spLocks noChangeArrowheads="1"/>
          </p:cNvSpPr>
          <p:nvPr/>
        </p:nvSpPr>
        <p:spPr bwMode="auto">
          <a:xfrm>
            <a:off x="666579" y="2746899"/>
            <a:ext cx="2643629" cy="47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err="1"/>
              <a:t>공식보고와</a:t>
            </a:r>
            <a:r>
              <a:rPr lang="ko-KR" altLang="en-US" sz="1100" dirty="0"/>
              <a:t> 비공식 보고에 따라 참석 대상 구분</a:t>
            </a:r>
            <a:endParaRPr lang="en-US" sz="1100" dirty="0"/>
          </a:p>
        </p:txBody>
      </p:sp>
      <p:sp>
        <p:nvSpPr>
          <p:cNvPr id="63" name="ListLeanHorizontalTextTopic1">
            <a:extLst>
              <a:ext uri="{FF2B5EF4-FFF2-40B4-BE49-F238E27FC236}">
                <a16:creationId xmlns:a16="http://schemas.microsoft.com/office/drawing/2014/main" id="{54352A1A-EA92-4F89-908C-B3EB399E64EC}"/>
              </a:ext>
            </a:extLst>
          </p:cNvPr>
          <p:cNvSpPr txBox="1">
            <a:spLocks noChangeArrowheads="1"/>
          </p:cNvSpPr>
          <p:nvPr/>
        </p:nvSpPr>
        <p:spPr bwMode="auto">
          <a:xfrm>
            <a:off x="666580" y="5149453"/>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a:solidFill>
                  <a:srgbClr val="000000"/>
                </a:solidFill>
                <a:ea typeface="a고딕14" panose="02020600000000000000" pitchFamily="18" charset="-127"/>
                <a:cs typeface="Arial Narrow" pitchFamily="34" charset="0"/>
              </a:rPr>
              <a:t>보고 시기</a:t>
            </a:r>
            <a:endParaRPr lang="en-US" sz="1100" dirty="0">
              <a:solidFill>
                <a:srgbClr val="000000"/>
              </a:solidFill>
              <a:ea typeface="a고딕14" panose="02020600000000000000" pitchFamily="18" charset="-127"/>
              <a:cs typeface="Arial Narrow" pitchFamily="34" charset="0"/>
            </a:endParaRPr>
          </a:p>
        </p:txBody>
      </p:sp>
      <p:sp>
        <p:nvSpPr>
          <p:cNvPr id="64" name="ListLeanHorizontalTextTopic1">
            <a:extLst>
              <a:ext uri="{FF2B5EF4-FFF2-40B4-BE49-F238E27FC236}">
                <a16:creationId xmlns:a16="http://schemas.microsoft.com/office/drawing/2014/main" id="{8D1B15C9-29BE-4196-B639-369B622FCF3D}"/>
              </a:ext>
            </a:extLst>
          </p:cNvPr>
          <p:cNvSpPr txBox="1">
            <a:spLocks noChangeArrowheads="1"/>
          </p:cNvSpPr>
          <p:nvPr/>
        </p:nvSpPr>
        <p:spPr bwMode="auto">
          <a:xfrm>
            <a:off x="666803" y="5359899"/>
            <a:ext cx="2643405" cy="7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err="1"/>
              <a:t>공식보고</a:t>
            </a:r>
            <a:r>
              <a:rPr lang="en-US" altLang="ko-KR" sz="1100" dirty="0"/>
              <a:t>: Kick-off, </a:t>
            </a:r>
            <a:r>
              <a:rPr lang="ko-KR" altLang="en-US" sz="1100" dirty="0"/>
              <a:t>중간보고</a:t>
            </a:r>
            <a:r>
              <a:rPr lang="en-US" altLang="ko-KR" sz="1100" dirty="0"/>
              <a:t>, </a:t>
            </a:r>
            <a:r>
              <a:rPr lang="ko-KR" altLang="en-US" sz="1100" dirty="0"/>
              <a:t>최종보고</a:t>
            </a:r>
          </a:p>
          <a:p>
            <a:r>
              <a:rPr lang="ko-KR" altLang="en-US" sz="1100" dirty="0"/>
              <a:t>비공식 보고</a:t>
            </a:r>
            <a:r>
              <a:rPr lang="en-US" altLang="ko-KR" sz="1100" dirty="0"/>
              <a:t>: Progress review </a:t>
            </a:r>
            <a:br>
              <a:rPr lang="en-US" altLang="ko-KR" sz="1100" dirty="0"/>
            </a:br>
            <a:r>
              <a:rPr lang="en-US" altLang="ko-KR" sz="1100" dirty="0"/>
              <a:t>(weekly / bi-weekly), </a:t>
            </a:r>
            <a:r>
              <a:rPr lang="ko-KR" altLang="en-US" sz="1100" dirty="0"/>
              <a:t>실무 협의회의</a:t>
            </a:r>
            <a:endParaRPr lang="en-US" sz="1100" dirty="0"/>
          </a:p>
        </p:txBody>
      </p:sp>
      <p:sp>
        <p:nvSpPr>
          <p:cNvPr id="65" name="ListLeanHorizontalTextTopic1">
            <a:extLst>
              <a:ext uri="{FF2B5EF4-FFF2-40B4-BE49-F238E27FC236}">
                <a16:creationId xmlns:a16="http://schemas.microsoft.com/office/drawing/2014/main" id="{175B6347-FA57-4CA2-A7CD-2901E03440B0}"/>
              </a:ext>
            </a:extLst>
          </p:cNvPr>
          <p:cNvSpPr txBox="1">
            <a:spLocks noChangeArrowheads="1"/>
          </p:cNvSpPr>
          <p:nvPr/>
        </p:nvSpPr>
        <p:spPr bwMode="auto">
          <a:xfrm>
            <a:off x="3672687" y="2536453"/>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공식 보고</a:t>
            </a:r>
            <a:endParaRPr lang="en-US" sz="1100" dirty="0">
              <a:solidFill>
                <a:srgbClr val="000000"/>
              </a:solidFill>
              <a:ea typeface="a고딕14" panose="02020600000000000000" pitchFamily="18" charset="-127"/>
              <a:cs typeface="Arial Narrow" pitchFamily="34" charset="0"/>
            </a:endParaRPr>
          </a:p>
        </p:txBody>
      </p:sp>
      <p:sp>
        <p:nvSpPr>
          <p:cNvPr id="66" name="ListLeanHorizontalTextTopic1">
            <a:extLst>
              <a:ext uri="{FF2B5EF4-FFF2-40B4-BE49-F238E27FC236}">
                <a16:creationId xmlns:a16="http://schemas.microsoft.com/office/drawing/2014/main" id="{DF555F9C-57D0-4CA0-B1B0-EDAFB7669FAF}"/>
              </a:ext>
            </a:extLst>
          </p:cNvPr>
          <p:cNvSpPr txBox="1">
            <a:spLocks noChangeArrowheads="1"/>
          </p:cNvSpPr>
          <p:nvPr/>
        </p:nvSpPr>
        <p:spPr bwMode="auto">
          <a:xfrm>
            <a:off x="3672687" y="2746899"/>
            <a:ext cx="2655222" cy="47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의사결정이 요구되는 내용</a:t>
            </a:r>
            <a:r>
              <a:rPr lang="en-US" altLang="ko-KR" sz="1100" dirty="0"/>
              <a:t>, </a:t>
            </a:r>
            <a:r>
              <a:rPr lang="ko-KR" altLang="en-US" sz="1100" dirty="0"/>
              <a:t>기 의사결정 사항을 중심으로 보고</a:t>
            </a:r>
            <a:endParaRPr lang="en-US" sz="1100" dirty="0"/>
          </a:p>
        </p:txBody>
      </p:sp>
      <p:sp>
        <p:nvSpPr>
          <p:cNvPr id="67" name="ListLeanHorizontalTextTopic1">
            <a:extLst>
              <a:ext uri="{FF2B5EF4-FFF2-40B4-BE49-F238E27FC236}">
                <a16:creationId xmlns:a16="http://schemas.microsoft.com/office/drawing/2014/main" id="{438D10DA-E273-4A51-8623-2F6BF2173B09}"/>
              </a:ext>
            </a:extLst>
          </p:cNvPr>
          <p:cNvSpPr txBox="1">
            <a:spLocks noChangeArrowheads="1"/>
          </p:cNvSpPr>
          <p:nvPr/>
        </p:nvSpPr>
        <p:spPr bwMode="auto">
          <a:xfrm>
            <a:off x="3672687" y="3457265"/>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비공식 보고</a:t>
            </a:r>
            <a:endParaRPr lang="en-US" sz="1100" dirty="0">
              <a:solidFill>
                <a:srgbClr val="000000"/>
              </a:solidFill>
              <a:ea typeface="a고딕14" panose="02020600000000000000" pitchFamily="18" charset="-127"/>
              <a:cs typeface="Arial Narrow" pitchFamily="34" charset="0"/>
            </a:endParaRPr>
          </a:p>
        </p:txBody>
      </p:sp>
      <p:sp>
        <p:nvSpPr>
          <p:cNvPr id="68" name="ListLeanHorizontalTextTopic1">
            <a:extLst>
              <a:ext uri="{FF2B5EF4-FFF2-40B4-BE49-F238E27FC236}">
                <a16:creationId xmlns:a16="http://schemas.microsoft.com/office/drawing/2014/main" id="{F0E9F5BE-1AAE-4B6D-92EC-458AB9B4B4F6}"/>
              </a:ext>
            </a:extLst>
          </p:cNvPr>
          <p:cNvSpPr txBox="1">
            <a:spLocks noChangeArrowheads="1"/>
          </p:cNvSpPr>
          <p:nvPr/>
        </p:nvSpPr>
        <p:spPr bwMode="auto">
          <a:xfrm>
            <a:off x="3672686" y="3667711"/>
            <a:ext cx="2655223" cy="7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작업 결과</a:t>
            </a:r>
            <a:r>
              <a:rPr lang="en-US" altLang="ko-KR" sz="1100" dirty="0"/>
              <a:t>, </a:t>
            </a:r>
            <a:r>
              <a:rPr lang="ko-KR" altLang="en-US" sz="1100" dirty="0"/>
              <a:t>향후 계획</a:t>
            </a:r>
            <a:r>
              <a:rPr lang="en-US" altLang="ko-KR" sz="1100" dirty="0"/>
              <a:t>, </a:t>
            </a:r>
            <a:r>
              <a:rPr lang="ko-KR" altLang="en-US" sz="1100" dirty="0"/>
              <a:t>요청 사항을 중심으로 보고</a:t>
            </a:r>
          </a:p>
          <a:p>
            <a:r>
              <a:rPr lang="ko-KR" altLang="en-US" sz="1100" dirty="0"/>
              <a:t>핵심 </a:t>
            </a:r>
            <a:r>
              <a:rPr lang="en-US" altLang="ko-KR" sz="1100" dirty="0"/>
              <a:t>issue </a:t>
            </a:r>
            <a:r>
              <a:rPr lang="ko-KR" altLang="en-US" sz="1100" dirty="0"/>
              <a:t>및 시사점 위주로 토의</a:t>
            </a:r>
            <a:endParaRPr lang="en-US" sz="1100" dirty="0"/>
          </a:p>
        </p:txBody>
      </p:sp>
      <p:pic>
        <p:nvPicPr>
          <p:cNvPr id="69" name="그림 68">
            <a:extLst>
              <a:ext uri="{FF2B5EF4-FFF2-40B4-BE49-F238E27FC236}">
                <a16:creationId xmlns:a16="http://schemas.microsoft.com/office/drawing/2014/main" id="{93E92EB9-D333-4790-AF96-2EF32A313B33}"/>
              </a:ext>
            </a:extLst>
          </p:cNvPr>
          <p:cNvPicPr>
            <a:picLocks noChangeAspect="1"/>
          </p:cNvPicPr>
          <p:nvPr/>
        </p:nvPicPr>
        <p:blipFill>
          <a:blip r:embed="rId2"/>
          <a:stretch>
            <a:fillRect/>
          </a:stretch>
        </p:blipFill>
        <p:spPr>
          <a:xfrm>
            <a:off x="3709215" y="4565159"/>
            <a:ext cx="2503925" cy="1621421"/>
          </a:xfrm>
          <a:prstGeom prst="rect">
            <a:avLst/>
          </a:prstGeom>
        </p:spPr>
      </p:pic>
      <p:pic>
        <p:nvPicPr>
          <p:cNvPr id="70" name="그림 69">
            <a:extLst>
              <a:ext uri="{FF2B5EF4-FFF2-40B4-BE49-F238E27FC236}">
                <a16:creationId xmlns:a16="http://schemas.microsoft.com/office/drawing/2014/main" id="{3621DEF9-B210-48A8-88C9-FC85A91E8185}"/>
              </a:ext>
            </a:extLst>
          </p:cNvPr>
          <p:cNvPicPr>
            <a:picLocks noChangeAspect="1"/>
          </p:cNvPicPr>
          <p:nvPr/>
        </p:nvPicPr>
        <p:blipFill>
          <a:blip r:embed="rId3"/>
          <a:stretch>
            <a:fillRect/>
          </a:stretch>
        </p:blipFill>
        <p:spPr>
          <a:xfrm>
            <a:off x="6686416" y="2520773"/>
            <a:ext cx="764353" cy="3788547"/>
          </a:xfrm>
          <a:prstGeom prst="rect">
            <a:avLst/>
          </a:prstGeom>
        </p:spPr>
      </p:pic>
      <p:grpSp>
        <p:nvGrpSpPr>
          <p:cNvPr id="71" name="그룹 70"/>
          <p:cNvGrpSpPr/>
          <p:nvPr/>
        </p:nvGrpSpPr>
        <p:grpSpPr>
          <a:xfrm>
            <a:off x="7406842" y="3780913"/>
            <a:ext cx="1866640" cy="1269568"/>
            <a:chOff x="6963669" y="3386888"/>
            <a:chExt cx="1905221" cy="1269568"/>
          </a:xfrm>
        </p:grpSpPr>
        <p:cxnSp>
          <p:nvCxnSpPr>
            <p:cNvPr id="72" name="직선 연결선 71">
              <a:extLst>
                <a:ext uri="{FF2B5EF4-FFF2-40B4-BE49-F238E27FC236}">
                  <a16:creationId xmlns:a16="http://schemas.microsoft.com/office/drawing/2014/main" id="{7AA7640B-0052-4687-B20D-EB1352404865}"/>
                </a:ext>
              </a:extLst>
            </p:cNvPr>
            <p:cNvCxnSpPr>
              <a:cxnSpLocks/>
            </p:cNvCxnSpPr>
            <p:nvPr/>
          </p:nvCxnSpPr>
          <p:spPr>
            <a:xfrm flipH="1">
              <a:off x="6963669" y="3386888"/>
              <a:ext cx="1905221" cy="0"/>
            </a:xfrm>
            <a:prstGeom prst="line">
              <a:avLst/>
            </a:prstGeom>
            <a:noFill/>
            <a:ln w="9525" cap="flat" cmpd="sng" algn="ctr">
              <a:solidFill>
                <a:srgbClr val="003F56"/>
              </a:solidFill>
              <a:prstDash val="dash"/>
            </a:ln>
            <a:effectLst/>
          </p:spPr>
        </p:cxnSp>
        <p:cxnSp>
          <p:nvCxnSpPr>
            <p:cNvPr id="73" name="직선 연결선 72">
              <a:extLst>
                <a:ext uri="{FF2B5EF4-FFF2-40B4-BE49-F238E27FC236}">
                  <a16:creationId xmlns:a16="http://schemas.microsoft.com/office/drawing/2014/main" id="{419A8D61-BF30-484E-8B55-0FE19CF445D1}"/>
                </a:ext>
              </a:extLst>
            </p:cNvPr>
            <p:cNvCxnSpPr>
              <a:cxnSpLocks/>
            </p:cNvCxnSpPr>
            <p:nvPr/>
          </p:nvCxnSpPr>
          <p:spPr>
            <a:xfrm flipH="1">
              <a:off x="6963669" y="4656456"/>
              <a:ext cx="1905221" cy="0"/>
            </a:xfrm>
            <a:prstGeom prst="line">
              <a:avLst/>
            </a:prstGeom>
            <a:noFill/>
            <a:ln w="9525" cap="flat" cmpd="sng" algn="ctr">
              <a:solidFill>
                <a:srgbClr val="003F56"/>
              </a:solidFill>
              <a:prstDash val="dash"/>
            </a:ln>
            <a:effectLst/>
          </p:spPr>
        </p:cxnSp>
      </p:grpSp>
      <p:sp>
        <p:nvSpPr>
          <p:cNvPr id="74" name="ListLeanHorizontalTextTopic1">
            <a:extLst>
              <a:ext uri="{FF2B5EF4-FFF2-40B4-BE49-F238E27FC236}">
                <a16:creationId xmlns:a16="http://schemas.microsoft.com/office/drawing/2014/main" id="{E5551A4B-232B-488A-8EB2-31490C33103F}"/>
              </a:ext>
            </a:extLst>
          </p:cNvPr>
          <p:cNvSpPr txBox="1">
            <a:spLocks noChangeArrowheads="1"/>
          </p:cNvSpPr>
          <p:nvPr/>
        </p:nvSpPr>
        <p:spPr bwMode="auto">
          <a:xfrm>
            <a:off x="7450770" y="2608461"/>
            <a:ext cx="2025672"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공식 보고</a:t>
            </a:r>
            <a:endParaRPr lang="en-US" sz="1100" dirty="0">
              <a:solidFill>
                <a:srgbClr val="000000"/>
              </a:solidFill>
              <a:ea typeface="a고딕14" panose="02020600000000000000" pitchFamily="18" charset="-127"/>
              <a:cs typeface="Arial Narrow" pitchFamily="34" charset="0"/>
            </a:endParaRPr>
          </a:p>
        </p:txBody>
      </p:sp>
      <p:sp>
        <p:nvSpPr>
          <p:cNvPr id="75" name="ListLeanHorizontalTextTopic1">
            <a:extLst>
              <a:ext uri="{FF2B5EF4-FFF2-40B4-BE49-F238E27FC236}">
                <a16:creationId xmlns:a16="http://schemas.microsoft.com/office/drawing/2014/main" id="{58D7CA72-EA22-4E05-8A65-0BEB4C78DD98}"/>
              </a:ext>
            </a:extLst>
          </p:cNvPr>
          <p:cNvSpPr txBox="1">
            <a:spLocks noChangeArrowheads="1"/>
          </p:cNvSpPr>
          <p:nvPr/>
        </p:nvSpPr>
        <p:spPr bwMode="auto">
          <a:xfrm>
            <a:off x="7450770" y="2818907"/>
            <a:ext cx="1894842" cy="66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marL="179388" indent="-179388" algn="l" fontAlgn="base" latinLnBrk="0">
              <a:lnSpc>
                <a:spcPct val="120000"/>
              </a:lnSpc>
              <a:spcBef>
                <a:spcPts val="400"/>
              </a:spcBef>
              <a:spcAft>
                <a:spcPct val="0"/>
              </a:spcAft>
              <a:buSzPct val="100000"/>
              <a:buFont typeface="Arial Narrow" panose="020B0606020202030204" pitchFamily="34" charset="0"/>
              <a:buChar char="&gt;"/>
              <a:defRPr/>
            </a:pPr>
            <a:r>
              <a:rPr lang="ko-KR" altLang="en-US" sz="1100" b="0" dirty="0">
                <a:solidFill>
                  <a:srgbClr val="000000"/>
                </a:solidFill>
                <a:ea typeface="a고딕14" panose="02020600000000000000" pitchFamily="18" charset="-127"/>
                <a:cs typeface="Arial Narrow" pitchFamily="34" charset="0"/>
              </a:rPr>
              <a:t>착수보고서</a:t>
            </a:r>
            <a:r>
              <a:rPr lang="en-US" altLang="ko-KR" sz="1100" b="0" dirty="0">
                <a:solidFill>
                  <a:srgbClr val="000000"/>
                </a:solidFill>
                <a:ea typeface="a고딕14" panose="02020600000000000000" pitchFamily="18" charset="-127"/>
                <a:cs typeface="Arial Narrow" pitchFamily="34" charset="0"/>
              </a:rPr>
              <a:t>, </a:t>
            </a:r>
            <a:r>
              <a:rPr lang="ko-KR" altLang="en-US" sz="1100" b="0" dirty="0">
                <a:solidFill>
                  <a:srgbClr val="000000"/>
                </a:solidFill>
                <a:ea typeface="a고딕14" panose="02020600000000000000" pitchFamily="18" charset="-127"/>
                <a:cs typeface="Arial Narrow" pitchFamily="34" charset="0"/>
              </a:rPr>
              <a:t>중간보고서</a:t>
            </a:r>
            <a:r>
              <a:rPr lang="en-US" altLang="ko-KR" sz="1100" b="0" dirty="0">
                <a:solidFill>
                  <a:srgbClr val="000000"/>
                </a:solidFill>
                <a:ea typeface="a고딕14" panose="02020600000000000000" pitchFamily="18" charset="-127"/>
                <a:cs typeface="Arial Narrow" pitchFamily="34" charset="0"/>
              </a:rPr>
              <a:t>, </a:t>
            </a:r>
            <a:r>
              <a:rPr lang="ko-KR" altLang="en-US" sz="1100" b="0" dirty="0">
                <a:solidFill>
                  <a:srgbClr val="000000"/>
                </a:solidFill>
                <a:ea typeface="a고딕14" panose="02020600000000000000" pitchFamily="18" charset="-127"/>
                <a:cs typeface="Arial Narrow" pitchFamily="34" charset="0"/>
              </a:rPr>
              <a:t>최종보고서를 근간으로 </a:t>
            </a:r>
            <a:r>
              <a:rPr lang="en-US" altLang="ko-KR" sz="1100" b="0" dirty="0">
                <a:solidFill>
                  <a:srgbClr val="000000"/>
                </a:solidFill>
                <a:ea typeface="a고딕14" panose="02020600000000000000" pitchFamily="18" charset="-127"/>
                <a:cs typeface="Arial Narrow" pitchFamily="34" charset="0"/>
              </a:rPr>
              <a:t>presentation </a:t>
            </a:r>
            <a:r>
              <a:rPr lang="ko-KR" altLang="en-US" sz="1100" b="0" dirty="0">
                <a:solidFill>
                  <a:srgbClr val="000000"/>
                </a:solidFill>
                <a:ea typeface="a고딕14" panose="02020600000000000000" pitchFamily="18" charset="-127"/>
                <a:cs typeface="Arial Narrow" pitchFamily="34" charset="0"/>
              </a:rPr>
              <a:t>및 질의응답</a:t>
            </a:r>
            <a:endParaRPr lang="en-US" sz="1100" b="0" dirty="0">
              <a:solidFill>
                <a:srgbClr val="000000"/>
              </a:solidFill>
              <a:ea typeface="a고딕14" panose="02020600000000000000" pitchFamily="18" charset="-127"/>
              <a:cs typeface="Arial Narrow" pitchFamily="34" charset="0"/>
            </a:endParaRPr>
          </a:p>
        </p:txBody>
      </p:sp>
      <p:sp>
        <p:nvSpPr>
          <p:cNvPr id="76" name="ListLeanHorizontalTextTopic1">
            <a:extLst>
              <a:ext uri="{FF2B5EF4-FFF2-40B4-BE49-F238E27FC236}">
                <a16:creationId xmlns:a16="http://schemas.microsoft.com/office/drawing/2014/main" id="{5DDF3AD3-5316-4DB9-A905-6B8F6B6734CD}"/>
              </a:ext>
            </a:extLst>
          </p:cNvPr>
          <p:cNvSpPr txBox="1">
            <a:spLocks noChangeArrowheads="1"/>
          </p:cNvSpPr>
          <p:nvPr/>
        </p:nvSpPr>
        <p:spPr bwMode="auto">
          <a:xfrm>
            <a:off x="7450770" y="3904605"/>
            <a:ext cx="2025672"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비공식 보고</a:t>
            </a:r>
            <a:endParaRPr lang="en-US" sz="1100" dirty="0">
              <a:solidFill>
                <a:srgbClr val="000000"/>
              </a:solidFill>
              <a:ea typeface="a고딕14" panose="02020600000000000000" pitchFamily="18" charset="-127"/>
              <a:cs typeface="Arial Narrow" pitchFamily="34" charset="0"/>
            </a:endParaRPr>
          </a:p>
        </p:txBody>
      </p:sp>
      <p:sp>
        <p:nvSpPr>
          <p:cNvPr id="77" name="ListLeanHorizontalTextTopic1">
            <a:extLst>
              <a:ext uri="{FF2B5EF4-FFF2-40B4-BE49-F238E27FC236}">
                <a16:creationId xmlns:a16="http://schemas.microsoft.com/office/drawing/2014/main" id="{D70C444D-72FE-41E4-A5E7-5DB0EDDF5AC2}"/>
              </a:ext>
            </a:extLst>
          </p:cNvPr>
          <p:cNvSpPr txBox="1">
            <a:spLocks noChangeArrowheads="1"/>
          </p:cNvSpPr>
          <p:nvPr/>
        </p:nvSpPr>
        <p:spPr bwMode="auto">
          <a:xfrm>
            <a:off x="7450770" y="4115051"/>
            <a:ext cx="1894842" cy="47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간략한 </a:t>
            </a:r>
            <a:r>
              <a:rPr lang="en-US" altLang="ko-KR" sz="1100" dirty="0"/>
              <a:t>progress report</a:t>
            </a:r>
            <a:r>
              <a:rPr lang="ko-KR" altLang="en-US" sz="1100" dirty="0"/>
              <a:t> 기준으로 </a:t>
            </a:r>
            <a:r>
              <a:rPr lang="en-US" altLang="ko-KR" sz="1100" dirty="0"/>
              <a:t>table </a:t>
            </a:r>
            <a:r>
              <a:rPr lang="ko-KR" altLang="en-US" sz="1100" dirty="0"/>
              <a:t>보고</a:t>
            </a:r>
            <a:r>
              <a:rPr lang="en-US" altLang="ko-KR" sz="1100" dirty="0"/>
              <a:t>, </a:t>
            </a:r>
            <a:r>
              <a:rPr lang="ko-KR" altLang="en-US" sz="1100" dirty="0"/>
              <a:t>의견교환 및 토의</a:t>
            </a:r>
            <a:endParaRPr lang="en-US" sz="1100" dirty="0"/>
          </a:p>
        </p:txBody>
      </p:sp>
      <p:sp>
        <p:nvSpPr>
          <p:cNvPr id="78" name="ListLeanHorizontalTextTopic1">
            <a:extLst>
              <a:ext uri="{FF2B5EF4-FFF2-40B4-BE49-F238E27FC236}">
                <a16:creationId xmlns:a16="http://schemas.microsoft.com/office/drawing/2014/main" id="{A569B8A9-06F4-4B6C-A9DD-EAE57D093CE5}"/>
              </a:ext>
            </a:extLst>
          </p:cNvPr>
          <p:cNvSpPr txBox="1">
            <a:spLocks noChangeArrowheads="1"/>
          </p:cNvSpPr>
          <p:nvPr/>
        </p:nvSpPr>
        <p:spPr bwMode="auto">
          <a:xfrm>
            <a:off x="7450770" y="5153997"/>
            <a:ext cx="2025672"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en-US" altLang="ko-KR" sz="1100" dirty="0">
                <a:solidFill>
                  <a:srgbClr val="000000"/>
                </a:solidFill>
                <a:ea typeface="a고딕14" panose="02020600000000000000" pitchFamily="18" charset="-127"/>
                <a:cs typeface="Arial Narrow" pitchFamily="34" charset="0"/>
              </a:rPr>
              <a:t>Weekly </a:t>
            </a:r>
            <a:r>
              <a:rPr lang="ko-KR" altLang="en-US" sz="1100" dirty="0">
                <a:solidFill>
                  <a:srgbClr val="000000"/>
                </a:solidFill>
                <a:ea typeface="a고딕14" panose="02020600000000000000" pitchFamily="18" charset="-127"/>
                <a:cs typeface="Arial Narrow" pitchFamily="34" charset="0"/>
              </a:rPr>
              <a:t>또는 </a:t>
            </a:r>
            <a:r>
              <a:rPr lang="en-US" altLang="ko-KR" sz="1100" dirty="0">
                <a:solidFill>
                  <a:srgbClr val="000000"/>
                </a:solidFill>
                <a:ea typeface="a고딕14" panose="02020600000000000000" pitchFamily="18" charset="-127"/>
                <a:cs typeface="Arial Narrow" pitchFamily="34" charset="0"/>
              </a:rPr>
              <a:t>bi-weekly </a:t>
            </a:r>
            <a:r>
              <a:rPr lang="ko-KR" altLang="en-US" sz="1100" dirty="0">
                <a:solidFill>
                  <a:srgbClr val="000000"/>
                </a:solidFill>
                <a:ea typeface="a고딕14" panose="02020600000000000000" pitchFamily="18" charset="-127"/>
                <a:cs typeface="Arial Narrow" pitchFamily="34" charset="0"/>
              </a:rPr>
              <a:t>회의</a:t>
            </a:r>
            <a:endParaRPr lang="en-US" sz="1100" dirty="0">
              <a:solidFill>
                <a:srgbClr val="000000"/>
              </a:solidFill>
              <a:ea typeface="a고딕14" panose="02020600000000000000" pitchFamily="18" charset="-127"/>
              <a:cs typeface="Arial Narrow" pitchFamily="34" charset="0"/>
            </a:endParaRPr>
          </a:p>
        </p:txBody>
      </p:sp>
      <p:sp>
        <p:nvSpPr>
          <p:cNvPr id="79" name="ListLeanHorizontalTextTopic1">
            <a:extLst>
              <a:ext uri="{FF2B5EF4-FFF2-40B4-BE49-F238E27FC236}">
                <a16:creationId xmlns:a16="http://schemas.microsoft.com/office/drawing/2014/main" id="{3CDD6883-71B3-43EA-8143-C47F1481F4CA}"/>
              </a:ext>
            </a:extLst>
          </p:cNvPr>
          <p:cNvSpPr txBox="1">
            <a:spLocks noChangeArrowheads="1"/>
          </p:cNvSpPr>
          <p:nvPr/>
        </p:nvSpPr>
        <p:spPr bwMode="auto">
          <a:xfrm>
            <a:off x="7450770" y="5364443"/>
            <a:ext cx="1894842" cy="68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월 </a:t>
            </a:r>
            <a:r>
              <a:rPr lang="en-US" altLang="ko-KR" sz="1100" dirty="0"/>
              <a:t>2</a:t>
            </a:r>
            <a:r>
              <a:rPr lang="ko-KR" altLang="en-US" sz="1100" dirty="0"/>
              <a:t>회 이상 주관 부서와 진행상황 및 상호 협조 사항 확인</a:t>
            </a:r>
            <a:endParaRPr lang="en-US" sz="1100" dirty="0"/>
          </a:p>
        </p:txBody>
      </p:sp>
      <p:graphicFrame>
        <p:nvGraphicFramePr>
          <p:cNvPr id="80" name="표 79">
            <a:extLst>
              <a:ext uri="{FF2B5EF4-FFF2-40B4-BE49-F238E27FC236}">
                <a16:creationId xmlns:a16="http://schemas.microsoft.com/office/drawing/2014/main" id="{D6A3CFAF-A86C-46C6-ADD7-48A92E90CDCE}"/>
              </a:ext>
            </a:extLst>
          </p:cNvPr>
          <p:cNvGraphicFramePr>
            <a:graphicFrameLocks noGrp="1"/>
          </p:cNvGraphicFramePr>
          <p:nvPr>
            <p:extLst>
              <p:ext uri="{D42A27DB-BD31-4B8C-83A1-F6EECF244321}">
                <p14:modId xmlns:p14="http://schemas.microsoft.com/office/powerpoint/2010/main" val="3203133598"/>
              </p:ext>
            </p:extLst>
          </p:nvPr>
        </p:nvGraphicFramePr>
        <p:xfrm>
          <a:off x="704526" y="3267342"/>
          <a:ext cx="2412270" cy="1695072"/>
        </p:xfrm>
        <a:graphic>
          <a:graphicData uri="http://schemas.openxmlformats.org/drawingml/2006/table">
            <a:tbl>
              <a:tblPr/>
              <a:tblGrid>
                <a:gridCol w="419224">
                  <a:extLst>
                    <a:ext uri="{9D8B030D-6E8A-4147-A177-3AD203B41FA5}">
                      <a16:colId xmlns:a16="http://schemas.microsoft.com/office/drawing/2014/main" val="2926298905"/>
                    </a:ext>
                  </a:extLst>
                </a:gridCol>
                <a:gridCol w="843209">
                  <a:extLst>
                    <a:ext uri="{9D8B030D-6E8A-4147-A177-3AD203B41FA5}">
                      <a16:colId xmlns:a16="http://schemas.microsoft.com/office/drawing/2014/main" val="2182999238"/>
                    </a:ext>
                  </a:extLst>
                </a:gridCol>
                <a:gridCol w="383279">
                  <a:extLst>
                    <a:ext uri="{9D8B030D-6E8A-4147-A177-3AD203B41FA5}">
                      <a16:colId xmlns:a16="http://schemas.microsoft.com/office/drawing/2014/main" val="2671780187"/>
                    </a:ext>
                  </a:extLst>
                </a:gridCol>
                <a:gridCol w="383279">
                  <a:extLst>
                    <a:ext uri="{9D8B030D-6E8A-4147-A177-3AD203B41FA5}">
                      <a16:colId xmlns:a16="http://schemas.microsoft.com/office/drawing/2014/main" val="193982914"/>
                    </a:ext>
                  </a:extLst>
                </a:gridCol>
                <a:gridCol w="383279">
                  <a:extLst>
                    <a:ext uri="{9D8B030D-6E8A-4147-A177-3AD203B41FA5}">
                      <a16:colId xmlns:a16="http://schemas.microsoft.com/office/drawing/2014/main" val="863038998"/>
                    </a:ext>
                  </a:extLst>
                </a:gridCol>
              </a:tblGrid>
              <a:tr h="282512">
                <a:tc gridSpan="2">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보고내용 </a:t>
                      </a:r>
                      <a:r>
                        <a:rPr lang="en-US" altLang="ko-KR" sz="900" b="0" i="0" u="none" strike="noStrike" baseline="0" dirty="0">
                          <a:solidFill>
                            <a:schemeClr val="bg1"/>
                          </a:solidFill>
                          <a:effectLst/>
                          <a:latin typeface="a고딕14" panose="02020600000000000000" pitchFamily="18" charset="-127"/>
                          <a:ea typeface="a고딕14" panose="02020600000000000000" pitchFamily="18" charset="-127"/>
                        </a:rPr>
                        <a:t>/ </a:t>
                      </a: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참여자</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9ADFF"/>
                    </a:solidFill>
                  </a:tcPr>
                </a:tc>
                <a:tc hMerge="1">
                  <a:txBody>
                    <a:bodyPr/>
                    <a:lstStyle/>
                    <a:p>
                      <a:pPr algn="ctr" fontAlgn="ctr"/>
                      <a:endParaRPr lang="ko-KR" altLang="en-US" sz="1000" b="0" i="0" u="none" strike="noStrike" baseline="0">
                        <a:solidFill>
                          <a:srgbClr val="000000"/>
                        </a:solidFill>
                        <a:effectLst/>
                        <a:latin typeface="Arial Narrow" panose="020B0606020202030204" pitchFamily="34" charset="0"/>
                        <a:ea typeface="a고딕14" panose="02020600000000000000" pitchFamily="18" charset="-127"/>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err="1">
                          <a:solidFill>
                            <a:schemeClr val="bg1"/>
                          </a:solidFill>
                          <a:effectLst/>
                          <a:latin typeface="a고딕14" panose="02020600000000000000" pitchFamily="18" charset="-127"/>
                          <a:ea typeface="a고딕14" panose="02020600000000000000" pitchFamily="18" charset="-127"/>
                        </a:rPr>
                        <a:t>온평원</a:t>
                      </a:r>
                      <a:endParaRPr lang="ko-KR" altLang="en-US" sz="900" b="0" i="0" u="none" strike="noStrike" baseline="0" dirty="0">
                        <a:solidFill>
                          <a:schemeClr val="bg1"/>
                        </a:solidFill>
                        <a:effectLst/>
                        <a:latin typeface="a고딕14" panose="02020600000000000000" pitchFamily="18" charset="-127"/>
                        <a:ea typeface="a고딕14" panose="02020600000000000000" pitchFamily="18" charset="-127"/>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연구진</a:t>
                      </a:r>
                      <a:endParaRPr lang="en-US" sz="900" b="0" i="0" u="none" strike="noStrike" baseline="0" dirty="0">
                        <a:solidFill>
                          <a:schemeClr val="bg1"/>
                        </a:solidFill>
                        <a:effectLst/>
                        <a:latin typeface="a고딕14" panose="02020600000000000000" pitchFamily="18" charset="-127"/>
                        <a:ea typeface="a고딕14" panose="02020600000000000000" pitchFamily="18" charset="-127"/>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지원</a:t>
                      </a:r>
                      <a:endParaRPr lang="en-US" altLang="ko-KR" sz="900" b="0" i="0" u="none" strike="noStrike" baseline="0" dirty="0">
                        <a:solidFill>
                          <a:schemeClr val="bg1"/>
                        </a:solidFill>
                        <a:effectLst/>
                        <a:latin typeface="a고딕14" panose="02020600000000000000" pitchFamily="18" charset="-127"/>
                        <a:ea typeface="a고딕14" panose="02020600000000000000" pitchFamily="18" charset="-127"/>
                      </a:endParaRPr>
                    </a:p>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사항</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3F56"/>
                    </a:solidFill>
                  </a:tcPr>
                </a:tc>
                <a:extLst>
                  <a:ext uri="{0D108BD9-81ED-4DB2-BD59-A6C34878D82A}">
                    <a16:rowId xmlns:a16="http://schemas.microsoft.com/office/drawing/2014/main" val="2502876780"/>
                  </a:ext>
                </a:extLst>
              </a:tr>
              <a:tr h="282512">
                <a:tc rowSpan="3">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1000" b="0" i="0" u="none" strike="noStrike" baseline="0" dirty="0">
                          <a:solidFill>
                            <a:srgbClr val="003F56"/>
                          </a:solidFill>
                          <a:effectLst/>
                          <a:latin typeface="Arial Narrow" panose="020B0606020202030204" pitchFamily="34" charset="0"/>
                          <a:ea typeface="a고딕14" panose="02020600000000000000" pitchFamily="18" charset="-127"/>
                        </a:rPr>
                        <a:t>공식</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FEAE7"/>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en-US" sz="900" b="0" i="0" u="none" strike="noStrike" baseline="0" dirty="0">
                          <a:solidFill>
                            <a:srgbClr val="000000"/>
                          </a:solidFill>
                          <a:effectLst/>
                          <a:latin typeface="Arial Narrow" panose="020B0606020202030204" pitchFamily="34" charset="0"/>
                          <a:ea typeface="a고딕14" panose="02020600000000000000" pitchFamily="18" charset="-127"/>
                        </a:rPr>
                        <a:t>Kick-off meeting</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0652872"/>
                  </a:ext>
                </a:extLst>
              </a:tr>
              <a:tr h="282512">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ko-KR" altLang="en-US" sz="900" b="0" i="0" u="none" strike="noStrike" baseline="0" dirty="0">
                          <a:solidFill>
                            <a:srgbClr val="000000"/>
                          </a:solidFill>
                          <a:effectLst/>
                          <a:latin typeface="Arial Narrow" panose="020B0606020202030204" pitchFamily="34" charset="0"/>
                          <a:ea typeface="a고딕14" panose="02020600000000000000" pitchFamily="18" charset="-127"/>
                        </a:rPr>
                        <a:t>중간보고</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5728863"/>
                  </a:ext>
                </a:extLst>
              </a:tr>
              <a:tr h="282512">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ko-KR" altLang="en-US" sz="900" b="0" i="0" u="none" strike="noStrike" baseline="0" dirty="0">
                          <a:solidFill>
                            <a:srgbClr val="000000"/>
                          </a:solidFill>
                          <a:effectLst/>
                          <a:latin typeface="Arial Narrow" panose="020B0606020202030204" pitchFamily="34" charset="0"/>
                          <a:ea typeface="a고딕14" panose="02020600000000000000" pitchFamily="18" charset="-127"/>
                        </a:rPr>
                        <a:t>최종보고</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3424444"/>
                  </a:ext>
                </a:extLst>
              </a:tr>
              <a:tr h="282512">
                <a:tc rowSpan="2">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1000" b="0" i="0" u="none" strike="noStrike" baseline="0">
                          <a:solidFill>
                            <a:srgbClr val="003F56"/>
                          </a:solidFill>
                          <a:effectLst/>
                          <a:latin typeface="Arial Narrow" panose="020B0606020202030204" pitchFamily="34" charset="0"/>
                          <a:ea typeface="a고딕14" panose="02020600000000000000" pitchFamily="18" charset="-127"/>
                        </a:rPr>
                        <a:t>비공식</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FEAE7"/>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en-US" sz="900" b="0" i="0" u="none" strike="noStrike" baseline="0" dirty="0">
                          <a:solidFill>
                            <a:srgbClr val="000000"/>
                          </a:solidFill>
                          <a:effectLst/>
                          <a:latin typeface="Arial Narrow" panose="020B0606020202030204" pitchFamily="34" charset="0"/>
                          <a:ea typeface="a고딕14" panose="02020600000000000000" pitchFamily="18" charset="-127"/>
                        </a:rPr>
                        <a:t>Progress review</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5065775"/>
                  </a:ext>
                </a:extLst>
              </a:tr>
              <a:tr h="282512">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ko-KR" altLang="en-US" sz="900" b="0" i="0" u="none" strike="noStrike" baseline="0" dirty="0">
                          <a:solidFill>
                            <a:srgbClr val="000000"/>
                          </a:solidFill>
                          <a:effectLst/>
                          <a:latin typeface="Arial Narrow" panose="020B0606020202030204" pitchFamily="34" charset="0"/>
                          <a:ea typeface="a고딕14" panose="02020600000000000000" pitchFamily="18" charset="-127"/>
                        </a:rPr>
                        <a:t>기타 실무협의</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9818573"/>
                  </a:ext>
                </a:extLst>
              </a:tr>
            </a:tbl>
          </a:graphicData>
        </a:graphic>
      </p:graphicFrame>
      <p:sp>
        <p:nvSpPr>
          <p:cNvPr id="81" name="Text Box 52">
            <a:extLst>
              <a:ext uri="{FF2B5EF4-FFF2-40B4-BE49-F238E27FC236}">
                <a16:creationId xmlns:a16="http://schemas.microsoft.com/office/drawing/2014/main" id="{4F660CD4-3447-47FC-B8E6-B60F3654E718}"/>
              </a:ext>
            </a:extLst>
          </p:cNvPr>
          <p:cNvSpPr txBox="1">
            <a:spLocks noChangeArrowheads="1"/>
          </p:cNvSpPr>
          <p:nvPr/>
        </p:nvSpPr>
        <p:spPr bwMode="auto">
          <a:xfrm>
            <a:off x="2074915" y="3580877"/>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3" name="Text Box 52">
            <a:extLst>
              <a:ext uri="{FF2B5EF4-FFF2-40B4-BE49-F238E27FC236}">
                <a16:creationId xmlns:a16="http://schemas.microsoft.com/office/drawing/2014/main" id="{B8504E0C-26D1-4640-9D85-479BE48F454F}"/>
              </a:ext>
            </a:extLst>
          </p:cNvPr>
          <p:cNvSpPr txBox="1">
            <a:spLocks noChangeArrowheads="1"/>
          </p:cNvSpPr>
          <p:nvPr/>
        </p:nvSpPr>
        <p:spPr bwMode="auto">
          <a:xfrm>
            <a:off x="2074915" y="4139511"/>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4" name="Text Box 52">
            <a:extLst>
              <a:ext uri="{FF2B5EF4-FFF2-40B4-BE49-F238E27FC236}">
                <a16:creationId xmlns:a16="http://schemas.microsoft.com/office/drawing/2014/main" id="{F03C72C6-5969-408C-92F6-D5F6C97A39B1}"/>
              </a:ext>
            </a:extLst>
          </p:cNvPr>
          <p:cNvSpPr txBox="1">
            <a:spLocks noChangeArrowheads="1"/>
          </p:cNvSpPr>
          <p:nvPr/>
        </p:nvSpPr>
        <p:spPr bwMode="auto">
          <a:xfrm>
            <a:off x="2442193" y="3580877"/>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6" name="Text Box 52">
            <a:extLst>
              <a:ext uri="{FF2B5EF4-FFF2-40B4-BE49-F238E27FC236}">
                <a16:creationId xmlns:a16="http://schemas.microsoft.com/office/drawing/2014/main" id="{B628BDCE-2983-4DC8-8656-78DD3FA6D559}"/>
              </a:ext>
            </a:extLst>
          </p:cNvPr>
          <p:cNvSpPr txBox="1">
            <a:spLocks noChangeArrowheads="1"/>
          </p:cNvSpPr>
          <p:nvPr/>
        </p:nvSpPr>
        <p:spPr bwMode="auto">
          <a:xfrm>
            <a:off x="2442193" y="4139511"/>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7" name="Text Box 52">
            <a:extLst>
              <a:ext uri="{FF2B5EF4-FFF2-40B4-BE49-F238E27FC236}">
                <a16:creationId xmlns:a16="http://schemas.microsoft.com/office/drawing/2014/main" id="{892A0EB5-B7F9-495A-AEC9-D7948901C08E}"/>
              </a:ext>
            </a:extLst>
          </p:cNvPr>
          <p:cNvSpPr txBox="1">
            <a:spLocks noChangeArrowheads="1"/>
          </p:cNvSpPr>
          <p:nvPr/>
        </p:nvSpPr>
        <p:spPr bwMode="auto">
          <a:xfrm>
            <a:off x="2442193" y="4414626"/>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4" name="Text Box 52">
            <a:extLst>
              <a:ext uri="{FF2B5EF4-FFF2-40B4-BE49-F238E27FC236}">
                <a16:creationId xmlns:a16="http://schemas.microsoft.com/office/drawing/2014/main" id="{D01332B9-96F2-CF49-8869-7F97F65F63D7}"/>
              </a:ext>
            </a:extLst>
          </p:cNvPr>
          <p:cNvSpPr txBox="1">
            <a:spLocks noChangeArrowheads="1"/>
          </p:cNvSpPr>
          <p:nvPr/>
        </p:nvSpPr>
        <p:spPr bwMode="auto">
          <a:xfrm>
            <a:off x="2074915" y="3882502"/>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6" name="Text Box 52">
            <a:extLst>
              <a:ext uri="{FF2B5EF4-FFF2-40B4-BE49-F238E27FC236}">
                <a16:creationId xmlns:a16="http://schemas.microsoft.com/office/drawing/2014/main" id="{3CD0BDDF-D623-B138-91C1-9B9A1DE6E9BF}"/>
              </a:ext>
            </a:extLst>
          </p:cNvPr>
          <p:cNvSpPr txBox="1">
            <a:spLocks noChangeArrowheads="1"/>
          </p:cNvSpPr>
          <p:nvPr/>
        </p:nvSpPr>
        <p:spPr bwMode="auto">
          <a:xfrm>
            <a:off x="2442193" y="3882502"/>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Tree>
    <p:extLst>
      <p:ext uri="{BB962C8B-B14F-4D97-AF65-F5344CB8AC3E}">
        <p14:creationId xmlns:p14="http://schemas.microsoft.com/office/powerpoint/2010/main" val="2494013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25118-510E-2807-F487-B9524C68FDD6}"/>
            </a:ext>
          </a:extLst>
        </p:cNvPr>
        <p:cNvGrpSpPr/>
        <p:nvPr/>
      </p:nvGrpSpPr>
      <p:grpSpPr>
        <a:xfrm>
          <a:off x="0" y="0"/>
          <a:ext cx="0" cy="0"/>
          <a:chOff x="0" y="0"/>
          <a:chExt cx="0" cy="0"/>
        </a:xfrm>
      </p:grpSpPr>
      <p:pic>
        <p:nvPicPr>
          <p:cNvPr id="15" name="그림 14">
            <a:extLst>
              <a:ext uri="{FF2B5EF4-FFF2-40B4-BE49-F238E27FC236}">
                <a16:creationId xmlns:a16="http://schemas.microsoft.com/office/drawing/2014/main" id="{2FC9BC5B-769F-604B-1AF3-57E36BF167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pic>
        <p:nvPicPr>
          <p:cNvPr id="7" name="Picture 3">
            <a:extLst>
              <a:ext uri="{FF2B5EF4-FFF2-40B4-BE49-F238E27FC236}">
                <a16:creationId xmlns:a16="http://schemas.microsoft.com/office/drawing/2014/main" id="{35A22E44-097C-6CDD-632D-151F597DBFF9}"/>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308908" cy="6858000"/>
          </a:xfrm>
          <a:prstGeom prst="rect">
            <a:avLst/>
          </a:prstGeom>
          <a:pattFill prst="horzBrick">
            <a:fgClr>
              <a:schemeClr val="bg1">
                <a:lumMod val="75000"/>
              </a:schemeClr>
            </a:fgClr>
            <a:bgClr>
              <a:schemeClr val="bg1"/>
            </a:bgClr>
          </a:pattFill>
          <a:ln>
            <a:noFill/>
          </a:ln>
        </p:spPr>
      </p:pic>
      <p:sp>
        <p:nvSpPr>
          <p:cNvPr id="10" name="Text Placeholder 1">
            <a:extLst>
              <a:ext uri="{FF2B5EF4-FFF2-40B4-BE49-F238E27FC236}">
                <a16:creationId xmlns:a16="http://schemas.microsoft.com/office/drawing/2014/main" id="{2243F414-24AA-5FBB-D403-4B75CDC31A76}"/>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lang="en-US" altLang="ko-KR" sz="2500" dirty="0">
                <a:solidFill>
                  <a:srgbClr val="000000"/>
                </a:solidFill>
                <a:latin typeface="Arial Narrow" panose="020B0606020202030204" pitchFamily="34" charset="0"/>
                <a:ea typeface="a고딕14" panose="02020600000000000000" pitchFamily="18" charset="-127"/>
              </a:rPr>
              <a:t>Ⅲ</a:t>
            </a:r>
            <a:r>
              <a:rPr lang="en-US" altLang="ko-KR" sz="2500" dirty="0">
                <a:solidFill>
                  <a:srgbClr val="000000"/>
                </a:solidFill>
                <a:latin typeface="a고딕14" panose="02020600000000000000" pitchFamily="18" charset="-127"/>
                <a:ea typeface="a고딕14" panose="02020600000000000000" pitchFamily="18" charset="-127"/>
              </a:rPr>
              <a:t>. </a:t>
            </a:r>
            <a:r>
              <a:rPr lang="ko-KR" altLang="en-US" sz="2500" dirty="0">
                <a:solidFill>
                  <a:srgbClr val="000000"/>
                </a:solidFill>
                <a:ea typeface="a고딕14" panose="02020600000000000000" pitchFamily="18" charset="-127"/>
              </a:rPr>
              <a:t>수행조직 및 업무분장</a:t>
            </a:r>
            <a:endParaRPr lang="ko-KR" altLang="en-US" sz="2500" dirty="0">
              <a:solidFill>
                <a:srgbClr val="000000"/>
              </a:solidFill>
              <a:latin typeface="Arial Narrow"/>
              <a:ea typeface="a고딕14" panose="02020600000000000000" pitchFamily="18" charset="-127"/>
            </a:endParaRPr>
          </a:p>
        </p:txBody>
      </p:sp>
      <p:sp>
        <p:nvSpPr>
          <p:cNvPr id="11" name="Text Placeholder 1">
            <a:extLst>
              <a:ext uri="{FF2B5EF4-FFF2-40B4-BE49-F238E27FC236}">
                <a16:creationId xmlns:a16="http://schemas.microsoft.com/office/drawing/2014/main" id="{5BE27115-FB57-6194-7875-723FAB59990D}"/>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과업 수행인력 구성계획</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투입인력 인적 사항</a:t>
            </a:r>
            <a:endParaRPr lang="en-US" altLang="ko-KR" sz="2000" dirty="0">
              <a:solidFill>
                <a:srgbClr val="000000"/>
              </a:solidFill>
              <a:latin typeface="a고딕14" panose="02020600000000000000" pitchFamily="18" charset="-127"/>
              <a:ea typeface="a고딕14" panose="02020600000000000000" pitchFamily="18" charset="-127"/>
            </a:endParaRP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전문가 구성계획</a:t>
            </a:r>
          </a:p>
        </p:txBody>
      </p:sp>
    </p:spTree>
    <p:extLst>
      <p:ext uri="{BB962C8B-B14F-4D97-AF65-F5344CB8AC3E}">
        <p14:creationId xmlns:p14="http://schemas.microsoft.com/office/powerpoint/2010/main" val="302106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fontAlgn="auto" latinLnBrk="0">
              <a:spcAft>
                <a:spcPts val="0"/>
              </a:spcAft>
            </a:pPr>
            <a:r>
              <a:rPr lang="ko-KR" altLang="en-US" sz="1800" dirty="0"/>
              <a:t>과업의 성공적인 수행을 위해 분야별 </a:t>
            </a:r>
            <a:r>
              <a:rPr lang="ko-KR" altLang="en-US" sz="1800" dirty="0">
                <a:solidFill>
                  <a:srgbClr val="0070C0"/>
                </a:solidFill>
              </a:rPr>
              <a:t>전문인력 </a:t>
            </a:r>
            <a:r>
              <a:rPr lang="en-US" altLang="ko-KR" dirty="0">
                <a:solidFill>
                  <a:srgbClr val="0070C0"/>
                </a:solidFill>
              </a:rPr>
              <a:t>7</a:t>
            </a:r>
            <a:r>
              <a:rPr lang="ko-KR" altLang="en-US" sz="1800" dirty="0">
                <a:solidFill>
                  <a:srgbClr val="0070C0"/>
                </a:solidFill>
              </a:rPr>
              <a:t>명을 투입</a:t>
            </a:r>
            <a:r>
              <a:rPr lang="ko-KR" altLang="en-US" sz="1800" dirty="0"/>
              <a:t>하고</a:t>
            </a:r>
            <a:r>
              <a:rPr lang="en-US" altLang="ko-KR" sz="1800" dirty="0"/>
              <a:t>, </a:t>
            </a:r>
            <a:r>
              <a:rPr lang="ko-KR" altLang="en-US" sz="1800" spc="-30" dirty="0"/>
              <a:t>프로젝트의 실무 책임자와 담당자를 구분하여 수행 관리를 철저히 할 것임</a:t>
            </a:r>
            <a:endParaRPr lang="ko-KR" altLang="en-US" sz="1800"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1. </a:t>
            </a:r>
            <a:r>
              <a:rPr lang="ko-KR" altLang="en-US" dirty="0"/>
              <a:t>과업 </a:t>
            </a:r>
            <a:r>
              <a:rPr lang="ko-KR" altLang="en-US" dirty="0" err="1"/>
              <a:t>수행인력</a:t>
            </a:r>
            <a:r>
              <a:rPr lang="ko-KR" altLang="en-US" dirty="0"/>
              <a:t> </a:t>
            </a:r>
            <a:r>
              <a:rPr lang="ko-KR" altLang="en-US" dirty="0" err="1"/>
              <a:t>구성계획</a:t>
            </a:r>
            <a:endParaRPr lang="ko-KR" altLang="en-US" dirty="0"/>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과업 수행 조직</a:t>
            </a:r>
            <a:endParaRPr lang="en-US" altLang="ko-KR" dirty="0">
              <a:latin typeface="Arial Narrow" panose="020B0606020202030204" pitchFamily="34" charset="0"/>
            </a:endParaRP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2" name="텍스트 개체 틀 1"/>
          <p:cNvSpPr>
            <a:spLocks noGrp="1"/>
          </p:cNvSpPr>
          <p:nvPr>
            <p:ph type="body" sz="quarter" idx="14"/>
          </p:nvPr>
        </p:nvSpPr>
        <p:spPr>
          <a:xfrm>
            <a:off x="596516" y="1664744"/>
            <a:ext cx="2644901" cy="331935"/>
          </a:xfrm>
        </p:spPr>
        <p:txBody>
          <a:bodyPr vert="horz" wrap="none" lIns="0" tIns="0" rIns="0" bIns="0" rtlCol="0" anchor="ctr">
            <a:noAutofit/>
          </a:bodyPr>
          <a:lstStyle/>
          <a:p>
            <a:r>
              <a:rPr lang="en-US" altLang="ko-KR" dirty="0"/>
              <a:t>Project team structure</a:t>
            </a:r>
          </a:p>
        </p:txBody>
      </p:sp>
      <p:sp>
        <p:nvSpPr>
          <p:cNvPr id="36" name="직사각형 35">
            <a:extLst>
              <a:ext uri="{FF2B5EF4-FFF2-40B4-BE49-F238E27FC236}">
                <a16:creationId xmlns:a16="http://schemas.microsoft.com/office/drawing/2014/main" id="{515A5D85-B8E3-46BA-ABBD-201621C01A89}"/>
              </a:ext>
            </a:extLst>
          </p:cNvPr>
          <p:cNvSpPr/>
          <p:nvPr/>
        </p:nvSpPr>
        <p:spPr bwMode="gray">
          <a:xfrm>
            <a:off x="599038" y="5991669"/>
            <a:ext cx="8749098" cy="498030"/>
          </a:xfrm>
          <a:prstGeom prst="rect">
            <a:avLst/>
          </a:prstGeom>
          <a:solidFill>
            <a:srgbClr val="A5A5A5">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400" b="0" i="0" u="none" strike="noStrike" kern="0" cap="none" spc="0" normalizeH="0" noProof="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37" name="직사각형 36">
            <a:extLst>
              <a:ext uri="{FF2B5EF4-FFF2-40B4-BE49-F238E27FC236}">
                <a16:creationId xmlns:a16="http://schemas.microsoft.com/office/drawing/2014/main" id="{A89FDD69-ABDF-4FD2-9135-3E8CC26687D9}"/>
              </a:ext>
            </a:extLst>
          </p:cNvPr>
          <p:cNvSpPr/>
          <p:nvPr/>
        </p:nvSpPr>
        <p:spPr>
          <a:xfrm>
            <a:off x="2041718" y="6100352"/>
            <a:ext cx="7192222" cy="306131"/>
          </a:xfrm>
          <a:prstGeom prst="rect">
            <a:avLst/>
          </a:prstGeom>
          <a:solidFill>
            <a:sysClr val="window" lastClr="FFFFFF"/>
          </a:solidFill>
          <a:ln w="12700" algn="ctr">
            <a:solidFill>
              <a:srgbClr val="4472C4">
                <a:lumMod val="50000"/>
              </a:srgbClr>
            </a:solidFill>
            <a:miter lim="800000"/>
            <a:headEnd/>
            <a:tailEnd/>
          </a:ln>
          <a:effectLst/>
        </p:spPr>
        <p:txBody>
          <a:bodyPr lIns="36000" tIns="18000" rIns="36000" b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rPr>
              <a:t>Back Office </a:t>
            </a:r>
            <a:r>
              <a:rPr kumimoji="0" lang="ko-KR" altLang="en-US" sz="14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rPr>
              <a:t>지원</a:t>
            </a:r>
            <a:endParaRPr kumimoji="0" lang="en-US" altLang="ko-KR" sz="14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sp>
        <p:nvSpPr>
          <p:cNvPr id="38" name="직사각형 37">
            <a:extLst>
              <a:ext uri="{FF2B5EF4-FFF2-40B4-BE49-F238E27FC236}">
                <a16:creationId xmlns:a16="http://schemas.microsoft.com/office/drawing/2014/main" id="{C49C383D-349F-4724-A041-EB34B209E6A3}"/>
              </a:ext>
            </a:extLst>
          </p:cNvPr>
          <p:cNvSpPr/>
          <p:nvPr/>
        </p:nvSpPr>
        <p:spPr>
          <a:xfrm>
            <a:off x="782136" y="6100352"/>
            <a:ext cx="1238094" cy="306131"/>
          </a:xfrm>
          <a:prstGeom prst="rect">
            <a:avLst/>
          </a:prstGeom>
          <a:solidFill>
            <a:srgbClr val="005E80"/>
          </a:solidFill>
          <a:ln w="12700" algn="ctr">
            <a:solidFill>
              <a:srgbClr val="003F56"/>
            </a:solidFill>
            <a:miter lim="800000"/>
            <a:headEnd/>
            <a:tailEnd/>
          </a:ln>
          <a:effectLst/>
        </p:spPr>
        <p:txBody>
          <a:bodyPr lIns="36000" rIns="3600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400" b="0" i="0" u="none" strike="noStrike" kern="0" cap="none" spc="0" normalizeH="0" noProof="0" dirty="0">
                <a:ln>
                  <a:noFill/>
                </a:ln>
                <a:solidFill>
                  <a:prstClr val="white"/>
                </a:solidFill>
                <a:effectLst/>
                <a:uLnTx/>
                <a:uFillTx/>
                <a:latin typeface="Arial Narrow" panose="020B0606020202030204" pitchFamily="34" charset="0"/>
                <a:ea typeface="a고딕14" panose="02020600000000000000" pitchFamily="18" charset="-127"/>
                <a:cs typeface="+mn-cs"/>
              </a:rPr>
              <a:t>Desk Research</a:t>
            </a:r>
            <a:endParaRPr kumimoji="0" lang="ko-KR" altLang="en-US" sz="1400" b="0" i="0" u="none" strike="noStrike" kern="0" cap="none" spc="0" normalizeH="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39" name="직사각형 38">
            <a:extLst>
              <a:ext uri="{FF2B5EF4-FFF2-40B4-BE49-F238E27FC236}">
                <a16:creationId xmlns:a16="http://schemas.microsoft.com/office/drawing/2014/main" id="{5278BDCF-A859-4257-8DDB-2434E91713E5}"/>
              </a:ext>
            </a:extLst>
          </p:cNvPr>
          <p:cNvSpPr/>
          <p:nvPr/>
        </p:nvSpPr>
        <p:spPr>
          <a:xfrm>
            <a:off x="588723" y="2007691"/>
            <a:ext cx="8756890" cy="3927743"/>
          </a:xfrm>
          <a:prstGeom prst="rect">
            <a:avLst/>
          </a:prstGeom>
          <a:solidFill>
            <a:srgbClr val="A5A5A5">
              <a:lumMod val="20000"/>
              <a:lumOff val="80000"/>
            </a:srgbClr>
          </a:solidFill>
          <a:ln w="12700" cap="flat" cmpd="sng" algn="ctr">
            <a:no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endParaRPr kumimoji="0" lang="ko-KR" altLang="en-US" sz="2000" b="0" i="0" u="none" strike="noStrike" kern="0" cap="none" spc="0" normalizeH="0" baseline="0" noProof="0">
              <a:ln>
                <a:noFill/>
              </a:ln>
              <a:solidFill>
                <a:srgbClr val="C00000"/>
              </a:solidFill>
              <a:effectLst/>
              <a:uLnTx/>
              <a:uFillTx/>
              <a:latin typeface="Arial Narrow" panose="020B0606020202030204" pitchFamily="34" charset="0"/>
              <a:ea typeface="a고딕14" panose="02020600000000000000" pitchFamily="18" charset="-127"/>
              <a:cs typeface="+mn-cs"/>
            </a:endParaRPr>
          </a:p>
        </p:txBody>
      </p:sp>
      <p:grpSp>
        <p:nvGrpSpPr>
          <p:cNvPr id="40" name="그룹 39">
            <a:extLst>
              <a:ext uri="{FF2B5EF4-FFF2-40B4-BE49-F238E27FC236}">
                <a16:creationId xmlns:a16="http://schemas.microsoft.com/office/drawing/2014/main" id="{6DE7925A-89DD-4007-BC2C-09F95D5AD26F}"/>
              </a:ext>
            </a:extLst>
          </p:cNvPr>
          <p:cNvGrpSpPr/>
          <p:nvPr/>
        </p:nvGrpSpPr>
        <p:grpSpPr>
          <a:xfrm>
            <a:off x="3986244" y="2128841"/>
            <a:ext cx="2262900" cy="599405"/>
            <a:chOff x="4307368" y="2737469"/>
            <a:chExt cx="1462847" cy="676209"/>
          </a:xfrm>
        </p:grpSpPr>
        <p:sp>
          <p:nvSpPr>
            <p:cNvPr id="41" name="모서리가 둥근 직사각형 167">
              <a:extLst>
                <a:ext uri="{FF2B5EF4-FFF2-40B4-BE49-F238E27FC236}">
                  <a16:creationId xmlns:a16="http://schemas.microsoft.com/office/drawing/2014/main" id="{B74C57BA-870D-4134-B3B2-3B77021E72A9}"/>
                </a:ext>
              </a:extLst>
            </p:cNvPr>
            <p:cNvSpPr/>
            <p:nvPr/>
          </p:nvSpPr>
          <p:spPr bwMode="auto">
            <a:xfrm>
              <a:off x="4307368" y="2737469"/>
              <a:ext cx="1462847" cy="337078"/>
            </a:xfrm>
            <a:prstGeom prst="roundRect">
              <a:avLst>
                <a:gd name="adj" fmla="val 0"/>
              </a:avLst>
            </a:prstGeom>
            <a:solidFill>
              <a:srgbClr val="003F56"/>
            </a:solidFill>
            <a:ln w="9525" cap="flat" cmpd="sng" algn="ctr">
              <a:solidFill>
                <a:srgbClr val="003F56"/>
              </a:solidFill>
              <a:prstDash val="solid"/>
              <a:miter lim="800000"/>
              <a:headEnd/>
              <a:tailEnd/>
            </a:ln>
            <a:effectLst/>
          </p:spPr>
          <p:txBody>
            <a:bodyPr lIns="0" rIns="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사업 총괄 책임자 </a:t>
              </a:r>
              <a:r>
                <a:rPr kumimoji="1" lang="en-US" altLang="ko-KR"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a:t>
              </a:r>
              <a:r>
                <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총괄 </a:t>
              </a:r>
              <a:r>
                <a:rPr kumimoji="1" lang="en-US" altLang="ko-KR"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PM)</a:t>
              </a:r>
              <a:endPar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2" name="직사각형 41">
              <a:extLst>
                <a:ext uri="{FF2B5EF4-FFF2-40B4-BE49-F238E27FC236}">
                  <a16:creationId xmlns:a16="http://schemas.microsoft.com/office/drawing/2014/main" id="{EFFD0EE5-84C3-4AA1-AE86-48A5BDC97857}"/>
                </a:ext>
              </a:extLst>
            </p:cNvPr>
            <p:cNvSpPr/>
            <p:nvPr/>
          </p:nvSpPr>
          <p:spPr>
            <a:xfrm>
              <a:off x="4307368" y="3079572"/>
              <a:ext cx="1462847" cy="334106"/>
            </a:xfrm>
            <a:prstGeom prst="rect">
              <a:avLst/>
            </a:prstGeom>
            <a:solidFill>
              <a:sysClr val="window" lastClr="FFFFFF"/>
            </a:solidFill>
            <a:ln w="9525" cap="flat" cmpd="sng" algn="ctr">
              <a:solidFill>
                <a:srgbClr val="061F3E"/>
              </a:solidFill>
              <a:prstDash val="solid"/>
            </a:ln>
            <a:effectLst/>
          </p:spPr>
          <p:txBody>
            <a:bodyPr lIns="36000" tIns="18000" rIns="0" bIns="18000" rtlCol="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tab pos="0" algn="l"/>
                </a:tabLst>
                <a:defRPr/>
              </a:pPr>
              <a:r>
                <a:rPr lang="ko-KR" altLang="en-US" sz="1300" kern="0" dirty="0">
                  <a:solidFill>
                    <a:prstClr val="black"/>
                  </a:solidFill>
                  <a:latin typeface="Arial Narrow" panose="020B0606020202030204" pitchFamily="34" charset="0"/>
                  <a:ea typeface="a고딕14" panose="02020600000000000000" pitchFamily="18" charset="-127"/>
                </a:rPr>
                <a:t>박현규 수석컨설턴트</a:t>
              </a:r>
              <a:endParaRPr kumimoji="0" lang="en-US" altLang="ko-KR" sz="13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grpSp>
      <p:cxnSp>
        <p:nvCxnSpPr>
          <p:cNvPr id="43" name="꺾인 연결선 14">
            <a:extLst>
              <a:ext uri="{FF2B5EF4-FFF2-40B4-BE49-F238E27FC236}">
                <a16:creationId xmlns:a16="http://schemas.microsoft.com/office/drawing/2014/main" id="{C62FBE86-1A9A-4758-8FB8-77937A1F4805}"/>
              </a:ext>
            </a:extLst>
          </p:cNvPr>
          <p:cNvCxnSpPr>
            <a:cxnSpLocks/>
            <a:stCxn id="68" idx="2"/>
            <a:endCxn id="52" idx="0"/>
          </p:cNvCxnSpPr>
          <p:nvPr/>
        </p:nvCxnSpPr>
        <p:spPr>
          <a:xfrm rot="5400000">
            <a:off x="3374417" y="2348256"/>
            <a:ext cx="464694" cy="3021861"/>
          </a:xfrm>
          <a:prstGeom prst="bentConnector3">
            <a:avLst>
              <a:gd name="adj1" fmla="val 50000"/>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4" name="꺾인 연결선 14">
            <a:extLst>
              <a:ext uri="{FF2B5EF4-FFF2-40B4-BE49-F238E27FC236}">
                <a16:creationId xmlns:a16="http://schemas.microsoft.com/office/drawing/2014/main" id="{C62FBE86-1A9A-4758-8FB8-77937A1F4805}"/>
              </a:ext>
            </a:extLst>
          </p:cNvPr>
          <p:cNvCxnSpPr>
            <a:cxnSpLocks/>
            <a:stCxn id="68" idx="2"/>
            <a:endCxn id="56" idx="0"/>
          </p:cNvCxnSpPr>
          <p:nvPr/>
        </p:nvCxnSpPr>
        <p:spPr>
          <a:xfrm rot="16200000" flipH="1">
            <a:off x="5427288" y="3317245"/>
            <a:ext cx="464694" cy="1083882"/>
          </a:xfrm>
          <a:prstGeom prst="bentConnector3">
            <a:avLst>
              <a:gd name="adj1" fmla="val 50000"/>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6EEEBF1-2D99-43E2-9CB7-84DE9841ED03}"/>
              </a:ext>
            </a:extLst>
          </p:cNvPr>
          <p:cNvSpPr txBox="1"/>
          <p:nvPr/>
        </p:nvSpPr>
        <p:spPr>
          <a:xfrm>
            <a:off x="8133834" y="2063926"/>
            <a:ext cx="1202245" cy="319748"/>
          </a:xfrm>
          <a:prstGeom prst="rect">
            <a:avLst/>
          </a:prstGeom>
          <a:noFill/>
        </p:spPr>
        <p:txBody>
          <a:bodyPr wrap="square" rtlCol="0">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400" b="0" i="0" u="none" strike="noStrike" kern="1200" cap="none" spc="0" normalizeH="0" baseline="0" noProof="0" dirty="0">
                <a:ln>
                  <a:noFill/>
                </a:ln>
                <a:solidFill>
                  <a:srgbClr val="234389"/>
                </a:solidFill>
                <a:effectLst/>
                <a:uLnTx/>
                <a:uFillTx/>
                <a:latin typeface="a고딕14" panose="02020600000000000000" pitchFamily="18" charset="-127"/>
                <a:ea typeface="a고딕14" panose="02020600000000000000" pitchFamily="18" charset="-127"/>
                <a:cs typeface="+mn-cs"/>
              </a:rPr>
              <a:t>프로젝트 수행</a:t>
            </a:r>
          </a:p>
        </p:txBody>
      </p:sp>
      <p:graphicFrame>
        <p:nvGraphicFramePr>
          <p:cNvPr id="47" name="표 46"/>
          <p:cNvGraphicFramePr>
            <a:graphicFrameLocks noGrp="1"/>
          </p:cNvGraphicFramePr>
          <p:nvPr>
            <p:extLst>
              <p:ext uri="{D42A27DB-BD31-4B8C-83A1-F6EECF244321}">
                <p14:modId xmlns:p14="http://schemas.microsoft.com/office/powerpoint/2010/main" val="2295865944"/>
              </p:ext>
            </p:extLst>
          </p:nvPr>
        </p:nvGraphicFramePr>
        <p:xfrm>
          <a:off x="8412724" y="2351516"/>
          <a:ext cx="821216" cy="986028"/>
        </p:xfrm>
        <a:graphic>
          <a:graphicData uri="http://schemas.openxmlformats.org/drawingml/2006/table">
            <a:tbl>
              <a:tblPr/>
              <a:tblGrid>
                <a:gridCol w="821216">
                  <a:extLst>
                    <a:ext uri="{9D8B030D-6E8A-4147-A177-3AD203B41FA5}">
                      <a16:colId xmlns:a16="http://schemas.microsoft.com/office/drawing/2014/main" val="3028536386"/>
                    </a:ext>
                  </a:extLst>
                </a:gridCol>
              </a:tblGrid>
              <a:tr h="316533">
                <a:tc>
                  <a:txBody>
                    <a:bodyPr/>
                    <a:lstStyle/>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err="1">
                          <a:solidFill>
                            <a:schemeClr val="tx1">
                              <a:lumMod val="95000"/>
                              <a:lumOff val="5000"/>
                            </a:schemeClr>
                          </a:solidFill>
                          <a:effectLst/>
                          <a:latin typeface="a고딕14" panose="02020600000000000000" pitchFamily="18" charset="-127"/>
                          <a:ea typeface="a고딕14" panose="02020600000000000000" pitchFamily="18" charset="-127"/>
                        </a:rPr>
                        <a:t>수석급</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2</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p>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err="1">
                          <a:solidFill>
                            <a:schemeClr val="tx1">
                              <a:lumMod val="95000"/>
                              <a:lumOff val="5000"/>
                            </a:schemeClr>
                          </a:solidFill>
                          <a:effectLst/>
                          <a:latin typeface="a고딕14" panose="02020600000000000000" pitchFamily="18" charset="-127"/>
                          <a:ea typeface="a고딕14" panose="02020600000000000000" pitchFamily="18" charset="-127"/>
                        </a:rPr>
                        <a:t>책임급</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1</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endPar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endParaRPr>
                    </a:p>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err="1">
                          <a:solidFill>
                            <a:schemeClr val="tx1">
                              <a:lumMod val="95000"/>
                              <a:lumOff val="5000"/>
                            </a:schemeClr>
                          </a:solidFill>
                          <a:effectLst/>
                          <a:latin typeface="a고딕14" panose="02020600000000000000" pitchFamily="18" charset="-127"/>
                          <a:ea typeface="a고딕14" panose="02020600000000000000" pitchFamily="18" charset="-127"/>
                        </a:rPr>
                        <a:t>선임급</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2</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endPar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endParaRPr>
                    </a:p>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err="1">
                          <a:solidFill>
                            <a:schemeClr val="tx1">
                              <a:lumMod val="95000"/>
                              <a:lumOff val="5000"/>
                            </a:schemeClr>
                          </a:solidFill>
                          <a:effectLst/>
                          <a:latin typeface="a고딕14" panose="02020600000000000000" pitchFamily="18" charset="-127"/>
                          <a:ea typeface="a고딕14" panose="02020600000000000000" pitchFamily="18" charset="-127"/>
                        </a:rPr>
                        <a:t>주임급</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2</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endPar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endParaRPr>
                    </a:p>
                  </a:txBody>
                  <a:tcPr marL="17907" marR="17907" marT="17907" marB="17907"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74534146"/>
                  </a:ext>
                </a:extLst>
              </a:tr>
              <a:tr h="189359">
                <a:tc>
                  <a:txBody>
                    <a:bodyPr/>
                    <a:lstStyle/>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계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7</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p>
                  </a:txBody>
                  <a:tcPr marL="17907" marR="17907" marT="17907" marB="17907" anchor="ctr">
                    <a:lnL>
                      <a:noFill/>
                    </a:lnL>
                    <a:lnR>
                      <a:noFill/>
                    </a:lnR>
                    <a:lnT>
                      <a:noFill/>
                    </a:lnT>
                    <a:lnB>
                      <a:noFill/>
                    </a:lnB>
                  </a:tcPr>
                </a:tc>
                <a:extLst>
                  <a:ext uri="{0D108BD9-81ED-4DB2-BD59-A6C34878D82A}">
                    <a16:rowId xmlns:a16="http://schemas.microsoft.com/office/drawing/2014/main" val="3236117725"/>
                  </a:ext>
                </a:extLst>
              </a:tr>
            </a:tbl>
          </a:graphicData>
        </a:graphic>
      </p:graphicFrame>
      <p:sp>
        <p:nvSpPr>
          <p:cNvPr id="48" name="직사각형 47"/>
          <p:cNvSpPr/>
          <p:nvPr/>
        </p:nvSpPr>
        <p:spPr>
          <a:xfrm>
            <a:off x="529574" y="4581128"/>
            <a:ext cx="588624" cy="276999"/>
          </a:xfrm>
          <a:prstGeom prst="rect">
            <a:avLst/>
          </a:prstGeom>
        </p:spPr>
        <p:txBody>
          <a:bodyPr wrap="none">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1" u="sng" strike="noStrike" kern="1200" cap="none" spc="0" normalizeH="0" noProof="0" dirty="0">
                <a:ln>
                  <a:noFill/>
                </a:ln>
                <a:solidFill>
                  <a:srgbClr val="0070C0"/>
                </a:solidFill>
                <a:effectLst/>
                <a:uLnTx/>
                <a:uFillTx/>
                <a:latin typeface="a고딕14" panose="02020600000000000000" pitchFamily="18" charset="-127"/>
                <a:ea typeface="a고딕14" panose="02020600000000000000" pitchFamily="18" charset="-127"/>
                <a:cs typeface="+mn-cs"/>
              </a:rPr>
              <a:t>책임자</a:t>
            </a:r>
          </a:p>
        </p:txBody>
      </p:sp>
      <p:sp>
        <p:nvSpPr>
          <p:cNvPr id="49" name="직사각형 48"/>
          <p:cNvSpPr/>
          <p:nvPr/>
        </p:nvSpPr>
        <p:spPr>
          <a:xfrm>
            <a:off x="529574" y="4884372"/>
            <a:ext cx="588624" cy="276999"/>
          </a:xfrm>
          <a:prstGeom prst="rect">
            <a:avLst/>
          </a:prstGeom>
        </p:spPr>
        <p:txBody>
          <a:bodyPr wrap="none">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1" u="sng" strike="noStrike" kern="1200" cap="none" spc="0" normalizeH="0" noProof="0" dirty="0">
                <a:ln>
                  <a:noFill/>
                </a:ln>
                <a:solidFill>
                  <a:srgbClr val="0070C0"/>
                </a:solidFill>
                <a:effectLst/>
                <a:uLnTx/>
                <a:uFillTx/>
                <a:latin typeface="a고딕14" panose="02020600000000000000" pitchFamily="18" charset="-127"/>
                <a:ea typeface="a고딕14" panose="02020600000000000000" pitchFamily="18" charset="-127"/>
                <a:cs typeface="+mn-cs"/>
              </a:rPr>
              <a:t>담당자</a:t>
            </a:r>
          </a:p>
        </p:txBody>
      </p:sp>
      <p:grpSp>
        <p:nvGrpSpPr>
          <p:cNvPr id="11" name="그룹 10"/>
          <p:cNvGrpSpPr/>
          <p:nvPr/>
        </p:nvGrpSpPr>
        <p:grpSpPr>
          <a:xfrm>
            <a:off x="1118198" y="4091533"/>
            <a:ext cx="8115742" cy="1749736"/>
            <a:chOff x="1045402" y="3846687"/>
            <a:chExt cx="7786289" cy="1749736"/>
          </a:xfrm>
        </p:grpSpPr>
        <p:grpSp>
          <p:nvGrpSpPr>
            <p:cNvPr id="9" name="그룹 8"/>
            <p:cNvGrpSpPr/>
            <p:nvPr/>
          </p:nvGrpSpPr>
          <p:grpSpPr>
            <a:xfrm>
              <a:off x="1045402" y="3846687"/>
              <a:ext cx="1875896" cy="1749736"/>
              <a:chOff x="1045402" y="3846687"/>
              <a:chExt cx="1875896" cy="1749736"/>
            </a:xfrm>
          </p:grpSpPr>
          <p:grpSp>
            <p:nvGrpSpPr>
              <p:cNvPr id="4" name="그룹 3"/>
              <p:cNvGrpSpPr/>
              <p:nvPr/>
            </p:nvGrpSpPr>
            <p:grpSpPr>
              <a:xfrm>
                <a:off x="1045402" y="3846687"/>
                <a:ext cx="1875896" cy="1749736"/>
                <a:chOff x="1045402" y="3846687"/>
                <a:chExt cx="2096545" cy="1749736"/>
              </a:xfrm>
            </p:grpSpPr>
            <p:sp>
              <p:nvSpPr>
                <p:cNvPr id="52" name="모서리가 둥근 직사각형 167">
                  <a:extLst>
                    <a:ext uri="{FF2B5EF4-FFF2-40B4-BE49-F238E27FC236}">
                      <a16:creationId xmlns:a16="http://schemas.microsoft.com/office/drawing/2014/main" id="{A37055AE-9266-4C02-A1E9-1B378D5D7A3C}"/>
                    </a:ext>
                  </a:extLst>
                </p:cNvPr>
                <p:cNvSpPr/>
                <p:nvPr/>
              </p:nvSpPr>
              <p:spPr bwMode="auto">
                <a:xfrm>
                  <a:off x="1045402" y="3846687"/>
                  <a:ext cx="2096545" cy="417587"/>
                </a:xfrm>
                <a:prstGeom prst="roundRect">
                  <a:avLst>
                    <a:gd name="adj" fmla="val 0"/>
                  </a:avLst>
                </a:prstGeom>
                <a:solidFill>
                  <a:srgbClr val="005E80"/>
                </a:solidFill>
                <a:ln w="9525" cap="flat" cmpd="sng" algn="ctr">
                  <a:solidFill>
                    <a:srgbClr val="003F56"/>
                  </a:solidFill>
                  <a:prstDash val="solid"/>
                  <a:miter lim="800000"/>
                  <a:headEnd/>
                  <a:tailEnd/>
                </a:ln>
                <a:effectLst/>
              </p:spPr>
              <p:txBody>
                <a:bodyPr lIns="0" rIns="0" anchor="ctr"/>
                <a:lstStyle/>
                <a:p>
                  <a:pPr lvl="0" eaLnBrk="1" fontAlgn="auto" latinLnBrk="0" hangingPunct="1">
                    <a:spcBef>
                      <a:spcPts val="0"/>
                    </a:spcBef>
                    <a:spcAft>
                      <a:spcPts val="0"/>
                    </a:spcAft>
                    <a:buNone/>
                    <a:defRPr/>
                  </a:pPr>
                  <a:r>
                    <a:rPr kumimoji="1" lang="ko-KR" altLang="en-US" b="0" i="0" u="none" strike="noStrike" kern="0" cap="none" spc="0" normalizeH="0" noProof="0" dirty="0">
                      <a:ln>
                        <a:noFill/>
                      </a:ln>
                      <a:solidFill>
                        <a:prstClr val="white"/>
                      </a:solidFill>
                      <a:effectLst/>
                      <a:uLnTx/>
                      <a:uFillTx/>
                      <a:latin typeface="a고딕14" panose="02020600000000000000" pitchFamily="18" charset="-127"/>
                      <a:ea typeface="a고딕14" panose="02020600000000000000" pitchFamily="18" charset="-127"/>
                      <a:cs typeface="+mn-cs"/>
                    </a:rPr>
                    <a:t>신규 과정개발 능력단위 도출</a:t>
                  </a:r>
                </a:p>
              </p:txBody>
            </p:sp>
            <p:sp>
              <p:nvSpPr>
                <p:cNvPr id="66" name="직사각형 65">
                  <a:extLst>
                    <a:ext uri="{FF2B5EF4-FFF2-40B4-BE49-F238E27FC236}">
                      <a16:creationId xmlns:a16="http://schemas.microsoft.com/office/drawing/2014/main" id="{46D45E7D-B787-4BAE-8DC7-8CE9858B0FF4}"/>
                    </a:ext>
                  </a:extLst>
                </p:cNvPr>
                <p:cNvSpPr/>
                <p:nvPr/>
              </p:nvSpPr>
              <p:spPr>
                <a:xfrm>
                  <a:off x="1045402" y="4311383"/>
                  <a:ext cx="2096545" cy="1285040"/>
                </a:xfrm>
                <a:prstGeom prst="rect">
                  <a:avLst/>
                </a:prstGeom>
                <a:solidFill>
                  <a:schemeClr val="bg1"/>
                </a:solidFill>
                <a:ln w="12700" algn="ctr">
                  <a:solidFill>
                    <a:srgbClr val="E7E6E6">
                      <a:lumMod val="90000"/>
                    </a:srgbClr>
                  </a:solidFill>
                  <a:miter lim="800000"/>
                  <a:headEnd/>
                  <a:tailEnd/>
                </a:ln>
                <a:effectLst/>
              </p:spPr>
              <p:txBody>
                <a:bodyPr lIns="108000" tIns="18000" rIns="0" bIns="18000" anchor="ctr"/>
                <a:lstStyle/>
                <a:p>
                  <a:pPr marL="0" marR="0" lvl="0" indent="0" algn="l" defTabSz="914400" rtl="0" eaLnBrk="0" fontAlgn="base" latinLnBrk="0" hangingPunct="0">
                    <a:lnSpc>
                      <a:spcPct val="200000"/>
                    </a:lnSpc>
                    <a:spcBef>
                      <a:spcPct val="0"/>
                    </a:spcBef>
                    <a:spcAft>
                      <a:spcPct val="0"/>
                    </a:spcAft>
                    <a:buClrTx/>
                    <a:buSzTx/>
                    <a:buFont typeface="Wingdings" pitchFamily="2" charset="2"/>
                    <a:buNone/>
                    <a:tabLst/>
                    <a:defRPr/>
                  </a:pPr>
                  <a:endParaRPr kumimoji="0" lang="en-US" altLang="ko-KR" sz="13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grpSp>
          <p:sp>
            <p:nvSpPr>
              <p:cNvPr id="58" name="TextBox 57"/>
              <p:cNvSpPr txBox="1"/>
              <p:nvPr/>
            </p:nvSpPr>
            <p:spPr>
              <a:xfrm>
                <a:off x="1050689" y="4328731"/>
                <a:ext cx="1870608" cy="1069203"/>
              </a:xfrm>
              <a:prstGeom prst="rect">
                <a:avLst/>
              </a:prstGeom>
              <a:noFill/>
            </p:spPr>
            <p:txBody>
              <a:bodyPr wrap="square" lIns="0" rIns="0" rtlCol="0">
                <a:spAutoFit/>
              </a:bodyPr>
              <a:lstStyle/>
              <a:p>
                <a:pPr lvl="0" latinLnBrk="0">
                  <a:lnSpc>
                    <a:spcPts val="1800"/>
                  </a:lnSpc>
                  <a:spcAft>
                    <a:spcPts val="600"/>
                  </a:spcAft>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이재민 수석컨설턴트</a:t>
                </a: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김준식 </a:t>
                </a:r>
                <a:r>
                  <a:rPr lang="ko-KR" altLang="en-US" kern="0" dirty="0" err="1">
                    <a:solidFill>
                      <a:sysClr val="windowText" lastClr="000000"/>
                    </a:solidFill>
                    <a:latin typeface="Arial Narrow" panose="020B0606020202030204" pitchFamily="34" charset="0"/>
                    <a:ea typeface="a고딕14" panose="02020600000000000000" pitchFamily="18" charset="-127"/>
                  </a:rPr>
                  <a:t>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신혜원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유승현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p:txBody>
          </p:sp>
        </p:grpSp>
        <p:grpSp>
          <p:nvGrpSpPr>
            <p:cNvPr id="10" name="그룹 9"/>
            <p:cNvGrpSpPr/>
            <p:nvPr/>
          </p:nvGrpSpPr>
          <p:grpSpPr>
            <a:xfrm>
              <a:off x="3013156" y="3846687"/>
              <a:ext cx="1875896" cy="1749736"/>
              <a:chOff x="3015360" y="3846687"/>
              <a:chExt cx="1875896" cy="1749736"/>
            </a:xfrm>
          </p:grpSpPr>
          <p:grpSp>
            <p:nvGrpSpPr>
              <p:cNvPr id="6" name="그룹 5"/>
              <p:cNvGrpSpPr/>
              <p:nvPr/>
            </p:nvGrpSpPr>
            <p:grpSpPr>
              <a:xfrm>
                <a:off x="3015360" y="3846687"/>
                <a:ext cx="1875896" cy="1749736"/>
                <a:chOff x="3247073" y="3846687"/>
                <a:chExt cx="2096545" cy="1749736"/>
              </a:xfrm>
            </p:grpSpPr>
            <p:sp>
              <p:nvSpPr>
                <p:cNvPr id="54" name="모서리가 둥근 직사각형 167">
                  <a:extLst>
                    <a:ext uri="{FF2B5EF4-FFF2-40B4-BE49-F238E27FC236}">
                      <a16:creationId xmlns:a16="http://schemas.microsoft.com/office/drawing/2014/main" id="{A37055AE-9266-4C02-A1E9-1B378D5D7A3C}"/>
                    </a:ext>
                  </a:extLst>
                </p:cNvPr>
                <p:cNvSpPr/>
                <p:nvPr/>
              </p:nvSpPr>
              <p:spPr bwMode="auto">
                <a:xfrm>
                  <a:off x="3247073" y="3846687"/>
                  <a:ext cx="2096545" cy="417587"/>
                </a:xfrm>
                <a:prstGeom prst="roundRect">
                  <a:avLst>
                    <a:gd name="adj" fmla="val 0"/>
                  </a:avLst>
                </a:prstGeom>
                <a:solidFill>
                  <a:srgbClr val="005E80"/>
                </a:solidFill>
                <a:ln w="9525" cap="flat" cmpd="sng" algn="ctr">
                  <a:solidFill>
                    <a:srgbClr val="003F56"/>
                  </a:solidFill>
                  <a:prstDash val="solid"/>
                  <a:miter lim="800000"/>
                  <a:headEnd/>
                  <a:tailEnd/>
                </a:ln>
                <a:effectLst/>
              </p:spPr>
              <p:txBody>
                <a:bodyPr lIns="0" rIns="0" anchor="ctr"/>
                <a:lstStyle/>
                <a:p>
                  <a:pPr lvl="0" eaLnBrk="1" fontAlgn="auto" latinLnBrk="0" hangingPunct="1">
                    <a:spcBef>
                      <a:spcPts val="0"/>
                    </a:spcBef>
                    <a:spcAft>
                      <a:spcPts val="0"/>
                    </a:spcAft>
                    <a:buNone/>
                    <a:defRPr/>
                  </a:pPr>
                  <a:r>
                    <a:rPr kumimoji="1" lang="ko-KR" altLang="en-US" kern="0" dirty="0">
                      <a:solidFill>
                        <a:prstClr val="white"/>
                      </a:solidFill>
                      <a:latin typeface="a고딕14" panose="02020600000000000000" pitchFamily="18" charset="-127"/>
                      <a:ea typeface="a고딕14" panose="02020600000000000000" pitchFamily="18" charset="-127"/>
                    </a:rPr>
                    <a:t>교육과정 개요서 작성</a:t>
                  </a:r>
                </a:p>
              </p:txBody>
            </p:sp>
            <p:sp>
              <p:nvSpPr>
                <p:cNvPr id="64" name="직사각형 63">
                  <a:extLst>
                    <a:ext uri="{FF2B5EF4-FFF2-40B4-BE49-F238E27FC236}">
                      <a16:creationId xmlns:a16="http://schemas.microsoft.com/office/drawing/2014/main" id="{46D45E7D-B787-4BAE-8DC7-8CE9858B0FF4}"/>
                    </a:ext>
                  </a:extLst>
                </p:cNvPr>
                <p:cNvSpPr/>
                <p:nvPr/>
              </p:nvSpPr>
              <p:spPr>
                <a:xfrm>
                  <a:off x="3247073" y="4311383"/>
                  <a:ext cx="2096545" cy="1285040"/>
                </a:xfrm>
                <a:prstGeom prst="rect">
                  <a:avLst/>
                </a:prstGeom>
                <a:solidFill>
                  <a:schemeClr val="bg1"/>
                </a:solidFill>
                <a:ln w="12700" algn="ctr">
                  <a:solidFill>
                    <a:srgbClr val="E7E6E6">
                      <a:lumMod val="90000"/>
                    </a:srgbClr>
                  </a:solidFill>
                  <a:miter lim="800000"/>
                  <a:headEnd/>
                  <a:tailEnd/>
                </a:ln>
                <a:effectLst/>
              </p:spPr>
              <p:txBody>
                <a:bodyPr lIns="108000" tIns="18000" rIns="0" bIns="18000" anchor="ctr"/>
                <a:lstStyle/>
                <a:p>
                  <a:pPr marL="0" marR="0" lvl="0" indent="0" algn="l" defTabSz="914400" rtl="0" eaLnBrk="0" fontAlgn="base" latinLnBrk="0" hangingPunct="0">
                    <a:lnSpc>
                      <a:spcPct val="200000"/>
                    </a:lnSpc>
                    <a:spcBef>
                      <a:spcPct val="0"/>
                    </a:spcBef>
                    <a:spcAft>
                      <a:spcPct val="0"/>
                    </a:spcAft>
                    <a:buClrTx/>
                    <a:buSzTx/>
                    <a:buFont typeface="Wingdings" pitchFamily="2" charset="2"/>
                    <a:buNone/>
                    <a:tabLst/>
                    <a:defRPr/>
                  </a:pPr>
                  <a:endParaRPr kumimoji="0" lang="en-US" altLang="ko-KR" sz="13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grpSp>
          <p:sp>
            <p:nvSpPr>
              <p:cNvPr id="59" name="TextBox 58"/>
              <p:cNvSpPr txBox="1"/>
              <p:nvPr/>
            </p:nvSpPr>
            <p:spPr>
              <a:xfrm>
                <a:off x="3015360" y="4328731"/>
                <a:ext cx="1870608" cy="1069203"/>
              </a:xfrm>
              <a:prstGeom prst="rect">
                <a:avLst/>
              </a:prstGeom>
              <a:noFill/>
            </p:spPr>
            <p:txBody>
              <a:bodyPr wrap="square" lIns="0" rIns="0" rtlCol="0">
                <a:spAutoFit/>
              </a:bodyPr>
              <a:lstStyle/>
              <a:p>
                <a:pPr lvl="0" latinLnBrk="0">
                  <a:lnSpc>
                    <a:spcPts val="1800"/>
                  </a:lnSpc>
                  <a:spcAft>
                    <a:spcPts val="600"/>
                  </a:spcAft>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박현규 수석 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err="1">
                    <a:solidFill>
                      <a:sysClr val="windowText" lastClr="000000"/>
                    </a:solidFill>
                    <a:latin typeface="Arial Narrow" panose="020B0606020202030204" pitchFamily="34" charset="0"/>
                    <a:ea typeface="a고딕14" panose="02020600000000000000" pitchFamily="18" charset="-127"/>
                  </a:rPr>
                  <a:t>김도용</a:t>
                </a:r>
                <a:r>
                  <a:rPr lang="ko-KR" altLang="en-US" kern="0" dirty="0">
                    <a:solidFill>
                      <a:sysClr val="windowText" lastClr="000000"/>
                    </a:solidFill>
                    <a:latin typeface="Arial Narrow" panose="020B0606020202030204" pitchFamily="34" charset="0"/>
                    <a:ea typeface="a고딕14" panose="02020600000000000000" pitchFamily="18" charset="-127"/>
                  </a:rPr>
                  <a:t> </a:t>
                </a:r>
                <a:r>
                  <a:rPr lang="ko-KR" altLang="en-US" kern="0" dirty="0" err="1">
                    <a:solidFill>
                      <a:sysClr val="windowText" lastClr="000000"/>
                    </a:solidFill>
                    <a:latin typeface="Arial Narrow" panose="020B0606020202030204" pitchFamily="34" charset="0"/>
                    <a:ea typeface="a고딕14" panose="02020600000000000000" pitchFamily="18" charset="-127"/>
                  </a:rPr>
                  <a:t>책임컨설턴트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김준식 </a:t>
                </a:r>
                <a:r>
                  <a:rPr lang="ko-KR" altLang="en-US" kern="0" dirty="0" err="1">
                    <a:solidFill>
                      <a:sysClr val="windowText" lastClr="000000"/>
                    </a:solidFill>
                    <a:latin typeface="Arial Narrow" panose="020B0606020202030204" pitchFamily="34" charset="0"/>
                    <a:ea typeface="a고딕14" panose="02020600000000000000" pitchFamily="18" charset="-127"/>
                  </a:rPr>
                  <a:t>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유승현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p:txBody>
          </p:sp>
        </p:grpSp>
        <p:grpSp>
          <p:nvGrpSpPr>
            <p:cNvPr id="2" name="그룹 1"/>
            <p:cNvGrpSpPr/>
            <p:nvPr/>
          </p:nvGrpSpPr>
          <p:grpSpPr>
            <a:xfrm>
              <a:off x="4980910" y="3846687"/>
              <a:ext cx="1879461" cy="1749736"/>
              <a:chOff x="5444758" y="3846687"/>
              <a:chExt cx="2100530" cy="1749736"/>
            </a:xfrm>
          </p:grpSpPr>
          <p:sp>
            <p:nvSpPr>
              <p:cNvPr id="56" name="모서리가 둥근 직사각형 167">
                <a:extLst>
                  <a:ext uri="{FF2B5EF4-FFF2-40B4-BE49-F238E27FC236}">
                    <a16:creationId xmlns:a16="http://schemas.microsoft.com/office/drawing/2014/main" id="{A37055AE-9266-4C02-A1E9-1B378D5D7A3C}"/>
                  </a:ext>
                </a:extLst>
              </p:cNvPr>
              <p:cNvSpPr/>
              <p:nvPr/>
            </p:nvSpPr>
            <p:spPr bwMode="auto">
              <a:xfrm>
                <a:off x="5448742" y="3846687"/>
                <a:ext cx="2096546" cy="417587"/>
              </a:xfrm>
              <a:prstGeom prst="roundRect">
                <a:avLst>
                  <a:gd name="adj" fmla="val 0"/>
                </a:avLst>
              </a:prstGeom>
              <a:solidFill>
                <a:srgbClr val="005E80"/>
              </a:solidFill>
              <a:ln w="9525" cap="flat" cmpd="sng" algn="ctr">
                <a:solidFill>
                  <a:srgbClr val="003F56"/>
                </a:solidFill>
                <a:prstDash val="solid"/>
                <a:miter lim="800000"/>
                <a:headEnd/>
                <a:tailEnd/>
              </a:ln>
              <a:effectLst/>
            </p:spPr>
            <p:txBody>
              <a:bodyPr lIns="0" rIns="0" anchor="ctr"/>
              <a:lstStyle/>
              <a:p>
                <a:pPr lvl="0" eaLnBrk="1" fontAlgn="auto" latinLnBrk="0" hangingPunct="1">
                  <a:spcBef>
                    <a:spcPts val="0"/>
                  </a:spcBef>
                  <a:spcAft>
                    <a:spcPts val="0"/>
                  </a:spcAft>
                  <a:buNone/>
                  <a:defRPr/>
                </a:pPr>
                <a:r>
                  <a:rPr lang="ko-KR" altLang="en-US" kern="0" dirty="0" err="1">
                    <a:solidFill>
                      <a:prstClr val="white"/>
                    </a:solidFill>
                    <a:latin typeface="Arial Narrow" panose="020B0606020202030204" pitchFamily="34" charset="0"/>
                    <a:ea typeface="a고딕14" panose="02020600000000000000" pitchFamily="18" charset="-127"/>
                  </a:rPr>
                  <a:t>기술교육로드맵</a:t>
                </a:r>
                <a:r>
                  <a:rPr lang="ko-KR" altLang="en-US" kern="0" dirty="0">
                    <a:solidFill>
                      <a:prstClr val="white"/>
                    </a:solidFill>
                    <a:latin typeface="Arial Narrow" panose="020B0606020202030204" pitchFamily="34" charset="0"/>
                    <a:ea typeface="a고딕14" panose="02020600000000000000" pitchFamily="18" charset="-127"/>
                  </a:rPr>
                  <a:t> 작성</a:t>
                </a:r>
                <a:endParaRPr lang="en-US" altLang="ko-KR" kern="0" dirty="0">
                  <a:solidFill>
                    <a:prstClr val="white"/>
                  </a:solidFill>
                  <a:latin typeface="Arial Narrow" panose="020B0606020202030204" pitchFamily="34" charset="0"/>
                  <a:ea typeface="a고딕14" panose="02020600000000000000" pitchFamily="18" charset="-127"/>
                </a:endParaRPr>
              </a:p>
            </p:txBody>
          </p:sp>
          <p:sp>
            <p:nvSpPr>
              <p:cNvPr id="61" name="직사각형 60">
                <a:extLst>
                  <a:ext uri="{FF2B5EF4-FFF2-40B4-BE49-F238E27FC236}">
                    <a16:creationId xmlns:a16="http://schemas.microsoft.com/office/drawing/2014/main" id="{46D45E7D-B787-4BAE-8DC7-8CE9858B0FF4}"/>
                  </a:ext>
                </a:extLst>
              </p:cNvPr>
              <p:cNvSpPr/>
              <p:nvPr/>
            </p:nvSpPr>
            <p:spPr>
              <a:xfrm>
                <a:off x="5448742" y="4311383"/>
                <a:ext cx="2096546" cy="1285040"/>
              </a:xfrm>
              <a:prstGeom prst="rect">
                <a:avLst/>
              </a:prstGeom>
              <a:solidFill>
                <a:schemeClr val="bg1"/>
              </a:solidFill>
              <a:ln w="12700" algn="ctr">
                <a:solidFill>
                  <a:srgbClr val="E7E6E6">
                    <a:lumMod val="90000"/>
                  </a:srgbClr>
                </a:solidFill>
                <a:miter lim="800000"/>
                <a:headEnd/>
                <a:tailEnd/>
              </a:ln>
              <a:effectLst/>
            </p:spPr>
            <p:txBody>
              <a:bodyPr lIns="108000" tIns="18000" rIns="0" bIns="18000" anchor="ctr"/>
              <a:lstStyle/>
              <a:p>
                <a:pPr marL="0" marR="0" lvl="0" indent="0" algn="l" defTabSz="914400" rtl="0" eaLnBrk="0" fontAlgn="base" latinLnBrk="0" hangingPunct="0">
                  <a:lnSpc>
                    <a:spcPct val="200000"/>
                  </a:lnSpc>
                  <a:spcBef>
                    <a:spcPct val="0"/>
                  </a:spcBef>
                  <a:spcAft>
                    <a:spcPct val="0"/>
                  </a:spcAft>
                  <a:buClrTx/>
                  <a:buSzTx/>
                  <a:buFont typeface="Wingdings" pitchFamily="2" charset="2"/>
                  <a:buNone/>
                  <a:tabLst/>
                  <a:defRPr/>
                </a:pPr>
                <a:endParaRPr kumimoji="0" lang="en-US" altLang="ko-KR" sz="13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sp>
            <p:nvSpPr>
              <p:cNvPr id="60" name="TextBox 59"/>
              <p:cNvSpPr txBox="1"/>
              <p:nvPr/>
            </p:nvSpPr>
            <p:spPr>
              <a:xfrm>
                <a:off x="5444758" y="4328731"/>
                <a:ext cx="2090636" cy="1071319"/>
              </a:xfrm>
              <a:prstGeom prst="rect">
                <a:avLst/>
              </a:prstGeom>
              <a:noFill/>
            </p:spPr>
            <p:txBody>
              <a:bodyPr wrap="square" lIns="0" rIns="0" rtlCol="0">
                <a:spAutoFit/>
              </a:bodyPr>
              <a:lstStyle/>
              <a:p>
                <a:pPr lvl="0" latinLnBrk="0">
                  <a:lnSpc>
                    <a:spcPts val="1800"/>
                  </a:lnSpc>
                  <a:spcAft>
                    <a:spcPts val="600"/>
                  </a:spcAft>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박현규 수석컨설턴트</a:t>
                </a:r>
              </a:p>
              <a:p>
                <a:pPr lvl="0" latinLnBrk="0">
                  <a:lnSpc>
                    <a:spcPts val="1800"/>
                  </a:lnSpc>
                  <a:buNone/>
                  <a:defRPr/>
                </a:pPr>
                <a:r>
                  <a:rPr lang="ko-KR" altLang="en-US" kern="0" dirty="0" err="1">
                    <a:solidFill>
                      <a:sysClr val="windowText" lastClr="000000"/>
                    </a:solidFill>
                    <a:latin typeface="Arial Narrow" panose="020B0606020202030204" pitchFamily="34" charset="0"/>
                    <a:ea typeface="a고딕14" panose="02020600000000000000" pitchFamily="18" charset="-127"/>
                  </a:rPr>
                  <a:t>김도용</a:t>
                </a:r>
                <a:r>
                  <a:rPr lang="ko-KR" altLang="en-US" kern="0" dirty="0">
                    <a:solidFill>
                      <a:sysClr val="windowText" lastClr="000000"/>
                    </a:solidFill>
                    <a:latin typeface="Arial Narrow" panose="020B0606020202030204" pitchFamily="34" charset="0"/>
                    <a:ea typeface="a고딕14" panose="02020600000000000000" pitchFamily="18" charset="-127"/>
                  </a:rPr>
                  <a:t> </a:t>
                </a:r>
                <a:r>
                  <a:rPr lang="ko-KR" altLang="en-US" kern="0" dirty="0" err="1">
                    <a:solidFill>
                      <a:sysClr val="windowText" lastClr="000000"/>
                    </a:solidFill>
                    <a:latin typeface="Arial Narrow" panose="020B0606020202030204" pitchFamily="34" charset="0"/>
                    <a:ea typeface="a고딕14" panose="02020600000000000000" pitchFamily="18" charset="-127"/>
                  </a:rPr>
                  <a:t>책임컨설턴트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err="1">
                    <a:solidFill>
                      <a:sysClr val="windowText" lastClr="000000"/>
                    </a:solidFill>
                    <a:latin typeface="Arial Narrow" panose="020B0606020202030204" pitchFamily="34" charset="0"/>
                    <a:ea typeface="a고딕14" panose="02020600000000000000" pitchFamily="18" charset="-127"/>
                  </a:rPr>
                  <a:t>송해림</a:t>
                </a:r>
                <a:r>
                  <a:rPr lang="ko-KR" altLang="en-US" kern="0" dirty="0">
                    <a:solidFill>
                      <a:sysClr val="windowText" lastClr="000000"/>
                    </a:solidFill>
                    <a:latin typeface="Arial Narrow" panose="020B0606020202030204" pitchFamily="34" charset="0"/>
                    <a:ea typeface="a고딕14" panose="02020600000000000000" pitchFamily="18" charset="-127"/>
                  </a:rPr>
                  <a:t> </a:t>
                </a:r>
                <a:r>
                  <a:rPr lang="ko-KR" altLang="en-US" kern="0" dirty="0" err="1">
                    <a:solidFill>
                      <a:sysClr val="windowText" lastClr="000000"/>
                    </a:solidFill>
                    <a:latin typeface="Arial Narrow" panose="020B0606020202030204" pitchFamily="34" charset="0"/>
                    <a:ea typeface="a고딕14" panose="02020600000000000000" pitchFamily="18" charset="-127"/>
                  </a:rPr>
                  <a:t>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신혜원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p:txBody>
          </p:sp>
        </p:grpSp>
        <p:grpSp>
          <p:nvGrpSpPr>
            <p:cNvPr id="74" name="그룹 73"/>
            <p:cNvGrpSpPr/>
            <p:nvPr/>
          </p:nvGrpSpPr>
          <p:grpSpPr>
            <a:xfrm>
              <a:off x="6952230" y="3846687"/>
              <a:ext cx="1879461" cy="1749736"/>
              <a:chOff x="5444758" y="3846687"/>
              <a:chExt cx="2100530" cy="1749736"/>
            </a:xfrm>
          </p:grpSpPr>
          <p:sp>
            <p:nvSpPr>
              <p:cNvPr id="75" name="모서리가 둥근 직사각형 167">
                <a:extLst>
                  <a:ext uri="{FF2B5EF4-FFF2-40B4-BE49-F238E27FC236}">
                    <a16:creationId xmlns:a16="http://schemas.microsoft.com/office/drawing/2014/main" id="{A37055AE-9266-4C02-A1E9-1B378D5D7A3C}"/>
                  </a:ext>
                </a:extLst>
              </p:cNvPr>
              <p:cNvSpPr/>
              <p:nvPr/>
            </p:nvSpPr>
            <p:spPr bwMode="auto">
              <a:xfrm>
                <a:off x="5448742" y="3846687"/>
                <a:ext cx="2096546" cy="417587"/>
              </a:xfrm>
              <a:prstGeom prst="roundRect">
                <a:avLst>
                  <a:gd name="adj" fmla="val 0"/>
                </a:avLst>
              </a:prstGeom>
              <a:solidFill>
                <a:srgbClr val="005E80"/>
              </a:solidFill>
              <a:ln w="9525" cap="flat" cmpd="sng" algn="ctr">
                <a:solidFill>
                  <a:srgbClr val="003F56"/>
                </a:solidFill>
                <a:prstDash val="solid"/>
                <a:miter lim="800000"/>
                <a:headEnd/>
                <a:tailEnd/>
              </a:ln>
              <a:effectLst/>
            </p:spPr>
            <p:txBody>
              <a:bodyPr lIns="0" rIns="0" anchor="ctr"/>
              <a:lstStyle/>
              <a:p>
                <a:pPr lvl="0" eaLnBrk="1" fontAlgn="auto" latinLnBrk="0" hangingPunct="1">
                  <a:spcBef>
                    <a:spcPts val="0"/>
                  </a:spcBef>
                  <a:spcAft>
                    <a:spcPts val="0"/>
                  </a:spcAft>
                  <a:buNone/>
                  <a:defRPr/>
                </a:pPr>
                <a:r>
                  <a:rPr lang="ko-KR" altLang="en-US" kern="0" dirty="0">
                    <a:solidFill>
                      <a:prstClr val="white"/>
                    </a:solidFill>
                    <a:latin typeface="Arial Narrow" panose="020B0606020202030204" pitchFamily="34" charset="0"/>
                    <a:ea typeface="a고딕14" panose="02020600000000000000" pitchFamily="18" charset="-127"/>
                  </a:rPr>
                  <a:t>직무능력은행제 연계 검토</a:t>
                </a:r>
              </a:p>
            </p:txBody>
          </p:sp>
          <p:sp>
            <p:nvSpPr>
              <p:cNvPr id="78" name="직사각형 77">
                <a:extLst>
                  <a:ext uri="{FF2B5EF4-FFF2-40B4-BE49-F238E27FC236}">
                    <a16:creationId xmlns:a16="http://schemas.microsoft.com/office/drawing/2014/main" id="{46D45E7D-B787-4BAE-8DC7-8CE9858B0FF4}"/>
                  </a:ext>
                </a:extLst>
              </p:cNvPr>
              <p:cNvSpPr/>
              <p:nvPr/>
            </p:nvSpPr>
            <p:spPr>
              <a:xfrm>
                <a:off x="5448742" y="4311383"/>
                <a:ext cx="2096546" cy="1285040"/>
              </a:xfrm>
              <a:prstGeom prst="rect">
                <a:avLst/>
              </a:prstGeom>
              <a:solidFill>
                <a:schemeClr val="bg1"/>
              </a:solidFill>
              <a:ln w="12700" algn="ctr">
                <a:solidFill>
                  <a:srgbClr val="E7E6E6">
                    <a:lumMod val="90000"/>
                  </a:srgbClr>
                </a:solidFill>
                <a:miter lim="800000"/>
                <a:headEnd/>
                <a:tailEnd/>
              </a:ln>
              <a:effectLst/>
            </p:spPr>
            <p:txBody>
              <a:bodyPr lIns="108000" tIns="18000" rIns="0" bIns="18000" anchor="ctr"/>
              <a:lstStyle/>
              <a:p>
                <a:pPr marL="0" marR="0" lvl="0" indent="0" algn="l" defTabSz="914400" rtl="0" eaLnBrk="0" fontAlgn="base" latinLnBrk="0" hangingPunct="0">
                  <a:lnSpc>
                    <a:spcPct val="200000"/>
                  </a:lnSpc>
                  <a:spcBef>
                    <a:spcPct val="0"/>
                  </a:spcBef>
                  <a:spcAft>
                    <a:spcPct val="0"/>
                  </a:spcAft>
                  <a:buClrTx/>
                  <a:buSzTx/>
                  <a:buFont typeface="Wingdings" pitchFamily="2" charset="2"/>
                  <a:buNone/>
                  <a:tabLst/>
                  <a:defRPr/>
                </a:pPr>
                <a:endParaRPr kumimoji="0" lang="en-US" altLang="ko-KR" sz="13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sp>
            <p:nvSpPr>
              <p:cNvPr id="77" name="TextBox 76"/>
              <p:cNvSpPr txBox="1"/>
              <p:nvPr/>
            </p:nvSpPr>
            <p:spPr>
              <a:xfrm>
                <a:off x="5444758" y="4328731"/>
                <a:ext cx="2090636" cy="1071319"/>
              </a:xfrm>
              <a:prstGeom prst="rect">
                <a:avLst/>
              </a:prstGeom>
              <a:noFill/>
            </p:spPr>
            <p:txBody>
              <a:bodyPr wrap="square" lIns="0" rIns="0" rtlCol="0">
                <a:spAutoFit/>
              </a:bodyPr>
              <a:lstStyle/>
              <a:p>
                <a:pPr lvl="0" latinLnBrk="0">
                  <a:lnSpc>
                    <a:spcPts val="1800"/>
                  </a:lnSpc>
                  <a:spcAft>
                    <a:spcPts val="600"/>
                  </a:spcAft>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이재민 수석컨설턴트</a:t>
                </a: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김준식 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err="1">
                    <a:solidFill>
                      <a:sysClr val="windowText" lastClr="000000"/>
                    </a:solidFill>
                    <a:latin typeface="Arial Narrow" panose="020B0606020202030204" pitchFamily="34" charset="0"/>
                    <a:ea typeface="a고딕14" panose="02020600000000000000" pitchFamily="18" charset="-127"/>
                  </a:rPr>
                  <a:t>송해림</a:t>
                </a:r>
                <a:r>
                  <a:rPr lang="ko-KR" altLang="en-US" kern="0" dirty="0">
                    <a:solidFill>
                      <a:sysClr val="windowText" lastClr="000000"/>
                    </a:solidFill>
                    <a:latin typeface="Arial Narrow" panose="020B0606020202030204" pitchFamily="34" charset="0"/>
                    <a:ea typeface="a고딕14" panose="02020600000000000000" pitchFamily="18" charset="-127"/>
                  </a:rPr>
                  <a:t> </a:t>
                </a:r>
                <a:r>
                  <a:rPr lang="ko-KR" altLang="en-US" kern="0" dirty="0" err="1">
                    <a:solidFill>
                      <a:sysClr val="windowText" lastClr="000000"/>
                    </a:solidFill>
                    <a:latin typeface="Arial Narrow" panose="020B0606020202030204" pitchFamily="34" charset="0"/>
                    <a:ea typeface="a고딕14" panose="02020600000000000000" pitchFamily="18" charset="-127"/>
                  </a:rPr>
                  <a:t>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신혜원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p:txBody>
          </p:sp>
        </p:grpSp>
      </p:grpSp>
      <p:cxnSp>
        <p:nvCxnSpPr>
          <p:cNvPr id="80" name="꺾인 연결선 14">
            <a:extLst>
              <a:ext uri="{FF2B5EF4-FFF2-40B4-BE49-F238E27FC236}">
                <a16:creationId xmlns:a16="http://schemas.microsoft.com/office/drawing/2014/main" id="{C62FBE86-1A9A-4758-8FB8-77937A1F4805}"/>
              </a:ext>
            </a:extLst>
          </p:cNvPr>
          <p:cNvCxnSpPr>
            <a:cxnSpLocks/>
            <a:stCxn id="68" idx="2"/>
            <a:endCxn id="75" idx="0"/>
          </p:cNvCxnSpPr>
          <p:nvPr/>
        </p:nvCxnSpPr>
        <p:spPr>
          <a:xfrm rot="16200000" flipH="1">
            <a:off x="6454653" y="2289880"/>
            <a:ext cx="464694" cy="3138612"/>
          </a:xfrm>
          <a:prstGeom prst="bentConnector3">
            <a:avLst>
              <a:gd name="adj1" fmla="val 50000"/>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1" name="꺾인 연결선 14">
            <a:extLst>
              <a:ext uri="{FF2B5EF4-FFF2-40B4-BE49-F238E27FC236}">
                <a16:creationId xmlns:a16="http://schemas.microsoft.com/office/drawing/2014/main" id="{C62FBE86-1A9A-4758-8FB8-77937A1F4805}"/>
              </a:ext>
            </a:extLst>
          </p:cNvPr>
          <p:cNvCxnSpPr>
            <a:cxnSpLocks/>
            <a:stCxn id="68" idx="2"/>
            <a:endCxn id="54" idx="0"/>
          </p:cNvCxnSpPr>
          <p:nvPr/>
        </p:nvCxnSpPr>
        <p:spPr>
          <a:xfrm rot="5400000">
            <a:off x="4399923" y="3373762"/>
            <a:ext cx="464694" cy="970848"/>
          </a:xfrm>
          <a:prstGeom prst="bentConnector3">
            <a:avLst>
              <a:gd name="adj1" fmla="val 50000"/>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50" name="그룹 49">
            <a:extLst>
              <a:ext uri="{FF2B5EF4-FFF2-40B4-BE49-F238E27FC236}">
                <a16:creationId xmlns:a16="http://schemas.microsoft.com/office/drawing/2014/main" id="{6DE7925A-89DD-4007-BC2C-09F95D5AD26F}"/>
              </a:ext>
            </a:extLst>
          </p:cNvPr>
          <p:cNvGrpSpPr/>
          <p:nvPr/>
        </p:nvGrpSpPr>
        <p:grpSpPr>
          <a:xfrm>
            <a:off x="3986244" y="3027434"/>
            <a:ext cx="2262900" cy="599405"/>
            <a:chOff x="4307368" y="2737469"/>
            <a:chExt cx="1462847" cy="676209"/>
          </a:xfrm>
        </p:grpSpPr>
        <p:sp>
          <p:nvSpPr>
            <p:cNvPr id="51" name="모서리가 둥근 직사각형 167">
              <a:extLst>
                <a:ext uri="{FF2B5EF4-FFF2-40B4-BE49-F238E27FC236}">
                  <a16:creationId xmlns:a16="http://schemas.microsoft.com/office/drawing/2014/main" id="{B74C57BA-870D-4134-B3B2-3B77021E72A9}"/>
                </a:ext>
              </a:extLst>
            </p:cNvPr>
            <p:cNvSpPr/>
            <p:nvPr/>
          </p:nvSpPr>
          <p:spPr bwMode="auto">
            <a:xfrm>
              <a:off x="4307368" y="2737469"/>
              <a:ext cx="1462847" cy="337078"/>
            </a:xfrm>
            <a:prstGeom prst="roundRect">
              <a:avLst>
                <a:gd name="adj" fmla="val 0"/>
              </a:avLst>
            </a:prstGeom>
            <a:solidFill>
              <a:srgbClr val="003F56"/>
            </a:solidFill>
            <a:ln w="9525" cap="flat" cmpd="sng" algn="ctr">
              <a:solidFill>
                <a:srgbClr val="003F56"/>
              </a:solidFill>
              <a:prstDash val="solid"/>
              <a:miter lim="800000"/>
              <a:headEnd/>
              <a:tailEnd/>
            </a:ln>
            <a:effectLst/>
          </p:spPr>
          <p:txBody>
            <a:bodyPr lIns="0" rIns="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사업 실무 책임자 </a:t>
              </a:r>
              <a:r>
                <a:rPr kumimoji="1" lang="en-US" altLang="ko-KR"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a:t>
              </a:r>
              <a:r>
                <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실무 </a:t>
              </a:r>
              <a:r>
                <a:rPr kumimoji="1" lang="en-US" altLang="ko-KR"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PM)</a:t>
              </a:r>
              <a:endPar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8" name="직사각형 67">
              <a:extLst>
                <a:ext uri="{FF2B5EF4-FFF2-40B4-BE49-F238E27FC236}">
                  <a16:creationId xmlns:a16="http://schemas.microsoft.com/office/drawing/2014/main" id="{EFFD0EE5-84C3-4AA1-AE86-48A5BDC97857}"/>
                </a:ext>
              </a:extLst>
            </p:cNvPr>
            <p:cNvSpPr/>
            <p:nvPr/>
          </p:nvSpPr>
          <p:spPr>
            <a:xfrm>
              <a:off x="4307368" y="3079572"/>
              <a:ext cx="1462847" cy="334106"/>
            </a:xfrm>
            <a:prstGeom prst="rect">
              <a:avLst/>
            </a:prstGeom>
            <a:solidFill>
              <a:sysClr val="window" lastClr="FFFFFF"/>
            </a:solidFill>
            <a:ln w="9525" cap="flat" cmpd="sng" algn="ctr">
              <a:solidFill>
                <a:srgbClr val="061F3E"/>
              </a:solidFill>
              <a:prstDash val="solid"/>
            </a:ln>
            <a:effectLst/>
          </p:spPr>
          <p:txBody>
            <a:bodyPr lIns="36000" tIns="18000" rIns="0" bIns="18000" rtlCol="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tab pos="0" algn="l"/>
                </a:tabLst>
                <a:defRPr/>
              </a:pPr>
              <a:r>
                <a:rPr lang="ko-KR" altLang="en-US" sz="1300" kern="0" dirty="0">
                  <a:solidFill>
                    <a:prstClr val="black"/>
                  </a:solidFill>
                  <a:latin typeface="Arial Narrow" panose="020B0606020202030204" pitchFamily="34" charset="0"/>
                  <a:ea typeface="a고딕14" panose="02020600000000000000" pitchFamily="18" charset="-127"/>
                </a:rPr>
                <a:t>이재민 수석컨설턴트</a:t>
              </a:r>
              <a:endParaRPr kumimoji="0" lang="en-US" altLang="ko-KR" sz="13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grpSp>
      <p:cxnSp>
        <p:nvCxnSpPr>
          <p:cNvPr id="69" name="직선 연결선 68"/>
          <p:cNvCxnSpPr>
            <a:stCxn id="42" idx="2"/>
            <a:endCxn id="51" idx="0"/>
          </p:cNvCxnSpPr>
          <p:nvPr/>
        </p:nvCxnSpPr>
        <p:spPr>
          <a:xfrm>
            <a:off x="5117694" y="2728246"/>
            <a:ext cx="0" cy="299188"/>
          </a:xfrm>
          <a:prstGeom prst="line">
            <a:avLst/>
          </a:prstGeom>
          <a:ln>
            <a:solidFill>
              <a:srgbClr val="7F7F7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33934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latin typeface="+mn-ea"/>
              </a:rPr>
              <a:t>수행 조직의 각 인원은 다음과 같은 역할을 수행하며</a:t>
            </a:r>
            <a:r>
              <a:rPr lang="en-US" altLang="ko-KR" dirty="0">
                <a:latin typeface="+mn-ea"/>
              </a:rPr>
              <a:t>, </a:t>
            </a:r>
            <a:r>
              <a:rPr lang="ko-KR" altLang="en-US" dirty="0">
                <a:latin typeface="+mn-ea"/>
              </a:rPr>
              <a:t>사안에 따라 </a:t>
            </a:r>
            <a:r>
              <a:rPr lang="ko-KR" altLang="en-US" dirty="0">
                <a:solidFill>
                  <a:srgbClr val="0070C0"/>
                </a:solidFill>
                <a:latin typeface="+mn-ea"/>
              </a:rPr>
              <a:t>효율적인 커뮤니케이션과 협업을 통하여 원활한 프로젝트의 진행을 도모</a:t>
            </a:r>
            <a:r>
              <a:rPr lang="ko-KR" altLang="en-US" dirty="0">
                <a:latin typeface="+mn-ea"/>
              </a:rPr>
              <a:t>할 것임</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1. </a:t>
            </a:r>
            <a:r>
              <a:rPr lang="ko-KR" altLang="en-US" dirty="0"/>
              <a:t>과업 </a:t>
            </a:r>
            <a:r>
              <a:rPr lang="ko-KR" altLang="en-US" dirty="0" err="1"/>
              <a:t>수행인력</a:t>
            </a:r>
            <a:r>
              <a:rPr lang="ko-KR" altLang="en-US" dirty="0"/>
              <a:t> </a:t>
            </a:r>
            <a:r>
              <a:rPr lang="ko-KR" altLang="en-US" dirty="0" err="1"/>
              <a:t>구성계획</a:t>
            </a:r>
            <a:endParaRPr lang="ko-KR" altLang="en-US" dirty="0"/>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과업 수행 조직 </a:t>
            </a:r>
            <a:r>
              <a:rPr lang="ko-KR" altLang="en-US" dirty="0"/>
              <a:t>업무분장</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2" name="텍스트 개체 틀 1"/>
          <p:cNvSpPr>
            <a:spLocks noGrp="1"/>
          </p:cNvSpPr>
          <p:nvPr>
            <p:ph type="body" sz="quarter" idx="14"/>
          </p:nvPr>
        </p:nvSpPr>
        <p:spPr>
          <a:xfrm>
            <a:off x="596516" y="1664744"/>
            <a:ext cx="2644901" cy="331935"/>
          </a:xfrm>
        </p:spPr>
        <p:txBody>
          <a:bodyPr vert="horz" wrap="none" lIns="0" tIns="0" rIns="0" bIns="0" rtlCol="0" anchor="ctr">
            <a:noAutofit/>
          </a:bodyPr>
          <a:lstStyle/>
          <a:p>
            <a:r>
              <a:rPr lang="en-US" altLang="ko-KR" dirty="0">
                <a:latin typeface="Arial Narrow" panose="020B0606020202030204" pitchFamily="34" charset="0"/>
              </a:rPr>
              <a:t>Project team R&amp;R</a:t>
            </a:r>
          </a:p>
        </p:txBody>
      </p:sp>
      <p:sp>
        <p:nvSpPr>
          <p:cNvPr id="46" name="직사각형 45"/>
          <p:cNvSpPr/>
          <p:nvPr/>
        </p:nvSpPr>
        <p:spPr>
          <a:xfrm>
            <a:off x="920552" y="2348880"/>
            <a:ext cx="8352928" cy="3771979"/>
          </a:xfrm>
          <a:prstGeom prst="rect">
            <a:avLst/>
          </a:prstGeom>
          <a:solidFill>
            <a:sysClr val="window" lastClr="FFFFFF">
              <a:lumMod val="95000"/>
            </a:sysClr>
          </a:solidFill>
          <a:ln w="12700" cap="flat" cmpd="sng" algn="ctr">
            <a:noFill/>
            <a:prstDash val="solid"/>
            <a:miter lim="800000"/>
          </a:ln>
          <a:effectLst/>
        </p:spPr>
        <p:txBody>
          <a:bodyPr lIns="0" rIns="0" rtlCol="0"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dirty="0">
              <a:ln>
                <a:noFill/>
              </a:ln>
              <a:solidFill>
                <a:prstClr val="white"/>
              </a:solidFill>
              <a:effectLst/>
              <a:uLnTx/>
              <a:uFillTx/>
              <a:latin typeface="a고딕14" panose="02020600000000000000" pitchFamily="18" charset="-127"/>
              <a:ea typeface="맑은 고딕" panose="020B0503020000020004" pitchFamily="50" charset="-127"/>
              <a:cs typeface="+mn-cs"/>
            </a:endParaRPr>
          </a:p>
        </p:txBody>
      </p:sp>
      <p:sp>
        <p:nvSpPr>
          <p:cNvPr id="73" name="직사각형 72">
            <a:extLst>
              <a:ext uri="{FF2B5EF4-FFF2-40B4-BE49-F238E27FC236}">
                <a16:creationId xmlns:a16="http://schemas.microsoft.com/office/drawing/2014/main" id="{402CC336-47E4-4326-8FB4-538ABB5B268E}"/>
              </a:ext>
            </a:extLst>
          </p:cNvPr>
          <p:cNvSpPr/>
          <p:nvPr/>
        </p:nvSpPr>
        <p:spPr>
          <a:xfrm>
            <a:off x="822332" y="5568021"/>
            <a:ext cx="1800000" cy="684000"/>
          </a:xfrm>
          <a:prstGeom prst="rect">
            <a:avLst/>
          </a:prstGeom>
          <a:solidFill>
            <a:sysClr val="window" lastClr="FFFFFF">
              <a:lumMod val="85000"/>
            </a:sysClr>
          </a:solidFill>
          <a:ln w="12700" algn="ctr">
            <a:solidFill>
              <a:srgbClr val="E7E6E6">
                <a:lumMod val="90000"/>
              </a:srgbClr>
            </a:solidFill>
            <a:miter lim="800000"/>
            <a:headEnd/>
            <a:tailEnd/>
          </a:ln>
          <a:effectLst/>
        </p:spPr>
        <p:txBody>
          <a:bodyPr lIns="36000" tIns="18000" rIns="36000" bIns="18000" anchor="ctr"/>
          <a:lstStyle/>
          <a:p>
            <a:pPr marL="0" marR="0" lvl="0" indent="0" defTabSz="914400" eaLnBrk="1" fontAlgn="auto" latinLnBrk="0" hangingPunct="1">
              <a:lnSpc>
                <a:spcPct val="150000"/>
              </a:lnSpc>
              <a:spcBef>
                <a:spcPts val="0"/>
              </a:spcBef>
              <a:spcAft>
                <a:spcPts val="0"/>
              </a:spcAft>
              <a:buClrTx/>
              <a:buSzTx/>
              <a:buFont typeface="Wingdings" pitchFamily="2" charset="2"/>
              <a:buNone/>
              <a:tabLst/>
              <a:defRPr/>
            </a:pPr>
            <a:r>
              <a:rPr kumimoji="0" lang="en-US" altLang="ko-KR" sz="1300" b="0" i="0" u="none" strike="noStrike" kern="0" cap="none" spc="0" normalizeH="0" baseline="0" noProof="0" dirty="0">
                <a:ln>
                  <a:noFill/>
                </a:ln>
                <a:solidFill>
                  <a:sysClr val="windowText" lastClr="000000"/>
                </a:solidFill>
                <a:effectLst/>
                <a:uLnTx/>
                <a:uFillTx/>
                <a:latin typeface="a고딕14" panose="02020600000000000000" pitchFamily="18" charset="-127"/>
                <a:ea typeface="a고딕14" panose="02020600000000000000" pitchFamily="18" charset="-127"/>
              </a:rPr>
              <a:t>Desk Research</a:t>
            </a:r>
          </a:p>
        </p:txBody>
      </p:sp>
      <p:grpSp>
        <p:nvGrpSpPr>
          <p:cNvPr id="2" name="그룹 1"/>
          <p:cNvGrpSpPr/>
          <p:nvPr/>
        </p:nvGrpSpPr>
        <p:grpSpPr>
          <a:xfrm>
            <a:off x="822332" y="2348880"/>
            <a:ext cx="8523280" cy="3062351"/>
            <a:chOff x="822332" y="3045653"/>
            <a:chExt cx="8523280" cy="2365578"/>
          </a:xfrm>
        </p:grpSpPr>
        <p:sp>
          <p:nvSpPr>
            <p:cNvPr id="69" name="직사각형 68">
              <a:extLst>
                <a:ext uri="{FF2B5EF4-FFF2-40B4-BE49-F238E27FC236}">
                  <a16:creationId xmlns:a16="http://schemas.microsoft.com/office/drawing/2014/main" id="{402CC336-47E4-4326-8FB4-538ABB5B268E}"/>
                </a:ext>
              </a:extLst>
            </p:cNvPr>
            <p:cNvSpPr/>
            <p:nvPr/>
          </p:nvSpPr>
          <p:spPr>
            <a:xfrm>
              <a:off x="822332" y="4727231"/>
              <a:ext cx="1800000" cy="684000"/>
            </a:xfrm>
            <a:prstGeom prst="rect">
              <a:avLst/>
            </a:prstGeom>
            <a:solidFill>
              <a:sysClr val="window" lastClr="FFFFFF"/>
            </a:solidFill>
            <a:ln w="12700" algn="ctr">
              <a:solidFill>
                <a:srgbClr val="E7E6E6">
                  <a:lumMod val="90000"/>
                </a:srgbClr>
              </a:solidFill>
              <a:miter lim="800000"/>
              <a:headEnd/>
              <a:tailEnd/>
            </a:ln>
            <a:effectLst/>
          </p:spPr>
          <p:txBody>
            <a:bodyPr lIns="36000" tIns="18000" rIns="36000" bIns="18000" anchor="ctr"/>
            <a:lstStyle/>
            <a:p>
              <a:pPr eaLnBrk="1" fontAlgn="auto" latinLnBrk="0" hangingPunct="1">
                <a:lnSpc>
                  <a:spcPct val="150000"/>
                </a:lnSpc>
                <a:spcBef>
                  <a:spcPts val="0"/>
                </a:spcBef>
                <a:spcAft>
                  <a:spcPts val="0"/>
                </a:spcAft>
                <a:buFont typeface="Wingdings" pitchFamily="2" charset="2"/>
                <a:buNone/>
                <a:defRPr/>
              </a:pPr>
              <a:r>
                <a:rPr lang="ko-KR" altLang="en-US" sz="1300" kern="0" dirty="0">
                  <a:solidFill>
                    <a:sysClr val="windowText" lastClr="000000"/>
                  </a:solidFill>
                  <a:latin typeface="a고딕14" panose="02020600000000000000" pitchFamily="18" charset="-127"/>
                  <a:ea typeface="a고딕14" panose="02020600000000000000" pitchFamily="18" charset="-127"/>
                </a:rPr>
                <a:t>과업 담당자</a:t>
              </a:r>
              <a:endParaRPr lang="en-US" altLang="ko-KR" sz="1300" kern="0" dirty="0">
                <a:solidFill>
                  <a:sysClr val="windowText" lastClr="000000"/>
                </a:solidFill>
                <a:latin typeface="a고딕14" panose="02020600000000000000" pitchFamily="18" charset="-127"/>
                <a:ea typeface="a고딕14" panose="02020600000000000000" pitchFamily="18" charset="-127"/>
              </a:endParaRPr>
            </a:p>
          </p:txBody>
        </p:sp>
        <p:sp>
          <p:nvSpPr>
            <p:cNvPr id="70" name="모서리가 둥근 직사각형 167">
              <a:extLst>
                <a:ext uri="{FF2B5EF4-FFF2-40B4-BE49-F238E27FC236}">
                  <a16:creationId xmlns:a16="http://schemas.microsoft.com/office/drawing/2014/main" id="{A00B061A-6D39-44B1-9DD6-4E27F6AAF233}"/>
                </a:ext>
              </a:extLst>
            </p:cNvPr>
            <p:cNvSpPr/>
            <p:nvPr/>
          </p:nvSpPr>
          <p:spPr bwMode="auto">
            <a:xfrm>
              <a:off x="822332" y="3045653"/>
              <a:ext cx="1800000" cy="684000"/>
            </a:xfrm>
            <a:prstGeom prst="roundRect">
              <a:avLst>
                <a:gd name="adj" fmla="val 0"/>
              </a:avLst>
            </a:prstGeom>
            <a:solidFill>
              <a:srgbClr val="003F56"/>
            </a:solidFill>
            <a:ln w="9525" cap="flat" cmpd="sng" algn="ctr">
              <a:solidFill>
                <a:srgbClr val="003F56"/>
              </a:solidFill>
              <a:prstDash val="solid"/>
              <a:miter lim="800000"/>
              <a:headEnd/>
              <a:tailEnd/>
            </a:ln>
            <a:effectLst/>
          </p:spPr>
          <p:txBody>
            <a:bodyPr lIns="0" rIns="0" anchor="ctr"/>
            <a:lstStyle/>
            <a:p>
              <a:pPr eaLnBrk="1" fontAlgn="auto" latinLnBrk="0" hangingPunct="1">
                <a:spcBef>
                  <a:spcPts val="0"/>
                </a:spcBef>
                <a:spcAft>
                  <a:spcPts val="0"/>
                </a:spcAft>
                <a:buFontTx/>
                <a:buNone/>
                <a:defRPr/>
              </a:pPr>
              <a:r>
                <a:rPr kumimoji="1" lang="ko-KR" altLang="en-US" sz="1300" kern="0" dirty="0">
                  <a:solidFill>
                    <a:prstClr val="white"/>
                  </a:solidFill>
                  <a:latin typeface="a고딕14" panose="02020600000000000000" pitchFamily="18" charset="-127"/>
                  <a:ea typeface="a고딕14" panose="02020600000000000000" pitchFamily="18" charset="-127"/>
                </a:rPr>
                <a:t>사업 총괄</a:t>
              </a:r>
              <a:r>
                <a:rPr kumimoji="1" lang="en-US" altLang="ko-KR" sz="1300" kern="0" dirty="0">
                  <a:solidFill>
                    <a:prstClr val="white"/>
                  </a:solidFill>
                  <a:latin typeface="a고딕14" panose="02020600000000000000" pitchFamily="18" charset="-127"/>
                  <a:ea typeface="a고딕14" panose="02020600000000000000" pitchFamily="18" charset="-127"/>
                </a:rPr>
                <a:t> </a:t>
              </a:r>
              <a:r>
                <a:rPr kumimoji="1" lang="ko-KR" altLang="en-US" sz="1300" kern="0" dirty="0">
                  <a:solidFill>
                    <a:prstClr val="white"/>
                  </a:solidFill>
                  <a:latin typeface="a고딕14" panose="02020600000000000000" pitchFamily="18" charset="-127"/>
                  <a:ea typeface="a고딕14" panose="02020600000000000000" pitchFamily="18" charset="-127"/>
                </a:rPr>
                <a:t>책임자</a:t>
              </a:r>
              <a:endParaRPr kumimoji="1" lang="en-US" altLang="ko-KR" sz="1300" kern="0" dirty="0">
                <a:solidFill>
                  <a:prstClr val="white"/>
                </a:solidFill>
                <a:latin typeface="a고딕14" panose="02020600000000000000" pitchFamily="18" charset="-127"/>
                <a:ea typeface="a고딕14" panose="02020600000000000000" pitchFamily="18" charset="-127"/>
              </a:endParaRPr>
            </a:p>
            <a:p>
              <a:pPr eaLnBrk="1" fontAlgn="auto" latinLnBrk="0" hangingPunct="1">
                <a:spcBef>
                  <a:spcPts val="0"/>
                </a:spcBef>
                <a:spcAft>
                  <a:spcPts val="0"/>
                </a:spcAft>
                <a:buFontTx/>
                <a:buNone/>
                <a:defRPr/>
              </a:pPr>
              <a:r>
                <a:rPr kumimoji="1" lang="en-US" altLang="ko-KR" sz="1300" kern="0" dirty="0">
                  <a:solidFill>
                    <a:prstClr val="white"/>
                  </a:solidFill>
                  <a:latin typeface="a고딕14" panose="02020600000000000000" pitchFamily="18" charset="-127"/>
                  <a:ea typeface="a고딕14" panose="02020600000000000000" pitchFamily="18" charset="-127"/>
                </a:rPr>
                <a:t>PM(Project</a:t>
              </a:r>
              <a:r>
                <a:rPr kumimoji="1" lang="ko-KR" altLang="en-US" sz="1300" kern="0" dirty="0">
                  <a:solidFill>
                    <a:prstClr val="white"/>
                  </a:solidFill>
                  <a:latin typeface="a고딕14" panose="02020600000000000000" pitchFamily="18" charset="-127"/>
                  <a:ea typeface="a고딕14" panose="02020600000000000000" pitchFamily="18" charset="-127"/>
                </a:rPr>
                <a:t> </a:t>
              </a:r>
              <a:r>
                <a:rPr kumimoji="1" lang="en-US" altLang="ko-KR" sz="1300" kern="0" dirty="0">
                  <a:solidFill>
                    <a:prstClr val="white"/>
                  </a:solidFill>
                  <a:latin typeface="a고딕14" panose="02020600000000000000" pitchFamily="18" charset="-127"/>
                  <a:ea typeface="a고딕14" panose="02020600000000000000" pitchFamily="18" charset="-127"/>
                </a:rPr>
                <a:t>Manager)</a:t>
              </a:r>
              <a:endParaRPr kumimoji="1" lang="ko-KR" altLang="en-US" sz="1300" kern="0" dirty="0">
                <a:solidFill>
                  <a:prstClr val="white"/>
                </a:solidFill>
                <a:latin typeface="a고딕14" panose="02020600000000000000" pitchFamily="18" charset="-127"/>
                <a:ea typeface="a고딕14" panose="02020600000000000000" pitchFamily="18" charset="-127"/>
              </a:endParaRPr>
            </a:p>
          </p:txBody>
        </p:sp>
        <p:sp>
          <p:nvSpPr>
            <p:cNvPr id="71" name="직사각형 70">
              <a:extLst>
                <a:ext uri="{FF2B5EF4-FFF2-40B4-BE49-F238E27FC236}">
                  <a16:creationId xmlns:a16="http://schemas.microsoft.com/office/drawing/2014/main" id="{B27C9E93-42B1-494D-BEB9-713B7247F425}"/>
                </a:ext>
              </a:extLst>
            </p:cNvPr>
            <p:cNvSpPr/>
            <p:nvPr/>
          </p:nvSpPr>
          <p:spPr>
            <a:xfrm>
              <a:off x="822332" y="3886442"/>
              <a:ext cx="1800000" cy="684000"/>
            </a:xfrm>
            <a:prstGeom prst="rect">
              <a:avLst/>
            </a:prstGeom>
            <a:solidFill>
              <a:srgbClr val="DFD5CF"/>
            </a:solidFill>
            <a:ln w="12700" algn="ctr">
              <a:solidFill>
                <a:srgbClr val="E7E6E6">
                  <a:lumMod val="90000"/>
                </a:srgbClr>
              </a:solidFill>
              <a:miter lim="800000"/>
              <a:headEnd/>
              <a:tailEnd/>
            </a:ln>
            <a:effectLst/>
          </p:spPr>
          <p:txBody>
            <a:bodyPr lIns="36000" rIns="36000" anchor="ctr"/>
            <a:lstStyle/>
            <a:p>
              <a:pPr eaLnBrk="1" fontAlgn="auto" latinLnBrk="0" hangingPunct="1">
                <a:spcBef>
                  <a:spcPts val="0"/>
                </a:spcBef>
                <a:spcAft>
                  <a:spcPts val="0"/>
                </a:spcAft>
                <a:buFont typeface="Wingdings" pitchFamily="2" charset="2"/>
                <a:buNone/>
              </a:pPr>
              <a:r>
                <a:rPr lang="ko-KR" altLang="en-US" sz="1300" kern="0" dirty="0">
                  <a:solidFill>
                    <a:srgbClr val="003F56"/>
                  </a:solidFill>
                  <a:latin typeface="a고딕14" panose="02020600000000000000" pitchFamily="18" charset="-127"/>
                  <a:ea typeface="a고딕14" panose="02020600000000000000" pitchFamily="18" charset="-127"/>
                </a:rPr>
                <a:t>사업 실무 책임자</a:t>
              </a:r>
              <a:endParaRPr lang="en-US" altLang="ko-KR" sz="1300" kern="0" dirty="0">
                <a:solidFill>
                  <a:srgbClr val="003F56"/>
                </a:solidFill>
                <a:latin typeface="a고딕14" panose="02020600000000000000" pitchFamily="18" charset="-127"/>
                <a:ea typeface="a고딕14" panose="02020600000000000000" pitchFamily="18" charset="-127"/>
              </a:endParaRPr>
            </a:p>
          </p:txBody>
        </p:sp>
        <p:sp>
          <p:nvSpPr>
            <p:cNvPr id="74" name="직사각형 73">
              <a:extLst>
                <a:ext uri="{FF2B5EF4-FFF2-40B4-BE49-F238E27FC236}">
                  <a16:creationId xmlns:a16="http://schemas.microsoft.com/office/drawing/2014/main" id="{402CC336-47E4-4326-8FB4-538ABB5B268E}"/>
                </a:ext>
              </a:extLst>
            </p:cNvPr>
            <p:cNvSpPr/>
            <p:nvPr/>
          </p:nvSpPr>
          <p:spPr>
            <a:xfrm>
              <a:off x="2754062" y="4727231"/>
              <a:ext cx="6591550" cy="684000"/>
            </a:xfrm>
            <a:prstGeom prst="rect">
              <a:avLst/>
            </a:prstGeom>
            <a:solidFill>
              <a:sysClr val="window" lastClr="FFFFFF"/>
            </a:solidFill>
            <a:ln w="9525" cap="flat" cmpd="sng" algn="ctr">
              <a:solidFill>
                <a:sysClr val="window" lastClr="FFFFFF">
                  <a:lumMod val="65000"/>
                </a:sysClr>
              </a:solidFill>
              <a:prstDash val="solid"/>
              <a:miter lim="800000"/>
              <a:headEnd/>
              <a:tailEnd/>
            </a:ln>
            <a:effectLst/>
          </p:spPr>
          <p:txBody>
            <a:bodyPr lIns="180000" rIns="0" anchor="ctr"/>
            <a:lstStyle/>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영역별 프로젝트의 실무 수행 담당</a:t>
              </a:r>
              <a:endPar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endParaRPr>
            </a:p>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과업 책임자와 협업을 통해 구체적인 산출물</a:t>
              </a:r>
              <a:r>
                <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 </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도출</a:t>
              </a:r>
            </a:p>
          </p:txBody>
        </p:sp>
        <p:sp>
          <p:nvSpPr>
            <p:cNvPr id="75" name="모서리가 둥근 직사각형 167">
              <a:extLst>
                <a:ext uri="{FF2B5EF4-FFF2-40B4-BE49-F238E27FC236}">
                  <a16:creationId xmlns:a16="http://schemas.microsoft.com/office/drawing/2014/main" id="{A00B061A-6D39-44B1-9DD6-4E27F6AAF233}"/>
                </a:ext>
              </a:extLst>
            </p:cNvPr>
            <p:cNvSpPr/>
            <p:nvPr/>
          </p:nvSpPr>
          <p:spPr bwMode="auto">
            <a:xfrm>
              <a:off x="2754062" y="3045653"/>
              <a:ext cx="6591550" cy="684000"/>
            </a:xfrm>
            <a:prstGeom prst="roundRect">
              <a:avLst>
                <a:gd name="adj" fmla="val 0"/>
              </a:avLst>
            </a:prstGeom>
            <a:solidFill>
              <a:sysClr val="window" lastClr="FFFFFF"/>
            </a:solidFill>
            <a:ln w="9525" cap="flat" cmpd="sng" algn="ctr">
              <a:solidFill>
                <a:sysClr val="window" lastClr="FFFFFF">
                  <a:lumMod val="65000"/>
                </a:sysClr>
              </a:solidFill>
              <a:prstDash val="solid"/>
              <a:miter lim="800000"/>
              <a:headEnd/>
              <a:tailEnd/>
            </a:ln>
            <a:effectLst/>
          </p:spPr>
          <p:txBody>
            <a:bodyPr lIns="180000" rIns="0" anchor="ctr"/>
            <a:lstStyle/>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프로젝트의 수행을 총괄하는 책임</a:t>
              </a:r>
              <a:r>
                <a:rPr kumimoji="1" lang="en-US" altLang="ko-KR" b="0" i="0" u="none" strike="noStrike" kern="0" cap="none" spc="0" normalizeH="0" baseline="0" noProof="0" dirty="0">
                  <a:ln>
                    <a:noFill/>
                  </a:ln>
                  <a:solidFill>
                    <a:prstClr val="black">
                      <a:lumMod val="65000"/>
                      <a:lumOff val="35000"/>
                    </a:prstClr>
                  </a:solidFill>
                  <a:effectLst/>
                  <a:uLnTx/>
                  <a:uFillTx/>
                  <a:latin typeface="Arial Narrow" panose="020B0606020202030204" pitchFamily="34" charset="0"/>
                  <a:ea typeface="a고딕14" panose="02020600000000000000" pitchFamily="18" charset="-127"/>
                </a:rPr>
                <a:t>·</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역할 수행</a:t>
              </a:r>
              <a:endPar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endParaRPr>
            </a:p>
            <a:p>
              <a:pPr marL="171450" indent="-171450" algn="l" eaLnBrk="1" fontAlgn="auto" latinLnBrk="0" hangingPunct="1">
                <a:spcBef>
                  <a:spcPts val="0"/>
                </a:spcBef>
                <a:spcAft>
                  <a:spcPts val="300"/>
                </a:spcAft>
                <a:buFont typeface="Arial" panose="020B0604020202020204" pitchFamily="34" charset="0"/>
                <a:buChar char="•"/>
                <a:defRPr/>
              </a:pP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프로젝트의 산출물에 대한 </a:t>
              </a:r>
              <a:r>
                <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rPr>
                <a:t>Quality Control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역할 수행</a:t>
              </a:r>
              <a:endPar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endParaRPr>
            </a:p>
            <a:p>
              <a:pPr marL="171450" indent="-171450" algn="l" eaLnBrk="1" fontAlgn="auto" latinLnBrk="0" hangingPunct="1">
                <a:spcBef>
                  <a:spcPts val="0"/>
                </a:spcBef>
                <a:spcAft>
                  <a:spcPts val="300"/>
                </a:spcAft>
                <a:buFont typeface="Arial" panose="020B0604020202020204" pitchFamily="34" charset="0"/>
                <a:buChar char="•"/>
                <a:defRPr/>
              </a:pP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프로젝트의 일정 및 주요 이슈 사항 관리</a:t>
              </a:r>
              <a:endPar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endParaRPr>
            </a:p>
          </p:txBody>
        </p:sp>
        <p:sp>
          <p:nvSpPr>
            <p:cNvPr id="76" name="직사각형 75">
              <a:extLst>
                <a:ext uri="{FF2B5EF4-FFF2-40B4-BE49-F238E27FC236}">
                  <a16:creationId xmlns:a16="http://schemas.microsoft.com/office/drawing/2014/main" id="{B27C9E93-42B1-494D-BEB9-713B7247F425}"/>
                </a:ext>
              </a:extLst>
            </p:cNvPr>
            <p:cNvSpPr/>
            <p:nvPr/>
          </p:nvSpPr>
          <p:spPr>
            <a:xfrm>
              <a:off x="2754062" y="3886442"/>
              <a:ext cx="6591550" cy="684000"/>
            </a:xfrm>
            <a:prstGeom prst="rect">
              <a:avLst/>
            </a:prstGeom>
            <a:solidFill>
              <a:sysClr val="window" lastClr="FFFFFF"/>
            </a:solidFill>
            <a:ln w="9525" cap="flat" cmpd="sng" algn="ctr">
              <a:solidFill>
                <a:sysClr val="window" lastClr="FFFFFF">
                  <a:lumMod val="65000"/>
                </a:sysClr>
              </a:solidFill>
              <a:prstDash val="solid"/>
              <a:miter lim="800000"/>
              <a:headEnd/>
              <a:tailEnd/>
            </a:ln>
            <a:effectLst/>
          </p:spPr>
          <p:txBody>
            <a:bodyPr lIns="180000" rIns="0" anchor="ctr"/>
            <a:lstStyle/>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프로젝트의 실무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실행 책임</a:t>
              </a:r>
              <a:r>
                <a:rPr kumimoji="1" lang="en-US" altLang="ko-KR" kern="0" dirty="0">
                  <a:solidFill>
                    <a:prstClr val="black">
                      <a:lumMod val="65000"/>
                      <a:lumOff val="35000"/>
                    </a:prstClr>
                  </a:solidFill>
                  <a:latin typeface="Arial Narrow" panose="020B0606020202030204" pitchFamily="34" charset="0"/>
                  <a:ea typeface="a고딕14" panose="02020600000000000000" pitchFamily="18" charset="-127"/>
                </a:rPr>
                <a:t>·</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역할 수행 </a:t>
              </a:r>
              <a:endPar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endParaRPr>
            </a:p>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수행 </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멤버와의 협의를 통해 산출물에 대한 통합</a:t>
              </a:r>
              <a:r>
                <a:rPr kumimoji="1" lang="en-US" altLang="ko-KR" b="0" i="0" u="none" strike="noStrike" kern="0" cap="none" spc="0" normalizeH="0" baseline="0" noProof="0" dirty="0">
                  <a:ln>
                    <a:noFill/>
                  </a:ln>
                  <a:solidFill>
                    <a:prstClr val="black">
                      <a:lumMod val="65000"/>
                      <a:lumOff val="35000"/>
                    </a:prstClr>
                  </a:solidFill>
                  <a:effectLst/>
                  <a:uLnTx/>
                  <a:uFillTx/>
                  <a:latin typeface="Arial Narrow" panose="020B0606020202030204" pitchFamily="34" charset="0"/>
                  <a:ea typeface="a고딕14" panose="02020600000000000000" pitchFamily="18" charset="-127"/>
                </a:rPr>
                <a:t>·</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조정 역할 수행</a:t>
              </a:r>
              <a:endPar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endParaRPr>
            </a:p>
            <a:p>
              <a:pPr marL="171450" indent="-171450" algn="l" eaLnBrk="1" fontAlgn="auto" latinLnBrk="0" hangingPunct="1">
                <a:spcBef>
                  <a:spcPts val="0"/>
                </a:spcBef>
                <a:spcAft>
                  <a:spcPts val="300"/>
                </a:spcAft>
                <a:buFont typeface="Arial" panose="020B0604020202020204" pitchFamily="34" charset="0"/>
                <a:buChar char="•"/>
              </a:pP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일정</a:t>
              </a:r>
              <a:r>
                <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rPr>
                <a:t>,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범위</a:t>
              </a:r>
              <a:r>
                <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rPr>
                <a:t>,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진도 등 프로젝트의 관리 및 제반 보고</a:t>
              </a:r>
              <a:r>
                <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rPr>
                <a:t>,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커뮤니케이션 수행</a:t>
              </a:r>
            </a:p>
          </p:txBody>
        </p:sp>
      </p:grpSp>
      <p:sp>
        <p:nvSpPr>
          <p:cNvPr id="78" name="직사각형 77">
            <a:extLst>
              <a:ext uri="{FF2B5EF4-FFF2-40B4-BE49-F238E27FC236}">
                <a16:creationId xmlns:a16="http://schemas.microsoft.com/office/drawing/2014/main" id="{402CC336-47E4-4326-8FB4-538ABB5B268E}"/>
              </a:ext>
            </a:extLst>
          </p:cNvPr>
          <p:cNvSpPr/>
          <p:nvPr/>
        </p:nvSpPr>
        <p:spPr>
          <a:xfrm>
            <a:off x="2754062" y="5568021"/>
            <a:ext cx="6591550" cy="684000"/>
          </a:xfrm>
          <a:prstGeom prst="rect">
            <a:avLst/>
          </a:prstGeom>
          <a:solidFill>
            <a:sysClr val="window" lastClr="FFFFFF"/>
          </a:solidFill>
          <a:ln w="9525" cap="flat" cmpd="sng" algn="ctr">
            <a:solidFill>
              <a:sysClr val="window" lastClr="FFFFFF">
                <a:lumMod val="65000"/>
              </a:sysClr>
            </a:solidFill>
            <a:prstDash val="solid"/>
            <a:miter lim="800000"/>
            <a:headEnd/>
            <a:tailEnd/>
          </a:ln>
          <a:effectLst/>
        </p:spPr>
        <p:txBody>
          <a:bodyPr lIns="180000" rIns="0" anchor="ctr"/>
          <a:lstStyle/>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err="1">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제안사</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 내에서 안정적인 프로젝트의 진행과 운영을 위한 서류 준비 등의 지원업무 수행</a:t>
            </a:r>
            <a:endPar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813875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5">
            <a:extLst>
              <a:ext uri="{FF2B5EF4-FFF2-40B4-BE49-F238E27FC236}">
                <a16:creationId xmlns:a16="http://schemas.microsoft.com/office/drawing/2014/main" id="{1E6CD159-7C6C-862C-E279-60D6E22E9FFA}"/>
              </a:ext>
            </a:extLst>
          </p:cNvPr>
          <p:cNvGraphicFramePr>
            <a:graphicFrameLocks noGrp="1"/>
          </p:cNvGraphicFramePr>
          <p:nvPr>
            <p:extLst>
              <p:ext uri="{D42A27DB-BD31-4B8C-83A1-F6EECF244321}">
                <p14:modId xmlns:p14="http://schemas.microsoft.com/office/powerpoint/2010/main" val="465569401"/>
              </p:ext>
            </p:extLst>
          </p:nvPr>
        </p:nvGraphicFramePr>
        <p:xfrm>
          <a:off x="596899" y="1665289"/>
          <a:ext cx="8748121" cy="4824413"/>
        </p:xfrm>
        <a:graphic>
          <a:graphicData uri="http://schemas.openxmlformats.org/drawingml/2006/table">
            <a:tbl>
              <a:tblPr/>
              <a:tblGrid>
                <a:gridCol w="1127235">
                  <a:extLst>
                    <a:ext uri="{9D8B030D-6E8A-4147-A177-3AD203B41FA5}">
                      <a16:colId xmlns:a16="http://schemas.microsoft.com/office/drawing/2014/main" val="1440575952"/>
                    </a:ext>
                  </a:extLst>
                </a:gridCol>
                <a:gridCol w="600574">
                  <a:extLst>
                    <a:ext uri="{9D8B030D-6E8A-4147-A177-3AD203B41FA5}">
                      <a16:colId xmlns:a16="http://schemas.microsoft.com/office/drawing/2014/main" val="2254660619"/>
                    </a:ext>
                  </a:extLst>
                </a:gridCol>
                <a:gridCol w="864096">
                  <a:extLst>
                    <a:ext uri="{9D8B030D-6E8A-4147-A177-3AD203B41FA5}">
                      <a16:colId xmlns:a16="http://schemas.microsoft.com/office/drawing/2014/main" val="1856217144"/>
                    </a:ext>
                  </a:extLst>
                </a:gridCol>
                <a:gridCol w="1764196">
                  <a:extLst>
                    <a:ext uri="{9D8B030D-6E8A-4147-A177-3AD203B41FA5}">
                      <a16:colId xmlns:a16="http://schemas.microsoft.com/office/drawing/2014/main" val="321587828"/>
                    </a:ext>
                  </a:extLst>
                </a:gridCol>
                <a:gridCol w="3563804">
                  <a:extLst>
                    <a:ext uri="{9D8B030D-6E8A-4147-A177-3AD203B41FA5}">
                      <a16:colId xmlns:a16="http://schemas.microsoft.com/office/drawing/2014/main" val="1884554321"/>
                    </a:ext>
                  </a:extLst>
                </a:gridCol>
                <a:gridCol w="828216">
                  <a:extLst>
                    <a:ext uri="{9D8B030D-6E8A-4147-A177-3AD203B41FA5}">
                      <a16:colId xmlns:a16="http://schemas.microsoft.com/office/drawing/2014/main" val="2986366517"/>
                    </a:ext>
                  </a:extLst>
                </a:gridCol>
              </a:tblGrid>
              <a:tr h="225376">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구분</a:t>
                      </a:r>
                    </a:p>
                  </a:txBody>
                  <a:tcPr marL="0" marR="0" marT="36000" marB="36000" anchor="ctr">
                    <a:lnL w="952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성명</a:t>
                      </a:r>
                    </a:p>
                  </a:txBody>
                  <a:tcPr marL="0" marR="0" marT="36000" marB="36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직위</a:t>
                      </a:r>
                    </a:p>
                  </a:txBody>
                  <a:tcPr marL="0" marR="0" marT="36000" marB="36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본 과업 담당업무</a:t>
                      </a:r>
                    </a:p>
                  </a:txBody>
                  <a:tcPr marL="0" marR="0" marT="36000" marB="36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주요 용역 </a:t>
                      </a:r>
                      <a:r>
                        <a:rPr lang="ko-KR" altLang="en-US" sz="1000" b="0" kern="0" spc="-30" baseline="0" dirty="0" err="1">
                          <a:solidFill>
                            <a:schemeClr val="bg1"/>
                          </a:solidFill>
                          <a:effectLst/>
                          <a:latin typeface="a고딕14" panose="02020600000000000000" pitchFamily="18" charset="-127"/>
                          <a:ea typeface="a고딕14" panose="02020600000000000000" pitchFamily="18" charset="-127"/>
                        </a:rPr>
                        <a:t>수행실적</a:t>
                      </a:r>
                      <a:endParaRPr lang="ko-KR" altLang="en-US" sz="1000" b="0" kern="0" spc="-30" baseline="0" dirty="0">
                        <a:solidFill>
                          <a:schemeClr val="bg1"/>
                        </a:solidFill>
                        <a:effectLst/>
                        <a:latin typeface="a고딕14" panose="02020600000000000000" pitchFamily="18" charset="-127"/>
                        <a:ea typeface="a고딕14" panose="02020600000000000000" pitchFamily="18" charset="-127"/>
                      </a:endParaRPr>
                    </a:p>
                  </a:txBody>
                  <a:tcPr marL="0" marR="0" marT="36000" marB="36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최종 학위</a:t>
                      </a:r>
                      <a:r>
                        <a:rPr lang="en-US" altLang="ko-KR" sz="1000" b="0" kern="0" spc="-30" baseline="0" dirty="0">
                          <a:solidFill>
                            <a:schemeClr val="bg1"/>
                          </a:solidFill>
                          <a:effectLst/>
                          <a:latin typeface="a고딕14" panose="02020600000000000000" pitchFamily="18" charset="-127"/>
                          <a:ea typeface="a고딕14" panose="02020600000000000000" pitchFamily="18" charset="-127"/>
                        </a:rPr>
                        <a:t>(</a:t>
                      </a: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전공</a:t>
                      </a:r>
                      <a:r>
                        <a:rPr lang="en-US" altLang="ko-KR" sz="1000" b="0" kern="0" spc="-30" baseline="0" dirty="0">
                          <a:solidFill>
                            <a:schemeClr val="bg1"/>
                          </a:solidFill>
                          <a:effectLst/>
                          <a:latin typeface="a고딕14" panose="02020600000000000000" pitchFamily="18" charset="-127"/>
                          <a:ea typeface="a고딕14" panose="02020600000000000000" pitchFamily="18" charset="-127"/>
                        </a:rPr>
                        <a:t>)</a:t>
                      </a:r>
                      <a:endParaRPr lang="ko-KR" altLang="en-US" sz="1000" b="0" kern="0" spc="-30" baseline="0" dirty="0">
                        <a:solidFill>
                          <a:schemeClr val="bg1"/>
                        </a:solidFill>
                        <a:effectLst/>
                        <a:latin typeface="a고딕14" panose="02020600000000000000" pitchFamily="18" charset="-127"/>
                        <a:ea typeface="a고딕14" panose="02020600000000000000" pitchFamily="18" charset="-127"/>
                      </a:endParaRPr>
                    </a:p>
                  </a:txBody>
                  <a:tcPr marL="0" marR="0" marT="36000" marB="36000" anchor="ctr">
                    <a:lnL w="3175"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extLst>
                  <a:ext uri="{0D108BD9-81ED-4DB2-BD59-A6C34878D82A}">
                    <a16:rowId xmlns:a16="http://schemas.microsoft.com/office/drawing/2014/main" val="1242327205"/>
                  </a:ext>
                </a:extLst>
              </a:tr>
              <a:tr h="810732">
                <a:tc>
                  <a:txBody>
                    <a:bodyPr/>
                    <a:lstStyle/>
                    <a:p>
                      <a:pPr marL="0" marR="0" indent="0" algn="ctr" fontAlgn="base" latinLnBrk="0">
                        <a:lnSpc>
                          <a:spcPct val="100000"/>
                        </a:lnSpc>
                        <a:spcBef>
                          <a:spcPts val="0"/>
                        </a:spcBef>
                        <a:spcAft>
                          <a:spcPts val="0"/>
                        </a:spcAft>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사업 총괄 책임자</a:t>
                      </a:r>
                      <a:endParaRPr lang="en-US" altLang="ko-KR" sz="1050" b="0" kern="0" spc="0" baseline="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b="0" kern="0" spc="0" baseline="0" dirty="0">
                          <a:solidFill>
                            <a:srgbClr val="000000"/>
                          </a:solidFill>
                          <a:effectLst/>
                          <a:latin typeface="a고딕14" panose="02020600000000000000" pitchFamily="18" charset="-127"/>
                          <a:ea typeface="a고딕14" panose="02020600000000000000" pitchFamily="18" charset="-127"/>
                        </a:rPr>
                        <a:t>(</a:t>
                      </a: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총괄 </a:t>
                      </a:r>
                      <a:r>
                        <a:rPr lang="en-US" altLang="ko-KR" sz="1050" b="0" kern="0" spc="0" baseline="0" dirty="0">
                          <a:solidFill>
                            <a:srgbClr val="000000"/>
                          </a:solidFill>
                          <a:effectLst/>
                          <a:latin typeface="a고딕14" panose="02020600000000000000" pitchFamily="18" charset="-127"/>
                          <a:ea typeface="a고딕14" panose="02020600000000000000" pitchFamily="18" charset="-127"/>
                        </a:rPr>
                        <a:t>PM)</a:t>
                      </a: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박현규</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수석컨설턴트</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rPr>
                        <a:t>사업 총괄 책임자</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rPr>
                        <a:t>교육과정 개요서 작성</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kern="0" spc="0" dirty="0" err="1">
                          <a:solidFill>
                            <a:srgbClr val="000000"/>
                          </a:solidFill>
                          <a:effectLst/>
                          <a:latin typeface="a고딕14" panose="02020600000000000000" pitchFamily="18" charset="-127"/>
                          <a:ea typeface="a고딕14" panose="02020600000000000000" pitchFamily="18" charset="-127"/>
                        </a:rPr>
                        <a:t>기술교육로드맵</a:t>
                      </a:r>
                      <a:r>
                        <a:rPr lang="ko-KR" altLang="en-US" sz="1050" kern="0" spc="0" dirty="0">
                          <a:solidFill>
                            <a:srgbClr val="000000"/>
                          </a:solidFill>
                          <a:effectLst/>
                          <a:latin typeface="a고딕14" panose="02020600000000000000" pitchFamily="18" charset="-127"/>
                          <a:ea typeface="a고딕14" panose="02020600000000000000" pitchFamily="18" charset="-127"/>
                        </a:rPr>
                        <a:t> 작성</a:t>
                      </a:r>
                    </a:p>
                  </a:txBody>
                  <a:tcPr marL="72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역량기반 현장중심 교육과정 개발을 위한 산업체 수요조사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산업별 역량체계</a:t>
                      </a:r>
                      <a:r>
                        <a:rPr lang="en-US" altLang="ko-KR" sz="1050" b="0" i="0" u="none" strike="noStrike">
                          <a:solidFill>
                            <a:schemeClr val="tx1"/>
                          </a:solidFill>
                          <a:effectLst/>
                          <a:latin typeface="A고딕14" panose="02020600000000000000" pitchFamily="18" charset="-127"/>
                          <a:ea typeface="A고딕14" panose="02020600000000000000" pitchFamily="18" charset="-127"/>
                        </a:rPr>
                        <a:t>(SQF) </a:t>
                      </a:r>
                      <a:r>
                        <a:rPr lang="ko-KR" altLang="en-US" sz="1050" b="0" i="0" u="none" strike="noStrike">
                          <a:solidFill>
                            <a:schemeClr val="tx1"/>
                          </a:solidFill>
                          <a:effectLst/>
                          <a:latin typeface="A고딕14" panose="02020600000000000000" pitchFamily="18" charset="-127"/>
                          <a:ea typeface="A고딕14" panose="02020600000000000000" pitchFamily="18" charset="-127"/>
                        </a:rPr>
                        <a:t>개발 및 활용화 고도화 방안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석사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경영학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8757798"/>
                  </a:ext>
                </a:extLst>
              </a:tr>
              <a:tr h="642864">
                <a:tc>
                  <a:txBody>
                    <a:bodyPr/>
                    <a:lstStyle/>
                    <a:p>
                      <a:pPr marL="0" marR="0" indent="0" algn="ctr" fontAlgn="base" latinLnBrk="0">
                        <a:lnSpc>
                          <a:spcPct val="100000"/>
                        </a:lnSpc>
                        <a:spcBef>
                          <a:spcPts val="0"/>
                        </a:spcBef>
                        <a:spcAft>
                          <a:spcPts val="0"/>
                        </a:spcAft>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사업 실무 책임자</a:t>
                      </a:r>
                      <a:endParaRPr lang="en-US" altLang="ko-KR" sz="1050" b="0" kern="0" spc="0" baseline="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b="0" kern="0" spc="0" baseline="0" dirty="0">
                          <a:solidFill>
                            <a:srgbClr val="000000"/>
                          </a:solidFill>
                          <a:effectLst/>
                          <a:latin typeface="a고딕14" panose="02020600000000000000" pitchFamily="18" charset="-127"/>
                          <a:ea typeface="a고딕14" panose="02020600000000000000" pitchFamily="18" charset="-127"/>
                        </a:rPr>
                        <a:t>(</a:t>
                      </a: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실무 </a:t>
                      </a:r>
                      <a:r>
                        <a:rPr lang="en-US" altLang="ko-KR" sz="1050" b="0" kern="0" spc="0" baseline="0" dirty="0">
                          <a:solidFill>
                            <a:srgbClr val="000000"/>
                          </a:solidFill>
                          <a:effectLst/>
                          <a:latin typeface="a고딕14" panose="02020600000000000000" pitchFamily="18" charset="-127"/>
                          <a:ea typeface="a고딕14" panose="02020600000000000000" pitchFamily="18" charset="-127"/>
                        </a:rPr>
                        <a:t>PM)</a:t>
                      </a: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이재민</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수석컨설턴트</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사업 실무 책임자</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신규 과정개발 능력단위 도출</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직무능력은행제 연계 검토</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대한상공회의소 </a:t>
                      </a:r>
                      <a:r>
                        <a:rPr lang="en-US" altLang="ko-KR" sz="1050" b="0" i="0" u="none" strike="noStrike">
                          <a:solidFill>
                            <a:schemeClr val="tx1"/>
                          </a:solidFill>
                          <a:effectLst/>
                          <a:latin typeface="A고딕14" panose="02020600000000000000" pitchFamily="18" charset="-127"/>
                          <a:ea typeface="A고딕14" panose="02020600000000000000" pitchFamily="18" charset="-127"/>
                        </a:rPr>
                        <a:t>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년도 기업수요 맞춤형 훈련과정개발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산업별 역량체계</a:t>
                      </a:r>
                      <a:r>
                        <a:rPr lang="en-US" altLang="ko-KR" sz="1050" b="0" i="0" u="none" strike="noStrike">
                          <a:solidFill>
                            <a:schemeClr val="tx1"/>
                          </a:solidFill>
                          <a:effectLst/>
                          <a:latin typeface="A고딕14" panose="02020600000000000000" pitchFamily="18" charset="-127"/>
                          <a:ea typeface="A고딕14" panose="02020600000000000000" pitchFamily="18" charset="-127"/>
                        </a:rPr>
                        <a:t>(SQF) </a:t>
                      </a:r>
                      <a:r>
                        <a:rPr lang="ko-KR" altLang="en-US" sz="1050" b="0" i="0" u="none" strike="noStrike">
                          <a:solidFill>
                            <a:schemeClr val="tx1"/>
                          </a:solidFill>
                          <a:effectLst/>
                          <a:latin typeface="A고딕14" panose="02020600000000000000" pitchFamily="18" charset="-127"/>
                          <a:ea typeface="A고딕14" panose="02020600000000000000" pitchFamily="18" charset="-127"/>
                        </a:rPr>
                        <a:t>개발 및 활용화 고도화 방안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err="1">
                          <a:solidFill>
                            <a:srgbClr val="000000"/>
                          </a:solidFill>
                          <a:effectLst/>
                          <a:latin typeface="a고딕14" panose="02020600000000000000" pitchFamily="18" charset="-127"/>
                          <a:ea typeface="a고딕14" panose="02020600000000000000" pitchFamily="18" charset="-127"/>
                        </a:rPr>
                        <a:t>박사수료</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인력개발학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0561470"/>
                  </a:ext>
                </a:extLst>
              </a:tr>
              <a:tr h="642864">
                <a:tc rowSpan="5">
                  <a:txBody>
                    <a:bodyPr/>
                    <a:lstStyle/>
                    <a:p>
                      <a:pPr marL="0" marR="0" indent="0" algn="ctr" fontAlgn="base" latinLnBrk="0">
                        <a:lnSpc>
                          <a:spcPct val="100000"/>
                        </a:lnSpc>
                        <a:spcBef>
                          <a:spcPts val="0"/>
                        </a:spcBef>
                        <a:spcAft>
                          <a:spcPts val="0"/>
                        </a:spcAft>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과업 담당자</a:t>
                      </a: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err="1">
                          <a:solidFill>
                            <a:srgbClr val="000000"/>
                          </a:solidFill>
                          <a:effectLst/>
                          <a:latin typeface="a고딕14" panose="02020600000000000000" pitchFamily="18" charset="-127"/>
                          <a:ea typeface="a고딕14" panose="02020600000000000000" pitchFamily="18" charset="-127"/>
                        </a:rPr>
                        <a:t>김도용</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kumimoji="0" lang="ko-KR" altLang="en-US" sz="105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rPr>
                        <a:t>책임컨설턴트</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교육과정 개요서 작성</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err="1">
                          <a:solidFill>
                            <a:srgbClr val="000000"/>
                          </a:solidFill>
                          <a:effectLst/>
                          <a:latin typeface="a고딕14" panose="02020600000000000000" pitchFamily="18" charset="-127"/>
                          <a:ea typeface="a고딕14" panose="02020600000000000000" pitchFamily="18" charset="-127"/>
                          <a:cs typeface="+mn-cs"/>
                        </a:rPr>
                        <a:t>기술교육로드맵</a:t>
                      </a: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 작성</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기업수요 맞춤형 직무분석 및 훈련과정개발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학사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경영학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4983831"/>
                  </a:ext>
                </a:extLst>
              </a:tr>
              <a:tr h="642864">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김준식</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kumimoji="0" lang="ko-KR" altLang="en-US" sz="105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rPr>
                        <a:t>선임컨설턴트</a:t>
                      </a:r>
                      <a:endParaRPr lang="ko-KR" altLang="en-US" sz="105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신규 과정개발 능력단위 도출</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교육과정 개요서 작성</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직무능력은행제 연계 검토</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역량기반 현장중심 교육과정 개발을 위한 산업체 수요조사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학사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교육학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9975662"/>
                  </a:ext>
                </a:extLst>
              </a:tr>
              <a:tr h="642864">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1050" kern="0" spc="0" dirty="0" err="1">
                          <a:solidFill>
                            <a:srgbClr val="000000"/>
                          </a:solidFill>
                          <a:effectLst/>
                          <a:latin typeface="a고딕14" panose="02020600000000000000" pitchFamily="18" charset="-127"/>
                          <a:ea typeface="a고딕14" panose="02020600000000000000" pitchFamily="18" charset="-127"/>
                        </a:rPr>
                        <a:t>송해림</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kumimoji="0" lang="ko-KR" altLang="en-US" sz="105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rPr>
                        <a:t>선임컨설턴트</a:t>
                      </a:r>
                      <a:endParaRPr lang="ko-KR" altLang="en-US" sz="105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err="1">
                          <a:solidFill>
                            <a:srgbClr val="000000"/>
                          </a:solidFill>
                          <a:effectLst/>
                          <a:latin typeface="a고딕14" panose="02020600000000000000" pitchFamily="18" charset="-127"/>
                          <a:ea typeface="a고딕14" panose="02020600000000000000" pitchFamily="18" charset="-127"/>
                          <a:cs typeface="+mn-cs"/>
                        </a:rPr>
                        <a:t>기술교육로드맵</a:t>
                      </a: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 작성</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직무능력은행제 연계 검토</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kern="0" spc="-50" baseline="0">
                          <a:solidFill>
                            <a:schemeClr val="tx1"/>
                          </a:solidFill>
                          <a:effectLst/>
                          <a:latin typeface="a고딕14" panose="02020600000000000000" pitchFamily="18" charset="-127"/>
                          <a:ea typeface="a고딕14" panose="02020600000000000000" pitchFamily="18" charset="-127"/>
                        </a:rPr>
                        <a:t>2023</a:t>
                      </a:r>
                      <a:r>
                        <a:rPr lang="ko-KR" altLang="en-US" sz="1050" kern="0" spc="-50" baseline="0">
                          <a:solidFill>
                            <a:schemeClr val="tx1"/>
                          </a:solidFill>
                          <a:effectLst/>
                          <a:latin typeface="a고딕14" panose="02020600000000000000" pitchFamily="18" charset="-127"/>
                          <a:ea typeface="a고딕14" panose="02020600000000000000" pitchFamily="18" charset="-127"/>
                        </a:rPr>
                        <a:t>년도 </a:t>
                      </a:r>
                      <a:r>
                        <a:rPr lang="en-US" altLang="ko-KR" sz="1050" kern="0" spc="-50" baseline="0">
                          <a:solidFill>
                            <a:schemeClr val="tx1"/>
                          </a:solidFill>
                          <a:effectLst/>
                          <a:latin typeface="a고딕14" panose="02020600000000000000" pitchFamily="18" charset="-127"/>
                          <a:ea typeface="a고딕14" panose="02020600000000000000" pitchFamily="18" charset="-127"/>
                        </a:rPr>
                        <a:t>NCS </a:t>
                      </a:r>
                      <a:r>
                        <a:rPr lang="ko-KR" altLang="en-US" sz="1050" kern="0" spc="-50" baseline="0">
                          <a:solidFill>
                            <a:schemeClr val="tx1"/>
                          </a:solidFill>
                          <a:effectLst/>
                          <a:latin typeface="a고딕14" panose="02020600000000000000" pitchFamily="18" charset="-127"/>
                          <a:ea typeface="a고딕14" panose="02020600000000000000" pitchFamily="18" charset="-127"/>
                        </a:rPr>
                        <a:t>기반 교과인정 컨설팅</a:t>
                      </a:r>
                      <a:endParaRPr lang="en-US" altLang="ko-KR" sz="1050" kern="0" spc="-50" baseline="0">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대한상공회의소 </a:t>
                      </a:r>
                      <a:r>
                        <a:rPr lang="en-US" altLang="ko-KR" sz="1050" b="0" i="0" u="none" strike="noStrike">
                          <a:solidFill>
                            <a:schemeClr val="tx1"/>
                          </a:solidFill>
                          <a:effectLst/>
                          <a:latin typeface="A고딕14" panose="02020600000000000000" pitchFamily="18" charset="-127"/>
                          <a:ea typeface="A고딕14" panose="02020600000000000000" pitchFamily="18" charset="-127"/>
                        </a:rPr>
                        <a:t>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년도 기업수요 맞춤형 훈련과정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석사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인력개발학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7237885"/>
                  </a:ext>
                </a:extLst>
              </a:tr>
              <a:tr h="642864">
                <a:tc vMerge="1">
                  <a:txBody>
                    <a:bodyPr/>
                    <a:lstStyle/>
                    <a:p>
                      <a:pPr marL="0" marR="0" indent="0" algn="ctr" fontAlgn="base" latinLnBrk="0">
                        <a:lnSpc>
                          <a:spcPct val="100000"/>
                        </a:lnSpc>
                        <a:spcBef>
                          <a:spcPts val="0"/>
                        </a:spcBef>
                        <a:spcAft>
                          <a:spcPts val="0"/>
                        </a:spcAft>
                      </a:pPr>
                      <a:endParaRPr lang="ko-KR" altLang="en-US" sz="1000" b="0" kern="0" spc="-10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신혜원</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kumimoji="0" lang="ko-KR" altLang="en-US" sz="1050" b="0" i="0" u="none" strike="noStrike" kern="0" cap="none" spc="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cs typeface="+mn-cs"/>
                        </a:rPr>
                        <a:t>주임컨설턴트</a:t>
                      </a:r>
                      <a:endParaRPr lang="ko-KR" altLang="en-US" sz="105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신규 과정개발 능력단위 도출</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err="1">
                          <a:solidFill>
                            <a:srgbClr val="000000"/>
                          </a:solidFill>
                          <a:effectLst/>
                          <a:latin typeface="a고딕14" panose="02020600000000000000" pitchFamily="18" charset="-127"/>
                          <a:ea typeface="a고딕14" panose="02020600000000000000" pitchFamily="18" charset="-127"/>
                          <a:cs typeface="+mn-cs"/>
                        </a:rPr>
                        <a:t>기술교육로드맵</a:t>
                      </a: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 작성</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직무능력은행제 연계 검토</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역량기반 현장중심 교육과정 개발을 위한 산업체 수요조사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제주관광대학교 혁신지원사업 현장중심 교육과정 개발 지원</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학사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정치외교학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668541"/>
                  </a:ext>
                </a:extLst>
              </a:tr>
              <a:tr h="573985">
                <a:tc vMerge="1">
                  <a:txBody>
                    <a:bodyPr/>
                    <a:lstStyle/>
                    <a:p>
                      <a:pPr marL="0" marR="0" indent="0" algn="ctr" fontAlgn="base" latinLnBrk="0">
                        <a:lnSpc>
                          <a:spcPct val="100000"/>
                        </a:lnSpc>
                        <a:spcBef>
                          <a:spcPts val="0"/>
                        </a:spcBef>
                        <a:spcAft>
                          <a:spcPts val="0"/>
                        </a:spcAft>
                      </a:pPr>
                      <a:endParaRPr lang="ko-KR" altLang="en-US" sz="110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유승현</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kumimoji="0" lang="ko-KR" altLang="en-US" sz="1050" b="0" i="0" u="none" strike="noStrike" kern="0" cap="none" spc="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cs typeface="+mn-cs"/>
                        </a:rPr>
                        <a:t>주임컨설턴트</a:t>
                      </a:r>
                      <a:endParaRPr lang="ko-KR" altLang="en-US" sz="105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신규 과정개발 능력단위 도출</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교육과정 개요서 작성</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역량기반 현장중심 교육과정 개발을 위한 산업체 수요조사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대전대학교 학과별 역량모델링</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학사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경영학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6691351"/>
                  </a:ext>
                </a:extLst>
              </a:tr>
            </a:tbl>
          </a:graphicData>
        </a:graphic>
      </p:graphicFrame>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r>
              <a:rPr lang="ko-KR" altLang="en-US" dirty="0"/>
              <a:t>본 과업의 효율적인 수행을 위해 </a:t>
            </a:r>
            <a:r>
              <a:rPr lang="ko-KR" altLang="en-US" dirty="0">
                <a:solidFill>
                  <a:srgbClr val="0070C0"/>
                </a:solidFill>
              </a:rPr>
              <a:t>전문역량을 갖춘 </a:t>
            </a:r>
            <a:r>
              <a:rPr lang="en-US" altLang="ko-KR" dirty="0">
                <a:solidFill>
                  <a:srgbClr val="0070C0"/>
                </a:solidFill>
              </a:rPr>
              <a:t>7</a:t>
            </a:r>
            <a:r>
              <a:rPr lang="ko-KR" altLang="en-US" dirty="0">
                <a:solidFill>
                  <a:srgbClr val="0070C0"/>
                </a:solidFill>
              </a:rPr>
              <a:t>명의 인력에 대한 담당업무를 명확히 함</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2. </a:t>
            </a:r>
            <a:r>
              <a:rPr lang="ko-KR" altLang="en-US" dirty="0" err="1"/>
              <a:t>투입인력</a:t>
            </a:r>
            <a:r>
              <a:rPr lang="ko-KR" altLang="en-US" dirty="0"/>
              <a:t> 인적 사항</a:t>
            </a: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err="1">
                <a:latin typeface="Arial Narrow" panose="020B0606020202030204" pitchFamily="34" charset="0"/>
              </a:rPr>
              <a:t>참여인력</a:t>
            </a:r>
            <a:r>
              <a:rPr lang="ko-KR" altLang="en-US" dirty="0">
                <a:latin typeface="Arial Narrow" panose="020B0606020202030204" pitchFamily="34" charset="0"/>
              </a:rPr>
              <a:t> </a:t>
            </a:r>
            <a:r>
              <a:rPr lang="ko-KR" altLang="en-US" dirty="0" err="1">
                <a:latin typeface="Arial Narrow" panose="020B0606020202030204" pitchFamily="34" charset="0"/>
              </a:rPr>
              <a:t>총괄표</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0" name="텍스트 개체 틀 2">
            <a:extLst>
              <a:ext uri="{FF2B5EF4-FFF2-40B4-BE49-F238E27FC236}">
                <a16:creationId xmlns:a16="http://schemas.microsoft.com/office/drawing/2014/main" id="{928215B4-7D21-4317-8012-B64086D0F2EB}"/>
              </a:ext>
            </a:extLst>
          </p:cNvPr>
          <p:cNvSpPr>
            <a:spLocks noGrp="1"/>
          </p:cNvSpPr>
          <p:nvPr>
            <p:ph type="body" sz="quarter" idx="14"/>
          </p:nvPr>
        </p:nvSpPr>
        <p:spPr>
          <a:xfrm>
            <a:off x="596516" y="1198575"/>
            <a:ext cx="2644901" cy="331935"/>
          </a:xfrm>
        </p:spPr>
        <p:txBody>
          <a:bodyPr/>
          <a:lstStyle/>
          <a:p>
            <a:r>
              <a:rPr lang="ko-KR" altLang="en-US" dirty="0" err="1">
                <a:latin typeface="Arial Narrow" panose="020B0606020202030204" pitchFamily="34" charset="0"/>
              </a:rPr>
              <a:t>참여인력</a:t>
            </a:r>
            <a:r>
              <a:rPr lang="ko-KR" altLang="en-US" dirty="0">
                <a:latin typeface="Arial Narrow" panose="020B0606020202030204" pitchFamily="34" charset="0"/>
              </a:rPr>
              <a:t> </a:t>
            </a:r>
            <a:r>
              <a:rPr lang="ko-KR" altLang="en-US" dirty="0"/>
              <a:t>현황</a:t>
            </a:r>
            <a:endParaRPr lang="en-US" altLang="ko-KR" dirty="0">
              <a:latin typeface="Arial Narrow" panose="020B0606020202030204" pitchFamily="34" charset="0"/>
            </a:endParaRPr>
          </a:p>
        </p:txBody>
      </p:sp>
    </p:spTree>
    <p:extLst>
      <p:ext uri="{BB962C8B-B14F-4D97-AF65-F5344CB8AC3E}">
        <p14:creationId xmlns:p14="http://schemas.microsoft.com/office/powerpoint/2010/main" val="2671215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2. </a:t>
            </a:r>
            <a:r>
              <a:rPr lang="ko-KR" altLang="en-US" dirty="0" err="1"/>
              <a:t>투입인력</a:t>
            </a:r>
            <a:r>
              <a:rPr lang="ko-KR" altLang="en-US" dirty="0"/>
              <a:t> 인적 사항</a:t>
            </a: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t>사업 총괄 책임자 </a:t>
            </a:r>
            <a:r>
              <a:rPr lang="ko-KR" altLang="en-US" dirty="0" err="1">
                <a:latin typeface="Arial Narrow" panose="020B0606020202030204" pitchFamily="34" charset="0"/>
              </a:rPr>
              <a:t>이력사항</a:t>
            </a:r>
            <a:r>
              <a:rPr lang="ko-KR" altLang="en-US" dirty="0">
                <a:latin typeface="Arial Narrow" panose="020B0606020202030204" pitchFamily="34" charset="0"/>
              </a:rPr>
              <a:t> </a:t>
            </a:r>
            <a:endParaRPr lang="en-US" altLang="ko-KR" dirty="0">
              <a:latin typeface="Arial Narrow" panose="020B0606020202030204" pitchFamily="34" charset="0"/>
            </a:endParaRP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11" name="텍스트 개체 틀 1"/>
          <p:cNvSpPr txBox="1">
            <a:spLocks/>
          </p:cNvSpPr>
          <p:nvPr/>
        </p:nvSpPr>
        <p:spPr>
          <a:xfrm>
            <a:off x="596516" y="767339"/>
            <a:ext cx="4177097" cy="331935"/>
          </a:xfrm>
          <a:prstGeom prst="rect">
            <a:avLst/>
          </a:prstGeom>
        </p:spPr>
        <p:txBody>
          <a:bodyPr vert="horz" wrap="none" lIns="0" tIns="0" rIns="0" bIns="0" rtlCol="0" anchor="ctr">
            <a:noAutofit/>
          </a:bodyPr>
          <a:lstStyle>
            <a:lvl1pPr marL="0" indent="0" algn="l" defTabSz="914400" rtl="0" eaLnBrk="1" latinLnBrk="1" hangingPunct="1">
              <a:spcBef>
                <a:spcPct val="20000"/>
              </a:spcBef>
              <a:buFontTx/>
              <a:buNone/>
              <a:defRPr lang="ko-KR" altLang="en-US" sz="1800" kern="1200" baseline="0" smtClean="0">
                <a:solidFill>
                  <a:schemeClr val="tx1">
                    <a:lumMod val="50000"/>
                    <a:lumOff val="50000"/>
                  </a:schemeClr>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ct val="20000"/>
              </a:spcBef>
              <a:spcAft>
                <a:spcPts val="0"/>
              </a:spcAft>
              <a:buClrTx/>
              <a:buSzTx/>
              <a:buFontTx/>
              <a:buNone/>
              <a:tabLst/>
              <a:defRPr/>
            </a:pPr>
            <a:r>
              <a:rPr kumimoji="0" lang="ko-KR" altLang="en-US"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사업 총괄 책임자</a:t>
            </a:r>
            <a:r>
              <a:rPr kumimoji="0" lang="en-US" altLang="ko-KR"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_</a:t>
            </a:r>
            <a:r>
              <a:rPr lang="ko-KR" altLang="en-US" sz="1600" dirty="0">
                <a:solidFill>
                  <a:sysClr val="windowText" lastClr="000000">
                    <a:lumMod val="50000"/>
                    <a:lumOff val="50000"/>
                  </a:sysClr>
                </a:solidFill>
              </a:rPr>
              <a:t>박현규</a:t>
            </a:r>
            <a:r>
              <a:rPr kumimoji="0" lang="ko-KR" altLang="en-US"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 수석컨설턴트</a:t>
            </a:r>
            <a:r>
              <a:rPr kumimoji="0" lang="en-US" altLang="ko-KR"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a:t>
            </a:r>
            <a:r>
              <a:rPr kumimoji="0" lang="ko-KR" altLang="en-US"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이사</a:t>
            </a:r>
          </a:p>
        </p:txBody>
      </p:sp>
      <p:graphicFrame>
        <p:nvGraphicFramePr>
          <p:cNvPr id="13" name="표 12"/>
          <p:cNvGraphicFramePr>
            <a:graphicFrameLocks noGrp="1"/>
          </p:cNvGraphicFramePr>
          <p:nvPr>
            <p:extLst>
              <p:ext uri="{D42A27DB-BD31-4B8C-83A1-F6EECF244321}">
                <p14:modId xmlns:p14="http://schemas.microsoft.com/office/powerpoint/2010/main" val="3418127252"/>
              </p:ext>
            </p:extLst>
          </p:nvPr>
        </p:nvGraphicFramePr>
        <p:xfrm>
          <a:off x="604193" y="2456896"/>
          <a:ext cx="8747854" cy="4032805"/>
        </p:xfrm>
        <a:graphic>
          <a:graphicData uri="http://schemas.openxmlformats.org/drawingml/2006/table">
            <a:tbl>
              <a:tblPr/>
              <a:tblGrid>
                <a:gridCol w="436539">
                  <a:extLst>
                    <a:ext uri="{9D8B030D-6E8A-4147-A177-3AD203B41FA5}">
                      <a16:colId xmlns:a16="http://schemas.microsoft.com/office/drawing/2014/main" val="1498545031"/>
                    </a:ext>
                  </a:extLst>
                </a:gridCol>
                <a:gridCol w="4500000">
                  <a:extLst>
                    <a:ext uri="{9D8B030D-6E8A-4147-A177-3AD203B41FA5}">
                      <a16:colId xmlns:a16="http://schemas.microsoft.com/office/drawing/2014/main" val="1781446386"/>
                    </a:ext>
                  </a:extLst>
                </a:gridCol>
                <a:gridCol w="701500">
                  <a:extLst>
                    <a:ext uri="{9D8B030D-6E8A-4147-A177-3AD203B41FA5}">
                      <a16:colId xmlns:a16="http://schemas.microsoft.com/office/drawing/2014/main" val="602203065"/>
                    </a:ext>
                  </a:extLst>
                </a:gridCol>
                <a:gridCol w="1136010">
                  <a:extLst>
                    <a:ext uri="{9D8B030D-6E8A-4147-A177-3AD203B41FA5}">
                      <a16:colId xmlns:a16="http://schemas.microsoft.com/office/drawing/2014/main" val="1915479971"/>
                    </a:ext>
                  </a:extLst>
                </a:gridCol>
                <a:gridCol w="1973805">
                  <a:extLst>
                    <a:ext uri="{9D8B030D-6E8A-4147-A177-3AD203B41FA5}">
                      <a16:colId xmlns:a16="http://schemas.microsoft.com/office/drawing/2014/main" val="3302259037"/>
                    </a:ext>
                  </a:extLst>
                </a:gridCol>
              </a:tblGrid>
              <a:tr h="201467">
                <a:tc gridSpan="5">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경</a:t>
                      </a:r>
                      <a:r>
                        <a:rPr lang="ko-KR" altLang="en-US" sz="1100" kern="0" spc="-40" baseline="0" dirty="0">
                          <a:solidFill>
                            <a:srgbClr val="000000"/>
                          </a:solidFill>
                          <a:effectLst/>
                          <a:latin typeface="+mn-ea"/>
                          <a:ea typeface="+mn-ea"/>
                        </a:rPr>
                        <a:t>    </a:t>
                      </a:r>
                      <a:r>
                        <a:rPr lang="ko-KR" altLang="en-US" sz="1100" kern="0" spc="-40" dirty="0" err="1">
                          <a:solidFill>
                            <a:srgbClr val="000000"/>
                          </a:solidFill>
                          <a:effectLst/>
                          <a:latin typeface="+mn-ea"/>
                          <a:ea typeface="+mn-ea"/>
                        </a:rPr>
                        <a:t>력</a:t>
                      </a:r>
                      <a:r>
                        <a:rPr lang="ko-KR" altLang="en-US" sz="1100" kern="0" spc="-40" dirty="0">
                          <a:solidFill>
                            <a:srgbClr val="000000"/>
                          </a:solidFill>
                          <a:effectLst/>
                          <a:latin typeface="+mn-ea"/>
                          <a:ea typeface="+mn-ea"/>
                        </a:rPr>
                        <a:t>    사    항</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0" marR="0" indent="0" algn="ctr" fontAlgn="base" latinLnBrk="0">
                        <a:lnSpc>
                          <a:spcPct val="100000"/>
                        </a:lnSpc>
                        <a:spcBef>
                          <a:spcPts val="0"/>
                        </a:spcBef>
                        <a:spcAft>
                          <a:spcPts val="0"/>
                        </a:spcAft>
                      </a:pPr>
                      <a:endParaRPr lang="ko-KR" altLang="en-US" sz="1000" kern="0" spc="0" dirty="0">
                        <a:solidFill>
                          <a:srgbClr val="000000"/>
                        </a:solidFill>
                        <a:effectLst/>
                        <a:latin typeface="Arial Narrow" panose="020B0606020202030204" pitchFamily="34" charset="0"/>
                        <a:ea typeface="a고딕14" panose="02020600000000000000" pitchFamily="18" charset="-127"/>
                      </a:endParaRPr>
                    </a:p>
                  </a:txBody>
                  <a:tcPr marL="36000" marR="36000" marT="2204" marB="2204"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marL="0" marR="0" indent="0" algn="ctr" fontAlgn="base" latinLnBrk="0">
                        <a:lnSpc>
                          <a:spcPct val="100000"/>
                        </a:lnSpc>
                        <a:spcBef>
                          <a:spcPts val="0"/>
                        </a:spcBef>
                        <a:spcAft>
                          <a:spcPts val="0"/>
                        </a:spcAft>
                      </a:pPr>
                      <a:endParaRPr lang="ko-KR" altLang="en-US" sz="1000" kern="0" spc="0" dirty="0">
                        <a:solidFill>
                          <a:srgbClr val="000000"/>
                        </a:solidFill>
                        <a:effectLst/>
                        <a:latin typeface="Arial Narrow" panose="020B0606020202030204" pitchFamily="34" charset="0"/>
                        <a:ea typeface="a고딕14" panose="02020600000000000000" pitchFamily="18" charset="-127"/>
                      </a:endParaRPr>
                    </a:p>
                  </a:txBody>
                  <a:tcPr marL="36000" marR="36000" marT="2204" marB="2204"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marL="0" marR="0" indent="0" algn="ctr" fontAlgn="base" latinLnBrk="0">
                        <a:lnSpc>
                          <a:spcPct val="100000"/>
                        </a:lnSpc>
                        <a:spcBef>
                          <a:spcPts val="0"/>
                        </a:spcBef>
                        <a:spcAft>
                          <a:spcPts val="0"/>
                        </a:spcAft>
                      </a:pPr>
                      <a:endParaRPr lang="ko-KR" altLang="en-US" sz="1000" kern="0" spc="0" dirty="0">
                        <a:solidFill>
                          <a:srgbClr val="000000"/>
                        </a:solidFill>
                        <a:effectLst/>
                        <a:latin typeface="Arial Narrow" panose="020B0606020202030204" pitchFamily="34" charset="0"/>
                        <a:ea typeface="a고딕14" panose="02020600000000000000" pitchFamily="18" charset="-127"/>
                      </a:endParaRPr>
                    </a:p>
                  </a:txBody>
                  <a:tcPr marL="36000" marR="36000" marT="2204" marB="2204"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marL="0" marR="0" indent="0" algn="ctr" fontAlgn="base" latinLnBrk="0">
                        <a:lnSpc>
                          <a:spcPct val="100000"/>
                        </a:lnSpc>
                        <a:spcBef>
                          <a:spcPts val="0"/>
                        </a:spcBef>
                        <a:spcAft>
                          <a:spcPts val="0"/>
                        </a:spcAft>
                      </a:pPr>
                      <a:endParaRPr lang="ko-KR" altLang="en-US" sz="1000" kern="0" spc="0" dirty="0">
                        <a:solidFill>
                          <a:srgbClr val="000000"/>
                        </a:solidFill>
                        <a:effectLst/>
                        <a:latin typeface="Arial Narrow" panose="020B0606020202030204" pitchFamily="34" charset="0"/>
                        <a:ea typeface="a고딕14" panose="02020600000000000000" pitchFamily="18" charset="-127"/>
                      </a:endParaRPr>
                    </a:p>
                  </a:txBody>
                  <a:tcPr marL="36000" marR="36000" marT="2204" marB="2204"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58223675"/>
                  </a:ext>
                </a:extLst>
              </a:tr>
              <a:tr h="201467">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순번</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사 업 명</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수행 연도</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담당 업무</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발 주 처</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69421202"/>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en-US" altLang="ko-KR" sz="1100" kern="0" spc="0" baseline="0" dirty="0">
                          <a:solidFill>
                            <a:srgbClr val="000000"/>
                          </a:solidFill>
                          <a:effectLst/>
                          <a:latin typeface="+mn-ea"/>
                          <a:ea typeface="+mn-ea"/>
                        </a:rPr>
                        <a:t>2024</a:t>
                      </a:r>
                      <a:r>
                        <a:rPr lang="ko-KR" altLang="en-US" sz="1100" kern="0" spc="0" baseline="0" dirty="0">
                          <a:solidFill>
                            <a:srgbClr val="000000"/>
                          </a:solidFill>
                          <a:effectLst/>
                          <a:latin typeface="+mn-ea"/>
                          <a:ea typeface="+mn-ea"/>
                        </a:rPr>
                        <a:t>년 </a:t>
                      </a:r>
                      <a:r>
                        <a:rPr lang="ko-KR" altLang="en-US" sz="1100" kern="0" spc="0" baseline="0" dirty="0" err="1">
                          <a:solidFill>
                            <a:srgbClr val="000000"/>
                          </a:solidFill>
                          <a:effectLst/>
                          <a:latin typeface="+mn-ea"/>
                          <a:ea typeface="+mn-ea"/>
                        </a:rPr>
                        <a:t>기술교육로드맵</a:t>
                      </a:r>
                      <a:r>
                        <a:rPr lang="ko-KR" altLang="en-US" sz="1100" kern="0" spc="0" baseline="0" dirty="0">
                          <a:solidFill>
                            <a:srgbClr val="000000"/>
                          </a:solidFill>
                          <a:effectLst/>
                          <a:latin typeface="+mn-ea"/>
                          <a:ea typeface="+mn-ea"/>
                        </a:rPr>
                        <a:t> 및 신규과정 선정 용역</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총괄 </a:t>
                      </a:r>
                      <a:r>
                        <a:rPr lang="en-US" altLang="ko-KR" sz="1100" b="0" kern="0" spc="-40" dirty="0">
                          <a:solidFill>
                            <a:srgbClr val="000000"/>
                          </a:solidFill>
                          <a:effectLst/>
                          <a:latin typeface="+mn-ea"/>
                          <a:ea typeface="+mn-ea"/>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한국기술교육대학교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252017067"/>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2</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ko-KR" altLang="en-US" sz="1100" kern="0" spc="0" baseline="0" dirty="0">
                          <a:solidFill>
                            <a:srgbClr val="000000"/>
                          </a:solidFill>
                          <a:effectLst/>
                          <a:latin typeface="+mn-ea"/>
                          <a:ea typeface="+mn-ea"/>
                        </a:rPr>
                        <a:t>성인학습자를 위한 수요기반 교양교과목 개발 환경분석 및 수요조사</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ko-KR"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제주관광대학교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161196646"/>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3</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ko-KR" altLang="en-US" sz="1100" kern="0" spc="0" baseline="0" dirty="0">
                          <a:solidFill>
                            <a:srgbClr val="000000"/>
                          </a:solidFill>
                          <a:effectLst/>
                          <a:latin typeface="+mn-ea"/>
                          <a:ea typeface="+mn-ea"/>
                        </a:rPr>
                        <a:t>역량기반 현장중심 교육과정 개발을 위한 산업체 수요조사 위탁 용역</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ko-KR"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동양미래대학교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703398514"/>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4</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ko-KR" altLang="en-US" sz="1100" kern="0" spc="0" baseline="0" dirty="0">
                          <a:solidFill>
                            <a:srgbClr val="000000"/>
                          </a:solidFill>
                          <a:effectLst/>
                          <a:latin typeface="+mn-ea"/>
                          <a:ea typeface="+mn-ea"/>
                        </a:rPr>
                        <a:t>대전대학교 직무별 직무역량 정교화 및 역량개발</a:t>
                      </a:r>
                      <a:r>
                        <a:rPr lang="en-US" altLang="ko-KR" sz="1100" kern="0" spc="0" baseline="0" dirty="0">
                          <a:solidFill>
                            <a:srgbClr val="000000"/>
                          </a:solidFill>
                          <a:effectLst/>
                          <a:latin typeface="+mn-ea"/>
                          <a:ea typeface="+mn-ea"/>
                        </a:rPr>
                        <a:t>-</a:t>
                      </a:r>
                      <a:r>
                        <a:rPr lang="ko-KR" altLang="en-US" sz="1100" kern="0" spc="0" baseline="0" dirty="0">
                          <a:solidFill>
                            <a:srgbClr val="000000"/>
                          </a:solidFill>
                          <a:effectLst/>
                          <a:latin typeface="+mn-ea"/>
                          <a:ea typeface="+mn-ea"/>
                        </a:rPr>
                        <a:t>성과통합관리체계 구축</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ko-KR"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대전대학교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86436737"/>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5</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en-US" altLang="ko-KR" sz="1100" kern="0" spc="0" baseline="0" dirty="0">
                          <a:solidFill>
                            <a:srgbClr val="000000"/>
                          </a:solidFill>
                          <a:effectLst/>
                          <a:latin typeface="+mn-ea"/>
                          <a:ea typeface="+mn-ea"/>
                        </a:rPr>
                        <a:t>2023</a:t>
                      </a:r>
                      <a:r>
                        <a:rPr lang="ko-KR" altLang="en-US" sz="1100" kern="0" spc="0" baseline="0" dirty="0">
                          <a:solidFill>
                            <a:srgbClr val="000000"/>
                          </a:solidFill>
                          <a:effectLst/>
                          <a:latin typeface="+mn-ea"/>
                          <a:ea typeface="+mn-ea"/>
                        </a:rPr>
                        <a:t>년 제주관광대학교 혁신지원사업 현장중심 교육과정 개발</a:t>
                      </a:r>
                      <a:r>
                        <a:rPr lang="en-US" altLang="ko-KR" sz="1100" kern="0" spc="0" baseline="0" dirty="0">
                          <a:solidFill>
                            <a:srgbClr val="000000"/>
                          </a:solidFill>
                          <a:effectLst/>
                          <a:latin typeface="+mn-ea"/>
                          <a:ea typeface="+mn-ea"/>
                        </a:rPr>
                        <a:t>(</a:t>
                      </a:r>
                      <a:r>
                        <a:rPr lang="ko-KR" altLang="en-US" sz="1100" kern="0" spc="0" baseline="0" dirty="0">
                          <a:solidFill>
                            <a:srgbClr val="000000"/>
                          </a:solidFill>
                          <a:effectLst/>
                          <a:latin typeface="+mn-ea"/>
                          <a:ea typeface="+mn-ea"/>
                        </a:rPr>
                        <a:t>개편</a:t>
                      </a:r>
                      <a:r>
                        <a:rPr lang="en-US" altLang="ko-KR" sz="1100" kern="0" spc="0" baseline="0" dirty="0">
                          <a:solidFill>
                            <a:srgbClr val="000000"/>
                          </a:solidFill>
                          <a:effectLst/>
                          <a:latin typeface="+mn-ea"/>
                          <a:ea typeface="+mn-ea"/>
                        </a:rPr>
                        <a:t>) </a:t>
                      </a:r>
                      <a:r>
                        <a:rPr lang="ko-KR" altLang="en-US" sz="1100" kern="0" spc="0" baseline="0" dirty="0">
                          <a:solidFill>
                            <a:srgbClr val="000000"/>
                          </a:solidFill>
                          <a:effectLst/>
                          <a:latin typeface="+mn-ea"/>
                          <a:ea typeface="+mn-ea"/>
                        </a:rPr>
                        <a:t>지원</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ko-KR"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100" b="0" kern="0" spc="-40" dirty="0">
                          <a:solidFill>
                            <a:srgbClr val="000000"/>
                          </a:solidFill>
                          <a:effectLst/>
                          <a:latin typeface="+mn-ea"/>
                          <a:ea typeface="+mn-ea"/>
                          <a:cs typeface="+mn-cs"/>
                        </a:rPr>
                        <a:t>제주관광대학교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45922477"/>
                  </a:ext>
                </a:extLst>
              </a:tr>
              <a:tr h="238244">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6</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en-US" altLang="ko-KR" sz="1100" b="0" kern="0" spc="-40" dirty="0">
                          <a:solidFill>
                            <a:srgbClr val="000000"/>
                          </a:solidFill>
                          <a:effectLst/>
                          <a:latin typeface="+mn-ea"/>
                          <a:ea typeface="+mn-ea"/>
                          <a:cs typeface="+mn-cs"/>
                        </a:rPr>
                        <a:t>2023</a:t>
                      </a:r>
                      <a:r>
                        <a:rPr lang="ko-KR" altLang="en-US" sz="1100" b="0" kern="0" spc="-40" dirty="0">
                          <a:solidFill>
                            <a:srgbClr val="000000"/>
                          </a:solidFill>
                          <a:effectLst/>
                          <a:latin typeface="+mn-ea"/>
                          <a:ea typeface="+mn-ea"/>
                          <a:cs typeface="+mn-cs"/>
                        </a:rPr>
                        <a:t>년 제주관광대학교 혁신지원사업 융복합 교과목 개발</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제주관광대학교 </a:t>
                      </a:r>
                      <a:r>
                        <a:rPr lang="ko-KR" altLang="en-US" sz="1100" b="0" kern="0" spc="-40" dirty="0" err="1">
                          <a:solidFill>
                            <a:srgbClr val="000000"/>
                          </a:solidFill>
                          <a:effectLst/>
                          <a:latin typeface="+mn-ea"/>
                          <a:ea typeface="+mn-ea"/>
                          <a:cs typeface="+mn-cs"/>
                        </a:rPr>
                        <a:t>산학협력단</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09443505"/>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7</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defTabSz="914400" rtl="0" eaLnBrk="1" fontAlgn="base" latinLnBrk="0" hangingPunct="1">
                        <a:lnSpc>
                          <a:spcPct val="100000"/>
                        </a:lnSpc>
                        <a:spcBef>
                          <a:spcPts val="0"/>
                        </a:spcBef>
                        <a:spcAft>
                          <a:spcPts val="0"/>
                        </a:spcAft>
                      </a:pPr>
                      <a:r>
                        <a:rPr lang="ko-KR" altLang="en-US" sz="1100" b="0" kern="0" spc="-40" dirty="0" err="1">
                          <a:solidFill>
                            <a:srgbClr val="000000"/>
                          </a:solidFill>
                          <a:effectLst/>
                          <a:latin typeface="+mn-ea"/>
                          <a:ea typeface="+mn-ea"/>
                          <a:cs typeface="+mn-cs"/>
                        </a:rPr>
                        <a:t>기술교육로드맵</a:t>
                      </a:r>
                      <a:r>
                        <a:rPr lang="ko-KR" altLang="en-US" sz="1100" b="0" kern="0" spc="-40" dirty="0">
                          <a:solidFill>
                            <a:srgbClr val="000000"/>
                          </a:solidFill>
                          <a:effectLst/>
                          <a:latin typeface="+mn-ea"/>
                          <a:ea typeface="+mn-ea"/>
                          <a:cs typeface="+mn-cs"/>
                        </a:rPr>
                        <a:t> 평생 및 디지털 신기술 분야 개발 용역</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2023</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한국기술교육대학교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8</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산업전환 기업맞춤형 진단 및 훈련과정 개발</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2023</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대한상공회의소</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9</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defTabSz="914400" rtl="0" eaLnBrk="1" fontAlgn="base" latinLnBrk="0" hangingPunct="1">
                        <a:lnSpc>
                          <a:spcPct val="100000"/>
                        </a:lnSpc>
                        <a:spcBef>
                          <a:spcPts val="0"/>
                        </a:spcBef>
                        <a:spcAft>
                          <a:spcPts val="0"/>
                        </a:spcAft>
                        <a:buClrTx/>
                        <a:buSzTx/>
                        <a:buFontTx/>
                        <a:buNone/>
                        <a:tabLst/>
                        <a:defRPr/>
                      </a:pP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100" b="0" i="0" u="none" strike="noStrike" dirty="0">
                          <a:solidFill>
                            <a:srgbClr val="000000"/>
                          </a:solidFill>
                          <a:effectLst/>
                          <a:latin typeface="A고딕14" panose="02020600000000000000" pitchFamily="18" charset="-127"/>
                          <a:ea typeface="A고딕14" panose="02020600000000000000" pitchFamily="18" charset="-127"/>
                        </a:rPr>
                        <a:t>년 온라인 교육훈련 수요조사</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2023</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한국기술교육대학교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5"/>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10</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en-US" altLang="ko-KR" sz="1100" b="0" kern="0" spc="-40" dirty="0">
                          <a:solidFill>
                            <a:srgbClr val="000000"/>
                          </a:solidFill>
                          <a:effectLst/>
                          <a:latin typeface="+mn-ea"/>
                          <a:ea typeface="+mn-ea"/>
                          <a:cs typeface="+mn-cs"/>
                        </a:rPr>
                        <a:t>R&amp;D </a:t>
                      </a:r>
                      <a:r>
                        <a:rPr lang="ko-KR" altLang="en-US" sz="1100" b="0" kern="0" spc="-40" dirty="0">
                          <a:solidFill>
                            <a:srgbClr val="000000"/>
                          </a:solidFill>
                          <a:effectLst/>
                          <a:latin typeface="+mn-ea"/>
                          <a:ea typeface="+mn-ea"/>
                          <a:cs typeface="+mn-cs"/>
                        </a:rPr>
                        <a:t>개발 방법론 교육 및 기술 </a:t>
                      </a:r>
                      <a:r>
                        <a:rPr lang="ko-KR" altLang="en-US" sz="1100" b="0" kern="0" spc="-40" dirty="0" err="1">
                          <a:solidFill>
                            <a:srgbClr val="000000"/>
                          </a:solidFill>
                          <a:effectLst/>
                          <a:latin typeface="+mn-ea"/>
                          <a:ea typeface="+mn-ea"/>
                          <a:cs typeface="+mn-cs"/>
                        </a:rPr>
                        <a:t>멘토링</a:t>
                      </a:r>
                      <a:endParaRPr lang="ko-KR" altLang="en-US" sz="1100" b="0" kern="0" spc="-40" dirty="0">
                        <a:solidFill>
                          <a:srgbClr val="000000"/>
                        </a:solidFill>
                        <a:effectLst/>
                        <a:latin typeface="+mn-ea"/>
                        <a:ea typeface="+mn-ea"/>
                        <a:cs typeface="+mn-cs"/>
                      </a:endParaRP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2023</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altLang="ko-KR" sz="1100" b="0" kern="0" spc="-40" dirty="0">
                          <a:solidFill>
                            <a:srgbClr val="000000"/>
                          </a:solidFill>
                          <a:effectLst/>
                          <a:latin typeface="+mn-ea"/>
                          <a:ea typeface="+mn-ea"/>
                          <a:cs typeface="+mn-cs"/>
                        </a:rPr>
                        <a:t>DY Power</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6"/>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11</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혁신역량 모델링 고도화 및 </a:t>
                      </a:r>
                      <a:r>
                        <a:rPr lang="en-US" altLang="ko-KR" sz="1100" b="0" kern="0" spc="-40" dirty="0">
                          <a:solidFill>
                            <a:srgbClr val="000000"/>
                          </a:solidFill>
                          <a:effectLst/>
                          <a:latin typeface="+mn-ea"/>
                          <a:ea typeface="+mn-ea"/>
                          <a:cs typeface="+mn-cs"/>
                        </a:rPr>
                        <a:t>HRD </a:t>
                      </a:r>
                      <a:r>
                        <a:rPr lang="ko-KR" altLang="en-US" sz="1100" b="0" kern="0" spc="-40" dirty="0">
                          <a:solidFill>
                            <a:srgbClr val="000000"/>
                          </a:solidFill>
                          <a:effectLst/>
                          <a:latin typeface="+mn-ea"/>
                          <a:ea typeface="+mn-ea"/>
                          <a:cs typeface="+mn-cs"/>
                        </a:rPr>
                        <a:t>교육과정 개발 연구</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2022</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a고딕14"/>
                          <a:cs typeface="+mn-cs"/>
                        </a:rPr>
                        <a:t>한국산업인력공단</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7"/>
                  </a:ext>
                </a:extLst>
              </a:tr>
              <a:tr h="434549">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12</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선박해양플랜트 </a:t>
                      </a:r>
                      <a:r>
                        <a:rPr lang="en-US" altLang="ko-KR" sz="1100" b="0" kern="0" spc="-40" dirty="0">
                          <a:solidFill>
                            <a:srgbClr val="000000"/>
                          </a:solidFill>
                          <a:effectLst/>
                          <a:latin typeface="+mn-ea"/>
                          <a:ea typeface="+mn-ea"/>
                          <a:cs typeface="+mn-cs"/>
                        </a:rPr>
                        <a:t>HRD </a:t>
                      </a:r>
                      <a:r>
                        <a:rPr lang="ko-KR" altLang="en-US" sz="1100" b="0" kern="0" spc="-40" dirty="0">
                          <a:solidFill>
                            <a:srgbClr val="000000"/>
                          </a:solidFill>
                          <a:effectLst/>
                          <a:latin typeface="+mn-ea"/>
                          <a:ea typeface="+mn-ea"/>
                          <a:cs typeface="+mn-cs"/>
                        </a:rPr>
                        <a:t>전략수립 및 교육체계 개선</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2022</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dirty="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dirty="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한국해양과학기술원 부설 선박해양플랜트연구소</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76779213"/>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13</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복지시설 이용자 문화예술교육 지원사업 만족도조사 및 협조도 평가 결과 산출 용역</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2022</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dirty="0">
                          <a:ln>
                            <a:noFill/>
                          </a:ln>
                          <a:solidFill>
                            <a:srgbClr val="000000"/>
                          </a:solidFill>
                          <a:effectLst/>
                          <a:uLnTx/>
                          <a:uFillTx/>
                          <a:latin typeface="a고딕14"/>
                          <a:ea typeface="a고딕14"/>
                          <a:cs typeface="+mn-cs"/>
                        </a:rPr>
                        <a:t>실무</a:t>
                      </a:r>
                      <a:r>
                        <a:rPr kumimoji="0" lang="en-US" altLang="ko-KR" sz="1100" b="0" i="0" u="none" strike="noStrike" kern="0" cap="none" spc="-40" normalizeH="0" baseline="0" noProof="0" dirty="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문화예술교육진흥원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14056355"/>
                  </a:ext>
                </a:extLst>
              </a:tr>
              <a:tr h="238244">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14</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buClrTx/>
                        <a:buSzTx/>
                        <a:buFontTx/>
                        <a:buNone/>
                        <a:tabLst/>
                        <a:defRPr/>
                      </a:pPr>
                      <a:r>
                        <a:rPr lang="ko-KR" altLang="en-US" sz="1100" kern="0" spc="0" dirty="0">
                          <a:effectLst/>
                          <a:latin typeface="a고딕14" panose="02020600000000000000" pitchFamily="18" charset="-127"/>
                          <a:ea typeface="a고딕14" panose="02020600000000000000" pitchFamily="18" charset="-127"/>
                        </a:rPr>
                        <a:t>한국건설품질연구원 신기술 사업화 타당성 분석</a:t>
                      </a:r>
                      <a:endParaRPr lang="ko-KR" altLang="en-US" sz="1100" kern="0" spc="0" dirty="0">
                        <a:solidFill>
                          <a:srgbClr val="000000"/>
                        </a:solidFill>
                        <a:effectLst/>
                        <a:latin typeface="a고딕14" panose="02020600000000000000" pitchFamily="18" charset="-127"/>
                        <a:ea typeface="a고딕14" panose="02020600000000000000" pitchFamily="18" charset="-127"/>
                      </a:endParaRP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2022</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총괄</a:t>
                      </a:r>
                      <a:r>
                        <a:rPr lang="en-US" altLang="ko-KR" sz="1100" b="0" kern="0" spc="-40" dirty="0">
                          <a:solidFill>
                            <a:srgbClr val="000000"/>
                          </a:solidFill>
                          <a:effectLst/>
                          <a:latin typeface="+mn-ea"/>
                          <a:ea typeface="+mn-ea"/>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buClrTx/>
                        <a:buSzTx/>
                        <a:buFontTx/>
                        <a:buNone/>
                        <a:tabLst/>
                        <a:defRPr/>
                      </a:pPr>
                      <a:r>
                        <a:rPr lang="ko-KR" altLang="en-US" sz="1100" kern="0" spc="0" dirty="0">
                          <a:effectLst/>
                          <a:latin typeface="a고딕14" panose="02020600000000000000" pitchFamily="18" charset="-127"/>
                          <a:ea typeface="a고딕14" panose="02020600000000000000" pitchFamily="18" charset="-127"/>
                        </a:rPr>
                        <a:t>한국건설품질연구원</a:t>
                      </a:r>
                      <a:endParaRPr lang="ko-KR" altLang="en-US" sz="110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693072325"/>
                  </a:ext>
                </a:extLst>
              </a:tr>
            </a:tbl>
          </a:graphicData>
        </a:graphic>
      </p:graphicFrame>
      <p:graphicFrame>
        <p:nvGraphicFramePr>
          <p:cNvPr id="14" name="표 13"/>
          <p:cNvGraphicFramePr>
            <a:graphicFrameLocks noGrp="1"/>
          </p:cNvGraphicFramePr>
          <p:nvPr>
            <p:extLst>
              <p:ext uri="{D42A27DB-BD31-4B8C-83A1-F6EECF244321}">
                <p14:modId xmlns:p14="http://schemas.microsoft.com/office/powerpoint/2010/main" val="2515236375"/>
              </p:ext>
            </p:extLst>
          </p:nvPr>
        </p:nvGraphicFramePr>
        <p:xfrm>
          <a:off x="602260" y="1322310"/>
          <a:ext cx="8743352" cy="990567"/>
        </p:xfrm>
        <a:graphic>
          <a:graphicData uri="http://schemas.openxmlformats.org/drawingml/2006/table">
            <a:tbl>
              <a:tblPr/>
              <a:tblGrid>
                <a:gridCol w="1960993">
                  <a:extLst>
                    <a:ext uri="{9D8B030D-6E8A-4147-A177-3AD203B41FA5}">
                      <a16:colId xmlns:a16="http://schemas.microsoft.com/office/drawing/2014/main" val="4060071181"/>
                    </a:ext>
                  </a:extLst>
                </a:gridCol>
                <a:gridCol w="1949712">
                  <a:extLst>
                    <a:ext uri="{9D8B030D-6E8A-4147-A177-3AD203B41FA5}">
                      <a16:colId xmlns:a16="http://schemas.microsoft.com/office/drawing/2014/main" val="1637512716"/>
                    </a:ext>
                  </a:extLst>
                </a:gridCol>
                <a:gridCol w="2036807">
                  <a:extLst>
                    <a:ext uri="{9D8B030D-6E8A-4147-A177-3AD203B41FA5}">
                      <a16:colId xmlns:a16="http://schemas.microsoft.com/office/drawing/2014/main" val="155860598"/>
                    </a:ext>
                  </a:extLst>
                </a:gridCol>
                <a:gridCol w="2795840">
                  <a:extLst>
                    <a:ext uri="{9D8B030D-6E8A-4147-A177-3AD203B41FA5}">
                      <a16:colId xmlns:a16="http://schemas.microsoft.com/office/drawing/2014/main" val="3821518512"/>
                    </a:ext>
                  </a:extLst>
                </a:gridCol>
              </a:tblGrid>
              <a:tr h="330189">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cs typeface="+mn-cs"/>
                        </a:rPr>
                        <a:t>성 명</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박현규</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연령</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만</a:t>
                      </a:r>
                      <a:r>
                        <a:rPr lang="en-US" altLang="ko-KR" sz="1100" b="0" kern="0" spc="0" dirty="0">
                          <a:solidFill>
                            <a:srgbClr val="000000"/>
                          </a:solidFill>
                          <a:effectLst/>
                          <a:latin typeface="+mn-ea"/>
                          <a:ea typeface="+mn-ea"/>
                        </a:rPr>
                        <a:t>)</a:t>
                      </a:r>
                      <a:endParaRPr lang="ko-KR" altLang="en-US" sz="1100" b="0" kern="0" spc="0" dirty="0">
                        <a:solidFill>
                          <a:srgbClr val="000000"/>
                        </a:solidFill>
                        <a:effectLst/>
                        <a:latin typeface="+mn-ea"/>
                        <a:ea typeface="+mn-ea"/>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en-US" altLang="ko-KR" sz="1100" dirty="0">
                          <a:latin typeface="+mn-ea"/>
                          <a:ea typeface="+mn-ea"/>
                        </a:rPr>
                        <a:t>52</a:t>
                      </a:r>
                      <a:r>
                        <a:rPr lang="ko-KR" altLang="en-US" sz="1100" dirty="0">
                          <a:latin typeface="+mn-ea"/>
                          <a:ea typeface="+mn-ea"/>
                        </a:rPr>
                        <a:t>세</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93562"/>
                  </a:ext>
                </a:extLst>
              </a:tr>
              <a:tr h="330189">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직위</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직책</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수석컨설턴트</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이사</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학력</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전공</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학위</a:t>
                      </a:r>
                      <a:r>
                        <a:rPr lang="en-US" altLang="ko-KR" sz="1100" b="0" kern="0" spc="0" dirty="0">
                          <a:solidFill>
                            <a:srgbClr val="000000"/>
                          </a:solidFill>
                          <a:effectLst/>
                          <a:latin typeface="+mn-ea"/>
                          <a:ea typeface="+mn-ea"/>
                        </a:rPr>
                        <a:t>)</a:t>
                      </a:r>
                      <a:endParaRPr lang="ko-KR" altLang="en-US" sz="1100" b="0" kern="0" spc="0" dirty="0">
                        <a:solidFill>
                          <a:srgbClr val="000000"/>
                        </a:solidFill>
                        <a:effectLst/>
                        <a:latin typeface="+mn-ea"/>
                        <a:ea typeface="+mn-ea"/>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ko-KR" altLang="en-US" sz="1100" dirty="0">
                          <a:latin typeface="+mn-ea"/>
                          <a:ea typeface="+mn-ea"/>
                        </a:rPr>
                        <a:t>경영학 </a:t>
                      </a:r>
                      <a:r>
                        <a:rPr lang="en-US" altLang="ko-KR" sz="1100" dirty="0">
                          <a:latin typeface="+mn-ea"/>
                          <a:ea typeface="+mn-ea"/>
                        </a:rPr>
                        <a:t>/ </a:t>
                      </a:r>
                      <a:r>
                        <a:rPr lang="ko-KR" altLang="en-US" sz="1100" dirty="0">
                          <a:latin typeface="+mn-ea"/>
                          <a:ea typeface="+mn-ea"/>
                        </a:rPr>
                        <a:t>석사</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8817512"/>
                  </a:ext>
                </a:extLst>
              </a:tr>
              <a:tr h="330189">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70" dirty="0">
                          <a:solidFill>
                            <a:srgbClr val="000000"/>
                          </a:solidFill>
                          <a:effectLst/>
                          <a:latin typeface="+mn-ea"/>
                          <a:ea typeface="+mn-ea"/>
                          <a:cs typeface="+mn-cs"/>
                        </a:rPr>
                        <a:t>해당분야 근무경력</a:t>
                      </a:r>
                      <a:endParaRPr lang="ko-KR" altLang="en-US" sz="1100" b="0" kern="0" spc="0" dirty="0">
                        <a:solidFill>
                          <a:srgbClr val="000000"/>
                        </a:solidFill>
                        <a:effectLst/>
                        <a:latin typeface="+mn-ea"/>
                        <a:ea typeface="+mn-ea"/>
                        <a:cs typeface="+mn-cs"/>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en-US" altLang="ko-KR" sz="1100" b="0" kern="0" spc="0" dirty="0">
                          <a:solidFill>
                            <a:srgbClr val="000000"/>
                          </a:solidFill>
                          <a:effectLst/>
                          <a:latin typeface="+mn-ea"/>
                          <a:ea typeface="+mn-ea"/>
                        </a:rPr>
                        <a:t>21</a:t>
                      </a:r>
                      <a:r>
                        <a:rPr lang="ko-KR" altLang="en-US" sz="1100" b="0" kern="0" spc="0" dirty="0">
                          <a:solidFill>
                            <a:srgbClr val="000000"/>
                          </a:solidFill>
                          <a:effectLst/>
                          <a:latin typeface="+mn-ea"/>
                          <a:ea typeface="+mn-ea"/>
                        </a:rPr>
                        <a:t>년</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cs typeface="+mn-cs"/>
                        </a:rPr>
                        <a:t>본 사업 </a:t>
                      </a:r>
                      <a:r>
                        <a:rPr lang="ko-KR" altLang="en-US" sz="1100" b="0" kern="0" spc="0" dirty="0" err="1">
                          <a:solidFill>
                            <a:srgbClr val="000000"/>
                          </a:solidFill>
                          <a:effectLst/>
                          <a:latin typeface="+mn-ea"/>
                          <a:ea typeface="+mn-ea"/>
                          <a:cs typeface="+mn-cs"/>
                        </a:rPr>
                        <a:t>참여임무</a:t>
                      </a:r>
                      <a:endParaRPr lang="ko-KR" altLang="en-US" sz="1100" b="0" kern="0" spc="0" dirty="0">
                        <a:solidFill>
                          <a:srgbClr val="000000"/>
                        </a:solidFill>
                        <a:effectLst/>
                        <a:latin typeface="+mn-ea"/>
                        <a:ea typeface="+mn-ea"/>
                        <a:cs typeface="+mn-cs"/>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ko-KR" altLang="en-US" sz="1100" dirty="0">
                          <a:latin typeface="+mn-ea"/>
                          <a:ea typeface="+mn-ea"/>
                        </a:rPr>
                        <a:t>사업 총괄 책임자</a:t>
                      </a:r>
                      <a:r>
                        <a:rPr lang="en-US" altLang="ko-KR" sz="1100" dirty="0">
                          <a:latin typeface="+mn-ea"/>
                          <a:ea typeface="+mn-ea"/>
                        </a:rPr>
                        <a:t>(</a:t>
                      </a:r>
                      <a:r>
                        <a:rPr lang="ko-KR" altLang="en-US" sz="1100" dirty="0">
                          <a:latin typeface="+mn-ea"/>
                          <a:ea typeface="+mn-ea"/>
                        </a:rPr>
                        <a:t>총괄 </a:t>
                      </a:r>
                      <a:r>
                        <a:rPr lang="en-US" altLang="ko-KR" sz="1100" dirty="0">
                          <a:latin typeface="+mn-ea"/>
                          <a:ea typeface="+mn-ea"/>
                        </a:rPr>
                        <a:t>PM)</a:t>
                      </a:r>
                      <a:endParaRPr lang="ko-KR" altLang="en-US" sz="1100" dirty="0">
                        <a:latin typeface="+mn-ea"/>
                        <a:ea typeface="+mn-ea"/>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8990897"/>
                  </a:ext>
                </a:extLst>
              </a:tr>
            </a:tbl>
          </a:graphicData>
        </a:graphic>
      </p:graphicFrame>
    </p:spTree>
    <p:extLst>
      <p:ext uri="{BB962C8B-B14F-4D97-AF65-F5344CB8AC3E}">
        <p14:creationId xmlns:p14="http://schemas.microsoft.com/office/powerpoint/2010/main" val="9060310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err="1"/>
              <a:t>제안사는</a:t>
            </a:r>
            <a:r>
              <a:rPr lang="ko-KR" altLang="en-US" dirty="0"/>
              <a:t> 본</a:t>
            </a:r>
            <a:r>
              <a:rPr lang="en-US" altLang="ko-KR" dirty="0"/>
              <a:t> </a:t>
            </a:r>
            <a:r>
              <a:rPr lang="ko-KR" altLang="en-US" dirty="0"/>
              <a:t>과업의 핵심 산출물인 </a:t>
            </a:r>
            <a:r>
              <a:rPr lang="ko-KR" altLang="en-US" dirty="0">
                <a:solidFill>
                  <a:srgbClr val="0070C0"/>
                </a:solidFill>
              </a:rPr>
              <a:t>기술교육로드맵과 </a:t>
            </a:r>
            <a:r>
              <a:rPr lang="ko-KR" altLang="en-US" dirty="0" err="1">
                <a:solidFill>
                  <a:srgbClr val="0070C0"/>
                </a:solidFill>
              </a:rPr>
              <a:t>과정개요서</a:t>
            </a:r>
            <a:r>
              <a:rPr lang="ko-KR" altLang="en-US" dirty="0">
                <a:solidFill>
                  <a:srgbClr val="0070C0"/>
                </a:solidFill>
              </a:rPr>
              <a:t>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3. </a:t>
            </a:r>
            <a:r>
              <a:rPr lang="ko-KR" altLang="en-US" dirty="0"/>
              <a:t>전문가 </a:t>
            </a:r>
            <a:r>
              <a:rPr lang="ko-KR" altLang="en-US" dirty="0" err="1"/>
              <a:t>구성계획</a:t>
            </a:r>
            <a:endParaRPr lang="ko-KR" altLang="en-US" dirty="0"/>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2" name="표 1">
            <a:extLst>
              <a:ext uri="{FF2B5EF4-FFF2-40B4-BE49-F238E27FC236}">
                <a16:creationId xmlns:a16="http://schemas.microsoft.com/office/drawing/2014/main" id="{24491829-BE59-1A13-83D9-E9C49171D1A1}"/>
              </a:ext>
            </a:extLst>
          </p:cNvPr>
          <p:cNvGraphicFramePr>
            <a:graphicFrameLocks noGrp="1"/>
          </p:cNvGraphicFramePr>
          <p:nvPr/>
        </p:nvGraphicFramePr>
        <p:xfrm>
          <a:off x="603434" y="2093156"/>
          <a:ext cx="8742054" cy="4396540"/>
        </p:xfrm>
        <a:graphic>
          <a:graphicData uri="http://schemas.openxmlformats.org/drawingml/2006/table">
            <a:tbl>
              <a:tblPr/>
              <a:tblGrid>
                <a:gridCol w="1325230">
                  <a:extLst>
                    <a:ext uri="{9D8B030D-6E8A-4147-A177-3AD203B41FA5}">
                      <a16:colId xmlns:a16="http://schemas.microsoft.com/office/drawing/2014/main" val="3305324587"/>
                    </a:ext>
                  </a:extLst>
                </a:gridCol>
                <a:gridCol w="2160240">
                  <a:extLst>
                    <a:ext uri="{9D8B030D-6E8A-4147-A177-3AD203B41FA5}">
                      <a16:colId xmlns:a16="http://schemas.microsoft.com/office/drawing/2014/main" val="1887623574"/>
                    </a:ext>
                  </a:extLst>
                </a:gridCol>
                <a:gridCol w="756084">
                  <a:extLst>
                    <a:ext uri="{9D8B030D-6E8A-4147-A177-3AD203B41FA5}">
                      <a16:colId xmlns:a16="http://schemas.microsoft.com/office/drawing/2014/main" val="2056623653"/>
                    </a:ext>
                  </a:extLst>
                </a:gridCol>
                <a:gridCol w="1800200">
                  <a:extLst>
                    <a:ext uri="{9D8B030D-6E8A-4147-A177-3AD203B41FA5}">
                      <a16:colId xmlns:a16="http://schemas.microsoft.com/office/drawing/2014/main" val="3726200187"/>
                    </a:ext>
                  </a:extLst>
                </a:gridCol>
                <a:gridCol w="1196717">
                  <a:extLst>
                    <a:ext uri="{9D8B030D-6E8A-4147-A177-3AD203B41FA5}">
                      <a16:colId xmlns:a16="http://schemas.microsoft.com/office/drawing/2014/main" val="3967781682"/>
                    </a:ext>
                  </a:extLst>
                </a:gridCol>
                <a:gridCol w="747499">
                  <a:extLst>
                    <a:ext uri="{9D8B030D-6E8A-4147-A177-3AD203B41FA5}">
                      <a16:colId xmlns:a16="http://schemas.microsoft.com/office/drawing/2014/main" val="4285039678"/>
                    </a:ext>
                  </a:extLst>
                </a:gridCol>
                <a:gridCol w="756084">
                  <a:extLst>
                    <a:ext uri="{9D8B030D-6E8A-4147-A177-3AD203B41FA5}">
                      <a16:colId xmlns:a16="http://schemas.microsoft.com/office/drawing/2014/main" val="1374971592"/>
                    </a:ext>
                  </a:extLst>
                </a:gridCol>
              </a:tblGrid>
              <a:tr h="282357">
                <a:tc>
                  <a:txBody>
                    <a:bodyPr/>
                    <a:lstStyle/>
                    <a:p>
                      <a:pPr algn="ctr" fontAlgn="ctr" latinLnBrk="0"/>
                      <a:r>
                        <a:rPr lang="en-US" altLang="ko-KR" sz="1200" b="0" i="0" u="none" strike="noStrike" dirty="0">
                          <a:solidFill>
                            <a:schemeClr val="bg1"/>
                          </a:solidFill>
                          <a:effectLst/>
                          <a:latin typeface="+mj-ea"/>
                          <a:ea typeface="+mj-ea"/>
                        </a:rPr>
                        <a:t>10</a:t>
                      </a:r>
                      <a:r>
                        <a:rPr lang="ko-KR" altLang="en-US" sz="1200" b="0" i="0" u="none" strike="noStrike" dirty="0">
                          <a:solidFill>
                            <a:schemeClr val="bg1"/>
                          </a:solidFill>
                          <a:effectLst/>
                          <a:latin typeface="+mj-ea"/>
                          <a:ea typeface="+mj-ea"/>
                        </a:rPr>
                        <a:t>개 분야</a:t>
                      </a:r>
                    </a:p>
                  </a:txBody>
                  <a:tcPr marL="4907" marR="4907" marT="4907"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en-US" altLang="ko-KR" sz="1200" b="0" i="0" u="none" strike="noStrike" dirty="0">
                          <a:solidFill>
                            <a:schemeClr val="bg1"/>
                          </a:solidFill>
                          <a:effectLst/>
                          <a:latin typeface="+mj-ea"/>
                          <a:ea typeface="+mj-ea"/>
                        </a:rPr>
                        <a:t>21</a:t>
                      </a:r>
                      <a:r>
                        <a:rPr lang="ko-KR" altLang="en-US" sz="1200" b="0" i="0" u="none" strike="noStrike" dirty="0">
                          <a:solidFill>
                            <a:schemeClr val="bg1"/>
                          </a:solidFill>
                          <a:effectLst/>
                          <a:latin typeface="+mj-ea"/>
                          <a:ea typeface="+mj-ea"/>
                        </a:rPr>
                        <a:t>개 디지털</a:t>
                      </a:r>
                      <a:r>
                        <a:rPr lang="en-US" altLang="ko-KR" sz="1200" b="0" i="0" u="none" strike="noStrike" dirty="0">
                          <a:solidFill>
                            <a:schemeClr val="bg1"/>
                          </a:solidFill>
                          <a:effectLst/>
                          <a:latin typeface="+mj-ea"/>
                          <a:ea typeface="+mj-ea"/>
                        </a:rPr>
                        <a:t>·</a:t>
                      </a:r>
                      <a:r>
                        <a:rPr lang="ko-KR" altLang="en-US" sz="1200" b="0" i="0" u="none" strike="noStrike" dirty="0">
                          <a:solidFill>
                            <a:schemeClr val="bg1"/>
                          </a:solidFill>
                          <a:effectLst/>
                          <a:latin typeface="+mj-ea"/>
                          <a:ea typeface="+mj-ea"/>
                        </a:rPr>
                        <a:t>첨단산업 분야</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dirty="0">
                          <a:solidFill>
                            <a:schemeClr val="bg1"/>
                          </a:solidFill>
                          <a:effectLst/>
                          <a:latin typeface="+mj-ea"/>
                          <a:ea typeface="+mj-ea"/>
                        </a:rPr>
                        <a:t>대표전문가</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a:solidFill>
                            <a:schemeClr val="bg1"/>
                          </a:solidFill>
                          <a:effectLst/>
                          <a:latin typeface="+mj-ea"/>
                          <a:ea typeface="+mj-ea"/>
                        </a:rPr>
                        <a:t>경력</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dirty="0">
                          <a:solidFill>
                            <a:schemeClr val="bg1"/>
                          </a:solidFill>
                          <a:effectLst/>
                          <a:latin typeface="+mj-ea"/>
                          <a:ea typeface="+mj-ea"/>
                        </a:rPr>
                        <a:t>소속</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a:solidFill>
                            <a:schemeClr val="bg1"/>
                          </a:solidFill>
                          <a:effectLst/>
                          <a:latin typeface="+mj-ea"/>
                          <a:ea typeface="+mj-ea"/>
                        </a:rPr>
                        <a:t>직위</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dirty="0">
                          <a:solidFill>
                            <a:schemeClr val="bg1"/>
                          </a:solidFill>
                          <a:effectLst/>
                          <a:latin typeface="+mj-ea"/>
                          <a:ea typeface="+mj-ea"/>
                        </a:rPr>
                        <a:t>비고</a:t>
                      </a:r>
                    </a:p>
                  </a:txBody>
                  <a:tcPr marL="4907" marR="4907" marT="4907"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2301230209"/>
                  </a:ext>
                </a:extLst>
              </a:tr>
              <a:tr h="259442">
                <a:tc>
                  <a:txBody>
                    <a:bodyPr/>
                    <a:lstStyle/>
                    <a:p>
                      <a:pPr algn="ctr" fontAlgn="ctr" latinLnBrk="0"/>
                      <a:r>
                        <a:rPr lang="ko-KR" altLang="en-US" sz="1100" b="0" i="0" u="none" strike="noStrike" dirty="0">
                          <a:solidFill>
                            <a:srgbClr val="000000"/>
                          </a:solidFill>
                          <a:effectLst/>
                          <a:latin typeface="+mj-ea"/>
                          <a:ea typeface="+mj-ea"/>
                        </a:rPr>
                        <a:t>건설</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인공지능</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고훈범</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dirty="0">
                          <a:solidFill>
                            <a:srgbClr val="000000"/>
                          </a:solidFill>
                          <a:effectLst/>
                          <a:latin typeface="+mj-ea"/>
                          <a:ea typeface="+mj-ea"/>
                        </a:rPr>
                        <a:t>16</a:t>
                      </a:r>
                      <a:r>
                        <a:rPr lang="ko-KR" altLang="en-US" sz="1100" b="0" i="0" u="none" strike="noStrike" dirty="0">
                          <a:solidFill>
                            <a:srgbClr val="000000"/>
                          </a:solidFill>
                          <a:effectLst/>
                          <a:latin typeface="+mj-ea"/>
                          <a:ea typeface="+mj-ea"/>
                        </a:rPr>
                        <a:t>년도 </a:t>
                      </a:r>
                      <a:r>
                        <a:rPr lang="en-US" altLang="ko-KR" sz="1100" b="0" i="0" u="none" strike="noStrike" dirty="0">
                          <a:solidFill>
                            <a:srgbClr val="000000"/>
                          </a:solidFill>
                          <a:effectLst/>
                          <a:latin typeface="+mj-ea"/>
                          <a:ea typeface="+mj-ea"/>
                        </a:rPr>
                        <a:t>NCS 1</a:t>
                      </a:r>
                      <a:r>
                        <a:rPr lang="ko-KR" altLang="en-US" sz="1100" b="0" i="0" u="none" strike="noStrike" dirty="0">
                          <a:solidFill>
                            <a:srgbClr val="000000"/>
                          </a:solidFill>
                          <a:effectLst/>
                          <a:latin typeface="+mj-ea"/>
                          <a:ea typeface="+mj-ea"/>
                        </a:rPr>
                        <a:t>차 개발위원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인하공업전문대 </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22</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058198"/>
                  </a:ext>
                </a:extLst>
              </a:tr>
              <a:tr h="259442">
                <a:tc>
                  <a:txBody>
                    <a:bodyPr/>
                    <a:lstStyle/>
                    <a:p>
                      <a:pPr algn="ctr" fontAlgn="ctr" latinLnBrk="0"/>
                      <a:r>
                        <a:rPr lang="ko-KR" altLang="en-US" sz="1100" b="0" i="0" u="none" strike="noStrike" dirty="0">
                          <a:solidFill>
                            <a:srgbClr val="000000"/>
                          </a:solidFill>
                          <a:effectLst/>
                          <a:latin typeface="+mj-ea"/>
                          <a:ea typeface="+mj-ea"/>
                        </a:rPr>
                        <a:t>기계</a:t>
                      </a:r>
                      <a:endParaRPr lang="en-US"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일반 </a:t>
                      </a:r>
                      <a:r>
                        <a:rPr lang="en-US" altLang="ko-KR" sz="1100" b="0" i="0" u="none" strike="noStrike" dirty="0">
                          <a:solidFill>
                            <a:srgbClr val="000000"/>
                          </a:solidFill>
                          <a:effectLst/>
                          <a:latin typeface="+mj-ea"/>
                          <a:ea typeface="+mj-ea"/>
                        </a:rPr>
                        <a:t>SW</a:t>
                      </a:r>
                      <a:endParaRPr 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김동훈</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14</a:t>
                      </a:r>
                      <a:r>
                        <a:rPr lang="ko-KR" altLang="en-US" sz="1100" b="0" i="0" u="none" strike="noStrike">
                          <a:solidFill>
                            <a:srgbClr val="000000"/>
                          </a:solidFill>
                          <a:effectLst/>
                          <a:latin typeface="+mj-ea"/>
                          <a:ea typeface="+mj-ea"/>
                        </a:rPr>
                        <a:t>년도 </a:t>
                      </a:r>
                      <a:r>
                        <a:rPr lang="en-US"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천안공업고등학교 </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교사</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외 </a:t>
                      </a:r>
                      <a:r>
                        <a:rPr lang="en-US" altLang="ko-KR" sz="1100" b="0" i="0" u="none" strike="noStrike" dirty="0">
                          <a:solidFill>
                            <a:srgbClr val="000000"/>
                          </a:solidFill>
                          <a:effectLst/>
                          <a:latin typeface="+mj-ea"/>
                          <a:ea typeface="+mj-ea"/>
                        </a:rPr>
                        <a:t>132</a:t>
                      </a:r>
                      <a:r>
                        <a:rPr lang="ko-KR" altLang="en-US" sz="1100" b="0" i="0" u="none" strike="noStrike" dirty="0">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995670"/>
                  </a:ext>
                </a:extLst>
              </a:tr>
              <a:tr h="1015635">
                <a:tc>
                  <a:txBody>
                    <a:bodyPr/>
                    <a:lstStyle/>
                    <a:p>
                      <a:pPr algn="ctr" fontAlgn="ctr" latinLnBrk="0"/>
                      <a:r>
                        <a:rPr lang="ko-KR" altLang="en-US" sz="1100" b="0" i="0" u="none" strike="noStrike" dirty="0">
                          <a:solidFill>
                            <a:srgbClr val="000000"/>
                          </a:solidFill>
                          <a:effectLst/>
                          <a:latin typeface="+mj-ea"/>
                          <a:ea typeface="+mj-ea"/>
                        </a:rPr>
                        <a:t>정보통신</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a:solidFill>
                            <a:srgbClr val="000000"/>
                          </a:solidFill>
                          <a:effectLst/>
                          <a:latin typeface="+mj-ea"/>
                          <a:ea typeface="+mn-ea"/>
                          <a:cs typeface="+mn-cs"/>
                        </a:rPr>
                        <a:t>인공지능</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클라우드</a:t>
                      </a:r>
                      <a:r>
                        <a:rPr lang="en-US" altLang="ko-KR" sz="1100" b="0" i="0" u="none" strike="noStrike" kern="1200" dirty="0">
                          <a:solidFill>
                            <a:srgbClr val="000000"/>
                          </a:solidFill>
                          <a:effectLst/>
                          <a:latin typeface="+mj-ea"/>
                          <a:ea typeface="+mn-ea"/>
                          <a:cs typeface="+mn-cs"/>
                        </a:rPr>
                        <a:t>, </a:t>
                      </a:r>
                    </a:p>
                    <a:p>
                      <a:pPr algn="ctr" fontAlgn="ctr" latinLnBrk="0"/>
                      <a:r>
                        <a:rPr lang="ko-KR" altLang="en-US" sz="1100" b="0" i="0" u="none" strike="noStrike" kern="1200" dirty="0">
                          <a:solidFill>
                            <a:srgbClr val="000000"/>
                          </a:solidFill>
                          <a:effectLst/>
                          <a:latin typeface="+mj-ea"/>
                          <a:ea typeface="+mn-ea"/>
                          <a:cs typeface="+mn-cs"/>
                        </a:rPr>
                        <a:t>사물인터넷</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메타버스</a:t>
                      </a:r>
                      <a:r>
                        <a:rPr lang="en-US" altLang="ko-KR" sz="1100" b="0" i="0" u="none" strike="noStrike" kern="1200" dirty="0">
                          <a:solidFill>
                            <a:srgbClr val="000000"/>
                          </a:solidFill>
                          <a:effectLst/>
                          <a:latin typeface="+mj-ea"/>
                          <a:ea typeface="+mn-ea"/>
                          <a:cs typeface="+mn-cs"/>
                        </a:rPr>
                        <a:t>,</a:t>
                      </a:r>
                      <a:br>
                        <a:rPr lang="en-US" altLang="ko-KR" sz="1100" b="0" i="0" u="none" strike="noStrike" kern="1200" dirty="0">
                          <a:solidFill>
                            <a:srgbClr val="000000"/>
                          </a:solidFill>
                          <a:effectLst/>
                          <a:latin typeface="+mj-ea"/>
                          <a:ea typeface="+mn-ea"/>
                          <a:cs typeface="+mn-cs"/>
                        </a:rPr>
                      </a:br>
                      <a:r>
                        <a:rPr lang="en-US" altLang="ko-KR" sz="1100" b="0" i="0" u="none" strike="noStrike" kern="1200" dirty="0">
                          <a:solidFill>
                            <a:srgbClr val="000000"/>
                          </a:solidFill>
                          <a:effectLst/>
                          <a:latin typeface="+mj-ea"/>
                          <a:ea typeface="+mn-ea"/>
                          <a:cs typeface="+mn-cs"/>
                        </a:rPr>
                        <a:t>5G·6G, </a:t>
                      </a:r>
                      <a:r>
                        <a:rPr lang="ko-KR" altLang="en-US" sz="1100" b="0" i="0" u="none" strike="noStrike" kern="1200" dirty="0">
                          <a:solidFill>
                            <a:srgbClr val="000000"/>
                          </a:solidFill>
                          <a:effectLst/>
                          <a:latin typeface="+mj-ea"/>
                          <a:ea typeface="+mn-ea"/>
                          <a:cs typeface="+mn-cs"/>
                        </a:rPr>
                        <a:t>일반 </a:t>
                      </a:r>
                      <a:r>
                        <a:rPr lang="en-US" altLang="ko-KR" sz="1100" b="0" i="0" u="none" strike="noStrike" kern="1200" dirty="0">
                          <a:solidFill>
                            <a:srgbClr val="000000"/>
                          </a:solidFill>
                          <a:effectLst/>
                          <a:latin typeface="+mj-ea"/>
                          <a:ea typeface="+mn-ea"/>
                          <a:cs typeface="+mn-cs"/>
                        </a:rPr>
                        <a:t>SW, </a:t>
                      </a:r>
                      <a:r>
                        <a:rPr lang="ko-KR" altLang="en-US" sz="1100" b="0" i="0" u="none" strike="noStrike" kern="1200" dirty="0">
                          <a:solidFill>
                            <a:srgbClr val="000000"/>
                          </a:solidFill>
                          <a:effectLst/>
                          <a:latin typeface="+mj-ea"/>
                          <a:ea typeface="+mn-ea"/>
                          <a:cs typeface="+mn-cs"/>
                        </a:rPr>
                        <a:t>블록체인</a:t>
                      </a:r>
                      <a:r>
                        <a:rPr lang="en-US" altLang="ko-KR" sz="1100" b="0" i="0" u="none" strike="noStrike" kern="1200" dirty="0">
                          <a:solidFill>
                            <a:srgbClr val="000000"/>
                          </a:solidFill>
                          <a:effectLst/>
                          <a:latin typeface="+mj-ea"/>
                          <a:ea typeface="+mn-ea"/>
                          <a:cs typeface="+mn-cs"/>
                        </a:rPr>
                        <a:t>, </a:t>
                      </a:r>
                    </a:p>
                    <a:p>
                      <a:pPr algn="ctr" fontAlgn="ctr" latinLnBrk="0"/>
                      <a:r>
                        <a:rPr lang="ko-KR" altLang="en-US" sz="1100" b="0" i="0" u="none" strike="noStrike" kern="1200" dirty="0">
                          <a:solidFill>
                            <a:srgbClr val="000000"/>
                          </a:solidFill>
                          <a:effectLst/>
                          <a:latin typeface="+mj-ea"/>
                          <a:ea typeface="+mn-ea"/>
                          <a:cs typeface="+mn-cs"/>
                        </a:rPr>
                        <a:t>빅데이터</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사이버 보안</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err="1">
                          <a:solidFill>
                            <a:srgbClr val="000000"/>
                          </a:solidFill>
                          <a:effectLst/>
                          <a:latin typeface="+mj-ea"/>
                          <a:ea typeface="+mj-ea"/>
                        </a:rPr>
                        <a:t>김호림</a:t>
                      </a:r>
                      <a:endParaRPr lang="ko-KR" alt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14</a:t>
                      </a:r>
                      <a:r>
                        <a:rPr lang="ko-KR" altLang="en-US" sz="1100" b="0" i="0" u="none" strike="noStrike">
                          <a:solidFill>
                            <a:srgbClr val="000000"/>
                          </a:solidFill>
                          <a:effectLst/>
                          <a:latin typeface="+mj-ea"/>
                          <a:ea typeface="+mj-ea"/>
                        </a:rPr>
                        <a:t>년도 </a:t>
                      </a:r>
                      <a:r>
                        <a:rPr lang="en-US"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문학정보고등학교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 교사</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외 </a:t>
                      </a:r>
                      <a:r>
                        <a:rPr lang="en-US" altLang="ko-KR" sz="1100" b="0" i="0" u="none" strike="noStrike" dirty="0">
                          <a:solidFill>
                            <a:srgbClr val="000000"/>
                          </a:solidFill>
                          <a:effectLst/>
                          <a:latin typeface="+mj-ea"/>
                          <a:ea typeface="+mj-ea"/>
                        </a:rPr>
                        <a:t>33</a:t>
                      </a:r>
                      <a:r>
                        <a:rPr lang="ko-KR" altLang="en-US" sz="1100" b="0" i="0" u="none" strike="noStrike" dirty="0">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1419995"/>
                  </a:ext>
                </a:extLst>
              </a:tr>
              <a:tr h="511506">
                <a:tc>
                  <a:txBody>
                    <a:bodyPr/>
                    <a:lstStyle/>
                    <a:p>
                      <a:pPr algn="ctr" fontAlgn="ctr" latinLnBrk="0"/>
                      <a:r>
                        <a:rPr lang="ko-KR" altLang="en-US" sz="1100" b="0" i="0" u="none" strike="noStrike" dirty="0">
                          <a:solidFill>
                            <a:srgbClr val="000000"/>
                          </a:solidFill>
                          <a:effectLst/>
                          <a:latin typeface="+mj-ea"/>
                          <a:ea typeface="+mj-ea"/>
                        </a:rPr>
                        <a:t>전기전자</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a:solidFill>
                            <a:srgbClr val="000000"/>
                          </a:solidFill>
                          <a:effectLst/>
                          <a:latin typeface="+mj-ea"/>
                          <a:ea typeface="+mn-ea"/>
                          <a:cs typeface="+mn-cs"/>
                        </a:rPr>
                        <a:t>일반 </a:t>
                      </a:r>
                      <a:r>
                        <a:rPr lang="en-US" altLang="ko-KR" sz="1100" b="0" i="0" u="none" strike="noStrike" kern="1200" dirty="0">
                          <a:solidFill>
                            <a:srgbClr val="000000"/>
                          </a:solidFill>
                          <a:effectLst/>
                          <a:latin typeface="+mj-ea"/>
                          <a:ea typeface="+mn-ea"/>
                          <a:cs typeface="+mn-cs"/>
                        </a:rPr>
                        <a:t>SW, </a:t>
                      </a:r>
                      <a:r>
                        <a:rPr lang="ko-KR" altLang="en-US" sz="1100" b="0" i="0" u="none" strike="noStrike" kern="1200" dirty="0">
                          <a:solidFill>
                            <a:srgbClr val="000000"/>
                          </a:solidFill>
                          <a:effectLst/>
                          <a:latin typeface="+mj-ea"/>
                          <a:ea typeface="+mn-ea"/>
                          <a:cs typeface="+mn-cs"/>
                        </a:rPr>
                        <a:t>이차전지</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디스플레이</a:t>
                      </a:r>
                      <a:r>
                        <a:rPr lang="en-US" altLang="ko-KR" sz="1100" b="0" i="0" u="none" strike="noStrike" kern="1200" dirty="0">
                          <a:solidFill>
                            <a:srgbClr val="000000"/>
                          </a:solidFill>
                          <a:effectLst/>
                          <a:latin typeface="+mj-ea"/>
                          <a:ea typeface="+mn-ea"/>
                          <a:cs typeface="+mn-cs"/>
                        </a:rPr>
                        <a:t>, </a:t>
                      </a:r>
                    </a:p>
                    <a:p>
                      <a:pPr algn="ctr" fontAlgn="ctr" latinLnBrk="0"/>
                      <a:r>
                        <a:rPr lang="en-US" altLang="ko-KR" sz="1100" b="0" i="0" u="none" strike="noStrike" kern="1200" dirty="0">
                          <a:solidFill>
                            <a:srgbClr val="000000"/>
                          </a:solidFill>
                          <a:effectLst/>
                          <a:latin typeface="+mj-ea"/>
                          <a:ea typeface="+mn-ea"/>
                          <a:cs typeface="+mn-cs"/>
                        </a:rPr>
                        <a:t>3D</a:t>
                      </a:r>
                      <a:r>
                        <a:rPr lang="ko-KR" altLang="en-US" sz="1100" b="0" i="0" u="none" strike="noStrike" kern="1200" dirty="0">
                          <a:solidFill>
                            <a:srgbClr val="000000"/>
                          </a:solidFill>
                          <a:effectLst/>
                          <a:latin typeface="+mj-ea"/>
                          <a:ea typeface="+mn-ea"/>
                          <a:cs typeface="+mn-cs"/>
                        </a:rPr>
                        <a:t>프린팅</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반도체</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로봇</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김진수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16</a:t>
                      </a:r>
                      <a:r>
                        <a:rPr lang="ko-KR" altLang="en-US" sz="1100" b="0" i="0" u="none" strike="noStrike">
                          <a:solidFill>
                            <a:srgbClr val="000000"/>
                          </a:solidFill>
                          <a:effectLst/>
                          <a:latin typeface="+mj-ea"/>
                          <a:ea typeface="+mj-ea"/>
                        </a:rPr>
                        <a:t>년도 </a:t>
                      </a:r>
                      <a:r>
                        <a:rPr lang="en-US" altLang="ko-KR" sz="1100" b="0" i="0" u="none" strike="noStrike">
                          <a:solidFill>
                            <a:srgbClr val="000000"/>
                          </a:solidFill>
                          <a:effectLst/>
                          <a:latin typeface="+mj-ea"/>
                          <a:ea typeface="+mj-ea"/>
                        </a:rPr>
                        <a:t>NCS 1</a:t>
                      </a:r>
                      <a:r>
                        <a:rPr lang="ko-KR" altLang="en-US" sz="1100" b="0" i="0" u="none" strike="noStrike">
                          <a:solidFill>
                            <a:srgbClr val="000000"/>
                          </a:solidFill>
                          <a:effectLst/>
                          <a:latin typeface="+mj-ea"/>
                          <a:ea typeface="+mj-ea"/>
                        </a:rPr>
                        <a:t>차 개발위원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용인송담대학교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24</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5324271"/>
                  </a:ext>
                </a:extLst>
              </a:tr>
              <a:tr h="259442">
                <a:tc>
                  <a:txBody>
                    <a:bodyPr/>
                    <a:lstStyle/>
                    <a:p>
                      <a:pPr algn="ctr" fontAlgn="ctr" latinLnBrk="0"/>
                      <a:r>
                        <a:rPr lang="ko-KR" altLang="en-US" sz="1100" b="0" i="0" u="none" strike="noStrike" dirty="0">
                          <a:solidFill>
                            <a:srgbClr val="000000"/>
                          </a:solidFill>
                          <a:effectLst/>
                          <a:latin typeface="+mj-ea"/>
                          <a:ea typeface="+mj-ea"/>
                        </a:rPr>
                        <a:t>재료</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a:solidFill>
                            <a:srgbClr val="000000"/>
                          </a:solidFill>
                          <a:effectLst/>
                          <a:latin typeface="+mj-ea"/>
                          <a:ea typeface="+mn-ea"/>
                          <a:cs typeface="+mn-cs"/>
                        </a:rPr>
                        <a:t>나노</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로봇</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김영기</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dirty="0">
                          <a:solidFill>
                            <a:srgbClr val="000000"/>
                          </a:solidFill>
                          <a:effectLst/>
                          <a:latin typeface="+mj-ea"/>
                          <a:ea typeface="+mj-ea"/>
                        </a:rPr>
                        <a:t>16</a:t>
                      </a:r>
                      <a:r>
                        <a:rPr lang="ko-KR" altLang="en-US" sz="1100" b="0" i="0" u="none" strike="noStrike" dirty="0">
                          <a:solidFill>
                            <a:srgbClr val="000000"/>
                          </a:solidFill>
                          <a:effectLst/>
                          <a:latin typeface="+mj-ea"/>
                          <a:ea typeface="+mj-ea"/>
                        </a:rPr>
                        <a:t>년도 </a:t>
                      </a:r>
                      <a:r>
                        <a:rPr lang="en-US" altLang="ko-KR" sz="1100" b="0" i="0" u="none" strike="noStrike" dirty="0">
                          <a:solidFill>
                            <a:srgbClr val="000000"/>
                          </a:solidFill>
                          <a:effectLst/>
                          <a:latin typeface="+mj-ea"/>
                          <a:ea typeface="+mj-ea"/>
                        </a:rPr>
                        <a:t>NCS 1</a:t>
                      </a:r>
                      <a:r>
                        <a:rPr lang="ko-KR" altLang="en-US" sz="1100" b="0" i="0" u="none" strike="noStrike" dirty="0">
                          <a:solidFill>
                            <a:srgbClr val="000000"/>
                          </a:solidFill>
                          <a:effectLst/>
                          <a:latin typeface="+mj-ea"/>
                          <a:ea typeface="+mj-ea"/>
                        </a:rPr>
                        <a:t>차 개발위원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신성대학교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7</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5330093"/>
                  </a:ext>
                </a:extLst>
              </a:tr>
              <a:tr h="259442">
                <a:tc>
                  <a:txBody>
                    <a:bodyPr/>
                    <a:lstStyle/>
                    <a:p>
                      <a:pPr algn="ctr" fontAlgn="ctr" latinLnBrk="0"/>
                      <a:r>
                        <a:rPr lang="ko-KR" altLang="en-US" sz="1100" b="0" i="0" u="none" strike="noStrike" dirty="0" err="1">
                          <a:solidFill>
                            <a:srgbClr val="000000"/>
                          </a:solidFill>
                          <a:effectLst/>
                          <a:latin typeface="+mj-ea"/>
                          <a:ea typeface="+mj-ea"/>
                        </a:rPr>
                        <a:t>화학바이오</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err="1">
                          <a:solidFill>
                            <a:srgbClr val="000000"/>
                          </a:solidFill>
                          <a:effectLst/>
                          <a:latin typeface="+mj-ea"/>
                          <a:ea typeface="+mn-ea"/>
                          <a:cs typeface="+mn-cs"/>
                        </a:rPr>
                        <a:t>바이오헬스</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첨단소재</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나노</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양대륙</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13</a:t>
                      </a:r>
                      <a:r>
                        <a:rPr lang="ko-KR" altLang="en-US" sz="1100" b="0" i="0" u="none" strike="noStrike">
                          <a:solidFill>
                            <a:srgbClr val="000000"/>
                          </a:solidFill>
                          <a:effectLst/>
                          <a:latin typeface="+mj-ea"/>
                          <a:ea typeface="+mj-ea"/>
                        </a:rPr>
                        <a:t>년도 </a:t>
                      </a:r>
                      <a:r>
                        <a:rPr lang="en-US" altLang="ko-KR"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개발전문가</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고려대학교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38</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32377"/>
                  </a:ext>
                </a:extLst>
              </a:tr>
              <a:tr h="259442">
                <a:tc>
                  <a:txBody>
                    <a:bodyPr/>
                    <a:lstStyle/>
                    <a:p>
                      <a:pPr algn="ctr" fontAlgn="ctr" latinLnBrk="0"/>
                      <a:r>
                        <a:rPr lang="ko-KR" altLang="en-US" sz="1100" b="0" i="0" u="none" strike="noStrike" dirty="0">
                          <a:solidFill>
                            <a:srgbClr val="000000"/>
                          </a:solidFill>
                          <a:effectLst/>
                          <a:latin typeface="+mj-ea"/>
                          <a:ea typeface="+mj-ea"/>
                        </a:rPr>
                        <a:t>환경에너지안전</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err="1">
                          <a:solidFill>
                            <a:srgbClr val="000000"/>
                          </a:solidFill>
                          <a:effectLst/>
                          <a:latin typeface="+mj-ea"/>
                          <a:ea typeface="+mn-ea"/>
                          <a:cs typeface="+mn-cs"/>
                        </a:rPr>
                        <a:t>에코업</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신재생에너지</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수소</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err="1">
                          <a:solidFill>
                            <a:srgbClr val="000000"/>
                          </a:solidFill>
                          <a:effectLst/>
                          <a:latin typeface="+mj-ea"/>
                          <a:ea typeface="+mj-ea"/>
                        </a:rPr>
                        <a:t>서용찬</a:t>
                      </a:r>
                      <a:endParaRPr lang="ko-KR" alt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14</a:t>
                      </a:r>
                      <a:r>
                        <a:rPr lang="ko-KR" altLang="en-US" sz="1100" b="0" i="0" u="none" strike="noStrike">
                          <a:solidFill>
                            <a:srgbClr val="000000"/>
                          </a:solidFill>
                          <a:effectLst/>
                          <a:latin typeface="+mj-ea"/>
                          <a:ea typeface="+mj-ea"/>
                        </a:rPr>
                        <a:t>년도 </a:t>
                      </a:r>
                      <a:r>
                        <a:rPr lang="en-US"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상지대학교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91</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413643"/>
                  </a:ext>
                </a:extLst>
              </a:tr>
              <a:tr h="511506">
                <a:tc>
                  <a:txBody>
                    <a:bodyPr/>
                    <a:lstStyle/>
                    <a:p>
                      <a:pPr algn="ctr" fontAlgn="ctr" latinLnBrk="0"/>
                      <a:r>
                        <a:rPr lang="ko-KR" altLang="en-US" sz="1100" b="0" i="0" u="none" strike="noStrike" dirty="0" err="1">
                          <a:solidFill>
                            <a:srgbClr val="000000"/>
                          </a:solidFill>
                          <a:effectLst/>
                          <a:latin typeface="+mj-ea"/>
                          <a:ea typeface="+mj-ea"/>
                        </a:rPr>
                        <a:t>인쇄목재가구공예</a:t>
                      </a:r>
                      <a:endParaRPr lang="ko-KR" altLang="en-US"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endParaRPr lang="ko-KR" alt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err="1">
                          <a:solidFill>
                            <a:srgbClr val="000000"/>
                          </a:solidFill>
                          <a:effectLst/>
                          <a:latin typeface="+mj-ea"/>
                          <a:ea typeface="+mj-ea"/>
                        </a:rPr>
                        <a:t>김화찬</a:t>
                      </a:r>
                      <a:endParaRPr lang="ko-KR" alt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유사직종 자격 보유</a:t>
                      </a:r>
                      <a:r>
                        <a:rPr lang="en-US" altLang="ko-KR" sz="1100" b="0" i="0" u="none" strike="noStrike" dirty="0">
                          <a:solidFill>
                            <a:srgbClr val="000000"/>
                          </a:solidFill>
                          <a:effectLst/>
                          <a:latin typeface="+mj-ea"/>
                          <a:ea typeface="+mj-ea"/>
                        </a:rPr>
                        <a:t>,</a:t>
                      </a:r>
                      <a:br>
                        <a:rPr lang="en-US" altLang="ko-KR" sz="1100" b="0" i="0" u="none" strike="noStrike" dirty="0">
                          <a:solidFill>
                            <a:srgbClr val="000000"/>
                          </a:solidFill>
                          <a:effectLst/>
                          <a:latin typeface="+mj-ea"/>
                          <a:ea typeface="+mj-ea"/>
                        </a:rPr>
                      </a:br>
                      <a:r>
                        <a:rPr lang="ko-KR" altLang="en-US" sz="1100" b="0" i="0" u="none" strike="noStrike" dirty="0">
                          <a:solidFill>
                            <a:srgbClr val="000000"/>
                          </a:solidFill>
                          <a:effectLst/>
                          <a:latin typeface="+mj-ea"/>
                          <a:ea typeface="+mj-ea"/>
                        </a:rPr>
                        <a:t>해당 훈련과정 편성</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대한상공회의소</a:t>
                      </a:r>
                      <a:endParaRPr lang="en-US" altLang="ko-KR" sz="1100" b="0" i="0" u="none" strike="noStrike" dirty="0">
                        <a:solidFill>
                          <a:srgbClr val="000000"/>
                        </a:solidFill>
                        <a:effectLst/>
                        <a:latin typeface="+mj-ea"/>
                        <a:ea typeface="+mj-ea"/>
                      </a:endParaRPr>
                    </a:p>
                    <a:p>
                      <a:pPr algn="ctr" fontAlgn="ctr" latinLnBrk="0"/>
                      <a:r>
                        <a:rPr lang="ko-KR" altLang="en-US" sz="1100" b="0" i="0" u="none" strike="noStrike" dirty="0">
                          <a:solidFill>
                            <a:srgbClr val="000000"/>
                          </a:solidFill>
                          <a:effectLst/>
                          <a:latin typeface="+mj-ea"/>
                          <a:ea typeface="+mj-ea"/>
                        </a:rPr>
                        <a:t>인천인력개발원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　</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5</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2817227"/>
                  </a:ext>
                </a:extLst>
              </a:tr>
              <a:tr h="259442">
                <a:tc>
                  <a:txBody>
                    <a:bodyPr/>
                    <a:lstStyle/>
                    <a:p>
                      <a:pPr algn="ctr" fontAlgn="ctr" latinLnBrk="0"/>
                      <a:r>
                        <a:rPr lang="ko-KR" altLang="en-US" sz="1100" b="0" i="0" u="none" strike="noStrike" dirty="0">
                          <a:solidFill>
                            <a:srgbClr val="000000"/>
                          </a:solidFill>
                          <a:effectLst/>
                          <a:latin typeface="+mj-ea"/>
                          <a:ea typeface="+mj-ea"/>
                        </a:rPr>
                        <a:t>문화예술디자인방송</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kern="1200" dirty="0">
                          <a:solidFill>
                            <a:srgbClr val="000000"/>
                          </a:solidFill>
                          <a:effectLst/>
                          <a:latin typeface="+mj-ea"/>
                          <a:ea typeface="+mn-ea"/>
                          <a:cs typeface="+mn-cs"/>
                        </a:rPr>
                        <a:t>3D</a:t>
                      </a:r>
                      <a:r>
                        <a:rPr lang="ko-KR" altLang="en-US" sz="1100" b="0" i="0" u="none" strike="noStrike" kern="1200" dirty="0">
                          <a:solidFill>
                            <a:srgbClr val="000000"/>
                          </a:solidFill>
                          <a:effectLst/>
                          <a:latin typeface="+mj-ea"/>
                          <a:ea typeface="+mn-ea"/>
                          <a:cs typeface="+mn-cs"/>
                        </a:rPr>
                        <a:t>프린팅</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err="1">
                          <a:solidFill>
                            <a:srgbClr val="000000"/>
                          </a:solidFill>
                          <a:effectLst/>
                          <a:latin typeface="+mj-ea"/>
                          <a:ea typeface="+mn-ea"/>
                          <a:cs typeface="+mn-cs"/>
                        </a:rPr>
                        <a:t>드론</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이완복</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dirty="0">
                          <a:solidFill>
                            <a:srgbClr val="000000"/>
                          </a:solidFill>
                          <a:effectLst/>
                          <a:latin typeface="+mj-ea"/>
                          <a:ea typeface="+mj-ea"/>
                        </a:rPr>
                        <a:t>14</a:t>
                      </a:r>
                      <a:r>
                        <a:rPr lang="ko-KR" altLang="en-US" sz="1100" b="0" i="0" u="none" strike="noStrike" dirty="0">
                          <a:solidFill>
                            <a:srgbClr val="000000"/>
                          </a:solidFill>
                          <a:effectLst/>
                          <a:latin typeface="+mj-ea"/>
                          <a:ea typeface="+mj-ea"/>
                        </a:rPr>
                        <a:t>년도 </a:t>
                      </a:r>
                      <a:r>
                        <a:rPr lang="en-US" sz="1100" b="0" i="0" u="none" strike="noStrike" dirty="0">
                          <a:solidFill>
                            <a:srgbClr val="000000"/>
                          </a:solidFill>
                          <a:effectLst/>
                          <a:latin typeface="+mj-ea"/>
                          <a:ea typeface="+mj-ea"/>
                        </a:rPr>
                        <a:t>NCS </a:t>
                      </a:r>
                      <a:r>
                        <a:rPr lang="ko-KR" altLang="en-US" sz="1100" b="0" i="0" u="none" strike="noStrike" dirty="0">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오산대학교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47</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2302039"/>
                  </a:ext>
                </a:extLst>
              </a:tr>
              <a:tr h="259442">
                <a:tc>
                  <a:txBody>
                    <a:bodyPr/>
                    <a:lstStyle/>
                    <a:p>
                      <a:pPr algn="ctr" fontAlgn="ctr" latinLnBrk="0"/>
                      <a:r>
                        <a:rPr lang="ko-KR" altLang="en-US" sz="1100" b="0" i="0" u="none" strike="noStrike" dirty="0">
                          <a:solidFill>
                            <a:srgbClr val="000000"/>
                          </a:solidFill>
                          <a:effectLst/>
                          <a:latin typeface="+mj-ea"/>
                          <a:ea typeface="+mj-ea"/>
                        </a:rPr>
                        <a:t>운전운송</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a:solidFill>
                            <a:srgbClr val="000000"/>
                          </a:solidFill>
                          <a:effectLst/>
                          <a:latin typeface="+mj-ea"/>
                          <a:ea typeface="+mn-ea"/>
                          <a:cs typeface="+mn-cs"/>
                        </a:rPr>
                        <a:t>사이버 보안</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김철록</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14</a:t>
                      </a:r>
                      <a:r>
                        <a:rPr lang="ko-KR" altLang="en-US" sz="1100" b="0" i="0" u="none" strike="noStrike">
                          <a:solidFill>
                            <a:srgbClr val="000000"/>
                          </a:solidFill>
                          <a:effectLst/>
                          <a:latin typeface="+mj-ea"/>
                          <a:ea typeface="+mj-ea"/>
                        </a:rPr>
                        <a:t>년도 </a:t>
                      </a:r>
                      <a:r>
                        <a:rPr lang="en-US"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부산해사고등학교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교사</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외 </a:t>
                      </a:r>
                      <a:r>
                        <a:rPr lang="en-US" altLang="ko-KR" sz="1100" b="0" i="0" u="none" strike="noStrike" dirty="0">
                          <a:solidFill>
                            <a:srgbClr val="000000"/>
                          </a:solidFill>
                          <a:effectLst/>
                          <a:latin typeface="+mj-ea"/>
                          <a:ea typeface="+mj-ea"/>
                        </a:rPr>
                        <a:t>56</a:t>
                      </a:r>
                      <a:r>
                        <a:rPr lang="ko-KR" altLang="en-US" sz="1100" b="0" i="0" u="none" strike="noStrike" dirty="0">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1411665"/>
                  </a:ext>
                </a:extLst>
              </a:tr>
              <a:tr h="259442">
                <a:tc gridSpan="6">
                  <a:txBody>
                    <a:bodyPr/>
                    <a:lstStyle/>
                    <a:p>
                      <a:pPr algn="ctr" fontAlgn="ctr" latinLnBrk="0"/>
                      <a:r>
                        <a:rPr lang="ko-KR" altLang="en-US" sz="1100" b="0" i="0" u="none" strike="noStrike" dirty="0">
                          <a:solidFill>
                            <a:srgbClr val="000000"/>
                          </a:solidFill>
                          <a:effectLst/>
                          <a:latin typeface="+mj-ea"/>
                          <a:ea typeface="+mj-ea"/>
                        </a:rPr>
                        <a:t>합계</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algn="ctr" fontAlgn="ctr"/>
                      <a:endParaRPr lang="ko-KR" altLang="en-US" sz="1200" b="0" i="0" u="none" strike="noStrike" dirty="0">
                        <a:solidFill>
                          <a:srgbClr val="000000"/>
                        </a:solidFill>
                        <a:effectLst/>
                        <a:latin typeface="+mj-ea"/>
                        <a:ea typeface="+mj-ea"/>
                      </a:endParaRPr>
                    </a:p>
                  </a:txBody>
                  <a:tcPr marL="4907" marR="4907" marT="49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200" b="0" i="0" u="none" strike="noStrike" dirty="0">
                        <a:solidFill>
                          <a:srgbClr val="000000"/>
                        </a:solidFill>
                        <a:effectLst/>
                        <a:latin typeface="+mj-ea"/>
                        <a:ea typeface="+mj-ea"/>
                      </a:endParaRPr>
                    </a:p>
                  </a:txBody>
                  <a:tcPr marL="4907" marR="4907" marT="49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200" b="0" i="0" u="none" strike="noStrike" dirty="0">
                        <a:solidFill>
                          <a:srgbClr val="000000"/>
                        </a:solidFill>
                        <a:effectLst/>
                        <a:latin typeface="+mj-ea"/>
                        <a:ea typeface="+mj-ea"/>
                      </a:endParaRPr>
                    </a:p>
                  </a:txBody>
                  <a:tcPr marL="4907" marR="4907" marT="49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200" b="0" i="0" u="none" strike="noStrike" dirty="0">
                        <a:solidFill>
                          <a:srgbClr val="000000"/>
                        </a:solidFill>
                        <a:effectLst/>
                        <a:latin typeface="+mj-ea"/>
                        <a:ea typeface="+mj-ea"/>
                      </a:endParaRPr>
                    </a:p>
                  </a:txBody>
                  <a:tcPr marL="4907" marR="4907" marT="49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ko-KR" sz="1100" b="0" i="0" u="none" strike="noStrike" dirty="0">
                          <a:solidFill>
                            <a:srgbClr val="000000"/>
                          </a:solidFill>
                          <a:effectLst/>
                          <a:latin typeface="+mj-ea"/>
                          <a:ea typeface="+mj-ea"/>
                        </a:rPr>
                        <a:t>465</a:t>
                      </a:r>
                      <a:r>
                        <a:rPr lang="ko-KR" altLang="en-US" sz="1100" b="0" i="0" u="none" strike="noStrike" dirty="0">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63235349"/>
                  </a:ext>
                </a:extLst>
              </a:tr>
            </a:tbl>
          </a:graphicData>
        </a:graphic>
      </p:graphicFrame>
    </p:spTree>
    <p:extLst>
      <p:ext uri="{BB962C8B-B14F-4D97-AF65-F5344CB8AC3E}">
        <p14:creationId xmlns:p14="http://schemas.microsoft.com/office/powerpoint/2010/main" val="6436016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0B076FBA-6EA1-42D2-5D8C-562FA57002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6000" cy="6857999"/>
          </a:xfrm>
          <a:prstGeom prst="rect">
            <a:avLst/>
          </a:prstGeom>
        </p:spPr>
      </p:pic>
      <p:pic>
        <p:nvPicPr>
          <p:cNvPr id="7" name="Picture 3">
            <a:extLst>
              <a:ext uri="{FF2B5EF4-FFF2-40B4-BE49-F238E27FC236}">
                <a16:creationId xmlns:a16="http://schemas.microsoft.com/office/drawing/2014/main" id="{B196DC1E-BF00-F2CC-C17F-0A7420A40D4A}"/>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268924" cy="6858000"/>
          </a:xfrm>
          <a:prstGeom prst="rect">
            <a:avLst/>
          </a:prstGeom>
          <a:pattFill prst="horzBrick">
            <a:fgClr>
              <a:schemeClr val="bg1">
                <a:lumMod val="75000"/>
              </a:schemeClr>
            </a:fgClr>
            <a:bgClr>
              <a:schemeClr val="bg1"/>
            </a:bgClr>
          </a:pattFill>
          <a:ln>
            <a:noFill/>
          </a:ln>
        </p:spPr>
      </p:pic>
      <p:sp>
        <p:nvSpPr>
          <p:cNvPr id="10" name="Text Placeholder 1">
            <a:extLst>
              <a:ext uri="{FF2B5EF4-FFF2-40B4-BE49-F238E27FC236}">
                <a16:creationId xmlns:a16="http://schemas.microsoft.com/office/drawing/2014/main" id="{1443B975-AAA4-30EE-D241-A50BCD719787}"/>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kumimoji="0" lang="en-US" altLang="ko-KR"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Ⅳ</a:t>
            </a:r>
            <a:r>
              <a:rPr kumimoji="0" lang="en-US" altLang="ko-KR" sz="2500" b="0" i="0" u="none" strike="noStrike" kern="120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sym typeface="+mn-lt"/>
              </a:rPr>
              <a:t>. </a:t>
            </a:r>
            <a:r>
              <a:rPr lang="ko-KR" altLang="en-US" sz="2500" dirty="0">
                <a:solidFill>
                  <a:srgbClr val="000000"/>
                </a:solidFill>
                <a:ea typeface="a고딕14" panose="02020600000000000000" pitchFamily="18" charset="-127"/>
              </a:rPr>
              <a:t>제안업체 일반 </a:t>
            </a:r>
            <a:endParaRPr kumimoji="0" lang="ko-KR" altLang="en-US" sz="2500" b="0" i="0" u="none" strike="noStrike" kern="1200" cap="none" spc="0" normalizeH="0" baseline="0" noProof="0" dirty="0">
              <a:ln>
                <a:noFill/>
              </a:ln>
              <a:solidFill>
                <a:srgbClr val="000000"/>
              </a:solidFill>
              <a:effectLst/>
              <a:uLnTx/>
              <a:uFillTx/>
              <a:latin typeface="Arial Narrow"/>
              <a:ea typeface="a고딕14" panose="02020600000000000000" pitchFamily="18" charset="-127"/>
              <a:cs typeface="+mn-cs"/>
              <a:sym typeface="+mn-lt"/>
            </a:endParaRPr>
          </a:p>
        </p:txBody>
      </p:sp>
      <p:sp>
        <p:nvSpPr>
          <p:cNvPr id="11" name="Text Placeholder 1">
            <a:extLst>
              <a:ext uri="{FF2B5EF4-FFF2-40B4-BE49-F238E27FC236}">
                <a16:creationId xmlns:a16="http://schemas.microsoft.com/office/drawing/2014/main" id="{9CEBE222-CAFE-BAD3-0842-FF5BA33A0F21}"/>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일반현황</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유사용역 수행실적</a:t>
            </a:r>
          </a:p>
        </p:txBody>
      </p:sp>
    </p:spTree>
    <p:extLst>
      <p:ext uri="{BB962C8B-B14F-4D97-AF65-F5344CB8AC3E}">
        <p14:creationId xmlns:p14="http://schemas.microsoft.com/office/powerpoint/2010/main" val="3126886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Ⅳ</a:t>
            </a:r>
            <a:r>
              <a:rPr lang="en-US" altLang="ko-KR" dirty="0">
                <a:latin typeface="+mn-ea"/>
                <a:ea typeface="+mn-ea"/>
              </a:rPr>
              <a:t>. </a:t>
            </a:r>
            <a:r>
              <a:rPr lang="ko-KR" altLang="en-US" dirty="0" err="1">
                <a:latin typeface="+mn-ea"/>
                <a:ea typeface="+mn-ea"/>
              </a:rPr>
              <a:t>제안업체</a:t>
            </a:r>
            <a:r>
              <a:rPr lang="ko-KR" altLang="en-US" dirty="0">
                <a:latin typeface="+mn-ea"/>
                <a:ea typeface="+mn-ea"/>
              </a:rPr>
              <a:t> 일반</a:t>
            </a:r>
            <a:endParaRPr lang="en-US" altLang="ko-KR" dirty="0">
              <a:latin typeface="+mn-ea"/>
              <a:ea typeface="+mn-ea"/>
            </a:endParaRPr>
          </a:p>
          <a:p>
            <a:pPr latinLnBrk="0"/>
            <a:r>
              <a:rPr lang="en-US" altLang="ko-KR" dirty="0">
                <a:latin typeface="+mn-ea"/>
              </a:rPr>
              <a:t>1. </a:t>
            </a:r>
            <a:r>
              <a:rPr lang="ko-KR" altLang="en-US" dirty="0">
                <a:latin typeface="+mn-ea"/>
              </a:rPr>
              <a:t>일반현황</a:t>
            </a:r>
          </a:p>
        </p:txBody>
      </p:sp>
      <p:sp>
        <p:nvSpPr>
          <p:cNvPr id="15" name="직사각형 14"/>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16" name="텍스트 개체 틀 2"/>
          <p:cNvSpPr>
            <a:spLocks noGrp="1"/>
          </p:cNvSpPr>
          <p:nvPr>
            <p:ph type="body" sz="quarter" idx="15"/>
          </p:nvPr>
        </p:nvSpPr>
        <p:spPr>
          <a:xfrm>
            <a:off x="704528" y="252749"/>
            <a:ext cx="6156684" cy="331935"/>
          </a:xfrm>
        </p:spPr>
        <p:txBody>
          <a:bodyPr/>
          <a:lstStyle/>
          <a:p>
            <a:pPr latinLnBrk="0"/>
            <a:r>
              <a:rPr lang="ko-KR" altLang="en-US" dirty="0" err="1"/>
              <a:t>제안사</a:t>
            </a:r>
            <a:r>
              <a:rPr lang="ko-KR" altLang="en-US" dirty="0"/>
              <a:t> 일반현황 및 주요 연혁 </a:t>
            </a:r>
            <a:endParaRPr lang="en-US" altLang="ko-KR" dirty="0"/>
          </a:p>
        </p:txBody>
      </p:sp>
      <p:sp>
        <p:nvSpPr>
          <p:cNvPr id="20"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3"/>
            <a:ext cx="8749097" cy="376086"/>
          </a:xfrm>
        </p:spPr>
        <p:txBody>
          <a:bodyPr/>
          <a:lstStyle/>
          <a:p>
            <a:pPr latinLnBrk="0"/>
            <a:r>
              <a:rPr lang="ko-KR" altLang="en-US" dirty="0" err="1"/>
              <a:t>제안사는</a:t>
            </a:r>
            <a:r>
              <a:rPr lang="ko-KR" altLang="en-US" dirty="0"/>
              <a:t> 전문지식과 다양한 프로젝트 수행 노하우를 바탕으로 </a:t>
            </a:r>
            <a:r>
              <a:rPr lang="ko-KR" altLang="en-US" dirty="0" err="1"/>
              <a:t>고객사가</a:t>
            </a:r>
            <a:r>
              <a:rPr lang="ko-KR" altLang="en-US" dirty="0"/>
              <a:t> 당면한 문제에 대하여 최적화된 솔루션과 파트너십을 제공하고 있음</a:t>
            </a:r>
          </a:p>
        </p:txBody>
      </p:sp>
      <p:grpSp>
        <p:nvGrpSpPr>
          <p:cNvPr id="99" name="그룹 98"/>
          <p:cNvGrpSpPr/>
          <p:nvPr/>
        </p:nvGrpSpPr>
        <p:grpSpPr>
          <a:xfrm>
            <a:off x="596514" y="1412776"/>
            <a:ext cx="2879067" cy="338802"/>
            <a:chOff x="292658" y="1350630"/>
            <a:chExt cx="3182923" cy="338802"/>
          </a:xfrm>
        </p:grpSpPr>
        <p:sp>
          <p:nvSpPr>
            <p:cNvPr id="100" name="TextBox 99"/>
            <p:cNvSpPr txBox="1"/>
            <p:nvPr/>
          </p:nvSpPr>
          <p:spPr>
            <a:xfrm>
              <a:off x="310691" y="1350630"/>
              <a:ext cx="2635611" cy="309982"/>
            </a:xfrm>
            <a:prstGeom prst="rect">
              <a:avLst/>
            </a:prstGeom>
            <a:noFill/>
          </p:spPr>
          <p:txBody>
            <a:bodyPr wrap="square" lIns="93624" tIns="46812" rIns="93624" bIns="46812" rtlCol="0">
              <a:spAutoFit/>
            </a:bodyPr>
            <a:lstStyle/>
            <a:p>
              <a:pPr algn="l" eaLnBrk="1" fontAlgn="auto" latinLnBrk="0" hangingPunct="1">
                <a:spcBef>
                  <a:spcPts val="0"/>
                </a:spcBef>
                <a:spcAft>
                  <a:spcPts val="0"/>
                </a:spcAft>
                <a:buFont typeface="Wingdings" pitchFamily="2" charset="2"/>
                <a:buNone/>
                <a:defRPr/>
              </a:pPr>
              <a:r>
                <a:rPr lang="ko-KR" altLang="en-US" sz="1400" b="1" kern="0" dirty="0">
                  <a:ln>
                    <a:solidFill>
                      <a:srgbClr val="4F81BD">
                        <a:alpha val="0"/>
                      </a:srgbClr>
                    </a:solidFill>
                  </a:ln>
                  <a:solidFill>
                    <a:srgbClr val="003F56"/>
                  </a:solidFill>
                  <a:latin typeface="Arial Narrow" panose="020B0606020202030204" pitchFamily="34" charset="0"/>
                  <a:ea typeface="a고딕14" panose="02020600000000000000" pitchFamily="18" charset="-127"/>
                  <a:cs typeface="Ebrima" pitchFamily="2" charset="0"/>
                </a:rPr>
                <a:t>일반현황</a:t>
              </a:r>
            </a:p>
          </p:txBody>
        </p:sp>
        <p:sp>
          <p:nvSpPr>
            <p:cNvPr id="101" name="직사각형 100"/>
            <p:cNvSpPr/>
            <p:nvPr/>
          </p:nvSpPr>
          <p:spPr>
            <a:xfrm flipV="1">
              <a:off x="292658" y="1660632"/>
              <a:ext cx="3182923" cy="28800"/>
            </a:xfrm>
            <a:prstGeom prst="rect">
              <a:avLst/>
            </a:prstGeom>
            <a:solidFill>
              <a:srgbClr val="003F56"/>
            </a:solidFill>
            <a:ln w="12700" cap="flat" cmpd="sng" algn="ctr">
              <a:noFill/>
              <a:prstDash val="solid"/>
              <a:miter lim="800000"/>
            </a:ln>
            <a:effectLst/>
          </p:spPr>
          <p:txBody>
            <a:bodyPr lIns="93624" tIns="46812" rIns="93624" bIns="46812" rtlCol="0" anchor="ctr"/>
            <a:lstStyle/>
            <a:p>
              <a:pPr eaLnBrk="1" fontAlgn="auto" latinLnBrk="0" hangingPunct="1">
                <a:spcBef>
                  <a:spcPts val="0"/>
                </a:spcBef>
                <a:spcAft>
                  <a:spcPts val="0"/>
                </a:spcAft>
                <a:buFont typeface="Wingdings" pitchFamily="2" charset="2"/>
                <a:buNone/>
                <a:defRPr/>
              </a:pPr>
              <a:endParaRPr lang="ko-KR" altLang="en-US" sz="1853" kern="0" dirty="0">
                <a:ln>
                  <a:solidFill>
                    <a:srgbClr val="4F81BD">
                      <a:alpha val="0"/>
                    </a:srgbClr>
                  </a:solidFill>
                </a:ln>
                <a:solidFill>
                  <a:prstClr val="white"/>
                </a:solidFill>
                <a:latin typeface="맑은 고딕" panose="020F0502020204030204"/>
              </a:endParaRPr>
            </a:p>
          </p:txBody>
        </p:sp>
      </p:grpSp>
      <p:grpSp>
        <p:nvGrpSpPr>
          <p:cNvPr id="102" name="그룹 101"/>
          <p:cNvGrpSpPr/>
          <p:nvPr/>
        </p:nvGrpSpPr>
        <p:grpSpPr>
          <a:xfrm>
            <a:off x="3537935" y="1412776"/>
            <a:ext cx="5823988" cy="338802"/>
            <a:chOff x="3537934" y="1350630"/>
            <a:chExt cx="6124795" cy="338802"/>
          </a:xfrm>
        </p:grpSpPr>
        <p:sp>
          <p:nvSpPr>
            <p:cNvPr id="103" name="TextBox 102"/>
            <p:cNvSpPr txBox="1"/>
            <p:nvPr/>
          </p:nvSpPr>
          <p:spPr>
            <a:xfrm>
              <a:off x="3551051" y="1350630"/>
              <a:ext cx="2635611" cy="309982"/>
            </a:xfrm>
            <a:prstGeom prst="rect">
              <a:avLst/>
            </a:prstGeom>
            <a:noFill/>
          </p:spPr>
          <p:txBody>
            <a:bodyPr wrap="square" lIns="93624" tIns="46812" rIns="93624" bIns="46812" rtlCol="0">
              <a:spAutoFit/>
            </a:bodyPr>
            <a:lstStyle/>
            <a:p>
              <a:pPr algn="l" eaLnBrk="1" fontAlgn="auto" latinLnBrk="0" hangingPunct="1">
                <a:spcBef>
                  <a:spcPts val="0"/>
                </a:spcBef>
                <a:spcAft>
                  <a:spcPts val="0"/>
                </a:spcAft>
                <a:buFont typeface="Wingdings" pitchFamily="2" charset="2"/>
                <a:buNone/>
                <a:defRPr/>
              </a:pPr>
              <a:r>
                <a:rPr lang="ko-KR" altLang="en-US" sz="1400" b="1" kern="0" dirty="0">
                  <a:ln>
                    <a:solidFill>
                      <a:srgbClr val="4F81BD">
                        <a:alpha val="0"/>
                      </a:srgbClr>
                    </a:solidFill>
                  </a:ln>
                  <a:solidFill>
                    <a:srgbClr val="003F56"/>
                  </a:solidFill>
                  <a:latin typeface="Arial Narrow" panose="020B0606020202030204" pitchFamily="34" charset="0"/>
                  <a:ea typeface="a고딕14" panose="02020600000000000000" pitchFamily="18" charset="-127"/>
                  <a:cs typeface="Ebrima" pitchFamily="2" charset="0"/>
                </a:rPr>
                <a:t>주요 연혁</a:t>
              </a:r>
            </a:p>
          </p:txBody>
        </p:sp>
        <p:sp>
          <p:nvSpPr>
            <p:cNvPr id="104" name="직사각형 103"/>
            <p:cNvSpPr/>
            <p:nvPr/>
          </p:nvSpPr>
          <p:spPr>
            <a:xfrm flipV="1">
              <a:off x="3537934" y="1660632"/>
              <a:ext cx="6124795" cy="28800"/>
            </a:xfrm>
            <a:prstGeom prst="rect">
              <a:avLst/>
            </a:prstGeom>
            <a:solidFill>
              <a:srgbClr val="003F56"/>
            </a:solidFill>
            <a:ln w="12700" cap="flat" cmpd="sng" algn="ctr">
              <a:noFill/>
              <a:prstDash val="solid"/>
              <a:miter lim="800000"/>
            </a:ln>
            <a:effectLst/>
          </p:spPr>
          <p:txBody>
            <a:bodyPr lIns="93624" tIns="46812" rIns="93624" bIns="46812" rtlCol="0" anchor="ctr"/>
            <a:lstStyle/>
            <a:p>
              <a:pPr eaLnBrk="1" fontAlgn="auto" latinLnBrk="0" hangingPunct="1">
                <a:spcBef>
                  <a:spcPts val="0"/>
                </a:spcBef>
                <a:spcAft>
                  <a:spcPts val="0"/>
                </a:spcAft>
                <a:buFont typeface="Wingdings" pitchFamily="2" charset="2"/>
                <a:buNone/>
                <a:defRPr/>
              </a:pPr>
              <a:endParaRPr lang="ko-KR" altLang="en-US" sz="1853" kern="0" dirty="0">
                <a:ln>
                  <a:solidFill>
                    <a:srgbClr val="4F81BD">
                      <a:alpha val="0"/>
                    </a:srgbClr>
                  </a:solidFill>
                </a:ln>
                <a:solidFill>
                  <a:prstClr val="white"/>
                </a:solidFill>
                <a:latin typeface="맑은 고딕" panose="020F0502020204030204"/>
              </a:endParaRPr>
            </a:p>
          </p:txBody>
        </p:sp>
      </p:grpSp>
      <p:pic>
        <p:nvPicPr>
          <p:cNvPr id="139" name="Picture 2" descr="http://kimauclair.ca/blog/wp-content/uploads/2011/12/bilan-de-competence-600x400.jpg">
            <a:hlinkClick r:id="rId2" tooltip="Avez-vous fait votre bilan de compétences ?"/>
          </p:cNvPr>
          <p:cNvPicPr>
            <a:picLocks noChangeAspect="1" noChangeArrowheads="1"/>
          </p:cNvPicPr>
          <p:nvPr/>
        </p:nvPicPr>
        <p:blipFill>
          <a:blip r:embed="rId3" cstate="print"/>
          <a:srcRect r="21521"/>
          <a:stretch>
            <a:fillRect/>
          </a:stretch>
        </p:blipFill>
        <p:spPr bwMode="auto">
          <a:xfrm>
            <a:off x="596900" y="4735952"/>
            <a:ext cx="2898870" cy="1706576"/>
          </a:xfrm>
          <a:prstGeom prst="rect">
            <a:avLst/>
          </a:prstGeom>
          <a:noFill/>
        </p:spPr>
      </p:pic>
      <p:grpSp>
        <p:nvGrpSpPr>
          <p:cNvPr id="70" name="그룹 69">
            <a:extLst>
              <a:ext uri="{FF2B5EF4-FFF2-40B4-BE49-F238E27FC236}">
                <a16:creationId xmlns:a16="http://schemas.microsoft.com/office/drawing/2014/main" id="{6440419D-16FC-3C3D-EB95-95CD8B82649E}"/>
              </a:ext>
            </a:extLst>
          </p:cNvPr>
          <p:cNvGrpSpPr/>
          <p:nvPr/>
        </p:nvGrpSpPr>
        <p:grpSpPr>
          <a:xfrm>
            <a:off x="650714" y="2638836"/>
            <a:ext cx="2682106" cy="565312"/>
            <a:chOff x="-681200" y="2762758"/>
            <a:chExt cx="2179485" cy="425366"/>
          </a:xfrm>
        </p:grpSpPr>
        <p:pic>
          <p:nvPicPr>
            <p:cNvPr id="71" name="Picture 2">
              <a:extLst>
                <a:ext uri="{FF2B5EF4-FFF2-40B4-BE49-F238E27FC236}">
                  <a16:creationId xmlns:a16="http://schemas.microsoft.com/office/drawing/2014/main" id="{D622C590-29E5-AC4F-81E2-E75FABD4DD7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81200" y="2762758"/>
              <a:ext cx="361932"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2">
              <a:extLst>
                <a:ext uri="{FF2B5EF4-FFF2-40B4-BE49-F238E27FC236}">
                  <a16:creationId xmlns:a16="http://schemas.microsoft.com/office/drawing/2014/main" id="{640ACBBF-3D7E-DDCA-C31D-3D4B49BC985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293772" y="2762758"/>
              <a:ext cx="350520"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 name="Picture 2">
              <a:extLst>
                <a:ext uri="{FF2B5EF4-FFF2-40B4-BE49-F238E27FC236}">
                  <a16:creationId xmlns:a16="http://schemas.microsoft.com/office/drawing/2014/main" id="{C065F336-D452-518B-A829-0435728B017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102564" y="2762758"/>
              <a:ext cx="299720"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 name="Picture 2">
              <a:extLst>
                <a:ext uri="{FF2B5EF4-FFF2-40B4-BE49-F238E27FC236}">
                  <a16:creationId xmlns:a16="http://schemas.microsoft.com/office/drawing/2014/main" id="{BEC8F246-991A-B2A8-B1F6-0461E1B59C67}"/>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a:stretch/>
          </p:blipFill>
          <p:spPr bwMode="auto">
            <a:xfrm>
              <a:off x="448100" y="2762758"/>
              <a:ext cx="287406"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 name="Picture 2">
              <a:extLst>
                <a:ext uri="{FF2B5EF4-FFF2-40B4-BE49-F238E27FC236}">
                  <a16:creationId xmlns:a16="http://schemas.microsoft.com/office/drawing/2014/main" id="{41A27326-25F3-1C3E-7465-8193E7EDB9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p:blipFill>
          <p:spPr bwMode="auto">
            <a:xfrm>
              <a:off x="781322" y="2762758"/>
              <a:ext cx="345440"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2">
              <a:extLst>
                <a:ext uri="{FF2B5EF4-FFF2-40B4-BE49-F238E27FC236}">
                  <a16:creationId xmlns:a16="http://schemas.microsoft.com/office/drawing/2014/main" id="{DFE7FF7D-D6AC-E6FD-8CCB-C866B8B8991D}"/>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a:stretch/>
          </p:blipFill>
          <p:spPr bwMode="auto">
            <a:xfrm>
              <a:off x="1172580" y="2762758"/>
              <a:ext cx="325705"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77" name="표 76">
            <a:extLst>
              <a:ext uri="{FF2B5EF4-FFF2-40B4-BE49-F238E27FC236}">
                <a16:creationId xmlns:a16="http://schemas.microsoft.com/office/drawing/2014/main" id="{EFCB2F15-51B5-CC7D-E9C9-AF0787F96378}"/>
              </a:ext>
            </a:extLst>
          </p:cNvPr>
          <p:cNvGraphicFramePr>
            <a:graphicFrameLocks noGrp="1"/>
          </p:cNvGraphicFramePr>
          <p:nvPr/>
        </p:nvGraphicFramePr>
        <p:xfrm>
          <a:off x="596900" y="1818397"/>
          <a:ext cx="2869524" cy="2510703"/>
        </p:xfrm>
        <a:graphic>
          <a:graphicData uri="http://schemas.openxmlformats.org/drawingml/2006/table">
            <a:tbl>
              <a:tblPr firstRow="1" bandRow="1"/>
              <a:tblGrid>
                <a:gridCol w="699476">
                  <a:extLst>
                    <a:ext uri="{9D8B030D-6E8A-4147-A177-3AD203B41FA5}">
                      <a16:colId xmlns:a16="http://schemas.microsoft.com/office/drawing/2014/main" val="20000"/>
                    </a:ext>
                  </a:extLst>
                </a:gridCol>
                <a:gridCol w="2170048">
                  <a:extLst>
                    <a:ext uri="{9D8B030D-6E8A-4147-A177-3AD203B41FA5}">
                      <a16:colId xmlns:a16="http://schemas.microsoft.com/office/drawing/2014/main" val="20001"/>
                    </a:ext>
                  </a:extLst>
                </a:gridCol>
              </a:tblGrid>
              <a:tr h="386467">
                <a:tc>
                  <a:txBody>
                    <a:bodyPr/>
                    <a:lstStyle>
                      <a:lvl1pPr marL="0" algn="l" defTabSz="914400" rtl="0" eaLnBrk="1" latinLnBrk="1" hangingPunct="1">
                        <a:defRPr sz="1800" b="1" kern="1200">
                          <a:solidFill>
                            <a:schemeClr val="lt1"/>
                          </a:solidFill>
                          <a:latin typeface="맑은 고딕" panose="020F0502020204030204"/>
                          <a:ea typeface="a고딕14"/>
                        </a:defRPr>
                      </a:lvl1pPr>
                      <a:lvl2pPr marL="457200" algn="l" defTabSz="914400" rtl="0" eaLnBrk="1" latinLnBrk="1" hangingPunct="1">
                        <a:defRPr sz="1800" b="1" kern="1200">
                          <a:solidFill>
                            <a:schemeClr val="lt1"/>
                          </a:solidFill>
                          <a:latin typeface="맑은 고딕" panose="020F0502020204030204"/>
                          <a:ea typeface="a고딕14"/>
                        </a:defRPr>
                      </a:lvl2pPr>
                      <a:lvl3pPr marL="914400" algn="l" defTabSz="914400" rtl="0" eaLnBrk="1" latinLnBrk="1" hangingPunct="1">
                        <a:defRPr sz="1800" b="1" kern="1200">
                          <a:solidFill>
                            <a:schemeClr val="lt1"/>
                          </a:solidFill>
                          <a:latin typeface="맑은 고딕" panose="020F0502020204030204"/>
                          <a:ea typeface="a고딕14"/>
                        </a:defRPr>
                      </a:lvl3pPr>
                      <a:lvl4pPr marL="1371600" algn="l" defTabSz="914400" rtl="0" eaLnBrk="1" latinLnBrk="1" hangingPunct="1">
                        <a:defRPr sz="1800" b="1" kern="1200">
                          <a:solidFill>
                            <a:schemeClr val="lt1"/>
                          </a:solidFill>
                          <a:latin typeface="맑은 고딕" panose="020F0502020204030204"/>
                          <a:ea typeface="a고딕14"/>
                        </a:defRPr>
                      </a:lvl4pPr>
                      <a:lvl5pPr marL="1828800" algn="l" defTabSz="914400" rtl="0" eaLnBrk="1" latinLnBrk="1" hangingPunct="1">
                        <a:defRPr sz="1800" b="1" kern="1200">
                          <a:solidFill>
                            <a:schemeClr val="lt1"/>
                          </a:solidFill>
                          <a:latin typeface="맑은 고딕" panose="020F0502020204030204"/>
                          <a:ea typeface="a고딕14"/>
                        </a:defRPr>
                      </a:lvl5pPr>
                      <a:lvl6pPr marL="2286000" algn="l" defTabSz="914400" rtl="0" eaLnBrk="1" latinLnBrk="1" hangingPunct="1">
                        <a:defRPr sz="1800" b="1" kern="1200">
                          <a:solidFill>
                            <a:schemeClr val="lt1"/>
                          </a:solidFill>
                          <a:latin typeface="맑은 고딕" panose="020F0502020204030204"/>
                          <a:ea typeface="a고딕14"/>
                        </a:defRPr>
                      </a:lvl6pPr>
                      <a:lvl7pPr marL="2743200" algn="l" defTabSz="914400" rtl="0" eaLnBrk="1" latinLnBrk="1" hangingPunct="1">
                        <a:defRPr sz="1800" b="1" kern="1200">
                          <a:solidFill>
                            <a:schemeClr val="lt1"/>
                          </a:solidFill>
                          <a:latin typeface="맑은 고딕" panose="020F0502020204030204"/>
                          <a:ea typeface="a고딕14"/>
                        </a:defRPr>
                      </a:lvl7pPr>
                      <a:lvl8pPr marL="3200400" algn="l" defTabSz="914400" rtl="0" eaLnBrk="1" latinLnBrk="1" hangingPunct="1">
                        <a:defRPr sz="1800" b="1" kern="1200">
                          <a:solidFill>
                            <a:schemeClr val="lt1"/>
                          </a:solidFill>
                          <a:latin typeface="맑은 고딕" panose="020F0502020204030204"/>
                          <a:ea typeface="a고딕14"/>
                        </a:defRPr>
                      </a:lvl8pPr>
                      <a:lvl9pPr marL="3657600" algn="l" defTabSz="914400" rtl="0" eaLnBrk="1" latinLnBrk="1" hangingPunct="1">
                        <a:defRPr sz="1800" b="1" kern="1200">
                          <a:solidFill>
                            <a:schemeClr val="lt1"/>
                          </a:solidFill>
                          <a:latin typeface="맑은 고딕" panose="020F0502020204030204"/>
                          <a:ea typeface="a고딕14"/>
                        </a:defRPr>
                      </a:lvl9pPr>
                    </a:lstStyle>
                    <a:p>
                      <a:pPr algn="ctr" latinLnBrk="1"/>
                      <a:r>
                        <a:rPr lang="ko-KR" altLang="en-US" sz="1050" b="1"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rPr>
                        <a:t>회 사 명</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b="1" kern="1200">
                          <a:solidFill>
                            <a:schemeClr val="lt1"/>
                          </a:solidFill>
                          <a:latin typeface="맑은 고딕" panose="020F0502020204030204"/>
                          <a:ea typeface="a고딕14"/>
                        </a:defRPr>
                      </a:lvl1pPr>
                      <a:lvl2pPr marL="457200" algn="l" defTabSz="914400" rtl="0" eaLnBrk="1" latinLnBrk="1" hangingPunct="1">
                        <a:defRPr sz="1800" b="1" kern="1200">
                          <a:solidFill>
                            <a:schemeClr val="lt1"/>
                          </a:solidFill>
                          <a:latin typeface="맑은 고딕" panose="020F0502020204030204"/>
                          <a:ea typeface="a고딕14"/>
                        </a:defRPr>
                      </a:lvl2pPr>
                      <a:lvl3pPr marL="914400" algn="l" defTabSz="914400" rtl="0" eaLnBrk="1" latinLnBrk="1" hangingPunct="1">
                        <a:defRPr sz="1800" b="1" kern="1200">
                          <a:solidFill>
                            <a:schemeClr val="lt1"/>
                          </a:solidFill>
                          <a:latin typeface="맑은 고딕" panose="020F0502020204030204"/>
                          <a:ea typeface="a고딕14"/>
                        </a:defRPr>
                      </a:lvl3pPr>
                      <a:lvl4pPr marL="1371600" algn="l" defTabSz="914400" rtl="0" eaLnBrk="1" latinLnBrk="1" hangingPunct="1">
                        <a:defRPr sz="1800" b="1" kern="1200">
                          <a:solidFill>
                            <a:schemeClr val="lt1"/>
                          </a:solidFill>
                          <a:latin typeface="맑은 고딕" panose="020F0502020204030204"/>
                          <a:ea typeface="a고딕14"/>
                        </a:defRPr>
                      </a:lvl4pPr>
                      <a:lvl5pPr marL="1828800" algn="l" defTabSz="914400" rtl="0" eaLnBrk="1" latinLnBrk="1" hangingPunct="1">
                        <a:defRPr sz="1800" b="1" kern="1200">
                          <a:solidFill>
                            <a:schemeClr val="lt1"/>
                          </a:solidFill>
                          <a:latin typeface="맑은 고딕" panose="020F0502020204030204"/>
                          <a:ea typeface="a고딕14"/>
                        </a:defRPr>
                      </a:lvl5pPr>
                      <a:lvl6pPr marL="2286000" algn="l" defTabSz="914400" rtl="0" eaLnBrk="1" latinLnBrk="1" hangingPunct="1">
                        <a:defRPr sz="1800" b="1" kern="1200">
                          <a:solidFill>
                            <a:schemeClr val="lt1"/>
                          </a:solidFill>
                          <a:latin typeface="맑은 고딕" panose="020F0502020204030204"/>
                          <a:ea typeface="a고딕14"/>
                        </a:defRPr>
                      </a:lvl6pPr>
                      <a:lvl7pPr marL="2743200" algn="l" defTabSz="914400" rtl="0" eaLnBrk="1" latinLnBrk="1" hangingPunct="1">
                        <a:defRPr sz="1800" b="1" kern="1200">
                          <a:solidFill>
                            <a:schemeClr val="lt1"/>
                          </a:solidFill>
                          <a:latin typeface="맑은 고딕" panose="020F0502020204030204"/>
                          <a:ea typeface="a고딕14"/>
                        </a:defRPr>
                      </a:lvl7pPr>
                      <a:lvl8pPr marL="3200400" algn="l" defTabSz="914400" rtl="0" eaLnBrk="1" latinLnBrk="1" hangingPunct="1">
                        <a:defRPr sz="1800" b="1" kern="1200">
                          <a:solidFill>
                            <a:schemeClr val="lt1"/>
                          </a:solidFill>
                          <a:latin typeface="맑은 고딕" panose="020F0502020204030204"/>
                          <a:ea typeface="a고딕14"/>
                        </a:defRPr>
                      </a:lvl8pPr>
                      <a:lvl9pPr marL="3657600" algn="l" defTabSz="914400" rtl="0" eaLnBrk="1" latinLnBrk="1" hangingPunct="1">
                        <a:defRPr sz="1800" b="1" kern="1200">
                          <a:solidFill>
                            <a:schemeClr val="lt1"/>
                          </a:solidFill>
                          <a:latin typeface="맑은 고딕" panose="020F0502020204030204"/>
                          <a:ea typeface="a고딕14"/>
                        </a:defRPr>
                      </a:lvl9pPr>
                    </a:lstStyle>
                    <a:p>
                      <a:pPr marL="0" algn="ctr" defTabSz="909375" rtl="0" eaLnBrk="1" latinLnBrk="1" hangingPunct="1"/>
                      <a:r>
                        <a:rPr lang="ko-KR" altLang="en-US" sz="1050" b="0" kern="1200" baseline="0" dirty="0" err="1">
                          <a:solidFill>
                            <a:schemeClr val="tx1"/>
                          </a:solidFill>
                          <a:latin typeface="a고딕14" panose="02020600000000000000" pitchFamily="18" charset="-127"/>
                          <a:ea typeface="a고딕14" panose="02020600000000000000" pitchFamily="18" charset="-127"/>
                          <a:cs typeface="+mn-cs"/>
                        </a:rPr>
                        <a:t>시앤피컨설팅</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224136">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1" kern="1200"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사업분야</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0" kern="1200" spc="-100" baseline="0" dirty="0">
                          <a:solidFill>
                            <a:schemeClr val="tx1"/>
                          </a:solidFill>
                          <a:latin typeface="a고딕14" panose="02020600000000000000" pitchFamily="18" charset="-127"/>
                          <a:ea typeface="a고딕14" panose="02020600000000000000" pitchFamily="18" charset="-127"/>
                          <a:cs typeface="+mn-cs"/>
                        </a:rPr>
                        <a:t>종합경영컨설팅</a:t>
                      </a:r>
                      <a:endParaRPr lang="en-US" altLang="ko-KR" sz="1050" b="0" kern="1200" spc="-100" baseline="0" dirty="0">
                        <a:solidFill>
                          <a:schemeClr val="tx1"/>
                        </a:solidFill>
                        <a:latin typeface="a고딕14" panose="02020600000000000000" pitchFamily="18" charset="-127"/>
                        <a:ea typeface="a고딕14" panose="02020600000000000000" pitchFamily="18" charset="-127"/>
                        <a:cs typeface="+mn-cs"/>
                      </a:endParaRPr>
                    </a:p>
                    <a:p>
                      <a:pPr marL="0" algn="ctr" defTabSz="909375" rtl="0" eaLnBrk="1" latinLnBrk="1" hangingPunct="1"/>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(HRM, </a:t>
                      </a:r>
                      <a:r>
                        <a:rPr lang="ko-KR" altLang="en-US" sz="1050" b="0" kern="1200" spc="-100" baseline="0" dirty="0">
                          <a:solidFill>
                            <a:schemeClr val="tx1"/>
                          </a:solidFill>
                          <a:latin typeface="a고딕14" panose="02020600000000000000" pitchFamily="18" charset="-127"/>
                          <a:ea typeface="a고딕14" panose="02020600000000000000" pitchFamily="18" charset="-127"/>
                          <a:cs typeface="+mn-cs"/>
                        </a:rPr>
                        <a:t>경영전략</a:t>
                      </a:r>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 HRD, </a:t>
                      </a:r>
                    </a:p>
                    <a:p>
                      <a:pPr marL="0" algn="ctr" defTabSz="909375" rtl="0" eaLnBrk="1" latinLnBrk="1" hangingPunct="1"/>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NCS, </a:t>
                      </a:r>
                      <a:r>
                        <a:rPr lang="ko-KR" altLang="en-US" sz="1050" b="0" kern="1200" spc="-100" baseline="0" dirty="0" err="1">
                          <a:solidFill>
                            <a:schemeClr val="tx1"/>
                          </a:solidFill>
                          <a:latin typeface="a고딕14" panose="02020600000000000000" pitchFamily="18" charset="-127"/>
                          <a:ea typeface="a고딕14" panose="02020600000000000000" pitchFamily="18" charset="-127"/>
                          <a:cs typeface="+mn-cs"/>
                        </a:rPr>
                        <a:t>조사∙연구</a:t>
                      </a:r>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 </a:t>
                      </a:r>
                      <a:r>
                        <a:rPr lang="ko-KR" altLang="en-US" sz="1050" b="0" kern="1200" spc="-100" baseline="0" dirty="0">
                          <a:solidFill>
                            <a:schemeClr val="tx1"/>
                          </a:solidFill>
                          <a:latin typeface="a고딕14" panose="02020600000000000000" pitchFamily="18" charset="-127"/>
                          <a:ea typeface="a고딕14" panose="02020600000000000000" pitchFamily="18" charset="-127"/>
                          <a:cs typeface="+mn-cs"/>
                        </a:rPr>
                        <a:t>교육 등</a:t>
                      </a:r>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7402820"/>
                  </a:ext>
                </a:extLst>
              </a:tr>
              <a:tr h="612068">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1" kern="1200"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주       소 </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서울특별시 금천구 가산디지털</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1</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로</a:t>
                      </a:r>
                      <a:endParaRPr lang="en-US" altLang="ko-KR" sz="1050" b="0" kern="1200" baseline="0" dirty="0">
                        <a:solidFill>
                          <a:schemeClr val="tx1"/>
                        </a:solidFill>
                        <a:latin typeface="a고딕14" panose="02020600000000000000" pitchFamily="18" charset="-127"/>
                        <a:ea typeface="a고딕14" panose="02020600000000000000" pitchFamily="18" charset="-127"/>
                        <a:cs typeface="+mn-cs"/>
                      </a:endParaRPr>
                    </a:p>
                    <a:p>
                      <a:pPr marL="0" algn="ctr" defTabSz="909375" rtl="0" eaLnBrk="1" latinLnBrk="1" hangingPunct="1"/>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131, BYC</a:t>
                      </a:r>
                      <a:r>
                        <a:rPr lang="ko-KR" altLang="en-US" sz="1050" b="0" kern="1200" baseline="0" dirty="0" err="1">
                          <a:solidFill>
                            <a:schemeClr val="tx1"/>
                          </a:solidFill>
                          <a:latin typeface="a고딕14" panose="02020600000000000000" pitchFamily="18" charset="-127"/>
                          <a:ea typeface="a고딕14" panose="02020600000000000000" pitchFamily="18" charset="-127"/>
                          <a:cs typeface="+mn-cs"/>
                        </a:rPr>
                        <a:t>하이시티</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 </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B</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동 </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12</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층</a:t>
                      </a:r>
                      <a:endParaRPr lang="en-US" altLang="ko-KR" sz="1050" b="0" kern="1200" baseline="0" dirty="0">
                        <a:solidFill>
                          <a:schemeClr val="tx1"/>
                        </a:solidFill>
                        <a:latin typeface="a고딕14" panose="02020600000000000000" pitchFamily="18" charset="-127"/>
                        <a:ea typeface="a고딕14" panose="02020600000000000000" pitchFamily="18" charset="-127"/>
                        <a:cs typeface="+mn-cs"/>
                      </a:endParaRP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032">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1" kern="1200" baseline="0" dirty="0" err="1">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설립연도</a:t>
                      </a:r>
                      <a:r>
                        <a:rPr lang="ko-KR" altLang="en-US" sz="1050" b="1" kern="1200"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 </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2012</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년 </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2</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월 </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78" name="직사각형 77">
            <a:extLst>
              <a:ext uri="{FF2B5EF4-FFF2-40B4-BE49-F238E27FC236}">
                <a16:creationId xmlns:a16="http://schemas.microsoft.com/office/drawing/2014/main" id="{259B1F42-E68E-8E1D-D88D-8583662481E1}"/>
              </a:ext>
            </a:extLst>
          </p:cNvPr>
          <p:cNvSpPr/>
          <p:nvPr/>
        </p:nvSpPr>
        <p:spPr>
          <a:xfrm>
            <a:off x="3560953" y="1821253"/>
            <a:ext cx="5777628" cy="4668449"/>
          </a:xfrm>
          <a:prstGeom prst="rect">
            <a:avLst/>
          </a:prstGeom>
          <a:solidFill>
            <a:srgbClr val="EBFAFF"/>
          </a:solidFill>
          <a:ln w="12700" cap="flat" cmpd="sng" algn="ctr">
            <a:noFill/>
            <a:prstDash val="solid"/>
            <a:miter lim="800000"/>
          </a:ln>
          <a:effectLst/>
        </p:spPr>
        <p:txBody>
          <a:bodyPr rtlCol="0" anchor="ctr"/>
          <a:lstStyle/>
          <a:p>
            <a:pPr marL="0" marR="0" lvl="0" indent="0" defTabSz="914400" eaLnBrk="1" fontAlgn="auto" latinLnBrk="0" hangingPunct="1">
              <a:lnSpc>
                <a:spcPts val="1400"/>
              </a:lnSpc>
              <a:spcBef>
                <a:spcPts val="0"/>
              </a:spcBef>
              <a:spcAft>
                <a:spcPts val="0"/>
              </a:spcAft>
              <a:buClrTx/>
              <a:buSzTx/>
              <a:buFont typeface="Wingdings" pitchFamily="2" charset="2"/>
              <a:buNone/>
              <a:tabLst/>
              <a:defRPr/>
            </a:pPr>
            <a:endParaRPr kumimoji="0" lang="ko-KR" altLang="en-US" sz="1800" b="0" i="0" u="none" strike="noStrike" kern="0" cap="none" spc="-60" normalizeH="0" baseline="0" noProof="0">
              <a:ln>
                <a:noFill/>
              </a:ln>
              <a:solidFill>
                <a:prstClr val="white"/>
              </a:solidFill>
              <a:effectLst/>
              <a:uLnTx/>
              <a:uFillTx/>
              <a:latin typeface="a고딕14" panose="02020600000000000000" pitchFamily="18" charset="-127"/>
            </a:endParaRPr>
          </a:p>
        </p:txBody>
      </p:sp>
      <p:grpSp>
        <p:nvGrpSpPr>
          <p:cNvPr id="79" name="그룹 78">
            <a:extLst>
              <a:ext uri="{FF2B5EF4-FFF2-40B4-BE49-F238E27FC236}">
                <a16:creationId xmlns:a16="http://schemas.microsoft.com/office/drawing/2014/main" id="{84384F02-7ED4-492D-9C9B-83D915ADEFE4}"/>
              </a:ext>
            </a:extLst>
          </p:cNvPr>
          <p:cNvGrpSpPr/>
          <p:nvPr/>
        </p:nvGrpSpPr>
        <p:grpSpPr>
          <a:xfrm>
            <a:off x="3535904" y="1773397"/>
            <a:ext cx="2902837" cy="938719"/>
            <a:chOff x="3535904" y="1773397"/>
            <a:chExt cx="2902837" cy="938719"/>
          </a:xfrm>
        </p:grpSpPr>
        <p:sp>
          <p:nvSpPr>
            <p:cNvPr id="80" name="직사각형 79">
              <a:extLst>
                <a:ext uri="{FF2B5EF4-FFF2-40B4-BE49-F238E27FC236}">
                  <a16:creationId xmlns:a16="http://schemas.microsoft.com/office/drawing/2014/main" id="{DEFF2406-D6C3-7644-C86C-CCA1D6084389}"/>
                </a:ext>
              </a:extLst>
            </p:cNvPr>
            <p:cNvSpPr/>
            <p:nvPr/>
          </p:nvSpPr>
          <p:spPr>
            <a:xfrm>
              <a:off x="4284067" y="1773397"/>
              <a:ext cx="2154674" cy="938719"/>
            </a:xfrm>
            <a:prstGeom prst="rect">
              <a:avLst/>
            </a:prstGeom>
          </p:spPr>
          <p:txBody>
            <a:bodyPr wrap="square" lIns="0" rIns="0">
              <a:spAutoFit/>
            </a:bodyPr>
            <a:lstStyle/>
            <a:p>
              <a:pPr algn="l"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rPr>
                <a:t>BMP</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rPr>
                <a:t>컨설팅㈜ 설립</a:t>
              </a:r>
              <a:endPar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endParaRPr>
            </a:p>
            <a:p>
              <a:pPr algn="l" defTabSz="909375"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시간제일자리창출지원사업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컨설팅기관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노사발전재단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defTabSz="909375" latinLnBrk="0">
                <a:lnSpc>
                  <a:spcPts val="1200"/>
                </a:lnSpc>
                <a:spcBef>
                  <a:spcPts val="200"/>
                </a:spcBef>
                <a:buFont typeface="Wingdings" pitchFamily="2" charset="2"/>
                <a:buNone/>
                <a:defRPr/>
              </a:pPr>
              <a:r>
                <a:rPr lang="ko-KR" altLang="en-US" sz="800" spc="-60" dirty="0" err="1">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rPr>
                <a:t>시앤피컨설팅㈜로</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rPr>
                <a:t> 법인 전환 및 상호 변경</a:t>
              </a:r>
              <a:endPar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endParaRPr>
            </a:p>
            <a:p>
              <a:pPr algn="l" defTabSz="909375"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국가직무능력표준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활용패키지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개발 및 직업훈련기관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교과과정 컨설팅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81" name="직사각형 80">
              <a:extLst>
                <a:ext uri="{FF2B5EF4-FFF2-40B4-BE49-F238E27FC236}">
                  <a16:creationId xmlns:a16="http://schemas.microsoft.com/office/drawing/2014/main" id="{F17A0AA0-21D5-51BB-2492-5E0289ED0E4D}"/>
                </a:ext>
              </a:extLst>
            </p:cNvPr>
            <p:cNvSpPr/>
            <p:nvPr/>
          </p:nvSpPr>
          <p:spPr>
            <a:xfrm>
              <a:off x="3958515" y="1773397"/>
              <a:ext cx="417856" cy="784830"/>
            </a:xfrm>
            <a:prstGeom prst="rect">
              <a:avLst/>
            </a:prstGeom>
          </p:spPr>
          <p:txBody>
            <a:bodyPr wrap="square">
              <a:spAutoFit/>
            </a:bodyPr>
            <a:lstStyle/>
            <a:p>
              <a:pPr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 </a:t>
              </a:r>
            </a:p>
            <a:p>
              <a:pPr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05</a:t>
              </a:r>
            </a:p>
            <a:p>
              <a:pPr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06</a:t>
              </a:r>
            </a:p>
            <a:p>
              <a:pPr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07</a:t>
              </a:r>
            </a:p>
          </p:txBody>
        </p:sp>
        <p:sp>
          <p:nvSpPr>
            <p:cNvPr id="82" name="TextBox 81">
              <a:extLst>
                <a:ext uri="{FF2B5EF4-FFF2-40B4-BE49-F238E27FC236}">
                  <a16:creationId xmlns:a16="http://schemas.microsoft.com/office/drawing/2014/main" id="{6E51FDAB-3F9C-5215-2397-7F084E638DE2}"/>
                </a:ext>
              </a:extLst>
            </p:cNvPr>
            <p:cNvSpPr txBox="1"/>
            <p:nvPr/>
          </p:nvSpPr>
          <p:spPr>
            <a:xfrm>
              <a:off x="3535904" y="1801310"/>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2012</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grpSp>
      <p:grpSp>
        <p:nvGrpSpPr>
          <p:cNvPr id="83" name="그룹 82">
            <a:extLst>
              <a:ext uri="{FF2B5EF4-FFF2-40B4-BE49-F238E27FC236}">
                <a16:creationId xmlns:a16="http://schemas.microsoft.com/office/drawing/2014/main" id="{44D4B59C-ABB4-9D6A-8670-74519E8CA02C}"/>
              </a:ext>
            </a:extLst>
          </p:cNvPr>
          <p:cNvGrpSpPr/>
          <p:nvPr/>
        </p:nvGrpSpPr>
        <p:grpSpPr>
          <a:xfrm>
            <a:off x="3535904" y="2868356"/>
            <a:ext cx="3070109" cy="784830"/>
            <a:chOff x="3535904" y="2842530"/>
            <a:chExt cx="3070109" cy="784830"/>
          </a:xfrm>
        </p:grpSpPr>
        <p:sp>
          <p:nvSpPr>
            <p:cNvPr id="84" name="TextBox 83">
              <a:extLst>
                <a:ext uri="{FF2B5EF4-FFF2-40B4-BE49-F238E27FC236}">
                  <a16:creationId xmlns:a16="http://schemas.microsoft.com/office/drawing/2014/main" id="{B72B7F49-6190-4930-096E-CBDCE7200743}"/>
                </a:ext>
              </a:extLst>
            </p:cNvPr>
            <p:cNvSpPr txBox="1"/>
            <p:nvPr/>
          </p:nvSpPr>
          <p:spPr>
            <a:xfrm>
              <a:off x="3535904" y="2890429"/>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2013</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85" name="직사각형 84">
              <a:extLst>
                <a:ext uri="{FF2B5EF4-FFF2-40B4-BE49-F238E27FC236}">
                  <a16:creationId xmlns:a16="http://schemas.microsoft.com/office/drawing/2014/main" id="{4A87E317-DE81-1DAD-BB44-D79C13D8E602}"/>
                </a:ext>
              </a:extLst>
            </p:cNvPr>
            <p:cNvSpPr/>
            <p:nvPr/>
          </p:nvSpPr>
          <p:spPr>
            <a:xfrm>
              <a:off x="4306045" y="2842530"/>
              <a:ext cx="2299968" cy="759182"/>
            </a:xfrm>
            <a:prstGeom prst="rect">
              <a:avLst/>
            </a:prstGeom>
          </p:spPr>
          <p:txBody>
            <a:bodyPr wrap="square" lIns="0" rIns="0">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내일 희망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컨설팅기관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노사발전재단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중소기업 학습조직화 및 체계적 현장훈련 지원사업 위탁 교육기관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사회적기업</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전문컨설팅 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한국사회적기업진흥원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86" name="직사각형 85">
              <a:extLst>
                <a:ext uri="{FF2B5EF4-FFF2-40B4-BE49-F238E27FC236}">
                  <a16:creationId xmlns:a16="http://schemas.microsoft.com/office/drawing/2014/main" id="{DD374C71-6BB9-4A5F-8AAE-AF0755540811}"/>
                </a:ext>
              </a:extLst>
            </p:cNvPr>
            <p:cNvSpPr/>
            <p:nvPr/>
          </p:nvSpPr>
          <p:spPr>
            <a:xfrm>
              <a:off x="4020100" y="2842530"/>
              <a:ext cx="307400" cy="784830"/>
            </a:xfrm>
            <a:prstGeom prst="rect">
              <a:avLst/>
            </a:prstGeom>
          </p:spPr>
          <p:txBody>
            <a:bodyPr wrap="square" lIns="0" rIns="0">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03</a:t>
              </a:r>
            </a:p>
            <a:p>
              <a:pPr latinLnBrk="0">
                <a:lnSpc>
                  <a:spcPts val="1200"/>
                </a:lnSpc>
                <a:spcBef>
                  <a:spcPts val="200"/>
                </a:spcBef>
                <a:buFont typeface="Wingdings" pitchFamily="2" charset="2"/>
                <a:buNone/>
                <a:defRPr/>
              </a:pPr>
              <a:endParaRPr lang="en-US" altLang="ko-KR" sz="6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p:txBody>
        </p:sp>
      </p:grpSp>
      <p:grpSp>
        <p:nvGrpSpPr>
          <p:cNvPr id="87" name="그룹 86">
            <a:extLst>
              <a:ext uri="{FF2B5EF4-FFF2-40B4-BE49-F238E27FC236}">
                <a16:creationId xmlns:a16="http://schemas.microsoft.com/office/drawing/2014/main" id="{9EE54847-4F1D-FD48-2008-39184E90248D}"/>
              </a:ext>
            </a:extLst>
          </p:cNvPr>
          <p:cNvGrpSpPr/>
          <p:nvPr/>
        </p:nvGrpSpPr>
        <p:grpSpPr>
          <a:xfrm>
            <a:off x="3535904" y="3809426"/>
            <a:ext cx="3099990" cy="605294"/>
            <a:chOff x="3535904" y="3749690"/>
            <a:chExt cx="3099990" cy="605294"/>
          </a:xfrm>
        </p:grpSpPr>
        <p:sp>
          <p:nvSpPr>
            <p:cNvPr id="88" name="TextBox 87">
              <a:extLst>
                <a:ext uri="{FF2B5EF4-FFF2-40B4-BE49-F238E27FC236}">
                  <a16:creationId xmlns:a16="http://schemas.microsoft.com/office/drawing/2014/main" id="{B89ED350-F7F9-D948-BB5B-F28C655A4F55}"/>
                </a:ext>
              </a:extLst>
            </p:cNvPr>
            <p:cNvSpPr txBox="1"/>
            <p:nvPr/>
          </p:nvSpPr>
          <p:spPr>
            <a:xfrm>
              <a:off x="3535904" y="3794872"/>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2014</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89" name="직사각형 88">
              <a:extLst>
                <a:ext uri="{FF2B5EF4-FFF2-40B4-BE49-F238E27FC236}">
                  <a16:creationId xmlns:a16="http://schemas.microsoft.com/office/drawing/2014/main" id="{15E254A1-596C-A47D-E023-560238974001}"/>
                </a:ext>
              </a:extLst>
            </p:cNvPr>
            <p:cNvSpPr/>
            <p:nvPr/>
          </p:nvSpPr>
          <p:spPr>
            <a:xfrm>
              <a:off x="4306045" y="3749690"/>
              <a:ext cx="2329849" cy="605294"/>
            </a:xfrm>
            <a:prstGeom prst="rect">
              <a:avLst/>
            </a:prstGeom>
          </p:spPr>
          <p:txBody>
            <a:bodyPr wrap="square" lIns="0" rIns="0">
              <a:spAutoFit/>
            </a:bodyPr>
            <a:lstStyle/>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14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내일 희망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컨설팅기관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노사발전재단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14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사회적기업</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전문컨설팅 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한국사회적기업진흥원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14</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국가직무능력표준 개발기관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p>
          </p:txBody>
        </p:sp>
        <p:sp>
          <p:nvSpPr>
            <p:cNvPr id="90" name="직사각형 89">
              <a:extLst>
                <a:ext uri="{FF2B5EF4-FFF2-40B4-BE49-F238E27FC236}">
                  <a16:creationId xmlns:a16="http://schemas.microsoft.com/office/drawing/2014/main" id="{C9026C27-01EB-F1DB-F850-5D9E862DCA35}"/>
                </a:ext>
              </a:extLst>
            </p:cNvPr>
            <p:cNvSpPr/>
            <p:nvPr/>
          </p:nvSpPr>
          <p:spPr>
            <a:xfrm>
              <a:off x="4020178" y="3749690"/>
              <a:ext cx="307400" cy="411908"/>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p:txBody>
        </p:sp>
      </p:grpSp>
      <p:grpSp>
        <p:nvGrpSpPr>
          <p:cNvPr id="91" name="그룹 90">
            <a:extLst>
              <a:ext uri="{FF2B5EF4-FFF2-40B4-BE49-F238E27FC236}">
                <a16:creationId xmlns:a16="http://schemas.microsoft.com/office/drawing/2014/main" id="{C64072D1-5E97-7766-26C0-69FB093F8616}"/>
              </a:ext>
            </a:extLst>
          </p:cNvPr>
          <p:cNvGrpSpPr/>
          <p:nvPr/>
        </p:nvGrpSpPr>
        <p:grpSpPr>
          <a:xfrm>
            <a:off x="3535904" y="4570960"/>
            <a:ext cx="2924815" cy="605294"/>
            <a:chOff x="3535904" y="4571134"/>
            <a:chExt cx="2924815" cy="605294"/>
          </a:xfrm>
        </p:grpSpPr>
        <p:sp>
          <p:nvSpPr>
            <p:cNvPr id="92" name="TextBox 91">
              <a:extLst>
                <a:ext uri="{FF2B5EF4-FFF2-40B4-BE49-F238E27FC236}">
                  <a16:creationId xmlns:a16="http://schemas.microsoft.com/office/drawing/2014/main" id="{1656EC5C-6F2F-6A69-8C1D-0D71DD59D165}"/>
                </a:ext>
              </a:extLst>
            </p:cNvPr>
            <p:cNvSpPr txBox="1"/>
            <p:nvPr/>
          </p:nvSpPr>
          <p:spPr>
            <a:xfrm>
              <a:off x="3535904" y="4615111"/>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2015</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93" name="직사각형 92">
              <a:extLst>
                <a:ext uri="{FF2B5EF4-FFF2-40B4-BE49-F238E27FC236}">
                  <a16:creationId xmlns:a16="http://schemas.microsoft.com/office/drawing/2014/main" id="{A1F42E36-EDB3-D15B-C085-4668E2389603}"/>
                </a:ext>
              </a:extLst>
            </p:cNvPr>
            <p:cNvSpPr/>
            <p:nvPr/>
          </p:nvSpPr>
          <p:spPr>
            <a:xfrm>
              <a:off x="4306044" y="4571134"/>
              <a:ext cx="2154675" cy="605294"/>
            </a:xfrm>
            <a:prstGeom prst="rect">
              <a:avLst/>
            </a:prstGeom>
          </p:spPr>
          <p:txBody>
            <a:bodyPr wrap="square" lIns="0" rIns="0">
              <a:spAutoFit/>
            </a:bodyPr>
            <a:lstStyle/>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15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내일희망</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컨설팅기관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지정</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 직업능력개발훈련 훈련기관 인증 획득</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기업활용</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운영기관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94" name="직사각형 93">
              <a:extLst>
                <a:ext uri="{FF2B5EF4-FFF2-40B4-BE49-F238E27FC236}">
                  <a16:creationId xmlns:a16="http://schemas.microsoft.com/office/drawing/2014/main" id="{0908067B-2DD3-4A9D-E9D8-CF26D8958156}"/>
                </a:ext>
              </a:extLst>
            </p:cNvPr>
            <p:cNvSpPr/>
            <p:nvPr/>
          </p:nvSpPr>
          <p:spPr>
            <a:xfrm>
              <a:off x="4020099" y="4571134"/>
              <a:ext cx="307400" cy="605294"/>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 </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06</a:t>
              </a:r>
            </a:p>
          </p:txBody>
        </p:sp>
      </p:grpSp>
      <p:grpSp>
        <p:nvGrpSpPr>
          <p:cNvPr id="95" name="그룹 94">
            <a:extLst>
              <a:ext uri="{FF2B5EF4-FFF2-40B4-BE49-F238E27FC236}">
                <a16:creationId xmlns:a16="http://schemas.microsoft.com/office/drawing/2014/main" id="{AC3C1274-1A6D-4753-B4DB-D09BD60B8390}"/>
              </a:ext>
            </a:extLst>
          </p:cNvPr>
          <p:cNvGrpSpPr/>
          <p:nvPr/>
        </p:nvGrpSpPr>
        <p:grpSpPr>
          <a:xfrm>
            <a:off x="3535904" y="5332495"/>
            <a:ext cx="3099990" cy="1092607"/>
            <a:chOff x="3535904" y="5332495"/>
            <a:chExt cx="3099990" cy="1092607"/>
          </a:xfrm>
        </p:grpSpPr>
        <p:sp>
          <p:nvSpPr>
            <p:cNvPr id="96" name="TextBox 95">
              <a:extLst>
                <a:ext uri="{FF2B5EF4-FFF2-40B4-BE49-F238E27FC236}">
                  <a16:creationId xmlns:a16="http://schemas.microsoft.com/office/drawing/2014/main" id="{C6AF1AA6-0EC8-A30C-92D2-2C8ACFB70BB2}"/>
                </a:ext>
              </a:extLst>
            </p:cNvPr>
            <p:cNvSpPr txBox="1"/>
            <p:nvPr/>
          </p:nvSpPr>
          <p:spPr>
            <a:xfrm>
              <a:off x="3535904" y="5400745"/>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2016</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97" name="직사각형 96">
              <a:extLst>
                <a:ext uri="{FF2B5EF4-FFF2-40B4-BE49-F238E27FC236}">
                  <a16:creationId xmlns:a16="http://schemas.microsoft.com/office/drawing/2014/main" id="{CD6FF5CC-B8B5-666C-7B26-DFE301F032F8}"/>
                </a:ext>
              </a:extLst>
            </p:cNvPr>
            <p:cNvSpPr/>
            <p:nvPr/>
          </p:nvSpPr>
          <p:spPr>
            <a:xfrm>
              <a:off x="4306044" y="5332495"/>
              <a:ext cx="2329850" cy="1092607"/>
            </a:xfrm>
            <a:prstGeom prst="rect">
              <a:avLst/>
            </a:prstGeom>
          </p:spPr>
          <p:txBody>
            <a:bodyPr wrap="square" lIns="0" rIns="0">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역량평가센터 설립</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a:t>
              </a: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보완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퍼실리테이터</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양성과정 수행기관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참여전문가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역량향상과정 수행기관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156" name="직사각형 155">
              <a:extLst>
                <a:ext uri="{FF2B5EF4-FFF2-40B4-BE49-F238E27FC236}">
                  <a16:creationId xmlns:a16="http://schemas.microsoft.com/office/drawing/2014/main" id="{5DACA8E0-2CEC-FB23-B1CD-997BC31A4A9F}"/>
                </a:ext>
              </a:extLst>
            </p:cNvPr>
            <p:cNvSpPr/>
            <p:nvPr/>
          </p:nvSpPr>
          <p:spPr>
            <a:xfrm>
              <a:off x="4020099" y="5332495"/>
              <a:ext cx="307400" cy="964367"/>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01</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03</a:t>
              </a:r>
            </a:p>
            <a:p>
              <a:pPr latinLnBrk="0">
                <a:lnSpc>
                  <a:spcPts val="1200"/>
                </a:lnSpc>
                <a:spcBef>
                  <a:spcPts val="200"/>
                </a:spcBef>
                <a:buFont typeface="Wingdings" pitchFamily="2" charset="2"/>
                <a:buNone/>
                <a:defRPr/>
              </a:pPr>
              <a:endParaRPr lang="en-US" altLang="ko-KR" sz="6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06</a:t>
              </a:r>
            </a:p>
          </p:txBody>
        </p:sp>
      </p:grpSp>
      <p:grpSp>
        <p:nvGrpSpPr>
          <p:cNvPr id="157" name="그룹 156">
            <a:extLst>
              <a:ext uri="{FF2B5EF4-FFF2-40B4-BE49-F238E27FC236}">
                <a16:creationId xmlns:a16="http://schemas.microsoft.com/office/drawing/2014/main" id="{AE3B9CB0-2E90-0CF3-C48E-105B422FF121}"/>
              </a:ext>
            </a:extLst>
          </p:cNvPr>
          <p:cNvGrpSpPr/>
          <p:nvPr/>
        </p:nvGrpSpPr>
        <p:grpSpPr>
          <a:xfrm>
            <a:off x="6456401" y="1791309"/>
            <a:ext cx="2939160" cy="1092607"/>
            <a:chOff x="6506505" y="1791309"/>
            <a:chExt cx="2939160" cy="1092607"/>
          </a:xfrm>
        </p:grpSpPr>
        <p:sp>
          <p:nvSpPr>
            <p:cNvPr id="158" name="TextBox 157">
              <a:extLst>
                <a:ext uri="{FF2B5EF4-FFF2-40B4-BE49-F238E27FC236}">
                  <a16:creationId xmlns:a16="http://schemas.microsoft.com/office/drawing/2014/main" id="{84D19F5E-5385-210C-24B7-37DA12FD5524}"/>
                </a:ext>
              </a:extLst>
            </p:cNvPr>
            <p:cNvSpPr txBox="1"/>
            <p:nvPr/>
          </p:nvSpPr>
          <p:spPr>
            <a:xfrm>
              <a:off x="6506505" y="1801310"/>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2017</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59" name="직사각형 158">
              <a:extLst>
                <a:ext uri="{FF2B5EF4-FFF2-40B4-BE49-F238E27FC236}">
                  <a16:creationId xmlns:a16="http://schemas.microsoft.com/office/drawing/2014/main" id="{3DBD30F0-2679-965D-E906-48B682911CD0}"/>
                </a:ext>
              </a:extLst>
            </p:cNvPr>
            <p:cNvSpPr/>
            <p:nvPr/>
          </p:nvSpPr>
          <p:spPr>
            <a:xfrm>
              <a:off x="7155182" y="1791309"/>
              <a:ext cx="2290483" cy="1092607"/>
            </a:xfrm>
            <a:prstGeom prst="rect">
              <a:avLst/>
            </a:prstGeom>
          </p:spPr>
          <p:txBody>
            <a:bodyPr wrap="square">
              <a:spAutoFit/>
            </a:bodyPr>
            <a:lstStyle/>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HR</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담당자 전문기관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HR</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아카데미 법인 설립</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중견기업 인사담당자 역량강화 워크숍 운영기관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한국중견기업연합회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 개선의견 전문가 검토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160" name="직사각형 159">
              <a:extLst>
                <a:ext uri="{FF2B5EF4-FFF2-40B4-BE49-F238E27FC236}">
                  <a16:creationId xmlns:a16="http://schemas.microsoft.com/office/drawing/2014/main" id="{387AC2EB-340A-1E56-C1C5-3D744EB2B57D}"/>
                </a:ext>
              </a:extLst>
            </p:cNvPr>
            <p:cNvSpPr/>
            <p:nvPr/>
          </p:nvSpPr>
          <p:spPr>
            <a:xfrm>
              <a:off x="6941191" y="1791309"/>
              <a:ext cx="307400" cy="964367"/>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01</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03</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10</a:t>
              </a:r>
            </a:p>
            <a:p>
              <a:pPr latinLnBrk="0">
                <a:lnSpc>
                  <a:spcPts val="1200"/>
                </a:lnSpc>
                <a:spcBef>
                  <a:spcPts val="200"/>
                </a:spcBef>
                <a:buFont typeface="Wingdings" pitchFamily="2" charset="2"/>
                <a:buNone/>
                <a:defRPr/>
              </a:pPr>
              <a:endParaRPr lang="en-US" altLang="ko-KR" sz="6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12</a:t>
              </a:r>
            </a:p>
          </p:txBody>
        </p:sp>
      </p:grpSp>
      <p:grpSp>
        <p:nvGrpSpPr>
          <p:cNvPr id="161" name="그룹 160">
            <a:extLst>
              <a:ext uri="{FF2B5EF4-FFF2-40B4-BE49-F238E27FC236}">
                <a16:creationId xmlns:a16="http://schemas.microsoft.com/office/drawing/2014/main" id="{5CB83EF8-69DD-E0BD-B6DC-628695A90CD9}"/>
              </a:ext>
            </a:extLst>
          </p:cNvPr>
          <p:cNvGrpSpPr/>
          <p:nvPr/>
        </p:nvGrpSpPr>
        <p:grpSpPr>
          <a:xfrm>
            <a:off x="6456401" y="2852936"/>
            <a:ext cx="2939161" cy="1092607"/>
            <a:chOff x="6506505" y="2947645"/>
            <a:chExt cx="2939161" cy="1092607"/>
          </a:xfrm>
        </p:grpSpPr>
        <p:sp>
          <p:nvSpPr>
            <p:cNvPr id="162" name="TextBox 161">
              <a:extLst>
                <a:ext uri="{FF2B5EF4-FFF2-40B4-BE49-F238E27FC236}">
                  <a16:creationId xmlns:a16="http://schemas.microsoft.com/office/drawing/2014/main" id="{83227F77-148A-26E6-C513-CA337A73584F}"/>
                </a:ext>
              </a:extLst>
            </p:cNvPr>
            <p:cNvSpPr txBox="1"/>
            <p:nvPr/>
          </p:nvSpPr>
          <p:spPr>
            <a:xfrm>
              <a:off x="6506505" y="2999493"/>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2018</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63" name="직사각형 162">
              <a:extLst>
                <a:ext uri="{FF2B5EF4-FFF2-40B4-BE49-F238E27FC236}">
                  <a16:creationId xmlns:a16="http://schemas.microsoft.com/office/drawing/2014/main" id="{5C328A9A-5AEC-AC4A-03DE-9E58A588B819}"/>
                </a:ext>
              </a:extLst>
            </p:cNvPr>
            <p:cNvSpPr/>
            <p:nvPr/>
          </p:nvSpPr>
          <p:spPr>
            <a:xfrm>
              <a:off x="7155183" y="2947645"/>
              <a:ext cx="2290483" cy="1092607"/>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개발∙개선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참여인력</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역량향상과정 수행기관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18</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개발∙개선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참여인력</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역량향상과정 운영기관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18</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기업활용컨설팅 운영기관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164" name="직사각형 163">
              <a:extLst>
                <a:ext uri="{FF2B5EF4-FFF2-40B4-BE49-F238E27FC236}">
                  <a16:creationId xmlns:a16="http://schemas.microsoft.com/office/drawing/2014/main" id="{C0018233-C480-004A-997F-3FD8EF39336D}"/>
                </a:ext>
              </a:extLst>
            </p:cNvPr>
            <p:cNvSpPr/>
            <p:nvPr/>
          </p:nvSpPr>
          <p:spPr>
            <a:xfrm>
              <a:off x="6941191" y="2947645"/>
              <a:ext cx="307400" cy="1056315"/>
            </a:xfrm>
            <a:prstGeom prst="rect">
              <a:avLst/>
            </a:prstGeom>
          </p:spPr>
          <p:txBody>
            <a:bodyPr wrap="square">
              <a:spAutoFit/>
            </a:bodyPr>
            <a:lstStyle/>
            <a:p>
              <a:pPr latinLnBrk="0">
                <a:lnSpc>
                  <a:spcPts val="11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a:p>
              <a:pPr latinLnBrk="0">
                <a:lnSpc>
                  <a:spcPts val="11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1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1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1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1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07</a:t>
              </a:r>
            </a:p>
          </p:txBody>
        </p:sp>
      </p:grpSp>
      <p:cxnSp>
        <p:nvCxnSpPr>
          <p:cNvPr id="165" name="직선 연결선 164">
            <a:extLst>
              <a:ext uri="{FF2B5EF4-FFF2-40B4-BE49-F238E27FC236}">
                <a16:creationId xmlns:a16="http://schemas.microsoft.com/office/drawing/2014/main" id="{75C9ACD1-F60D-AC9D-637C-EB3A170400B8}"/>
              </a:ext>
            </a:extLst>
          </p:cNvPr>
          <p:cNvCxnSpPr/>
          <p:nvPr/>
        </p:nvCxnSpPr>
        <p:spPr>
          <a:xfrm>
            <a:off x="3512202" y="1821253"/>
            <a:ext cx="0" cy="4593604"/>
          </a:xfrm>
          <a:prstGeom prst="line">
            <a:avLst/>
          </a:prstGeom>
          <a:noFill/>
          <a:ln w="6350" cap="flat" cmpd="sng" algn="ctr">
            <a:solidFill>
              <a:sysClr val="window" lastClr="FFFFFF">
                <a:lumMod val="85000"/>
              </a:sysClr>
            </a:solidFill>
            <a:prstDash val="sysDash"/>
            <a:miter lim="800000"/>
          </a:ln>
          <a:effectLst/>
        </p:spPr>
      </p:cxnSp>
      <p:grpSp>
        <p:nvGrpSpPr>
          <p:cNvPr id="166" name="그룹 165">
            <a:extLst>
              <a:ext uri="{FF2B5EF4-FFF2-40B4-BE49-F238E27FC236}">
                <a16:creationId xmlns:a16="http://schemas.microsoft.com/office/drawing/2014/main" id="{3112CCE1-B5D6-A9BD-37A8-FD5B5F64C715}"/>
              </a:ext>
            </a:extLst>
          </p:cNvPr>
          <p:cNvGrpSpPr/>
          <p:nvPr/>
        </p:nvGrpSpPr>
        <p:grpSpPr>
          <a:xfrm>
            <a:off x="6456401" y="3956534"/>
            <a:ext cx="2977528" cy="923280"/>
            <a:chOff x="6506505" y="4623750"/>
            <a:chExt cx="2977528" cy="923280"/>
          </a:xfrm>
        </p:grpSpPr>
        <p:sp>
          <p:nvSpPr>
            <p:cNvPr id="167" name="TextBox 166">
              <a:extLst>
                <a:ext uri="{FF2B5EF4-FFF2-40B4-BE49-F238E27FC236}">
                  <a16:creationId xmlns:a16="http://schemas.microsoft.com/office/drawing/2014/main" id="{074CF49E-A19C-A86D-AD37-21AE0D5541E7}"/>
                </a:ext>
              </a:extLst>
            </p:cNvPr>
            <p:cNvSpPr txBox="1"/>
            <p:nvPr/>
          </p:nvSpPr>
          <p:spPr>
            <a:xfrm>
              <a:off x="6506505" y="4652211"/>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2019</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68" name="직사각형 167">
              <a:extLst>
                <a:ext uri="{FF2B5EF4-FFF2-40B4-BE49-F238E27FC236}">
                  <a16:creationId xmlns:a16="http://schemas.microsoft.com/office/drawing/2014/main" id="{CF38B853-195A-9A01-8B37-C9933D034EA3}"/>
                </a:ext>
              </a:extLst>
            </p:cNvPr>
            <p:cNvSpPr/>
            <p:nvPr/>
          </p:nvSpPr>
          <p:spPr>
            <a:xfrm>
              <a:off x="6941191" y="4623750"/>
              <a:ext cx="307400" cy="784830"/>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03</a:t>
              </a:r>
            </a:p>
            <a:p>
              <a:pPr latinLnBrk="0">
                <a:lnSpc>
                  <a:spcPts val="12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p:txBody>
        </p:sp>
        <p:sp>
          <p:nvSpPr>
            <p:cNvPr id="169" name="직사각형 168">
              <a:extLst>
                <a:ext uri="{FF2B5EF4-FFF2-40B4-BE49-F238E27FC236}">
                  <a16:creationId xmlns:a16="http://schemas.microsoft.com/office/drawing/2014/main" id="{728064E1-A07C-492C-1771-F98E473F5892}"/>
                </a:ext>
              </a:extLst>
            </p:cNvPr>
            <p:cNvSpPr/>
            <p:nvPr/>
          </p:nvSpPr>
          <p:spPr>
            <a:xfrm>
              <a:off x="7155182" y="4633960"/>
              <a:ext cx="2328851" cy="913070"/>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19</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중소기업 훈련지원센터 운영기관 지정</a:t>
              </a:r>
              <a:b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b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경기경영자총협회 컨소시엄</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19</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기업활용컨설팅 운영기관 지정</a:t>
              </a:r>
              <a:b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b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grpSp>
      <p:grpSp>
        <p:nvGrpSpPr>
          <p:cNvPr id="171" name="그룹 170">
            <a:extLst>
              <a:ext uri="{FF2B5EF4-FFF2-40B4-BE49-F238E27FC236}">
                <a16:creationId xmlns:a16="http://schemas.microsoft.com/office/drawing/2014/main" id="{01330ED7-F0B7-511C-0F39-51BDD9BA294E}"/>
              </a:ext>
            </a:extLst>
          </p:cNvPr>
          <p:cNvGrpSpPr/>
          <p:nvPr/>
        </p:nvGrpSpPr>
        <p:grpSpPr>
          <a:xfrm>
            <a:off x="6456402" y="5068823"/>
            <a:ext cx="2977527" cy="435968"/>
            <a:chOff x="6506506" y="5735788"/>
            <a:chExt cx="2977527" cy="435968"/>
          </a:xfrm>
        </p:grpSpPr>
        <p:sp>
          <p:nvSpPr>
            <p:cNvPr id="172" name="TextBox 171">
              <a:extLst>
                <a:ext uri="{FF2B5EF4-FFF2-40B4-BE49-F238E27FC236}">
                  <a16:creationId xmlns:a16="http://schemas.microsoft.com/office/drawing/2014/main" id="{26E6C123-B450-AFAF-9041-BD6723955C08}"/>
                </a:ext>
              </a:extLst>
            </p:cNvPr>
            <p:cNvSpPr txBox="1"/>
            <p:nvPr/>
          </p:nvSpPr>
          <p:spPr>
            <a:xfrm>
              <a:off x="6506506" y="5773483"/>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2021</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73" name="직사각형 172">
              <a:extLst>
                <a:ext uri="{FF2B5EF4-FFF2-40B4-BE49-F238E27FC236}">
                  <a16:creationId xmlns:a16="http://schemas.microsoft.com/office/drawing/2014/main" id="{18C0E199-84B7-514C-2EE0-BBB590554E05}"/>
                </a:ext>
              </a:extLst>
            </p:cNvPr>
            <p:cNvSpPr/>
            <p:nvPr/>
          </p:nvSpPr>
          <p:spPr>
            <a:xfrm>
              <a:off x="6941191" y="5735788"/>
              <a:ext cx="307400" cy="425758"/>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06</a:t>
              </a:r>
            </a:p>
          </p:txBody>
        </p:sp>
        <p:sp>
          <p:nvSpPr>
            <p:cNvPr id="174" name="직사각형 173">
              <a:extLst>
                <a:ext uri="{FF2B5EF4-FFF2-40B4-BE49-F238E27FC236}">
                  <a16:creationId xmlns:a16="http://schemas.microsoft.com/office/drawing/2014/main" id="{FBE3F5BA-C801-96E6-CBAE-C07F479CA402}"/>
                </a:ext>
              </a:extLst>
            </p:cNvPr>
            <p:cNvSpPr/>
            <p:nvPr/>
          </p:nvSpPr>
          <p:spPr>
            <a:xfrm>
              <a:off x="7155182" y="5745998"/>
              <a:ext cx="2328851" cy="425758"/>
            </a:xfrm>
            <a:prstGeom prst="rect">
              <a:avLst/>
            </a:prstGeom>
          </p:spPr>
          <p:txBody>
            <a:bodyPr wrap="square">
              <a:spAutoFit/>
            </a:bodyPr>
            <a:lstStyle/>
            <a:p>
              <a:pPr algn="l" latinLnBrk="0">
                <a:lnSpc>
                  <a:spcPts val="1200"/>
                </a:lnSpc>
                <a:spcBef>
                  <a:spcPts val="200"/>
                </a:spcBef>
                <a:buFont typeface="Wingdings" pitchFamily="2" charset="2"/>
                <a:buNone/>
                <a:defRPr/>
              </a:pPr>
              <a:r>
                <a:rPr lang="en-US" altLang="ko-KR" sz="800" spc="-40" dirty="0">
                  <a:ln>
                    <a:solidFill>
                      <a:srgbClr val="4F81BD">
                        <a:alpha val="0"/>
                      </a:srgbClr>
                    </a:solidFill>
                  </a:ln>
                  <a:solidFill>
                    <a:srgbClr val="0070C0"/>
                  </a:solidFill>
                  <a:latin typeface="Arial Narrow" panose="020B0606020202030204" pitchFamily="34" charset="0"/>
                  <a:ea typeface="a고딕14" panose="02020600000000000000" pitchFamily="18" charset="-127"/>
                  <a:cs typeface="KoPubWorld돋움체 Light" panose="00000300000000000000" pitchFamily="2" charset="-127"/>
                </a:rPr>
                <a:t>‘</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시앤피에이</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에서 대우경영컨설팅㈜ 상호 변경</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21</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년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직무표준화</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교육 컨설팅 위탁 수행</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p:txBody>
        </p:sp>
      </p:grpSp>
      <p:grpSp>
        <p:nvGrpSpPr>
          <p:cNvPr id="175" name="그룹 174">
            <a:extLst>
              <a:ext uri="{FF2B5EF4-FFF2-40B4-BE49-F238E27FC236}">
                <a16:creationId xmlns:a16="http://schemas.microsoft.com/office/drawing/2014/main" id="{218DBBD9-71C7-5BA6-38A3-AD447FB8D694}"/>
              </a:ext>
            </a:extLst>
          </p:cNvPr>
          <p:cNvGrpSpPr/>
          <p:nvPr/>
        </p:nvGrpSpPr>
        <p:grpSpPr>
          <a:xfrm>
            <a:off x="6456403" y="5467128"/>
            <a:ext cx="2977526" cy="435968"/>
            <a:chOff x="6506507" y="6034958"/>
            <a:chExt cx="2977526" cy="435968"/>
          </a:xfrm>
        </p:grpSpPr>
        <p:sp>
          <p:nvSpPr>
            <p:cNvPr id="176" name="TextBox 175">
              <a:extLst>
                <a:ext uri="{FF2B5EF4-FFF2-40B4-BE49-F238E27FC236}">
                  <a16:creationId xmlns:a16="http://schemas.microsoft.com/office/drawing/2014/main" id="{C77324F1-97AE-588F-0FD7-7119D24E0D13}"/>
                </a:ext>
              </a:extLst>
            </p:cNvPr>
            <p:cNvSpPr txBox="1"/>
            <p:nvPr/>
          </p:nvSpPr>
          <p:spPr>
            <a:xfrm>
              <a:off x="6506507" y="6045168"/>
              <a:ext cx="557846"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2022</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77" name="직사각형 176">
              <a:extLst>
                <a:ext uri="{FF2B5EF4-FFF2-40B4-BE49-F238E27FC236}">
                  <a16:creationId xmlns:a16="http://schemas.microsoft.com/office/drawing/2014/main" id="{E6D3516A-DF3B-F96C-9AE6-5900DB1D14D7}"/>
                </a:ext>
              </a:extLst>
            </p:cNvPr>
            <p:cNvSpPr/>
            <p:nvPr/>
          </p:nvSpPr>
          <p:spPr>
            <a:xfrm>
              <a:off x="6941191" y="6034958"/>
              <a:ext cx="307400" cy="232371"/>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p:txBody>
        </p:sp>
        <p:sp>
          <p:nvSpPr>
            <p:cNvPr id="178" name="직사각형 177">
              <a:extLst>
                <a:ext uri="{FF2B5EF4-FFF2-40B4-BE49-F238E27FC236}">
                  <a16:creationId xmlns:a16="http://schemas.microsoft.com/office/drawing/2014/main" id="{FB98B64B-F2D8-D271-F7E5-B448C0D8A1FA}"/>
                </a:ext>
              </a:extLst>
            </p:cNvPr>
            <p:cNvSpPr/>
            <p:nvPr/>
          </p:nvSpPr>
          <p:spPr>
            <a:xfrm>
              <a:off x="7155182" y="6045168"/>
              <a:ext cx="2328851" cy="425758"/>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대한민국 인적자원개발 대상</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HRD</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협회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중진공</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구조혁신 사업 수행기관 선정</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p:txBody>
        </p:sp>
      </p:grpSp>
      <p:grpSp>
        <p:nvGrpSpPr>
          <p:cNvPr id="179" name="그룹 178">
            <a:extLst>
              <a:ext uri="{FF2B5EF4-FFF2-40B4-BE49-F238E27FC236}">
                <a16:creationId xmlns:a16="http://schemas.microsoft.com/office/drawing/2014/main" id="{78B2C422-15F1-FA49-C937-82B10531A9E8}"/>
              </a:ext>
            </a:extLst>
          </p:cNvPr>
          <p:cNvGrpSpPr/>
          <p:nvPr/>
        </p:nvGrpSpPr>
        <p:grpSpPr>
          <a:xfrm>
            <a:off x="6456401" y="4820630"/>
            <a:ext cx="2977528" cy="290775"/>
            <a:chOff x="6506505" y="5735788"/>
            <a:chExt cx="2977528" cy="290775"/>
          </a:xfrm>
        </p:grpSpPr>
        <p:sp>
          <p:nvSpPr>
            <p:cNvPr id="180" name="TextBox 179">
              <a:extLst>
                <a:ext uri="{FF2B5EF4-FFF2-40B4-BE49-F238E27FC236}">
                  <a16:creationId xmlns:a16="http://schemas.microsoft.com/office/drawing/2014/main" id="{E217FBA3-C740-3FFC-490A-44B02CD73107}"/>
                </a:ext>
              </a:extLst>
            </p:cNvPr>
            <p:cNvSpPr txBox="1"/>
            <p:nvPr/>
          </p:nvSpPr>
          <p:spPr>
            <a:xfrm>
              <a:off x="6506505" y="5754694"/>
              <a:ext cx="557846"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2020</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81" name="직사각형 180">
              <a:extLst>
                <a:ext uri="{FF2B5EF4-FFF2-40B4-BE49-F238E27FC236}">
                  <a16:creationId xmlns:a16="http://schemas.microsoft.com/office/drawing/2014/main" id="{3AD88A6E-BC3B-7D4B-F682-4040F3F790C7}"/>
                </a:ext>
              </a:extLst>
            </p:cNvPr>
            <p:cNvSpPr/>
            <p:nvPr/>
          </p:nvSpPr>
          <p:spPr>
            <a:xfrm>
              <a:off x="6941191" y="5735788"/>
              <a:ext cx="307400" cy="232371"/>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07</a:t>
              </a:r>
            </a:p>
          </p:txBody>
        </p:sp>
        <p:sp>
          <p:nvSpPr>
            <p:cNvPr id="182" name="직사각형 181">
              <a:extLst>
                <a:ext uri="{FF2B5EF4-FFF2-40B4-BE49-F238E27FC236}">
                  <a16:creationId xmlns:a16="http://schemas.microsoft.com/office/drawing/2014/main" id="{115A2CAB-DF46-E948-AA92-2AB96C244032}"/>
                </a:ext>
              </a:extLst>
            </p:cNvPr>
            <p:cNvSpPr/>
            <p:nvPr/>
          </p:nvSpPr>
          <p:spPr>
            <a:xfrm>
              <a:off x="7155182" y="5745998"/>
              <a:ext cx="2328851" cy="232371"/>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자회사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시앤피에이</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설립</a:t>
              </a:r>
            </a:p>
          </p:txBody>
        </p:sp>
      </p:grpSp>
      <p:grpSp>
        <p:nvGrpSpPr>
          <p:cNvPr id="183" name="그룹 182">
            <a:extLst>
              <a:ext uri="{FF2B5EF4-FFF2-40B4-BE49-F238E27FC236}">
                <a16:creationId xmlns:a16="http://schemas.microsoft.com/office/drawing/2014/main" id="{9390FB47-AFBF-7372-187E-FA8D02280CC9}"/>
              </a:ext>
            </a:extLst>
          </p:cNvPr>
          <p:cNvGrpSpPr/>
          <p:nvPr/>
        </p:nvGrpSpPr>
        <p:grpSpPr>
          <a:xfrm>
            <a:off x="6456403" y="6118837"/>
            <a:ext cx="2977526" cy="411908"/>
            <a:chOff x="6506507" y="6032642"/>
            <a:chExt cx="2977526" cy="411908"/>
          </a:xfrm>
        </p:grpSpPr>
        <p:sp>
          <p:nvSpPr>
            <p:cNvPr id="184" name="TextBox 183">
              <a:extLst>
                <a:ext uri="{FF2B5EF4-FFF2-40B4-BE49-F238E27FC236}">
                  <a16:creationId xmlns:a16="http://schemas.microsoft.com/office/drawing/2014/main" id="{3B3E7678-BBA3-BB2F-4CEF-A79BCF6CD32B}"/>
                </a:ext>
              </a:extLst>
            </p:cNvPr>
            <p:cNvSpPr txBox="1"/>
            <p:nvPr/>
          </p:nvSpPr>
          <p:spPr>
            <a:xfrm>
              <a:off x="6506507" y="6045168"/>
              <a:ext cx="557846"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2024</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85" name="직사각형 184">
              <a:extLst>
                <a:ext uri="{FF2B5EF4-FFF2-40B4-BE49-F238E27FC236}">
                  <a16:creationId xmlns:a16="http://schemas.microsoft.com/office/drawing/2014/main" id="{93380BF4-81D6-B584-E93C-8C7EFD2A4398}"/>
                </a:ext>
              </a:extLst>
            </p:cNvPr>
            <p:cNvSpPr/>
            <p:nvPr/>
          </p:nvSpPr>
          <p:spPr>
            <a:xfrm>
              <a:off x="6941191" y="6034958"/>
              <a:ext cx="307400" cy="232371"/>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05</a:t>
              </a:r>
            </a:p>
          </p:txBody>
        </p:sp>
        <p:sp>
          <p:nvSpPr>
            <p:cNvPr id="186" name="직사각형 185">
              <a:extLst>
                <a:ext uri="{FF2B5EF4-FFF2-40B4-BE49-F238E27FC236}">
                  <a16:creationId xmlns:a16="http://schemas.microsoft.com/office/drawing/2014/main" id="{1ADFACF8-2A73-5976-44B1-AE09749622EA}"/>
                </a:ext>
              </a:extLst>
            </p:cNvPr>
            <p:cNvSpPr/>
            <p:nvPr/>
          </p:nvSpPr>
          <p:spPr>
            <a:xfrm>
              <a:off x="7155182" y="6032642"/>
              <a:ext cx="2328851" cy="411908"/>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사업재편 컨설팅 수행기관 선정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대한상공회의소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2024</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년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기술교육로드맵</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개발 및 신규과정 선정 용역 수행</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p:txBody>
        </p:sp>
      </p:grpSp>
      <p:grpSp>
        <p:nvGrpSpPr>
          <p:cNvPr id="187" name="그룹 186">
            <a:extLst>
              <a:ext uri="{FF2B5EF4-FFF2-40B4-BE49-F238E27FC236}">
                <a16:creationId xmlns:a16="http://schemas.microsoft.com/office/drawing/2014/main" id="{6FC50691-A5BE-EF0C-9EF7-BA549BC539D3}"/>
              </a:ext>
            </a:extLst>
          </p:cNvPr>
          <p:cNvGrpSpPr/>
          <p:nvPr/>
        </p:nvGrpSpPr>
        <p:grpSpPr>
          <a:xfrm>
            <a:off x="6456403" y="5868073"/>
            <a:ext cx="2977526" cy="282079"/>
            <a:chOff x="6506507" y="6034958"/>
            <a:chExt cx="2977526" cy="282079"/>
          </a:xfrm>
        </p:grpSpPr>
        <p:sp>
          <p:nvSpPr>
            <p:cNvPr id="188" name="TextBox 187">
              <a:extLst>
                <a:ext uri="{FF2B5EF4-FFF2-40B4-BE49-F238E27FC236}">
                  <a16:creationId xmlns:a16="http://schemas.microsoft.com/office/drawing/2014/main" id="{A4CA496D-E7F2-5B44-4464-31F87DDC75A7}"/>
                </a:ext>
              </a:extLst>
            </p:cNvPr>
            <p:cNvSpPr txBox="1"/>
            <p:nvPr/>
          </p:nvSpPr>
          <p:spPr>
            <a:xfrm>
              <a:off x="6506507" y="6045168"/>
              <a:ext cx="557846"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2023</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89" name="직사각형 188">
              <a:extLst>
                <a:ext uri="{FF2B5EF4-FFF2-40B4-BE49-F238E27FC236}">
                  <a16:creationId xmlns:a16="http://schemas.microsoft.com/office/drawing/2014/main" id="{D8B95D13-7B6D-0548-B514-1E8EA6A372A2}"/>
                </a:ext>
              </a:extLst>
            </p:cNvPr>
            <p:cNvSpPr/>
            <p:nvPr/>
          </p:nvSpPr>
          <p:spPr>
            <a:xfrm>
              <a:off x="6941191" y="6034958"/>
              <a:ext cx="307400" cy="232371"/>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p:txBody>
        </p:sp>
        <p:sp>
          <p:nvSpPr>
            <p:cNvPr id="190" name="직사각형 189">
              <a:extLst>
                <a:ext uri="{FF2B5EF4-FFF2-40B4-BE49-F238E27FC236}">
                  <a16:creationId xmlns:a16="http://schemas.microsoft.com/office/drawing/2014/main" id="{8F58A44C-7C88-237E-66E1-87E9D3E8C721}"/>
                </a:ext>
              </a:extLst>
            </p:cNvPr>
            <p:cNvSpPr/>
            <p:nvPr/>
          </p:nvSpPr>
          <p:spPr>
            <a:xfrm>
              <a:off x="7155182" y="6045168"/>
              <a:ext cx="2328851" cy="246221"/>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 재택컨설팅 수행기관 선정</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p:txBody>
        </p:sp>
      </p:grpSp>
    </p:spTree>
    <p:extLst>
      <p:ext uri="{BB962C8B-B14F-4D97-AF65-F5344CB8AC3E}">
        <p14:creationId xmlns:p14="http://schemas.microsoft.com/office/powerpoint/2010/main" val="131090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Ⅳ</a:t>
            </a:r>
            <a:r>
              <a:rPr lang="en-US" altLang="ko-KR" dirty="0">
                <a:latin typeface="+mn-ea"/>
              </a:rPr>
              <a:t>. </a:t>
            </a:r>
            <a:r>
              <a:rPr lang="ko-KR" altLang="en-US" dirty="0" err="1">
                <a:latin typeface="+mn-ea"/>
              </a:rPr>
              <a:t>제안업체</a:t>
            </a:r>
            <a:r>
              <a:rPr lang="ko-KR" altLang="en-US" dirty="0">
                <a:latin typeface="+mn-ea"/>
              </a:rPr>
              <a:t> 일반</a:t>
            </a:r>
            <a:endParaRPr lang="en-US" altLang="ko-KR" dirty="0">
              <a:latin typeface="+mn-ea"/>
            </a:endParaRPr>
          </a:p>
          <a:p>
            <a:pPr latinLnBrk="0"/>
            <a:r>
              <a:rPr lang="en-US" altLang="ko-KR" dirty="0">
                <a:latin typeface="+mn-ea"/>
              </a:rPr>
              <a:t>1. </a:t>
            </a:r>
            <a:r>
              <a:rPr lang="ko-KR" altLang="en-US" dirty="0">
                <a:latin typeface="+mn-ea"/>
              </a:rPr>
              <a:t>일반현황</a:t>
            </a:r>
          </a:p>
        </p:txBody>
      </p:sp>
      <p:sp>
        <p:nvSpPr>
          <p:cNvPr id="15" name="직사각형 14"/>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16" name="텍스트 개체 틀 2"/>
          <p:cNvSpPr>
            <a:spLocks noGrp="1"/>
          </p:cNvSpPr>
          <p:nvPr>
            <p:ph type="body" sz="quarter" idx="15"/>
          </p:nvPr>
        </p:nvSpPr>
        <p:spPr>
          <a:xfrm>
            <a:off x="704528" y="252749"/>
            <a:ext cx="6156684" cy="331935"/>
          </a:xfrm>
        </p:spPr>
        <p:txBody>
          <a:bodyPr/>
          <a:lstStyle/>
          <a:p>
            <a:pPr latinLnBrk="0"/>
            <a:r>
              <a:rPr lang="ko-KR" altLang="en-US" dirty="0" err="1"/>
              <a:t>제안사</a:t>
            </a:r>
            <a:r>
              <a:rPr lang="ko-KR" altLang="en-US" dirty="0"/>
              <a:t> 조직 및 인원 현황</a:t>
            </a:r>
            <a:endParaRPr lang="en-US" altLang="ko-KR" dirty="0"/>
          </a:p>
        </p:txBody>
      </p:sp>
      <p:sp>
        <p:nvSpPr>
          <p:cNvPr id="20"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3"/>
            <a:ext cx="8749097" cy="376086"/>
          </a:xfrm>
        </p:spPr>
        <p:txBody>
          <a:bodyPr/>
          <a:lstStyle/>
          <a:p>
            <a:pPr lvl="0" latinLnBrk="0"/>
            <a:r>
              <a:rPr lang="ko-KR" altLang="en-US" spc="-10" dirty="0" err="1">
                <a:solidFill>
                  <a:prstClr val="black"/>
                </a:solidFill>
                <a:latin typeface="a고딕14" panose="02020600000000000000" pitchFamily="18" charset="-127"/>
              </a:rPr>
              <a:t>제안사의</a:t>
            </a:r>
            <a:r>
              <a:rPr lang="ko-KR" altLang="en-US" spc="-10" dirty="0">
                <a:solidFill>
                  <a:prstClr val="black"/>
                </a:solidFill>
                <a:latin typeface="a고딕14" panose="02020600000000000000" pitchFamily="18" charset="-127"/>
              </a:rPr>
              <a:t> 조직체계는 </a:t>
            </a:r>
            <a:r>
              <a:rPr lang="en-US" altLang="ko-KR" spc="-10" dirty="0">
                <a:solidFill>
                  <a:prstClr val="black"/>
                </a:solidFill>
                <a:latin typeface="a고딕14" panose="02020600000000000000" pitchFamily="18" charset="-127"/>
              </a:rPr>
              <a:t>3</a:t>
            </a:r>
            <a:r>
              <a:rPr lang="ko-KR" altLang="en-US" spc="-10" dirty="0">
                <a:solidFill>
                  <a:prstClr val="black"/>
                </a:solidFill>
                <a:latin typeface="a고딕14" panose="02020600000000000000" pitchFamily="18" charset="-127"/>
              </a:rPr>
              <a:t>본부</a:t>
            </a:r>
            <a:r>
              <a:rPr lang="en-US" altLang="ko-KR" spc="-10" dirty="0">
                <a:solidFill>
                  <a:prstClr val="black"/>
                </a:solidFill>
                <a:latin typeface="a고딕14" panose="02020600000000000000" pitchFamily="18" charset="-127"/>
              </a:rPr>
              <a:t>,</a:t>
            </a:r>
            <a:r>
              <a:rPr lang="ko-KR" altLang="en-US" spc="-10" dirty="0">
                <a:solidFill>
                  <a:prstClr val="black"/>
                </a:solidFill>
                <a:latin typeface="a고딕14" panose="02020600000000000000" pitchFamily="18" charset="-127"/>
              </a:rPr>
              <a:t> </a:t>
            </a:r>
            <a:r>
              <a:rPr lang="en-US" altLang="ko-KR" spc="-10" dirty="0">
                <a:solidFill>
                  <a:prstClr val="black"/>
                </a:solidFill>
                <a:latin typeface="a고딕14" panose="02020600000000000000" pitchFamily="18" charset="-127"/>
              </a:rPr>
              <a:t>1</a:t>
            </a:r>
            <a:r>
              <a:rPr lang="ko-KR" altLang="en-US" spc="-10" dirty="0">
                <a:solidFill>
                  <a:prstClr val="black"/>
                </a:solidFill>
                <a:latin typeface="a고딕14" panose="02020600000000000000" pitchFamily="18" charset="-127"/>
              </a:rPr>
              <a:t>연구소</a:t>
            </a:r>
            <a:r>
              <a:rPr lang="en-US" altLang="ko-KR" spc="-10" dirty="0">
                <a:solidFill>
                  <a:prstClr val="black"/>
                </a:solidFill>
                <a:latin typeface="a고딕14" panose="02020600000000000000" pitchFamily="18" charset="-127"/>
              </a:rPr>
              <a:t>, 1</a:t>
            </a:r>
            <a:r>
              <a:rPr lang="ko-KR" altLang="en-US" spc="-10" dirty="0">
                <a:solidFill>
                  <a:prstClr val="black"/>
                </a:solidFill>
                <a:latin typeface="a고딕14" panose="02020600000000000000" pitchFamily="18" charset="-127"/>
              </a:rPr>
              <a:t>아카데미로 구성되어 있으며</a:t>
            </a:r>
            <a:r>
              <a:rPr lang="en-US" altLang="ko-KR" spc="-10" dirty="0">
                <a:solidFill>
                  <a:prstClr val="black"/>
                </a:solidFill>
                <a:latin typeface="a고딕14" panose="02020600000000000000" pitchFamily="18" charset="-127"/>
              </a:rPr>
              <a:t>, HR Total Solution </a:t>
            </a:r>
            <a:r>
              <a:rPr lang="ko-KR" altLang="en-US" spc="-10" dirty="0">
                <a:solidFill>
                  <a:prstClr val="black"/>
                </a:solidFill>
                <a:latin typeface="a고딕14" panose="02020600000000000000" pitchFamily="18" charset="-127"/>
              </a:rPr>
              <a:t>제공을 통하여 고객사의 체계적인 </a:t>
            </a:r>
            <a:r>
              <a:rPr lang="ko-KR" altLang="en-US" spc="-10" dirty="0" err="1">
                <a:solidFill>
                  <a:prstClr val="black"/>
                </a:solidFill>
                <a:latin typeface="a고딕14" panose="02020600000000000000" pitchFamily="18" charset="-127"/>
              </a:rPr>
              <a:t>수행개선과</a:t>
            </a:r>
            <a:r>
              <a:rPr lang="ko-KR" altLang="en-US" spc="-10" dirty="0">
                <a:solidFill>
                  <a:prstClr val="black"/>
                </a:solidFill>
                <a:latin typeface="a고딕14" panose="02020600000000000000" pitchFamily="18" charset="-127"/>
              </a:rPr>
              <a:t> 성과창출에 기여하고 있음</a:t>
            </a:r>
          </a:p>
        </p:txBody>
      </p:sp>
      <p:grpSp>
        <p:nvGrpSpPr>
          <p:cNvPr id="31" name="그룹 30">
            <a:extLst>
              <a:ext uri="{FF2B5EF4-FFF2-40B4-BE49-F238E27FC236}">
                <a16:creationId xmlns:a16="http://schemas.microsoft.com/office/drawing/2014/main" id="{786CAF5C-E5CA-4A7A-8C58-5BBC4139C166}"/>
              </a:ext>
            </a:extLst>
          </p:cNvPr>
          <p:cNvGrpSpPr/>
          <p:nvPr/>
        </p:nvGrpSpPr>
        <p:grpSpPr>
          <a:xfrm>
            <a:off x="560388" y="1524665"/>
            <a:ext cx="8785225" cy="2727883"/>
            <a:chOff x="590904" y="1579830"/>
            <a:chExt cx="8754709" cy="2377671"/>
          </a:xfrm>
        </p:grpSpPr>
        <p:sp>
          <p:nvSpPr>
            <p:cNvPr id="32" name="사각형: 잘린 대각선 방향 모서리 28">
              <a:extLst>
                <a:ext uri="{FF2B5EF4-FFF2-40B4-BE49-F238E27FC236}">
                  <a16:creationId xmlns:a16="http://schemas.microsoft.com/office/drawing/2014/main" id="{F0520359-6649-43E3-909D-1FEFB2EA45D1}"/>
                </a:ext>
              </a:extLst>
            </p:cNvPr>
            <p:cNvSpPr/>
            <p:nvPr/>
          </p:nvSpPr>
          <p:spPr>
            <a:xfrm>
              <a:off x="590904" y="3100531"/>
              <a:ext cx="1497280" cy="758304"/>
            </a:xfrm>
            <a:prstGeom prst="snip2DiagRect">
              <a:avLst/>
            </a:prstGeom>
            <a:noFill/>
            <a:ln w="25400" cap="flat" cmpd="sng" algn="ctr">
              <a:noFill/>
              <a:prstDash val="solid"/>
            </a:ln>
            <a:effectLst/>
          </p:spPr>
          <p:txBody>
            <a:bodyPr lIns="36000" tIns="36000" rIns="36000" bIns="36000"/>
            <a:lstStyle/>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NCS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기업활용 컨설팅</a:t>
              </a:r>
              <a:endPar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NCS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개발컨설팅</a:t>
              </a:r>
              <a:endPar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교육훈련</a:t>
              </a: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자격 분야 </a:t>
              </a:r>
              <a:b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b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NCS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활용 솔루션 제공</a:t>
              </a:r>
            </a:p>
          </p:txBody>
        </p:sp>
        <p:sp>
          <p:nvSpPr>
            <p:cNvPr id="33" name="사각형: 잘린 대각선 방향 모서리 29">
              <a:extLst>
                <a:ext uri="{FF2B5EF4-FFF2-40B4-BE49-F238E27FC236}">
                  <a16:creationId xmlns:a16="http://schemas.microsoft.com/office/drawing/2014/main" id="{B079701B-0124-4081-AADA-E5C6E9DC79DB}"/>
                </a:ext>
              </a:extLst>
            </p:cNvPr>
            <p:cNvSpPr/>
            <p:nvPr/>
          </p:nvSpPr>
          <p:spPr>
            <a:xfrm>
              <a:off x="2409341" y="3100531"/>
              <a:ext cx="1475051" cy="752849"/>
            </a:xfrm>
            <a:prstGeom prst="snip2DiagRect">
              <a:avLst/>
            </a:prstGeom>
            <a:noFill/>
            <a:ln w="25400" cap="flat" cmpd="sng" algn="ctr">
              <a:noFill/>
              <a:prstDash val="solid"/>
            </a:ln>
            <a:effectLst/>
          </p:spPr>
          <p:txBody>
            <a:bodyPr lIns="36000" tIns="36000" rIns="36000" bIns="36000"/>
            <a:lstStyle/>
            <a:p>
              <a:pPr marL="92074" marR="0" lvl="0" indent="-92074"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ko-KR" altLang="en-US"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고용노동부 일터혁신 컨설팅</a:t>
              </a:r>
              <a:endParaRPr kumimoji="0" lang="en-US" altLang="ko-KR"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4" marR="0" lvl="0" indent="-92074"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altLang="ko-KR"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HR</a:t>
              </a:r>
              <a:r>
                <a:rPr kumimoji="0" lang="ko-KR" altLang="en-US"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컨설팅</a:t>
              </a:r>
              <a:endParaRPr kumimoji="0" lang="en-US" altLang="ko-KR"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4" name="사각형: 잘린 대각선 방향 모서리 30">
              <a:extLst>
                <a:ext uri="{FF2B5EF4-FFF2-40B4-BE49-F238E27FC236}">
                  <a16:creationId xmlns:a16="http://schemas.microsoft.com/office/drawing/2014/main" id="{B2BA42DE-67CF-4E07-AC1A-6919C84C4C9E}"/>
                </a:ext>
              </a:extLst>
            </p:cNvPr>
            <p:cNvSpPr/>
            <p:nvPr/>
          </p:nvSpPr>
          <p:spPr>
            <a:xfrm>
              <a:off x="4093822" y="3100530"/>
              <a:ext cx="2047310" cy="645344"/>
            </a:xfrm>
            <a:prstGeom prst="snip2DiagRect">
              <a:avLst/>
            </a:prstGeom>
            <a:noFill/>
            <a:ln w="25400" cap="flat" cmpd="sng" algn="ctr">
              <a:noFill/>
              <a:prstDash val="solid"/>
            </a:ln>
            <a:effectLst/>
          </p:spPr>
          <p:txBody>
            <a:bodyPr lIns="36000" tIns="36000" rIns="36000" bIns="36000"/>
            <a:lstStyle/>
            <a:p>
              <a:pPr marL="92075" marR="0" lvl="0" indent="-92075"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HRD </a:t>
              </a:r>
              <a:r>
                <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컨설팅</a:t>
              </a:r>
              <a:endPar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HRM </a:t>
              </a:r>
              <a:r>
                <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컨설팅</a:t>
              </a:r>
              <a:endPar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ko-KR" altLang="en-US" sz="1000" kern="0" dirty="0">
                  <a:solidFill>
                    <a:prstClr val="black"/>
                  </a:solidFill>
                  <a:latin typeface="a고딕14" panose="02020600000000000000" pitchFamily="18" charset="-127"/>
                  <a:ea typeface="a고딕14" panose="02020600000000000000" pitchFamily="18" charset="-127"/>
                </a:rPr>
                <a:t>전략</a:t>
              </a:r>
              <a:r>
                <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컨설팅</a:t>
              </a:r>
              <a:endPar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5" name="사각형: 잘린 대각선 방향 모서리 32">
              <a:extLst>
                <a:ext uri="{FF2B5EF4-FFF2-40B4-BE49-F238E27FC236}">
                  <a16:creationId xmlns:a16="http://schemas.microsoft.com/office/drawing/2014/main" id="{582B6926-533A-408B-B430-CF89203296AF}"/>
                </a:ext>
              </a:extLst>
            </p:cNvPr>
            <p:cNvSpPr/>
            <p:nvPr/>
          </p:nvSpPr>
          <p:spPr>
            <a:xfrm>
              <a:off x="7870561" y="3107349"/>
              <a:ext cx="1475052" cy="850152"/>
            </a:xfrm>
            <a:prstGeom prst="snip2DiagRect">
              <a:avLst/>
            </a:prstGeom>
            <a:noFill/>
            <a:ln w="25400" cap="flat" cmpd="sng" algn="ctr">
              <a:noFill/>
              <a:prstDash val="solid"/>
            </a:ln>
            <a:effectLst/>
          </p:spPr>
          <p:txBody>
            <a:bodyPr lIns="36000" tIns="36000" rIns="36000" bIns="36000"/>
            <a:lstStyle/>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HR</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콘텐츠 개발</a:t>
              </a:r>
              <a:endPar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교육 기획 및 운영</a:t>
              </a:r>
              <a:endPar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6" name="사각형: 잘린 대각선 방향 모서리 32">
              <a:extLst>
                <a:ext uri="{FF2B5EF4-FFF2-40B4-BE49-F238E27FC236}">
                  <a16:creationId xmlns:a16="http://schemas.microsoft.com/office/drawing/2014/main" id="{9666520C-3AFE-4DF7-94A6-FD149DE3A392}"/>
                </a:ext>
              </a:extLst>
            </p:cNvPr>
            <p:cNvSpPr/>
            <p:nvPr/>
          </p:nvSpPr>
          <p:spPr>
            <a:xfrm>
              <a:off x="6055449" y="3100531"/>
              <a:ext cx="1620557" cy="850152"/>
            </a:xfrm>
            <a:prstGeom prst="snip2DiagRect">
              <a:avLst/>
            </a:prstGeom>
            <a:noFill/>
            <a:ln w="25400" cap="flat" cmpd="sng" algn="ctr">
              <a:noFill/>
              <a:prstDash val="solid"/>
            </a:ln>
            <a:effectLst/>
          </p:spPr>
          <p:txBody>
            <a:bodyPr lIns="36000" tIns="36000" rIns="36000" bIns="36000"/>
            <a:lstStyle/>
            <a:p>
              <a:pPr marL="92075" marR="0" lvl="0" indent="-92075"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HR IT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솔루션 개발</a:t>
              </a: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구축</a:t>
              </a:r>
            </a:p>
            <a:p>
              <a:pPr marL="92075" marR="0" lvl="0" indent="-92075"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시스템 유지 관리</a:t>
              </a:r>
            </a:p>
            <a:p>
              <a:pPr marL="92075" marR="0" lvl="0" indent="-92075"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ko-KR" altLang="en-US" sz="1000" b="0" i="0" u="none" strike="noStrike" kern="0" cap="none" spc="0" normalizeH="0" baseline="0" noProof="0" err="1">
                  <a:ln>
                    <a:noFill/>
                  </a:ln>
                  <a:solidFill>
                    <a:prstClr val="black"/>
                  </a:solidFill>
                  <a:effectLst/>
                  <a:uLnTx/>
                  <a:uFillTx/>
                  <a:latin typeface="a고딕14" panose="02020600000000000000" pitchFamily="18" charset="-127"/>
                  <a:ea typeface="a고딕14" panose="02020600000000000000" pitchFamily="18" charset="-127"/>
                  <a:cs typeface="+mn-cs"/>
                </a:rPr>
                <a:t>신사업발굴</a:t>
              </a:r>
              <a:endPar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7" name="사각형: 잘린 대각선 방향 모서리 2">
              <a:extLst>
                <a:ext uri="{FF2B5EF4-FFF2-40B4-BE49-F238E27FC236}">
                  <a16:creationId xmlns:a16="http://schemas.microsoft.com/office/drawing/2014/main" id="{6EE81109-6856-4047-A6A2-240E8D28A0F2}"/>
                </a:ext>
              </a:extLst>
            </p:cNvPr>
            <p:cNvSpPr/>
            <p:nvPr/>
          </p:nvSpPr>
          <p:spPr>
            <a:xfrm>
              <a:off x="4005248" y="1579830"/>
              <a:ext cx="1896495" cy="309595"/>
            </a:xfrm>
            <a:prstGeom prst="snip2DiagRect">
              <a:avLst/>
            </a:prstGeom>
            <a:solidFill>
              <a:srgbClr val="003F56"/>
            </a:soli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lang="ko-KR" altLang="en-US" kern="0" dirty="0">
                  <a:solidFill>
                    <a:prstClr val="white"/>
                  </a:solidFill>
                  <a:latin typeface="a고딕14" panose="02020600000000000000" pitchFamily="18" charset="-127"/>
                  <a:ea typeface="a고딕14" panose="02020600000000000000" pitchFamily="18" charset="-127"/>
                </a:rPr>
                <a:t>제안사</a:t>
              </a:r>
              <a:endPar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8" name="사각형: 잘린 대각선 방향 모서리 8">
              <a:extLst>
                <a:ext uri="{FF2B5EF4-FFF2-40B4-BE49-F238E27FC236}">
                  <a16:creationId xmlns:a16="http://schemas.microsoft.com/office/drawing/2014/main" id="{69E9FB29-DB00-40F1-8456-1B99BD4A590B}"/>
                </a:ext>
              </a:extLst>
            </p:cNvPr>
            <p:cNvSpPr/>
            <p:nvPr/>
          </p:nvSpPr>
          <p:spPr>
            <a:xfrm>
              <a:off x="1533917" y="2125373"/>
              <a:ext cx="1898044" cy="310959"/>
            </a:xfrm>
            <a:prstGeom prst="snip2DiagRect">
              <a:avLst/>
            </a:prstGeom>
            <a:solidFill>
              <a:srgbClr val="BFBFBF"/>
            </a:soli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0" lang="ko-KR" altLang="en-US" sz="12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자문위원</a:t>
              </a:r>
            </a:p>
          </p:txBody>
        </p:sp>
        <p:sp>
          <p:nvSpPr>
            <p:cNvPr id="39" name="사각형: 잘린 대각선 방향 모서리 9">
              <a:extLst>
                <a:ext uri="{FF2B5EF4-FFF2-40B4-BE49-F238E27FC236}">
                  <a16:creationId xmlns:a16="http://schemas.microsoft.com/office/drawing/2014/main" id="{87F88931-2AD1-4D96-A9C5-5F8E09352545}"/>
                </a:ext>
              </a:extLst>
            </p:cNvPr>
            <p:cNvSpPr/>
            <p:nvPr/>
          </p:nvSpPr>
          <p:spPr>
            <a:xfrm>
              <a:off x="6475029" y="2125373"/>
              <a:ext cx="1898045" cy="310959"/>
            </a:xfrm>
            <a:prstGeom prst="snip2DiagRect">
              <a:avLst/>
            </a:prstGeom>
            <a:solidFill>
              <a:srgbClr val="BFBFBF"/>
            </a:soli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0" lang="ko-KR" altLang="en-US" sz="12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경영지원</a:t>
              </a:r>
            </a:p>
          </p:txBody>
        </p:sp>
        <p:sp>
          <p:nvSpPr>
            <p:cNvPr id="40" name="사각형: 잘린 대각선 방향 모서리 10">
              <a:extLst>
                <a:ext uri="{FF2B5EF4-FFF2-40B4-BE49-F238E27FC236}">
                  <a16:creationId xmlns:a16="http://schemas.microsoft.com/office/drawing/2014/main" id="{4F80AFD1-ED07-4CF2-B81F-38BACF274187}"/>
                </a:ext>
              </a:extLst>
            </p:cNvPr>
            <p:cNvSpPr/>
            <p:nvPr/>
          </p:nvSpPr>
          <p:spPr>
            <a:xfrm>
              <a:off x="596515" y="2824349"/>
              <a:ext cx="1475051" cy="309595"/>
            </a:xfrm>
            <a:prstGeom prst="snip2DiagRect">
              <a:avLst/>
            </a:prstGeom>
            <a:solidFill>
              <a:srgbClr val="305798"/>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rPr>
                <a:t>직업능력개발본부</a:t>
              </a:r>
            </a:p>
          </p:txBody>
        </p:sp>
        <p:sp>
          <p:nvSpPr>
            <p:cNvPr id="41" name="사각형: 잘린 대각선 방향 모서리 11">
              <a:extLst>
                <a:ext uri="{FF2B5EF4-FFF2-40B4-BE49-F238E27FC236}">
                  <a16:creationId xmlns:a16="http://schemas.microsoft.com/office/drawing/2014/main" id="{55BF3A25-1614-48F7-A0FD-AA13D094F431}"/>
                </a:ext>
              </a:extLst>
            </p:cNvPr>
            <p:cNvSpPr/>
            <p:nvPr/>
          </p:nvSpPr>
          <p:spPr>
            <a:xfrm>
              <a:off x="2409341" y="2824349"/>
              <a:ext cx="1475051" cy="309595"/>
            </a:xfrm>
            <a:prstGeom prst="snip2DiagRect">
              <a:avLst/>
            </a:prstGeom>
            <a:solidFill>
              <a:srgbClr val="305798"/>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rPr>
                <a:t>일터혁신본부</a:t>
              </a:r>
            </a:p>
          </p:txBody>
        </p:sp>
        <p:sp>
          <p:nvSpPr>
            <p:cNvPr id="42" name="사각형: 잘린 대각선 방향 모서리 12">
              <a:extLst>
                <a:ext uri="{FF2B5EF4-FFF2-40B4-BE49-F238E27FC236}">
                  <a16:creationId xmlns:a16="http://schemas.microsoft.com/office/drawing/2014/main" id="{9F25B330-1B79-4551-8A52-68DEF55CB79E}"/>
                </a:ext>
              </a:extLst>
            </p:cNvPr>
            <p:cNvSpPr/>
            <p:nvPr/>
          </p:nvSpPr>
          <p:spPr>
            <a:xfrm>
              <a:off x="4110439" y="2824349"/>
              <a:ext cx="1680566" cy="309595"/>
            </a:xfrm>
            <a:prstGeom prst="snip2DiagRect">
              <a:avLst/>
            </a:prstGeom>
            <a:solidFill>
              <a:srgbClr val="FFC149"/>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a:ln>
                    <a:noFill/>
                  </a:ln>
                  <a:solidFill>
                    <a:sysClr val="windowText" lastClr="000000"/>
                  </a:solidFill>
                  <a:effectLst/>
                  <a:uLnTx/>
                  <a:uFillTx/>
                  <a:latin typeface="a고딕14" panose="02020600000000000000" pitchFamily="18" charset="-127"/>
                  <a:ea typeface="a고딕14" panose="02020600000000000000" pitchFamily="18" charset="-127"/>
                  <a:cs typeface="+mn-cs"/>
                </a:rPr>
                <a:t>경영혁신본부</a:t>
              </a:r>
            </a:p>
          </p:txBody>
        </p:sp>
        <p:sp>
          <p:nvSpPr>
            <p:cNvPr id="43" name="사각형: 잘린 대각선 방향 모서리 14">
              <a:extLst>
                <a:ext uri="{FF2B5EF4-FFF2-40B4-BE49-F238E27FC236}">
                  <a16:creationId xmlns:a16="http://schemas.microsoft.com/office/drawing/2014/main" id="{856DE75E-1CBF-4BDE-9DC8-FA980694D08E}"/>
                </a:ext>
              </a:extLst>
            </p:cNvPr>
            <p:cNvSpPr/>
            <p:nvPr/>
          </p:nvSpPr>
          <p:spPr>
            <a:xfrm>
              <a:off x="7870561" y="2824349"/>
              <a:ext cx="1475051" cy="309595"/>
            </a:xfrm>
            <a:prstGeom prst="snip2DiagRect">
              <a:avLst/>
            </a:prstGeom>
            <a:solidFill>
              <a:srgbClr val="305798"/>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rPr>
                <a:t>HR Academy</a:t>
              </a:r>
              <a:endParaRPr kumimoji="0" lang="ko-KR" altLang="en-US" sz="12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cxnSp>
          <p:nvCxnSpPr>
            <p:cNvPr id="44" name="직선 연결선 43">
              <a:extLst>
                <a:ext uri="{FF2B5EF4-FFF2-40B4-BE49-F238E27FC236}">
                  <a16:creationId xmlns:a16="http://schemas.microsoft.com/office/drawing/2014/main" id="{B4EC923B-E060-46C4-907B-2AC93AD1A397}"/>
                </a:ext>
              </a:extLst>
            </p:cNvPr>
            <p:cNvCxnSpPr>
              <a:cxnSpLocks/>
              <a:stCxn id="37" idx="1"/>
              <a:endCxn id="42" idx="3"/>
            </p:cNvCxnSpPr>
            <p:nvPr/>
          </p:nvCxnSpPr>
          <p:spPr>
            <a:xfrm flipH="1">
              <a:off x="4950722" y="1889425"/>
              <a:ext cx="2774" cy="934924"/>
            </a:xfrm>
            <a:prstGeom prst="line">
              <a:avLst/>
            </a:prstGeom>
            <a:noFill/>
            <a:ln w="19050" cap="flat" cmpd="sng" algn="ctr">
              <a:solidFill>
                <a:sysClr val="windowText" lastClr="000000">
                  <a:lumMod val="50000"/>
                  <a:lumOff val="50000"/>
                </a:sysClr>
              </a:solidFill>
              <a:prstDash val="solid"/>
              <a:headEnd type="none"/>
              <a:tailEnd type="none"/>
            </a:ln>
            <a:effectLst/>
          </p:spPr>
        </p:cxnSp>
        <p:cxnSp>
          <p:nvCxnSpPr>
            <p:cNvPr id="45" name="직선 연결선 44">
              <a:extLst>
                <a:ext uri="{FF2B5EF4-FFF2-40B4-BE49-F238E27FC236}">
                  <a16:creationId xmlns:a16="http://schemas.microsoft.com/office/drawing/2014/main" id="{615AEF5A-42BD-4A86-9A4B-BB44A1ECBBA0}"/>
                </a:ext>
              </a:extLst>
            </p:cNvPr>
            <p:cNvCxnSpPr>
              <a:cxnSpLocks/>
              <a:stCxn id="38" idx="0"/>
              <a:endCxn id="39" idx="2"/>
            </p:cNvCxnSpPr>
            <p:nvPr/>
          </p:nvCxnSpPr>
          <p:spPr>
            <a:xfrm>
              <a:off x="3431960" y="2280852"/>
              <a:ext cx="3043069" cy="0"/>
            </a:xfrm>
            <a:prstGeom prst="line">
              <a:avLst/>
            </a:prstGeom>
            <a:noFill/>
            <a:ln w="19050" cap="flat" cmpd="sng" algn="ctr">
              <a:solidFill>
                <a:sysClr val="windowText" lastClr="000000">
                  <a:lumMod val="50000"/>
                  <a:lumOff val="50000"/>
                </a:sysClr>
              </a:solidFill>
              <a:prstDash val="solid"/>
              <a:headEnd type="none"/>
              <a:tailEnd type="none"/>
            </a:ln>
            <a:effectLst/>
          </p:spPr>
        </p:cxnSp>
        <p:cxnSp>
          <p:nvCxnSpPr>
            <p:cNvPr id="46" name="연결선: 꺾임 18">
              <a:extLst>
                <a:ext uri="{FF2B5EF4-FFF2-40B4-BE49-F238E27FC236}">
                  <a16:creationId xmlns:a16="http://schemas.microsoft.com/office/drawing/2014/main" id="{A32150FD-F74A-4361-A4F4-26942DB2B0A8}"/>
                </a:ext>
              </a:extLst>
            </p:cNvPr>
            <p:cNvCxnSpPr>
              <a:cxnSpLocks/>
            </p:cNvCxnSpPr>
            <p:nvPr/>
          </p:nvCxnSpPr>
          <p:spPr>
            <a:xfrm rot="5400000" flipH="1" flipV="1">
              <a:off x="4960499" y="-993276"/>
              <a:ext cx="6136" cy="7259052"/>
            </a:xfrm>
            <a:prstGeom prst="bentConnector2">
              <a:avLst/>
            </a:prstGeom>
            <a:noFill/>
            <a:ln w="19050" cap="flat" cmpd="sng" algn="ctr">
              <a:solidFill>
                <a:srgbClr val="7F7F7F"/>
              </a:solidFill>
              <a:prstDash val="solid"/>
              <a:headEnd type="none"/>
              <a:tailEnd type="none"/>
            </a:ln>
            <a:effectLst/>
          </p:spPr>
        </p:cxnSp>
        <p:cxnSp>
          <p:nvCxnSpPr>
            <p:cNvPr id="47" name="직선 연결선 46">
              <a:extLst>
                <a:ext uri="{FF2B5EF4-FFF2-40B4-BE49-F238E27FC236}">
                  <a16:creationId xmlns:a16="http://schemas.microsoft.com/office/drawing/2014/main" id="{11FF33CD-F63E-44A1-ABF2-89AE54591D83}"/>
                </a:ext>
              </a:extLst>
            </p:cNvPr>
            <p:cNvCxnSpPr>
              <a:cxnSpLocks/>
            </p:cNvCxnSpPr>
            <p:nvPr/>
          </p:nvCxnSpPr>
          <p:spPr>
            <a:xfrm>
              <a:off x="3170108" y="2631363"/>
              <a:ext cx="0" cy="195032"/>
            </a:xfrm>
            <a:prstGeom prst="line">
              <a:avLst/>
            </a:prstGeom>
            <a:noFill/>
            <a:ln w="19050" cap="flat" cmpd="sng" algn="ctr">
              <a:solidFill>
                <a:sysClr val="windowText" lastClr="000000">
                  <a:lumMod val="50000"/>
                  <a:lumOff val="50000"/>
                </a:sysClr>
              </a:solidFill>
              <a:prstDash val="solid"/>
              <a:headEnd type="none"/>
              <a:tailEnd type="none"/>
            </a:ln>
            <a:effectLst/>
          </p:spPr>
        </p:cxnSp>
        <p:cxnSp>
          <p:nvCxnSpPr>
            <p:cNvPr id="48" name="직선 연결선 47">
              <a:extLst>
                <a:ext uri="{FF2B5EF4-FFF2-40B4-BE49-F238E27FC236}">
                  <a16:creationId xmlns:a16="http://schemas.microsoft.com/office/drawing/2014/main" id="{7F798576-82E0-46A1-ACC5-17EFE121094F}"/>
                </a:ext>
              </a:extLst>
            </p:cNvPr>
            <p:cNvCxnSpPr>
              <a:cxnSpLocks/>
            </p:cNvCxnSpPr>
            <p:nvPr/>
          </p:nvCxnSpPr>
          <p:spPr>
            <a:xfrm>
              <a:off x="6788013" y="2631363"/>
              <a:ext cx="0" cy="195032"/>
            </a:xfrm>
            <a:prstGeom prst="line">
              <a:avLst/>
            </a:prstGeom>
            <a:noFill/>
            <a:ln w="19050" cap="flat" cmpd="sng" algn="ctr">
              <a:solidFill>
                <a:sysClr val="windowText" lastClr="000000">
                  <a:lumMod val="50000"/>
                  <a:lumOff val="50000"/>
                </a:sysClr>
              </a:solidFill>
              <a:prstDash val="solid"/>
              <a:headEnd type="none"/>
              <a:tailEnd type="none"/>
            </a:ln>
            <a:effectLst/>
          </p:spPr>
        </p:cxnSp>
        <p:sp>
          <p:nvSpPr>
            <p:cNvPr id="49" name="사각형: 잘린 대각선 방향 모서리 14">
              <a:extLst>
                <a:ext uri="{FF2B5EF4-FFF2-40B4-BE49-F238E27FC236}">
                  <a16:creationId xmlns:a16="http://schemas.microsoft.com/office/drawing/2014/main" id="{B01ECFDB-63C7-47A8-AB49-E9ADCF66F62E}"/>
                </a:ext>
              </a:extLst>
            </p:cNvPr>
            <p:cNvSpPr/>
            <p:nvPr/>
          </p:nvSpPr>
          <p:spPr>
            <a:xfrm>
              <a:off x="6057732" y="2824349"/>
              <a:ext cx="1475051" cy="309595"/>
            </a:xfrm>
            <a:prstGeom prst="snip2DiagRect">
              <a:avLst/>
            </a:prstGeom>
            <a:solidFill>
              <a:srgbClr val="305798"/>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rPr>
                <a:t>기업부설연구소</a:t>
              </a:r>
            </a:p>
          </p:txBody>
        </p:sp>
        <p:cxnSp>
          <p:nvCxnSpPr>
            <p:cNvPr id="50" name="직선 연결선 49">
              <a:extLst>
                <a:ext uri="{FF2B5EF4-FFF2-40B4-BE49-F238E27FC236}">
                  <a16:creationId xmlns:a16="http://schemas.microsoft.com/office/drawing/2014/main" id="{F05B4C7F-09F6-4462-9324-D0AB8A97263D}"/>
                </a:ext>
              </a:extLst>
            </p:cNvPr>
            <p:cNvCxnSpPr>
              <a:cxnSpLocks/>
            </p:cNvCxnSpPr>
            <p:nvPr/>
          </p:nvCxnSpPr>
          <p:spPr>
            <a:xfrm>
              <a:off x="8589020" y="2639318"/>
              <a:ext cx="0" cy="195032"/>
            </a:xfrm>
            <a:prstGeom prst="line">
              <a:avLst/>
            </a:prstGeom>
            <a:noFill/>
            <a:ln w="19050" cap="flat" cmpd="sng" algn="ctr">
              <a:solidFill>
                <a:sysClr val="windowText" lastClr="000000">
                  <a:lumMod val="50000"/>
                  <a:lumOff val="50000"/>
                </a:sysClr>
              </a:solidFill>
              <a:prstDash val="solid"/>
              <a:headEnd type="none"/>
              <a:tailEnd type="none"/>
            </a:ln>
            <a:effectLst/>
          </p:spPr>
        </p:cxnSp>
        <p:cxnSp>
          <p:nvCxnSpPr>
            <p:cNvPr id="51" name="직선 연결선 50">
              <a:extLst>
                <a:ext uri="{FF2B5EF4-FFF2-40B4-BE49-F238E27FC236}">
                  <a16:creationId xmlns:a16="http://schemas.microsoft.com/office/drawing/2014/main" id="{DBEF0D93-B2E6-4C52-B99F-FD707E7BD3CF}"/>
                </a:ext>
              </a:extLst>
            </p:cNvPr>
            <p:cNvCxnSpPr>
              <a:cxnSpLocks/>
            </p:cNvCxnSpPr>
            <p:nvPr/>
          </p:nvCxnSpPr>
          <p:spPr>
            <a:xfrm>
              <a:off x="1334040" y="2629317"/>
              <a:ext cx="0" cy="195032"/>
            </a:xfrm>
            <a:prstGeom prst="line">
              <a:avLst/>
            </a:prstGeom>
            <a:noFill/>
            <a:ln w="19050" cap="flat" cmpd="sng" algn="ctr">
              <a:solidFill>
                <a:sysClr val="windowText" lastClr="000000">
                  <a:lumMod val="50000"/>
                  <a:lumOff val="50000"/>
                </a:sysClr>
              </a:solidFill>
              <a:prstDash val="solid"/>
              <a:headEnd type="none"/>
              <a:tailEnd type="none"/>
            </a:ln>
            <a:effectLst/>
          </p:spPr>
        </p:cxnSp>
      </p:grpSp>
      <p:graphicFrame>
        <p:nvGraphicFramePr>
          <p:cNvPr id="52" name="표 51">
            <a:extLst>
              <a:ext uri="{FF2B5EF4-FFF2-40B4-BE49-F238E27FC236}">
                <a16:creationId xmlns:a16="http://schemas.microsoft.com/office/drawing/2014/main" id="{1397984D-BA39-44B7-9D00-29CF5516B098}"/>
              </a:ext>
            </a:extLst>
          </p:cNvPr>
          <p:cNvGraphicFramePr>
            <a:graphicFrameLocks noGrp="1"/>
          </p:cNvGraphicFramePr>
          <p:nvPr>
            <p:extLst>
              <p:ext uri="{D42A27DB-BD31-4B8C-83A1-F6EECF244321}">
                <p14:modId xmlns:p14="http://schemas.microsoft.com/office/powerpoint/2010/main" val="4068521396"/>
              </p:ext>
            </p:extLst>
          </p:nvPr>
        </p:nvGraphicFramePr>
        <p:xfrm>
          <a:off x="560389" y="4577230"/>
          <a:ext cx="8800816" cy="1912470"/>
        </p:xfrm>
        <a:graphic>
          <a:graphicData uri="http://schemas.openxmlformats.org/drawingml/2006/table">
            <a:tbl>
              <a:tblPr firstRow="1" bandRow="1"/>
              <a:tblGrid>
                <a:gridCol w="1584950">
                  <a:extLst>
                    <a:ext uri="{9D8B030D-6E8A-4147-A177-3AD203B41FA5}">
                      <a16:colId xmlns:a16="http://schemas.microsoft.com/office/drawing/2014/main" val="20000"/>
                    </a:ext>
                  </a:extLst>
                </a:gridCol>
                <a:gridCol w="903253">
                  <a:extLst>
                    <a:ext uri="{9D8B030D-6E8A-4147-A177-3AD203B41FA5}">
                      <a16:colId xmlns:a16="http://schemas.microsoft.com/office/drawing/2014/main" val="20001"/>
                    </a:ext>
                  </a:extLst>
                </a:gridCol>
                <a:gridCol w="1042215">
                  <a:extLst>
                    <a:ext uri="{9D8B030D-6E8A-4147-A177-3AD203B41FA5}">
                      <a16:colId xmlns:a16="http://schemas.microsoft.com/office/drawing/2014/main" val="20002"/>
                    </a:ext>
                  </a:extLst>
                </a:gridCol>
                <a:gridCol w="1111698">
                  <a:extLst>
                    <a:ext uri="{9D8B030D-6E8A-4147-A177-3AD203B41FA5}">
                      <a16:colId xmlns:a16="http://schemas.microsoft.com/office/drawing/2014/main" val="20003"/>
                    </a:ext>
                  </a:extLst>
                </a:gridCol>
                <a:gridCol w="1190790">
                  <a:extLst>
                    <a:ext uri="{9D8B030D-6E8A-4147-A177-3AD203B41FA5}">
                      <a16:colId xmlns:a16="http://schemas.microsoft.com/office/drawing/2014/main" val="20004"/>
                    </a:ext>
                  </a:extLst>
                </a:gridCol>
                <a:gridCol w="1102084">
                  <a:extLst>
                    <a:ext uri="{9D8B030D-6E8A-4147-A177-3AD203B41FA5}">
                      <a16:colId xmlns:a16="http://schemas.microsoft.com/office/drawing/2014/main" val="20005"/>
                    </a:ext>
                  </a:extLst>
                </a:gridCol>
                <a:gridCol w="1102084">
                  <a:extLst>
                    <a:ext uri="{9D8B030D-6E8A-4147-A177-3AD203B41FA5}">
                      <a16:colId xmlns:a16="http://schemas.microsoft.com/office/drawing/2014/main" val="3173449749"/>
                    </a:ext>
                  </a:extLst>
                </a:gridCol>
                <a:gridCol w="763742">
                  <a:extLst>
                    <a:ext uri="{9D8B030D-6E8A-4147-A177-3AD203B41FA5}">
                      <a16:colId xmlns:a16="http://schemas.microsoft.com/office/drawing/2014/main" val="20007"/>
                    </a:ext>
                  </a:extLst>
                </a:gridCol>
              </a:tblGrid>
              <a:tr h="209622">
                <a:tc rowSpan="2">
                  <a:txBody>
                    <a:bodyPr/>
                    <a:lstStyle>
                      <a:lvl1pPr marL="0" algn="l" defTabSz="914400" rtl="0" eaLnBrk="1" latinLnBrk="1" hangingPunct="1">
                        <a:defRPr sz="1800" b="1" kern="1200">
                          <a:solidFill>
                            <a:schemeClr val="lt1"/>
                          </a:solidFill>
                          <a:latin typeface="Arial Narrow"/>
                          <a:ea typeface="a고딕14"/>
                        </a:defRPr>
                      </a:lvl1pPr>
                      <a:lvl2pPr marL="457200" algn="l" defTabSz="914400" rtl="0" eaLnBrk="1" latinLnBrk="1" hangingPunct="1">
                        <a:defRPr sz="1800" b="1" kern="1200">
                          <a:solidFill>
                            <a:schemeClr val="lt1"/>
                          </a:solidFill>
                          <a:latin typeface="Arial Narrow"/>
                          <a:ea typeface="a고딕14"/>
                        </a:defRPr>
                      </a:lvl2pPr>
                      <a:lvl3pPr marL="914400" algn="l" defTabSz="914400" rtl="0" eaLnBrk="1" latinLnBrk="1" hangingPunct="1">
                        <a:defRPr sz="1800" b="1" kern="1200">
                          <a:solidFill>
                            <a:schemeClr val="lt1"/>
                          </a:solidFill>
                          <a:latin typeface="Arial Narrow"/>
                          <a:ea typeface="a고딕14"/>
                        </a:defRPr>
                      </a:lvl3pPr>
                      <a:lvl4pPr marL="1371600" algn="l" defTabSz="914400" rtl="0" eaLnBrk="1" latinLnBrk="1" hangingPunct="1">
                        <a:defRPr sz="1800" b="1" kern="1200">
                          <a:solidFill>
                            <a:schemeClr val="lt1"/>
                          </a:solidFill>
                          <a:latin typeface="Arial Narrow"/>
                          <a:ea typeface="a고딕14"/>
                        </a:defRPr>
                      </a:lvl4pPr>
                      <a:lvl5pPr marL="1828800" algn="l" defTabSz="914400" rtl="0" eaLnBrk="1" latinLnBrk="1" hangingPunct="1">
                        <a:defRPr sz="1800" b="1" kern="1200">
                          <a:solidFill>
                            <a:schemeClr val="lt1"/>
                          </a:solidFill>
                          <a:latin typeface="Arial Narrow"/>
                          <a:ea typeface="a고딕14"/>
                        </a:defRPr>
                      </a:lvl5pPr>
                      <a:lvl6pPr marL="2286000" algn="l" defTabSz="914400" rtl="0" eaLnBrk="1" latinLnBrk="1" hangingPunct="1">
                        <a:defRPr sz="1800" b="1" kern="1200">
                          <a:solidFill>
                            <a:schemeClr val="lt1"/>
                          </a:solidFill>
                          <a:latin typeface="Arial Narrow"/>
                          <a:ea typeface="a고딕14"/>
                        </a:defRPr>
                      </a:lvl6pPr>
                      <a:lvl7pPr marL="2743200" algn="l" defTabSz="914400" rtl="0" eaLnBrk="1" latinLnBrk="1" hangingPunct="1">
                        <a:defRPr sz="1800" b="1" kern="1200">
                          <a:solidFill>
                            <a:schemeClr val="lt1"/>
                          </a:solidFill>
                          <a:latin typeface="Arial Narrow"/>
                          <a:ea typeface="a고딕14"/>
                        </a:defRPr>
                      </a:lvl7pPr>
                      <a:lvl8pPr marL="3200400" algn="l" defTabSz="914400" rtl="0" eaLnBrk="1" latinLnBrk="1" hangingPunct="1">
                        <a:defRPr sz="1800" b="1" kern="1200">
                          <a:solidFill>
                            <a:schemeClr val="lt1"/>
                          </a:solidFill>
                          <a:latin typeface="Arial Narrow"/>
                          <a:ea typeface="a고딕14"/>
                        </a:defRPr>
                      </a:lvl8pPr>
                      <a:lvl9pPr marL="3657600" algn="l" defTabSz="914400" rtl="0" eaLnBrk="1" latinLnBrk="1" hangingPunct="1">
                        <a:defRPr sz="1800" b="1" kern="1200">
                          <a:solidFill>
                            <a:schemeClr val="lt1"/>
                          </a:solidFill>
                          <a:latin typeface="Arial Narrow"/>
                          <a:ea typeface="a고딕14"/>
                        </a:defRPr>
                      </a:lvl9pPr>
                    </a:lstStyle>
                    <a:p>
                      <a:pPr algn="dist" latinLnBrk="1"/>
                      <a:r>
                        <a:rPr lang="ko-KR" altLang="en-US" sz="1100" b="0" baseline="0" dirty="0">
                          <a:solidFill>
                            <a:schemeClr val="bg1"/>
                          </a:solidFill>
                          <a:latin typeface="a고딕14" panose="02020600000000000000" pitchFamily="18" charset="-127"/>
                          <a:ea typeface="a고딕14" panose="02020600000000000000" pitchFamily="18" charset="-127"/>
                        </a:rPr>
                        <a:t>구분</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04040"/>
                    </a:solidFill>
                  </a:tcPr>
                </a:tc>
                <a:tc rowSpan="2">
                  <a:txBody>
                    <a:bodyPr/>
                    <a:lstStyle>
                      <a:lvl1pPr marL="0" algn="l" defTabSz="914400" rtl="0" eaLnBrk="1" latinLnBrk="1" hangingPunct="1">
                        <a:defRPr sz="1800" b="1" kern="1200">
                          <a:solidFill>
                            <a:schemeClr val="lt1"/>
                          </a:solidFill>
                          <a:latin typeface="Arial Narrow"/>
                          <a:ea typeface="a고딕14"/>
                        </a:defRPr>
                      </a:lvl1pPr>
                      <a:lvl2pPr marL="457200" algn="l" defTabSz="914400" rtl="0" eaLnBrk="1" latinLnBrk="1" hangingPunct="1">
                        <a:defRPr sz="1800" b="1" kern="1200">
                          <a:solidFill>
                            <a:schemeClr val="lt1"/>
                          </a:solidFill>
                          <a:latin typeface="Arial Narrow"/>
                          <a:ea typeface="a고딕14"/>
                        </a:defRPr>
                      </a:lvl2pPr>
                      <a:lvl3pPr marL="914400" algn="l" defTabSz="914400" rtl="0" eaLnBrk="1" latinLnBrk="1" hangingPunct="1">
                        <a:defRPr sz="1800" b="1" kern="1200">
                          <a:solidFill>
                            <a:schemeClr val="lt1"/>
                          </a:solidFill>
                          <a:latin typeface="Arial Narrow"/>
                          <a:ea typeface="a고딕14"/>
                        </a:defRPr>
                      </a:lvl3pPr>
                      <a:lvl4pPr marL="1371600" algn="l" defTabSz="914400" rtl="0" eaLnBrk="1" latinLnBrk="1" hangingPunct="1">
                        <a:defRPr sz="1800" b="1" kern="1200">
                          <a:solidFill>
                            <a:schemeClr val="lt1"/>
                          </a:solidFill>
                          <a:latin typeface="Arial Narrow"/>
                          <a:ea typeface="a고딕14"/>
                        </a:defRPr>
                      </a:lvl4pPr>
                      <a:lvl5pPr marL="1828800" algn="l" defTabSz="914400" rtl="0" eaLnBrk="1" latinLnBrk="1" hangingPunct="1">
                        <a:defRPr sz="1800" b="1" kern="1200">
                          <a:solidFill>
                            <a:schemeClr val="lt1"/>
                          </a:solidFill>
                          <a:latin typeface="Arial Narrow"/>
                          <a:ea typeface="a고딕14"/>
                        </a:defRPr>
                      </a:lvl5pPr>
                      <a:lvl6pPr marL="2286000" algn="l" defTabSz="914400" rtl="0" eaLnBrk="1" latinLnBrk="1" hangingPunct="1">
                        <a:defRPr sz="1800" b="1" kern="1200">
                          <a:solidFill>
                            <a:schemeClr val="lt1"/>
                          </a:solidFill>
                          <a:latin typeface="Arial Narrow"/>
                          <a:ea typeface="a고딕14"/>
                        </a:defRPr>
                      </a:lvl6pPr>
                      <a:lvl7pPr marL="2743200" algn="l" defTabSz="914400" rtl="0" eaLnBrk="1" latinLnBrk="1" hangingPunct="1">
                        <a:defRPr sz="1800" b="1" kern="1200">
                          <a:solidFill>
                            <a:schemeClr val="lt1"/>
                          </a:solidFill>
                          <a:latin typeface="Arial Narrow"/>
                          <a:ea typeface="a고딕14"/>
                        </a:defRPr>
                      </a:lvl7pPr>
                      <a:lvl8pPr marL="3200400" algn="l" defTabSz="914400" rtl="0" eaLnBrk="1" latinLnBrk="1" hangingPunct="1">
                        <a:defRPr sz="1800" b="1" kern="1200">
                          <a:solidFill>
                            <a:schemeClr val="lt1"/>
                          </a:solidFill>
                          <a:latin typeface="Arial Narrow"/>
                          <a:ea typeface="a고딕14"/>
                        </a:defRPr>
                      </a:lvl8pPr>
                      <a:lvl9pPr marL="3657600" algn="l" defTabSz="914400" rtl="0" eaLnBrk="1" latinLnBrk="1" hangingPunct="1">
                        <a:defRPr sz="1800" b="1" kern="1200">
                          <a:solidFill>
                            <a:schemeClr val="lt1"/>
                          </a:solidFill>
                          <a:latin typeface="Arial Narrow"/>
                          <a:ea typeface="a고딕14"/>
                        </a:defRPr>
                      </a:lvl9pPr>
                    </a:lstStyle>
                    <a:p>
                      <a:pPr algn="ctr" latinLnBrk="1"/>
                      <a:r>
                        <a:rPr lang="ko-KR" altLang="en-US" sz="1100" b="0" baseline="0" dirty="0">
                          <a:solidFill>
                            <a:schemeClr val="bg1"/>
                          </a:solidFill>
                          <a:latin typeface="a고딕14" panose="02020600000000000000" pitchFamily="18" charset="-127"/>
                          <a:ea typeface="a고딕14" panose="02020600000000000000" pitchFamily="18" charset="-127"/>
                        </a:rPr>
                        <a:t>계</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04040"/>
                    </a:solidFill>
                  </a:tcPr>
                </a:tc>
                <a:tc gridSpan="5">
                  <a:txBody>
                    <a:bodyPr/>
                    <a:lstStyle>
                      <a:lvl1pPr marL="0" algn="l" defTabSz="914400" rtl="0" eaLnBrk="1" latinLnBrk="1" hangingPunct="1">
                        <a:defRPr sz="1800" b="1" kern="1200">
                          <a:solidFill>
                            <a:schemeClr val="lt1"/>
                          </a:solidFill>
                          <a:latin typeface="Arial Narrow"/>
                          <a:ea typeface="a고딕14"/>
                        </a:defRPr>
                      </a:lvl1pPr>
                      <a:lvl2pPr marL="457200" algn="l" defTabSz="914400" rtl="0" eaLnBrk="1" latinLnBrk="1" hangingPunct="1">
                        <a:defRPr sz="1800" b="1" kern="1200">
                          <a:solidFill>
                            <a:schemeClr val="lt1"/>
                          </a:solidFill>
                          <a:latin typeface="Arial Narrow"/>
                          <a:ea typeface="a고딕14"/>
                        </a:defRPr>
                      </a:lvl2pPr>
                      <a:lvl3pPr marL="914400" algn="l" defTabSz="914400" rtl="0" eaLnBrk="1" latinLnBrk="1" hangingPunct="1">
                        <a:defRPr sz="1800" b="1" kern="1200">
                          <a:solidFill>
                            <a:schemeClr val="lt1"/>
                          </a:solidFill>
                          <a:latin typeface="Arial Narrow"/>
                          <a:ea typeface="a고딕14"/>
                        </a:defRPr>
                      </a:lvl3pPr>
                      <a:lvl4pPr marL="1371600" algn="l" defTabSz="914400" rtl="0" eaLnBrk="1" latinLnBrk="1" hangingPunct="1">
                        <a:defRPr sz="1800" b="1" kern="1200">
                          <a:solidFill>
                            <a:schemeClr val="lt1"/>
                          </a:solidFill>
                          <a:latin typeface="Arial Narrow"/>
                          <a:ea typeface="a고딕14"/>
                        </a:defRPr>
                      </a:lvl4pPr>
                      <a:lvl5pPr marL="1828800" algn="l" defTabSz="914400" rtl="0" eaLnBrk="1" latinLnBrk="1" hangingPunct="1">
                        <a:defRPr sz="1800" b="1" kern="1200">
                          <a:solidFill>
                            <a:schemeClr val="lt1"/>
                          </a:solidFill>
                          <a:latin typeface="Arial Narrow"/>
                          <a:ea typeface="a고딕14"/>
                        </a:defRPr>
                      </a:lvl5pPr>
                      <a:lvl6pPr marL="2286000" algn="l" defTabSz="914400" rtl="0" eaLnBrk="1" latinLnBrk="1" hangingPunct="1">
                        <a:defRPr sz="1800" b="1" kern="1200">
                          <a:solidFill>
                            <a:schemeClr val="lt1"/>
                          </a:solidFill>
                          <a:latin typeface="Arial Narrow"/>
                          <a:ea typeface="a고딕14"/>
                        </a:defRPr>
                      </a:lvl6pPr>
                      <a:lvl7pPr marL="2743200" algn="l" defTabSz="914400" rtl="0" eaLnBrk="1" latinLnBrk="1" hangingPunct="1">
                        <a:defRPr sz="1800" b="1" kern="1200">
                          <a:solidFill>
                            <a:schemeClr val="lt1"/>
                          </a:solidFill>
                          <a:latin typeface="Arial Narrow"/>
                          <a:ea typeface="a고딕14"/>
                        </a:defRPr>
                      </a:lvl7pPr>
                      <a:lvl8pPr marL="3200400" algn="l" defTabSz="914400" rtl="0" eaLnBrk="1" latinLnBrk="1" hangingPunct="1">
                        <a:defRPr sz="1800" b="1" kern="1200">
                          <a:solidFill>
                            <a:schemeClr val="lt1"/>
                          </a:solidFill>
                          <a:latin typeface="Arial Narrow"/>
                          <a:ea typeface="a고딕14"/>
                        </a:defRPr>
                      </a:lvl8pPr>
                      <a:lvl9pPr marL="3657600" algn="l" defTabSz="914400" rtl="0" eaLnBrk="1" latinLnBrk="1" hangingPunct="1">
                        <a:defRPr sz="1800" b="1" kern="1200">
                          <a:solidFill>
                            <a:schemeClr val="lt1"/>
                          </a:solidFill>
                          <a:latin typeface="Arial Narrow"/>
                          <a:ea typeface="a고딕14"/>
                        </a:defRPr>
                      </a:lvl9pPr>
                    </a:lstStyle>
                    <a:p>
                      <a:pPr algn="ctr" latinLnBrk="1"/>
                      <a:r>
                        <a:rPr lang="ko-KR" altLang="en-US" sz="1100" b="0" baseline="0" dirty="0" err="1">
                          <a:solidFill>
                            <a:schemeClr val="bg1"/>
                          </a:solidFill>
                          <a:latin typeface="a고딕14" panose="02020600000000000000" pitchFamily="18" charset="-127"/>
                          <a:ea typeface="a고딕14" panose="02020600000000000000" pitchFamily="18" charset="-127"/>
                        </a:rPr>
                        <a:t>본부별</a:t>
                      </a:r>
                      <a:r>
                        <a:rPr lang="ko-KR" altLang="en-US" sz="1100" b="0" baseline="0" dirty="0">
                          <a:solidFill>
                            <a:schemeClr val="bg1"/>
                          </a:solidFill>
                          <a:latin typeface="a고딕14" panose="02020600000000000000" pitchFamily="18" charset="-127"/>
                          <a:ea typeface="a고딕14" panose="02020600000000000000" pitchFamily="18" charset="-127"/>
                        </a:rPr>
                        <a:t> 현황</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h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1100" b="1" dirty="0">
                        <a:solidFill>
                          <a:schemeClr val="tx1">
                            <a:lumMod val="75000"/>
                            <a:lumOff val="25000"/>
                          </a:schemeClr>
                        </a:solidFill>
                        <a:latin typeface="+mj-ea"/>
                        <a:ea typeface="+mj-ea"/>
                      </a:endParaRPr>
                    </a:p>
                  </a:txBody>
                  <a:tcPr marL="72002" marR="72002" marT="36018" marB="36018"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2">
                  <a:txBody>
                    <a:bodyPr/>
                    <a:lstStyle>
                      <a:lvl1pPr marL="0" algn="l" defTabSz="914400" rtl="0" eaLnBrk="1" latinLnBrk="1" hangingPunct="1">
                        <a:defRPr sz="1800" b="1" kern="1200">
                          <a:solidFill>
                            <a:schemeClr val="lt1"/>
                          </a:solidFill>
                          <a:latin typeface="Arial Narrow"/>
                          <a:ea typeface="a고딕14"/>
                        </a:defRPr>
                      </a:lvl1pPr>
                      <a:lvl2pPr marL="457200" algn="l" defTabSz="914400" rtl="0" eaLnBrk="1" latinLnBrk="1" hangingPunct="1">
                        <a:defRPr sz="1800" b="1" kern="1200">
                          <a:solidFill>
                            <a:schemeClr val="lt1"/>
                          </a:solidFill>
                          <a:latin typeface="Arial Narrow"/>
                          <a:ea typeface="a고딕14"/>
                        </a:defRPr>
                      </a:lvl2pPr>
                      <a:lvl3pPr marL="914400" algn="l" defTabSz="914400" rtl="0" eaLnBrk="1" latinLnBrk="1" hangingPunct="1">
                        <a:defRPr sz="1800" b="1" kern="1200">
                          <a:solidFill>
                            <a:schemeClr val="lt1"/>
                          </a:solidFill>
                          <a:latin typeface="Arial Narrow"/>
                          <a:ea typeface="a고딕14"/>
                        </a:defRPr>
                      </a:lvl3pPr>
                      <a:lvl4pPr marL="1371600" algn="l" defTabSz="914400" rtl="0" eaLnBrk="1" latinLnBrk="1" hangingPunct="1">
                        <a:defRPr sz="1800" b="1" kern="1200">
                          <a:solidFill>
                            <a:schemeClr val="lt1"/>
                          </a:solidFill>
                          <a:latin typeface="Arial Narrow"/>
                          <a:ea typeface="a고딕14"/>
                        </a:defRPr>
                      </a:lvl4pPr>
                      <a:lvl5pPr marL="1828800" algn="l" defTabSz="914400" rtl="0" eaLnBrk="1" latinLnBrk="1" hangingPunct="1">
                        <a:defRPr sz="1800" b="1" kern="1200">
                          <a:solidFill>
                            <a:schemeClr val="lt1"/>
                          </a:solidFill>
                          <a:latin typeface="Arial Narrow"/>
                          <a:ea typeface="a고딕14"/>
                        </a:defRPr>
                      </a:lvl5pPr>
                      <a:lvl6pPr marL="2286000" algn="l" defTabSz="914400" rtl="0" eaLnBrk="1" latinLnBrk="1" hangingPunct="1">
                        <a:defRPr sz="1800" b="1" kern="1200">
                          <a:solidFill>
                            <a:schemeClr val="lt1"/>
                          </a:solidFill>
                          <a:latin typeface="Arial Narrow"/>
                          <a:ea typeface="a고딕14"/>
                        </a:defRPr>
                      </a:lvl6pPr>
                      <a:lvl7pPr marL="2743200" algn="l" defTabSz="914400" rtl="0" eaLnBrk="1" latinLnBrk="1" hangingPunct="1">
                        <a:defRPr sz="1800" b="1" kern="1200">
                          <a:solidFill>
                            <a:schemeClr val="lt1"/>
                          </a:solidFill>
                          <a:latin typeface="Arial Narrow"/>
                          <a:ea typeface="a고딕14"/>
                        </a:defRPr>
                      </a:lvl7pPr>
                      <a:lvl8pPr marL="3200400" algn="l" defTabSz="914400" rtl="0" eaLnBrk="1" latinLnBrk="1" hangingPunct="1">
                        <a:defRPr sz="1800" b="1" kern="1200">
                          <a:solidFill>
                            <a:schemeClr val="lt1"/>
                          </a:solidFill>
                          <a:latin typeface="Arial Narrow"/>
                          <a:ea typeface="a고딕14"/>
                        </a:defRPr>
                      </a:lvl8pPr>
                      <a:lvl9pPr marL="3657600" algn="l" defTabSz="914400" rtl="0" eaLnBrk="1" latinLnBrk="1" hangingPunct="1">
                        <a:defRPr sz="1800" b="1" kern="1200">
                          <a:solidFill>
                            <a:schemeClr val="lt1"/>
                          </a:solidFill>
                          <a:latin typeface="Arial Narrow"/>
                          <a:ea typeface="a고딕14"/>
                        </a:defRPr>
                      </a:lvl9pPr>
                    </a:lstStyle>
                    <a:p>
                      <a:pPr algn="ctr" latinLnBrk="1"/>
                      <a:r>
                        <a:rPr lang="ko-KR" altLang="en-US" sz="1100" b="0" baseline="0" dirty="0">
                          <a:solidFill>
                            <a:schemeClr val="bg1"/>
                          </a:solidFill>
                          <a:latin typeface="a고딕14" panose="02020600000000000000" pitchFamily="18" charset="-127"/>
                          <a:ea typeface="a고딕14" panose="02020600000000000000" pitchFamily="18" charset="-127"/>
                        </a:rPr>
                        <a:t>경영지원</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extLst>
                  <a:ext uri="{0D108BD9-81ED-4DB2-BD59-A6C34878D82A}">
                    <a16:rowId xmlns:a16="http://schemas.microsoft.com/office/drawing/2014/main" val="10000"/>
                  </a:ext>
                </a:extLst>
              </a:tr>
              <a:tr h="348881">
                <a:tc vMerge="1">
                  <a:txBody>
                    <a:bodyPr/>
                    <a:lstStyle/>
                    <a:p>
                      <a:pPr latinLnBrk="1"/>
                      <a:endParaRPr lang="ko-KR" altLang="en-US"/>
                    </a:p>
                  </a:txBody>
                  <a:tcPr/>
                </a:tc>
                <a:tc v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ctr" latinLnBrk="1"/>
                      <a:r>
                        <a:rPr lang="ko-KR" altLang="en-US" sz="1100" b="0" baseline="0" dirty="0">
                          <a:solidFill>
                            <a:schemeClr val="bg1"/>
                          </a:solidFill>
                          <a:latin typeface="a고딕14" panose="02020600000000000000" pitchFamily="18" charset="-127"/>
                          <a:ea typeface="a고딕14" panose="02020600000000000000" pitchFamily="18" charset="-127"/>
                        </a:rPr>
                        <a:t>일터혁신본부</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ctr" latinLnBrk="0"/>
                      <a:r>
                        <a:rPr lang="ko-KR" altLang="en-US" sz="1100" b="0" spc="-50" baseline="0">
                          <a:solidFill>
                            <a:schemeClr val="bg1"/>
                          </a:solidFill>
                          <a:latin typeface="a고딕14" panose="02020600000000000000" pitchFamily="18" charset="-127"/>
                          <a:ea typeface="a고딕14" panose="02020600000000000000" pitchFamily="18" charset="-127"/>
                        </a:rPr>
                        <a:t>직업능력개발본부</a:t>
                      </a:r>
                      <a:endParaRPr lang="ko-KR" altLang="en-US" sz="1100" b="0" spc="-50" baseline="0" dirty="0">
                        <a:solidFill>
                          <a:schemeClr val="bg1"/>
                        </a:solidFill>
                        <a:latin typeface="a고딕14" panose="02020600000000000000" pitchFamily="18" charset="-127"/>
                        <a:ea typeface="a고딕14" panose="02020600000000000000" pitchFamily="18" charset="-127"/>
                      </a:endParaRPr>
                    </a:p>
                  </a:txBody>
                  <a:tcPr marL="72000" marR="72000" marT="0" marB="0" anchor="ctr">
                    <a:lnL w="1905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ctr" latinLnBrk="1"/>
                      <a:r>
                        <a:rPr lang="ko-KR" altLang="en-US" sz="1100" b="0" spc="-150" baseline="0" dirty="0">
                          <a:solidFill>
                            <a:schemeClr val="bg1"/>
                          </a:solidFill>
                          <a:latin typeface="a고딕14" panose="02020600000000000000" pitchFamily="18" charset="-127"/>
                          <a:ea typeface="a고딕14" panose="02020600000000000000" pitchFamily="18" charset="-127"/>
                        </a:rPr>
                        <a:t>경영혁신컨설팅본부</a:t>
                      </a:r>
                    </a:p>
                  </a:txBody>
                  <a:tcPr marL="72000" marR="7200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28575" cap="flat" cmpd="sng" algn="ctr">
                      <a:solidFill>
                        <a:srgbClr val="C00000"/>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ctr" latinLnBrk="1"/>
                      <a:r>
                        <a:rPr lang="ko-KR" altLang="en-US" sz="1100" b="0" baseline="0" dirty="0">
                          <a:solidFill>
                            <a:schemeClr val="bg1"/>
                          </a:solidFill>
                          <a:latin typeface="a고딕14" panose="02020600000000000000" pitchFamily="18" charset="-127"/>
                          <a:ea typeface="a고딕14" panose="02020600000000000000" pitchFamily="18" charset="-127"/>
                        </a:rPr>
                        <a:t>기업부설연구소</a:t>
                      </a:r>
                    </a:p>
                  </a:txBody>
                  <a:tcPr marL="72000" marR="7200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a:txBody>
                    <a:bodyPr/>
                    <a:lstStyle>
                      <a:lvl1pPr marL="0" algn="l" defTabSz="914400" rtl="0" eaLnBrk="1" latinLnBrk="1" hangingPunct="1">
                        <a:defRPr sz="1800" kern="1200">
                          <a:solidFill>
                            <a:schemeClr val="tx1"/>
                          </a:solidFill>
                          <a:latin typeface="a고딕14"/>
                          <a:ea typeface="a고딕14"/>
                        </a:defRPr>
                      </a:lvl1pPr>
                      <a:lvl2pPr marL="457200" algn="l" defTabSz="914400" rtl="0" eaLnBrk="1" latinLnBrk="1" hangingPunct="1">
                        <a:defRPr sz="1800" kern="1200">
                          <a:solidFill>
                            <a:schemeClr val="tx1"/>
                          </a:solidFill>
                          <a:latin typeface="a고딕14"/>
                          <a:ea typeface="a고딕14"/>
                        </a:defRPr>
                      </a:lvl2pPr>
                      <a:lvl3pPr marL="914400" algn="l" defTabSz="914400" rtl="0" eaLnBrk="1" latinLnBrk="1" hangingPunct="1">
                        <a:defRPr sz="1800" kern="1200">
                          <a:solidFill>
                            <a:schemeClr val="tx1"/>
                          </a:solidFill>
                          <a:latin typeface="a고딕14"/>
                          <a:ea typeface="a고딕14"/>
                        </a:defRPr>
                      </a:lvl3pPr>
                      <a:lvl4pPr marL="1371600" algn="l" defTabSz="914400" rtl="0" eaLnBrk="1" latinLnBrk="1" hangingPunct="1">
                        <a:defRPr sz="1800" kern="1200">
                          <a:solidFill>
                            <a:schemeClr val="tx1"/>
                          </a:solidFill>
                          <a:latin typeface="a고딕14"/>
                          <a:ea typeface="a고딕14"/>
                        </a:defRPr>
                      </a:lvl4pPr>
                      <a:lvl5pPr marL="1828800" algn="l" defTabSz="914400" rtl="0" eaLnBrk="1" latinLnBrk="1" hangingPunct="1">
                        <a:defRPr sz="1800" kern="1200">
                          <a:solidFill>
                            <a:schemeClr val="tx1"/>
                          </a:solidFill>
                          <a:latin typeface="a고딕14"/>
                          <a:ea typeface="a고딕14"/>
                        </a:defRPr>
                      </a:lvl5pPr>
                      <a:lvl6pPr marL="2286000" algn="l" defTabSz="914400" rtl="0" eaLnBrk="1" latinLnBrk="1" hangingPunct="1">
                        <a:defRPr sz="1800" kern="1200">
                          <a:solidFill>
                            <a:schemeClr val="tx1"/>
                          </a:solidFill>
                          <a:latin typeface="a고딕14"/>
                          <a:ea typeface="a고딕14"/>
                        </a:defRPr>
                      </a:lvl6pPr>
                      <a:lvl7pPr marL="2743200" algn="l" defTabSz="914400" rtl="0" eaLnBrk="1" latinLnBrk="1" hangingPunct="1">
                        <a:defRPr sz="1800" kern="1200">
                          <a:solidFill>
                            <a:schemeClr val="tx1"/>
                          </a:solidFill>
                          <a:latin typeface="a고딕14"/>
                          <a:ea typeface="a고딕14"/>
                        </a:defRPr>
                      </a:lvl7pPr>
                      <a:lvl8pPr marL="3200400" algn="l" defTabSz="914400" rtl="0" eaLnBrk="1" latinLnBrk="1" hangingPunct="1">
                        <a:defRPr sz="1800" kern="1200">
                          <a:solidFill>
                            <a:schemeClr val="tx1"/>
                          </a:solidFill>
                          <a:latin typeface="a고딕14"/>
                          <a:ea typeface="a고딕14"/>
                        </a:defRPr>
                      </a:lvl8pPr>
                      <a:lvl9pPr marL="3657600" algn="l" defTabSz="914400" rtl="0" eaLnBrk="1" latinLnBrk="1" hangingPunct="1">
                        <a:defRPr sz="1800" kern="1200">
                          <a:solidFill>
                            <a:schemeClr val="tx1"/>
                          </a:solidFill>
                          <a:latin typeface="a고딕14"/>
                          <a:ea typeface="a고딕14"/>
                        </a:defRPr>
                      </a:lvl9pPr>
                    </a:lstStyle>
                    <a:p>
                      <a:pPr algn="ctr" latinLnBrk="1"/>
                      <a:r>
                        <a:rPr lang="en-US" altLang="ko-KR" sz="1100" b="0" baseline="0" dirty="0">
                          <a:solidFill>
                            <a:schemeClr val="bg1"/>
                          </a:solidFill>
                          <a:latin typeface="a고딕14" panose="02020600000000000000" pitchFamily="18" charset="-127"/>
                          <a:ea typeface="a고딕14" panose="02020600000000000000" pitchFamily="18" charset="-127"/>
                        </a:rPr>
                        <a:t>HR Academy</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v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43462">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dist" latinLnBrk="1"/>
                      <a:r>
                        <a:rPr lang="ko-KR" altLang="en-US" sz="1100" b="0" baseline="0" dirty="0">
                          <a:solidFill>
                            <a:schemeClr val="tx1"/>
                          </a:solidFill>
                          <a:latin typeface="a고딕14" panose="02020600000000000000" pitchFamily="18" charset="-127"/>
                          <a:ea typeface="a고딕14" panose="02020600000000000000" pitchFamily="18" charset="-127"/>
                        </a:rPr>
                        <a:t>수석컨설턴트</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20</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4</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4</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10</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r h="222101">
                <a:tc>
                  <a:txBody>
                    <a:bodyPr/>
                    <a:lstStyle/>
                    <a:p>
                      <a:pPr algn="dist" latinLnBrk="1"/>
                      <a:r>
                        <a:rPr lang="ko-KR" altLang="en-US" sz="1100" b="0" baseline="0" dirty="0">
                          <a:solidFill>
                            <a:schemeClr val="tx1"/>
                          </a:solidFill>
                          <a:latin typeface="a고딕14" panose="02020600000000000000" pitchFamily="18" charset="-127"/>
                          <a:ea typeface="a고딕14" panose="02020600000000000000" pitchFamily="18" charset="-127"/>
                        </a:rPr>
                        <a:t>공 인 노 무 사</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3</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4117413205"/>
                  </a:ext>
                </a:extLst>
              </a:tr>
              <a:tr h="222101">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dist" latinLnBrk="1"/>
                      <a:r>
                        <a:rPr lang="ko-KR" altLang="en-US" sz="1100" b="0" baseline="0" dirty="0">
                          <a:solidFill>
                            <a:schemeClr val="tx1"/>
                          </a:solidFill>
                          <a:latin typeface="a고딕14" panose="02020600000000000000" pitchFamily="18" charset="-127"/>
                          <a:ea typeface="a고딕14" panose="02020600000000000000" pitchFamily="18" charset="-127"/>
                        </a:rPr>
                        <a:t>책임컨설턴트</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25</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8</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8</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3"/>
                  </a:ext>
                </a:extLst>
              </a:tr>
              <a:tr h="222101">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dist" latinLnBrk="1"/>
                      <a:r>
                        <a:rPr lang="ko-KR" altLang="en-US" sz="1100" b="0" baseline="0" dirty="0">
                          <a:solidFill>
                            <a:schemeClr val="tx1"/>
                          </a:solidFill>
                          <a:latin typeface="a고딕14" panose="02020600000000000000" pitchFamily="18" charset="-127"/>
                          <a:ea typeface="a고딕14" panose="02020600000000000000" pitchFamily="18" charset="-127"/>
                        </a:rPr>
                        <a:t>선임컨설턴트</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29</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7</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4"/>
                  </a:ext>
                </a:extLst>
              </a:tr>
              <a:tr h="222101">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dist" latinLnBrk="1"/>
                      <a:r>
                        <a:rPr lang="ko-KR" altLang="en-US" sz="1100" b="0" baseline="0" dirty="0" err="1">
                          <a:solidFill>
                            <a:schemeClr val="tx1"/>
                          </a:solidFill>
                          <a:latin typeface="a고딕14" panose="02020600000000000000" pitchFamily="18" charset="-127"/>
                          <a:ea typeface="a고딕14" panose="02020600000000000000" pitchFamily="18" charset="-127"/>
                        </a:rPr>
                        <a:t>주임컨설턴트</a:t>
                      </a:r>
                      <a:endParaRPr lang="ko-KR" altLang="en-US" sz="1100" b="0" baseline="0" dirty="0">
                        <a:solidFill>
                          <a:schemeClr val="tx1"/>
                        </a:solidFill>
                        <a:latin typeface="a고딕14" panose="02020600000000000000" pitchFamily="18" charset="-127"/>
                        <a:ea typeface="a고딕14" panose="02020600000000000000" pitchFamily="18" charset="-127"/>
                      </a:endParaRP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15</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6</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7</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6</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5"/>
                  </a:ext>
                </a:extLst>
              </a:tr>
              <a:tr h="222101">
                <a:tc>
                  <a:txBody>
                    <a:bodyPr/>
                    <a:lstStyle>
                      <a:lvl1pPr marL="0" algn="l" defTabSz="914400" rtl="0" eaLnBrk="1" latinLnBrk="1" hangingPunct="1">
                        <a:defRPr sz="1800" kern="1200">
                          <a:solidFill>
                            <a:schemeClr val="tx1"/>
                          </a:solidFill>
                          <a:latin typeface="a고딕14"/>
                          <a:ea typeface="a고딕14"/>
                        </a:defRPr>
                      </a:lvl1pPr>
                      <a:lvl2pPr marL="457200" algn="l" defTabSz="914400" rtl="0" eaLnBrk="1" latinLnBrk="1" hangingPunct="1">
                        <a:defRPr sz="1800" kern="1200">
                          <a:solidFill>
                            <a:schemeClr val="tx1"/>
                          </a:solidFill>
                          <a:latin typeface="a고딕14"/>
                          <a:ea typeface="a고딕14"/>
                        </a:defRPr>
                      </a:lvl2pPr>
                      <a:lvl3pPr marL="914400" algn="l" defTabSz="914400" rtl="0" eaLnBrk="1" latinLnBrk="1" hangingPunct="1">
                        <a:defRPr sz="1800" kern="1200">
                          <a:solidFill>
                            <a:schemeClr val="tx1"/>
                          </a:solidFill>
                          <a:latin typeface="a고딕14"/>
                          <a:ea typeface="a고딕14"/>
                        </a:defRPr>
                      </a:lvl3pPr>
                      <a:lvl4pPr marL="1371600" algn="l" defTabSz="914400" rtl="0" eaLnBrk="1" latinLnBrk="1" hangingPunct="1">
                        <a:defRPr sz="1800" kern="1200">
                          <a:solidFill>
                            <a:schemeClr val="tx1"/>
                          </a:solidFill>
                          <a:latin typeface="a고딕14"/>
                          <a:ea typeface="a고딕14"/>
                        </a:defRPr>
                      </a:lvl4pPr>
                      <a:lvl5pPr marL="1828800" algn="l" defTabSz="914400" rtl="0" eaLnBrk="1" latinLnBrk="1" hangingPunct="1">
                        <a:defRPr sz="1800" kern="1200">
                          <a:solidFill>
                            <a:schemeClr val="tx1"/>
                          </a:solidFill>
                          <a:latin typeface="a고딕14"/>
                          <a:ea typeface="a고딕14"/>
                        </a:defRPr>
                      </a:lvl5pPr>
                      <a:lvl6pPr marL="2286000" algn="l" defTabSz="914400" rtl="0" eaLnBrk="1" latinLnBrk="1" hangingPunct="1">
                        <a:defRPr sz="1800" kern="1200">
                          <a:solidFill>
                            <a:schemeClr val="tx1"/>
                          </a:solidFill>
                          <a:latin typeface="a고딕14"/>
                          <a:ea typeface="a고딕14"/>
                        </a:defRPr>
                      </a:lvl6pPr>
                      <a:lvl7pPr marL="2743200" algn="l" defTabSz="914400" rtl="0" eaLnBrk="1" latinLnBrk="1" hangingPunct="1">
                        <a:defRPr sz="1800" kern="1200">
                          <a:solidFill>
                            <a:schemeClr val="tx1"/>
                          </a:solidFill>
                          <a:latin typeface="a고딕14"/>
                          <a:ea typeface="a고딕14"/>
                        </a:defRPr>
                      </a:lvl7pPr>
                      <a:lvl8pPr marL="3200400" algn="l" defTabSz="914400" rtl="0" eaLnBrk="1" latinLnBrk="1" hangingPunct="1">
                        <a:defRPr sz="1800" kern="1200">
                          <a:solidFill>
                            <a:schemeClr val="tx1"/>
                          </a:solidFill>
                          <a:latin typeface="a고딕14"/>
                          <a:ea typeface="a고딕14"/>
                        </a:defRPr>
                      </a:lvl8pPr>
                      <a:lvl9pPr marL="3657600" algn="l" defTabSz="914400" rtl="0" eaLnBrk="1" latinLnBrk="1" hangingPunct="1">
                        <a:defRPr sz="1800" kern="1200">
                          <a:solidFill>
                            <a:schemeClr val="tx1"/>
                          </a:solidFill>
                          <a:latin typeface="a고딕14"/>
                          <a:ea typeface="a고딕14"/>
                        </a:defRPr>
                      </a:lvl9pPr>
                    </a:lstStyle>
                    <a:p>
                      <a:pPr algn="dist" latinLnBrk="1"/>
                      <a:r>
                        <a:rPr lang="ko-KR" altLang="en-US" sz="1100" b="0" baseline="0" dirty="0">
                          <a:solidFill>
                            <a:schemeClr val="bg1"/>
                          </a:solidFill>
                          <a:latin typeface="a고딕14" panose="02020600000000000000" pitchFamily="18" charset="-127"/>
                          <a:ea typeface="a고딕14" panose="02020600000000000000" pitchFamily="18" charset="-127"/>
                        </a:rPr>
                        <a:t>총계</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04040"/>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90</a:t>
                      </a:r>
                    </a:p>
                  </a:txBody>
                  <a:tcPr marL="9525" marR="9525" marT="9525"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26</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21</a:t>
                      </a:r>
                    </a:p>
                  </a:txBody>
                  <a:tcPr marL="9525" marR="9525" marT="9525"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chemeClr val="tx1"/>
                          </a:solidFill>
                          <a:effectLst/>
                          <a:latin typeface="a고딕14" panose="02020600000000000000" pitchFamily="18" charset="-127"/>
                          <a:ea typeface="a고딕14" panose="02020600000000000000" pitchFamily="18" charset="-127"/>
                        </a:rPr>
                        <a:t>33</a:t>
                      </a:r>
                    </a:p>
                  </a:txBody>
                  <a:tcPr marL="9525" marR="9525" marT="9525"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28575"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3</a:t>
                      </a:r>
                    </a:p>
                  </a:txBody>
                  <a:tcPr marL="9525" marR="9525" marT="9525"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9525" marR="9525" marT="9525"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a:t>
                      </a:r>
                    </a:p>
                  </a:txBody>
                  <a:tcPr marL="9525" marR="9525" marT="9525"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44704160"/>
                  </a:ext>
                </a:extLst>
              </a:tr>
            </a:tbl>
          </a:graphicData>
        </a:graphic>
      </p:graphicFrame>
      <p:sp>
        <p:nvSpPr>
          <p:cNvPr id="53" name="사각형: 잘린 대각선 방향 모서리 36">
            <a:extLst>
              <a:ext uri="{FF2B5EF4-FFF2-40B4-BE49-F238E27FC236}">
                <a16:creationId xmlns:a16="http://schemas.microsoft.com/office/drawing/2014/main" id="{30FF1E3A-5910-4BCA-83A8-5B1D86950FC0}"/>
              </a:ext>
            </a:extLst>
          </p:cNvPr>
          <p:cNvSpPr/>
          <p:nvPr/>
        </p:nvSpPr>
        <p:spPr>
          <a:xfrm>
            <a:off x="560388" y="4267757"/>
            <a:ext cx="2448274" cy="291197"/>
          </a:xfrm>
          <a:prstGeom prst="snip2DiagRect">
            <a:avLst/>
          </a:prstGeom>
          <a:solidFill>
            <a:srgbClr val="7F7F7F"/>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직원 현황</a:t>
            </a:r>
            <a:r>
              <a:rPr kumimoji="0" lang="en-US" altLang="ko-KR"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a:t>
            </a:r>
            <a:r>
              <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총 </a:t>
            </a:r>
            <a:r>
              <a:rPr kumimoji="0" lang="en-US" altLang="ko-KR"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90</a:t>
            </a:r>
            <a:r>
              <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명</a:t>
            </a:r>
            <a:r>
              <a:rPr kumimoji="0" lang="en-US" altLang="ko-KR"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 2025. 05 </a:t>
            </a:r>
            <a:r>
              <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기준</a:t>
            </a:r>
            <a:r>
              <a:rPr kumimoji="0" lang="en-US" altLang="ko-KR"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a:t>
            </a:r>
            <a:endPar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54" name="TextBox 53">
            <a:extLst>
              <a:ext uri="{FF2B5EF4-FFF2-40B4-BE49-F238E27FC236}">
                <a16:creationId xmlns:a16="http://schemas.microsoft.com/office/drawing/2014/main" id="{DD6810A1-B7FE-4691-F665-67D763016F82}"/>
              </a:ext>
            </a:extLst>
          </p:cNvPr>
          <p:cNvSpPr txBox="1"/>
          <p:nvPr/>
        </p:nvSpPr>
        <p:spPr>
          <a:xfrm>
            <a:off x="4069203" y="4264961"/>
            <a:ext cx="2448274" cy="90200"/>
          </a:xfrm>
          <a:prstGeom prst="rect">
            <a:avLst/>
          </a:prstGeom>
          <a:solidFill>
            <a:schemeClr val="accent5">
              <a:lumMod val="20000"/>
              <a:lumOff val="80000"/>
            </a:schemeClr>
          </a:solidFill>
        </p:spPr>
        <p:txBody>
          <a:bodyPr wrap="square" tIns="0" bIns="0" rtlCol="0" anchor="b">
            <a:noAutofit/>
          </a:bodyPr>
          <a:lstStyle/>
          <a:p>
            <a:pPr algn="ctr">
              <a:buNone/>
            </a:pPr>
            <a:r>
              <a:rPr lang="ko-KR" altLang="en-US" sz="1400">
                <a:solidFill>
                  <a:prstClr val="black"/>
                </a:solidFill>
                <a:latin typeface="a고딕14" panose="02020600000000000000" pitchFamily="18" charset="-127"/>
                <a:ea typeface="a고딕14" panose="02020600000000000000" pitchFamily="18" charset="-127"/>
              </a:rPr>
              <a:t>본 사업 참여 본부</a:t>
            </a:r>
            <a:endParaRPr lang="ko-KR" altLang="en-US" sz="1400" dirty="0">
              <a:solidFill>
                <a:prstClr val="black"/>
              </a:solidFill>
              <a:latin typeface="a고딕14" panose="02020600000000000000" pitchFamily="18" charset="-127"/>
              <a:ea typeface="a고딕14" panose="02020600000000000000" pitchFamily="18" charset="-127"/>
            </a:endParaRPr>
          </a:p>
        </p:txBody>
      </p:sp>
      <p:sp>
        <p:nvSpPr>
          <p:cNvPr id="55" name="화살표: 왼쪽 5">
            <a:extLst>
              <a:ext uri="{FF2B5EF4-FFF2-40B4-BE49-F238E27FC236}">
                <a16:creationId xmlns:a16="http://schemas.microsoft.com/office/drawing/2014/main" id="{CC284E35-D493-212D-37E1-1DAE9DF74BDA}"/>
              </a:ext>
            </a:extLst>
          </p:cNvPr>
          <p:cNvSpPr/>
          <p:nvPr/>
        </p:nvSpPr>
        <p:spPr>
          <a:xfrm rot="5400000">
            <a:off x="5174102" y="3814771"/>
            <a:ext cx="307732" cy="181844"/>
          </a:xfrm>
          <a:prstGeom prst="leftArrow">
            <a:avLst/>
          </a:prstGeom>
          <a:solidFill>
            <a:srgbClr val="559B9E">
              <a:alpha val="80000"/>
            </a:srgbClr>
          </a:solidFill>
          <a:ln w="25400" cap="flat" cmpd="sng" algn="ctr">
            <a:noFill/>
            <a:prstDash val="solid"/>
            <a:miter lim="800000"/>
          </a:ln>
          <a:effectLst>
            <a:reflection blurRad="6350" stA="50000" endA="300" endPos="38500" dist="50800" dir="5400000" sy="-100000" algn="bl" rotWithShape="0"/>
          </a:effectLst>
        </p:spPr>
        <p:txBody>
          <a:bodyPr lIns="182843" tIns="91422" rIns="182843" bIns="91422" rtlCol="0" anchor="ctr"/>
          <a:lstStyle/>
          <a:p>
            <a:pPr eaLnBrk="1" fontAlgn="auto" latinLnBrk="0" hangingPunct="1">
              <a:spcBef>
                <a:spcPts val="0"/>
              </a:spcBef>
              <a:spcAft>
                <a:spcPts val="0"/>
              </a:spcAft>
              <a:buNone/>
            </a:pPr>
            <a:endParaRPr lang="ko-KR" altLang="en-US" sz="6400" kern="0" dirty="0">
              <a:solidFill>
                <a:srgbClr val="000000"/>
              </a:solidFill>
              <a:latin typeface="Montserrat Light" charset="0"/>
            </a:endParaRPr>
          </a:p>
        </p:txBody>
      </p:sp>
    </p:spTree>
    <p:extLst>
      <p:ext uri="{BB962C8B-B14F-4D97-AF65-F5344CB8AC3E}">
        <p14:creationId xmlns:p14="http://schemas.microsoft.com/office/powerpoint/2010/main" val="14626750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Ⅳ</a:t>
            </a:r>
            <a:r>
              <a:rPr lang="en-US" altLang="ko-KR" dirty="0">
                <a:latin typeface="+mn-ea"/>
              </a:rPr>
              <a:t>. </a:t>
            </a:r>
            <a:r>
              <a:rPr lang="ko-KR" altLang="en-US" dirty="0" err="1">
                <a:latin typeface="+mn-ea"/>
              </a:rPr>
              <a:t>제안업체</a:t>
            </a:r>
            <a:r>
              <a:rPr lang="ko-KR" altLang="en-US" dirty="0">
                <a:latin typeface="+mn-ea"/>
              </a:rPr>
              <a:t> 일반</a:t>
            </a:r>
            <a:endParaRPr lang="en-US" altLang="ko-KR" dirty="0">
              <a:latin typeface="+mn-ea"/>
            </a:endParaRPr>
          </a:p>
          <a:p>
            <a:pPr latinLnBrk="0"/>
            <a:r>
              <a:rPr lang="en-US" altLang="ko-KR" dirty="0">
                <a:latin typeface="+mn-ea"/>
              </a:rPr>
              <a:t>1. </a:t>
            </a:r>
            <a:r>
              <a:rPr lang="ko-KR" altLang="en-US" dirty="0">
                <a:latin typeface="+mn-ea"/>
              </a:rPr>
              <a:t>일반현황</a:t>
            </a:r>
          </a:p>
        </p:txBody>
      </p:sp>
      <p:sp>
        <p:nvSpPr>
          <p:cNvPr id="15" name="직사각형 14"/>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16" name="텍스트 개체 틀 2"/>
          <p:cNvSpPr>
            <a:spLocks noGrp="1"/>
          </p:cNvSpPr>
          <p:nvPr>
            <p:ph type="body" sz="quarter" idx="15"/>
          </p:nvPr>
        </p:nvSpPr>
        <p:spPr>
          <a:xfrm>
            <a:off x="704528" y="252749"/>
            <a:ext cx="6156684" cy="331935"/>
          </a:xfrm>
        </p:spPr>
        <p:txBody>
          <a:bodyPr/>
          <a:lstStyle/>
          <a:p>
            <a:pPr latinLnBrk="0"/>
            <a:r>
              <a:rPr lang="ko-KR" altLang="en-US" dirty="0" err="1">
                <a:latin typeface="Arial Narrow" panose="020B0606020202030204" pitchFamily="34" charset="0"/>
              </a:rPr>
              <a:t>제안사</a:t>
            </a:r>
            <a:r>
              <a:rPr lang="ko-KR" altLang="en-US" dirty="0">
                <a:latin typeface="Arial Narrow" panose="020B0606020202030204" pitchFamily="34" charset="0"/>
              </a:rPr>
              <a:t> 주요 사업내용</a:t>
            </a:r>
            <a:endParaRPr lang="en-US" altLang="ko-KR" dirty="0">
              <a:latin typeface="Arial Narrow" panose="020B0606020202030204" pitchFamily="34" charset="0"/>
            </a:endParaRPr>
          </a:p>
        </p:txBody>
      </p:sp>
      <p:sp>
        <p:nvSpPr>
          <p:cNvPr id="20"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3"/>
            <a:ext cx="8749097" cy="376086"/>
          </a:xfrm>
        </p:spPr>
        <p:txBody>
          <a:bodyPr/>
          <a:lstStyle/>
          <a:p>
            <a:pPr latinLnBrk="0">
              <a:lnSpc>
                <a:spcPct val="100000"/>
              </a:lnSpc>
            </a:pPr>
            <a:r>
              <a:rPr lang="ko-KR" altLang="en-US" dirty="0">
                <a:latin typeface="Arial Narrow" panose="020B0606020202030204" pitchFamily="34" charset="0"/>
                <a:ea typeface="+mn-ea"/>
              </a:rPr>
              <a:t>제안사는 본 과업 영역인 </a:t>
            </a:r>
            <a:r>
              <a:rPr lang="en-US" altLang="ko-KR" dirty="0">
                <a:latin typeface="Arial Narrow" panose="020B0606020202030204" pitchFamily="34" charset="0"/>
                <a:ea typeface="+mn-ea"/>
              </a:rPr>
              <a:t>‘</a:t>
            </a:r>
            <a:r>
              <a:rPr lang="ko-KR" altLang="en-US" dirty="0">
                <a:latin typeface="Arial Narrow" panose="020B0606020202030204" pitchFamily="34" charset="0"/>
                <a:ea typeface="+mn-ea"/>
              </a:rPr>
              <a:t>조사</a:t>
            </a:r>
            <a:r>
              <a:rPr lang="en-US" altLang="ko-KR" dirty="0">
                <a:latin typeface="Arial Narrow" panose="020B0606020202030204" pitchFamily="34" charset="0"/>
                <a:ea typeface="+mn-ea"/>
              </a:rPr>
              <a:t>·</a:t>
            </a:r>
            <a:r>
              <a:rPr lang="ko-KR" altLang="en-US" dirty="0">
                <a:latin typeface="Arial Narrow" panose="020B0606020202030204" pitchFamily="34" charset="0"/>
                <a:ea typeface="+mn-ea"/>
              </a:rPr>
              <a:t>연구 사업</a:t>
            </a:r>
            <a:r>
              <a:rPr lang="en-US" altLang="ko-KR" dirty="0">
                <a:latin typeface="Arial Narrow" panose="020B0606020202030204" pitchFamily="34" charset="0"/>
                <a:ea typeface="+mn-ea"/>
              </a:rPr>
              <a:t>’ </a:t>
            </a:r>
            <a:r>
              <a:rPr lang="ko-KR" altLang="en-US" dirty="0">
                <a:latin typeface="Arial Narrow" panose="020B0606020202030204" pitchFamily="34" charset="0"/>
                <a:ea typeface="+mn-ea"/>
              </a:rPr>
              <a:t>등을 비롯해 </a:t>
            </a:r>
            <a:r>
              <a:rPr lang="en-US" altLang="ko-KR" dirty="0">
                <a:latin typeface="Arial Narrow" panose="020B0606020202030204" pitchFamily="34" charset="0"/>
                <a:ea typeface="+mn-ea"/>
              </a:rPr>
              <a:t>HRM, HRD, </a:t>
            </a:r>
            <a:r>
              <a:rPr lang="ko-KR" altLang="en-US" dirty="0">
                <a:latin typeface="Arial Narrow" panose="020B0606020202030204" pitchFamily="34" charset="0"/>
                <a:ea typeface="+mn-ea"/>
              </a:rPr>
              <a:t>전략</a:t>
            </a:r>
            <a:r>
              <a:rPr lang="en-US" altLang="ko-KR" dirty="0">
                <a:latin typeface="Arial Narrow" panose="020B0606020202030204" pitchFamily="34" charset="0"/>
                <a:ea typeface="+mn-ea"/>
              </a:rPr>
              <a:t>, NCS </a:t>
            </a:r>
            <a:r>
              <a:rPr lang="ko-KR" altLang="en-US" dirty="0">
                <a:latin typeface="Arial Narrow" panose="020B0606020202030204" pitchFamily="34" charset="0"/>
                <a:ea typeface="+mn-ea"/>
              </a:rPr>
              <a:t>등 다양한 영역에 대해 </a:t>
            </a:r>
            <a:r>
              <a:rPr lang="en-US" altLang="ko-KR" dirty="0">
                <a:latin typeface="Arial Narrow" panose="020B0606020202030204" pitchFamily="34" charset="0"/>
                <a:ea typeface="+mn-ea"/>
              </a:rPr>
              <a:t>Consulting Solution</a:t>
            </a:r>
            <a:r>
              <a:rPr lang="ko-KR" altLang="en-US" dirty="0">
                <a:latin typeface="Arial Narrow" panose="020B0606020202030204" pitchFamily="34" charset="0"/>
                <a:ea typeface="+mn-ea"/>
              </a:rPr>
              <a:t>을 제공하고 있음</a:t>
            </a:r>
          </a:p>
        </p:txBody>
      </p:sp>
      <p:grpSp>
        <p:nvGrpSpPr>
          <p:cNvPr id="19" name="그룹 18"/>
          <p:cNvGrpSpPr/>
          <p:nvPr/>
        </p:nvGrpSpPr>
        <p:grpSpPr>
          <a:xfrm>
            <a:off x="6285149" y="1972355"/>
            <a:ext cx="2912622" cy="818735"/>
            <a:chOff x="6285149" y="1947540"/>
            <a:chExt cx="2912622" cy="818735"/>
          </a:xfrm>
        </p:grpSpPr>
        <p:sp>
          <p:nvSpPr>
            <p:cNvPr id="21" name="직사각형 20"/>
            <p:cNvSpPr/>
            <p:nvPr/>
          </p:nvSpPr>
          <p:spPr>
            <a:xfrm>
              <a:off x="7497797" y="2021036"/>
              <a:ext cx="1250265" cy="402315"/>
            </a:xfrm>
            <a:prstGeom prst="rect">
              <a:avLst/>
            </a:prstGeom>
            <a:ln>
              <a:noFill/>
            </a:ln>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en-US" altLang="ko-KR" sz="2000" b="1" dirty="0">
                  <a:ln>
                    <a:solidFill>
                      <a:srgbClr val="4F81BD">
                        <a:shade val="50000"/>
                        <a:alpha val="0"/>
                      </a:srgbClr>
                    </a:solidFill>
                  </a:ln>
                  <a:solidFill>
                    <a:srgbClr val="32425B"/>
                  </a:solidFill>
                  <a:latin typeface="a고딕14" panose="02020600000000000000" pitchFamily="18" charset="-127"/>
                  <a:ea typeface="a고딕14" panose="02020600000000000000" pitchFamily="18" charset="-127"/>
                </a:rPr>
                <a:t>HRM </a:t>
              </a:r>
              <a:r>
                <a:rPr lang="ko-KR" altLang="en-US" sz="2000" b="1" dirty="0">
                  <a:ln>
                    <a:solidFill>
                      <a:srgbClr val="4F81BD">
                        <a:shade val="50000"/>
                        <a:alpha val="0"/>
                      </a:srgbClr>
                    </a:solidFill>
                  </a:ln>
                  <a:solidFill>
                    <a:srgbClr val="32425B"/>
                  </a:solidFill>
                  <a:latin typeface="a고딕14" panose="02020600000000000000" pitchFamily="18" charset="-127"/>
                  <a:ea typeface="a고딕14" panose="02020600000000000000" pitchFamily="18" charset="-127"/>
                </a:rPr>
                <a:t>사업</a:t>
              </a:r>
            </a:p>
          </p:txBody>
        </p:sp>
        <p:sp>
          <p:nvSpPr>
            <p:cNvPr id="22" name="직사각형 21"/>
            <p:cNvSpPr/>
            <p:nvPr/>
          </p:nvSpPr>
          <p:spPr>
            <a:xfrm>
              <a:off x="8633154" y="1947540"/>
              <a:ext cx="564617" cy="563625"/>
            </a:xfrm>
            <a:prstGeom prst="rect">
              <a:avLst/>
            </a:prstGeom>
          </p:spPr>
          <p:txBody>
            <a:bodyPr wrap="none" lIns="93624" tIns="46812" rIns="93624" bIns="46812">
              <a:spAutoFit/>
            </a:bodyPr>
            <a:lstStyle/>
            <a:p>
              <a:pPr defTabSz="936293" eaLnBrk="1" fontAlgn="auto" hangingPunct="1">
                <a:spcBef>
                  <a:spcPts val="0"/>
                </a:spcBef>
                <a:spcAft>
                  <a:spcPts val="0"/>
                </a:spcAft>
                <a:buFont typeface="Wingdings" pitchFamily="2" charset="2"/>
                <a:buNone/>
              </a:pPr>
              <a:r>
                <a:rPr lang="en-US" altLang="ko-KR"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01</a:t>
              </a:r>
              <a:endParaRPr lang="ko-KR" altLang="en-US"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23" name="직사각형 22"/>
            <p:cNvSpPr/>
            <p:nvPr/>
          </p:nvSpPr>
          <p:spPr>
            <a:xfrm>
              <a:off x="6285149" y="2348571"/>
              <a:ext cx="2884462" cy="417704"/>
            </a:xfrm>
            <a:prstGeom prst="rect">
              <a:avLst/>
            </a:prstGeom>
          </p:spPr>
          <p:txBody>
            <a:bodyPr wrap="squar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직무분석 및 조직진단을 통한 </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HR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컨설팅</a:t>
              </a:r>
              <a:b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br>
              <a:r>
                <a:rPr lang="ko-KR" altLang="en-US" sz="1050" dirty="0" err="1">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업무량조사</a:t>
              </a:r>
              <a:r>
                <a:rPr lang="en-US" altLang="ko-KR" sz="1050" dirty="0">
                  <a:ln>
                    <a:solidFill>
                      <a:srgbClr val="4F81BD">
                        <a:shade val="50000"/>
                        <a:alpha val="0"/>
                      </a:srgbClr>
                    </a:solidFill>
                  </a:ln>
                  <a:solidFill>
                    <a:prstClr val="black">
                      <a:lumMod val="75000"/>
                      <a:lumOff val="25000"/>
                    </a:prstClr>
                  </a:solidFill>
                  <a:latin typeface="Arial Narrow" panose="020B0606020202030204" pitchFamily="34" charset="0"/>
                  <a:ea typeface="a고딕14" panose="02020600000000000000" pitchFamily="18" charset="-127"/>
                </a:rPr>
                <a:t>·</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분석 및 적정정원산정</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E-HR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시스템</a:t>
              </a:r>
            </a:p>
          </p:txBody>
        </p:sp>
      </p:grpSp>
      <p:grpSp>
        <p:nvGrpSpPr>
          <p:cNvPr id="24" name="그룹 23"/>
          <p:cNvGrpSpPr/>
          <p:nvPr/>
        </p:nvGrpSpPr>
        <p:grpSpPr>
          <a:xfrm>
            <a:off x="6141132" y="2766928"/>
            <a:ext cx="3056639" cy="817875"/>
            <a:chOff x="6141132" y="2868731"/>
            <a:chExt cx="3056639" cy="817875"/>
          </a:xfrm>
        </p:grpSpPr>
        <p:sp>
          <p:nvSpPr>
            <p:cNvPr id="25" name="직사각형 24"/>
            <p:cNvSpPr/>
            <p:nvPr/>
          </p:nvSpPr>
          <p:spPr>
            <a:xfrm>
              <a:off x="7541081" y="2942228"/>
              <a:ext cx="1206984" cy="402315"/>
            </a:xfrm>
            <a:prstGeom prst="rect">
              <a:avLst/>
            </a:prstGeom>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en-US" altLang="ko-KR" sz="2000" b="1" dirty="0">
                  <a:ln>
                    <a:solidFill>
                      <a:srgbClr val="4F81BD">
                        <a:shade val="50000"/>
                        <a:alpha val="0"/>
                      </a:srgbClr>
                    </a:solidFill>
                  </a:ln>
                  <a:solidFill>
                    <a:srgbClr val="FFC000"/>
                  </a:solidFill>
                  <a:latin typeface="a고딕14" panose="02020600000000000000" pitchFamily="18" charset="-127"/>
                  <a:ea typeface="a고딕14" panose="02020600000000000000" pitchFamily="18" charset="-127"/>
                </a:rPr>
                <a:t>HRD </a:t>
              </a:r>
              <a:r>
                <a:rPr lang="ko-KR" altLang="en-US" sz="2000" b="1" dirty="0">
                  <a:ln>
                    <a:solidFill>
                      <a:srgbClr val="4F81BD">
                        <a:shade val="50000"/>
                        <a:alpha val="0"/>
                      </a:srgbClr>
                    </a:solidFill>
                  </a:ln>
                  <a:solidFill>
                    <a:srgbClr val="FFC000"/>
                  </a:solidFill>
                  <a:latin typeface="a고딕14" panose="02020600000000000000" pitchFamily="18" charset="-127"/>
                  <a:ea typeface="a고딕14" panose="02020600000000000000" pitchFamily="18" charset="-127"/>
                </a:rPr>
                <a:t>사업</a:t>
              </a:r>
            </a:p>
          </p:txBody>
        </p:sp>
        <p:sp>
          <p:nvSpPr>
            <p:cNvPr id="26" name="직사각형 25"/>
            <p:cNvSpPr/>
            <p:nvPr/>
          </p:nvSpPr>
          <p:spPr>
            <a:xfrm>
              <a:off x="8633154" y="2868731"/>
              <a:ext cx="564617" cy="563625"/>
            </a:xfrm>
            <a:prstGeom prst="rect">
              <a:avLst/>
            </a:prstGeom>
          </p:spPr>
          <p:txBody>
            <a:bodyPr wrap="none" lIns="93624" tIns="46812" rIns="93624" bIns="46812">
              <a:spAutoFit/>
            </a:bodyPr>
            <a:lstStyle/>
            <a:p>
              <a:pPr defTabSz="936293" eaLnBrk="1" fontAlgn="auto" hangingPunct="1">
                <a:spcBef>
                  <a:spcPts val="0"/>
                </a:spcBef>
                <a:spcAft>
                  <a:spcPts val="0"/>
                </a:spcAft>
                <a:buFont typeface="Wingdings" pitchFamily="2" charset="2"/>
                <a:buNone/>
              </a:pPr>
              <a:r>
                <a:rPr lang="en-US" altLang="ko-KR"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02</a:t>
              </a:r>
              <a:endParaRPr lang="ko-KR" altLang="en-US"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27" name="직사각형 26"/>
            <p:cNvSpPr/>
            <p:nvPr/>
          </p:nvSpPr>
          <p:spPr>
            <a:xfrm>
              <a:off x="6141132" y="3268902"/>
              <a:ext cx="3055330" cy="417704"/>
            </a:xfrm>
            <a:prstGeom prst="rect">
              <a:avLst/>
            </a:prstGeom>
          </p:spPr>
          <p:txBody>
            <a:bodyPr wrap="squar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역량 기반의 </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HRD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체계 수립 컨설팅</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전략적 </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HRD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교육 솔루션</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역량 중심의 위탁교육</a:t>
              </a:r>
            </a:p>
          </p:txBody>
        </p:sp>
      </p:grpSp>
      <p:grpSp>
        <p:nvGrpSpPr>
          <p:cNvPr id="28" name="그룹 27"/>
          <p:cNvGrpSpPr/>
          <p:nvPr/>
        </p:nvGrpSpPr>
        <p:grpSpPr>
          <a:xfrm>
            <a:off x="5838825" y="4430039"/>
            <a:ext cx="3363920" cy="821194"/>
            <a:chOff x="5838825" y="4700720"/>
            <a:chExt cx="3363920" cy="821194"/>
          </a:xfrm>
        </p:grpSpPr>
        <p:sp>
          <p:nvSpPr>
            <p:cNvPr id="29" name="직사각형 28"/>
            <p:cNvSpPr/>
            <p:nvPr/>
          </p:nvSpPr>
          <p:spPr>
            <a:xfrm>
              <a:off x="7545888" y="4774217"/>
              <a:ext cx="1202174" cy="402315"/>
            </a:xfrm>
            <a:prstGeom prst="rect">
              <a:avLst/>
            </a:prstGeom>
          </p:spPr>
          <p:txBody>
            <a:bodyPr wrap="none" lIns="93624" tIns="46812" rIns="93624" bIns="46812">
              <a:spAutoFit/>
            </a:bodyPr>
            <a:lstStyle/>
            <a:p>
              <a:pPr algn="r" defTabSz="936293" eaLnBrk="1" fontAlgn="auto" latinLnBrk="0" hangingPunct="1">
                <a:spcBef>
                  <a:spcPts val="0"/>
                </a:spcBef>
                <a:spcAft>
                  <a:spcPts val="0"/>
                </a:spcAft>
                <a:buFont typeface="Wingdings" pitchFamily="2" charset="2"/>
                <a:buNone/>
                <a:defRPr/>
              </a:pPr>
              <a:r>
                <a:rPr lang="en-US" altLang="ko-KR" sz="2000" b="1" kern="0" dirty="0">
                  <a:ln>
                    <a:solidFill>
                      <a:srgbClr val="4F81BD">
                        <a:shade val="50000"/>
                        <a:alpha val="0"/>
                      </a:srgbClr>
                    </a:solidFill>
                  </a:ln>
                  <a:solidFill>
                    <a:srgbClr val="269A7C"/>
                  </a:solidFill>
                  <a:latin typeface="a고딕14" panose="02020600000000000000" pitchFamily="18" charset="-127"/>
                  <a:ea typeface="a고딕14" panose="02020600000000000000" pitchFamily="18" charset="-127"/>
                </a:rPr>
                <a:t>NCS </a:t>
              </a:r>
              <a:r>
                <a:rPr lang="ko-KR" altLang="en-US" sz="2000" b="1" kern="0" dirty="0">
                  <a:ln>
                    <a:solidFill>
                      <a:srgbClr val="4F81BD">
                        <a:shade val="50000"/>
                        <a:alpha val="0"/>
                      </a:srgbClr>
                    </a:solidFill>
                  </a:ln>
                  <a:solidFill>
                    <a:srgbClr val="269A7C"/>
                  </a:solidFill>
                  <a:latin typeface="a고딕14" panose="02020600000000000000" pitchFamily="18" charset="-127"/>
                  <a:ea typeface="a고딕14" panose="02020600000000000000" pitchFamily="18" charset="-127"/>
                </a:rPr>
                <a:t>사업</a:t>
              </a:r>
            </a:p>
          </p:txBody>
        </p:sp>
        <p:sp>
          <p:nvSpPr>
            <p:cNvPr id="30" name="직사각형 29"/>
            <p:cNvSpPr/>
            <p:nvPr/>
          </p:nvSpPr>
          <p:spPr>
            <a:xfrm>
              <a:off x="8633154" y="4700720"/>
              <a:ext cx="564617" cy="563625"/>
            </a:xfrm>
            <a:prstGeom prst="rect">
              <a:avLst/>
            </a:prstGeom>
            <a:ln w="0">
              <a:noFill/>
            </a:ln>
            <a:effectLst/>
            <a:scene3d>
              <a:camera prst="orthographicFront"/>
              <a:lightRig rig="threePt" dir="t"/>
            </a:scene3d>
            <a:sp3d>
              <a:extrusionClr>
                <a:sysClr val="window" lastClr="FFFFFF"/>
              </a:extrusionClr>
              <a:contourClr>
                <a:sysClr val="window" lastClr="FFFFFF"/>
              </a:contourClr>
            </a:sp3d>
          </p:spPr>
          <p:txBody>
            <a:bodyPr wrap="none" lIns="93624" tIns="46812" rIns="93624" bIns="46812">
              <a:spAutoFit/>
            </a:bodyPr>
            <a:lstStyle/>
            <a:p>
              <a:pPr defTabSz="936293" eaLnBrk="1" fontAlgn="auto" latinLnBrk="0" hangingPunct="1">
                <a:spcBef>
                  <a:spcPts val="0"/>
                </a:spcBef>
                <a:spcAft>
                  <a:spcPts val="0"/>
                </a:spcAft>
                <a:buFont typeface="Wingdings" pitchFamily="2" charset="2"/>
                <a:buNone/>
                <a:defRPr/>
              </a:pPr>
              <a:r>
                <a:rPr lang="en-US" altLang="ko-KR" sz="2471" kern="0"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04</a:t>
              </a:r>
              <a:endParaRPr lang="ko-KR" altLang="en-US" sz="2471" kern="0"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31" name="직사각형 30"/>
            <p:cNvSpPr/>
            <p:nvPr/>
          </p:nvSpPr>
          <p:spPr>
            <a:xfrm>
              <a:off x="5838825" y="5104210"/>
              <a:ext cx="3363920" cy="417704"/>
            </a:xfrm>
            <a:prstGeom prst="rect">
              <a:avLst/>
            </a:prstGeom>
          </p:spPr>
          <p:txBody>
            <a:bodyPr wrap="square" lIns="93624" tIns="46812" rIns="93624" bIns="46812">
              <a:spAutoFit/>
            </a:bodyPr>
            <a:lstStyle/>
            <a:p>
              <a:pPr algn="r" defTabSz="936293" eaLnBrk="1" fontAlgn="auto" latinLnBrk="0" hangingPunct="1">
                <a:spcBef>
                  <a:spcPts val="0"/>
                </a:spcBef>
                <a:spcAft>
                  <a:spcPts val="0"/>
                </a:spcAft>
                <a:buFont typeface="Wingdings" pitchFamily="2" charset="2"/>
                <a:buNone/>
                <a:defRPr/>
              </a:pP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 </a:t>
              </a:r>
              <a:r>
                <a:rPr lang="ko-KR" altLang="en-US" sz="1050" kern="0" dirty="0" err="1">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기업활용</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컨설팅</a:t>
              </a: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NCS </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개발 컨설팅</a:t>
              </a: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교육훈련</a:t>
              </a: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p>
            <a:p>
              <a:pPr algn="r" defTabSz="936293" eaLnBrk="1" fontAlgn="auto" latinLnBrk="0" hangingPunct="1">
                <a:spcBef>
                  <a:spcPts val="0"/>
                </a:spcBef>
                <a:spcAft>
                  <a:spcPts val="0"/>
                </a:spcAft>
                <a:buFont typeface="Wingdings" pitchFamily="2" charset="2"/>
                <a:buNone/>
                <a:defRPr/>
              </a:pPr>
              <a:r>
                <a:rPr lang="ko-KR" altLang="en-US" sz="1050" kern="0" dirty="0" err="1">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자격분야</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 </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활용 솔루션 제공</a:t>
              </a:r>
            </a:p>
          </p:txBody>
        </p:sp>
      </p:grpSp>
      <p:sp>
        <p:nvSpPr>
          <p:cNvPr id="32" name="이등변 삼각형 42"/>
          <p:cNvSpPr/>
          <p:nvPr/>
        </p:nvSpPr>
        <p:spPr>
          <a:xfrm rot="5400000">
            <a:off x="2347803" y="3742577"/>
            <a:ext cx="685389" cy="2133478"/>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269A7C"/>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3" name="이등변 삼각형 42"/>
          <p:cNvSpPr/>
          <p:nvPr/>
        </p:nvSpPr>
        <p:spPr>
          <a:xfrm rot="5400000">
            <a:off x="2693909" y="2718350"/>
            <a:ext cx="685389" cy="2816211"/>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77B648"/>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2400" b="1"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4" name="이등변 삼각형 42"/>
          <p:cNvSpPr/>
          <p:nvPr/>
        </p:nvSpPr>
        <p:spPr>
          <a:xfrm rot="5400000">
            <a:off x="2884735" y="1839930"/>
            <a:ext cx="685389" cy="3207339"/>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FFC000"/>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5" name="이등변 삼각형 42"/>
          <p:cNvSpPr/>
          <p:nvPr/>
        </p:nvSpPr>
        <p:spPr>
          <a:xfrm rot="5400000">
            <a:off x="2404492" y="1637314"/>
            <a:ext cx="685389" cy="2246853"/>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32425B"/>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6" name="직사각형 99"/>
          <p:cNvSpPr/>
          <p:nvPr/>
        </p:nvSpPr>
        <p:spPr>
          <a:xfrm>
            <a:off x="669036" y="4318408"/>
            <a:ext cx="989118" cy="946769"/>
          </a:xfrm>
          <a:custGeom>
            <a:avLst/>
            <a:gdLst>
              <a:gd name="connsiteX0" fmla="*/ 2106093 w 2106093"/>
              <a:gd name="connsiteY0" fmla="*/ 0 h 720972"/>
              <a:gd name="connsiteX1" fmla="*/ 2106093 w 2106093"/>
              <a:gd name="connsiteY1" fmla="*/ 633539 h 720972"/>
              <a:gd name="connsiteX2" fmla="*/ 0 w 2106093"/>
              <a:gd name="connsiteY2" fmla="*/ 720972 h 720972"/>
              <a:gd name="connsiteX3" fmla="*/ 0 w 2106093"/>
              <a:gd name="connsiteY3" fmla="*/ 122463 h 720972"/>
              <a:gd name="connsiteX4" fmla="*/ 2106093 w 2106093"/>
              <a:gd name="connsiteY4" fmla="*/ 0 h 720972"/>
              <a:gd name="connsiteX0" fmla="*/ 2106093 w 2106093"/>
              <a:gd name="connsiteY0" fmla="*/ 135098 h 856070"/>
              <a:gd name="connsiteX1" fmla="*/ 2106093 w 2106093"/>
              <a:gd name="connsiteY1" fmla="*/ 768637 h 856070"/>
              <a:gd name="connsiteX2" fmla="*/ 0 w 2106093"/>
              <a:gd name="connsiteY2" fmla="*/ 856070 h 856070"/>
              <a:gd name="connsiteX3" fmla="*/ 289534 w 2106093"/>
              <a:gd name="connsiteY3" fmla="*/ 0 h 856070"/>
              <a:gd name="connsiteX4" fmla="*/ 2106093 w 2106093"/>
              <a:gd name="connsiteY4" fmla="*/ 135098 h 856070"/>
              <a:gd name="connsiteX0" fmla="*/ 1816559 w 1816559"/>
              <a:gd name="connsiteY0" fmla="*/ 135098 h 871382"/>
              <a:gd name="connsiteX1" fmla="*/ 1816559 w 1816559"/>
              <a:gd name="connsiteY1" fmla="*/ 768637 h 871382"/>
              <a:gd name="connsiteX2" fmla="*/ 0 w 1816559"/>
              <a:gd name="connsiteY2" fmla="*/ 871382 h 871382"/>
              <a:gd name="connsiteX3" fmla="*/ 0 w 1816559"/>
              <a:gd name="connsiteY3" fmla="*/ 0 h 871382"/>
              <a:gd name="connsiteX4" fmla="*/ 1816559 w 1816559"/>
              <a:gd name="connsiteY4" fmla="*/ 135098 h 871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6559" h="871382">
                <a:moveTo>
                  <a:pt x="1816559" y="135098"/>
                </a:moveTo>
                <a:lnTo>
                  <a:pt x="1816559" y="768637"/>
                </a:lnTo>
                <a:lnTo>
                  <a:pt x="0" y="871382"/>
                </a:lnTo>
                <a:lnTo>
                  <a:pt x="0" y="0"/>
                </a:lnTo>
                <a:lnTo>
                  <a:pt x="1816559" y="135098"/>
                </a:lnTo>
                <a:close/>
              </a:path>
            </a:pathLst>
          </a:custGeom>
          <a:solidFill>
            <a:srgbClr val="269A7C"/>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7" name="직사각형 99"/>
          <p:cNvSpPr/>
          <p:nvPr/>
        </p:nvSpPr>
        <p:spPr>
          <a:xfrm>
            <a:off x="671308" y="3521638"/>
            <a:ext cx="991580" cy="949798"/>
          </a:xfrm>
          <a:custGeom>
            <a:avLst/>
            <a:gdLst>
              <a:gd name="connsiteX0" fmla="*/ 2106093 w 2106093"/>
              <a:gd name="connsiteY0" fmla="*/ 0 h 720972"/>
              <a:gd name="connsiteX1" fmla="*/ 2106093 w 2106093"/>
              <a:gd name="connsiteY1" fmla="*/ 633539 h 720972"/>
              <a:gd name="connsiteX2" fmla="*/ 0 w 2106093"/>
              <a:gd name="connsiteY2" fmla="*/ 720972 h 720972"/>
              <a:gd name="connsiteX3" fmla="*/ 0 w 2106093"/>
              <a:gd name="connsiteY3" fmla="*/ 122463 h 720972"/>
              <a:gd name="connsiteX4" fmla="*/ 2106093 w 2106093"/>
              <a:gd name="connsiteY4" fmla="*/ 0 h 720972"/>
              <a:gd name="connsiteX0" fmla="*/ 2106093 w 2106093"/>
              <a:gd name="connsiteY0" fmla="*/ 176072 h 897044"/>
              <a:gd name="connsiteX1" fmla="*/ 2106093 w 2106093"/>
              <a:gd name="connsiteY1" fmla="*/ 809611 h 897044"/>
              <a:gd name="connsiteX2" fmla="*/ 0 w 2106093"/>
              <a:gd name="connsiteY2" fmla="*/ 897044 h 897044"/>
              <a:gd name="connsiteX3" fmla="*/ 0 w 2106093"/>
              <a:gd name="connsiteY3" fmla="*/ 298535 h 897044"/>
              <a:gd name="connsiteX4" fmla="*/ 379762 w 2106093"/>
              <a:gd name="connsiteY4" fmla="*/ 0 h 897044"/>
              <a:gd name="connsiteX5" fmla="*/ 2106093 w 2106093"/>
              <a:gd name="connsiteY5" fmla="*/ 176072 h 897044"/>
              <a:gd name="connsiteX0" fmla="*/ 2106093 w 2106093"/>
              <a:gd name="connsiteY0" fmla="*/ 176072 h 897044"/>
              <a:gd name="connsiteX1" fmla="*/ 2106093 w 2106093"/>
              <a:gd name="connsiteY1" fmla="*/ 809611 h 897044"/>
              <a:gd name="connsiteX2" fmla="*/ 0 w 2106093"/>
              <a:gd name="connsiteY2" fmla="*/ 897044 h 897044"/>
              <a:gd name="connsiteX3" fmla="*/ 379762 w 2106093"/>
              <a:gd name="connsiteY3" fmla="*/ 0 h 897044"/>
              <a:gd name="connsiteX4" fmla="*/ 2106093 w 2106093"/>
              <a:gd name="connsiteY4" fmla="*/ 176072 h 897044"/>
              <a:gd name="connsiteX0" fmla="*/ 2106093 w 2106093"/>
              <a:gd name="connsiteY0" fmla="*/ 204777 h 925749"/>
              <a:gd name="connsiteX1" fmla="*/ 2106093 w 2106093"/>
              <a:gd name="connsiteY1" fmla="*/ 838316 h 925749"/>
              <a:gd name="connsiteX2" fmla="*/ 0 w 2106093"/>
              <a:gd name="connsiteY2" fmla="*/ 925749 h 925749"/>
              <a:gd name="connsiteX3" fmla="*/ 287855 w 2106093"/>
              <a:gd name="connsiteY3" fmla="*/ 0 h 925749"/>
              <a:gd name="connsiteX4" fmla="*/ 2106093 w 2106093"/>
              <a:gd name="connsiteY4" fmla="*/ 204777 h 925749"/>
              <a:gd name="connsiteX0" fmla="*/ 1818238 w 1818238"/>
              <a:gd name="connsiteY0" fmla="*/ 204777 h 838316"/>
              <a:gd name="connsiteX1" fmla="*/ 1818238 w 1818238"/>
              <a:gd name="connsiteY1" fmla="*/ 838316 h 838316"/>
              <a:gd name="connsiteX2" fmla="*/ 15248 w 1818238"/>
              <a:gd name="connsiteY2" fmla="*/ 703740 h 838316"/>
              <a:gd name="connsiteX3" fmla="*/ 0 w 1818238"/>
              <a:gd name="connsiteY3" fmla="*/ 0 h 838316"/>
              <a:gd name="connsiteX4" fmla="*/ 1818238 w 1818238"/>
              <a:gd name="connsiteY4" fmla="*/ 204777 h 838316"/>
              <a:gd name="connsiteX0" fmla="*/ 1821081 w 1821081"/>
              <a:gd name="connsiteY0" fmla="*/ 204777 h 838316"/>
              <a:gd name="connsiteX1" fmla="*/ 1821081 w 1821081"/>
              <a:gd name="connsiteY1" fmla="*/ 838316 h 838316"/>
              <a:gd name="connsiteX2" fmla="*/ 0 w 1821081"/>
              <a:gd name="connsiteY2" fmla="*/ 701824 h 838316"/>
              <a:gd name="connsiteX3" fmla="*/ 2843 w 1821081"/>
              <a:gd name="connsiteY3" fmla="*/ 0 h 838316"/>
              <a:gd name="connsiteX4" fmla="*/ 1821081 w 1821081"/>
              <a:gd name="connsiteY4" fmla="*/ 204777 h 838316"/>
              <a:gd name="connsiteX0" fmla="*/ 1821081 w 1821081"/>
              <a:gd name="connsiteY0" fmla="*/ 204777 h 838316"/>
              <a:gd name="connsiteX1" fmla="*/ 1821081 w 1821081"/>
              <a:gd name="connsiteY1" fmla="*/ 838316 h 838316"/>
              <a:gd name="connsiteX2" fmla="*/ 0 w 1821081"/>
              <a:gd name="connsiteY2" fmla="*/ 753216 h 838316"/>
              <a:gd name="connsiteX3" fmla="*/ 2843 w 1821081"/>
              <a:gd name="connsiteY3" fmla="*/ 0 h 838316"/>
              <a:gd name="connsiteX4" fmla="*/ 1821081 w 1821081"/>
              <a:gd name="connsiteY4" fmla="*/ 204777 h 838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1081" h="838316">
                <a:moveTo>
                  <a:pt x="1821081" y="204777"/>
                </a:moveTo>
                <a:lnTo>
                  <a:pt x="1821081" y="838316"/>
                </a:lnTo>
                <a:lnTo>
                  <a:pt x="0" y="753216"/>
                </a:lnTo>
                <a:cubicBezTo>
                  <a:pt x="948" y="519275"/>
                  <a:pt x="1895" y="233941"/>
                  <a:pt x="2843" y="0"/>
                </a:cubicBezTo>
                <a:lnTo>
                  <a:pt x="1821081" y="204777"/>
                </a:lnTo>
                <a:close/>
              </a:path>
            </a:pathLst>
          </a:custGeom>
          <a:solidFill>
            <a:srgbClr val="77B648"/>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8" name="직사각형 100"/>
          <p:cNvSpPr/>
          <p:nvPr/>
        </p:nvSpPr>
        <p:spPr>
          <a:xfrm>
            <a:off x="667291" y="2635267"/>
            <a:ext cx="990861" cy="1152693"/>
          </a:xfrm>
          <a:custGeom>
            <a:avLst/>
            <a:gdLst>
              <a:gd name="connsiteX0" fmla="*/ 2394125 w 2394125"/>
              <a:gd name="connsiteY0" fmla="*/ 180456 h 989889"/>
              <a:gd name="connsiteX1" fmla="*/ 2394125 w 2394125"/>
              <a:gd name="connsiteY1" fmla="*/ 846822 h 989889"/>
              <a:gd name="connsiteX2" fmla="*/ 288032 w 2394125"/>
              <a:gd name="connsiteY2" fmla="*/ 968642 h 989889"/>
              <a:gd name="connsiteX3" fmla="*/ 288032 w 2394125"/>
              <a:gd name="connsiteY3" fmla="*/ 973229 h 989889"/>
              <a:gd name="connsiteX4" fmla="*/ 0 w 2394125"/>
              <a:gd name="connsiteY4" fmla="*/ 989889 h 989889"/>
              <a:gd name="connsiteX5" fmla="*/ 0 w 2394125"/>
              <a:gd name="connsiteY5" fmla="*/ 0 h 989889"/>
              <a:gd name="connsiteX6" fmla="*/ 586935 w 2394125"/>
              <a:gd name="connsiteY6" fmla="*/ 114434 h 989889"/>
              <a:gd name="connsiteX0" fmla="*/ 2394125 w 2394125"/>
              <a:gd name="connsiteY0" fmla="*/ 180456 h 989889"/>
              <a:gd name="connsiteX1" fmla="*/ 2394125 w 2394125"/>
              <a:gd name="connsiteY1" fmla="*/ 846822 h 989889"/>
              <a:gd name="connsiteX2" fmla="*/ 288032 w 2394125"/>
              <a:gd name="connsiteY2" fmla="*/ 968642 h 989889"/>
              <a:gd name="connsiteX3" fmla="*/ 288032 w 2394125"/>
              <a:gd name="connsiteY3" fmla="*/ 973229 h 989889"/>
              <a:gd name="connsiteX4" fmla="*/ 0 w 2394125"/>
              <a:gd name="connsiteY4" fmla="*/ 989889 h 989889"/>
              <a:gd name="connsiteX5" fmla="*/ 0 w 2394125"/>
              <a:gd name="connsiteY5" fmla="*/ 0 h 989889"/>
              <a:gd name="connsiteX0" fmla="*/ 2394125 w 2394125"/>
              <a:gd name="connsiteY0" fmla="*/ 393064 h 1202497"/>
              <a:gd name="connsiteX1" fmla="*/ 2394125 w 2394125"/>
              <a:gd name="connsiteY1" fmla="*/ 1059430 h 1202497"/>
              <a:gd name="connsiteX2" fmla="*/ 288032 w 2394125"/>
              <a:gd name="connsiteY2" fmla="*/ 1181250 h 1202497"/>
              <a:gd name="connsiteX3" fmla="*/ 288032 w 2394125"/>
              <a:gd name="connsiteY3" fmla="*/ 1185837 h 1202497"/>
              <a:gd name="connsiteX4" fmla="*/ 0 w 2394125"/>
              <a:gd name="connsiteY4" fmla="*/ 1202497 h 1202497"/>
              <a:gd name="connsiteX5" fmla="*/ 511040 w 2394125"/>
              <a:gd name="connsiteY5" fmla="*/ 0 h 1202497"/>
              <a:gd name="connsiteX0" fmla="*/ 2394125 w 2394125"/>
              <a:gd name="connsiteY0" fmla="*/ 393064 h 1202497"/>
              <a:gd name="connsiteX1" fmla="*/ 2394125 w 2394125"/>
              <a:gd name="connsiteY1" fmla="*/ 1059430 h 1202497"/>
              <a:gd name="connsiteX2" fmla="*/ 288032 w 2394125"/>
              <a:gd name="connsiteY2" fmla="*/ 1181250 h 1202497"/>
              <a:gd name="connsiteX3" fmla="*/ 0 w 2394125"/>
              <a:gd name="connsiteY3" fmla="*/ 1202497 h 1202497"/>
              <a:gd name="connsiteX4" fmla="*/ 511040 w 2394125"/>
              <a:gd name="connsiteY4" fmla="*/ 0 h 1202497"/>
              <a:gd name="connsiteX0" fmla="*/ 2394125 w 2394125"/>
              <a:gd name="connsiteY0" fmla="*/ 393064 h 1202497"/>
              <a:gd name="connsiteX1" fmla="*/ 2394125 w 2394125"/>
              <a:gd name="connsiteY1" fmla="*/ 1059430 h 1202497"/>
              <a:gd name="connsiteX2" fmla="*/ 0 w 2394125"/>
              <a:gd name="connsiteY2" fmla="*/ 1202497 h 1202497"/>
              <a:gd name="connsiteX3" fmla="*/ 511040 w 2394125"/>
              <a:gd name="connsiteY3" fmla="*/ 0 h 1202497"/>
              <a:gd name="connsiteX0" fmla="*/ 1883085 w 1883085"/>
              <a:gd name="connsiteY0" fmla="*/ 393064 h 1079291"/>
              <a:gd name="connsiteX1" fmla="*/ 1883085 w 1883085"/>
              <a:gd name="connsiteY1" fmla="*/ 1059430 h 1079291"/>
              <a:gd name="connsiteX2" fmla="*/ 135690 w 1883085"/>
              <a:gd name="connsiteY2" fmla="*/ 1079291 h 1079291"/>
              <a:gd name="connsiteX3" fmla="*/ 0 w 1883085"/>
              <a:gd name="connsiteY3" fmla="*/ 0 h 1079291"/>
              <a:gd name="connsiteX0" fmla="*/ 1883085 w 1883085"/>
              <a:gd name="connsiteY0" fmla="*/ 393064 h 1079291"/>
              <a:gd name="connsiteX1" fmla="*/ 1883085 w 1883085"/>
              <a:gd name="connsiteY1" fmla="*/ 1059430 h 1079291"/>
              <a:gd name="connsiteX2" fmla="*/ 135690 w 1883085"/>
              <a:gd name="connsiteY2" fmla="*/ 1079291 h 1079291"/>
              <a:gd name="connsiteX3" fmla="*/ 0 w 1883085"/>
              <a:gd name="connsiteY3" fmla="*/ 0 h 1079291"/>
              <a:gd name="connsiteX0" fmla="*/ 1883085 w 1883085"/>
              <a:gd name="connsiteY0" fmla="*/ 393064 h 1079291"/>
              <a:gd name="connsiteX1" fmla="*/ 1883085 w 1883085"/>
              <a:gd name="connsiteY1" fmla="*/ 1059430 h 1079291"/>
              <a:gd name="connsiteX2" fmla="*/ 135690 w 1883085"/>
              <a:gd name="connsiteY2" fmla="*/ 1079291 h 1079291"/>
              <a:gd name="connsiteX3" fmla="*/ 0 w 1883085"/>
              <a:gd name="connsiteY3" fmla="*/ 0 h 1079291"/>
              <a:gd name="connsiteX0" fmla="*/ 1883085 w 1883085"/>
              <a:gd name="connsiteY0" fmla="*/ 393064 h 1103133"/>
              <a:gd name="connsiteX1" fmla="*/ 1883085 w 1883085"/>
              <a:gd name="connsiteY1" fmla="*/ 1059430 h 1103133"/>
              <a:gd name="connsiteX2" fmla="*/ 63323 w 1883085"/>
              <a:gd name="connsiteY2" fmla="*/ 1103133 h 1103133"/>
              <a:gd name="connsiteX3" fmla="*/ 0 w 1883085"/>
              <a:gd name="connsiteY3" fmla="*/ 0 h 1103133"/>
              <a:gd name="connsiteX0" fmla="*/ 1819762 w 1819762"/>
              <a:gd name="connsiteY0" fmla="*/ 321543 h 1031612"/>
              <a:gd name="connsiteX1" fmla="*/ 1819762 w 1819762"/>
              <a:gd name="connsiteY1" fmla="*/ 987909 h 1031612"/>
              <a:gd name="connsiteX2" fmla="*/ 0 w 1819762"/>
              <a:gd name="connsiteY2" fmla="*/ 1031612 h 1031612"/>
              <a:gd name="connsiteX3" fmla="*/ 3014 w 1819762"/>
              <a:gd name="connsiteY3" fmla="*/ 0 h 1031612"/>
              <a:gd name="connsiteX0" fmla="*/ 1819762 w 1819762"/>
              <a:gd name="connsiteY0" fmla="*/ 321543 h 987910"/>
              <a:gd name="connsiteX1" fmla="*/ 1819762 w 1819762"/>
              <a:gd name="connsiteY1" fmla="*/ 987909 h 987910"/>
              <a:gd name="connsiteX2" fmla="*/ 0 w 1819762"/>
              <a:gd name="connsiteY2" fmla="*/ 819004 h 987910"/>
              <a:gd name="connsiteX3" fmla="*/ 3014 w 1819762"/>
              <a:gd name="connsiteY3" fmla="*/ 0 h 987910"/>
              <a:gd name="connsiteX0" fmla="*/ 1817752 w 1817752"/>
              <a:gd name="connsiteY0" fmla="*/ 321543 h 987909"/>
              <a:gd name="connsiteX1" fmla="*/ 1817752 w 1817752"/>
              <a:gd name="connsiteY1" fmla="*/ 987909 h 987909"/>
              <a:gd name="connsiteX2" fmla="*/ 10051 w 1817752"/>
              <a:gd name="connsiteY2" fmla="*/ 783246 h 987909"/>
              <a:gd name="connsiteX3" fmla="*/ 1004 w 1817752"/>
              <a:gd name="connsiteY3" fmla="*/ 0 h 987909"/>
              <a:gd name="connsiteX0" fmla="*/ 1819762 w 1819762"/>
              <a:gd name="connsiteY0" fmla="*/ 321543 h 987909"/>
              <a:gd name="connsiteX1" fmla="*/ 1819762 w 1819762"/>
              <a:gd name="connsiteY1" fmla="*/ 987909 h 987909"/>
              <a:gd name="connsiteX2" fmla="*/ 0 w 1819762"/>
              <a:gd name="connsiteY2" fmla="*/ 813050 h 987909"/>
              <a:gd name="connsiteX3" fmla="*/ 3014 w 1819762"/>
              <a:gd name="connsiteY3" fmla="*/ 0 h 987909"/>
              <a:gd name="connsiteX0" fmla="*/ 1819762 w 1819762"/>
              <a:gd name="connsiteY0" fmla="*/ 446065 h 1112431"/>
              <a:gd name="connsiteX1" fmla="*/ 1819762 w 1819762"/>
              <a:gd name="connsiteY1" fmla="*/ 1112431 h 1112431"/>
              <a:gd name="connsiteX2" fmla="*/ 0 w 1819762"/>
              <a:gd name="connsiteY2" fmla="*/ 937572 h 1112431"/>
              <a:gd name="connsiteX3" fmla="*/ 3014 w 1819762"/>
              <a:gd name="connsiteY3" fmla="*/ 0 h 1112431"/>
              <a:gd name="connsiteX0" fmla="*/ 1819762 w 1819762"/>
              <a:gd name="connsiteY0" fmla="*/ 446065 h 1112431"/>
              <a:gd name="connsiteX1" fmla="*/ 1819762 w 1819762"/>
              <a:gd name="connsiteY1" fmla="*/ 1112431 h 1112431"/>
              <a:gd name="connsiteX2" fmla="*/ 0 w 1819762"/>
              <a:gd name="connsiteY2" fmla="*/ 722693 h 1112431"/>
              <a:gd name="connsiteX3" fmla="*/ 3014 w 1819762"/>
              <a:gd name="connsiteY3" fmla="*/ 0 h 1112431"/>
              <a:gd name="connsiteX0" fmla="*/ 1819762 w 1819762"/>
              <a:gd name="connsiteY0" fmla="*/ 446065 h 1112431"/>
              <a:gd name="connsiteX1" fmla="*/ 1819762 w 1819762"/>
              <a:gd name="connsiteY1" fmla="*/ 1112431 h 1112431"/>
              <a:gd name="connsiteX2" fmla="*/ 0 w 1819762"/>
              <a:gd name="connsiteY2" fmla="*/ 869243 h 1112431"/>
              <a:gd name="connsiteX3" fmla="*/ 3014 w 1819762"/>
              <a:gd name="connsiteY3" fmla="*/ 0 h 1112431"/>
            </a:gdLst>
            <a:ahLst/>
            <a:cxnLst>
              <a:cxn ang="0">
                <a:pos x="connsiteX0" y="connsiteY0"/>
              </a:cxn>
              <a:cxn ang="0">
                <a:pos x="connsiteX1" y="connsiteY1"/>
              </a:cxn>
              <a:cxn ang="0">
                <a:pos x="connsiteX2" y="connsiteY2"/>
              </a:cxn>
              <a:cxn ang="0">
                <a:pos x="connsiteX3" y="connsiteY3"/>
              </a:cxn>
            </a:cxnLst>
            <a:rect l="l" t="t" r="r" b="b"/>
            <a:pathLst>
              <a:path w="1819762" h="1112431">
                <a:moveTo>
                  <a:pt x="1819762" y="446065"/>
                </a:moveTo>
                <a:lnTo>
                  <a:pt x="1819762" y="1112431"/>
                </a:lnTo>
                <a:lnTo>
                  <a:pt x="0" y="869243"/>
                </a:lnTo>
                <a:cubicBezTo>
                  <a:pt x="1005" y="525372"/>
                  <a:pt x="2009" y="343871"/>
                  <a:pt x="3014" y="0"/>
                </a:cubicBezTo>
              </a:path>
            </a:pathLst>
          </a:custGeom>
          <a:solidFill>
            <a:srgbClr val="FFC000"/>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9" name="직사각형 97"/>
          <p:cNvSpPr/>
          <p:nvPr/>
        </p:nvSpPr>
        <p:spPr>
          <a:xfrm>
            <a:off x="671308" y="1705264"/>
            <a:ext cx="986844" cy="1397295"/>
          </a:xfrm>
          <a:custGeom>
            <a:avLst/>
            <a:gdLst>
              <a:gd name="connsiteX0" fmla="*/ 0 w 2483237"/>
              <a:gd name="connsiteY0" fmla="*/ 0 h 1492014"/>
              <a:gd name="connsiteX1" fmla="*/ 2483237 w 2483237"/>
              <a:gd name="connsiteY1" fmla="*/ 860879 h 1492014"/>
              <a:gd name="connsiteX2" fmla="*/ 2483237 w 2483237"/>
              <a:gd name="connsiteY2" fmla="*/ 1492014 h 1492014"/>
              <a:gd name="connsiteX3" fmla="*/ 646730 w 2483237"/>
              <a:gd name="connsiteY3" fmla="*/ 1269399 h 1492014"/>
              <a:gd name="connsiteX4" fmla="*/ 0 w 2483237"/>
              <a:gd name="connsiteY4" fmla="*/ 0 h 1492014"/>
              <a:gd name="connsiteX0" fmla="*/ 0 w 1836507"/>
              <a:gd name="connsiteY0" fmla="*/ 0 h 1350327"/>
              <a:gd name="connsiteX1" fmla="*/ 1836507 w 1836507"/>
              <a:gd name="connsiteY1" fmla="*/ 719192 h 1350327"/>
              <a:gd name="connsiteX2" fmla="*/ 1836507 w 1836507"/>
              <a:gd name="connsiteY2" fmla="*/ 1350327 h 1350327"/>
              <a:gd name="connsiteX3" fmla="*/ 0 w 1836507"/>
              <a:gd name="connsiteY3" fmla="*/ 1127712 h 1350327"/>
              <a:gd name="connsiteX4" fmla="*/ 0 w 1836507"/>
              <a:gd name="connsiteY4" fmla="*/ 0 h 1350327"/>
              <a:gd name="connsiteX0" fmla="*/ 0 w 1836507"/>
              <a:gd name="connsiteY0" fmla="*/ 0 h 1350327"/>
              <a:gd name="connsiteX1" fmla="*/ 1836507 w 1836507"/>
              <a:gd name="connsiteY1" fmla="*/ 719192 h 1350327"/>
              <a:gd name="connsiteX2" fmla="*/ 1836507 w 1836507"/>
              <a:gd name="connsiteY2" fmla="*/ 1350327 h 1350327"/>
              <a:gd name="connsiteX3" fmla="*/ 0 w 1836507"/>
              <a:gd name="connsiteY3" fmla="*/ 1127712 h 1350327"/>
              <a:gd name="connsiteX4" fmla="*/ 0 w 1836507"/>
              <a:gd name="connsiteY4" fmla="*/ 0 h 1350327"/>
              <a:gd name="connsiteX0" fmla="*/ 0 w 1836507"/>
              <a:gd name="connsiteY0" fmla="*/ 0 h 1350327"/>
              <a:gd name="connsiteX1" fmla="*/ 1836507 w 1836507"/>
              <a:gd name="connsiteY1" fmla="*/ 719192 h 1350327"/>
              <a:gd name="connsiteX2" fmla="*/ 1836507 w 1836507"/>
              <a:gd name="connsiteY2" fmla="*/ 1350327 h 1350327"/>
              <a:gd name="connsiteX3" fmla="*/ 24123 w 1836507"/>
              <a:gd name="connsiteY3" fmla="*/ 1135484 h 1350327"/>
              <a:gd name="connsiteX4" fmla="*/ 0 w 1836507"/>
              <a:gd name="connsiteY4" fmla="*/ 0 h 1350327"/>
              <a:gd name="connsiteX0" fmla="*/ 0 w 1812384"/>
              <a:gd name="connsiteY0" fmla="*/ 0 h 1303736"/>
              <a:gd name="connsiteX1" fmla="*/ 1812384 w 1812384"/>
              <a:gd name="connsiteY1" fmla="*/ 672601 h 1303736"/>
              <a:gd name="connsiteX2" fmla="*/ 1812384 w 1812384"/>
              <a:gd name="connsiteY2" fmla="*/ 1303736 h 1303736"/>
              <a:gd name="connsiteX3" fmla="*/ 0 w 1812384"/>
              <a:gd name="connsiteY3" fmla="*/ 1088893 h 1303736"/>
              <a:gd name="connsiteX4" fmla="*/ 0 w 1812384"/>
              <a:gd name="connsiteY4" fmla="*/ 0 h 1303736"/>
              <a:gd name="connsiteX0" fmla="*/ 0 w 1812384"/>
              <a:gd name="connsiteY0" fmla="*/ 0 h 1303736"/>
              <a:gd name="connsiteX1" fmla="*/ 1812384 w 1812384"/>
              <a:gd name="connsiteY1" fmla="*/ 672601 h 1303736"/>
              <a:gd name="connsiteX2" fmla="*/ 1812384 w 1812384"/>
              <a:gd name="connsiteY2" fmla="*/ 1303736 h 1303736"/>
              <a:gd name="connsiteX3" fmla="*/ 0 w 1812384"/>
              <a:gd name="connsiteY3" fmla="*/ 881145 h 1303736"/>
              <a:gd name="connsiteX4" fmla="*/ 0 w 1812384"/>
              <a:gd name="connsiteY4" fmla="*/ 0 h 1303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2384" h="1303736">
                <a:moveTo>
                  <a:pt x="0" y="0"/>
                </a:moveTo>
                <a:lnTo>
                  <a:pt x="1812384" y="672601"/>
                </a:lnTo>
                <a:lnTo>
                  <a:pt x="1812384" y="1303736"/>
                </a:lnTo>
                <a:lnTo>
                  <a:pt x="0" y="881145"/>
                </a:lnTo>
                <a:lnTo>
                  <a:pt x="0" y="0"/>
                </a:lnTo>
                <a:close/>
              </a:path>
            </a:pathLst>
          </a:custGeom>
          <a:solidFill>
            <a:srgbClr val="32425B"/>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40" name="직사각형 39"/>
          <p:cNvSpPr/>
          <p:nvPr/>
        </p:nvSpPr>
        <p:spPr>
          <a:xfrm>
            <a:off x="1481822" y="4503197"/>
            <a:ext cx="2101857" cy="561692"/>
          </a:xfrm>
          <a:prstGeom prst="rect">
            <a:avLst/>
          </a:prstGeom>
        </p:spPr>
        <p:txBody>
          <a:bodyPr wrap="none">
            <a:spAutoFit/>
          </a:bodyPr>
          <a:lstStyle/>
          <a:p>
            <a:pPr algn="r" defTabSz="936293" eaLnBrk="1" fontAlgn="auto" hangingPunct="1">
              <a:spcBef>
                <a:spcPts val="0"/>
              </a:spcBef>
              <a:spcAft>
                <a:spcPts val="0"/>
              </a:spcAft>
              <a:buFont typeface="Wingdings" pitchFamily="2" charset="2"/>
              <a:buNone/>
            </a:pPr>
            <a:r>
              <a:rPr lang="en-US" altLang="ko-KR" sz="200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NCS</a:t>
            </a:r>
          </a:p>
          <a:p>
            <a:pPr algn="r" defTabSz="936293" eaLnBrk="1" fontAlgn="auto" hangingPunct="1">
              <a:spcBef>
                <a:spcPts val="0"/>
              </a:spcBef>
              <a:spcAft>
                <a:spcPts val="0"/>
              </a:spcAft>
              <a:buFont typeface="Wingdings" pitchFamily="2" charset="2"/>
              <a:buNone/>
            </a:pPr>
            <a:r>
              <a:rPr lang="en-US" altLang="ko-KR" sz="105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National Competency Standard</a:t>
            </a:r>
          </a:p>
        </p:txBody>
      </p:sp>
      <p:sp>
        <p:nvSpPr>
          <p:cNvPr id="41" name="직사각형 40"/>
          <p:cNvSpPr/>
          <p:nvPr/>
        </p:nvSpPr>
        <p:spPr>
          <a:xfrm>
            <a:off x="2892651" y="3815006"/>
            <a:ext cx="1303562" cy="561692"/>
          </a:xfrm>
          <a:prstGeom prst="rect">
            <a:avLst/>
          </a:prstGeom>
        </p:spPr>
        <p:txBody>
          <a:bodyPr wrap="none">
            <a:spAutoFit/>
          </a:bodyPr>
          <a:lstStyle/>
          <a:p>
            <a:pPr algn="r" defTabSz="936293" eaLnBrk="1" fontAlgn="auto" hangingPunct="1">
              <a:spcBef>
                <a:spcPts val="0"/>
              </a:spcBef>
              <a:spcAft>
                <a:spcPts val="0"/>
              </a:spcAft>
              <a:buFont typeface="Wingdings" pitchFamily="2" charset="2"/>
              <a:buNone/>
            </a:pPr>
            <a:r>
              <a:rPr lang="ko-KR" altLang="en-US" sz="200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경영전략</a:t>
            </a:r>
            <a:endParaRPr lang="en-US" altLang="ko-KR" sz="200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endParaRPr>
          </a:p>
          <a:p>
            <a:pPr algn="r" defTabSz="936293" eaLnBrk="1" fontAlgn="auto" hangingPunct="1">
              <a:spcBef>
                <a:spcPts val="0"/>
              </a:spcBef>
              <a:spcAft>
                <a:spcPts val="0"/>
              </a:spcAft>
              <a:buFont typeface="Wingdings" pitchFamily="2" charset="2"/>
              <a:buNone/>
            </a:pPr>
            <a:r>
              <a:rPr lang="en-US" altLang="ko-KR" sz="105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Business Strategy</a:t>
            </a:r>
          </a:p>
        </p:txBody>
      </p:sp>
      <p:sp>
        <p:nvSpPr>
          <p:cNvPr id="42" name="직사각형 41"/>
          <p:cNvSpPr/>
          <p:nvPr/>
        </p:nvSpPr>
        <p:spPr>
          <a:xfrm>
            <a:off x="2508577" y="3129652"/>
            <a:ext cx="2037737" cy="523220"/>
          </a:xfrm>
          <a:prstGeom prst="rect">
            <a:avLst/>
          </a:prstGeom>
        </p:spPr>
        <p:txBody>
          <a:bodyPr wrap="none">
            <a:spAutoFit/>
          </a:bodyPr>
          <a:lstStyle/>
          <a:p>
            <a:pPr algn="r" defTabSz="936293" eaLnBrk="1" fontAlgn="auto" hangingPunct="1">
              <a:spcBef>
                <a:spcPts val="0"/>
              </a:spcBef>
              <a:spcAft>
                <a:spcPts val="0"/>
              </a:spcAft>
              <a:buFont typeface="Wingdings" pitchFamily="2" charset="2"/>
              <a:buNone/>
            </a:pPr>
            <a:r>
              <a:rPr lang="en-US" altLang="ko-KR" sz="180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HRD</a:t>
            </a:r>
            <a:endParaRPr lang="en-US" altLang="ko-KR" sz="1647"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endParaRPr>
          </a:p>
          <a:p>
            <a:pPr algn="r" defTabSz="936293" eaLnBrk="1" fontAlgn="auto" hangingPunct="1">
              <a:spcBef>
                <a:spcPts val="0"/>
              </a:spcBef>
              <a:spcAft>
                <a:spcPts val="0"/>
              </a:spcAft>
              <a:buFont typeface="Wingdings" pitchFamily="2" charset="2"/>
              <a:buNone/>
            </a:pPr>
            <a:r>
              <a:rPr lang="en-US" altLang="ko-KR" sz="100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Human Resources Development</a:t>
            </a:r>
            <a:endParaRPr lang="en-US" altLang="ko-KR" sz="927"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endParaRPr>
          </a:p>
        </p:txBody>
      </p:sp>
      <p:grpSp>
        <p:nvGrpSpPr>
          <p:cNvPr id="43" name="그룹 42"/>
          <p:cNvGrpSpPr/>
          <p:nvPr/>
        </p:nvGrpSpPr>
        <p:grpSpPr>
          <a:xfrm>
            <a:off x="666717" y="5147635"/>
            <a:ext cx="4037276" cy="1055901"/>
            <a:chOff x="666717" y="5147635"/>
            <a:chExt cx="4037276" cy="1055901"/>
          </a:xfrm>
        </p:grpSpPr>
        <p:sp>
          <p:nvSpPr>
            <p:cNvPr id="44" name="이등변 삼각형 42"/>
            <p:cNvSpPr/>
            <p:nvPr/>
          </p:nvSpPr>
          <p:spPr>
            <a:xfrm rot="5400000">
              <a:off x="2821183" y="3952054"/>
              <a:ext cx="685389" cy="3080231"/>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4BACC6"/>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45" name="직사각형 96"/>
            <p:cNvSpPr/>
            <p:nvPr/>
          </p:nvSpPr>
          <p:spPr>
            <a:xfrm>
              <a:off x="666717" y="5147635"/>
              <a:ext cx="991436" cy="1055901"/>
            </a:xfrm>
            <a:custGeom>
              <a:avLst/>
              <a:gdLst>
                <a:gd name="connsiteX0" fmla="*/ 2195206 w 2195206"/>
                <a:gd name="connsiteY0" fmla="*/ 0 h 1556592"/>
                <a:gd name="connsiteX1" fmla="*/ 2195206 w 2195206"/>
                <a:gd name="connsiteY1" fmla="*/ 635837 h 1556592"/>
                <a:gd name="connsiteX2" fmla="*/ 0 w 2195206"/>
                <a:gd name="connsiteY2" fmla="*/ 1556592 h 1556592"/>
                <a:gd name="connsiteX3" fmla="*/ 0 w 2195206"/>
                <a:gd name="connsiteY3" fmla="*/ 470634 h 1556592"/>
                <a:gd name="connsiteX4" fmla="*/ 341251 w 2195206"/>
                <a:gd name="connsiteY4" fmla="*/ 109996 h 1556592"/>
                <a:gd name="connsiteX5" fmla="*/ 2195206 w 2195206"/>
                <a:gd name="connsiteY5" fmla="*/ 0 h 1556592"/>
                <a:gd name="connsiteX0" fmla="*/ 2195206 w 2195206"/>
                <a:gd name="connsiteY0" fmla="*/ 0 h 1556592"/>
                <a:gd name="connsiteX1" fmla="*/ 2195206 w 2195206"/>
                <a:gd name="connsiteY1" fmla="*/ 635837 h 1556592"/>
                <a:gd name="connsiteX2" fmla="*/ 0 w 2195206"/>
                <a:gd name="connsiteY2" fmla="*/ 1556592 h 1556592"/>
                <a:gd name="connsiteX3" fmla="*/ 341251 w 2195206"/>
                <a:gd name="connsiteY3" fmla="*/ 109996 h 1556592"/>
                <a:gd name="connsiteX4" fmla="*/ 2195206 w 2195206"/>
                <a:gd name="connsiteY4" fmla="*/ 0 h 1556592"/>
                <a:gd name="connsiteX0" fmla="*/ 2195206 w 2195206"/>
                <a:gd name="connsiteY0" fmla="*/ 0 h 1556592"/>
                <a:gd name="connsiteX1" fmla="*/ 2195206 w 2195206"/>
                <a:gd name="connsiteY1" fmla="*/ 986658 h 1556592"/>
                <a:gd name="connsiteX2" fmla="*/ 0 w 2195206"/>
                <a:gd name="connsiteY2" fmla="*/ 1556592 h 1556592"/>
                <a:gd name="connsiteX3" fmla="*/ 341251 w 2195206"/>
                <a:gd name="connsiteY3" fmla="*/ 109996 h 1556592"/>
                <a:gd name="connsiteX4" fmla="*/ 2195206 w 2195206"/>
                <a:gd name="connsiteY4" fmla="*/ 0 h 1556592"/>
                <a:gd name="connsiteX0" fmla="*/ 1858187 w 1858187"/>
                <a:gd name="connsiteY0" fmla="*/ 0 h 1508997"/>
                <a:gd name="connsiteX1" fmla="*/ 1858187 w 1858187"/>
                <a:gd name="connsiteY1" fmla="*/ 986658 h 1508997"/>
                <a:gd name="connsiteX2" fmla="*/ 0 w 1858187"/>
                <a:gd name="connsiteY2" fmla="*/ 1508997 h 1508997"/>
                <a:gd name="connsiteX3" fmla="*/ 4232 w 1858187"/>
                <a:gd name="connsiteY3" fmla="*/ 109996 h 1508997"/>
                <a:gd name="connsiteX4" fmla="*/ 1858187 w 1858187"/>
                <a:gd name="connsiteY4" fmla="*/ 0 h 1508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8187" h="1508997">
                  <a:moveTo>
                    <a:pt x="1858187" y="0"/>
                  </a:moveTo>
                  <a:lnTo>
                    <a:pt x="1858187" y="986658"/>
                  </a:lnTo>
                  <a:lnTo>
                    <a:pt x="0" y="1508997"/>
                  </a:lnTo>
                  <a:cubicBezTo>
                    <a:pt x="1411" y="1042663"/>
                    <a:pt x="2821" y="576330"/>
                    <a:pt x="4232" y="109996"/>
                  </a:cubicBezTo>
                  <a:lnTo>
                    <a:pt x="1858187" y="0"/>
                  </a:lnTo>
                  <a:close/>
                </a:path>
              </a:pathLst>
            </a:custGeom>
            <a:solidFill>
              <a:srgbClr val="4BACC6"/>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46" name="직사각형 45"/>
            <p:cNvSpPr/>
            <p:nvPr/>
          </p:nvSpPr>
          <p:spPr>
            <a:xfrm>
              <a:off x="3108088" y="5173055"/>
              <a:ext cx="1314784" cy="561692"/>
            </a:xfrm>
            <a:prstGeom prst="rect">
              <a:avLst/>
            </a:prstGeom>
          </p:spPr>
          <p:txBody>
            <a:bodyPr wrap="none">
              <a:spAutoFit/>
            </a:bodyPr>
            <a:lstStyle/>
            <a:p>
              <a:pPr algn="r" defTabSz="936293" eaLnBrk="1" fontAlgn="auto" latinLnBrk="0" hangingPunct="1">
                <a:spcBef>
                  <a:spcPts val="0"/>
                </a:spcBef>
                <a:spcAft>
                  <a:spcPts val="0"/>
                </a:spcAft>
                <a:buFont typeface="Wingdings" pitchFamily="2" charset="2"/>
                <a:buNone/>
                <a:defRPr/>
              </a:pPr>
              <a:r>
                <a:rPr lang="ko-KR" altLang="en-US" sz="2000" b="1" kern="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조사</a:t>
              </a:r>
              <a:r>
                <a:rPr lang="en-US" altLang="ko-KR" sz="2000" b="1" kern="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a:t>
              </a:r>
              <a:r>
                <a:rPr lang="ko-KR" altLang="en-US" sz="2000" b="1" kern="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연구</a:t>
              </a:r>
            </a:p>
            <a:p>
              <a:pPr algn="r" defTabSz="936293" eaLnBrk="1" fontAlgn="auto" latinLnBrk="0" hangingPunct="1">
                <a:spcBef>
                  <a:spcPts val="0"/>
                </a:spcBef>
                <a:spcAft>
                  <a:spcPts val="0"/>
                </a:spcAft>
                <a:buFont typeface="Wingdings" pitchFamily="2" charset="2"/>
                <a:buNone/>
                <a:defRPr/>
              </a:pPr>
              <a:r>
                <a:rPr lang="en-US" altLang="ko-KR" sz="1050" b="1" kern="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research</a:t>
              </a:r>
            </a:p>
          </p:txBody>
        </p:sp>
      </p:grpSp>
      <p:sp>
        <p:nvSpPr>
          <p:cNvPr id="47" name="직사각형 46"/>
          <p:cNvSpPr/>
          <p:nvPr/>
        </p:nvSpPr>
        <p:spPr>
          <a:xfrm>
            <a:off x="1541025" y="2448615"/>
            <a:ext cx="2117887" cy="561692"/>
          </a:xfrm>
          <a:prstGeom prst="rect">
            <a:avLst/>
          </a:prstGeom>
        </p:spPr>
        <p:txBody>
          <a:bodyPr wrap="none">
            <a:spAutoFit/>
          </a:bodyPr>
          <a:lstStyle/>
          <a:p>
            <a:pPr algn="r" defTabSz="936293" eaLnBrk="1" fontAlgn="auto" hangingPunct="1">
              <a:spcBef>
                <a:spcPts val="0"/>
              </a:spcBef>
              <a:spcAft>
                <a:spcPts val="0"/>
              </a:spcAft>
              <a:buFont typeface="Wingdings" pitchFamily="2" charset="2"/>
              <a:buNone/>
            </a:pPr>
            <a:r>
              <a:rPr lang="en-US" altLang="ko-KR" sz="200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HRM</a:t>
            </a:r>
          </a:p>
          <a:p>
            <a:pPr algn="r" defTabSz="936293" eaLnBrk="1" fontAlgn="auto" hangingPunct="1">
              <a:spcBef>
                <a:spcPts val="0"/>
              </a:spcBef>
              <a:spcAft>
                <a:spcPts val="0"/>
              </a:spcAft>
              <a:buFont typeface="Wingdings" pitchFamily="2" charset="2"/>
              <a:buNone/>
            </a:pPr>
            <a:r>
              <a:rPr lang="en-US" altLang="ko-KR" sz="105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Human Resources Management</a:t>
            </a:r>
          </a:p>
        </p:txBody>
      </p:sp>
      <p:grpSp>
        <p:nvGrpSpPr>
          <p:cNvPr id="48" name="그룹 47"/>
          <p:cNvGrpSpPr/>
          <p:nvPr/>
        </p:nvGrpSpPr>
        <p:grpSpPr>
          <a:xfrm>
            <a:off x="5835638" y="3595226"/>
            <a:ext cx="3362133" cy="662807"/>
            <a:chOff x="5835638" y="3789922"/>
            <a:chExt cx="3362133" cy="662807"/>
          </a:xfrm>
        </p:grpSpPr>
        <p:sp>
          <p:nvSpPr>
            <p:cNvPr id="49" name="직사각형 48"/>
            <p:cNvSpPr/>
            <p:nvPr/>
          </p:nvSpPr>
          <p:spPr>
            <a:xfrm>
              <a:off x="7654892" y="3863420"/>
              <a:ext cx="1093170" cy="402315"/>
            </a:xfrm>
            <a:prstGeom prst="rect">
              <a:avLst/>
            </a:prstGeom>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2000" b="1" dirty="0">
                  <a:ln>
                    <a:solidFill>
                      <a:srgbClr val="4F81BD">
                        <a:shade val="50000"/>
                        <a:alpha val="0"/>
                      </a:srgbClr>
                    </a:solidFill>
                  </a:ln>
                  <a:solidFill>
                    <a:srgbClr val="77B648"/>
                  </a:solidFill>
                  <a:latin typeface="a고딕14" panose="02020600000000000000" pitchFamily="18" charset="-127"/>
                  <a:ea typeface="a고딕14" panose="02020600000000000000" pitchFamily="18" charset="-127"/>
                </a:rPr>
                <a:t>경영전략</a:t>
              </a:r>
            </a:p>
          </p:txBody>
        </p:sp>
        <p:sp>
          <p:nvSpPr>
            <p:cNvPr id="50" name="직사각형 49"/>
            <p:cNvSpPr/>
            <p:nvPr/>
          </p:nvSpPr>
          <p:spPr>
            <a:xfrm>
              <a:off x="8633154" y="3789922"/>
              <a:ext cx="564617" cy="563625"/>
            </a:xfrm>
            <a:prstGeom prst="rect">
              <a:avLst/>
            </a:prstGeom>
          </p:spPr>
          <p:txBody>
            <a:bodyPr wrap="none" lIns="93624" tIns="46812" rIns="93624" bIns="46812">
              <a:spAutoFit/>
            </a:bodyPr>
            <a:lstStyle/>
            <a:p>
              <a:pPr defTabSz="936293" eaLnBrk="1" fontAlgn="auto" hangingPunct="1">
                <a:spcBef>
                  <a:spcPts val="0"/>
                </a:spcBef>
                <a:spcAft>
                  <a:spcPts val="0"/>
                </a:spcAft>
                <a:buFont typeface="Wingdings" pitchFamily="2" charset="2"/>
                <a:buNone/>
              </a:pPr>
              <a:r>
                <a:rPr lang="en-US" altLang="ko-KR"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03</a:t>
              </a:r>
              <a:endParaRPr lang="ko-KR" altLang="en-US"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51" name="직사각형 50"/>
            <p:cNvSpPr/>
            <p:nvPr/>
          </p:nvSpPr>
          <p:spPr>
            <a:xfrm>
              <a:off x="5835638" y="4196608"/>
              <a:ext cx="3358182" cy="256121"/>
            </a:xfrm>
            <a:prstGeom prst="rect">
              <a:avLst/>
            </a:prstGeom>
          </p:spPr>
          <p:txBody>
            <a:bodyPr wrap="square" lIns="93624" tIns="46812" rIns="93624" bIns="46812">
              <a:spAutoFit/>
            </a:bodyPr>
            <a:lstStyle/>
            <a:p>
              <a:pPr algn="r" defTabSz="936293" eaLnBrk="1" fontAlgn="auto" latinLnBrk="0" hangingPunct="1">
                <a:spcBef>
                  <a:spcPts val="0"/>
                </a:spcBef>
                <a:spcAft>
                  <a:spcPts val="0"/>
                </a:spcAft>
                <a:buFont typeface="Wingdings" pitchFamily="2" charset="2"/>
                <a:buNone/>
              </a:pP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경영진단</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중장기전략수립</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신규사업개발</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사업타당성분석</a:t>
              </a:r>
            </a:p>
          </p:txBody>
        </p:sp>
      </p:grpSp>
      <p:grpSp>
        <p:nvGrpSpPr>
          <p:cNvPr id="52" name="그룹 51"/>
          <p:cNvGrpSpPr/>
          <p:nvPr/>
        </p:nvGrpSpPr>
        <p:grpSpPr>
          <a:xfrm>
            <a:off x="5859057" y="5423238"/>
            <a:ext cx="3345390" cy="661669"/>
            <a:chOff x="5859057" y="5637005"/>
            <a:chExt cx="3345390" cy="661669"/>
          </a:xfrm>
        </p:grpSpPr>
        <p:sp>
          <p:nvSpPr>
            <p:cNvPr id="53" name="직사각형 52"/>
            <p:cNvSpPr/>
            <p:nvPr/>
          </p:nvSpPr>
          <p:spPr>
            <a:xfrm>
              <a:off x="6901479" y="5710502"/>
              <a:ext cx="1846582" cy="402315"/>
            </a:xfrm>
            <a:prstGeom prst="rect">
              <a:avLst/>
            </a:prstGeom>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2000" b="1" dirty="0">
                  <a:ln>
                    <a:solidFill>
                      <a:srgbClr val="4F81BD">
                        <a:shade val="50000"/>
                        <a:alpha val="0"/>
                      </a:srgbClr>
                    </a:solidFill>
                  </a:ln>
                  <a:solidFill>
                    <a:srgbClr val="4BACC6"/>
                  </a:solidFill>
                  <a:latin typeface="a고딕14" panose="02020600000000000000" pitchFamily="18" charset="-127"/>
                  <a:ea typeface="a고딕14" panose="02020600000000000000" pitchFamily="18" charset="-127"/>
                </a:rPr>
                <a:t>조사</a:t>
              </a:r>
              <a:r>
                <a:rPr lang="en-US" altLang="ko-KR" sz="2000" b="1" dirty="0">
                  <a:ln>
                    <a:solidFill>
                      <a:srgbClr val="4F81BD">
                        <a:shade val="50000"/>
                        <a:alpha val="0"/>
                      </a:srgbClr>
                    </a:solidFill>
                  </a:ln>
                  <a:solidFill>
                    <a:srgbClr val="4BACC6"/>
                  </a:solidFill>
                  <a:latin typeface="a고딕14" panose="02020600000000000000" pitchFamily="18" charset="-127"/>
                  <a:ea typeface="a고딕14" panose="02020600000000000000" pitchFamily="18" charset="-127"/>
                </a:rPr>
                <a:t>·</a:t>
              </a:r>
              <a:r>
                <a:rPr lang="ko-KR" altLang="en-US" sz="2000" b="1" dirty="0">
                  <a:ln>
                    <a:solidFill>
                      <a:srgbClr val="4F81BD">
                        <a:shade val="50000"/>
                        <a:alpha val="0"/>
                      </a:srgbClr>
                    </a:solidFill>
                  </a:ln>
                  <a:solidFill>
                    <a:srgbClr val="4BACC6"/>
                  </a:solidFill>
                  <a:latin typeface="a고딕14" panose="02020600000000000000" pitchFamily="18" charset="-127"/>
                  <a:ea typeface="a고딕14" panose="02020600000000000000" pitchFamily="18" charset="-127"/>
                </a:rPr>
                <a:t>연구 사업</a:t>
              </a:r>
            </a:p>
          </p:txBody>
        </p:sp>
        <p:sp>
          <p:nvSpPr>
            <p:cNvPr id="54" name="직사각형 53"/>
            <p:cNvSpPr/>
            <p:nvPr/>
          </p:nvSpPr>
          <p:spPr>
            <a:xfrm>
              <a:off x="8633154" y="5637005"/>
              <a:ext cx="564617" cy="563625"/>
            </a:xfrm>
            <a:prstGeom prst="rect">
              <a:avLst/>
            </a:prstGeom>
          </p:spPr>
          <p:txBody>
            <a:bodyPr wrap="none" lIns="93624" tIns="46812" rIns="93624" bIns="46812">
              <a:spAutoFit/>
            </a:bodyPr>
            <a:lstStyle/>
            <a:p>
              <a:pPr defTabSz="936293" eaLnBrk="1" fontAlgn="auto" hangingPunct="1">
                <a:spcBef>
                  <a:spcPts val="0"/>
                </a:spcBef>
                <a:spcAft>
                  <a:spcPts val="0"/>
                </a:spcAft>
                <a:buFont typeface="Wingdings" pitchFamily="2" charset="2"/>
                <a:buNone/>
              </a:pPr>
              <a:r>
                <a:rPr lang="en-US" altLang="ko-KR"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05</a:t>
              </a:r>
              <a:endParaRPr lang="ko-KR" altLang="en-US"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55" name="직사각형 54"/>
            <p:cNvSpPr/>
            <p:nvPr/>
          </p:nvSpPr>
          <p:spPr>
            <a:xfrm>
              <a:off x="5859057" y="6042553"/>
              <a:ext cx="3345390" cy="256121"/>
            </a:xfrm>
            <a:prstGeom prst="rect">
              <a:avLst/>
            </a:prstGeom>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만족도 및 수요 조사</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실태 조사</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성과평가 체계 및 도구개발</a:t>
              </a:r>
            </a:p>
          </p:txBody>
        </p:sp>
      </p:grpSp>
    </p:spTree>
    <p:extLst>
      <p:ext uri="{BB962C8B-B14F-4D97-AF65-F5344CB8AC3E}">
        <p14:creationId xmlns:p14="http://schemas.microsoft.com/office/powerpoint/2010/main" val="3815697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98C50-4F7C-901C-12A8-73AE85565C50}"/>
            </a:ext>
          </a:extLst>
        </p:cNvPr>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B58B3DDB-75B7-9DD3-5556-9E855FBCDD3B}"/>
              </a:ext>
            </a:extLst>
          </p:cNvPr>
          <p:cNvGraphicFramePr>
            <a:graphicFrameLocks noGrp="1"/>
          </p:cNvGraphicFramePr>
          <p:nvPr>
            <p:extLst>
              <p:ext uri="{D42A27DB-BD31-4B8C-83A1-F6EECF244321}">
                <p14:modId xmlns:p14="http://schemas.microsoft.com/office/powerpoint/2010/main" val="4199820478"/>
              </p:ext>
            </p:extLst>
          </p:nvPr>
        </p:nvGraphicFramePr>
        <p:xfrm>
          <a:off x="596902" y="1520788"/>
          <a:ext cx="8748710" cy="4968920"/>
        </p:xfrm>
        <a:graphic>
          <a:graphicData uri="http://schemas.openxmlformats.org/drawingml/2006/table">
            <a:tbl>
              <a:tblPr>
                <a:tableStyleId>{5C22544A-7EE6-4342-B048-85BDC9FD1C3A}</a:tableStyleId>
              </a:tblPr>
              <a:tblGrid>
                <a:gridCol w="4918626">
                  <a:extLst>
                    <a:ext uri="{9D8B030D-6E8A-4147-A177-3AD203B41FA5}">
                      <a16:colId xmlns:a16="http://schemas.microsoft.com/office/drawing/2014/main" val="505420461"/>
                    </a:ext>
                  </a:extLst>
                </a:gridCol>
                <a:gridCol w="938746">
                  <a:extLst>
                    <a:ext uri="{9D8B030D-6E8A-4147-A177-3AD203B41FA5}">
                      <a16:colId xmlns:a16="http://schemas.microsoft.com/office/drawing/2014/main" val="881665203"/>
                    </a:ext>
                  </a:extLst>
                </a:gridCol>
                <a:gridCol w="788547">
                  <a:extLst>
                    <a:ext uri="{9D8B030D-6E8A-4147-A177-3AD203B41FA5}">
                      <a16:colId xmlns:a16="http://schemas.microsoft.com/office/drawing/2014/main" val="237550212"/>
                    </a:ext>
                  </a:extLst>
                </a:gridCol>
                <a:gridCol w="2102791">
                  <a:extLst>
                    <a:ext uri="{9D8B030D-6E8A-4147-A177-3AD203B41FA5}">
                      <a16:colId xmlns:a16="http://schemas.microsoft.com/office/drawing/2014/main" val="2099551786"/>
                    </a:ext>
                  </a:extLst>
                </a:gridCol>
              </a:tblGrid>
              <a:tr h="225860">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제안사</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 유사용역 </a:t>
                      </a: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사업명</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사업기간</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계약금액</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원</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발주처</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436882629"/>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대구대학교 대학혁신과 지속가능한 발전전략 개발 연구 컨설팅</a:t>
                      </a:r>
                      <a:endParaRPr lang="ko-KR" altLang="en-US"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25.02.~25.08.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45,000,000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대구대학교</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43023106"/>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성인학습자를 위한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수요기반 교양교과목 개발 환경분석 및 수요조사</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24.08.~24.10.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03644665"/>
                  </a:ext>
                </a:extLst>
              </a:tr>
              <a:tr h="225860">
                <a:tc>
                  <a:txBody>
                    <a:bodyPr/>
                    <a:lstStyle/>
                    <a:p>
                      <a:pPr algn="ctr" rtl="0" fontAlgn="ct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기술교육로드맵 개발 및 신규 과정 선정 연구용역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24.07.~25.01.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137,500,000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해외인허가</a:t>
                      </a:r>
                      <a:r>
                        <a:rPr lang="en-US" altLang="ko-KR" sz="1000" b="0" i="0" u="none" strike="noStrike">
                          <a:solidFill>
                            <a:srgbClr val="000000"/>
                          </a:solidFill>
                          <a:effectLst/>
                          <a:latin typeface="A고딕14" panose="02020600000000000000" pitchFamily="18" charset="-127"/>
                          <a:ea typeface="A고딕14" panose="02020600000000000000" pitchFamily="18" charset="-127"/>
                        </a:rPr>
                        <a:t>(FDA)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실습 교육과정 개발 연구</a:t>
                      </a:r>
                      <a:endParaRPr lang="ko-KR" altLang="en-US"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24.07.~24.11.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29,800,00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국가임상시험지원재단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29976"/>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대한상공회의소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24</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년도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기업수요 맞춤형 훈련과정개발</a:t>
                      </a:r>
                      <a:endPar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24.06.~24.09.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115,200,000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서울기술교육센터</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452079"/>
                  </a:ext>
                </a:extLst>
              </a:tr>
              <a:tr h="225860">
                <a:tc>
                  <a:txBody>
                    <a:bodyPr/>
                    <a:lstStyle/>
                    <a:p>
                      <a:pPr algn="ctr" rtl="0" fontAlgn="ctr"/>
                      <a:r>
                        <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rPr>
                        <a:t>역량기반 현장중심 교육과정 개발</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을 위한 산업체 수요조사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24.04.~24.08.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82,000,000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동양미래대학교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972040"/>
                  </a:ext>
                </a:extLst>
              </a:tr>
              <a:tr h="22586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학년도 대학구성원 만족도 조사용역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24.02.~24.02.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우송정보대학교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066615"/>
                  </a:ext>
                </a:extLst>
              </a:tr>
              <a:tr h="22586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 제주관광대학교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혁신지원사업 융복합 교과목 개발</a:t>
                      </a:r>
                      <a:endParaRPr lang="en-US" altLang="ko-KR" sz="1000" b="0" i="0" u="none" strike="noStrike" kern="1200" dirty="0">
                        <a:solidFill>
                          <a:srgbClr val="0070C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16,000,000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 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108638"/>
                  </a:ext>
                </a:extLst>
              </a:tr>
              <a:tr h="22586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제주관광대학교 혁신지원사업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현장중심 교육과정 개발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지원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환경분석 및 수요조사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 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325643"/>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디지털 인재의 지역 일자리 미스매칭 실태조사 연구용역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18,430,000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재단법인 대전정보문화산업진흥원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2893015"/>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대전대학교 학과별 역량모델링</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23.12.~24.01.</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대전대학교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2685805"/>
                  </a:ext>
                </a:extLst>
              </a:tr>
              <a:tr h="225860">
                <a:tc>
                  <a:txBody>
                    <a:bodyPr/>
                    <a:lstStyle/>
                    <a:p>
                      <a:pPr algn="ctr" rtl="0" fontAlgn="ct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교육운영</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현장전문가</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직무분석</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23.12.~23.12.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2,700,000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전북인력개발원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0769"/>
                  </a:ext>
                </a:extLst>
              </a:tr>
              <a:tr h="225860">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소부장</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교육훈련 프로그램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23.11.~23.12.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9,900,000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전북인력개발원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9926389"/>
                  </a:ext>
                </a:extLst>
              </a:tr>
              <a:tr h="22586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XR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활용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교육과정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29,500,000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한국자동차연구원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862680"/>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학교법인 한국폴리텍 직무분석 및 직무평가체계 개발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54,000,000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학교법인한국폴리텍</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7527069"/>
                  </a:ext>
                </a:extLst>
              </a:tr>
              <a:tr h="225860">
                <a:tc>
                  <a:txBody>
                    <a:bodyPr/>
                    <a:lstStyle/>
                    <a:p>
                      <a:pPr algn="ctr" rtl="0" fontAlgn="ct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기술교육로드맵 평생 및 디지털 신기술 분야 개발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77,000,000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4319622"/>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부산대학교 산학협력단 조직인사 컨설팅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23.09.~24.01.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90,000,000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부산대학교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1603152"/>
                  </a:ext>
                </a:extLst>
              </a:tr>
              <a:tr h="22586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23-F-NCS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직무표준화 교육 및 컨설팅 위탁용역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61,000,000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국군본부</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559286"/>
                  </a:ext>
                </a:extLst>
              </a:tr>
              <a:tr h="22586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온라인 교육훈련 수요조사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23.09.~23.10.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43,000,000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2806993"/>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산업안전분야 교육훈련직종 운영가이드 개발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23.07.~23.11.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교육법인 한국폴리텍</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2452156"/>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한국기술교육대학교 중장기 발전계획 개편 연구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23.07.~23.10.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47,500,000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505251"/>
                  </a:ext>
                </a:extLst>
              </a:tr>
            </a:tbl>
          </a:graphicData>
        </a:graphic>
      </p:graphicFrame>
      <p:sp>
        <p:nvSpPr>
          <p:cNvPr id="12" name="텍스트 개체 틀 4">
            <a:extLst>
              <a:ext uri="{FF2B5EF4-FFF2-40B4-BE49-F238E27FC236}">
                <a16:creationId xmlns:a16="http://schemas.microsoft.com/office/drawing/2014/main" id="{1381B727-D872-1BB9-8DB3-ED924F39A7C4}"/>
              </a:ext>
            </a:extLst>
          </p:cNvPr>
          <p:cNvSpPr>
            <a:spLocks noGrp="1"/>
          </p:cNvSpPr>
          <p:nvPr>
            <p:ph type="body" sz="quarter" idx="12"/>
          </p:nvPr>
        </p:nvSpPr>
        <p:spPr>
          <a:xfrm>
            <a:off x="596515" y="650182"/>
            <a:ext cx="8749097" cy="511373"/>
          </a:xfrm>
        </p:spPr>
        <p:txBody>
          <a:bodyPr/>
          <a:lstStyle/>
          <a:p>
            <a:pPr fontAlgn="auto" latinLnBrk="0">
              <a:spcAft>
                <a:spcPts val="0"/>
              </a:spcAft>
            </a:pPr>
            <a:r>
              <a:rPr lang="ko-KR" altLang="en-US" dirty="0" err="1"/>
              <a:t>제안사는</a:t>
            </a:r>
            <a:r>
              <a:rPr lang="ko-KR" altLang="en-US" dirty="0"/>
              <a:t> </a:t>
            </a:r>
            <a:r>
              <a:rPr lang="en-US" altLang="ko-KR" dirty="0"/>
              <a:t>‘</a:t>
            </a:r>
            <a:r>
              <a:rPr lang="ko-KR" altLang="en-US" dirty="0"/>
              <a:t>한기대 용역과제</a:t>
            </a:r>
            <a:r>
              <a:rPr lang="en-US" altLang="ko-KR" dirty="0"/>
              <a:t>’</a:t>
            </a:r>
            <a:r>
              <a:rPr lang="ko-KR" altLang="en-US" dirty="0"/>
              <a:t>와 유사한 </a:t>
            </a:r>
            <a:r>
              <a:rPr lang="ko-KR" altLang="en-US" dirty="0">
                <a:solidFill>
                  <a:srgbClr val="0070C0"/>
                </a:solidFill>
              </a:rPr>
              <a:t>다수의 </a:t>
            </a:r>
            <a:r>
              <a:rPr lang="en-US" altLang="ko-KR" dirty="0">
                <a:solidFill>
                  <a:srgbClr val="0070C0"/>
                </a:solidFill>
              </a:rPr>
              <a:t>PJT </a:t>
            </a:r>
            <a:r>
              <a:rPr lang="ko-KR" altLang="en-US" dirty="0">
                <a:solidFill>
                  <a:srgbClr val="0070C0"/>
                </a:solidFill>
              </a:rPr>
              <a:t>수행 경험</a:t>
            </a:r>
            <a:r>
              <a:rPr lang="ko-KR" altLang="en-US" dirty="0"/>
              <a:t>을</a:t>
            </a:r>
            <a:r>
              <a:rPr lang="en-US" altLang="ko-KR" dirty="0"/>
              <a:t> </a:t>
            </a:r>
            <a:r>
              <a:rPr lang="ko-KR" altLang="en-US" dirty="0"/>
              <a:t>기반으로 본 </a:t>
            </a:r>
            <a:r>
              <a:rPr lang="en-US" altLang="ko-KR" dirty="0">
                <a:solidFill>
                  <a:srgbClr val="0070C0"/>
                </a:solidFill>
              </a:rPr>
              <a:t>PJT</a:t>
            </a:r>
            <a:r>
              <a:rPr lang="ko-KR" altLang="en-US" dirty="0">
                <a:solidFill>
                  <a:srgbClr val="0070C0"/>
                </a:solidFill>
              </a:rPr>
              <a:t>에 대한 명확한 </a:t>
            </a:r>
            <a:r>
              <a:rPr lang="en-US" altLang="ko-KR" dirty="0">
                <a:solidFill>
                  <a:srgbClr val="0070C0"/>
                </a:solidFill>
              </a:rPr>
              <a:t>Insight</a:t>
            </a:r>
            <a:r>
              <a:rPr lang="ko-KR" altLang="en-US" dirty="0">
                <a:solidFill>
                  <a:srgbClr val="0070C0"/>
                </a:solidFill>
              </a:rPr>
              <a:t>를 </a:t>
            </a:r>
            <a:r>
              <a:rPr lang="ko-KR" altLang="en-US" dirty="0"/>
              <a:t>제공할 수 있음</a:t>
            </a:r>
          </a:p>
        </p:txBody>
      </p:sp>
      <p:sp>
        <p:nvSpPr>
          <p:cNvPr id="232" name="직사각형 231">
            <a:extLst>
              <a:ext uri="{FF2B5EF4-FFF2-40B4-BE49-F238E27FC236}">
                <a16:creationId xmlns:a16="http://schemas.microsoft.com/office/drawing/2014/main" id="{07137583-DA37-03FC-7C43-4BEFA0F907D4}"/>
              </a:ext>
            </a:extLst>
          </p:cNvPr>
          <p:cNvSpPr/>
          <p:nvPr/>
        </p:nvSpPr>
        <p:spPr>
          <a:xfrm>
            <a:off x="596900" y="255112"/>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7" name="텍스트 개체 틀 2"/>
          <p:cNvSpPr>
            <a:spLocks noGrp="1"/>
          </p:cNvSpPr>
          <p:nvPr>
            <p:ph type="body" sz="quarter" idx="16"/>
          </p:nvPr>
        </p:nvSpPr>
        <p:spPr>
          <a:xfrm>
            <a:off x="7293260" y="138529"/>
            <a:ext cx="2052352" cy="446155"/>
          </a:xfrm>
        </p:spPr>
        <p:txBody>
          <a:bodyPr/>
          <a:lstStyle/>
          <a:p>
            <a:pPr latinLnBrk="0"/>
            <a:r>
              <a:rPr lang="en-US" altLang="ko-KR" dirty="0">
                <a:latin typeface="+mn-ea"/>
              </a:rPr>
              <a:t>Ⅱ. </a:t>
            </a:r>
            <a:r>
              <a:rPr lang="ko-KR" altLang="en-US" dirty="0">
                <a:latin typeface="+mn-ea"/>
              </a:rPr>
              <a:t>제안업체 일반현황</a:t>
            </a:r>
            <a:endParaRPr lang="en-US" altLang="ko-KR" dirty="0">
              <a:latin typeface="+mn-ea"/>
            </a:endParaRPr>
          </a:p>
          <a:p>
            <a:pPr latinLnBrk="0"/>
            <a:r>
              <a:rPr lang="en-US" altLang="ko-KR" dirty="0">
                <a:latin typeface="+mn-ea"/>
              </a:rPr>
              <a:t>2. </a:t>
            </a:r>
            <a:r>
              <a:rPr lang="ko-KR" altLang="en-US" dirty="0">
                <a:latin typeface="+mn-ea"/>
              </a:rPr>
              <a:t>유사과업 수행실적</a:t>
            </a:r>
          </a:p>
        </p:txBody>
      </p:sp>
      <p:sp>
        <p:nvSpPr>
          <p:cNvPr id="8"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5076564" cy="331935"/>
          </a:xfrm>
          <a:noFill/>
        </p:spPr>
        <p:txBody>
          <a:bodyPr/>
          <a:lstStyle/>
          <a:p>
            <a:pPr latinLnBrk="0"/>
            <a:r>
              <a:rPr lang="ko-KR" altLang="en-US"/>
              <a:t>제안사 주요 사업 수행 실적</a:t>
            </a:r>
            <a:endParaRPr lang="en-US" altLang="ko-KR" dirty="0"/>
          </a:p>
        </p:txBody>
      </p:sp>
      <p:sp>
        <p:nvSpPr>
          <p:cNvPr id="9" name="직사각형 8"/>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고딕14" panose="02020600000000000000" pitchFamily="18" charset="-127"/>
                <a:ea typeface="a고딕14" panose="02020600000000000000" pitchFamily="18" charset="-127"/>
              </a:rPr>
              <a:t>유사용역 사업</a:t>
            </a:r>
            <a:endParaRPr kumimoji="0" lang="ko-KR" altLang="en-US" sz="12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14867251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98C50-4F7C-901C-12A8-73AE85565C50}"/>
            </a:ext>
          </a:extLst>
        </p:cNvPr>
        <p:cNvGrpSpPr/>
        <p:nvPr/>
      </p:nvGrpSpPr>
      <p:grpSpPr>
        <a:xfrm>
          <a:off x="0" y="0"/>
          <a:ext cx="0" cy="0"/>
          <a:chOff x="0" y="0"/>
          <a:chExt cx="0" cy="0"/>
        </a:xfrm>
      </p:grpSpPr>
      <p:sp>
        <p:nvSpPr>
          <p:cNvPr id="12" name="텍스트 개체 틀 4">
            <a:extLst>
              <a:ext uri="{FF2B5EF4-FFF2-40B4-BE49-F238E27FC236}">
                <a16:creationId xmlns:a16="http://schemas.microsoft.com/office/drawing/2014/main" id="{1381B727-D872-1BB9-8DB3-ED924F39A7C4}"/>
              </a:ext>
            </a:extLst>
          </p:cNvPr>
          <p:cNvSpPr>
            <a:spLocks noGrp="1"/>
          </p:cNvSpPr>
          <p:nvPr>
            <p:ph type="body" sz="quarter" idx="12"/>
          </p:nvPr>
        </p:nvSpPr>
        <p:spPr>
          <a:xfrm>
            <a:off x="596515" y="650182"/>
            <a:ext cx="8749097" cy="511373"/>
          </a:xfrm>
        </p:spPr>
        <p:txBody>
          <a:bodyPr/>
          <a:lstStyle/>
          <a:p>
            <a:pPr fontAlgn="auto" latinLnBrk="0">
              <a:spcAft>
                <a:spcPts val="0"/>
              </a:spcAft>
            </a:pPr>
            <a:r>
              <a:rPr lang="ko-KR" altLang="en-US" dirty="0" err="1"/>
              <a:t>제안사는</a:t>
            </a:r>
            <a:r>
              <a:rPr lang="ko-KR" altLang="en-US" dirty="0"/>
              <a:t> </a:t>
            </a:r>
            <a:r>
              <a:rPr lang="en-US" altLang="ko-KR" dirty="0"/>
              <a:t>‘</a:t>
            </a:r>
            <a:r>
              <a:rPr lang="ko-KR" altLang="en-US" dirty="0"/>
              <a:t>한기대 용역과제</a:t>
            </a:r>
            <a:r>
              <a:rPr lang="en-US" altLang="ko-KR" dirty="0"/>
              <a:t>’</a:t>
            </a:r>
            <a:r>
              <a:rPr lang="ko-KR" altLang="en-US" dirty="0"/>
              <a:t>와 유사한 </a:t>
            </a:r>
            <a:r>
              <a:rPr lang="ko-KR" altLang="en-US" dirty="0">
                <a:solidFill>
                  <a:srgbClr val="0070C0"/>
                </a:solidFill>
              </a:rPr>
              <a:t>다수의 </a:t>
            </a:r>
            <a:r>
              <a:rPr lang="en-US" altLang="ko-KR" dirty="0">
                <a:solidFill>
                  <a:srgbClr val="0070C0"/>
                </a:solidFill>
              </a:rPr>
              <a:t>PJT </a:t>
            </a:r>
            <a:r>
              <a:rPr lang="ko-KR" altLang="en-US" dirty="0">
                <a:solidFill>
                  <a:srgbClr val="0070C0"/>
                </a:solidFill>
              </a:rPr>
              <a:t>수행 경험</a:t>
            </a:r>
            <a:r>
              <a:rPr lang="ko-KR" altLang="en-US" dirty="0"/>
              <a:t>을</a:t>
            </a:r>
            <a:r>
              <a:rPr lang="en-US" altLang="ko-KR" dirty="0"/>
              <a:t> </a:t>
            </a:r>
            <a:r>
              <a:rPr lang="ko-KR" altLang="en-US" dirty="0"/>
              <a:t>기반으로 본 </a:t>
            </a:r>
            <a:r>
              <a:rPr lang="en-US" altLang="ko-KR" dirty="0">
                <a:solidFill>
                  <a:srgbClr val="0070C0"/>
                </a:solidFill>
              </a:rPr>
              <a:t>PJT</a:t>
            </a:r>
            <a:r>
              <a:rPr lang="ko-KR" altLang="en-US" dirty="0">
                <a:solidFill>
                  <a:srgbClr val="0070C0"/>
                </a:solidFill>
              </a:rPr>
              <a:t>에 대한 명확한 </a:t>
            </a:r>
            <a:r>
              <a:rPr lang="en-US" altLang="ko-KR" dirty="0">
                <a:solidFill>
                  <a:srgbClr val="0070C0"/>
                </a:solidFill>
              </a:rPr>
              <a:t>Insight</a:t>
            </a:r>
            <a:r>
              <a:rPr lang="ko-KR" altLang="en-US" dirty="0">
                <a:solidFill>
                  <a:srgbClr val="0070C0"/>
                </a:solidFill>
              </a:rPr>
              <a:t>를 </a:t>
            </a:r>
            <a:r>
              <a:rPr lang="ko-KR" altLang="en-US" dirty="0"/>
              <a:t>제공할 수 있음</a:t>
            </a:r>
          </a:p>
        </p:txBody>
      </p:sp>
      <p:sp>
        <p:nvSpPr>
          <p:cNvPr id="232" name="직사각형 231">
            <a:extLst>
              <a:ext uri="{FF2B5EF4-FFF2-40B4-BE49-F238E27FC236}">
                <a16:creationId xmlns:a16="http://schemas.microsoft.com/office/drawing/2014/main" id="{07137583-DA37-03FC-7C43-4BEFA0F907D4}"/>
              </a:ext>
            </a:extLst>
          </p:cNvPr>
          <p:cNvSpPr/>
          <p:nvPr/>
        </p:nvSpPr>
        <p:spPr>
          <a:xfrm>
            <a:off x="596900" y="255112"/>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7" name="텍스트 개체 틀 2"/>
          <p:cNvSpPr>
            <a:spLocks noGrp="1"/>
          </p:cNvSpPr>
          <p:nvPr>
            <p:ph type="body" sz="quarter" idx="16"/>
          </p:nvPr>
        </p:nvSpPr>
        <p:spPr>
          <a:xfrm>
            <a:off x="7293260" y="138529"/>
            <a:ext cx="2052352" cy="446155"/>
          </a:xfrm>
        </p:spPr>
        <p:txBody>
          <a:bodyPr/>
          <a:lstStyle/>
          <a:p>
            <a:pPr latinLnBrk="0"/>
            <a:r>
              <a:rPr lang="en-US" altLang="ko-KR" dirty="0">
                <a:latin typeface="+mn-ea"/>
              </a:rPr>
              <a:t>Ⅱ. </a:t>
            </a:r>
            <a:r>
              <a:rPr lang="ko-KR" altLang="en-US" dirty="0">
                <a:latin typeface="+mn-ea"/>
              </a:rPr>
              <a:t>제안업체 일반현황</a:t>
            </a:r>
            <a:endParaRPr lang="en-US" altLang="ko-KR" dirty="0">
              <a:latin typeface="+mn-ea"/>
            </a:endParaRPr>
          </a:p>
          <a:p>
            <a:pPr latinLnBrk="0"/>
            <a:r>
              <a:rPr lang="en-US" altLang="ko-KR" dirty="0">
                <a:latin typeface="+mn-ea"/>
              </a:rPr>
              <a:t>2. </a:t>
            </a:r>
            <a:r>
              <a:rPr lang="ko-KR" altLang="en-US" dirty="0">
                <a:latin typeface="+mn-ea"/>
              </a:rPr>
              <a:t>유사과업 수행실적</a:t>
            </a:r>
          </a:p>
        </p:txBody>
      </p:sp>
      <p:sp>
        <p:nvSpPr>
          <p:cNvPr id="8"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5076564" cy="331935"/>
          </a:xfrm>
          <a:noFill/>
        </p:spPr>
        <p:txBody>
          <a:bodyPr/>
          <a:lstStyle/>
          <a:p>
            <a:pPr latinLnBrk="0"/>
            <a:r>
              <a:rPr lang="ko-KR" altLang="en-US"/>
              <a:t>제안사 주요 사업 수행 실적</a:t>
            </a:r>
            <a:endParaRPr lang="en-US" altLang="ko-KR" dirty="0"/>
          </a:p>
        </p:txBody>
      </p:sp>
      <p:sp>
        <p:nvSpPr>
          <p:cNvPr id="9" name="직사각형 8"/>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고딕14" panose="02020600000000000000" pitchFamily="18" charset="-127"/>
                <a:ea typeface="a고딕14" panose="02020600000000000000" pitchFamily="18" charset="-127"/>
              </a:rPr>
              <a:t>유사용역 사업</a:t>
            </a:r>
            <a:endParaRPr kumimoji="0" lang="ko-KR" altLang="en-US" sz="12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graphicFrame>
        <p:nvGraphicFramePr>
          <p:cNvPr id="4" name="표 3">
            <a:extLst>
              <a:ext uri="{FF2B5EF4-FFF2-40B4-BE49-F238E27FC236}">
                <a16:creationId xmlns:a16="http://schemas.microsoft.com/office/drawing/2014/main" id="{B8E9D076-8F77-5476-30E3-0BDE3E98E2B5}"/>
              </a:ext>
            </a:extLst>
          </p:cNvPr>
          <p:cNvGraphicFramePr>
            <a:graphicFrameLocks noGrp="1"/>
          </p:cNvGraphicFramePr>
          <p:nvPr>
            <p:extLst>
              <p:ext uri="{D42A27DB-BD31-4B8C-83A1-F6EECF244321}">
                <p14:modId xmlns:p14="http://schemas.microsoft.com/office/powerpoint/2010/main" val="448685438"/>
              </p:ext>
            </p:extLst>
          </p:nvPr>
        </p:nvGraphicFramePr>
        <p:xfrm>
          <a:off x="596902" y="1520781"/>
          <a:ext cx="8748710" cy="4968915"/>
        </p:xfrm>
        <a:graphic>
          <a:graphicData uri="http://schemas.openxmlformats.org/drawingml/2006/table">
            <a:tbl>
              <a:tblPr>
                <a:tableStyleId>{5C22544A-7EE6-4342-B048-85BDC9FD1C3A}</a:tableStyleId>
              </a:tblPr>
              <a:tblGrid>
                <a:gridCol w="4918626">
                  <a:extLst>
                    <a:ext uri="{9D8B030D-6E8A-4147-A177-3AD203B41FA5}">
                      <a16:colId xmlns:a16="http://schemas.microsoft.com/office/drawing/2014/main" val="505420461"/>
                    </a:ext>
                  </a:extLst>
                </a:gridCol>
                <a:gridCol w="938746">
                  <a:extLst>
                    <a:ext uri="{9D8B030D-6E8A-4147-A177-3AD203B41FA5}">
                      <a16:colId xmlns:a16="http://schemas.microsoft.com/office/drawing/2014/main" val="881665203"/>
                    </a:ext>
                  </a:extLst>
                </a:gridCol>
                <a:gridCol w="788547">
                  <a:extLst>
                    <a:ext uri="{9D8B030D-6E8A-4147-A177-3AD203B41FA5}">
                      <a16:colId xmlns:a16="http://schemas.microsoft.com/office/drawing/2014/main" val="237550212"/>
                    </a:ext>
                  </a:extLst>
                </a:gridCol>
                <a:gridCol w="2102791">
                  <a:extLst>
                    <a:ext uri="{9D8B030D-6E8A-4147-A177-3AD203B41FA5}">
                      <a16:colId xmlns:a16="http://schemas.microsoft.com/office/drawing/2014/main" val="2099551786"/>
                    </a:ext>
                  </a:extLst>
                </a:gridCol>
              </a:tblGrid>
              <a:tr h="236615">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제안사</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 유사용역 </a:t>
                      </a: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사업명</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사업기간</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계약금액</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원</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발주처</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436882629"/>
                  </a:ext>
                </a:extLst>
              </a:tr>
              <a:tr h="236615">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중소기업 직업능력개발훈련 표준컨설팅 도구 개발 연구</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23.06.~23.11.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99,000,000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한국산업인력공단</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28478232"/>
                  </a:ext>
                </a:extLst>
              </a:tr>
              <a:tr h="236615">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바이오헬스</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성과조사</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및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현장수요</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기반 교육체계 개발</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23.06.~23.11.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70,000,000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한국보건복지인재원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12542242"/>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년도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기반 교과인정 컨설팅</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23.05.~23.09.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31,080,000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a:t>
                      </a:r>
                      <a:r>
                        <a:rPr lang="ko-KR" altLang="en-US" sz="1000" b="0" i="0" u="none" strike="noStrike">
                          <a:solidFill>
                            <a:schemeClr val="tx1"/>
                          </a:solidFill>
                          <a:effectLst/>
                          <a:latin typeface="A고딕14" panose="02020600000000000000" pitchFamily="18" charset="-127"/>
                          <a:ea typeface="A고딕14" panose="02020600000000000000" pitchFamily="18" charset="-127"/>
                        </a:rPr>
                        <a:t>사</a:t>
                      </a:r>
                      <a:r>
                        <a:rPr lang="en-US" altLang="ko-KR" sz="1000" b="0" i="0" u="none" strike="noStrike">
                          <a:solidFill>
                            <a:schemeClr val="tx1"/>
                          </a:solidFill>
                          <a:effectLst/>
                          <a:latin typeface="A고딕14" panose="02020600000000000000" pitchFamily="18" charset="-127"/>
                          <a:ea typeface="A고딕14" panose="02020600000000000000" pitchFamily="18" charset="-127"/>
                        </a:rPr>
                        <a:t>)</a:t>
                      </a: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한국전자정보통신산업진흥회</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97153095"/>
                  </a:ext>
                </a:extLst>
              </a:tr>
              <a:tr h="236615">
                <a:tc>
                  <a:txBody>
                    <a:bodyPr/>
                    <a:lstStyle/>
                    <a:p>
                      <a:pPr algn="ctr" rtl="0" fontAlgn="ct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건국대학교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산학협력단</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인사컨설팅</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23.05.~23.08.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38,000,000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건국대학교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54219742"/>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기업수요</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맞춤형 직무분석 및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훈련과정개발</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114,000,000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대한상공회의소 서울기술교육센터</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43023106"/>
                  </a:ext>
                </a:extLst>
              </a:tr>
              <a:tr h="236615">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2050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탄소중립 환경교육 만족도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평가문항</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개발 및 조사 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23.04.~23.06.</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경상북도 환경연수원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36615">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교육훈련 실행방안 자문 및 리더십 아카데미 운영용역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23.04.~23.07.</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19,000,000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한국철도기술연구원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972040"/>
                  </a:ext>
                </a:extLst>
              </a:tr>
              <a:tr h="236615">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지역 과학기술인력 대상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교육체계 설계</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66,000,000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국가과학기술인력개발원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066615"/>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일학습병행</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기업현장교사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교육체계 설계</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23.04.~23.07.</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47,000,000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325643"/>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협약기업</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직무분석을 통한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훈련과정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개발용역</a:t>
                      </a:r>
                      <a:endParaRPr lang="ko-KR" altLang="en-US" sz="1000" b="0" i="0" u="none" strike="noStrike" dirty="0">
                        <a:solidFill>
                          <a:srgbClr val="0070C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115,200,000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한국전자기술연구원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2893015"/>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개발개선사업 참여인력 역량향상 교육과정 운영</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23.02.~23.11.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155,000,000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한국산업인력공단 국가직무능력표준원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2685805"/>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LINC3.0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산업디지털 전환 동향 및 수요분석 용역 계약 </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22.12.~23.01.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연성대학교</a:t>
                      </a: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0769"/>
                  </a:ext>
                </a:extLst>
              </a:tr>
              <a:tr h="236615">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검사원 교육 개선을 위한 직무분석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 개선방안 도출</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을 위한 컨설팅</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22.11.~23.03.</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한국원자력통제기술원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862680"/>
                  </a:ext>
                </a:extLst>
              </a:tr>
              <a:tr h="236615">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산업별역량체계</a:t>
                      </a:r>
                      <a:r>
                        <a:rPr lang="en-US" altLang="ko-KR" sz="1000" b="0" i="0" u="none" strike="noStrike">
                          <a:solidFill>
                            <a:srgbClr val="0070C0"/>
                          </a:solidFill>
                          <a:effectLst/>
                          <a:latin typeface="A고딕14" panose="02020600000000000000" pitchFamily="18" charset="-127"/>
                          <a:ea typeface="A고딕14" panose="02020600000000000000" pitchFamily="18" charset="-127"/>
                        </a:rPr>
                        <a:t>(SQF) </a:t>
                      </a:r>
                      <a:r>
                        <a:rPr lang="ko-KR" altLang="en-US" sz="1000" b="0" i="0" u="none" strike="noStrike">
                          <a:solidFill>
                            <a:srgbClr val="0070C0"/>
                          </a:solidFill>
                          <a:effectLst/>
                          <a:latin typeface="A고딕14" panose="02020600000000000000" pitchFamily="18" charset="-127"/>
                          <a:ea typeface="A고딕14" panose="02020600000000000000" pitchFamily="18" charset="-127"/>
                        </a:rPr>
                        <a:t>개발 및 활용화 고도화 방안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22.10.~22.12.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49,500,000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한국산업인력공단 국가직무능력표준원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7527069"/>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직무표준 적용 식생활교육사 전문인력 교육과정 시범교육 운영 종합결과보고서 제작</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22.10.~22.12.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식생활교육국민네트워크</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3863236"/>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2022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과학기술인 역량 행동지표 개발 및 체계 고도화</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22.05.~22.11.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82,000,000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국가과학기술인력개발원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4319622"/>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산업전환</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기업맞춤형 진단 및 훈련과정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22.05.~22.10.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285,000,000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대한상공회의소 </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709564"/>
                  </a:ext>
                </a:extLst>
              </a:tr>
              <a:tr h="236615">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식생활교육 직무표준적용 식생활교육사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가칭</a:t>
                      </a:r>
                      <a:r>
                        <a:rPr lang="en-US" altLang="ko-KR" sz="1000" b="0" i="0" u="none" strike="noStrike">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국가자격제도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22.03.~22.10.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49,800000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식생활교육국민네트워크</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559286"/>
                  </a:ext>
                </a:extLst>
              </a:tr>
              <a:tr h="236615">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직업능력개발훈련교사 자격체계 개편</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21.12.~22.02.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39,800,000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 능력개발교육원</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505251"/>
                  </a:ext>
                </a:extLst>
              </a:tr>
              <a:tr h="236615">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일학습병행 학위연계형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PBL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표준운영모델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21.07.~21.11.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45,000,000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492015"/>
                  </a:ext>
                </a:extLst>
              </a:tr>
            </a:tbl>
          </a:graphicData>
        </a:graphic>
      </p:graphicFrame>
    </p:spTree>
    <p:extLst>
      <p:ext uri="{BB962C8B-B14F-4D97-AF65-F5344CB8AC3E}">
        <p14:creationId xmlns:p14="http://schemas.microsoft.com/office/powerpoint/2010/main" val="41067430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a:extLst>
              <a:ext uri="{FF2B5EF4-FFF2-40B4-BE49-F238E27FC236}">
                <a16:creationId xmlns:a16="http://schemas.microsoft.com/office/drawing/2014/main" id="{7A67A56F-E18F-D549-3FE5-657FD3A439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5" y="0"/>
            <a:ext cx="9144000" cy="6858000"/>
          </a:xfrm>
          <a:prstGeom prst="rect">
            <a:avLst/>
          </a:prstGeom>
        </p:spPr>
      </p:pic>
      <p:pic>
        <p:nvPicPr>
          <p:cNvPr id="5" name="Picture 3">
            <a:extLst>
              <a:ext uri="{FF2B5EF4-FFF2-40B4-BE49-F238E27FC236}">
                <a16:creationId xmlns:a16="http://schemas.microsoft.com/office/drawing/2014/main" id="{A3048D2E-8DD6-78D2-7C62-4A13F55F9B39}"/>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268924" cy="6858000"/>
          </a:xfrm>
          <a:prstGeom prst="rect">
            <a:avLst/>
          </a:prstGeom>
          <a:pattFill prst="horzBrick">
            <a:fgClr>
              <a:schemeClr val="bg1">
                <a:lumMod val="75000"/>
              </a:schemeClr>
            </a:fgClr>
            <a:bgClr>
              <a:schemeClr val="bg1"/>
            </a:bgClr>
          </a:pattFill>
          <a:ln>
            <a:noFill/>
          </a:ln>
        </p:spPr>
      </p:pic>
      <p:sp>
        <p:nvSpPr>
          <p:cNvPr id="10" name="Text Placeholder 1">
            <a:extLst>
              <a:ext uri="{FF2B5EF4-FFF2-40B4-BE49-F238E27FC236}">
                <a16:creationId xmlns:a16="http://schemas.microsoft.com/office/drawing/2014/main" id="{7DCB0215-E0DB-A0AC-8C7C-67BE1E186177}"/>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kumimoji="0" lang="en-US" altLang="ko-KR"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a:t>
            </a:r>
            <a:r>
              <a:rPr kumimoji="0" lang="ko-KR" altLang="en-US"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부록</a:t>
            </a:r>
            <a:r>
              <a:rPr kumimoji="0" lang="en-US" altLang="ko-KR"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a:t>
            </a:r>
            <a:endParaRPr kumimoji="0" lang="ko-KR" altLang="en-US" sz="2500" b="0" i="0" u="none" strike="noStrike" kern="1200" cap="none" spc="0" normalizeH="0" baseline="0" noProof="0" dirty="0">
              <a:ln>
                <a:noFill/>
              </a:ln>
              <a:solidFill>
                <a:srgbClr val="000000"/>
              </a:solidFill>
              <a:effectLst/>
              <a:uLnTx/>
              <a:uFillTx/>
              <a:latin typeface="Arial Narrow"/>
              <a:ea typeface="a고딕14" panose="02020600000000000000" pitchFamily="18" charset="-127"/>
              <a:cs typeface="+mn-cs"/>
              <a:sym typeface="+mn-lt"/>
            </a:endParaRPr>
          </a:p>
        </p:txBody>
      </p:sp>
      <p:sp>
        <p:nvSpPr>
          <p:cNvPr id="11" name="Text Placeholder 1">
            <a:extLst>
              <a:ext uri="{FF2B5EF4-FFF2-40B4-BE49-F238E27FC236}">
                <a16:creationId xmlns:a16="http://schemas.microsoft.com/office/drawing/2014/main" id="{821CBA64-D1EB-C6C1-A12B-ACAC9EBCEBF5}"/>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제안사 전문가 </a:t>
            </a:r>
            <a:r>
              <a:rPr lang="en-US" altLang="ko-KR" sz="2000" dirty="0">
                <a:solidFill>
                  <a:srgbClr val="000000"/>
                </a:solidFill>
                <a:latin typeface="a고딕14" panose="02020600000000000000" pitchFamily="18" charset="-127"/>
                <a:ea typeface="a고딕14" panose="02020600000000000000" pitchFamily="18" charset="-127"/>
              </a:rPr>
              <a:t>Pool</a:t>
            </a:r>
            <a:endParaRPr lang="ko-KR" altLang="en-US" sz="2000" dirty="0">
              <a:solidFill>
                <a:srgbClr val="000000"/>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2776899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8" name="표 7">
            <a:extLst>
              <a:ext uri="{FF2B5EF4-FFF2-40B4-BE49-F238E27FC236}">
                <a16:creationId xmlns:a16="http://schemas.microsoft.com/office/drawing/2014/main" id="{811D3C52-871C-820E-C7A3-09BDA65A5BB9}"/>
              </a:ext>
            </a:extLst>
          </p:cNvPr>
          <p:cNvGraphicFramePr>
            <a:graphicFrameLocks noGrp="1"/>
          </p:cNvGraphicFramePr>
          <p:nvPr/>
        </p:nvGraphicFramePr>
        <p:xfrm>
          <a:off x="596901" y="2097088"/>
          <a:ext cx="8748713" cy="4377982"/>
        </p:xfrm>
        <a:graphic>
          <a:graphicData uri="http://schemas.openxmlformats.org/drawingml/2006/table">
            <a:tbl>
              <a:tblPr/>
              <a:tblGrid>
                <a:gridCol w="1202074">
                  <a:extLst>
                    <a:ext uri="{9D8B030D-6E8A-4147-A177-3AD203B41FA5}">
                      <a16:colId xmlns:a16="http://schemas.microsoft.com/office/drawing/2014/main" val="2096643301"/>
                    </a:ext>
                  </a:extLst>
                </a:gridCol>
                <a:gridCol w="1968913">
                  <a:extLst>
                    <a:ext uri="{9D8B030D-6E8A-4147-A177-3AD203B41FA5}">
                      <a16:colId xmlns:a16="http://schemas.microsoft.com/office/drawing/2014/main" val="1652997889"/>
                    </a:ext>
                  </a:extLst>
                </a:gridCol>
                <a:gridCol w="590674">
                  <a:extLst>
                    <a:ext uri="{9D8B030D-6E8A-4147-A177-3AD203B41FA5}">
                      <a16:colId xmlns:a16="http://schemas.microsoft.com/office/drawing/2014/main" val="3658853890"/>
                    </a:ext>
                  </a:extLst>
                </a:gridCol>
                <a:gridCol w="2383422">
                  <a:extLst>
                    <a:ext uri="{9D8B030D-6E8A-4147-A177-3AD203B41FA5}">
                      <a16:colId xmlns:a16="http://schemas.microsoft.com/office/drawing/2014/main" val="3772146146"/>
                    </a:ext>
                  </a:extLst>
                </a:gridCol>
                <a:gridCol w="1896376">
                  <a:extLst>
                    <a:ext uri="{9D8B030D-6E8A-4147-A177-3AD203B41FA5}">
                      <a16:colId xmlns:a16="http://schemas.microsoft.com/office/drawing/2014/main" val="2598696864"/>
                    </a:ext>
                  </a:extLst>
                </a:gridCol>
                <a:gridCol w="707254">
                  <a:extLst>
                    <a:ext uri="{9D8B030D-6E8A-4147-A177-3AD203B41FA5}">
                      <a16:colId xmlns:a16="http://schemas.microsoft.com/office/drawing/2014/main" val="2749899362"/>
                    </a:ext>
                  </a:extLst>
                </a:gridCol>
              </a:tblGrid>
              <a:tr h="43432">
                <a:tc>
                  <a:txBody>
                    <a:bodyPr/>
                    <a:lstStyle/>
                    <a:p>
                      <a:pPr algn="ctr" fontAlgn="ctr"/>
                      <a:r>
                        <a:rPr lang="ko-KR" altLang="en-US" sz="1000" b="1" i="0" u="none" strike="noStrike" dirty="0">
                          <a:solidFill>
                            <a:schemeClr val="bg1"/>
                          </a:solidFill>
                          <a:effectLst/>
                          <a:latin typeface="+mj-ea"/>
                          <a:ea typeface="+mj-ea"/>
                        </a:rPr>
                        <a:t>분야</a:t>
                      </a:r>
                    </a:p>
                  </a:txBody>
                  <a:tcPr marL="4556" marR="4556" marT="4556"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4556" marR="4556" marT="455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4556" marR="4556" marT="455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4556" marR="4556" marT="455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4556" marR="4556" marT="455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4556" marR="4556" marT="4556"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914557731"/>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김대열</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mj-ea"/>
                          <a:ea typeface="+mj-ea"/>
                        </a:rPr>
                        <a:t>NCS</a:t>
                      </a:r>
                      <a:r>
                        <a:rPr lang="ko-KR" altLang="en-US" sz="1000" b="0" i="0" u="none" strike="noStrike" dirty="0">
                          <a:solidFill>
                            <a:srgbClr val="000000"/>
                          </a:solidFill>
                          <a:effectLst/>
                          <a:latin typeface="+mj-ea"/>
                          <a:ea typeface="+mj-ea"/>
                        </a:rPr>
                        <a:t>개발</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0681433"/>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기계생산관리계획</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김동훈</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천안공업고등학교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7537131"/>
                  </a:ext>
                </a:extLst>
              </a:tr>
              <a:tr h="43432">
                <a:tc>
                  <a:txBody>
                    <a:bodyPr/>
                    <a:lstStyle/>
                    <a:p>
                      <a:pPr algn="ctr" fontAlgn="ctr"/>
                      <a:r>
                        <a:rPr lang="ko-KR" altLang="en-US" sz="1000" b="0" i="0" u="none" strike="noStrike" dirty="0">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기계생산관리계획</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안범준</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상명대학교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962335"/>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기계생산관리계획</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손일선</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오산대학교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137022"/>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기계자재관리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남상출</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홍성공업고등학교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교사</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348744"/>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기계자재관리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김재원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1185383"/>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기계자재관리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김진호</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869886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기계공정관리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민경일</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운산공업고등학교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4494089"/>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기계공정관리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장봉기</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145942"/>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기계공정관리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이기석</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5416592"/>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기계생산성관리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우연재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합덕제철고등학교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129885"/>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기계생산성관리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정진호</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두원공과대학교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7240115"/>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기계생산성관리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황성일</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569198"/>
                  </a:ext>
                </a:extLst>
              </a:tr>
              <a:tr h="43432">
                <a:tc>
                  <a:txBody>
                    <a:bodyPr/>
                    <a:lstStyle/>
                    <a:p>
                      <a:pPr algn="ctr" fontAlgn="ctr"/>
                      <a:r>
                        <a:rPr lang="ko-KR" altLang="en-US" sz="1000" b="0" i="0" u="none" strike="noStrike" dirty="0">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기계작업감독</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맹민재</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동서울대학교 </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663874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기계작업감독</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홍성구</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평택기계공업고등학교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교사</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9439701"/>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기계작업감독</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윤여권</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 </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7889528"/>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기계품질계획</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박철</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수도전기공업고등학교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1921734"/>
                  </a:ext>
                </a:extLst>
              </a:tr>
              <a:tr h="43432">
                <a:tc>
                  <a:txBody>
                    <a:bodyPr/>
                    <a:lstStyle/>
                    <a:p>
                      <a:pPr algn="ctr" fontAlgn="ctr"/>
                      <a:r>
                        <a:rPr lang="ko-KR" altLang="en-US" sz="1000" b="0" i="0" u="none" strike="noStrike" dirty="0">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기계품질계획</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정장우</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0244796"/>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기계품질계획</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이범성</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3730429"/>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기계품질관리</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이정훈</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인천기계공업고등학교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380042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기계품질관리</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홍영선</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한국표준협회</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수석위원</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5312676"/>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기계품질평가</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조정하</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한국표준협회</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수석위원</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5775786"/>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기계품질평가</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임재학</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한밭대학교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989284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기계품질평가</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강찬구</a:t>
                      </a:r>
                      <a:endParaRPr lang="ko-KR" altLang="en-US" sz="1000" b="0" i="0" u="none" strike="noStrike" dirty="0">
                        <a:solidFill>
                          <a:srgbClr val="000000"/>
                        </a:solidFill>
                        <a:effectLst/>
                        <a:latin typeface="+mj-ea"/>
                        <a:ea typeface="+mj-ea"/>
                      </a:endParaRP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영등포공업고등학교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5612832"/>
                  </a:ext>
                </a:extLst>
              </a:tr>
              <a:tr h="43432">
                <a:tc>
                  <a:txBody>
                    <a:bodyPr/>
                    <a:lstStyle/>
                    <a:p>
                      <a:pPr algn="ctr" fontAlgn="ctr"/>
                      <a:r>
                        <a:rPr lang="ko-KR" altLang="en-US" sz="1000" b="0" i="0" u="none" strike="noStrike" dirty="0">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운반하역기계설치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류재현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용산공업고등학교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1011826"/>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운반하역기계설치</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김재연</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93795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운반하역기계설치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김홍성</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1678965"/>
                  </a:ext>
                </a:extLst>
              </a:tr>
            </a:tbl>
          </a:graphicData>
        </a:graphic>
      </p:graphicFrame>
    </p:spTree>
    <p:extLst>
      <p:ext uri="{BB962C8B-B14F-4D97-AF65-F5344CB8AC3E}">
        <p14:creationId xmlns:p14="http://schemas.microsoft.com/office/powerpoint/2010/main" val="3326182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6D21592F-D6EA-A581-293B-C2C11E04B250}"/>
              </a:ext>
            </a:extLst>
          </p:cNvPr>
          <p:cNvGraphicFramePr>
            <a:graphicFrameLocks noGrp="1"/>
          </p:cNvGraphicFramePr>
          <p:nvPr/>
        </p:nvGraphicFramePr>
        <p:xfrm>
          <a:off x="596900" y="2097089"/>
          <a:ext cx="8747787" cy="4392615"/>
        </p:xfrm>
        <a:graphic>
          <a:graphicData uri="http://schemas.openxmlformats.org/drawingml/2006/table">
            <a:tbl>
              <a:tblPr/>
              <a:tblGrid>
                <a:gridCol w="1201947">
                  <a:extLst>
                    <a:ext uri="{9D8B030D-6E8A-4147-A177-3AD203B41FA5}">
                      <a16:colId xmlns:a16="http://schemas.microsoft.com/office/drawing/2014/main" val="1359506749"/>
                    </a:ext>
                  </a:extLst>
                </a:gridCol>
                <a:gridCol w="1968705">
                  <a:extLst>
                    <a:ext uri="{9D8B030D-6E8A-4147-A177-3AD203B41FA5}">
                      <a16:colId xmlns:a16="http://schemas.microsoft.com/office/drawing/2014/main" val="1226871800"/>
                    </a:ext>
                  </a:extLst>
                </a:gridCol>
                <a:gridCol w="590612">
                  <a:extLst>
                    <a:ext uri="{9D8B030D-6E8A-4147-A177-3AD203B41FA5}">
                      <a16:colId xmlns:a16="http://schemas.microsoft.com/office/drawing/2014/main" val="699232870"/>
                    </a:ext>
                  </a:extLst>
                </a:gridCol>
                <a:gridCol w="2383170">
                  <a:extLst>
                    <a:ext uri="{9D8B030D-6E8A-4147-A177-3AD203B41FA5}">
                      <a16:colId xmlns:a16="http://schemas.microsoft.com/office/drawing/2014/main" val="2977434886"/>
                    </a:ext>
                  </a:extLst>
                </a:gridCol>
                <a:gridCol w="1896175">
                  <a:extLst>
                    <a:ext uri="{9D8B030D-6E8A-4147-A177-3AD203B41FA5}">
                      <a16:colId xmlns:a16="http://schemas.microsoft.com/office/drawing/2014/main" val="2452082960"/>
                    </a:ext>
                  </a:extLst>
                </a:gridCol>
                <a:gridCol w="707178">
                  <a:extLst>
                    <a:ext uri="{9D8B030D-6E8A-4147-A177-3AD203B41FA5}">
                      <a16:colId xmlns:a16="http://schemas.microsoft.com/office/drawing/2014/main" val="2923463778"/>
                    </a:ext>
                  </a:extLst>
                </a:gridCol>
              </a:tblGrid>
              <a:tr h="158425">
                <a:tc>
                  <a:txBody>
                    <a:bodyPr/>
                    <a:lstStyle/>
                    <a:p>
                      <a:pPr algn="ctr" fontAlgn="ctr"/>
                      <a:r>
                        <a:rPr lang="ko-KR" altLang="en-US" sz="1000" b="1" i="0" u="none" strike="noStrike" dirty="0">
                          <a:solidFill>
                            <a:schemeClr val="bg1"/>
                          </a:solidFill>
                          <a:effectLst/>
                          <a:latin typeface="+mj-ea"/>
                          <a:ea typeface="+mj-ea"/>
                        </a:rPr>
                        <a:t>분야</a:t>
                      </a:r>
                    </a:p>
                  </a:txBody>
                  <a:tcPr marL="3357" marR="3357" marT="3357"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3357" marR="3357" marT="335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3357" marR="3357" marT="335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3357" marR="3357" marT="335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3357" marR="3357" marT="335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3357" marR="3357" marT="3357"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863587084"/>
                  </a:ext>
                </a:extLst>
              </a:tr>
              <a:tr h="158425">
                <a:tc>
                  <a:txBody>
                    <a:bodyPr/>
                    <a:lstStyle/>
                    <a:p>
                      <a:pPr algn="ctr" fontAlgn="ctr"/>
                      <a:r>
                        <a:rPr lang="ko-KR" altLang="en-US" sz="1000" b="0" i="0" u="none" strike="noStrike" dirty="0">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건설광산기계설치</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김인유</a:t>
                      </a:r>
                      <a:endParaRPr lang="ko-KR" altLang="en-US" sz="1000" b="0" i="0" u="none" strike="noStrike" dirty="0">
                        <a:solidFill>
                          <a:srgbClr val="000000"/>
                        </a:solidFill>
                        <a:effectLst/>
                        <a:latin typeface="+mj-ea"/>
                        <a:ea typeface="+mj-ea"/>
                      </a:endParaRP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한국크레인협회</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6263320"/>
                  </a:ext>
                </a:extLst>
              </a:tr>
              <a:tr h="158425">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건설광산기계설치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이진갑</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6804089"/>
                  </a:ext>
                </a:extLst>
              </a:tr>
              <a:tr h="158425">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건설광산기계설치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이민호</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천안공업고등학교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6515725"/>
                  </a:ext>
                </a:extLst>
              </a:tr>
              <a:tr h="158425">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섬유기계설치</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손성군</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주</a:t>
                      </a:r>
                      <a:r>
                        <a:rPr lang="en-US" altLang="ko-KR" sz="1000" b="0" i="0" u="none" strike="noStrike" dirty="0">
                          <a:solidFill>
                            <a:srgbClr val="000000"/>
                          </a:solidFill>
                          <a:effectLst/>
                          <a:latin typeface="+mj-ea"/>
                          <a:ea typeface="+mj-ea"/>
                        </a:rPr>
                        <a:t>)</a:t>
                      </a:r>
                      <a:r>
                        <a:rPr lang="en-US" sz="1000" b="0" i="0" u="none" strike="noStrike" dirty="0">
                          <a:solidFill>
                            <a:srgbClr val="000000"/>
                          </a:solidFill>
                          <a:effectLst/>
                          <a:latin typeface="+mj-ea"/>
                          <a:ea typeface="+mj-ea"/>
                        </a:rPr>
                        <a:t>DGI</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1428187"/>
                  </a:ext>
                </a:extLst>
              </a:tr>
              <a:tr h="311783">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kern="1200" dirty="0" err="1">
                          <a:solidFill>
                            <a:srgbClr val="000000"/>
                          </a:solidFill>
                          <a:effectLst/>
                          <a:latin typeface="+mj-ea"/>
                          <a:ea typeface="+mn-ea"/>
                          <a:cs typeface="+mn-cs"/>
                        </a:rPr>
                        <a:t>다이캐스팅금형</a:t>
                      </a:r>
                      <a:endParaRPr lang="en-US" altLang="ko-KR" sz="1000" b="0" i="0" u="none" strike="noStrike" kern="1200" dirty="0">
                        <a:solidFill>
                          <a:srgbClr val="000000"/>
                        </a:solidFill>
                        <a:effectLst/>
                        <a:latin typeface="+mj-ea"/>
                        <a:ea typeface="+mn-ea"/>
                        <a:cs typeface="+mn-cs"/>
                      </a:endParaRPr>
                    </a:p>
                    <a:p>
                      <a:pPr algn="ctr" fontAlgn="ctr"/>
                      <a:r>
                        <a:rPr lang="ko-KR" altLang="en-US" sz="1000" b="0" i="0" u="none" strike="noStrike" kern="1200" dirty="0">
                          <a:solidFill>
                            <a:srgbClr val="000000"/>
                          </a:solidFill>
                          <a:effectLst/>
                          <a:latin typeface="+mj-ea"/>
                          <a:ea typeface="+mn-ea"/>
                          <a:cs typeface="+mn-cs"/>
                        </a:rPr>
                        <a:t>설계</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제작</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조립</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품질관리</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고병두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유한공업고등학교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8735542"/>
                  </a:ext>
                </a:extLst>
              </a:tr>
              <a:tr h="31178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kern="1200" dirty="0" err="1">
                          <a:solidFill>
                            <a:srgbClr val="000000"/>
                          </a:solidFill>
                          <a:effectLst/>
                          <a:latin typeface="+mj-ea"/>
                          <a:ea typeface="+mn-ea"/>
                          <a:cs typeface="+mn-cs"/>
                        </a:rPr>
                        <a:t>다이캐스팅금형</a:t>
                      </a:r>
                      <a:endParaRPr lang="en-US" altLang="ko-KR" sz="1000" b="0" i="0" u="none" strike="noStrike" kern="1200" dirty="0">
                        <a:solidFill>
                          <a:srgbClr val="000000"/>
                        </a:solidFill>
                        <a:effectLst/>
                        <a:latin typeface="+mj-ea"/>
                        <a:ea typeface="+mn-ea"/>
                        <a:cs typeface="+mn-cs"/>
                      </a:endParaRPr>
                    </a:p>
                    <a:p>
                      <a:pPr algn="ctr" fontAlgn="ctr"/>
                      <a:r>
                        <a:rPr lang="ko-KR" altLang="en-US" sz="1000" b="0" i="0" u="none" strike="noStrike" kern="1200" dirty="0">
                          <a:solidFill>
                            <a:srgbClr val="000000"/>
                          </a:solidFill>
                          <a:effectLst/>
                          <a:latin typeface="+mj-ea"/>
                          <a:ea typeface="+mn-ea"/>
                          <a:cs typeface="+mn-cs"/>
                        </a:rPr>
                        <a:t>설계</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제작</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조립</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품질관리</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이상민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청학공업고등학교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4392816"/>
                  </a:ext>
                </a:extLst>
              </a:tr>
              <a:tr h="31178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다이캐스팅금형</a:t>
                      </a:r>
                      <a:endParaRPr lang="en-US" altLang="ko-KR" sz="1000" b="0" i="0" u="none" strike="noStrike" dirty="0">
                        <a:solidFill>
                          <a:srgbClr val="000000"/>
                        </a:solidFill>
                        <a:effectLst/>
                        <a:latin typeface="+mj-ea"/>
                        <a:ea typeface="+mj-ea"/>
                      </a:endParaRPr>
                    </a:p>
                    <a:p>
                      <a:pPr algn="ctr" fontAlgn="ctr"/>
                      <a:r>
                        <a:rPr lang="ko-KR" altLang="en-US" sz="1000" b="0" i="0" u="none" strike="noStrike" dirty="0">
                          <a:solidFill>
                            <a:srgbClr val="000000"/>
                          </a:solidFill>
                          <a:effectLst/>
                          <a:latin typeface="+mj-ea"/>
                          <a:ea typeface="+mj-ea"/>
                        </a:rPr>
                        <a:t>설계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제작</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조립</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품질관리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이영주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대한상공회의소 전북인력개발원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5433864"/>
                  </a:ext>
                </a:extLst>
              </a:tr>
              <a:tr h="156773">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중기운전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박진우</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스타훈련교사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서부산직업전문학교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239119"/>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중기운전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홍재일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경북산업직업전문학교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8408314"/>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중기운전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김정혁</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군장대학교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3486620"/>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중기운전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정종훈</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신청자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대덕자동차직업전문학교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4355194"/>
                  </a:ext>
                </a:extLst>
              </a:tr>
              <a:tr h="156773">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윤진근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a:t>
                      </a:r>
                      <a:r>
                        <a:rPr lang="ko-KR" altLang="en-US" sz="1000" b="0" i="0" u="none" strike="noStrike" dirty="0">
                          <a:solidFill>
                            <a:srgbClr val="000000"/>
                          </a:solidFill>
                          <a:effectLst/>
                          <a:latin typeface="+mj-ea"/>
                          <a:ea typeface="+mj-ea"/>
                        </a:rPr>
                        <a:t>개발</a:t>
                      </a:r>
                      <a:r>
                        <a:rPr lang="en-US" altLang="ko-KR" sz="1000" b="0" i="0" u="none" strike="noStrike" dirty="0">
                          <a:solidFill>
                            <a:srgbClr val="000000"/>
                          </a:solidFill>
                          <a:effectLst/>
                          <a:latin typeface="+mj-ea"/>
                          <a:ea typeface="+mj-ea"/>
                        </a:rPr>
                        <a:t>/ISC </a:t>
                      </a:r>
                      <a:r>
                        <a:rPr lang="ko-KR" altLang="en-US" sz="1000" b="0" i="0" u="none" strike="noStrike" dirty="0">
                          <a:solidFill>
                            <a:srgbClr val="000000"/>
                          </a:solidFill>
                          <a:effectLst/>
                          <a:latin typeface="+mj-ea"/>
                          <a:ea typeface="+mj-ea"/>
                        </a:rPr>
                        <a:t>또는 협회 추천</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대구대학교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선임연구원</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477230"/>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이상민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퍼실리테이터</a:t>
                      </a:r>
                      <a:r>
                        <a:rPr lang="en-US" altLang="ko-KR" sz="1000" b="0" i="0" u="none" strike="noStrike">
                          <a:solidFill>
                            <a:srgbClr val="000000"/>
                          </a:solidFill>
                          <a:effectLst/>
                          <a:latin typeface="+mj-ea"/>
                          <a:ea typeface="+mj-ea"/>
                        </a:rPr>
                        <a:t>/ISC </a:t>
                      </a:r>
                      <a:r>
                        <a:rPr lang="ko-KR" altLang="en-US" sz="1000" b="0" i="0" u="none" strike="noStrike">
                          <a:solidFill>
                            <a:srgbClr val="000000"/>
                          </a:solidFill>
                          <a:effectLst/>
                          <a:latin typeface="+mj-ea"/>
                          <a:ea typeface="+mj-ea"/>
                        </a:rPr>
                        <a:t>또는 협회 추천</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청학공업고등학교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0678558"/>
                  </a:ext>
                </a:extLst>
              </a:tr>
              <a:tr h="156773">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다이캐스팅금형설계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윤갑석</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성남</a:t>
                      </a:r>
                      <a:r>
                        <a:rPr lang="en-US" altLang="ko-KR" sz="1000" b="0" i="0" u="none" strike="noStrike">
                          <a:solidFill>
                            <a:srgbClr val="000000"/>
                          </a:solidFill>
                          <a:effectLst/>
                          <a:latin typeface="+mj-ea"/>
                          <a:ea typeface="+mj-ea"/>
                        </a:rPr>
                        <a:t>)</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4829212"/>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다이캐스팅금형설계</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이형국</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동의과학대학교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0116915"/>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다이캐스팅금형설계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지무성</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5489859"/>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다이캐스팅금형제작</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엄정섭</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인천</a:t>
                      </a:r>
                      <a:r>
                        <a:rPr lang="en-US" altLang="ko-KR" sz="1000" b="0" i="0" u="none" strike="noStrike">
                          <a:solidFill>
                            <a:srgbClr val="000000"/>
                          </a:solidFill>
                          <a:effectLst/>
                          <a:latin typeface="+mj-ea"/>
                          <a:ea typeface="+mj-ea"/>
                        </a:rPr>
                        <a:t>)</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851567"/>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다이캐스팅금형제작</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이병우</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휘경공업고등학교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296646"/>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다이캐스팅금형제작</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이종구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700753"/>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다이캐스팅금형조립</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서상철</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국립 한밭대학교 산학협력단</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047520"/>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다이캐스팅금형조립</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조정희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광주인력개발원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5405471"/>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다이캐스팅금형조립</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홍석무</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국립공주대학교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2572772"/>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다이캐스팅금형품질관리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문병주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부산인력개발원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6223324"/>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다이캐스팅금형품질관리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정호채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호남대학교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5050409"/>
                  </a:ext>
                </a:extLst>
              </a:tr>
            </a:tbl>
          </a:graphicData>
        </a:graphic>
      </p:graphicFrame>
    </p:spTree>
    <p:extLst>
      <p:ext uri="{BB962C8B-B14F-4D97-AF65-F5344CB8AC3E}">
        <p14:creationId xmlns:p14="http://schemas.microsoft.com/office/powerpoint/2010/main" val="10799212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0ECBBDE8-3341-12F3-3EA5-F0458D3649B3}"/>
              </a:ext>
            </a:extLst>
          </p:cNvPr>
          <p:cNvGraphicFramePr>
            <a:graphicFrameLocks noGrp="1"/>
          </p:cNvGraphicFramePr>
          <p:nvPr/>
        </p:nvGraphicFramePr>
        <p:xfrm>
          <a:off x="596901" y="2097088"/>
          <a:ext cx="8748714" cy="4392622"/>
        </p:xfrm>
        <a:graphic>
          <a:graphicData uri="http://schemas.openxmlformats.org/drawingml/2006/table">
            <a:tbl>
              <a:tblPr/>
              <a:tblGrid>
                <a:gridCol w="1202073">
                  <a:extLst>
                    <a:ext uri="{9D8B030D-6E8A-4147-A177-3AD203B41FA5}">
                      <a16:colId xmlns:a16="http://schemas.microsoft.com/office/drawing/2014/main" val="414497469"/>
                    </a:ext>
                  </a:extLst>
                </a:gridCol>
                <a:gridCol w="1968913">
                  <a:extLst>
                    <a:ext uri="{9D8B030D-6E8A-4147-A177-3AD203B41FA5}">
                      <a16:colId xmlns:a16="http://schemas.microsoft.com/office/drawing/2014/main" val="2543762476"/>
                    </a:ext>
                  </a:extLst>
                </a:gridCol>
                <a:gridCol w="590675">
                  <a:extLst>
                    <a:ext uri="{9D8B030D-6E8A-4147-A177-3AD203B41FA5}">
                      <a16:colId xmlns:a16="http://schemas.microsoft.com/office/drawing/2014/main" val="1215186675"/>
                    </a:ext>
                  </a:extLst>
                </a:gridCol>
                <a:gridCol w="2383423">
                  <a:extLst>
                    <a:ext uri="{9D8B030D-6E8A-4147-A177-3AD203B41FA5}">
                      <a16:colId xmlns:a16="http://schemas.microsoft.com/office/drawing/2014/main" val="2971367000"/>
                    </a:ext>
                  </a:extLst>
                </a:gridCol>
                <a:gridCol w="1896376">
                  <a:extLst>
                    <a:ext uri="{9D8B030D-6E8A-4147-A177-3AD203B41FA5}">
                      <a16:colId xmlns:a16="http://schemas.microsoft.com/office/drawing/2014/main" val="3897501795"/>
                    </a:ext>
                  </a:extLst>
                </a:gridCol>
                <a:gridCol w="707254">
                  <a:extLst>
                    <a:ext uri="{9D8B030D-6E8A-4147-A177-3AD203B41FA5}">
                      <a16:colId xmlns:a16="http://schemas.microsoft.com/office/drawing/2014/main" val="1466536347"/>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873891828"/>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섬유기계설치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이명재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경북공업고등학교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720393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섬유기계설치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하재부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4841841"/>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공작기계설치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원종률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와브코코리아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차장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45610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공작기계설치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유송민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경희대학교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8206005"/>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공작기계설치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김현철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두원공과대학교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5559058"/>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고무프라스틱기계설치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김중혁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의정부공업고등학교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485356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고무프라스틱기계설치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이승구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휘경공업고등학교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04566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고무프라스틱기계설치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함창호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887575"/>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농업용기계설치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김학진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0023645"/>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농업용기계설치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이운용</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한국농수산대학교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284858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농업용기계설치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홍종숙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용인바이오고등학교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2822320"/>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승강기설치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김창일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한국승강기대학교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7839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승강기설치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조수억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882277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승강기설치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황동식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학과장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9802064"/>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서용진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도화기계공업고등학교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7714011"/>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632440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황두열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4985920"/>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장영오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서울시립북부기술교육원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55011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박종환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정수캠퍼스</a:t>
                      </a:r>
                      <a:r>
                        <a:rPr lang="en-US" altLang="ko-KR" sz="1000" b="0" i="0" u="none" strike="noStrike">
                          <a:solidFill>
                            <a:srgbClr val="000000"/>
                          </a:solidFill>
                          <a:effectLst/>
                          <a:latin typeface="+mj-ea"/>
                          <a:ea typeface="+mj-ea"/>
                        </a:rPr>
                        <a: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7458890"/>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이대철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한국스파이렉스사코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793349"/>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자전거정비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윤석주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한국자전거정비 기술학원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8489275"/>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자전거정비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차상운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자전거평생교육원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260860"/>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자전거정비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한영욱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성수공업고등학교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8931962"/>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오토바이정비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문학훈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60296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오토바이정비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소의열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충청대학교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7518880"/>
                  </a:ext>
                </a:extLst>
              </a:tr>
            </a:tbl>
          </a:graphicData>
        </a:graphic>
      </p:graphicFrame>
    </p:spTree>
    <p:extLst>
      <p:ext uri="{BB962C8B-B14F-4D97-AF65-F5344CB8AC3E}">
        <p14:creationId xmlns:p14="http://schemas.microsoft.com/office/powerpoint/2010/main" val="8571029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EE916789-405E-C873-449A-C81DB00D714C}"/>
              </a:ext>
            </a:extLst>
          </p:cNvPr>
          <p:cNvGraphicFramePr>
            <a:graphicFrameLocks noGrp="1"/>
          </p:cNvGraphicFramePr>
          <p:nvPr/>
        </p:nvGraphicFramePr>
        <p:xfrm>
          <a:off x="596900" y="2097089"/>
          <a:ext cx="8748713" cy="4392603"/>
        </p:xfrm>
        <a:graphic>
          <a:graphicData uri="http://schemas.openxmlformats.org/drawingml/2006/table">
            <a:tbl>
              <a:tblPr/>
              <a:tblGrid>
                <a:gridCol w="1202073">
                  <a:extLst>
                    <a:ext uri="{9D8B030D-6E8A-4147-A177-3AD203B41FA5}">
                      <a16:colId xmlns:a16="http://schemas.microsoft.com/office/drawing/2014/main" val="1935829354"/>
                    </a:ext>
                  </a:extLst>
                </a:gridCol>
                <a:gridCol w="1968913">
                  <a:extLst>
                    <a:ext uri="{9D8B030D-6E8A-4147-A177-3AD203B41FA5}">
                      <a16:colId xmlns:a16="http://schemas.microsoft.com/office/drawing/2014/main" val="1837553529"/>
                    </a:ext>
                  </a:extLst>
                </a:gridCol>
                <a:gridCol w="590674">
                  <a:extLst>
                    <a:ext uri="{9D8B030D-6E8A-4147-A177-3AD203B41FA5}">
                      <a16:colId xmlns:a16="http://schemas.microsoft.com/office/drawing/2014/main" val="3831716611"/>
                    </a:ext>
                  </a:extLst>
                </a:gridCol>
                <a:gridCol w="2383422">
                  <a:extLst>
                    <a:ext uri="{9D8B030D-6E8A-4147-A177-3AD203B41FA5}">
                      <a16:colId xmlns:a16="http://schemas.microsoft.com/office/drawing/2014/main" val="3613331397"/>
                    </a:ext>
                  </a:extLst>
                </a:gridCol>
                <a:gridCol w="1896376">
                  <a:extLst>
                    <a:ext uri="{9D8B030D-6E8A-4147-A177-3AD203B41FA5}">
                      <a16:colId xmlns:a16="http://schemas.microsoft.com/office/drawing/2014/main" val="4112300507"/>
                    </a:ext>
                  </a:extLst>
                </a:gridCol>
                <a:gridCol w="707255">
                  <a:extLst>
                    <a:ext uri="{9D8B030D-6E8A-4147-A177-3AD203B41FA5}">
                      <a16:colId xmlns:a16="http://schemas.microsoft.com/office/drawing/2014/main" val="3783882732"/>
                    </a:ext>
                  </a:extLst>
                </a:gridCol>
              </a:tblGrid>
              <a:tr h="162689">
                <a:tc>
                  <a:txBody>
                    <a:bodyPr/>
                    <a:lstStyle/>
                    <a:p>
                      <a:pPr algn="ctr" fontAlgn="ctr"/>
                      <a:r>
                        <a:rPr lang="ko-KR" altLang="en-US" sz="1000" b="1" i="0" u="none" strike="noStrike" dirty="0">
                          <a:solidFill>
                            <a:schemeClr val="bg1"/>
                          </a:solidFill>
                          <a:effectLst/>
                          <a:latin typeface="+mj-ea"/>
                          <a:ea typeface="+mj-ea"/>
                        </a:rPr>
                        <a:t>분야</a:t>
                      </a:r>
                    </a:p>
                  </a:txBody>
                  <a:tcPr marL="2159" marR="2159" marT="2159"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159" marR="2159" marT="215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159" marR="2159" marT="215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159" marR="2159" marT="215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159" marR="2159" marT="215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159" marR="2159" marT="2159"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818231356"/>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오토바이정비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오무영</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청주공업고등학교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1368977"/>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오토바이정비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윤재곤</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서영대학교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9769295"/>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rgbClr val="000000"/>
                          </a:solidFill>
                          <a:effectLst/>
                          <a:latin typeface="+mj-ea"/>
                          <a:ea typeface="+mn-ea"/>
                          <a:cs typeface="+mn-cs"/>
                        </a:rPr>
                        <a:t>자전거정비</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오토바이정비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장재우</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삼천리자전거 봉동대리점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대표</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7772409"/>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자전거정비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오토바이정비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권영진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KR</a:t>
                      </a:r>
                      <a:r>
                        <a:rPr lang="ko-KR" altLang="en-US" sz="1000" b="0" i="0" u="none" strike="noStrike">
                          <a:solidFill>
                            <a:srgbClr val="000000"/>
                          </a:solidFill>
                          <a:effectLst/>
                          <a:latin typeface="+mj-ea"/>
                          <a:ea typeface="+mj-ea"/>
                        </a:rPr>
                        <a:t>모터스 교육훈련원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원장</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6227324"/>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rgbClr val="000000"/>
                          </a:solidFill>
                          <a:effectLst/>
                          <a:latin typeface="+mj-ea"/>
                          <a:ea typeface="+mn-ea"/>
                          <a:cs typeface="+mn-cs"/>
                        </a:rPr>
                        <a:t>자전거정비</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오토바이정비</a:t>
                      </a:r>
                      <a:endParaRPr lang="ko-KR" altLang="en-US" sz="1000" b="0" i="0" u="none" strike="noStrike" dirty="0">
                        <a:solidFill>
                          <a:srgbClr val="000000"/>
                        </a:solidFill>
                        <a:effectLst/>
                        <a:latin typeface="+mj-ea"/>
                        <a:ea typeface="+mj-ea"/>
                      </a:endParaRP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정부영</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충청대학교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926258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한준수</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a:t>
                      </a:r>
                      <a:r>
                        <a:rPr lang="ko-KR" altLang="en-US" sz="1000" b="0" i="0" u="none" strike="noStrike" dirty="0">
                          <a:solidFill>
                            <a:srgbClr val="000000"/>
                          </a:solidFill>
                          <a:effectLst/>
                          <a:latin typeface="+mj-ea"/>
                          <a:ea typeface="+mj-ea"/>
                        </a:rPr>
                        <a:t>개발</a:t>
                      </a:r>
                      <a:r>
                        <a:rPr lang="en-US" altLang="ko-KR" sz="1000" b="0" i="0" u="none" strike="noStrike" dirty="0">
                          <a:solidFill>
                            <a:srgbClr val="000000"/>
                          </a:solidFill>
                          <a:effectLst/>
                          <a:latin typeface="+mj-ea"/>
                          <a:ea typeface="+mj-ea"/>
                        </a:rPr>
                        <a:t>/NCS</a:t>
                      </a:r>
                      <a:r>
                        <a:rPr lang="ko-KR" altLang="en-US" sz="1000" b="0" i="0" u="none" strike="noStrike" dirty="0">
                          <a:solidFill>
                            <a:srgbClr val="000000"/>
                          </a:solidFill>
                          <a:effectLst/>
                          <a:latin typeface="+mj-ea"/>
                          <a:ea typeface="+mj-ea"/>
                        </a:rPr>
                        <a:t>보완</a:t>
                      </a:r>
                      <a:r>
                        <a:rPr lang="en-US" altLang="ko-KR" sz="1000" b="0" i="0" u="none" strike="noStrike" dirty="0">
                          <a:solidFill>
                            <a:srgbClr val="000000"/>
                          </a:solidFill>
                          <a:effectLst/>
                          <a:latin typeface="+mj-ea"/>
                          <a:ea typeface="+mj-ea"/>
                        </a:rPr>
                        <a:t>FT</a:t>
                      </a:r>
                      <a:endParaRPr lang="ko-KR" altLang="en-US" sz="1000" b="0" i="0" u="none" strike="noStrike" dirty="0">
                        <a:solidFill>
                          <a:srgbClr val="000000"/>
                        </a:solidFill>
                        <a:effectLst/>
                        <a:latin typeface="+mj-ea"/>
                        <a:ea typeface="+mj-ea"/>
                      </a:endParaRP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아주자동차대학교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8602548"/>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항공기기체설계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홍만석</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강호항공고등학교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8857222"/>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항공기기체설계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이부일</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519834"/>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항공기기체설계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황호연</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세종대학교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5560932"/>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항공기엔진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프로펠러설계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김위대</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424789"/>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이균호</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세종대학교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5499714"/>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이덕주</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한국과학기술원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1464831"/>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김진봉</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132032"/>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임상석</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89068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홍성경</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세종대학교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2116688"/>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항공기시스템설계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김승주</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2627239"/>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항공기시스템설계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김종암</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825703"/>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항공기시스템설계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이대우</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2149156"/>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항공기기체제작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배명환</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경상대학교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5767839"/>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항공기기체제작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윤재영</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영동산업과학고등학교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0055443"/>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항공기기체제작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이중윤</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포항공과대학교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42149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정식항</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충청대학교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820877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위용철</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경남항공고등학교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737957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임종춘</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국방기술품질원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부장</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4775302"/>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김태욱</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029436"/>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나종화</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7710873"/>
                  </a:ext>
                </a:extLst>
              </a:tr>
            </a:tbl>
          </a:graphicData>
        </a:graphic>
      </p:graphicFrame>
    </p:spTree>
    <p:extLst>
      <p:ext uri="{BB962C8B-B14F-4D97-AF65-F5344CB8AC3E}">
        <p14:creationId xmlns:p14="http://schemas.microsoft.com/office/powerpoint/2010/main" val="1230662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4BB0BDEC-0E84-AC3B-B8C2-96AEBA12ACEC}"/>
              </a:ext>
            </a:extLst>
          </p:cNvPr>
          <p:cNvGraphicFramePr>
            <a:graphicFrameLocks noGrp="1"/>
          </p:cNvGraphicFramePr>
          <p:nvPr/>
        </p:nvGraphicFramePr>
        <p:xfrm>
          <a:off x="595589" y="2097088"/>
          <a:ext cx="8749098" cy="4392608"/>
        </p:xfrm>
        <a:graphic>
          <a:graphicData uri="http://schemas.openxmlformats.org/drawingml/2006/table">
            <a:tbl>
              <a:tblPr/>
              <a:tblGrid>
                <a:gridCol w="1202126">
                  <a:extLst>
                    <a:ext uri="{9D8B030D-6E8A-4147-A177-3AD203B41FA5}">
                      <a16:colId xmlns:a16="http://schemas.microsoft.com/office/drawing/2014/main" val="322811628"/>
                    </a:ext>
                  </a:extLst>
                </a:gridCol>
                <a:gridCol w="1969000">
                  <a:extLst>
                    <a:ext uri="{9D8B030D-6E8A-4147-A177-3AD203B41FA5}">
                      <a16:colId xmlns:a16="http://schemas.microsoft.com/office/drawing/2014/main" val="3488104008"/>
                    </a:ext>
                  </a:extLst>
                </a:gridCol>
                <a:gridCol w="590700">
                  <a:extLst>
                    <a:ext uri="{9D8B030D-6E8A-4147-A177-3AD203B41FA5}">
                      <a16:colId xmlns:a16="http://schemas.microsoft.com/office/drawing/2014/main" val="4065074938"/>
                    </a:ext>
                  </a:extLst>
                </a:gridCol>
                <a:gridCol w="2383527">
                  <a:extLst>
                    <a:ext uri="{9D8B030D-6E8A-4147-A177-3AD203B41FA5}">
                      <a16:colId xmlns:a16="http://schemas.microsoft.com/office/drawing/2014/main" val="2022929324"/>
                    </a:ext>
                  </a:extLst>
                </a:gridCol>
                <a:gridCol w="1896460">
                  <a:extLst>
                    <a:ext uri="{9D8B030D-6E8A-4147-A177-3AD203B41FA5}">
                      <a16:colId xmlns:a16="http://schemas.microsoft.com/office/drawing/2014/main" val="2101515624"/>
                    </a:ext>
                  </a:extLst>
                </a:gridCol>
                <a:gridCol w="707285">
                  <a:extLst>
                    <a:ext uri="{9D8B030D-6E8A-4147-A177-3AD203B41FA5}">
                      <a16:colId xmlns:a16="http://schemas.microsoft.com/office/drawing/2014/main" val="856158886"/>
                    </a:ext>
                  </a:extLst>
                </a:gridCol>
              </a:tblGrid>
              <a:tr h="156931">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160742783"/>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최이주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국방과학연구소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책임연구원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706919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6821831"/>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박용규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국제항공전문학교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1811112"/>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김귀섭</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인하전문대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3568944"/>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항공기가스터빈기관정비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김도현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1474633"/>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항공기가스터빈기관정비</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조용기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한국에어텍전문학교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256145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항공기가스터빈기관정비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최용모</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기술사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8640579"/>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항공기왕복기관정비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이경호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9995084"/>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항공기왕복기관정비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박명수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국제항공전문학교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585496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항공기왕복기관정비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조관표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비행훈련원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1094832"/>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항공기프로펠러정비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류영수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6567635"/>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항공기프로펠러정비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이성환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한국에어택전문학교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367336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항공기프로펠러정비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송윤섭</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전북대학교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7256953"/>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항공기기계부품</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김종찬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1238745"/>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항공기기계부품</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장준국</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아세아항공직업전문학교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232789"/>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항공기기계부품</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신우균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아시아나항공 훈련원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3505128"/>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홍흥주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517129"/>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이병모</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한국에어텍항공전문학교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169318"/>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이학재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극동대학교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715381"/>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헬기정비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김철한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경북항공고등학교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931948"/>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헬기정비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김광현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329274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헬기정비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유정일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문성대학교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8883736"/>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항공기정비관리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박상진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974429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항공기정비관리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김민정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한국에어텍항공전문학교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156318"/>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항공기정비관리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조환기</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426225"/>
                  </a:ext>
                </a:extLst>
              </a:tr>
              <a:tr h="156201">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항공장비보급관리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황영호</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52275"/>
                  </a:ext>
                </a:extLst>
              </a:tr>
              <a:tr h="156201">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항공장비보급관리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조동주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한국에어텍항공전문학교</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4209746"/>
                  </a:ext>
                </a:extLst>
              </a:tr>
            </a:tbl>
          </a:graphicData>
        </a:graphic>
      </p:graphicFrame>
    </p:spTree>
    <p:extLst>
      <p:ext uri="{BB962C8B-B14F-4D97-AF65-F5344CB8AC3E}">
        <p14:creationId xmlns:p14="http://schemas.microsoft.com/office/powerpoint/2010/main" val="25503542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EAE4F9EF-B176-4E32-990B-C2B3CB6954E2}"/>
              </a:ext>
            </a:extLst>
          </p:cNvPr>
          <p:cNvGraphicFramePr>
            <a:graphicFrameLocks noGrp="1"/>
          </p:cNvGraphicFramePr>
          <p:nvPr/>
        </p:nvGraphicFramePr>
        <p:xfrm>
          <a:off x="595589" y="2097088"/>
          <a:ext cx="8750024" cy="4392620"/>
        </p:xfrm>
        <a:graphic>
          <a:graphicData uri="http://schemas.openxmlformats.org/drawingml/2006/table">
            <a:tbl>
              <a:tblPr/>
              <a:tblGrid>
                <a:gridCol w="1202252">
                  <a:extLst>
                    <a:ext uri="{9D8B030D-6E8A-4147-A177-3AD203B41FA5}">
                      <a16:colId xmlns:a16="http://schemas.microsoft.com/office/drawing/2014/main" val="2593597361"/>
                    </a:ext>
                  </a:extLst>
                </a:gridCol>
                <a:gridCol w="1969210">
                  <a:extLst>
                    <a:ext uri="{9D8B030D-6E8A-4147-A177-3AD203B41FA5}">
                      <a16:colId xmlns:a16="http://schemas.microsoft.com/office/drawing/2014/main" val="2907363219"/>
                    </a:ext>
                  </a:extLst>
                </a:gridCol>
                <a:gridCol w="590762">
                  <a:extLst>
                    <a:ext uri="{9D8B030D-6E8A-4147-A177-3AD203B41FA5}">
                      <a16:colId xmlns:a16="http://schemas.microsoft.com/office/drawing/2014/main" val="3480889803"/>
                    </a:ext>
                  </a:extLst>
                </a:gridCol>
                <a:gridCol w="2383780">
                  <a:extLst>
                    <a:ext uri="{9D8B030D-6E8A-4147-A177-3AD203B41FA5}">
                      <a16:colId xmlns:a16="http://schemas.microsoft.com/office/drawing/2014/main" val="2622687357"/>
                    </a:ext>
                  </a:extLst>
                </a:gridCol>
                <a:gridCol w="1896658">
                  <a:extLst>
                    <a:ext uri="{9D8B030D-6E8A-4147-A177-3AD203B41FA5}">
                      <a16:colId xmlns:a16="http://schemas.microsoft.com/office/drawing/2014/main" val="1638092839"/>
                    </a:ext>
                  </a:extLst>
                </a:gridCol>
                <a:gridCol w="707362">
                  <a:extLst>
                    <a:ext uri="{9D8B030D-6E8A-4147-A177-3AD203B41FA5}">
                      <a16:colId xmlns:a16="http://schemas.microsoft.com/office/drawing/2014/main" val="3608686633"/>
                    </a:ext>
                  </a:extLst>
                </a:gridCol>
              </a:tblGrid>
              <a:tr h="156620">
                <a:tc>
                  <a:txBody>
                    <a:bodyPr/>
                    <a:lstStyle/>
                    <a:p>
                      <a:pPr algn="ctr" fontAlgn="ctr"/>
                      <a:r>
                        <a:rPr lang="ko-KR" altLang="en-US" sz="1000" b="1" i="0" u="none" strike="noStrike" dirty="0">
                          <a:solidFill>
                            <a:schemeClr val="bg1"/>
                          </a:solidFill>
                          <a:effectLst/>
                          <a:latin typeface="+mj-ea"/>
                          <a:ea typeface="+mj-ea"/>
                        </a:rPr>
                        <a:t>분야</a:t>
                      </a:r>
                    </a:p>
                  </a:txBody>
                  <a:tcPr marL="1733" marR="1733" marT="173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1733" marR="1733" marT="173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1733" marR="1733" marT="173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1733" marR="1733" marT="173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1733" marR="1733" marT="173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1733" marR="1733" marT="173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320464644"/>
                  </a:ext>
                </a:extLst>
              </a:tr>
              <a:tr h="156620">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항공장비보급관리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이정대</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여주대학교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046900"/>
                  </a:ext>
                </a:extLst>
              </a:tr>
              <a:tr h="156620">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항공장구관리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민상홍</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경북항공고등학교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136784"/>
                  </a:ext>
                </a:extLst>
              </a:tr>
              <a:tr h="156620">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항공장구관리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윤사현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한국에어텍전문학교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8091086"/>
                  </a:ext>
                </a:extLst>
              </a:tr>
              <a:tr h="156620">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항공장구관리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김정래</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여주대학교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2261980"/>
                  </a:ext>
                </a:extLst>
              </a:tr>
              <a:tr h="156620">
                <a:tc>
                  <a:txBody>
                    <a:bodyPr/>
                    <a:lstStyle/>
                    <a:p>
                      <a:pPr algn="ctr" fontAlgn="ctr"/>
                      <a:r>
                        <a:rPr lang="ko-KR" altLang="en-US" sz="1000" b="0" i="0" u="none" strike="noStrike">
                          <a:solidFill>
                            <a:srgbClr val="000000"/>
                          </a:solidFill>
                          <a:effectLst/>
                          <a:latin typeface="+mj-ea"/>
                          <a:ea typeface="+mj-ea"/>
                        </a:rPr>
                        <a:t>건설</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경량철골시공</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고훈범</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인하공업전문대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816079"/>
                  </a:ext>
                </a:extLst>
              </a:tr>
              <a:tr h="156950">
                <a:tc>
                  <a:txBody>
                    <a:bodyPr/>
                    <a:lstStyle/>
                    <a:p>
                      <a:pPr algn="ctr" fontAlgn="ctr"/>
                      <a:r>
                        <a:rPr lang="ko-KR" altLang="en-US" sz="1000" b="0" i="0" u="none" strike="noStrike" dirty="0">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경량철골시공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김미리</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개발위원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한국폴리텍대학</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구미캠퍼스</a:t>
                      </a:r>
                      <a:r>
                        <a:rPr lang="en-US" altLang="ko-KR" sz="1000" b="0" i="0" u="none" strike="noStrike" dirty="0">
                          <a:solidFill>
                            <a:srgbClr val="000000"/>
                          </a:solidFill>
                          <a:effectLst/>
                          <a:latin typeface="+mj-ea"/>
                          <a:ea typeface="+mj-ea"/>
                        </a:rPr>
                        <a:t>)</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4612809"/>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경량철골시공</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김진철</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안양공업고등학교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161558"/>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경량철골시공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최훤석</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부천대학교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9718426"/>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경량철골시공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김기철</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서일대학교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123124"/>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경량철골시공</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정순오</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경복대학교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6688953"/>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경량철골시공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노정현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안양공업고등학교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397295"/>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이민우</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2014 </a:t>
                      </a:r>
                      <a:r>
                        <a:rPr lang="ko-KR" altLang="en-US" sz="1000" b="0" i="0" u="none" strike="noStrike" dirty="0" err="1">
                          <a:solidFill>
                            <a:srgbClr val="000000"/>
                          </a:solidFill>
                          <a:effectLst/>
                          <a:latin typeface="+mj-ea"/>
                          <a:ea typeface="+mj-ea"/>
                        </a:rPr>
                        <a:t>학습모듈</a:t>
                      </a:r>
                      <a:r>
                        <a:rPr lang="ko-KR" altLang="en-US" sz="1000" b="0" i="0" u="none" strike="noStrike" dirty="0">
                          <a:solidFill>
                            <a:srgbClr val="000000"/>
                          </a:solidFill>
                          <a:effectLst/>
                          <a:latin typeface="+mj-ea"/>
                          <a:ea typeface="+mj-ea"/>
                        </a:rPr>
                        <a:t>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245818"/>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김인호</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2014 </a:t>
                      </a:r>
                      <a:r>
                        <a:rPr lang="ko-KR" altLang="en-US" sz="1000" b="0" i="0" u="none" strike="noStrike" dirty="0" err="1">
                          <a:solidFill>
                            <a:srgbClr val="000000"/>
                          </a:solidFill>
                          <a:effectLst/>
                          <a:latin typeface="+mj-ea"/>
                          <a:ea typeface="+mj-ea"/>
                        </a:rPr>
                        <a:t>학습모듈</a:t>
                      </a:r>
                      <a:r>
                        <a:rPr lang="ko-KR" altLang="en-US" sz="1000" b="0" i="0" u="none" strike="noStrike" dirty="0">
                          <a:solidFill>
                            <a:srgbClr val="000000"/>
                          </a:solidFill>
                          <a:effectLst/>
                          <a:latin typeface="+mj-ea"/>
                          <a:ea typeface="+mj-ea"/>
                        </a:rPr>
                        <a:t>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신구대학교 교수</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0780316"/>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대전과학기술대학교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7538350"/>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박시훈</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여주농업경영전문학교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498584"/>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이애란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9963100"/>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신상현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신구대학교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974685"/>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김원태</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천암연암대학</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5568271"/>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김대수</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대전과학기술대학교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7866812"/>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김경남</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삼육대학교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4802344"/>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류남형</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경남과학기술대학교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0601430"/>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이현래</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광주중앙고등학교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030024"/>
                  </a:ext>
                </a:extLst>
              </a:tr>
              <a:tr h="156950">
                <a:tc>
                  <a:txBody>
                    <a:bodyPr/>
                    <a:lstStyle/>
                    <a:p>
                      <a:pPr algn="ctr" fontAlgn="ctr"/>
                      <a:r>
                        <a:rPr lang="ko-KR" altLang="en-US" sz="1000" b="0" i="0" u="none" strike="noStrike" dirty="0">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김인호</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자격 재설계 </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건설기계정비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구미대학교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145223"/>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이경호</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자격 재설계 </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건설기계정비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도아전자산업</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320549"/>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이명환</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자격 재설계 </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건설기계정비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한국건설기계정비협회</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746751"/>
                  </a:ext>
                </a:extLst>
              </a:tr>
              <a:tr h="156950">
                <a:tc>
                  <a:txBody>
                    <a:bodyPr/>
                    <a:lstStyle/>
                    <a:p>
                      <a:pPr algn="ctr" fontAlgn="ctr"/>
                      <a:r>
                        <a:rPr lang="ko-KR" altLang="en-US" sz="1000" b="0" i="0" u="none" strike="noStrike" dirty="0">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전성준</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자격 재설계 </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건설기계정비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성우중공업</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주</a:t>
                      </a:r>
                      <a:r>
                        <a:rPr lang="en-US" altLang="ko-KR" sz="1000" b="0" i="0" u="none" strike="noStrike">
                          <a:solidFill>
                            <a:srgbClr val="000000"/>
                          </a:solidFill>
                          <a:effectLst/>
                          <a:latin typeface="+mj-ea"/>
                          <a:ea typeface="+mj-ea"/>
                        </a:rPr>
                        <a:t>)</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6483081"/>
                  </a:ext>
                </a:extLst>
              </a:tr>
              <a:tr h="156950">
                <a:tc>
                  <a:txBody>
                    <a:bodyPr/>
                    <a:lstStyle/>
                    <a:p>
                      <a:pPr algn="ctr" fontAlgn="ctr"/>
                      <a:r>
                        <a:rPr lang="ko-KR" altLang="en-US" sz="1000" b="0" i="0" u="none" strike="noStrike" dirty="0">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김양섭</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자격 재설계 </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건설기계정비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주</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글로벌서비스</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5639099"/>
                  </a:ext>
                </a:extLst>
              </a:tr>
            </a:tbl>
          </a:graphicData>
        </a:graphic>
      </p:graphicFrame>
    </p:spTree>
    <p:extLst>
      <p:ext uri="{BB962C8B-B14F-4D97-AF65-F5344CB8AC3E}">
        <p14:creationId xmlns:p14="http://schemas.microsoft.com/office/powerpoint/2010/main" val="288777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170A7630-93B8-3761-E291-A3A1CE380E5E}"/>
              </a:ext>
            </a:extLst>
          </p:cNvPr>
          <p:cNvGraphicFramePr>
            <a:graphicFrameLocks noGrp="1"/>
          </p:cNvGraphicFramePr>
          <p:nvPr/>
        </p:nvGraphicFramePr>
        <p:xfrm>
          <a:off x="596901" y="2097092"/>
          <a:ext cx="8748714" cy="4488762"/>
        </p:xfrm>
        <a:graphic>
          <a:graphicData uri="http://schemas.openxmlformats.org/drawingml/2006/table">
            <a:tbl>
              <a:tblPr/>
              <a:tblGrid>
                <a:gridCol w="1202073">
                  <a:extLst>
                    <a:ext uri="{9D8B030D-6E8A-4147-A177-3AD203B41FA5}">
                      <a16:colId xmlns:a16="http://schemas.microsoft.com/office/drawing/2014/main" val="3621836528"/>
                    </a:ext>
                  </a:extLst>
                </a:gridCol>
                <a:gridCol w="1968913">
                  <a:extLst>
                    <a:ext uri="{9D8B030D-6E8A-4147-A177-3AD203B41FA5}">
                      <a16:colId xmlns:a16="http://schemas.microsoft.com/office/drawing/2014/main" val="2084581101"/>
                    </a:ext>
                  </a:extLst>
                </a:gridCol>
                <a:gridCol w="590675">
                  <a:extLst>
                    <a:ext uri="{9D8B030D-6E8A-4147-A177-3AD203B41FA5}">
                      <a16:colId xmlns:a16="http://schemas.microsoft.com/office/drawing/2014/main" val="2002495296"/>
                    </a:ext>
                  </a:extLst>
                </a:gridCol>
                <a:gridCol w="2383423">
                  <a:extLst>
                    <a:ext uri="{9D8B030D-6E8A-4147-A177-3AD203B41FA5}">
                      <a16:colId xmlns:a16="http://schemas.microsoft.com/office/drawing/2014/main" val="1170477357"/>
                    </a:ext>
                  </a:extLst>
                </a:gridCol>
                <a:gridCol w="1896376">
                  <a:extLst>
                    <a:ext uri="{9D8B030D-6E8A-4147-A177-3AD203B41FA5}">
                      <a16:colId xmlns:a16="http://schemas.microsoft.com/office/drawing/2014/main" val="2992298086"/>
                    </a:ext>
                  </a:extLst>
                </a:gridCol>
                <a:gridCol w="707254">
                  <a:extLst>
                    <a:ext uri="{9D8B030D-6E8A-4147-A177-3AD203B41FA5}">
                      <a16:colId xmlns:a16="http://schemas.microsoft.com/office/drawing/2014/main" val="345241913"/>
                    </a:ext>
                  </a:extLst>
                </a:gridCol>
              </a:tblGrid>
              <a:tr h="124198">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705453895"/>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비지니스</a:t>
                      </a:r>
                      <a:r>
                        <a:rPr lang="en-US" altLang="ko-KR" sz="1000" b="0" i="0" u="none" strike="noStrike">
                          <a:solidFill>
                            <a:srgbClr val="000000"/>
                          </a:solidFill>
                          <a:effectLst/>
                          <a:latin typeface="+mj-ea"/>
                          <a:ea typeface="+mj-ea"/>
                        </a:rPr>
                        <a:t>IT</a:t>
                      </a:r>
                      <a:r>
                        <a:rPr lang="ko-KR" altLang="en-US" sz="1000" b="0" i="0" u="none" strike="noStrike">
                          <a:solidFill>
                            <a:srgbClr val="000000"/>
                          </a:solidFill>
                          <a:effectLst/>
                          <a:latin typeface="+mj-ea"/>
                          <a:ea typeface="+mj-ea"/>
                        </a:rPr>
                        <a:t>컨설팅</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류갑상</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동신대학교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296680"/>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비지니스</a:t>
                      </a:r>
                      <a:r>
                        <a:rPr lang="en-US" altLang="ko-KR" sz="1000" b="0" i="0" u="none" strike="noStrike">
                          <a:solidFill>
                            <a:srgbClr val="000000"/>
                          </a:solidFill>
                          <a:effectLst/>
                          <a:latin typeface="+mj-ea"/>
                          <a:ea typeface="+mj-ea"/>
                        </a:rPr>
                        <a:t>IT</a:t>
                      </a:r>
                      <a:r>
                        <a:rPr lang="ko-KR" altLang="en-US" sz="1000" b="0" i="0" u="none" strike="noStrike">
                          <a:solidFill>
                            <a:srgbClr val="000000"/>
                          </a:solidFill>
                          <a:effectLst/>
                          <a:latin typeface="+mj-ea"/>
                          <a:ea typeface="+mj-ea"/>
                        </a:rPr>
                        <a:t>컨설팅</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남상엽</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국제대학교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9749473"/>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비지니스</a:t>
                      </a:r>
                      <a:r>
                        <a:rPr lang="en-US" altLang="ko-KR" sz="1000" b="0" i="0" u="none" strike="noStrike" dirty="0">
                          <a:solidFill>
                            <a:srgbClr val="000000"/>
                          </a:solidFill>
                          <a:effectLst/>
                          <a:latin typeface="+mj-ea"/>
                          <a:ea typeface="+mj-ea"/>
                        </a:rPr>
                        <a:t>IT</a:t>
                      </a:r>
                      <a:r>
                        <a:rPr lang="ko-KR" altLang="en-US" sz="1000" b="0" i="0" u="none" strike="noStrike" dirty="0">
                          <a:solidFill>
                            <a:srgbClr val="000000"/>
                          </a:solidFill>
                          <a:effectLst/>
                          <a:latin typeface="+mj-ea"/>
                          <a:ea typeface="+mj-ea"/>
                        </a:rPr>
                        <a:t>컨설팅</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김종배</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숭실대학교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9199925"/>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비니지스</a:t>
                      </a:r>
                      <a:r>
                        <a:rPr lang="en-US" altLang="ko-KR" sz="1000" b="0" i="0" u="none" strike="noStrike">
                          <a:solidFill>
                            <a:srgbClr val="000000"/>
                          </a:solidFill>
                          <a:effectLst/>
                          <a:latin typeface="+mj-ea"/>
                          <a:ea typeface="+mj-ea"/>
                        </a:rPr>
                        <a:t>IT</a:t>
                      </a:r>
                      <a:r>
                        <a:rPr lang="ko-KR" altLang="en-US" sz="1000" b="0" i="0" u="none" strike="noStrike">
                          <a:solidFill>
                            <a:srgbClr val="000000"/>
                          </a:solidFill>
                          <a:effectLst/>
                          <a:latin typeface="+mj-ea"/>
                          <a:ea typeface="+mj-ea"/>
                        </a:rPr>
                        <a:t>기획</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이상회</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동서울대학교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1404686"/>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비니지스</a:t>
                      </a:r>
                      <a:r>
                        <a:rPr lang="en-US" altLang="ko-KR" sz="1000" b="0" i="0" u="none" strike="noStrike" dirty="0">
                          <a:solidFill>
                            <a:srgbClr val="000000"/>
                          </a:solidFill>
                          <a:effectLst/>
                          <a:latin typeface="+mj-ea"/>
                          <a:ea typeface="+mj-ea"/>
                        </a:rPr>
                        <a:t>IT</a:t>
                      </a:r>
                      <a:r>
                        <a:rPr lang="ko-KR" altLang="en-US" sz="1000" b="0" i="0" u="none" strike="noStrike" dirty="0">
                          <a:solidFill>
                            <a:srgbClr val="000000"/>
                          </a:solidFill>
                          <a:effectLst/>
                          <a:latin typeface="+mj-ea"/>
                          <a:ea typeface="+mj-ea"/>
                        </a:rPr>
                        <a:t>기획</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김국보</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대진대학교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7439457"/>
                  </a:ext>
                </a:extLst>
              </a:tr>
              <a:tr h="124198">
                <a:tc>
                  <a:txBody>
                    <a:bodyPr/>
                    <a:lstStyle/>
                    <a:p>
                      <a:pPr algn="ctr" fontAlgn="ctr"/>
                      <a:r>
                        <a:rPr lang="ko-KR" altLang="en-US" sz="1000" b="0" i="0" u="none" strike="noStrike" dirty="0">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SW</a:t>
                      </a:r>
                      <a:r>
                        <a:rPr lang="ko-KR" altLang="en-US" sz="1000" b="0" i="0" u="none" strike="noStrike">
                          <a:solidFill>
                            <a:srgbClr val="000000"/>
                          </a:solidFill>
                          <a:effectLst/>
                          <a:latin typeface="+mj-ea"/>
                          <a:ea typeface="+mj-ea"/>
                        </a:rPr>
                        <a:t>제품기획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박종진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청운대학교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5318626"/>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SW</a:t>
                      </a:r>
                      <a:r>
                        <a:rPr lang="ko-KR" altLang="en-US" sz="1000" b="0" i="0" u="none" strike="noStrike">
                          <a:solidFill>
                            <a:srgbClr val="000000"/>
                          </a:solidFill>
                          <a:effectLst/>
                          <a:latin typeface="+mj-ea"/>
                          <a:ea typeface="+mj-ea"/>
                        </a:rPr>
                        <a:t>제품기획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강지성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성남금융고등학교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220437"/>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SW</a:t>
                      </a:r>
                      <a:r>
                        <a:rPr lang="ko-KR" altLang="en-US" sz="1000" b="0" i="0" u="none" strike="noStrike">
                          <a:solidFill>
                            <a:srgbClr val="000000"/>
                          </a:solidFill>
                          <a:effectLst/>
                          <a:latin typeface="+mj-ea"/>
                          <a:ea typeface="+mj-ea"/>
                        </a:rPr>
                        <a:t>제품기획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이형규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한국정보통신기능대학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071160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비니지스</a:t>
                      </a:r>
                      <a:r>
                        <a:rPr lang="en-US" altLang="ko-KR" sz="1000" b="0" i="0" u="none" strike="noStrike">
                          <a:solidFill>
                            <a:srgbClr val="000000"/>
                          </a:solidFill>
                          <a:effectLst/>
                          <a:latin typeface="+mj-ea"/>
                          <a:ea typeface="+mj-ea"/>
                        </a:rPr>
                        <a:t>IT</a:t>
                      </a:r>
                      <a:r>
                        <a:rPr lang="ko-KR" altLang="en-US" sz="1000" b="0" i="0" u="none" strike="noStrike">
                          <a:solidFill>
                            <a:srgbClr val="000000"/>
                          </a:solidFill>
                          <a:effectLst/>
                          <a:latin typeface="+mj-ea"/>
                          <a:ea typeface="+mj-ea"/>
                        </a:rPr>
                        <a:t>기획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허태성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인하공업전문대학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8438361"/>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교환시스템구축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김호림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문학정보고등학교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5811791"/>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교환시스템구축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이종대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6183043"/>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교환시스템구축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기창진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남서울대학교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2597953"/>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구내통신구축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신수현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한국산업기술대학교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73404"/>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구내통신구축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조영진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청학공업고등학교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1699874"/>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구내통신구축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노희정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김포대학교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8332720"/>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네트워크구축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최천영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인천전자마이스터 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00105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네트워크구축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양현호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773943"/>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네트워크구축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이하철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9641631"/>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부가네트워크서비스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김우성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5146831"/>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부가네트워크서비스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이시현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동서울대학교</a:t>
                      </a: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부교수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466181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부가네트워크서비스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안재공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인천전자마이스터</a:t>
                      </a:r>
                      <a:r>
                        <a:rPr lang="ko-KR" altLang="en-US" sz="1000" b="0" i="0" u="none" strike="noStrike" dirty="0">
                          <a:solidFill>
                            <a:srgbClr val="000000"/>
                          </a:solidFill>
                          <a:effectLst/>
                          <a:latin typeface="+mj-ea"/>
                          <a:ea typeface="+mj-ea"/>
                        </a:rPr>
                        <a:t> 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90670"/>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콘텐츠사용자서비스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권오복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국제대학교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447044"/>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콘텐츠사용자서비스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방기천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남서울대학교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520728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콘텐츠사용자서비스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강인필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인천전자마이스터고등학교</a:t>
                      </a: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242393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박상선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인천전자마이스터고</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869715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오정균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한국정보통신기능대학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6342309"/>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남서울대학교</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1294884"/>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멀티미디어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최창수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법무부 청주교도소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7326176"/>
                  </a:ext>
                </a:extLst>
              </a:tr>
            </a:tbl>
          </a:graphicData>
        </a:graphic>
      </p:graphicFrame>
    </p:spTree>
    <p:extLst>
      <p:ext uri="{BB962C8B-B14F-4D97-AF65-F5344CB8AC3E}">
        <p14:creationId xmlns:p14="http://schemas.microsoft.com/office/powerpoint/2010/main" val="895092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3F39E3ED-A21A-7A7C-EE6D-E2F8BEC432AC}"/>
              </a:ext>
            </a:extLst>
          </p:cNvPr>
          <p:cNvGraphicFramePr>
            <a:graphicFrameLocks noGrp="1"/>
          </p:cNvGraphicFramePr>
          <p:nvPr/>
        </p:nvGraphicFramePr>
        <p:xfrm>
          <a:off x="596900" y="2097089"/>
          <a:ext cx="8747786" cy="4392616"/>
        </p:xfrm>
        <a:graphic>
          <a:graphicData uri="http://schemas.openxmlformats.org/drawingml/2006/table">
            <a:tbl>
              <a:tblPr/>
              <a:tblGrid>
                <a:gridCol w="1201946">
                  <a:extLst>
                    <a:ext uri="{9D8B030D-6E8A-4147-A177-3AD203B41FA5}">
                      <a16:colId xmlns:a16="http://schemas.microsoft.com/office/drawing/2014/main" val="2015412140"/>
                    </a:ext>
                  </a:extLst>
                </a:gridCol>
                <a:gridCol w="1968705">
                  <a:extLst>
                    <a:ext uri="{9D8B030D-6E8A-4147-A177-3AD203B41FA5}">
                      <a16:colId xmlns:a16="http://schemas.microsoft.com/office/drawing/2014/main" val="11787329"/>
                    </a:ext>
                  </a:extLst>
                </a:gridCol>
                <a:gridCol w="590612">
                  <a:extLst>
                    <a:ext uri="{9D8B030D-6E8A-4147-A177-3AD203B41FA5}">
                      <a16:colId xmlns:a16="http://schemas.microsoft.com/office/drawing/2014/main" val="2445135479"/>
                    </a:ext>
                  </a:extLst>
                </a:gridCol>
                <a:gridCol w="2383169">
                  <a:extLst>
                    <a:ext uri="{9D8B030D-6E8A-4147-A177-3AD203B41FA5}">
                      <a16:colId xmlns:a16="http://schemas.microsoft.com/office/drawing/2014/main" val="387712775"/>
                    </a:ext>
                  </a:extLst>
                </a:gridCol>
                <a:gridCol w="1896175">
                  <a:extLst>
                    <a:ext uri="{9D8B030D-6E8A-4147-A177-3AD203B41FA5}">
                      <a16:colId xmlns:a16="http://schemas.microsoft.com/office/drawing/2014/main" val="3049737279"/>
                    </a:ext>
                  </a:extLst>
                </a:gridCol>
                <a:gridCol w="707179">
                  <a:extLst>
                    <a:ext uri="{9D8B030D-6E8A-4147-A177-3AD203B41FA5}">
                      <a16:colId xmlns:a16="http://schemas.microsoft.com/office/drawing/2014/main" val="518806324"/>
                    </a:ext>
                  </a:extLst>
                </a:gridCol>
              </a:tblGrid>
              <a:tr h="156922">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817425184"/>
                  </a:ext>
                </a:extLst>
              </a:tr>
              <a:tr h="156922">
                <a:tc>
                  <a:txBody>
                    <a:bodyPr/>
                    <a:lstStyle/>
                    <a:p>
                      <a:pPr algn="ctr" fontAlgn="ctr"/>
                      <a:r>
                        <a:rPr lang="ko-KR" altLang="en-US" sz="1000" b="0" i="0" u="none" strike="noStrike" dirty="0">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멀티미디어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안형락</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경북산업직업전문학교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59839"/>
                  </a:ext>
                </a:extLst>
              </a:tr>
              <a:tr h="156522">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정보기술전략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이문구</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김포대학교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266567"/>
                  </a:ext>
                </a:extLst>
              </a:tr>
              <a:tr h="156522">
                <a:tc>
                  <a:txBody>
                    <a:bodyPr/>
                    <a:lstStyle/>
                    <a:p>
                      <a:pPr algn="ctr" fontAlgn="ctr"/>
                      <a:r>
                        <a:rPr lang="ko-KR" altLang="en-US" sz="1000" b="0" i="0" u="none" strike="noStrike">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정보기술전략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김태달</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청운대학교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8374276"/>
                  </a:ext>
                </a:extLst>
              </a:tr>
              <a:tr h="156522">
                <a:tc>
                  <a:txBody>
                    <a:bodyPr/>
                    <a:lstStyle/>
                    <a:p>
                      <a:pPr algn="ctr" fontAlgn="ctr"/>
                      <a:r>
                        <a:rPr lang="ko-KR" altLang="en-US" sz="1000" b="0" i="0" u="none" strike="noStrike">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정보기술전략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이태동</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국제대학교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3688236"/>
                  </a:ext>
                </a:extLst>
              </a:tr>
              <a:tr h="156922">
                <a:tc>
                  <a:txBody>
                    <a:bodyPr/>
                    <a:lstStyle/>
                    <a:p>
                      <a:pPr algn="ctr" fontAlgn="ctr"/>
                      <a:r>
                        <a:rPr lang="ko-KR" altLang="en-US" sz="1000" b="0" i="0" u="none" strike="noStrike" dirty="0">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멀티미디어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박광동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15 </a:t>
                      </a:r>
                      <a:r>
                        <a:rPr lang="ko-KR" altLang="en-US" sz="1000" b="0" i="0" u="none" strike="noStrike" dirty="0">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ICT</a:t>
                      </a:r>
                      <a:r>
                        <a:rPr lang="ko-KR" altLang="en-US" sz="1000" b="0" i="0" u="none" strike="noStrike">
                          <a:solidFill>
                            <a:srgbClr val="000000"/>
                          </a:solidFill>
                          <a:effectLst/>
                          <a:latin typeface="+mj-ea"/>
                          <a:ea typeface="+mj-ea"/>
                        </a:rPr>
                        <a:t>폴리텍대학 일학습공동훈련센터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9394548"/>
                  </a:ext>
                </a:extLst>
              </a:tr>
              <a:tr h="156922">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멀티미디어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고현정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경원직업전문학교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2259053"/>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용인송담대학교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5619320"/>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이도걸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한국전기안전공사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072837"/>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이종현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수도공업고등학교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7914678"/>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이태우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수원과학기술대학교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9796239"/>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이철직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322434"/>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황동식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교무기획부장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7581921"/>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임성훈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숭실대학교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4098046"/>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수도전기공업고등학교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1493457"/>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이근준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충북도립대학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046241"/>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이태우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8497283"/>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한석우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938939"/>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김세동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두원공과대학교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414983"/>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이기우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서울도시과학기술고등학교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2803628"/>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임동학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대한상공회의소 충북인력개발원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6611632"/>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최용준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경기남부직업전문학교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2771751"/>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윤동업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 구미캠퍼스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9597209"/>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신호보안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임철호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 보유 </a:t>
                      </a:r>
                      <a:r>
                        <a:rPr lang="en-US" altLang="ko-KR" sz="1000" b="0" i="0" u="none" strike="noStrike">
                          <a:solidFill>
                            <a:srgbClr val="000000"/>
                          </a:solidFill>
                          <a:effectLst/>
                          <a:latin typeface="+mj-ea"/>
                          <a:ea typeface="+mj-ea"/>
                        </a:rPr>
                        <a:t>+ 7</a:t>
                      </a:r>
                      <a:r>
                        <a:rPr lang="ko-KR" altLang="en-US" sz="1000" b="0" i="0" u="none" strike="noStrike">
                          <a:solidFill>
                            <a:srgbClr val="000000"/>
                          </a:solidFill>
                          <a:effectLst/>
                          <a:latin typeface="+mj-ea"/>
                          <a:ea typeface="+mj-ea"/>
                        </a:rPr>
                        <a:t>년이하 경력</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재</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한국전기직업전문학교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2144590"/>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송민규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공군교육사정보통신학교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280701"/>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남성열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한울직업전문학교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4923879"/>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박광동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ICT</a:t>
                      </a:r>
                      <a:r>
                        <a:rPr lang="ko-KR" altLang="en-US" sz="1000" b="0" i="0" u="none" strike="noStrike">
                          <a:solidFill>
                            <a:srgbClr val="000000"/>
                          </a:solidFill>
                          <a:effectLst/>
                          <a:latin typeface="+mj-ea"/>
                          <a:ea typeface="+mj-ea"/>
                        </a:rPr>
                        <a:t>폴리텍대학 일학습공동훈련센터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374905"/>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한준수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해당 훈련교사 자격 보유 </a:t>
                      </a:r>
                      <a:r>
                        <a:rPr lang="en-US" altLang="ko-KR" sz="1000" b="0" i="0" u="none" strike="noStrike" dirty="0">
                          <a:solidFill>
                            <a:srgbClr val="000000"/>
                          </a:solidFill>
                          <a:effectLst/>
                          <a:latin typeface="+mj-ea"/>
                          <a:ea typeface="+mj-ea"/>
                        </a:rPr>
                        <a:t>+ 7</a:t>
                      </a:r>
                      <a:r>
                        <a:rPr lang="ko-KR" altLang="en-US" sz="1000" b="0" i="0" u="none" strike="noStrike" dirty="0" err="1">
                          <a:solidFill>
                            <a:srgbClr val="000000"/>
                          </a:solidFill>
                          <a:effectLst/>
                          <a:latin typeface="+mj-ea"/>
                          <a:ea typeface="+mj-ea"/>
                        </a:rPr>
                        <a:t>년이하</a:t>
                      </a:r>
                      <a:r>
                        <a:rPr lang="ko-KR" altLang="en-US" sz="1000" b="0" i="0" u="none" strike="noStrike" dirty="0">
                          <a:solidFill>
                            <a:srgbClr val="000000"/>
                          </a:solidFill>
                          <a:effectLst/>
                          <a:latin typeface="+mj-ea"/>
                          <a:ea typeface="+mj-ea"/>
                        </a:rPr>
                        <a:t> 경력</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대한상공회의소 충북인력개발원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391791"/>
                  </a:ext>
                </a:extLst>
              </a:tr>
            </a:tbl>
          </a:graphicData>
        </a:graphic>
      </p:graphicFrame>
    </p:spTree>
    <p:extLst>
      <p:ext uri="{BB962C8B-B14F-4D97-AF65-F5344CB8AC3E}">
        <p14:creationId xmlns:p14="http://schemas.microsoft.com/office/powerpoint/2010/main" val="379104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C533D213-BE0C-BFBE-D817-8F20BB8567BC}"/>
              </a:ext>
            </a:extLst>
          </p:cNvPr>
          <p:cNvGraphicFramePr>
            <a:graphicFrameLocks noGrp="1"/>
          </p:cNvGraphicFramePr>
          <p:nvPr/>
        </p:nvGraphicFramePr>
        <p:xfrm>
          <a:off x="596900" y="2097088"/>
          <a:ext cx="8747788" cy="4486822"/>
        </p:xfrm>
        <a:graphic>
          <a:graphicData uri="http://schemas.openxmlformats.org/drawingml/2006/table">
            <a:tbl>
              <a:tblPr/>
              <a:tblGrid>
                <a:gridCol w="1201947">
                  <a:extLst>
                    <a:ext uri="{9D8B030D-6E8A-4147-A177-3AD203B41FA5}">
                      <a16:colId xmlns:a16="http://schemas.microsoft.com/office/drawing/2014/main" val="2478184732"/>
                    </a:ext>
                  </a:extLst>
                </a:gridCol>
                <a:gridCol w="1968705">
                  <a:extLst>
                    <a:ext uri="{9D8B030D-6E8A-4147-A177-3AD203B41FA5}">
                      <a16:colId xmlns:a16="http://schemas.microsoft.com/office/drawing/2014/main" val="1135701521"/>
                    </a:ext>
                  </a:extLst>
                </a:gridCol>
                <a:gridCol w="590612">
                  <a:extLst>
                    <a:ext uri="{9D8B030D-6E8A-4147-A177-3AD203B41FA5}">
                      <a16:colId xmlns:a16="http://schemas.microsoft.com/office/drawing/2014/main" val="1779176813"/>
                    </a:ext>
                  </a:extLst>
                </a:gridCol>
                <a:gridCol w="2383169">
                  <a:extLst>
                    <a:ext uri="{9D8B030D-6E8A-4147-A177-3AD203B41FA5}">
                      <a16:colId xmlns:a16="http://schemas.microsoft.com/office/drawing/2014/main" val="3953242443"/>
                    </a:ext>
                  </a:extLst>
                </a:gridCol>
                <a:gridCol w="1896175">
                  <a:extLst>
                    <a:ext uri="{9D8B030D-6E8A-4147-A177-3AD203B41FA5}">
                      <a16:colId xmlns:a16="http://schemas.microsoft.com/office/drawing/2014/main" val="972696091"/>
                    </a:ext>
                  </a:extLst>
                </a:gridCol>
                <a:gridCol w="707180">
                  <a:extLst>
                    <a:ext uri="{9D8B030D-6E8A-4147-A177-3AD203B41FA5}">
                      <a16:colId xmlns:a16="http://schemas.microsoft.com/office/drawing/2014/main" val="348159948"/>
                    </a:ext>
                  </a:extLst>
                </a:gridCol>
              </a:tblGrid>
              <a:tr h="96182">
                <a:tc>
                  <a:txBody>
                    <a:bodyPr/>
                    <a:lstStyle/>
                    <a:p>
                      <a:pPr algn="ctr" fontAlgn="ctr"/>
                      <a:r>
                        <a:rPr lang="ko-KR" altLang="en-US" sz="1000" b="1" i="0" u="none" strike="noStrike" dirty="0">
                          <a:solidFill>
                            <a:schemeClr val="bg1"/>
                          </a:solidFill>
                          <a:effectLst/>
                          <a:latin typeface="+mj-ea"/>
                          <a:ea typeface="+mj-ea"/>
                        </a:rPr>
                        <a:t>분야</a:t>
                      </a:r>
                    </a:p>
                  </a:txBody>
                  <a:tcPr marL="2308" marR="2308" marT="2308"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308" marR="2308" marT="2308"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308" marR="2308" marT="2308"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308" marR="2308" marT="2308"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308" marR="2308" marT="2308"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308" marR="2308" marT="2308"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25867725"/>
                  </a:ext>
                </a:extLst>
              </a:tr>
              <a:tr h="96272">
                <a:tc>
                  <a:txBody>
                    <a:bodyPr/>
                    <a:lstStyle/>
                    <a:p>
                      <a:pPr algn="ctr" fontAlgn="ctr"/>
                      <a:r>
                        <a:rPr lang="ko-KR" altLang="en-US" sz="1000" b="0" i="0" u="none" strike="noStrike" dirty="0">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남성열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한울직업전문학교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1766556"/>
                  </a:ext>
                </a:extLst>
              </a:tr>
              <a:tr h="96272">
                <a:tc>
                  <a:txBody>
                    <a:bodyPr/>
                    <a:lstStyle/>
                    <a:p>
                      <a:pPr algn="ctr" fontAlgn="ctr"/>
                      <a:r>
                        <a:rPr lang="ko-KR" altLang="en-US" sz="1000" b="0" i="0" u="none" strike="noStrike" dirty="0">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전자부품제조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박용철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해당 훈련교사 자격 보유 </a:t>
                      </a:r>
                      <a:r>
                        <a:rPr lang="en-US" altLang="ko-KR" sz="1000" b="0" i="0" u="none" strike="noStrike" dirty="0">
                          <a:solidFill>
                            <a:srgbClr val="000000"/>
                          </a:solidFill>
                          <a:effectLst/>
                          <a:latin typeface="+mj-ea"/>
                          <a:ea typeface="+mj-ea"/>
                        </a:rPr>
                        <a:t>+ 7</a:t>
                      </a:r>
                      <a:r>
                        <a:rPr lang="ko-KR" altLang="en-US" sz="1000" b="0" i="0" u="none" strike="noStrike" dirty="0" err="1">
                          <a:solidFill>
                            <a:srgbClr val="000000"/>
                          </a:solidFill>
                          <a:effectLst/>
                          <a:latin typeface="+mj-ea"/>
                          <a:ea typeface="+mj-ea"/>
                        </a:rPr>
                        <a:t>년이하</a:t>
                      </a:r>
                      <a:r>
                        <a:rPr lang="ko-KR" altLang="en-US" sz="1000" b="0" i="0" u="none" strike="noStrike" dirty="0">
                          <a:solidFill>
                            <a:srgbClr val="000000"/>
                          </a:solidFill>
                          <a:effectLst/>
                          <a:latin typeface="+mj-ea"/>
                          <a:ea typeface="+mj-ea"/>
                        </a:rPr>
                        <a:t> 경력</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한국산업연수원충북직업전문학교</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주</a:t>
                      </a:r>
                      <a:r>
                        <a:rPr lang="en-US" altLang="ko-KR" sz="1000" b="0" i="0" u="none" strike="noStrike" dirty="0">
                          <a:solidFill>
                            <a:srgbClr val="000000"/>
                          </a:solidFill>
                          <a:effectLst/>
                          <a:latin typeface="+mj-ea"/>
                          <a:ea typeface="+mj-ea"/>
                        </a:rPr>
                        <a: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1009708"/>
                  </a:ext>
                </a:extLst>
              </a:tr>
              <a:tr h="96182">
                <a:tc>
                  <a:txBody>
                    <a:bodyPr/>
                    <a:lstStyle/>
                    <a:p>
                      <a:pPr algn="ctr" fontAlgn="ctr"/>
                      <a:r>
                        <a:rPr lang="ko-KR" altLang="en-US" sz="1000" b="0" i="0" u="none" strike="noStrike">
                          <a:solidFill>
                            <a:srgbClr val="000000"/>
                          </a:solidFill>
                          <a:effectLst/>
                          <a:latin typeface="+mj-ea"/>
                          <a:ea typeface="+mj-ea"/>
                        </a:rPr>
                        <a:t>전기전자</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전자부품제조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최수진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 보유 </a:t>
                      </a:r>
                      <a:r>
                        <a:rPr lang="en-US" altLang="ko-KR" sz="1000" b="0" i="0" u="none" strike="noStrike">
                          <a:solidFill>
                            <a:srgbClr val="000000"/>
                          </a:solidFill>
                          <a:effectLst/>
                          <a:latin typeface="+mj-ea"/>
                          <a:ea typeface="+mj-ea"/>
                        </a:rPr>
                        <a:t>+ 7</a:t>
                      </a:r>
                      <a:r>
                        <a:rPr lang="ko-KR" altLang="en-US" sz="1000" b="0" i="0" u="none" strike="noStrike">
                          <a:solidFill>
                            <a:srgbClr val="000000"/>
                          </a:solidFill>
                          <a:effectLst/>
                          <a:latin typeface="+mj-ea"/>
                          <a:ea typeface="+mj-ea"/>
                        </a:rPr>
                        <a:t>년이하 경력</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제일전기직업전문학교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1990948"/>
                  </a:ext>
                </a:extLst>
              </a:tr>
              <a:tr h="120020">
                <a:tc>
                  <a:txBody>
                    <a:bodyPr/>
                    <a:lstStyle/>
                    <a:p>
                      <a:pPr algn="ctr" fontAlgn="ctr"/>
                      <a:r>
                        <a:rPr lang="ko-KR" altLang="en-US" sz="1000" b="0" i="0" u="none" strike="noStrike" dirty="0">
                          <a:solidFill>
                            <a:srgbClr val="000000"/>
                          </a:solidFill>
                          <a:effectLst/>
                          <a:latin typeface="+mj-ea"/>
                          <a:ea typeface="+mj-ea"/>
                        </a:rPr>
                        <a:t>전기전자</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전자부품제조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이정윤</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해당 훈련교사 자격 보유 </a:t>
                      </a:r>
                      <a:r>
                        <a:rPr lang="en-US" altLang="ko-KR" sz="1000" b="0" i="0" u="none" strike="noStrike" dirty="0">
                          <a:solidFill>
                            <a:srgbClr val="000000"/>
                          </a:solidFill>
                          <a:effectLst/>
                          <a:latin typeface="+mj-ea"/>
                          <a:ea typeface="+mj-ea"/>
                        </a:rPr>
                        <a:t>+ 7</a:t>
                      </a:r>
                      <a:r>
                        <a:rPr lang="ko-KR" altLang="en-US" sz="1000" b="0" i="0" u="none" strike="noStrike" dirty="0" err="1">
                          <a:solidFill>
                            <a:srgbClr val="000000"/>
                          </a:solidFill>
                          <a:effectLst/>
                          <a:latin typeface="+mj-ea"/>
                          <a:ea typeface="+mj-ea"/>
                        </a:rPr>
                        <a:t>년이하</a:t>
                      </a:r>
                      <a:r>
                        <a:rPr lang="ko-KR" altLang="en-US" sz="1000" b="0" i="0" u="none" strike="noStrike" dirty="0">
                          <a:solidFill>
                            <a:srgbClr val="000000"/>
                          </a:solidFill>
                          <a:effectLst/>
                          <a:latin typeface="+mj-ea"/>
                          <a:ea typeface="+mj-ea"/>
                        </a:rPr>
                        <a:t> 경력</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광컴직업전문학교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2640915"/>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신성대학교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001698"/>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박상식</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포항제철공업고등학교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8927"/>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김흥식</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신성대학교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317076"/>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박석우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합덕제철고등학교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4595503"/>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전우안</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미래창조아카데미</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5945058"/>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정균호</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애림직업전문학교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4822120"/>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권효덕</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제일에너지교육원종로학원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1042260"/>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김태집</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재</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이찬 경남직업전문학교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425938"/>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화학공정설계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양대륙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고려대학교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0002624"/>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화학공정설계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설혁</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여수석유화학고등학교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5314068"/>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김양기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한남대학교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814432"/>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우부곤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회명산업</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기술연구원장</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046891"/>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이윤우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4677320"/>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정영미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8996131"/>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이건중</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여수석유화학고등학교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1704215"/>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화학공정유지운영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조대범</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안산공업고등학교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241310"/>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화학공정유지운영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이한민</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강서공업고등학교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3509113"/>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최성업</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a:t>
                      </a:r>
                      <a:r>
                        <a:rPr lang="ko-KR" altLang="en-US" sz="1000" b="0" i="0" u="none" strike="noStrike">
                          <a:solidFill>
                            <a:srgbClr val="000000"/>
                          </a:solidFill>
                          <a:effectLst/>
                          <a:latin typeface="+mj-ea"/>
                          <a:ea typeface="+mj-ea"/>
                        </a:rPr>
                        <a:t>개발</a:t>
                      </a:r>
                      <a:r>
                        <a:rPr lang="en-US" altLang="ko-KR" sz="1000" b="0" i="0" u="none" strike="noStrike">
                          <a:solidFill>
                            <a:srgbClr val="000000"/>
                          </a:solidFill>
                          <a:effectLst/>
                          <a:latin typeface="+mj-ea"/>
                          <a:ea typeface="+mj-ea"/>
                        </a:rPr>
                        <a:t>/ISC </a:t>
                      </a:r>
                      <a:r>
                        <a:rPr lang="ko-KR" altLang="en-US" sz="1000" b="0" i="0" u="none" strike="noStrike">
                          <a:solidFill>
                            <a:srgbClr val="000000"/>
                          </a:solidFill>
                          <a:effectLst/>
                          <a:latin typeface="+mj-ea"/>
                          <a:ea typeface="+mj-ea"/>
                        </a:rPr>
                        <a:t>또는 협회 추천</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동남보건대학교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9652133"/>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석유화학제품제조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류진형</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의정부공업고등학교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6330227"/>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석유화학제품제조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송하길</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여수석유화학고등학교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수석교사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5670816"/>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이준식</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sk</a:t>
                      </a:r>
                      <a:r>
                        <a:rPr lang="ko-KR" altLang="en-US" sz="1000" b="0" i="0" u="none" strike="noStrike">
                          <a:solidFill>
                            <a:srgbClr val="000000"/>
                          </a:solidFill>
                          <a:effectLst/>
                          <a:latin typeface="+mj-ea"/>
                          <a:ea typeface="+mj-ea"/>
                        </a:rPr>
                        <a:t>이노베이션</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수석연구원</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8755129"/>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류종우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S-Oil</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연구원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3818301"/>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김영무</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안양공업고등학교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6212062"/>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김경현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일산고등학교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581272"/>
                  </a:ext>
                </a:extLst>
              </a:tr>
            </a:tbl>
          </a:graphicData>
        </a:graphic>
      </p:graphicFrame>
    </p:spTree>
    <p:extLst>
      <p:ext uri="{BB962C8B-B14F-4D97-AF65-F5344CB8AC3E}">
        <p14:creationId xmlns:p14="http://schemas.microsoft.com/office/powerpoint/2010/main" val="28771611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575F04A3-145E-E24A-62C6-A6E163D0CF56}"/>
              </a:ext>
            </a:extLst>
          </p:cNvPr>
          <p:cNvGraphicFramePr>
            <a:graphicFrameLocks noGrp="1"/>
          </p:cNvGraphicFramePr>
          <p:nvPr/>
        </p:nvGraphicFramePr>
        <p:xfrm>
          <a:off x="596901" y="2097088"/>
          <a:ext cx="8748714" cy="4392622"/>
        </p:xfrm>
        <a:graphic>
          <a:graphicData uri="http://schemas.openxmlformats.org/drawingml/2006/table">
            <a:tbl>
              <a:tblPr/>
              <a:tblGrid>
                <a:gridCol w="1202073">
                  <a:extLst>
                    <a:ext uri="{9D8B030D-6E8A-4147-A177-3AD203B41FA5}">
                      <a16:colId xmlns:a16="http://schemas.microsoft.com/office/drawing/2014/main" val="3921443366"/>
                    </a:ext>
                  </a:extLst>
                </a:gridCol>
                <a:gridCol w="1968913">
                  <a:extLst>
                    <a:ext uri="{9D8B030D-6E8A-4147-A177-3AD203B41FA5}">
                      <a16:colId xmlns:a16="http://schemas.microsoft.com/office/drawing/2014/main" val="835934471"/>
                    </a:ext>
                  </a:extLst>
                </a:gridCol>
                <a:gridCol w="590675">
                  <a:extLst>
                    <a:ext uri="{9D8B030D-6E8A-4147-A177-3AD203B41FA5}">
                      <a16:colId xmlns:a16="http://schemas.microsoft.com/office/drawing/2014/main" val="815018139"/>
                    </a:ext>
                  </a:extLst>
                </a:gridCol>
                <a:gridCol w="2383423">
                  <a:extLst>
                    <a:ext uri="{9D8B030D-6E8A-4147-A177-3AD203B41FA5}">
                      <a16:colId xmlns:a16="http://schemas.microsoft.com/office/drawing/2014/main" val="1212131680"/>
                    </a:ext>
                  </a:extLst>
                </a:gridCol>
                <a:gridCol w="1896376">
                  <a:extLst>
                    <a:ext uri="{9D8B030D-6E8A-4147-A177-3AD203B41FA5}">
                      <a16:colId xmlns:a16="http://schemas.microsoft.com/office/drawing/2014/main" val="1710393753"/>
                    </a:ext>
                  </a:extLst>
                </a:gridCol>
                <a:gridCol w="707254">
                  <a:extLst>
                    <a:ext uri="{9D8B030D-6E8A-4147-A177-3AD203B41FA5}">
                      <a16:colId xmlns:a16="http://schemas.microsoft.com/office/drawing/2014/main" val="1479888813"/>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216540913"/>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합성수지제조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안항일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049547"/>
                  </a:ext>
                </a:extLst>
              </a:tr>
              <a:tr h="168947">
                <a:tc>
                  <a:txBody>
                    <a:bodyPr/>
                    <a:lstStyle/>
                    <a:p>
                      <a:pPr algn="ctr" fontAlgn="ctr"/>
                      <a:r>
                        <a:rPr lang="ko-KR" altLang="en-US" sz="1000" b="0" i="0" u="none" strike="noStrike" dirty="0" err="1">
                          <a:solidFill>
                            <a:srgbClr val="000000"/>
                          </a:solidFill>
                          <a:effectLst/>
                          <a:latin typeface="+mj-ea"/>
                          <a:ea typeface="+mj-ea"/>
                        </a:rPr>
                        <a:t>화학바이오</a:t>
                      </a:r>
                      <a:endParaRPr lang="ko-KR" altLang="en-US" sz="1000" b="0" i="0" u="none" strike="noStrike" dirty="0">
                        <a:solidFill>
                          <a:srgbClr val="000000"/>
                        </a:solidFill>
                        <a:effectLst/>
                        <a:latin typeface="+mj-ea"/>
                        <a:ea typeface="+mj-ea"/>
                      </a:endParaRP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고분자복합재료제조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정상준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a:t>
                      </a:r>
                      <a:r>
                        <a:rPr lang="en-US" altLang="ko-KR" sz="1000" b="0" i="0" u="none" strike="noStrike">
                          <a:solidFill>
                            <a:srgbClr val="000000"/>
                          </a:solidFill>
                          <a:effectLst/>
                          <a:latin typeface="+mj-ea"/>
                          <a:ea typeface="+mj-ea"/>
                        </a:rPr>
                        <a:t>2</a:t>
                      </a:r>
                      <a:r>
                        <a:rPr lang="ko-KR" altLang="en-US" sz="1000" b="0" i="0" u="none" strike="noStrike">
                          <a:solidFill>
                            <a:srgbClr val="000000"/>
                          </a:solidFill>
                          <a:effectLst/>
                          <a:latin typeface="+mj-ea"/>
                          <a:ea typeface="+mj-ea"/>
                        </a:rPr>
                        <a:t>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7228183"/>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고분자복합재료제조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황장원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태광뉴텍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연구소장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4315803"/>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고분자복합재료제조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송상민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코오롱인더스트리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연구실장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9727331"/>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고분자복합재료제조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김세진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2192114"/>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기능성고분자제조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윤진산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863523"/>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기능성고분자제조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김옥래</a:t>
                      </a: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한국생산기술연구원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수석연구원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678560"/>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기능성고분자제조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김순기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SK</a:t>
                      </a:r>
                      <a:r>
                        <a:rPr lang="ko-KR" altLang="en-US" sz="1000" b="0" i="0" u="none" strike="noStrike">
                          <a:solidFill>
                            <a:srgbClr val="000000"/>
                          </a:solidFill>
                          <a:effectLst/>
                          <a:latin typeface="+mj-ea"/>
                          <a:ea typeface="+mj-ea"/>
                        </a:rPr>
                        <a:t>케미칼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4409365"/>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기능성고분자제조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김석훈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산본공업고등학교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5772688"/>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합성고무제조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이은부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9027628"/>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합성고무제조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윤요림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0506362"/>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정영상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245271"/>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이진호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4188054"/>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이상은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한경대학교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3602817"/>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하상건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국립농업과학원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8853746"/>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유병욱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군자공업고등학교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2881379"/>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산알칼리제조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노용택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879278"/>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산알칼리제조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우제완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상명대학교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55501"/>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산알칼리제조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최진섭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9897626"/>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산알칼리제조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이인갑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여수석유화학고등학교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9209204"/>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고압가스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조병준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 충주캠퍼스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5548456"/>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고압가스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김도현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 </a:t>
                      </a:r>
                      <a:r>
                        <a:rPr lang="ko-KR" altLang="en-US" sz="1000" b="0" i="0" u="none" strike="noStrike">
                          <a:solidFill>
                            <a:srgbClr val="000000"/>
                          </a:solidFill>
                          <a:effectLst/>
                          <a:latin typeface="+mj-ea"/>
                          <a:ea typeface="+mj-ea"/>
                        </a:rPr>
                        <a:t>스타훈련교사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㈜대한항공 항공기술훈련원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216461"/>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고압가스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김성영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월드용접전문기술학원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35682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수질환경관리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서용찬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400587"/>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수질환경관리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용인대학교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9703759"/>
                  </a:ext>
                </a:extLst>
              </a:tr>
            </a:tbl>
          </a:graphicData>
        </a:graphic>
      </p:graphicFrame>
    </p:spTree>
    <p:extLst>
      <p:ext uri="{BB962C8B-B14F-4D97-AF65-F5344CB8AC3E}">
        <p14:creationId xmlns:p14="http://schemas.microsoft.com/office/powerpoint/2010/main" val="16996155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2426816D-19A7-D1E1-0DE0-15FC856A10CB}"/>
              </a:ext>
            </a:extLst>
          </p:cNvPr>
          <p:cNvGraphicFramePr>
            <a:graphicFrameLocks noGrp="1"/>
          </p:cNvGraphicFramePr>
          <p:nvPr/>
        </p:nvGraphicFramePr>
        <p:xfrm>
          <a:off x="596901" y="2096852"/>
          <a:ext cx="8748712" cy="4392622"/>
        </p:xfrm>
        <a:graphic>
          <a:graphicData uri="http://schemas.openxmlformats.org/drawingml/2006/table">
            <a:tbl>
              <a:tblPr/>
              <a:tblGrid>
                <a:gridCol w="1202073">
                  <a:extLst>
                    <a:ext uri="{9D8B030D-6E8A-4147-A177-3AD203B41FA5}">
                      <a16:colId xmlns:a16="http://schemas.microsoft.com/office/drawing/2014/main" val="2829827389"/>
                    </a:ext>
                  </a:extLst>
                </a:gridCol>
                <a:gridCol w="1968913">
                  <a:extLst>
                    <a:ext uri="{9D8B030D-6E8A-4147-A177-3AD203B41FA5}">
                      <a16:colId xmlns:a16="http://schemas.microsoft.com/office/drawing/2014/main" val="3810916559"/>
                    </a:ext>
                  </a:extLst>
                </a:gridCol>
                <a:gridCol w="590675">
                  <a:extLst>
                    <a:ext uri="{9D8B030D-6E8A-4147-A177-3AD203B41FA5}">
                      <a16:colId xmlns:a16="http://schemas.microsoft.com/office/drawing/2014/main" val="187654262"/>
                    </a:ext>
                  </a:extLst>
                </a:gridCol>
                <a:gridCol w="2383422">
                  <a:extLst>
                    <a:ext uri="{9D8B030D-6E8A-4147-A177-3AD203B41FA5}">
                      <a16:colId xmlns:a16="http://schemas.microsoft.com/office/drawing/2014/main" val="47027638"/>
                    </a:ext>
                  </a:extLst>
                </a:gridCol>
                <a:gridCol w="1896375">
                  <a:extLst>
                    <a:ext uri="{9D8B030D-6E8A-4147-A177-3AD203B41FA5}">
                      <a16:colId xmlns:a16="http://schemas.microsoft.com/office/drawing/2014/main" val="803855169"/>
                    </a:ext>
                  </a:extLst>
                </a:gridCol>
                <a:gridCol w="707254">
                  <a:extLst>
                    <a:ext uri="{9D8B030D-6E8A-4147-A177-3AD203B41FA5}">
                      <a16:colId xmlns:a16="http://schemas.microsoft.com/office/drawing/2014/main" val="118399646"/>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406379616"/>
                  </a:ext>
                </a:extLst>
              </a:tr>
              <a:tr h="168947">
                <a:tc>
                  <a:txBody>
                    <a:bodyPr/>
                    <a:lstStyle/>
                    <a:p>
                      <a:pPr algn="ctr" fontAlgn="ctr"/>
                      <a:r>
                        <a:rPr lang="ko-KR" altLang="en-US" sz="1000" b="0" i="0" u="none" strike="noStrike" dirty="0">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수질환경관리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손대희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성균관대학교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9818110"/>
                  </a:ext>
                </a:extLst>
              </a:tr>
              <a:tr h="168947">
                <a:tc>
                  <a:txBody>
                    <a:bodyPr/>
                    <a:lstStyle/>
                    <a:p>
                      <a:pPr algn="ctr" fontAlgn="ctr"/>
                      <a:r>
                        <a:rPr lang="ko-KR" altLang="en-US" sz="1000" b="0" i="0" u="none" strike="noStrike" dirty="0">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정수시설운영관리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남궁은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명지대학교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686456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정수시설운영관리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배병욱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307595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정수시설운영관리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조용현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인하공업전문대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876948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기상관측관리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오재호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부경대학교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4886756"/>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기상관측관리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서영화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193893"/>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기상관측관리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윤춘삼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상일미디어고등학교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772913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기후변화적응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김신태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061013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기후변화적응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김득수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73291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기후변화적응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이동근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175901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폐기물처리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이남훈</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40078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폐기물처리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이승희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5855581"/>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폐기물처리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김병태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630171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소음진동측정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분석평가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박준홍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797632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소음진동측정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분석평가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박상규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7901011"/>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소음진동측정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분석평가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김석현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0327945"/>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산업환경관리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신은상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동남보건대학교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6420666"/>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산업환경관리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5049747"/>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산업환경관리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김종오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633085"/>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실내공기질관리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조기철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동남보건대학교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648080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실내공기질관리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심동열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부장교사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3813645"/>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실내공기질관리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김형진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김포대학교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05324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위해성관리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이경무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한국방송통신대학교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765722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위해성관리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14+E39:Q39</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호서대학교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94814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위해성관리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이명신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서울공업고등학교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4377984"/>
                  </a:ext>
                </a:extLst>
              </a:tr>
            </a:tbl>
          </a:graphicData>
        </a:graphic>
      </p:graphicFrame>
    </p:spTree>
    <p:extLst>
      <p:ext uri="{BB962C8B-B14F-4D97-AF65-F5344CB8AC3E}">
        <p14:creationId xmlns:p14="http://schemas.microsoft.com/office/powerpoint/2010/main" val="10472824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5FBBEA58-0A98-EC0A-D5AF-942632821ED5}"/>
              </a:ext>
            </a:extLst>
          </p:cNvPr>
          <p:cNvGraphicFramePr>
            <a:graphicFrameLocks noGrp="1"/>
          </p:cNvGraphicFramePr>
          <p:nvPr/>
        </p:nvGraphicFramePr>
        <p:xfrm>
          <a:off x="596901" y="2097088"/>
          <a:ext cx="8748712" cy="4392622"/>
        </p:xfrm>
        <a:graphic>
          <a:graphicData uri="http://schemas.openxmlformats.org/drawingml/2006/table">
            <a:tbl>
              <a:tblPr/>
              <a:tblGrid>
                <a:gridCol w="1202073">
                  <a:extLst>
                    <a:ext uri="{9D8B030D-6E8A-4147-A177-3AD203B41FA5}">
                      <a16:colId xmlns:a16="http://schemas.microsoft.com/office/drawing/2014/main" val="3720874327"/>
                    </a:ext>
                  </a:extLst>
                </a:gridCol>
                <a:gridCol w="1968913">
                  <a:extLst>
                    <a:ext uri="{9D8B030D-6E8A-4147-A177-3AD203B41FA5}">
                      <a16:colId xmlns:a16="http://schemas.microsoft.com/office/drawing/2014/main" val="1752523765"/>
                    </a:ext>
                  </a:extLst>
                </a:gridCol>
                <a:gridCol w="590675">
                  <a:extLst>
                    <a:ext uri="{9D8B030D-6E8A-4147-A177-3AD203B41FA5}">
                      <a16:colId xmlns:a16="http://schemas.microsoft.com/office/drawing/2014/main" val="3308419885"/>
                    </a:ext>
                  </a:extLst>
                </a:gridCol>
                <a:gridCol w="2383422">
                  <a:extLst>
                    <a:ext uri="{9D8B030D-6E8A-4147-A177-3AD203B41FA5}">
                      <a16:colId xmlns:a16="http://schemas.microsoft.com/office/drawing/2014/main" val="2611182478"/>
                    </a:ext>
                  </a:extLst>
                </a:gridCol>
                <a:gridCol w="1896375">
                  <a:extLst>
                    <a:ext uri="{9D8B030D-6E8A-4147-A177-3AD203B41FA5}">
                      <a16:colId xmlns:a16="http://schemas.microsoft.com/office/drawing/2014/main" val="506082119"/>
                    </a:ext>
                  </a:extLst>
                </a:gridCol>
                <a:gridCol w="707254">
                  <a:extLst>
                    <a:ext uri="{9D8B030D-6E8A-4147-A177-3AD203B41FA5}">
                      <a16:colId xmlns:a16="http://schemas.microsoft.com/office/drawing/2014/main" val="3843366358"/>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36946137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생태복원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혜천대학교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158474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생태복원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조용현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143327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구본학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상명대학교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772549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김명희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공주생명과학고등학교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649962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김원태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천안연암대학교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548618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환경컨설팅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장윤영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8271861"/>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환경컨설팅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전상호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912401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환경컨설팅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박대원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서울과학기술대학교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대학원장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571896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환경시설운영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박훈신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한국기술교육대학교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78761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환경시설운영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임병란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서울기술교육대학교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50857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김현수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순천향대학교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611681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서영화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130748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이용석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한림성신대학교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890595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환경영향평가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박영민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한국환경정책</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평가연구원</a:t>
                      </a:r>
                      <a:r>
                        <a:rPr lang="en-US" altLang="ko-KR" sz="1000" b="0" i="0" u="none" strike="noStrike">
                          <a:solidFill>
                            <a:srgbClr val="000000"/>
                          </a:solidFill>
                          <a:effectLst/>
                          <a:latin typeface="+mj-ea"/>
                          <a:ea typeface="+mj-ea"/>
                        </a:rPr>
                        <a:t>(KEI)</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연구위원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157207"/>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환경영향평가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김임순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58484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환경영향평가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이용석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한림성신대학교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340871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환경분석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신은상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동남보건대학교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4198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환경분석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박정호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㈜동림피엔디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책임연구원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645431"/>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환경분석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권영석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103125"/>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태양에너지생산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이해춘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86260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태양에너지생산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정윤도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2801633"/>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태양에너지생산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충북보건과학대학교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54295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수소에너지생산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김재호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과학기술연합대학원대학교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7374893"/>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수소에너지생산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이수현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285190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수소에너지생산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차인수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동신대학교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260137"/>
                  </a:ext>
                </a:extLst>
              </a:tr>
            </a:tbl>
          </a:graphicData>
        </a:graphic>
      </p:graphicFrame>
    </p:spTree>
    <p:extLst>
      <p:ext uri="{BB962C8B-B14F-4D97-AF65-F5344CB8AC3E}">
        <p14:creationId xmlns:p14="http://schemas.microsoft.com/office/powerpoint/2010/main" val="30679949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F5C502FC-522B-0657-D754-B9AF9E9EAC66}"/>
              </a:ext>
            </a:extLst>
          </p:cNvPr>
          <p:cNvGraphicFramePr>
            <a:graphicFrameLocks noGrp="1"/>
          </p:cNvGraphicFramePr>
          <p:nvPr/>
        </p:nvGraphicFramePr>
        <p:xfrm>
          <a:off x="596901" y="2097090"/>
          <a:ext cx="8748712" cy="4392590"/>
        </p:xfrm>
        <a:graphic>
          <a:graphicData uri="http://schemas.openxmlformats.org/drawingml/2006/table">
            <a:tbl>
              <a:tblPr/>
              <a:tblGrid>
                <a:gridCol w="1202073">
                  <a:extLst>
                    <a:ext uri="{9D8B030D-6E8A-4147-A177-3AD203B41FA5}">
                      <a16:colId xmlns:a16="http://schemas.microsoft.com/office/drawing/2014/main" val="291456948"/>
                    </a:ext>
                  </a:extLst>
                </a:gridCol>
                <a:gridCol w="1968913">
                  <a:extLst>
                    <a:ext uri="{9D8B030D-6E8A-4147-A177-3AD203B41FA5}">
                      <a16:colId xmlns:a16="http://schemas.microsoft.com/office/drawing/2014/main" val="2552625774"/>
                    </a:ext>
                  </a:extLst>
                </a:gridCol>
                <a:gridCol w="590675">
                  <a:extLst>
                    <a:ext uri="{9D8B030D-6E8A-4147-A177-3AD203B41FA5}">
                      <a16:colId xmlns:a16="http://schemas.microsoft.com/office/drawing/2014/main" val="3492873080"/>
                    </a:ext>
                  </a:extLst>
                </a:gridCol>
                <a:gridCol w="2383422">
                  <a:extLst>
                    <a:ext uri="{9D8B030D-6E8A-4147-A177-3AD203B41FA5}">
                      <a16:colId xmlns:a16="http://schemas.microsoft.com/office/drawing/2014/main" val="2139947851"/>
                    </a:ext>
                  </a:extLst>
                </a:gridCol>
                <a:gridCol w="1896375">
                  <a:extLst>
                    <a:ext uri="{9D8B030D-6E8A-4147-A177-3AD203B41FA5}">
                      <a16:colId xmlns:a16="http://schemas.microsoft.com/office/drawing/2014/main" val="620032641"/>
                    </a:ext>
                  </a:extLst>
                </a:gridCol>
                <a:gridCol w="707254">
                  <a:extLst>
                    <a:ext uri="{9D8B030D-6E8A-4147-A177-3AD203B41FA5}">
                      <a16:colId xmlns:a16="http://schemas.microsoft.com/office/drawing/2014/main" val="3295815417"/>
                    </a:ext>
                  </a:extLst>
                </a:gridCol>
              </a:tblGrid>
              <a:tr h="164273">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001947038"/>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연료전지에너지생산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송락현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한국에너지기술연구원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책임연구원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441999"/>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연료전지에너지생산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이원석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동양미래대학교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853429"/>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연료전지에너지생산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박효식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전주비전대학교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2060333"/>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바이오에너지생산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국민대학교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3052246"/>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바이오에너지생산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김형택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아주대학교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5438838"/>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바이오에너지생산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오태선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군장대학교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2218868"/>
                  </a:ext>
                </a:extLst>
              </a:tr>
              <a:tr h="285765">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염기대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한국해양과학기술원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명예연구위원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2402181"/>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이영호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5260454"/>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조철희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인하대학교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4543775"/>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풍력에너지생산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김건훈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한국에너지기술연구원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r>
                        <a:rPr lang="ko-KR" altLang="en-US" sz="1000" b="0" i="0" u="none" strike="noStrike" dirty="0" err="1">
                          <a:solidFill>
                            <a:srgbClr val="000000"/>
                          </a:solidFill>
                          <a:effectLst/>
                          <a:latin typeface="+mj-ea"/>
                          <a:ea typeface="+mj-ea"/>
                        </a:rPr>
                        <a:t>그룹장</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8426223"/>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풍력에너지생산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김동조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㈜기술사사무소 고려기술단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대표이사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2050081"/>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풍력에너지생산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신동신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홍익대학교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7182916"/>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폐자원에너지생산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오성근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전주비전대학교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047"/>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폐자원에너지생산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정병곤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7382011"/>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폐자원에너지생산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한국폴리텍대학교</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8748624"/>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정길순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충북대학교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7430858"/>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김용수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서울과학기술대학교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명예교수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0127870"/>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김광태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신성대학교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170836"/>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김경식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경북전문대학교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9431406"/>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황명환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인천대학교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8629683"/>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이동훈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부경대학교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534281"/>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신승우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경북전문대학교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6908260"/>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백신원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한경대학교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86488"/>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박시현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6564300"/>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화공안전관리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박노춘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순천제일대학교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5890000"/>
                  </a:ext>
                </a:extLst>
              </a:tr>
            </a:tbl>
          </a:graphicData>
        </a:graphic>
      </p:graphicFrame>
    </p:spTree>
    <p:extLst>
      <p:ext uri="{BB962C8B-B14F-4D97-AF65-F5344CB8AC3E}">
        <p14:creationId xmlns:p14="http://schemas.microsoft.com/office/powerpoint/2010/main" val="14835718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46F2100B-D568-71BA-C494-53824E05FE1A}"/>
              </a:ext>
            </a:extLst>
          </p:cNvPr>
          <p:cNvGraphicFramePr>
            <a:graphicFrameLocks noGrp="1"/>
          </p:cNvGraphicFramePr>
          <p:nvPr/>
        </p:nvGraphicFramePr>
        <p:xfrm>
          <a:off x="596900" y="2097087"/>
          <a:ext cx="8748713" cy="4392603"/>
        </p:xfrm>
        <a:graphic>
          <a:graphicData uri="http://schemas.openxmlformats.org/drawingml/2006/table">
            <a:tbl>
              <a:tblPr/>
              <a:tblGrid>
                <a:gridCol w="1202073">
                  <a:extLst>
                    <a:ext uri="{9D8B030D-6E8A-4147-A177-3AD203B41FA5}">
                      <a16:colId xmlns:a16="http://schemas.microsoft.com/office/drawing/2014/main" val="2866577079"/>
                    </a:ext>
                  </a:extLst>
                </a:gridCol>
                <a:gridCol w="1968912">
                  <a:extLst>
                    <a:ext uri="{9D8B030D-6E8A-4147-A177-3AD203B41FA5}">
                      <a16:colId xmlns:a16="http://schemas.microsoft.com/office/drawing/2014/main" val="3323584606"/>
                    </a:ext>
                  </a:extLst>
                </a:gridCol>
                <a:gridCol w="590675">
                  <a:extLst>
                    <a:ext uri="{9D8B030D-6E8A-4147-A177-3AD203B41FA5}">
                      <a16:colId xmlns:a16="http://schemas.microsoft.com/office/drawing/2014/main" val="3455356881"/>
                    </a:ext>
                  </a:extLst>
                </a:gridCol>
                <a:gridCol w="2383421">
                  <a:extLst>
                    <a:ext uri="{9D8B030D-6E8A-4147-A177-3AD203B41FA5}">
                      <a16:colId xmlns:a16="http://schemas.microsoft.com/office/drawing/2014/main" val="1123442937"/>
                    </a:ext>
                  </a:extLst>
                </a:gridCol>
                <a:gridCol w="1896376">
                  <a:extLst>
                    <a:ext uri="{9D8B030D-6E8A-4147-A177-3AD203B41FA5}">
                      <a16:colId xmlns:a16="http://schemas.microsoft.com/office/drawing/2014/main" val="837486633"/>
                    </a:ext>
                  </a:extLst>
                </a:gridCol>
                <a:gridCol w="707256">
                  <a:extLst>
                    <a:ext uri="{9D8B030D-6E8A-4147-A177-3AD203B41FA5}">
                      <a16:colId xmlns:a16="http://schemas.microsoft.com/office/drawing/2014/main" val="585431618"/>
                    </a:ext>
                  </a:extLst>
                </a:gridCol>
              </a:tblGrid>
              <a:tr h="162689">
                <a:tc>
                  <a:txBody>
                    <a:bodyPr/>
                    <a:lstStyle/>
                    <a:p>
                      <a:pPr algn="ctr" fontAlgn="ctr"/>
                      <a:r>
                        <a:rPr lang="ko-KR" altLang="en-US" sz="1000" b="1" i="0" u="none" strike="noStrike" dirty="0">
                          <a:solidFill>
                            <a:schemeClr val="bg1"/>
                          </a:solidFill>
                          <a:effectLst/>
                          <a:latin typeface="+mj-ea"/>
                          <a:ea typeface="+mj-ea"/>
                        </a:rPr>
                        <a:t>분야</a:t>
                      </a:r>
                    </a:p>
                  </a:txBody>
                  <a:tcPr marL="2363" marR="2363" marT="236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363" marR="2363" marT="236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성명</a:t>
                      </a:r>
                    </a:p>
                  </a:txBody>
                  <a:tcPr marL="2363" marR="2363" marT="236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363" marR="2363" marT="236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363" marR="2363" marT="236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363" marR="2363" marT="236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92677421"/>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화공안전관리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인천대학교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8211114"/>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화공안전관리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하동명</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세명대학교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8752804"/>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박교식</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1616977"/>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유재만</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군산기계공업고등학교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958751"/>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이용석</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한국가스공사 한국가스안전교육원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7221452"/>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이수경</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서울과기대</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5068915"/>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신동일</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4347965"/>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백종배</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한국교통대학교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1307734"/>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비파괴검사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조병준</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충주캠퍼스</a:t>
                      </a:r>
                      <a:r>
                        <a:rPr lang="en-US" altLang="ko-KR" sz="1000" b="0" i="0" u="none" strike="noStrike">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2370683"/>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비파괴검사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이광성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대전보건대학교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5245451"/>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비파괴검사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김철영</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아세아항공직업전문학교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학부장</a:t>
                      </a:r>
                      <a:endParaRPr lang="ko-KR" altLang="en-US" sz="1000" b="0" i="0" u="none" strike="noStrike" dirty="0">
                        <a:solidFill>
                          <a:srgbClr val="000000"/>
                        </a:solidFill>
                        <a:effectLst/>
                        <a:latin typeface="+mj-ea"/>
                        <a:ea typeface="+mj-ea"/>
                      </a:endParaRP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6297209"/>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10.6</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환경</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유영호</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중앙환경직업전문학교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254115"/>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하부영</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신동성환경기술학원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2801337"/>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28.8</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전기</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태양광에너지생산</a:t>
                      </a:r>
                      <a:r>
                        <a:rPr lang="en-US" altLang="ko-KR" sz="1000" b="0" i="0" u="none" strike="noStrike">
                          <a:solidFill>
                            <a:srgbClr val="000000"/>
                          </a:solidFill>
                          <a:effectLst/>
                          <a:latin typeface="+mj-ea"/>
                          <a:ea typeface="+mj-ea"/>
                        </a:rPr>
                        <a:t>)</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장준호</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영남직업능력개발원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6150879"/>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기계정비</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 외 </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개</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기계안전관리</a:t>
                      </a:r>
                      <a:r>
                        <a:rPr lang="en-US" altLang="ko-KR" sz="1000" b="0" i="0" u="none" strike="noStrike">
                          <a:solidFill>
                            <a:srgbClr val="000000"/>
                          </a:solidFill>
                          <a:effectLst/>
                          <a:latin typeface="+mj-ea"/>
                          <a:ea typeface="+mj-ea"/>
                        </a:rPr>
                        <a:t>)</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박춘기</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영남직업전문학교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6981548"/>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김진두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서일대학교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2872457"/>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NCS</a:t>
                      </a:r>
                      <a:r>
                        <a:rPr lang="ko-KR" altLang="en-US" sz="1000" b="0" i="0" u="none" strike="noStrike">
                          <a:solidFill>
                            <a:srgbClr val="000000"/>
                          </a:solidFill>
                          <a:effectLst/>
                          <a:latin typeface="+mj-ea"/>
                          <a:ea typeface="+mj-ea"/>
                        </a:rPr>
                        <a:t>개발</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김병열</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한국귀금속가공업협동조합연합회</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사무차장</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2398424"/>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20.6</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가구디자인</a:t>
                      </a:r>
                      <a:r>
                        <a:rPr lang="en-US" altLang="ko-KR" sz="1000" b="0" i="0" u="none" strike="noStrike">
                          <a:solidFill>
                            <a:srgbClr val="000000"/>
                          </a:solidFill>
                          <a:effectLst/>
                          <a:latin typeface="+mj-ea"/>
                          <a:ea typeface="+mj-ea"/>
                        </a:rPr>
                        <a:t>1</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김화찬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대한상공회의소인천인력개발원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78721"/>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19.3</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목재가공</a:t>
                      </a:r>
                      <a:r>
                        <a:rPr lang="en-US" altLang="ko-KR" sz="1000" b="0" i="0" u="none" strike="noStrike">
                          <a:solidFill>
                            <a:srgbClr val="000000"/>
                          </a:solidFill>
                          <a:effectLst/>
                          <a:latin typeface="+mj-ea"/>
                          <a:ea typeface="+mj-ea"/>
                        </a:rPr>
                        <a:t>1</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조정원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대한상공회의소인천인력개발원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0855649"/>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4.4</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가구디자인</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성유경</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청주건축목공예학원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767602"/>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4.2</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목재가공</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김주희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나무사랑가구제작학원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9443654"/>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예술기획</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이완복</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오산대학교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7938499"/>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예술기획</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김혜지</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우송정보대학</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7597827"/>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예술기획</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윤준영</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세명컴퓨터고등학교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2505947"/>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예술행정</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구은자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청운대학교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941358"/>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예술행정</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임학순</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카톨릭대학교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9865623"/>
                  </a:ext>
                </a:extLst>
              </a:tr>
            </a:tbl>
          </a:graphicData>
        </a:graphic>
      </p:graphicFrame>
    </p:spTree>
    <p:extLst>
      <p:ext uri="{BB962C8B-B14F-4D97-AF65-F5344CB8AC3E}">
        <p14:creationId xmlns:p14="http://schemas.microsoft.com/office/powerpoint/2010/main" val="20782065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D42BC443-0809-B4C3-4AA5-DD4DE83BB705}"/>
              </a:ext>
            </a:extLst>
          </p:cNvPr>
          <p:cNvGraphicFramePr>
            <a:graphicFrameLocks noGrp="1"/>
          </p:cNvGraphicFramePr>
          <p:nvPr/>
        </p:nvGraphicFramePr>
        <p:xfrm>
          <a:off x="596901" y="2097088"/>
          <a:ext cx="8748714" cy="4392596"/>
        </p:xfrm>
        <a:graphic>
          <a:graphicData uri="http://schemas.openxmlformats.org/drawingml/2006/table">
            <a:tbl>
              <a:tblPr/>
              <a:tblGrid>
                <a:gridCol w="1202073">
                  <a:extLst>
                    <a:ext uri="{9D8B030D-6E8A-4147-A177-3AD203B41FA5}">
                      <a16:colId xmlns:a16="http://schemas.microsoft.com/office/drawing/2014/main" val="572061738"/>
                    </a:ext>
                  </a:extLst>
                </a:gridCol>
                <a:gridCol w="1968913">
                  <a:extLst>
                    <a:ext uri="{9D8B030D-6E8A-4147-A177-3AD203B41FA5}">
                      <a16:colId xmlns:a16="http://schemas.microsoft.com/office/drawing/2014/main" val="507638266"/>
                    </a:ext>
                  </a:extLst>
                </a:gridCol>
                <a:gridCol w="590675">
                  <a:extLst>
                    <a:ext uri="{9D8B030D-6E8A-4147-A177-3AD203B41FA5}">
                      <a16:colId xmlns:a16="http://schemas.microsoft.com/office/drawing/2014/main" val="2378782954"/>
                    </a:ext>
                  </a:extLst>
                </a:gridCol>
                <a:gridCol w="2383423">
                  <a:extLst>
                    <a:ext uri="{9D8B030D-6E8A-4147-A177-3AD203B41FA5}">
                      <a16:colId xmlns:a16="http://schemas.microsoft.com/office/drawing/2014/main" val="3218516083"/>
                    </a:ext>
                  </a:extLst>
                </a:gridCol>
                <a:gridCol w="1896376">
                  <a:extLst>
                    <a:ext uri="{9D8B030D-6E8A-4147-A177-3AD203B41FA5}">
                      <a16:colId xmlns:a16="http://schemas.microsoft.com/office/drawing/2014/main" val="2359901050"/>
                    </a:ext>
                  </a:extLst>
                </a:gridCol>
                <a:gridCol w="707254">
                  <a:extLst>
                    <a:ext uri="{9D8B030D-6E8A-4147-A177-3AD203B41FA5}">
                      <a16:colId xmlns:a16="http://schemas.microsoft.com/office/drawing/2014/main" val="297687177"/>
                    </a:ext>
                  </a:extLst>
                </a:gridCol>
              </a:tblGrid>
              <a:tr h="168946">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173828296"/>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예술행정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인천카톨릭대학교</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4239468"/>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예술경영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권준원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동아방송예술대학교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026861"/>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예술경영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최유진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한국영상대학교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026795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예술경영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박정배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청운대학교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707082"/>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문헌정보관리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엄영애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대구카톨릭대학교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548539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문헌정보관리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최상희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대구카톨릭대학교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2279419"/>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문헌정보관리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안인자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동원대학교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8173481"/>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학예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최종호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한국전통문화대학교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부교수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44782"/>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학예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강인애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경희대학교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852318"/>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학예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송승렬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영남공업고등학교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274016"/>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서정호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143647"/>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김충식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한국전통문화대학교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7562294"/>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김우웅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명지대학교 건축문화연구소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소장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5968667"/>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위광철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9949697"/>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윤범모</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가천대학교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1427240"/>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김규호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915594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텍스타일디자인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김소진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동아방송예대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819736"/>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텍스타일디자인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한연희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숭의여자대대학교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7363341"/>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텍스타일디자인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권재희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516265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권순관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서일대학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857730"/>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전영대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계원예술대학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9353967"/>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최재영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영진전문대학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787824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명지전문대학교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1815624"/>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전정숙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869853"/>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한양여자대학교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3483914"/>
                  </a:ext>
                </a:extLst>
              </a:tr>
            </a:tbl>
          </a:graphicData>
        </a:graphic>
      </p:graphicFrame>
    </p:spTree>
    <p:extLst>
      <p:ext uri="{BB962C8B-B14F-4D97-AF65-F5344CB8AC3E}">
        <p14:creationId xmlns:p14="http://schemas.microsoft.com/office/powerpoint/2010/main" val="30430545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837913A0-4CEB-DAC3-FEA4-3CC36D2B4B06}"/>
              </a:ext>
            </a:extLst>
          </p:cNvPr>
          <p:cNvGraphicFramePr>
            <a:graphicFrameLocks noGrp="1"/>
          </p:cNvGraphicFramePr>
          <p:nvPr/>
        </p:nvGraphicFramePr>
        <p:xfrm>
          <a:off x="596901" y="2097088"/>
          <a:ext cx="8748712" cy="4392622"/>
        </p:xfrm>
        <a:graphic>
          <a:graphicData uri="http://schemas.openxmlformats.org/drawingml/2006/table">
            <a:tbl>
              <a:tblPr/>
              <a:tblGrid>
                <a:gridCol w="1202073">
                  <a:extLst>
                    <a:ext uri="{9D8B030D-6E8A-4147-A177-3AD203B41FA5}">
                      <a16:colId xmlns:a16="http://schemas.microsoft.com/office/drawing/2014/main" val="2507337041"/>
                    </a:ext>
                  </a:extLst>
                </a:gridCol>
                <a:gridCol w="1968913">
                  <a:extLst>
                    <a:ext uri="{9D8B030D-6E8A-4147-A177-3AD203B41FA5}">
                      <a16:colId xmlns:a16="http://schemas.microsoft.com/office/drawing/2014/main" val="544077725"/>
                    </a:ext>
                  </a:extLst>
                </a:gridCol>
                <a:gridCol w="590675">
                  <a:extLst>
                    <a:ext uri="{9D8B030D-6E8A-4147-A177-3AD203B41FA5}">
                      <a16:colId xmlns:a16="http://schemas.microsoft.com/office/drawing/2014/main" val="3586888569"/>
                    </a:ext>
                  </a:extLst>
                </a:gridCol>
                <a:gridCol w="2383422">
                  <a:extLst>
                    <a:ext uri="{9D8B030D-6E8A-4147-A177-3AD203B41FA5}">
                      <a16:colId xmlns:a16="http://schemas.microsoft.com/office/drawing/2014/main" val="339323986"/>
                    </a:ext>
                  </a:extLst>
                </a:gridCol>
                <a:gridCol w="1896375">
                  <a:extLst>
                    <a:ext uri="{9D8B030D-6E8A-4147-A177-3AD203B41FA5}">
                      <a16:colId xmlns:a16="http://schemas.microsoft.com/office/drawing/2014/main" val="525631268"/>
                    </a:ext>
                  </a:extLst>
                </a:gridCol>
                <a:gridCol w="707254">
                  <a:extLst>
                    <a:ext uri="{9D8B030D-6E8A-4147-A177-3AD203B41FA5}">
                      <a16:colId xmlns:a16="http://schemas.microsoft.com/office/drawing/2014/main" val="2777504383"/>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학력</a:t>
                      </a:r>
                      <a:r>
                        <a:rPr lang="en-US" altLang="ko-KR" sz="1000" b="1" i="0" u="none" strike="noStrike" dirty="0">
                          <a:solidFill>
                            <a:schemeClr val="bg1"/>
                          </a:solidFill>
                          <a:effectLst/>
                          <a:latin typeface="+mj-ea"/>
                          <a:ea typeface="+mj-ea"/>
                        </a:rPr>
                        <a:t>/</a:t>
                      </a:r>
                      <a:r>
                        <a:rPr lang="ko-KR" altLang="en-US" sz="1000" b="1" i="0" u="none" strike="noStrike" dirty="0">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902413155"/>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기존 </a:t>
                      </a:r>
                      <a:r>
                        <a:rPr lang="en-US" sz="1000" b="0" i="0" u="none" strike="noStrike">
                          <a:solidFill>
                            <a:srgbClr val="000000"/>
                          </a:solidFill>
                          <a:effectLst/>
                          <a:latin typeface="+mj-ea"/>
                          <a:ea typeface="+mj-ea"/>
                        </a:rPr>
                        <a:t>FT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이완복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NCS</a:t>
                      </a:r>
                      <a:r>
                        <a:rPr lang="ko-KR" altLang="en-US" sz="1000" b="0" i="0" u="none" strike="noStrike">
                          <a:solidFill>
                            <a:srgbClr val="000000"/>
                          </a:solidFill>
                          <a:effectLst/>
                          <a:latin typeface="+mj-ea"/>
                          <a:ea typeface="+mj-ea"/>
                        </a:rPr>
                        <a:t>개발</a:t>
                      </a:r>
                      <a:r>
                        <a:rPr lang="en-US" altLang="ko-KR" sz="1000" b="0" i="0" u="none" strike="noStrike">
                          <a:solidFill>
                            <a:srgbClr val="000000"/>
                          </a:solidFill>
                          <a:effectLst/>
                          <a:latin typeface="+mj-ea"/>
                          <a:ea typeface="+mj-ea"/>
                        </a:rPr>
                        <a: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228283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채윤경</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애니메이션콘텐츠제작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계원예술대학교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0738373"/>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김세훈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애니메이션콘텐츠제작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영화진흥위원회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위원장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512207"/>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김양수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애니메이션콘텐츠제작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2243863"/>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최수웅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만화콘텐츠제작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단국대학교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1617638"/>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김정영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만화콘텐츠제작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청강문화산업대학교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1954793"/>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현정수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만화콘텐츠제작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910362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err="1">
                          <a:solidFill>
                            <a:srgbClr val="000000"/>
                          </a:solidFill>
                          <a:effectLst/>
                          <a:latin typeface="+mj-ea"/>
                          <a:ea typeface="+mj-ea"/>
                        </a:rPr>
                        <a:t>문화콘텐츠제작</a:t>
                      </a:r>
                      <a:r>
                        <a:rPr lang="ko-KR" altLang="en-US" sz="1000" b="0" i="0" u="none" strike="noStrike" dirty="0">
                          <a:solidFill>
                            <a:srgbClr val="000000"/>
                          </a:solidFill>
                          <a:effectLst/>
                          <a:latin typeface="+mj-ea"/>
                          <a:ea typeface="+mj-ea"/>
                        </a:rPr>
                        <a:t>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박현철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한국예술종합학교 영상원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3877603"/>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이윤혁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7587271"/>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방송</a:t>
                      </a:r>
                      <a:r>
                        <a:rPr lang="en-US" altLang="ko-KR" sz="1000" b="0" i="0" u="none" strike="noStrike">
                          <a:solidFill>
                            <a:srgbClr val="000000"/>
                          </a:solidFill>
                          <a:effectLst/>
                          <a:latin typeface="+mj-ea"/>
                          <a:ea typeface="+mj-ea"/>
                        </a:rPr>
                        <a: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838621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권형진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동국대학교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956067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이병열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방송콘텐츠제작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5974071"/>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양윤주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방송콘텐츠제작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4353277"/>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선병일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광고콘텐츠제작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남서울대학교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496192"/>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최광춘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광고콘텐츠제작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804842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김경식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게임콘텐츠제작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호서대학교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8923964"/>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이대웅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게임콘텐츠제작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상명대학교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424877"/>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게임콘텐츠제작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청강문화산업대학교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3870047"/>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김철록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부산해사고등학교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016959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양원재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목포해양대학교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806710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전상엽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4175933"/>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선박기관운전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5669395"/>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선박기관운전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배창원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190966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선박기관운전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신명지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인천해사고등학교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00555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선박통신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포항해양고학고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3575590"/>
                  </a:ext>
                </a:extLst>
              </a:tr>
            </a:tbl>
          </a:graphicData>
        </a:graphic>
      </p:graphicFrame>
    </p:spTree>
    <p:extLst>
      <p:ext uri="{BB962C8B-B14F-4D97-AF65-F5344CB8AC3E}">
        <p14:creationId xmlns:p14="http://schemas.microsoft.com/office/powerpoint/2010/main" val="16068317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80F1DEAF-B470-F076-FF05-E0D8AB42C38B}"/>
              </a:ext>
            </a:extLst>
          </p:cNvPr>
          <p:cNvGraphicFramePr>
            <a:graphicFrameLocks noGrp="1"/>
          </p:cNvGraphicFramePr>
          <p:nvPr/>
        </p:nvGraphicFramePr>
        <p:xfrm>
          <a:off x="596901" y="2097088"/>
          <a:ext cx="8748712" cy="4392622"/>
        </p:xfrm>
        <a:graphic>
          <a:graphicData uri="http://schemas.openxmlformats.org/drawingml/2006/table">
            <a:tbl>
              <a:tblPr/>
              <a:tblGrid>
                <a:gridCol w="1202073">
                  <a:extLst>
                    <a:ext uri="{9D8B030D-6E8A-4147-A177-3AD203B41FA5}">
                      <a16:colId xmlns:a16="http://schemas.microsoft.com/office/drawing/2014/main" val="2711368386"/>
                    </a:ext>
                  </a:extLst>
                </a:gridCol>
                <a:gridCol w="1968913">
                  <a:extLst>
                    <a:ext uri="{9D8B030D-6E8A-4147-A177-3AD203B41FA5}">
                      <a16:colId xmlns:a16="http://schemas.microsoft.com/office/drawing/2014/main" val="3671884398"/>
                    </a:ext>
                  </a:extLst>
                </a:gridCol>
                <a:gridCol w="590675">
                  <a:extLst>
                    <a:ext uri="{9D8B030D-6E8A-4147-A177-3AD203B41FA5}">
                      <a16:colId xmlns:a16="http://schemas.microsoft.com/office/drawing/2014/main" val="4181176337"/>
                    </a:ext>
                  </a:extLst>
                </a:gridCol>
                <a:gridCol w="2383422">
                  <a:extLst>
                    <a:ext uri="{9D8B030D-6E8A-4147-A177-3AD203B41FA5}">
                      <a16:colId xmlns:a16="http://schemas.microsoft.com/office/drawing/2014/main" val="344084583"/>
                    </a:ext>
                  </a:extLst>
                </a:gridCol>
                <a:gridCol w="1896375">
                  <a:extLst>
                    <a:ext uri="{9D8B030D-6E8A-4147-A177-3AD203B41FA5}">
                      <a16:colId xmlns:a16="http://schemas.microsoft.com/office/drawing/2014/main" val="2654206705"/>
                    </a:ext>
                  </a:extLst>
                </a:gridCol>
                <a:gridCol w="707254">
                  <a:extLst>
                    <a:ext uri="{9D8B030D-6E8A-4147-A177-3AD203B41FA5}">
                      <a16:colId xmlns:a16="http://schemas.microsoft.com/office/drawing/2014/main" val="1687988310"/>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31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936885104"/>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선박통신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정기룡</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777454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선박통신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김병옥</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7274950"/>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수면비행선박조종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이윤석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773543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수면비행선박조종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최학선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한국해양과학기술원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박사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454356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수면비행선박조종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강국진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한국해양과학기술원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박사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8260138"/>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수상레저기구조종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이재형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2438512"/>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수상레저기구조종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임장곤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중소조선연구원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팀장</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0107028"/>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수상레저기구조종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충남해양과학고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3538424"/>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해상관제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정중식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목포해양대학교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017721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해상관제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박성호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5605625"/>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해상관제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박영수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52530"/>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선박갑판관리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윤대근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목포해양대학교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05675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선박갑판관리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백인흠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부산해사고등학교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9446035"/>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선박갑판관리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박용선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6723592"/>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감정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검량</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박계각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목포해양대학교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872134"/>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감정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검량</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강성진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6560319"/>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감정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검량</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하정희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한국항만물류고등학교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4031788"/>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안경수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영암비행교육원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원장</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8585975"/>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김성국</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승진항공 비행학교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선임교관</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67952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윤종준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드림항공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대표</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9796179"/>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자가용항공기조종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유병선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9433780"/>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자가용항공기조종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류종현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0563384"/>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사업용항공기조종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장민식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 비행교육원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6302129"/>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사업용항공기조종</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홍재철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한국조종사교육원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본부장</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3223822"/>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사업용항공기조종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허신열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극동대학교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4565271"/>
                  </a:ext>
                </a:extLst>
              </a:tr>
            </a:tbl>
          </a:graphicData>
        </a:graphic>
      </p:graphicFrame>
    </p:spTree>
    <p:extLst>
      <p:ext uri="{BB962C8B-B14F-4D97-AF65-F5344CB8AC3E}">
        <p14:creationId xmlns:p14="http://schemas.microsoft.com/office/powerpoint/2010/main" val="6191925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D6E24488-292A-53AD-EAD2-27F2198155BF}"/>
              </a:ext>
            </a:extLst>
          </p:cNvPr>
          <p:cNvGraphicFramePr>
            <a:graphicFrameLocks noGrp="1"/>
          </p:cNvGraphicFramePr>
          <p:nvPr/>
        </p:nvGraphicFramePr>
        <p:xfrm>
          <a:off x="596899" y="2097088"/>
          <a:ext cx="8748713" cy="4392611"/>
        </p:xfrm>
        <a:graphic>
          <a:graphicData uri="http://schemas.openxmlformats.org/drawingml/2006/table">
            <a:tbl>
              <a:tblPr/>
              <a:tblGrid>
                <a:gridCol w="1202072">
                  <a:extLst>
                    <a:ext uri="{9D8B030D-6E8A-4147-A177-3AD203B41FA5}">
                      <a16:colId xmlns:a16="http://schemas.microsoft.com/office/drawing/2014/main" val="2911243710"/>
                    </a:ext>
                  </a:extLst>
                </a:gridCol>
                <a:gridCol w="1968916">
                  <a:extLst>
                    <a:ext uri="{9D8B030D-6E8A-4147-A177-3AD203B41FA5}">
                      <a16:colId xmlns:a16="http://schemas.microsoft.com/office/drawing/2014/main" val="3310945520"/>
                    </a:ext>
                  </a:extLst>
                </a:gridCol>
                <a:gridCol w="590674">
                  <a:extLst>
                    <a:ext uri="{9D8B030D-6E8A-4147-A177-3AD203B41FA5}">
                      <a16:colId xmlns:a16="http://schemas.microsoft.com/office/drawing/2014/main" val="3200843893"/>
                    </a:ext>
                  </a:extLst>
                </a:gridCol>
                <a:gridCol w="2383421">
                  <a:extLst>
                    <a:ext uri="{9D8B030D-6E8A-4147-A177-3AD203B41FA5}">
                      <a16:colId xmlns:a16="http://schemas.microsoft.com/office/drawing/2014/main" val="2718432395"/>
                    </a:ext>
                  </a:extLst>
                </a:gridCol>
                <a:gridCol w="1896375">
                  <a:extLst>
                    <a:ext uri="{9D8B030D-6E8A-4147-A177-3AD203B41FA5}">
                      <a16:colId xmlns:a16="http://schemas.microsoft.com/office/drawing/2014/main" val="3744968371"/>
                    </a:ext>
                  </a:extLst>
                </a:gridCol>
                <a:gridCol w="707255">
                  <a:extLst>
                    <a:ext uri="{9D8B030D-6E8A-4147-A177-3AD203B41FA5}">
                      <a16:colId xmlns:a16="http://schemas.microsoft.com/office/drawing/2014/main" val="2688245610"/>
                    </a:ext>
                  </a:extLst>
                </a:gridCol>
              </a:tblGrid>
              <a:tr h="157390">
                <a:tc>
                  <a:txBody>
                    <a:bodyPr/>
                    <a:lstStyle/>
                    <a:p>
                      <a:pPr algn="ctr" fontAlgn="ctr"/>
                      <a:r>
                        <a:rPr lang="ko-KR" altLang="en-US" sz="1000" b="1" i="0" u="none" strike="noStrike" dirty="0">
                          <a:solidFill>
                            <a:schemeClr val="bg1"/>
                          </a:solidFill>
                          <a:effectLst/>
                          <a:latin typeface="+mj-ea"/>
                          <a:ea typeface="+mj-ea"/>
                        </a:rPr>
                        <a:t>분야</a:t>
                      </a:r>
                    </a:p>
                  </a:txBody>
                  <a:tcPr marL="2286" marR="2286" marT="2286"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286" marR="2286" marT="228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286" marR="2286" marT="228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286" marR="2286" marT="228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286" marR="2286" marT="228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286" marR="2286" marT="2286"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266121062"/>
                  </a:ext>
                </a:extLst>
              </a:tr>
              <a:tr h="157390">
                <a:tc>
                  <a:txBody>
                    <a:bodyPr/>
                    <a:lstStyle/>
                    <a:p>
                      <a:pPr algn="ctr" fontAlgn="ctr"/>
                      <a:r>
                        <a:rPr lang="ko-KR" altLang="en-US" sz="1000" b="0" i="0" u="none" strike="noStrike" dirty="0">
                          <a:solidFill>
                            <a:srgbClr val="000000"/>
                          </a:solidFill>
                          <a:effectLst/>
                          <a:latin typeface="+mj-ea"/>
                          <a:ea typeface="+mj-ea"/>
                        </a:rPr>
                        <a:t>운전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운송용항공기조종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정윤식</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청주대학교 </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4377332"/>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운송용항공기조종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이호일</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중원대학교 </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7202374"/>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운송용항공기조종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권순종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극동대학교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6847156"/>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항공교통관제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이대근</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 한국공항공사 항공기술훈련원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415032"/>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항공교통관제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김도현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2197388"/>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항공교통관제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신성욱</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공군항공과학 고등학교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교관</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2746844"/>
                  </a:ext>
                </a:extLst>
              </a:tr>
              <a:tr h="157390">
                <a:tc>
                  <a:txBody>
                    <a:bodyPr/>
                    <a:lstStyle/>
                    <a:p>
                      <a:pPr algn="ctr" fontAlgn="ctr"/>
                      <a:r>
                        <a:rPr lang="ko-KR" altLang="en-US" sz="1000" b="0" i="0" u="none" strike="noStrike" dirty="0">
                          <a:solidFill>
                            <a:srgbClr val="000000"/>
                          </a:solidFill>
                          <a:effectLst/>
                          <a:latin typeface="+mj-ea"/>
                          <a:ea typeface="+mj-ea"/>
                        </a:rPr>
                        <a:t>운전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운항관리</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김정태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교통안전공단</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연구위원</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4847769"/>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운항관리</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노건수</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부교수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0559997"/>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운항관리</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김칠영</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468860"/>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항공안전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김천용</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호원대학교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5170232"/>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항공안전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장조원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9682809"/>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항공안전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한경근</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2802388"/>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항공보안</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노충남</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한국공항공사 항공기술훈련원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6663788"/>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항공보안</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이철웅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고려대학교 기술경영 전문대학원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8478605"/>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항공보안</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정기화</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한국항공직업 훈련학교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주임교수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4646600"/>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곽대영</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남서울대학교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3683899"/>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김병헌</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한국관광대학교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1082243"/>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백남규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경복대학교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2463285"/>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장순자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동신대학교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204772"/>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정점순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한국관광대학교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2012690"/>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항공화물운송사무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박영재</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4765993"/>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항공화물운송사무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정연봉</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연성대학교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462308"/>
                  </a:ext>
                </a:extLst>
              </a:tr>
              <a:tr h="2575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항공승객운송사무</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항공화물운송사무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이휘영</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인하공업전문대학</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4958546"/>
                  </a:ext>
                </a:extLst>
              </a:tr>
              <a:tr h="2575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rgbClr val="000000"/>
                          </a:solidFill>
                          <a:effectLst/>
                          <a:uLnTx/>
                          <a:uFillTx/>
                          <a:latin typeface="a고딕14"/>
                          <a:ea typeface="a고딕14"/>
                          <a:cs typeface="+mn-cs"/>
                        </a:rPr>
                        <a:t>항공승객운송사무</a:t>
                      </a:r>
                      <a:r>
                        <a:rPr kumimoji="0" lang="en-US" altLang="ko-KR" sz="1000" b="0" i="0" u="none" strike="noStrike" kern="1200" cap="none" spc="0" normalizeH="0" baseline="0" noProof="0">
                          <a:ln>
                            <a:noFill/>
                          </a:ln>
                          <a:solidFill>
                            <a:srgbClr val="000000"/>
                          </a:solidFill>
                          <a:effectLst/>
                          <a:uLnTx/>
                          <a:uFillTx/>
                          <a:latin typeface="a고딕14"/>
                          <a:ea typeface="a고딕14"/>
                          <a:cs typeface="+mn-cs"/>
                        </a:rPr>
                        <a:t>, </a:t>
                      </a:r>
                      <a:r>
                        <a:rPr kumimoji="0" lang="ko-KR" altLang="en-US" sz="1000" b="0" i="0" u="none" strike="noStrike" kern="1200" cap="none" spc="0" normalizeH="0" baseline="0" noProof="0">
                          <a:ln>
                            <a:noFill/>
                          </a:ln>
                          <a:solidFill>
                            <a:srgbClr val="000000"/>
                          </a:solidFill>
                          <a:effectLst/>
                          <a:uLnTx/>
                          <a:uFillTx/>
                          <a:latin typeface="a고딕14"/>
                          <a:ea typeface="a고딕14"/>
                          <a:cs typeface="+mn-cs"/>
                        </a:rPr>
                        <a:t>항공화물운송사무</a:t>
                      </a:r>
                      <a:endParaRPr kumimoji="0" lang="ko-KR" altLang="en-US" sz="1000" b="0" i="0" u="none" strike="noStrike" kern="1200" cap="none" spc="0" normalizeH="0" baseline="0" noProof="0" dirty="0">
                        <a:ln>
                          <a:noFill/>
                        </a:ln>
                        <a:solidFill>
                          <a:srgbClr val="000000"/>
                        </a:solidFill>
                        <a:effectLst/>
                        <a:uLnTx/>
                        <a:uFillTx/>
                        <a:latin typeface="a고딕14"/>
                        <a:ea typeface="a고딕14"/>
                        <a:cs typeface="+mn-cs"/>
                      </a:endParaRP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임재욱</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7351646"/>
                  </a:ext>
                </a:extLst>
              </a:tr>
              <a:tr h="2575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a고딕14"/>
                          <a:ea typeface="a고딕14"/>
                          <a:cs typeface="+mn-cs"/>
                        </a:rPr>
                        <a:t>항공승객운송사무</a:t>
                      </a:r>
                      <a:r>
                        <a:rPr kumimoji="0" lang="en-US" altLang="ko-KR" sz="1000" b="0" i="0" u="none" strike="noStrike" kern="1200" cap="none" spc="0" normalizeH="0" baseline="0" noProof="0" dirty="0">
                          <a:ln>
                            <a:noFill/>
                          </a:ln>
                          <a:solidFill>
                            <a:srgbClr val="000000"/>
                          </a:solidFill>
                          <a:effectLst/>
                          <a:uLnTx/>
                          <a:uFillTx/>
                          <a:latin typeface="a고딕14"/>
                          <a:ea typeface="a고딕14"/>
                          <a:cs typeface="+mn-cs"/>
                        </a:rPr>
                        <a:t>, </a:t>
                      </a:r>
                      <a:r>
                        <a:rPr kumimoji="0" lang="ko-KR" altLang="en-US" sz="1000" b="0" i="0" u="none" strike="noStrike" kern="1200" cap="none" spc="0" normalizeH="0" baseline="0" noProof="0" dirty="0">
                          <a:ln>
                            <a:noFill/>
                          </a:ln>
                          <a:solidFill>
                            <a:srgbClr val="000000"/>
                          </a:solidFill>
                          <a:effectLst/>
                          <a:uLnTx/>
                          <a:uFillTx/>
                          <a:latin typeface="a고딕14"/>
                          <a:ea typeface="a고딕14"/>
                          <a:cs typeface="+mn-cs"/>
                        </a:rPr>
                        <a:t>항공화물운송사무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하수동</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한국공항대학교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5550642"/>
                  </a:ext>
                </a:extLst>
              </a:tr>
            </a:tbl>
          </a:graphicData>
        </a:graphic>
      </p:graphicFrame>
    </p:spTree>
    <p:extLst>
      <p:ext uri="{BB962C8B-B14F-4D97-AF65-F5344CB8AC3E}">
        <p14:creationId xmlns:p14="http://schemas.microsoft.com/office/powerpoint/2010/main" val="25452876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descr="건물이(가) 표시된 사진&#10;&#10;자동 생성된 설명">
            <a:extLst>
              <a:ext uri="{FF2B5EF4-FFF2-40B4-BE49-F238E27FC236}">
                <a16:creationId xmlns:a16="http://schemas.microsoft.com/office/drawing/2014/main" id="{71C81A4E-ADCB-4B63-94F0-C8F79EF85912}"/>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5625"/>
          <a:stretch/>
        </p:blipFill>
        <p:spPr>
          <a:xfrm>
            <a:off x="0" y="642938"/>
            <a:ext cx="9905999" cy="5572125"/>
          </a:xfrm>
          <a:prstGeom prst="rect">
            <a:avLst/>
          </a:prstGeom>
        </p:spPr>
      </p:pic>
      <p:sp>
        <p:nvSpPr>
          <p:cNvPr id="11" name="직사각형 10">
            <a:extLst>
              <a:ext uri="{FF2B5EF4-FFF2-40B4-BE49-F238E27FC236}">
                <a16:creationId xmlns:a16="http://schemas.microsoft.com/office/drawing/2014/main" id="{9E272B60-6953-4ACF-821C-85E7CA29CC60}"/>
              </a:ext>
            </a:extLst>
          </p:cNvPr>
          <p:cNvSpPr/>
          <p:nvPr/>
        </p:nvSpPr>
        <p:spPr>
          <a:xfrm>
            <a:off x="0" y="0"/>
            <a:ext cx="9906000" cy="6858000"/>
          </a:xfrm>
          <a:prstGeom prst="rect">
            <a:avLst/>
          </a:prstGeom>
          <a:solidFill>
            <a:schemeClr val="tx1">
              <a:lumMod val="85000"/>
              <a:lumOff val="15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742950" eaLnBrk="1" fontAlgn="auto" hangingPunct="1">
              <a:spcBef>
                <a:spcPts val="0"/>
              </a:spcBef>
              <a:spcAft>
                <a:spcPts val="0"/>
              </a:spcAft>
              <a:buNone/>
              <a:defRPr/>
            </a:pPr>
            <a:endParaRPr lang="ko-KR" altLang="en-US" sz="1463" dirty="0">
              <a:solidFill>
                <a:prstClr val="white"/>
              </a:solidFill>
              <a:latin typeface="맑은 고딕" panose="020F0502020204030204"/>
              <a:ea typeface="맑은 고딕" panose="020B0503020000020004" pitchFamily="50" charset="-127"/>
            </a:endParaRPr>
          </a:p>
        </p:txBody>
      </p:sp>
      <p:sp>
        <p:nvSpPr>
          <p:cNvPr id="5" name="TextBox 4">
            <a:extLst>
              <a:ext uri="{FF2B5EF4-FFF2-40B4-BE49-F238E27FC236}">
                <a16:creationId xmlns:a16="http://schemas.microsoft.com/office/drawing/2014/main" id="{BB2FB8D3-1927-4CD3-A7C4-31D2A669FD96}"/>
              </a:ext>
            </a:extLst>
          </p:cNvPr>
          <p:cNvSpPr txBox="1"/>
          <p:nvPr/>
        </p:nvSpPr>
        <p:spPr>
          <a:xfrm>
            <a:off x="704528" y="1365536"/>
            <a:ext cx="2735044" cy="371897"/>
          </a:xfrm>
          <a:prstGeom prst="rect">
            <a:avLst/>
          </a:prstGeom>
          <a:noFill/>
        </p:spPr>
        <p:txBody>
          <a:bodyPr wrap="none" lIns="0" tIns="0" rIns="0" bIns="0" rtlCol="0">
            <a:spAutoFit/>
          </a:bodyPr>
          <a:lstStyle/>
          <a:p>
            <a:pPr algn="l" defTabSz="742950" eaLnBrk="1" fontAlgn="auto" hangingPunct="1">
              <a:lnSpc>
                <a:spcPts val="2925"/>
              </a:lnSpc>
              <a:spcBef>
                <a:spcPts val="0"/>
              </a:spcBef>
              <a:spcAft>
                <a:spcPts val="0"/>
              </a:spcAft>
              <a:buNone/>
              <a:defRPr/>
            </a:pPr>
            <a:r>
              <a:rPr lang="en-US" altLang="ko-KR" sz="40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THANK YOU</a:t>
            </a:r>
            <a:endParaRPr lang="ko-KR" altLang="en-US" sz="40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6" name="TextBox 5">
            <a:extLst>
              <a:ext uri="{FF2B5EF4-FFF2-40B4-BE49-F238E27FC236}">
                <a16:creationId xmlns:a16="http://schemas.microsoft.com/office/drawing/2014/main" id="{B945DFEC-73A2-4F1D-88BC-DCE6E2B59559}"/>
              </a:ext>
            </a:extLst>
          </p:cNvPr>
          <p:cNvSpPr txBox="1"/>
          <p:nvPr/>
        </p:nvSpPr>
        <p:spPr>
          <a:xfrm>
            <a:off x="848805" y="1994572"/>
            <a:ext cx="4943661" cy="158505"/>
          </a:xfrm>
          <a:prstGeom prst="rect">
            <a:avLst/>
          </a:prstGeom>
          <a:noFill/>
        </p:spPr>
        <p:txBody>
          <a:bodyPr wrap="none" lIns="0" tIns="0" rIns="0" bIns="0" rtlCol="0">
            <a:spAutoFit/>
          </a:bodyPr>
          <a:lstStyle/>
          <a:p>
            <a:pPr algn="l" defTabSz="742950" eaLnBrk="1" fontAlgn="auto" hangingPunct="1">
              <a:lnSpc>
                <a:spcPts val="1219"/>
              </a:lnSpc>
              <a:spcBef>
                <a:spcPts val="0"/>
              </a:spcBef>
              <a:spcAft>
                <a:spcPts val="0"/>
              </a:spcAft>
              <a:buNone/>
              <a:defRPr/>
            </a:pPr>
            <a:r>
              <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2025</a:t>
            </a:r>
            <a:r>
              <a:rPr lang="ko-KR" altLang="en-US"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년 </a:t>
            </a:r>
            <a:r>
              <a:rPr lang="ko-KR" altLang="en-US" sz="1400" dirty="0" err="1">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기술교육로드맵</a:t>
            </a:r>
            <a:r>
              <a:rPr lang="ko-KR" altLang="en-US"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 개발 및 신규과정 선정 연구용역</a:t>
            </a:r>
            <a:r>
              <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_</a:t>
            </a:r>
            <a:r>
              <a:rPr lang="ko-KR" altLang="en-US"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정성제안서</a:t>
            </a:r>
            <a:endPar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41790235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TITLE" val="2"/>
  <p:tag name="ROADMAP" val="1"/>
  <p:tag name="THINKCELLPRESENTATIONDONOTDELETE" val="&lt;?xml version=&quot;1.0&quot; encoding=&quot;UTF-16&quot; standalone=&quot;yes&quot;?&gt;&#10;&lt;root reqver=&quot;21047&quot;&gt;&lt;version val=&quot;23248&quot;/&gt;&lt;CPresentation id=&quot;1&quot;&gt;&lt;m_precDefaultNumber&gt;&lt;m_bNumberIsYear val=&quot;1&quot;/&gt;&lt;m_chMinusSymbol&gt;-&lt;/m_chMinusSymbol&gt;&lt;m_chDecimalSymbol17909&gt;.&lt;/m_chDecimalSymbol17909&gt;&lt;m_nGroupingDigits17909 val=&quot;3&quot;/&gt;&lt;m_chGroupingSymbol17909&gt;,&lt;/m_chGroupingSymbol17909&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precDefaultPercent&gt;&lt;m_precDefaultDate&gt;&lt;m_bNumberIsYear val=&quot;0&quot;/&gt;&lt;m_strFormatTime&gt;%Y-%m-%d&lt;/m_strFormatTime&gt;&lt;/m_precDefaultDate&gt;&lt;m_precDefaultYear/&gt;&lt;m_precDefaultQuarter/&gt;&lt;m_precDefaultMonth/&gt;&lt;m_precDefaultWeek/&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VftmelsgBUePgy_NUQgnr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OrT58Q_ruEyJMXah4bw0I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QpXX8FrQIE6NP2xhy7sA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iHQ5HaSq0KpPbr8Pt1lf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uTWPlclGk6yn4P6dCpd0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muTWPlclGk6yn4P6dCpd0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muTWPlclGk6yn4P6dCpd0w"/>
</p:tagLst>
</file>

<file path=ppt/theme/theme1.xml><?xml version="1.0" encoding="utf-8"?>
<a:theme xmlns:a="http://schemas.openxmlformats.org/drawingml/2006/main" name="KSA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Arial Narrow"/>
        <a:ea typeface="a고딕14"/>
        <a:cs typeface=""/>
      </a:majorFont>
      <a:minorFont>
        <a:latin typeface="Arial Narrow"/>
        <a:ea typeface="a고딕14"/>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tx1">
              <a:lumMod val="50000"/>
              <a:lumOff val="50000"/>
            </a:schemeClr>
          </a:solidFill>
        </a:ln>
      </a:spPr>
      <a:bodyPr lIns="0" rIns="0" rtlCol="0" anchor="ctr"/>
      <a:lstStyle>
        <a:defPPr marL="171450" indent="-171450" algn="l">
          <a:buFont typeface="Arial" panose="020B0604020202020204" pitchFamily="34" charset="0"/>
          <a:buChar char="•"/>
          <a:defRPr dirty="0" err="1" smtClean="0">
            <a:solidFill>
              <a:schemeClr val="tx1"/>
            </a:solidFill>
            <a:latin typeface="Arial Narrow" panose="020B0606020202030204" pitchFamily="34" charset="0"/>
            <a:ea typeface="a고딕14" panose="02020600000000000000" pitchFamily="18"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buNone/>
          <a:defRPr dirty="0">
            <a:latin typeface="Arial Narrow" panose="020B0606020202030204" pitchFamily="34" charset="0"/>
            <a:ea typeface="a고딕14" panose="02020600000000000000" pitchFamily="18" charset="-127"/>
          </a:defRPr>
        </a:defPPr>
      </a:lstStyle>
    </a:txDef>
  </a:objectDefaults>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267922</TotalTime>
  <Words>15049</Words>
  <Application>Microsoft Office PowerPoint</Application>
  <PresentationFormat>A4 용지(210x297mm)</PresentationFormat>
  <Paragraphs>5376</Paragraphs>
  <Slides>68</Slides>
  <Notes>0</Notes>
  <HiddenSlides>0</HiddenSlides>
  <MMClips>0</MMClips>
  <ScaleCrop>false</ScaleCrop>
  <HeadingPairs>
    <vt:vector size="6" baseType="variant">
      <vt:variant>
        <vt:lpstr>사용한 글꼴</vt:lpstr>
      </vt:variant>
      <vt:variant>
        <vt:i4>17</vt:i4>
      </vt:variant>
      <vt:variant>
        <vt:lpstr>테마</vt:lpstr>
      </vt:variant>
      <vt:variant>
        <vt:i4>1</vt:i4>
      </vt:variant>
      <vt:variant>
        <vt:lpstr>슬라이드 제목</vt:lpstr>
      </vt:variant>
      <vt:variant>
        <vt:i4>68</vt:i4>
      </vt:variant>
    </vt:vector>
  </HeadingPairs>
  <TitlesOfParts>
    <vt:vector size="86" baseType="lpstr">
      <vt:lpstr>a고딕15</vt:lpstr>
      <vt:lpstr>a고딕18</vt:lpstr>
      <vt:lpstr>HY헤드라인M</vt:lpstr>
      <vt:lpstr>Montserrat Light</vt:lpstr>
      <vt:lpstr>나눔스퀘어 네오 Bold</vt:lpstr>
      <vt:lpstr>나눔스퀘어_ac Bold</vt:lpstr>
      <vt:lpstr>함초롬바탕</vt:lpstr>
      <vt:lpstr>Arial</vt:lpstr>
      <vt:lpstr>Arial Narrow</vt:lpstr>
      <vt:lpstr>a고딕12</vt:lpstr>
      <vt:lpstr>a고딕14</vt:lpstr>
      <vt:lpstr>a고딕14</vt:lpstr>
      <vt:lpstr>a고딕16</vt:lpstr>
      <vt:lpstr>Noto Sans Symbols</vt:lpstr>
      <vt:lpstr>Wingdings</vt:lpstr>
      <vt:lpstr>Wingdings 2</vt:lpstr>
      <vt:lpstr>맑은 고딕</vt:lpstr>
      <vt:lpstr>KSA Master</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시앤피컨설팅</dc:creator>
  <dc:description>.</dc:description>
  <cp:lastModifiedBy>김준식</cp:lastModifiedBy>
  <cp:revision>16110</cp:revision>
  <cp:lastPrinted>2024-06-27T01:11:14Z</cp:lastPrinted>
  <dcterms:created xsi:type="dcterms:W3CDTF">2002-03-21T10:45:59Z</dcterms:created>
  <dcterms:modified xsi:type="dcterms:W3CDTF">2025-05-14T03:56:20Z</dcterms:modified>
</cp:coreProperties>
</file>