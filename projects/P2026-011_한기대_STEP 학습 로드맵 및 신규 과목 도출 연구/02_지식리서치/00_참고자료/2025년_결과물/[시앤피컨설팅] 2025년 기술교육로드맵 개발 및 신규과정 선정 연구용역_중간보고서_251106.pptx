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4366" r:id="rId1"/>
    <p:sldMasterId id="2147484395" r:id="rId2"/>
  </p:sldMasterIdLst>
  <p:notesMasterIdLst>
    <p:notesMasterId r:id="rId37"/>
  </p:notesMasterIdLst>
  <p:handoutMasterIdLst>
    <p:handoutMasterId r:id="rId38"/>
  </p:handoutMasterIdLst>
  <p:sldIdLst>
    <p:sldId id="5392" r:id="rId3"/>
    <p:sldId id="5456" r:id="rId4"/>
    <p:sldId id="5429" r:id="rId5"/>
    <p:sldId id="5435" r:id="rId6"/>
    <p:sldId id="5436" r:id="rId7"/>
    <p:sldId id="5439" r:id="rId8"/>
    <p:sldId id="5473" r:id="rId9"/>
    <p:sldId id="5463" r:id="rId10"/>
    <p:sldId id="5464" r:id="rId11"/>
    <p:sldId id="5437" r:id="rId12"/>
    <p:sldId id="5460" r:id="rId13"/>
    <p:sldId id="5462" r:id="rId14"/>
    <p:sldId id="5461" r:id="rId15"/>
    <p:sldId id="5465" r:id="rId16"/>
    <p:sldId id="5466" r:id="rId17"/>
    <p:sldId id="5467" r:id="rId18"/>
    <p:sldId id="5468" r:id="rId19"/>
    <p:sldId id="5474" r:id="rId20"/>
    <p:sldId id="5475" r:id="rId21"/>
    <p:sldId id="5472" r:id="rId22"/>
    <p:sldId id="5441" r:id="rId23"/>
    <p:sldId id="5470" r:id="rId24"/>
    <p:sldId id="5442" r:id="rId25"/>
    <p:sldId id="5480" r:id="rId26"/>
    <p:sldId id="5455" r:id="rId27"/>
    <p:sldId id="5458" r:id="rId28"/>
    <p:sldId id="5459" r:id="rId29"/>
    <p:sldId id="5471" r:id="rId30"/>
    <p:sldId id="5481" r:id="rId31"/>
    <p:sldId id="5457" r:id="rId32"/>
    <p:sldId id="5476" r:id="rId33"/>
    <p:sldId id="5479" r:id="rId34"/>
    <p:sldId id="5477" r:id="rId35"/>
    <p:sldId id="5478" r:id="rId36"/>
  </p:sldIdLst>
  <p:sldSz cx="9906000" cy="6858000" type="A4"/>
  <p:notesSz cx="6797675" cy="9926638"/>
  <p:custDataLst>
    <p:tags r:id="rId39"/>
  </p:custDataLst>
  <p:defaultTextStyle>
    <a:defPPr>
      <a:defRPr lang="en-US"/>
    </a:defPPr>
    <a:lvl1pPr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1pPr>
    <a:lvl2pPr marL="4572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2pPr>
    <a:lvl3pPr marL="9144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3pPr>
    <a:lvl4pPr marL="13716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4pPr>
    <a:lvl5pPr marL="18288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sz="12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sz="12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sz="12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sz="1200" kern="1200">
        <a:solidFill>
          <a:schemeClr val="tx1"/>
        </a:solidFill>
        <a:latin typeface="맑은 고딕" pitchFamily="50" charset="-127"/>
        <a:ea typeface="맑은 고딕" pitchFamily="50" charset="-127"/>
        <a:cs typeface="+mn-cs"/>
      </a:defRPr>
    </a:lvl9pPr>
  </p:defaultTextStyle>
  <p:extLst>
    <p:ext uri="{EFAFB233-063F-42B5-8137-9DF3F51BA10A}">
      <p15:sldGuideLst xmlns:p15="http://schemas.microsoft.com/office/powerpoint/2012/main">
        <p15:guide id="10" pos="2871" userDrawn="1">
          <p15:clr>
            <a:srgbClr val="A4A3A4"/>
          </p15:clr>
        </p15:guide>
        <p15:guide id="11" pos="3347" userDrawn="1">
          <p15:clr>
            <a:srgbClr val="A4A3A4"/>
          </p15:clr>
        </p15:guide>
        <p15:guide id="13" orient="horz" pos="1321" userDrawn="1">
          <p15:clr>
            <a:srgbClr val="A4A3A4"/>
          </p15:clr>
        </p15:guide>
        <p15:guide id="15" orient="horz" pos="4088" userDrawn="1">
          <p15:clr>
            <a:srgbClr val="A4A3A4"/>
          </p15:clr>
        </p15:guide>
        <p15:guide id="16" pos="988" userDrawn="1">
          <p15:clr>
            <a:srgbClr val="A4A3A4"/>
          </p15:clr>
        </p15:guide>
        <p15:guide id="17" pos="2893"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이 나강" initials="이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EF4"/>
    <a:srgbClr val="3061A3"/>
    <a:srgbClr val="212E55"/>
    <a:srgbClr val="565B6B"/>
    <a:srgbClr val="90A0D4"/>
    <a:srgbClr val="F2DCDB"/>
    <a:srgbClr val="E6E6E6"/>
    <a:srgbClr val="82B5DE"/>
    <a:srgbClr val="DCF1F9"/>
    <a:srgbClr val="535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6400" autoAdjust="0"/>
  </p:normalViewPr>
  <p:slideViewPr>
    <p:cSldViewPr snapToObjects="1" showGuides="1">
      <p:cViewPr varScale="1">
        <p:scale>
          <a:sx n="110" d="100"/>
          <a:sy n="110" d="100"/>
        </p:scale>
        <p:origin x="1560" y="102"/>
      </p:cViewPr>
      <p:guideLst>
        <p:guide pos="2871"/>
        <p:guide pos="3347"/>
        <p:guide orient="horz" pos="1321"/>
        <p:guide orient="horz" pos="4088"/>
        <p:guide pos="988"/>
        <p:guide pos="2893"/>
      </p:guideLst>
    </p:cSldViewPr>
  </p:slideViewPr>
  <p:outlineViewPr>
    <p:cViewPr>
      <p:scale>
        <a:sx n="33" d="100"/>
        <a:sy n="33" d="100"/>
      </p:scale>
      <p:origin x="0" y="-19062"/>
    </p:cViewPr>
  </p:outlin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77" d="100"/>
          <a:sy n="77" d="100"/>
        </p:scale>
        <p:origin x="4002" y="102"/>
      </p:cViewPr>
      <p:guideLst>
        <p:guide orient="horz" pos="3127"/>
        <p:guide pos="2142"/>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37720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3"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1" name="Rectangle 3"/>
          <p:cNvSpPr>
            <a:spLocks noGrp="1" noChangeArrowheads="1"/>
          </p:cNvSpPr>
          <p:nvPr>
            <p:ph type="dt" idx="1"/>
          </p:nvPr>
        </p:nvSpPr>
        <p:spPr bwMode="auto">
          <a:xfrm>
            <a:off x="3851282"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endParaRPr lang="en-US" altLang="ko-KR"/>
          </a:p>
        </p:txBody>
      </p:sp>
      <p:sp>
        <p:nvSpPr>
          <p:cNvPr id="36868" name="Rectangle 4"/>
          <p:cNvSpPr>
            <a:spLocks noGrp="1" noRot="1" noChangeAspect="1" noChangeArrowheads="1" noTextEdit="1"/>
          </p:cNvSpPr>
          <p:nvPr>
            <p:ph type="sldImg" idx="2"/>
          </p:nvPr>
        </p:nvSpPr>
        <p:spPr bwMode="auto">
          <a:xfrm>
            <a:off x="720725" y="750888"/>
            <a:ext cx="5356225" cy="370840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04879" y="4716474"/>
            <a:ext cx="4987928" cy="4467225"/>
          </a:xfrm>
          <a:prstGeom prst="rect">
            <a:avLst/>
          </a:prstGeom>
          <a:noFill/>
          <a:ln w="9525">
            <a:noFill/>
            <a:miter lim="800000"/>
            <a:headEnd/>
            <a:tailEnd/>
          </a:ln>
          <a:effectLst/>
        </p:spPr>
        <p:txBody>
          <a:bodyPr vert="horz" wrap="square" lIns="92303" tIns="46152" rIns="92303" bIns="46152"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2054" name="Rectangle 6"/>
          <p:cNvSpPr>
            <a:spLocks noGrp="1" noChangeArrowheads="1"/>
          </p:cNvSpPr>
          <p:nvPr>
            <p:ph type="ftr" sz="quarter" idx="4"/>
          </p:nvPr>
        </p:nvSpPr>
        <p:spPr bwMode="auto">
          <a:xfrm>
            <a:off x="3"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5" name="Rectangle 7"/>
          <p:cNvSpPr>
            <a:spLocks noGrp="1" noChangeArrowheads="1"/>
          </p:cNvSpPr>
          <p:nvPr>
            <p:ph type="sldNum" sz="quarter" idx="5"/>
          </p:nvPr>
        </p:nvSpPr>
        <p:spPr bwMode="auto">
          <a:xfrm>
            <a:off x="3851282"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fld id="{592A95EC-C496-42B2-89C7-B8C7B2B00234}" type="slidenum">
              <a:rPr lang="ko-KR" altLang="en-US"/>
              <a:pPr>
                <a:defRPr/>
              </a:pPr>
              <a:t>‹#›</a:t>
            </a:fld>
            <a:endParaRPr lang="en-US" altLang="ko-KR"/>
          </a:p>
        </p:txBody>
      </p:sp>
    </p:spTree>
    <p:extLst>
      <p:ext uri="{BB962C8B-B14F-4D97-AF65-F5344CB8AC3E}">
        <p14:creationId xmlns:p14="http://schemas.microsoft.com/office/powerpoint/2010/main" val="9654389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Master" Target="../slideMasters/slideMaster2.xml"/><Relationship Id="rId4" Type="http://schemas.openxmlformats.org/officeDocument/2006/relationships/tags" Target="../tags/tag1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703833-0C9E-4F6D-AA2F-C4C6FB848439}"/>
              </a:ext>
            </a:extLst>
          </p:cNvPr>
          <p:cNvSpPr>
            <a:spLocks noGrp="1"/>
          </p:cNvSpPr>
          <p:nvPr>
            <p:ph type="title" hasCustomPrompt="1"/>
          </p:nvPr>
        </p:nvSpPr>
        <p:spPr>
          <a:xfrm>
            <a:off x="333511" y="365126"/>
            <a:ext cx="8543925" cy="792162"/>
          </a:xfrm>
          <a:prstGeom prst="rect">
            <a:avLst/>
          </a:prstGeom>
        </p:spPr>
        <p:txBody>
          <a:bodyPr/>
          <a:lstStyle>
            <a:lvl1pPr>
              <a:defRPr baseline="0">
                <a:latin typeface="Arial Narrow" panose="020B0606020202030204" pitchFamily="34" charset="0"/>
                <a:ea typeface="HY헤드라인M" panose="02030600000101010101" pitchFamily="18" charset="-127"/>
              </a:defRPr>
            </a:lvl1pPr>
          </a:lstStyle>
          <a:p>
            <a:r>
              <a:rPr lang="en-US" altLang="ko-KR" dirty="0"/>
              <a:t>Client logo/name</a:t>
            </a:r>
            <a:endParaRPr lang="ko-KR" altLang="en-US" dirty="0"/>
          </a:p>
        </p:txBody>
      </p:sp>
      <p:sp>
        <p:nvSpPr>
          <p:cNvPr id="7" name="텍스트 개체 틀 6">
            <a:extLst>
              <a:ext uri="{FF2B5EF4-FFF2-40B4-BE49-F238E27FC236}">
                <a16:creationId xmlns:a16="http://schemas.microsoft.com/office/drawing/2014/main" id="{35713C86-C8B7-4DDB-B85A-7F87B681B953}"/>
              </a:ext>
            </a:extLst>
          </p:cNvPr>
          <p:cNvSpPr>
            <a:spLocks noGrp="1"/>
          </p:cNvSpPr>
          <p:nvPr>
            <p:ph type="body" sz="quarter" idx="10" hasCustomPrompt="1"/>
          </p:nvPr>
        </p:nvSpPr>
        <p:spPr>
          <a:xfrm>
            <a:off x="165100" y="3458684"/>
            <a:ext cx="3132138" cy="1158448"/>
          </a:xfrm>
          <a:prstGeom prst="rect">
            <a:avLst/>
          </a:prstGeom>
        </p:spPr>
        <p:txBody>
          <a:bodyPr>
            <a:noAutofit/>
          </a:bodyPr>
          <a:lstStyle>
            <a:lvl1pPr marL="0" indent="0">
              <a:buFont typeface="+mj-lt"/>
              <a:buNone/>
              <a:defRPr sz="3500" baseline="0">
                <a:latin typeface="Arial Narrow" panose="020B0606020202030204" pitchFamily="34" charset="0"/>
                <a:ea typeface="나눔고딕" panose="020D0604000000000000" pitchFamily="50" charset="-127"/>
              </a:defRPr>
            </a:lvl1pPr>
            <a:lvl2pPr marL="800100" indent="-342900">
              <a:buFont typeface="+mj-lt"/>
              <a:buAutoNum type="alphaUcPeriod"/>
              <a:defRPr sz="1600" baseline="0">
                <a:latin typeface="Arial Narrow" panose="020B0606020202030204" pitchFamily="34" charset="0"/>
                <a:ea typeface="나눔고딕" panose="020D0604000000000000" pitchFamily="50" charset="-127"/>
              </a:defRPr>
            </a:lvl2pPr>
            <a:lvl3pPr marL="1257300" indent="-342900">
              <a:buFont typeface="+mj-lt"/>
              <a:buAutoNum type="alphaUcPeriod"/>
              <a:defRPr sz="1600" baseline="0">
                <a:latin typeface="Arial Narrow" panose="020B0606020202030204" pitchFamily="34" charset="0"/>
                <a:ea typeface="나눔고딕" panose="020D0604000000000000" pitchFamily="50" charset="-127"/>
              </a:defRPr>
            </a:lvl3pPr>
            <a:lvl4pPr marL="1714500" indent="-342900">
              <a:buFont typeface="+mj-lt"/>
              <a:buAutoNum type="alphaUcPeriod"/>
              <a:defRPr sz="1600" baseline="0">
                <a:latin typeface="Arial Narrow" panose="020B0606020202030204" pitchFamily="34" charset="0"/>
                <a:ea typeface="나눔고딕" panose="020D0604000000000000" pitchFamily="50" charset="-127"/>
              </a:defRPr>
            </a:lvl4pPr>
            <a:lvl5pPr marL="2171700" indent="-342900">
              <a:buFont typeface="+mj-lt"/>
              <a:buAutoNum type="alphaUcPeriod"/>
              <a:defRPr sz="1600" baseline="0">
                <a:latin typeface="Arial Narrow" panose="020B0606020202030204" pitchFamily="34" charset="0"/>
                <a:ea typeface="나눔고딕" panose="020D0604000000000000" pitchFamily="50" charset="-127"/>
              </a:defRPr>
            </a:lvl5pPr>
          </a:lstStyle>
          <a:p>
            <a:pPr lvl="0"/>
            <a:r>
              <a:rPr lang="en-US" altLang="ko-KR" dirty="0"/>
              <a:t>Project name or</a:t>
            </a:r>
            <a:br>
              <a:rPr lang="en-US" altLang="ko-KR" dirty="0"/>
            </a:br>
            <a:r>
              <a:rPr lang="en-US" altLang="ko-KR" dirty="0"/>
              <a:t>document title</a:t>
            </a:r>
            <a:endParaRPr lang="ko-KR" altLang="en-US" dirty="0"/>
          </a:p>
        </p:txBody>
      </p:sp>
      <p:sp>
        <p:nvSpPr>
          <p:cNvPr id="4" name="텍스트 개체 틀 3">
            <a:extLst>
              <a:ext uri="{FF2B5EF4-FFF2-40B4-BE49-F238E27FC236}">
                <a16:creationId xmlns:a16="http://schemas.microsoft.com/office/drawing/2014/main" id="{0F6E4A80-B419-4FDD-94D7-015C97AD76AD}"/>
              </a:ext>
            </a:extLst>
          </p:cNvPr>
          <p:cNvSpPr>
            <a:spLocks noGrp="1"/>
          </p:cNvSpPr>
          <p:nvPr>
            <p:ph type="body" sz="quarter" idx="11" hasCustomPrompt="1"/>
          </p:nvPr>
        </p:nvSpPr>
        <p:spPr>
          <a:xfrm>
            <a:off x="165100" y="4760913"/>
            <a:ext cx="3132138" cy="647700"/>
          </a:xfrm>
        </p:spPr>
        <p:txBody>
          <a:bodyPr/>
          <a:lstStyle>
            <a:lvl1pPr>
              <a:defRPr/>
            </a:lvl1pPr>
          </a:lstStyle>
          <a:p>
            <a:pPr lvl="0"/>
            <a:r>
              <a:rPr lang="en-US" altLang="ko-KR" dirty="0"/>
              <a:t>Type of document</a:t>
            </a:r>
            <a:br>
              <a:rPr lang="en-US" altLang="ko-KR" dirty="0"/>
            </a:br>
            <a:r>
              <a:rPr lang="en-US" altLang="ko-KR" dirty="0"/>
              <a:t>(max. two lines)</a:t>
            </a:r>
            <a:endParaRPr lang="ko-KR" altLang="en-US" dirty="0"/>
          </a:p>
        </p:txBody>
      </p:sp>
      <p:sp>
        <p:nvSpPr>
          <p:cNvPr id="6" name="텍스트 개체 틀 5">
            <a:extLst>
              <a:ext uri="{FF2B5EF4-FFF2-40B4-BE49-F238E27FC236}">
                <a16:creationId xmlns:a16="http://schemas.microsoft.com/office/drawing/2014/main" id="{EB0ED209-5BE8-4414-9A0B-484C61EB0687}"/>
              </a:ext>
            </a:extLst>
          </p:cNvPr>
          <p:cNvSpPr>
            <a:spLocks noGrp="1"/>
          </p:cNvSpPr>
          <p:nvPr>
            <p:ph type="body" sz="quarter" idx="12" hasCustomPrompt="1"/>
          </p:nvPr>
        </p:nvSpPr>
        <p:spPr>
          <a:xfrm>
            <a:off x="165100" y="5900529"/>
            <a:ext cx="3132138" cy="396875"/>
          </a:xfrm>
        </p:spPr>
        <p:txBody>
          <a:bodyPr>
            <a:noAutofit/>
          </a:bodyPr>
          <a:lstStyle>
            <a:lvl1pPr>
              <a:defRPr sz="1200"/>
            </a:lvl1pPr>
            <a:lvl2pPr>
              <a:defRPr sz="1400"/>
            </a:lvl2pPr>
            <a:lvl3pPr>
              <a:defRPr sz="1400"/>
            </a:lvl3pPr>
            <a:lvl4pPr>
              <a:defRPr sz="1400"/>
            </a:lvl4pPr>
            <a:lvl5pPr>
              <a:defRPr sz="1400"/>
            </a:lvl5pPr>
          </a:lstStyle>
          <a:p>
            <a:pPr lvl="0"/>
            <a:r>
              <a:rPr lang="en-US" altLang="ko-KR" dirty="0"/>
              <a:t>Location, date of presentation (month, day, year)</a:t>
            </a:r>
            <a:endParaRPr lang="ko-KR" altLang="en-US" dirty="0"/>
          </a:p>
        </p:txBody>
      </p:sp>
    </p:spTree>
    <p:extLst>
      <p:ext uri="{BB962C8B-B14F-4D97-AF65-F5344CB8AC3E}">
        <p14:creationId xmlns:p14="http://schemas.microsoft.com/office/powerpoint/2010/main" val="270413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4" name="Contents Title">
            <a:extLst>
              <a:ext uri="{FF2B5EF4-FFF2-40B4-BE49-F238E27FC236}">
                <a16:creationId xmlns:a16="http://schemas.microsoft.com/office/drawing/2014/main" id="{22519FFB-4565-460E-A334-C3B9CB768600}"/>
              </a:ext>
            </a:extLst>
          </p:cNvPr>
          <p:cNvSpPr txBox="1">
            <a:spLocks/>
          </p:cNvSpPr>
          <p:nvPr userDrawn="1">
            <p:custDataLst>
              <p:tags r:id="rId1"/>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lnSpc>
                <a:spcPct val="93000"/>
              </a:lnSpc>
              <a:defRPr/>
            </a:lvl1pPr>
          </a:lstStyle>
          <a:p>
            <a:pPr eaLnBrk="1" fontAlgn="auto" latinLnBrk="0" hangingPunct="1">
              <a:spcAft>
                <a:spcPts val="0"/>
              </a:spcAft>
              <a:buFontTx/>
              <a:buNone/>
              <a:tabLst>
                <a:tab pos="8532813" algn="r"/>
              </a:tabLst>
              <a:defRPr/>
            </a:pPr>
            <a:r>
              <a:rPr lang="en-US" altLang="de-DE" sz="2100" b="0" noProof="1">
                <a:solidFill>
                  <a:srgbClr val="716D6D"/>
                </a:solidFill>
                <a:latin typeface="Arial Narrow"/>
                <a:ea typeface="Malgun Gothic"/>
                <a:sym typeface="+mn-lt"/>
              </a:rPr>
              <a:t>Contents	Page</a:t>
            </a:r>
          </a:p>
        </p:txBody>
      </p:sp>
      <p:sp>
        <p:nvSpPr>
          <p:cNvPr id="15" name="Title">
            <a:extLst>
              <a:ext uri="{FF2B5EF4-FFF2-40B4-BE49-F238E27FC236}">
                <a16:creationId xmlns:a16="http://schemas.microsoft.com/office/drawing/2014/main" id="{AE0059D1-7D76-45FE-B358-1893E5D116A8}"/>
              </a:ext>
            </a:extLst>
          </p:cNvPr>
          <p:cNvSpPr txBox="1">
            <a:spLocks/>
          </p:cNvSpPr>
          <p:nvPr userDrawn="1">
            <p:custDataLst>
              <p:tags r:id="rId2"/>
            </p:custDataLst>
          </p:nvPr>
        </p:nvSpPr>
        <p:spPr>
          <a:xfrm>
            <a:off x="1314902" y="1040400"/>
            <a:ext cx="792000" cy="300531"/>
          </a:xfrm>
          <a:prstGeom prst="rect">
            <a:avLst/>
          </a:prstGeom>
        </p:spPr>
        <p:txBody>
          <a:bodyPr vert="horz" lIns="0" tIns="0" rIns="0" bIns="0" rtlCol="0" anchor="t" anchorCtr="0">
            <a:noAutofit/>
          </a:bodyPr>
          <a:lstStyle>
            <a:lvl1pPr marL="0" indent="0" algn="r" defTabSz="914400" rtl="0" eaLnBrk="1" latinLnBrk="0" hangingPunct="1">
              <a:lnSpc>
                <a:spcPct val="93000"/>
              </a:lnSpc>
              <a:spcBef>
                <a:spcPct val="0"/>
              </a:spcBef>
              <a:buNone/>
              <a:tabLst/>
              <a:defRPr lang="en-US" sz="2100" b="0" kern="1200" baseline="0" dirty="0">
                <a:solidFill>
                  <a:schemeClr val="tx2"/>
                </a:solidFill>
                <a:latin typeface="+mj-lt"/>
                <a:ea typeface="+mj-ea"/>
                <a:cs typeface="+mj-cs"/>
                <a:sym typeface="+mn-lt"/>
              </a:defRPr>
            </a:lvl1pPr>
          </a:lstStyle>
          <a:p>
            <a:pPr marL="0" marR="0" lvl="0" indent="0" algn="r" defTabSz="914400" rtl="0" eaLnBrk="1" fontAlgn="auto" latinLnBrk="0" hangingPunct="1">
              <a:lnSpc>
                <a:spcPct val="93000"/>
              </a:lnSpc>
              <a:spcBef>
                <a:spcPct val="0"/>
              </a:spcBef>
              <a:spcAft>
                <a:spcPts val="0"/>
              </a:spcAft>
              <a:buClrTx/>
              <a:buSzTx/>
              <a:buFontTx/>
              <a:buNone/>
              <a:tabLst/>
              <a:defRPr/>
            </a:pPr>
            <a:r>
              <a:rPr kumimoji="0" lang="ko-KR" altLang="en-US" sz="2100" b="0" i="0" u="none" strike="noStrike" kern="1200" cap="none" spc="0" normalizeH="0" baseline="0" noProof="1">
                <a:ln>
                  <a:noFill/>
                </a:ln>
                <a:solidFill>
                  <a:srgbClr val="716D6D"/>
                </a:solidFill>
                <a:effectLst/>
                <a:uLnTx/>
                <a:uFillTx/>
                <a:latin typeface="Arial Narrow"/>
                <a:ea typeface="Malgun Gothic"/>
                <a:cs typeface="+mj-cs"/>
                <a:sym typeface="+mn-lt"/>
              </a:rPr>
              <a:t>  </a:t>
            </a:r>
          </a:p>
        </p:txBody>
      </p:sp>
      <p:sp>
        <p:nvSpPr>
          <p:cNvPr id="21" name="텍스트 개체 틀 20">
            <a:extLst>
              <a:ext uri="{FF2B5EF4-FFF2-40B4-BE49-F238E27FC236}">
                <a16:creationId xmlns:a16="http://schemas.microsoft.com/office/drawing/2014/main" id="{EFD165CC-1485-46D5-8009-4DD5E2BBBDC7}"/>
              </a:ext>
            </a:extLst>
          </p:cNvPr>
          <p:cNvSpPr>
            <a:spLocks noGrp="1"/>
          </p:cNvSpPr>
          <p:nvPr>
            <p:ph type="body" sz="quarter" idx="10" hasCustomPrompt="1"/>
          </p:nvPr>
        </p:nvSpPr>
        <p:spPr>
          <a:xfrm>
            <a:off x="738000" y="1628775"/>
            <a:ext cx="7851404" cy="4188825"/>
          </a:xfrm>
          <a:prstGeom prst="rect">
            <a:avLst/>
          </a:prstGeom>
        </p:spPr>
        <p:txBody>
          <a:bodyPr/>
          <a:lstStyle>
            <a:lvl1pPr marL="266700" indent="-266700">
              <a:buFont typeface="+mj-lt"/>
              <a:buAutoNum type="romanUcPeriod"/>
              <a:defRPr sz="1900" b="0" baseline="0">
                <a:latin typeface="Arial Narrow" panose="020B0606020202030204" pitchFamily="34" charset="0"/>
                <a:ea typeface="나눔고딕" panose="020D0604000000000000" pitchFamily="50" charset="-127"/>
              </a:defRPr>
            </a:lvl1pPr>
            <a:lvl2pPr marL="715963" indent="-258763">
              <a:buFont typeface="+mj-lt"/>
              <a:buAutoNum type="alphaUcPeriod"/>
              <a:defRPr sz="1900" b="0" baseline="0">
                <a:latin typeface="Arial Narrow" panose="020B0606020202030204" pitchFamily="34" charset="0"/>
                <a:ea typeface="나눔고딕" panose="020D0604000000000000" pitchFamily="50" charset="-127"/>
              </a:defRPr>
            </a:lvl2pPr>
            <a:lvl3pPr marL="1165225" indent="-250825">
              <a:buFont typeface="+mj-lt"/>
              <a:buAutoNum type="arabicParenR"/>
              <a:defRPr sz="1900" b="0" baseline="0">
                <a:latin typeface="Arial Narrow" panose="020B0606020202030204" pitchFamily="34" charset="0"/>
                <a:ea typeface="나눔고딕" panose="020D0604000000000000" pitchFamily="50" charset="-127"/>
              </a:defRPr>
            </a:lvl3pPr>
            <a:lvl4pPr marL="1714500" indent="-342900">
              <a:buFont typeface="+mj-lt"/>
              <a:buAutoNum type="alphaUcPeriod"/>
              <a:defRPr sz="1400" b="0" baseline="0">
                <a:latin typeface="Arial Narrow" panose="020B0606020202030204" pitchFamily="34" charset="0"/>
                <a:ea typeface="HY헤드라인M" panose="02030600000101010101" pitchFamily="18" charset="-127"/>
              </a:defRPr>
            </a:lvl4pPr>
            <a:lvl5pPr marL="2171700" indent="-342900">
              <a:buFont typeface="+mj-lt"/>
              <a:buAutoNum type="alphaUcPeriod"/>
              <a:defRPr sz="1400" b="0" baseline="0">
                <a:latin typeface="Arial Narrow" panose="020B0606020202030204" pitchFamily="34" charset="0"/>
                <a:ea typeface="HY헤드라인M" panose="02030600000101010101" pitchFamily="18" charset="-127"/>
              </a:defRPr>
            </a:lvl5pPr>
          </a:lstStyle>
          <a:p>
            <a:pPr lvl="0"/>
            <a:r>
              <a:rPr lang="en-US" altLang="ko-KR" dirty="0"/>
              <a:t>xxx					</a:t>
            </a:r>
            <a:endParaRPr lang="ko-KR" altLang="en-US" dirty="0"/>
          </a:p>
          <a:p>
            <a:pPr lvl="1"/>
            <a:r>
              <a:rPr lang="en-US" altLang="ko-KR"/>
              <a:t>xxx</a:t>
            </a:r>
            <a:endParaRPr lang="ko-KR" altLang="en-US" dirty="0"/>
          </a:p>
        </p:txBody>
      </p:sp>
      <p:sp>
        <p:nvSpPr>
          <p:cNvPr id="25" name="텍스트 개체 틀 24">
            <a:extLst>
              <a:ext uri="{FF2B5EF4-FFF2-40B4-BE49-F238E27FC236}">
                <a16:creationId xmlns:a16="http://schemas.microsoft.com/office/drawing/2014/main" id="{BA87B230-93A4-43C7-80AA-EECBA22115BF}"/>
              </a:ext>
            </a:extLst>
          </p:cNvPr>
          <p:cNvSpPr>
            <a:spLocks noGrp="1"/>
          </p:cNvSpPr>
          <p:nvPr>
            <p:ph type="body" sz="quarter" idx="11" hasCustomPrompt="1"/>
          </p:nvPr>
        </p:nvSpPr>
        <p:spPr>
          <a:xfrm>
            <a:off x="8769350" y="1628775"/>
            <a:ext cx="539750" cy="4188825"/>
          </a:xfrm>
          <a:prstGeom prst="rect">
            <a:avLst/>
          </a:prstGeom>
        </p:spPr>
        <p:txBody>
          <a:bodyPr/>
          <a:lstStyle>
            <a:lvl1pPr marL="0" indent="0" algn="r">
              <a:buFontTx/>
              <a:buNone/>
              <a:defRPr sz="1900" b="0" baseline="0">
                <a:latin typeface="Arial Narrow" panose="020B0606020202030204" pitchFamily="34" charset="0"/>
                <a:ea typeface="나눔고딕" panose="020D0604000000000000" pitchFamily="50" charset="-127"/>
              </a:defRPr>
            </a:lvl1pPr>
            <a:lvl2pPr marL="457200" indent="0" algn="l">
              <a:buFontTx/>
              <a:buNone/>
              <a:defRPr sz="1900" baseline="0">
                <a:latin typeface="Arial Narrow" panose="020B0606020202030204" pitchFamily="34" charset="0"/>
                <a:ea typeface="나눔고딕" panose="020D0604000000000000" pitchFamily="50" charset="-127"/>
              </a:defRPr>
            </a:lvl2pPr>
            <a:lvl3pPr marL="914400" indent="0" algn="l">
              <a:buFontTx/>
              <a:buNone/>
              <a:defRPr sz="1900" baseline="0">
                <a:latin typeface="Arial Narrow" panose="020B0606020202030204" pitchFamily="34" charset="0"/>
                <a:ea typeface="나눔고딕" panose="020D0604000000000000" pitchFamily="50" charset="-127"/>
              </a:defRPr>
            </a:lvl3pPr>
            <a:lvl4pPr marL="1371600" indent="0" algn="l">
              <a:buFontTx/>
              <a:buNone/>
              <a:defRPr sz="1900" baseline="0">
                <a:latin typeface="Arial Narrow" panose="020B0606020202030204" pitchFamily="34" charset="0"/>
                <a:ea typeface="나눔고딕" panose="020D0604000000000000" pitchFamily="50" charset="-127"/>
              </a:defRPr>
            </a:lvl4pPr>
            <a:lvl5pPr marL="1828800" indent="0" algn="l">
              <a:buFontTx/>
              <a:buNone/>
              <a:defRPr sz="1900" baseline="0">
                <a:latin typeface="Arial Narrow" panose="020B0606020202030204" pitchFamily="34" charset="0"/>
                <a:ea typeface="나눔고딕" panose="020D0604000000000000" pitchFamily="50" charset="-127"/>
              </a:defRPr>
            </a:lvl5pPr>
          </a:lstStyle>
          <a:p>
            <a:pPr lvl="0"/>
            <a:r>
              <a:rPr lang="en-US" altLang="ko-KR" dirty="0"/>
              <a:t>xx</a:t>
            </a:r>
            <a:endParaRPr lang="ko-KR" altLang="en-US" dirty="0"/>
          </a:p>
        </p:txBody>
      </p:sp>
    </p:spTree>
    <p:extLst>
      <p:ext uri="{BB962C8B-B14F-4D97-AF65-F5344CB8AC3E}">
        <p14:creationId xmlns:p14="http://schemas.microsoft.com/office/powerpoint/2010/main" val="860782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5" name="Slide Number Placeholder" hidden="1"/>
          <p:cNvSpPr>
            <a:spLocks noGrp="1"/>
          </p:cNvSpPr>
          <p:nvPr>
            <p:ph type="sldNum" sz="quarter" idx="11"/>
            <p:custDataLst>
              <p:tags r:id="rId1"/>
            </p:custDataLst>
          </p:nvPr>
        </p:nvSpPr>
        <p:spPr>
          <a:xfrm>
            <a:off x="9972000" y="178643"/>
            <a:ext cx="24046" cy="30778"/>
          </a:xfrm>
          <a:prstGeom prst="rect">
            <a:avLst/>
          </a:prstGeom>
        </p:spPr>
        <p:txBody>
          <a:bodyPr vert="horz" wrap="none" lIns="0" tIns="0" rIns="0" bIns="0" rtlCol="0" anchor="ctr">
            <a:spAutoFit/>
          </a:bodyPr>
          <a:lstStyle>
            <a:lvl1pPr algn="l">
              <a:defRPr sz="200" b="0">
                <a:solidFill>
                  <a:schemeClr val="bg1">
                    <a:lumMod val="75000"/>
                  </a:schemeClr>
                </a:solidFill>
                <a:latin typeface="+mn-lt"/>
                <a:cs typeface="+mn-cs"/>
                <a:sym typeface="+mn-lt"/>
              </a:defRPr>
            </a:lvl1pPr>
          </a:lstStyle>
          <a:p>
            <a:fld id="{01940DDA-0656-452C-A408-68789653BD9B}" type="slidenum">
              <a:rPr lang="en-US" smtClean="0">
                <a:latin typeface="+mn-lt"/>
              </a:rPr>
              <a:pPr/>
              <a:t>‹#›</a:t>
            </a:fld>
            <a:endParaRPr lang="en-US" dirty="0">
              <a:latin typeface="+mn-lt"/>
            </a:endParaRPr>
          </a:p>
        </p:txBody>
      </p:sp>
      <p:sp>
        <p:nvSpPr>
          <p:cNvPr id="16" name="Footer Placeholder" hidden="1"/>
          <p:cNvSpPr>
            <a:spLocks noGrp="1"/>
          </p:cNvSpPr>
          <p:nvPr>
            <p:ph type="ftr" sz="quarter" idx="12"/>
            <p:custDataLst>
              <p:tags r:id="rId2"/>
            </p:custDataLst>
          </p:nvPr>
        </p:nvSpPr>
        <p:spPr>
          <a:xfrm>
            <a:off x="9972000" y="228649"/>
            <a:ext cx="65" cy="30778"/>
          </a:xfrm>
          <a:prstGeom prst="rect">
            <a:avLst/>
          </a:prstGeom>
        </p:spPr>
        <p:txBody>
          <a:bodyPr vert="horz" wrap="none" lIns="0" tIns="0" rIns="0" bIns="0" rtlCol="0" anchor="t" anchorCtr="0">
            <a:spAutoFit/>
          </a:bodyPr>
          <a:lstStyle>
            <a:lvl1pPr algn="l" rtl="0" fontAlgn="base">
              <a:lnSpc>
                <a:spcPct val="100000"/>
              </a:lnSpc>
              <a:spcBef>
                <a:spcPts val="0"/>
              </a:spcBef>
              <a:spcAft>
                <a:spcPct val="0"/>
              </a:spcAft>
              <a:defRPr lang="en-US" sz="200" b="0" kern="1200" smtClean="0">
                <a:solidFill>
                  <a:schemeClr val="bg1">
                    <a:lumMod val="75000"/>
                  </a:schemeClr>
                </a:solidFill>
                <a:latin typeface="+mn-lt"/>
                <a:ea typeface="+mn-ea"/>
                <a:cs typeface="+mn-cs"/>
                <a:sym typeface="+mn-lt"/>
              </a:defRPr>
            </a:lvl1pPr>
          </a:lstStyle>
          <a:p>
            <a:endParaRPr lang="de-DE" dirty="0">
              <a:latin typeface="+mn-lt"/>
            </a:endParaRPr>
          </a:p>
        </p:txBody>
      </p:sp>
      <p:sp>
        <p:nvSpPr>
          <p:cNvPr id="10" name="Contents Title"/>
          <p:cNvSpPr txBox="1">
            <a:spLocks/>
          </p:cNvSpPr>
          <p:nvPr>
            <p:custDataLst>
              <p:tags r:id="rId3"/>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algn="l" eaLnBrk="1" fontAlgn="auto" latinLnBrk="0" hangingPunct="1">
              <a:lnSpc>
                <a:spcPct val="93000"/>
              </a:lnSpc>
              <a:spcAft>
                <a:spcPts val="0"/>
              </a:spcAft>
              <a:buFontTx/>
              <a:buNone/>
              <a:tabLst>
                <a:tab pos="8532813" algn="r"/>
              </a:tabLst>
              <a:defRPr sz="2100">
                <a:solidFill>
                  <a:srgbClr val="716D6D"/>
                </a:solidFill>
                <a:latin typeface="Arial Narrow"/>
                <a:ea typeface="Malgun Gothic"/>
              </a:defRPr>
            </a:lvl1pPr>
          </a:lstStyle>
          <a:p>
            <a:pPr lvl="0"/>
            <a:r>
              <a:rPr lang="en-US" altLang="de-DE" noProof="1">
                <a:latin typeface="Arial Narrow" panose="020B0606020202030204" pitchFamily="34" charset="0"/>
                <a:ea typeface="a고딕14" panose="02020600000000000000" pitchFamily="18" charset="-127"/>
                <a:sym typeface="+mn-lt"/>
              </a:rPr>
              <a:t>Contents	Page</a:t>
            </a:r>
          </a:p>
        </p:txBody>
      </p:sp>
      <p:sp>
        <p:nvSpPr>
          <p:cNvPr id="3" name="내용 개체 틀 2">
            <a:extLst>
              <a:ext uri="{FF2B5EF4-FFF2-40B4-BE49-F238E27FC236}">
                <a16:creationId xmlns:a16="http://schemas.microsoft.com/office/drawing/2014/main" id="{222BD9DC-DB0A-475B-9EC2-61D20DBBFAF0}"/>
              </a:ext>
            </a:extLst>
          </p:cNvPr>
          <p:cNvSpPr>
            <a:spLocks noGrp="1"/>
          </p:cNvSpPr>
          <p:nvPr>
            <p:ph sz="quarter" idx="13"/>
          </p:nvPr>
        </p:nvSpPr>
        <p:spPr>
          <a:xfrm>
            <a:off x="738188" y="1952625"/>
            <a:ext cx="8643937" cy="3168650"/>
          </a:xfrm>
        </p:spPr>
        <p:txBody>
          <a:bodyPr>
            <a:normAutofit/>
          </a:bodyPr>
          <a:lstStyle>
            <a:lvl1pPr marL="400050" indent="-400050" defTabSz="4124325">
              <a:buFont typeface="+mj-lt"/>
              <a:buAutoNum type="romanUcPeriod"/>
              <a:defRPr sz="1800">
                <a:latin typeface="Arial Narrow" panose="020B0606020202030204" pitchFamily="34" charset="0"/>
                <a:ea typeface="a고딕14" panose="02020600000000000000" pitchFamily="18" charset="-127"/>
              </a:defRPr>
            </a:lvl1pPr>
            <a:lvl2pPr marL="857250" indent="-400050">
              <a:buFont typeface="+mj-lt"/>
              <a:buAutoNum type="romanUcPeriod"/>
              <a:defRPr sz="1800">
                <a:latin typeface="Arial Narrow" panose="020B0606020202030204" pitchFamily="34" charset="0"/>
                <a:ea typeface="a고딕14" panose="02020600000000000000" pitchFamily="18" charset="-127"/>
              </a:defRPr>
            </a:lvl2pPr>
            <a:lvl3pPr marL="1314450" indent="-400050">
              <a:buFont typeface="+mj-lt"/>
              <a:buAutoNum type="romanUcPeriod"/>
              <a:defRPr sz="1800">
                <a:latin typeface="Arial Narrow" panose="020B0606020202030204" pitchFamily="34" charset="0"/>
                <a:ea typeface="a고딕14" panose="02020600000000000000" pitchFamily="18" charset="-127"/>
              </a:defRPr>
            </a:lvl3pPr>
            <a:lvl4pPr marL="1771650" indent="-400050">
              <a:buFont typeface="+mj-lt"/>
              <a:buAutoNum type="romanUcPeriod"/>
              <a:defRPr sz="1800">
                <a:latin typeface="Arial Narrow" panose="020B0606020202030204" pitchFamily="34" charset="0"/>
                <a:ea typeface="a고딕14" panose="02020600000000000000" pitchFamily="18" charset="-127"/>
              </a:defRPr>
            </a:lvl4pPr>
            <a:lvl5pPr marL="2228850" indent="-400050">
              <a:buFont typeface="+mj-lt"/>
              <a:buAutoNum type="romanUcPeriod"/>
              <a:defRPr sz="1800">
                <a:latin typeface="Arial Narrow" panose="020B0606020202030204" pitchFamily="34" charset="0"/>
                <a:ea typeface="a고딕14" panose="02020600000000000000"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Note: Exclusive dealing">
            <a:extLst>
              <a:ext uri="{FF2B5EF4-FFF2-40B4-BE49-F238E27FC236}">
                <a16:creationId xmlns:a16="http://schemas.microsoft.com/office/drawing/2014/main" id="{8156DDEC-F00F-4DC5-81B0-7C0F199B3C3E}"/>
              </a:ext>
            </a:extLst>
          </p:cNvPr>
          <p:cNvSpPr txBox="1">
            <a:spLocks noChangeArrowheads="1"/>
          </p:cNvSpPr>
          <p:nvPr userDrawn="1">
            <p:custDataLst>
              <p:tags r:id="rId4"/>
            </p:custDataLst>
          </p:nvPr>
        </p:nvSpPr>
        <p:spPr bwMode="auto">
          <a:xfrm>
            <a:off x="738000" y="6003191"/>
            <a:ext cx="8535600" cy="830997"/>
          </a:xfrm>
          <a:prstGeom prst="rect">
            <a:avLst/>
          </a:prstGeom>
          <a:noFill/>
          <a:ln w="9525">
            <a:noFill/>
            <a:miter lim="800000"/>
            <a:headEnd/>
            <a:tailEnd/>
          </a:ln>
        </p:spPr>
        <p:txBody>
          <a:bodyPr lIns="0" tIns="0" rIns="0" bIns="0" anchor="b" anchorCtr="0">
            <a:spAutoFit/>
          </a:bodyPr>
          <a:lstStyle/>
          <a:p>
            <a:pPr algn="l" latinLnBrk="0">
              <a:buFontTx/>
              <a:buNone/>
            </a:pPr>
            <a:r>
              <a:rPr kumimoji="1" lang="en-US" altLang="de-DE" sz="900" dirty="0">
                <a:solidFill>
                  <a:srgbClr val="000000"/>
                </a:solidFill>
                <a:latin typeface="Arial Narrow"/>
                <a:ea typeface="Malgun Gothic"/>
                <a:sym typeface="+mn-lt"/>
              </a:rPr>
              <a:t>This document shall be treated as confidential. It has been compiled for the exclusive, internal use by our client and is not complete without the underlying detail analyses and the oral presentation. It may not be passed on and/or may not be made available to third parties without prior written consent from □□□. □□□ does not assume any responsibility for the completeness and accuracy of the statements made in this document.        </a:t>
            </a: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r>
              <a:rPr kumimoji="1" lang="en-US" altLang="de-DE" sz="900" dirty="0">
                <a:solidFill>
                  <a:srgbClr val="000000"/>
                </a:solidFill>
                <a:latin typeface="Arial Narrow"/>
                <a:ea typeface="Malgun Gothic"/>
                <a:sym typeface="+mn-lt"/>
              </a:rPr>
              <a:t>© </a:t>
            </a:r>
            <a:r>
              <a:rPr kumimoji="1" lang="en-US" altLang="de-DE" sz="900" dirty="0">
                <a:solidFill>
                  <a:srgbClr val="000000"/>
                </a:solidFill>
                <a:latin typeface="a고딕14" panose="02020600000000000000" pitchFamily="18" charset="-127"/>
                <a:ea typeface="a고딕14" panose="02020600000000000000" pitchFamily="18" charset="-127"/>
                <a:sym typeface="+mn-lt"/>
              </a:rPr>
              <a:t>□□□ </a:t>
            </a:r>
            <a:r>
              <a:rPr kumimoji="1" lang="en-US" altLang="de-DE" sz="900" dirty="0">
                <a:solidFill>
                  <a:srgbClr val="000000"/>
                </a:solidFill>
                <a:latin typeface="Arial Narrow"/>
                <a:ea typeface="Malgun Gothic"/>
                <a:sym typeface="+mn-lt"/>
              </a:rPr>
              <a:t>Consulting Group</a:t>
            </a:r>
          </a:p>
        </p:txBody>
      </p:sp>
    </p:spTree>
    <p:extLst>
      <p:ext uri="{BB962C8B-B14F-4D97-AF65-F5344CB8AC3E}">
        <p14:creationId xmlns:p14="http://schemas.microsoft.com/office/powerpoint/2010/main" val="216533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1800" baseline="0">
                <a:latin typeface="Arial Narrow" panose="020B0606020202030204" pitchFamily="34" charset="0"/>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6766380" y="6604048"/>
            <a:ext cx="2579232" cy="138499"/>
          </a:xfrm>
          <a:prstGeom prst="rect">
            <a:avLst/>
          </a:prstGeom>
          <a:noFill/>
        </p:spPr>
        <p:txBody>
          <a:bodyPr wrap="none" lIns="0" tIns="0" rIns="0" bIns="0" rtlCol="0" anchor="ctr">
            <a:spAutoFit/>
          </a:bodyPr>
          <a:lstStyle/>
          <a:p>
            <a:pPr lvl="0" algn="r">
              <a:buNone/>
            </a:pP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2025</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년 </a:t>
            </a:r>
            <a:r>
              <a:rPr lang="ko-KR" altLang="en-US" sz="900" b="0" baseline="0" dirty="0" err="1">
                <a:solidFill>
                  <a:schemeClr val="tx1">
                    <a:lumMod val="50000"/>
                    <a:lumOff val="50000"/>
                  </a:schemeClr>
                </a:solidFill>
                <a:latin typeface="a고딕14" panose="02020600000000000000" pitchFamily="18" charset="-127"/>
                <a:ea typeface="a고딕14" panose="02020600000000000000" pitchFamily="18" charset="-127"/>
              </a:rPr>
              <a:t>기술교육로드맵</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 개발 및 신규과정 선정 연구용역</a:t>
            </a:r>
          </a:p>
        </p:txBody>
      </p:sp>
      <p:sp>
        <p:nvSpPr>
          <p:cNvPr id="9" name="텍스트 개체 틀 2">
            <a:extLst>
              <a:ext uri="{FF2B5EF4-FFF2-40B4-BE49-F238E27FC236}">
                <a16:creationId xmlns:a16="http://schemas.microsoft.com/office/drawing/2014/main" id="{EF38405C-6921-4AD3-BA7F-6DC4A0698857}"/>
              </a:ext>
            </a:extLst>
          </p:cNvPr>
          <p:cNvSpPr>
            <a:spLocks noGrp="1"/>
          </p:cNvSpPr>
          <p:nvPr>
            <p:ph type="body" sz="quarter" idx="14" hasCustomPrompt="1"/>
          </p:nvPr>
        </p:nvSpPr>
        <p:spPr>
          <a:xfrm>
            <a:off x="596516" y="1664744"/>
            <a:ext cx="2644901" cy="331935"/>
          </a:xfrm>
        </p:spPr>
        <p:txBody>
          <a:bodyPr vert="horz" wrap="none" lIns="0" tIns="0" rIns="0" bIns="0" rtlCol="0" anchor="ctr">
            <a:noAutofit/>
          </a:bodyPr>
          <a:lstStyle>
            <a:lvl1pPr>
              <a:defRPr lang="ko-KR" altLang="en-US" sz="1800" baseline="0" smtClean="0">
                <a:solidFill>
                  <a:schemeClr val="tx1">
                    <a:lumMod val="50000"/>
                    <a:lumOff val="50000"/>
                  </a:schemeClr>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8" name="텍스트 개체 틀 2">
            <a:extLst>
              <a:ext uri="{FF2B5EF4-FFF2-40B4-BE49-F238E27FC236}">
                <a16:creationId xmlns:a16="http://schemas.microsoft.com/office/drawing/2014/main" id="{8FD22BAF-09E9-4509-8C9F-1CF6A4E6EE68}"/>
              </a:ext>
            </a:extLst>
          </p:cNvPr>
          <p:cNvSpPr>
            <a:spLocks noGrp="1"/>
          </p:cNvSpPr>
          <p:nvPr>
            <p:ph type="body" sz="quarter" idx="16" hasCustomPrompt="1"/>
          </p:nvPr>
        </p:nvSpPr>
        <p:spPr>
          <a:xfrm>
            <a:off x="7293260" y="138529"/>
            <a:ext cx="2052352" cy="446155"/>
          </a:xfrm>
        </p:spPr>
        <p:txBody>
          <a:bodyPr vert="horz" wrap="none" lIns="0" tIns="0" rIns="0" bIns="0" rtlCol="0" anchor="ctr">
            <a:noAutofit/>
          </a:bodyPr>
          <a:lstStyle>
            <a:lvl1pPr algn="r">
              <a:defRPr lang="ko-KR" altLang="en-US" sz="1100" baseline="0" smtClean="0">
                <a:solidFill>
                  <a:schemeClr val="tx1">
                    <a:lumMod val="50000"/>
                    <a:lumOff val="50000"/>
                  </a:schemeClr>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pic>
        <p:nvPicPr>
          <p:cNvPr id="4" name="그림 3">
            <a:extLst>
              <a:ext uri="{FF2B5EF4-FFF2-40B4-BE49-F238E27FC236}">
                <a16:creationId xmlns:a16="http://schemas.microsoft.com/office/drawing/2014/main" id="{2066F6EE-B576-CD4A-1DA0-616B7B0D4A53}"/>
              </a:ext>
            </a:extLst>
          </p:cNvPr>
          <p:cNvPicPr>
            <a:picLocks noChangeAspect="1"/>
          </p:cNvPicPr>
          <p:nvPr userDrawn="1"/>
        </p:nvPicPr>
        <p:blipFill>
          <a:blip r:embed="rId2"/>
          <a:stretch>
            <a:fillRect/>
          </a:stretch>
        </p:blipFill>
        <p:spPr>
          <a:xfrm>
            <a:off x="-1779748" y="0"/>
            <a:ext cx="1590897" cy="2286319"/>
          </a:xfrm>
          <a:prstGeom prst="rect">
            <a:avLst/>
          </a:prstGeom>
        </p:spPr>
      </p:pic>
    </p:spTree>
    <p:extLst>
      <p:ext uri="{BB962C8B-B14F-4D97-AF65-F5344CB8AC3E}">
        <p14:creationId xmlns:p14="http://schemas.microsoft.com/office/powerpoint/2010/main" val="2241783230"/>
      </p:ext>
    </p:extLst>
  </p:cSld>
  <p:clrMapOvr>
    <a:masterClrMapping/>
  </p:clrMapOvr>
  <p:extLst>
    <p:ext uri="{DCECCB84-F9BA-43D5-87BE-67443E8EF086}">
      <p15:sldGuideLst xmlns:p15="http://schemas.microsoft.com/office/powerpoint/2012/main">
        <p15:guide id="1" pos="376" userDrawn="1">
          <p15:clr>
            <a:srgbClr val="FBAE40"/>
          </p15:clr>
        </p15:guide>
        <p15:guide id="2" pos="5887" userDrawn="1">
          <p15:clr>
            <a:srgbClr val="FBAE40"/>
          </p15:clr>
        </p15:guide>
        <p15:guide id="3" orient="horz" pos="1049" userDrawn="1">
          <p15:clr>
            <a:srgbClr val="FBAE40"/>
          </p15:clr>
        </p15:guide>
        <p15:guide id="4" orient="horz" pos="1525" userDrawn="1">
          <p15:clr>
            <a:srgbClr val="FBAE40"/>
          </p15:clr>
        </p15:guide>
        <p15:guide id="5" orient="horz" pos="1570" userDrawn="1">
          <p15:clr>
            <a:srgbClr val="FBAE40"/>
          </p15:clr>
        </p15:guide>
        <p15:guide id="6" orient="horz" pos="4088" userDrawn="1">
          <p15:clr>
            <a:srgbClr val="FBAE40"/>
          </p15:clr>
        </p15:guide>
        <p15:guide id="7"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CACFC-B33A-4DF3-8F64-99FDB96005F8}"/>
              </a:ext>
            </a:extLst>
          </p:cNvPr>
          <p:cNvSpPr txBox="1"/>
          <p:nvPr userDrawn="1"/>
        </p:nvSpPr>
        <p:spPr>
          <a:xfrm>
            <a:off x="7931763" y="6604048"/>
            <a:ext cx="1413849"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온라인 교육훈련 수요조사 용역</a:t>
            </a:r>
          </a:p>
        </p:txBody>
      </p:sp>
      <p:sp>
        <p:nvSpPr>
          <p:cNvPr id="3"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1392444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703833-0C9E-4F6D-AA2F-C4C6FB848439}"/>
              </a:ext>
            </a:extLst>
          </p:cNvPr>
          <p:cNvSpPr>
            <a:spLocks noGrp="1"/>
          </p:cNvSpPr>
          <p:nvPr>
            <p:ph type="title" hasCustomPrompt="1"/>
          </p:nvPr>
        </p:nvSpPr>
        <p:spPr>
          <a:xfrm>
            <a:off x="333511" y="365126"/>
            <a:ext cx="8543925" cy="792162"/>
          </a:xfrm>
          <a:prstGeom prst="rect">
            <a:avLst/>
          </a:prstGeom>
        </p:spPr>
        <p:txBody>
          <a:bodyPr/>
          <a:lstStyle>
            <a:lvl1pPr>
              <a:defRPr baseline="0">
                <a:latin typeface="Arial Narrow" panose="020B0606020202030204" pitchFamily="34" charset="0"/>
                <a:ea typeface="HY헤드라인M" panose="02030600000101010101" pitchFamily="18" charset="-127"/>
              </a:defRPr>
            </a:lvl1pPr>
          </a:lstStyle>
          <a:p>
            <a:r>
              <a:rPr lang="en-US" altLang="ko-KR" dirty="0"/>
              <a:t>Client logo/name</a:t>
            </a:r>
            <a:endParaRPr lang="ko-KR" altLang="en-US" dirty="0"/>
          </a:p>
        </p:txBody>
      </p:sp>
      <p:sp>
        <p:nvSpPr>
          <p:cNvPr id="7" name="텍스트 개체 틀 6">
            <a:extLst>
              <a:ext uri="{FF2B5EF4-FFF2-40B4-BE49-F238E27FC236}">
                <a16:creationId xmlns:a16="http://schemas.microsoft.com/office/drawing/2014/main" id="{35713C86-C8B7-4DDB-B85A-7F87B681B953}"/>
              </a:ext>
            </a:extLst>
          </p:cNvPr>
          <p:cNvSpPr>
            <a:spLocks noGrp="1"/>
          </p:cNvSpPr>
          <p:nvPr>
            <p:ph type="body" sz="quarter" idx="10" hasCustomPrompt="1"/>
          </p:nvPr>
        </p:nvSpPr>
        <p:spPr>
          <a:xfrm>
            <a:off x="165100" y="3458684"/>
            <a:ext cx="3132138" cy="1158448"/>
          </a:xfrm>
          <a:prstGeom prst="rect">
            <a:avLst/>
          </a:prstGeom>
        </p:spPr>
        <p:txBody>
          <a:bodyPr>
            <a:noAutofit/>
          </a:bodyPr>
          <a:lstStyle>
            <a:lvl1pPr marL="0" indent="0">
              <a:buFont typeface="+mj-lt"/>
              <a:buNone/>
              <a:defRPr sz="3500" baseline="0">
                <a:latin typeface="Arial Narrow" panose="020B0606020202030204" pitchFamily="34" charset="0"/>
                <a:ea typeface="나눔고딕" panose="020D0604000000000000" pitchFamily="50" charset="-127"/>
              </a:defRPr>
            </a:lvl1pPr>
            <a:lvl2pPr marL="800100" indent="-342900">
              <a:buFont typeface="+mj-lt"/>
              <a:buAutoNum type="alphaUcPeriod"/>
              <a:defRPr sz="1600" baseline="0">
                <a:latin typeface="Arial Narrow" panose="020B0606020202030204" pitchFamily="34" charset="0"/>
                <a:ea typeface="나눔고딕" panose="020D0604000000000000" pitchFamily="50" charset="-127"/>
              </a:defRPr>
            </a:lvl2pPr>
            <a:lvl3pPr marL="1257300" indent="-342900">
              <a:buFont typeface="+mj-lt"/>
              <a:buAutoNum type="alphaUcPeriod"/>
              <a:defRPr sz="1600" baseline="0">
                <a:latin typeface="Arial Narrow" panose="020B0606020202030204" pitchFamily="34" charset="0"/>
                <a:ea typeface="나눔고딕" panose="020D0604000000000000" pitchFamily="50" charset="-127"/>
              </a:defRPr>
            </a:lvl3pPr>
            <a:lvl4pPr marL="1714500" indent="-342900">
              <a:buFont typeface="+mj-lt"/>
              <a:buAutoNum type="alphaUcPeriod"/>
              <a:defRPr sz="1600" baseline="0">
                <a:latin typeface="Arial Narrow" panose="020B0606020202030204" pitchFamily="34" charset="0"/>
                <a:ea typeface="나눔고딕" panose="020D0604000000000000" pitchFamily="50" charset="-127"/>
              </a:defRPr>
            </a:lvl4pPr>
            <a:lvl5pPr marL="2171700" indent="-342900">
              <a:buFont typeface="+mj-lt"/>
              <a:buAutoNum type="alphaUcPeriod"/>
              <a:defRPr sz="1600" baseline="0">
                <a:latin typeface="Arial Narrow" panose="020B0606020202030204" pitchFamily="34" charset="0"/>
                <a:ea typeface="나눔고딕" panose="020D0604000000000000" pitchFamily="50" charset="-127"/>
              </a:defRPr>
            </a:lvl5pPr>
          </a:lstStyle>
          <a:p>
            <a:pPr lvl="0"/>
            <a:r>
              <a:rPr lang="en-US" altLang="ko-KR" dirty="0"/>
              <a:t>Project name or</a:t>
            </a:r>
            <a:br>
              <a:rPr lang="en-US" altLang="ko-KR" dirty="0"/>
            </a:br>
            <a:r>
              <a:rPr lang="en-US" altLang="ko-KR" dirty="0"/>
              <a:t>document title</a:t>
            </a:r>
            <a:endParaRPr lang="ko-KR" altLang="en-US" dirty="0"/>
          </a:p>
        </p:txBody>
      </p:sp>
      <p:sp>
        <p:nvSpPr>
          <p:cNvPr id="4" name="텍스트 개체 틀 3">
            <a:extLst>
              <a:ext uri="{FF2B5EF4-FFF2-40B4-BE49-F238E27FC236}">
                <a16:creationId xmlns:a16="http://schemas.microsoft.com/office/drawing/2014/main" id="{0F6E4A80-B419-4FDD-94D7-015C97AD76AD}"/>
              </a:ext>
            </a:extLst>
          </p:cNvPr>
          <p:cNvSpPr>
            <a:spLocks noGrp="1"/>
          </p:cNvSpPr>
          <p:nvPr>
            <p:ph type="body" sz="quarter" idx="11" hasCustomPrompt="1"/>
          </p:nvPr>
        </p:nvSpPr>
        <p:spPr>
          <a:xfrm>
            <a:off x="165100" y="4760913"/>
            <a:ext cx="3132138" cy="647700"/>
          </a:xfrm>
        </p:spPr>
        <p:txBody>
          <a:bodyPr/>
          <a:lstStyle>
            <a:lvl1pPr>
              <a:defRPr/>
            </a:lvl1pPr>
          </a:lstStyle>
          <a:p>
            <a:pPr lvl="0"/>
            <a:r>
              <a:rPr lang="en-US" altLang="ko-KR" dirty="0"/>
              <a:t>Type of document</a:t>
            </a:r>
            <a:br>
              <a:rPr lang="en-US" altLang="ko-KR" dirty="0"/>
            </a:br>
            <a:r>
              <a:rPr lang="en-US" altLang="ko-KR" dirty="0"/>
              <a:t>(max. two lines)</a:t>
            </a:r>
            <a:endParaRPr lang="ko-KR" altLang="en-US" dirty="0"/>
          </a:p>
        </p:txBody>
      </p:sp>
      <p:sp>
        <p:nvSpPr>
          <p:cNvPr id="6" name="텍스트 개체 틀 5">
            <a:extLst>
              <a:ext uri="{FF2B5EF4-FFF2-40B4-BE49-F238E27FC236}">
                <a16:creationId xmlns:a16="http://schemas.microsoft.com/office/drawing/2014/main" id="{EB0ED209-5BE8-4414-9A0B-484C61EB0687}"/>
              </a:ext>
            </a:extLst>
          </p:cNvPr>
          <p:cNvSpPr>
            <a:spLocks noGrp="1"/>
          </p:cNvSpPr>
          <p:nvPr>
            <p:ph type="body" sz="quarter" idx="12" hasCustomPrompt="1"/>
          </p:nvPr>
        </p:nvSpPr>
        <p:spPr>
          <a:xfrm>
            <a:off x="165100" y="5900529"/>
            <a:ext cx="3132138" cy="396875"/>
          </a:xfrm>
        </p:spPr>
        <p:txBody>
          <a:bodyPr>
            <a:noAutofit/>
          </a:bodyPr>
          <a:lstStyle>
            <a:lvl1pPr>
              <a:defRPr sz="1200"/>
            </a:lvl1pPr>
            <a:lvl2pPr>
              <a:defRPr sz="1400"/>
            </a:lvl2pPr>
            <a:lvl3pPr>
              <a:defRPr sz="1400"/>
            </a:lvl3pPr>
            <a:lvl4pPr>
              <a:defRPr sz="1400"/>
            </a:lvl4pPr>
            <a:lvl5pPr>
              <a:defRPr sz="1400"/>
            </a:lvl5pPr>
          </a:lstStyle>
          <a:p>
            <a:pPr lvl="0"/>
            <a:r>
              <a:rPr lang="en-US" altLang="ko-KR" dirty="0"/>
              <a:t>Location, date of presentation (month, day, year)</a:t>
            </a:r>
            <a:endParaRPr lang="ko-KR" altLang="en-US" dirty="0"/>
          </a:p>
        </p:txBody>
      </p:sp>
    </p:spTree>
    <p:extLst>
      <p:ext uri="{BB962C8B-B14F-4D97-AF65-F5344CB8AC3E}">
        <p14:creationId xmlns:p14="http://schemas.microsoft.com/office/powerpoint/2010/main" val="2394802681"/>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4" name="Contents Title">
            <a:extLst>
              <a:ext uri="{FF2B5EF4-FFF2-40B4-BE49-F238E27FC236}">
                <a16:creationId xmlns:a16="http://schemas.microsoft.com/office/drawing/2014/main" id="{22519FFB-4565-460E-A334-C3B9CB768600}"/>
              </a:ext>
            </a:extLst>
          </p:cNvPr>
          <p:cNvSpPr txBox="1">
            <a:spLocks/>
          </p:cNvSpPr>
          <p:nvPr userDrawn="1">
            <p:custDataLst>
              <p:tags r:id="rId1"/>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lnSpc>
                <a:spcPct val="93000"/>
              </a:lnSpc>
              <a:defRPr/>
            </a:lvl1pPr>
          </a:lstStyle>
          <a:p>
            <a:pPr eaLnBrk="1" fontAlgn="auto" latinLnBrk="0" hangingPunct="1">
              <a:spcAft>
                <a:spcPts val="0"/>
              </a:spcAft>
              <a:buFontTx/>
              <a:buNone/>
              <a:tabLst>
                <a:tab pos="8532813" algn="r"/>
              </a:tabLst>
              <a:defRPr/>
            </a:pPr>
            <a:r>
              <a:rPr lang="en-US" altLang="de-DE" sz="2100" b="0" noProof="1">
                <a:solidFill>
                  <a:srgbClr val="716D6D"/>
                </a:solidFill>
                <a:latin typeface="Arial Narrow"/>
                <a:ea typeface="Malgun Gothic"/>
                <a:sym typeface="+mn-lt"/>
              </a:rPr>
              <a:t>Contents	Page</a:t>
            </a:r>
          </a:p>
        </p:txBody>
      </p:sp>
      <p:sp>
        <p:nvSpPr>
          <p:cNvPr id="15" name="Title">
            <a:extLst>
              <a:ext uri="{FF2B5EF4-FFF2-40B4-BE49-F238E27FC236}">
                <a16:creationId xmlns:a16="http://schemas.microsoft.com/office/drawing/2014/main" id="{AE0059D1-7D76-45FE-B358-1893E5D116A8}"/>
              </a:ext>
            </a:extLst>
          </p:cNvPr>
          <p:cNvSpPr txBox="1">
            <a:spLocks/>
          </p:cNvSpPr>
          <p:nvPr userDrawn="1">
            <p:custDataLst>
              <p:tags r:id="rId2"/>
            </p:custDataLst>
          </p:nvPr>
        </p:nvSpPr>
        <p:spPr>
          <a:xfrm>
            <a:off x="1314902" y="1040400"/>
            <a:ext cx="792000" cy="300531"/>
          </a:xfrm>
          <a:prstGeom prst="rect">
            <a:avLst/>
          </a:prstGeom>
        </p:spPr>
        <p:txBody>
          <a:bodyPr vert="horz" lIns="0" tIns="0" rIns="0" bIns="0" rtlCol="0" anchor="t" anchorCtr="0">
            <a:noAutofit/>
          </a:bodyPr>
          <a:lstStyle>
            <a:lvl1pPr marL="0" indent="0" algn="r" defTabSz="914400" rtl="0" eaLnBrk="1" latinLnBrk="0" hangingPunct="1">
              <a:lnSpc>
                <a:spcPct val="93000"/>
              </a:lnSpc>
              <a:spcBef>
                <a:spcPct val="0"/>
              </a:spcBef>
              <a:buNone/>
              <a:tabLst/>
              <a:defRPr lang="en-US" sz="2100" b="0" kern="1200" baseline="0" dirty="0">
                <a:solidFill>
                  <a:schemeClr val="tx2"/>
                </a:solidFill>
                <a:latin typeface="+mj-lt"/>
                <a:ea typeface="+mj-ea"/>
                <a:cs typeface="+mj-cs"/>
                <a:sym typeface="+mn-lt"/>
              </a:defRPr>
            </a:lvl1pPr>
          </a:lstStyle>
          <a:p>
            <a:pPr marL="0" marR="0" lvl="0" indent="0" algn="r" defTabSz="914400" rtl="0" eaLnBrk="1" fontAlgn="auto" latinLnBrk="0" hangingPunct="1">
              <a:lnSpc>
                <a:spcPct val="93000"/>
              </a:lnSpc>
              <a:spcBef>
                <a:spcPct val="0"/>
              </a:spcBef>
              <a:spcAft>
                <a:spcPts val="0"/>
              </a:spcAft>
              <a:buClrTx/>
              <a:buSzTx/>
              <a:buFontTx/>
              <a:buNone/>
              <a:tabLst/>
              <a:defRPr/>
            </a:pPr>
            <a:r>
              <a:rPr kumimoji="0" lang="ko-KR" altLang="en-US" sz="2100" b="0" i="0" u="none" strike="noStrike" kern="1200" cap="none" spc="0" normalizeH="0" baseline="0" noProof="1">
                <a:ln>
                  <a:noFill/>
                </a:ln>
                <a:solidFill>
                  <a:srgbClr val="716D6D"/>
                </a:solidFill>
                <a:effectLst/>
                <a:uLnTx/>
                <a:uFillTx/>
                <a:latin typeface="Arial Narrow"/>
                <a:ea typeface="Malgun Gothic"/>
                <a:cs typeface="+mj-cs"/>
                <a:sym typeface="+mn-lt"/>
              </a:rPr>
              <a:t>  </a:t>
            </a:r>
          </a:p>
        </p:txBody>
      </p:sp>
      <p:sp>
        <p:nvSpPr>
          <p:cNvPr id="21" name="텍스트 개체 틀 20">
            <a:extLst>
              <a:ext uri="{FF2B5EF4-FFF2-40B4-BE49-F238E27FC236}">
                <a16:creationId xmlns:a16="http://schemas.microsoft.com/office/drawing/2014/main" id="{EFD165CC-1485-46D5-8009-4DD5E2BBBDC7}"/>
              </a:ext>
            </a:extLst>
          </p:cNvPr>
          <p:cNvSpPr>
            <a:spLocks noGrp="1"/>
          </p:cNvSpPr>
          <p:nvPr>
            <p:ph type="body" sz="quarter" idx="10" hasCustomPrompt="1"/>
          </p:nvPr>
        </p:nvSpPr>
        <p:spPr>
          <a:xfrm>
            <a:off x="738000" y="1628775"/>
            <a:ext cx="7851404" cy="4188825"/>
          </a:xfrm>
          <a:prstGeom prst="rect">
            <a:avLst/>
          </a:prstGeom>
        </p:spPr>
        <p:txBody>
          <a:bodyPr/>
          <a:lstStyle>
            <a:lvl1pPr marL="266700" indent="-266700">
              <a:buFont typeface="+mj-lt"/>
              <a:buAutoNum type="romanUcPeriod"/>
              <a:defRPr sz="1900" b="0" baseline="0">
                <a:latin typeface="Arial Narrow" panose="020B0606020202030204" pitchFamily="34" charset="0"/>
                <a:ea typeface="나눔고딕" panose="020D0604000000000000" pitchFamily="50" charset="-127"/>
              </a:defRPr>
            </a:lvl1pPr>
            <a:lvl2pPr marL="715963" indent="-258763">
              <a:buFont typeface="+mj-lt"/>
              <a:buAutoNum type="alphaUcPeriod"/>
              <a:defRPr sz="1900" b="0" baseline="0">
                <a:latin typeface="Arial Narrow" panose="020B0606020202030204" pitchFamily="34" charset="0"/>
                <a:ea typeface="나눔고딕" panose="020D0604000000000000" pitchFamily="50" charset="-127"/>
              </a:defRPr>
            </a:lvl2pPr>
            <a:lvl3pPr marL="1165225" indent="-250825">
              <a:buFont typeface="+mj-lt"/>
              <a:buAutoNum type="arabicParenR"/>
              <a:defRPr sz="1900" b="0" baseline="0">
                <a:latin typeface="Arial Narrow" panose="020B0606020202030204" pitchFamily="34" charset="0"/>
                <a:ea typeface="나눔고딕" panose="020D0604000000000000" pitchFamily="50" charset="-127"/>
              </a:defRPr>
            </a:lvl3pPr>
            <a:lvl4pPr marL="1714500" indent="-342900">
              <a:buFont typeface="+mj-lt"/>
              <a:buAutoNum type="alphaUcPeriod"/>
              <a:defRPr sz="1400" b="0" baseline="0">
                <a:latin typeface="Arial Narrow" panose="020B0606020202030204" pitchFamily="34" charset="0"/>
                <a:ea typeface="HY헤드라인M" panose="02030600000101010101" pitchFamily="18" charset="-127"/>
              </a:defRPr>
            </a:lvl4pPr>
            <a:lvl5pPr marL="2171700" indent="-342900">
              <a:buFont typeface="+mj-lt"/>
              <a:buAutoNum type="alphaUcPeriod"/>
              <a:defRPr sz="1400" b="0" baseline="0">
                <a:latin typeface="Arial Narrow" panose="020B0606020202030204" pitchFamily="34" charset="0"/>
                <a:ea typeface="HY헤드라인M" panose="02030600000101010101" pitchFamily="18" charset="-127"/>
              </a:defRPr>
            </a:lvl5pPr>
          </a:lstStyle>
          <a:p>
            <a:pPr lvl="0"/>
            <a:r>
              <a:rPr lang="en-US" altLang="ko-KR" dirty="0"/>
              <a:t>xxx					</a:t>
            </a:r>
            <a:endParaRPr lang="ko-KR" altLang="en-US" dirty="0"/>
          </a:p>
          <a:p>
            <a:pPr lvl="1"/>
            <a:r>
              <a:rPr lang="en-US" altLang="ko-KR"/>
              <a:t>xxx</a:t>
            </a:r>
            <a:endParaRPr lang="ko-KR" altLang="en-US" dirty="0"/>
          </a:p>
        </p:txBody>
      </p:sp>
      <p:sp>
        <p:nvSpPr>
          <p:cNvPr id="25" name="텍스트 개체 틀 24">
            <a:extLst>
              <a:ext uri="{FF2B5EF4-FFF2-40B4-BE49-F238E27FC236}">
                <a16:creationId xmlns:a16="http://schemas.microsoft.com/office/drawing/2014/main" id="{BA87B230-93A4-43C7-80AA-EECBA22115BF}"/>
              </a:ext>
            </a:extLst>
          </p:cNvPr>
          <p:cNvSpPr>
            <a:spLocks noGrp="1"/>
          </p:cNvSpPr>
          <p:nvPr>
            <p:ph type="body" sz="quarter" idx="11" hasCustomPrompt="1"/>
          </p:nvPr>
        </p:nvSpPr>
        <p:spPr>
          <a:xfrm>
            <a:off x="8769350" y="1628775"/>
            <a:ext cx="539750" cy="4188825"/>
          </a:xfrm>
          <a:prstGeom prst="rect">
            <a:avLst/>
          </a:prstGeom>
        </p:spPr>
        <p:txBody>
          <a:bodyPr/>
          <a:lstStyle>
            <a:lvl1pPr marL="0" indent="0" algn="r">
              <a:buFontTx/>
              <a:buNone/>
              <a:defRPr sz="1900" b="0" baseline="0">
                <a:latin typeface="Arial Narrow" panose="020B0606020202030204" pitchFamily="34" charset="0"/>
                <a:ea typeface="나눔고딕" panose="020D0604000000000000" pitchFamily="50" charset="-127"/>
              </a:defRPr>
            </a:lvl1pPr>
            <a:lvl2pPr marL="457200" indent="0" algn="l">
              <a:buFontTx/>
              <a:buNone/>
              <a:defRPr sz="1900" baseline="0">
                <a:latin typeface="Arial Narrow" panose="020B0606020202030204" pitchFamily="34" charset="0"/>
                <a:ea typeface="나눔고딕" panose="020D0604000000000000" pitchFamily="50" charset="-127"/>
              </a:defRPr>
            </a:lvl2pPr>
            <a:lvl3pPr marL="914400" indent="0" algn="l">
              <a:buFontTx/>
              <a:buNone/>
              <a:defRPr sz="1900" baseline="0">
                <a:latin typeface="Arial Narrow" panose="020B0606020202030204" pitchFamily="34" charset="0"/>
                <a:ea typeface="나눔고딕" panose="020D0604000000000000" pitchFamily="50" charset="-127"/>
              </a:defRPr>
            </a:lvl3pPr>
            <a:lvl4pPr marL="1371600" indent="0" algn="l">
              <a:buFontTx/>
              <a:buNone/>
              <a:defRPr sz="1900" baseline="0">
                <a:latin typeface="Arial Narrow" panose="020B0606020202030204" pitchFamily="34" charset="0"/>
                <a:ea typeface="나눔고딕" panose="020D0604000000000000" pitchFamily="50" charset="-127"/>
              </a:defRPr>
            </a:lvl4pPr>
            <a:lvl5pPr marL="1828800" indent="0" algn="l">
              <a:buFontTx/>
              <a:buNone/>
              <a:defRPr sz="1900" baseline="0">
                <a:latin typeface="Arial Narrow" panose="020B0606020202030204" pitchFamily="34" charset="0"/>
                <a:ea typeface="나눔고딕" panose="020D0604000000000000" pitchFamily="50" charset="-127"/>
              </a:defRPr>
            </a:lvl5pPr>
          </a:lstStyle>
          <a:p>
            <a:pPr lvl="0"/>
            <a:r>
              <a:rPr lang="en-US" altLang="ko-KR" dirty="0"/>
              <a:t>xx</a:t>
            </a:r>
            <a:endParaRPr lang="ko-KR" altLang="en-US" dirty="0"/>
          </a:p>
        </p:txBody>
      </p:sp>
    </p:spTree>
    <p:extLst>
      <p:ext uri="{BB962C8B-B14F-4D97-AF65-F5344CB8AC3E}">
        <p14:creationId xmlns:p14="http://schemas.microsoft.com/office/powerpoint/2010/main" val="78697221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5" name="Slide Number Placeholder" hidden="1"/>
          <p:cNvSpPr>
            <a:spLocks noGrp="1"/>
          </p:cNvSpPr>
          <p:nvPr>
            <p:ph type="sldNum" sz="quarter" idx="11"/>
            <p:custDataLst>
              <p:tags r:id="rId1"/>
            </p:custDataLst>
          </p:nvPr>
        </p:nvSpPr>
        <p:spPr>
          <a:xfrm>
            <a:off x="9972000" y="178643"/>
            <a:ext cx="24046" cy="30778"/>
          </a:xfrm>
          <a:prstGeom prst="rect">
            <a:avLst/>
          </a:prstGeom>
        </p:spPr>
        <p:txBody>
          <a:bodyPr vert="horz" wrap="none" lIns="0" tIns="0" rIns="0" bIns="0" rtlCol="0" anchor="ctr">
            <a:spAutoFit/>
          </a:bodyPr>
          <a:lstStyle>
            <a:lvl1pPr algn="l">
              <a:defRPr sz="200" b="0">
                <a:solidFill>
                  <a:schemeClr val="bg1">
                    <a:lumMod val="75000"/>
                  </a:schemeClr>
                </a:solidFill>
                <a:latin typeface="+mn-lt"/>
                <a:cs typeface="+mn-cs"/>
                <a:sym typeface="+mn-lt"/>
              </a:defRPr>
            </a:lvl1pPr>
          </a:lstStyle>
          <a:p>
            <a:fld id="{01940DDA-0656-452C-A408-68789653BD9B}" type="slidenum">
              <a:rPr lang="en-US" smtClean="0">
                <a:latin typeface="+mn-lt"/>
              </a:rPr>
              <a:pPr/>
              <a:t>‹#›</a:t>
            </a:fld>
            <a:endParaRPr lang="en-US" dirty="0">
              <a:latin typeface="+mn-lt"/>
            </a:endParaRPr>
          </a:p>
        </p:txBody>
      </p:sp>
      <p:sp>
        <p:nvSpPr>
          <p:cNvPr id="16" name="Footer Placeholder" hidden="1"/>
          <p:cNvSpPr>
            <a:spLocks noGrp="1"/>
          </p:cNvSpPr>
          <p:nvPr>
            <p:ph type="ftr" sz="quarter" idx="12"/>
            <p:custDataLst>
              <p:tags r:id="rId2"/>
            </p:custDataLst>
          </p:nvPr>
        </p:nvSpPr>
        <p:spPr>
          <a:xfrm>
            <a:off x="9972000" y="228649"/>
            <a:ext cx="65" cy="30778"/>
          </a:xfrm>
          <a:prstGeom prst="rect">
            <a:avLst/>
          </a:prstGeom>
        </p:spPr>
        <p:txBody>
          <a:bodyPr vert="horz" wrap="none" lIns="0" tIns="0" rIns="0" bIns="0" rtlCol="0" anchor="t" anchorCtr="0">
            <a:spAutoFit/>
          </a:bodyPr>
          <a:lstStyle>
            <a:lvl1pPr algn="l" rtl="0" fontAlgn="base">
              <a:lnSpc>
                <a:spcPct val="100000"/>
              </a:lnSpc>
              <a:spcBef>
                <a:spcPts val="0"/>
              </a:spcBef>
              <a:spcAft>
                <a:spcPct val="0"/>
              </a:spcAft>
              <a:defRPr lang="en-US" sz="200" b="0" kern="1200" smtClean="0">
                <a:solidFill>
                  <a:schemeClr val="bg1">
                    <a:lumMod val="75000"/>
                  </a:schemeClr>
                </a:solidFill>
                <a:latin typeface="+mn-lt"/>
                <a:ea typeface="+mn-ea"/>
                <a:cs typeface="+mn-cs"/>
                <a:sym typeface="+mn-lt"/>
              </a:defRPr>
            </a:lvl1pPr>
          </a:lstStyle>
          <a:p>
            <a:endParaRPr lang="de-DE" dirty="0">
              <a:latin typeface="+mn-lt"/>
            </a:endParaRPr>
          </a:p>
        </p:txBody>
      </p:sp>
      <p:sp>
        <p:nvSpPr>
          <p:cNvPr id="10" name="Contents Title"/>
          <p:cNvSpPr txBox="1">
            <a:spLocks/>
          </p:cNvSpPr>
          <p:nvPr>
            <p:custDataLst>
              <p:tags r:id="rId3"/>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algn="l" eaLnBrk="1" fontAlgn="auto" latinLnBrk="0" hangingPunct="1">
              <a:lnSpc>
                <a:spcPct val="93000"/>
              </a:lnSpc>
              <a:spcAft>
                <a:spcPts val="0"/>
              </a:spcAft>
              <a:buFontTx/>
              <a:buNone/>
              <a:tabLst>
                <a:tab pos="8532813" algn="r"/>
              </a:tabLst>
              <a:defRPr sz="2100">
                <a:solidFill>
                  <a:srgbClr val="716D6D"/>
                </a:solidFill>
                <a:latin typeface="Arial Narrow"/>
                <a:ea typeface="Malgun Gothic"/>
              </a:defRPr>
            </a:lvl1pPr>
          </a:lstStyle>
          <a:p>
            <a:pPr lvl="0"/>
            <a:r>
              <a:rPr lang="en-US" altLang="de-DE" noProof="1">
                <a:latin typeface="Arial Narrow" panose="020B0606020202030204" pitchFamily="34" charset="0"/>
                <a:ea typeface="a고딕14" panose="02020600000000000000" pitchFamily="18" charset="-127"/>
                <a:sym typeface="+mn-lt"/>
              </a:rPr>
              <a:t>Contents	Page</a:t>
            </a:r>
          </a:p>
        </p:txBody>
      </p:sp>
      <p:sp>
        <p:nvSpPr>
          <p:cNvPr id="3" name="내용 개체 틀 2">
            <a:extLst>
              <a:ext uri="{FF2B5EF4-FFF2-40B4-BE49-F238E27FC236}">
                <a16:creationId xmlns:a16="http://schemas.microsoft.com/office/drawing/2014/main" id="{222BD9DC-DB0A-475B-9EC2-61D20DBBFAF0}"/>
              </a:ext>
            </a:extLst>
          </p:cNvPr>
          <p:cNvSpPr>
            <a:spLocks noGrp="1"/>
          </p:cNvSpPr>
          <p:nvPr>
            <p:ph sz="quarter" idx="13"/>
          </p:nvPr>
        </p:nvSpPr>
        <p:spPr>
          <a:xfrm>
            <a:off x="738188" y="1952625"/>
            <a:ext cx="8643937" cy="3168650"/>
          </a:xfrm>
        </p:spPr>
        <p:txBody>
          <a:bodyPr>
            <a:normAutofit/>
          </a:bodyPr>
          <a:lstStyle>
            <a:lvl1pPr marL="400050" indent="-400050" defTabSz="4124325">
              <a:buFont typeface="+mj-lt"/>
              <a:buAutoNum type="romanUcPeriod"/>
              <a:defRPr sz="1800">
                <a:latin typeface="Arial Narrow" panose="020B0606020202030204" pitchFamily="34" charset="0"/>
                <a:ea typeface="a고딕14" panose="02020600000000000000" pitchFamily="18" charset="-127"/>
              </a:defRPr>
            </a:lvl1pPr>
            <a:lvl2pPr marL="857250" indent="-400050">
              <a:buFont typeface="+mj-lt"/>
              <a:buAutoNum type="romanUcPeriod"/>
              <a:defRPr sz="1800">
                <a:latin typeface="Arial Narrow" panose="020B0606020202030204" pitchFamily="34" charset="0"/>
                <a:ea typeface="a고딕14" panose="02020600000000000000" pitchFamily="18" charset="-127"/>
              </a:defRPr>
            </a:lvl2pPr>
            <a:lvl3pPr marL="1314450" indent="-400050">
              <a:buFont typeface="+mj-lt"/>
              <a:buAutoNum type="romanUcPeriod"/>
              <a:defRPr sz="1800">
                <a:latin typeface="Arial Narrow" panose="020B0606020202030204" pitchFamily="34" charset="0"/>
                <a:ea typeface="a고딕14" panose="02020600000000000000" pitchFamily="18" charset="-127"/>
              </a:defRPr>
            </a:lvl3pPr>
            <a:lvl4pPr marL="1771650" indent="-400050">
              <a:buFont typeface="+mj-lt"/>
              <a:buAutoNum type="romanUcPeriod"/>
              <a:defRPr sz="1800">
                <a:latin typeface="Arial Narrow" panose="020B0606020202030204" pitchFamily="34" charset="0"/>
                <a:ea typeface="a고딕14" panose="02020600000000000000" pitchFamily="18" charset="-127"/>
              </a:defRPr>
            </a:lvl4pPr>
            <a:lvl5pPr marL="2228850" indent="-400050">
              <a:buFont typeface="+mj-lt"/>
              <a:buAutoNum type="romanUcPeriod"/>
              <a:defRPr sz="1800">
                <a:latin typeface="Arial Narrow" panose="020B0606020202030204" pitchFamily="34" charset="0"/>
                <a:ea typeface="a고딕14" panose="02020600000000000000"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Note: Exclusive dealing">
            <a:extLst>
              <a:ext uri="{FF2B5EF4-FFF2-40B4-BE49-F238E27FC236}">
                <a16:creationId xmlns:a16="http://schemas.microsoft.com/office/drawing/2014/main" id="{8156DDEC-F00F-4DC5-81B0-7C0F199B3C3E}"/>
              </a:ext>
            </a:extLst>
          </p:cNvPr>
          <p:cNvSpPr txBox="1">
            <a:spLocks noChangeArrowheads="1"/>
          </p:cNvSpPr>
          <p:nvPr userDrawn="1">
            <p:custDataLst>
              <p:tags r:id="rId4"/>
            </p:custDataLst>
          </p:nvPr>
        </p:nvSpPr>
        <p:spPr bwMode="auto">
          <a:xfrm>
            <a:off x="738000" y="6003191"/>
            <a:ext cx="8535600" cy="830997"/>
          </a:xfrm>
          <a:prstGeom prst="rect">
            <a:avLst/>
          </a:prstGeom>
          <a:noFill/>
          <a:ln w="9525">
            <a:noFill/>
            <a:miter lim="800000"/>
            <a:headEnd/>
            <a:tailEnd/>
          </a:ln>
        </p:spPr>
        <p:txBody>
          <a:bodyPr lIns="0" tIns="0" rIns="0" bIns="0" anchor="b" anchorCtr="0">
            <a:spAutoFit/>
          </a:bodyPr>
          <a:lstStyle/>
          <a:p>
            <a:pPr algn="l" latinLnBrk="0">
              <a:buFontTx/>
              <a:buNone/>
            </a:pPr>
            <a:r>
              <a:rPr kumimoji="1" lang="en-US" altLang="de-DE" sz="900" dirty="0">
                <a:solidFill>
                  <a:srgbClr val="000000"/>
                </a:solidFill>
                <a:latin typeface="Arial Narrow"/>
                <a:ea typeface="Malgun Gothic"/>
                <a:sym typeface="+mn-lt"/>
              </a:rPr>
              <a:t>This document shall be treated as confidential. It has been compiled for the exclusive, internal use by our client and is not complete without the underlying detail analyses and the oral presentation. It may not be passed on and/or may not be made available to third parties without prior written consent from □□□. □□□ does not assume any responsibility for the completeness and accuracy of the statements made in this document.        </a:t>
            </a: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r>
              <a:rPr kumimoji="1" lang="en-US" altLang="de-DE" sz="900" dirty="0">
                <a:solidFill>
                  <a:srgbClr val="000000"/>
                </a:solidFill>
                <a:latin typeface="Arial Narrow"/>
                <a:ea typeface="Malgun Gothic"/>
                <a:sym typeface="+mn-lt"/>
              </a:rPr>
              <a:t>© </a:t>
            </a:r>
            <a:r>
              <a:rPr kumimoji="1" lang="en-US" altLang="de-DE" sz="900" dirty="0">
                <a:solidFill>
                  <a:srgbClr val="000000"/>
                </a:solidFill>
                <a:latin typeface="a고딕14" panose="02020600000000000000" pitchFamily="18" charset="-127"/>
                <a:ea typeface="a고딕14" panose="02020600000000000000" pitchFamily="18" charset="-127"/>
                <a:sym typeface="+mn-lt"/>
              </a:rPr>
              <a:t>□□□ </a:t>
            </a:r>
            <a:r>
              <a:rPr kumimoji="1" lang="en-US" altLang="de-DE" sz="900" dirty="0">
                <a:solidFill>
                  <a:srgbClr val="000000"/>
                </a:solidFill>
                <a:latin typeface="Arial Narrow"/>
                <a:ea typeface="Malgun Gothic"/>
                <a:sym typeface="+mn-lt"/>
              </a:rPr>
              <a:t>Consulting Group</a:t>
            </a:r>
          </a:p>
        </p:txBody>
      </p:sp>
    </p:spTree>
    <p:extLst>
      <p:ext uri="{BB962C8B-B14F-4D97-AF65-F5344CB8AC3E}">
        <p14:creationId xmlns:p14="http://schemas.microsoft.com/office/powerpoint/2010/main" val="5776651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1800" baseline="0">
                <a:latin typeface="Arial Narrow" panose="020B0606020202030204" pitchFamily="34" charset="0"/>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7595133" y="6604048"/>
            <a:ext cx="1750479"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기술교육로드맵 및 신규과정 선정 용역</a:t>
            </a:r>
          </a:p>
        </p:txBody>
      </p:sp>
      <p:sp>
        <p:nvSpPr>
          <p:cNvPr id="9" name="텍스트 개체 틀 2">
            <a:extLst>
              <a:ext uri="{FF2B5EF4-FFF2-40B4-BE49-F238E27FC236}">
                <a16:creationId xmlns:a16="http://schemas.microsoft.com/office/drawing/2014/main" id="{EF38405C-6921-4AD3-BA7F-6DC4A0698857}"/>
              </a:ext>
            </a:extLst>
          </p:cNvPr>
          <p:cNvSpPr>
            <a:spLocks noGrp="1"/>
          </p:cNvSpPr>
          <p:nvPr>
            <p:ph type="body" sz="quarter" idx="14" hasCustomPrompt="1"/>
          </p:nvPr>
        </p:nvSpPr>
        <p:spPr>
          <a:xfrm>
            <a:off x="596516" y="1664744"/>
            <a:ext cx="2644901" cy="331935"/>
          </a:xfrm>
        </p:spPr>
        <p:txBody>
          <a:bodyPr vert="horz" wrap="none" lIns="0" tIns="0" rIns="0" bIns="0" rtlCol="0" anchor="ctr">
            <a:noAutofit/>
          </a:bodyPr>
          <a:lstStyle>
            <a:lvl1pPr>
              <a:defRPr lang="ko-KR" altLang="en-US" sz="1800" baseline="0" smtClean="0">
                <a:solidFill>
                  <a:schemeClr val="tx1">
                    <a:lumMod val="50000"/>
                    <a:lumOff val="50000"/>
                  </a:schemeClr>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8" name="텍스트 개체 틀 2">
            <a:extLst>
              <a:ext uri="{FF2B5EF4-FFF2-40B4-BE49-F238E27FC236}">
                <a16:creationId xmlns:a16="http://schemas.microsoft.com/office/drawing/2014/main" id="{8FD22BAF-09E9-4509-8C9F-1CF6A4E6EE68}"/>
              </a:ext>
            </a:extLst>
          </p:cNvPr>
          <p:cNvSpPr>
            <a:spLocks noGrp="1"/>
          </p:cNvSpPr>
          <p:nvPr>
            <p:ph type="body" sz="quarter" idx="16" hasCustomPrompt="1"/>
          </p:nvPr>
        </p:nvSpPr>
        <p:spPr>
          <a:xfrm>
            <a:off x="7293260" y="138529"/>
            <a:ext cx="2052352" cy="446155"/>
          </a:xfrm>
        </p:spPr>
        <p:txBody>
          <a:bodyPr vert="horz" wrap="none" lIns="0" tIns="0" rIns="0" bIns="0" rtlCol="0" anchor="ctr">
            <a:noAutofit/>
          </a:bodyPr>
          <a:lstStyle>
            <a:lvl1pPr algn="r">
              <a:defRPr lang="ko-KR" altLang="en-US" sz="1100" baseline="0" smtClean="0">
                <a:solidFill>
                  <a:schemeClr val="tx1">
                    <a:lumMod val="50000"/>
                    <a:lumOff val="50000"/>
                  </a:schemeClr>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pic>
        <p:nvPicPr>
          <p:cNvPr id="37" name="그림 36">
            <a:extLst>
              <a:ext uri="{FF2B5EF4-FFF2-40B4-BE49-F238E27FC236}">
                <a16:creationId xmlns:a16="http://schemas.microsoft.com/office/drawing/2014/main" id="{FCE902C8-D244-185E-9025-C845718DA36C}"/>
              </a:ext>
            </a:extLst>
          </p:cNvPr>
          <p:cNvPicPr>
            <a:picLocks noChangeAspect="1"/>
          </p:cNvPicPr>
          <p:nvPr userDrawn="1"/>
        </p:nvPicPr>
        <p:blipFill>
          <a:blip r:embed="rId2"/>
          <a:stretch>
            <a:fillRect/>
          </a:stretch>
        </p:blipFill>
        <p:spPr>
          <a:xfrm>
            <a:off x="-1779748" y="0"/>
            <a:ext cx="1590897" cy="2286319"/>
          </a:xfrm>
          <a:prstGeom prst="rect">
            <a:avLst/>
          </a:prstGeom>
        </p:spPr>
      </p:pic>
    </p:spTree>
    <p:extLst>
      <p:ext uri="{BB962C8B-B14F-4D97-AF65-F5344CB8AC3E}">
        <p14:creationId xmlns:p14="http://schemas.microsoft.com/office/powerpoint/2010/main" val="2509005325"/>
      </p:ext>
    </p:extLst>
  </p:cSld>
  <p:clrMapOvr>
    <a:masterClrMapping/>
  </p:clrMapOvr>
  <p:extLst>
    <p:ext uri="{DCECCB84-F9BA-43D5-87BE-67443E8EF086}">
      <p15:sldGuideLst xmlns:p15="http://schemas.microsoft.com/office/powerpoint/2012/main">
        <p15:guide id="1" pos="376">
          <p15:clr>
            <a:srgbClr val="FBAE40"/>
          </p15:clr>
        </p15:guide>
        <p15:guide id="2" pos="5887">
          <p15:clr>
            <a:srgbClr val="FBAE40"/>
          </p15:clr>
        </p15:guide>
        <p15:guide id="3" orient="horz" pos="1049">
          <p15:clr>
            <a:srgbClr val="FBAE40"/>
          </p15:clr>
        </p15:guide>
        <p15:guide id="4" orient="horz" pos="1525">
          <p15:clr>
            <a:srgbClr val="FBAE40"/>
          </p15:clr>
        </p15:guide>
        <p15:guide id="5" orient="horz" pos="1570">
          <p15:clr>
            <a:srgbClr val="FBAE40"/>
          </p15:clr>
        </p15:guide>
        <p15:guide id="6" orient="horz" pos="4088">
          <p15:clr>
            <a:srgbClr val="FBAE40"/>
          </p15:clr>
        </p15:guide>
        <p15:guide id="7" pos="31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019112"/>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1038" y="6356352"/>
            <a:ext cx="2228850" cy="365125"/>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79345E8-E2CC-46FC-9621-F5BEC95CB905}" type="datetimeFigureOut">
              <a:rPr kumimoji="0" lang="ko-KR" altLang="en-US" sz="1200" b="0" i="0" u="none" strike="noStrike" kern="1200" cap="none" spc="0" normalizeH="0" baseline="0" noProof="0" smtClean="0">
                <a:ln>
                  <a:noFill/>
                </a:ln>
                <a:solidFill>
                  <a:prstClr val="black">
                    <a:tint val="75000"/>
                  </a:prstClr>
                </a:solidFill>
                <a:effectLst/>
                <a:uLnTx/>
                <a:uFillTx/>
                <a:latin typeface="Calibri"/>
                <a:ea typeface="a고딕14"/>
                <a:cs typeface="+mn-cs"/>
              </a:rPr>
              <a:pPr marL="0" marR="0" lvl="0" indent="0" algn="l" defTabSz="457200" rtl="0" eaLnBrk="1" fontAlgn="auto" latinLnBrk="0" hangingPunct="1">
                <a:lnSpc>
                  <a:spcPct val="100000"/>
                </a:lnSpc>
                <a:spcBef>
                  <a:spcPts val="0"/>
                </a:spcBef>
                <a:spcAft>
                  <a:spcPts val="0"/>
                </a:spcAft>
                <a:buClrTx/>
                <a:buSzTx/>
                <a:buFontTx/>
                <a:buNone/>
                <a:tabLst/>
                <a:defRPr/>
              </a:pPr>
              <a:t>2025-11-12</a:t>
            </a:fld>
            <a:endParaRPr kumimoji="0" lang="ko-KR" altLang="en-US" sz="1200" b="0" i="0" u="none" strike="noStrike" kern="1200" cap="none" spc="0" normalizeH="0" baseline="0" noProof="0">
              <a:ln>
                <a:noFill/>
              </a:ln>
              <a:solidFill>
                <a:prstClr val="black">
                  <a:tint val="75000"/>
                </a:prstClr>
              </a:solidFill>
              <a:effectLst/>
              <a:uLnTx/>
              <a:uFillTx/>
              <a:latin typeface="Calibri"/>
              <a:ea typeface="a고딕14"/>
              <a:cs typeface="+mn-cs"/>
            </a:endParaRPr>
          </a:p>
        </p:txBody>
      </p:sp>
      <p:sp>
        <p:nvSpPr>
          <p:cNvPr id="3" name="Footer Placeholder 2"/>
          <p:cNvSpPr>
            <a:spLocks noGrp="1"/>
          </p:cNvSpPr>
          <p:nvPr>
            <p:ph type="ftr" sz="quarter" idx="11"/>
          </p:nvPr>
        </p:nvSpPr>
        <p:spPr>
          <a:xfrm>
            <a:off x="3281363" y="6356352"/>
            <a:ext cx="3343275" cy="365125"/>
          </a:xfrm>
          <a:prstGeom prst="rect">
            <a:avLst/>
          </a:prstGeo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noFill/>
              </a:ln>
              <a:solidFill>
                <a:prstClr val="black">
                  <a:tint val="75000"/>
                </a:prstClr>
              </a:solidFill>
              <a:effectLst/>
              <a:uLnTx/>
              <a:uFillTx/>
              <a:latin typeface="Calibri"/>
              <a:ea typeface="a고딕14"/>
              <a:cs typeface="+mn-cs"/>
            </a:endParaRPr>
          </a:p>
        </p:txBody>
      </p:sp>
      <p:sp>
        <p:nvSpPr>
          <p:cNvPr id="4" name="Slide Number Placeholder 3"/>
          <p:cNvSpPr>
            <a:spLocks noGrp="1"/>
          </p:cNvSpPr>
          <p:nvPr>
            <p:ph type="sldNum" sz="quarter" idx="12"/>
          </p:nvPr>
        </p:nvSpPr>
        <p:spPr>
          <a:xfrm>
            <a:off x="6996113" y="6356352"/>
            <a:ext cx="2228850" cy="365125"/>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46C20E3-B933-4E3B-ACC1-ECE086A66015}" type="slidenum">
              <a:rPr kumimoji="0" lang="ko-KR" altLang="en-US" sz="1200" b="0" i="0" u="none" strike="noStrike" kern="1200" cap="none" spc="0" normalizeH="0" baseline="0" noProof="0" smtClean="0">
                <a:ln>
                  <a:noFill/>
                </a:ln>
                <a:solidFill>
                  <a:prstClr val="black">
                    <a:tint val="75000"/>
                  </a:prstClr>
                </a:solidFill>
                <a:effectLst/>
                <a:uLnTx/>
                <a:uFillTx/>
                <a:latin typeface="Calibri"/>
                <a:ea typeface="a고딕14"/>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ko-KR" altLang="en-US" sz="1200" b="0" i="0" u="none" strike="noStrike" kern="1200" cap="none" spc="0" normalizeH="0" baseline="0" noProof="0">
              <a:ln>
                <a:noFill/>
              </a:ln>
              <a:solidFill>
                <a:prstClr val="black">
                  <a:tint val="75000"/>
                </a:prstClr>
              </a:solidFill>
              <a:effectLst/>
              <a:uLnTx/>
              <a:uFillTx/>
              <a:latin typeface="Calibri"/>
              <a:ea typeface="a고딕14"/>
              <a:cs typeface="+mn-cs"/>
            </a:endParaRPr>
          </a:p>
        </p:txBody>
      </p:sp>
    </p:spTree>
    <p:extLst>
      <p:ext uri="{BB962C8B-B14F-4D97-AF65-F5344CB8AC3E}">
        <p14:creationId xmlns:p14="http://schemas.microsoft.com/office/powerpoint/2010/main" val="3616332253"/>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2">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A5E8ADEC-ED62-62B5-A353-3DC1E7A8EEA7}"/>
              </a:ext>
            </a:extLst>
          </p:cNvPr>
          <p:cNvSpPr/>
          <p:nvPr userDrawn="1"/>
        </p:nvSpPr>
        <p:spPr>
          <a:xfrm>
            <a:off x="6357156" y="6525344"/>
            <a:ext cx="2988332" cy="33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831225835"/>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2000" baseline="0">
                <a:latin typeface="a고딕14" panose="02020600000000000000" pitchFamily="18" charset="-127"/>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6084681" y="6626546"/>
            <a:ext cx="3199595"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한국기술교육대학교 기업 맞춤형 기술교육로드맵 구축</a:t>
            </a: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_(</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주</a:t>
            </a: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a:t>
            </a:r>
            <a:r>
              <a:rPr lang="ko-KR" altLang="en-US" sz="900" b="0" baseline="0" dirty="0" err="1">
                <a:solidFill>
                  <a:schemeClr val="tx1">
                    <a:lumMod val="50000"/>
                    <a:lumOff val="50000"/>
                  </a:schemeClr>
                </a:solidFill>
                <a:latin typeface="a고딕14" panose="02020600000000000000" pitchFamily="18" charset="-127"/>
                <a:ea typeface="a고딕14" panose="02020600000000000000" pitchFamily="18" charset="-127"/>
              </a:rPr>
              <a:t>원익피앤이</a:t>
            </a:r>
            <a:endPar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endParaRPr>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46961" y="6637541"/>
            <a:ext cx="274114" cy="124650"/>
          </a:xfrm>
          <a:prstGeom prst="rect">
            <a:avLst/>
          </a:prstGeom>
          <a:noFill/>
          <a:ln w="9525">
            <a:noFill/>
            <a:miter lim="800000"/>
            <a:headEnd/>
            <a:tailEnd/>
          </a:ln>
          <a:effectLst/>
        </p:spPr>
        <p:txBody>
          <a:bodyPr wrap="none" lIns="0" tIns="0" rIns="0" bIns="0" anchor="ctr">
            <a:spAutoFit/>
          </a:bodyPr>
          <a:lstStyle/>
          <a:p>
            <a:pPr marL="0" marR="0" lvl="0" indent="0" algn="ctr" defTabSz="914400" rtl="0" eaLnBrk="0" fontAlgn="base" latinLnBrk="0" hangingPunct="0">
              <a:lnSpc>
                <a:spcPct val="90000"/>
              </a:lnSpc>
              <a:spcBef>
                <a:spcPct val="0"/>
              </a:spcBef>
              <a:spcAft>
                <a:spcPct val="0"/>
              </a:spcAft>
              <a:buClrTx/>
              <a:buSzTx/>
              <a:buFont typeface="Wingdings" pitchFamily="2" charset="2"/>
              <a:buNone/>
              <a:tabLst/>
              <a:defRPr/>
            </a:pPr>
            <a:fld id="{9DEF99B5-B94F-45AE-8F80-FB46EC622A21}" type="slidenum">
              <a:rPr kumimoji="0" lang="en-GB" altLang="ko-KR" sz="900" b="0" i="0" u="none" strike="noStrike" kern="1200" cap="none" spc="0" normalizeH="0" baseline="0" noProof="0" smtClean="0">
                <a:ln>
                  <a:noFill/>
                </a:ln>
                <a:solidFill>
                  <a:prstClr val="black">
                    <a:lumMod val="50000"/>
                    <a:lumOff val="50000"/>
                  </a:prstClr>
                </a:solidFill>
                <a:effectLst/>
                <a:uLnTx/>
                <a:uFillTx/>
                <a:latin typeface="a고딕14" panose="02020600000000000000" pitchFamily="18" charset="-127"/>
                <a:ea typeface="a고딕14" panose="02020600000000000000" pitchFamily="18" charset="-127"/>
                <a:cs typeface="+mn-cs"/>
              </a:rPr>
              <a:pPr marL="0" marR="0" lvl="0" indent="0" algn="ctr" defTabSz="914400" rtl="0" eaLnBrk="0" fontAlgn="base" latinLnBrk="0" hangingPunct="0">
                <a:lnSpc>
                  <a:spcPct val="90000"/>
                </a:lnSpc>
                <a:spcBef>
                  <a:spcPct val="0"/>
                </a:spcBef>
                <a:spcAft>
                  <a:spcPct val="0"/>
                </a:spcAft>
                <a:buClrTx/>
                <a:buSzTx/>
                <a:buFont typeface="Wingdings" pitchFamily="2" charset="2"/>
                <a:buNone/>
                <a:tabLst/>
                <a:defRPr/>
              </a:pPr>
              <a:t>‹#›</a:t>
            </a:fld>
            <a:endParaRPr kumimoji="0" lang="en-GB" altLang="ko-KR" sz="900" b="0" i="0" u="none" strike="noStrike" kern="1200" cap="none" spc="0" normalizeH="0" baseline="0" noProof="0" dirty="0">
              <a:ln>
                <a:noFill/>
              </a:ln>
              <a:solidFill>
                <a:prstClr val="black">
                  <a:lumMod val="50000"/>
                  <a:lumOff val="50000"/>
                </a:prstClr>
              </a:solidFill>
              <a:effectLst/>
              <a:uLnTx/>
              <a:uFillTx/>
              <a:latin typeface="a고딕14" panose="02020600000000000000" pitchFamily="18" charset="-127"/>
              <a:ea typeface="a고딕14" panose="02020600000000000000" pitchFamily="18" charset="-127"/>
              <a:cs typeface="+mn-cs"/>
            </a:endParaRPr>
          </a:p>
        </p:txBody>
      </p:sp>
    </p:spTree>
    <p:extLst>
      <p:ext uri="{BB962C8B-B14F-4D97-AF65-F5344CB8AC3E}">
        <p14:creationId xmlns:p14="http://schemas.microsoft.com/office/powerpoint/2010/main" val="530613502"/>
      </p:ext>
    </p:extLst>
  </p:cSld>
  <p:clrMapOvr>
    <a:masterClrMapping/>
  </p:clrMapOvr>
  <p:extLst>
    <p:ext uri="{DCECCB84-F9BA-43D5-87BE-67443E8EF086}">
      <p15:sldGuideLst xmlns:p15="http://schemas.microsoft.com/office/powerpoint/2012/main">
        <p15:guide id="1" pos="376">
          <p15:clr>
            <a:srgbClr val="FBAE40"/>
          </p15:clr>
        </p15:guide>
        <p15:guide id="2" pos="5887">
          <p15:clr>
            <a:srgbClr val="FBAE40"/>
          </p15:clr>
        </p15:guide>
        <p15:guide id="3" orient="horz" pos="1162">
          <p15:clr>
            <a:srgbClr val="FBAE40"/>
          </p15:clr>
        </p15:guide>
        <p15:guide id="4" orient="horz" pos="1230">
          <p15:clr>
            <a:srgbClr val="FBAE40"/>
          </p15:clr>
        </p15:guide>
        <p15:guide id="6" orient="horz" pos="4088">
          <p15:clr>
            <a:srgbClr val="FBAE40"/>
          </p15:clr>
        </p15:guide>
        <p15:guide id="7" pos="31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0A42379-E437-449C-8C27-5126C0D6BF4A}"/>
              </a:ext>
            </a:extLst>
          </p:cNvPr>
          <p:cNvSpPr>
            <a:spLocks noGrp="1"/>
          </p:cNvSpPr>
          <p:nvPr>
            <p:ph type="title"/>
          </p:nvPr>
        </p:nvSpPr>
        <p:spPr>
          <a:xfrm>
            <a:off x="681038" y="548680"/>
            <a:ext cx="8543925" cy="651607"/>
          </a:xfrm>
          <a:prstGeom prst="rect">
            <a:avLst/>
          </a:prstGeom>
        </p:spPr>
        <p:txBody>
          <a:bodyPr vert="horz" lIns="91440" tIns="45720" rIns="91440" bIns="45720" rtlCol="0" anchor="ctr">
            <a:normAutofit/>
          </a:bodyPr>
          <a:lstStyle/>
          <a:p>
            <a:r>
              <a:rPr lang="en-US" altLang="ko-KR" dirty="0"/>
              <a:t>Click to edit Master style</a:t>
            </a:r>
            <a:endParaRPr lang="ko-KR" altLang="en-US" dirty="0"/>
          </a:p>
        </p:txBody>
      </p:sp>
      <p:sp>
        <p:nvSpPr>
          <p:cNvPr id="8" name="텍스트 개체 틀 7">
            <a:extLst>
              <a:ext uri="{FF2B5EF4-FFF2-40B4-BE49-F238E27FC236}">
                <a16:creationId xmlns:a16="http://schemas.microsoft.com/office/drawing/2014/main" id="{97854AE8-64DB-4318-B442-9AE1C6792159}"/>
              </a:ext>
            </a:extLst>
          </p:cNvPr>
          <p:cNvSpPr>
            <a:spLocks noGrp="1"/>
          </p:cNvSpPr>
          <p:nvPr>
            <p:ph type="body" idx="1"/>
          </p:nvPr>
        </p:nvSpPr>
        <p:spPr>
          <a:xfrm>
            <a:off x="681038" y="1520788"/>
            <a:ext cx="8543925" cy="1404156"/>
          </a:xfrm>
          <a:prstGeom prst="rect">
            <a:avLst/>
          </a:prstGeom>
        </p:spPr>
        <p:txBody>
          <a:bodyPr vert="horz" lIns="91440" tIns="45720" rIns="91440" bIns="45720" rtlCol="0">
            <a:normAutofit/>
          </a:bodyPr>
          <a:lstStyle/>
          <a:p>
            <a:pPr lvl="0"/>
            <a:r>
              <a:rPr lang="en-US" altLang="ko-KR" dirty="0"/>
              <a:t>Click to edit Master text style – Level</a:t>
            </a:r>
          </a:p>
          <a:p>
            <a:pPr lvl="0"/>
            <a:r>
              <a:rPr lang="en-US" altLang="ko-KR" dirty="0"/>
              <a:t> </a:t>
            </a:r>
          </a:p>
        </p:txBody>
      </p:sp>
    </p:spTree>
    <p:extLst>
      <p:ext uri="{BB962C8B-B14F-4D97-AF65-F5344CB8AC3E}">
        <p14:creationId xmlns:p14="http://schemas.microsoft.com/office/powerpoint/2010/main" val="1169121173"/>
      </p:ext>
    </p:extLst>
  </p:cSld>
  <p:clrMap bg1="lt1" tx1="dk1" bg2="lt2" tx2="dk2" accent1="accent1" accent2="accent2" accent3="accent3" accent4="accent4" accent5="accent5" accent6="accent6" hlink="hlink" folHlink="folHlink"/>
  <p:sldLayoutIdLst>
    <p:sldLayoutId id="2147484387" r:id="rId1"/>
    <p:sldLayoutId id="2147484391" r:id="rId2"/>
    <p:sldLayoutId id="2147484393" r:id="rId3"/>
    <p:sldLayoutId id="2147484372" r:id="rId4"/>
    <p:sldLayoutId id="2147484394" r:id="rId5"/>
  </p:sldLayoutIdLst>
  <p:txStyles>
    <p:titleStyle>
      <a:lvl1pPr algn="l" defTabSz="914400" rtl="0" eaLnBrk="1" latinLnBrk="1" hangingPunct="1">
        <a:spcBef>
          <a:spcPct val="0"/>
        </a:spcBef>
        <a:buNone/>
        <a:defRPr sz="2000" b="1" kern="1200" baseline="0">
          <a:solidFill>
            <a:schemeClr val="tx1"/>
          </a:solidFill>
          <a:latin typeface="Arial Narrow" panose="020B0606020202030204" pitchFamily="34" charset="0"/>
          <a:ea typeface="HY헤드라인M" panose="02030600000101010101" pitchFamily="18" charset="-127"/>
          <a:cs typeface="+mj-cs"/>
        </a:defRPr>
      </a:lvl1pPr>
    </p:titleStyle>
    <p:bodyStyle>
      <a:lvl1pPr marL="0" indent="0" algn="l" defTabSz="914400" rtl="0" eaLnBrk="1" latinLnBrk="1" hangingPunct="1">
        <a:spcBef>
          <a:spcPct val="20000"/>
        </a:spcBef>
        <a:buFontTx/>
        <a:buNone/>
        <a:defRPr sz="2000" kern="1200" baseline="0">
          <a:solidFill>
            <a:schemeClr val="tx1"/>
          </a:solidFill>
          <a:latin typeface="Arial Narrow" panose="020B0606020202030204" pitchFamily="34" charset="0"/>
          <a:ea typeface="HY헤드라인M" panose="02030600000101010101" pitchFamily="18" charset="-127"/>
          <a:cs typeface="+mn-cs"/>
        </a:defRPr>
      </a:lvl1pPr>
      <a:lvl2pPr marL="4572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0A42379-E437-449C-8C27-5126C0D6BF4A}"/>
              </a:ext>
            </a:extLst>
          </p:cNvPr>
          <p:cNvSpPr>
            <a:spLocks noGrp="1"/>
          </p:cNvSpPr>
          <p:nvPr>
            <p:ph type="title"/>
          </p:nvPr>
        </p:nvSpPr>
        <p:spPr>
          <a:xfrm>
            <a:off x="681038" y="548680"/>
            <a:ext cx="8543925" cy="651607"/>
          </a:xfrm>
          <a:prstGeom prst="rect">
            <a:avLst/>
          </a:prstGeom>
        </p:spPr>
        <p:txBody>
          <a:bodyPr vert="horz" lIns="91440" tIns="45720" rIns="91440" bIns="45720" rtlCol="0" anchor="ctr">
            <a:normAutofit/>
          </a:bodyPr>
          <a:lstStyle/>
          <a:p>
            <a:r>
              <a:rPr lang="en-US" altLang="ko-KR" dirty="0"/>
              <a:t>Click to edit Master style</a:t>
            </a:r>
            <a:endParaRPr lang="ko-KR" altLang="en-US" dirty="0"/>
          </a:p>
        </p:txBody>
      </p:sp>
      <p:sp>
        <p:nvSpPr>
          <p:cNvPr id="8" name="텍스트 개체 틀 7">
            <a:extLst>
              <a:ext uri="{FF2B5EF4-FFF2-40B4-BE49-F238E27FC236}">
                <a16:creationId xmlns:a16="http://schemas.microsoft.com/office/drawing/2014/main" id="{97854AE8-64DB-4318-B442-9AE1C6792159}"/>
              </a:ext>
            </a:extLst>
          </p:cNvPr>
          <p:cNvSpPr>
            <a:spLocks noGrp="1"/>
          </p:cNvSpPr>
          <p:nvPr>
            <p:ph type="body" idx="1"/>
          </p:nvPr>
        </p:nvSpPr>
        <p:spPr>
          <a:xfrm>
            <a:off x="681038" y="1520788"/>
            <a:ext cx="8543925" cy="1404156"/>
          </a:xfrm>
          <a:prstGeom prst="rect">
            <a:avLst/>
          </a:prstGeom>
        </p:spPr>
        <p:txBody>
          <a:bodyPr vert="horz" lIns="91440" tIns="45720" rIns="91440" bIns="45720" rtlCol="0">
            <a:normAutofit/>
          </a:bodyPr>
          <a:lstStyle/>
          <a:p>
            <a:pPr lvl="0"/>
            <a:r>
              <a:rPr lang="en-US" altLang="ko-KR" dirty="0"/>
              <a:t>Click to edit Master text style – Level</a:t>
            </a:r>
          </a:p>
          <a:p>
            <a:pPr lvl="0"/>
            <a:r>
              <a:rPr lang="en-US" altLang="ko-KR" dirty="0"/>
              <a:t> </a:t>
            </a:r>
          </a:p>
        </p:txBody>
      </p:sp>
    </p:spTree>
    <p:extLst>
      <p:ext uri="{BB962C8B-B14F-4D97-AF65-F5344CB8AC3E}">
        <p14:creationId xmlns:p14="http://schemas.microsoft.com/office/powerpoint/2010/main" val="1434491181"/>
      </p:ext>
    </p:extLst>
  </p:cSld>
  <p:clrMap bg1="lt1" tx1="dk1" bg2="lt2" tx2="dk2" accent1="accent1" accent2="accent2" accent3="accent3" accent4="accent4" accent5="accent5" accent6="accent6" hlink="hlink" folHlink="folHlink"/>
  <p:sldLayoutIdLst>
    <p:sldLayoutId id="2147484396" r:id="rId1"/>
    <p:sldLayoutId id="2147484397" r:id="rId2"/>
    <p:sldLayoutId id="2147484398" r:id="rId3"/>
    <p:sldLayoutId id="2147484399" r:id="rId4"/>
    <p:sldLayoutId id="2147484400" r:id="rId5"/>
    <p:sldLayoutId id="2147484401" r:id="rId6"/>
    <p:sldLayoutId id="2147484402" r:id="rId7"/>
    <p:sldLayoutId id="2147484403" r:id="rId8"/>
  </p:sldLayoutIdLst>
  <p:txStyles>
    <p:titleStyle>
      <a:lvl1pPr algn="l" defTabSz="914400" rtl="0" eaLnBrk="1" latinLnBrk="1" hangingPunct="1">
        <a:spcBef>
          <a:spcPct val="0"/>
        </a:spcBef>
        <a:buNone/>
        <a:defRPr sz="2000" b="1" kern="1200" baseline="0">
          <a:solidFill>
            <a:schemeClr val="tx1"/>
          </a:solidFill>
          <a:latin typeface="Arial Narrow" panose="020B0606020202030204" pitchFamily="34" charset="0"/>
          <a:ea typeface="HY헤드라인M" panose="02030600000101010101" pitchFamily="18" charset="-127"/>
          <a:cs typeface="+mj-cs"/>
        </a:defRPr>
      </a:lvl1pPr>
    </p:titleStyle>
    <p:bodyStyle>
      <a:lvl1pPr marL="0" indent="0" algn="l" defTabSz="914400" rtl="0" eaLnBrk="1" latinLnBrk="1" hangingPunct="1">
        <a:spcBef>
          <a:spcPct val="20000"/>
        </a:spcBef>
        <a:buFontTx/>
        <a:buNone/>
        <a:defRPr sz="2000" kern="1200" baseline="0">
          <a:solidFill>
            <a:schemeClr val="tx1"/>
          </a:solidFill>
          <a:latin typeface="Arial Narrow" panose="020B0606020202030204" pitchFamily="34" charset="0"/>
          <a:ea typeface="HY헤드라인M" panose="02030600000101010101" pitchFamily="18" charset="-127"/>
          <a:cs typeface="+mn-cs"/>
        </a:defRPr>
      </a:lvl1pPr>
      <a:lvl2pPr marL="4572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9.xml"/><Relationship Id="rId4"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41FEC869-DD5E-D022-42EF-E2B6866C4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9906000" cy="6857999"/>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77361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직사각형 8">
            <a:extLst>
              <a:ext uri="{FF2B5EF4-FFF2-40B4-BE49-F238E27FC236}">
                <a16:creationId xmlns:a16="http://schemas.microsoft.com/office/drawing/2014/main" id="{EB88D704-DBEF-67B5-9397-FB979DB8FBF3}"/>
              </a:ext>
            </a:extLst>
          </p:cNvPr>
          <p:cNvSpPr/>
          <p:nvPr/>
        </p:nvSpPr>
        <p:spPr>
          <a:xfrm>
            <a:off x="496329" y="1772242"/>
            <a:ext cx="17101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중간보고서</a:t>
            </a:r>
          </a:p>
        </p:txBody>
      </p:sp>
      <p:sp>
        <p:nvSpPr>
          <p:cNvPr id="12" name="Title 3">
            <a:extLst>
              <a:ext uri="{FF2B5EF4-FFF2-40B4-BE49-F238E27FC236}">
                <a16:creationId xmlns:a16="http://schemas.microsoft.com/office/drawing/2014/main" id="{726706FB-8FA8-5F80-4E6B-51D4FDE67A92}"/>
              </a:ext>
            </a:extLst>
          </p:cNvPr>
          <p:cNvSpPr txBox="1">
            <a:spLocks/>
          </p:cNvSpPr>
          <p:nvPr/>
        </p:nvSpPr>
        <p:spPr>
          <a:xfrm>
            <a:off x="301795" y="2595361"/>
            <a:ext cx="4111145" cy="815608"/>
          </a:xfrm>
          <a:prstGeom prst="rect">
            <a:avLst/>
          </a:prstGeom>
        </p:spPr>
        <p:txBody>
          <a:bodyPr vert="horz" wrap="square" lIns="288000" tIns="0" rIns="0" bIns="0" rtlCol="0" anchor="b" anchorCtr="0">
            <a:spAutoFit/>
          </a:bodyPr>
          <a:lstStyle>
            <a:lvl1pPr algn="l" defTabSz="914400" rtl="0" eaLnBrk="1" latinLnBrk="0" hangingPunct="1">
              <a:lnSpc>
                <a:spcPct val="90000"/>
              </a:lnSpc>
              <a:spcBef>
                <a:spcPct val="0"/>
              </a:spcBef>
              <a:buNone/>
              <a:defRPr lang="en-US" sz="3700" b="0" kern="1200" baseline="0">
                <a:solidFill>
                  <a:schemeClr val="tx1"/>
                </a:solidFill>
                <a:latin typeface="+mj-lt"/>
                <a:ea typeface="+mj-ea"/>
                <a:cs typeface="+mj-cs"/>
                <a:sym typeface="+mn-lt"/>
              </a:defRPr>
            </a:lvl1pPr>
          </a:lstStyle>
          <a:p>
            <a:pPr>
              <a:lnSpc>
                <a:spcPct val="100000"/>
              </a:lnSpc>
              <a:spcBef>
                <a:spcPts val="0"/>
              </a:spcBef>
              <a:spcAft>
                <a:spcPts val="600"/>
              </a:spcAft>
            </a:pPr>
            <a:r>
              <a:rPr lang="en-US" altLang="ko-KR" sz="2400" dirty="0">
                <a:latin typeface="+mj-ea"/>
              </a:rPr>
              <a:t>2025</a:t>
            </a:r>
            <a:r>
              <a:rPr lang="ko-KR" altLang="en-US" sz="2400" dirty="0">
                <a:latin typeface="+mj-ea"/>
              </a:rPr>
              <a:t>년 </a:t>
            </a:r>
            <a:r>
              <a:rPr lang="ko-KR" altLang="en-US" sz="2400" dirty="0" err="1">
                <a:latin typeface="+mj-ea"/>
              </a:rPr>
              <a:t>기술교육로드맵</a:t>
            </a:r>
            <a:r>
              <a:rPr lang="ko-KR" altLang="en-US" sz="2400" dirty="0">
                <a:latin typeface="+mj-ea"/>
              </a:rPr>
              <a:t> 개발</a:t>
            </a:r>
            <a:endParaRPr lang="en-US" altLang="ko-KR" sz="2400" dirty="0">
              <a:latin typeface="+mj-ea"/>
            </a:endParaRPr>
          </a:p>
          <a:p>
            <a:pPr>
              <a:lnSpc>
                <a:spcPct val="100000"/>
              </a:lnSpc>
              <a:spcBef>
                <a:spcPts val="0"/>
              </a:spcBef>
              <a:spcAft>
                <a:spcPts val="600"/>
              </a:spcAft>
            </a:pPr>
            <a:r>
              <a:rPr lang="ko-KR" altLang="en-US" sz="2400" dirty="0">
                <a:latin typeface="+mj-ea"/>
              </a:rPr>
              <a:t>및 신규과정 선정 연구 용역</a:t>
            </a:r>
          </a:p>
        </p:txBody>
      </p:sp>
      <p:sp>
        <p:nvSpPr>
          <p:cNvPr id="14" name="Text Placeholder 2">
            <a:extLst>
              <a:ext uri="{FF2B5EF4-FFF2-40B4-BE49-F238E27FC236}">
                <a16:creationId xmlns:a16="http://schemas.microsoft.com/office/drawing/2014/main" id="{1F6F1583-DA55-03E1-22A0-B273541190CF}"/>
              </a:ext>
            </a:extLst>
          </p:cNvPr>
          <p:cNvSpPr txBox="1">
            <a:spLocks/>
          </p:cNvSpPr>
          <p:nvPr/>
        </p:nvSpPr>
        <p:spPr>
          <a:xfrm>
            <a:off x="3443458" y="6487000"/>
            <a:ext cx="1434658" cy="288677"/>
          </a:xfrm>
          <a:prstGeom prst="rect">
            <a:avLst/>
          </a:prstGeom>
        </p:spPr>
        <p:txBody>
          <a:bodyPr vert="horz" lIns="28800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Tx/>
              <a:buFont typeface="Arial Narrow" pitchFamily="34" charset="0"/>
              <a:buNone/>
              <a:tabLst/>
              <a:defRPr lang="en-US" sz="13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1200"/>
              </a:spcBef>
              <a:buFont typeface="Arial Narrow" pitchFamily="34" charset="0"/>
              <a:buChar char="&gt;"/>
              <a:defRPr lang="en-US" sz="2100" b="0" kern="1200" dirty="0" smtClean="0">
                <a:solidFill>
                  <a:schemeClr val="tx1"/>
                </a:solidFill>
                <a:latin typeface="+mn-lt"/>
                <a:ea typeface="+mn-ea"/>
                <a:cs typeface="+mn-cs"/>
                <a:sym typeface="+mn-lt"/>
              </a:defRPr>
            </a:lvl2pPr>
            <a:lvl3pPr marL="482400" indent="-234000" algn="l" defTabSz="914400" rtl="0" eaLnBrk="1" latinLnBrk="0" hangingPunct="1">
              <a:lnSpc>
                <a:spcPct val="90000"/>
              </a:lnSpc>
              <a:spcBef>
                <a:spcPts val="400"/>
              </a:spcBef>
              <a:buFont typeface="Arial Narrow" pitchFamily="34" charset="0"/>
              <a:buChar char="–"/>
              <a:defRPr lang="en-US" sz="2100" b="0" kern="1200" dirty="0" smtClean="0">
                <a:solidFill>
                  <a:schemeClr val="tx1"/>
                </a:solidFill>
                <a:latin typeface="+mn-lt"/>
                <a:ea typeface="+mn-ea"/>
                <a:cs typeface="+mn-cs"/>
                <a:sym typeface="+mn-lt"/>
              </a:defRPr>
            </a:lvl3pPr>
            <a:lvl4pPr marL="698400" indent="-201600" algn="l" defTabSz="914400" rtl="0" eaLnBrk="1" latinLnBrk="0" hangingPunct="1">
              <a:lnSpc>
                <a:spcPct val="90000"/>
              </a:lnSpc>
              <a:spcBef>
                <a:spcPts val="200"/>
              </a:spcBef>
              <a:buFont typeface="Arial Narrow" pitchFamily="34" charset="0"/>
              <a:buChar char="-"/>
              <a:defRPr lang="en-US" sz="2100" b="0" kern="1200" dirty="0">
                <a:solidFill>
                  <a:schemeClr val="tx1"/>
                </a:solidFill>
                <a:latin typeface="+mn-lt"/>
                <a:ea typeface="+mn-ea"/>
                <a:cs typeface="+mn-cs"/>
                <a:sym typeface="+mn-lt"/>
              </a:defRPr>
            </a:lvl4pPr>
            <a:lvl5pPr marL="698400" indent="0" algn="l" defTabSz="914400" rtl="0" eaLnBrk="1" latinLnBrk="0" hangingPunct="1">
              <a:lnSpc>
                <a:spcPct val="93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ct val="0"/>
              </a:spcBef>
              <a:spcAft>
                <a:spcPct val="0"/>
              </a:spcAft>
              <a:buClrTx/>
              <a:buSzTx/>
              <a:buFont typeface="Arial Narrow" pitchFamily="34" charset="0"/>
              <a:buNone/>
              <a:tabLst/>
              <a:defRPr/>
            </a:pPr>
            <a:r>
              <a:rPr kumimoji="0" lang="en-US" sz="1300" b="0" i="0" u="none" strike="noStrike" kern="1200" cap="none" spc="0" normalizeH="0" baseline="0" noProof="0" dirty="0">
                <a:ln>
                  <a:noFill/>
                </a:ln>
                <a:solidFill>
                  <a:srgbClr val="000000"/>
                </a:solidFill>
                <a:effectLst/>
                <a:uLnTx/>
                <a:uFillTx/>
                <a:latin typeface="+mn-ea"/>
                <a:sym typeface="+mn-lt"/>
              </a:rPr>
              <a:t>2025.</a:t>
            </a:r>
            <a:r>
              <a:rPr kumimoji="0" lang="en-US" sz="1300" b="0" i="0" u="none" strike="noStrike" kern="1200" cap="none" spc="0" normalizeH="0" noProof="0" dirty="0">
                <a:ln>
                  <a:noFill/>
                </a:ln>
                <a:solidFill>
                  <a:srgbClr val="000000"/>
                </a:solidFill>
                <a:effectLst/>
                <a:uLnTx/>
                <a:uFillTx/>
                <a:latin typeface="+mn-ea"/>
                <a:sym typeface="+mn-lt"/>
              </a:rPr>
              <a:t> </a:t>
            </a:r>
            <a:r>
              <a:rPr lang="en-US" dirty="0">
                <a:solidFill>
                  <a:srgbClr val="000000"/>
                </a:solidFill>
                <a:latin typeface="+mn-ea"/>
              </a:rPr>
              <a:t>11</a:t>
            </a:r>
            <a:r>
              <a:rPr kumimoji="0" lang="en-US" sz="1300" b="0" i="0" u="none" strike="noStrike" kern="1200" cap="none" spc="0" normalizeH="0" noProof="0" dirty="0">
                <a:ln>
                  <a:noFill/>
                </a:ln>
                <a:solidFill>
                  <a:srgbClr val="000000"/>
                </a:solidFill>
                <a:effectLst/>
                <a:uLnTx/>
                <a:uFillTx/>
                <a:latin typeface="+mn-ea"/>
                <a:sym typeface="+mn-lt"/>
              </a:rPr>
              <a:t>. </a:t>
            </a:r>
            <a:r>
              <a:rPr lang="en-US" noProof="0" dirty="0">
                <a:solidFill>
                  <a:srgbClr val="000000"/>
                </a:solidFill>
                <a:latin typeface="+mn-ea"/>
              </a:rPr>
              <a:t>06</a:t>
            </a:r>
            <a:r>
              <a:rPr kumimoji="0" lang="en-US" sz="1300" b="0" i="0" u="none" strike="noStrike" kern="1200" cap="none" spc="0" normalizeH="0" noProof="0" dirty="0">
                <a:ln>
                  <a:noFill/>
                </a:ln>
                <a:solidFill>
                  <a:srgbClr val="000000"/>
                </a:solidFill>
                <a:effectLst/>
                <a:uLnTx/>
                <a:uFillTx/>
                <a:latin typeface="+mn-ea"/>
                <a:sym typeface="+mn-lt"/>
              </a:rPr>
              <a:t>.</a:t>
            </a:r>
            <a:endParaRPr kumimoji="0" lang="en-US" sz="1300" b="0" i="0" u="none" strike="noStrike" kern="1200" cap="none" spc="0" normalizeH="0" baseline="0" noProof="0" dirty="0">
              <a:ln>
                <a:noFill/>
              </a:ln>
              <a:solidFill>
                <a:srgbClr val="000000"/>
              </a:solidFill>
              <a:effectLst/>
              <a:uLnTx/>
              <a:uFillTx/>
              <a:latin typeface="+mn-ea"/>
              <a:sym typeface="+mn-lt"/>
            </a:endParaRPr>
          </a:p>
        </p:txBody>
      </p:sp>
      <p:pic>
        <p:nvPicPr>
          <p:cNvPr id="23" name="Picture 0">
            <a:extLst>
              <a:ext uri="{FF2B5EF4-FFF2-40B4-BE49-F238E27FC236}">
                <a16:creationId xmlns:a16="http://schemas.microsoft.com/office/drawing/2014/main" id="{865B3DCE-C1E2-4C66-F040-EEC07E69D47C}"/>
              </a:ext>
            </a:extLst>
          </p:cNvPr>
          <p:cNvPicPr>
            <a:picLocks noChangeAspect="1"/>
          </p:cNvPicPr>
          <p:nvPr/>
        </p:nvPicPr>
        <p:blipFill>
          <a:blip r:embed="rId4"/>
          <a:stretch>
            <a:fillRect/>
          </a:stretch>
        </p:blipFill>
        <p:spPr>
          <a:xfrm>
            <a:off x="128464" y="188640"/>
            <a:ext cx="1822268" cy="523445"/>
          </a:xfrm>
          <a:prstGeom prst="rect">
            <a:avLst/>
          </a:prstGeom>
          <a:noFill/>
          <a:ln>
            <a:noFill/>
          </a:ln>
          <a:effectLst/>
        </p:spPr>
      </p:pic>
    </p:spTree>
    <p:extLst>
      <p:ext uri="{BB962C8B-B14F-4D97-AF65-F5344CB8AC3E}">
        <p14:creationId xmlns:p14="http://schemas.microsoft.com/office/powerpoint/2010/main" val="23628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782B8-AF8E-44A5-AD8E-F74CF710AFB5}"/>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0E071E0F-7990-C008-35CB-B36C123E2C37}"/>
              </a:ext>
            </a:extLst>
          </p:cNvPr>
          <p:cNvSpPr>
            <a:spLocks noGrp="1"/>
          </p:cNvSpPr>
          <p:nvPr>
            <p:ph type="body" sz="quarter" idx="12"/>
          </p:nvPr>
        </p:nvSpPr>
        <p:spPr/>
        <p:txBody>
          <a:bodyPr/>
          <a:lstStyle/>
          <a:p>
            <a:pPr latinLnBrk="0"/>
            <a:r>
              <a:rPr lang="ko-KR" altLang="en-US" dirty="0"/>
              <a:t>본 용역을 통해 </a:t>
            </a:r>
            <a:r>
              <a:rPr lang="ko-KR" altLang="en-US" dirty="0">
                <a:solidFill>
                  <a:srgbClr val="0070C0"/>
                </a:solidFill>
              </a:rPr>
              <a:t>학습자들이 체계적으로 훈련</a:t>
            </a:r>
            <a:r>
              <a:rPr lang="ko-KR" altLang="en-US" dirty="0"/>
              <a:t> 받을 수 있도록 </a:t>
            </a:r>
            <a:r>
              <a:rPr lang="ko-KR" altLang="en-US" dirty="0">
                <a:solidFill>
                  <a:srgbClr val="0070C0"/>
                </a:solidFill>
              </a:rPr>
              <a:t>기술교육 로드맵 및 과정 개요서를 개발</a:t>
            </a:r>
            <a:r>
              <a:rPr lang="ko-KR" altLang="en-US" dirty="0"/>
              <a:t>하고</a:t>
            </a:r>
            <a:r>
              <a:rPr lang="en-US" altLang="ko-KR" dirty="0"/>
              <a:t>, </a:t>
            </a:r>
            <a:r>
              <a:rPr lang="en-US" altLang="ko-KR" dirty="0">
                <a:solidFill>
                  <a:srgbClr val="0070C0"/>
                </a:solidFill>
              </a:rPr>
              <a:t>STEP </a:t>
            </a:r>
            <a:r>
              <a:rPr lang="ko-KR" altLang="en-US" dirty="0">
                <a:solidFill>
                  <a:srgbClr val="0070C0"/>
                </a:solidFill>
              </a:rPr>
              <a:t>서비스 활용 확대를 위한 기반을 마련</a:t>
            </a:r>
            <a:r>
              <a:rPr lang="ko-KR" altLang="en-US" dirty="0"/>
              <a:t>하고자 함</a:t>
            </a:r>
          </a:p>
        </p:txBody>
      </p:sp>
      <p:sp>
        <p:nvSpPr>
          <p:cNvPr id="5" name="텍스트 개체 틀 4">
            <a:extLst>
              <a:ext uri="{FF2B5EF4-FFF2-40B4-BE49-F238E27FC236}">
                <a16:creationId xmlns:a16="http://schemas.microsoft.com/office/drawing/2014/main" id="{70C30542-4E61-5A33-D12D-5893AE920CB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Ⅰ. </a:t>
            </a:r>
            <a:r>
              <a:rPr lang="ko-KR" altLang="en-US" dirty="0">
                <a:latin typeface="+mn-ea"/>
              </a:rPr>
              <a:t>과업 추진방향</a:t>
            </a:r>
          </a:p>
        </p:txBody>
      </p:sp>
      <p:sp>
        <p:nvSpPr>
          <p:cNvPr id="7" name="텍스트 개체 틀 87">
            <a:extLst>
              <a:ext uri="{FF2B5EF4-FFF2-40B4-BE49-F238E27FC236}">
                <a16:creationId xmlns:a16="http://schemas.microsoft.com/office/drawing/2014/main" id="{6D3E233B-BAC9-E52D-872D-661546986E99}"/>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mn-ea"/>
              </a:rPr>
              <a:t>연구 추진 목적 및 범위</a:t>
            </a:r>
          </a:p>
        </p:txBody>
      </p:sp>
      <p:sp>
        <p:nvSpPr>
          <p:cNvPr id="8" name="직사각형 7">
            <a:extLst>
              <a:ext uri="{FF2B5EF4-FFF2-40B4-BE49-F238E27FC236}">
                <a16:creationId xmlns:a16="http://schemas.microsoft.com/office/drawing/2014/main" id="{1E101BB7-278B-F588-0225-FB3BF2E40B61}"/>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B5594AF3-1A94-4228-13A5-DBCEC4C058C4}"/>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6" name="Text Box 15">
            <a:extLst>
              <a:ext uri="{FF2B5EF4-FFF2-40B4-BE49-F238E27FC236}">
                <a16:creationId xmlns:a16="http://schemas.microsoft.com/office/drawing/2014/main" id="{51224B21-1C6A-0BE0-977B-BB4E0EECE591}"/>
              </a:ext>
            </a:extLst>
          </p:cNvPr>
          <p:cNvSpPr txBox="1">
            <a:spLocks noChangeArrowheads="1"/>
          </p:cNvSpPr>
          <p:nvPr/>
        </p:nvSpPr>
        <p:spPr bwMode="auto">
          <a:xfrm>
            <a:off x="1699463" y="1742404"/>
            <a:ext cx="7646150" cy="519694"/>
          </a:xfrm>
          <a:prstGeom prst="rect">
            <a:avLst/>
          </a:prstGeom>
          <a:noFill/>
          <a:ln w="9525">
            <a:noFill/>
            <a:miter lim="800000"/>
            <a:headEnd/>
            <a:tailEnd/>
          </a:ln>
          <a:effectLst/>
        </p:spPr>
        <p:txBody>
          <a:bodyPr lIns="0" tIns="0" rIns="0" bIns="0">
            <a:spAutoFit/>
            <a:scene3d>
              <a:camera prst="orthographicFront"/>
              <a:lightRig rig="threePt" dir="t"/>
            </a:scene3d>
            <a:sp3d contourW="44450">
              <a:contourClr>
                <a:srgbClr val="1E59B8"/>
              </a:contourClr>
            </a:sp3d>
          </a:bodyPr>
          <a:lstStyle/>
          <a:p>
            <a:pPr lvl="0" eaLnBrk="1" fontAlgn="auto" latinLnBrk="0" hangingPunct="1">
              <a:lnSpc>
                <a:spcPct val="110000"/>
              </a:lnSpc>
              <a:spcBef>
                <a:spcPts val="0"/>
              </a:spcBef>
              <a:spcAft>
                <a:spcPts val="0"/>
              </a:spcAft>
              <a:buNone/>
              <a:defRPr/>
            </a:pPr>
            <a:r>
              <a:rPr kumimoji="1" lang="ko-KR" altLang="en-US" sz="1600" kern="0" dirty="0">
                <a:solidFill>
                  <a:srgbClr val="003F56"/>
                </a:solidFill>
                <a:latin typeface="Arial Narrow" panose="020B0606020202030204" pitchFamily="34" charset="0"/>
                <a:ea typeface="a고딕16" panose="02020600000000000000" pitchFamily="18" charset="-127"/>
              </a:rPr>
              <a:t>수요중심의 온라인평생교육 기술교육로드맵 및 신규과정 개발</a:t>
            </a:r>
            <a:endParaRPr kumimoji="1" lang="en-US" altLang="ko-KR" sz="1600" kern="0" dirty="0">
              <a:solidFill>
                <a:srgbClr val="003F56"/>
              </a:solidFill>
              <a:latin typeface="Arial Narrow" panose="020B0606020202030204" pitchFamily="34" charset="0"/>
              <a:ea typeface="a고딕16" panose="02020600000000000000" pitchFamily="18" charset="-127"/>
            </a:endParaRPr>
          </a:p>
          <a:p>
            <a:pPr lvl="0" eaLnBrk="1" fontAlgn="auto" latinLnBrk="0" hangingPunct="1">
              <a:lnSpc>
                <a:spcPct val="110000"/>
              </a:lnSpc>
              <a:spcBef>
                <a:spcPts val="0"/>
              </a:spcBef>
              <a:spcAft>
                <a:spcPts val="0"/>
              </a:spcAft>
              <a:buNone/>
              <a:defRPr/>
            </a:pPr>
            <a:r>
              <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STEP </a:t>
            </a:r>
            <a:r>
              <a:rPr kumimoji="1" lang="ko-KR" altLang="en-US"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서비스 활용 확대 방안 수립</a:t>
            </a:r>
            <a:endPar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endParaRPr>
          </a:p>
        </p:txBody>
      </p:sp>
      <p:pic>
        <p:nvPicPr>
          <p:cNvPr id="10" name="Picture 22" descr="E:\포폴정리\멀캠\개체\자주쓰는 PNG\화살표2.png">
            <a:extLst>
              <a:ext uri="{FF2B5EF4-FFF2-40B4-BE49-F238E27FC236}">
                <a16:creationId xmlns:a16="http://schemas.microsoft.com/office/drawing/2014/main" id="{C6AA8904-BD9F-1451-5294-2DBC265AEAC3}"/>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flipV="1">
            <a:off x="3594370" y="2376595"/>
            <a:ext cx="3856337" cy="404332"/>
          </a:xfrm>
          <a:prstGeom prst="rect">
            <a:avLst/>
          </a:prstGeom>
          <a:noFill/>
        </p:spPr>
      </p:pic>
      <p:sp>
        <p:nvSpPr>
          <p:cNvPr id="11" name="모서리가 둥근 직사각형 38">
            <a:extLst>
              <a:ext uri="{FF2B5EF4-FFF2-40B4-BE49-F238E27FC236}">
                <a16:creationId xmlns:a16="http://schemas.microsoft.com/office/drawing/2014/main" id="{186C6649-8000-7E45-DA06-6F91C2428555}"/>
              </a:ext>
            </a:extLst>
          </p:cNvPr>
          <p:cNvSpPr/>
          <p:nvPr/>
        </p:nvSpPr>
        <p:spPr bwMode="auto">
          <a:xfrm>
            <a:off x="1736534"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92075" lvl="0" indent="-92075" algn="l" eaLnBrk="1" fontAlgn="auto" latinLnBrk="0" hangingPunct="1">
              <a:spcBef>
                <a:spcPts val="0"/>
              </a:spcBef>
              <a:spcAft>
                <a:spcPts val="0"/>
              </a:spcAft>
              <a:buFont typeface="Arial" panose="020B0604020202020204" pitchFamily="34" charset="0"/>
              <a:buChar char="•"/>
              <a:defRPr/>
            </a:pPr>
            <a:r>
              <a:rPr lang="en-US" altLang="ko-KR" sz="1100" kern="0" dirty="0">
                <a:solidFill>
                  <a:srgbClr val="0070C0"/>
                </a:solidFill>
                <a:latin typeface="Arial Narrow" panose="020B0606020202030204" pitchFamily="34" charset="0"/>
                <a:ea typeface="+mn-ea"/>
              </a:rPr>
              <a:t>NCS </a:t>
            </a:r>
            <a:r>
              <a:rPr lang="ko-KR" altLang="en-US" sz="1100" kern="0" dirty="0">
                <a:solidFill>
                  <a:srgbClr val="0070C0"/>
                </a:solidFill>
                <a:latin typeface="Arial Narrow" panose="020B0606020202030204" pitchFamily="34" charset="0"/>
                <a:ea typeface="+mn-ea"/>
              </a:rPr>
              <a:t>및 </a:t>
            </a:r>
            <a:r>
              <a:rPr lang="en-US" altLang="ko-KR" sz="1100" kern="0" dirty="0">
                <a:solidFill>
                  <a:srgbClr val="0070C0"/>
                </a:solidFill>
                <a:latin typeface="Arial Narrow" panose="020B0606020202030204" pitchFamily="34" charset="0"/>
                <a:ea typeface="+mn-ea"/>
              </a:rPr>
              <a:t>SQF Updating </a:t>
            </a:r>
            <a:r>
              <a:rPr lang="ko-KR" altLang="en-US" sz="1100" kern="0" dirty="0">
                <a:solidFill>
                  <a:srgbClr val="0070C0"/>
                </a:solidFill>
                <a:latin typeface="Arial Narrow" panose="020B0606020202030204" pitchFamily="34" charset="0"/>
                <a:ea typeface="+mn-ea"/>
              </a:rPr>
              <a:t>및 교육과정 매핑</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en-US" altLang="ko-KR" sz="1000" kern="0" dirty="0">
                <a:solidFill>
                  <a:srgbClr val="003F56"/>
                </a:solidFill>
                <a:latin typeface="Arial Narrow" panose="020B0606020202030204" pitchFamily="34" charset="0"/>
                <a:ea typeface="a고딕14"/>
              </a:rPr>
              <a:t>NCS </a:t>
            </a:r>
            <a:r>
              <a:rPr lang="ko-KR" altLang="en-US" sz="1000" kern="0" dirty="0">
                <a:solidFill>
                  <a:srgbClr val="003F56"/>
                </a:solidFill>
                <a:latin typeface="Arial Narrow" panose="020B0606020202030204" pitchFamily="34" charset="0"/>
                <a:ea typeface="a고딕14"/>
              </a:rPr>
              <a:t>및 </a:t>
            </a:r>
            <a:r>
              <a:rPr lang="en-US" altLang="ko-KR" sz="1000" kern="0" dirty="0">
                <a:solidFill>
                  <a:srgbClr val="003F56"/>
                </a:solidFill>
                <a:latin typeface="Arial Narrow" panose="020B0606020202030204" pitchFamily="34" charset="0"/>
                <a:ea typeface="a고딕14"/>
              </a:rPr>
              <a:t>SQF </a:t>
            </a:r>
            <a:r>
              <a:rPr lang="ko-KR" altLang="en-US" sz="1000" kern="0" dirty="0">
                <a:solidFill>
                  <a:srgbClr val="003F56"/>
                </a:solidFill>
                <a:latin typeface="Arial Narrow" panose="020B0606020202030204" pitchFamily="34" charset="0"/>
                <a:ea typeface="a고딕14"/>
              </a:rPr>
              <a:t>검토</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후</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온평원의 교육과정에 반영된 능력단위와 정합성 분석</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a고딕14"/>
              </a:rPr>
              <a:t>최신 능력단위를 기준으로 </a:t>
            </a:r>
            <a:r>
              <a:rPr lang="ko-KR" altLang="en-US" sz="1000" kern="0" dirty="0" err="1">
                <a:solidFill>
                  <a:srgbClr val="003F56"/>
                </a:solidFill>
                <a:latin typeface="Arial Narrow" panose="020B0606020202030204" pitchFamily="34" charset="0"/>
                <a:ea typeface="a고딕14"/>
              </a:rPr>
              <a:t>온평원</a:t>
            </a:r>
            <a:r>
              <a:rPr lang="ko-KR" altLang="en-US" sz="1000" kern="0" dirty="0">
                <a:solidFill>
                  <a:srgbClr val="003F56"/>
                </a:solidFill>
                <a:latin typeface="Arial Narrow" panose="020B0606020202030204" pitchFamily="34" charset="0"/>
                <a:ea typeface="a고딕14"/>
              </a:rPr>
              <a:t> 교육과정</a:t>
            </a:r>
            <a:r>
              <a:rPr lang="en-US" altLang="ko-KR" sz="1000" kern="0" dirty="0">
                <a:solidFill>
                  <a:srgbClr val="003F56"/>
                </a:solidFill>
                <a:latin typeface="Arial Narrow" panose="020B0606020202030204" pitchFamily="34" charset="0"/>
                <a:ea typeface="a고딕14"/>
              </a:rPr>
              <a:t>-</a:t>
            </a:r>
            <a:r>
              <a:rPr lang="ko-KR" altLang="en-US" sz="1000" kern="0" dirty="0">
                <a:solidFill>
                  <a:srgbClr val="003F56"/>
                </a:solidFill>
                <a:latin typeface="Arial Narrow" panose="020B0606020202030204" pitchFamily="34" charset="0"/>
                <a:ea typeface="a고딕14"/>
              </a:rPr>
              <a:t>능력단위 </a:t>
            </a:r>
            <a:r>
              <a:rPr lang="en-US" altLang="ko-KR" sz="1000" kern="0" dirty="0">
                <a:solidFill>
                  <a:srgbClr val="003F56"/>
                </a:solidFill>
                <a:latin typeface="Arial Narrow" panose="020B0606020202030204" pitchFamily="34" charset="0"/>
                <a:ea typeface="a고딕14"/>
              </a:rPr>
              <a:t>DB </a:t>
            </a:r>
            <a:r>
              <a:rPr lang="ko-KR" altLang="en-US" sz="1000" kern="0" dirty="0">
                <a:solidFill>
                  <a:srgbClr val="003F56"/>
                </a:solidFill>
                <a:latin typeface="Arial Narrow" panose="020B0606020202030204" pitchFamily="34" charset="0"/>
                <a:ea typeface="a고딕14"/>
              </a:rPr>
              <a:t>정리</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endParaRPr lang="en-US" altLang="ko-KR" sz="1000" kern="0" dirty="0">
              <a:solidFill>
                <a:srgbClr val="003F56"/>
              </a:solidFill>
              <a:latin typeface="Arial Narrow" panose="020B0606020202030204" pitchFamily="34" charset="0"/>
              <a:ea typeface="a고딕14"/>
            </a:endParaRPr>
          </a:p>
          <a:p>
            <a:pPr marL="92075" marR="0" lvl="0" indent="-92075" algn="l" defTabSz="914400" rtl="0" eaLnBrk="1" fontAlgn="auto" latinLnBrk="0" hangingPunct="1">
              <a:spcBef>
                <a:spcPts val="0"/>
              </a:spcBef>
              <a:spcAft>
                <a:spcPts val="0"/>
              </a:spcAft>
              <a:buClrTx/>
              <a:buSzTx/>
              <a:buFont typeface="Arial" panose="020B0604020202020204" pitchFamily="34" charset="0"/>
              <a:buChar char="•"/>
              <a:tabLst/>
              <a:defRPr/>
            </a:pPr>
            <a:r>
              <a:rPr lang="ko-KR" altLang="en-US" sz="1100" kern="0" dirty="0" err="1">
                <a:solidFill>
                  <a:srgbClr val="0070C0"/>
                </a:solidFill>
                <a:latin typeface="Arial Narrow" panose="020B0606020202030204" pitchFamily="34" charset="0"/>
                <a:ea typeface="a고딕14"/>
              </a:rPr>
              <a:t>비매칭</a:t>
            </a:r>
            <a:r>
              <a:rPr lang="ko-KR" altLang="en-US" sz="1100" kern="0" dirty="0">
                <a:solidFill>
                  <a:srgbClr val="0070C0"/>
                </a:solidFill>
                <a:latin typeface="Arial Narrow" panose="020B0606020202030204" pitchFamily="34" charset="0"/>
                <a:ea typeface="a고딕14"/>
              </a:rPr>
              <a:t> 능력단위 과정개발 여부 판단</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rPr>
              <a:t>NCS 10</a:t>
            </a:r>
            <a:r>
              <a:rPr kumimoji="0" lang="ko-KR" altLang="en-US" sz="1000" b="0" i="0" u="none" kern="0" cap="none" spc="-60" normalizeH="0" noProof="0" dirty="0">
                <a:ln>
                  <a:noFill/>
                </a:ln>
                <a:solidFill>
                  <a:srgbClr val="003F56"/>
                </a:solidFill>
                <a:effectLst/>
                <a:uLnTx/>
                <a:uFillTx/>
                <a:latin typeface="Arial Narrow" panose="020B0606020202030204" pitchFamily="34" charset="0"/>
                <a:ea typeface="a고딕14"/>
                <a:cs typeface="+mn-cs"/>
              </a:rPr>
              <a:t>개 분야의 능력단위 중심의 개발 과정을 위해 능력단위 활용 및 미 활용 여부 구분</a:t>
            </a:r>
            <a:endPar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lang="ko-KR" altLang="en-US" sz="1000" kern="0" dirty="0">
                <a:solidFill>
                  <a:srgbClr val="003F56"/>
                </a:solidFill>
                <a:latin typeface="Arial Narrow" panose="020B0606020202030204" pitchFamily="34" charset="0"/>
                <a:ea typeface="a고딕14"/>
              </a:rPr>
              <a:t>미 활용 능력단위 분석 및 교육과정 개발이 가능한 능력단위 수요 도출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p:txBody>
      </p:sp>
      <p:sp>
        <p:nvSpPr>
          <p:cNvPr id="12" name="모서리가 둥근 직사각형 38">
            <a:extLst>
              <a:ext uri="{FF2B5EF4-FFF2-40B4-BE49-F238E27FC236}">
                <a16:creationId xmlns:a16="http://schemas.microsoft.com/office/drawing/2014/main" id="{6D242E70-72AA-E3BB-D479-928DC7BDD018}"/>
              </a:ext>
            </a:extLst>
          </p:cNvPr>
          <p:cNvSpPr/>
          <p:nvPr/>
        </p:nvSpPr>
        <p:spPr bwMode="auto">
          <a:xfrm>
            <a:off x="4292513"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수요조사 실시 및 최종 선정</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STEP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활용자</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대상 수요조사 실시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24</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a:t>
            </a:r>
            <a:r>
              <a:rPr kumimoji="0" lang="ko-KR" altLang="en-US" sz="1000" b="0" i="0" u="none" strike="noStrike" kern="0" cap="none" spc="-60" normalizeH="0" baseline="0" noProof="0" dirty="0" err="1">
                <a:ln>
                  <a:noFill/>
                </a:ln>
                <a:solidFill>
                  <a:srgbClr val="003F56"/>
                </a:solidFill>
                <a:effectLst/>
                <a:uLnTx/>
                <a:uFillTx/>
                <a:latin typeface="Arial Narrow" panose="020B0606020202030204" pitchFamily="34" charset="0"/>
                <a:ea typeface="a고딕14"/>
                <a:cs typeface="+mn-cs"/>
              </a:rPr>
              <a:t>세분류</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 수요조사 결과 및 </a:t>
            </a: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25</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교육과정 수요조사 결과를 바탕으로 신규 개발 과정 선정</a:t>
            </a:r>
            <a:endParaRPr lang="en-US" altLang="ko-KR" sz="1000" kern="0" spc="-6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rPr>
              <a:t>과정개요서 개발</a:t>
            </a: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전문가 위원회 검증을 통한 최종 과정 선정</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학습 모듈 준거로 과정개요서 개발</a:t>
            </a:r>
            <a:endParaRPr lang="en-US" altLang="ko-KR" sz="1000" kern="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lang="en-US" altLang="ko-KR" sz="1100" kern="0" dirty="0">
              <a:solidFill>
                <a:srgbClr val="0070C0"/>
              </a:solidFill>
              <a:latin typeface="Arial Narrow" panose="020B0606020202030204" pitchFamily="34" charset="0"/>
              <a:ea typeface="+mn-ea"/>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기 개발 </a:t>
            </a: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분석 및 현행화</a:t>
            </a:r>
            <a:endParaRPr lang="en-US" altLang="ko-KR" sz="1100" kern="0" dirty="0">
              <a:solidFill>
                <a:srgbClr val="0070C0"/>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직무</a:t>
            </a:r>
            <a:r>
              <a:rPr lang="en-US" altLang="ko-KR" sz="1000" kern="0" dirty="0">
                <a:solidFill>
                  <a:srgbClr val="003F56"/>
                </a:solidFill>
                <a:latin typeface="Arial Narrow" panose="020B0606020202030204" pitchFamily="34" charset="0"/>
                <a:ea typeface="+mn-ea"/>
              </a:rPr>
              <a:t>, NCS </a:t>
            </a:r>
            <a:r>
              <a:rPr lang="ko-KR" altLang="en-US" sz="1000" kern="0" dirty="0" err="1">
                <a:solidFill>
                  <a:srgbClr val="003F56"/>
                </a:solidFill>
                <a:latin typeface="Arial Narrow" panose="020B0606020202030204" pitchFamily="34" charset="0"/>
                <a:ea typeface="+mn-ea"/>
              </a:rPr>
              <a:t>세분류</a:t>
            </a:r>
            <a:r>
              <a:rPr lang="ko-KR" altLang="en-US" sz="1000" kern="0" dirty="0">
                <a:solidFill>
                  <a:srgbClr val="003F56"/>
                </a:solidFill>
                <a:latin typeface="Arial Narrow" panose="020B0606020202030204" pitchFamily="34" charset="0"/>
                <a:ea typeface="+mn-ea"/>
              </a:rPr>
              <a:t> 직무 등을 적용한 기 개발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분석</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25</a:t>
            </a:r>
            <a:r>
              <a:rPr lang="ko-KR" altLang="en-US" sz="1000" kern="0" dirty="0">
                <a:solidFill>
                  <a:srgbClr val="003F56"/>
                </a:solidFill>
                <a:latin typeface="Arial Narrow" panose="020B0606020202030204" pitchFamily="34" charset="0"/>
                <a:ea typeface="+mn-ea"/>
              </a:rPr>
              <a:t>년 신규 개발 과정 추가 및 </a:t>
            </a:r>
            <a:r>
              <a:rPr lang="en-US" altLang="ko-KR" sz="1000" kern="0" dirty="0">
                <a:solidFill>
                  <a:srgbClr val="003F56"/>
                </a:solidFill>
                <a:latin typeface="Arial Narrow" panose="020B0606020202030204" pitchFamily="34" charset="0"/>
                <a:ea typeface="+mn-ea"/>
              </a:rPr>
              <a:t>STEP </a:t>
            </a:r>
            <a:r>
              <a:rPr lang="ko-KR" altLang="en-US" sz="1000" kern="0" dirty="0">
                <a:solidFill>
                  <a:srgbClr val="003F56"/>
                </a:solidFill>
                <a:latin typeface="Arial Narrow" panose="020B0606020202030204" pitchFamily="34" charset="0"/>
                <a:ea typeface="+mn-ea"/>
              </a:rPr>
              <a:t>학습자에 적합한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정비 및 적용</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endParaRPr lang="en-US" altLang="ko-KR" sz="1000" kern="0" dirty="0">
              <a:solidFill>
                <a:srgbClr val="003F56"/>
              </a:solidFill>
              <a:latin typeface="Arial Narrow" panose="020B0606020202030204" pitchFamily="34" charset="0"/>
              <a:ea typeface="+mn-ea"/>
            </a:endParaRPr>
          </a:p>
        </p:txBody>
      </p:sp>
      <p:sp>
        <p:nvSpPr>
          <p:cNvPr id="13" name="모서리가 둥근 직사각형 38">
            <a:extLst>
              <a:ext uri="{FF2B5EF4-FFF2-40B4-BE49-F238E27FC236}">
                <a16:creationId xmlns:a16="http://schemas.microsoft.com/office/drawing/2014/main" id="{1D93DB4F-259B-714B-8314-488F9007DEB9}"/>
              </a:ext>
            </a:extLst>
          </p:cNvPr>
          <p:cNvSpPr/>
          <p:nvPr/>
        </p:nvSpPr>
        <p:spPr bwMode="auto">
          <a:xfrm>
            <a:off x="6848488"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데이터 관리방안 제언</a:t>
            </a: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및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SQF</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의 변경으로 인한 변경 사항 적용 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기존 데이터 관리방안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신규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적용에 따른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직무 추가 및 과정 매칭 방안을 고려한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현행화 방안 제언</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직무능력은행제 연계 검토</a:t>
            </a:r>
            <a:endParaRPr lang="en-US" altLang="ko-KR" sz="1100" kern="0" dirty="0">
              <a:solidFill>
                <a:srgbClr val="0070C0"/>
              </a:solidFill>
              <a:latin typeface="Arial Narrow" panose="020B0606020202030204" pitchFamily="34" charset="0"/>
              <a:ea typeface="+mn-ea"/>
            </a:endParaRPr>
          </a:p>
          <a:p>
            <a:pPr marL="171450" indent="-82550" algn="l" eaLnBrk="1" fontAlgn="auto" latinLnBrk="0" hangingPunct="1">
              <a:spcBef>
                <a:spcPts val="0"/>
              </a:spcBef>
              <a:spcAft>
                <a:spcPts val="0"/>
              </a:spcAft>
              <a:buFontTx/>
              <a:buChar char="-"/>
            </a:pPr>
            <a:r>
              <a:rPr lang="ko-KR" altLang="en-US" sz="1000" kern="0" dirty="0" err="1">
                <a:solidFill>
                  <a:srgbClr val="003F56"/>
                </a:solidFill>
                <a:latin typeface="Arial Narrow" panose="020B0606020202030204" pitchFamily="34" charset="0"/>
                <a:ea typeface="+mn-ea"/>
              </a:rPr>
              <a:t>온평원</a:t>
            </a:r>
            <a:r>
              <a:rPr lang="ko-KR" altLang="en-US" sz="1000" kern="0" dirty="0">
                <a:solidFill>
                  <a:srgbClr val="003F56"/>
                </a:solidFill>
                <a:latin typeface="Arial Narrow" panose="020B0606020202030204" pitchFamily="34" charset="0"/>
                <a:ea typeface="+mn-ea"/>
              </a:rPr>
              <a:t> 보유 콘텐츠를 직무능력은행제와 연계할 수 있는 방향성 제시</a:t>
            </a:r>
            <a:endParaRPr lang="en-US" altLang="ko-KR" sz="1000" kern="0" dirty="0">
              <a:solidFill>
                <a:srgbClr val="003F56"/>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endParaRPr lang="en-US" altLang="ko-KR" sz="1100" kern="0" dirty="0">
              <a:solidFill>
                <a:srgbClr val="0070C0"/>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학습 흐름 제언</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mn-ea"/>
              </a:rPr>
              <a:t>학습자의 효율적인 훈련을 위해 자격증 및 </a:t>
            </a: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등을 분석하여 직무별 학습 흐름 제언</a:t>
            </a:r>
            <a:endParaRPr lang="en-US" altLang="ko-KR" sz="900" kern="0" dirty="0">
              <a:solidFill>
                <a:srgbClr val="003F56"/>
              </a:solidFill>
              <a:latin typeface="Arial Narrow" panose="020B0606020202030204" pitchFamily="34" charset="0"/>
              <a:ea typeface="+mn-ea"/>
            </a:endParaRPr>
          </a:p>
        </p:txBody>
      </p:sp>
      <p:sp>
        <p:nvSpPr>
          <p:cNvPr id="14" name="모서리가 둥근 직사각형 41">
            <a:extLst>
              <a:ext uri="{FF2B5EF4-FFF2-40B4-BE49-F238E27FC236}">
                <a16:creationId xmlns:a16="http://schemas.microsoft.com/office/drawing/2014/main" id="{CD12744B-D8C0-56CC-7CEA-25769279389D}"/>
              </a:ext>
            </a:extLst>
          </p:cNvPr>
          <p:cNvSpPr/>
          <p:nvPr/>
        </p:nvSpPr>
        <p:spPr bwMode="auto">
          <a:xfrm>
            <a:off x="1720547"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spc="-50" dirty="0">
                <a:solidFill>
                  <a:prstClr val="white"/>
                </a:solidFill>
                <a:latin typeface="Arial Narrow" panose="020B0606020202030204" pitchFamily="34" charset="0"/>
                <a:ea typeface="a고딕14" panose="02020600000000000000" pitchFamily="18" charset="-127"/>
              </a:rPr>
              <a:t>능력단위 기반 교육과정 매핑 및 </a:t>
            </a:r>
            <a:br>
              <a:rPr lang="en-US" altLang="ko-KR" kern="0" spc="-50" dirty="0">
                <a:solidFill>
                  <a:prstClr val="white"/>
                </a:solidFill>
                <a:latin typeface="Arial Narrow" panose="020B0606020202030204" pitchFamily="34" charset="0"/>
                <a:ea typeface="a고딕14" panose="02020600000000000000" pitchFamily="18" charset="-127"/>
              </a:rPr>
            </a:br>
            <a:r>
              <a:rPr lang="ko-KR" altLang="en-US" kern="0" spc="-50" dirty="0">
                <a:solidFill>
                  <a:prstClr val="white"/>
                </a:solidFill>
                <a:latin typeface="Arial Narrow" panose="020B0606020202030204" pitchFamily="34" charset="0"/>
                <a:ea typeface="a고딕14" panose="02020600000000000000" pitchFamily="18" charset="-127"/>
              </a:rPr>
              <a:t>개발 가능 능력단위 선정</a:t>
            </a:r>
            <a:endParaRPr lang="en-US" altLang="ko-KR" kern="0" spc="-50" dirty="0">
              <a:solidFill>
                <a:prstClr val="white"/>
              </a:solidFill>
              <a:latin typeface="Arial Narrow" panose="020B0606020202030204" pitchFamily="34" charset="0"/>
              <a:ea typeface="a고딕14" panose="02020600000000000000" pitchFamily="18" charset="-127"/>
            </a:endParaRPr>
          </a:p>
        </p:txBody>
      </p:sp>
      <p:pic>
        <p:nvPicPr>
          <p:cNvPr id="15" name="Picture 101" descr="연결링01">
            <a:extLst>
              <a:ext uri="{FF2B5EF4-FFF2-40B4-BE49-F238E27FC236}">
                <a16:creationId xmlns:a16="http://schemas.microsoft.com/office/drawing/2014/main" id="{5B3C0D3E-019E-632A-9FF8-E3980DD40D33}"/>
              </a:ext>
            </a:extLst>
          </p:cNvPr>
          <p:cNvPicPr>
            <a:picLocks noChangeAspect="1" noChangeArrowheads="1"/>
          </p:cNvPicPr>
          <p:nvPr/>
        </p:nvPicPr>
        <p:blipFill>
          <a:blip r:embed="rId3" cstate="print"/>
          <a:srcRect/>
          <a:stretch>
            <a:fillRect/>
          </a:stretch>
        </p:blipFill>
        <p:spPr bwMode="auto">
          <a:xfrm rot="16200000">
            <a:off x="1842396" y="3260144"/>
            <a:ext cx="372001" cy="117151"/>
          </a:xfrm>
          <a:prstGeom prst="rect">
            <a:avLst/>
          </a:prstGeom>
          <a:noFill/>
          <a:ln w="9525">
            <a:noFill/>
            <a:miter lim="800000"/>
            <a:headEnd/>
            <a:tailEnd/>
          </a:ln>
        </p:spPr>
      </p:pic>
      <p:pic>
        <p:nvPicPr>
          <p:cNvPr id="16" name="Picture 102" descr="연결링01">
            <a:extLst>
              <a:ext uri="{FF2B5EF4-FFF2-40B4-BE49-F238E27FC236}">
                <a16:creationId xmlns:a16="http://schemas.microsoft.com/office/drawing/2014/main" id="{B53E8DBD-DFCD-0810-2B8F-F4D375710442}"/>
              </a:ext>
            </a:extLst>
          </p:cNvPr>
          <p:cNvPicPr>
            <a:picLocks noChangeAspect="1" noChangeArrowheads="1"/>
          </p:cNvPicPr>
          <p:nvPr/>
        </p:nvPicPr>
        <p:blipFill>
          <a:blip r:embed="rId3" cstate="print"/>
          <a:srcRect/>
          <a:stretch>
            <a:fillRect/>
          </a:stretch>
        </p:blipFill>
        <p:spPr bwMode="auto">
          <a:xfrm rot="16200000">
            <a:off x="1955842" y="3260144"/>
            <a:ext cx="372001" cy="117151"/>
          </a:xfrm>
          <a:prstGeom prst="rect">
            <a:avLst/>
          </a:prstGeom>
          <a:noFill/>
          <a:ln w="9525">
            <a:noFill/>
            <a:miter lim="800000"/>
            <a:headEnd/>
            <a:tailEnd/>
          </a:ln>
        </p:spPr>
      </p:pic>
      <p:pic>
        <p:nvPicPr>
          <p:cNvPr id="17" name="Picture 101" descr="연결링01">
            <a:extLst>
              <a:ext uri="{FF2B5EF4-FFF2-40B4-BE49-F238E27FC236}">
                <a16:creationId xmlns:a16="http://schemas.microsoft.com/office/drawing/2014/main" id="{FE1AF334-8DB0-1873-3338-4B2C3F672788}"/>
              </a:ext>
            </a:extLst>
          </p:cNvPr>
          <p:cNvPicPr>
            <a:picLocks noChangeAspect="1" noChangeArrowheads="1"/>
          </p:cNvPicPr>
          <p:nvPr/>
        </p:nvPicPr>
        <p:blipFill>
          <a:blip r:embed="rId3" cstate="print"/>
          <a:srcRect/>
          <a:stretch>
            <a:fillRect/>
          </a:stretch>
        </p:blipFill>
        <p:spPr bwMode="auto">
          <a:xfrm rot="16200000">
            <a:off x="3610382" y="3260144"/>
            <a:ext cx="372001" cy="117151"/>
          </a:xfrm>
          <a:prstGeom prst="rect">
            <a:avLst/>
          </a:prstGeom>
          <a:noFill/>
          <a:ln w="9525">
            <a:noFill/>
            <a:miter lim="800000"/>
            <a:headEnd/>
            <a:tailEnd/>
          </a:ln>
        </p:spPr>
      </p:pic>
      <p:pic>
        <p:nvPicPr>
          <p:cNvPr id="18" name="Picture 102" descr="연결링01">
            <a:extLst>
              <a:ext uri="{FF2B5EF4-FFF2-40B4-BE49-F238E27FC236}">
                <a16:creationId xmlns:a16="http://schemas.microsoft.com/office/drawing/2014/main" id="{F7B9E0DD-8656-D8E2-027A-E7B321C38FE9}"/>
              </a:ext>
            </a:extLst>
          </p:cNvPr>
          <p:cNvPicPr>
            <a:picLocks noChangeAspect="1" noChangeArrowheads="1"/>
          </p:cNvPicPr>
          <p:nvPr/>
        </p:nvPicPr>
        <p:blipFill>
          <a:blip r:embed="rId3" cstate="print"/>
          <a:srcRect/>
          <a:stretch>
            <a:fillRect/>
          </a:stretch>
        </p:blipFill>
        <p:spPr bwMode="auto">
          <a:xfrm rot="16200000">
            <a:off x="3723826" y="3260144"/>
            <a:ext cx="372001" cy="117151"/>
          </a:xfrm>
          <a:prstGeom prst="rect">
            <a:avLst/>
          </a:prstGeom>
          <a:noFill/>
          <a:ln w="9525">
            <a:noFill/>
            <a:miter lim="800000"/>
            <a:headEnd/>
            <a:tailEnd/>
          </a:ln>
        </p:spPr>
      </p:pic>
      <p:sp>
        <p:nvSpPr>
          <p:cNvPr id="19" name="모서리가 둥근 직사각형 42">
            <a:extLst>
              <a:ext uri="{FF2B5EF4-FFF2-40B4-BE49-F238E27FC236}">
                <a16:creationId xmlns:a16="http://schemas.microsoft.com/office/drawing/2014/main" id="{084B910B-DBAE-2206-1AA3-D37BD437C068}"/>
              </a:ext>
            </a:extLst>
          </p:cNvPr>
          <p:cNvSpPr/>
          <p:nvPr/>
        </p:nvSpPr>
        <p:spPr bwMode="auto">
          <a:xfrm>
            <a:off x="4284520"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과정개요서 개발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err="1">
                <a:solidFill>
                  <a:prstClr val="white"/>
                </a:solidFill>
                <a:latin typeface="Arial Narrow" panose="020B0606020202030204" pitchFamily="34" charset="0"/>
                <a:ea typeface="a고딕14" panose="02020600000000000000" pitchFamily="18" charset="-127"/>
              </a:rPr>
              <a:t>기술교육로드맵</a:t>
            </a:r>
            <a:r>
              <a:rPr lang="ko-KR" altLang="en-US" kern="0" dirty="0">
                <a:solidFill>
                  <a:prstClr val="white"/>
                </a:solidFill>
                <a:latin typeface="Arial Narrow" panose="020B0606020202030204" pitchFamily="34" charset="0"/>
                <a:ea typeface="a고딕14" panose="02020600000000000000" pitchFamily="18" charset="-127"/>
              </a:rPr>
              <a:t> 작성</a:t>
            </a:r>
            <a:endParaRPr lang="en-US" altLang="ko-KR" kern="0" dirty="0">
              <a:solidFill>
                <a:prstClr val="white"/>
              </a:solidFill>
              <a:latin typeface="Arial Narrow" panose="020B0606020202030204" pitchFamily="34" charset="0"/>
              <a:ea typeface="a고딕14" panose="02020600000000000000" pitchFamily="18" charset="-127"/>
            </a:endParaRPr>
          </a:p>
        </p:txBody>
      </p:sp>
      <p:pic>
        <p:nvPicPr>
          <p:cNvPr id="20" name="Picture 101" descr="연결링01">
            <a:extLst>
              <a:ext uri="{FF2B5EF4-FFF2-40B4-BE49-F238E27FC236}">
                <a16:creationId xmlns:a16="http://schemas.microsoft.com/office/drawing/2014/main" id="{2C7B1850-8112-A19B-AB5A-804949806526}"/>
              </a:ext>
            </a:extLst>
          </p:cNvPr>
          <p:cNvPicPr>
            <a:picLocks noChangeAspect="1" noChangeArrowheads="1"/>
          </p:cNvPicPr>
          <p:nvPr/>
        </p:nvPicPr>
        <p:blipFill>
          <a:blip r:embed="rId3" cstate="print"/>
          <a:srcRect/>
          <a:stretch>
            <a:fillRect/>
          </a:stretch>
        </p:blipFill>
        <p:spPr bwMode="auto">
          <a:xfrm rot="16200000">
            <a:off x="4406366" y="3260144"/>
            <a:ext cx="372001" cy="117151"/>
          </a:xfrm>
          <a:prstGeom prst="rect">
            <a:avLst/>
          </a:prstGeom>
          <a:noFill/>
          <a:ln w="9525">
            <a:noFill/>
            <a:miter lim="800000"/>
            <a:headEnd/>
            <a:tailEnd/>
          </a:ln>
        </p:spPr>
      </p:pic>
      <p:pic>
        <p:nvPicPr>
          <p:cNvPr id="21" name="Picture 102" descr="연결링01">
            <a:extLst>
              <a:ext uri="{FF2B5EF4-FFF2-40B4-BE49-F238E27FC236}">
                <a16:creationId xmlns:a16="http://schemas.microsoft.com/office/drawing/2014/main" id="{74F3B87E-7387-33BB-E61B-CFA2938E4584}"/>
              </a:ext>
            </a:extLst>
          </p:cNvPr>
          <p:cNvPicPr>
            <a:picLocks noChangeAspect="1" noChangeArrowheads="1"/>
          </p:cNvPicPr>
          <p:nvPr/>
        </p:nvPicPr>
        <p:blipFill>
          <a:blip r:embed="rId3" cstate="print"/>
          <a:srcRect/>
          <a:stretch>
            <a:fillRect/>
          </a:stretch>
        </p:blipFill>
        <p:spPr bwMode="auto">
          <a:xfrm rot="16200000">
            <a:off x="4519812" y="3260144"/>
            <a:ext cx="372001" cy="117151"/>
          </a:xfrm>
          <a:prstGeom prst="rect">
            <a:avLst/>
          </a:prstGeom>
          <a:noFill/>
          <a:ln w="9525">
            <a:noFill/>
            <a:miter lim="800000"/>
            <a:headEnd/>
            <a:tailEnd/>
          </a:ln>
        </p:spPr>
      </p:pic>
      <p:pic>
        <p:nvPicPr>
          <p:cNvPr id="22" name="Picture 101" descr="연결링01">
            <a:extLst>
              <a:ext uri="{FF2B5EF4-FFF2-40B4-BE49-F238E27FC236}">
                <a16:creationId xmlns:a16="http://schemas.microsoft.com/office/drawing/2014/main" id="{1A03132B-6A88-C9AE-5168-49BFA36E30C0}"/>
              </a:ext>
            </a:extLst>
          </p:cNvPr>
          <p:cNvPicPr>
            <a:picLocks noChangeAspect="1" noChangeArrowheads="1"/>
          </p:cNvPicPr>
          <p:nvPr/>
        </p:nvPicPr>
        <p:blipFill>
          <a:blip r:embed="rId3" cstate="print"/>
          <a:srcRect/>
          <a:stretch>
            <a:fillRect/>
          </a:stretch>
        </p:blipFill>
        <p:spPr bwMode="auto">
          <a:xfrm rot="16200000">
            <a:off x="6174352" y="3260144"/>
            <a:ext cx="372001" cy="117151"/>
          </a:xfrm>
          <a:prstGeom prst="rect">
            <a:avLst/>
          </a:prstGeom>
          <a:noFill/>
          <a:ln w="9525">
            <a:noFill/>
            <a:miter lim="800000"/>
            <a:headEnd/>
            <a:tailEnd/>
          </a:ln>
        </p:spPr>
      </p:pic>
      <p:pic>
        <p:nvPicPr>
          <p:cNvPr id="23" name="Picture 102" descr="연결링01">
            <a:extLst>
              <a:ext uri="{FF2B5EF4-FFF2-40B4-BE49-F238E27FC236}">
                <a16:creationId xmlns:a16="http://schemas.microsoft.com/office/drawing/2014/main" id="{91840A6A-3472-ABB6-A8B9-5BF4623EE964}"/>
              </a:ext>
            </a:extLst>
          </p:cNvPr>
          <p:cNvPicPr>
            <a:picLocks noChangeAspect="1" noChangeArrowheads="1"/>
          </p:cNvPicPr>
          <p:nvPr/>
        </p:nvPicPr>
        <p:blipFill>
          <a:blip r:embed="rId3" cstate="print"/>
          <a:srcRect/>
          <a:stretch>
            <a:fillRect/>
          </a:stretch>
        </p:blipFill>
        <p:spPr bwMode="auto">
          <a:xfrm rot="16200000">
            <a:off x="6287796" y="3260144"/>
            <a:ext cx="372001" cy="117151"/>
          </a:xfrm>
          <a:prstGeom prst="rect">
            <a:avLst/>
          </a:prstGeom>
          <a:noFill/>
          <a:ln w="9525">
            <a:noFill/>
            <a:miter lim="800000"/>
            <a:headEnd/>
            <a:tailEnd/>
          </a:ln>
        </p:spPr>
      </p:pic>
      <p:sp>
        <p:nvSpPr>
          <p:cNvPr id="24" name="모서리가 둥근 직사각형 42">
            <a:extLst>
              <a:ext uri="{FF2B5EF4-FFF2-40B4-BE49-F238E27FC236}">
                <a16:creationId xmlns:a16="http://schemas.microsoft.com/office/drawing/2014/main" id="{BF69F36D-8361-1743-AA4A-23C36A87246C}"/>
              </a:ext>
            </a:extLst>
          </p:cNvPr>
          <p:cNvSpPr/>
          <p:nvPr/>
        </p:nvSpPr>
        <p:spPr bwMode="auto">
          <a:xfrm>
            <a:off x="6848488"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en-US" altLang="ko-KR" kern="0" dirty="0">
                <a:solidFill>
                  <a:prstClr val="white"/>
                </a:solidFill>
                <a:latin typeface="Arial Narrow" panose="020B0606020202030204" pitchFamily="34" charset="0"/>
                <a:ea typeface="a고딕14" panose="02020600000000000000" pitchFamily="18" charset="-127"/>
              </a:rPr>
              <a:t>STEP </a:t>
            </a:r>
            <a:r>
              <a:rPr lang="ko-KR" altLang="en-US" kern="0" dirty="0">
                <a:solidFill>
                  <a:prstClr val="white"/>
                </a:solidFill>
                <a:latin typeface="Arial Narrow" panose="020B0606020202030204" pitchFamily="34" charset="0"/>
                <a:ea typeface="a고딕14" panose="02020600000000000000" pitchFamily="18" charset="-127"/>
              </a:rPr>
              <a:t>서비스 확대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효율적 운영을 위한 방안 제언</a:t>
            </a:r>
          </a:p>
        </p:txBody>
      </p:sp>
      <p:grpSp>
        <p:nvGrpSpPr>
          <p:cNvPr id="25" name="그룹 65">
            <a:extLst>
              <a:ext uri="{FF2B5EF4-FFF2-40B4-BE49-F238E27FC236}">
                <a16:creationId xmlns:a16="http://schemas.microsoft.com/office/drawing/2014/main" id="{C9652A99-A745-D597-21CA-9967024AC915}"/>
              </a:ext>
            </a:extLst>
          </p:cNvPr>
          <p:cNvGrpSpPr>
            <a:grpSpLocks/>
          </p:cNvGrpSpPr>
          <p:nvPr/>
        </p:nvGrpSpPr>
        <p:grpSpPr bwMode="auto">
          <a:xfrm rot="16200000">
            <a:off x="7027057" y="3203422"/>
            <a:ext cx="372001" cy="230595"/>
            <a:chOff x="2741909" y="2297097"/>
            <a:chExt cx="210614" cy="131735"/>
          </a:xfrm>
        </p:grpSpPr>
        <p:pic>
          <p:nvPicPr>
            <p:cNvPr id="26" name="Picture 101" descr="연결링01">
              <a:extLst>
                <a:ext uri="{FF2B5EF4-FFF2-40B4-BE49-F238E27FC236}">
                  <a16:creationId xmlns:a16="http://schemas.microsoft.com/office/drawing/2014/main" id="{8221473F-2E0C-931C-7B78-6EF9B2B21383}"/>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27" name="Picture 102" descr="연결링01">
              <a:extLst>
                <a:ext uri="{FF2B5EF4-FFF2-40B4-BE49-F238E27FC236}">
                  <a16:creationId xmlns:a16="http://schemas.microsoft.com/office/drawing/2014/main" id="{C0A19BFB-A591-E139-A5FC-F7C0A97D9D2E}"/>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grpSp>
        <p:nvGrpSpPr>
          <p:cNvPr id="28" name="그룹 65">
            <a:extLst>
              <a:ext uri="{FF2B5EF4-FFF2-40B4-BE49-F238E27FC236}">
                <a16:creationId xmlns:a16="http://schemas.microsoft.com/office/drawing/2014/main" id="{FC11C0E6-B7AF-64D2-4AB8-00622DF4BE6F}"/>
              </a:ext>
            </a:extLst>
          </p:cNvPr>
          <p:cNvGrpSpPr>
            <a:grpSpLocks/>
          </p:cNvGrpSpPr>
          <p:nvPr/>
        </p:nvGrpSpPr>
        <p:grpSpPr bwMode="auto">
          <a:xfrm rot="16200000">
            <a:off x="8795043" y="3203422"/>
            <a:ext cx="372001" cy="230595"/>
            <a:chOff x="2741909" y="2297097"/>
            <a:chExt cx="210614" cy="131735"/>
          </a:xfrm>
        </p:grpSpPr>
        <p:pic>
          <p:nvPicPr>
            <p:cNvPr id="29" name="Picture 101" descr="연결링01">
              <a:extLst>
                <a:ext uri="{FF2B5EF4-FFF2-40B4-BE49-F238E27FC236}">
                  <a16:creationId xmlns:a16="http://schemas.microsoft.com/office/drawing/2014/main" id="{F0E4DF50-D9AB-0287-8EE0-8E8881B32CA1}"/>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30" name="Picture 102" descr="연결링01">
              <a:extLst>
                <a:ext uri="{FF2B5EF4-FFF2-40B4-BE49-F238E27FC236}">
                  <a16:creationId xmlns:a16="http://schemas.microsoft.com/office/drawing/2014/main" id="{D54BED2B-FF72-4125-9C5A-B8D5E82B752C}"/>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sp>
        <p:nvSpPr>
          <p:cNvPr id="31" name="모서리가 둥근 직사각형 38">
            <a:extLst>
              <a:ext uri="{FF2B5EF4-FFF2-40B4-BE49-F238E27FC236}">
                <a16:creationId xmlns:a16="http://schemas.microsoft.com/office/drawing/2014/main" id="{99347C39-1B4B-3C92-0882-6456C3A7733A}"/>
              </a:ext>
            </a:extLst>
          </p:cNvPr>
          <p:cNvSpPr/>
          <p:nvPr/>
        </p:nvSpPr>
        <p:spPr bwMode="auto">
          <a:xfrm>
            <a:off x="1732627" y="5945930"/>
            <a:ext cx="7612986" cy="54260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108000" tIns="36000" rIns="108000" bIns="0" rtlCol="0" anchor="ctr" anchorCtr="0">
            <a:noAutofit/>
          </a:bodyPr>
          <a:lstStyle/>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수요자 중심의 콘텐츠 제공 및 체계적 학습이 가능한 </a:t>
            </a:r>
            <a:r>
              <a:rPr lang="ko-KR" altLang="en-US" sz="1100" kern="0" dirty="0" err="1">
                <a:solidFill>
                  <a:srgbClr val="003F56"/>
                </a:solidFill>
                <a:latin typeface="Arial Narrow" panose="020B0606020202030204" pitchFamily="34" charset="0"/>
                <a:ea typeface="+mn-ea"/>
              </a:rPr>
              <a:t>기술교육로드맵</a:t>
            </a:r>
            <a:r>
              <a:rPr lang="en-US" altLang="ko-KR" sz="1100" kern="0" dirty="0">
                <a:solidFill>
                  <a:srgbClr val="003F56"/>
                </a:solidFill>
                <a:latin typeface="Arial Narrow" panose="020B0606020202030204" pitchFamily="34" charset="0"/>
                <a:ea typeface="+mn-ea"/>
              </a:rPr>
              <a:t>(TTR) </a:t>
            </a:r>
            <a:r>
              <a:rPr lang="ko-KR" altLang="en-US" sz="1100" kern="0" dirty="0">
                <a:solidFill>
                  <a:srgbClr val="003F56"/>
                </a:solidFill>
                <a:latin typeface="Arial Narrow" panose="020B0606020202030204" pitchFamily="34" charset="0"/>
                <a:ea typeface="+mn-ea"/>
              </a:rPr>
              <a:t>개발</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전년도 개발된 </a:t>
            </a:r>
            <a:r>
              <a:rPr lang="en-US" altLang="ko-KR" sz="1100" kern="0" dirty="0">
                <a:solidFill>
                  <a:srgbClr val="003F56"/>
                </a:solidFill>
                <a:latin typeface="Arial Narrow" panose="020B0606020202030204" pitchFamily="34" charset="0"/>
                <a:ea typeface="+mn-ea"/>
              </a:rPr>
              <a:t>STEP </a:t>
            </a:r>
            <a:r>
              <a:rPr lang="ko-KR" altLang="en-US" sz="1100" kern="0" dirty="0">
                <a:solidFill>
                  <a:srgbClr val="003F56"/>
                </a:solidFill>
                <a:latin typeface="Arial Narrow" panose="020B0606020202030204" pitchFamily="34" charset="0"/>
                <a:ea typeface="+mn-ea"/>
              </a:rPr>
              <a:t>훈련 로드맵을 </a:t>
            </a:r>
            <a:r>
              <a:rPr lang="en-US" altLang="ko-KR" sz="1100" kern="0" dirty="0">
                <a:solidFill>
                  <a:srgbClr val="003F56"/>
                </a:solidFill>
                <a:latin typeface="Arial Narrow" panose="020B0606020202030204" pitchFamily="34" charset="0"/>
                <a:ea typeface="+mn-ea"/>
              </a:rPr>
              <a:t>NCS </a:t>
            </a:r>
            <a:r>
              <a:rPr lang="ko-KR" altLang="en-US" sz="1100" kern="0" dirty="0">
                <a:solidFill>
                  <a:srgbClr val="003F56"/>
                </a:solidFill>
                <a:latin typeface="Arial Narrow" panose="020B0606020202030204" pitchFamily="34" charset="0"/>
                <a:ea typeface="+mn-ea"/>
              </a:rPr>
              <a:t>및 </a:t>
            </a:r>
            <a:r>
              <a:rPr lang="en-US" altLang="ko-KR" sz="1100" kern="0" dirty="0">
                <a:solidFill>
                  <a:srgbClr val="003F56"/>
                </a:solidFill>
                <a:latin typeface="Arial Narrow" panose="020B0606020202030204" pitchFamily="34" charset="0"/>
                <a:ea typeface="+mn-ea"/>
              </a:rPr>
              <a:t>SQF </a:t>
            </a:r>
            <a:r>
              <a:rPr lang="ko-KR" altLang="en-US" sz="1100" kern="0" dirty="0">
                <a:solidFill>
                  <a:srgbClr val="003F56"/>
                </a:solidFill>
                <a:latin typeface="Arial Narrow" panose="020B0606020202030204" pitchFamily="34" charset="0"/>
                <a:ea typeface="+mn-ea"/>
              </a:rPr>
              <a:t>변경 사항에 따른 현행화 및 전체 개발 수요 파악을 위한 방안 마련이 필요함</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en-US" altLang="ko-KR" sz="1100" kern="0" dirty="0">
                <a:solidFill>
                  <a:srgbClr val="003F56"/>
                </a:solidFill>
                <a:latin typeface="Arial Narrow" panose="020B0606020202030204" pitchFamily="34" charset="0"/>
                <a:ea typeface="+mn-ea"/>
              </a:rPr>
              <a:t>STEP</a:t>
            </a:r>
            <a:r>
              <a:rPr lang="ko-KR" altLang="en-US" sz="1100" kern="0" dirty="0">
                <a:solidFill>
                  <a:srgbClr val="003F56"/>
                </a:solidFill>
                <a:latin typeface="Arial Narrow" panose="020B0606020202030204" pitchFamily="34" charset="0"/>
                <a:ea typeface="+mn-ea"/>
              </a:rPr>
              <a:t>의 활용성 확대를 위한 서비스 방안 마련이 필요함</a:t>
            </a:r>
            <a:endParaRPr lang="en-US" altLang="ko-KR" sz="1100" kern="0" dirty="0">
              <a:solidFill>
                <a:srgbClr val="003F56"/>
              </a:solidFill>
              <a:latin typeface="Arial Narrow" panose="020B0606020202030204" pitchFamily="34" charset="0"/>
              <a:ea typeface="+mn-ea"/>
            </a:endParaRPr>
          </a:p>
        </p:txBody>
      </p:sp>
      <p:grpSp>
        <p:nvGrpSpPr>
          <p:cNvPr id="32" name="그룹 156">
            <a:extLst>
              <a:ext uri="{FF2B5EF4-FFF2-40B4-BE49-F238E27FC236}">
                <a16:creationId xmlns:a16="http://schemas.microsoft.com/office/drawing/2014/main" id="{731AE3EA-6BE6-1347-6F68-48188AE63CBF}"/>
              </a:ext>
            </a:extLst>
          </p:cNvPr>
          <p:cNvGrpSpPr>
            <a:grpSpLocks/>
          </p:cNvGrpSpPr>
          <p:nvPr/>
        </p:nvGrpSpPr>
        <p:grpSpPr bwMode="auto">
          <a:xfrm>
            <a:off x="530940" y="6444324"/>
            <a:ext cx="312556" cy="45016"/>
            <a:chOff x="255588" y="8324571"/>
            <a:chExt cx="192103" cy="44350"/>
          </a:xfrm>
        </p:grpSpPr>
        <p:sp>
          <p:nvSpPr>
            <p:cNvPr id="33" name="Rectangle 31">
              <a:extLst>
                <a:ext uri="{FF2B5EF4-FFF2-40B4-BE49-F238E27FC236}">
                  <a16:creationId xmlns:a16="http://schemas.microsoft.com/office/drawing/2014/main" id="{8A3E7E2D-B424-236D-1F6A-F0473B0F7BC8}"/>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34" name="Rectangle 32">
              <a:extLst>
                <a:ext uri="{FF2B5EF4-FFF2-40B4-BE49-F238E27FC236}">
                  <a16:creationId xmlns:a16="http://schemas.microsoft.com/office/drawing/2014/main" id="{29545250-CE8D-EACD-FA53-B1F8173D9505}"/>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
        <p:nvSpPr>
          <p:cNvPr id="35" name="Rectangle 33">
            <a:extLst>
              <a:ext uri="{FF2B5EF4-FFF2-40B4-BE49-F238E27FC236}">
                <a16:creationId xmlns:a16="http://schemas.microsoft.com/office/drawing/2014/main" id="{82509882-3C60-D752-700D-D9D9D06458B8}"/>
              </a:ext>
            </a:extLst>
          </p:cNvPr>
          <p:cNvSpPr>
            <a:spLocks noChangeArrowheads="1"/>
          </p:cNvSpPr>
          <p:nvPr/>
        </p:nvSpPr>
        <p:spPr bwMode="auto">
          <a:xfrm>
            <a:off x="616641" y="1665288"/>
            <a:ext cx="141154" cy="4777766"/>
          </a:xfrm>
          <a:prstGeom prst="rect">
            <a:avLst/>
          </a:prstGeom>
          <a:gradFill rotWithShape="1">
            <a:gsLst>
              <a:gs pos="0">
                <a:sysClr val="window" lastClr="FFFFFF">
                  <a:lumMod val="65000"/>
                </a:sysClr>
              </a:gs>
              <a:gs pos="50000">
                <a:srgbClr val="FFFFFF"/>
              </a:gs>
              <a:gs pos="100000">
                <a:sysClr val="window" lastClr="FFFFFF">
                  <a:lumMod val="75000"/>
                </a:sysClr>
              </a:gs>
            </a:gsLst>
            <a:lin ang="0" scaled="1"/>
          </a:gradFill>
          <a:ln w="6350">
            <a:solidFill>
              <a:sysClr val="window" lastClr="FFFFFF">
                <a:lumMod val="65000"/>
              </a:sysClr>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sp>
        <p:nvSpPr>
          <p:cNvPr id="36" name="AutoShape 93">
            <a:extLst>
              <a:ext uri="{FF2B5EF4-FFF2-40B4-BE49-F238E27FC236}">
                <a16:creationId xmlns:a16="http://schemas.microsoft.com/office/drawing/2014/main" id="{7877011C-BE43-3D66-CD8D-F058B355B891}"/>
              </a:ext>
            </a:extLst>
          </p:cNvPr>
          <p:cNvSpPr>
            <a:spLocks noChangeArrowheads="1"/>
          </p:cNvSpPr>
          <p:nvPr/>
        </p:nvSpPr>
        <p:spPr bwMode="auto">
          <a:xfrm>
            <a:off x="616642" y="1863426"/>
            <a:ext cx="1026239" cy="330859"/>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37" name="Rectangle 114">
            <a:extLst>
              <a:ext uri="{FF2B5EF4-FFF2-40B4-BE49-F238E27FC236}">
                <a16:creationId xmlns:a16="http://schemas.microsoft.com/office/drawing/2014/main" id="{342C4E97-91FA-372E-BD59-B31CA482D9DB}"/>
              </a:ext>
            </a:extLst>
          </p:cNvPr>
          <p:cNvSpPr>
            <a:spLocks noChangeArrowheads="1"/>
          </p:cNvSpPr>
          <p:nvPr/>
        </p:nvSpPr>
        <p:spPr bwMode="auto">
          <a:xfrm>
            <a:off x="947893" y="1954502"/>
            <a:ext cx="651652"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추진목표</a:t>
            </a:r>
          </a:p>
        </p:txBody>
      </p:sp>
      <p:sp>
        <p:nvSpPr>
          <p:cNvPr id="38" name="AutoShape 93">
            <a:extLst>
              <a:ext uri="{FF2B5EF4-FFF2-40B4-BE49-F238E27FC236}">
                <a16:creationId xmlns:a16="http://schemas.microsoft.com/office/drawing/2014/main" id="{04ED0EA3-A168-AD7A-7146-A6E959A04EF6}"/>
              </a:ext>
            </a:extLst>
          </p:cNvPr>
          <p:cNvSpPr>
            <a:spLocks noChangeArrowheads="1"/>
          </p:cNvSpPr>
          <p:nvPr/>
        </p:nvSpPr>
        <p:spPr bwMode="auto">
          <a:xfrm>
            <a:off x="616642" y="2818087"/>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39" name="Rectangle 114">
            <a:extLst>
              <a:ext uri="{FF2B5EF4-FFF2-40B4-BE49-F238E27FC236}">
                <a16:creationId xmlns:a16="http://schemas.microsoft.com/office/drawing/2014/main" id="{254A82C3-313D-E2C3-2658-037BDB43ED52}"/>
              </a:ext>
            </a:extLst>
          </p:cNvPr>
          <p:cNvSpPr>
            <a:spLocks noChangeArrowheads="1"/>
          </p:cNvSpPr>
          <p:nvPr/>
        </p:nvSpPr>
        <p:spPr bwMode="auto">
          <a:xfrm>
            <a:off x="947893" y="2908306"/>
            <a:ext cx="619438"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추진범위</a:t>
            </a:r>
          </a:p>
        </p:txBody>
      </p:sp>
      <p:sp>
        <p:nvSpPr>
          <p:cNvPr id="40" name="AutoShape 93">
            <a:extLst>
              <a:ext uri="{FF2B5EF4-FFF2-40B4-BE49-F238E27FC236}">
                <a16:creationId xmlns:a16="http://schemas.microsoft.com/office/drawing/2014/main" id="{5C44DFAC-5D8E-DF09-ADDA-AADFDAAB6770}"/>
              </a:ext>
            </a:extLst>
          </p:cNvPr>
          <p:cNvSpPr>
            <a:spLocks noChangeArrowheads="1"/>
          </p:cNvSpPr>
          <p:nvPr/>
        </p:nvSpPr>
        <p:spPr bwMode="auto">
          <a:xfrm>
            <a:off x="616642" y="3574731"/>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41" name="Rectangle 114">
            <a:extLst>
              <a:ext uri="{FF2B5EF4-FFF2-40B4-BE49-F238E27FC236}">
                <a16:creationId xmlns:a16="http://schemas.microsoft.com/office/drawing/2014/main" id="{97294F15-6041-DC66-A49F-E0E08A657641}"/>
              </a:ext>
            </a:extLst>
          </p:cNvPr>
          <p:cNvSpPr>
            <a:spLocks noChangeArrowheads="1"/>
          </p:cNvSpPr>
          <p:nvPr/>
        </p:nvSpPr>
        <p:spPr bwMode="auto">
          <a:xfrm>
            <a:off x="947893" y="3672293"/>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고딕14"/>
                <a:ea typeface="a고딕14"/>
                <a:cs typeface="+mn-cs"/>
              </a:rPr>
              <a:t>주요내용</a:t>
            </a:r>
          </a:p>
        </p:txBody>
      </p:sp>
      <p:sp>
        <p:nvSpPr>
          <p:cNvPr id="42" name="AutoShape 93">
            <a:extLst>
              <a:ext uri="{FF2B5EF4-FFF2-40B4-BE49-F238E27FC236}">
                <a16:creationId xmlns:a16="http://schemas.microsoft.com/office/drawing/2014/main" id="{C59D3357-032A-81B8-8C37-0BA80C5BA89E}"/>
              </a:ext>
            </a:extLst>
          </p:cNvPr>
          <p:cNvSpPr>
            <a:spLocks noChangeArrowheads="1"/>
          </p:cNvSpPr>
          <p:nvPr/>
        </p:nvSpPr>
        <p:spPr bwMode="auto">
          <a:xfrm>
            <a:off x="616642" y="5948668"/>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43" name="Rectangle 114">
            <a:extLst>
              <a:ext uri="{FF2B5EF4-FFF2-40B4-BE49-F238E27FC236}">
                <a16:creationId xmlns:a16="http://schemas.microsoft.com/office/drawing/2014/main" id="{0EC04B1D-ED99-75E9-2F52-3C74007A8274}"/>
              </a:ext>
            </a:extLst>
          </p:cNvPr>
          <p:cNvSpPr>
            <a:spLocks noChangeArrowheads="1"/>
          </p:cNvSpPr>
          <p:nvPr/>
        </p:nvSpPr>
        <p:spPr bwMode="auto">
          <a:xfrm>
            <a:off x="947893" y="6049061"/>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과업 배경</a:t>
            </a:r>
          </a:p>
        </p:txBody>
      </p:sp>
      <p:sp>
        <p:nvSpPr>
          <p:cNvPr id="44" name="타원 43">
            <a:extLst>
              <a:ext uri="{FF2B5EF4-FFF2-40B4-BE49-F238E27FC236}">
                <a16:creationId xmlns:a16="http://schemas.microsoft.com/office/drawing/2014/main" id="{E4F215A0-626D-3B16-51A1-0E8A12C9B311}"/>
              </a:ext>
            </a:extLst>
          </p:cNvPr>
          <p:cNvSpPr/>
          <p:nvPr/>
        </p:nvSpPr>
        <p:spPr bwMode="gray">
          <a:xfrm>
            <a:off x="706779" y="1970944"/>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5" name="타원 44">
            <a:extLst>
              <a:ext uri="{FF2B5EF4-FFF2-40B4-BE49-F238E27FC236}">
                <a16:creationId xmlns:a16="http://schemas.microsoft.com/office/drawing/2014/main" id="{CD3D04B2-7DBA-9294-5888-657F201F8DF9}"/>
              </a:ext>
            </a:extLst>
          </p:cNvPr>
          <p:cNvSpPr/>
          <p:nvPr/>
        </p:nvSpPr>
        <p:spPr bwMode="gray">
          <a:xfrm>
            <a:off x="706779" y="292474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6" name="타원 45">
            <a:extLst>
              <a:ext uri="{FF2B5EF4-FFF2-40B4-BE49-F238E27FC236}">
                <a16:creationId xmlns:a16="http://schemas.microsoft.com/office/drawing/2014/main" id="{F888DEEC-EDF7-87E5-884D-6277360007EA}"/>
              </a:ext>
            </a:extLst>
          </p:cNvPr>
          <p:cNvSpPr/>
          <p:nvPr/>
        </p:nvSpPr>
        <p:spPr bwMode="gray">
          <a:xfrm>
            <a:off x="706779" y="3675881"/>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고딕14"/>
              <a:ea typeface="a고딕14"/>
              <a:cs typeface="+mn-cs"/>
            </a:endParaRPr>
          </a:p>
        </p:txBody>
      </p:sp>
      <p:sp>
        <p:nvSpPr>
          <p:cNvPr id="47" name="타원 46">
            <a:extLst>
              <a:ext uri="{FF2B5EF4-FFF2-40B4-BE49-F238E27FC236}">
                <a16:creationId xmlns:a16="http://schemas.microsoft.com/office/drawing/2014/main" id="{9037F650-A91C-49CB-9AEA-CB350C27BA93}"/>
              </a:ext>
            </a:extLst>
          </p:cNvPr>
          <p:cNvSpPr/>
          <p:nvPr/>
        </p:nvSpPr>
        <p:spPr bwMode="gray">
          <a:xfrm>
            <a:off x="706779" y="605479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48" name="그룹 156">
            <a:extLst>
              <a:ext uri="{FF2B5EF4-FFF2-40B4-BE49-F238E27FC236}">
                <a16:creationId xmlns:a16="http://schemas.microsoft.com/office/drawing/2014/main" id="{A2D87D38-C32B-8992-7A57-6D857B2C80DA}"/>
              </a:ext>
            </a:extLst>
          </p:cNvPr>
          <p:cNvGrpSpPr>
            <a:grpSpLocks/>
          </p:cNvGrpSpPr>
          <p:nvPr/>
        </p:nvGrpSpPr>
        <p:grpSpPr bwMode="auto">
          <a:xfrm rot="10800000">
            <a:off x="535666" y="1655792"/>
            <a:ext cx="312556" cy="45016"/>
            <a:chOff x="255588" y="8324571"/>
            <a:chExt cx="192103" cy="44350"/>
          </a:xfrm>
        </p:grpSpPr>
        <p:sp>
          <p:nvSpPr>
            <p:cNvPr id="49" name="Rectangle 31">
              <a:extLst>
                <a:ext uri="{FF2B5EF4-FFF2-40B4-BE49-F238E27FC236}">
                  <a16:creationId xmlns:a16="http://schemas.microsoft.com/office/drawing/2014/main" id="{36F1F540-11B3-0BFC-8C92-AE172048411A}"/>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0" name="Rectangle 32">
              <a:extLst>
                <a:ext uri="{FF2B5EF4-FFF2-40B4-BE49-F238E27FC236}">
                  <a16:creationId xmlns:a16="http://schemas.microsoft.com/office/drawing/2014/main" id="{57520EB5-D146-4627-1CCD-87F24A8E5BEF}"/>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Tree>
    <p:extLst>
      <p:ext uri="{BB962C8B-B14F-4D97-AF65-F5344CB8AC3E}">
        <p14:creationId xmlns:p14="http://schemas.microsoft.com/office/powerpoint/2010/main" val="322872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직사각형 71"/>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73" name="텍스트 개체 틀 3"/>
          <p:cNvSpPr>
            <a:spLocks noGrp="1"/>
          </p:cNvSpPr>
          <p:nvPr>
            <p:ph type="body" sz="quarter" idx="16"/>
          </p:nvPr>
        </p:nvSpPr>
        <p:spPr>
          <a:xfrm>
            <a:off x="7293260" y="138529"/>
            <a:ext cx="2052352" cy="446155"/>
          </a:xfrm>
        </p:spPr>
        <p:txBody>
          <a:bodyPr/>
          <a:lstStyle/>
          <a:p>
            <a:pPr latinLnBrk="0"/>
            <a:r>
              <a:rPr lang="en-US" altLang="ko-KR" dirty="0">
                <a:latin typeface="+mn-ea"/>
              </a:rPr>
              <a:t>Ⅰ. </a:t>
            </a:r>
            <a:r>
              <a:rPr lang="ko-KR" altLang="en-US" dirty="0">
                <a:latin typeface="+mn-ea"/>
              </a:rPr>
              <a:t>과업 추진방향</a:t>
            </a:r>
          </a:p>
        </p:txBody>
      </p:sp>
      <p:sp>
        <p:nvSpPr>
          <p:cNvPr id="79"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2"/>
            <a:ext cx="8749097" cy="815119"/>
          </a:xfrm>
        </p:spPr>
        <p:txBody>
          <a:bodyPr/>
          <a:lstStyle/>
          <a:p>
            <a:pPr latinLnBrk="0"/>
            <a:r>
              <a:rPr lang="ko-KR" altLang="en-US" sz="1800" dirty="0"/>
              <a:t>수행사는 </a:t>
            </a:r>
            <a:r>
              <a:rPr lang="en-US" altLang="ko-KR" sz="1800" dirty="0">
                <a:solidFill>
                  <a:srgbClr val="0070C0"/>
                </a:solidFill>
              </a:rPr>
              <a:t>RFP</a:t>
            </a:r>
            <a:r>
              <a:rPr lang="ko-KR" altLang="en-US" sz="1800" dirty="0">
                <a:solidFill>
                  <a:srgbClr val="0070C0"/>
                </a:solidFill>
              </a:rPr>
              <a:t>에서 제시된 과업 내용</a:t>
            </a:r>
            <a:r>
              <a:rPr lang="ko-KR" altLang="en-US" sz="1800" dirty="0"/>
              <a:t>과 </a:t>
            </a:r>
            <a:r>
              <a:rPr lang="ko-KR" altLang="en-US" sz="1800" dirty="0">
                <a:solidFill>
                  <a:srgbClr val="0070C0"/>
                </a:solidFill>
              </a:rPr>
              <a:t>접근 전략을 기반</a:t>
            </a:r>
            <a:r>
              <a:rPr lang="ko-KR" altLang="en-US" sz="1800" dirty="0"/>
              <a:t>으로 본 프로젝트 </a:t>
            </a:r>
            <a:r>
              <a:rPr lang="en-US" altLang="ko-KR" sz="1800" dirty="0"/>
              <a:t>Framework</a:t>
            </a:r>
            <a:r>
              <a:rPr lang="ko-KR" altLang="en-US" sz="1800" dirty="0"/>
              <a:t>을 </a:t>
            </a:r>
            <a:r>
              <a:rPr lang="ko-KR" altLang="en-US" sz="1800" dirty="0">
                <a:solidFill>
                  <a:srgbClr val="0070C0"/>
                </a:solidFill>
              </a:rPr>
              <a:t>총 </a:t>
            </a:r>
            <a:r>
              <a:rPr lang="en-US" altLang="ko-KR" dirty="0">
                <a:solidFill>
                  <a:srgbClr val="0070C0"/>
                </a:solidFill>
              </a:rPr>
              <a:t>7</a:t>
            </a:r>
            <a:r>
              <a:rPr lang="ko-KR" altLang="en-US" sz="1800" dirty="0">
                <a:solidFill>
                  <a:srgbClr val="0070C0"/>
                </a:solidFill>
              </a:rPr>
              <a:t>개의 </a:t>
            </a:r>
            <a:r>
              <a:rPr lang="en-US" altLang="ko-KR" sz="1800" dirty="0">
                <a:solidFill>
                  <a:srgbClr val="0070C0"/>
                </a:solidFill>
              </a:rPr>
              <a:t>Modules</a:t>
            </a:r>
            <a:r>
              <a:rPr lang="ko-KR" altLang="en-US" sz="1800" dirty="0">
                <a:solidFill>
                  <a:srgbClr val="0070C0"/>
                </a:solidFill>
              </a:rPr>
              <a:t>로 재구조화 </a:t>
            </a:r>
            <a:r>
              <a:rPr lang="ko-KR" altLang="en-US" sz="1800" dirty="0"/>
              <a:t>하였음</a:t>
            </a:r>
          </a:p>
        </p:txBody>
      </p:sp>
      <p:sp>
        <p:nvSpPr>
          <p:cNvPr id="117" name="직사각형 53">
            <a:extLst>
              <a:ext uri="{FF2B5EF4-FFF2-40B4-BE49-F238E27FC236}">
                <a16:creationId xmlns:a16="http://schemas.microsoft.com/office/drawing/2014/main" id="{9F453449-01C4-0298-10BA-59AACACCB88E}"/>
              </a:ext>
            </a:extLst>
          </p:cNvPr>
          <p:cNvSpPr/>
          <p:nvPr/>
        </p:nvSpPr>
        <p:spPr bwMode="auto">
          <a:xfrm>
            <a:off x="556565" y="1378466"/>
            <a:ext cx="3395968" cy="223895"/>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25</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년도 </a:t>
            </a: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TTR</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 개발 및 신규과정 선정</a:t>
            </a:r>
          </a:p>
        </p:txBody>
      </p:sp>
      <p:sp>
        <p:nvSpPr>
          <p:cNvPr id="118" name="직사각형 93">
            <a:extLst>
              <a:ext uri="{FF2B5EF4-FFF2-40B4-BE49-F238E27FC236}">
                <a16:creationId xmlns:a16="http://schemas.microsoft.com/office/drawing/2014/main" id="{D267C102-CD18-E213-A544-9F765EE19270}"/>
              </a:ext>
            </a:extLst>
          </p:cNvPr>
          <p:cNvSpPr/>
          <p:nvPr/>
        </p:nvSpPr>
        <p:spPr bwMode="auto">
          <a:xfrm>
            <a:off x="556565" y="1667143"/>
            <a:ext cx="1657647"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능력단위 </a:t>
            </a:r>
            <a:r>
              <a:rPr lang="en-US" altLang="ko-KR" kern="0" dirty="0">
                <a:solidFill>
                  <a:prstClr val="white"/>
                </a:solidFill>
                <a:latin typeface="a고딕14"/>
                <a:ea typeface="a고딕14"/>
              </a:rPr>
              <a:t>Updating </a:t>
            </a:r>
            <a:r>
              <a:rPr lang="ko-KR" altLang="en-US" kern="0" dirty="0">
                <a:solidFill>
                  <a:prstClr val="white"/>
                </a:solidFill>
                <a:latin typeface="a고딕14"/>
                <a:ea typeface="a고딕14"/>
              </a:rPr>
              <a:t>및 </a:t>
            </a: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콘텐츠</a:t>
            </a:r>
            <a:r>
              <a:rPr lang="en-US" altLang="ko-KR" kern="0" dirty="0">
                <a:solidFill>
                  <a:prstClr val="white"/>
                </a:solidFill>
                <a:latin typeface="a고딕14"/>
                <a:ea typeface="a고딕14"/>
              </a:rPr>
              <a:t>-</a:t>
            </a:r>
            <a:r>
              <a:rPr lang="ko-KR" altLang="en-US" kern="0" dirty="0">
                <a:solidFill>
                  <a:prstClr val="white"/>
                </a:solidFill>
                <a:latin typeface="a고딕14"/>
                <a:ea typeface="a고딕14"/>
              </a:rPr>
              <a:t>능력단위 매핑</a:t>
            </a:r>
            <a:endParaRPr lang="en-US" altLang="ko-KR" kern="0" dirty="0">
              <a:solidFill>
                <a:prstClr val="white"/>
              </a:solidFill>
              <a:latin typeface="a고딕14"/>
              <a:ea typeface="a고딕14"/>
            </a:endParaRPr>
          </a:p>
        </p:txBody>
      </p:sp>
      <p:sp>
        <p:nvSpPr>
          <p:cNvPr id="119" name="직사각형 118">
            <a:extLst>
              <a:ext uri="{FF2B5EF4-FFF2-40B4-BE49-F238E27FC236}">
                <a16:creationId xmlns:a16="http://schemas.microsoft.com/office/drawing/2014/main" id="{A799C6D2-3D47-AA01-FD68-EB407AC9D923}"/>
              </a:ext>
            </a:extLst>
          </p:cNvPr>
          <p:cNvSpPr/>
          <p:nvPr/>
        </p:nvSpPr>
        <p:spPr>
          <a:xfrm>
            <a:off x="556565" y="1668651"/>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1</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20" name="직사각형 55">
            <a:extLst>
              <a:ext uri="{FF2B5EF4-FFF2-40B4-BE49-F238E27FC236}">
                <a16:creationId xmlns:a16="http://schemas.microsoft.com/office/drawing/2014/main" id="{0091C81D-7627-D29E-C3EB-6CE5413405FF}"/>
              </a:ext>
            </a:extLst>
          </p:cNvPr>
          <p:cNvSpPr/>
          <p:nvPr/>
        </p:nvSpPr>
        <p:spPr bwMode="auto">
          <a:xfrm>
            <a:off x="556565" y="2196694"/>
            <a:ext cx="1657647"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21" name="직사각형 56">
            <a:extLst>
              <a:ext uri="{FF2B5EF4-FFF2-40B4-BE49-F238E27FC236}">
                <a16:creationId xmlns:a16="http://schemas.microsoft.com/office/drawing/2014/main" id="{8BD15E39-D092-3964-EF3B-535FECA2B95E}"/>
              </a:ext>
            </a:extLst>
          </p:cNvPr>
          <p:cNvSpPr/>
          <p:nvPr/>
        </p:nvSpPr>
        <p:spPr bwMode="auto">
          <a:xfrm>
            <a:off x="613640" y="2227273"/>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err="1">
                <a:ln>
                  <a:noFill/>
                </a:ln>
                <a:solidFill>
                  <a:srgbClr val="000000"/>
                </a:solidFill>
                <a:effectLst/>
                <a:uLnTx/>
                <a:uFillTx/>
                <a:latin typeface="a고딕14"/>
                <a:ea typeface="a고딕14"/>
                <a:cs typeface="+mn-cs"/>
              </a:rPr>
              <a:t>온평원</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 콘텐츠와 </a:t>
            </a:r>
            <a:b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b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최신 </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NCS </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매</a:t>
            </a:r>
            <a:r>
              <a:rPr lang="ko-KR" altLang="en-US" sz="1050" kern="0" dirty="0">
                <a:solidFill>
                  <a:srgbClr val="000000"/>
                </a:solidFill>
                <a:latin typeface="a고딕14"/>
                <a:ea typeface="a고딕14"/>
              </a:rPr>
              <a:t>칭</a:t>
            </a:r>
            <a:r>
              <a:rPr kumimoji="0" lang="en-US" altLang="ko-KR" sz="900" b="0" i="0" u="none" strike="noStrike" kern="0" cap="none" spc="0" normalizeH="0" baseline="0" noProof="0" dirty="0">
                <a:ln>
                  <a:noFill/>
                </a:ln>
                <a:solidFill>
                  <a:srgbClr val="000000"/>
                </a:solidFill>
                <a:effectLst/>
                <a:uLnTx/>
                <a:uFillTx/>
                <a:latin typeface="a고딕14"/>
                <a:ea typeface="a고딕14"/>
                <a:cs typeface="+mn-cs"/>
              </a:rPr>
              <a:t>(</a:t>
            </a:r>
            <a:r>
              <a:rPr kumimoji="0" lang="ko-KR" altLang="en-US" sz="900" b="0" i="0" u="none" strike="noStrike" kern="0" cap="none" spc="0" normalizeH="0" baseline="0" noProof="0" dirty="0">
                <a:ln>
                  <a:noFill/>
                </a:ln>
                <a:solidFill>
                  <a:srgbClr val="000000"/>
                </a:solidFill>
                <a:effectLst/>
                <a:uLnTx/>
                <a:uFillTx/>
                <a:latin typeface="a고딕14"/>
                <a:ea typeface="a고딕14"/>
                <a:cs typeface="+mn-cs"/>
              </a:rPr>
              <a:t>게시용</a:t>
            </a:r>
            <a:r>
              <a:rPr kumimoji="0" lang="en-US" altLang="ko-KR" sz="900" b="0" i="0" u="none" strike="noStrike" kern="0" cap="none" spc="0" normalizeH="0" baseline="0" noProof="0" dirty="0">
                <a:ln>
                  <a:noFill/>
                </a:ln>
                <a:solidFill>
                  <a:srgbClr val="000000"/>
                </a:solidFill>
                <a:effectLst/>
                <a:uLnTx/>
                <a:uFillTx/>
                <a:latin typeface="a고딕14"/>
                <a:ea typeface="a고딕14"/>
                <a:cs typeface="+mn-cs"/>
              </a:rPr>
              <a:t>, </a:t>
            </a:r>
            <a:r>
              <a:rPr kumimoji="0" lang="ko-KR" altLang="en-US" sz="900" b="0" i="0" u="none" strike="noStrike" kern="0" cap="none" spc="0" normalizeH="0" baseline="0" noProof="0" dirty="0">
                <a:ln>
                  <a:noFill/>
                </a:ln>
                <a:solidFill>
                  <a:srgbClr val="000000"/>
                </a:solidFill>
                <a:effectLst/>
                <a:uLnTx/>
                <a:uFillTx/>
                <a:latin typeface="a고딕14"/>
                <a:ea typeface="a고딕14"/>
                <a:cs typeface="+mn-cs"/>
              </a:rPr>
              <a:t>정보용</a:t>
            </a:r>
            <a:r>
              <a:rPr kumimoji="0" lang="en-US" altLang="ko-KR" sz="900" b="0" i="0" u="none" strike="noStrike" kern="0" cap="none" spc="0" normalizeH="0" baseline="0" noProof="0" dirty="0">
                <a:ln>
                  <a:noFill/>
                </a:ln>
                <a:solidFill>
                  <a:srgbClr val="000000"/>
                </a:solidFill>
                <a:effectLst/>
                <a:uLnTx/>
                <a:uFillTx/>
                <a:latin typeface="a고딕14"/>
                <a:ea typeface="a고딕14"/>
                <a:cs typeface="+mn-cs"/>
              </a:rPr>
              <a:t>)</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22" name="직사각형 56">
            <a:extLst>
              <a:ext uri="{FF2B5EF4-FFF2-40B4-BE49-F238E27FC236}">
                <a16:creationId xmlns:a16="http://schemas.microsoft.com/office/drawing/2014/main" id="{5BD2194D-1AB3-5C17-3984-B71DD8DF1124}"/>
              </a:ext>
            </a:extLst>
          </p:cNvPr>
          <p:cNvSpPr/>
          <p:nvPr/>
        </p:nvSpPr>
        <p:spPr bwMode="auto">
          <a:xfrm>
            <a:off x="613640" y="2621991"/>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ko-KR" altLang="en-US" sz="1050" kern="0" dirty="0">
                <a:solidFill>
                  <a:srgbClr val="000000"/>
                </a:solidFill>
                <a:latin typeface="a고딕14"/>
                <a:ea typeface="a고딕14"/>
              </a:rPr>
              <a:t>오픈마켓 콘텐츠와 </a:t>
            </a:r>
            <a:br>
              <a:rPr lang="en-US" altLang="ko-KR" sz="1050" kern="0" dirty="0">
                <a:solidFill>
                  <a:srgbClr val="000000"/>
                </a:solidFill>
                <a:latin typeface="a고딕14"/>
                <a:ea typeface="a고딕14"/>
              </a:rPr>
            </a:br>
            <a:r>
              <a:rPr lang="ko-KR" altLang="en-US" sz="1050" kern="0" dirty="0">
                <a:solidFill>
                  <a:srgbClr val="000000"/>
                </a:solidFill>
                <a:latin typeface="a고딕14"/>
                <a:ea typeface="a고딕14"/>
              </a:rPr>
              <a:t>최신 </a:t>
            </a:r>
            <a:r>
              <a:rPr lang="en-US" altLang="ko-KR" sz="1050" kern="0" dirty="0">
                <a:solidFill>
                  <a:srgbClr val="000000"/>
                </a:solidFill>
                <a:latin typeface="a고딕14"/>
                <a:ea typeface="a고딕14"/>
              </a:rPr>
              <a:t>NCS </a:t>
            </a:r>
            <a:r>
              <a:rPr lang="ko-KR" altLang="en-US" sz="1050" kern="0" dirty="0" err="1">
                <a:solidFill>
                  <a:srgbClr val="000000"/>
                </a:solidFill>
                <a:latin typeface="a고딕14"/>
                <a:ea typeface="a고딕14"/>
              </a:rPr>
              <a:t>매핑</a:t>
            </a:r>
            <a:endParaRPr lang="ko-KR" altLang="en-US" sz="1050" kern="0" dirty="0">
              <a:solidFill>
                <a:srgbClr val="000000"/>
              </a:solidFill>
              <a:latin typeface="a고딕14"/>
              <a:ea typeface="a고딕14"/>
            </a:endParaRPr>
          </a:p>
        </p:txBody>
      </p:sp>
      <p:sp>
        <p:nvSpPr>
          <p:cNvPr id="124" name="직사각형 56">
            <a:extLst>
              <a:ext uri="{FF2B5EF4-FFF2-40B4-BE49-F238E27FC236}">
                <a16:creationId xmlns:a16="http://schemas.microsoft.com/office/drawing/2014/main" id="{22E8F116-5EB0-281F-68FB-6AAB97D8D9DF}"/>
              </a:ext>
            </a:extLst>
          </p:cNvPr>
          <p:cNvSpPr/>
          <p:nvPr/>
        </p:nvSpPr>
        <p:spPr bwMode="auto">
          <a:xfrm>
            <a:off x="560734" y="3435808"/>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err="1">
                <a:solidFill>
                  <a:srgbClr val="000000"/>
                </a:solidFill>
                <a:latin typeface="a고딕14"/>
                <a:ea typeface="a고딕14"/>
              </a:rPr>
              <a:t>온평원</a:t>
            </a:r>
            <a:r>
              <a:rPr lang="en-US" altLang="ko-KR" sz="1000" kern="0" dirty="0">
                <a:solidFill>
                  <a:srgbClr val="000000"/>
                </a:solidFill>
                <a:latin typeface="a고딕14"/>
                <a:ea typeface="a고딕14"/>
              </a:rPr>
              <a:t> </a:t>
            </a:r>
            <a:r>
              <a:rPr lang="ko-KR" altLang="en-US" sz="1000" kern="0" dirty="0">
                <a:solidFill>
                  <a:srgbClr val="000000"/>
                </a:solidFill>
                <a:latin typeface="a고딕14"/>
                <a:ea typeface="a고딕14"/>
              </a:rPr>
              <a:t>콘텐츠</a:t>
            </a:r>
            <a:r>
              <a:rPr lang="en-US" altLang="ko-KR" sz="1000" kern="0" dirty="0">
                <a:solidFill>
                  <a:srgbClr val="000000"/>
                </a:solidFill>
                <a:latin typeface="a고딕14"/>
                <a:ea typeface="a고딕14"/>
              </a:rPr>
              <a:t>-NCS </a:t>
            </a:r>
            <a:r>
              <a:rPr lang="ko-KR" altLang="en-US" sz="1000" kern="0" dirty="0" err="1">
                <a:solidFill>
                  <a:srgbClr val="000000"/>
                </a:solidFill>
                <a:latin typeface="a고딕14"/>
                <a:ea typeface="a고딕14"/>
              </a:rPr>
              <a:t>매핑</a:t>
            </a:r>
            <a:r>
              <a:rPr lang="ko-KR" altLang="en-US" sz="1000" kern="0" dirty="0">
                <a:solidFill>
                  <a:srgbClr val="000000"/>
                </a:solidFill>
                <a:latin typeface="a고딕14"/>
                <a:ea typeface="a고딕14"/>
              </a:rPr>
              <a:t> </a:t>
            </a:r>
            <a:r>
              <a:rPr lang="en-US" altLang="ko-KR" sz="1000" kern="0" dirty="0">
                <a:solidFill>
                  <a:srgbClr val="000000"/>
                </a:solidFill>
                <a:latin typeface="a고딕14"/>
                <a:ea typeface="a고딕14"/>
              </a:rPr>
              <a:t>DB</a:t>
            </a:r>
            <a:endParaRPr lang="ko-KR" altLang="en-US" sz="1000" kern="0" dirty="0">
              <a:solidFill>
                <a:srgbClr val="000000"/>
              </a:solidFill>
              <a:latin typeface="a고딕14"/>
              <a:ea typeface="a고딕14"/>
            </a:endParaRPr>
          </a:p>
        </p:txBody>
      </p:sp>
      <p:sp>
        <p:nvSpPr>
          <p:cNvPr id="127" name="직사각형 53">
            <a:extLst>
              <a:ext uri="{FF2B5EF4-FFF2-40B4-BE49-F238E27FC236}">
                <a16:creationId xmlns:a16="http://schemas.microsoft.com/office/drawing/2014/main" id="{7DEA850E-F75A-81A8-1F2A-A2B4BA351905}"/>
              </a:ext>
            </a:extLst>
          </p:cNvPr>
          <p:cNvSpPr/>
          <p:nvPr/>
        </p:nvSpPr>
        <p:spPr bwMode="auto">
          <a:xfrm>
            <a:off x="309295" y="3435807"/>
            <a:ext cx="246885" cy="601705"/>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4" name="텍스트 개체 틀 87">
            <a:extLst>
              <a:ext uri="{FF2B5EF4-FFF2-40B4-BE49-F238E27FC236}">
                <a16:creationId xmlns:a16="http://schemas.microsoft.com/office/drawing/2014/main" id="{67A9114C-26C7-65CB-CF5B-A3B1AB6B21EC}"/>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en-US" altLang="ko-KR" dirty="0">
                <a:latin typeface="+mn-ea"/>
              </a:rPr>
              <a:t>Framework</a:t>
            </a:r>
            <a:endParaRPr lang="ko-KR" altLang="en-US" dirty="0">
              <a:latin typeface="+mn-ea"/>
            </a:endParaRPr>
          </a:p>
        </p:txBody>
      </p:sp>
      <p:sp>
        <p:nvSpPr>
          <p:cNvPr id="7" name="직사각형 56">
            <a:extLst>
              <a:ext uri="{FF2B5EF4-FFF2-40B4-BE49-F238E27FC236}">
                <a16:creationId xmlns:a16="http://schemas.microsoft.com/office/drawing/2014/main" id="{392414BD-FD4A-70EB-1BF0-AD54B3A0343E}"/>
              </a:ext>
            </a:extLst>
          </p:cNvPr>
          <p:cNvSpPr/>
          <p:nvPr/>
        </p:nvSpPr>
        <p:spPr bwMode="auto">
          <a:xfrm>
            <a:off x="613640" y="3016709"/>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ko-KR" altLang="en-US" sz="1050" kern="0" dirty="0" err="1">
                <a:solidFill>
                  <a:srgbClr val="000000"/>
                </a:solidFill>
                <a:latin typeface="a고딕14"/>
                <a:ea typeface="a고딕14"/>
              </a:rPr>
              <a:t>온평원</a:t>
            </a:r>
            <a:r>
              <a:rPr lang="en-US" altLang="ko-KR" sz="1050" kern="0" dirty="0">
                <a:solidFill>
                  <a:srgbClr val="000000"/>
                </a:solidFill>
                <a:latin typeface="a고딕14"/>
                <a:ea typeface="a고딕14"/>
              </a:rPr>
              <a:t> </a:t>
            </a:r>
            <a:r>
              <a:rPr lang="ko-KR" altLang="en-US" sz="1050" kern="0" dirty="0">
                <a:solidFill>
                  <a:srgbClr val="000000"/>
                </a:solidFill>
                <a:latin typeface="a고딕14"/>
                <a:ea typeface="a고딕14"/>
              </a:rPr>
              <a:t>콘텐츠와 </a:t>
            </a:r>
            <a:br>
              <a:rPr lang="en-US" altLang="ko-KR" sz="1050" kern="0" dirty="0">
                <a:solidFill>
                  <a:srgbClr val="000000"/>
                </a:solidFill>
                <a:latin typeface="a고딕14"/>
                <a:ea typeface="a고딕14"/>
              </a:rPr>
            </a:br>
            <a:r>
              <a:rPr lang="en-US" altLang="ko-KR" sz="1050" kern="0" dirty="0">
                <a:solidFill>
                  <a:srgbClr val="000000"/>
                </a:solidFill>
                <a:latin typeface="a고딕14"/>
                <a:ea typeface="a고딕14"/>
              </a:rPr>
              <a:t>TTR </a:t>
            </a:r>
            <a:r>
              <a:rPr lang="ko-KR" altLang="en-US" sz="1050" kern="0" dirty="0">
                <a:solidFill>
                  <a:srgbClr val="000000"/>
                </a:solidFill>
                <a:latin typeface="a고딕14"/>
                <a:ea typeface="a고딕14"/>
              </a:rPr>
              <a:t>직무체계 </a:t>
            </a:r>
            <a:r>
              <a:rPr lang="ko-KR" altLang="en-US" sz="1050" kern="0" dirty="0" err="1">
                <a:solidFill>
                  <a:srgbClr val="000000"/>
                </a:solidFill>
                <a:latin typeface="a고딕14"/>
                <a:ea typeface="a고딕14"/>
              </a:rPr>
              <a:t>매핑</a:t>
            </a:r>
            <a:endParaRPr lang="ko-KR" altLang="en-US" sz="1050" kern="0" dirty="0">
              <a:solidFill>
                <a:srgbClr val="000000"/>
              </a:solidFill>
              <a:latin typeface="a고딕14"/>
              <a:ea typeface="a고딕14"/>
            </a:endParaRPr>
          </a:p>
        </p:txBody>
      </p:sp>
      <p:sp>
        <p:nvSpPr>
          <p:cNvPr id="8" name="직사각형 56">
            <a:extLst>
              <a:ext uri="{FF2B5EF4-FFF2-40B4-BE49-F238E27FC236}">
                <a16:creationId xmlns:a16="http://schemas.microsoft.com/office/drawing/2014/main" id="{FFE836A8-E9A1-75D6-9184-A9C01CE8BEE2}"/>
              </a:ext>
            </a:extLst>
          </p:cNvPr>
          <p:cNvSpPr/>
          <p:nvPr/>
        </p:nvSpPr>
        <p:spPr bwMode="auto">
          <a:xfrm>
            <a:off x="560734" y="3744030"/>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오픈마켓 콘텐츠</a:t>
            </a:r>
            <a:r>
              <a:rPr lang="en-US" altLang="ko-KR" sz="1000" kern="0" dirty="0">
                <a:solidFill>
                  <a:srgbClr val="000000"/>
                </a:solidFill>
                <a:latin typeface="a고딕14"/>
                <a:ea typeface="a고딕14"/>
              </a:rPr>
              <a:t>-NCS </a:t>
            </a:r>
            <a:r>
              <a:rPr lang="ko-KR" altLang="en-US" sz="1000" kern="0" dirty="0" err="1">
                <a:solidFill>
                  <a:srgbClr val="000000"/>
                </a:solidFill>
                <a:latin typeface="a고딕14"/>
                <a:ea typeface="a고딕14"/>
              </a:rPr>
              <a:t>매핑</a:t>
            </a:r>
            <a:r>
              <a:rPr lang="ko-KR" altLang="en-US" sz="1000" kern="0" dirty="0">
                <a:solidFill>
                  <a:srgbClr val="000000"/>
                </a:solidFill>
                <a:latin typeface="a고딕14"/>
                <a:ea typeface="a고딕14"/>
              </a:rPr>
              <a:t> </a:t>
            </a:r>
            <a:r>
              <a:rPr lang="en-US" altLang="ko-KR" sz="1000" kern="0" dirty="0">
                <a:solidFill>
                  <a:srgbClr val="000000"/>
                </a:solidFill>
                <a:latin typeface="a고딕14"/>
                <a:ea typeface="a고딕14"/>
              </a:rPr>
              <a:t>DB</a:t>
            </a:r>
            <a:endParaRPr lang="ko-KR" altLang="en-US" sz="1000" kern="0" dirty="0">
              <a:solidFill>
                <a:srgbClr val="000000"/>
              </a:solidFill>
              <a:latin typeface="a고딕14"/>
              <a:ea typeface="a고딕14"/>
            </a:endParaRPr>
          </a:p>
        </p:txBody>
      </p:sp>
      <p:sp>
        <p:nvSpPr>
          <p:cNvPr id="9" name="직사각형 93">
            <a:extLst>
              <a:ext uri="{FF2B5EF4-FFF2-40B4-BE49-F238E27FC236}">
                <a16:creationId xmlns:a16="http://schemas.microsoft.com/office/drawing/2014/main" id="{FA60A2D8-5FA5-6F05-49E4-5A79183967CC}"/>
              </a:ext>
            </a:extLst>
          </p:cNvPr>
          <p:cNvSpPr/>
          <p:nvPr/>
        </p:nvSpPr>
        <p:spPr bwMode="auto">
          <a:xfrm>
            <a:off x="2285235" y="1667143"/>
            <a:ext cx="1657647"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신규 과정개발을 위한 능력단위 평가</a:t>
            </a:r>
            <a:endParaRPr lang="en-US" altLang="ko-KR" kern="0" dirty="0">
              <a:solidFill>
                <a:prstClr val="white"/>
              </a:solidFill>
              <a:latin typeface="a고딕14"/>
              <a:ea typeface="a고딕14"/>
            </a:endParaRPr>
          </a:p>
        </p:txBody>
      </p:sp>
      <p:sp>
        <p:nvSpPr>
          <p:cNvPr id="10" name="직사각형 9">
            <a:extLst>
              <a:ext uri="{FF2B5EF4-FFF2-40B4-BE49-F238E27FC236}">
                <a16:creationId xmlns:a16="http://schemas.microsoft.com/office/drawing/2014/main" id="{C206BC68-A988-10D8-A1AD-D21496FEA380}"/>
              </a:ext>
            </a:extLst>
          </p:cNvPr>
          <p:cNvSpPr/>
          <p:nvPr/>
        </p:nvSpPr>
        <p:spPr>
          <a:xfrm>
            <a:off x="2285235" y="1668651"/>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2</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 name="직사각형 55">
            <a:extLst>
              <a:ext uri="{FF2B5EF4-FFF2-40B4-BE49-F238E27FC236}">
                <a16:creationId xmlns:a16="http://schemas.microsoft.com/office/drawing/2014/main" id="{23577C88-21D3-02C8-1CF9-8587B5142F7D}"/>
              </a:ext>
            </a:extLst>
          </p:cNvPr>
          <p:cNvSpPr/>
          <p:nvPr/>
        </p:nvSpPr>
        <p:spPr bwMode="auto">
          <a:xfrm>
            <a:off x="2285235" y="2196694"/>
            <a:ext cx="1657647"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2" name="직사각형 56">
            <a:extLst>
              <a:ext uri="{FF2B5EF4-FFF2-40B4-BE49-F238E27FC236}">
                <a16:creationId xmlns:a16="http://schemas.microsoft.com/office/drawing/2014/main" id="{83A2BB23-45AC-DCAC-2790-83BDEE4E9105}"/>
              </a:ext>
            </a:extLst>
          </p:cNvPr>
          <p:cNvSpPr/>
          <p:nvPr/>
        </p:nvSpPr>
        <p:spPr bwMode="auto">
          <a:xfrm>
            <a:off x="2342310" y="2227273"/>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US" altLang="ko-KR" sz="1050" kern="0" dirty="0">
                <a:solidFill>
                  <a:srgbClr val="000000"/>
                </a:solidFill>
                <a:latin typeface="a고딕14"/>
                <a:ea typeface="a고딕14"/>
              </a:rPr>
              <a:t>NCS</a:t>
            </a:r>
            <a:r>
              <a:rPr lang="ko-KR" altLang="en-US" sz="1050" kern="0" dirty="0">
                <a:solidFill>
                  <a:srgbClr val="000000"/>
                </a:solidFill>
                <a:latin typeface="a고딕14"/>
                <a:ea typeface="a고딕14"/>
              </a:rPr>
              <a:t> </a:t>
            </a:r>
            <a:r>
              <a:rPr kumimoji="0" lang="ko-KR" altLang="en-US" sz="1050" b="0" i="0" u="none" strike="noStrike" kern="0" cap="none" spc="0" normalizeH="0" baseline="0" noProof="0" dirty="0" err="1">
                <a:ln>
                  <a:noFill/>
                </a:ln>
                <a:solidFill>
                  <a:srgbClr val="000000"/>
                </a:solidFill>
                <a:effectLst/>
                <a:uLnTx/>
                <a:uFillTx/>
                <a:latin typeface="a고딕14"/>
                <a:ea typeface="a고딕14"/>
                <a:cs typeface="+mn-cs"/>
              </a:rPr>
              <a:t>세분류</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 수요평가</a:t>
            </a:r>
          </a:p>
        </p:txBody>
      </p:sp>
      <p:sp>
        <p:nvSpPr>
          <p:cNvPr id="13" name="직사각형 56">
            <a:extLst>
              <a:ext uri="{FF2B5EF4-FFF2-40B4-BE49-F238E27FC236}">
                <a16:creationId xmlns:a16="http://schemas.microsoft.com/office/drawing/2014/main" id="{FFEC9CBD-25CB-20B2-824B-607EEBE056E0}"/>
              </a:ext>
            </a:extLst>
          </p:cNvPr>
          <p:cNvSpPr/>
          <p:nvPr/>
        </p:nvSpPr>
        <p:spPr bwMode="auto">
          <a:xfrm>
            <a:off x="2342310" y="2621991"/>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능력단위 </a:t>
            </a:r>
            <a:endParaRPr lang="en-US" altLang="ko-KR" sz="1050" kern="0" dirty="0">
              <a:solidFill>
                <a:srgbClr val="000000"/>
              </a:solidFill>
              <a:latin typeface="a고딕14"/>
              <a:ea typeface="a고딕14"/>
            </a:endParaRPr>
          </a:p>
          <a:p>
            <a:pPr eaLnBrk="1" fontAlgn="auto" latinLnBrk="0" hangingPunct="1">
              <a:spcBef>
                <a:spcPts val="0"/>
              </a:spcBef>
              <a:spcAft>
                <a:spcPts val="0"/>
              </a:spcAft>
              <a:buNone/>
            </a:pPr>
            <a:r>
              <a:rPr lang="ko-KR" altLang="en-US" sz="1050" kern="0" dirty="0">
                <a:solidFill>
                  <a:srgbClr val="000000"/>
                </a:solidFill>
                <a:latin typeface="a고딕14"/>
                <a:ea typeface="a고딕14"/>
              </a:rPr>
              <a:t>콘텐츠 개발 적합성 평가</a:t>
            </a:r>
          </a:p>
        </p:txBody>
      </p:sp>
      <p:sp>
        <p:nvSpPr>
          <p:cNvPr id="14" name="직사각형 56">
            <a:extLst>
              <a:ext uri="{FF2B5EF4-FFF2-40B4-BE49-F238E27FC236}">
                <a16:creationId xmlns:a16="http://schemas.microsoft.com/office/drawing/2014/main" id="{82AFC0FC-36E6-46FB-37D5-F293E716B64E}"/>
              </a:ext>
            </a:extLst>
          </p:cNvPr>
          <p:cNvSpPr/>
          <p:nvPr/>
        </p:nvSpPr>
        <p:spPr bwMode="auto">
          <a:xfrm>
            <a:off x="2289404" y="3435808"/>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능력단위 수요평가 결과</a:t>
            </a:r>
          </a:p>
        </p:txBody>
      </p:sp>
      <p:sp>
        <p:nvSpPr>
          <p:cNvPr id="15" name="직사각형 56">
            <a:extLst>
              <a:ext uri="{FF2B5EF4-FFF2-40B4-BE49-F238E27FC236}">
                <a16:creationId xmlns:a16="http://schemas.microsoft.com/office/drawing/2014/main" id="{0454B278-BC32-05D6-E347-96C15424EF06}"/>
              </a:ext>
            </a:extLst>
          </p:cNvPr>
          <p:cNvSpPr/>
          <p:nvPr/>
        </p:nvSpPr>
        <p:spPr bwMode="auto">
          <a:xfrm>
            <a:off x="2342310" y="3016709"/>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능력단위 수요평가</a:t>
            </a:r>
          </a:p>
        </p:txBody>
      </p:sp>
      <p:sp>
        <p:nvSpPr>
          <p:cNvPr id="16" name="직사각형 56">
            <a:extLst>
              <a:ext uri="{FF2B5EF4-FFF2-40B4-BE49-F238E27FC236}">
                <a16:creationId xmlns:a16="http://schemas.microsoft.com/office/drawing/2014/main" id="{A906B80E-5C74-EC2A-26E4-F5DCA2AA1FD2}"/>
              </a:ext>
            </a:extLst>
          </p:cNvPr>
          <p:cNvSpPr/>
          <p:nvPr/>
        </p:nvSpPr>
        <p:spPr bwMode="auto">
          <a:xfrm>
            <a:off x="2289404" y="3744030"/>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능력단위 콘텐츠 개발 적합성 평가 결과</a:t>
            </a:r>
          </a:p>
        </p:txBody>
      </p:sp>
      <p:sp>
        <p:nvSpPr>
          <p:cNvPr id="17" name="직사각형 93">
            <a:extLst>
              <a:ext uri="{FF2B5EF4-FFF2-40B4-BE49-F238E27FC236}">
                <a16:creationId xmlns:a16="http://schemas.microsoft.com/office/drawing/2014/main" id="{11F8C567-E467-48B6-7AC7-50ACD6FFCD17}"/>
              </a:ext>
            </a:extLst>
          </p:cNvPr>
          <p:cNvSpPr/>
          <p:nvPr/>
        </p:nvSpPr>
        <p:spPr bwMode="auto">
          <a:xfrm>
            <a:off x="557096" y="4111636"/>
            <a:ext cx="1657647"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수요조사</a:t>
            </a:r>
            <a:endParaRPr lang="en-US" altLang="ko-KR" kern="0" dirty="0">
              <a:solidFill>
                <a:prstClr val="white"/>
              </a:solidFill>
              <a:latin typeface="a고딕14"/>
              <a:ea typeface="a고딕14"/>
            </a:endParaRPr>
          </a:p>
        </p:txBody>
      </p:sp>
      <p:sp>
        <p:nvSpPr>
          <p:cNvPr id="18" name="직사각형 17">
            <a:extLst>
              <a:ext uri="{FF2B5EF4-FFF2-40B4-BE49-F238E27FC236}">
                <a16:creationId xmlns:a16="http://schemas.microsoft.com/office/drawing/2014/main" id="{80B49DF9-A03C-38CA-D061-AECA3395FE05}"/>
              </a:ext>
            </a:extLst>
          </p:cNvPr>
          <p:cNvSpPr/>
          <p:nvPr/>
        </p:nvSpPr>
        <p:spPr>
          <a:xfrm>
            <a:off x="557096" y="4113144"/>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3</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9" name="직사각형 55">
            <a:extLst>
              <a:ext uri="{FF2B5EF4-FFF2-40B4-BE49-F238E27FC236}">
                <a16:creationId xmlns:a16="http://schemas.microsoft.com/office/drawing/2014/main" id="{26964240-721D-B0B9-FCE6-8DE021E726BE}"/>
              </a:ext>
            </a:extLst>
          </p:cNvPr>
          <p:cNvSpPr/>
          <p:nvPr/>
        </p:nvSpPr>
        <p:spPr bwMode="auto">
          <a:xfrm>
            <a:off x="557096" y="4641187"/>
            <a:ext cx="1657647"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20" name="직사각형 56">
            <a:extLst>
              <a:ext uri="{FF2B5EF4-FFF2-40B4-BE49-F238E27FC236}">
                <a16:creationId xmlns:a16="http://schemas.microsoft.com/office/drawing/2014/main" id="{27E0B22E-7F38-F864-59AA-2FBE04F8C038}"/>
              </a:ext>
            </a:extLst>
          </p:cNvPr>
          <p:cNvSpPr/>
          <p:nvPr/>
        </p:nvSpPr>
        <p:spPr bwMode="auto">
          <a:xfrm>
            <a:off x="614171" y="4671766"/>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수요조사 과정 선정</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(742</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개</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21" name="직사각형 56">
            <a:extLst>
              <a:ext uri="{FF2B5EF4-FFF2-40B4-BE49-F238E27FC236}">
                <a16:creationId xmlns:a16="http://schemas.microsoft.com/office/drawing/2014/main" id="{4BA6A906-A0DE-E7A0-4243-A0574C5EB5A0}"/>
              </a:ext>
            </a:extLst>
          </p:cNvPr>
          <p:cNvSpPr/>
          <p:nvPr/>
        </p:nvSpPr>
        <p:spPr bwMode="auto">
          <a:xfrm>
            <a:off x="614171" y="5066484"/>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ko-KR" altLang="en-US" sz="1050" kern="0" dirty="0">
                <a:solidFill>
                  <a:srgbClr val="000000"/>
                </a:solidFill>
                <a:latin typeface="a고딕14"/>
                <a:ea typeface="a고딕14"/>
              </a:rPr>
              <a:t>수요조사 문항 제작</a:t>
            </a:r>
          </a:p>
        </p:txBody>
      </p:sp>
      <p:sp>
        <p:nvSpPr>
          <p:cNvPr id="22" name="직사각형 56">
            <a:extLst>
              <a:ext uri="{FF2B5EF4-FFF2-40B4-BE49-F238E27FC236}">
                <a16:creationId xmlns:a16="http://schemas.microsoft.com/office/drawing/2014/main" id="{E217F075-72D4-6E5F-1BB5-774226170092}"/>
              </a:ext>
            </a:extLst>
          </p:cNvPr>
          <p:cNvSpPr/>
          <p:nvPr/>
        </p:nvSpPr>
        <p:spPr bwMode="auto">
          <a:xfrm>
            <a:off x="561265" y="5880301"/>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수요조사 과정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23" name="직사각형 56">
            <a:extLst>
              <a:ext uri="{FF2B5EF4-FFF2-40B4-BE49-F238E27FC236}">
                <a16:creationId xmlns:a16="http://schemas.microsoft.com/office/drawing/2014/main" id="{08D52A41-0CE8-0ADD-AA05-B91BF182F301}"/>
              </a:ext>
            </a:extLst>
          </p:cNvPr>
          <p:cNvSpPr/>
          <p:nvPr/>
        </p:nvSpPr>
        <p:spPr bwMode="auto">
          <a:xfrm>
            <a:off x="614171" y="5461202"/>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실시 및 분석</a:t>
            </a:r>
          </a:p>
        </p:txBody>
      </p:sp>
      <p:sp>
        <p:nvSpPr>
          <p:cNvPr id="24" name="직사각형 56">
            <a:extLst>
              <a:ext uri="{FF2B5EF4-FFF2-40B4-BE49-F238E27FC236}">
                <a16:creationId xmlns:a16="http://schemas.microsoft.com/office/drawing/2014/main" id="{1EB4441B-3E2C-7EF9-5E14-7AF67ACC6486}"/>
              </a:ext>
            </a:extLst>
          </p:cNvPr>
          <p:cNvSpPr/>
          <p:nvPr/>
        </p:nvSpPr>
        <p:spPr bwMode="auto">
          <a:xfrm>
            <a:off x="561265" y="6188523"/>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신규 개발 교육과정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41" name="직사각형 93">
            <a:extLst>
              <a:ext uri="{FF2B5EF4-FFF2-40B4-BE49-F238E27FC236}">
                <a16:creationId xmlns:a16="http://schemas.microsoft.com/office/drawing/2014/main" id="{DFD990EF-4B77-A1F9-96DA-70160A54A36D}"/>
              </a:ext>
            </a:extLst>
          </p:cNvPr>
          <p:cNvSpPr/>
          <p:nvPr/>
        </p:nvSpPr>
        <p:spPr bwMode="auto">
          <a:xfrm>
            <a:off x="4066601" y="1666279"/>
            <a:ext cx="1789914" cy="439102"/>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lvl="0" eaLnBrk="1" fontAlgn="auto" latinLnBrk="0" hangingPunct="1">
              <a:spcBef>
                <a:spcPts val="0"/>
              </a:spcBef>
              <a:spcAft>
                <a:spcPts val="0"/>
              </a:spcAft>
              <a:buNone/>
              <a:defRPr/>
            </a:pPr>
            <a:endParaRPr lang="en-US" altLang="ko-KR" sz="1150"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sz="1150" kern="0" dirty="0">
                <a:solidFill>
                  <a:prstClr val="white"/>
                </a:solidFill>
                <a:latin typeface="a고딕14"/>
                <a:ea typeface="a고딕14"/>
              </a:rPr>
              <a:t>데이터 관리방안 및 </a:t>
            </a:r>
            <a:br>
              <a:rPr lang="en-US" altLang="ko-KR" sz="1150" kern="0" dirty="0">
                <a:solidFill>
                  <a:prstClr val="white"/>
                </a:solidFill>
                <a:latin typeface="a고딕14"/>
                <a:ea typeface="a고딕14"/>
              </a:rPr>
            </a:br>
            <a:r>
              <a:rPr lang="en-US" altLang="ko-KR" sz="1150" kern="0" dirty="0">
                <a:solidFill>
                  <a:prstClr val="white"/>
                </a:solidFill>
                <a:latin typeface="a고딕14"/>
                <a:ea typeface="a고딕14"/>
              </a:rPr>
              <a:t>TTR</a:t>
            </a:r>
            <a:r>
              <a:rPr lang="ko-KR" altLang="en-US" sz="1150" kern="0" dirty="0">
                <a:solidFill>
                  <a:prstClr val="white"/>
                </a:solidFill>
                <a:latin typeface="a고딕14"/>
                <a:ea typeface="a고딕14"/>
              </a:rPr>
              <a:t> 학습 흐름 제언</a:t>
            </a:r>
          </a:p>
        </p:txBody>
      </p:sp>
      <p:sp>
        <p:nvSpPr>
          <p:cNvPr id="42" name="직사각형 41">
            <a:extLst>
              <a:ext uri="{FF2B5EF4-FFF2-40B4-BE49-F238E27FC236}">
                <a16:creationId xmlns:a16="http://schemas.microsoft.com/office/drawing/2014/main" id="{6D27423D-BDEB-65E1-ED6E-2129489E40FF}"/>
              </a:ext>
            </a:extLst>
          </p:cNvPr>
          <p:cNvSpPr/>
          <p:nvPr/>
        </p:nvSpPr>
        <p:spPr>
          <a:xfrm>
            <a:off x="4066600" y="1667787"/>
            <a:ext cx="699783"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5</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3" name="직사각형 55">
            <a:extLst>
              <a:ext uri="{FF2B5EF4-FFF2-40B4-BE49-F238E27FC236}">
                <a16:creationId xmlns:a16="http://schemas.microsoft.com/office/drawing/2014/main" id="{22BE2C53-61B2-5AEA-6349-2670D8536B5A}"/>
              </a:ext>
            </a:extLst>
          </p:cNvPr>
          <p:cNvSpPr/>
          <p:nvPr/>
        </p:nvSpPr>
        <p:spPr bwMode="auto">
          <a:xfrm>
            <a:off x="4066601" y="2195830"/>
            <a:ext cx="1789914"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46" name="직사각형 56">
            <a:extLst>
              <a:ext uri="{FF2B5EF4-FFF2-40B4-BE49-F238E27FC236}">
                <a16:creationId xmlns:a16="http://schemas.microsoft.com/office/drawing/2014/main" id="{2F1B74EC-8C40-7EC0-A847-B127F3AE23A0}"/>
              </a:ext>
            </a:extLst>
          </p:cNvPr>
          <p:cNvSpPr/>
          <p:nvPr/>
        </p:nvSpPr>
        <p:spPr bwMode="auto">
          <a:xfrm>
            <a:off x="4123676" y="2226409"/>
            <a:ext cx="1671197"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및 </a:t>
            </a:r>
            <a:r>
              <a:rPr lang="en-US" altLang="ko-KR" sz="1050" kern="0" dirty="0">
                <a:solidFill>
                  <a:srgbClr val="000000"/>
                </a:solidFill>
                <a:latin typeface="a고딕14"/>
                <a:ea typeface="a고딕14"/>
              </a:rPr>
              <a:t>SQF </a:t>
            </a:r>
            <a:r>
              <a:rPr lang="ko-KR" altLang="en-US" sz="1050" kern="0" dirty="0">
                <a:solidFill>
                  <a:srgbClr val="000000"/>
                </a:solidFill>
                <a:latin typeface="a고딕14"/>
                <a:ea typeface="a고딕14"/>
              </a:rPr>
              <a:t>변경으로 인한 변경사항 적용 방안 제언</a:t>
            </a:r>
          </a:p>
        </p:txBody>
      </p:sp>
      <p:sp>
        <p:nvSpPr>
          <p:cNvPr id="47" name="직사각형 56">
            <a:extLst>
              <a:ext uri="{FF2B5EF4-FFF2-40B4-BE49-F238E27FC236}">
                <a16:creationId xmlns:a16="http://schemas.microsoft.com/office/drawing/2014/main" id="{A73B5863-A168-0C6B-70D0-387F096F55D4}"/>
              </a:ext>
            </a:extLst>
          </p:cNvPr>
          <p:cNvSpPr/>
          <p:nvPr/>
        </p:nvSpPr>
        <p:spPr bwMode="auto">
          <a:xfrm>
            <a:off x="4123676" y="2621127"/>
            <a:ext cx="1671197"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신규 </a:t>
            </a:r>
            <a:r>
              <a:rPr lang="en-US" altLang="ko-KR" sz="1050" kern="0" spc="-100" dirty="0">
                <a:solidFill>
                  <a:srgbClr val="000000"/>
                </a:solidFill>
                <a:latin typeface="a고딕14"/>
                <a:ea typeface="a고딕14"/>
              </a:rPr>
              <a:t>NCS </a:t>
            </a:r>
            <a:r>
              <a:rPr lang="ko-KR" altLang="en-US" sz="1050" kern="0" spc="-100" dirty="0">
                <a:solidFill>
                  <a:srgbClr val="000000"/>
                </a:solidFill>
                <a:latin typeface="a고딕14"/>
                <a:ea typeface="a고딕14"/>
              </a:rPr>
              <a:t>적용에 따른 </a:t>
            </a:r>
            <a:endParaRPr lang="en-US" altLang="ko-KR" sz="1050" kern="0" spc="-10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現 </a:t>
            </a:r>
            <a:r>
              <a:rPr lang="en-US" altLang="ko-KR" sz="1050" kern="0" spc="-100" dirty="0">
                <a:solidFill>
                  <a:srgbClr val="000000"/>
                </a:solidFill>
                <a:latin typeface="a고딕14"/>
                <a:ea typeface="a고딕14"/>
              </a:rPr>
              <a:t>TTR </a:t>
            </a:r>
            <a:r>
              <a:rPr lang="ko-KR" altLang="en-US" sz="1050" kern="0" spc="-100" dirty="0">
                <a:solidFill>
                  <a:srgbClr val="000000"/>
                </a:solidFill>
                <a:latin typeface="a고딕14"/>
                <a:ea typeface="a고딕14"/>
              </a:rPr>
              <a:t>작성 및 수정 방안 제언</a:t>
            </a:r>
          </a:p>
        </p:txBody>
      </p:sp>
      <p:sp>
        <p:nvSpPr>
          <p:cNvPr id="48" name="직사각형 56">
            <a:extLst>
              <a:ext uri="{FF2B5EF4-FFF2-40B4-BE49-F238E27FC236}">
                <a16:creationId xmlns:a16="http://schemas.microsoft.com/office/drawing/2014/main" id="{1AA8B6EB-C583-A387-3395-A9F3034C8B0E}"/>
              </a:ext>
            </a:extLst>
          </p:cNvPr>
          <p:cNvSpPr/>
          <p:nvPr/>
        </p:nvSpPr>
        <p:spPr bwMode="auto">
          <a:xfrm>
            <a:off x="4070770" y="3459400"/>
            <a:ext cx="1789914" cy="264750"/>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en-US" altLang="ko-KR" sz="1000" kern="0" dirty="0">
                <a:solidFill>
                  <a:srgbClr val="000000"/>
                </a:solidFill>
                <a:latin typeface="a고딕14"/>
                <a:ea typeface="a고딕14"/>
              </a:rPr>
              <a:t>TTR </a:t>
            </a:r>
            <a:r>
              <a:rPr lang="ko-KR" altLang="en-US" sz="1000" kern="0" dirty="0">
                <a:solidFill>
                  <a:srgbClr val="000000"/>
                </a:solidFill>
                <a:latin typeface="a고딕14"/>
                <a:ea typeface="a고딕14"/>
              </a:rPr>
              <a:t>데이터 관리 방안 매뉴얼</a:t>
            </a:r>
          </a:p>
        </p:txBody>
      </p:sp>
      <p:sp>
        <p:nvSpPr>
          <p:cNvPr id="49" name="직사각형 56">
            <a:extLst>
              <a:ext uri="{FF2B5EF4-FFF2-40B4-BE49-F238E27FC236}">
                <a16:creationId xmlns:a16="http://schemas.microsoft.com/office/drawing/2014/main" id="{BAC1B73E-36F4-A4CE-C28D-57DB83F15EDD}"/>
              </a:ext>
            </a:extLst>
          </p:cNvPr>
          <p:cNvSpPr/>
          <p:nvPr/>
        </p:nvSpPr>
        <p:spPr bwMode="auto">
          <a:xfrm>
            <a:off x="4123676" y="3015845"/>
            <a:ext cx="1671197"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err="1">
                <a:solidFill>
                  <a:srgbClr val="000000"/>
                </a:solidFill>
                <a:latin typeface="a고딕14"/>
                <a:ea typeface="a고딕14"/>
              </a:rPr>
              <a:t>기술교육로드맵</a:t>
            </a:r>
            <a:r>
              <a:rPr lang="ko-KR" altLang="en-US" sz="1050" kern="0" dirty="0">
                <a:solidFill>
                  <a:srgbClr val="000000"/>
                </a:solidFill>
                <a:latin typeface="a고딕14"/>
                <a:ea typeface="a고딕14"/>
              </a:rPr>
              <a:t> 학습 흐름 제언</a:t>
            </a:r>
          </a:p>
        </p:txBody>
      </p:sp>
      <p:sp>
        <p:nvSpPr>
          <p:cNvPr id="50" name="직사각형 56">
            <a:extLst>
              <a:ext uri="{FF2B5EF4-FFF2-40B4-BE49-F238E27FC236}">
                <a16:creationId xmlns:a16="http://schemas.microsoft.com/office/drawing/2014/main" id="{36C3BABB-FCBE-6493-9CD8-CCD6E7F544D7}"/>
              </a:ext>
            </a:extLst>
          </p:cNvPr>
          <p:cNvSpPr/>
          <p:nvPr/>
        </p:nvSpPr>
        <p:spPr bwMode="auto">
          <a:xfrm>
            <a:off x="4070770" y="3744031"/>
            <a:ext cx="1789914"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err="1">
                <a:solidFill>
                  <a:srgbClr val="000000"/>
                </a:solidFill>
                <a:latin typeface="a고딕14"/>
                <a:ea typeface="a고딕14"/>
              </a:rPr>
              <a:t>기술교육로드맵</a:t>
            </a:r>
            <a:r>
              <a:rPr lang="ko-KR" altLang="en-US" sz="1000" kern="0" dirty="0">
                <a:solidFill>
                  <a:srgbClr val="000000"/>
                </a:solidFill>
                <a:latin typeface="a고딕14"/>
                <a:ea typeface="a고딕14"/>
              </a:rPr>
              <a:t> 학습 흐름</a:t>
            </a:r>
          </a:p>
        </p:txBody>
      </p:sp>
      <p:sp>
        <p:nvSpPr>
          <p:cNvPr id="52" name="직사각형 93">
            <a:extLst>
              <a:ext uri="{FF2B5EF4-FFF2-40B4-BE49-F238E27FC236}">
                <a16:creationId xmlns:a16="http://schemas.microsoft.com/office/drawing/2014/main" id="{83D6B357-EDB2-0B52-328A-719C02FF076A}"/>
              </a:ext>
            </a:extLst>
          </p:cNvPr>
          <p:cNvSpPr/>
          <p:nvPr/>
        </p:nvSpPr>
        <p:spPr bwMode="auto">
          <a:xfrm>
            <a:off x="5940652" y="1667787"/>
            <a:ext cx="1789914" cy="439102"/>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lvl="0" eaLnBrk="1" fontAlgn="auto" latinLnBrk="0" hangingPunct="1">
              <a:spcBef>
                <a:spcPts val="0"/>
              </a:spcBef>
              <a:spcAft>
                <a:spcPts val="0"/>
              </a:spcAft>
              <a:buNone/>
              <a:defRPr/>
            </a:pPr>
            <a:endParaRPr lang="en-US" altLang="ko-KR" sz="1150"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sz="1150" kern="0" dirty="0">
                <a:solidFill>
                  <a:prstClr val="white"/>
                </a:solidFill>
                <a:latin typeface="a고딕14"/>
                <a:ea typeface="a고딕14"/>
              </a:rPr>
              <a:t>직무능력은행제 연계 검토</a:t>
            </a:r>
          </a:p>
        </p:txBody>
      </p:sp>
      <p:sp>
        <p:nvSpPr>
          <p:cNvPr id="53" name="직사각형 52">
            <a:extLst>
              <a:ext uri="{FF2B5EF4-FFF2-40B4-BE49-F238E27FC236}">
                <a16:creationId xmlns:a16="http://schemas.microsoft.com/office/drawing/2014/main" id="{49BD0ACF-A892-B7D8-47A8-0BD0CC54272D}"/>
              </a:ext>
            </a:extLst>
          </p:cNvPr>
          <p:cNvSpPr/>
          <p:nvPr/>
        </p:nvSpPr>
        <p:spPr>
          <a:xfrm>
            <a:off x="5940651" y="1669295"/>
            <a:ext cx="699783"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6</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54" name="직사각형 55">
            <a:extLst>
              <a:ext uri="{FF2B5EF4-FFF2-40B4-BE49-F238E27FC236}">
                <a16:creationId xmlns:a16="http://schemas.microsoft.com/office/drawing/2014/main" id="{3C1B8D1E-A163-5EC2-8973-088ECEB35092}"/>
              </a:ext>
            </a:extLst>
          </p:cNvPr>
          <p:cNvSpPr/>
          <p:nvPr/>
        </p:nvSpPr>
        <p:spPr bwMode="auto">
          <a:xfrm>
            <a:off x="5940652" y="2197338"/>
            <a:ext cx="1789914"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55" name="직사각형 56">
            <a:extLst>
              <a:ext uri="{FF2B5EF4-FFF2-40B4-BE49-F238E27FC236}">
                <a16:creationId xmlns:a16="http://schemas.microsoft.com/office/drawing/2014/main" id="{2B1D0C47-1FE4-8025-1D2D-3044B02A9540}"/>
              </a:ext>
            </a:extLst>
          </p:cNvPr>
          <p:cNvSpPr/>
          <p:nvPr/>
        </p:nvSpPr>
        <p:spPr bwMode="auto">
          <a:xfrm>
            <a:off x="5997727" y="2227917"/>
            <a:ext cx="1671197"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문헌 분석 및 벤치마킹</a:t>
            </a:r>
          </a:p>
        </p:txBody>
      </p:sp>
      <p:sp>
        <p:nvSpPr>
          <p:cNvPr id="56" name="직사각형 56">
            <a:extLst>
              <a:ext uri="{FF2B5EF4-FFF2-40B4-BE49-F238E27FC236}">
                <a16:creationId xmlns:a16="http://schemas.microsoft.com/office/drawing/2014/main" id="{06BC9966-4E2E-0D09-0A48-34ADEEBF3BD3}"/>
              </a:ext>
            </a:extLst>
          </p:cNvPr>
          <p:cNvSpPr/>
          <p:nvPr/>
        </p:nvSpPr>
        <p:spPr bwMode="auto">
          <a:xfrm>
            <a:off x="5997727" y="2622635"/>
            <a:ext cx="1671197"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err="1">
                <a:ln>
                  <a:noFill/>
                </a:ln>
                <a:solidFill>
                  <a:srgbClr val="000000"/>
                </a:solidFill>
                <a:effectLst/>
                <a:uLnTx/>
                <a:uFillTx/>
                <a:latin typeface="a고딕14"/>
                <a:ea typeface="a고딕14"/>
                <a:cs typeface="+mn-cs"/>
              </a:rPr>
              <a:t>온평원</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 콘텐츠</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직무능력은행제 연계 방향성 제시</a:t>
            </a:r>
          </a:p>
        </p:txBody>
      </p:sp>
      <p:sp>
        <p:nvSpPr>
          <p:cNvPr id="57" name="직사각형 56">
            <a:extLst>
              <a:ext uri="{FF2B5EF4-FFF2-40B4-BE49-F238E27FC236}">
                <a16:creationId xmlns:a16="http://schemas.microsoft.com/office/drawing/2014/main" id="{07147005-4A91-5297-3D5D-42A989FFF1B2}"/>
              </a:ext>
            </a:extLst>
          </p:cNvPr>
          <p:cNvSpPr/>
          <p:nvPr/>
        </p:nvSpPr>
        <p:spPr bwMode="auto">
          <a:xfrm>
            <a:off x="5944821" y="3459399"/>
            <a:ext cx="1789914" cy="578113"/>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직무능력은행제 연계 방안</a:t>
            </a:r>
          </a:p>
        </p:txBody>
      </p:sp>
      <p:cxnSp>
        <p:nvCxnSpPr>
          <p:cNvPr id="64" name="직선 연결선 63">
            <a:extLst>
              <a:ext uri="{FF2B5EF4-FFF2-40B4-BE49-F238E27FC236}">
                <a16:creationId xmlns:a16="http://schemas.microsoft.com/office/drawing/2014/main" id="{8D117974-4176-1E77-9D38-7AF53F8CAAE8}"/>
              </a:ext>
            </a:extLst>
          </p:cNvPr>
          <p:cNvCxnSpPr>
            <a:cxnSpLocks/>
          </p:cNvCxnSpPr>
          <p:nvPr/>
        </p:nvCxnSpPr>
        <p:spPr>
          <a:xfrm>
            <a:off x="7782762" y="1665288"/>
            <a:ext cx="0" cy="4816717"/>
          </a:xfrm>
          <a:prstGeom prst="line">
            <a:avLst/>
          </a:prstGeom>
          <a:ln w="19050">
            <a:solidFill>
              <a:schemeClr val="accent4">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직사각형 93">
            <a:extLst>
              <a:ext uri="{FF2B5EF4-FFF2-40B4-BE49-F238E27FC236}">
                <a16:creationId xmlns:a16="http://schemas.microsoft.com/office/drawing/2014/main" id="{D1E0D33A-DB22-2FD8-3C6C-D22D85C8345D}"/>
              </a:ext>
            </a:extLst>
          </p:cNvPr>
          <p:cNvSpPr/>
          <p:nvPr/>
        </p:nvSpPr>
        <p:spPr bwMode="auto">
          <a:xfrm>
            <a:off x="7822925" y="1665288"/>
            <a:ext cx="1657647"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US" altLang="ko-KR" kern="0" dirty="0">
                <a:solidFill>
                  <a:prstClr val="white"/>
                </a:solidFill>
                <a:latin typeface="a고딕14"/>
                <a:ea typeface="a고딕14"/>
              </a:rPr>
              <a:t>AI </a:t>
            </a:r>
            <a:r>
              <a:rPr lang="ko-KR" altLang="en-US" kern="0" dirty="0" err="1">
                <a:solidFill>
                  <a:prstClr val="white"/>
                </a:solidFill>
                <a:latin typeface="a고딕14"/>
                <a:ea typeface="a고딕14"/>
              </a:rPr>
              <a:t>리터러시</a:t>
            </a:r>
            <a:r>
              <a:rPr lang="ko-KR" altLang="en-US" kern="0" dirty="0">
                <a:solidFill>
                  <a:prstClr val="white"/>
                </a:solidFill>
                <a:latin typeface="a고딕14"/>
                <a:ea typeface="a고딕14"/>
              </a:rPr>
              <a:t> 분야 교육과정 개발</a:t>
            </a:r>
            <a:endParaRPr lang="en-US" altLang="ko-KR" kern="0" dirty="0">
              <a:solidFill>
                <a:prstClr val="white"/>
              </a:solidFill>
              <a:latin typeface="a고딕14"/>
              <a:ea typeface="a고딕14"/>
            </a:endParaRPr>
          </a:p>
        </p:txBody>
      </p:sp>
      <p:sp>
        <p:nvSpPr>
          <p:cNvPr id="3" name="직사각형 2">
            <a:extLst>
              <a:ext uri="{FF2B5EF4-FFF2-40B4-BE49-F238E27FC236}">
                <a16:creationId xmlns:a16="http://schemas.microsoft.com/office/drawing/2014/main" id="{2186DA72-5743-2DB1-EB6F-5A8105B4BAA2}"/>
              </a:ext>
            </a:extLst>
          </p:cNvPr>
          <p:cNvSpPr/>
          <p:nvPr/>
        </p:nvSpPr>
        <p:spPr>
          <a:xfrm>
            <a:off x="7822925" y="1666796"/>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7</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5" name="직사각형 55">
            <a:extLst>
              <a:ext uri="{FF2B5EF4-FFF2-40B4-BE49-F238E27FC236}">
                <a16:creationId xmlns:a16="http://schemas.microsoft.com/office/drawing/2014/main" id="{0C1B8A10-7614-6192-A25A-3F6C6352692D}"/>
              </a:ext>
            </a:extLst>
          </p:cNvPr>
          <p:cNvSpPr/>
          <p:nvPr/>
        </p:nvSpPr>
        <p:spPr bwMode="auto">
          <a:xfrm>
            <a:off x="7822925" y="2194839"/>
            <a:ext cx="1657647" cy="1202822"/>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6" name="직사각형 56">
            <a:extLst>
              <a:ext uri="{FF2B5EF4-FFF2-40B4-BE49-F238E27FC236}">
                <a16:creationId xmlns:a16="http://schemas.microsoft.com/office/drawing/2014/main" id="{5F5BF1F6-C95A-16F0-7A35-8EDBD2228E3F}"/>
              </a:ext>
            </a:extLst>
          </p:cNvPr>
          <p:cNvSpPr/>
          <p:nvPr/>
        </p:nvSpPr>
        <p:spPr bwMode="auto">
          <a:xfrm>
            <a:off x="7880000" y="2285568"/>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AI </a:t>
            </a:r>
            <a:r>
              <a:rPr kumimoji="0" lang="ko-KR" altLang="en-US" sz="1050" b="0" i="0" u="none" strike="noStrike" kern="0" cap="none" spc="0" normalizeH="0" baseline="0" noProof="0" dirty="0" err="1">
                <a:ln>
                  <a:noFill/>
                </a:ln>
                <a:solidFill>
                  <a:srgbClr val="000000"/>
                </a:solidFill>
                <a:effectLst/>
                <a:uLnTx/>
                <a:uFillTx/>
                <a:latin typeface="a고딕14"/>
                <a:ea typeface="a고딕14"/>
                <a:cs typeface="+mn-cs"/>
              </a:rPr>
              <a:t>리터러시</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 </a:t>
            </a:r>
            <a:endParaRPr kumimoji="0" lang="en-US" altLang="ko-KR" sz="1050" b="0" i="0" u="none" strike="noStrike" kern="0" cap="none" spc="0" normalizeH="0" baseline="0" noProof="0" dirty="0">
              <a:ln>
                <a:noFill/>
              </a:ln>
              <a:solidFill>
                <a:srgbClr val="000000"/>
              </a:solidFill>
              <a:effectLst/>
              <a:uLnTx/>
              <a:uFillTx/>
              <a:latin typeface="a고딕14"/>
              <a:ea typeface="a고딕14"/>
              <a:cs typeface="+mn-cs"/>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교육과정 개발 절차 수립</a:t>
            </a:r>
          </a:p>
        </p:txBody>
      </p:sp>
      <p:sp>
        <p:nvSpPr>
          <p:cNvPr id="31" name="직사각형 56">
            <a:extLst>
              <a:ext uri="{FF2B5EF4-FFF2-40B4-BE49-F238E27FC236}">
                <a16:creationId xmlns:a16="http://schemas.microsoft.com/office/drawing/2014/main" id="{1F496769-B653-3E46-402B-3018403EEF97}"/>
              </a:ext>
            </a:extLst>
          </p:cNvPr>
          <p:cNvSpPr/>
          <p:nvPr/>
        </p:nvSpPr>
        <p:spPr bwMode="auto">
          <a:xfrm>
            <a:off x="7880000" y="2680286"/>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en-US" altLang="ko-KR" sz="1050" kern="0" dirty="0">
                <a:solidFill>
                  <a:srgbClr val="000000"/>
                </a:solidFill>
                <a:latin typeface="a고딕14"/>
                <a:ea typeface="a고딕14"/>
              </a:rPr>
              <a:t>AI </a:t>
            </a:r>
            <a:r>
              <a:rPr lang="ko-KR" altLang="en-US" sz="1050" kern="0" dirty="0" err="1">
                <a:solidFill>
                  <a:srgbClr val="000000"/>
                </a:solidFill>
                <a:latin typeface="a고딕14"/>
                <a:ea typeface="a고딕14"/>
              </a:rPr>
              <a:t>리터러시</a:t>
            </a:r>
            <a:r>
              <a:rPr lang="ko-KR" altLang="en-US" sz="1050" kern="0" dirty="0">
                <a:solidFill>
                  <a:srgbClr val="000000"/>
                </a:solidFill>
                <a:latin typeface="a고딕14"/>
                <a:ea typeface="a고딕14"/>
              </a:rPr>
              <a:t> 교육과정 개발</a:t>
            </a:r>
          </a:p>
        </p:txBody>
      </p:sp>
      <p:sp>
        <p:nvSpPr>
          <p:cNvPr id="32" name="직사각형 56">
            <a:extLst>
              <a:ext uri="{FF2B5EF4-FFF2-40B4-BE49-F238E27FC236}">
                <a16:creationId xmlns:a16="http://schemas.microsoft.com/office/drawing/2014/main" id="{EC8224C5-3DF1-8F07-AEEF-299C88225ED8}"/>
              </a:ext>
            </a:extLst>
          </p:cNvPr>
          <p:cNvSpPr/>
          <p:nvPr/>
        </p:nvSpPr>
        <p:spPr bwMode="auto">
          <a:xfrm>
            <a:off x="7827094" y="3435807"/>
            <a:ext cx="1657647" cy="601705"/>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en-US" altLang="ko-KR" sz="1000" kern="0" dirty="0">
                <a:solidFill>
                  <a:srgbClr val="000000"/>
                </a:solidFill>
                <a:latin typeface="a고딕14"/>
                <a:ea typeface="a고딕14"/>
              </a:rPr>
              <a:t>AI </a:t>
            </a:r>
            <a:r>
              <a:rPr lang="ko-KR" altLang="en-US" sz="1000" kern="0" dirty="0" err="1">
                <a:solidFill>
                  <a:srgbClr val="000000"/>
                </a:solidFill>
                <a:latin typeface="a고딕14"/>
                <a:ea typeface="a고딕14"/>
              </a:rPr>
              <a:t>리터러시</a:t>
            </a:r>
            <a:r>
              <a:rPr lang="ko-KR" altLang="en-US" sz="1000" kern="0" dirty="0">
                <a:solidFill>
                  <a:srgbClr val="000000"/>
                </a:solidFill>
                <a:latin typeface="a고딕14"/>
                <a:ea typeface="a고딕14"/>
              </a:rPr>
              <a:t> 교육과정</a:t>
            </a:r>
            <a:r>
              <a:rPr lang="en-US" altLang="ko-KR" sz="1000" kern="0" dirty="0">
                <a:solidFill>
                  <a:srgbClr val="000000"/>
                </a:solidFill>
                <a:latin typeface="a고딕14"/>
                <a:ea typeface="a고딕14"/>
              </a:rPr>
              <a:t>(26</a:t>
            </a:r>
            <a:r>
              <a:rPr lang="ko-KR" altLang="en-US" sz="1000" kern="0" dirty="0">
                <a:solidFill>
                  <a:srgbClr val="000000"/>
                </a:solidFill>
                <a:latin typeface="a고딕14"/>
                <a:ea typeface="a고딕14"/>
              </a:rPr>
              <a:t>개</a:t>
            </a:r>
            <a:r>
              <a:rPr lang="en-US" altLang="ko-KR" sz="1000" kern="0" dirty="0">
                <a:solidFill>
                  <a:srgbClr val="000000"/>
                </a:solidFill>
                <a:latin typeface="a고딕14"/>
                <a:ea typeface="a고딕14"/>
              </a:rPr>
              <a:t>)</a:t>
            </a:r>
            <a:endParaRPr lang="ko-KR" altLang="en-US" sz="1000" kern="0" dirty="0">
              <a:solidFill>
                <a:srgbClr val="000000"/>
              </a:solidFill>
              <a:latin typeface="a고딕14"/>
              <a:ea typeface="a고딕14"/>
            </a:endParaRPr>
          </a:p>
        </p:txBody>
      </p:sp>
      <p:sp>
        <p:nvSpPr>
          <p:cNvPr id="38" name="직사각형 93">
            <a:extLst>
              <a:ext uri="{FF2B5EF4-FFF2-40B4-BE49-F238E27FC236}">
                <a16:creationId xmlns:a16="http://schemas.microsoft.com/office/drawing/2014/main" id="{A7204337-7D6F-B8A0-60EF-830D4AC91ABB}"/>
              </a:ext>
            </a:extLst>
          </p:cNvPr>
          <p:cNvSpPr/>
          <p:nvPr/>
        </p:nvSpPr>
        <p:spPr bwMode="auto">
          <a:xfrm>
            <a:off x="2294885" y="4111636"/>
            <a:ext cx="1657647"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lvl="0" eaLnBrk="1" fontAlgn="auto" latinLnBrk="0" hangingPunct="1">
              <a:spcBef>
                <a:spcPts val="0"/>
              </a:spcBef>
              <a:spcAft>
                <a:spcPts val="0"/>
              </a:spcAft>
              <a:buNone/>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교육과정 개요서 및 </a:t>
            </a:r>
            <a:r>
              <a:rPr lang="ko-KR" altLang="en-US" kern="0" dirty="0" err="1">
                <a:solidFill>
                  <a:prstClr val="white"/>
                </a:solidFill>
                <a:latin typeface="a고딕14"/>
                <a:ea typeface="a고딕14"/>
              </a:rPr>
              <a:t>기술교육로드맵</a:t>
            </a:r>
            <a:r>
              <a:rPr lang="ko-KR" altLang="en-US" kern="0" dirty="0">
                <a:solidFill>
                  <a:prstClr val="white"/>
                </a:solidFill>
                <a:latin typeface="a고딕14"/>
                <a:ea typeface="a고딕14"/>
              </a:rPr>
              <a:t> 작성</a:t>
            </a:r>
          </a:p>
        </p:txBody>
      </p:sp>
      <p:sp>
        <p:nvSpPr>
          <p:cNvPr id="44" name="직사각형 43">
            <a:extLst>
              <a:ext uri="{FF2B5EF4-FFF2-40B4-BE49-F238E27FC236}">
                <a16:creationId xmlns:a16="http://schemas.microsoft.com/office/drawing/2014/main" id="{DBBC9F8F-B58B-6E5B-BD9E-675D05684505}"/>
              </a:ext>
            </a:extLst>
          </p:cNvPr>
          <p:cNvSpPr/>
          <p:nvPr/>
        </p:nvSpPr>
        <p:spPr>
          <a:xfrm>
            <a:off x="2294885" y="4113144"/>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4</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5" name="직사각형 55">
            <a:extLst>
              <a:ext uri="{FF2B5EF4-FFF2-40B4-BE49-F238E27FC236}">
                <a16:creationId xmlns:a16="http://schemas.microsoft.com/office/drawing/2014/main" id="{076D5462-55CE-A8D0-702E-98B6658A3A3C}"/>
              </a:ext>
            </a:extLst>
          </p:cNvPr>
          <p:cNvSpPr/>
          <p:nvPr/>
        </p:nvSpPr>
        <p:spPr bwMode="auto">
          <a:xfrm>
            <a:off x="2294885" y="4641187"/>
            <a:ext cx="1657647"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51" name="직사각형 56">
            <a:extLst>
              <a:ext uri="{FF2B5EF4-FFF2-40B4-BE49-F238E27FC236}">
                <a16:creationId xmlns:a16="http://schemas.microsoft.com/office/drawing/2014/main" id="{2973B290-59D2-5781-9179-56F9EFE88A30}"/>
              </a:ext>
            </a:extLst>
          </p:cNvPr>
          <p:cNvSpPr/>
          <p:nvPr/>
        </p:nvSpPr>
        <p:spPr bwMode="auto">
          <a:xfrm>
            <a:off x="2351960" y="4731916"/>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교육과정 개요서 작성</a:t>
            </a:r>
          </a:p>
        </p:txBody>
      </p:sp>
      <p:sp>
        <p:nvSpPr>
          <p:cNvPr id="58" name="직사각형 56">
            <a:extLst>
              <a:ext uri="{FF2B5EF4-FFF2-40B4-BE49-F238E27FC236}">
                <a16:creationId xmlns:a16="http://schemas.microsoft.com/office/drawing/2014/main" id="{42F6BA41-5A3A-8416-0F6F-D675116DE8AA}"/>
              </a:ext>
            </a:extLst>
          </p:cNvPr>
          <p:cNvSpPr/>
          <p:nvPr/>
        </p:nvSpPr>
        <p:spPr bwMode="auto">
          <a:xfrm>
            <a:off x="2351960" y="5126634"/>
            <a:ext cx="1547703"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기술교육 로드맵 작성</a:t>
            </a:r>
          </a:p>
        </p:txBody>
      </p:sp>
      <p:sp>
        <p:nvSpPr>
          <p:cNvPr id="60" name="직사각형 56">
            <a:extLst>
              <a:ext uri="{FF2B5EF4-FFF2-40B4-BE49-F238E27FC236}">
                <a16:creationId xmlns:a16="http://schemas.microsoft.com/office/drawing/2014/main" id="{4C32DDFC-AABC-203B-B265-55C417A1F0EB}"/>
              </a:ext>
            </a:extLst>
          </p:cNvPr>
          <p:cNvSpPr/>
          <p:nvPr/>
        </p:nvSpPr>
        <p:spPr bwMode="auto">
          <a:xfrm>
            <a:off x="2290679" y="5880301"/>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교육과정 개요서</a:t>
            </a:r>
          </a:p>
        </p:txBody>
      </p:sp>
      <p:sp>
        <p:nvSpPr>
          <p:cNvPr id="61" name="직사각형 56">
            <a:extLst>
              <a:ext uri="{FF2B5EF4-FFF2-40B4-BE49-F238E27FC236}">
                <a16:creationId xmlns:a16="http://schemas.microsoft.com/office/drawing/2014/main" id="{0FA7EDFA-48FA-5A14-8216-DBB6AB1A7669}"/>
              </a:ext>
            </a:extLst>
          </p:cNvPr>
          <p:cNvSpPr/>
          <p:nvPr/>
        </p:nvSpPr>
        <p:spPr bwMode="auto">
          <a:xfrm>
            <a:off x="2290679" y="6188523"/>
            <a:ext cx="1657647" cy="29348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err="1">
                <a:solidFill>
                  <a:srgbClr val="000000"/>
                </a:solidFill>
                <a:latin typeface="a고딕14"/>
                <a:ea typeface="a고딕14"/>
              </a:rPr>
              <a:t>기술교육로드맵</a:t>
            </a:r>
            <a:r>
              <a:rPr lang="en-US" altLang="ko-KR" sz="1000" kern="0" dirty="0">
                <a:solidFill>
                  <a:srgbClr val="000000"/>
                </a:solidFill>
                <a:latin typeface="a고딕14"/>
                <a:ea typeface="a고딕14"/>
              </a:rPr>
              <a:t>(TTR)</a:t>
            </a:r>
            <a:endParaRPr lang="ko-KR" altLang="en-US" sz="1000" kern="0" dirty="0">
              <a:solidFill>
                <a:srgbClr val="000000"/>
              </a:solidFill>
              <a:latin typeface="a고딕14"/>
              <a:ea typeface="a고딕14"/>
            </a:endParaRPr>
          </a:p>
        </p:txBody>
      </p:sp>
      <p:sp>
        <p:nvSpPr>
          <p:cNvPr id="65" name="직사각형 53">
            <a:extLst>
              <a:ext uri="{FF2B5EF4-FFF2-40B4-BE49-F238E27FC236}">
                <a16:creationId xmlns:a16="http://schemas.microsoft.com/office/drawing/2014/main" id="{33F28012-7C77-3487-75C9-0098AB9CE97C}"/>
              </a:ext>
            </a:extLst>
          </p:cNvPr>
          <p:cNvSpPr/>
          <p:nvPr/>
        </p:nvSpPr>
        <p:spPr bwMode="auto">
          <a:xfrm>
            <a:off x="7822925" y="1378466"/>
            <a:ext cx="1657647" cy="264750"/>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AI</a:t>
            </a:r>
            <a:r>
              <a:rPr kumimoji="0" lang="ko-KR" altLang="en-US" sz="1050" b="0" i="0" u="none" strike="noStrike" kern="0" cap="none" spc="0" normalizeH="0" baseline="0" noProof="0" dirty="0" err="1">
                <a:ln>
                  <a:noFill/>
                </a:ln>
                <a:solidFill>
                  <a:prstClr val="white"/>
                </a:solidFill>
                <a:effectLst/>
                <a:uLnTx/>
                <a:uFillTx/>
                <a:latin typeface="a고딕14"/>
                <a:ea typeface="a고딕14"/>
                <a:cs typeface="+mn-cs"/>
              </a:rPr>
              <a:t>리터러시</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 교육과정 개발</a:t>
            </a:r>
          </a:p>
        </p:txBody>
      </p:sp>
      <p:sp>
        <p:nvSpPr>
          <p:cNvPr id="116" name="직사각형 53">
            <a:extLst>
              <a:ext uri="{FF2B5EF4-FFF2-40B4-BE49-F238E27FC236}">
                <a16:creationId xmlns:a16="http://schemas.microsoft.com/office/drawing/2014/main" id="{32D99093-9A5E-AC63-9412-B3A7962C3443}"/>
              </a:ext>
            </a:extLst>
          </p:cNvPr>
          <p:cNvSpPr/>
          <p:nvPr/>
        </p:nvSpPr>
        <p:spPr bwMode="auto">
          <a:xfrm>
            <a:off x="4077120" y="1378466"/>
            <a:ext cx="3640595" cy="264750"/>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STEP </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서비스 확대 및 효율적 운영을 위한 방안 제언</a:t>
            </a:r>
          </a:p>
        </p:txBody>
      </p:sp>
      <p:sp>
        <p:nvSpPr>
          <p:cNvPr id="66" name="직사각형 53">
            <a:extLst>
              <a:ext uri="{FF2B5EF4-FFF2-40B4-BE49-F238E27FC236}">
                <a16:creationId xmlns:a16="http://schemas.microsoft.com/office/drawing/2014/main" id="{F942F88C-CB9E-2DEC-8C8D-FF9B3EFBB57E}"/>
              </a:ext>
            </a:extLst>
          </p:cNvPr>
          <p:cNvSpPr/>
          <p:nvPr/>
        </p:nvSpPr>
        <p:spPr bwMode="auto">
          <a:xfrm>
            <a:off x="309294" y="5880301"/>
            <a:ext cx="246885" cy="609399"/>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cxnSp>
        <p:nvCxnSpPr>
          <p:cNvPr id="70" name="직선 연결선 69">
            <a:extLst>
              <a:ext uri="{FF2B5EF4-FFF2-40B4-BE49-F238E27FC236}">
                <a16:creationId xmlns:a16="http://schemas.microsoft.com/office/drawing/2014/main" id="{1C139353-9B3B-6C2F-7226-BD9234CA5322}"/>
              </a:ext>
            </a:extLst>
          </p:cNvPr>
          <p:cNvCxnSpPr>
            <a:cxnSpLocks/>
          </p:cNvCxnSpPr>
          <p:nvPr/>
        </p:nvCxnSpPr>
        <p:spPr>
          <a:xfrm>
            <a:off x="4006292" y="1665288"/>
            <a:ext cx="0" cy="4824412"/>
          </a:xfrm>
          <a:prstGeom prst="line">
            <a:avLst/>
          </a:prstGeom>
          <a:ln w="19050">
            <a:solidFill>
              <a:schemeClr val="accent4">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89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5A727-F32E-77DD-F68F-39AFBBE23114}"/>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07378973-FA75-BC3F-347A-7E614713C4ED}"/>
              </a:ext>
            </a:extLst>
          </p:cNvPr>
          <p:cNvSpPr>
            <a:spLocks noGrp="1"/>
          </p:cNvSpPr>
          <p:nvPr>
            <p:ph type="body" sz="quarter" idx="12"/>
          </p:nvPr>
        </p:nvSpPr>
        <p:spPr/>
        <p:txBody>
          <a:bodyPr/>
          <a:lstStyle/>
          <a:p>
            <a:pPr latinLnBrk="0"/>
            <a:r>
              <a:rPr lang="ko-KR" altLang="en-US" dirty="0" err="1">
                <a:latin typeface="+mj-ea"/>
                <a:ea typeface="+mj-ea"/>
              </a:rPr>
              <a:t>온평원</a:t>
            </a:r>
            <a:r>
              <a:rPr lang="ko-KR" altLang="en-US" dirty="0">
                <a:latin typeface="+mj-ea"/>
                <a:ea typeface="+mj-ea"/>
              </a:rPr>
              <a:t> 콘텐츠에 </a:t>
            </a:r>
            <a:r>
              <a:rPr lang="ko-KR" altLang="en-US" dirty="0" err="1">
                <a:latin typeface="+mj-ea"/>
                <a:ea typeface="+mj-ea"/>
              </a:rPr>
              <a:t>매핑된</a:t>
            </a:r>
            <a:r>
              <a:rPr lang="ko-KR" altLang="en-US" dirty="0">
                <a:latin typeface="+mj-ea"/>
                <a:ea typeface="+mj-ea"/>
              </a:rPr>
              <a:t> </a:t>
            </a:r>
            <a:r>
              <a:rPr lang="en-US" altLang="ko-KR" dirty="0">
                <a:latin typeface="+mj-ea"/>
                <a:ea typeface="+mj-ea"/>
              </a:rPr>
              <a:t>NCS</a:t>
            </a:r>
            <a:r>
              <a:rPr lang="ko-KR" altLang="en-US" dirty="0">
                <a:latin typeface="+mj-ea"/>
                <a:ea typeface="+mj-ea"/>
              </a:rPr>
              <a:t>를 전수 검토하여 오류를 보완하고</a:t>
            </a:r>
            <a:r>
              <a:rPr lang="en-US" altLang="ko-KR" dirty="0">
                <a:latin typeface="+mj-ea"/>
                <a:ea typeface="+mj-ea"/>
              </a:rPr>
              <a:t>, </a:t>
            </a:r>
            <a:r>
              <a:rPr lang="ko-KR" altLang="en-US" dirty="0">
                <a:latin typeface="+mj-ea"/>
                <a:ea typeface="+mj-ea"/>
              </a:rPr>
              <a:t>활용 목적에 따라 학습자 공개용과 내부 관리용으로 구분</a:t>
            </a:r>
            <a:r>
              <a:rPr lang="en-US" altLang="ko-KR" dirty="0">
                <a:latin typeface="+mj-ea"/>
                <a:ea typeface="+mj-ea"/>
              </a:rPr>
              <a:t> </a:t>
            </a:r>
            <a:r>
              <a:rPr lang="ko-KR" altLang="en-US" dirty="0">
                <a:latin typeface="+mj-ea"/>
                <a:ea typeface="+mj-ea"/>
              </a:rPr>
              <a:t>및 정리하였음</a:t>
            </a:r>
            <a:endParaRPr lang="ko-KR" altLang="en-US" sz="1800" dirty="0">
              <a:latin typeface="+mj-ea"/>
              <a:ea typeface="+mj-ea"/>
            </a:endParaRPr>
          </a:p>
        </p:txBody>
      </p:sp>
      <p:sp>
        <p:nvSpPr>
          <p:cNvPr id="5" name="텍스트 개체 틀 4">
            <a:extLst>
              <a:ext uri="{FF2B5EF4-FFF2-40B4-BE49-F238E27FC236}">
                <a16:creationId xmlns:a16="http://schemas.microsoft.com/office/drawing/2014/main" id="{237A3B53-5273-D007-298F-4F46E06DA38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1CE1F0E1-5342-C9DE-1A0E-E17971AEB6D6}"/>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ko-KR" altLang="en-US" sz="1200" dirty="0" err="1">
                <a:solidFill>
                  <a:schemeClr val="bg1"/>
                </a:solidFill>
              </a:rPr>
              <a:t>온평원</a:t>
            </a:r>
            <a:r>
              <a:rPr lang="ko-KR" altLang="en-US" sz="1200" dirty="0">
                <a:solidFill>
                  <a:schemeClr val="bg1"/>
                </a:solidFill>
              </a:rPr>
              <a:t> 콘텐츠와 최신 </a:t>
            </a:r>
            <a:r>
              <a:rPr lang="en-US" altLang="ko-KR" sz="1200" dirty="0">
                <a:solidFill>
                  <a:schemeClr val="bg1"/>
                </a:solidFill>
              </a:rPr>
              <a:t>NCS </a:t>
            </a:r>
            <a:r>
              <a:rPr lang="ko-KR" altLang="en-US" sz="1200" dirty="0">
                <a:solidFill>
                  <a:schemeClr val="bg1"/>
                </a:solidFill>
              </a:rPr>
              <a:t>매핑</a:t>
            </a:r>
          </a:p>
        </p:txBody>
      </p:sp>
      <p:sp>
        <p:nvSpPr>
          <p:cNvPr id="10" name="직사각형 9">
            <a:extLst>
              <a:ext uri="{FF2B5EF4-FFF2-40B4-BE49-F238E27FC236}">
                <a16:creationId xmlns:a16="http://schemas.microsoft.com/office/drawing/2014/main" id="{34DB33EF-80E3-1A20-F30B-1162787480E5}"/>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pSp>
        <p:nvGrpSpPr>
          <p:cNvPr id="7" name="그룹 6">
            <a:extLst>
              <a:ext uri="{FF2B5EF4-FFF2-40B4-BE49-F238E27FC236}">
                <a16:creationId xmlns:a16="http://schemas.microsoft.com/office/drawing/2014/main" id="{82977A53-CDAE-9584-7505-C10D69BD8762}"/>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B08B8FA4-D0AC-F66F-1E22-A6B8EBD0887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온라인평생교육원 개발 콘텐츠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DB NCS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최신화</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63BA4566-A63C-28DA-3952-6DF8CBCE577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직사각형 10">
            <a:extLst>
              <a:ext uri="{FF2B5EF4-FFF2-40B4-BE49-F238E27FC236}">
                <a16:creationId xmlns:a16="http://schemas.microsoft.com/office/drawing/2014/main" id="{8B6EF6A5-40C5-A42D-8077-9714D7914195}"/>
              </a:ext>
            </a:extLst>
          </p:cNvPr>
          <p:cNvSpPr/>
          <p:nvPr/>
        </p:nvSpPr>
        <p:spPr>
          <a:xfrm>
            <a:off x="1712640" y="2097088"/>
            <a:ext cx="3710132" cy="323848"/>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dirty="0">
                <a:latin typeface="a고딕14" panose="02020600000000000000" pitchFamily="18" charset="-127"/>
                <a:ea typeface="a고딕14" panose="02020600000000000000" pitchFamily="18" charset="-127"/>
              </a:rPr>
              <a:t>2024</a:t>
            </a:r>
            <a:r>
              <a:rPr lang="ko-KR" altLang="en-US" dirty="0">
                <a:latin typeface="a고딕14" panose="02020600000000000000" pitchFamily="18" charset="-127"/>
                <a:ea typeface="a고딕14" panose="02020600000000000000" pitchFamily="18" charset="-127"/>
              </a:rPr>
              <a:t>년 </a:t>
            </a:r>
            <a:r>
              <a:rPr lang="ko-KR" altLang="en-US" dirty="0" err="1">
                <a:latin typeface="a고딕14" panose="02020600000000000000" pitchFamily="18" charset="-127"/>
                <a:ea typeface="a고딕14" panose="02020600000000000000" pitchFamily="18" charset="-127"/>
              </a:rPr>
              <a:t>온평원</a:t>
            </a:r>
            <a:r>
              <a:rPr lang="ko-KR" altLang="en-US" dirty="0">
                <a:latin typeface="a고딕14" panose="02020600000000000000" pitchFamily="18" charset="-127"/>
                <a:ea typeface="a고딕14" panose="02020600000000000000" pitchFamily="18" charset="-127"/>
              </a:rPr>
              <a:t> 콘텐츠</a:t>
            </a:r>
            <a:r>
              <a:rPr lang="en-US" altLang="ko-KR" dirty="0">
                <a:latin typeface="a고딕14" panose="02020600000000000000" pitchFamily="18" charset="-127"/>
                <a:ea typeface="a고딕14" panose="02020600000000000000" pitchFamily="18" charset="-127"/>
              </a:rPr>
              <a:t>-NCS </a:t>
            </a:r>
            <a:r>
              <a:rPr lang="ko-KR" altLang="en-US" dirty="0">
                <a:latin typeface="a고딕14" panose="02020600000000000000" pitchFamily="18" charset="-127"/>
                <a:ea typeface="a고딕14" panose="02020600000000000000" pitchFamily="18" charset="-127"/>
              </a:rPr>
              <a:t>매핑</a:t>
            </a:r>
            <a:endParaRPr lang="en-US" altLang="ko-KR" dirty="0">
              <a:latin typeface="a고딕14" panose="02020600000000000000" pitchFamily="18" charset="-127"/>
              <a:ea typeface="a고딕14" panose="02020600000000000000" pitchFamily="18" charset="-127"/>
            </a:endParaRPr>
          </a:p>
        </p:txBody>
      </p:sp>
      <p:sp>
        <p:nvSpPr>
          <p:cNvPr id="12" name="직사각형 11">
            <a:extLst>
              <a:ext uri="{FF2B5EF4-FFF2-40B4-BE49-F238E27FC236}">
                <a16:creationId xmlns:a16="http://schemas.microsoft.com/office/drawing/2014/main" id="{507F350C-DEDB-1892-B171-BC264D729F0F}"/>
              </a:ext>
            </a:extLst>
          </p:cNvPr>
          <p:cNvSpPr/>
          <p:nvPr/>
        </p:nvSpPr>
        <p:spPr>
          <a:xfrm>
            <a:off x="5635481" y="2097088"/>
            <a:ext cx="3710132" cy="323848"/>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dirty="0">
                <a:latin typeface="a고딕14" panose="02020600000000000000" pitchFamily="18" charset="-127"/>
                <a:ea typeface="a고딕14" panose="02020600000000000000" pitchFamily="18" charset="-127"/>
              </a:rPr>
              <a:t>2025</a:t>
            </a:r>
            <a:r>
              <a:rPr lang="ko-KR" altLang="en-US" dirty="0">
                <a:latin typeface="a고딕14" panose="02020600000000000000" pitchFamily="18" charset="-127"/>
                <a:ea typeface="a고딕14" panose="02020600000000000000" pitchFamily="18" charset="-127"/>
              </a:rPr>
              <a:t>년 </a:t>
            </a:r>
            <a:r>
              <a:rPr lang="ko-KR" altLang="en-US" dirty="0" err="1">
                <a:latin typeface="a고딕14" panose="02020600000000000000" pitchFamily="18" charset="-127"/>
                <a:ea typeface="a고딕14" panose="02020600000000000000" pitchFamily="18" charset="-127"/>
              </a:rPr>
              <a:t>온평원</a:t>
            </a:r>
            <a:r>
              <a:rPr lang="ko-KR" altLang="en-US" dirty="0">
                <a:latin typeface="a고딕14" panose="02020600000000000000" pitchFamily="18" charset="-127"/>
                <a:ea typeface="a고딕14" panose="02020600000000000000" pitchFamily="18" charset="-127"/>
              </a:rPr>
              <a:t> 콘텐츠</a:t>
            </a:r>
            <a:r>
              <a:rPr lang="en-US" altLang="ko-KR" dirty="0">
                <a:latin typeface="a고딕14" panose="02020600000000000000" pitchFamily="18" charset="-127"/>
                <a:ea typeface="a고딕14" panose="02020600000000000000" pitchFamily="18" charset="-127"/>
              </a:rPr>
              <a:t>-NCS </a:t>
            </a:r>
            <a:r>
              <a:rPr lang="ko-KR" altLang="en-US" dirty="0">
                <a:latin typeface="a고딕14" panose="02020600000000000000" pitchFamily="18" charset="-127"/>
                <a:ea typeface="a고딕14" panose="02020600000000000000" pitchFamily="18" charset="-127"/>
              </a:rPr>
              <a:t>매핑</a:t>
            </a:r>
            <a:endParaRPr lang="en-US" altLang="ko-KR" dirty="0">
              <a:latin typeface="a고딕14" panose="02020600000000000000" pitchFamily="18" charset="-127"/>
              <a:ea typeface="a고딕14" panose="02020600000000000000" pitchFamily="18" charset="-127"/>
            </a:endParaRPr>
          </a:p>
        </p:txBody>
      </p:sp>
      <p:sp>
        <p:nvSpPr>
          <p:cNvPr id="13" name="직사각형 12">
            <a:extLst>
              <a:ext uri="{FF2B5EF4-FFF2-40B4-BE49-F238E27FC236}">
                <a16:creationId xmlns:a16="http://schemas.microsoft.com/office/drawing/2014/main" id="{1460C199-924D-AAA4-23C4-2B6F46AC4538}"/>
              </a:ext>
            </a:extLst>
          </p:cNvPr>
          <p:cNvSpPr/>
          <p:nvPr/>
        </p:nvSpPr>
        <p:spPr>
          <a:xfrm>
            <a:off x="596515" y="2492375"/>
            <a:ext cx="972384" cy="448978"/>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buNone/>
            </a:pPr>
            <a:r>
              <a:rPr lang="en-US" altLang="ko-KR" dirty="0">
                <a:solidFill>
                  <a:schemeClr val="bg1"/>
                </a:solidFill>
                <a:latin typeface="+mj-ea"/>
                <a:ea typeface="+mj-ea"/>
              </a:rPr>
              <a:t>NCS</a:t>
            </a:r>
            <a:r>
              <a:rPr lang="ko-KR" altLang="en-US" dirty="0">
                <a:solidFill>
                  <a:schemeClr val="bg1"/>
                </a:solidFill>
                <a:latin typeface="+mj-ea"/>
                <a:ea typeface="+mj-ea"/>
              </a:rPr>
              <a:t> 버전</a:t>
            </a:r>
            <a:endParaRPr lang="en-US" altLang="ko-KR" dirty="0">
              <a:solidFill>
                <a:schemeClr val="bg1"/>
              </a:solidFill>
              <a:latin typeface="+mj-ea"/>
              <a:ea typeface="+mj-ea"/>
            </a:endParaRPr>
          </a:p>
        </p:txBody>
      </p:sp>
      <p:sp>
        <p:nvSpPr>
          <p:cNvPr id="14" name="직사각형 13">
            <a:extLst>
              <a:ext uri="{FF2B5EF4-FFF2-40B4-BE49-F238E27FC236}">
                <a16:creationId xmlns:a16="http://schemas.microsoft.com/office/drawing/2014/main" id="{FE121F94-6DF2-53A9-5AE4-FDA46C8BD860}"/>
              </a:ext>
            </a:extLst>
          </p:cNvPr>
          <p:cNvSpPr/>
          <p:nvPr/>
        </p:nvSpPr>
        <p:spPr>
          <a:xfrm>
            <a:off x="1712640" y="2492375"/>
            <a:ext cx="3710132" cy="448978"/>
          </a:xfrm>
          <a:prstGeom prst="rect">
            <a:avLst/>
          </a:prstGeom>
          <a:solidFill>
            <a:srgbClr val="E6E6E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spcAft>
                <a:spcPts val="300"/>
              </a:spcAft>
              <a:buNone/>
            </a:pPr>
            <a:r>
              <a:rPr lang="en-US" altLang="ko-KR" sz="1100" dirty="0">
                <a:solidFill>
                  <a:schemeClr val="tx1"/>
                </a:solidFill>
                <a:latin typeface="+mj-ea"/>
                <a:ea typeface="+mj-ea"/>
              </a:rPr>
              <a:t>2023</a:t>
            </a:r>
            <a:r>
              <a:rPr lang="ko-KR" altLang="en-US" sz="1100" dirty="0">
                <a:solidFill>
                  <a:schemeClr val="tx1"/>
                </a:solidFill>
                <a:latin typeface="+mj-ea"/>
                <a:ea typeface="+mj-ea"/>
              </a:rPr>
              <a:t>년 </a:t>
            </a:r>
            <a:r>
              <a:rPr lang="en-US" altLang="ko-KR" sz="1100" dirty="0">
                <a:solidFill>
                  <a:schemeClr val="tx1"/>
                </a:solidFill>
                <a:latin typeface="+mj-ea"/>
                <a:ea typeface="+mj-ea"/>
              </a:rPr>
              <a:t>11</a:t>
            </a:r>
            <a:r>
              <a:rPr lang="ko-KR" altLang="en-US" sz="1100" dirty="0">
                <a:solidFill>
                  <a:schemeClr val="tx1"/>
                </a:solidFill>
                <a:latin typeface="+mj-ea"/>
                <a:ea typeface="+mj-ea"/>
              </a:rPr>
              <a:t>월 </a:t>
            </a:r>
            <a:r>
              <a:rPr lang="en-US" altLang="ko-KR" sz="1100" dirty="0">
                <a:solidFill>
                  <a:schemeClr val="tx1"/>
                </a:solidFill>
                <a:latin typeface="+mj-ea"/>
                <a:ea typeface="+mj-ea"/>
              </a:rPr>
              <a:t>29</a:t>
            </a:r>
            <a:r>
              <a:rPr lang="ko-KR" altLang="en-US" sz="1100" dirty="0">
                <a:solidFill>
                  <a:schemeClr val="tx1"/>
                </a:solidFill>
                <a:latin typeface="+mj-ea"/>
                <a:ea typeface="+mj-ea"/>
              </a:rPr>
              <a:t>일 고시 기준</a:t>
            </a:r>
            <a:endParaRPr lang="en-US" altLang="ko-KR" sz="1100" dirty="0">
              <a:solidFill>
                <a:schemeClr val="tx1"/>
              </a:solidFill>
              <a:latin typeface="+mj-ea"/>
              <a:ea typeface="+mj-ea"/>
            </a:endParaRPr>
          </a:p>
          <a:p>
            <a:pPr>
              <a:spcAft>
                <a:spcPts val="300"/>
              </a:spcAft>
              <a:buNone/>
            </a:pPr>
            <a:r>
              <a:rPr lang="en-US" altLang="ko-KR" sz="1050" dirty="0">
                <a:solidFill>
                  <a:schemeClr val="tx1"/>
                </a:solidFill>
                <a:latin typeface="+mj-ea"/>
                <a:ea typeface="+mj-ea"/>
              </a:rPr>
              <a:t>10</a:t>
            </a:r>
            <a:r>
              <a:rPr lang="ko-KR" altLang="en-US" sz="1050" dirty="0">
                <a:solidFill>
                  <a:schemeClr val="tx1"/>
                </a:solidFill>
                <a:latin typeface="+mj-ea"/>
                <a:ea typeface="+mj-ea"/>
              </a:rPr>
              <a:t>대 대분류 기준 능력단위 </a:t>
            </a:r>
            <a:r>
              <a:rPr lang="en-US" altLang="ko-KR" sz="1050" dirty="0">
                <a:solidFill>
                  <a:schemeClr val="tx1"/>
                </a:solidFill>
                <a:latin typeface="+mj-ea"/>
                <a:ea typeface="+mj-ea"/>
              </a:rPr>
              <a:t>9,415</a:t>
            </a:r>
            <a:r>
              <a:rPr lang="ko-KR" altLang="en-US" sz="1050" dirty="0">
                <a:solidFill>
                  <a:schemeClr val="tx1"/>
                </a:solidFill>
                <a:latin typeface="+mj-ea"/>
                <a:ea typeface="+mj-ea"/>
              </a:rPr>
              <a:t>개</a:t>
            </a:r>
            <a:r>
              <a:rPr lang="en-US" altLang="ko-KR" sz="1050" dirty="0">
                <a:solidFill>
                  <a:schemeClr val="tx1"/>
                </a:solidFill>
                <a:latin typeface="+mj-ea"/>
                <a:ea typeface="+mj-ea"/>
              </a:rPr>
              <a:t>(</a:t>
            </a:r>
            <a:r>
              <a:rPr lang="ko-KR" altLang="en-US" sz="1050" dirty="0">
                <a:solidFill>
                  <a:schemeClr val="tx1"/>
                </a:solidFill>
                <a:latin typeface="+mj-ea"/>
                <a:ea typeface="+mj-ea"/>
              </a:rPr>
              <a:t>능력단위 요소 </a:t>
            </a:r>
            <a:r>
              <a:rPr lang="en-US" altLang="ko-KR" sz="1050" dirty="0">
                <a:solidFill>
                  <a:schemeClr val="tx1"/>
                </a:solidFill>
                <a:latin typeface="+mj-ea"/>
                <a:ea typeface="+mj-ea"/>
              </a:rPr>
              <a:t>33,341</a:t>
            </a:r>
            <a:r>
              <a:rPr lang="ko-KR" altLang="en-US" sz="1050" dirty="0">
                <a:solidFill>
                  <a:schemeClr val="tx1"/>
                </a:solidFill>
                <a:latin typeface="+mj-ea"/>
                <a:ea typeface="+mj-ea"/>
              </a:rPr>
              <a:t>개</a:t>
            </a:r>
            <a:r>
              <a:rPr lang="en-US" altLang="ko-KR" sz="1050" dirty="0">
                <a:solidFill>
                  <a:schemeClr val="tx1"/>
                </a:solidFill>
                <a:latin typeface="+mj-ea"/>
                <a:ea typeface="+mj-ea"/>
              </a:rPr>
              <a:t>)</a:t>
            </a:r>
            <a:endParaRPr lang="en-US" altLang="ko-KR" sz="1100" dirty="0">
              <a:solidFill>
                <a:schemeClr val="tx1"/>
              </a:solidFill>
              <a:latin typeface="+mj-ea"/>
              <a:ea typeface="+mj-ea"/>
            </a:endParaRPr>
          </a:p>
        </p:txBody>
      </p:sp>
      <p:sp>
        <p:nvSpPr>
          <p:cNvPr id="15" name="직사각형 14">
            <a:extLst>
              <a:ext uri="{FF2B5EF4-FFF2-40B4-BE49-F238E27FC236}">
                <a16:creationId xmlns:a16="http://schemas.microsoft.com/office/drawing/2014/main" id="{673FFBB3-48DB-7D52-E500-9DD568A90562}"/>
              </a:ext>
            </a:extLst>
          </p:cNvPr>
          <p:cNvSpPr/>
          <p:nvPr/>
        </p:nvSpPr>
        <p:spPr>
          <a:xfrm>
            <a:off x="5635481" y="2492375"/>
            <a:ext cx="3710132" cy="448978"/>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spcAft>
                <a:spcPts val="300"/>
              </a:spcAft>
              <a:buNone/>
            </a:pPr>
            <a:r>
              <a:rPr lang="en-US" altLang="ko-KR" sz="1100" dirty="0">
                <a:solidFill>
                  <a:schemeClr val="tx1"/>
                </a:solidFill>
                <a:latin typeface="+mj-ea"/>
                <a:ea typeface="+mj-ea"/>
              </a:rPr>
              <a:t>2024</a:t>
            </a:r>
            <a:r>
              <a:rPr lang="ko-KR" altLang="en-US" sz="1100" dirty="0">
                <a:solidFill>
                  <a:schemeClr val="tx1"/>
                </a:solidFill>
                <a:latin typeface="+mj-ea"/>
                <a:ea typeface="+mj-ea"/>
              </a:rPr>
              <a:t>년 </a:t>
            </a:r>
            <a:r>
              <a:rPr lang="en-US" altLang="ko-KR" sz="1100" dirty="0">
                <a:solidFill>
                  <a:schemeClr val="tx1"/>
                </a:solidFill>
                <a:latin typeface="+mj-ea"/>
                <a:ea typeface="+mj-ea"/>
              </a:rPr>
              <a:t>12</a:t>
            </a:r>
            <a:r>
              <a:rPr lang="ko-KR" altLang="en-US" sz="1100" dirty="0">
                <a:solidFill>
                  <a:schemeClr val="tx1"/>
                </a:solidFill>
                <a:latin typeface="+mj-ea"/>
                <a:ea typeface="+mj-ea"/>
              </a:rPr>
              <a:t>월 </a:t>
            </a:r>
            <a:r>
              <a:rPr lang="en-US" altLang="ko-KR" sz="1100" dirty="0">
                <a:solidFill>
                  <a:schemeClr val="tx1"/>
                </a:solidFill>
                <a:latin typeface="+mj-ea"/>
                <a:ea typeface="+mj-ea"/>
              </a:rPr>
              <a:t>04</a:t>
            </a:r>
            <a:r>
              <a:rPr lang="ko-KR" altLang="en-US" sz="1100" dirty="0">
                <a:solidFill>
                  <a:schemeClr val="tx1"/>
                </a:solidFill>
                <a:latin typeface="+mj-ea"/>
                <a:ea typeface="+mj-ea"/>
              </a:rPr>
              <a:t>일 고시 기준</a:t>
            </a:r>
            <a:endParaRPr lang="en-US" altLang="ko-KR" sz="1100" dirty="0">
              <a:solidFill>
                <a:schemeClr val="tx1"/>
              </a:solidFill>
              <a:latin typeface="+mj-ea"/>
              <a:ea typeface="+mj-ea"/>
            </a:endParaRPr>
          </a:p>
          <a:p>
            <a:pPr>
              <a:spcAft>
                <a:spcPts val="300"/>
              </a:spcAft>
              <a:buNone/>
            </a:pPr>
            <a:r>
              <a:rPr lang="en-US" altLang="ko-KR" sz="1050" dirty="0">
                <a:solidFill>
                  <a:schemeClr val="tx1"/>
                </a:solidFill>
                <a:latin typeface="+mj-ea"/>
                <a:ea typeface="+mj-ea"/>
              </a:rPr>
              <a:t>10</a:t>
            </a:r>
            <a:r>
              <a:rPr lang="ko-KR" altLang="en-US" sz="1050" dirty="0">
                <a:solidFill>
                  <a:schemeClr val="tx1"/>
                </a:solidFill>
                <a:latin typeface="+mj-ea"/>
                <a:ea typeface="+mj-ea"/>
              </a:rPr>
              <a:t>대 대분류 기준 능력단위 </a:t>
            </a:r>
            <a:r>
              <a:rPr lang="en-US" altLang="ko-KR" sz="1050" dirty="0">
                <a:solidFill>
                  <a:schemeClr val="tx1"/>
                </a:solidFill>
                <a:latin typeface="+mj-ea"/>
                <a:ea typeface="+mj-ea"/>
              </a:rPr>
              <a:t>9,497</a:t>
            </a:r>
            <a:r>
              <a:rPr lang="ko-KR" altLang="en-US" sz="1050" dirty="0">
                <a:solidFill>
                  <a:schemeClr val="tx1"/>
                </a:solidFill>
                <a:latin typeface="+mj-ea"/>
                <a:ea typeface="+mj-ea"/>
              </a:rPr>
              <a:t>개</a:t>
            </a:r>
            <a:r>
              <a:rPr lang="en-US" altLang="ko-KR" sz="1050" dirty="0">
                <a:solidFill>
                  <a:schemeClr val="tx1"/>
                </a:solidFill>
                <a:latin typeface="+mj-ea"/>
                <a:ea typeface="+mj-ea"/>
              </a:rPr>
              <a:t>(</a:t>
            </a:r>
            <a:r>
              <a:rPr lang="ko-KR" altLang="en-US" sz="1050" dirty="0">
                <a:solidFill>
                  <a:schemeClr val="tx1"/>
                </a:solidFill>
                <a:latin typeface="+mj-ea"/>
                <a:ea typeface="+mj-ea"/>
              </a:rPr>
              <a:t>능력단위 요소 </a:t>
            </a:r>
            <a:r>
              <a:rPr lang="en-US" altLang="ko-KR" sz="1050" dirty="0">
                <a:solidFill>
                  <a:schemeClr val="tx1"/>
                </a:solidFill>
                <a:latin typeface="+mj-ea"/>
                <a:ea typeface="+mj-ea"/>
              </a:rPr>
              <a:t>33,579</a:t>
            </a:r>
            <a:r>
              <a:rPr lang="ko-KR" altLang="en-US" sz="1050" dirty="0">
                <a:solidFill>
                  <a:schemeClr val="tx1"/>
                </a:solidFill>
                <a:latin typeface="+mj-ea"/>
                <a:ea typeface="+mj-ea"/>
              </a:rPr>
              <a:t>개</a:t>
            </a:r>
            <a:r>
              <a:rPr lang="en-US" altLang="ko-KR" sz="1050" dirty="0">
                <a:solidFill>
                  <a:schemeClr val="tx1"/>
                </a:solidFill>
                <a:latin typeface="+mj-ea"/>
                <a:ea typeface="+mj-ea"/>
              </a:rPr>
              <a:t>)</a:t>
            </a:r>
            <a:r>
              <a:rPr lang="ko-KR" altLang="en-US" sz="1050" dirty="0">
                <a:solidFill>
                  <a:schemeClr val="tx1"/>
                </a:solidFill>
                <a:latin typeface="+mj-ea"/>
                <a:ea typeface="+mj-ea"/>
              </a:rPr>
              <a:t> </a:t>
            </a:r>
            <a:endParaRPr lang="en-US" altLang="ko-KR" sz="1100" dirty="0">
              <a:solidFill>
                <a:schemeClr val="tx1"/>
              </a:solidFill>
              <a:latin typeface="+mj-ea"/>
              <a:ea typeface="+mj-ea"/>
            </a:endParaRPr>
          </a:p>
        </p:txBody>
      </p:sp>
      <p:sp>
        <p:nvSpPr>
          <p:cNvPr id="16" name="직사각형 15">
            <a:extLst>
              <a:ext uri="{FF2B5EF4-FFF2-40B4-BE49-F238E27FC236}">
                <a16:creationId xmlns:a16="http://schemas.microsoft.com/office/drawing/2014/main" id="{98D8819B-90F8-2F6C-0DF7-E654B0DC0490}"/>
              </a:ext>
            </a:extLst>
          </p:cNvPr>
          <p:cNvSpPr/>
          <p:nvPr/>
        </p:nvSpPr>
        <p:spPr>
          <a:xfrm>
            <a:off x="596515" y="3582359"/>
            <a:ext cx="972384" cy="2312853"/>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buNone/>
            </a:pPr>
            <a:r>
              <a:rPr lang="ko-KR" altLang="en-US" dirty="0">
                <a:solidFill>
                  <a:schemeClr val="bg1"/>
                </a:solidFill>
                <a:latin typeface="+mj-ea"/>
                <a:ea typeface="+mj-ea"/>
              </a:rPr>
              <a:t>수정사항</a:t>
            </a:r>
            <a:endParaRPr lang="en-US" altLang="ko-KR" dirty="0">
              <a:solidFill>
                <a:schemeClr val="bg1"/>
              </a:solidFill>
              <a:latin typeface="+mj-ea"/>
              <a:ea typeface="+mj-ea"/>
            </a:endParaRPr>
          </a:p>
        </p:txBody>
      </p:sp>
      <p:sp>
        <p:nvSpPr>
          <p:cNvPr id="17" name="직사각형 16">
            <a:extLst>
              <a:ext uri="{FF2B5EF4-FFF2-40B4-BE49-F238E27FC236}">
                <a16:creationId xmlns:a16="http://schemas.microsoft.com/office/drawing/2014/main" id="{C3E45345-9509-B3B9-1DA6-4B6EA0C6D768}"/>
              </a:ext>
            </a:extLst>
          </p:cNvPr>
          <p:cNvSpPr/>
          <p:nvPr/>
        </p:nvSpPr>
        <p:spPr>
          <a:xfrm>
            <a:off x="1712640" y="3582359"/>
            <a:ext cx="7632972" cy="2312853"/>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171450" indent="-79375" algn="l">
              <a:spcBef>
                <a:spcPts val="300"/>
              </a:spcBef>
              <a:spcAft>
                <a:spcPts val="600"/>
              </a:spcAft>
              <a:buFont typeface="Arial" panose="020B0604020202020204" pitchFamily="34" charset="0"/>
              <a:buChar char="•"/>
            </a:pPr>
            <a:r>
              <a:rPr lang="ko-KR" altLang="en-US" sz="1100" dirty="0">
                <a:solidFill>
                  <a:schemeClr val="tx1"/>
                </a:solidFill>
                <a:latin typeface="+mj-ea"/>
                <a:ea typeface="+mj-ea"/>
              </a:rPr>
              <a:t>콘텐츠 제작 시 사용된 능력단위가 현행 </a:t>
            </a:r>
            <a:r>
              <a:rPr lang="en-US" altLang="ko-KR" sz="1100" dirty="0">
                <a:solidFill>
                  <a:schemeClr val="tx1"/>
                </a:solidFill>
                <a:latin typeface="+mj-ea"/>
                <a:ea typeface="+mj-ea"/>
              </a:rPr>
              <a:t>NCS </a:t>
            </a:r>
            <a:r>
              <a:rPr lang="ko-KR" altLang="en-US" sz="1100" dirty="0">
                <a:solidFill>
                  <a:schemeClr val="tx1"/>
                </a:solidFill>
                <a:latin typeface="+mj-ea"/>
                <a:ea typeface="+mj-ea"/>
              </a:rPr>
              <a:t>체계</a:t>
            </a:r>
            <a:r>
              <a:rPr lang="en-US" altLang="ko-KR" sz="1100" dirty="0">
                <a:solidFill>
                  <a:schemeClr val="tx1"/>
                </a:solidFill>
                <a:latin typeface="+mj-ea"/>
                <a:ea typeface="+mj-ea"/>
              </a:rPr>
              <a:t>(</a:t>
            </a:r>
            <a:r>
              <a:rPr lang="ko-KR" altLang="en-US" sz="1100" dirty="0">
                <a:solidFill>
                  <a:schemeClr val="tx1"/>
                </a:solidFill>
                <a:latin typeface="+mj-ea"/>
                <a:ea typeface="+mj-ea"/>
              </a:rPr>
              <a:t>소분류</a:t>
            </a:r>
            <a:r>
              <a:rPr lang="en-US" altLang="ko-KR" sz="1100" dirty="0">
                <a:solidFill>
                  <a:schemeClr val="tx1"/>
                </a:solidFill>
                <a:latin typeface="+mj-ea"/>
                <a:ea typeface="+mj-ea"/>
              </a:rPr>
              <a:t>/</a:t>
            </a:r>
            <a:r>
              <a:rPr lang="ko-KR" altLang="en-US" sz="1100" dirty="0" err="1">
                <a:solidFill>
                  <a:schemeClr val="tx1"/>
                </a:solidFill>
                <a:latin typeface="+mj-ea"/>
                <a:ea typeface="+mj-ea"/>
              </a:rPr>
              <a:t>세분류</a:t>
            </a:r>
            <a:r>
              <a:rPr lang="ko-KR" altLang="en-US" sz="1100" dirty="0">
                <a:solidFill>
                  <a:schemeClr val="tx1"/>
                </a:solidFill>
                <a:latin typeface="+mj-ea"/>
                <a:ea typeface="+mj-ea"/>
              </a:rPr>
              <a:t> 등</a:t>
            </a:r>
            <a:r>
              <a:rPr lang="en-US" altLang="ko-KR" sz="1100" dirty="0">
                <a:solidFill>
                  <a:schemeClr val="tx1"/>
                </a:solidFill>
                <a:latin typeface="+mj-ea"/>
                <a:ea typeface="+mj-ea"/>
              </a:rPr>
              <a:t>)</a:t>
            </a:r>
            <a:r>
              <a:rPr lang="ko-KR" altLang="en-US" sz="1100" dirty="0">
                <a:solidFill>
                  <a:schemeClr val="tx1"/>
                </a:solidFill>
                <a:latin typeface="+mj-ea"/>
                <a:ea typeface="+mj-ea"/>
              </a:rPr>
              <a:t>와 불일치하거나 표기 오류가 있는 경우</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ko-KR" altLang="en-US" sz="1100" dirty="0">
                <a:solidFill>
                  <a:schemeClr val="tx1"/>
                </a:solidFill>
                <a:latin typeface="+mj-ea"/>
                <a:ea typeface="+mj-ea"/>
              </a:rPr>
              <a:t>능력단위 수준 또는 과정 수준이 잘못 기재된 경우</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ko-KR" altLang="en-US" sz="1100" dirty="0">
                <a:solidFill>
                  <a:schemeClr val="tx1"/>
                </a:solidFill>
                <a:latin typeface="+mj-ea"/>
                <a:ea typeface="+mj-ea"/>
              </a:rPr>
              <a:t>과정개요서 또는 강의계획서에 명시된 능력단위와 실제 콘텐츠 내 적용 능력단위가 상이한 경우</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ko-KR" altLang="en-US" sz="1100" dirty="0">
                <a:solidFill>
                  <a:schemeClr val="tx1"/>
                </a:solidFill>
                <a:latin typeface="+mj-ea"/>
                <a:ea typeface="+mj-ea"/>
              </a:rPr>
              <a:t>불용 처리되었거나 재개발 이전의 콘텐츠는 본 </a:t>
            </a:r>
            <a:r>
              <a:rPr lang="en-US" altLang="ko-KR" sz="1100" dirty="0">
                <a:solidFill>
                  <a:schemeClr val="tx1"/>
                </a:solidFill>
                <a:latin typeface="+mj-ea"/>
                <a:ea typeface="+mj-ea"/>
              </a:rPr>
              <a:t>DB</a:t>
            </a:r>
            <a:r>
              <a:rPr lang="ko-KR" altLang="en-US" sz="1100" dirty="0">
                <a:solidFill>
                  <a:schemeClr val="tx1"/>
                </a:solidFill>
                <a:latin typeface="+mj-ea"/>
                <a:ea typeface="+mj-ea"/>
              </a:rPr>
              <a:t>에서 제외하고</a:t>
            </a:r>
            <a:r>
              <a:rPr lang="en-US" altLang="ko-KR" sz="1100" dirty="0">
                <a:solidFill>
                  <a:schemeClr val="tx1"/>
                </a:solidFill>
                <a:latin typeface="+mj-ea"/>
                <a:ea typeface="+mj-ea"/>
              </a:rPr>
              <a:t>, </a:t>
            </a:r>
            <a:r>
              <a:rPr lang="ko-KR" altLang="en-US" sz="1100" dirty="0">
                <a:solidFill>
                  <a:schemeClr val="tx1"/>
                </a:solidFill>
                <a:latin typeface="+mj-ea"/>
                <a:ea typeface="+mj-ea"/>
              </a:rPr>
              <a:t>별도 관리 목적에 따라 분리</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en-US" altLang="ko-KR" sz="1100" dirty="0">
                <a:solidFill>
                  <a:schemeClr val="tx1"/>
                </a:solidFill>
                <a:latin typeface="+mj-ea"/>
                <a:ea typeface="+mj-ea"/>
              </a:rPr>
              <a:t>2024</a:t>
            </a:r>
            <a:r>
              <a:rPr lang="ko-KR" altLang="en-US" sz="1100" dirty="0">
                <a:solidFill>
                  <a:schemeClr val="tx1"/>
                </a:solidFill>
                <a:latin typeface="+mj-ea"/>
                <a:ea typeface="+mj-ea"/>
              </a:rPr>
              <a:t>년 개발된 기업</a:t>
            </a:r>
            <a:r>
              <a:rPr lang="en-US" altLang="ko-KR" sz="1100" dirty="0">
                <a:solidFill>
                  <a:schemeClr val="tx1"/>
                </a:solidFill>
                <a:latin typeface="+mj-ea"/>
                <a:ea typeface="+mj-ea"/>
              </a:rPr>
              <a:t>·</a:t>
            </a:r>
            <a:r>
              <a:rPr lang="ko-KR" altLang="en-US" sz="1100" dirty="0">
                <a:solidFill>
                  <a:schemeClr val="tx1"/>
                </a:solidFill>
                <a:latin typeface="+mj-ea"/>
                <a:ea typeface="+mj-ea"/>
              </a:rPr>
              <a:t>기관 협약 교육과정의 </a:t>
            </a:r>
            <a:r>
              <a:rPr lang="en-US" altLang="ko-KR" sz="1100" dirty="0">
                <a:solidFill>
                  <a:schemeClr val="tx1"/>
                </a:solidFill>
                <a:latin typeface="+mj-ea"/>
                <a:ea typeface="+mj-ea"/>
              </a:rPr>
              <a:t>NCS </a:t>
            </a:r>
            <a:r>
              <a:rPr lang="ko-KR" altLang="en-US" sz="1100" dirty="0">
                <a:solidFill>
                  <a:schemeClr val="tx1"/>
                </a:solidFill>
                <a:latin typeface="+mj-ea"/>
                <a:ea typeface="+mj-ea"/>
              </a:rPr>
              <a:t>매핑</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en-US" altLang="ko-KR" sz="1100" dirty="0">
                <a:solidFill>
                  <a:schemeClr val="tx1"/>
                </a:solidFill>
                <a:latin typeface="+mj-ea"/>
                <a:ea typeface="+mj-ea"/>
              </a:rPr>
              <a:t>4</a:t>
            </a:r>
            <a:r>
              <a:rPr lang="ko-KR" altLang="en-US" sz="1100" dirty="0">
                <a:solidFill>
                  <a:schemeClr val="tx1"/>
                </a:solidFill>
                <a:latin typeface="+mj-ea"/>
                <a:ea typeface="+mj-ea"/>
              </a:rPr>
              <a:t>대 분야</a:t>
            </a:r>
            <a:r>
              <a:rPr lang="en-US" altLang="ko-KR" sz="1100" dirty="0">
                <a:solidFill>
                  <a:schemeClr val="tx1"/>
                </a:solidFill>
                <a:latin typeface="+mj-ea"/>
                <a:ea typeface="+mj-ea"/>
              </a:rPr>
              <a:t>(</a:t>
            </a:r>
            <a:r>
              <a:rPr lang="ko-KR" altLang="en-US" sz="1100" dirty="0" err="1">
                <a:solidFill>
                  <a:schemeClr val="tx1"/>
                </a:solidFill>
                <a:latin typeface="+mj-ea"/>
                <a:ea typeface="+mj-ea"/>
              </a:rPr>
              <a:t>취업준비생특화</a:t>
            </a:r>
            <a:r>
              <a:rPr lang="en-US" altLang="ko-KR" sz="1100" dirty="0">
                <a:solidFill>
                  <a:schemeClr val="tx1"/>
                </a:solidFill>
                <a:latin typeface="+mj-ea"/>
                <a:ea typeface="+mj-ea"/>
              </a:rPr>
              <a:t>, </a:t>
            </a:r>
            <a:r>
              <a:rPr lang="ko-KR" altLang="en-US" sz="1100" dirty="0">
                <a:solidFill>
                  <a:schemeClr val="tx1"/>
                </a:solidFill>
                <a:latin typeface="+mj-ea"/>
                <a:ea typeface="+mj-ea"/>
              </a:rPr>
              <a:t>법정의무교육</a:t>
            </a:r>
            <a:r>
              <a:rPr lang="en-US" altLang="ko-KR" sz="1100" dirty="0">
                <a:solidFill>
                  <a:schemeClr val="tx1"/>
                </a:solidFill>
                <a:latin typeface="+mj-ea"/>
                <a:ea typeface="+mj-ea"/>
              </a:rPr>
              <a:t>, </a:t>
            </a:r>
            <a:r>
              <a:rPr lang="ko-KR" altLang="en-US" sz="1100" dirty="0">
                <a:solidFill>
                  <a:schemeClr val="tx1"/>
                </a:solidFill>
                <a:latin typeface="+mj-ea"/>
                <a:ea typeface="+mj-ea"/>
              </a:rPr>
              <a:t>플랫폼종사자</a:t>
            </a:r>
            <a:r>
              <a:rPr lang="en-US" altLang="ko-KR" sz="1100" dirty="0">
                <a:solidFill>
                  <a:schemeClr val="tx1"/>
                </a:solidFill>
                <a:latin typeface="+mj-ea"/>
                <a:ea typeface="+mj-ea"/>
              </a:rPr>
              <a:t>, </a:t>
            </a:r>
            <a:r>
              <a:rPr lang="ko-KR" altLang="en-US" sz="1100" dirty="0">
                <a:solidFill>
                  <a:schemeClr val="tx1"/>
                </a:solidFill>
                <a:latin typeface="+mj-ea"/>
                <a:ea typeface="+mj-ea"/>
              </a:rPr>
              <a:t>청렴교육</a:t>
            </a:r>
            <a:r>
              <a:rPr lang="en-US" altLang="ko-KR" sz="1100" dirty="0">
                <a:solidFill>
                  <a:schemeClr val="tx1"/>
                </a:solidFill>
                <a:latin typeface="+mj-ea"/>
                <a:ea typeface="+mj-ea"/>
              </a:rPr>
              <a:t>)</a:t>
            </a:r>
            <a:r>
              <a:rPr lang="ko-KR" altLang="en-US" sz="1100" dirty="0">
                <a:solidFill>
                  <a:schemeClr val="tx1"/>
                </a:solidFill>
                <a:latin typeface="+mj-ea"/>
                <a:ea typeface="+mj-ea"/>
              </a:rPr>
              <a:t> 교육과정의 </a:t>
            </a:r>
            <a:r>
              <a:rPr lang="en-US" altLang="ko-KR" sz="1100" dirty="0">
                <a:solidFill>
                  <a:schemeClr val="tx1"/>
                </a:solidFill>
                <a:latin typeface="+mj-ea"/>
                <a:ea typeface="+mj-ea"/>
              </a:rPr>
              <a:t>NCS </a:t>
            </a:r>
            <a:r>
              <a:rPr lang="ko-KR" altLang="en-US" sz="1100" dirty="0">
                <a:solidFill>
                  <a:schemeClr val="tx1"/>
                </a:solidFill>
                <a:latin typeface="+mj-ea"/>
                <a:ea typeface="+mj-ea"/>
              </a:rPr>
              <a:t>매핑</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en-US" altLang="ko-KR" sz="1100" dirty="0">
                <a:solidFill>
                  <a:schemeClr val="tx1"/>
                </a:solidFill>
                <a:latin typeface="+mj-ea"/>
                <a:ea typeface="+mj-ea"/>
              </a:rPr>
              <a:t>2024</a:t>
            </a:r>
            <a:r>
              <a:rPr lang="ko-KR" altLang="en-US" sz="1100" dirty="0">
                <a:solidFill>
                  <a:schemeClr val="tx1"/>
                </a:solidFill>
                <a:latin typeface="+mj-ea"/>
                <a:ea typeface="+mj-ea"/>
              </a:rPr>
              <a:t>년 </a:t>
            </a:r>
            <a:r>
              <a:rPr lang="en-US" altLang="ko-KR" sz="1100" dirty="0">
                <a:solidFill>
                  <a:schemeClr val="tx1"/>
                </a:solidFill>
                <a:latin typeface="+mj-ea"/>
                <a:ea typeface="+mj-ea"/>
              </a:rPr>
              <a:t>12</a:t>
            </a:r>
            <a:r>
              <a:rPr lang="ko-KR" altLang="en-US" sz="1100" dirty="0">
                <a:solidFill>
                  <a:schemeClr val="tx1"/>
                </a:solidFill>
                <a:latin typeface="+mj-ea"/>
                <a:ea typeface="+mj-ea"/>
              </a:rPr>
              <a:t>월 </a:t>
            </a:r>
            <a:r>
              <a:rPr lang="en-US" altLang="ko-KR" sz="1100" dirty="0">
                <a:solidFill>
                  <a:schemeClr val="tx1"/>
                </a:solidFill>
                <a:latin typeface="+mj-ea"/>
                <a:ea typeface="+mj-ea"/>
              </a:rPr>
              <a:t>4</a:t>
            </a:r>
            <a:r>
              <a:rPr lang="ko-KR" altLang="en-US" sz="1100" dirty="0">
                <a:solidFill>
                  <a:schemeClr val="tx1"/>
                </a:solidFill>
                <a:latin typeface="+mj-ea"/>
                <a:ea typeface="+mj-ea"/>
              </a:rPr>
              <a:t>일 고시된 </a:t>
            </a:r>
            <a:r>
              <a:rPr lang="en-US" altLang="ko-KR" sz="1100" dirty="0">
                <a:solidFill>
                  <a:schemeClr val="tx1"/>
                </a:solidFill>
                <a:latin typeface="+mj-ea"/>
                <a:ea typeface="+mj-ea"/>
              </a:rPr>
              <a:t>NCS </a:t>
            </a:r>
            <a:r>
              <a:rPr lang="ko-KR" altLang="en-US" sz="1100" dirty="0">
                <a:solidFill>
                  <a:schemeClr val="tx1"/>
                </a:solidFill>
                <a:latin typeface="+mj-ea"/>
                <a:ea typeface="+mj-ea"/>
              </a:rPr>
              <a:t>최신화 </a:t>
            </a:r>
            <a:r>
              <a:rPr lang="en-US" altLang="ko-KR" sz="1100" dirty="0">
                <a:solidFill>
                  <a:schemeClr val="tx1"/>
                </a:solidFill>
                <a:latin typeface="+mj-ea"/>
                <a:ea typeface="+mj-ea"/>
              </a:rPr>
              <a:t>(</a:t>
            </a:r>
            <a:r>
              <a:rPr lang="ko-KR" altLang="en-US" sz="1100" dirty="0">
                <a:solidFill>
                  <a:schemeClr val="tx1"/>
                </a:solidFill>
                <a:latin typeface="+mj-ea"/>
                <a:ea typeface="+mj-ea"/>
              </a:rPr>
              <a:t>능력단위 삭제</a:t>
            </a:r>
            <a:r>
              <a:rPr lang="en-US" altLang="ko-KR" sz="1100" dirty="0">
                <a:solidFill>
                  <a:schemeClr val="tx1"/>
                </a:solidFill>
                <a:latin typeface="+mj-ea"/>
                <a:ea typeface="+mj-ea"/>
              </a:rPr>
              <a:t>, </a:t>
            </a:r>
            <a:r>
              <a:rPr lang="ko-KR" altLang="en-US" sz="1100" dirty="0">
                <a:solidFill>
                  <a:schemeClr val="tx1"/>
                </a:solidFill>
                <a:latin typeface="+mj-ea"/>
                <a:ea typeface="+mj-ea"/>
              </a:rPr>
              <a:t>수준 변경</a:t>
            </a:r>
            <a:r>
              <a:rPr lang="en-US" altLang="ko-KR" sz="1100" dirty="0">
                <a:solidFill>
                  <a:schemeClr val="tx1"/>
                </a:solidFill>
                <a:latin typeface="+mj-ea"/>
                <a:ea typeface="+mj-ea"/>
              </a:rPr>
              <a:t>, </a:t>
            </a:r>
            <a:r>
              <a:rPr lang="ko-KR" altLang="en-US" sz="1100" dirty="0">
                <a:solidFill>
                  <a:schemeClr val="tx1"/>
                </a:solidFill>
                <a:latin typeface="+mj-ea"/>
                <a:ea typeface="+mj-ea"/>
              </a:rPr>
              <a:t>버전 변경</a:t>
            </a:r>
            <a:r>
              <a:rPr lang="en-US" altLang="ko-KR" sz="1100" dirty="0">
                <a:solidFill>
                  <a:schemeClr val="tx1"/>
                </a:solidFill>
                <a:latin typeface="+mj-ea"/>
                <a:ea typeface="+mj-ea"/>
              </a:rPr>
              <a:t> </a:t>
            </a:r>
            <a:r>
              <a:rPr lang="ko-KR" altLang="en-US" sz="1100" dirty="0">
                <a:solidFill>
                  <a:schemeClr val="tx1"/>
                </a:solidFill>
                <a:latin typeface="+mj-ea"/>
                <a:ea typeface="+mj-ea"/>
              </a:rPr>
              <a:t>등</a:t>
            </a:r>
            <a:r>
              <a:rPr lang="en-US" altLang="ko-KR" sz="1100" dirty="0">
                <a:solidFill>
                  <a:schemeClr val="tx1"/>
                </a:solidFill>
                <a:latin typeface="+mj-ea"/>
                <a:ea typeface="+mj-ea"/>
              </a:rPr>
              <a:t>)</a:t>
            </a:r>
            <a:r>
              <a:rPr lang="ko-KR" altLang="en-US" sz="1100" dirty="0">
                <a:solidFill>
                  <a:schemeClr val="tx1"/>
                </a:solidFill>
                <a:latin typeface="+mj-ea"/>
                <a:ea typeface="+mj-ea"/>
              </a:rPr>
              <a:t>에 따른 체계 변경 반영</a:t>
            </a:r>
            <a:endParaRPr lang="en-US" altLang="ko-KR" sz="1100" dirty="0">
              <a:solidFill>
                <a:schemeClr val="tx1"/>
              </a:solidFill>
              <a:latin typeface="+mj-ea"/>
              <a:ea typeface="+mj-ea"/>
            </a:endParaRPr>
          </a:p>
          <a:p>
            <a:pPr marL="171450" indent="-79375" algn="l">
              <a:spcBef>
                <a:spcPts val="300"/>
              </a:spcBef>
              <a:spcAft>
                <a:spcPts val="600"/>
              </a:spcAft>
              <a:buFont typeface="Arial" panose="020B0604020202020204" pitchFamily="34" charset="0"/>
              <a:buChar char="•"/>
            </a:pPr>
            <a:r>
              <a:rPr lang="ko-KR" altLang="en-US" sz="1100" dirty="0">
                <a:solidFill>
                  <a:schemeClr val="tx1"/>
                </a:solidFill>
                <a:latin typeface="+mj-ea"/>
                <a:ea typeface="+mj-ea"/>
              </a:rPr>
              <a:t>교육과정 콘텐츠의 </a:t>
            </a:r>
            <a:r>
              <a:rPr lang="en-US" altLang="ko-KR" sz="1100" dirty="0">
                <a:solidFill>
                  <a:schemeClr val="tx1"/>
                </a:solidFill>
                <a:latin typeface="+mj-ea"/>
                <a:ea typeface="+mj-ea"/>
              </a:rPr>
              <a:t>NCS </a:t>
            </a:r>
            <a:r>
              <a:rPr lang="ko-KR" altLang="en-US" sz="1100" dirty="0">
                <a:solidFill>
                  <a:schemeClr val="tx1"/>
                </a:solidFill>
                <a:latin typeface="+mj-ea"/>
                <a:ea typeface="+mj-ea"/>
              </a:rPr>
              <a:t>매핑 체계를 학습자 공개용</a:t>
            </a:r>
            <a:r>
              <a:rPr lang="en-US" altLang="ko-KR" sz="1100" dirty="0">
                <a:solidFill>
                  <a:schemeClr val="tx1"/>
                </a:solidFill>
                <a:latin typeface="+mj-ea"/>
                <a:ea typeface="+mj-ea"/>
              </a:rPr>
              <a:t>(</a:t>
            </a:r>
            <a:r>
              <a:rPr lang="ko-KR" altLang="en-US" sz="1100" dirty="0">
                <a:solidFill>
                  <a:schemeClr val="tx1"/>
                </a:solidFill>
                <a:latin typeface="+mj-ea"/>
                <a:ea typeface="+mj-ea"/>
              </a:rPr>
              <a:t>개발 시점 기준</a:t>
            </a:r>
            <a:r>
              <a:rPr lang="en-US" altLang="ko-KR" sz="1100" dirty="0">
                <a:solidFill>
                  <a:schemeClr val="tx1"/>
                </a:solidFill>
                <a:latin typeface="+mj-ea"/>
                <a:ea typeface="+mj-ea"/>
              </a:rPr>
              <a:t>)</a:t>
            </a:r>
            <a:r>
              <a:rPr lang="ko-KR" altLang="en-US" sz="1100" dirty="0">
                <a:solidFill>
                  <a:schemeClr val="tx1"/>
                </a:solidFill>
                <a:latin typeface="+mj-ea"/>
                <a:ea typeface="+mj-ea"/>
              </a:rPr>
              <a:t>과 내부 관리용</a:t>
            </a:r>
            <a:r>
              <a:rPr lang="en-US" altLang="ko-KR" sz="1100" dirty="0">
                <a:solidFill>
                  <a:schemeClr val="tx1"/>
                </a:solidFill>
                <a:latin typeface="+mj-ea"/>
                <a:ea typeface="+mj-ea"/>
              </a:rPr>
              <a:t>(</a:t>
            </a:r>
            <a:r>
              <a:rPr lang="ko-KR" altLang="en-US" sz="1100" dirty="0">
                <a:solidFill>
                  <a:schemeClr val="tx1"/>
                </a:solidFill>
                <a:latin typeface="+mj-ea"/>
                <a:ea typeface="+mj-ea"/>
              </a:rPr>
              <a:t>최신 변경 이력 반영</a:t>
            </a:r>
            <a:r>
              <a:rPr lang="en-US" altLang="ko-KR" sz="1100" dirty="0">
                <a:solidFill>
                  <a:schemeClr val="tx1"/>
                </a:solidFill>
                <a:latin typeface="+mj-ea"/>
                <a:ea typeface="+mj-ea"/>
              </a:rPr>
              <a:t>)</a:t>
            </a:r>
            <a:r>
              <a:rPr lang="ko-KR" altLang="en-US" sz="1100" dirty="0">
                <a:solidFill>
                  <a:schemeClr val="tx1"/>
                </a:solidFill>
                <a:latin typeface="+mj-ea"/>
                <a:ea typeface="+mj-ea"/>
              </a:rPr>
              <a:t>으로 구분</a:t>
            </a:r>
            <a:endParaRPr lang="en-US" altLang="ko-KR" sz="1100" dirty="0">
              <a:solidFill>
                <a:schemeClr val="tx1"/>
              </a:solidFill>
              <a:latin typeface="+mj-ea"/>
              <a:ea typeface="+mj-ea"/>
            </a:endParaRPr>
          </a:p>
        </p:txBody>
      </p:sp>
      <p:sp>
        <p:nvSpPr>
          <p:cNvPr id="19" name="직사각형 18">
            <a:extLst>
              <a:ext uri="{FF2B5EF4-FFF2-40B4-BE49-F238E27FC236}">
                <a16:creationId xmlns:a16="http://schemas.microsoft.com/office/drawing/2014/main" id="{C64D1311-B6EE-3C37-0D10-DF6E4B4BBEA1}"/>
              </a:ext>
            </a:extLst>
          </p:cNvPr>
          <p:cNvSpPr/>
          <p:nvPr/>
        </p:nvSpPr>
        <p:spPr>
          <a:xfrm>
            <a:off x="596515" y="3037367"/>
            <a:ext cx="972384" cy="448978"/>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buNone/>
            </a:pPr>
            <a:r>
              <a:rPr lang="en-US" altLang="ko-KR" dirty="0">
                <a:solidFill>
                  <a:schemeClr val="bg1"/>
                </a:solidFill>
                <a:latin typeface="+mj-ea"/>
                <a:ea typeface="+mj-ea"/>
              </a:rPr>
              <a:t>NCS</a:t>
            </a:r>
            <a:r>
              <a:rPr lang="ko-KR" altLang="en-US" dirty="0">
                <a:solidFill>
                  <a:schemeClr val="bg1"/>
                </a:solidFill>
                <a:latin typeface="+mj-ea"/>
                <a:ea typeface="+mj-ea"/>
              </a:rPr>
              <a:t>가</a:t>
            </a:r>
            <a:r>
              <a:rPr lang="en-US" altLang="ko-KR" dirty="0">
                <a:solidFill>
                  <a:schemeClr val="bg1"/>
                </a:solidFill>
                <a:latin typeface="+mj-ea"/>
                <a:ea typeface="+mj-ea"/>
              </a:rPr>
              <a:t> </a:t>
            </a:r>
            <a:r>
              <a:rPr lang="ko-KR" altLang="en-US" dirty="0" err="1">
                <a:solidFill>
                  <a:schemeClr val="bg1"/>
                </a:solidFill>
                <a:latin typeface="+mj-ea"/>
                <a:ea typeface="+mj-ea"/>
              </a:rPr>
              <a:t>매핑된</a:t>
            </a:r>
            <a:r>
              <a:rPr lang="ko-KR" altLang="en-US" dirty="0">
                <a:solidFill>
                  <a:schemeClr val="bg1"/>
                </a:solidFill>
                <a:latin typeface="+mj-ea"/>
                <a:ea typeface="+mj-ea"/>
              </a:rPr>
              <a:t> 교육과정 수</a:t>
            </a:r>
            <a:endParaRPr lang="en-US" altLang="ko-KR" dirty="0">
              <a:solidFill>
                <a:schemeClr val="bg1"/>
              </a:solidFill>
              <a:latin typeface="+mj-ea"/>
              <a:ea typeface="+mj-ea"/>
            </a:endParaRPr>
          </a:p>
        </p:txBody>
      </p:sp>
      <p:sp>
        <p:nvSpPr>
          <p:cNvPr id="20" name="직사각형 19">
            <a:extLst>
              <a:ext uri="{FF2B5EF4-FFF2-40B4-BE49-F238E27FC236}">
                <a16:creationId xmlns:a16="http://schemas.microsoft.com/office/drawing/2014/main" id="{C68677CA-C2A0-C4A0-B4E9-B668FAD7FE3C}"/>
              </a:ext>
            </a:extLst>
          </p:cNvPr>
          <p:cNvSpPr/>
          <p:nvPr/>
        </p:nvSpPr>
        <p:spPr>
          <a:xfrm>
            <a:off x="1712640" y="3037367"/>
            <a:ext cx="3710132" cy="448978"/>
          </a:xfrm>
          <a:prstGeom prst="rect">
            <a:avLst/>
          </a:prstGeom>
          <a:solidFill>
            <a:srgbClr val="E6E6E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mj-ea"/>
                <a:ea typeface="+mj-ea"/>
              </a:rPr>
              <a:t>전체 </a:t>
            </a:r>
            <a:r>
              <a:rPr lang="en-US" altLang="ko-KR" sz="1100" dirty="0">
                <a:solidFill>
                  <a:schemeClr val="tx1"/>
                </a:solidFill>
                <a:latin typeface="+mj-ea"/>
                <a:ea typeface="+mj-ea"/>
              </a:rPr>
              <a:t>2,631</a:t>
            </a:r>
            <a:r>
              <a:rPr lang="ko-KR" altLang="en-US" sz="1100" dirty="0">
                <a:solidFill>
                  <a:schemeClr val="tx1"/>
                </a:solidFill>
                <a:latin typeface="+mj-ea"/>
                <a:ea typeface="+mj-ea"/>
              </a:rPr>
              <a:t>개 콘텐츠 중 </a:t>
            </a:r>
            <a:r>
              <a:rPr lang="en-US" altLang="ko-KR" sz="1100" dirty="0">
                <a:solidFill>
                  <a:schemeClr val="tx1"/>
                </a:solidFill>
                <a:latin typeface="+mj-ea"/>
                <a:ea typeface="+mj-ea"/>
              </a:rPr>
              <a:t>2,275</a:t>
            </a:r>
            <a:r>
              <a:rPr lang="ko-KR" altLang="en-US" sz="1100" dirty="0">
                <a:solidFill>
                  <a:schemeClr val="tx1"/>
                </a:solidFill>
                <a:latin typeface="+mj-ea"/>
                <a:ea typeface="+mj-ea"/>
              </a:rPr>
              <a:t>개 </a:t>
            </a:r>
            <a:r>
              <a:rPr lang="en-US" altLang="ko-KR" sz="1100" dirty="0">
                <a:solidFill>
                  <a:schemeClr val="tx1"/>
                </a:solidFill>
                <a:latin typeface="+mj-ea"/>
                <a:ea typeface="+mj-ea"/>
              </a:rPr>
              <a:t>(</a:t>
            </a:r>
            <a:r>
              <a:rPr lang="ko-KR" altLang="en-US" sz="1100" dirty="0">
                <a:solidFill>
                  <a:schemeClr val="tx1"/>
                </a:solidFill>
                <a:latin typeface="+mj-ea"/>
                <a:ea typeface="+mj-ea"/>
              </a:rPr>
              <a:t>약 </a:t>
            </a:r>
            <a:r>
              <a:rPr lang="en-US" altLang="ko-KR" sz="1100" dirty="0">
                <a:solidFill>
                  <a:schemeClr val="tx1"/>
                </a:solidFill>
                <a:latin typeface="+mj-ea"/>
                <a:ea typeface="+mj-ea"/>
              </a:rPr>
              <a:t>86.5%)</a:t>
            </a:r>
            <a:r>
              <a:rPr lang="en-US" altLang="ko-KR" sz="1100" baseline="30000" dirty="0">
                <a:solidFill>
                  <a:schemeClr val="tx1"/>
                </a:solidFill>
                <a:latin typeface="+mj-ea"/>
                <a:ea typeface="+mj-ea"/>
              </a:rPr>
              <a:t>*</a:t>
            </a:r>
          </a:p>
        </p:txBody>
      </p:sp>
      <p:sp>
        <p:nvSpPr>
          <p:cNvPr id="21" name="직사각형 20">
            <a:extLst>
              <a:ext uri="{FF2B5EF4-FFF2-40B4-BE49-F238E27FC236}">
                <a16:creationId xmlns:a16="http://schemas.microsoft.com/office/drawing/2014/main" id="{1EA799CB-20E7-0B38-E824-D0BBAA1F9E27}"/>
              </a:ext>
            </a:extLst>
          </p:cNvPr>
          <p:cNvSpPr/>
          <p:nvPr/>
        </p:nvSpPr>
        <p:spPr>
          <a:xfrm>
            <a:off x="5635481" y="3037367"/>
            <a:ext cx="3710132" cy="448978"/>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mj-ea"/>
                <a:ea typeface="+mj-ea"/>
              </a:rPr>
              <a:t>전체 </a:t>
            </a:r>
            <a:r>
              <a:rPr lang="en-US" altLang="ko-KR" sz="1100" dirty="0">
                <a:solidFill>
                  <a:schemeClr val="tx1"/>
                </a:solidFill>
                <a:latin typeface="+mj-ea"/>
                <a:ea typeface="+mj-ea"/>
              </a:rPr>
              <a:t>2,624</a:t>
            </a:r>
            <a:r>
              <a:rPr lang="ko-KR" altLang="en-US" sz="1100" dirty="0">
                <a:solidFill>
                  <a:schemeClr val="tx1"/>
                </a:solidFill>
                <a:latin typeface="+mj-ea"/>
                <a:ea typeface="+mj-ea"/>
              </a:rPr>
              <a:t>개 콘텐츠 중 </a:t>
            </a:r>
            <a:r>
              <a:rPr lang="en-US" altLang="ko-KR" sz="1100" dirty="0">
                <a:solidFill>
                  <a:schemeClr val="tx1"/>
                </a:solidFill>
                <a:latin typeface="+mj-ea"/>
                <a:ea typeface="+mj-ea"/>
              </a:rPr>
              <a:t>2,606</a:t>
            </a:r>
            <a:r>
              <a:rPr lang="ko-KR" altLang="en-US" sz="1100" dirty="0">
                <a:solidFill>
                  <a:schemeClr val="tx1"/>
                </a:solidFill>
                <a:latin typeface="+mj-ea"/>
                <a:ea typeface="+mj-ea"/>
              </a:rPr>
              <a:t>개 </a:t>
            </a:r>
            <a:r>
              <a:rPr lang="en-US" altLang="ko-KR" sz="1100" dirty="0">
                <a:solidFill>
                  <a:schemeClr val="tx1"/>
                </a:solidFill>
                <a:latin typeface="+mj-ea"/>
                <a:ea typeface="+mj-ea"/>
              </a:rPr>
              <a:t>(</a:t>
            </a:r>
            <a:r>
              <a:rPr lang="ko-KR" altLang="en-US" sz="1100" dirty="0">
                <a:solidFill>
                  <a:schemeClr val="tx1"/>
                </a:solidFill>
                <a:latin typeface="+mj-ea"/>
                <a:ea typeface="+mj-ea"/>
              </a:rPr>
              <a:t>약 </a:t>
            </a:r>
            <a:r>
              <a:rPr lang="en-US" altLang="ko-KR" sz="1100" dirty="0">
                <a:solidFill>
                  <a:schemeClr val="tx1"/>
                </a:solidFill>
                <a:latin typeface="+mj-ea"/>
                <a:ea typeface="+mj-ea"/>
              </a:rPr>
              <a:t>99.3%)</a:t>
            </a:r>
            <a:r>
              <a:rPr lang="en-US" altLang="ko-KR" sz="1100" baseline="30000" dirty="0">
                <a:solidFill>
                  <a:schemeClr val="tx1"/>
                </a:solidFill>
                <a:latin typeface="+mj-ea"/>
                <a:ea typeface="+mj-ea"/>
              </a:rPr>
              <a:t>**</a:t>
            </a:r>
          </a:p>
        </p:txBody>
      </p:sp>
      <p:sp>
        <p:nvSpPr>
          <p:cNvPr id="22" name="TextBox 21">
            <a:extLst>
              <a:ext uri="{FF2B5EF4-FFF2-40B4-BE49-F238E27FC236}">
                <a16:creationId xmlns:a16="http://schemas.microsoft.com/office/drawing/2014/main" id="{2BB89BB4-50E8-AFD9-EDF0-635C9496E18F}"/>
              </a:ext>
            </a:extLst>
          </p:cNvPr>
          <p:cNvSpPr txBox="1"/>
          <p:nvPr/>
        </p:nvSpPr>
        <p:spPr>
          <a:xfrm>
            <a:off x="596515" y="6457890"/>
            <a:ext cx="6696745" cy="400110"/>
          </a:xfrm>
          <a:prstGeom prst="rect">
            <a:avLst/>
          </a:prstGeom>
          <a:noFill/>
        </p:spPr>
        <p:txBody>
          <a:bodyPr wrap="square" rtlCol="0">
            <a:spAutoFit/>
          </a:bodyPr>
          <a:lstStyle/>
          <a:p>
            <a:pPr algn="l">
              <a:buNone/>
            </a:pP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출처</a:t>
            </a:r>
            <a:r>
              <a:rPr lang="en-US" altLang="ko-KR" sz="1000" dirty="0">
                <a:latin typeface="a고딕12" panose="02020600000000000000" pitchFamily="18" charset="-127"/>
                <a:ea typeface="a고딕12" panose="02020600000000000000" pitchFamily="18" charset="-127"/>
              </a:rPr>
              <a:t>: (20250530)TTR Master DB_</a:t>
            </a:r>
            <a:r>
              <a:rPr lang="ko-KR" altLang="en-US" sz="1000" dirty="0">
                <a:latin typeface="a고딕12" panose="02020600000000000000" pitchFamily="18" charset="-127"/>
                <a:ea typeface="a고딕12" panose="02020600000000000000" pitchFamily="18" charset="-127"/>
              </a:rPr>
              <a:t>정보수정</a:t>
            </a:r>
            <a:endParaRPr lang="en-US" altLang="ko-KR" sz="1000" dirty="0">
              <a:latin typeface="a고딕12" panose="02020600000000000000" pitchFamily="18" charset="-127"/>
              <a:ea typeface="a고딕12" panose="02020600000000000000" pitchFamily="18" charset="-127"/>
            </a:endParaRPr>
          </a:p>
          <a:p>
            <a:pPr algn="l">
              <a:buNone/>
            </a:pP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불용 콘텐츠 및 재개발 이전 콘텐츠를 제외하여</a:t>
            </a:r>
            <a:r>
              <a:rPr lang="en-US" altLang="ko-KR" sz="1000" dirty="0">
                <a:latin typeface="a고딕12" panose="02020600000000000000" pitchFamily="18" charset="-127"/>
                <a:ea typeface="a고딕12" panose="02020600000000000000" pitchFamily="18" charset="-127"/>
              </a:rPr>
              <a:t>,</a:t>
            </a:r>
            <a:r>
              <a:rPr lang="ko-KR" altLang="en-US" sz="1000" dirty="0">
                <a:latin typeface="a고딕12" panose="02020600000000000000" pitchFamily="18" charset="-127"/>
                <a:ea typeface="a고딕12" panose="02020600000000000000" pitchFamily="18" charset="-127"/>
              </a:rPr>
              <a:t> 전체 콘텐츠 개수가 </a:t>
            </a:r>
            <a:r>
              <a:rPr lang="en-US" altLang="ko-KR" sz="1000" dirty="0">
                <a:latin typeface="a고딕12" panose="02020600000000000000" pitchFamily="18" charset="-127"/>
                <a:ea typeface="a고딕12" panose="02020600000000000000" pitchFamily="18" charset="-127"/>
              </a:rPr>
              <a:t>2024</a:t>
            </a:r>
            <a:r>
              <a:rPr lang="ko-KR" altLang="en-US" sz="1000" dirty="0">
                <a:latin typeface="a고딕12" panose="02020600000000000000" pitchFamily="18" charset="-127"/>
                <a:ea typeface="a고딕12" panose="02020600000000000000" pitchFamily="18" charset="-127"/>
              </a:rPr>
              <a:t>년 기준과 상이함</a:t>
            </a:r>
          </a:p>
        </p:txBody>
      </p:sp>
      <p:sp>
        <p:nvSpPr>
          <p:cNvPr id="24" name="직사각형 23">
            <a:extLst>
              <a:ext uri="{FF2B5EF4-FFF2-40B4-BE49-F238E27FC236}">
                <a16:creationId xmlns:a16="http://schemas.microsoft.com/office/drawing/2014/main" id="{D99DDFBE-DC89-94C6-52B9-E6B27295EBCB}"/>
              </a:ext>
            </a:extLst>
          </p:cNvPr>
          <p:cNvSpPr/>
          <p:nvPr/>
        </p:nvSpPr>
        <p:spPr>
          <a:xfrm>
            <a:off x="596515" y="5991225"/>
            <a:ext cx="972384" cy="499246"/>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buNone/>
            </a:pPr>
            <a:r>
              <a:rPr lang="ko-KR" altLang="en-US" dirty="0">
                <a:solidFill>
                  <a:schemeClr val="bg1"/>
                </a:solidFill>
                <a:latin typeface="+mj-ea"/>
                <a:ea typeface="+mj-ea"/>
              </a:rPr>
              <a:t>향후 계획</a:t>
            </a:r>
            <a:endParaRPr lang="en-US" altLang="ko-KR" dirty="0">
              <a:solidFill>
                <a:schemeClr val="bg1"/>
              </a:solidFill>
              <a:latin typeface="+mj-ea"/>
              <a:ea typeface="+mj-ea"/>
            </a:endParaRPr>
          </a:p>
        </p:txBody>
      </p:sp>
      <p:sp>
        <p:nvSpPr>
          <p:cNvPr id="25" name="직사각형 24">
            <a:extLst>
              <a:ext uri="{FF2B5EF4-FFF2-40B4-BE49-F238E27FC236}">
                <a16:creationId xmlns:a16="http://schemas.microsoft.com/office/drawing/2014/main" id="{68A2957E-B480-09A2-9E61-2D68D34F8C90}"/>
              </a:ext>
            </a:extLst>
          </p:cNvPr>
          <p:cNvSpPr/>
          <p:nvPr/>
        </p:nvSpPr>
        <p:spPr>
          <a:xfrm>
            <a:off x="1712640" y="5991225"/>
            <a:ext cx="7632046" cy="499246"/>
          </a:xfrm>
          <a:prstGeom prst="rect">
            <a:avLst/>
          </a:prstGeom>
          <a:solidFill>
            <a:srgbClr val="DCE6F2"/>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a:spcBef>
                <a:spcPts val="0"/>
              </a:spcBef>
              <a:spcAft>
                <a:spcPts val="600"/>
              </a:spcAft>
              <a:buFont typeface="Arial" panose="020B0604020202020204" pitchFamily="34" charset="0"/>
              <a:buChar char="•"/>
            </a:pPr>
            <a:r>
              <a:rPr lang="en-US" altLang="ko-KR" sz="1100" dirty="0">
                <a:solidFill>
                  <a:schemeClr val="tx1"/>
                </a:solidFill>
                <a:latin typeface="+mj-ea"/>
                <a:ea typeface="+mj-ea"/>
              </a:rPr>
              <a:t>2025</a:t>
            </a:r>
            <a:r>
              <a:rPr lang="ko-KR" altLang="en-US" sz="1100" dirty="0">
                <a:solidFill>
                  <a:schemeClr val="tx1"/>
                </a:solidFill>
                <a:latin typeface="+mj-ea"/>
                <a:ea typeface="+mj-ea"/>
              </a:rPr>
              <a:t>년 신규 개발 콘텐츠 목록을 검토하여 </a:t>
            </a:r>
            <a:r>
              <a:rPr lang="en-US" altLang="ko-KR" sz="1100" dirty="0">
                <a:solidFill>
                  <a:schemeClr val="tx1"/>
                </a:solidFill>
                <a:latin typeface="+mj-ea"/>
                <a:ea typeface="+mj-ea"/>
              </a:rPr>
              <a:t>DB</a:t>
            </a:r>
            <a:r>
              <a:rPr lang="ko-KR" altLang="en-US" sz="1100" dirty="0">
                <a:solidFill>
                  <a:schemeClr val="tx1"/>
                </a:solidFill>
                <a:latin typeface="+mj-ea"/>
                <a:ea typeface="+mj-ea"/>
              </a:rPr>
              <a:t>에 반영하겠음</a:t>
            </a:r>
            <a:endParaRPr lang="en-US" altLang="ko-KR" sz="1100" dirty="0">
              <a:solidFill>
                <a:schemeClr val="tx1"/>
              </a:solidFill>
              <a:latin typeface="+mj-ea"/>
              <a:ea typeface="+mj-ea"/>
            </a:endParaRPr>
          </a:p>
          <a:p>
            <a:pPr marL="171450" indent="-85725" algn="l">
              <a:spcBef>
                <a:spcPts val="0"/>
              </a:spcBef>
              <a:spcAft>
                <a:spcPts val="600"/>
              </a:spcAft>
              <a:buFont typeface="Arial" panose="020B0604020202020204" pitchFamily="34" charset="0"/>
              <a:buChar char="•"/>
            </a:pPr>
            <a:r>
              <a:rPr lang="ko-KR" altLang="en-US" sz="1100" dirty="0">
                <a:solidFill>
                  <a:schemeClr val="tx1"/>
                </a:solidFill>
                <a:latin typeface="+mj-ea"/>
                <a:ea typeface="+mj-ea"/>
              </a:rPr>
              <a:t>직무체계</a:t>
            </a:r>
            <a:r>
              <a:rPr lang="en-US" altLang="ko-KR" sz="1100" dirty="0">
                <a:solidFill>
                  <a:schemeClr val="tx1"/>
                </a:solidFill>
                <a:latin typeface="+mj-ea"/>
                <a:ea typeface="+mj-ea"/>
              </a:rPr>
              <a:t>(</a:t>
            </a:r>
            <a:r>
              <a:rPr lang="ko-KR" altLang="en-US" sz="1100" dirty="0">
                <a:solidFill>
                  <a:schemeClr val="tx1"/>
                </a:solidFill>
                <a:latin typeface="+mj-ea"/>
                <a:ea typeface="+mj-ea"/>
              </a:rPr>
              <a:t>소관분야</a:t>
            </a:r>
            <a:r>
              <a:rPr lang="en-US" altLang="ko-KR" sz="1100" dirty="0">
                <a:solidFill>
                  <a:schemeClr val="tx1"/>
                </a:solidFill>
                <a:latin typeface="+mj-ea"/>
                <a:ea typeface="+mj-ea"/>
              </a:rPr>
              <a:t>, </a:t>
            </a:r>
            <a:r>
              <a:rPr lang="ko-KR" altLang="en-US" sz="1100" dirty="0">
                <a:solidFill>
                  <a:schemeClr val="tx1"/>
                </a:solidFill>
                <a:latin typeface="+mj-ea"/>
                <a:ea typeface="+mj-ea"/>
              </a:rPr>
              <a:t>산업분야</a:t>
            </a:r>
            <a:r>
              <a:rPr lang="en-US" altLang="ko-KR" sz="1100" dirty="0">
                <a:solidFill>
                  <a:schemeClr val="tx1"/>
                </a:solidFill>
                <a:latin typeface="+mj-ea"/>
                <a:ea typeface="+mj-ea"/>
              </a:rPr>
              <a:t>, </a:t>
            </a:r>
            <a:r>
              <a:rPr lang="ko-KR" altLang="en-US" sz="1100" dirty="0">
                <a:solidFill>
                  <a:schemeClr val="tx1"/>
                </a:solidFill>
                <a:latin typeface="+mj-ea"/>
                <a:ea typeface="+mj-ea"/>
              </a:rPr>
              <a:t>하위산업분야</a:t>
            </a:r>
            <a:r>
              <a:rPr lang="en-US" altLang="ko-KR" sz="1100" dirty="0">
                <a:solidFill>
                  <a:schemeClr val="tx1"/>
                </a:solidFill>
                <a:latin typeface="+mj-ea"/>
                <a:ea typeface="+mj-ea"/>
              </a:rPr>
              <a:t>, TTR </a:t>
            </a:r>
            <a:r>
              <a:rPr lang="ko-KR" altLang="en-US" sz="1100" dirty="0" err="1">
                <a:solidFill>
                  <a:schemeClr val="tx1"/>
                </a:solidFill>
                <a:latin typeface="+mj-ea"/>
                <a:ea typeface="+mj-ea"/>
              </a:rPr>
              <a:t>직무명</a:t>
            </a:r>
            <a:r>
              <a:rPr lang="ko-KR" altLang="en-US" sz="1100" dirty="0">
                <a:solidFill>
                  <a:schemeClr val="tx1"/>
                </a:solidFill>
                <a:latin typeface="+mj-ea"/>
                <a:ea typeface="+mj-ea"/>
              </a:rPr>
              <a:t> 등</a:t>
            </a:r>
            <a:r>
              <a:rPr lang="en-US" altLang="ko-KR" sz="1100" dirty="0">
                <a:solidFill>
                  <a:schemeClr val="tx1"/>
                </a:solidFill>
                <a:latin typeface="+mj-ea"/>
                <a:ea typeface="+mj-ea"/>
              </a:rPr>
              <a:t>)</a:t>
            </a:r>
            <a:r>
              <a:rPr lang="ko-KR" altLang="en-US" sz="1100" dirty="0">
                <a:solidFill>
                  <a:schemeClr val="tx1"/>
                </a:solidFill>
                <a:latin typeface="+mj-ea"/>
                <a:ea typeface="+mj-ea"/>
              </a:rPr>
              <a:t>를</a:t>
            </a:r>
            <a:r>
              <a:rPr lang="en-US" altLang="ko-KR" sz="1100" dirty="0">
                <a:solidFill>
                  <a:schemeClr val="tx1"/>
                </a:solidFill>
                <a:latin typeface="+mj-ea"/>
                <a:ea typeface="+mj-ea"/>
              </a:rPr>
              <a:t> </a:t>
            </a:r>
            <a:r>
              <a:rPr lang="ko-KR" altLang="en-US" sz="1100" dirty="0">
                <a:solidFill>
                  <a:schemeClr val="tx1"/>
                </a:solidFill>
                <a:latin typeface="+mj-ea"/>
                <a:ea typeface="+mj-ea"/>
              </a:rPr>
              <a:t>최신 기준에 따라 갱신하겠음</a:t>
            </a:r>
            <a:endParaRPr lang="en-US" altLang="ko-KR" sz="1100" baseline="30000" dirty="0">
              <a:solidFill>
                <a:schemeClr val="tx1"/>
              </a:solidFill>
              <a:latin typeface="+mj-ea"/>
              <a:ea typeface="+mj-ea"/>
            </a:endParaRPr>
          </a:p>
        </p:txBody>
      </p:sp>
    </p:spTree>
    <p:extLst>
      <p:ext uri="{BB962C8B-B14F-4D97-AF65-F5344CB8AC3E}">
        <p14:creationId xmlns:p14="http://schemas.microsoft.com/office/powerpoint/2010/main" val="515551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E2B2E-3AE4-ECF4-5116-AD87E12D91F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31A4DC92-649D-F684-58F2-03D9BB3CA1A4}"/>
              </a:ext>
            </a:extLst>
          </p:cNvPr>
          <p:cNvSpPr>
            <a:spLocks noGrp="1"/>
          </p:cNvSpPr>
          <p:nvPr>
            <p:ph type="body" sz="quarter" idx="12"/>
          </p:nvPr>
        </p:nvSpPr>
        <p:spPr/>
        <p:txBody>
          <a:bodyPr/>
          <a:lstStyle/>
          <a:p>
            <a:pPr latinLnBrk="0"/>
            <a:r>
              <a:rPr lang="ko-KR" altLang="en-US" dirty="0">
                <a:latin typeface="+mj-ea"/>
                <a:ea typeface="+mj-ea"/>
              </a:rPr>
              <a:t>온평원에서 서비스 중인 오픈마켓 콘텐츠 전반에 대해 </a:t>
            </a:r>
            <a:r>
              <a:rPr lang="en-US" altLang="ko-KR" dirty="0">
                <a:latin typeface="+mj-ea"/>
                <a:ea typeface="+mj-ea"/>
              </a:rPr>
              <a:t>NCS </a:t>
            </a:r>
            <a:r>
              <a:rPr lang="ko-KR" altLang="en-US" dirty="0">
                <a:latin typeface="+mj-ea"/>
                <a:ea typeface="+mj-ea"/>
              </a:rPr>
              <a:t>매핑을 실시하였으며</a:t>
            </a:r>
            <a:r>
              <a:rPr lang="en-US" altLang="ko-KR" dirty="0">
                <a:latin typeface="+mj-ea"/>
                <a:ea typeface="+mj-ea"/>
              </a:rPr>
              <a:t>, </a:t>
            </a:r>
            <a:r>
              <a:rPr lang="ko-KR" altLang="en-US" dirty="0">
                <a:latin typeface="+mj-ea"/>
                <a:ea typeface="+mj-ea"/>
              </a:rPr>
              <a:t>전문가 검토를 통해 매핑 결과를 검증하고</a:t>
            </a:r>
            <a:r>
              <a:rPr lang="en-US" altLang="ko-KR" dirty="0">
                <a:latin typeface="+mj-ea"/>
                <a:ea typeface="+mj-ea"/>
              </a:rPr>
              <a:t> DB</a:t>
            </a:r>
            <a:r>
              <a:rPr lang="ko-KR" altLang="en-US" dirty="0">
                <a:latin typeface="+mj-ea"/>
                <a:ea typeface="+mj-ea"/>
              </a:rPr>
              <a:t>를 최종 확정하였음</a:t>
            </a:r>
            <a:endParaRPr lang="ko-KR" altLang="en-US" sz="1800" dirty="0">
              <a:latin typeface="+mj-ea"/>
              <a:ea typeface="+mj-ea"/>
            </a:endParaRPr>
          </a:p>
        </p:txBody>
      </p:sp>
      <p:sp>
        <p:nvSpPr>
          <p:cNvPr id="5" name="텍스트 개체 틀 4">
            <a:extLst>
              <a:ext uri="{FF2B5EF4-FFF2-40B4-BE49-F238E27FC236}">
                <a16:creationId xmlns:a16="http://schemas.microsoft.com/office/drawing/2014/main" id="{AD950AA9-D345-C45B-3B0F-1E50E9A6DFA0}"/>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56C5E096-76DE-C85C-27B0-B4284A256B17}"/>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ko-KR" altLang="en-US" sz="1200" dirty="0">
                <a:solidFill>
                  <a:schemeClr val="bg1"/>
                </a:solidFill>
              </a:rPr>
              <a:t>오픈마켓 콘텐츠와 최신 </a:t>
            </a:r>
            <a:r>
              <a:rPr lang="en-US" altLang="ko-KR" sz="1200" dirty="0">
                <a:solidFill>
                  <a:schemeClr val="bg1"/>
                </a:solidFill>
              </a:rPr>
              <a:t>NCS </a:t>
            </a:r>
            <a:r>
              <a:rPr lang="ko-KR" altLang="en-US" sz="1200" dirty="0">
                <a:solidFill>
                  <a:schemeClr val="bg1"/>
                </a:solidFill>
              </a:rPr>
              <a:t>매핑</a:t>
            </a:r>
          </a:p>
        </p:txBody>
      </p:sp>
      <p:sp>
        <p:nvSpPr>
          <p:cNvPr id="10" name="직사각형 9">
            <a:extLst>
              <a:ext uri="{FF2B5EF4-FFF2-40B4-BE49-F238E27FC236}">
                <a16:creationId xmlns:a16="http://schemas.microsoft.com/office/drawing/2014/main" id="{E163CAD0-9C6B-4712-61B3-90DB17A726C2}"/>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pSp>
        <p:nvGrpSpPr>
          <p:cNvPr id="7" name="그룹 6">
            <a:extLst>
              <a:ext uri="{FF2B5EF4-FFF2-40B4-BE49-F238E27FC236}">
                <a16:creationId xmlns:a16="http://schemas.microsoft.com/office/drawing/2014/main" id="{75DF5C6E-B02D-D88C-9381-916F16481649}"/>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8EE23A9D-3468-4B2A-F410-C323E88C5F01}"/>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오픈마켓 콘텐츠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DB NCS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최신화</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32C2995D-95B0-A795-EFFF-8FBB69A14FA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사다리꼴 10">
            <a:extLst>
              <a:ext uri="{FF2B5EF4-FFF2-40B4-BE49-F238E27FC236}">
                <a16:creationId xmlns:a16="http://schemas.microsoft.com/office/drawing/2014/main" id="{0BB9B3DA-F2FC-91DB-1796-FB32A3AB1E2D}"/>
              </a:ext>
            </a:extLst>
          </p:cNvPr>
          <p:cNvSpPr/>
          <p:nvPr/>
        </p:nvSpPr>
        <p:spPr>
          <a:xfrm rot="16200000">
            <a:off x="1106183" y="4267375"/>
            <a:ext cx="4188233" cy="256416"/>
          </a:xfrm>
          <a:prstGeom prst="trapezoid">
            <a:avLst>
              <a:gd name="adj" fmla="val 96909"/>
            </a:avLst>
          </a:prstGeom>
          <a:solidFill>
            <a:sysClr val="window" lastClr="FFFFFF">
              <a:lumMod val="85000"/>
            </a:sysClr>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dirty="0">
              <a:ln>
                <a:noFill/>
              </a:ln>
              <a:solidFill>
                <a:prstClr val="white"/>
              </a:solidFill>
              <a:effectLst/>
              <a:uLnTx/>
              <a:uFillTx/>
              <a:latin typeface="Arial Narrow"/>
              <a:ea typeface="a고딕14"/>
              <a:cs typeface="+mn-cs"/>
            </a:endParaRPr>
          </a:p>
        </p:txBody>
      </p:sp>
      <p:sp>
        <p:nvSpPr>
          <p:cNvPr id="12" name="TextBox 11">
            <a:extLst>
              <a:ext uri="{FF2B5EF4-FFF2-40B4-BE49-F238E27FC236}">
                <a16:creationId xmlns:a16="http://schemas.microsoft.com/office/drawing/2014/main" id="{FBAC58D4-D0CD-BCB8-961E-C64C6843C3CF}"/>
              </a:ext>
            </a:extLst>
          </p:cNvPr>
          <p:cNvSpPr txBox="1"/>
          <p:nvPr/>
        </p:nvSpPr>
        <p:spPr>
          <a:xfrm>
            <a:off x="596516" y="2107028"/>
            <a:ext cx="2490931" cy="258532"/>
          </a:xfrm>
          <a:prstGeom prst="rect">
            <a:avLst/>
          </a:prstGeom>
          <a:noFill/>
        </p:spPr>
        <p:txBody>
          <a:bodyPr wrap="square" rtlCol="0">
            <a:spAutoFit/>
          </a:bodyPr>
          <a:lstStyle/>
          <a:p>
            <a:pPr eaLnBrk="1" latinLnBrk="0" hangingPunct="1">
              <a:lnSpc>
                <a:spcPct val="90000"/>
              </a:lnSpc>
              <a:spcBef>
                <a:spcPts val="400"/>
              </a:spcBef>
              <a:buSzPct val="100000"/>
              <a:buFontTx/>
              <a:buNone/>
              <a:defRPr/>
            </a:pPr>
            <a:r>
              <a:rPr lang="ko-KR" altLang="en-US" kern="0" dirty="0">
                <a:solidFill>
                  <a:srgbClr val="000000"/>
                </a:solidFill>
                <a:latin typeface="a고딕14" panose="02020600000000000000" pitchFamily="18" charset="-127"/>
                <a:ea typeface="a고딕14" panose="02020600000000000000" pitchFamily="18" charset="-127"/>
                <a:cs typeface="Arial Narrow" pitchFamily="34" charset="0"/>
              </a:rPr>
              <a:t>오픈마켓 콘텐츠 </a:t>
            </a:r>
            <a:r>
              <a:rPr lang="en-US" altLang="ko-KR" kern="0" dirty="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kern="0" dirty="0">
                <a:solidFill>
                  <a:srgbClr val="000000"/>
                </a:solidFill>
                <a:latin typeface="a고딕14" panose="02020600000000000000" pitchFamily="18" charset="-127"/>
                <a:ea typeface="a고딕14" panose="02020600000000000000" pitchFamily="18" charset="-127"/>
                <a:cs typeface="Arial Narrow" pitchFamily="34" charset="0"/>
              </a:rPr>
              <a:t>매핑 단계</a:t>
            </a:r>
          </a:p>
        </p:txBody>
      </p:sp>
      <p:grpSp>
        <p:nvGrpSpPr>
          <p:cNvPr id="13" name="그룹 12">
            <a:extLst>
              <a:ext uri="{FF2B5EF4-FFF2-40B4-BE49-F238E27FC236}">
                <a16:creationId xmlns:a16="http://schemas.microsoft.com/office/drawing/2014/main" id="{49E405DD-E079-961B-4B94-542604536362}"/>
              </a:ext>
            </a:extLst>
          </p:cNvPr>
          <p:cNvGrpSpPr/>
          <p:nvPr/>
        </p:nvGrpSpPr>
        <p:grpSpPr>
          <a:xfrm>
            <a:off x="603401" y="2558558"/>
            <a:ext cx="2484046" cy="3678754"/>
            <a:chOff x="1331697" y="2881958"/>
            <a:chExt cx="7254868" cy="3247342"/>
          </a:xfrm>
        </p:grpSpPr>
        <p:sp>
          <p:nvSpPr>
            <p:cNvPr id="14" name="직사각형 13">
              <a:extLst>
                <a:ext uri="{FF2B5EF4-FFF2-40B4-BE49-F238E27FC236}">
                  <a16:creationId xmlns:a16="http://schemas.microsoft.com/office/drawing/2014/main" id="{D837EBB2-B7CA-ED66-162C-E06A73D5F3BF}"/>
                </a:ext>
              </a:extLst>
            </p:cNvPr>
            <p:cNvSpPr/>
            <p:nvPr/>
          </p:nvSpPr>
          <p:spPr>
            <a:xfrm>
              <a:off x="1331697" y="2881958"/>
              <a:ext cx="7254868" cy="504000"/>
            </a:xfrm>
            <a:prstGeom prst="rect">
              <a:avLst/>
            </a:prstGeom>
            <a:solidFill>
              <a:srgbClr val="4BACC6">
                <a:lumMod val="60000"/>
                <a:lumOff val="40000"/>
              </a:srgbClr>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r>
                <a:rPr lang="ko-KR" altLang="en-US" kern="0" dirty="0">
                  <a:solidFill>
                    <a:prstClr val="black">
                      <a:lumMod val="65000"/>
                      <a:lumOff val="35000"/>
                    </a:prstClr>
                  </a:solidFill>
                  <a:latin typeface="a고딕14" panose="02020600000000000000" pitchFamily="18" charset="-127"/>
                  <a:ea typeface="a고딕14" panose="02020600000000000000" pitchFamily="18" charset="-127"/>
                </a:rPr>
                <a:t>판매사별 오픈마켓 </a:t>
              </a:r>
              <a:br>
                <a:rPr lang="en-US" altLang="ko-KR" kern="0" dirty="0">
                  <a:solidFill>
                    <a:prstClr val="black">
                      <a:lumMod val="65000"/>
                      <a:lumOff val="35000"/>
                    </a:prstClr>
                  </a:solidFill>
                  <a:latin typeface="a고딕14" panose="02020600000000000000" pitchFamily="18" charset="-127"/>
                  <a:ea typeface="a고딕14" panose="02020600000000000000" pitchFamily="18" charset="-127"/>
                </a:rPr>
              </a:br>
              <a:r>
                <a:rPr lang="ko-KR" altLang="en-US" kern="0" dirty="0">
                  <a:solidFill>
                    <a:prstClr val="black">
                      <a:lumMod val="65000"/>
                      <a:lumOff val="35000"/>
                    </a:prstClr>
                  </a:solidFill>
                  <a:latin typeface="a고딕14" panose="02020600000000000000" pitchFamily="18" charset="-127"/>
                  <a:ea typeface="a고딕14" panose="02020600000000000000" pitchFamily="18" charset="-127"/>
                </a:rPr>
                <a:t>콘텐츠의 운영 현황을 확인함</a:t>
              </a:r>
              <a:endParaRPr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p:txBody>
        </p:sp>
        <p:sp>
          <p:nvSpPr>
            <p:cNvPr id="15" name="직사각형 14">
              <a:extLst>
                <a:ext uri="{FF2B5EF4-FFF2-40B4-BE49-F238E27FC236}">
                  <a16:creationId xmlns:a16="http://schemas.microsoft.com/office/drawing/2014/main" id="{DD60CDDC-2BB6-2B5A-32B1-BE9C0F7ABAF1}"/>
                </a:ext>
              </a:extLst>
            </p:cNvPr>
            <p:cNvSpPr/>
            <p:nvPr/>
          </p:nvSpPr>
          <p:spPr>
            <a:xfrm>
              <a:off x="1331697" y="3567794"/>
              <a:ext cx="7254868" cy="504000"/>
            </a:xfrm>
            <a:prstGeom prst="rect">
              <a:avLst/>
            </a:prstGeom>
            <a:solidFill>
              <a:srgbClr val="4BACC6">
                <a:lumMod val="75000"/>
              </a:srgbClr>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r>
                <a:rPr lang="ko-KR" altLang="en-US" kern="0" dirty="0" err="1">
                  <a:solidFill>
                    <a:prstClr val="white"/>
                  </a:solidFill>
                  <a:latin typeface="a고딕14" panose="02020600000000000000" pitchFamily="18" charset="-127"/>
                  <a:ea typeface="a고딕14" panose="02020600000000000000" pitchFamily="18" charset="-127"/>
                </a:rPr>
                <a:t>판매사</a:t>
              </a:r>
              <a:r>
                <a:rPr lang="ko-KR" altLang="en-US" kern="0" dirty="0">
                  <a:solidFill>
                    <a:prstClr val="white"/>
                  </a:solidFill>
                  <a:latin typeface="a고딕14" panose="02020600000000000000" pitchFamily="18" charset="-127"/>
                  <a:ea typeface="a고딕14" panose="02020600000000000000" pitchFamily="18" charset="-127"/>
                </a:rPr>
                <a:t> 홈페이지에 게시된 </a:t>
              </a:r>
              <a:br>
                <a:rPr lang="en-US" altLang="ko-KR" kern="0" dirty="0">
                  <a:solidFill>
                    <a:prstClr val="white"/>
                  </a:solidFill>
                  <a:latin typeface="a고딕14" panose="02020600000000000000" pitchFamily="18" charset="-127"/>
                  <a:ea typeface="a고딕14" panose="02020600000000000000" pitchFamily="18" charset="-127"/>
                </a:rPr>
              </a:br>
              <a:r>
                <a:rPr lang="ko-KR" altLang="en-US" kern="0" dirty="0">
                  <a:solidFill>
                    <a:prstClr val="white"/>
                  </a:solidFill>
                  <a:latin typeface="a고딕14" panose="02020600000000000000" pitchFamily="18" charset="-127"/>
                  <a:ea typeface="a고딕14" panose="02020600000000000000" pitchFamily="18" charset="-127"/>
                </a:rPr>
                <a:t>개요</a:t>
              </a:r>
              <a:r>
                <a:rPr lang="en-US" altLang="ko-KR" kern="0" dirty="0">
                  <a:solidFill>
                    <a:prstClr val="white"/>
                  </a:solidFill>
                  <a:latin typeface="a고딕14" panose="02020600000000000000" pitchFamily="18" charset="-127"/>
                  <a:ea typeface="a고딕14" panose="02020600000000000000" pitchFamily="18" charset="-127"/>
                </a:rPr>
                <a:t>, </a:t>
              </a:r>
              <a:r>
                <a:rPr lang="ko-KR" altLang="en-US" kern="0" dirty="0">
                  <a:solidFill>
                    <a:prstClr val="white"/>
                  </a:solidFill>
                  <a:latin typeface="a고딕14" panose="02020600000000000000" pitchFamily="18" charset="-127"/>
                  <a:ea typeface="a고딕14" panose="02020600000000000000" pitchFamily="18" charset="-127"/>
                </a:rPr>
                <a:t>학습목표</a:t>
              </a:r>
              <a:r>
                <a:rPr lang="en-US" altLang="ko-KR" kern="0" dirty="0">
                  <a:solidFill>
                    <a:prstClr val="white"/>
                  </a:solidFill>
                  <a:latin typeface="a고딕14" panose="02020600000000000000" pitchFamily="18" charset="-127"/>
                  <a:ea typeface="a고딕14" panose="02020600000000000000" pitchFamily="18" charset="-127"/>
                </a:rPr>
                <a:t> </a:t>
              </a:r>
              <a:r>
                <a:rPr lang="ko-KR" altLang="en-US" kern="0" dirty="0">
                  <a:solidFill>
                    <a:prstClr val="white"/>
                  </a:solidFill>
                  <a:latin typeface="a고딕14" panose="02020600000000000000" pitchFamily="18" charset="-127"/>
                  <a:ea typeface="a고딕14" panose="02020600000000000000" pitchFamily="18" charset="-127"/>
                </a:rPr>
                <a:t>등 강의 설명을 검토함</a:t>
              </a:r>
            </a:p>
          </p:txBody>
        </p:sp>
        <p:sp>
          <p:nvSpPr>
            <p:cNvPr id="16" name="직사각형 15">
              <a:extLst>
                <a:ext uri="{FF2B5EF4-FFF2-40B4-BE49-F238E27FC236}">
                  <a16:creationId xmlns:a16="http://schemas.microsoft.com/office/drawing/2014/main" id="{8C0581C5-0B80-2CAC-574C-36DEBA9A7233}"/>
                </a:ext>
              </a:extLst>
            </p:cNvPr>
            <p:cNvSpPr/>
            <p:nvPr/>
          </p:nvSpPr>
          <p:spPr>
            <a:xfrm>
              <a:off x="1331697" y="4253630"/>
              <a:ext cx="7254868" cy="504000"/>
            </a:xfrm>
            <a:prstGeom prst="rect">
              <a:avLst/>
            </a:prstGeom>
            <a:solidFill>
              <a:srgbClr val="4BACC6">
                <a:lumMod val="50000"/>
              </a:srgbClr>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r>
                <a:rPr lang="ko-KR" altLang="en-US" kern="0" dirty="0">
                  <a:solidFill>
                    <a:prstClr val="white"/>
                  </a:solidFill>
                  <a:latin typeface="a고딕14" panose="02020600000000000000" pitchFamily="18" charset="-127"/>
                  <a:ea typeface="a고딕14" panose="02020600000000000000" pitchFamily="18" charset="-127"/>
                </a:rPr>
                <a:t>연구진은 확인된 강의 설명을 기반으로 </a:t>
              </a:r>
              <a:r>
                <a:rPr lang="en-US" altLang="ko-KR" kern="0" dirty="0">
                  <a:solidFill>
                    <a:prstClr val="white"/>
                  </a:solidFill>
                  <a:latin typeface="a고딕14" panose="02020600000000000000" pitchFamily="18" charset="-127"/>
                  <a:ea typeface="a고딕14" panose="02020600000000000000" pitchFamily="18" charset="-127"/>
                </a:rPr>
                <a:t>NCS </a:t>
              </a:r>
              <a:r>
                <a:rPr lang="ko-KR" altLang="en-US" kern="0" dirty="0">
                  <a:solidFill>
                    <a:prstClr val="white"/>
                  </a:solidFill>
                  <a:latin typeface="a고딕14" panose="02020600000000000000" pitchFamily="18" charset="-127"/>
                  <a:ea typeface="a고딕14" panose="02020600000000000000" pitchFamily="18" charset="-127"/>
                </a:rPr>
                <a:t>매핑을 수행함</a:t>
              </a:r>
            </a:p>
          </p:txBody>
        </p:sp>
        <p:sp>
          <p:nvSpPr>
            <p:cNvPr id="17" name="직사각형 16">
              <a:extLst>
                <a:ext uri="{FF2B5EF4-FFF2-40B4-BE49-F238E27FC236}">
                  <a16:creationId xmlns:a16="http://schemas.microsoft.com/office/drawing/2014/main" id="{0160D6AF-8DFF-8F89-A0CC-8F622CC9EB54}"/>
                </a:ext>
              </a:extLst>
            </p:cNvPr>
            <p:cNvSpPr/>
            <p:nvPr/>
          </p:nvSpPr>
          <p:spPr>
            <a:xfrm>
              <a:off x="1331697" y="4939466"/>
              <a:ext cx="7254868" cy="504000"/>
            </a:xfrm>
            <a:prstGeom prst="rect">
              <a:avLst/>
            </a:prstGeom>
            <a:solidFill>
              <a:srgbClr val="003F56"/>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r>
                <a:rPr lang="ko-KR" altLang="en-US" kern="0" dirty="0" err="1">
                  <a:solidFill>
                    <a:prstClr val="white"/>
                  </a:solidFill>
                  <a:latin typeface="a고딕14" panose="02020600000000000000" pitchFamily="18" charset="-127"/>
                  <a:ea typeface="a고딕14" panose="02020600000000000000" pitchFamily="18" charset="-127"/>
                </a:rPr>
                <a:t>매핑된</a:t>
              </a:r>
              <a:r>
                <a:rPr lang="ko-KR" altLang="en-US" kern="0" dirty="0">
                  <a:solidFill>
                    <a:prstClr val="white"/>
                  </a:solidFill>
                  <a:latin typeface="a고딕14" panose="02020600000000000000" pitchFamily="18" charset="-127"/>
                  <a:ea typeface="a고딕14" panose="02020600000000000000" pitchFamily="18" charset="-127"/>
                </a:rPr>
                <a:t> </a:t>
              </a:r>
              <a:r>
                <a:rPr lang="en-US" altLang="ko-KR" kern="0" dirty="0">
                  <a:solidFill>
                    <a:prstClr val="white"/>
                  </a:solidFill>
                  <a:latin typeface="a고딕14" panose="02020600000000000000" pitchFamily="18" charset="-127"/>
                  <a:ea typeface="a고딕14" panose="02020600000000000000" pitchFamily="18" charset="-127"/>
                </a:rPr>
                <a:t>NCS </a:t>
              </a:r>
              <a:r>
                <a:rPr lang="ko-KR" altLang="en-US" kern="0" dirty="0">
                  <a:solidFill>
                    <a:prstClr val="white"/>
                  </a:solidFill>
                  <a:latin typeface="a고딕14" panose="02020600000000000000" pitchFamily="18" charset="-127"/>
                  <a:ea typeface="a고딕14" panose="02020600000000000000" pitchFamily="18" charset="-127"/>
                </a:rPr>
                <a:t>체계를</a:t>
              </a:r>
              <a:br>
                <a:rPr lang="en-US" altLang="ko-KR" kern="0" dirty="0">
                  <a:solidFill>
                    <a:prstClr val="white"/>
                  </a:solidFill>
                  <a:latin typeface="a고딕14" panose="02020600000000000000" pitchFamily="18" charset="-127"/>
                  <a:ea typeface="a고딕14" panose="02020600000000000000" pitchFamily="18" charset="-127"/>
                </a:rPr>
              </a:br>
              <a:r>
                <a:rPr lang="ko-KR" altLang="en-US" kern="0" dirty="0">
                  <a:solidFill>
                    <a:prstClr val="white"/>
                  </a:solidFill>
                  <a:latin typeface="a고딕14" panose="02020600000000000000" pitchFamily="18" charset="-127"/>
                  <a:ea typeface="a고딕14" panose="02020600000000000000" pitchFamily="18" charset="-127"/>
                </a:rPr>
                <a:t>전문가에게 검토 의뢰함</a:t>
              </a:r>
            </a:p>
          </p:txBody>
        </p:sp>
        <p:sp>
          <p:nvSpPr>
            <p:cNvPr id="18" name="직사각형 17">
              <a:extLst>
                <a:ext uri="{FF2B5EF4-FFF2-40B4-BE49-F238E27FC236}">
                  <a16:creationId xmlns:a16="http://schemas.microsoft.com/office/drawing/2014/main" id="{3B126E89-E0FB-9AE9-A76F-48295D0AD413}"/>
                </a:ext>
              </a:extLst>
            </p:cNvPr>
            <p:cNvSpPr/>
            <p:nvPr/>
          </p:nvSpPr>
          <p:spPr>
            <a:xfrm>
              <a:off x="1331697" y="5625300"/>
              <a:ext cx="7254868" cy="504000"/>
            </a:xfrm>
            <a:prstGeom prst="rect">
              <a:avLst/>
            </a:prstGeom>
            <a:solidFill>
              <a:srgbClr val="002836"/>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r>
                <a:rPr lang="ko-KR" altLang="en-US" kern="0" dirty="0">
                  <a:solidFill>
                    <a:prstClr val="white"/>
                  </a:solidFill>
                  <a:latin typeface="a고딕14" panose="02020600000000000000" pitchFamily="18" charset="-127"/>
                  <a:ea typeface="a고딕14" panose="02020600000000000000" pitchFamily="18" charset="-127"/>
                </a:rPr>
                <a:t>온평원에서 매핑 결과에 대한 </a:t>
              </a:r>
              <a:br>
                <a:rPr lang="en-US" altLang="ko-KR" kern="0" dirty="0">
                  <a:solidFill>
                    <a:prstClr val="white"/>
                  </a:solidFill>
                  <a:latin typeface="a고딕14" panose="02020600000000000000" pitchFamily="18" charset="-127"/>
                  <a:ea typeface="a고딕14" panose="02020600000000000000" pitchFamily="18" charset="-127"/>
                </a:rPr>
              </a:br>
              <a:r>
                <a:rPr lang="ko-KR" altLang="en-US" kern="0" dirty="0">
                  <a:solidFill>
                    <a:prstClr val="white"/>
                  </a:solidFill>
                  <a:latin typeface="a고딕14" panose="02020600000000000000" pitchFamily="18" charset="-127"/>
                  <a:ea typeface="a고딕14" panose="02020600000000000000" pitchFamily="18" charset="-127"/>
                </a:rPr>
                <a:t>최종 검토를 실시함</a:t>
              </a:r>
            </a:p>
          </p:txBody>
        </p:sp>
        <p:sp>
          <p:nvSpPr>
            <p:cNvPr id="19" name="이등변 삼각형 18">
              <a:extLst>
                <a:ext uri="{FF2B5EF4-FFF2-40B4-BE49-F238E27FC236}">
                  <a16:creationId xmlns:a16="http://schemas.microsoft.com/office/drawing/2014/main" id="{4F81A672-1606-33D3-A089-CE5E535DD9BF}"/>
                </a:ext>
              </a:extLst>
            </p:cNvPr>
            <p:cNvSpPr/>
            <p:nvPr/>
          </p:nvSpPr>
          <p:spPr>
            <a:xfrm flipV="1">
              <a:off x="4754180" y="3382816"/>
              <a:ext cx="360040" cy="169070"/>
            </a:xfrm>
            <a:prstGeom prst="triangle">
              <a:avLst/>
            </a:prstGeom>
            <a:solidFill>
              <a:srgbClr val="93CDDD"/>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endParaRPr lang="ko-KR" altLang="en-US" kern="0" dirty="0">
                <a:solidFill>
                  <a:prstClr val="white"/>
                </a:solidFill>
                <a:latin typeface="a고딕14" panose="02020600000000000000" pitchFamily="18" charset="-127"/>
                <a:ea typeface="a고딕14" panose="02020600000000000000" pitchFamily="18" charset="-127"/>
              </a:endParaRPr>
            </a:p>
          </p:txBody>
        </p:sp>
        <p:sp>
          <p:nvSpPr>
            <p:cNvPr id="20" name="이등변 삼각형 19">
              <a:extLst>
                <a:ext uri="{FF2B5EF4-FFF2-40B4-BE49-F238E27FC236}">
                  <a16:creationId xmlns:a16="http://schemas.microsoft.com/office/drawing/2014/main" id="{FEF69381-CE42-A91A-1058-E5FAC407A526}"/>
                </a:ext>
              </a:extLst>
            </p:cNvPr>
            <p:cNvSpPr/>
            <p:nvPr/>
          </p:nvSpPr>
          <p:spPr>
            <a:xfrm flipV="1">
              <a:off x="4754180" y="4068652"/>
              <a:ext cx="360040" cy="169070"/>
            </a:xfrm>
            <a:prstGeom prst="triangle">
              <a:avLst/>
            </a:prstGeom>
            <a:solidFill>
              <a:srgbClr val="31859C"/>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endParaRPr lang="ko-KR" altLang="en-US" kern="0" dirty="0">
                <a:solidFill>
                  <a:prstClr val="white"/>
                </a:solidFill>
                <a:latin typeface="a고딕14" panose="02020600000000000000" pitchFamily="18" charset="-127"/>
                <a:ea typeface="a고딕14" panose="02020600000000000000" pitchFamily="18" charset="-127"/>
              </a:endParaRPr>
            </a:p>
          </p:txBody>
        </p:sp>
        <p:sp>
          <p:nvSpPr>
            <p:cNvPr id="21" name="이등변 삼각형 20">
              <a:extLst>
                <a:ext uri="{FF2B5EF4-FFF2-40B4-BE49-F238E27FC236}">
                  <a16:creationId xmlns:a16="http://schemas.microsoft.com/office/drawing/2014/main" id="{548D87E3-C5F8-52DD-0FFA-439668073FEE}"/>
                </a:ext>
              </a:extLst>
            </p:cNvPr>
            <p:cNvSpPr/>
            <p:nvPr/>
          </p:nvSpPr>
          <p:spPr>
            <a:xfrm flipV="1">
              <a:off x="4754180" y="4754488"/>
              <a:ext cx="360040" cy="169070"/>
            </a:xfrm>
            <a:prstGeom prst="triangle">
              <a:avLst/>
            </a:prstGeom>
            <a:solidFill>
              <a:srgbClr val="215968"/>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endParaRPr lang="ko-KR" altLang="en-US" kern="0" dirty="0">
                <a:solidFill>
                  <a:prstClr val="white"/>
                </a:solidFill>
                <a:latin typeface="a고딕14" panose="02020600000000000000" pitchFamily="18" charset="-127"/>
                <a:ea typeface="a고딕14" panose="02020600000000000000" pitchFamily="18" charset="-127"/>
              </a:endParaRPr>
            </a:p>
          </p:txBody>
        </p:sp>
        <p:sp>
          <p:nvSpPr>
            <p:cNvPr id="22" name="이등변 삼각형 21">
              <a:extLst>
                <a:ext uri="{FF2B5EF4-FFF2-40B4-BE49-F238E27FC236}">
                  <a16:creationId xmlns:a16="http://schemas.microsoft.com/office/drawing/2014/main" id="{38401367-61EC-D17B-F051-7A10D91590B2}"/>
                </a:ext>
              </a:extLst>
            </p:cNvPr>
            <p:cNvSpPr/>
            <p:nvPr/>
          </p:nvSpPr>
          <p:spPr>
            <a:xfrm flipV="1">
              <a:off x="4754180" y="5440324"/>
              <a:ext cx="360040" cy="169070"/>
            </a:xfrm>
            <a:prstGeom prst="triangle">
              <a:avLst/>
            </a:prstGeom>
            <a:solidFill>
              <a:srgbClr val="003F56"/>
            </a:solidFill>
            <a:ln w="25400" cap="flat" cmpd="sng" algn="ctr">
              <a:noFill/>
              <a:prstDash val="solid"/>
            </a:ln>
            <a:effectLst/>
          </p:spPr>
          <p:txBody>
            <a:bodyPr rtlCol="0" anchor="ctr"/>
            <a:lstStyle/>
            <a:p>
              <a:pPr eaLnBrk="1" fontAlgn="auto" latinLnBrk="0" hangingPunct="1">
                <a:spcBef>
                  <a:spcPts val="0"/>
                </a:spcBef>
                <a:spcAft>
                  <a:spcPts val="0"/>
                </a:spcAft>
                <a:buFont typeface="Wingdings" pitchFamily="2" charset="2"/>
                <a:buNone/>
                <a:defRPr/>
              </a:pPr>
              <a:endParaRPr lang="ko-KR" altLang="en-US" kern="0" dirty="0">
                <a:solidFill>
                  <a:prstClr val="white"/>
                </a:solidFill>
                <a:latin typeface="a고딕14" panose="02020600000000000000" pitchFamily="18" charset="-127"/>
                <a:ea typeface="a고딕14" panose="02020600000000000000" pitchFamily="18" charset="-127"/>
              </a:endParaRPr>
            </a:p>
          </p:txBody>
        </p:sp>
      </p:grpSp>
      <p:sp>
        <p:nvSpPr>
          <p:cNvPr id="23" name="타원 22">
            <a:extLst>
              <a:ext uri="{FF2B5EF4-FFF2-40B4-BE49-F238E27FC236}">
                <a16:creationId xmlns:a16="http://schemas.microsoft.com/office/drawing/2014/main" id="{122DD8C4-A2A9-34C2-3EA6-4AA2094FBCD0}"/>
              </a:ext>
            </a:extLst>
          </p:cNvPr>
          <p:cNvSpPr/>
          <p:nvPr/>
        </p:nvSpPr>
        <p:spPr>
          <a:xfrm>
            <a:off x="636388" y="2590910"/>
            <a:ext cx="213761" cy="214188"/>
          </a:xfrm>
          <a:prstGeom prst="ellipse">
            <a:avLst/>
          </a:prstGeom>
          <a:solidFill>
            <a:sysClr val="window" lastClr="FFFFFF"/>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rPr>
              <a:t>1</a:t>
            </a: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endParaRPr>
          </a:p>
        </p:txBody>
      </p:sp>
      <p:sp>
        <p:nvSpPr>
          <p:cNvPr id="24" name="타원 23">
            <a:extLst>
              <a:ext uri="{FF2B5EF4-FFF2-40B4-BE49-F238E27FC236}">
                <a16:creationId xmlns:a16="http://schemas.microsoft.com/office/drawing/2014/main" id="{F9BBF1B9-EBF5-E2C9-5C45-ECD4CE9E05A8}"/>
              </a:ext>
            </a:extLst>
          </p:cNvPr>
          <p:cNvSpPr/>
          <p:nvPr/>
        </p:nvSpPr>
        <p:spPr>
          <a:xfrm>
            <a:off x="636388" y="3366668"/>
            <a:ext cx="213761" cy="214188"/>
          </a:xfrm>
          <a:prstGeom prst="ellipse">
            <a:avLst/>
          </a:prstGeom>
          <a:solidFill>
            <a:sysClr val="window" lastClr="FFFFFF"/>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rPr>
              <a:t>2</a:t>
            </a: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endParaRPr>
          </a:p>
        </p:txBody>
      </p:sp>
      <p:sp>
        <p:nvSpPr>
          <p:cNvPr id="25" name="타원 24">
            <a:extLst>
              <a:ext uri="{FF2B5EF4-FFF2-40B4-BE49-F238E27FC236}">
                <a16:creationId xmlns:a16="http://schemas.microsoft.com/office/drawing/2014/main" id="{AE912AC1-9239-F4B5-11C4-4AA7D0DCD219}"/>
              </a:ext>
            </a:extLst>
          </p:cNvPr>
          <p:cNvSpPr/>
          <p:nvPr/>
        </p:nvSpPr>
        <p:spPr>
          <a:xfrm>
            <a:off x="636388" y="4149080"/>
            <a:ext cx="213761" cy="214188"/>
          </a:xfrm>
          <a:prstGeom prst="ellipse">
            <a:avLst/>
          </a:prstGeom>
          <a:solidFill>
            <a:sysClr val="window" lastClr="FFFFFF"/>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rPr>
              <a:t>3</a:t>
            </a: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endParaRPr>
          </a:p>
        </p:txBody>
      </p:sp>
      <p:sp>
        <p:nvSpPr>
          <p:cNvPr id="26" name="타원 25">
            <a:extLst>
              <a:ext uri="{FF2B5EF4-FFF2-40B4-BE49-F238E27FC236}">
                <a16:creationId xmlns:a16="http://schemas.microsoft.com/office/drawing/2014/main" id="{75705CBD-8062-1C26-836D-0874BFCB30A8}"/>
              </a:ext>
            </a:extLst>
          </p:cNvPr>
          <p:cNvSpPr/>
          <p:nvPr/>
        </p:nvSpPr>
        <p:spPr>
          <a:xfrm>
            <a:off x="636388" y="4943004"/>
            <a:ext cx="213761" cy="214188"/>
          </a:xfrm>
          <a:prstGeom prst="ellipse">
            <a:avLst/>
          </a:prstGeom>
          <a:solidFill>
            <a:sysClr val="window" lastClr="FFFFFF"/>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rPr>
              <a:t>4</a:t>
            </a: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endParaRPr>
          </a:p>
        </p:txBody>
      </p:sp>
      <p:sp>
        <p:nvSpPr>
          <p:cNvPr id="27" name="타원 26">
            <a:extLst>
              <a:ext uri="{FF2B5EF4-FFF2-40B4-BE49-F238E27FC236}">
                <a16:creationId xmlns:a16="http://schemas.microsoft.com/office/drawing/2014/main" id="{E68DB239-8162-6C4C-74B5-2B77B4C0F07E}"/>
              </a:ext>
            </a:extLst>
          </p:cNvPr>
          <p:cNvSpPr/>
          <p:nvPr/>
        </p:nvSpPr>
        <p:spPr>
          <a:xfrm>
            <a:off x="636388" y="5697252"/>
            <a:ext cx="213761" cy="214188"/>
          </a:xfrm>
          <a:prstGeom prst="ellipse">
            <a:avLst/>
          </a:prstGeom>
          <a:solidFill>
            <a:sysClr val="window" lastClr="FFFFFF"/>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rPr>
              <a:t>5</a:t>
            </a: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a:cs typeface="+mn-cs"/>
            </a:endParaRPr>
          </a:p>
        </p:txBody>
      </p:sp>
      <p:sp>
        <p:nvSpPr>
          <p:cNvPr id="28" name="object 20">
            <a:extLst>
              <a:ext uri="{FF2B5EF4-FFF2-40B4-BE49-F238E27FC236}">
                <a16:creationId xmlns:a16="http://schemas.microsoft.com/office/drawing/2014/main" id="{316531A4-6F06-4285-3530-7894BFA36A70}"/>
              </a:ext>
            </a:extLst>
          </p:cNvPr>
          <p:cNvSpPr/>
          <p:nvPr/>
        </p:nvSpPr>
        <p:spPr>
          <a:xfrm>
            <a:off x="3325725" y="2290839"/>
            <a:ext cx="6019503" cy="4198861"/>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800" b="0" i="0" u="none" strike="noStrike" kern="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30" name="사각형: 둥근 모서리 29">
            <a:extLst>
              <a:ext uri="{FF2B5EF4-FFF2-40B4-BE49-F238E27FC236}">
                <a16:creationId xmlns:a16="http://schemas.microsoft.com/office/drawing/2014/main" id="{3DA2E553-00D2-54BD-DB9C-E52B67D9A842}"/>
              </a:ext>
            </a:extLst>
          </p:cNvPr>
          <p:cNvSpPr/>
          <p:nvPr/>
        </p:nvSpPr>
        <p:spPr>
          <a:xfrm>
            <a:off x="3514936" y="2501408"/>
            <a:ext cx="5686536" cy="602764"/>
          </a:xfrm>
          <a:prstGeom prst="round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latinLnBrk="0">
              <a:buFont typeface="Arial" panose="020B0604020202020204" pitchFamily="34" charset="0"/>
              <a:buChar char="•"/>
            </a:pPr>
            <a:r>
              <a:rPr lang="ko-KR" altLang="en-US" dirty="0">
                <a:solidFill>
                  <a:schemeClr val="tx1"/>
                </a:solidFill>
                <a:latin typeface="+mj-ea"/>
                <a:ea typeface="+mj-ea"/>
              </a:rPr>
              <a:t>전체 오픈마켓 콘텐츠 </a:t>
            </a:r>
            <a:r>
              <a:rPr lang="en-US" altLang="ko-KR" dirty="0">
                <a:solidFill>
                  <a:schemeClr val="tx1"/>
                </a:solidFill>
                <a:latin typeface="+mj-ea"/>
                <a:ea typeface="+mj-ea"/>
              </a:rPr>
              <a:t>2,909</a:t>
            </a:r>
            <a:r>
              <a:rPr lang="ko-KR" altLang="en-US" dirty="0">
                <a:solidFill>
                  <a:schemeClr val="tx1"/>
                </a:solidFill>
                <a:latin typeface="+mj-ea"/>
                <a:ea typeface="+mj-ea"/>
              </a:rPr>
              <a:t>개 중 </a:t>
            </a:r>
            <a:r>
              <a:rPr lang="en-US" altLang="ko-KR" dirty="0">
                <a:solidFill>
                  <a:schemeClr val="tx1"/>
                </a:solidFill>
                <a:latin typeface="+mj-ea"/>
                <a:ea typeface="+mj-ea"/>
              </a:rPr>
              <a:t>2,845</a:t>
            </a:r>
            <a:r>
              <a:rPr lang="ko-KR" altLang="en-US" dirty="0">
                <a:solidFill>
                  <a:schemeClr val="tx1"/>
                </a:solidFill>
                <a:latin typeface="+mj-ea"/>
                <a:ea typeface="+mj-ea"/>
              </a:rPr>
              <a:t>개</a:t>
            </a:r>
            <a:r>
              <a:rPr lang="en-US" altLang="ko-KR" dirty="0">
                <a:solidFill>
                  <a:schemeClr val="tx1"/>
                </a:solidFill>
                <a:latin typeface="+mj-ea"/>
                <a:ea typeface="+mj-ea"/>
              </a:rPr>
              <a:t>(97.8%)</a:t>
            </a:r>
            <a:r>
              <a:rPr lang="ko-KR" altLang="en-US" dirty="0">
                <a:solidFill>
                  <a:schemeClr val="tx1"/>
                </a:solidFill>
                <a:latin typeface="+mj-ea"/>
                <a:ea typeface="+mj-ea"/>
              </a:rPr>
              <a:t>에 대해 </a:t>
            </a:r>
            <a:r>
              <a:rPr lang="en-US" altLang="ko-KR" dirty="0">
                <a:solidFill>
                  <a:schemeClr val="tx1"/>
                </a:solidFill>
                <a:latin typeface="+mj-ea"/>
                <a:ea typeface="+mj-ea"/>
              </a:rPr>
              <a:t>NCS </a:t>
            </a:r>
            <a:r>
              <a:rPr lang="ko-KR" altLang="en-US" dirty="0">
                <a:solidFill>
                  <a:schemeClr val="tx1"/>
                </a:solidFill>
                <a:latin typeface="+mj-ea"/>
                <a:ea typeface="+mj-ea"/>
              </a:rPr>
              <a:t>매핑을 완료하였으며</a:t>
            </a:r>
            <a:r>
              <a:rPr lang="en-US" altLang="ko-KR" dirty="0">
                <a:solidFill>
                  <a:schemeClr val="tx1"/>
                </a:solidFill>
                <a:latin typeface="+mj-ea"/>
                <a:ea typeface="+mj-ea"/>
              </a:rPr>
              <a:t>, </a:t>
            </a:r>
            <a:r>
              <a:rPr lang="ko-KR" altLang="en-US" dirty="0">
                <a:solidFill>
                  <a:schemeClr val="tx1"/>
                </a:solidFill>
                <a:latin typeface="+mj-ea"/>
                <a:ea typeface="+mj-ea"/>
              </a:rPr>
              <a:t>이는 초기 매핑 현황 </a:t>
            </a:r>
            <a:r>
              <a:rPr lang="en-US" altLang="ko-KR" dirty="0">
                <a:solidFill>
                  <a:schemeClr val="tx1"/>
                </a:solidFill>
                <a:latin typeface="+mj-ea"/>
                <a:ea typeface="+mj-ea"/>
              </a:rPr>
              <a:t>(7</a:t>
            </a:r>
            <a:r>
              <a:rPr lang="ko-KR" altLang="en-US" dirty="0">
                <a:solidFill>
                  <a:schemeClr val="tx1"/>
                </a:solidFill>
                <a:latin typeface="+mj-ea"/>
                <a:ea typeface="+mj-ea"/>
              </a:rPr>
              <a:t>개</a:t>
            </a:r>
            <a:r>
              <a:rPr lang="en-US" altLang="ko-KR" dirty="0">
                <a:solidFill>
                  <a:schemeClr val="tx1"/>
                </a:solidFill>
                <a:latin typeface="+mj-ea"/>
                <a:ea typeface="+mj-ea"/>
              </a:rPr>
              <a:t>, 0.2%) </a:t>
            </a:r>
            <a:r>
              <a:rPr lang="ko-KR" altLang="en-US" dirty="0">
                <a:solidFill>
                  <a:schemeClr val="tx1"/>
                </a:solidFill>
                <a:latin typeface="+mj-ea"/>
                <a:ea typeface="+mj-ea"/>
              </a:rPr>
              <a:t>대비 대폭 향상된 수준임</a:t>
            </a:r>
          </a:p>
        </p:txBody>
      </p:sp>
      <p:sp>
        <p:nvSpPr>
          <p:cNvPr id="31" name="사각형: 둥근 모서리 30">
            <a:extLst>
              <a:ext uri="{FF2B5EF4-FFF2-40B4-BE49-F238E27FC236}">
                <a16:creationId xmlns:a16="http://schemas.microsoft.com/office/drawing/2014/main" id="{A01A4303-503C-0AF8-7561-C35D15500B02}"/>
              </a:ext>
            </a:extLst>
          </p:cNvPr>
          <p:cNvSpPr/>
          <p:nvPr/>
        </p:nvSpPr>
        <p:spPr>
          <a:xfrm>
            <a:off x="3514936" y="3252890"/>
            <a:ext cx="5686536" cy="602764"/>
          </a:xfrm>
          <a:prstGeom prst="round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latinLnBrk="0">
              <a:buFont typeface="Arial" panose="020B0604020202020204" pitchFamily="34" charset="0"/>
              <a:buChar char="•"/>
            </a:pPr>
            <a:r>
              <a:rPr lang="ko-KR" altLang="en-US" dirty="0">
                <a:solidFill>
                  <a:schemeClr val="tx1"/>
                </a:solidFill>
                <a:latin typeface="+mj-ea"/>
                <a:ea typeface="+mj-ea"/>
              </a:rPr>
              <a:t>오픈마켓 콘텐츠의 </a:t>
            </a:r>
            <a:r>
              <a:rPr lang="en-US" altLang="ko-KR" dirty="0">
                <a:solidFill>
                  <a:schemeClr val="tx1"/>
                </a:solidFill>
                <a:latin typeface="+mj-ea"/>
                <a:ea typeface="+mj-ea"/>
              </a:rPr>
              <a:t>NCS </a:t>
            </a:r>
            <a:r>
              <a:rPr lang="ko-KR" altLang="en-US" dirty="0">
                <a:solidFill>
                  <a:schemeClr val="tx1"/>
                </a:solidFill>
                <a:latin typeface="+mj-ea"/>
                <a:ea typeface="+mj-ea"/>
              </a:rPr>
              <a:t>매핑은 기존 </a:t>
            </a:r>
            <a:r>
              <a:rPr lang="en-US" altLang="ko-KR" dirty="0">
                <a:solidFill>
                  <a:schemeClr val="tx1"/>
                </a:solidFill>
                <a:latin typeface="+mj-ea"/>
                <a:ea typeface="+mj-ea"/>
              </a:rPr>
              <a:t>10</a:t>
            </a:r>
            <a:r>
              <a:rPr lang="ko-KR" altLang="en-US" dirty="0">
                <a:solidFill>
                  <a:schemeClr val="tx1"/>
                </a:solidFill>
                <a:latin typeface="+mj-ea"/>
                <a:ea typeface="+mj-ea"/>
              </a:rPr>
              <a:t>대 대분류에 국한하지 않고</a:t>
            </a:r>
            <a:r>
              <a:rPr lang="en-US" altLang="ko-KR" dirty="0">
                <a:solidFill>
                  <a:schemeClr val="tx1"/>
                </a:solidFill>
                <a:latin typeface="+mj-ea"/>
                <a:ea typeface="+mj-ea"/>
              </a:rPr>
              <a:t>, </a:t>
            </a:r>
            <a:r>
              <a:rPr lang="ko-KR" altLang="en-US" dirty="0">
                <a:solidFill>
                  <a:schemeClr val="tx1"/>
                </a:solidFill>
                <a:latin typeface="+mj-ea"/>
                <a:ea typeface="+mj-ea"/>
              </a:rPr>
              <a:t>전체 </a:t>
            </a:r>
            <a:r>
              <a:rPr lang="en-US" altLang="ko-KR" dirty="0">
                <a:solidFill>
                  <a:schemeClr val="tx1"/>
                </a:solidFill>
                <a:latin typeface="+mj-ea"/>
                <a:ea typeface="+mj-ea"/>
              </a:rPr>
              <a:t>24</a:t>
            </a:r>
            <a:r>
              <a:rPr lang="ko-KR" altLang="en-US" dirty="0">
                <a:solidFill>
                  <a:schemeClr val="tx1"/>
                </a:solidFill>
                <a:latin typeface="+mj-ea"/>
                <a:ea typeface="+mj-ea"/>
              </a:rPr>
              <a:t>개 대분류를 기준으로 적용하였음</a:t>
            </a:r>
          </a:p>
        </p:txBody>
      </p:sp>
      <p:sp>
        <p:nvSpPr>
          <p:cNvPr id="32" name="사각형: 둥근 모서리 31">
            <a:extLst>
              <a:ext uri="{FF2B5EF4-FFF2-40B4-BE49-F238E27FC236}">
                <a16:creationId xmlns:a16="http://schemas.microsoft.com/office/drawing/2014/main" id="{33FA6779-BAEB-88CA-3EA6-19A47AF4AA08}"/>
              </a:ext>
            </a:extLst>
          </p:cNvPr>
          <p:cNvSpPr/>
          <p:nvPr/>
        </p:nvSpPr>
        <p:spPr>
          <a:xfrm>
            <a:off x="3514936" y="4004372"/>
            <a:ext cx="5686536" cy="854684"/>
          </a:xfrm>
          <a:prstGeom prst="round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latinLnBrk="0">
              <a:buFont typeface="Arial" panose="020B0604020202020204" pitchFamily="34" charset="0"/>
              <a:buChar char="•"/>
            </a:pPr>
            <a:r>
              <a:rPr lang="ko-KR" altLang="en-US" dirty="0" err="1">
                <a:solidFill>
                  <a:schemeClr val="tx1"/>
                </a:solidFill>
                <a:latin typeface="+mj-ea"/>
                <a:ea typeface="+mj-ea"/>
              </a:rPr>
              <a:t>판매사</a:t>
            </a:r>
            <a:r>
              <a:rPr lang="ko-KR" altLang="en-US" dirty="0">
                <a:solidFill>
                  <a:schemeClr val="tx1"/>
                </a:solidFill>
                <a:latin typeface="+mj-ea"/>
                <a:ea typeface="+mj-ea"/>
              </a:rPr>
              <a:t> 홈페이지에 </a:t>
            </a:r>
            <a:r>
              <a:rPr lang="en-US" altLang="ko-KR" dirty="0">
                <a:solidFill>
                  <a:schemeClr val="tx1"/>
                </a:solidFill>
                <a:latin typeface="+mj-ea"/>
                <a:ea typeface="+mj-ea"/>
              </a:rPr>
              <a:t>NCS</a:t>
            </a:r>
            <a:r>
              <a:rPr lang="ko-KR" altLang="en-US" dirty="0">
                <a:solidFill>
                  <a:schemeClr val="tx1"/>
                </a:solidFill>
                <a:latin typeface="+mj-ea"/>
                <a:ea typeface="+mj-ea"/>
              </a:rPr>
              <a:t>가 기재된 경우에는 해당 분류체계를 적용하였으며</a:t>
            </a:r>
            <a:r>
              <a:rPr lang="en-US" altLang="ko-KR" dirty="0">
                <a:solidFill>
                  <a:schemeClr val="tx1"/>
                </a:solidFill>
                <a:latin typeface="+mj-ea"/>
                <a:ea typeface="+mj-ea"/>
              </a:rPr>
              <a:t>, </a:t>
            </a:r>
            <a:r>
              <a:rPr lang="ko-KR" altLang="en-US" dirty="0">
                <a:solidFill>
                  <a:schemeClr val="tx1"/>
                </a:solidFill>
                <a:latin typeface="+mj-ea"/>
                <a:ea typeface="+mj-ea"/>
              </a:rPr>
              <a:t>미 기재된 경우에는 학습목표와 강의 개요 등 강의 설명에서 주요 키워드를 연구진이 도출하여 </a:t>
            </a:r>
            <a:r>
              <a:rPr lang="en-US" altLang="ko-KR" dirty="0">
                <a:solidFill>
                  <a:schemeClr val="tx1"/>
                </a:solidFill>
                <a:latin typeface="+mj-ea"/>
                <a:ea typeface="+mj-ea"/>
              </a:rPr>
              <a:t>NCS</a:t>
            </a:r>
            <a:r>
              <a:rPr lang="ko-KR" altLang="en-US" dirty="0">
                <a:solidFill>
                  <a:schemeClr val="tx1"/>
                </a:solidFill>
                <a:latin typeface="+mj-ea"/>
                <a:ea typeface="+mj-ea"/>
              </a:rPr>
              <a:t>와 매핑하였음</a:t>
            </a:r>
          </a:p>
        </p:txBody>
      </p:sp>
      <p:sp>
        <p:nvSpPr>
          <p:cNvPr id="33" name="사각형: 둥근 모서리 32">
            <a:extLst>
              <a:ext uri="{FF2B5EF4-FFF2-40B4-BE49-F238E27FC236}">
                <a16:creationId xmlns:a16="http://schemas.microsoft.com/office/drawing/2014/main" id="{00D6F416-24A6-D9B3-5A82-2BA9F04B24D1}"/>
              </a:ext>
            </a:extLst>
          </p:cNvPr>
          <p:cNvSpPr/>
          <p:nvPr/>
        </p:nvSpPr>
        <p:spPr>
          <a:xfrm>
            <a:off x="3514936" y="5006441"/>
            <a:ext cx="5686536" cy="602764"/>
          </a:xfrm>
          <a:prstGeom prst="round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latinLnBrk="0">
              <a:buFont typeface="Arial" panose="020B0604020202020204" pitchFamily="34" charset="0"/>
              <a:buChar char="•"/>
            </a:pPr>
            <a:r>
              <a:rPr lang="en-US" altLang="ko-KR" dirty="0">
                <a:solidFill>
                  <a:schemeClr val="tx1"/>
                </a:solidFill>
                <a:latin typeface="+mj-ea"/>
                <a:ea typeface="+mj-ea"/>
              </a:rPr>
              <a:t>2023</a:t>
            </a:r>
            <a:r>
              <a:rPr lang="ko-KR" altLang="en-US" dirty="0">
                <a:solidFill>
                  <a:schemeClr val="tx1"/>
                </a:solidFill>
                <a:latin typeface="+mj-ea"/>
                <a:ea typeface="+mj-ea"/>
              </a:rPr>
              <a:t>년과</a:t>
            </a:r>
            <a:r>
              <a:rPr lang="en-US" altLang="ko-KR" dirty="0">
                <a:solidFill>
                  <a:schemeClr val="tx1"/>
                </a:solidFill>
                <a:latin typeface="+mj-ea"/>
                <a:ea typeface="+mj-ea"/>
              </a:rPr>
              <a:t> 2024</a:t>
            </a:r>
            <a:r>
              <a:rPr lang="ko-KR" altLang="en-US" dirty="0">
                <a:solidFill>
                  <a:schemeClr val="tx1"/>
                </a:solidFill>
                <a:latin typeface="+mj-ea"/>
                <a:ea typeface="+mj-ea"/>
              </a:rPr>
              <a:t>년 강의개요서 개발에 참여한 전문가에게 검토를 의뢰하여 </a:t>
            </a:r>
            <a:r>
              <a:rPr lang="en-US" altLang="ko-KR" dirty="0">
                <a:solidFill>
                  <a:schemeClr val="tx1"/>
                </a:solidFill>
                <a:latin typeface="+mj-ea"/>
                <a:ea typeface="+mj-ea"/>
              </a:rPr>
              <a:t>DB</a:t>
            </a:r>
            <a:r>
              <a:rPr lang="ko-KR" altLang="en-US" dirty="0">
                <a:solidFill>
                  <a:schemeClr val="tx1"/>
                </a:solidFill>
                <a:latin typeface="+mj-ea"/>
                <a:ea typeface="+mj-ea"/>
              </a:rPr>
              <a:t>를 정리함 </a:t>
            </a:r>
          </a:p>
        </p:txBody>
      </p:sp>
      <p:sp>
        <p:nvSpPr>
          <p:cNvPr id="34" name="사각형: 둥근 모서리 33">
            <a:extLst>
              <a:ext uri="{FF2B5EF4-FFF2-40B4-BE49-F238E27FC236}">
                <a16:creationId xmlns:a16="http://schemas.microsoft.com/office/drawing/2014/main" id="{CC5BB00A-F33D-45DA-574B-8FA6AE8327D5}"/>
              </a:ext>
            </a:extLst>
          </p:cNvPr>
          <p:cNvSpPr/>
          <p:nvPr/>
        </p:nvSpPr>
        <p:spPr>
          <a:xfrm>
            <a:off x="3514936" y="5756590"/>
            <a:ext cx="5686536" cy="602764"/>
          </a:xfrm>
          <a:prstGeom prst="round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85725" algn="l" latinLnBrk="0">
              <a:buFont typeface="Arial" panose="020B0604020202020204" pitchFamily="34" charset="0"/>
              <a:buChar char="•"/>
            </a:pPr>
            <a:r>
              <a:rPr lang="ko-KR" altLang="en-US" dirty="0">
                <a:solidFill>
                  <a:schemeClr val="tx1"/>
                </a:solidFill>
                <a:latin typeface="+mj-ea"/>
                <a:ea typeface="+mj-ea"/>
              </a:rPr>
              <a:t>최종적으로 혼합훈련 파트에서 판매 중인 콘텐츠 목록과 대조하여 </a:t>
            </a:r>
            <a:r>
              <a:rPr lang="en-US" altLang="ko-KR" dirty="0">
                <a:solidFill>
                  <a:schemeClr val="tx1"/>
                </a:solidFill>
                <a:latin typeface="+mj-ea"/>
                <a:ea typeface="+mj-ea"/>
              </a:rPr>
              <a:t>DB</a:t>
            </a:r>
            <a:r>
              <a:rPr lang="ko-KR" altLang="en-US" dirty="0">
                <a:solidFill>
                  <a:schemeClr val="tx1"/>
                </a:solidFill>
                <a:latin typeface="+mj-ea"/>
                <a:ea typeface="+mj-ea"/>
              </a:rPr>
              <a:t>를 검토함</a:t>
            </a:r>
          </a:p>
        </p:txBody>
      </p:sp>
    </p:spTree>
    <p:extLst>
      <p:ext uri="{BB962C8B-B14F-4D97-AF65-F5344CB8AC3E}">
        <p14:creationId xmlns:p14="http://schemas.microsoft.com/office/powerpoint/2010/main" val="223653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5B9A4-FCFA-D685-C419-3AC81B3DBC32}"/>
            </a:ext>
          </a:extLst>
        </p:cNvPr>
        <p:cNvGrpSpPr/>
        <p:nvPr/>
      </p:nvGrpSpPr>
      <p:grpSpPr>
        <a:xfrm>
          <a:off x="0" y="0"/>
          <a:ext cx="0" cy="0"/>
          <a:chOff x="0" y="0"/>
          <a:chExt cx="0" cy="0"/>
        </a:xfrm>
      </p:grpSpPr>
      <p:sp>
        <p:nvSpPr>
          <p:cNvPr id="35" name="직사각형 34">
            <a:extLst>
              <a:ext uri="{FF2B5EF4-FFF2-40B4-BE49-F238E27FC236}">
                <a16:creationId xmlns:a16="http://schemas.microsoft.com/office/drawing/2014/main" id="{B6D2BCF5-80ED-063D-C169-075914B223E8}"/>
              </a:ext>
            </a:extLst>
          </p:cNvPr>
          <p:cNvSpPr/>
          <p:nvPr/>
        </p:nvSpPr>
        <p:spPr>
          <a:xfrm>
            <a:off x="611397" y="2353832"/>
            <a:ext cx="1821323"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2" name="텍스트 개체 틀 1">
            <a:extLst>
              <a:ext uri="{FF2B5EF4-FFF2-40B4-BE49-F238E27FC236}">
                <a16:creationId xmlns:a16="http://schemas.microsoft.com/office/drawing/2014/main" id="{61615964-3485-7D93-0BE4-18A102CD96E0}"/>
              </a:ext>
            </a:extLst>
          </p:cNvPr>
          <p:cNvSpPr>
            <a:spLocks noGrp="1"/>
          </p:cNvSpPr>
          <p:nvPr>
            <p:ph type="body" sz="quarter" idx="12"/>
          </p:nvPr>
        </p:nvSpPr>
        <p:spPr/>
        <p:txBody>
          <a:bodyPr/>
          <a:lstStyle/>
          <a:p>
            <a:pPr latinLnBrk="0"/>
            <a:r>
              <a:rPr lang="ko-KR" altLang="en-US" dirty="0" err="1"/>
              <a:t>세분류</a:t>
            </a:r>
            <a:r>
              <a:rPr lang="ko-KR" altLang="en-US" dirty="0"/>
              <a:t> 수요평가는 </a:t>
            </a:r>
            <a:r>
              <a:rPr lang="en-US" altLang="ko-KR" dirty="0"/>
              <a:t>24</a:t>
            </a:r>
            <a:r>
              <a:rPr lang="ko-KR" altLang="en-US" dirty="0"/>
              <a:t>년 연구를 통해 정립한 평가절차에 따라 정량평가와 정성평가 순서로 진행됨</a:t>
            </a:r>
            <a:endParaRPr lang="ko-KR" altLang="en-US" sz="1800" dirty="0"/>
          </a:p>
        </p:txBody>
      </p:sp>
      <p:sp>
        <p:nvSpPr>
          <p:cNvPr id="5" name="텍스트 개체 틀 4">
            <a:extLst>
              <a:ext uri="{FF2B5EF4-FFF2-40B4-BE49-F238E27FC236}">
                <a16:creationId xmlns:a16="http://schemas.microsoft.com/office/drawing/2014/main" id="{6CF07714-2D68-8C82-007C-73ABD54EB48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1" name="텍스트 개체 틀 87">
            <a:extLst>
              <a:ext uri="{FF2B5EF4-FFF2-40B4-BE49-F238E27FC236}">
                <a16:creationId xmlns:a16="http://schemas.microsoft.com/office/drawing/2014/main" id="{343648DA-0C9B-054A-4A83-EFA18131F490}"/>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수요평가</a:t>
            </a:r>
          </a:p>
        </p:txBody>
      </p:sp>
      <p:sp>
        <p:nvSpPr>
          <p:cNvPr id="12" name="직사각형 11">
            <a:extLst>
              <a:ext uri="{FF2B5EF4-FFF2-40B4-BE49-F238E27FC236}">
                <a16:creationId xmlns:a16="http://schemas.microsoft.com/office/drawing/2014/main" id="{0F9368CE-1C75-BE6B-6870-40C00CFBA497}"/>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C1954436-AA89-9A3C-D831-F47700F28650}"/>
              </a:ext>
            </a:extLst>
          </p:cNvPr>
          <p:cNvGrpSpPr/>
          <p:nvPr/>
        </p:nvGrpSpPr>
        <p:grpSpPr>
          <a:xfrm>
            <a:off x="596515" y="1681027"/>
            <a:ext cx="8749098" cy="266602"/>
            <a:chOff x="802640" y="2236632"/>
            <a:chExt cx="4130805" cy="266552"/>
          </a:xfrm>
        </p:grpSpPr>
        <p:sp>
          <p:nvSpPr>
            <p:cNvPr id="15" name="ListLeanHorizontalTextTopic0">
              <a:extLst>
                <a:ext uri="{FF2B5EF4-FFF2-40B4-BE49-F238E27FC236}">
                  <a16:creationId xmlns:a16="http://schemas.microsoft.com/office/drawing/2014/main" id="{1627DA13-A22A-7E38-4EEF-C045D47C7D5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세분류</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수요</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평가 프로세스 </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CA50DDFF-1F45-C19F-0F3B-03523DCA520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3" name="화살표: 오각형 2">
            <a:extLst>
              <a:ext uri="{FF2B5EF4-FFF2-40B4-BE49-F238E27FC236}">
                <a16:creationId xmlns:a16="http://schemas.microsoft.com/office/drawing/2014/main" id="{924F5BF4-052C-ED58-0062-4AC7321F7402}"/>
              </a:ext>
            </a:extLst>
          </p:cNvPr>
          <p:cNvSpPr/>
          <p:nvPr/>
        </p:nvSpPr>
        <p:spPr>
          <a:xfrm>
            <a:off x="2564857" y="2024844"/>
            <a:ext cx="3648663"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STEP 2. </a:t>
            </a:r>
            <a:r>
              <a:rPr lang="ko-KR" altLang="en-US" dirty="0">
                <a:solidFill>
                  <a:schemeClr val="bg1"/>
                </a:solidFill>
                <a:latin typeface="Arial Narrow" panose="020B0606020202030204" pitchFamily="34" charset="0"/>
                <a:ea typeface="a고딕14" panose="02020600000000000000" pitchFamily="18" charset="-127"/>
              </a:rPr>
              <a:t>정량평가</a:t>
            </a:r>
          </a:p>
        </p:txBody>
      </p:sp>
      <p:sp>
        <p:nvSpPr>
          <p:cNvPr id="4" name="화살표: 오각형 3">
            <a:extLst>
              <a:ext uri="{FF2B5EF4-FFF2-40B4-BE49-F238E27FC236}">
                <a16:creationId xmlns:a16="http://schemas.microsoft.com/office/drawing/2014/main" id="{7AF43243-8889-5C1D-7316-6877DF9E1120}"/>
              </a:ext>
            </a:extLst>
          </p:cNvPr>
          <p:cNvSpPr/>
          <p:nvPr/>
        </p:nvSpPr>
        <p:spPr>
          <a:xfrm>
            <a:off x="6345656" y="2024844"/>
            <a:ext cx="2999957"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STEP 3. </a:t>
            </a:r>
            <a:r>
              <a:rPr lang="ko-KR" altLang="en-US" dirty="0">
                <a:solidFill>
                  <a:schemeClr val="bg1"/>
                </a:solidFill>
                <a:latin typeface="Arial Narrow" panose="020B0606020202030204" pitchFamily="34" charset="0"/>
                <a:ea typeface="a고딕14" panose="02020600000000000000" pitchFamily="18" charset="-127"/>
              </a:rPr>
              <a:t>정성평가 및 합산</a:t>
            </a:r>
          </a:p>
        </p:txBody>
      </p:sp>
      <p:sp>
        <p:nvSpPr>
          <p:cNvPr id="10" name="화살표: 오각형 9">
            <a:extLst>
              <a:ext uri="{FF2B5EF4-FFF2-40B4-BE49-F238E27FC236}">
                <a16:creationId xmlns:a16="http://schemas.microsoft.com/office/drawing/2014/main" id="{EC28D4AA-D84F-9DF9-CB85-738DC129FF38}"/>
              </a:ext>
            </a:extLst>
          </p:cNvPr>
          <p:cNvSpPr/>
          <p:nvPr/>
        </p:nvSpPr>
        <p:spPr>
          <a:xfrm>
            <a:off x="595002" y="2024844"/>
            <a:ext cx="1837718"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STEP 1. </a:t>
            </a:r>
            <a:r>
              <a:rPr lang="ko-KR" altLang="en-US" dirty="0">
                <a:solidFill>
                  <a:schemeClr val="bg1"/>
                </a:solidFill>
                <a:latin typeface="Arial Narrow" panose="020B0606020202030204" pitchFamily="34" charset="0"/>
                <a:ea typeface="a고딕14" panose="02020600000000000000" pitchFamily="18" charset="-127"/>
              </a:rPr>
              <a:t>평가 준비</a:t>
            </a:r>
          </a:p>
        </p:txBody>
      </p:sp>
      <p:grpSp>
        <p:nvGrpSpPr>
          <p:cNvPr id="38" name="그룹 37">
            <a:extLst>
              <a:ext uri="{FF2B5EF4-FFF2-40B4-BE49-F238E27FC236}">
                <a16:creationId xmlns:a16="http://schemas.microsoft.com/office/drawing/2014/main" id="{1C648BEA-1320-93F3-0EDE-29AB52F270BD}"/>
              </a:ext>
            </a:extLst>
          </p:cNvPr>
          <p:cNvGrpSpPr/>
          <p:nvPr/>
        </p:nvGrpSpPr>
        <p:grpSpPr>
          <a:xfrm>
            <a:off x="747972" y="2759210"/>
            <a:ext cx="1548172" cy="3325113"/>
            <a:chOff x="704528" y="2462093"/>
            <a:chExt cx="1548172" cy="3325113"/>
          </a:xfrm>
        </p:grpSpPr>
        <p:sp>
          <p:nvSpPr>
            <p:cNvPr id="9" name="직사각형 8">
              <a:extLst>
                <a:ext uri="{FF2B5EF4-FFF2-40B4-BE49-F238E27FC236}">
                  <a16:creationId xmlns:a16="http://schemas.microsoft.com/office/drawing/2014/main" id="{1C6242D8-449F-6023-5EE4-E2388B46EBD9}"/>
                </a:ext>
              </a:extLst>
            </p:cNvPr>
            <p:cNvSpPr/>
            <p:nvPr/>
          </p:nvSpPr>
          <p:spPr>
            <a:xfrm>
              <a:off x="704528" y="2462093"/>
              <a:ext cx="1548172" cy="146520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평가 대상 </a:t>
              </a:r>
              <a:br>
                <a:rPr lang="en-US" altLang="ko-KR" dirty="0">
                  <a:solidFill>
                    <a:schemeClr val="tx1"/>
                  </a:solidFill>
                  <a:latin typeface="+mj-ea"/>
                  <a:ea typeface="+mj-ea"/>
                </a:rPr>
              </a:br>
              <a:r>
                <a:rPr lang="ko-KR" altLang="en-US" dirty="0" err="1">
                  <a:solidFill>
                    <a:schemeClr val="tx1"/>
                  </a:solidFill>
                  <a:latin typeface="+mj-ea"/>
                  <a:ea typeface="+mj-ea"/>
                </a:rPr>
                <a:t>세분류</a:t>
              </a:r>
              <a:r>
                <a:rPr lang="ko-KR" altLang="en-US" dirty="0">
                  <a:solidFill>
                    <a:schemeClr val="tx1"/>
                  </a:solidFill>
                  <a:latin typeface="+mj-ea"/>
                  <a:ea typeface="+mj-ea"/>
                </a:rPr>
                <a:t> 범위 확인</a:t>
              </a:r>
              <a:endParaRPr lang="en-US" altLang="ko-KR" dirty="0">
                <a:solidFill>
                  <a:schemeClr val="tx1"/>
                </a:solidFill>
                <a:latin typeface="+mj-ea"/>
                <a:ea typeface="+mj-ea"/>
              </a:endParaRPr>
            </a:p>
            <a:p>
              <a:pPr latinLnBrk="0">
                <a:buNone/>
              </a:pPr>
              <a:endParaRPr lang="en-US" altLang="ko-KR" dirty="0">
                <a:solidFill>
                  <a:schemeClr val="tx1"/>
                </a:solidFill>
                <a:latin typeface="+mj-ea"/>
                <a:ea typeface="+mj-ea"/>
              </a:endParaRPr>
            </a:p>
            <a:p>
              <a:pPr marL="171450" indent="-171450" algn="l" latinLnBrk="0">
                <a:spcAft>
                  <a:spcPts val="300"/>
                </a:spcAft>
              </a:pPr>
              <a:r>
                <a:rPr lang="ko-KR" altLang="en-US" dirty="0">
                  <a:solidFill>
                    <a:schemeClr val="tx1"/>
                  </a:solidFill>
                  <a:latin typeface="+mj-ea"/>
                  <a:ea typeface="+mj-ea"/>
                </a:rPr>
                <a:t>최신 고시 기준 확인</a:t>
              </a:r>
              <a:endParaRPr lang="en-US" altLang="ko-KR" dirty="0">
                <a:solidFill>
                  <a:schemeClr val="tx1"/>
                </a:solidFill>
                <a:latin typeface="+mj-ea"/>
                <a:ea typeface="+mj-ea"/>
              </a:endParaRPr>
            </a:p>
            <a:p>
              <a:pPr marL="171450" indent="-171450" algn="l" latinLnBrk="0">
                <a:spcAft>
                  <a:spcPts val="300"/>
                </a:spcAft>
              </a:pPr>
              <a:r>
                <a:rPr lang="ko-KR" altLang="en-US" dirty="0">
                  <a:solidFill>
                    <a:schemeClr val="tx1"/>
                  </a:solidFill>
                  <a:latin typeface="+mj-ea"/>
                  <a:ea typeface="+mj-ea"/>
                </a:rPr>
                <a:t>신설 </a:t>
              </a:r>
              <a:r>
                <a:rPr lang="ko-KR" altLang="en-US" dirty="0" err="1">
                  <a:solidFill>
                    <a:schemeClr val="tx1"/>
                  </a:solidFill>
                  <a:latin typeface="+mj-ea"/>
                  <a:ea typeface="+mj-ea"/>
                </a:rPr>
                <a:t>세분류</a:t>
              </a:r>
              <a:r>
                <a:rPr lang="ko-KR" altLang="en-US" dirty="0">
                  <a:solidFill>
                    <a:schemeClr val="tx1"/>
                  </a:solidFill>
                  <a:latin typeface="+mj-ea"/>
                  <a:ea typeface="+mj-ea"/>
                </a:rPr>
                <a:t> 확인 </a:t>
              </a:r>
              <a:endParaRPr lang="en-US" altLang="ko-KR" dirty="0">
                <a:solidFill>
                  <a:schemeClr val="tx1"/>
                </a:solidFill>
                <a:latin typeface="+mj-ea"/>
                <a:ea typeface="+mj-ea"/>
              </a:endParaRPr>
            </a:p>
            <a:p>
              <a:pPr latinLnBrk="0">
                <a:buNone/>
              </a:pPr>
              <a:endParaRPr lang="ko-KR" altLang="en-US" dirty="0">
                <a:solidFill>
                  <a:schemeClr val="tx1"/>
                </a:solidFill>
                <a:latin typeface="+mj-ea"/>
                <a:ea typeface="+mj-ea"/>
              </a:endParaRPr>
            </a:p>
          </p:txBody>
        </p:sp>
        <p:sp>
          <p:nvSpPr>
            <p:cNvPr id="20" name="직사각형 19">
              <a:extLst>
                <a:ext uri="{FF2B5EF4-FFF2-40B4-BE49-F238E27FC236}">
                  <a16:creationId xmlns:a16="http://schemas.microsoft.com/office/drawing/2014/main" id="{43695F7F-4099-6604-E5D9-77942A64F07B}"/>
                </a:ext>
              </a:extLst>
            </p:cNvPr>
            <p:cNvSpPr/>
            <p:nvPr/>
          </p:nvSpPr>
          <p:spPr>
            <a:xfrm>
              <a:off x="704528" y="4323433"/>
              <a:ext cx="1548172" cy="146377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평가 데이터 최신화 이슈 검토 및 실무 협의</a:t>
              </a:r>
              <a:endParaRPr lang="en-US" altLang="ko-KR" dirty="0">
                <a:solidFill>
                  <a:schemeClr val="tx1"/>
                </a:solidFill>
                <a:latin typeface="+mj-ea"/>
                <a:ea typeface="+mj-ea"/>
              </a:endParaRPr>
            </a:p>
            <a:p>
              <a:pPr latinLnBrk="0">
                <a:buNone/>
              </a:pPr>
              <a:endParaRPr lang="en-US" altLang="ko-KR" dirty="0">
                <a:solidFill>
                  <a:schemeClr val="tx1"/>
                </a:solidFill>
                <a:latin typeface="+mj-ea"/>
                <a:ea typeface="+mj-ea"/>
              </a:endParaRPr>
            </a:p>
            <a:p>
              <a:pPr marL="171450" indent="-171450" algn="l" latinLnBrk="0">
                <a:spcAft>
                  <a:spcPts val="300"/>
                </a:spcAft>
              </a:pPr>
              <a:r>
                <a:rPr lang="ko-KR" altLang="en-US" dirty="0">
                  <a:solidFill>
                    <a:schemeClr val="tx1"/>
                  </a:solidFill>
                  <a:latin typeface="+mj-ea"/>
                  <a:ea typeface="+mj-ea"/>
                </a:rPr>
                <a:t>데이터 확보 방안 검토</a:t>
              </a:r>
              <a:r>
                <a:rPr lang="en-US" altLang="ko-KR" dirty="0">
                  <a:solidFill>
                    <a:schemeClr val="tx1"/>
                  </a:solidFill>
                  <a:latin typeface="+mj-ea"/>
                  <a:ea typeface="+mj-ea"/>
                </a:rPr>
                <a:t> </a:t>
              </a:r>
            </a:p>
            <a:p>
              <a:pPr marL="171450" indent="-171450" algn="l" latinLnBrk="0">
                <a:spcAft>
                  <a:spcPts val="300"/>
                </a:spcAft>
              </a:pPr>
              <a:r>
                <a:rPr lang="ko-KR" altLang="en-US" dirty="0">
                  <a:solidFill>
                    <a:schemeClr val="tx1"/>
                  </a:solidFill>
                  <a:latin typeface="+mj-ea"/>
                  <a:ea typeface="+mj-ea"/>
                </a:rPr>
                <a:t>최신화 방안 협의</a:t>
              </a:r>
              <a:endParaRPr lang="en-US" altLang="ko-KR" dirty="0">
                <a:solidFill>
                  <a:schemeClr val="tx1"/>
                </a:solidFill>
                <a:latin typeface="+mj-ea"/>
                <a:ea typeface="+mj-ea"/>
              </a:endParaRPr>
            </a:p>
          </p:txBody>
        </p:sp>
      </p:grpSp>
      <p:cxnSp>
        <p:nvCxnSpPr>
          <p:cNvPr id="26" name="직선 화살표 연결선 25">
            <a:extLst>
              <a:ext uri="{FF2B5EF4-FFF2-40B4-BE49-F238E27FC236}">
                <a16:creationId xmlns:a16="http://schemas.microsoft.com/office/drawing/2014/main" id="{2F63A8C5-6E44-5385-E33A-DAE1B85F01B4}"/>
              </a:ext>
            </a:extLst>
          </p:cNvPr>
          <p:cNvCxnSpPr>
            <a:cxnSpLocks/>
            <a:stCxn id="9" idx="2"/>
            <a:endCxn id="20" idx="0"/>
          </p:cNvCxnSpPr>
          <p:nvPr/>
        </p:nvCxnSpPr>
        <p:spPr>
          <a:xfrm>
            <a:off x="1522058" y="4224410"/>
            <a:ext cx="0" cy="396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2" name="그룹 41">
            <a:extLst>
              <a:ext uri="{FF2B5EF4-FFF2-40B4-BE49-F238E27FC236}">
                <a16:creationId xmlns:a16="http://schemas.microsoft.com/office/drawing/2014/main" id="{D7279EEA-75AE-176F-40A5-0333B246F405}"/>
              </a:ext>
            </a:extLst>
          </p:cNvPr>
          <p:cNvGrpSpPr/>
          <p:nvPr/>
        </p:nvGrpSpPr>
        <p:grpSpPr>
          <a:xfrm>
            <a:off x="2564857" y="2353832"/>
            <a:ext cx="3648663" cy="4135868"/>
            <a:chOff x="2564857" y="2353832"/>
            <a:chExt cx="3648663" cy="4135868"/>
          </a:xfrm>
        </p:grpSpPr>
        <p:sp>
          <p:nvSpPr>
            <p:cNvPr id="39" name="직사각형 38">
              <a:extLst>
                <a:ext uri="{FF2B5EF4-FFF2-40B4-BE49-F238E27FC236}">
                  <a16:creationId xmlns:a16="http://schemas.microsoft.com/office/drawing/2014/main" id="{F44A03FA-A791-CE1A-4AF9-2CF16F078EEF}"/>
                </a:ext>
              </a:extLst>
            </p:cNvPr>
            <p:cNvSpPr/>
            <p:nvPr/>
          </p:nvSpPr>
          <p:spPr>
            <a:xfrm>
              <a:off x="2564857" y="2353832"/>
              <a:ext cx="3648663"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grpSp>
          <p:nvGrpSpPr>
            <p:cNvPr id="41" name="그룹 40">
              <a:extLst>
                <a:ext uri="{FF2B5EF4-FFF2-40B4-BE49-F238E27FC236}">
                  <a16:creationId xmlns:a16="http://schemas.microsoft.com/office/drawing/2014/main" id="{F2222E8C-D996-D0E8-2643-EA37B4E8E222}"/>
                </a:ext>
              </a:extLst>
            </p:cNvPr>
            <p:cNvGrpSpPr/>
            <p:nvPr/>
          </p:nvGrpSpPr>
          <p:grpSpPr>
            <a:xfrm>
              <a:off x="2679188" y="2480152"/>
              <a:ext cx="3420000" cy="3883229"/>
              <a:chOff x="2681388" y="2354082"/>
              <a:chExt cx="3419999" cy="3883229"/>
            </a:xfrm>
          </p:grpSpPr>
          <p:sp>
            <p:nvSpPr>
              <p:cNvPr id="21" name="직사각형 20">
                <a:extLst>
                  <a:ext uri="{FF2B5EF4-FFF2-40B4-BE49-F238E27FC236}">
                    <a16:creationId xmlns:a16="http://schemas.microsoft.com/office/drawing/2014/main" id="{C3A02E82-59F9-6818-BEAB-360A37A51363}"/>
                  </a:ext>
                </a:extLst>
              </p:cNvPr>
              <p:cNvSpPr/>
              <p:nvPr/>
            </p:nvSpPr>
            <p:spPr>
              <a:xfrm>
                <a:off x="2681388" y="2354082"/>
                <a:ext cx="3419999" cy="390842"/>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최신화 대상 지표 평가 데이터 확보</a:t>
                </a:r>
              </a:p>
            </p:txBody>
          </p:sp>
          <p:sp>
            <p:nvSpPr>
              <p:cNvPr id="23" name="직사각형 22">
                <a:extLst>
                  <a:ext uri="{FF2B5EF4-FFF2-40B4-BE49-F238E27FC236}">
                    <a16:creationId xmlns:a16="http://schemas.microsoft.com/office/drawing/2014/main" id="{B4F5C3B0-C0F0-DF74-4A75-60B1DA5F2FC7}"/>
                  </a:ext>
                </a:extLst>
              </p:cNvPr>
              <p:cNvSpPr/>
              <p:nvPr/>
            </p:nvSpPr>
            <p:spPr>
              <a:xfrm>
                <a:off x="2681388" y="2930146"/>
                <a:ext cx="3419999" cy="2119034"/>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최신화 대상 지표 평가 진행</a:t>
                </a:r>
                <a:endParaRPr lang="en-US" altLang="ko-KR" dirty="0">
                  <a:solidFill>
                    <a:schemeClr val="tx1"/>
                  </a:solidFill>
                  <a:latin typeface="+mj-ea"/>
                  <a:ea typeface="+mj-ea"/>
                </a:endParaRPr>
              </a:p>
              <a:p>
                <a:pPr latinLnBrk="0">
                  <a:buNone/>
                </a:pP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a:t>
                </a:r>
                <a:r>
                  <a:rPr lang="ko-KR" altLang="en-US" dirty="0">
                    <a:solidFill>
                      <a:schemeClr val="tx1"/>
                    </a:solidFill>
                    <a:latin typeface="+mj-ea"/>
                    <a:ea typeface="+mj-ea"/>
                  </a:rPr>
                  <a:t>국가기술자격시험 응시자 수</a:t>
                </a:r>
                <a:r>
                  <a:rPr lang="en-US" altLang="ko-KR" dirty="0">
                    <a:solidFill>
                      <a:schemeClr val="tx1"/>
                    </a:solidFill>
                    <a:latin typeface="+mj-ea"/>
                    <a:ea typeface="+mj-ea"/>
                  </a:rPr>
                  <a:t>) </a:t>
                </a:r>
                <a:r>
                  <a:rPr lang="ko-KR" altLang="en-US" dirty="0">
                    <a:solidFill>
                      <a:schemeClr val="tx1"/>
                    </a:solidFill>
                    <a:latin typeface="+mj-ea"/>
                    <a:ea typeface="+mj-ea"/>
                  </a:rPr>
                  <a:t>국가기술자격과 </a:t>
                </a:r>
                <a:r>
                  <a:rPr lang="en-US" altLang="ko-KR" dirty="0">
                    <a:solidFill>
                      <a:schemeClr val="tx1"/>
                    </a:solidFill>
                    <a:latin typeface="+mj-ea"/>
                    <a:ea typeface="+mj-ea"/>
                  </a:rPr>
                  <a:t>NCS</a:t>
                </a:r>
                <a:r>
                  <a:rPr lang="ko-KR" altLang="en-US" dirty="0">
                    <a:solidFill>
                      <a:schemeClr val="tx1"/>
                    </a:solidFill>
                    <a:latin typeface="+mj-ea"/>
                    <a:ea typeface="+mj-ea"/>
                  </a:rPr>
                  <a:t> 세분류간 맵핑</a:t>
                </a: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a:t>
                </a:r>
                <a:r>
                  <a:rPr lang="ko-KR" altLang="en-US" dirty="0">
                    <a:solidFill>
                      <a:schemeClr val="tx1"/>
                    </a:solidFill>
                    <a:latin typeface="+mj-ea"/>
                    <a:ea typeface="+mj-ea"/>
                  </a:rPr>
                  <a:t>취업자 수 연평균 성장률 전망</a:t>
                </a:r>
                <a:r>
                  <a:rPr lang="en-US" altLang="ko-KR" dirty="0">
                    <a:solidFill>
                      <a:schemeClr val="tx1"/>
                    </a:solidFill>
                    <a:latin typeface="+mj-ea"/>
                    <a:ea typeface="+mj-ea"/>
                  </a:rPr>
                  <a:t>) </a:t>
                </a:r>
                <a:r>
                  <a:rPr lang="ko-KR" altLang="en-US" dirty="0">
                    <a:solidFill>
                      <a:schemeClr val="tx1"/>
                    </a:solidFill>
                    <a:latin typeface="+mj-ea"/>
                    <a:ea typeface="+mj-ea"/>
                  </a:rPr>
                  <a:t>중장기인력수급전망 직업 세분류와 </a:t>
                </a:r>
                <a:r>
                  <a:rPr lang="en-US" altLang="ko-KR" dirty="0">
                    <a:solidFill>
                      <a:schemeClr val="tx1"/>
                    </a:solidFill>
                    <a:latin typeface="+mj-ea"/>
                    <a:ea typeface="+mj-ea"/>
                  </a:rPr>
                  <a:t>NCS </a:t>
                </a:r>
                <a:r>
                  <a:rPr lang="ko-KR" altLang="en-US" dirty="0">
                    <a:solidFill>
                      <a:schemeClr val="tx1"/>
                    </a:solidFill>
                    <a:latin typeface="+mj-ea"/>
                    <a:ea typeface="+mj-ea"/>
                  </a:rPr>
                  <a:t>세분류간 맵핑</a:t>
                </a: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(STEP </a:t>
                </a:r>
                <a:r>
                  <a:rPr lang="ko-KR" altLang="en-US" dirty="0">
                    <a:solidFill>
                      <a:schemeClr val="tx1"/>
                    </a:solidFill>
                    <a:latin typeface="+mj-ea"/>
                    <a:ea typeface="+mj-ea"/>
                  </a:rPr>
                  <a:t>과정별 연평균 수강생 수</a:t>
                </a:r>
                <a:r>
                  <a:rPr lang="en-US" altLang="ko-KR" dirty="0">
                    <a:solidFill>
                      <a:schemeClr val="tx1"/>
                    </a:solidFill>
                    <a:latin typeface="+mj-ea"/>
                    <a:ea typeface="+mj-ea"/>
                  </a:rPr>
                  <a:t>) NCS </a:t>
                </a:r>
                <a:r>
                  <a:rPr lang="ko-KR" altLang="en-US" dirty="0">
                    <a:solidFill>
                      <a:schemeClr val="tx1"/>
                    </a:solidFill>
                    <a:latin typeface="+mj-ea"/>
                    <a:ea typeface="+mj-ea"/>
                  </a:rPr>
                  <a:t>세분류별 최근 </a:t>
                </a:r>
                <a:r>
                  <a:rPr lang="en-US" altLang="ko-KR" dirty="0">
                    <a:solidFill>
                      <a:schemeClr val="tx1"/>
                    </a:solidFill>
                    <a:latin typeface="+mj-ea"/>
                    <a:ea typeface="+mj-ea"/>
                  </a:rPr>
                  <a:t>3</a:t>
                </a:r>
                <a:r>
                  <a:rPr lang="ko-KR" altLang="en-US" dirty="0">
                    <a:solidFill>
                      <a:schemeClr val="tx1"/>
                    </a:solidFill>
                    <a:latin typeface="+mj-ea"/>
                    <a:ea typeface="+mj-ea"/>
                  </a:rPr>
                  <a:t>년간 연평균 수강생 수 산출</a:t>
                </a:r>
                <a:endParaRPr lang="en-US" altLang="ko-KR" dirty="0">
                  <a:solidFill>
                    <a:schemeClr val="tx1"/>
                  </a:solidFill>
                  <a:latin typeface="+mj-ea"/>
                  <a:ea typeface="+mj-ea"/>
                </a:endParaRPr>
              </a:p>
            </p:txBody>
          </p:sp>
          <p:sp>
            <p:nvSpPr>
              <p:cNvPr id="29" name="직사각형 28">
                <a:extLst>
                  <a:ext uri="{FF2B5EF4-FFF2-40B4-BE49-F238E27FC236}">
                    <a16:creationId xmlns:a16="http://schemas.microsoft.com/office/drawing/2014/main" id="{710CBFF7-B240-4CEB-7024-C64386B702AB}"/>
                  </a:ext>
                </a:extLst>
              </p:cNvPr>
              <p:cNvSpPr/>
              <p:nvPr/>
            </p:nvSpPr>
            <p:spPr>
              <a:xfrm>
                <a:off x="2681388" y="5281672"/>
                <a:ext cx="3419999" cy="95563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최신화 지표 </a:t>
                </a:r>
                <a:r>
                  <a:rPr lang="ko-KR" altLang="en-US" dirty="0" err="1">
                    <a:solidFill>
                      <a:schemeClr val="tx1"/>
                    </a:solidFill>
                    <a:latin typeface="+mj-ea"/>
                    <a:ea typeface="+mj-ea"/>
                  </a:rPr>
                  <a:t>평가값과</a:t>
                </a:r>
                <a:r>
                  <a:rPr lang="ko-KR" altLang="en-US" dirty="0">
                    <a:solidFill>
                      <a:schemeClr val="tx1"/>
                    </a:solidFill>
                    <a:latin typeface="+mj-ea"/>
                    <a:ea typeface="+mj-ea"/>
                  </a:rPr>
                  <a:t> 전년도 </a:t>
                </a:r>
                <a:r>
                  <a:rPr lang="ko-KR" altLang="en-US" dirty="0" err="1">
                    <a:solidFill>
                      <a:schemeClr val="tx1"/>
                    </a:solidFill>
                    <a:latin typeface="+mj-ea"/>
                    <a:ea typeface="+mj-ea"/>
                  </a:rPr>
                  <a:t>평가값</a:t>
                </a:r>
                <a:r>
                  <a:rPr lang="ko-KR" altLang="en-US" dirty="0">
                    <a:solidFill>
                      <a:schemeClr val="tx1"/>
                    </a:solidFill>
                    <a:latin typeface="+mj-ea"/>
                    <a:ea typeface="+mj-ea"/>
                  </a:rPr>
                  <a:t> 합산</a:t>
                </a:r>
                <a:endParaRPr lang="en-US" altLang="ko-KR" dirty="0">
                  <a:solidFill>
                    <a:schemeClr val="tx1"/>
                  </a:solidFill>
                  <a:latin typeface="+mj-ea"/>
                  <a:ea typeface="+mj-ea"/>
                </a:endParaRPr>
              </a:p>
              <a:p>
                <a:pPr latinLnBrk="0">
                  <a:buNone/>
                </a:pP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24</a:t>
                </a:r>
                <a:r>
                  <a:rPr lang="ko-KR" altLang="en-US" dirty="0">
                    <a:solidFill>
                      <a:schemeClr val="tx1"/>
                    </a:solidFill>
                    <a:latin typeface="+mj-ea"/>
                    <a:ea typeface="+mj-ea"/>
                  </a:rPr>
                  <a:t>년 자문회의 통해 산출한 비율 적용 </a:t>
                </a:r>
                <a:r>
                  <a:rPr lang="en-US" altLang="ko-KR" dirty="0">
                    <a:solidFill>
                      <a:schemeClr val="tx1"/>
                    </a:solidFill>
                    <a:latin typeface="+mj-ea"/>
                    <a:ea typeface="+mj-ea"/>
                  </a:rPr>
                  <a:t>(</a:t>
                </a:r>
                <a:r>
                  <a:rPr lang="ko-KR" altLang="en-US" dirty="0">
                    <a:solidFill>
                      <a:schemeClr val="tx1"/>
                    </a:solidFill>
                    <a:latin typeface="+mj-ea"/>
                    <a:ea typeface="+mj-ea"/>
                  </a:rPr>
                  <a:t>디지털</a:t>
                </a:r>
                <a:r>
                  <a:rPr lang="en-US" altLang="ko-KR" dirty="0">
                    <a:solidFill>
                      <a:schemeClr val="tx1"/>
                    </a:solidFill>
                    <a:latin typeface="+mj-ea"/>
                    <a:ea typeface="+mj-ea"/>
                  </a:rPr>
                  <a:t>·</a:t>
                </a:r>
                <a:r>
                  <a:rPr lang="ko-KR" altLang="en-US" dirty="0">
                    <a:solidFill>
                      <a:schemeClr val="tx1"/>
                    </a:solidFill>
                    <a:latin typeface="+mj-ea"/>
                    <a:ea typeface="+mj-ea"/>
                  </a:rPr>
                  <a:t>첨단 분야의 경우 미래 지표 가중치 적용</a:t>
                </a:r>
                <a:r>
                  <a:rPr lang="en-US" altLang="ko-KR" dirty="0">
                    <a:solidFill>
                      <a:schemeClr val="tx1"/>
                    </a:solidFill>
                    <a:latin typeface="+mj-ea"/>
                    <a:ea typeface="+mj-ea"/>
                  </a:rPr>
                  <a:t>)</a:t>
                </a:r>
              </a:p>
            </p:txBody>
          </p:sp>
          <p:cxnSp>
            <p:nvCxnSpPr>
              <p:cNvPr id="32" name="직선 화살표 연결선 31">
                <a:extLst>
                  <a:ext uri="{FF2B5EF4-FFF2-40B4-BE49-F238E27FC236}">
                    <a16:creationId xmlns:a16="http://schemas.microsoft.com/office/drawing/2014/main" id="{3809C9A5-BE75-A557-B99F-B81C02AB53F2}"/>
                  </a:ext>
                </a:extLst>
              </p:cNvPr>
              <p:cNvCxnSpPr>
                <a:stCxn id="21" idx="2"/>
                <a:endCxn id="23" idx="0"/>
              </p:cNvCxnSpPr>
              <p:nvPr/>
            </p:nvCxnSpPr>
            <p:spPr>
              <a:xfrm>
                <a:off x="4391388" y="2744924"/>
                <a:ext cx="0" cy="18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E154F0BB-1F8E-975F-51A8-59874780366E}"/>
                  </a:ext>
                </a:extLst>
              </p:cNvPr>
              <p:cNvCxnSpPr>
                <a:stCxn id="23" idx="2"/>
                <a:endCxn id="29" idx="0"/>
              </p:cNvCxnSpPr>
              <p:nvPr/>
            </p:nvCxnSpPr>
            <p:spPr>
              <a:xfrm>
                <a:off x="4391388" y="5049180"/>
                <a:ext cx="0" cy="232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51" name="그룹 50">
            <a:extLst>
              <a:ext uri="{FF2B5EF4-FFF2-40B4-BE49-F238E27FC236}">
                <a16:creationId xmlns:a16="http://schemas.microsoft.com/office/drawing/2014/main" id="{B29425BB-5F18-9D8D-CF21-6D94579D313B}"/>
              </a:ext>
            </a:extLst>
          </p:cNvPr>
          <p:cNvGrpSpPr/>
          <p:nvPr/>
        </p:nvGrpSpPr>
        <p:grpSpPr>
          <a:xfrm>
            <a:off x="6345656" y="2356561"/>
            <a:ext cx="3017941" cy="4135868"/>
            <a:chOff x="2564857" y="2353832"/>
            <a:chExt cx="3648663" cy="4135868"/>
          </a:xfrm>
        </p:grpSpPr>
        <p:sp>
          <p:nvSpPr>
            <p:cNvPr id="52" name="직사각형 51">
              <a:extLst>
                <a:ext uri="{FF2B5EF4-FFF2-40B4-BE49-F238E27FC236}">
                  <a16:creationId xmlns:a16="http://schemas.microsoft.com/office/drawing/2014/main" id="{EA4DCDCB-CE5A-C29B-82CA-3B2D4A3CA7FB}"/>
                </a:ext>
              </a:extLst>
            </p:cNvPr>
            <p:cNvSpPr/>
            <p:nvPr/>
          </p:nvSpPr>
          <p:spPr>
            <a:xfrm>
              <a:off x="2564857" y="2353832"/>
              <a:ext cx="3648663"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grpSp>
          <p:nvGrpSpPr>
            <p:cNvPr id="53" name="그룹 52">
              <a:extLst>
                <a:ext uri="{FF2B5EF4-FFF2-40B4-BE49-F238E27FC236}">
                  <a16:creationId xmlns:a16="http://schemas.microsoft.com/office/drawing/2014/main" id="{95748AD0-9C99-A991-8353-6BB91E0FFE69}"/>
                </a:ext>
              </a:extLst>
            </p:cNvPr>
            <p:cNvGrpSpPr/>
            <p:nvPr/>
          </p:nvGrpSpPr>
          <p:grpSpPr>
            <a:xfrm>
              <a:off x="2679188" y="2480152"/>
              <a:ext cx="3420000" cy="3883229"/>
              <a:chOff x="2681388" y="2354082"/>
              <a:chExt cx="3419999" cy="3883229"/>
            </a:xfrm>
          </p:grpSpPr>
          <p:sp>
            <p:nvSpPr>
              <p:cNvPr id="54" name="직사각형 53">
                <a:extLst>
                  <a:ext uri="{FF2B5EF4-FFF2-40B4-BE49-F238E27FC236}">
                    <a16:creationId xmlns:a16="http://schemas.microsoft.com/office/drawing/2014/main" id="{3122F6B7-FC0D-CECA-E904-FC3C95A0189B}"/>
                  </a:ext>
                </a:extLst>
              </p:cNvPr>
              <p:cNvSpPr/>
              <p:nvPr/>
            </p:nvSpPr>
            <p:spPr>
              <a:xfrm>
                <a:off x="2681388" y="2354082"/>
                <a:ext cx="3419999" cy="390842"/>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신설 </a:t>
                </a:r>
                <a:r>
                  <a:rPr lang="ko-KR" altLang="en-US" dirty="0" err="1">
                    <a:solidFill>
                      <a:schemeClr val="tx1"/>
                    </a:solidFill>
                    <a:latin typeface="+mj-ea"/>
                    <a:ea typeface="+mj-ea"/>
                  </a:rPr>
                  <a:t>세분류</a:t>
                </a:r>
                <a:r>
                  <a:rPr lang="ko-KR" altLang="en-US" dirty="0">
                    <a:solidFill>
                      <a:schemeClr val="tx1"/>
                    </a:solidFill>
                    <a:latin typeface="+mj-ea"/>
                    <a:ea typeface="+mj-ea"/>
                  </a:rPr>
                  <a:t> 평가 계획 수립</a:t>
                </a:r>
              </a:p>
            </p:txBody>
          </p:sp>
          <p:sp>
            <p:nvSpPr>
              <p:cNvPr id="55" name="직사각형 54">
                <a:extLst>
                  <a:ext uri="{FF2B5EF4-FFF2-40B4-BE49-F238E27FC236}">
                    <a16:creationId xmlns:a16="http://schemas.microsoft.com/office/drawing/2014/main" id="{862032CA-483C-2A2E-0950-E4033F1443D7}"/>
                  </a:ext>
                </a:extLst>
              </p:cNvPr>
              <p:cNvSpPr/>
              <p:nvPr/>
            </p:nvSpPr>
            <p:spPr>
              <a:xfrm>
                <a:off x="2681388" y="2930146"/>
                <a:ext cx="3419999" cy="2119034"/>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a:solidFill>
                      <a:schemeClr val="tx1"/>
                    </a:solidFill>
                    <a:latin typeface="+mj-ea"/>
                    <a:ea typeface="+mj-ea"/>
                  </a:rPr>
                  <a:t>신설 </a:t>
                </a:r>
                <a:r>
                  <a:rPr lang="ko-KR" altLang="en-US" dirty="0" err="1">
                    <a:solidFill>
                      <a:schemeClr val="tx1"/>
                    </a:solidFill>
                    <a:latin typeface="+mj-ea"/>
                    <a:ea typeface="+mj-ea"/>
                  </a:rPr>
                  <a:t>세분류</a:t>
                </a:r>
                <a:r>
                  <a:rPr lang="ko-KR" altLang="en-US" dirty="0">
                    <a:solidFill>
                      <a:schemeClr val="tx1"/>
                    </a:solidFill>
                    <a:latin typeface="+mj-ea"/>
                    <a:ea typeface="+mj-ea"/>
                  </a:rPr>
                  <a:t> 평가 진행</a:t>
                </a:r>
                <a:endParaRPr lang="en-US" altLang="ko-KR" dirty="0">
                  <a:solidFill>
                    <a:schemeClr val="tx1"/>
                  </a:solidFill>
                  <a:latin typeface="+mj-ea"/>
                  <a:ea typeface="+mj-ea"/>
                </a:endParaRPr>
              </a:p>
              <a:p>
                <a:pPr latinLnBrk="0">
                  <a:buNone/>
                </a:pP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ISC, </a:t>
                </a:r>
                <a:r>
                  <a:rPr lang="ko-KR" altLang="en-US" dirty="0">
                    <a:solidFill>
                      <a:schemeClr val="tx1"/>
                    </a:solidFill>
                    <a:latin typeface="+mj-ea"/>
                    <a:ea typeface="+mj-ea"/>
                  </a:rPr>
                  <a:t>훈련</a:t>
                </a:r>
                <a:r>
                  <a:rPr lang="en-US" altLang="ko-KR" dirty="0">
                    <a:solidFill>
                      <a:schemeClr val="tx1"/>
                    </a:solidFill>
                    <a:latin typeface="+mj-ea"/>
                    <a:ea typeface="+mj-ea"/>
                  </a:rPr>
                  <a:t>·</a:t>
                </a:r>
                <a:r>
                  <a:rPr lang="ko-KR" altLang="en-US" dirty="0" err="1">
                    <a:solidFill>
                      <a:schemeClr val="tx1"/>
                    </a:solidFill>
                    <a:latin typeface="+mj-ea"/>
                    <a:ea typeface="+mj-ea"/>
                  </a:rPr>
                  <a:t>교강사</a:t>
                </a:r>
                <a:r>
                  <a:rPr lang="en-US" altLang="ko-KR" dirty="0">
                    <a:solidFill>
                      <a:schemeClr val="tx1"/>
                    </a:solidFill>
                    <a:latin typeface="+mj-ea"/>
                    <a:ea typeface="+mj-ea"/>
                  </a:rPr>
                  <a:t>, </a:t>
                </a:r>
                <a:r>
                  <a:rPr lang="ko-KR" altLang="en-US" dirty="0">
                    <a:solidFill>
                      <a:schemeClr val="tx1"/>
                    </a:solidFill>
                    <a:latin typeface="+mj-ea"/>
                    <a:ea typeface="+mj-ea"/>
                  </a:rPr>
                  <a:t>산업전문가 등 교육수요에 대한 평가를 진행할 수 있는 전문가 </a:t>
                </a:r>
                <a:r>
                  <a:rPr lang="en-US" altLang="ko-KR" dirty="0">
                    <a:solidFill>
                      <a:schemeClr val="tx1"/>
                    </a:solidFill>
                    <a:latin typeface="+mj-ea"/>
                    <a:ea typeface="+mj-ea"/>
                  </a:rPr>
                  <a:t>3</a:t>
                </a:r>
                <a:r>
                  <a:rPr lang="ko-KR" altLang="en-US" dirty="0">
                    <a:solidFill>
                      <a:schemeClr val="tx1"/>
                    </a:solidFill>
                    <a:latin typeface="+mj-ea"/>
                    <a:ea typeface="+mj-ea"/>
                  </a:rPr>
                  <a:t>인 구성 </a:t>
                </a:r>
                <a:endParaRPr lang="en-US" altLang="ko-KR" dirty="0">
                  <a:solidFill>
                    <a:schemeClr val="tx1"/>
                  </a:solidFill>
                  <a:latin typeface="+mj-ea"/>
                  <a:ea typeface="+mj-ea"/>
                </a:endParaRPr>
              </a:p>
              <a:p>
                <a:pPr marL="171450" indent="-171450" algn="l" latinLnBrk="0">
                  <a:spcAft>
                    <a:spcPts val="600"/>
                  </a:spcAft>
                </a:pPr>
                <a:r>
                  <a:rPr lang="en-US" altLang="ko-KR" dirty="0">
                    <a:solidFill>
                      <a:schemeClr val="tx1"/>
                    </a:solidFill>
                    <a:latin typeface="+mj-ea"/>
                    <a:ea typeface="+mj-ea"/>
                  </a:rPr>
                  <a:t>24</a:t>
                </a:r>
                <a:r>
                  <a:rPr lang="ko-KR" altLang="en-US" dirty="0">
                    <a:solidFill>
                      <a:schemeClr val="tx1"/>
                    </a:solidFill>
                    <a:latin typeface="+mj-ea"/>
                    <a:ea typeface="+mj-ea"/>
                  </a:rPr>
                  <a:t>년 진행한 평가지표와 동일한 </a:t>
                </a:r>
                <a:r>
                  <a:rPr lang="en-US" altLang="ko-KR" dirty="0">
                    <a:solidFill>
                      <a:schemeClr val="tx1"/>
                    </a:solidFill>
                    <a:latin typeface="+mj-ea"/>
                    <a:ea typeface="+mj-ea"/>
                  </a:rPr>
                  <a:t>3</a:t>
                </a:r>
                <a:r>
                  <a:rPr lang="ko-KR" altLang="en-US" dirty="0">
                    <a:solidFill>
                      <a:schemeClr val="tx1"/>
                    </a:solidFill>
                    <a:latin typeface="+mj-ea"/>
                    <a:ea typeface="+mj-ea"/>
                  </a:rPr>
                  <a:t>개 지표 평가 진행 </a:t>
                </a:r>
                <a:r>
                  <a:rPr lang="en-US" altLang="ko-KR" dirty="0">
                    <a:solidFill>
                      <a:schemeClr val="tx1"/>
                    </a:solidFill>
                    <a:latin typeface="+mj-ea"/>
                    <a:ea typeface="+mj-ea"/>
                  </a:rPr>
                  <a:t>(</a:t>
                </a:r>
                <a:r>
                  <a:rPr lang="ko-KR" altLang="en-US" dirty="0">
                    <a:solidFill>
                      <a:schemeClr val="tx1"/>
                    </a:solidFill>
                    <a:latin typeface="+mj-ea"/>
                    <a:ea typeface="+mj-ea"/>
                  </a:rPr>
                  <a:t>미래 교육과정 수요 예상도</a:t>
                </a:r>
                <a:r>
                  <a:rPr lang="en-US" altLang="ko-KR" dirty="0">
                    <a:solidFill>
                      <a:schemeClr val="tx1"/>
                    </a:solidFill>
                    <a:latin typeface="+mj-ea"/>
                    <a:ea typeface="+mj-ea"/>
                  </a:rPr>
                  <a:t>, </a:t>
                </a:r>
                <a:r>
                  <a:rPr lang="ko-KR" altLang="en-US" dirty="0">
                    <a:solidFill>
                      <a:schemeClr val="tx1"/>
                    </a:solidFill>
                    <a:latin typeface="+mj-ea"/>
                    <a:ea typeface="+mj-ea"/>
                  </a:rPr>
                  <a:t>교육과정 개발 필요성</a:t>
                </a:r>
                <a:r>
                  <a:rPr lang="en-US" altLang="ko-KR" dirty="0">
                    <a:solidFill>
                      <a:schemeClr val="tx1"/>
                    </a:solidFill>
                    <a:latin typeface="+mj-ea"/>
                    <a:ea typeface="+mj-ea"/>
                  </a:rPr>
                  <a:t>, </a:t>
                </a:r>
                <a:r>
                  <a:rPr lang="ko-KR" altLang="en-US" dirty="0">
                    <a:solidFill>
                      <a:schemeClr val="tx1"/>
                    </a:solidFill>
                    <a:latin typeface="+mj-ea"/>
                    <a:ea typeface="+mj-ea"/>
                  </a:rPr>
                  <a:t>교육과정 개발 시급성</a:t>
                </a:r>
                <a:r>
                  <a:rPr lang="en-US" altLang="ko-KR" dirty="0">
                    <a:solidFill>
                      <a:schemeClr val="tx1"/>
                    </a:solidFill>
                    <a:latin typeface="+mj-ea"/>
                    <a:ea typeface="+mj-ea"/>
                  </a:rPr>
                  <a:t>)</a:t>
                </a:r>
              </a:p>
              <a:p>
                <a:pPr marL="171450" indent="-171450" algn="l" latinLnBrk="0">
                  <a:spcAft>
                    <a:spcPts val="600"/>
                  </a:spcAft>
                </a:pPr>
                <a:endParaRPr lang="en-US" altLang="ko-KR" dirty="0">
                  <a:solidFill>
                    <a:schemeClr val="tx1"/>
                  </a:solidFill>
                  <a:latin typeface="+mj-ea"/>
                  <a:ea typeface="+mj-ea"/>
                </a:endParaRPr>
              </a:p>
            </p:txBody>
          </p:sp>
          <p:sp>
            <p:nvSpPr>
              <p:cNvPr id="56" name="직사각형 55">
                <a:extLst>
                  <a:ext uri="{FF2B5EF4-FFF2-40B4-BE49-F238E27FC236}">
                    <a16:creationId xmlns:a16="http://schemas.microsoft.com/office/drawing/2014/main" id="{17EA7C1C-B212-279F-41C6-6298B0B70048}"/>
                  </a:ext>
                </a:extLst>
              </p:cNvPr>
              <p:cNvSpPr/>
              <p:nvPr/>
            </p:nvSpPr>
            <p:spPr>
              <a:xfrm>
                <a:off x="2681388" y="5281672"/>
                <a:ext cx="3419999" cy="95563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dirty="0" err="1">
                    <a:solidFill>
                      <a:schemeClr val="tx1"/>
                    </a:solidFill>
                    <a:latin typeface="+mj-ea"/>
                  </a:rPr>
                  <a:t>정량평가값과</a:t>
                </a:r>
                <a:r>
                  <a:rPr lang="ko-KR" altLang="en-US" dirty="0">
                    <a:solidFill>
                      <a:schemeClr val="tx1"/>
                    </a:solidFill>
                    <a:latin typeface="+mj-ea"/>
                  </a:rPr>
                  <a:t> </a:t>
                </a:r>
                <a:r>
                  <a:rPr lang="ko-KR" altLang="en-US" dirty="0" err="1">
                    <a:solidFill>
                      <a:schemeClr val="tx1"/>
                    </a:solidFill>
                    <a:latin typeface="+mj-ea"/>
                  </a:rPr>
                  <a:t>정성평가값</a:t>
                </a:r>
                <a:r>
                  <a:rPr lang="ko-KR" altLang="en-US" dirty="0">
                    <a:solidFill>
                      <a:schemeClr val="tx1"/>
                    </a:solidFill>
                    <a:latin typeface="+mj-ea"/>
                  </a:rPr>
                  <a:t> 합산</a:t>
                </a:r>
                <a:endParaRPr lang="en-US" altLang="ko-KR" dirty="0">
                  <a:solidFill>
                    <a:schemeClr val="tx1"/>
                  </a:solidFill>
                  <a:latin typeface="+mj-ea"/>
                </a:endParaRPr>
              </a:p>
              <a:p>
                <a:pPr latinLnBrk="0">
                  <a:buNone/>
                </a:pPr>
                <a:endParaRPr lang="en-US" altLang="ko-KR" dirty="0">
                  <a:solidFill>
                    <a:schemeClr val="tx1"/>
                  </a:solidFill>
                  <a:latin typeface="+mj-ea"/>
                </a:endParaRPr>
              </a:p>
              <a:p>
                <a:pPr marL="171450" indent="-171450" algn="l" latinLnBrk="0">
                  <a:spcAft>
                    <a:spcPts val="600"/>
                  </a:spcAft>
                </a:pPr>
                <a:r>
                  <a:rPr lang="en-US" altLang="ko-KR" dirty="0">
                    <a:solidFill>
                      <a:schemeClr val="tx1"/>
                    </a:solidFill>
                    <a:latin typeface="+mj-ea"/>
                  </a:rPr>
                  <a:t>24</a:t>
                </a:r>
                <a:r>
                  <a:rPr lang="ko-KR" altLang="en-US" dirty="0">
                    <a:solidFill>
                      <a:schemeClr val="tx1"/>
                    </a:solidFill>
                    <a:latin typeface="+mj-ea"/>
                  </a:rPr>
                  <a:t>년 자문회의 통해 산출한 비율 적용 </a:t>
                </a:r>
                <a:r>
                  <a:rPr lang="en-US" altLang="ko-KR" dirty="0">
                    <a:solidFill>
                      <a:schemeClr val="tx1"/>
                    </a:solidFill>
                    <a:latin typeface="+mj-ea"/>
                  </a:rPr>
                  <a:t>(</a:t>
                </a:r>
                <a:r>
                  <a:rPr lang="ko-KR" altLang="en-US" dirty="0">
                    <a:solidFill>
                      <a:schemeClr val="tx1"/>
                    </a:solidFill>
                    <a:latin typeface="+mj-ea"/>
                  </a:rPr>
                  <a:t>정량평가 </a:t>
                </a:r>
                <a:r>
                  <a:rPr lang="en-US" altLang="ko-KR" dirty="0">
                    <a:solidFill>
                      <a:schemeClr val="tx1"/>
                    </a:solidFill>
                    <a:latin typeface="+mj-ea"/>
                  </a:rPr>
                  <a:t>7: </a:t>
                </a:r>
                <a:r>
                  <a:rPr lang="ko-KR" altLang="en-US" dirty="0">
                    <a:solidFill>
                      <a:schemeClr val="tx1"/>
                    </a:solidFill>
                    <a:latin typeface="+mj-ea"/>
                  </a:rPr>
                  <a:t>정성평가 </a:t>
                </a:r>
                <a:r>
                  <a:rPr lang="en-US" altLang="ko-KR" dirty="0">
                    <a:solidFill>
                      <a:schemeClr val="tx1"/>
                    </a:solidFill>
                    <a:latin typeface="+mj-ea"/>
                  </a:rPr>
                  <a:t>3)</a:t>
                </a:r>
              </a:p>
            </p:txBody>
          </p:sp>
          <p:cxnSp>
            <p:nvCxnSpPr>
              <p:cNvPr id="57" name="직선 화살표 연결선 56">
                <a:extLst>
                  <a:ext uri="{FF2B5EF4-FFF2-40B4-BE49-F238E27FC236}">
                    <a16:creationId xmlns:a16="http://schemas.microsoft.com/office/drawing/2014/main" id="{1A4A1EB2-1FCE-8414-1B88-0CB838FD7A2A}"/>
                  </a:ext>
                </a:extLst>
              </p:cNvPr>
              <p:cNvCxnSpPr>
                <a:stCxn id="54" idx="2"/>
                <a:endCxn id="55" idx="0"/>
              </p:cNvCxnSpPr>
              <p:nvPr/>
            </p:nvCxnSpPr>
            <p:spPr>
              <a:xfrm>
                <a:off x="4391388" y="2744924"/>
                <a:ext cx="0" cy="18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FA2E43C7-444B-C99E-AAD4-FDC94BE20A0E}"/>
                  </a:ext>
                </a:extLst>
              </p:cNvPr>
              <p:cNvCxnSpPr>
                <a:stCxn id="55" idx="2"/>
                <a:endCxn id="56" idx="0"/>
              </p:cNvCxnSpPr>
              <p:nvPr/>
            </p:nvCxnSpPr>
            <p:spPr>
              <a:xfrm>
                <a:off x="4391388" y="5049180"/>
                <a:ext cx="0" cy="232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22276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F5B2-F335-6BAB-2CE3-E0C3B02BCA8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AD0FEE4-18F6-A6DE-D655-6358D1B6C76D}"/>
              </a:ext>
            </a:extLst>
          </p:cNvPr>
          <p:cNvSpPr>
            <a:spLocks noGrp="1"/>
          </p:cNvSpPr>
          <p:nvPr>
            <p:ph type="body" sz="quarter" idx="12"/>
          </p:nvPr>
        </p:nvSpPr>
        <p:spPr/>
        <p:txBody>
          <a:bodyPr/>
          <a:lstStyle/>
          <a:p>
            <a:pPr latinLnBrk="0"/>
            <a:r>
              <a:rPr lang="ko-KR" altLang="en-US" dirty="0">
                <a:latin typeface="+mj-ea"/>
                <a:ea typeface="+mj-ea"/>
              </a:rPr>
              <a:t>데이터 부족과 전문가평가의 일관성 한계로 매년 전면 최신화가 어려우므로</a:t>
            </a:r>
            <a:r>
              <a:rPr lang="en-US" altLang="ko-KR" dirty="0">
                <a:latin typeface="+mj-ea"/>
                <a:ea typeface="+mj-ea"/>
              </a:rPr>
              <a:t>, </a:t>
            </a:r>
            <a:r>
              <a:rPr lang="ko-KR" altLang="en-US" dirty="0">
                <a:latin typeface="+mj-ea"/>
                <a:ea typeface="+mj-ea"/>
              </a:rPr>
              <a:t>안정적으로 취득할 수 있는 지표만 매년 갱신하고 그 외는 원칙적으로 </a:t>
            </a:r>
            <a:r>
              <a:rPr lang="en-US" altLang="ko-KR" dirty="0">
                <a:latin typeface="+mj-ea"/>
                <a:ea typeface="+mj-ea"/>
              </a:rPr>
              <a:t>3</a:t>
            </a:r>
            <a:r>
              <a:rPr lang="ko-KR" altLang="en-US" dirty="0">
                <a:latin typeface="+mj-ea"/>
                <a:ea typeface="+mj-ea"/>
              </a:rPr>
              <a:t>년 주기로 </a:t>
            </a:r>
            <a:r>
              <a:rPr lang="ko-KR" altLang="en-US" dirty="0" err="1">
                <a:latin typeface="+mj-ea"/>
                <a:ea typeface="+mj-ea"/>
              </a:rPr>
              <a:t>최신화하는</a:t>
            </a:r>
            <a:r>
              <a:rPr lang="ko-KR" altLang="en-US" dirty="0">
                <a:latin typeface="+mj-ea"/>
                <a:ea typeface="+mj-ea"/>
              </a:rPr>
              <a:t> 방안을 마련함</a:t>
            </a:r>
          </a:p>
        </p:txBody>
      </p:sp>
      <p:sp>
        <p:nvSpPr>
          <p:cNvPr id="5" name="텍스트 개체 틀 4">
            <a:extLst>
              <a:ext uri="{FF2B5EF4-FFF2-40B4-BE49-F238E27FC236}">
                <a16:creationId xmlns:a16="http://schemas.microsoft.com/office/drawing/2014/main" id="{1D5C4F0B-6C85-33B1-E326-438AA1F49CBE}"/>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1" name="텍스트 개체 틀 87">
            <a:extLst>
              <a:ext uri="{FF2B5EF4-FFF2-40B4-BE49-F238E27FC236}">
                <a16:creationId xmlns:a16="http://schemas.microsoft.com/office/drawing/2014/main" id="{CED04357-5925-61A6-AD75-1A9014507BE8}"/>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수요평가</a:t>
            </a:r>
          </a:p>
        </p:txBody>
      </p:sp>
      <p:sp>
        <p:nvSpPr>
          <p:cNvPr id="12" name="직사각형 11">
            <a:extLst>
              <a:ext uri="{FF2B5EF4-FFF2-40B4-BE49-F238E27FC236}">
                <a16:creationId xmlns:a16="http://schemas.microsoft.com/office/drawing/2014/main" id="{25218F0A-EEA5-3660-461E-2D7D38FC290C}"/>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AE2D467A-C735-7AE8-4BB0-31FECC10AA99}"/>
              </a:ext>
            </a:extLst>
          </p:cNvPr>
          <p:cNvGrpSpPr/>
          <p:nvPr/>
        </p:nvGrpSpPr>
        <p:grpSpPr>
          <a:xfrm>
            <a:off x="596515" y="1681027"/>
            <a:ext cx="8749098" cy="266602"/>
            <a:chOff x="802640" y="2236632"/>
            <a:chExt cx="4130805" cy="266552"/>
          </a:xfrm>
        </p:grpSpPr>
        <p:sp>
          <p:nvSpPr>
            <p:cNvPr id="15" name="ListLeanHorizontalTextTopic0">
              <a:extLst>
                <a:ext uri="{FF2B5EF4-FFF2-40B4-BE49-F238E27FC236}">
                  <a16:creationId xmlns:a16="http://schemas.microsoft.com/office/drawing/2014/main" id="{949006CB-E17B-7D92-3813-67E9DF11FD64}"/>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수요평가 최신화 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73FB8619-A77D-60FA-207D-0C89AD6760A5}"/>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3" name="표 2">
            <a:extLst>
              <a:ext uri="{FF2B5EF4-FFF2-40B4-BE49-F238E27FC236}">
                <a16:creationId xmlns:a16="http://schemas.microsoft.com/office/drawing/2014/main" id="{4EFAC7BA-4611-AC1C-3CA6-5B2D1561F0D8}"/>
              </a:ext>
            </a:extLst>
          </p:cNvPr>
          <p:cNvGraphicFramePr>
            <a:graphicFrameLocks noGrp="1"/>
          </p:cNvGraphicFramePr>
          <p:nvPr/>
        </p:nvGraphicFramePr>
        <p:xfrm>
          <a:off x="4918091" y="2464803"/>
          <a:ext cx="4427522" cy="3592489"/>
        </p:xfrm>
        <a:graphic>
          <a:graphicData uri="http://schemas.openxmlformats.org/drawingml/2006/table">
            <a:tbl>
              <a:tblPr/>
              <a:tblGrid>
                <a:gridCol w="332777">
                  <a:extLst>
                    <a:ext uri="{9D8B030D-6E8A-4147-A177-3AD203B41FA5}">
                      <a16:colId xmlns:a16="http://schemas.microsoft.com/office/drawing/2014/main" val="2375786829"/>
                    </a:ext>
                  </a:extLst>
                </a:gridCol>
                <a:gridCol w="332777">
                  <a:extLst>
                    <a:ext uri="{9D8B030D-6E8A-4147-A177-3AD203B41FA5}">
                      <a16:colId xmlns:a16="http://schemas.microsoft.com/office/drawing/2014/main" val="3314547520"/>
                    </a:ext>
                  </a:extLst>
                </a:gridCol>
                <a:gridCol w="1861568">
                  <a:extLst>
                    <a:ext uri="{9D8B030D-6E8A-4147-A177-3AD203B41FA5}">
                      <a16:colId xmlns:a16="http://schemas.microsoft.com/office/drawing/2014/main" val="2136334367"/>
                    </a:ext>
                  </a:extLst>
                </a:gridCol>
                <a:gridCol w="362538">
                  <a:extLst>
                    <a:ext uri="{9D8B030D-6E8A-4147-A177-3AD203B41FA5}">
                      <a16:colId xmlns:a16="http://schemas.microsoft.com/office/drawing/2014/main" val="1339223810"/>
                    </a:ext>
                  </a:extLst>
                </a:gridCol>
                <a:gridCol w="940184">
                  <a:extLst>
                    <a:ext uri="{9D8B030D-6E8A-4147-A177-3AD203B41FA5}">
                      <a16:colId xmlns:a16="http://schemas.microsoft.com/office/drawing/2014/main" val="2462476086"/>
                    </a:ext>
                  </a:extLst>
                </a:gridCol>
                <a:gridCol w="597678">
                  <a:extLst>
                    <a:ext uri="{9D8B030D-6E8A-4147-A177-3AD203B41FA5}">
                      <a16:colId xmlns:a16="http://schemas.microsoft.com/office/drawing/2014/main" val="1620232774"/>
                    </a:ext>
                  </a:extLst>
                </a:gridCol>
              </a:tblGrid>
              <a:tr h="284885">
                <a:tc>
                  <a:txBody>
                    <a:bodyPr/>
                    <a:lstStyle/>
                    <a:p>
                      <a:pPr algn="ctr" fontAlgn="ctr" latinLnBrk="0"/>
                      <a:r>
                        <a:rPr lang="ko-KR" altLang="en-US" sz="1100" b="1" i="0" u="none" strike="noStrike" dirty="0">
                          <a:solidFill>
                            <a:schemeClr val="bg1"/>
                          </a:solidFill>
                          <a:effectLst/>
                          <a:latin typeface="+mj-ea"/>
                          <a:ea typeface="+mj-ea"/>
                        </a:rPr>
                        <a:t>구분</a:t>
                      </a:r>
                    </a:p>
                  </a:txBody>
                  <a:tcPr marL="36000" marR="36000" marT="18000" marB="18000"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100" b="1" i="0" u="none" strike="noStrike" dirty="0">
                          <a:solidFill>
                            <a:schemeClr val="bg1"/>
                          </a:solidFill>
                          <a:effectLst/>
                          <a:latin typeface="+mj-ea"/>
                          <a:ea typeface="+mj-ea"/>
                        </a:rPr>
                        <a:t>순번</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100" b="1" i="0" u="none" strike="noStrike" dirty="0" err="1">
                          <a:solidFill>
                            <a:schemeClr val="bg1"/>
                          </a:solidFill>
                          <a:effectLst/>
                          <a:latin typeface="+mj-ea"/>
                          <a:ea typeface="+mj-ea"/>
                        </a:rPr>
                        <a:t>지표명</a:t>
                      </a:r>
                      <a:endParaRPr lang="ko-KR" altLang="en-US" sz="1100" b="1" i="0" u="none" strike="noStrike" dirty="0">
                        <a:solidFill>
                          <a:schemeClr val="bg1"/>
                        </a:solidFill>
                        <a:effectLst/>
                        <a:latin typeface="+mj-ea"/>
                        <a:ea typeface="+mj-ea"/>
                      </a:endParaRP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100" b="1" i="0" u="none" strike="noStrike" dirty="0">
                          <a:solidFill>
                            <a:schemeClr val="bg1"/>
                          </a:solidFill>
                          <a:effectLst/>
                          <a:latin typeface="+mj-ea"/>
                          <a:ea typeface="+mj-ea"/>
                        </a:rPr>
                        <a:t>비중</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100" b="1" i="0" u="none" strike="noStrike" dirty="0">
                          <a:solidFill>
                            <a:schemeClr val="bg1"/>
                          </a:solidFill>
                          <a:effectLst/>
                          <a:latin typeface="+mj-ea"/>
                          <a:ea typeface="+mj-ea"/>
                        </a:rPr>
                        <a:t>자료</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100" b="1" i="0" u="none" strike="noStrike" dirty="0">
                          <a:solidFill>
                            <a:schemeClr val="bg1"/>
                          </a:solidFill>
                          <a:effectLst/>
                          <a:latin typeface="+mj-ea"/>
                          <a:ea typeface="+mj-ea"/>
                        </a:rPr>
                        <a:t>평가주기</a:t>
                      </a:r>
                    </a:p>
                  </a:txBody>
                  <a:tcPr marL="36000" marR="36000" marT="18000" marB="18000"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4278197487"/>
                  </a:ext>
                </a:extLst>
              </a:tr>
              <a:tr h="213203">
                <a:tc rowSpan="11">
                  <a:txBody>
                    <a:bodyPr/>
                    <a:lstStyle/>
                    <a:p>
                      <a:pPr algn="ctr" fontAlgn="ctr" latinLnBrk="0">
                        <a:lnSpc>
                          <a:spcPct val="100000"/>
                        </a:lnSpc>
                      </a:pPr>
                      <a:r>
                        <a:rPr lang="ko-KR" altLang="en-US" sz="1000" b="0" i="0" u="none" strike="noStrike" dirty="0">
                          <a:solidFill>
                            <a:srgbClr val="000000"/>
                          </a:solidFill>
                          <a:effectLst/>
                          <a:latin typeface="+mj-ea"/>
                          <a:ea typeface="+mj-ea"/>
                        </a:rPr>
                        <a:t>정량평가</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훈련유형별 연평균 실시인원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7.2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훈련과정 </a:t>
                      </a:r>
                      <a:endParaRPr lang="en-US" altLang="ko-KR" sz="1000" b="0" i="0" u="none" strike="noStrike" kern="1200" dirty="0">
                        <a:solidFill>
                          <a:srgbClr val="000000"/>
                        </a:solidFill>
                        <a:effectLst/>
                        <a:latin typeface="+mj-ea"/>
                        <a:ea typeface="+mj-ea"/>
                        <a:cs typeface="+mn-cs"/>
                      </a:endParaRPr>
                    </a:p>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심사승인 및 운영현황</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3</a:t>
                      </a:r>
                      <a:r>
                        <a:rPr lang="ko-KR" altLang="en-US" sz="1000" b="0" i="0" u="none" strike="noStrike" kern="1200" dirty="0">
                          <a:solidFill>
                            <a:srgbClr val="000000"/>
                          </a:solidFill>
                          <a:effectLst/>
                          <a:latin typeface="+mj-ea"/>
                          <a:ea typeface="+mj-ea"/>
                          <a:cs typeface="+mn-cs"/>
                        </a:rPr>
                        <a:t>년</a:t>
                      </a:r>
                      <a:r>
                        <a:rPr lang="en-US" altLang="ko-KR" sz="1000" b="0" i="0" u="none" strike="noStrike" kern="1200" dirty="0">
                          <a:solidFill>
                            <a:srgbClr val="000000"/>
                          </a:solidFill>
                          <a:effectLst/>
                          <a:latin typeface="+mj-ea"/>
                          <a:ea typeface="+mj-ea"/>
                          <a:cs typeface="+mn-cs"/>
                        </a:rPr>
                        <a:t> </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9330875"/>
                  </a:ext>
                </a:extLst>
              </a:tr>
              <a:tr h="213203">
                <a:tc vMerge="1">
                  <a:txBody>
                    <a:bodyPr/>
                    <a:lstStyle/>
                    <a:p>
                      <a:pPr algn="ctr" fontAlgn="ctr" latinLnBrk="0"/>
                      <a:endParaRPr lang="ko-KR" altLang="en-US" sz="1100" b="0" i="0" u="none" strike="noStrike" spc="-100" baseline="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2</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훈련유형별 연평균 개설 과정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8098685"/>
                  </a:ext>
                </a:extLst>
              </a:tr>
              <a:tr h="213203">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3</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훈련유형별 연평균 개설과정 증가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490007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4</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신청 훈련과정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a:solidFill>
                            <a:srgbClr val="000000"/>
                          </a:solidFill>
                          <a:effectLst/>
                          <a:latin typeface="+mj-ea"/>
                          <a:ea typeface="+mj-ea"/>
                          <a:cs typeface="+mn-cs"/>
                        </a:rPr>
                        <a:t>5.7</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2879281"/>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5</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국가기술자격시험 응시자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1000" b="0" i="0" u="none" strike="noStrike" kern="1200">
                          <a:solidFill>
                            <a:srgbClr val="000000"/>
                          </a:solidFill>
                          <a:effectLst/>
                          <a:latin typeface="+mj-ea"/>
                          <a:ea typeface="+mj-ea"/>
                          <a:cs typeface="+mn-cs"/>
                        </a:rPr>
                        <a:t>6.5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국가기술자격</a:t>
                      </a:r>
                      <a:endParaRPr lang="en-US" altLang="ko-KR" sz="1000" b="0" i="0" u="none" strike="noStrike" kern="1200" dirty="0">
                        <a:solidFill>
                          <a:srgbClr val="000000"/>
                        </a:solidFill>
                        <a:effectLst/>
                        <a:latin typeface="+mj-ea"/>
                        <a:ea typeface="+mj-ea"/>
                        <a:cs typeface="+mn-cs"/>
                      </a:endParaRPr>
                    </a:p>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통계연보</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a:t>
                      </a:r>
                      <a:r>
                        <a:rPr lang="ko-KR" altLang="en-US" sz="1000" b="0" i="0" u="none" strike="noStrike" kern="1200" dirty="0">
                          <a:solidFill>
                            <a:srgbClr val="000000"/>
                          </a:solidFill>
                          <a:effectLst/>
                          <a:latin typeface="+mj-ea"/>
                          <a:ea typeface="+mj-ea"/>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3124950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6</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국가기술자격시험 응시자 증가율</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5.8</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1858733"/>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7</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향상훈련수요</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RSC </a:t>
                      </a:r>
                      <a:r>
                        <a:rPr lang="ko-KR" altLang="en-US" sz="1000" b="0" i="0" u="none" strike="noStrike" kern="1200" dirty="0">
                          <a:solidFill>
                            <a:srgbClr val="000000"/>
                          </a:solidFill>
                          <a:effectLst/>
                          <a:latin typeface="+mj-ea"/>
                          <a:ea typeface="+mj-ea"/>
                          <a:cs typeface="+mn-cs"/>
                        </a:rPr>
                        <a:t>지역인력 훈련수요</a:t>
                      </a:r>
                      <a:r>
                        <a:rPr lang="en-US" altLang="ko-KR" sz="1000" b="0" i="0" u="none" strike="noStrike" kern="1200" dirty="0">
                          <a:solidFill>
                            <a:srgbClr val="000000"/>
                          </a:solidFill>
                          <a:effectLst/>
                          <a:latin typeface="Cambria" panose="02040503050406030204" pitchFamily="18" charset="0"/>
                          <a:ea typeface="Cambria" panose="02040503050406030204" pitchFamily="18" charset="0"/>
                          <a:cs typeface="+mn-cs"/>
                        </a:rPr>
                        <a:t>·</a:t>
                      </a:r>
                      <a:r>
                        <a:rPr lang="ko-KR" altLang="en-US" sz="1000" b="0" i="0" u="none" strike="noStrike" kern="1200" dirty="0">
                          <a:solidFill>
                            <a:srgbClr val="000000"/>
                          </a:solidFill>
                          <a:effectLst/>
                          <a:latin typeface="+mj-ea"/>
                          <a:ea typeface="+mj-ea"/>
                          <a:cs typeface="+mn-cs"/>
                        </a:rPr>
                        <a:t>공급조사</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3</a:t>
                      </a:r>
                      <a:r>
                        <a:rPr lang="ko-KR" altLang="en-US" sz="1000" b="0" i="0" u="none" strike="noStrike" kern="1200" dirty="0">
                          <a:solidFill>
                            <a:srgbClr val="000000"/>
                          </a:solidFill>
                          <a:effectLst/>
                          <a:latin typeface="+mj-ea"/>
                          <a:ea typeface="+mj-ea"/>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0277448"/>
                  </a:ext>
                </a:extLst>
              </a:tr>
              <a:tr h="213203">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8</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양성훈련수요</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2367562"/>
                  </a:ext>
                </a:extLst>
              </a:tr>
              <a:tr h="322762">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9</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취업자 수 연평균 성장률 전망</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1000" b="0" i="0" u="none" strike="noStrike" kern="1200">
                          <a:solidFill>
                            <a:srgbClr val="000000"/>
                          </a:solidFill>
                          <a:effectLst/>
                          <a:latin typeface="+mj-ea"/>
                          <a:ea typeface="+mj-ea"/>
                          <a:cs typeface="+mn-cs"/>
                        </a:rPr>
                        <a:t>6.1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중장기 인력수급전망</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a:t>
                      </a:r>
                      <a:r>
                        <a:rPr lang="ko-KR" altLang="en-US" sz="1000" b="0" i="0" u="none" strike="noStrike" kern="1200" dirty="0">
                          <a:solidFill>
                            <a:srgbClr val="000000"/>
                          </a:solidFill>
                          <a:effectLst/>
                          <a:latin typeface="+mj-ea"/>
                          <a:ea typeface="+mj-ea"/>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936599842"/>
                  </a:ext>
                </a:extLst>
              </a:tr>
              <a:tr h="213203">
                <a:tc vMerge="1">
                  <a:txBody>
                    <a:bodyPr/>
                    <a:lstStyle/>
                    <a:p>
                      <a:pPr algn="ctr" fontAlgn="ctr" latinLnBrk="0"/>
                      <a:endParaRPr lang="ko-KR" altLang="en-US" sz="1100" b="0" i="0" u="none" strike="noStrike" spc="-150" dirty="0">
                        <a:solidFill>
                          <a:schemeClr val="tx1"/>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10</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en-US" altLang="ko-KR" sz="1000" b="0" i="0" u="none" strike="noStrike" kern="1200" spc="-50" baseline="0" dirty="0">
                          <a:solidFill>
                            <a:srgbClr val="000000"/>
                          </a:solidFill>
                          <a:effectLst/>
                          <a:latin typeface="+mj-ea"/>
                          <a:ea typeface="+mj-ea"/>
                          <a:cs typeface="+mn-cs"/>
                        </a:rPr>
                        <a:t>STEP </a:t>
                      </a:r>
                      <a:r>
                        <a:rPr lang="ko-KR" altLang="en-US" sz="1000" b="0" i="0" u="none" strike="noStrike" kern="1200" spc="-50" baseline="0" dirty="0">
                          <a:solidFill>
                            <a:srgbClr val="000000"/>
                          </a:solidFill>
                          <a:effectLst/>
                          <a:latin typeface="+mj-ea"/>
                          <a:ea typeface="+mj-ea"/>
                          <a:cs typeface="+mn-cs"/>
                        </a:rPr>
                        <a:t>과정별 연평균 수강생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STEP </a:t>
                      </a:r>
                      <a:r>
                        <a:rPr lang="ko-KR" altLang="en-US" sz="1000" b="0" i="0" u="none" strike="noStrike" kern="1200" dirty="0">
                          <a:solidFill>
                            <a:srgbClr val="000000"/>
                          </a:solidFill>
                          <a:effectLst/>
                          <a:latin typeface="+mj-ea"/>
                          <a:ea typeface="+mj-ea"/>
                          <a:cs typeface="+mn-cs"/>
                        </a:rPr>
                        <a:t>실적</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a:t>
                      </a:r>
                      <a:r>
                        <a:rPr lang="ko-KR" altLang="en-US" sz="1000" b="0" i="0" u="none" strike="noStrike" kern="1200" dirty="0">
                          <a:solidFill>
                            <a:srgbClr val="000000"/>
                          </a:solidFill>
                          <a:effectLst/>
                          <a:latin typeface="+mj-ea"/>
                          <a:ea typeface="+mj-ea"/>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41215463"/>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11</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en-US" altLang="ko-KR" sz="1000" b="0" i="0" u="none" strike="noStrike" kern="1200" spc="-50" baseline="0" dirty="0">
                          <a:solidFill>
                            <a:srgbClr val="000000"/>
                          </a:solidFill>
                          <a:effectLst/>
                          <a:latin typeface="+mj-ea"/>
                          <a:ea typeface="+mj-ea"/>
                          <a:cs typeface="+mn-cs"/>
                        </a:rPr>
                        <a:t>STEP </a:t>
                      </a:r>
                      <a:r>
                        <a:rPr lang="ko-KR" altLang="en-US" sz="1000" b="0" i="0" u="none" strike="noStrike" kern="1200" spc="-50" baseline="0" dirty="0">
                          <a:solidFill>
                            <a:srgbClr val="000000"/>
                          </a:solidFill>
                          <a:effectLst/>
                          <a:latin typeface="+mj-ea"/>
                          <a:ea typeface="+mj-ea"/>
                          <a:cs typeface="+mn-cs"/>
                        </a:rPr>
                        <a:t>과정별 연평균 수강생 증가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6.4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89642110"/>
                  </a:ext>
                </a:extLst>
              </a:tr>
              <a:tr h="213203">
                <a:tc rowSpan="3">
                  <a:txBody>
                    <a:bodyPr/>
                    <a:lstStyle/>
                    <a:p>
                      <a:pPr algn="ctr" fontAlgn="ctr" latinLnBrk="0">
                        <a:lnSpc>
                          <a:spcPct val="100000"/>
                        </a:lnSpc>
                      </a:pPr>
                      <a:r>
                        <a:rPr lang="ko-KR" altLang="en-US" sz="1000" b="0" i="0" u="none" strike="noStrike" dirty="0">
                          <a:solidFill>
                            <a:srgbClr val="000000"/>
                          </a:solidFill>
                          <a:effectLst/>
                          <a:latin typeface="+mj-ea"/>
                          <a:ea typeface="+mj-ea"/>
                        </a:rPr>
                        <a:t>정성평가</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1</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미래 교육과정 수요 예상도</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algn="ctr" defTabSz="914400" rtl="0" eaLnBrk="1" fontAlgn="ctr" latinLnBrk="0" hangingPunct="1">
                        <a:lnSpc>
                          <a:spcPct val="100000"/>
                        </a:lnSpc>
                      </a:pPr>
                      <a:r>
                        <a:rPr lang="ko-KR" altLang="en-US" sz="1000" b="0" i="0" u="none" strike="noStrike" kern="1200" dirty="0">
                          <a:solidFill>
                            <a:srgbClr val="000000"/>
                          </a:solidFill>
                          <a:effectLst/>
                          <a:latin typeface="+mj-ea"/>
                          <a:ea typeface="+mj-ea"/>
                          <a:cs typeface="+mn-cs"/>
                        </a:rPr>
                        <a:t>전문가 평가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3</a:t>
                      </a:r>
                      <a:r>
                        <a:rPr lang="ko-KR" altLang="en-US" sz="1000" b="0" i="0" u="none" strike="noStrike" kern="1200" dirty="0">
                          <a:solidFill>
                            <a:srgbClr val="000000"/>
                          </a:solidFill>
                          <a:effectLst/>
                          <a:latin typeface="+mj-ea"/>
                          <a:ea typeface="+mj-ea"/>
                          <a:cs typeface="+mn-cs"/>
                        </a:rPr>
                        <a:t>년</a:t>
                      </a:r>
                      <a:endParaRPr lang="ko-KR" altLang="en-US" sz="9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172019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2</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교육과정 개발 필요성</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487129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1000" b="0" i="0" u="none" strike="noStrike" kern="1200" dirty="0">
                          <a:solidFill>
                            <a:srgbClr val="000000"/>
                          </a:solidFill>
                          <a:effectLst/>
                          <a:latin typeface="+mj-ea"/>
                          <a:ea typeface="+mj-ea"/>
                          <a:cs typeface="+mn-cs"/>
                        </a:rPr>
                        <a:t>3</a:t>
                      </a:r>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1000" b="0" i="0" u="none" strike="noStrike" kern="1200" spc="-50" baseline="0" dirty="0">
                          <a:solidFill>
                            <a:srgbClr val="000000"/>
                          </a:solidFill>
                          <a:effectLst/>
                          <a:latin typeface="+mj-ea"/>
                          <a:ea typeface="+mj-ea"/>
                          <a:cs typeface="+mn-cs"/>
                        </a:rPr>
                        <a:t>교육과정 개발 시급성</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1000" b="0" i="0" u="none" strike="noStrike" kern="1200" dirty="0">
                          <a:solidFill>
                            <a:srgbClr val="000000"/>
                          </a:solidFill>
                          <a:effectLst/>
                          <a:latin typeface="+mj-ea"/>
                          <a:ea typeface="+mj-ea"/>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2674776"/>
                  </a:ext>
                </a:extLst>
              </a:tr>
              <a:tr h="213203">
                <a:tc gridSpan="3">
                  <a:txBody>
                    <a:bodyPr/>
                    <a:lstStyle/>
                    <a:p>
                      <a:pPr algn="ctr" fontAlgn="ctr" latinLnBrk="0">
                        <a:lnSpc>
                          <a:spcPct val="100000"/>
                        </a:lnSpc>
                      </a:pPr>
                      <a:r>
                        <a:rPr lang="ko-KR" altLang="en-US" sz="1000" b="0" i="0" u="none" strike="noStrike" dirty="0">
                          <a:solidFill>
                            <a:srgbClr val="000000"/>
                          </a:solidFill>
                          <a:effectLst/>
                          <a:latin typeface="+mj-ea"/>
                          <a:ea typeface="+mj-ea"/>
                        </a:rPr>
                        <a:t>계</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4400" rtl="0" eaLnBrk="1" fontAlgn="ctr" latinLnBrk="0" hangingPunct="1">
                        <a:lnSpc>
                          <a:spcPct val="140000"/>
                        </a:lnSpc>
                        <a:buNone/>
                      </a:pPr>
                      <a:endParaRPr lang="ko-KR" altLang="en-US" sz="1100" b="0" i="0" u="none" strike="noStrike" kern="1200" spc="0" dirty="0">
                        <a:solidFill>
                          <a:srgbClr val="000000"/>
                        </a:solidFill>
                        <a:effectLst/>
                        <a:latin typeface="+mj-ea"/>
                        <a:ea typeface="+mj-ea"/>
                        <a:cs typeface="+mn-cs"/>
                      </a:endParaRPr>
                    </a:p>
                  </a:txBody>
                  <a:tcPr marT="35941" marB="3594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latinLnBrk="0">
                        <a:lnSpc>
                          <a:spcPct val="100000"/>
                        </a:lnSpc>
                      </a:pPr>
                      <a:r>
                        <a:rPr lang="en-US" altLang="ko-KR" sz="1000" b="0" i="0" u="none" strike="noStrike" kern="1200" spc="0" dirty="0">
                          <a:solidFill>
                            <a:srgbClr val="000000"/>
                          </a:solidFill>
                          <a:effectLst/>
                          <a:latin typeface="+mj-ea"/>
                          <a:ea typeface="+mj-ea"/>
                          <a:cs typeface="+mn-cs"/>
                        </a:rPr>
                        <a:t>100</a:t>
                      </a:r>
                      <a:endParaRPr lang="ko-KR" altLang="en-US" sz="1000" b="0" i="0" u="none" strike="noStrike" kern="1200" spc="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latinLnBrk="0">
                        <a:lnSpc>
                          <a:spcPct val="100000"/>
                        </a:lnSpc>
                      </a:pPr>
                      <a:r>
                        <a:rPr lang="en-US" altLang="ko-KR" sz="1000" b="0" i="0" u="none" strike="noStrike" kern="1200" spc="0" dirty="0">
                          <a:solidFill>
                            <a:srgbClr val="000000"/>
                          </a:solidFill>
                          <a:effectLst/>
                          <a:latin typeface="+mj-ea"/>
                          <a:ea typeface="+mj-ea"/>
                          <a:cs typeface="+mn-cs"/>
                        </a:rPr>
                        <a:t>-</a:t>
                      </a:r>
                      <a:endParaRPr lang="ko-KR" altLang="en-US" sz="1000" b="0" i="0" u="none" strike="noStrike" kern="1200" spc="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latinLnBrk="0">
                        <a:lnSpc>
                          <a:spcPct val="100000"/>
                        </a:lnSpc>
                      </a:pPr>
                      <a:r>
                        <a:rPr lang="en-US" altLang="ko-KR" sz="1000" b="0" i="0" u="none" strike="noStrike" kern="1200" spc="0" dirty="0">
                          <a:solidFill>
                            <a:srgbClr val="000000"/>
                          </a:solidFill>
                          <a:effectLst/>
                          <a:latin typeface="+mj-ea"/>
                          <a:ea typeface="+mj-ea"/>
                          <a:cs typeface="+mn-cs"/>
                        </a:rPr>
                        <a:t>-</a:t>
                      </a:r>
                      <a:endParaRPr lang="ko-KR" altLang="en-US" sz="1000" b="0" i="0" u="none" strike="noStrike" kern="1200" spc="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87051982"/>
                  </a:ext>
                </a:extLst>
              </a:tr>
            </a:tbl>
          </a:graphicData>
        </a:graphic>
      </p:graphicFrame>
      <p:grpSp>
        <p:nvGrpSpPr>
          <p:cNvPr id="7" name="그룹 6">
            <a:extLst>
              <a:ext uri="{FF2B5EF4-FFF2-40B4-BE49-F238E27FC236}">
                <a16:creationId xmlns:a16="http://schemas.microsoft.com/office/drawing/2014/main" id="{0452C02C-04D3-CB31-9CD4-B9CC69089AA3}"/>
              </a:ext>
            </a:extLst>
          </p:cNvPr>
          <p:cNvGrpSpPr/>
          <p:nvPr/>
        </p:nvGrpSpPr>
        <p:grpSpPr>
          <a:xfrm>
            <a:off x="613333" y="2068037"/>
            <a:ext cx="3852428" cy="292388"/>
            <a:chOff x="672170" y="1944148"/>
            <a:chExt cx="3852428" cy="292388"/>
          </a:xfrm>
        </p:grpSpPr>
        <p:sp>
          <p:nvSpPr>
            <p:cNvPr id="8" name="TextBox 7">
              <a:extLst>
                <a:ext uri="{FF2B5EF4-FFF2-40B4-BE49-F238E27FC236}">
                  <a16:creationId xmlns:a16="http://schemas.microsoft.com/office/drawing/2014/main" id="{5DB1DA82-AAA3-E131-0C8D-367BFEDFE24E}"/>
                </a:ext>
              </a:extLst>
            </p:cNvPr>
            <p:cNvSpPr txBox="1"/>
            <p:nvPr/>
          </p:nvSpPr>
          <p:spPr>
            <a:xfrm>
              <a:off x="708173" y="1944148"/>
              <a:ext cx="3816425" cy="292388"/>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3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최신화 논의</a:t>
              </a:r>
            </a:p>
          </p:txBody>
        </p:sp>
        <p:sp>
          <p:nvSpPr>
            <p:cNvPr id="9" name="직사각형 8">
              <a:extLst>
                <a:ext uri="{FF2B5EF4-FFF2-40B4-BE49-F238E27FC236}">
                  <a16:creationId xmlns:a16="http://schemas.microsoft.com/office/drawing/2014/main" id="{98E597BA-00CB-B283-9834-B4CA862D6A5C}"/>
                </a:ext>
              </a:extLst>
            </p:cNvPr>
            <p:cNvSpPr/>
            <p:nvPr/>
          </p:nvSpPr>
          <p:spPr>
            <a:xfrm>
              <a:off x="672170" y="1980004"/>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pSp>
        <p:nvGrpSpPr>
          <p:cNvPr id="22" name="그룹 21">
            <a:extLst>
              <a:ext uri="{FF2B5EF4-FFF2-40B4-BE49-F238E27FC236}">
                <a16:creationId xmlns:a16="http://schemas.microsoft.com/office/drawing/2014/main" id="{A4077A03-8A2E-9E46-83BF-3C18B25E9043}"/>
              </a:ext>
            </a:extLst>
          </p:cNvPr>
          <p:cNvGrpSpPr/>
          <p:nvPr/>
        </p:nvGrpSpPr>
        <p:grpSpPr>
          <a:xfrm>
            <a:off x="590798" y="2437322"/>
            <a:ext cx="4182815" cy="873249"/>
            <a:chOff x="590798" y="2437322"/>
            <a:chExt cx="4182815" cy="873249"/>
          </a:xfrm>
        </p:grpSpPr>
        <p:sp>
          <p:nvSpPr>
            <p:cNvPr id="10" name="모서리가 둥근 직사각형 28">
              <a:extLst>
                <a:ext uri="{FF2B5EF4-FFF2-40B4-BE49-F238E27FC236}">
                  <a16:creationId xmlns:a16="http://schemas.microsoft.com/office/drawing/2014/main" id="{21C386A9-C0A7-8FE6-53D8-FBF9D2261911}"/>
                </a:ext>
              </a:extLst>
            </p:cNvPr>
            <p:cNvSpPr/>
            <p:nvPr/>
          </p:nvSpPr>
          <p:spPr>
            <a:xfrm>
              <a:off x="590798" y="2437322"/>
              <a:ext cx="701805" cy="873249"/>
            </a:xfrm>
            <a:prstGeom prst="rect">
              <a:avLst/>
            </a:prstGeom>
            <a:solidFill>
              <a:srgbClr val="212E55"/>
            </a:solidFill>
          </p:spPr>
          <p:txBody>
            <a:bodyPr wrap="square" tIns="36000" bIns="36000" anchor="ctr">
              <a:noAutofit/>
            </a:bodyPr>
            <a:lstStyle/>
            <a:p>
              <a:pPr latinLnBrk="0">
                <a:buNone/>
              </a:pPr>
              <a:r>
                <a:rPr lang="ko-KR" altLang="en-US" dirty="0">
                  <a:solidFill>
                    <a:schemeClr val="bg1"/>
                  </a:solidFill>
                  <a:latin typeface="a고딕14" panose="02020600000000000000" pitchFamily="18" charset="-127"/>
                  <a:ea typeface="a고딕14" panose="02020600000000000000" pitchFamily="18" charset="-127"/>
                </a:rPr>
                <a:t>비공개 데이터 입수</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17" name="모서리가 둥근 직사각형 28">
              <a:extLst>
                <a:ext uri="{FF2B5EF4-FFF2-40B4-BE49-F238E27FC236}">
                  <a16:creationId xmlns:a16="http://schemas.microsoft.com/office/drawing/2014/main" id="{B0468883-71C0-FF05-7237-1B342129D4FB}"/>
                </a:ext>
              </a:extLst>
            </p:cNvPr>
            <p:cNvSpPr/>
            <p:nvPr/>
          </p:nvSpPr>
          <p:spPr>
            <a:xfrm>
              <a:off x="1422206" y="2437322"/>
              <a:ext cx="3351407"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pPr>
              <a:r>
                <a:rPr lang="ko-KR" altLang="en-US" dirty="0">
                  <a:latin typeface="a고딕14" panose="02020600000000000000" pitchFamily="18" charset="-127"/>
                  <a:ea typeface="a고딕14" panose="02020600000000000000" pitchFamily="18" charset="-127"/>
                </a:rPr>
                <a:t>정량평가에 활용하는 데이터 중 비공개 데이터의 비중이 높음</a:t>
              </a:r>
              <a:r>
                <a:rPr lang="en-US" altLang="ko-KR" dirty="0">
                  <a:latin typeface="a고딕14" panose="02020600000000000000" pitchFamily="18" charset="-127"/>
                  <a:ea typeface="a고딕14" panose="02020600000000000000" pitchFamily="18" charset="-127"/>
                </a:rPr>
                <a:t>(51.5%)</a:t>
              </a:r>
            </a:p>
            <a:p>
              <a:pPr marL="171450" indent="-171450" algn="l" latinLnBrk="0">
                <a:spcAft>
                  <a:spcPts val="300"/>
                </a:spcAft>
              </a:pPr>
              <a:r>
                <a:rPr lang="ko-KR" altLang="en-US" dirty="0">
                  <a:latin typeface="a고딕14" panose="02020600000000000000" pitchFamily="18" charset="-127"/>
                  <a:ea typeface="a고딕14" panose="02020600000000000000" pitchFamily="18" charset="-127"/>
                </a:rPr>
                <a:t>전년도 데이터 수집 시 지역인적자원개발위원회의 협조가 원활하지 않아 확보에 어려움이 있었음</a:t>
              </a:r>
              <a:endParaRPr lang="en-US" altLang="ko-KR" dirty="0">
                <a:latin typeface="a고딕14" panose="02020600000000000000" pitchFamily="18" charset="-127"/>
                <a:ea typeface="a고딕14" panose="02020600000000000000" pitchFamily="18" charset="-127"/>
              </a:endParaRPr>
            </a:p>
          </p:txBody>
        </p:sp>
      </p:grpSp>
      <p:grpSp>
        <p:nvGrpSpPr>
          <p:cNvPr id="23" name="그룹 22">
            <a:extLst>
              <a:ext uri="{FF2B5EF4-FFF2-40B4-BE49-F238E27FC236}">
                <a16:creationId xmlns:a16="http://schemas.microsoft.com/office/drawing/2014/main" id="{3D866235-E2BA-9699-D65B-65A32AB69B15}"/>
              </a:ext>
            </a:extLst>
          </p:cNvPr>
          <p:cNvGrpSpPr/>
          <p:nvPr/>
        </p:nvGrpSpPr>
        <p:grpSpPr>
          <a:xfrm>
            <a:off x="590798" y="3341471"/>
            <a:ext cx="4182815" cy="740704"/>
            <a:chOff x="590798" y="3444380"/>
            <a:chExt cx="4182815" cy="873249"/>
          </a:xfrm>
        </p:grpSpPr>
        <p:sp>
          <p:nvSpPr>
            <p:cNvPr id="18" name="모서리가 둥근 직사각형 28">
              <a:extLst>
                <a:ext uri="{FF2B5EF4-FFF2-40B4-BE49-F238E27FC236}">
                  <a16:creationId xmlns:a16="http://schemas.microsoft.com/office/drawing/2014/main" id="{71FAA449-C6E3-C3C1-EB68-8F74CB845F80}"/>
                </a:ext>
              </a:extLst>
            </p:cNvPr>
            <p:cNvSpPr/>
            <p:nvPr/>
          </p:nvSpPr>
          <p:spPr>
            <a:xfrm>
              <a:off x="590798" y="3444380"/>
              <a:ext cx="701805" cy="873249"/>
            </a:xfrm>
            <a:prstGeom prst="rect">
              <a:avLst/>
            </a:prstGeom>
            <a:solidFill>
              <a:srgbClr val="212E55"/>
            </a:solidFill>
          </p:spPr>
          <p:txBody>
            <a:bodyPr wrap="square" tIns="36000" bIns="36000" anchor="ctr">
              <a:noAutofit/>
            </a:bodyPr>
            <a:lstStyle/>
            <a:p>
              <a:pPr latinLnBrk="0">
                <a:buNone/>
              </a:pPr>
              <a:r>
                <a:rPr lang="ko-KR" altLang="en-US" dirty="0">
                  <a:solidFill>
                    <a:schemeClr val="bg1"/>
                  </a:solidFill>
                  <a:latin typeface="a고딕14" panose="02020600000000000000" pitchFamily="18" charset="-127"/>
                  <a:ea typeface="a고딕14" panose="02020600000000000000" pitchFamily="18" charset="-127"/>
                </a:rPr>
                <a:t>신규 </a:t>
              </a:r>
              <a:r>
                <a:rPr lang="ko-KR" altLang="en-US" dirty="0" err="1">
                  <a:solidFill>
                    <a:schemeClr val="bg1"/>
                  </a:solidFill>
                  <a:latin typeface="a고딕14" panose="02020600000000000000" pitchFamily="18" charset="-127"/>
                  <a:ea typeface="a고딕14" panose="02020600000000000000" pitchFamily="18" charset="-127"/>
                </a:rPr>
                <a:t>세분류</a:t>
              </a:r>
              <a:r>
                <a:rPr lang="ko-KR" altLang="en-US" dirty="0">
                  <a:solidFill>
                    <a:schemeClr val="bg1"/>
                  </a:solidFill>
                  <a:latin typeface="a고딕14" panose="02020600000000000000" pitchFamily="18" charset="-127"/>
                  <a:ea typeface="a고딕14" panose="02020600000000000000" pitchFamily="18" charset="-127"/>
                </a:rPr>
                <a:t> 결측</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19" name="모서리가 둥근 직사각형 28">
              <a:extLst>
                <a:ext uri="{FF2B5EF4-FFF2-40B4-BE49-F238E27FC236}">
                  <a16:creationId xmlns:a16="http://schemas.microsoft.com/office/drawing/2014/main" id="{1C8C35C7-251B-8A2A-18AA-EDEDB0244F53}"/>
                </a:ext>
              </a:extLst>
            </p:cNvPr>
            <p:cNvSpPr/>
            <p:nvPr/>
          </p:nvSpPr>
          <p:spPr>
            <a:xfrm>
              <a:off x="1422206" y="3444380"/>
              <a:ext cx="3351407"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pPr>
              <a:r>
                <a:rPr lang="ko-KR" altLang="en-US" dirty="0" err="1">
                  <a:latin typeface="a고딕14" panose="02020600000000000000" pitchFamily="18" charset="-127"/>
                  <a:ea typeface="a고딕14" panose="02020600000000000000" pitchFamily="18" charset="-127"/>
                </a:rPr>
                <a:t>세분류</a:t>
              </a:r>
              <a:r>
                <a:rPr lang="ko-KR" altLang="en-US" dirty="0">
                  <a:latin typeface="a고딕14" panose="02020600000000000000" pitchFamily="18" charset="-127"/>
                  <a:ea typeface="a고딕14" panose="02020600000000000000" pitchFamily="18" charset="-127"/>
                </a:rPr>
                <a:t> 신설 시 훈련 및 자격 데이터가 충분하지 않아 결측 처리되어 후순위 배정될 가능성 높음</a:t>
              </a:r>
              <a:endParaRPr lang="en-US" altLang="ko-KR" dirty="0">
                <a:latin typeface="a고딕14" panose="02020600000000000000" pitchFamily="18" charset="-127"/>
                <a:ea typeface="a고딕14" panose="02020600000000000000" pitchFamily="18" charset="-127"/>
              </a:endParaRPr>
            </a:p>
          </p:txBody>
        </p:sp>
      </p:grpSp>
      <p:grpSp>
        <p:nvGrpSpPr>
          <p:cNvPr id="24" name="그룹 23">
            <a:extLst>
              <a:ext uri="{FF2B5EF4-FFF2-40B4-BE49-F238E27FC236}">
                <a16:creationId xmlns:a16="http://schemas.microsoft.com/office/drawing/2014/main" id="{451C55F0-8C57-C0E4-0DE8-47D29B1E8C38}"/>
              </a:ext>
            </a:extLst>
          </p:cNvPr>
          <p:cNvGrpSpPr/>
          <p:nvPr/>
        </p:nvGrpSpPr>
        <p:grpSpPr>
          <a:xfrm>
            <a:off x="590798" y="4113076"/>
            <a:ext cx="4182815" cy="1381631"/>
            <a:chOff x="598505" y="4531645"/>
            <a:chExt cx="4182815" cy="1381631"/>
          </a:xfrm>
        </p:grpSpPr>
        <p:sp>
          <p:nvSpPr>
            <p:cNvPr id="20" name="모서리가 둥근 직사각형 28">
              <a:extLst>
                <a:ext uri="{FF2B5EF4-FFF2-40B4-BE49-F238E27FC236}">
                  <a16:creationId xmlns:a16="http://schemas.microsoft.com/office/drawing/2014/main" id="{CA217357-B934-4399-BE9B-B04AE7B113CE}"/>
                </a:ext>
              </a:extLst>
            </p:cNvPr>
            <p:cNvSpPr/>
            <p:nvPr/>
          </p:nvSpPr>
          <p:spPr>
            <a:xfrm>
              <a:off x="598505" y="4531645"/>
              <a:ext cx="701805" cy="1381631"/>
            </a:xfrm>
            <a:prstGeom prst="rect">
              <a:avLst/>
            </a:prstGeom>
            <a:solidFill>
              <a:srgbClr val="212E55"/>
            </a:solidFill>
          </p:spPr>
          <p:txBody>
            <a:bodyPr wrap="square" lIns="0" tIns="36000" rIns="0" bIns="36000" anchor="ctr">
              <a:noAutofit/>
            </a:bodyPr>
            <a:lstStyle/>
            <a:p>
              <a:pPr latinLnBrk="0">
                <a:buNone/>
              </a:pPr>
              <a:r>
                <a:rPr lang="ko-KR" altLang="en-US" dirty="0">
                  <a:solidFill>
                    <a:schemeClr val="bg1"/>
                  </a:solidFill>
                  <a:latin typeface="a고딕14" panose="02020600000000000000" pitchFamily="18" charset="-127"/>
                  <a:ea typeface="a고딕14" panose="02020600000000000000" pitchFamily="18" charset="-127"/>
                </a:rPr>
                <a:t>정성평가</a:t>
              </a:r>
              <a:endParaRPr lang="en-US" altLang="ko-KR" dirty="0">
                <a:solidFill>
                  <a:schemeClr val="bg1"/>
                </a:solidFill>
                <a:latin typeface="a고딕14" panose="02020600000000000000" pitchFamily="18" charset="-127"/>
                <a:ea typeface="a고딕14" panose="02020600000000000000" pitchFamily="18" charset="-127"/>
              </a:endParaRPr>
            </a:p>
            <a:p>
              <a:pPr latinLnBrk="0">
                <a:buNone/>
              </a:pPr>
              <a:r>
                <a:rPr lang="ko-KR" altLang="en-US" dirty="0">
                  <a:solidFill>
                    <a:schemeClr val="bg1"/>
                  </a:solidFill>
                  <a:latin typeface="a고딕14" panose="02020600000000000000" pitchFamily="18" charset="-127"/>
                  <a:ea typeface="a고딕14" panose="02020600000000000000" pitchFamily="18" charset="-127"/>
                </a:rPr>
                <a:t>이슈</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21" name="모서리가 둥근 직사각형 28">
              <a:extLst>
                <a:ext uri="{FF2B5EF4-FFF2-40B4-BE49-F238E27FC236}">
                  <a16:creationId xmlns:a16="http://schemas.microsoft.com/office/drawing/2014/main" id="{470D64C4-D072-DCB6-8D9F-A9925F784552}"/>
                </a:ext>
              </a:extLst>
            </p:cNvPr>
            <p:cNvSpPr/>
            <p:nvPr/>
          </p:nvSpPr>
          <p:spPr>
            <a:xfrm>
              <a:off x="1429913" y="4531645"/>
              <a:ext cx="3351407" cy="1381631"/>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600"/>
                </a:spcAft>
              </a:pPr>
              <a:r>
                <a:rPr lang="ko-KR" altLang="en-US" dirty="0">
                  <a:latin typeface="a고딕14" panose="02020600000000000000" pitchFamily="18" charset="-127"/>
                  <a:ea typeface="a고딕14" panose="02020600000000000000" pitchFamily="18" charset="-127"/>
                </a:rPr>
                <a:t>지표 특성상 </a:t>
              </a:r>
              <a:r>
                <a:rPr lang="en-US" altLang="ko-KR" dirty="0">
                  <a:latin typeface="a고딕14" panose="02020600000000000000" pitchFamily="18" charset="-127"/>
                  <a:ea typeface="a고딕14" panose="02020600000000000000" pitchFamily="18" charset="-127"/>
                </a:rPr>
                <a:t>1</a:t>
              </a:r>
              <a:r>
                <a:rPr lang="ko-KR" altLang="en-US" dirty="0" err="1">
                  <a:latin typeface="a고딕14" panose="02020600000000000000" pitchFamily="18" charset="-127"/>
                  <a:ea typeface="a고딕14" panose="02020600000000000000" pitchFamily="18" charset="-127"/>
                </a:rPr>
                <a:t>년만에</a:t>
              </a:r>
              <a:r>
                <a:rPr lang="ko-KR" altLang="en-US" dirty="0">
                  <a:latin typeface="a고딕14" panose="02020600000000000000" pitchFamily="18" charset="-127"/>
                  <a:ea typeface="a고딕14" panose="02020600000000000000" pitchFamily="18" charset="-127"/>
                </a:rPr>
                <a:t> 급변하기 어려운데 반해</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단기 이슈에 </a:t>
              </a:r>
              <a:r>
                <a:rPr lang="ko-KR" altLang="en-US" dirty="0" err="1">
                  <a:latin typeface="a고딕14" panose="02020600000000000000" pitchFamily="18" charset="-127"/>
                  <a:ea typeface="a고딕14" panose="02020600000000000000" pitchFamily="18" charset="-127"/>
                </a:rPr>
                <a:t>과민반응하는</a:t>
              </a:r>
              <a:r>
                <a:rPr lang="ko-KR" altLang="en-US" dirty="0">
                  <a:latin typeface="a고딕14" panose="02020600000000000000" pitchFamily="18" charset="-127"/>
                  <a:ea typeface="a고딕14" panose="02020600000000000000" pitchFamily="18" charset="-127"/>
                </a:rPr>
                <a:t> 등 평가 일관성을 떨어뜨릴 수 있음</a:t>
              </a:r>
              <a:endParaRPr lang="en-US" altLang="ko-KR" dirty="0">
                <a:latin typeface="a고딕14" panose="02020600000000000000" pitchFamily="18" charset="-127"/>
                <a:ea typeface="a고딕14" panose="02020600000000000000" pitchFamily="18" charset="-127"/>
              </a:endParaRPr>
            </a:p>
            <a:p>
              <a:pPr marL="171450" indent="-171450" algn="l" latinLnBrk="0">
                <a:spcAft>
                  <a:spcPts val="600"/>
                </a:spcAft>
              </a:pPr>
              <a:r>
                <a:rPr lang="ko-KR" altLang="en-US" dirty="0">
                  <a:latin typeface="a고딕14" panose="02020600000000000000" pitchFamily="18" charset="-127"/>
                  <a:ea typeface="a고딕14" panose="02020600000000000000" pitchFamily="18" charset="-127"/>
                </a:rPr>
                <a:t>평가 운영</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조사 비용이 큰 반면 매년 재평가할 만큼의 유의미한 변화가 드물어 비용 대비 효율이 크게 떨어짐</a:t>
              </a:r>
              <a:endParaRPr lang="en-US" altLang="ko-KR" dirty="0">
                <a:latin typeface="a고딕14" panose="02020600000000000000" pitchFamily="18" charset="-127"/>
                <a:ea typeface="a고딕14" panose="02020600000000000000" pitchFamily="18" charset="-127"/>
              </a:endParaRPr>
            </a:p>
          </p:txBody>
        </p:sp>
      </p:grpSp>
      <p:pic>
        <p:nvPicPr>
          <p:cNvPr id="27" name="Picture 22" descr="E:\포폴정리\멀캠\개체\자주쓰는 PNG\화살표2.png">
            <a:extLst>
              <a:ext uri="{FF2B5EF4-FFF2-40B4-BE49-F238E27FC236}">
                <a16:creationId xmlns:a16="http://schemas.microsoft.com/office/drawing/2014/main" id="{0F5F4874-BAB9-930E-E0F8-8B4D15DE6D46}"/>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10800000" flipV="1">
            <a:off x="480390" y="5481228"/>
            <a:ext cx="4300930" cy="212429"/>
          </a:xfrm>
          <a:prstGeom prst="rect">
            <a:avLst/>
          </a:prstGeom>
          <a:noFill/>
        </p:spPr>
      </p:pic>
      <p:grpSp>
        <p:nvGrpSpPr>
          <p:cNvPr id="30" name="그룹 29">
            <a:extLst>
              <a:ext uri="{FF2B5EF4-FFF2-40B4-BE49-F238E27FC236}">
                <a16:creationId xmlns:a16="http://schemas.microsoft.com/office/drawing/2014/main" id="{39430729-3567-6AA9-E5F7-1F6973E8BA36}"/>
              </a:ext>
            </a:extLst>
          </p:cNvPr>
          <p:cNvGrpSpPr/>
          <p:nvPr/>
        </p:nvGrpSpPr>
        <p:grpSpPr>
          <a:xfrm>
            <a:off x="590798" y="5750674"/>
            <a:ext cx="4182815" cy="740704"/>
            <a:chOff x="590798" y="3444380"/>
            <a:chExt cx="4182815" cy="873249"/>
          </a:xfrm>
        </p:grpSpPr>
        <p:sp>
          <p:nvSpPr>
            <p:cNvPr id="31" name="모서리가 둥근 직사각형 28">
              <a:extLst>
                <a:ext uri="{FF2B5EF4-FFF2-40B4-BE49-F238E27FC236}">
                  <a16:creationId xmlns:a16="http://schemas.microsoft.com/office/drawing/2014/main" id="{55217A35-582E-266F-9A3E-7089CF1AED28}"/>
                </a:ext>
              </a:extLst>
            </p:cNvPr>
            <p:cNvSpPr/>
            <p:nvPr/>
          </p:nvSpPr>
          <p:spPr>
            <a:xfrm>
              <a:off x="590798" y="3444380"/>
              <a:ext cx="701805" cy="873249"/>
            </a:xfrm>
            <a:prstGeom prst="rect">
              <a:avLst/>
            </a:prstGeom>
            <a:solidFill>
              <a:srgbClr val="3061A3"/>
            </a:solidFill>
          </p:spPr>
          <p:txBody>
            <a:bodyPr wrap="square" tIns="36000" bIns="36000" anchor="ctr">
              <a:noAutofit/>
            </a:bodyPr>
            <a:lstStyle/>
            <a:p>
              <a:pPr latinLnBrk="0">
                <a:buNone/>
              </a:pPr>
              <a:r>
                <a:rPr lang="ko-KR" altLang="en-US" dirty="0">
                  <a:solidFill>
                    <a:schemeClr val="bg1"/>
                  </a:solidFill>
                  <a:latin typeface="a고딕14" panose="02020600000000000000" pitchFamily="18" charset="-127"/>
                  <a:ea typeface="a고딕14" panose="02020600000000000000" pitchFamily="18" charset="-127"/>
                </a:rPr>
                <a:t>최신화 방향</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32" name="모서리가 둥근 직사각형 28">
              <a:extLst>
                <a:ext uri="{FF2B5EF4-FFF2-40B4-BE49-F238E27FC236}">
                  <a16:creationId xmlns:a16="http://schemas.microsoft.com/office/drawing/2014/main" id="{C93C6BCF-4397-D407-5245-B35196B2060D}"/>
                </a:ext>
              </a:extLst>
            </p:cNvPr>
            <p:cNvSpPr/>
            <p:nvPr/>
          </p:nvSpPr>
          <p:spPr>
            <a:xfrm>
              <a:off x="1422206" y="3444380"/>
              <a:ext cx="3351407"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pPr>
              <a:r>
                <a:rPr lang="ko-KR" altLang="en-US" dirty="0">
                  <a:latin typeface="a고딕14" panose="02020600000000000000" pitchFamily="18" charset="-127"/>
                  <a:ea typeface="a고딕14" panose="02020600000000000000" pitchFamily="18" charset="-127"/>
                </a:rPr>
                <a:t>매년 최신화를 진행하는 지표를 선별</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 이 외에는 </a:t>
              </a:r>
              <a:r>
                <a:rPr lang="en-US" altLang="ko-KR" dirty="0">
                  <a:latin typeface="a고딕14" panose="02020600000000000000" pitchFamily="18" charset="-127"/>
                  <a:ea typeface="a고딕14" panose="02020600000000000000" pitchFamily="18" charset="-127"/>
                </a:rPr>
                <a:t>3</a:t>
              </a:r>
              <a:r>
                <a:rPr lang="ko-KR" altLang="en-US" dirty="0">
                  <a:latin typeface="a고딕14" panose="02020600000000000000" pitchFamily="18" charset="-127"/>
                  <a:ea typeface="a고딕14" panose="02020600000000000000" pitchFamily="18" charset="-127"/>
                </a:rPr>
                <a:t>년 주기로 최신화 진행</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단</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정책 등 큰 변화가 발생한 경우 최신화 진행</a:t>
              </a:r>
              <a:r>
                <a:rPr lang="en-US" altLang="ko-KR" dirty="0">
                  <a:latin typeface="a고딕14" panose="02020600000000000000" pitchFamily="18" charset="-127"/>
                  <a:ea typeface="a고딕14" panose="02020600000000000000" pitchFamily="18" charset="-127"/>
                </a:rPr>
                <a:t>)</a:t>
              </a:r>
            </a:p>
          </p:txBody>
        </p:sp>
      </p:grpSp>
      <p:grpSp>
        <p:nvGrpSpPr>
          <p:cNvPr id="33" name="그룹 32">
            <a:extLst>
              <a:ext uri="{FF2B5EF4-FFF2-40B4-BE49-F238E27FC236}">
                <a16:creationId xmlns:a16="http://schemas.microsoft.com/office/drawing/2014/main" id="{30948664-6023-BC78-2D62-DAF9FBA30288}"/>
              </a:ext>
            </a:extLst>
          </p:cNvPr>
          <p:cNvGrpSpPr/>
          <p:nvPr/>
        </p:nvGrpSpPr>
        <p:grpSpPr>
          <a:xfrm>
            <a:off x="4970601" y="2103893"/>
            <a:ext cx="3852428" cy="292388"/>
            <a:chOff x="672170" y="1944148"/>
            <a:chExt cx="3852428" cy="292388"/>
          </a:xfrm>
        </p:grpSpPr>
        <p:sp>
          <p:nvSpPr>
            <p:cNvPr id="34" name="TextBox 33">
              <a:extLst>
                <a:ext uri="{FF2B5EF4-FFF2-40B4-BE49-F238E27FC236}">
                  <a16:creationId xmlns:a16="http://schemas.microsoft.com/office/drawing/2014/main" id="{2DB38257-0315-0ECF-2A4C-352D5D288DCA}"/>
                </a:ext>
              </a:extLst>
            </p:cNvPr>
            <p:cNvSpPr txBox="1"/>
            <p:nvPr/>
          </p:nvSpPr>
          <p:spPr>
            <a:xfrm>
              <a:off x="708173" y="1944148"/>
              <a:ext cx="3816425" cy="292388"/>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3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최신화 지표 선별 결과 </a:t>
              </a:r>
            </a:p>
          </p:txBody>
        </p:sp>
        <p:sp>
          <p:nvSpPr>
            <p:cNvPr id="35" name="직사각형 34">
              <a:extLst>
                <a:ext uri="{FF2B5EF4-FFF2-40B4-BE49-F238E27FC236}">
                  <a16:creationId xmlns:a16="http://schemas.microsoft.com/office/drawing/2014/main" id="{AF4FF10A-F9D8-8CE8-57BA-8E2C89F999E4}"/>
                </a:ext>
              </a:extLst>
            </p:cNvPr>
            <p:cNvSpPr/>
            <p:nvPr/>
          </p:nvSpPr>
          <p:spPr>
            <a:xfrm>
              <a:off x="672170" y="1980004"/>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sp>
        <p:nvSpPr>
          <p:cNvPr id="39" name="모서리가 둥근 직사각형 28">
            <a:extLst>
              <a:ext uri="{FF2B5EF4-FFF2-40B4-BE49-F238E27FC236}">
                <a16:creationId xmlns:a16="http://schemas.microsoft.com/office/drawing/2014/main" id="{145786AD-19D1-3653-7FC0-95CD1E093917}"/>
              </a:ext>
            </a:extLst>
          </p:cNvPr>
          <p:cNvSpPr/>
          <p:nvPr/>
        </p:nvSpPr>
        <p:spPr>
          <a:xfrm>
            <a:off x="4910384" y="6057292"/>
            <a:ext cx="4435229" cy="430095"/>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buFont typeface="Wingdings" panose="05000000000000000000" pitchFamily="2" charset="2"/>
              <a:buChar char="Ø"/>
            </a:pPr>
            <a:r>
              <a:rPr lang="ko-KR" altLang="en-US" sz="1050" dirty="0">
                <a:latin typeface="a고딕14" panose="02020600000000000000" pitchFamily="18" charset="-127"/>
                <a:ea typeface="a고딕14" panose="02020600000000000000" pitchFamily="18" charset="-127"/>
              </a:rPr>
              <a:t>신설된 </a:t>
            </a:r>
            <a:r>
              <a:rPr lang="ko-KR" altLang="en-US" sz="1050" dirty="0" err="1">
                <a:latin typeface="a고딕14" panose="02020600000000000000" pitchFamily="18" charset="-127"/>
                <a:ea typeface="a고딕14" panose="02020600000000000000" pitchFamily="18" charset="-127"/>
              </a:rPr>
              <a:t>세분류</a:t>
            </a:r>
            <a:r>
              <a:rPr lang="ko-KR" altLang="en-US" sz="1050" dirty="0">
                <a:latin typeface="a고딕14" panose="02020600000000000000" pitchFamily="18" charset="-127"/>
                <a:ea typeface="a고딕14" panose="02020600000000000000" pitchFamily="18" charset="-127"/>
              </a:rPr>
              <a:t> 평가방법</a:t>
            </a:r>
            <a:r>
              <a:rPr lang="en-US" altLang="ko-KR" sz="1050" dirty="0">
                <a:latin typeface="a고딕14" panose="02020600000000000000" pitchFamily="18" charset="-127"/>
                <a:ea typeface="a고딕14" panose="02020600000000000000" pitchFamily="18" charset="-127"/>
              </a:rPr>
              <a:t>:</a:t>
            </a:r>
            <a:r>
              <a:rPr lang="ko-KR" altLang="en-US" sz="1050" dirty="0">
                <a:latin typeface="a고딕14" panose="02020600000000000000" pitchFamily="18" charset="-127"/>
                <a:ea typeface="a고딕14" panose="02020600000000000000" pitchFamily="18" charset="-127"/>
              </a:rPr>
              <a:t> 정량평가는 해당 소분류의 </a:t>
            </a:r>
            <a:r>
              <a:rPr lang="ko-KR" altLang="en-US" sz="1050" dirty="0" err="1">
                <a:latin typeface="a고딕14" panose="02020600000000000000" pitchFamily="18" charset="-127"/>
                <a:ea typeface="a고딕14" panose="02020600000000000000" pitchFamily="18" charset="-127"/>
              </a:rPr>
              <a:t>중간값을</a:t>
            </a:r>
            <a:r>
              <a:rPr lang="ko-KR" altLang="en-US" sz="1050" dirty="0">
                <a:latin typeface="a고딕14" panose="02020600000000000000" pitchFamily="18" charset="-127"/>
                <a:ea typeface="a고딕14" panose="02020600000000000000" pitchFamily="18" charset="-127"/>
              </a:rPr>
              <a:t> 반영하고</a:t>
            </a:r>
            <a:r>
              <a:rPr lang="en-US" altLang="ko-KR" sz="1050" dirty="0">
                <a:latin typeface="a고딕14" panose="02020600000000000000" pitchFamily="18" charset="-127"/>
                <a:ea typeface="a고딕14" panose="02020600000000000000" pitchFamily="18" charset="-127"/>
              </a:rPr>
              <a:t>, </a:t>
            </a:r>
            <a:r>
              <a:rPr lang="ko-KR" altLang="en-US" sz="1050" dirty="0">
                <a:latin typeface="a고딕14" panose="02020600000000000000" pitchFamily="18" charset="-127"/>
                <a:ea typeface="a고딕14" panose="02020600000000000000" pitchFamily="18" charset="-127"/>
              </a:rPr>
              <a:t>정성평가는 신설된 당해 평가 후 </a:t>
            </a:r>
            <a:r>
              <a:rPr lang="en-US" altLang="ko-KR" sz="1050" dirty="0">
                <a:latin typeface="a고딕14" panose="02020600000000000000" pitchFamily="18" charset="-127"/>
                <a:ea typeface="a고딕14" panose="02020600000000000000" pitchFamily="18" charset="-127"/>
              </a:rPr>
              <a:t>3</a:t>
            </a:r>
            <a:r>
              <a:rPr lang="ko-KR" altLang="en-US" sz="1050" dirty="0">
                <a:latin typeface="a고딕14" panose="02020600000000000000" pitchFamily="18" charset="-127"/>
                <a:ea typeface="a고딕14" panose="02020600000000000000" pitchFamily="18" charset="-127"/>
              </a:rPr>
              <a:t>년 주기에 따라 같이 평가를 진행함</a:t>
            </a:r>
            <a:endParaRPr lang="en-US" altLang="ko-KR" sz="1050" dirty="0">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250629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EF297-7813-13B2-B88E-C0246702667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3ED5071-09B0-714F-7187-6C0F003B0C0E}"/>
              </a:ext>
            </a:extLst>
          </p:cNvPr>
          <p:cNvSpPr>
            <a:spLocks noGrp="1"/>
          </p:cNvSpPr>
          <p:nvPr>
            <p:ph type="body" sz="quarter" idx="12"/>
          </p:nvPr>
        </p:nvSpPr>
        <p:spPr/>
        <p:txBody>
          <a:bodyPr/>
          <a:lstStyle/>
          <a:p>
            <a:pPr latinLnBrk="0"/>
            <a:r>
              <a:rPr lang="ko-KR" altLang="en-US" spc="-10" dirty="0">
                <a:latin typeface="+mj-ea"/>
              </a:rPr>
              <a:t>데이터 최신화 후 전년도 수립 절차에 따라 평가를 진행하였으며</a:t>
            </a:r>
            <a:r>
              <a:rPr lang="en-US" altLang="ko-KR" spc="-10" dirty="0">
                <a:latin typeface="+mj-ea"/>
              </a:rPr>
              <a:t>, </a:t>
            </a:r>
            <a:r>
              <a:rPr lang="ko-KR" altLang="en-US" spc="-10" dirty="0">
                <a:latin typeface="+mj-ea"/>
              </a:rPr>
              <a:t>정량평가 결과 상위 </a:t>
            </a:r>
            <a:r>
              <a:rPr lang="en-US" altLang="ko-KR" spc="-10" dirty="0">
                <a:latin typeface="+mj-ea"/>
              </a:rPr>
              <a:t>20% </a:t>
            </a:r>
            <a:r>
              <a:rPr lang="ko-KR" altLang="en-US" spc="-10" dirty="0">
                <a:latin typeface="+mj-ea"/>
              </a:rPr>
              <a:t>그룹에 다수 분포하는 직종 및 대분류는</a:t>
            </a:r>
            <a:r>
              <a:rPr lang="ko-KR" altLang="en-US" spc="-10" dirty="0"/>
              <a:t> 인공지능</a:t>
            </a:r>
            <a:r>
              <a:rPr lang="en-US" altLang="ko-KR" spc="-10" dirty="0"/>
              <a:t>, </a:t>
            </a:r>
            <a:r>
              <a:rPr lang="ko-KR" altLang="en-US" spc="-10" dirty="0"/>
              <a:t>일반</a:t>
            </a:r>
            <a:r>
              <a:rPr lang="en-US" altLang="ko-KR" spc="-10" dirty="0"/>
              <a:t> S/W, </a:t>
            </a:r>
            <a:r>
              <a:rPr lang="ko-KR" altLang="en-US" spc="-10" dirty="0"/>
              <a:t>빅데이터</a:t>
            </a:r>
            <a:r>
              <a:rPr lang="en-US" altLang="ko-KR" spc="-10" dirty="0"/>
              <a:t>, </a:t>
            </a:r>
            <a:r>
              <a:rPr lang="ko-KR" altLang="en-US" spc="-10" dirty="0"/>
              <a:t>기계</a:t>
            </a:r>
            <a:r>
              <a:rPr lang="en-US" altLang="ko-KR" spc="-10" dirty="0"/>
              <a:t>,</a:t>
            </a:r>
            <a:r>
              <a:rPr lang="ko-KR" altLang="en-US" spc="-10" dirty="0"/>
              <a:t> 화학</a:t>
            </a:r>
            <a:r>
              <a:rPr lang="en-US" altLang="ko-KR" spc="-10" dirty="0"/>
              <a:t>·</a:t>
            </a:r>
            <a:r>
              <a:rPr lang="ko-KR" altLang="en-US" spc="-10" dirty="0"/>
              <a:t>바이오로 나타남</a:t>
            </a:r>
            <a:endParaRPr lang="ko-KR" altLang="en-US" spc="-10" dirty="0">
              <a:latin typeface="+mj-ea"/>
              <a:ea typeface="+mj-ea"/>
            </a:endParaRPr>
          </a:p>
        </p:txBody>
      </p:sp>
      <p:sp>
        <p:nvSpPr>
          <p:cNvPr id="5" name="텍스트 개체 틀 4">
            <a:extLst>
              <a:ext uri="{FF2B5EF4-FFF2-40B4-BE49-F238E27FC236}">
                <a16:creationId xmlns:a16="http://schemas.microsoft.com/office/drawing/2014/main" id="{9260CB01-D054-4F76-74C1-C47F9D8B3D0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1" name="텍스트 개체 틀 87">
            <a:extLst>
              <a:ext uri="{FF2B5EF4-FFF2-40B4-BE49-F238E27FC236}">
                <a16:creationId xmlns:a16="http://schemas.microsoft.com/office/drawing/2014/main" id="{67CB7EEA-6ACC-84B3-311A-34E191342669}"/>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수요평가</a:t>
            </a:r>
          </a:p>
        </p:txBody>
      </p:sp>
      <p:sp>
        <p:nvSpPr>
          <p:cNvPr id="12" name="직사각형 11">
            <a:extLst>
              <a:ext uri="{FF2B5EF4-FFF2-40B4-BE49-F238E27FC236}">
                <a16:creationId xmlns:a16="http://schemas.microsoft.com/office/drawing/2014/main" id="{72F135CC-77B2-B5C3-AD35-8B0E224344A3}"/>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445C865D-428B-CEE2-140D-454CEB915BCD}"/>
              </a:ext>
            </a:extLst>
          </p:cNvPr>
          <p:cNvGrpSpPr/>
          <p:nvPr/>
        </p:nvGrpSpPr>
        <p:grpSpPr>
          <a:xfrm>
            <a:off x="596515" y="1681027"/>
            <a:ext cx="8749098" cy="266602"/>
            <a:chOff x="802640" y="2236632"/>
            <a:chExt cx="4130805" cy="266552"/>
          </a:xfrm>
        </p:grpSpPr>
        <p:sp>
          <p:nvSpPr>
            <p:cNvPr id="15" name="ListLeanHorizontalTextTopic0">
              <a:extLst>
                <a:ext uri="{FF2B5EF4-FFF2-40B4-BE49-F238E27FC236}">
                  <a16:creationId xmlns:a16="http://schemas.microsoft.com/office/drawing/2014/main" id="{0FF27EB6-4594-640F-E601-DBC14454ACB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세분류</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수요평가 정량평가 경향성 검토</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C8F1A066-17BA-526E-5B7A-684D1FE5271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4" name="표 3">
            <a:extLst>
              <a:ext uri="{FF2B5EF4-FFF2-40B4-BE49-F238E27FC236}">
                <a16:creationId xmlns:a16="http://schemas.microsoft.com/office/drawing/2014/main" id="{EF6938D6-FF95-706F-6B95-E5784DBF0BEA}"/>
              </a:ext>
            </a:extLst>
          </p:cNvPr>
          <p:cNvGraphicFramePr>
            <a:graphicFrameLocks noGrp="1"/>
          </p:cNvGraphicFramePr>
          <p:nvPr>
            <p:extLst>
              <p:ext uri="{D42A27DB-BD31-4B8C-83A1-F6EECF244321}">
                <p14:modId xmlns:p14="http://schemas.microsoft.com/office/powerpoint/2010/main" val="2079997855"/>
              </p:ext>
            </p:extLst>
          </p:nvPr>
        </p:nvGraphicFramePr>
        <p:xfrm>
          <a:off x="5146774" y="2420937"/>
          <a:ext cx="4211640" cy="3830466"/>
        </p:xfrm>
        <a:graphic>
          <a:graphicData uri="http://schemas.openxmlformats.org/drawingml/2006/table">
            <a:tbl>
              <a:tblPr>
                <a:tableStyleId>{5C22544A-7EE6-4342-B048-85BDC9FD1C3A}</a:tableStyleId>
              </a:tblPr>
              <a:tblGrid>
                <a:gridCol w="701940">
                  <a:extLst>
                    <a:ext uri="{9D8B030D-6E8A-4147-A177-3AD203B41FA5}">
                      <a16:colId xmlns:a16="http://schemas.microsoft.com/office/drawing/2014/main" val="1341341881"/>
                    </a:ext>
                  </a:extLst>
                </a:gridCol>
                <a:gridCol w="350970">
                  <a:extLst>
                    <a:ext uri="{9D8B030D-6E8A-4147-A177-3AD203B41FA5}">
                      <a16:colId xmlns:a16="http://schemas.microsoft.com/office/drawing/2014/main" val="2846663058"/>
                    </a:ext>
                  </a:extLst>
                </a:gridCol>
                <a:gridCol w="350970">
                  <a:extLst>
                    <a:ext uri="{9D8B030D-6E8A-4147-A177-3AD203B41FA5}">
                      <a16:colId xmlns:a16="http://schemas.microsoft.com/office/drawing/2014/main" val="4054991696"/>
                    </a:ext>
                  </a:extLst>
                </a:gridCol>
                <a:gridCol w="350970">
                  <a:extLst>
                    <a:ext uri="{9D8B030D-6E8A-4147-A177-3AD203B41FA5}">
                      <a16:colId xmlns:a16="http://schemas.microsoft.com/office/drawing/2014/main" val="2477218586"/>
                    </a:ext>
                  </a:extLst>
                </a:gridCol>
                <a:gridCol w="350970">
                  <a:extLst>
                    <a:ext uri="{9D8B030D-6E8A-4147-A177-3AD203B41FA5}">
                      <a16:colId xmlns:a16="http://schemas.microsoft.com/office/drawing/2014/main" val="3463639349"/>
                    </a:ext>
                  </a:extLst>
                </a:gridCol>
                <a:gridCol w="350970">
                  <a:extLst>
                    <a:ext uri="{9D8B030D-6E8A-4147-A177-3AD203B41FA5}">
                      <a16:colId xmlns:a16="http://schemas.microsoft.com/office/drawing/2014/main" val="695060992"/>
                    </a:ext>
                  </a:extLst>
                </a:gridCol>
                <a:gridCol w="350970">
                  <a:extLst>
                    <a:ext uri="{9D8B030D-6E8A-4147-A177-3AD203B41FA5}">
                      <a16:colId xmlns:a16="http://schemas.microsoft.com/office/drawing/2014/main" val="1773507769"/>
                    </a:ext>
                  </a:extLst>
                </a:gridCol>
                <a:gridCol w="350970">
                  <a:extLst>
                    <a:ext uri="{9D8B030D-6E8A-4147-A177-3AD203B41FA5}">
                      <a16:colId xmlns:a16="http://schemas.microsoft.com/office/drawing/2014/main" val="1488584134"/>
                    </a:ext>
                  </a:extLst>
                </a:gridCol>
                <a:gridCol w="350970">
                  <a:extLst>
                    <a:ext uri="{9D8B030D-6E8A-4147-A177-3AD203B41FA5}">
                      <a16:colId xmlns:a16="http://schemas.microsoft.com/office/drawing/2014/main" val="2336414764"/>
                    </a:ext>
                  </a:extLst>
                </a:gridCol>
                <a:gridCol w="350970">
                  <a:extLst>
                    <a:ext uri="{9D8B030D-6E8A-4147-A177-3AD203B41FA5}">
                      <a16:colId xmlns:a16="http://schemas.microsoft.com/office/drawing/2014/main" val="1312349796"/>
                    </a:ext>
                  </a:extLst>
                </a:gridCol>
                <a:gridCol w="350970">
                  <a:extLst>
                    <a:ext uri="{9D8B030D-6E8A-4147-A177-3AD203B41FA5}">
                      <a16:colId xmlns:a16="http://schemas.microsoft.com/office/drawing/2014/main" val="658751963"/>
                    </a:ext>
                  </a:extLst>
                </a:gridCol>
              </a:tblGrid>
              <a:tr h="161993">
                <a:tc rowSpan="2">
                  <a:txBody>
                    <a:bodyPr/>
                    <a:lstStyle/>
                    <a:p>
                      <a:pPr algn="ctr" fontAlgn="ctr" latinLnBrk="0"/>
                      <a:r>
                        <a:rPr lang="ko-KR" altLang="en-US" sz="800" b="0" i="0" u="none" strike="noStrike" dirty="0">
                          <a:solidFill>
                            <a:schemeClr val="bg1"/>
                          </a:solidFill>
                          <a:effectLst/>
                          <a:latin typeface="+mn-ea"/>
                          <a:ea typeface="+mn-ea"/>
                        </a:rPr>
                        <a:t>대분류</a:t>
                      </a: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20%</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a:t>
                      </a:r>
                      <a:r>
                        <a:rPr lang="en-US" altLang="ko-KR" sz="800" u="none" strike="noStrike" dirty="0">
                          <a:solidFill>
                            <a:schemeClr val="bg1"/>
                          </a:solidFill>
                          <a:effectLst/>
                          <a:latin typeface="+mn-ea"/>
                          <a:ea typeface="+mn-ea"/>
                        </a:rPr>
                        <a:t> ~ 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~100%</a:t>
                      </a: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3431993032"/>
                  </a:ext>
                </a:extLst>
              </a:tr>
              <a:tr h="161993">
                <a:tc vMerge="1">
                  <a:txBody>
                    <a:bodyPr/>
                    <a:lstStyle/>
                    <a:p>
                      <a:pPr latinLnBrk="1"/>
                      <a:endParaRPr lang="ko-KR" altLang="en-US"/>
                    </a:p>
                  </a:txBody>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821198345"/>
                  </a:ext>
                </a:extLst>
              </a:tr>
              <a:tr h="350648">
                <a:tc>
                  <a:txBody>
                    <a:bodyPr/>
                    <a:lstStyle/>
                    <a:p>
                      <a:pPr algn="ctr" fontAlgn="ctr" latinLnBrk="0"/>
                      <a:r>
                        <a:rPr lang="ko-KR" altLang="en-US" sz="900" u="none" strike="noStrike" dirty="0">
                          <a:effectLst/>
                          <a:latin typeface="+mn-ea"/>
                          <a:ea typeface="+mn-ea"/>
                        </a:rPr>
                        <a:t>문화</a:t>
                      </a:r>
                      <a:r>
                        <a:rPr lang="en-US" altLang="ko-KR" sz="900" u="none" strike="noStrike" dirty="0">
                          <a:effectLst/>
                          <a:latin typeface="+mn-ea"/>
                          <a:ea typeface="+mn-ea"/>
                        </a:rPr>
                        <a:t>·</a:t>
                      </a:r>
                      <a:r>
                        <a:rPr lang="ko-KR" altLang="en-US" sz="900" u="none" strike="noStrike" dirty="0">
                          <a:effectLst/>
                          <a:latin typeface="+mn-ea"/>
                          <a:ea typeface="+mn-ea"/>
                        </a:rPr>
                        <a:t>예술</a:t>
                      </a:r>
                      <a:r>
                        <a:rPr lang="en-US" altLang="ko-KR" sz="900" u="none" strike="noStrike" dirty="0">
                          <a:effectLst/>
                          <a:latin typeface="+mn-ea"/>
                          <a:ea typeface="+mn-ea"/>
                        </a:rPr>
                        <a:t>·</a:t>
                      </a:r>
                    </a:p>
                    <a:p>
                      <a:pPr algn="ctr" fontAlgn="ctr" latinLnBrk="0"/>
                      <a:r>
                        <a:rPr lang="ko-KR" altLang="en-US" sz="900" u="none" strike="noStrike" dirty="0">
                          <a:effectLst/>
                          <a:latin typeface="+mn-ea"/>
                          <a:ea typeface="+mn-ea"/>
                        </a:rPr>
                        <a:t>디자인</a:t>
                      </a:r>
                      <a:r>
                        <a:rPr lang="en-US" altLang="ko-KR" sz="900" u="none" strike="noStrike" dirty="0">
                          <a:effectLst/>
                          <a:latin typeface="+mn-ea"/>
                          <a:ea typeface="+mn-ea"/>
                        </a:rPr>
                        <a:t>·</a:t>
                      </a:r>
                      <a:r>
                        <a:rPr lang="ko-KR" altLang="en-US" sz="900" u="none" strike="noStrike" dirty="0">
                          <a:effectLst/>
                          <a:latin typeface="+mn-ea"/>
                          <a:ea typeface="+mn-ea"/>
                        </a:rPr>
                        <a:t>방송</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21.3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32.8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42.6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45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73.8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61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764978"/>
                  </a:ext>
                </a:extLst>
              </a:tr>
              <a:tr h="350648">
                <a:tc>
                  <a:txBody>
                    <a:bodyPr/>
                    <a:lstStyle/>
                    <a:p>
                      <a:pPr algn="ctr" fontAlgn="ctr" latinLnBrk="0"/>
                      <a:r>
                        <a:rPr lang="ko-KR" altLang="en-US" sz="900" u="none" strike="noStrike" dirty="0">
                          <a:effectLst/>
                          <a:latin typeface="+mn-ea"/>
                          <a:ea typeface="+mn-ea"/>
                        </a:rPr>
                        <a:t>운전</a:t>
                      </a:r>
                      <a:r>
                        <a:rPr lang="en-US" altLang="ko-KR" sz="900" u="none" strike="noStrike" dirty="0">
                          <a:effectLst/>
                          <a:latin typeface="+mn-ea"/>
                          <a:ea typeface="+mn-ea"/>
                        </a:rPr>
                        <a:t>·</a:t>
                      </a:r>
                      <a:r>
                        <a:rPr lang="ko-KR" altLang="en-US" sz="900" u="none" strike="noStrike" dirty="0">
                          <a:effectLst/>
                          <a:latin typeface="+mn-ea"/>
                          <a:ea typeface="+mn-ea"/>
                        </a:rPr>
                        <a:t>운송</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30.0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60.0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24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80.0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827272"/>
                  </a:ext>
                </a:extLst>
              </a:tr>
              <a:tr h="350648">
                <a:tc>
                  <a:txBody>
                    <a:bodyPr/>
                    <a:lstStyle/>
                    <a:p>
                      <a:pPr algn="ctr" fontAlgn="ctr" latinLnBrk="0"/>
                      <a:r>
                        <a:rPr lang="ko-KR" altLang="en-US" sz="900" u="none" strike="noStrike" dirty="0">
                          <a:effectLst/>
                          <a:latin typeface="+mn-ea"/>
                          <a:ea typeface="+mn-ea"/>
                        </a:rPr>
                        <a:t>건설</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8.1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42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30.9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70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51.5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106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77.9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136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8777367"/>
                  </a:ext>
                </a:extLst>
              </a:tr>
              <a:tr h="350648">
                <a:tc>
                  <a:txBody>
                    <a:bodyPr/>
                    <a:lstStyle/>
                    <a:p>
                      <a:pPr marL="0" algn="ctr" defTabSz="914400" rtl="0" eaLnBrk="1" fontAlgn="ctr" latinLnBrk="0" hangingPunct="1"/>
                      <a:r>
                        <a:rPr lang="ko-KR" altLang="en-US" sz="900" u="none" strike="noStrike" kern="1200" dirty="0">
                          <a:solidFill>
                            <a:schemeClr val="tx2">
                              <a:lumMod val="75000"/>
                            </a:schemeClr>
                          </a:solidFill>
                          <a:effectLst/>
                          <a:latin typeface="+mn-ea"/>
                          <a:ea typeface="+mn-ea"/>
                          <a:cs typeface="+mn-cs"/>
                        </a:rPr>
                        <a:t>기계</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43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30.9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79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56.8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104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74.8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126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90.6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139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34887252"/>
                  </a:ext>
                </a:extLst>
              </a:tr>
              <a:tr h="350648">
                <a:tc>
                  <a:txBody>
                    <a:bodyPr/>
                    <a:lstStyle/>
                    <a:p>
                      <a:pPr algn="ctr" fontAlgn="ctr" latinLnBrk="0"/>
                      <a:r>
                        <a:rPr lang="ko-KR" altLang="en-US" sz="900" u="none" strike="noStrike" dirty="0">
                          <a:effectLst/>
                          <a:latin typeface="+mn-ea"/>
                          <a:ea typeface="+mn-ea"/>
                        </a:rPr>
                        <a:t>재료</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26.2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38.1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25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59.5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36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42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6215789"/>
                  </a:ext>
                </a:extLst>
              </a:tr>
              <a:tr h="350648">
                <a:tc>
                  <a:txBody>
                    <a:bodyPr/>
                    <a:lstStyle/>
                    <a:p>
                      <a:pPr marL="0" algn="ctr" defTabSz="914400" rtl="0" eaLnBrk="1" fontAlgn="ctr" latinLnBrk="0" hangingPunct="1"/>
                      <a:r>
                        <a:rPr lang="ko-KR" altLang="en-US" sz="900" u="none" strike="noStrike" kern="1200" dirty="0">
                          <a:solidFill>
                            <a:schemeClr val="tx2">
                              <a:lumMod val="75000"/>
                            </a:schemeClr>
                          </a:solidFill>
                          <a:effectLst/>
                          <a:latin typeface="+mn-ea"/>
                          <a:ea typeface="+mn-ea"/>
                          <a:cs typeface="+mn-cs"/>
                        </a:rPr>
                        <a:t>화학</a:t>
                      </a:r>
                      <a:r>
                        <a:rPr lang="en-US" altLang="ko-KR" sz="900" u="none" strike="noStrike" kern="1200" dirty="0">
                          <a:solidFill>
                            <a:schemeClr val="tx2">
                              <a:lumMod val="75000"/>
                            </a:schemeClr>
                          </a:solidFill>
                          <a:effectLst/>
                          <a:latin typeface="+mn-ea"/>
                          <a:ea typeface="+mn-ea"/>
                          <a:cs typeface="+mn-cs"/>
                        </a:rPr>
                        <a:t>·</a:t>
                      </a:r>
                      <a:r>
                        <a:rPr lang="ko-KR" altLang="en-US" sz="900" u="none" strike="noStrike" kern="1200" dirty="0">
                          <a:solidFill>
                            <a:schemeClr val="tx2">
                              <a:lumMod val="75000"/>
                            </a:schemeClr>
                          </a:solidFill>
                          <a:effectLst/>
                          <a:latin typeface="+mn-ea"/>
                          <a:ea typeface="+mn-ea"/>
                          <a:cs typeface="+mn-cs"/>
                        </a:rPr>
                        <a:t>바이오</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14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40.0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23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65.7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33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94.3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34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97.1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900" u="none" strike="noStrike" kern="1200" dirty="0">
                          <a:solidFill>
                            <a:schemeClr val="tx2">
                              <a:lumMod val="75000"/>
                            </a:schemeClr>
                          </a:solidFill>
                          <a:effectLst/>
                          <a:latin typeface="+mn-ea"/>
                          <a:ea typeface="+mn-ea"/>
                          <a:cs typeface="+mn-cs"/>
                        </a:rPr>
                        <a:t>35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3175630"/>
                  </a:ext>
                </a:extLst>
              </a:tr>
              <a:tr h="350648">
                <a:tc>
                  <a:txBody>
                    <a:bodyPr/>
                    <a:lstStyle/>
                    <a:p>
                      <a:pPr marL="0" algn="ctr" defTabSz="914400" rtl="0" eaLnBrk="1" fontAlgn="ctr" latinLnBrk="1" hangingPunct="1">
                        <a:buNone/>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전기</a:t>
                      </a: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전자</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19.1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39.3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56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62.9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78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87.6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89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9304076"/>
                  </a:ext>
                </a:extLst>
              </a:tr>
              <a:tr h="350648">
                <a:tc>
                  <a:txBody>
                    <a:bodyPr/>
                    <a:lstStyle/>
                    <a:p>
                      <a:pPr algn="ctr" fontAlgn="ctr" latinLnBrk="0"/>
                      <a:r>
                        <a:rPr lang="ko-KR" altLang="en-US" sz="900" u="none" strike="noStrike" dirty="0">
                          <a:effectLst/>
                          <a:latin typeface="+mn-ea"/>
                          <a:ea typeface="+mn-ea"/>
                        </a:rPr>
                        <a:t>정보통신</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27.7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31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47.7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47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72.3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58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89.2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65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5966178"/>
                  </a:ext>
                </a:extLst>
              </a:tr>
              <a:tr h="350648">
                <a:tc>
                  <a:txBody>
                    <a:bodyPr/>
                    <a:lstStyle/>
                    <a:p>
                      <a:pPr algn="ctr" fontAlgn="ctr" latinLnBrk="0"/>
                      <a:r>
                        <a:rPr lang="ko-KR" altLang="en-US" sz="900" u="none" strike="noStrike" dirty="0">
                          <a:effectLst/>
                          <a:latin typeface="+mn-ea"/>
                          <a:ea typeface="+mn-ea"/>
                        </a:rPr>
                        <a:t>인쇄</a:t>
                      </a:r>
                      <a:r>
                        <a:rPr lang="en-US" altLang="ko-KR" sz="900" u="none" strike="noStrike" dirty="0">
                          <a:effectLst/>
                          <a:latin typeface="+mn-ea"/>
                          <a:ea typeface="+mn-ea"/>
                        </a:rPr>
                        <a:t>·</a:t>
                      </a:r>
                      <a:r>
                        <a:rPr lang="ko-KR" altLang="en-US" sz="900" u="none" strike="noStrike" dirty="0">
                          <a:effectLst/>
                          <a:latin typeface="+mn-ea"/>
                          <a:ea typeface="+mn-ea"/>
                        </a:rPr>
                        <a:t>목재</a:t>
                      </a:r>
                      <a:r>
                        <a:rPr lang="en-US" altLang="ko-KR" sz="900" u="none" strike="noStrike" dirty="0">
                          <a:effectLst/>
                          <a:latin typeface="+mn-ea"/>
                          <a:ea typeface="+mn-ea"/>
                        </a:rPr>
                        <a:t>·</a:t>
                      </a:r>
                    </a:p>
                    <a:p>
                      <a:pPr algn="ctr" fontAlgn="ctr" latinLnBrk="0"/>
                      <a:r>
                        <a:rPr lang="ko-KR" altLang="en-US" sz="900" u="none" strike="noStrike" dirty="0">
                          <a:effectLst/>
                          <a:latin typeface="+mn-ea"/>
                          <a:ea typeface="+mn-ea"/>
                        </a:rPr>
                        <a:t>가구</a:t>
                      </a:r>
                      <a:r>
                        <a:rPr lang="en-US" altLang="ko-KR" sz="900" u="none" strike="noStrike" dirty="0">
                          <a:effectLst/>
                          <a:latin typeface="+mn-ea"/>
                          <a:ea typeface="+mn-ea"/>
                        </a:rPr>
                        <a:t>·</a:t>
                      </a:r>
                      <a:r>
                        <a:rPr lang="ko-KR" altLang="en-US" sz="900" u="none" strike="noStrike" dirty="0">
                          <a:effectLst/>
                          <a:latin typeface="+mn-ea"/>
                          <a:ea typeface="+mn-ea"/>
                        </a:rPr>
                        <a:t>공예</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408957"/>
                  </a:ext>
                </a:extLst>
              </a:tr>
              <a:tr h="350648">
                <a:tc>
                  <a:txBody>
                    <a:bodyPr/>
                    <a:lstStyle/>
                    <a:p>
                      <a:pPr algn="ctr" fontAlgn="ctr" latinLnBrk="0"/>
                      <a:r>
                        <a:rPr lang="ko-KR" altLang="en-US" sz="900" u="none" strike="noStrike" dirty="0">
                          <a:effectLst/>
                          <a:latin typeface="+mn-ea"/>
                          <a:ea typeface="+mn-ea"/>
                        </a:rPr>
                        <a:t>환경</a:t>
                      </a:r>
                      <a:r>
                        <a:rPr lang="en-US" altLang="ko-KR" sz="900" u="none" strike="noStrike" dirty="0">
                          <a:effectLst/>
                          <a:latin typeface="+mn-ea"/>
                          <a:ea typeface="+mn-ea"/>
                        </a:rPr>
                        <a:t>·</a:t>
                      </a:r>
                      <a:r>
                        <a:rPr lang="ko-KR" altLang="en-US" sz="900" u="none" strike="noStrike" dirty="0">
                          <a:effectLst/>
                          <a:latin typeface="+mn-ea"/>
                          <a:ea typeface="+mn-ea"/>
                        </a:rPr>
                        <a:t>에너지</a:t>
                      </a:r>
                      <a:r>
                        <a:rPr lang="en-US" altLang="ko-KR" sz="900" u="none" strike="noStrike" dirty="0">
                          <a:effectLst/>
                          <a:latin typeface="+mn-ea"/>
                          <a:ea typeface="+mn-ea"/>
                        </a:rPr>
                        <a:t>·</a:t>
                      </a:r>
                      <a:r>
                        <a:rPr lang="ko-KR" altLang="en-US" sz="900" u="none" strike="noStrike" dirty="0">
                          <a:effectLst/>
                          <a:latin typeface="+mn-ea"/>
                          <a:ea typeface="+mn-ea"/>
                        </a:rPr>
                        <a:t>안전</a:t>
                      </a:r>
                      <a:endParaRPr lang="ko-KR" altLang="en-US" sz="900" b="0" i="0" u="none" strike="noStrike" dirty="0">
                        <a:solidFill>
                          <a:srgbClr val="000000"/>
                        </a:solidFill>
                        <a:effectLst/>
                        <a:latin typeface="+mn-ea"/>
                        <a:ea typeface="+mn-ea"/>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9.7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16.1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32.3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a:solidFill>
                            <a:srgbClr val="000000"/>
                          </a:solidFill>
                          <a:effectLst/>
                          <a:latin typeface="A고딕14" panose="02020600000000000000" pitchFamily="18" charset="-127"/>
                          <a:ea typeface="A고딕14" panose="02020600000000000000" pitchFamily="18" charset="-127"/>
                          <a:cs typeface="+mn-cs"/>
                        </a:rPr>
                        <a:t>12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38.7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1984812"/>
                  </a:ext>
                </a:extLst>
              </a:tr>
            </a:tbl>
          </a:graphicData>
        </a:graphic>
      </p:graphicFrame>
      <p:grpSp>
        <p:nvGrpSpPr>
          <p:cNvPr id="6" name="그룹 5">
            <a:extLst>
              <a:ext uri="{FF2B5EF4-FFF2-40B4-BE49-F238E27FC236}">
                <a16:creationId xmlns:a16="http://schemas.microsoft.com/office/drawing/2014/main" id="{280DB2FC-1B58-F2F2-6A13-0CD1421AFFEB}"/>
              </a:ext>
            </a:extLst>
          </p:cNvPr>
          <p:cNvGrpSpPr/>
          <p:nvPr/>
        </p:nvGrpSpPr>
        <p:grpSpPr>
          <a:xfrm>
            <a:off x="5146774" y="2065963"/>
            <a:ext cx="4468397" cy="276999"/>
            <a:chOff x="5147157" y="2068037"/>
            <a:chExt cx="3870373" cy="276999"/>
          </a:xfrm>
        </p:grpSpPr>
        <p:sp>
          <p:nvSpPr>
            <p:cNvPr id="13" name="TextBox 12">
              <a:extLst>
                <a:ext uri="{FF2B5EF4-FFF2-40B4-BE49-F238E27FC236}">
                  <a16:creationId xmlns:a16="http://schemas.microsoft.com/office/drawing/2014/main" id="{C40E921F-97EA-9364-67C0-78DB491AAE2F}"/>
                </a:ext>
              </a:extLst>
            </p:cNvPr>
            <p:cNvSpPr txBox="1"/>
            <p:nvPr/>
          </p:nvSpPr>
          <p:spPr>
            <a:xfrm>
              <a:off x="5201105" y="2068037"/>
              <a:ext cx="3816425" cy="276999"/>
            </a:xfrm>
            <a:prstGeom prst="rect">
              <a:avLst/>
            </a:prstGeom>
            <a:noFill/>
          </p:spPr>
          <p:txBody>
            <a:bodyPr wrap="square" rtlCol="0">
              <a:no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300" b="0" i="0" u="none" strike="noStrike" kern="1200" cap="none"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평생능력개발분야 순위 </a:t>
              </a:r>
              <a:r>
                <a:rPr lang="ko-KR" altLang="en-US" sz="1300" dirty="0">
                  <a:solidFill>
                    <a:prstClr val="black"/>
                  </a:solidFill>
                  <a:latin typeface="Arial Narrow" panose="020B0606020202030204" pitchFamily="34" charset="0"/>
                  <a:ea typeface="a고딕14" panose="02020600000000000000" pitchFamily="18" charset="-127"/>
                </a:rPr>
                <a:t>그룹별 </a:t>
              </a:r>
              <a:r>
                <a:rPr lang="ko-KR" altLang="en-US" sz="1300" dirty="0" err="1">
                  <a:solidFill>
                    <a:prstClr val="black"/>
                  </a:solidFill>
                  <a:latin typeface="Arial Narrow" panose="020B0606020202030204" pitchFamily="34" charset="0"/>
                  <a:ea typeface="a고딕14" panose="02020600000000000000" pitchFamily="18" charset="-127"/>
                </a:rPr>
                <a:t>세분류</a:t>
              </a:r>
              <a:r>
                <a:rPr lang="ko-KR" altLang="en-US" sz="1300" dirty="0">
                  <a:solidFill>
                    <a:prstClr val="black"/>
                  </a:solidFill>
                  <a:latin typeface="Arial Narrow" panose="020B0606020202030204" pitchFamily="34" charset="0"/>
                  <a:ea typeface="a고딕14" panose="02020600000000000000" pitchFamily="18" charset="-127"/>
                </a:rPr>
                <a:t> 수 </a:t>
              </a:r>
              <a:r>
                <a:rPr lang="ko-KR" altLang="en-US" sz="1300" dirty="0" err="1">
                  <a:solidFill>
                    <a:prstClr val="black"/>
                  </a:solidFill>
                  <a:latin typeface="Arial Narrow" panose="020B0606020202030204" pitchFamily="34" charset="0"/>
                  <a:ea typeface="a고딕14" panose="02020600000000000000" pitchFamily="18" charset="-127"/>
                </a:rPr>
                <a:t>누적값</a:t>
              </a:r>
              <a:endParaRPr kumimoji="0" lang="ko-KR" altLang="en-US" sz="1300" b="0" i="0" u="none" strike="noStrike" kern="1200" cap="none" normalizeH="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25" name="직사각형 24">
              <a:extLst>
                <a:ext uri="{FF2B5EF4-FFF2-40B4-BE49-F238E27FC236}">
                  <a16:creationId xmlns:a16="http://schemas.microsoft.com/office/drawing/2014/main" id="{2C4DAFD7-6037-544A-EE8A-373C6540A473}"/>
                </a:ext>
              </a:extLst>
            </p:cNvPr>
            <p:cNvSpPr/>
            <p:nvPr/>
          </p:nvSpPr>
          <p:spPr>
            <a:xfrm>
              <a:off x="5147157" y="2103893"/>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3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sp>
        <p:nvSpPr>
          <p:cNvPr id="28" name="TextBox 27">
            <a:extLst>
              <a:ext uri="{FF2B5EF4-FFF2-40B4-BE49-F238E27FC236}">
                <a16:creationId xmlns:a16="http://schemas.microsoft.com/office/drawing/2014/main" id="{1541BA18-7772-6654-B73A-964AD92618BD}"/>
              </a:ext>
            </a:extLst>
          </p:cNvPr>
          <p:cNvSpPr txBox="1"/>
          <p:nvPr/>
        </p:nvSpPr>
        <p:spPr>
          <a:xfrm>
            <a:off x="5150406" y="6273316"/>
            <a:ext cx="4411105" cy="215444"/>
          </a:xfrm>
          <a:prstGeom prst="rect">
            <a:avLst/>
          </a:prstGeom>
          <a:noFill/>
        </p:spPr>
        <p:txBody>
          <a:bodyPr wrap="square" rtlCol="0">
            <a:spAutoFit/>
          </a:bodyPr>
          <a:lstStyle/>
          <a:p>
            <a:pPr algn="l">
              <a:buNone/>
            </a:pPr>
            <a:r>
              <a:rPr lang="ko-KR" altLang="en-US" sz="800" dirty="0">
                <a:latin typeface="a고딕14" panose="02020600000000000000" pitchFamily="18" charset="-127"/>
                <a:ea typeface="a고딕14" panose="02020600000000000000" pitchFamily="18" charset="-127"/>
              </a:rPr>
              <a:t>* 전체 상위 </a:t>
            </a:r>
            <a:r>
              <a:rPr lang="en-US" altLang="ko-KR" sz="800" dirty="0">
                <a:latin typeface="a고딕14" panose="02020600000000000000" pitchFamily="18" charset="-127"/>
                <a:ea typeface="a고딕14" panose="02020600000000000000" pitchFamily="18" charset="-127"/>
              </a:rPr>
              <a:t>20%</a:t>
            </a:r>
            <a:r>
              <a:rPr lang="ko-KR" altLang="en-US" sz="800" dirty="0">
                <a:latin typeface="a고딕14" panose="02020600000000000000" pitchFamily="18" charset="-127"/>
                <a:ea typeface="a고딕14" panose="02020600000000000000" pitchFamily="18" charset="-127"/>
              </a:rPr>
              <a:t>에 속하는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내 해당분야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수 </a:t>
            </a:r>
            <a:r>
              <a:rPr lang="en-US" altLang="ko-KR" sz="800" dirty="0">
                <a:latin typeface="a고딕14" panose="02020600000000000000" pitchFamily="18" charset="-127"/>
                <a:ea typeface="a고딕14" panose="02020600000000000000" pitchFamily="18" charset="-127"/>
              </a:rPr>
              <a:t>30% </a:t>
            </a:r>
            <a:r>
              <a:rPr lang="ko-KR" altLang="en-US" sz="800" dirty="0">
                <a:latin typeface="a고딕14" panose="02020600000000000000" pitchFamily="18" charset="-127"/>
                <a:ea typeface="a고딕14" panose="02020600000000000000" pitchFamily="18" charset="-127"/>
              </a:rPr>
              <a:t>이상 분포하는 분야에 대해 </a:t>
            </a:r>
            <a:r>
              <a:rPr lang="ko-KR" altLang="en-US" sz="800" dirty="0" err="1">
                <a:latin typeface="a고딕14" panose="02020600000000000000" pitchFamily="18" charset="-127"/>
                <a:ea typeface="a고딕14" panose="02020600000000000000" pitchFamily="18" charset="-127"/>
              </a:rPr>
              <a:t>음영표기함</a:t>
            </a:r>
            <a:endParaRPr lang="ko-KR" altLang="en-US" sz="800" dirty="0">
              <a:latin typeface="a고딕14" panose="02020600000000000000" pitchFamily="18" charset="-127"/>
              <a:ea typeface="a고딕14" panose="02020600000000000000" pitchFamily="18" charset="-127"/>
            </a:endParaRPr>
          </a:p>
        </p:txBody>
      </p:sp>
      <p:grpSp>
        <p:nvGrpSpPr>
          <p:cNvPr id="29" name="그룹 28">
            <a:extLst>
              <a:ext uri="{FF2B5EF4-FFF2-40B4-BE49-F238E27FC236}">
                <a16:creationId xmlns:a16="http://schemas.microsoft.com/office/drawing/2014/main" id="{EF8E2C5D-DA14-AE9C-3106-443A0D09DCAE}"/>
              </a:ext>
            </a:extLst>
          </p:cNvPr>
          <p:cNvGrpSpPr/>
          <p:nvPr/>
        </p:nvGrpSpPr>
        <p:grpSpPr>
          <a:xfrm>
            <a:off x="613333" y="2065964"/>
            <a:ext cx="3852428" cy="276999"/>
            <a:chOff x="613333" y="2068037"/>
            <a:chExt cx="3852428" cy="276999"/>
          </a:xfrm>
        </p:grpSpPr>
        <p:sp>
          <p:nvSpPr>
            <p:cNvPr id="36" name="TextBox 35">
              <a:extLst>
                <a:ext uri="{FF2B5EF4-FFF2-40B4-BE49-F238E27FC236}">
                  <a16:creationId xmlns:a16="http://schemas.microsoft.com/office/drawing/2014/main" id="{F17654D5-2AC5-A82A-2BBD-9F102E149035}"/>
                </a:ext>
              </a:extLst>
            </p:cNvPr>
            <p:cNvSpPr txBox="1"/>
            <p:nvPr/>
          </p:nvSpPr>
          <p:spPr>
            <a:xfrm>
              <a:off x="649336" y="2068037"/>
              <a:ext cx="3816425" cy="276999"/>
            </a:xfrm>
            <a:prstGeom prst="rect">
              <a:avLst/>
            </a:prstGeom>
            <a:noFill/>
          </p:spPr>
          <p:txBody>
            <a:bodyPr wrap="square" rtlCol="0">
              <a:noAutofit/>
            </a:bodyPr>
            <a:lstStyle/>
            <a:p>
              <a:pPr lvl="0" algn="l">
                <a:buNone/>
                <a:defRPr/>
              </a:pPr>
              <a:r>
                <a:rPr kumimoji="0" lang="ko-KR" altLang="en-US" sz="1300" b="0" i="0" u="none" strike="noStrike" kern="1200" cap="none"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디지털</a:t>
              </a:r>
              <a:r>
                <a:rPr kumimoji="0" lang="en-US" altLang="ko-KR" sz="1300" b="0" i="0" u="none" strike="noStrike" kern="1200" cap="none"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a:t>
              </a:r>
              <a:r>
                <a:rPr kumimoji="0" lang="ko-KR" altLang="en-US" sz="1300" b="0" i="0" u="none" strike="noStrike" kern="1200" cap="none"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첨단 분야 </a:t>
              </a:r>
              <a:r>
                <a:rPr lang="ko-KR" altLang="en-US" sz="1300" dirty="0">
                  <a:solidFill>
                    <a:prstClr val="black"/>
                  </a:solidFill>
                  <a:latin typeface="Arial Narrow" panose="020B0606020202030204" pitchFamily="34" charset="0"/>
                  <a:ea typeface="a고딕14" panose="02020600000000000000" pitchFamily="18" charset="-127"/>
                </a:rPr>
                <a:t>순위 그룹별 </a:t>
              </a:r>
              <a:r>
                <a:rPr lang="ko-KR" altLang="en-US" sz="1300" dirty="0" err="1">
                  <a:solidFill>
                    <a:prstClr val="black"/>
                  </a:solidFill>
                  <a:latin typeface="Arial Narrow" panose="020B0606020202030204" pitchFamily="34" charset="0"/>
                  <a:ea typeface="a고딕14" panose="02020600000000000000" pitchFamily="18" charset="-127"/>
                </a:rPr>
                <a:t>세분류</a:t>
              </a:r>
              <a:r>
                <a:rPr lang="ko-KR" altLang="en-US" sz="1300" dirty="0">
                  <a:solidFill>
                    <a:prstClr val="black"/>
                  </a:solidFill>
                  <a:latin typeface="Arial Narrow" panose="020B0606020202030204" pitchFamily="34" charset="0"/>
                  <a:ea typeface="a고딕14" panose="02020600000000000000" pitchFamily="18" charset="-127"/>
                </a:rPr>
                <a:t> 수 </a:t>
              </a:r>
              <a:r>
                <a:rPr lang="ko-KR" altLang="en-US" sz="1300" dirty="0" err="1">
                  <a:solidFill>
                    <a:prstClr val="black"/>
                  </a:solidFill>
                  <a:latin typeface="Arial Narrow" panose="020B0606020202030204" pitchFamily="34" charset="0"/>
                  <a:ea typeface="a고딕14" panose="02020600000000000000" pitchFamily="18" charset="-127"/>
                </a:rPr>
                <a:t>누적값</a:t>
              </a:r>
              <a:endParaRPr kumimoji="0" lang="ko-KR" altLang="en-US" sz="1300" b="0" i="0" u="none" strike="noStrike" kern="1200" cap="none"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37" name="직사각형 36">
              <a:extLst>
                <a:ext uri="{FF2B5EF4-FFF2-40B4-BE49-F238E27FC236}">
                  <a16:creationId xmlns:a16="http://schemas.microsoft.com/office/drawing/2014/main" id="{8F12036C-A600-C998-6060-80C2EE4CEA73}"/>
                </a:ext>
              </a:extLst>
            </p:cNvPr>
            <p:cNvSpPr/>
            <p:nvPr/>
          </p:nvSpPr>
          <p:spPr>
            <a:xfrm>
              <a:off x="613333" y="2103893"/>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3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aphicFrame>
        <p:nvGraphicFramePr>
          <p:cNvPr id="38" name="표 37">
            <a:extLst>
              <a:ext uri="{FF2B5EF4-FFF2-40B4-BE49-F238E27FC236}">
                <a16:creationId xmlns:a16="http://schemas.microsoft.com/office/drawing/2014/main" id="{98F07626-C860-0D49-2C73-04B33D50731D}"/>
              </a:ext>
            </a:extLst>
          </p:cNvPr>
          <p:cNvGraphicFramePr>
            <a:graphicFrameLocks noGrp="1"/>
          </p:cNvGraphicFramePr>
          <p:nvPr>
            <p:extLst>
              <p:ext uri="{D42A27DB-BD31-4B8C-83A1-F6EECF244321}">
                <p14:modId xmlns:p14="http://schemas.microsoft.com/office/powerpoint/2010/main" val="3085630342"/>
              </p:ext>
            </p:extLst>
          </p:nvPr>
        </p:nvGraphicFramePr>
        <p:xfrm>
          <a:off x="596898" y="2420887"/>
          <a:ext cx="4356107" cy="3830466"/>
        </p:xfrm>
        <a:graphic>
          <a:graphicData uri="http://schemas.openxmlformats.org/drawingml/2006/table">
            <a:tbl>
              <a:tblPr>
                <a:tableStyleId>{5C22544A-7EE6-4342-B048-85BDC9FD1C3A}</a:tableStyleId>
              </a:tblPr>
              <a:tblGrid>
                <a:gridCol w="726017">
                  <a:extLst>
                    <a:ext uri="{9D8B030D-6E8A-4147-A177-3AD203B41FA5}">
                      <a16:colId xmlns:a16="http://schemas.microsoft.com/office/drawing/2014/main" val="2927134266"/>
                    </a:ext>
                  </a:extLst>
                </a:gridCol>
                <a:gridCol w="363009">
                  <a:extLst>
                    <a:ext uri="{9D8B030D-6E8A-4147-A177-3AD203B41FA5}">
                      <a16:colId xmlns:a16="http://schemas.microsoft.com/office/drawing/2014/main" val="453876193"/>
                    </a:ext>
                  </a:extLst>
                </a:gridCol>
                <a:gridCol w="363009">
                  <a:extLst>
                    <a:ext uri="{9D8B030D-6E8A-4147-A177-3AD203B41FA5}">
                      <a16:colId xmlns:a16="http://schemas.microsoft.com/office/drawing/2014/main" val="2789042025"/>
                    </a:ext>
                  </a:extLst>
                </a:gridCol>
                <a:gridCol w="363009">
                  <a:extLst>
                    <a:ext uri="{9D8B030D-6E8A-4147-A177-3AD203B41FA5}">
                      <a16:colId xmlns:a16="http://schemas.microsoft.com/office/drawing/2014/main" val="2907208444"/>
                    </a:ext>
                  </a:extLst>
                </a:gridCol>
                <a:gridCol w="363009">
                  <a:extLst>
                    <a:ext uri="{9D8B030D-6E8A-4147-A177-3AD203B41FA5}">
                      <a16:colId xmlns:a16="http://schemas.microsoft.com/office/drawing/2014/main" val="3081939206"/>
                    </a:ext>
                  </a:extLst>
                </a:gridCol>
                <a:gridCol w="363009">
                  <a:extLst>
                    <a:ext uri="{9D8B030D-6E8A-4147-A177-3AD203B41FA5}">
                      <a16:colId xmlns:a16="http://schemas.microsoft.com/office/drawing/2014/main" val="4088465695"/>
                    </a:ext>
                  </a:extLst>
                </a:gridCol>
                <a:gridCol w="363009">
                  <a:extLst>
                    <a:ext uri="{9D8B030D-6E8A-4147-A177-3AD203B41FA5}">
                      <a16:colId xmlns:a16="http://schemas.microsoft.com/office/drawing/2014/main" val="3937504668"/>
                    </a:ext>
                  </a:extLst>
                </a:gridCol>
                <a:gridCol w="363009">
                  <a:extLst>
                    <a:ext uri="{9D8B030D-6E8A-4147-A177-3AD203B41FA5}">
                      <a16:colId xmlns:a16="http://schemas.microsoft.com/office/drawing/2014/main" val="645534009"/>
                    </a:ext>
                  </a:extLst>
                </a:gridCol>
                <a:gridCol w="363009">
                  <a:extLst>
                    <a:ext uri="{9D8B030D-6E8A-4147-A177-3AD203B41FA5}">
                      <a16:colId xmlns:a16="http://schemas.microsoft.com/office/drawing/2014/main" val="3789986302"/>
                    </a:ext>
                  </a:extLst>
                </a:gridCol>
                <a:gridCol w="363009">
                  <a:extLst>
                    <a:ext uri="{9D8B030D-6E8A-4147-A177-3AD203B41FA5}">
                      <a16:colId xmlns:a16="http://schemas.microsoft.com/office/drawing/2014/main" val="370382356"/>
                    </a:ext>
                  </a:extLst>
                </a:gridCol>
                <a:gridCol w="363009">
                  <a:extLst>
                    <a:ext uri="{9D8B030D-6E8A-4147-A177-3AD203B41FA5}">
                      <a16:colId xmlns:a16="http://schemas.microsoft.com/office/drawing/2014/main" val="2302158830"/>
                    </a:ext>
                  </a:extLst>
                </a:gridCol>
              </a:tblGrid>
              <a:tr h="166542">
                <a:tc rowSpan="2">
                  <a:txBody>
                    <a:bodyPr/>
                    <a:lstStyle/>
                    <a:p>
                      <a:pPr algn="ctr" fontAlgn="ctr"/>
                      <a:r>
                        <a:rPr lang="ko-KR" altLang="en-US" sz="800" b="0" i="0" u="none" strike="noStrike" dirty="0">
                          <a:solidFill>
                            <a:schemeClr val="bg1"/>
                          </a:solidFill>
                          <a:effectLst/>
                          <a:latin typeface="+mn-ea"/>
                          <a:ea typeface="+mn-ea"/>
                        </a:rPr>
                        <a:t>분야</a:t>
                      </a: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a:t>
                      </a:r>
                      <a:r>
                        <a:rPr lang="en-US" altLang="ko-KR" sz="800" u="none" strike="noStrike" dirty="0">
                          <a:solidFill>
                            <a:schemeClr val="bg1"/>
                          </a:solidFill>
                          <a:effectLst/>
                          <a:latin typeface="+mn-ea"/>
                          <a:ea typeface="+mn-ea"/>
                        </a:rPr>
                        <a:t> ~</a:t>
                      </a:r>
                      <a:r>
                        <a:rPr lang="ko-KR" altLang="en-US" sz="800" u="none" strike="noStrike" dirty="0">
                          <a:solidFill>
                            <a:schemeClr val="bg1"/>
                          </a:solidFill>
                          <a:effectLst/>
                          <a:latin typeface="+mn-ea"/>
                          <a:ea typeface="+mn-ea"/>
                        </a:rPr>
                        <a:t> </a:t>
                      </a:r>
                      <a:r>
                        <a:rPr lang="en-US" altLang="ko-KR" sz="800" u="none" strike="noStrike" dirty="0">
                          <a:solidFill>
                            <a:schemeClr val="bg1"/>
                          </a:solidFill>
                          <a:effectLst/>
                          <a:latin typeface="+mn-ea"/>
                          <a:ea typeface="+mn-ea"/>
                        </a:rPr>
                        <a:t>20%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a:t>
                      </a:r>
                      <a:r>
                        <a:rPr lang="en-US" altLang="ko-KR" sz="800" u="none" strike="noStrike" dirty="0">
                          <a:solidFill>
                            <a:schemeClr val="bg1"/>
                          </a:solidFill>
                          <a:effectLst/>
                          <a:latin typeface="+mn-ea"/>
                          <a:ea typeface="+mn-ea"/>
                        </a:rPr>
                        <a:t> ~ 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~100%</a:t>
                      </a: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3627044472"/>
                  </a:ext>
                </a:extLst>
              </a:tr>
              <a:tr h="166542">
                <a:tc v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4092088754"/>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인공지능</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097235903"/>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사물인터넷</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9091222"/>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메타버스</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5109579"/>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일반 </a:t>
                      </a:r>
                      <a:r>
                        <a:rPr lang="en-US" sz="800" u="none" strike="noStrike" kern="1200" dirty="0">
                          <a:solidFill>
                            <a:schemeClr val="tx2">
                              <a:lumMod val="75000"/>
                            </a:schemeClr>
                          </a:solidFill>
                          <a:effectLst/>
                          <a:latin typeface="+mn-ea"/>
                          <a:ea typeface="+mn-ea"/>
                          <a:cs typeface="+mn-cs"/>
                        </a:rPr>
                        <a:t>S/W</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906783108"/>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블록체인</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2951344"/>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빅데이터</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7858816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사이버 보안</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5035409"/>
                  </a:ext>
                </a:extLst>
              </a:tr>
              <a:tr h="166542">
                <a:tc>
                  <a:txBody>
                    <a:bodyPr/>
                    <a:lstStyle/>
                    <a:p>
                      <a:pPr marL="0" algn="ctr" defTabSz="914400" rtl="0" eaLnBrk="1" fontAlgn="ctr" latinLnBrk="1" hangingPunct="1"/>
                      <a:r>
                        <a:rPr lang="en-US" sz="800" u="none" strike="noStrike" kern="1200" dirty="0">
                          <a:solidFill>
                            <a:schemeClr val="dk1"/>
                          </a:solidFill>
                          <a:effectLst/>
                          <a:latin typeface="+mn-ea"/>
                          <a:ea typeface="+mn-ea"/>
                          <a:cs typeface="+mn-cs"/>
                        </a:rPr>
                        <a:t>3D </a:t>
                      </a:r>
                      <a:r>
                        <a:rPr lang="ko-KR" altLang="en-US" sz="800" u="none" strike="noStrike" kern="1200" dirty="0">
                          <a:solidFill>
                            <a:schemeClr val="dk1"/>
                          </a:solidFill>
                          <a:effectLst/>
                          <a:latin typeface="+mn-ea"/>
                          <a:ea typeface="+mn-ea"/>
                          <a:cs typeface="+mn-cs"/>
                        </a:rPr>
                        <a:t>프린팅</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796749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첨단소재</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87.5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5956108"/>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반도체</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417639"/>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드론</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453290"/>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에코업</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37.0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59.3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81.5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931620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신재생에너지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18166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클라우드</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2432098"/>
                  </a:ext>
                </a:extLst>
              </a:tr>
              <a:tr h="166542">
                <a:tc>
                  <a:txBody>
                    <a:bodyPr/>
                    <a:lstStyle/>
                    <a:p>
                      <a:pPr marL="0" algn="ctr" defTabSz="914400" rtl="0" eaLnBrk="1" fontAlgn="ctr" latinLnBrk="1" hangingPunct="1"/>
                      <a:r>
                        <a:rPr lang="en-US" sz="800" u="none" strike="noStrike" kern="1200">
                          <a:solidFill>
                            <a:schemeClr val="dk1"/>
                          </a:solidFill>
                          <a:effectLst/>
                          <a:latin typeface="+mn-ea"/>
                          <a:ea typeface="+mn-ea"/>
                          <a:cs typeface="+mn-cs"/>
                        </a:rPr>
                        <a:t>5G·6G</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820416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이차전지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729286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디스플레이</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28.6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1055263"/>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나노</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257777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로봇</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0396111"/>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바이오헬스</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2167845"/>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수소</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0391544"/>
                  </a:ext>
                </a:extLst>
              </a:tr>
            </a:tbl>
          </a:graphicData>
        </a:graphic>
      </p:graphicFrame>
      <p:sp>
        <p:nvSpPr>
          <p:cNvPr id="39" name="TextBox 38">
            <a:extLst>
              <a:ext uri="{FF2B5EF4-FFF2-40B4-BE49-F238E27FC236}">
                <a16:creationId xmlns:a16="http://schemas.microsoft.com/office/drawing/2014/main" id="{A789DEA5-88D5-5F8F-453B-0A49F903448E}"/>
              </a:ext>
            </a:extLst>
          </p:cNvPr>
          <p:cNvSpPr txBox="1"/>
          <p:nvPr/>
        </p:nvSpPr>
        <p:spPr>
          <a:xfrm>
            <a:off x="524952" y="6273316"/>
            <a:ext cx="4428048" cy="215444"/>
          </a:xfrm>
          <a:prstGeom prst="rect">
            <a:avLst/>
          </a:prstGeom>
          <a:noFill/>
        </p:spPr>
        <p:txBody>
          <a:bodyPr wrap="square" rtlCol="0">
            <a:spAutoFit/>
          </a:bodyPr>
          <a:lstStyle/>
          <a:p>
            <a:pPr algn="l">
              <a:buNone/>
            </a:pPr>
            <a:r>
              <a:rPr lang="ko-KR" altLang="en-US" sz="800" dirty="0">
                <a:latin typeface="a고딕14" panose="02020600000000000000" pitchFamily="18" charset="-127"/>
                <a:ea typeface="a고딕14" panose="02020600000000000000" pitchFamily="18" charset="-127"/>
              </a:rPr>
              <a:t>* 전체 상위 </a:t>
            </a:r>
            <a:r>
              <a:rPr lang="en-US" altLang="ko-KR" sz="800" dirty="0">
                <a:latin typeface="a고딕14" panose="02020600000000000000" pitchFamily="18" charset="-127"/>
                <a:ea typeface="a고딕14" panose="02020600000000000000" pitchFamily="18" charset="-127"/>
              </a:rPr>
              <a:t>20%</a:t>
            </a:r>
            <a:r>
              <a:rPr lang="ko-KR" altLang="en-US" sz="800" dirty="0">
                <a:latin typeface="a고딕14" panose="02020600000000000000" pitchFamily="18" charset="-127"/>
                <a:ea typeface="a고딕14" panose="02020600000000000000" pitchFamily="18" charset="-127"/>
              </a:rPr>
              <a:t>에 속하는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내 해당분야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수 </a:t>
            </a:r>
            <a:r>
              <a:rPr lang="en-US" altLang="ko-KR" sz="800" dirty="0">
                <a:latin typeface="a고딕14" panose="02020600000000000000" pitchFamily="18" charset="-127"/>
                <a:ea typeface="a고딕14" panose="02020600000000000000" pitchFamily="18" charset="-127"/>
              </a:rPr>
              <a:t>50% </a:t>
            </a:r>
            <a:r>
              <a:rPr lang="ko-KR" altLang="en-US" sz="800" dirty="0">
                <a:latin typeface="a고딕14" panose="02020600000000000000" pitchFamily="18" charset="-127"/>
                <a:ea typeface="a고딕14" panose="02020600000000000000" pitchFamily="18" charset="-127"/>
              </a:rPr>
              <a:t>이상 분포하는 분야에 대해 </a:t>
            </a:r>
            <a:r>
              <a:rPr lang="ko-KR" altLang="en-US" sz="800" dirty="0" err="1">
                <a:latin typeface="a고딕14" panose="02020600000000000000" pitchFamily="18" charset="-127"/>
                <a:ea typeface="a고딕14" panose="02020600000000000000" pitchFamily="18" charset="-127"/>
              </a:rPr>
              <a:t>음영표기함</a:t>
            </a:r>
            <a:endParaRPr lang="ko-KR" altLang="en-US" sz="800" dirty="0">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58941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83E97-3403-EABA-0DA3-C88AEA1D885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FF933DB-E397-2BF4-F942-A9EC02321E38}"/>
              </a:ext>
            </a:extLst>
          </p:cNvPr>
          <p:cNvSpPr>
            <a:spLocks noGrp="1"/>
          </p:cNvSpPr>
          <p:nvPr>
            <p:ph type="body" sz="quarter" idx="12"/>
          </p:nvPr>
        </p:nvSpPr>
        <p:spPr/>
        <p:txBody>
          <a:bodyPr/>
          <a:lstStyle/>
          <a:p>
            <a:pPr latinLnBrk="0"/>
            <a:r>
              <a:rPr lang="en-US" altLang="ko-KR" dirty="0">
                <a:latin typeface="+mj-ea"/>
                <a:ea typeface="+mj-ea"/>
              </a:rPr>
              <a:t>24</a:t>
            </a:r>
            <a:r>
              <a:rPr lang="ko-KR" altLang="en-US" dirty="0">
                <a:latin typeface="+mj-ea"/>
                <a:ea typeface="+mj-ea"/>
              </a:rPr>
              <a:t>년 고시기준 신설된 </a:t>
            </a:r>
            <a:r>
              <a:rPr lang="en-US" altLang="ko-KR" dirty="0">
                <a:latin typeface="+mj-ea"/>
                <a:ea typeface="+mj-ea"/>
              </a:rPr>
              <a:t>6</a:t>
            </a:r>
            <a:r>
              <a:rPr lang="ko-KR" altLang="en-US" dirty="0">
                <a:latin typeface="+mj-ea"/>
                <a:ea typeface="+mj-ea"/>
              </a:rPr>
              <a:t>개 세분류에 대한 정성평가 후</a:t>
            </a:r>
            <a:r>
              <a:rPr lang="en-US" altLang="ko-KR" dirty="0">
                <a:latin typeface="+mj-ea"/>
                <a:ea typeface="+mj-ea"/>
              </a:rPr>
              <a:t> </a:t>
            </a:r>
            <a:r>
              <a:rPr lang="ko-KR" altLang="en-US" dirty="0">
                <a:latin typeface="+mj-ea"/>
                <a:ea typeface="+mj-ea"/>
              </a:rPr>
              <a:t>정량평가 결과와 합산하여 </a:t>
            </a:r>
            <a:r>
              <a:rPr lang="ko-KR" altLang="en-US" dirty="0">
                <a:latin typeface="+mj-ea"/>
              </a:rPr>
              <a:t>전년도 선정 범위를 준용해 평생분야 상위 </a:t>
            </a:r>
            <a:r>
              <a:rPr lang="en-US" altLang="ko-KR" dirty="0">
                <a:latin typeface="+mj-ea"/>
              </a:rPr>
              <a:t>30%, </a:t>
            </a:r>
            <a:r>
              <a:rPr lang="ko-KR" altLang="en-US" dirty="0">
                <a:latin typeface="+mj-ea"/>
              </a:rPr>
              <a:t>디지털</a:t>
            </a:r>
            <a:r>
              <a:rPr lang="en-US" altLang="ko-KR" dirty="0">
                <a:latin typeface="+mj-ea"/>
              </a:rPr>
              <a:t>·</a:t>
            </a:r>
            <a:r>
              <a:rPr lang="ko-KR" altLang="en-US" dirty="0">
                <a:latin typeface="+mj-ea"/>
              </a:rPr>
              <a:t>첨단분야 상위 </a:t>
            </a:r>
            <a:r>
              <a:rPr lang="en-US" altLang="ko-KR" dirty="0">
                <a:latin typeface="+mj-ea"/>
              </a:rPr>
              <a:t>80% </a:t>
            </a:r>
            <a:r>
              <a:rPr lang="ko-KR" altLang="en-US" dirty="0">
                <a:latin typeface="+mj-ea"/>
              </a:rPr>
              <a:t>총 </a:t>
            </a:r>
            <a:r>
              <a:rPr lang="en-US" altLang="ko-KR" dirty="0">
                <a:latin typeface="+mj-ea"/>
              </a:rPr>
              <a:t>311</a:t>
            </a:r>
            <a:r>
              <a:rPr lang="ko-KR" altLang="en-US" dirty="0">
                <a:latin typeface="+mj-ea"/>
              </a:rPr>
              <a:t>개 세분류를 선정함</a:t>
            </a:r>
            <a:r>
              <a:rPr lang="ko-KR" altLang="en-US" dirty="0">
                <a:latin typeface="+mj-ea"/>
                <a:ea typeface="+mj-ea"/>
              </a:rPr>
              <a:t> </a:t>
            </a:r>
          </a:p>
        </p:txBody>
      </p:sp>
      <p:sp>
        <p:nvSpPr>
          <p:cNvPr id="5" name="텍스트 개체 틀 4">
            <a:extLst>
              <a:ext uri="{FF2B5EF4-FFF2-40B4-BE49-F238E27FC236}">
                <a16:creationId xmlns:a16="http://schemas.microsoft.com/office/drawing/2014/main" id="{AC1E0B61-6B37-DD80-52F8-0BAA1B7EC1CD}"/>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1" name="텍스트 개체 틀 87">
            <a:extLst>
              <a:ext uri="{FF2B5EF4-FFF2-40B4-BE49-F238E27FC236}">
                <a16:creationId xmlns:a16="http://schemas.microsoft.com/office/drawing/2014/main" id="{A9D152C6-A5A7-1994-7FB8-A6E7ED67A4CF}"/>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수요평가</a:t>
            </a:r>
          </a:p>
        </p:txBody>
      </p:sp>
      <p:sp>
        <p:nvSpPr>
          <p:cNvPr id="12" name="직사각형 11">
            <a:extLst>
              <a:ext uri="{FF2B5EF4-FFF2-40B4-BE49-F238E27FC236}">
                <a16:creationId xmlns:a16="http://schemas.microsoft.com/office/drawing/2014/main" id="{91741706-E66D-FE2D-5F96-398F00FE6AB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F4DE31FE-6B3D-212B-F47A-B7EA494C7AE6}"/>
              </a:ext>
            </a:extLst>
          </p:cNvPr>
          <p:cNvGrpSpPr/>
          <p:nvPr/>
        </p:nvGrpSpPr>
        <p:grpSpPr>
          <a:xfrm>
            <a:off x="596515" y="1681027"/>
            <a:ext cx="8749098" cy="266602"/>
            <a:chOff x="802640" y="2236632"/>
            <a:chExt cx="4130805" cy="266552"/>
          </a:xfrm>
        </p:grpSpPr>
        <p:sp>
          <p:nvSpPr>
            <p:cNvPr id="15" name="ListLeanHorizontalTextTopic0">
              <a:extLst>
                <a:ext uri="{FF2B5EF4-FFF2-40B4-BE49-F238E27FC236}">
                  <a16:creationId xmlns:a16="http://schemas.microsoft.com/office/drawing/2014/main" id="{B4F93E87-BF49-D61C-0D03-95D0EF5A0881}"/>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세분류</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수요평가 결과</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D06490FD-0DF1-C46F-266A-9A34CF677BCC}"/>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7" name="그룹 6">
            <a:extLst>
              <a:ext uri="{FF2B5EF4-FFF2-40B4-BE49-F238E27FC236}">
                <a16:creationId xmlns:a16="http://schemas.microsoft.com/office/drawing/2014/main" id="{F18ECD06-C287-F69D-BD15-BF381BEF8EF1}"/>
              </a:ext>
            </a:extLst>
          </p:cNvPr>
          <p:cNvGrpSpPr/>
          <p:nvPr/>
        </p:nvGrpSpPr>
        <p:grpSpPr>
          <a:xfrm>
            <a:off x="5146774" y="2065963"/>
            <a:ext cx="4468397" cy="276999"/>
            <a:chOff x="5147157" y="2068037"/>
            <a:chExt cx="3870373" cy="276999"/>
          </a:xfrm>
        </p:grpSpPr>
        <p:sp>
          <p:nvSpPr>
            <p:cNvPr id="8" name="TextBox 7">
              <a:extLst>
                <a:ext uri="{FF2B5EF4-FFF2-40B4-BE49-F238E27FC236}">
                  <a16:creationId xmlns:a16="http://schemas.microsoft.com/office/drawing/2014/main" id="{1E63ABEB-1DD1-B8E6-E17C-993700B2B474}"/>
                </a:ext>
              </a:extLst>
            </p:cNvPr>
            <p:cNvSpPr txBox="1"/>
            <p:nvPr/>
          </p:nvSpPr>
          <p:spPr>
            <a:xfrm>
              <a:off x="5201105" y="2068037"/>
              <a:ext cx="3816425" cy="276999"/>
            </a:xfrm>
            <a:prstGeom prst="rect">
              <a:avLst/>
            </a:prstGeom>
            <a:noFill/>
          </p:spPr>
          <p:txBody>
            <a:bodyPr wrap="square" rtlCol="0">
              <a:noAutofit/>
            </a:bodyPr>
            <a:lstStyle/>
            <a:p>
              <a:pPr lvl="0" algn="l">
                <a:buNone/>
                <a:defRPr/>
              </a:pPr>
              <a:r>
                <a:rPr lang="ko-KR" altLang="en-US" sz="1300" dirty="0">
                  <a:solidFill>
                    <a:prstClr val="black"/>
                  </a:solidFill>
                  <a:latin typeface="Arial Narrow" panose="020B0606020202030204" pitchFamily="34" charset="0"/>
                  <a:ea typeface="a고딕14" panose="02020600000000000000" pitchFamily="18" charset="-127"/>
                </a:rPr>
                <a:t>평생능력개발분야 선정 </a:t>
              </a:r>
              <a:r>
                <a:rPr lang="ko-KR" altLang="en-US" sz="1300" dirty="0" err="1">
                  <a:solidFill>
                    <a:prstClr val="black"/>
                  </a:solidFill>
                  <a:latin typeface="Arial Narrow" panose="020B0606020202030204" pitchFamily="34" charset="0"/>
                  <a:ea typeface="a고딕14" panose="02020600000000000000" pitchFamily="18" charset="-127"/>
                </a:rPr>
                <a:t>세분류</a:t>
              </a:r>
              <a:r>
                <a:rPr lang="ko-KR" altLang="en-US" sz="1300" dirty="0">
                  <a:solidFill>
                    <a:prstClr val="black"/>
                  </a:solidFill>
                  <a:latin typeface="Arial Narrow" panose="020B0606020202030204" pitchFamily="34" charset="0"/>
                  <a:ea typeface="a고딕14" panose="02020600000000000000" pitchFamily="18" charset="-127"/>
                </a:rPr>
                <a:t> 수 및 능력단위 수</a:t>
              </a:r>
              <a:endParaRPr kumimoji="0" lang="ko-KR" altLang="en-US" sz="1300" b="0" i="0" u="none" strike="noStrike" kern="1200" cap="none" normalizeH="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9" name="직사각형 8">
              <a:extLst>
                <a:ext uri="{FF2B5EF4-FFF2-40B4-BE49-F238E27FC236}">
                  <a16:creationId xmlns:a16="http://schemas.microsoft.com/office/drawing/2014/main" id="{6ADD45CB-24CD-40EC-58E4-1BF01A84FE49}"/>
                </a:ext>
              </a:extLst>
            </p:cNvPr>
            <p:cNvSpPr/>
            <p:nvPr/>
          </p:nvSpPr>
          <p:spPr>
            <a:xfrm>
              <a:off x="5147157" y="2103893"/>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3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pSp>
        <p:nvGrpSpPr>
          <p:cNvPr id="10" name="그룹 9">
            <a:extLst>
              <a:ext uri="{FF2B5EF4-FFF2-40B4-BE49-F238E27FC236}">
                <a16:creationId xmlns:a16="http://schemas.microsoft.com/office/drawing/2014/main" id="{C76A3E58-1EB9-112E-05F2-FF6DD9A874CA}"/>
              </a:ext>
            </a:extLst>
          </p:cNvPr>
          <p:cNvGrpSpPr/>
          <p:nvPr/>
        </p:nvGrpSpPr>
        <p:grpSpPr>
          <a:xfrm>
            <a:off x="613333" y="2065964"/>
            <a:ext cx="3852428" cy="276999"/>
            <a:chOff x="613333" y="2068037"/>
            <a:chExt cx="3852428" cy="276999"/>
          </a:xfrm>
        </p:grpSpPr>
        <p:sp>
          <p:nvSpPr>
            <p:cNvPr id="17" name="TextBox 16">
              <a:extLst>
                <a:ext uri="{FF2B5EF4-FFF2-40B4-BE49-F238E27FC236}">
                  <a16:creationId xmlns:a16="http://schemas.microsoft.com/office/drawing/2014/main" id="{FE807BE7-1ABE-16D5-E540-79532544B884}"/>
                </a:ext>
              </a:extLst>
            </p:cNvPr>
            <p:cNvSpPr txBox="1"/>
            <p:nvPr/>
          </p:nvSpPr>
          <p:spPr>
            <a:xfrm>
              <a:off x="649336" y="2068037"/>
              <a:ext cx="3816425" cy="276999"/>
            </a:xfrm>
            <a:prstGeom prst="rect">
              <a:avLst/>
            </a:prstGeom>
            <a:noFill/>
          </p:spPr>
          <p:txBody>
            <a:bodyPr wrap="square" rtlCol="0">
              <a:noAutofit/>
            </a:bodyPr>
            <a:lstStyle/>
            <a:p>
              <a:pPr lvl="0" algn="l">
                <a:buNone/>
                <a:defRPr/>
              </a:pPr>
              <a:r>
                <a:rPr lang="ko-KR" altLang="en-US" sz="1300" dirty="0">
                  <a:solidFill>
                    <a:prstClr val="black"/>
                  </a:solidFill>
                  <a:latin typeface="Arial Narrow" panose="020B0606020202030204" pitchFamily="34" charset="0"/>
                  <a:ea typeface="a고딕14" panose="02020600000000000000" pitchFamily="18" charset="-127"/>
                </a:rPr>
                <a:t>디지털</a:t>
              </a:r>
              <a:r>
                <a:rPr lang="en-US" altLang="ko-KR" sz="1300" dirty="0">
                  <a:solidFill>
                    <a:prstClr val="black"/>
                  </a:solidFill>
                  <a:latin typeface="Arial Narrow" panose="020B0606020202030204" pitchFamily="34" charset="0"/>
                  <a:ea typeface="a고딕14" panose="02020600000000000000" pitchFamily="18" charset="-127"/>
                </a:rPr>
                <a:t>·</a:t>
              </a:r>
              <a:r>
                <a:rPr lang="ko-KR" altLang="en-US" sz="1300" dirty="0">
                  <a:solidFill>
                    <a:prstClr val="black"/>
                  </a:solidFill>
                  <a:latin typeface="Arial Narrow" panose="020B0606020202030204" pitchFamily="34" charset="0"/>
                  <a:ea typeface="a고딕14" panose="02020600000000000000" pitchFamily="18" charset="-127"/>
                </a:rPr>
                <a:t>첨단 분야 선정 </a:t>
              </a:r>
              <a:r>
                <a:rPr lang="ko-KR" altLang="en-US" sz="1300" dirty="0" err="1">
                  <a:solidFill>
                    <a:prstClr val="black"/>
                  </a:solidFill>
                  <a:latin typeface="Arial Narrow" panose="020B0606020202030204" pitchFamily="34" charset="0"/>
                  <a:ea typeface="a고딕14" panose="02020600000000000000" pitchFamily="18" charset="-127"/>
                </a:rPr>
                <a:t>세분류</a:t>
              </a:r>
              <a:r>
                <a:rPr lang="ko-KR" altLang="en-US" sz="1300" dirty="0">
                  <a:solidFill>
                    <a:prstClr val="black"/>
                  </a:solidFill>
                  <a:latin typeface="Arial Narrow" panose="020B0606020202030204" pitchFamily="34" charset="0"/>
                  <a:ea typeface="a고딕14" panose="02020600000000000000" pitchFamily="18" charset="-127"/>
                </a:rPr>
                <a:t> 수 및 능력단위 수</a:t>
              </a:r>
            </a:p>
          </p:txBody>
        </p:sp>
        <p:sp>
          <p:nvSpPr>
            <p:cNvPr id="18" name="직사각형 17">
              <a:extLst>
                <a:ext uri="{FF2B5EF4-FFF2-40B4-BE49-F238E27FC236}">
                  <a16:creationId xmlns:a16="http://schemas.microsoft.com/office/drawing/2014/main" id="{D234F860-20A9-7B83-0C02-56D9F243DDCB}"/>
                </a:ext>
              </a:extLst>
            </p:cNvPr>
            <p:cNvSpPr/>
            <p:nvPr/>
          </p:nvSpPr>
          <p:spPr>
            <a:xfrm>
              <a:off x="613333" y="2103893"/>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3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aphicFrame>
        <p:nvGraphicFramePr>
          <p:cNvPr id="19" name="표 18">
            <a:extLst>
              <a:ext uri="{FF2B5EF4-FFF2-40B4-BE49-F238E27FC236}">
                <a16:creationId xmlns:a16="http://schemas.microsoft.com/office/drawing/2014/main" id="{A10C8175-488B-8DC3-019C-2F1542324888}"/>
              </a:ext>
            </a:extLst>
          </p:cNvPr>
          <p:cNvGraphicFramePr>
            <a:graphicFrameLocks noGrp="1"/>
          </p:cNvGraphicFramePr>
          <p:nvPr>
            <p:extLst>
              <p:ext uri="{D42A27DB-BD31-4B8C-83A1-F6EECF244321}">
                <p14:modId xmlns:p14="http://schemas.microsoft.com/office/powerpoint/2010/main" val="3989694098"/>
              </p:ext>
            </p:extLst>
          </p:nvPr>
        </p:nvGraphicFramePr>
        <p:xfrm>
          <a:off x="5146774" y="2420937"/>
          <a:ext cx="4215657" cy="3830463"/>
        </p:xfrm>
        <a:graphic>
          <a:graphicData uri="http://schemas.openxmlformats.org/drawingml/2006/table">
            <a:tbl>
              <a:tblPr>
                <a:tableStyleId>{5C22544A-7EE6-4342-B048-85BDC9FD1C3A}</a:tableStyleId>
              </a:tblPr>
              <a:tblGrid>
                <a:gridCol w="1454723">
                  <a:extLst>
                    <a:ext uri="{9D8B030D-6E8A-4147-A177-3AD203B41FA5}">
                      <a16:colId xmlns:a16="http://schemas.microsoft.com/office/drawing/2014/main" val="1341341881"/>
                    </a:ext>
                  </a:extLst>
                </a:gridCol>
                <a:gridCol w="717912">
                  <a:extLst>
                    <a:ext uri="{9D8B030D-6E8A-4147-A177-3AD203B41FA5}">
                      <a16:colId xmlns:a16="http://schemas.microsoft.com/office/drawing/2014/main" val="2198022660"/>
                    </a:ext>
                  </a:extLst>
                </a:gridCol>
                <a:gridCol w="717912">
                  <a:extLst>
                    <a:ext uri="{9D8B030D-6E8A-4147-A177-3AD203B41FA5}">
                      <a16:colId xmlns:a16="http://schemas.microsoft.com/office/drawing/2014/main" val="3408378698"/>
                    </a:ext>
                  </a:extLst>
                </a:gridCol>
                <a:gridCol w="662555">
                  <a:extLst>
                    <a:ext uri="{9D8B030D-6E8A-4147-A177-3AD203B41FA5}">
                      <a16:colId xmlns:a16="http://schemas.microsoft.com/office/drawing/2014/main" val="2570495060"/>
                    </a:ext>
                  </a:extLst>
                </a:gridCol>
                <a:gridCol w="662555">
                  <a:extLst>
                    <a:ext uri="{9D8B030D-6E8A-4147-A177-3AD203B41FA5}">
                      <a16:colId xmlns:a16="http://schemas.microsoft.com/office/drawing/2014/main" val="1701747488"/>
                    </a:ext>
                  </a:extLst>
                </a:gridCol>
              </a:tblGrid>
              <a:tr h="294651">
                <a:tc rowSpan="2">
                  <a:txBody>
                    <a:bodyPr/>
                    <a:lstStyle/>
                    <a:p>
                      <a:pPr algn="ctr" fontAlgn="ctr" latinLnBrk="0"/>
                      <a:r>
                        <a:rPr lang="ko-KR" altLang="en-US" sz="1000" b="0" i="0" u="none" strike="noStrike" dirty="0">
                          <a:solidFill>
                            <a:schemeClr val="bg1"/>
                          </a:solidFill>
                          <a:effectLst/>
                          <a:latin typeface="+mn-ea"/>
                          <a:ea typeface="+mn-ea"/>
                        </a:rPr>
                        <a:t>대분류</a:t>
                      </a:r>
                    </a:p>
                  </a:txBody>
                  <a:tcPr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latinLnBrk="0"/>
                      <a:r>
                        <a:rPr lang="ko-KR" altLang="en-US" sz="1000" b="0" i="0" u="none" strike="noStrike" dirty="0">
                          <a:solidFill>
                            <a:schemeClr val="bg1"/>
                          </a:solidFill>
                          <a:effectLst/>
                          <a:latin typeface="+mn-ea"/>
                          <a:ea typeface="+mn-ea"/>
                        </a:rPr>
                        <a:t>선정 </a:t>
                      </a:r>
                      <a:r>
                        <a:rPr lang="ko-KR" altLang="en-US" sz="1000" b="0" i="0" u="none" strike="noStrike" dirty="0" err="1">
                          <a:solidFill>
                            <a:schemeClr val="bg1"/>
                          </a:solidFill>
                          <a:effectLst/>
                          <a:latin typeface="+mn-ea"/>
                          <a:ea typeface="+mn-ea"/>
                        </a:rPr>
                        <a:t>세분류</a:t>
                      </a:r>
                      <a:endParaRPr lang="ko-KR" altLang="en-US" sz="1000" b="0" i="0" u="none" strike="noStrike" dirty="0">
                        <a:solidFill>
                          <a:schemeClr val="bg1"/>
                        </a:solidFill>
                        <a:effectLst/>
                        <a:latin typeface="+mn-ea"/>
                        <a:ea typeface="+mn-ea"/>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latinLnBrk="0"/>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latinLnBrk="0"/>
                      <a:r>
                        <a:rPr lang="ko-KR" altLang="en-US" sz="1000" b="0" i="0" u="none" strike="noStrike" dirty="0">
                          <a:solidFill>
                            <a:schemeClr val="bg1"/>
                          </a:solidFill>
                          <a:effectLst/>
                          <a:latin typeface="+mn-ea"/>
                          <a:ea typeface="+mn-ea"/>
                        </a:rPr>
                        <a:t>선정 세분류의 능력단위</a:t>
                      </a:r>
                    </a:p>
                  </a:txBody>
                  <a:tcPr marL="0" marR="0" marT="0" marB="0" anchor="ctr">
                    <a:lnL w="12700" cap="flat" cmpd="sng" algn="ctr">
                      <a:solidFill>
                        <a:schemeClr val="bg1"/>
                      </a:solidFill>
                      <a:prstDash val="solid"/>
                      <a:round/>
                      <a:headEnd type="none" w="med" len="med"/>
                      <a:tailEnd type="none" w="med" len="med"/>
                    </a:lnL>
                    <a:lnR w="6350" cap="flat" cmpd="sng" algn="ctr">
                      <a:no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extLst>
                  <a:ext uri="{0D108BD9-81ED-4DB2-BD59-A6C34878D82A}">
                    <a16:rowId xmlns:a16="http://schemas.microsoft.com/office/drawing/2014/main" val="3030892167"/>
                  </a:ext>
                </a:extLst>
              </a:tr>
              <a:tr h="294651">
                <a:tc vMerge="1">
                  <a:txBody>
                    <a:bodyPr/>
                    <a:lstStyle/>
                    <a:p>
                      <a:endParaRPr dirty="0"/>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latinLnBrk="0"/>
                      <a:r>
                        <a:rPr lang="ko-KR" altLang="en-US" sz="1000" b="0" i="0" u="none" strike="noStrike" dirty="0">
                          <a:solidFill>
                            <a:schemeClr val="bg1"/>
                          </a:solidFill>
                          <a:effectLst/>
                          <a:latin typeface="+mn-ea"/>
                          <a:ea typeface="+mn-ea"/>
                        </a:rPr>
                        <a:t>수</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latinLnBrk="0"/>
                      <a:r>
                        <a:rPr lang="ko-KR" altLang="en-US" sz="1000" b="0" i="0" u="none" strike="noStrike" dirty="0">
                          <a:solidFill>
                            <a:schemeClr val="bg1"/>
                          </a:solidFill>
                          <a:effectLst/>
                          <a:latin typeface="+mn-ea"/>
                          <a:ea typeface="+mn-ea"/>
                        </a:rPr>
                        <a:t>비율</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latinLnBrk="0"/>
                      <a:r>
                        <a:rPr lang="ko-KR" altLang="en-US" sz="1000" b="0" i="0" u="none" strike="noStrike" dirty="0">
                          <a:solidFill>
                            <a:schemeClr val="bg1"/>
                          </a:solidFill>
                          <a:effectLst/>
                          <a:latin typeface="+mn-ea"/>
                          <a:ea typeface="+mn-ea"/>
                        </a:rPr>
                        <a:t>수 합계</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latinLnBrk="0"/>
                      <a:r>
                        <a:rPr lang="ko-KR" altLang="en-US" sz="1000" b="0" i="0" u="none" strike="noStrike" dirty="0">
                          <a:solidFill>
                            <a:schemeClr val="bg1"/>
                          </a:solidFill>
                          <a:effectLst/>
                          <a:latin typeface="+mn-ea"/>
                          <a:ea typeface="+mn-ea"/>
                        </a:rPr>
                        <a:t>비율</a:t>
                      </a:r>
                    </a:p>
                  </a:txBody>
                  <a:tcPr anchor="ctr">
                    <a:lnL w="12700" cap="flat" cmpd="sng" algn="ctr">
                      <a:solidFill>
                        <a:schemeClr val="bg1"/>
                      </a:solidFill>
                      <a:prstDash val="solid"/>
                      <a:round/>
                      <a:headEnd type="none" w="med" len="med"/>
                      <a:tailEnd type="none" w="med" len="med"/>
                    </a:lnL>
                    <a:lnR w="6350" cap="flat" cmpd="sng" algn="ctr">
                      <a:no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3431993032"/>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문화</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예술</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디자인</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방송</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16</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8.2</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222</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8.7</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764978"/>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운전</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운송</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1.0</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33</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1.3</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827272"/>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건설</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28</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14.4</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319</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12.5</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8777367"/>
                  </a:ext>
                </a:extLst>
              </a:tr>
              <a:tr h="294651">
                <a:tc>
                  <a:txBody>
                    <a:bodyPr/>
                    <a:lstStyle/>
                    <a:p>
                      <a:pPr marL="0" algn="ctr" defTabSz="914400" rtl="0" eaLnBrk="1" fontAlgn="ctr" latinLnBrk="0" hangingPunct="1"/>
                      <a:r>
                        <a:rPr lang="ko-KR" altLang="en-US" sz="1000" b="0" i="0" u="none" strike="noStrike" kern="1200" spc="-50" baseline="0" dirty="0">
                          <a:solidFill>
                            <a:srgbClr val="00B0F0"/>
                          </a:solidFill>
                          <a:effectLst/>
                          <a:latin typeface="+mj-ea"/>
                          <a:ea typeface="+mj-ea"/>
                          <a:cs typeface="+mn-cs"/>
                        </a:rPr>
                        <a:t>기계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altLang="ko-KR" sz="1000" b="0" i="0" u="none" strike="noStrike" kern="1200" spc="-50" baseline="0" dirty="0">
                          <a:solidFill>
                            <a:srgbClr val="00B0F0"/>
                          </a:solidFill>
                          <a:effectLst/>
                          <a:latin typeface="+mj-ea"/>
                          <a:ea typeface="+mj-ea"/>
                          <a:cs typeface="+mn-cs"/>
                        </a:rPr>
                        <a:t>60</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altLang="ko-KR" sz="1000" b="0" i="0" u="none" strike="noStrike" kern="1200" spc="-50" baseline="0" dirty="0">
                          <a:solidFill>
                            <a:srgbClr val="00B0F0"/>
                          </a:solidFill>
                          <a:effectLst/>
                          <a:latin typeface="+mj-ea"/>
                          <a:ea typeface="+mj-ea"/>
                          <a:cs typeface="+mn-cs"/>
                        </a:rPr>
                        <a:t>30.8</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altLang="ko-KR" sz="1000" b="0" i="0" u="none" strike="noStrike" kern="1200" spc="-50" baseline="0" dirty="0">
                          <a:solidFill>
                            <a:srgbClr val="00B0F0"/>
                          </a:solidFill>
                          <a:effectLst/>
                          <a:latin typeface="+mj-ea"/>
                          <a:ea typeface="+mj-ea"/>
                          <a:cs typeface="+mn-cs"/>
                        </a:rPr>
                        <a:t>743</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altLang="ko-KR" sz="1000" b="0" i="0" u="none" strike="noStrike" kern="1200" spc="-50" baseline="0" dirty="0">
                          <a:solidFill>
                            <a:srgbClr val="00B0F0"/>
                          </a:solidFill>
                          <a:effectLst/>
                          <a:latin typeface="+mj-ea"/>
                          <a:ea typeface="+mj-ea"/>
                          <a:cs typeface="+mn-cs"/>
                        </a:rPr>
                        <a:t>29.0</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34887252"/>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재료</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14</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7.2</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267</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10.4</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6215789"/>
                  </a:ext>
                </a:extLst>
              </a:tr>
              <a:tr h="294651">
                <a:tc>
                  <a:txBody>
                    <a:bodyPr/>
                    <a:lstStyle/>
                    <a:p>
                      <a:pPr marL="0" algn="ctr" defTabSz="914400" rtl="0" eaLnBrk="1" fontAlgn="ctr" latinLnBrk="0" hangingPunct="1"/>
                      <a:r>
                        <a:rPr lang="ko-KR" altLang="en-US" sz="1000" b="0" i="0" u="none" strike="noStrike" kern="1200" spc="-50" baseline="0" dirty="0">
                          <a:solidFill>
                            <a:srgbClr val="000000"/>
                          </a:solidFill>
                          <a:effectLst/>
                          <a:latin typeface="+mj-ea"/>
                          <a:ea typeface="+mj-ea"/>
                          <a:cs typeface="+mn-cs"/>
                        </a:rPr>
                        <a:t>화학</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바이오</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18</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9.2</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285</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11.1</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175630"/>
                  </a:ext>
                </a:extLst>
              </a:tr>
              <a:tr h="294651">
                <a:tc>
                  <a:txBody>
                    <a:bodyPr/>
                    <a:lstStyle/>
                    <a:p>
                      <a:pPr marL="0" algn="ctr" defTabSz="914400" rtl="0" eaLnBrk="1" fontAlgn="ctr" latinLnBrk="1" hangingPunct="1">
                        <a:buNone/>
                      </a:pPr>
                      <a:r>
                        <a:rPr lang="ko-KR" altLang="en-US" sz="1000" b="0" i="0" u="none" strike="noStrike" kern="1200" spc="-50" baseline="0" dirty="0">
                          <a:solidFill>
                            <a:srgbClr val="000000"/>
                          </a:solidFill>
                          <a:effectLst/>
                          <a:latin typeface="+mj-ea"/>
                          <a:ea typeface="+mj-ea"/>
                          <a:cs typeface="+mn-cs"/>
                        </a:rPr>
                        <a:t>전기</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전자</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27</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13.8</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372</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14.5</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9304076"/>
                  </a:ext>
                </a:extLst>
              </a:tr>
              <a:tr h="294651">
                <a:tc>
                  <a:txBody>
                    <a:bodyPr/>
                    <a:lstStyle/>
                    <a:p>
                      <a:pPr algn="ctr" fontAlgn="ctr" latinLnBrk="0"/>
                      <a:r>
                        <a:rPr lang="ko-KR" altLang="en-US" sz="1000" b="0" i="0" u="none" strike="noStrike" kern="1200" spc="-50" baseline="0">
                          <a:solidFill>
                            <a:srgbClr val="000000"/>
                          </a:solidFill>
                          <a:effectLst/>
                          <a:latin typeface="+mj-ea"/>
                          <a:ea typeface="+mj-ea"/>
                          <a:cs typeface="+mn-cs"/>
                        </a:rPr>
                        <a:t>정보통신</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25</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12.8</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284</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11.1</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5966178"/>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인쇄</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목재</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가구</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공예</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ko-KR" sz="1000" b="0" i="0" u="none" strike="noStrike" kern="1200" spc="-50" baseline="0" dirty="0">
                          <a:solidFill>
                            <a:srgbClr val="C00000"/>
                          </a:solidFill>
                          <a:effectLst/>
                          <a:latin typeface="+mj-ea"/>
                          <a:ea typeface="+mj-ea"/>
                          <a:cs typeface="+mn-cs"/>
                        </a:rPr>
                        <a:t>0</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ko-KR" sz="1000" b="0" i="0" u="none" strike="noStrike" kern="1200" spc="-50" baseline="0" dirty="0">
                          <a:solidFill>
                            <a:srgbClr val="C00000"/>
                          </a:solidFill>
                          <a:effectLst/>
                          <a:latin typeface="+mj-ea"/>
                          <a:ea typeface="+mj-ea"/>
                          <a:cs typeface="+mn-cs"/>
                        </a:rPr>
                        <a:t>0.0</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ko-KR" sz="1000" b="0" i="0" u="none" strike="noStrike" kern="1200" spc="-50" baseline="0" dirty="0">
                          <a:solidFill>
                            <a:srgbClr val="C00000"/>
                          </a:solidFill>
                          <a:effectLst/>
                          <a:latin typeface="+mj-ea"/>
                          <a:ea typeface="+mj-ea"/>
                          <a:cs typeface="+mn-cs"/>
                        </a:rPr>
                        <a:t>0</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ko-KR" sz="1000" b="0" i="0" u="none" strike="noStrike" kern="1200" spc="-50" baseline="0" dirty="0">
                          <a:solidFill>
                            <a:srgbClr val="C00000"/>
                          </a:solidFill>
                          <a:effectLst/>
                          <a:latin typeface="+mj-ea"/>
                          <a:ea typeface="+mj-ea"/>
                          <a:cs typeface="+mn-cs"/>
                        </a:rPr>
                        <a:t>0.0</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07408957"/>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환경</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에너지</a:t>
                      </a:r>
                      <a:r>
                        <a:rPr lang="en-US" altLang="ko-KR" sz="1000" b="0" i="0" u="none" strike="noStrike" kern="1200" spc="-50" baseline="0" dirty="0">
                          <a:solidFill>
                            <a:srgbClr val="000000"/>
                          </a:solidFill>
                          <a:effectLst/>
                          <a:latin typeface="+mj-ea"/>
                          <a:ea typeface="+mj-ea"/>
                          <a:cs typeface="+mn-cs"/>
                        </a:rPr>
                        <a:t>·</a:t>
                      </a:r>
                      <a:r>
                        <a:rPr lang="ko-KR" altLang="en-US" sz="1000" b="0" i="0" u="none" strike="noStrike" kern="1200" spc="-50" baseline="0" dirty="0">
                          <a:solidFill>
                            <a:srgbClr val="000000"/>
                          </a:solidFill>
                          <a:effectLst/>
                          <a:latin typeface="+mj-ea"/>
                          <a:ea typeface="+mj-ea"/>
                          <a:cs typeface="+mn-cs"/>
                        </a:rPr>
                        <a:t>안전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5</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2.6</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34</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buNone/>
                      </a:pPr>
                      <a:r>
                        <a:rPr lang="en-US" altLang="ko-KR" sz="1000" b="0" i="0" u="none" strike="noStrike" kern="1200" spc="-50" baseline="0">
                          <a:solidFill>
                            <a:srgbClr val="000000"/>
                          </a:solidFill>
                          <a:effectLst/>
                          <a:latin typeface="+mj-ea"/>
                          <a:ea typeface="+mj-ea"/>
                          <a:cs typeface="+mn-cs"/>
                        </a:rPr>
                        <a:t>1.3</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1984812"/>
                  </a:ext>
                </a:extLst>
              </a:tr>
              <a:tr h="294651">
                <a:tc>
                  <a:txBody>
                    <a:bodyPr/>
                    <a:lstStyle/>
                    <a:p>
                      <a:pPr algn="ctr" fontAlgn="ctr" latinLnBrk="0"/>
                      <a:r>
                        <a:rPr lang="ko-KR" altLang="en-US" sz="1000" b="0" i="0" u="none" strike="noStrike" kern="1200" spc="-50" baseline="0" dirty="0">
                          <a:solidFill>
                            <a:srgbClr val="000000"/>
                          </a:solidFill>
                          <a:effectLst/>
                          <a:latin typeface="+mj-ea"/>
                          <a:ea typeface="+mj-ea"/>
                          <a:cs typeface="+mn-cs"/>
                        </a:rPr>
                        <a:t>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195</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100.0</a:t>
                      </a:r>
                    </a:p>
                  </a:txBody>
                  <a:tcPr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2,559</a:t>
                      </a:r>
                    </a:p>
                  </a:txBody>
                  <a:tcPr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00" b="0" i="0" u="none" strike="noStrike" kern="1200" spc="-50" baseline="0" dirty="0">
                          <a:solidFill>
                            <a:srgbClr val="000000"/>
                          </a:solidFill>
                          <a:effectLst/>
                          <a:latin typeface="+mj-ea"/>
                          <a:ea typeface="+mj-ea"/>
                          <a:cs typeface="+mn-cs"/>
                        </a:rPr>
                        <a:t>100.0</a:t>
                      </a:r>
                    </a:p>
                  </a:txBody>
                  <a:tcPr anchor="ctr">
                    <a:lnL w="6350" cap="flat" cmpd="sng" algn="ctr">
                      <a:solidFill>
                        <a:schemeClr val="tx1"/>
                      </a:solidFill>
                      <a:prstDash val="dot"/>
                      <a:round/>
                      <a:headEnd type="none" w="med" len="med"/>
                      <a:tailEnd type="none" w="med" len="med"/>
                    </a:lnL>
                    <a:lnR w="6350" cap="flat" cmpd="sng" algn="ctr">
                      <a:no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82501692"/>
                  </a:ext>
                </a:extLst>
              </a:tr>
            </a:tbl>
          </a:graphicData>
        </a:graphic>
      </p:graphicFrame>
      <p:sp>
        <p:nvSpPr>
          <p:cNvPr id="20" name="TextBox 19">
            <a:extLst>
              <a:ext uri="{FF2B5EF4-FFF2-40B4-BE49-F238E27FC236}">
                <a16:creationId xmlns:a16="http://schemas.microsoft.com/office/drawing/2014/main" id="{017E4DD0-76AE-9CEF-7071-3AB49B2CF12F}"/>
              </a:ext>
            </a:extLst>
          </p:cNvPr>
          <p:cNvSpPr txBox="1"/>
          <p:nvPr/>
        </p:nvSpPr>
        <p:spPr>
          <a:xfrm>
            <a:off x="5150407" y="6251405"/>
            <a:ext cx="4212024" cy="215444"/>
          </a:xfrm>
          <a:prstGeom prst="rect">
            <a:avLst/>
          </a:prstGeom>
          <a:noFill/>
        </p:spPr>
        <p:txBody>
          <a:bodyPr wrap="square" rtlCol="0">
            <a:spAutoFit/>
          </a:bodyPr>
          <a:lstStyle/>
          <a:p>
            <a:pPr algn="l">
              <a:buNone/>
            </a:pPr>
            <a:r>
              <a:rPr lang="ko-KR" altLang="en-US" sz="800" dirty="0">
                <a:latin typeface="a고딕14" panose="02020600000000000000" pitchFamily="18" charset="-127"/>
                <a:ea typeface="a고딕14" panose="02020600000000000000" pitchFamily="18" charset="-127"/>
              </a:rPr>
              <a:t>*</a:t>
            </a:r>
            <a:r>
              <a:rPr lang="en-US" altLang="ko-KR" sz="800" dirty="0">
                <a:latin typeface="a고딕14" panose="02020600000000000000" pitchFamily="18" charset="-127"/>
                <a:ea typeface="a고딕14" panose="02020600000000000000" pitchFamily="18" charset="-127"/>
              </a:rPr>
              <a:t>30% </a:t>
            </a:r>
            <a:r>
              <a:rPr lang="ko-KR" altLang="en-US" sz="800" dirty="0">
                <a:latin typeface="a고딕14" panose="02020600000000000000" pitchFamily="18" charset="-127"/>
                <a:ea typeface="a고딕14" panose="02020600000000000000" pitchFamily="18" charset="-127"/>
              </a:rPr>
              <a:t>이상 세분류가 포함되는 분야에 대해 </a:t>
            </a:r>
            <a:r>
              <a:rPr lang="ko-KR" altLang="en-US" sz="800" dirty="0" err="1">
                <a:latin typeface="a고딕14" panose="02020600000000000000" pitchFamily="18" charset="-127"/>
                <a:ea typeface="a고딕14" panose="02020600000000000000" pitchFamily="18" charset="-127"/>
              </a:rPr>
              <a:t>음영표기함</a:t>
            </a:r>
            <a:r>
              <a:rPr lang="ko-KR" altLang="en-US" sz="800" dirty="0">
                <a:latin typeface="a고딕14" panose="02020600000000000000" pitchFamily="18" charset="-127"/>
                <a:ea typeface="a고딕14" panose="02020600000000000000" pitchFamily="18" charset="-127"/>
              </a:rPr>
              <a:t> </a:t>
            </a:r>
            <a:r>
              <a:rPr lang="en-US" altLang="ko-KR" sz="800" dirty="0">
                <a:latin typeface="a고딕14" panose="02020600000000000000" pitchFamily="18" charset="-127"/>
                <a:ea typeface="a고딕14" panose="02020600000000000000" pitchFamily="18" charset="-127"/>
              </a:rPr>
              <a:t>/ </a:t>
            </a:r>
            <a:r>
              <a:rPr lang="ko-KR" altLang="en-US" sz="800" dirty="0">
                <a:latin typeface="a고딕14" panose="02020600000000000000" pitchFamily="18" charset="-127"/>
                <a:ea typeface="a고딕14" panose="02020600000000000000" pitchFamily="18" charset="-127"/>
              </a:rPr>
              <a:t>인쇄</a:t>
            </a:r>
            <a:r>
              <a:rPr lang="en-US" altLang="ko-KR" sz="800" dirty="0">
                <a:latin typeface="a고딕14" panose="02020600000000000000" pitchFamily="18" charset="-127"/>
                <a:ea typeface="a고딕14" panose="02020600000000000000" pitchFamily="18" charset="-127"/>
              </a:rPr>
              <a:t>·</a:t>
            </a:r>
            <a:r>
              <a:rPr lang="ko-KR" altLang="en-US" sz="800" dirty="0">
                <a:latin typeface="a고딕14" panose="02020600000000000000" pitchFamily="18" charset="-127"/>
                <a:ea typeface="a고딕14" panose="02020600000000000000" pitchFamily="18" charset="-127"/>
              </a:rPr>
              <a:t>목재</a:t>
            </a:r>
            <a:r>
              <a:rPr lang="en-US" altLang="ko-KR" sz="800" dirty="0">
                <a:latin typeface="a고딕14" panose="02020600000000000000" pitchFamily="18" charset="-127"/>
                <a:ea typeface="a고딕14" panose="02020600000000000000" pitchFamily="18" charset="-127"/>
              </a:rPr>
              <a:t>·</a:t>
            </a:r>
            <a:r>
              <a:rPr lang="ko-KR" altLang="en-US" sz="800" dirty="0">
                <a:latin typeface="a고딕14" panose="02020600000000000000" pitchFamily="18" charset="-127"/>
                <a:ea typeface="a고딕14" panose="02020600000000000000" pitchFamily="18" charset="-127"/>
              </a:rPr>
              <a:t>가구</a:t>
            </a:r>
            <a:r>
              <a:rPr lang="en-US" altLang="ko-KR" sz="800" dirty="0">
                <a:latin typeface="a고딕14" panose="02020600000000000000" pitchFamily="18" charset="-127"/>
                <a:ea typeface="a고딕14" panose="02020600000000000000" pitchFamily="18" charset="-127"/>
              </a:rPr>
              <a:t>·</a:t>
            </a:r>
            <a:r>
              <a:rPr lang="ko-KR" altLang="en-US" sz="800" dirty="0">
                <a:latin typeface="a고딕14" panose="02020600000000000000" pitchFamily="18" charset="-127"/>
                <a:ea typeface="a고딕14" panose="02020600000000000000" pitchFamily="18" charset="-127"/>
              </a:rPr>
              <a:t>공예 분야는 제외됨</a:t>
            </a:r>
          </a:p>
        </p:txBody>
      </p:sp>
      <p:graphicFrame>
        <p:nvGraphicFramePr>
          <p:cNvPr id="21" name="표 20">
            <a:extLst>
              <a:ext uri="{FF2B5EF4-FFF2-40B4-BE49-F238E27FC236}">
                <a16:creationId xmlns:a16="http://schemas.microsoft.com/office/drawing/2014/main" id="{4F8A97C7-01D2-0832-DCD1-82923283A1A3}"/>
              </a:ext>
            </a:extLst>
          </p:cNvPr>
          <p:cNvGraphicFramePr>
            <a:graphicFrameLocks noGrp="1"/>
          </p:cNvGraphicFramePr>
          <p:nvPr>
            <p:extLst>
              <p:ext uri="{D42A27DB-BD31-4B8C-83A1-F6EECF244321}">
                <p14:modId xmlns:p14="http://schemas.microsoft.com/office/powerpoint/2010/main" val="2329789980"/>
              </p:ext>
            </p:extLst>
          </p:nvPr>
        </p:nvGraphicFramePr>
        <p:xfrm>
          <a:off x="596898" y="2420885"/>
          <a:ext cx="4356100" cy="3830518"/>
        </p:xfrm>
        <a:graphic>
          <a:graphicData uri="http://schemas.openxmlformats.org/drawingml/2006/table">
            <a:tbl>
              <a:tblPr>
                <a:tableStyleId>{5C22544A-7EE6-4342-B048-85BDC9FD1C3A}</a:tableStyleId>
              </a:tblPr>
              <a:tblGrid>
                <a:gridCol w="594014">
                  <a:extLst>
                    <a:ext uri="{9D8B030D-6E8A-4147-A177-3AD203B41FA5}">
                      <a16:colId xmlns:a16="http://schemas.microsoft.com/office/drawing/2014/main" val="2927134266"/>
                    </a:ext>
                  </a:extLst>
                </a:gridCol>
                <a:gridCol w="396009">
                  <a:extLst>
                    <a:ext uri="{9D8B030D-6E8A-4147-A177-3AD203B41FA5}">
                      <a16:colId xmlns:a16="http://schemas.microsoft.com/office/drawing/2014/main" val="453876193"/>
                    </a:ext>
                  </a:extLst>
                </a:gridCol>
                <a:gridCol w="396009">
                  <a:extLst>
                    <a:ext uri="{9D8B030D-6E8A-4147-A177-3AD203B41FA5}">
                      <a16:colId xmlns:a16="http://schemas.microsoft.com/office/drawing/2014/main" val="2789042025"/>
                    </a:ext>
                  </a:extLst>
                </a:gridCol>
                <a:gridCol w="396009">
                  <a:extLst>
                    <a:ext uri="{9D8B030D-6E8A-4147-A177-3AD203B41FA5}">
                      <a16:colId xmlns:a16="http://schemas.microsoft.com/office/drawing/2014/main" val="2907208444"/>
                    </a:ext>
                  </a:extLst>
                </a:gridCol>
                <a:gridCol w="396009">
                  <a:extLst>
                    <a:ext uri="{9D8B030D-6E8A-4147-A177-3AD203B41FA5}">
                      <a16:colId xmlns:a16="http://schemas.microsoft.com/office/drawing/2014/main" val="3081939206"/>
                    </a:ext>
                  </a:extLst>
                </a:gridCol>
                <a:gridCol w="594014">
                  <a:extLst>
                    <a:ext uri="{9D8B030D-6E8A-4147-A177-3AD203B41FA5}">
                      <a16:colId xmlns:a16="http://schemas.microsoft.com/office/drawing/2014/main" val="1450718973"/>
                    </a:ext>
                  </a:extLst>
                </a:gridCol>
                <a:gridCol w="396009">
                  <a:extLst>
                    <a:ext uri="{9D8B030D-6E8A-4147-A177-3AD203B41FA5}">
                      <a16:colId xmlns:a16="http://schemas.microsoft.com/office/drawing/2014/main" val="642142050"/>
                    </a:ext>
                  </a:extLst>
                </a:gridCol>
                <a:gridCol w="396009">
                  <a:extLst>
                    <a:ext uri="{9D8B030D-6E8A-4147-A177-3AD203B41FA5}">
                      <a16:colId xmlns:a16="http://schemas.microsoft.com/office/drawing/2014/main" val="4167298753"/>
                    </a:ext>
                  </a:extLst>
                </a:gridCol>
                <a:gridCol w="396009">
                  <a:extLst>
                    <a:ext uri="{9D8B030D-6E8A-4147-A177-3AD203B41FA5}">
                      <a16:colId xmlns:a16="http://schemas.microsoft.com/office/drawing/2014/main" val="3525219377"/>
                    </a:ext>
                  </a:extLst>
                </a:gridCol>
                <a:gridCol w="396009">
                  <a:extLst>
                    <a:ext uri="{9D8B030D-6E8A-4147-A177-3AD203B41FA5}">
                      <a16:colId xmlns:a16="http://schemas.microsoft.com/office/drawing/2014/main" val="2853023059"/>
                    </a:ext>
                  </a:extLst>
                </a:gridCol>
              </a:tblGrid>
              <a:tr h="338223">
                <a:tc rowSpan="2">
                  <a:txBody>
                    <a:bodyPr/>
                    <a:lstStyle/>
                    <a:p>
                      <a:pPr algn="ctr" fontAlgn="ctr"/>
                      <a:r>
                        <a:rPr lang="ko-KR" altLang="en-US" sz="1000" b="0" i="0" u="none" strike="noStrike" dirty="0">
                          <a:solidFill>
                            <a:schemeClr val="bg1"/>
                          </a:solidFill>
                          <a:effectLst/>
                          <a:latin typeface="+mn-ea"/>
                          <a:ea typeface="+mn-ea"/>
                        </a:rPr>
                        <a:t>직종</a:t>
                      </a: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선정 </a:t>
                      </a:r>
                      <a:r>
                        <a:rPr lang="ko-KR" altLang="en-US" sz="1000" u="none" strike="noStrike" dirty="0" err="1">
                          <a:solidFill>
                            <a:schemeClr val="bg1"/>
                          </a:solidFill>
                          <a:effectLst/>
                          <a:latin typeface="+mn-ea"/>
                          <a:ea typeface="+mn-ea"/>
                        </a:rPr>
                        <a:t>세분류</a:t>
                      </a:r>
                      <a:r>
                        <a:rPr lang="en-US" altLang="ko-KR" sz="1000" u="none" strike="noStrike" dirty="0">
                          <a:solidFill>
                            <a:schemeClr val="bg1"/>
                          </a:solidFill>
                          <a:effectLst/>
                          <a:latin typeface="+mn-ea"/>
                          <a:ea typeface="+mn-ea"/>
                        </a:rPr>
                        <a:t>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선정 세분류의 능력단위</a:t>
                      </a:r>
                      <a:endParaRPr lang="en-US" altLang="ko-KR" sz="10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rowSpan="2">
                  <a:txBody>
                    <a:bodyPr/>
                    <a:lstStyle/>
                    <a:p>
                      <a:pPr algn="ctr" fontAlgn="ctr"/>
                      <a:r>
                        <a:rPr lang="ko-KR" altLang="en-US" sz="1000" b="0" i="0" u="none" strike="noStrike" dirty="0">
                          <a:solidFill>
                            <a:schemeClr val="bg1"/>
                          </a:solidFill>
                          <a:effectLst/>
                          <a:latin typeface="+mn-ea"/>
                          <a:ea typeface="+mn-ea"/>
                        </a:rPr>
                        <a:t>직종</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선정 </a:t>
                      </a:r>
                      <a:r>
                        <a:rPr lang="ko-KR" altLang="en-US" sz="1000" u="none" strike="noStrike" dirty="0" err="1">
                          <a:solidFill>
                            <a:schemeClr val="bg1"/>
                          </a:solidFill>
                          <a:effectLst/>
                          <a:latin typeface="+mn-ea"/>
                          <a:ea typeface="+mn-ea"/>
                        </a:rPr>
                        <a:t>세분류</a:t>
                      </a:r>
                      <a:r>
                        <a:rPr lang="en-US" altLang="ko-KR" sz="1000" u="none" strike="noStrike" dirty="0">
                          <a:solidFill>
                            <a:schemeClr val="bg1"/>
                          </a:solidFill>
                          <a:effectLst/>
                          <a:latin typeface="+mn-ea"/>
                          <a:ea typeface="+mn-ea"/>
                        </a:rPr>
                        <a:t>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선정 세분류의 능력단위</a:t>
                      </a:r>
                      <a:endParaRPr lang="en-US" altLang="ko-KR" sz="10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extLst>
                  <a:ext uri="{0D108BD9-81ED-4DB2-BD59-A6C34878D82A}">
                    <a16:rowId xmlns:a16="http://schemas.microsoft.com/office/drawing/2014/main" val="3627044472"/>
                  </a:ext>
                </a:extLst>
              </a:tr>
              <a:tr h="225482">
                <a:tc v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수</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비율</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수</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비율</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v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수</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비율</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수</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1000" b="0" i="0" u="none" strike="noStrike" dirty="0">
                          <a:solidFill>
                            <a:schemeClr val="bg1"/>
                          </a:solidFill>
                          <a:effectLst/>
                          <a:latin typeface="+mn-ea"/>
                          <a:ea typeface="+mn-ea"/>
                        </a:rPr>
                        <a:t>비율</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4092088754"/>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인공지능</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5.2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59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4</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err="1">
                          <a:solidFill>
                            <a:srgbClr val="00B0F0"/>
                          </a:solidFill>
                          <a:effectLst/>
                          <a:latin typeface="+mn-ea"/>
                          <a:ea typeface="+mn-ea"/>
                          <a:cs typeface="+mn-cs"/>
                        </a:rPr>
                        <a:t>에코업</a:t>
                      </a:r>
                      <a:endParaRPr lang="ko-KR" altLang="en-US" sz="1000" u="none" strike="noStrike" kern="1200" dirty="0">
                        <a:solidFill>
                          <a:srgbClr val="00B0F0"/>
                        </a:solidFill>
                        <a:effectLst/>
                        <a:latin typeface="+mn-ea"/>
                        <a:ea typeface="+mn-ea"/>
                        <a:cs typeface="+mn-cs"/>
                      </a:endParaRP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22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19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261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17.9</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extLst>
                  <a:ext uri="{0D108BD9-81ED-4DB2-BD59-A6C34878D82A}">
                    <a16:rowId xmlns:a16="http://schemas.microsoft.com/office/drawing/2014/main" val="4097235903"/>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사물인터넷</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2.9</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950" u="none" strike="noStrike" kern="1200" spc="-100" baseline="0" dirty="0">
                          <a:solidFill>
                            <a:schemeClr val="tx1"/>
                          </a:solidFill>
                          <a:effectLst/>
                          <a:latin typeface="+mn-ea"/>
                          <a:ea typeface="+mn-ea"/>
                          <a:cs typeface="+mn-cs"/>
                        </a:rPr>
                        <a:t>신재생에너지</a:t>
                      </a:r>
                    </a:p>
                  </a:txBody>
                  <a:tcPr marL="0" marR="0" marT="0"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75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5.1</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9091222"/>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메타버스</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2.4</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클라우드</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2.6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1.9</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5109579"/>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일반 </a:t>
                      </a:r>
                      <a:r>
                        <a:rPr lang="en-US" sz="1000" u="none" strike="noStrike" kern="1200" dirty="0">
                          <a:solidFill>
                            <a:schemeClr val="tx1"/>
                          </a:solidFill>
                          <a:effectLst/>
                          <a:latin typeface="+mn-ea"/>
                          <a:ea typeface="+mn-ea"/>
                          <a:cs typeface="+mn-cs"/>
                        </a:rPr>
                        <a:t>S/W</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5.2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101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6.9</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sz="1000" u="none" strike="noStrike" kern="1200">
                          <a:solidFill>
                            <a:schemeClr val="tx1"/>
                          </a:solidFill>
                          <a:effectLst/>
                          <a:latin typeface="+mn-ea"/>
                          <a:ea typeface="+mn-ea"/>
                          <a:cs typeface="+mn-cs"/>
                        </a:rPr>
                        <a:t>5G·6G</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5.2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4.7</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6783108"/>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블록체인</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1.6</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a:solidFill>
                            <a:schemeClr val="tx1"/>
                          </a:solidFill>
                          <a:effectLst/>
                          <a:latin typeface="+mn-ea"/>
                          <a:ea typeface="+mn-ea"/>
                          <a:cs typeface="+mn-cs"/>
                        </a:rPr>
                        <a:t>이차전지</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0.9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0.4</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2951344"/>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빅데이터</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2.3</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디스플레이</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8588169"/>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사이버 보안</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9.5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89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6.1</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a:solidFill>
                            <a:schemeClr val="tx1"/>
                          </a:solidFill>
                          <a:effectLst/>
                          <a:latin typeface="+mn-ea"/>
                          <a:ea typeface="+mn-ea"/>
                          <a:cs typeface="+mn-cs"/>
                        </a:rPr>
                        <a:t>나노</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0.9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1</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5035409"/>
                  </a:ext>
                </a:extLst>
              </a:tr>
              <a:tr h="296983">
                <a:tc>
                  <a:txBody>
                    <a:bodyPr/>
                    <a:lstStyle/>
                    <a:p>
                      <a:pPr marL="0" algn="ctr" defTabSz="914400" rtl="0" eaLnBrk="1" fontAlgn="ctr" latinLnBrk="1" hangingPunct="1">
                        <a:buNone/>
                      </a:pPr>
                      <a:r>
                        <a:rPr lang="en-US" sz="1000" u="none" strike="noStrike" kern="1200" dirty="0">
                          <a:solidFill>
                            <a:schemeClr val="tx1"/>
                          </a:solidFill>
                          <a:effectLst/>
                          <a:latin typeface="+mn-ea"/>
                          <a:ea typeface="+mn-ea"/>
                          <a:cs typeface="+mn-cs"/>
                        </a:rPr>
                        <a:t>3D </a:t>
                      </a:r>
                      <a:r>
                        <a:rPr lang="ko-KR" altLang="en-US" sz="1000" u="none" strike="noStrike" kern="1200" dirty="0">
                          <a:solidFill>
                            <a:schemeClr val="tx1"/>
                          </a:solidFill>
                          <a:effectLst/>
                          <a:latin typeface="+mn-ea"/>
                          <a:ea typeface="+mn-ea"/>
                          <a:cs typeface="+mn-cs"/>
                        </a:rPr>
                        <a:t>프린팅</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0.9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1.2</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로봇</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74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5.1</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7967497"/>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첨단소재</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8</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err="1">
                          <a:solidFill>
                            <a:srgbClr val="00B0F0"/>
                          </a:solidFill>
                          <a:effectLst/>
                          <a:latin typeface="+mn-ea"/>
                          <a:ea typeface="+mn-ea"/>
                          <a:cs typeface="+mn-cs"/>
                        </a:rPr>
                        <a:t>바이오헬스</a:t>
                      </a:r>
                      <a:endParaRPr lang="ko-KR" altLang="en-US" sz="1000" u="none" strike="noStrike" kern="1200" dirty="0">
                        <a:solidFill>
                          <a:srgbClr val="00B0F0"/>
                        </a:solidFill>
                        <a:effectLst/>
                        <a:latin typeface="+mn-ea"/>
                        <a:ea typeface="+mn-ea"/>
                        <a:cs typeface="+mn-cs"/>
                      </a:endParaRP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a:solidFill>
                            <a:srgbClr val="00B0F0"/>
                          </a:solidFill>
                          <a:effectLst/>
                          <a:latin typeface="+mj-ea"/>
                          <a:ea typeface="+mj-ea"/>
                          <a:cs typeface="+mn-cs"/>
                        </a:rPr>
                        <a:t>13.8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202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tc>
                  <a:txBody>
                    <a:bodyPr/>
                    <a:lstStyle/>
                    <a:p>
                      <a:pPr marL="0" algn="ctr" defTabSz="914400" rtl="0" eaLnBrk="1" fontAlgn="ctr" latinLnBrk="1" hangingPunct="1">
                        <a:buNone/>
                      </a:pPr>
                      <a:r>
                        <a:rPr lang="en-US" altLang="ko-KR" sz="1000" b="0" i="0" u="none" strike="noStrike" kern="1200" spc="-50" baseline="0" dirty="0">
                          <a:solidFill>
                            <a:srgbClr val="00B0F0"/>
                          </a:solidFill>
                          <a:effectLst/>
                          <a:latin typeface="+mj-ea"/>
                          <a:ea typeface="+mj-ea"/>
                          <a:cs typeface="+mn-cs"/>
                        </a:rPr>
                        <a:t>13.8</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BEEF4"/>
                    </a:solidFill>
                  </a:tcPr>
                </a:tc>
                <a:extLst>
                  <a:ext uri="{0D108BD9-81ED-4DB2-BD59-A6C34878D82A}">
                    <a16:rowId xmlns:a16="http://schemas.microsoft.com/office/drawing/2014/main" val="3855956108"/>
                  </a:ext>
                </a:extLst>
              </a:tr>
              <a:tr h="296983">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반도체</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136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9.3</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수소</a:t>
                      </a:r>
                    </a:p>
                  </a:txBody>
                  <a:tcPr marL="9525" marR="9525" marT="9525"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19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1.3</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417639"/>
                  </a:ext>
                </a:extLst>
              </a:tr>
              <a:tr h="296983">
                <a:tc>
                  <a:txBody>
                    <a:bodyPr/>
                    <a:lstStyle/>
                    <a:p>
                      <a:pPr marL="0" algn="ctr" defTabSz="914400" rtl="0" eaLnBrk="1" fontAlgn="ctr" latinLnBrk="1" hangingPunct="1">
                        <a:buNone/>
                      </a:pPr>
                      <a:r>
                        <a:rPr lang="ko-KR" altLang="en-US" sz="1000" u="none" strike="noStrike" kern="1200" dirty="0" err="1">
                          <a:solidFill>
                            <a:schemeClr val="tx1"/>
                          </a:solidFill>
                          <a:effectLst/>
                          <a:latin typeface="+mn-ea"/>
                          <a:ea typeface="+mn-ea"/>
                          <a:cs typeface="+mn-cs"/>
                        </a:rPr>
                        <a:t>드론</a:t>
                      </a:r>
                      <a:endParaRPr lang="ko-KR" altLang="en-US" sz="1000" u="none" strike="noStrike" kern="1200" dirty="0">
                        <a:solidFill>
                          <a:schemeClr val="tx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a:solidFill>
                            <a:srgbClr val="000000"/>
                          </a:solidFill>
                          <a:effectLst/>
                          <a:latin typeface="+mj-ea"/>
                          <a:ea typeface="+mj-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2.6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31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spc="-50" baseline="0" dirty="0">
                          <a:solidFill>
                            <a:srgbClr val="000000"/>
                          </a:solidFill>
                          <a:effectLst/>
                          <a:latin typeface="+mj-ea"/>
                          <a:ea typeface="+mj-ea"/>
                          <a:cs typeface="+mn-cs"/>
                        </a:rPr>
                        <a:t>2.1</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ko-KR" altLang="en-US" sz="1000" u="none" strike="noStrike" kern="1200" dirty="0">
                          <a:solidFill>
                            <a:schemeClr val="tx1"/>
                          </a:solidFill>
                          <a:effectLst/>
                          <a:latin typeface="+mn-ea"/>
                          <a:ea typeface="+mn-ea"/>
                          <a:cs typeface="+mn-cs"/>
                        </a:rPr>
                        <a:t>계</a:t>
                      </a:r>
                    </a:p>
                  </a:txBody>
                  <a:tcPr marL="0" marR="0" marT="0" marB="0"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u="none" strike="noStrike" kern="1200" dirty="0">
                          <a:solidFill>
                            <a:schemeClr val="tx1"/>
                          </a:solidFill>
                          <a:effectLst/>
                          <a:latin typeface="+mn-ea"/>
                          <a:ea typeface="+mn-ea"/>
                          <a:cs typeface="+mn-cs"/>
                        </a:rPr>
                        <a:t>116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u="none" strike="noStrike" kern="1200" dirty="0">
                          <a:solidFill>
                            <a:schemeClr val="tx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u="none" strike="noStrike" kern="1200" dirty="0">
                          <a:solidFill>
                            <a:schemeClr val="tx1"/>
                          </a:solidFill>
                          <a:effectLst/>
                          <a:latin typeface="+mn-ea"/>
                          <a:ea typeface="+mn-ea"/>
                          <a:cs typeface="+mn-cs"/>
                        </a:rPr>
                        <a:t>1,459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u="none" strike="noStrike" kern="1200" dirty="0">
                          <a:solidFill>
                            <a:schemeClr val="tx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60453290"/>
                  </a:ext>
                </a:extLst>
              </a:tr>
            </a:tbl>
          </a:graphicData>
        </a:graphic>
      </p:graphicFrame>
      <p:sp>
        <p:nvSpPr>
          <p:cNvPr id="22" name="TextBox 21">
            <a:extLst>
              <a:ext uri="{FF2B5EF4-FFF2-40B4-BE49-F238E27FC236}">
                <a16:creationId xmlns:a16="http://schemas.microsoft.com/office/drawing/2014/main" id="{6F5894DB-4D08-58A6-9E29-E6169C7E38AA}"/>
              </a:ext>
            </a:extLst>
          </p:cNvPr>
          <p:cNvSpPr txBox="1"/>
          <p:nvPr/>
        </p:nvSpPr>
        <p:spPr>
          <a:xfrm>
            <a:off x="524952" y="6273316"/>
            <a:ext cx="4212024" cy="215444"/>
          </a:xfrm>
          <a:prstGeom prst="rect">
            <a:avLst/>
          </a:prstGeom>
          <a:noFill/>
        </p:spPr>
        <p:txBody>
          <a:bodyPr wrap="square" rtlCol="0">
            <a:spAutoFit/>
          </a:bodyPr>
          <a:lstStyle/>
          <a:p>
            <a:pPr algn="l">
              <a:buNone/>
            </a:pPr>
            <a:r>
              <a:rPr lang="ko-KR" altLang="en-US" sz="800" dirty="0">
                <a:latin typeface="a고딕14" panose="02020600000000000000" pitchFamily="18" charset="-127"/>
                <a:ea typeface="a고딕14" panose="02020600000000000000" pitchFamily="18" charset="-127"/>
              </a:rPr>
              <a:t>* </a:t>
            </a:r>
            <a:r>
              <a:rPr lang="en-US" altLang="ko-KR" sz="800" dirty="0">
                <a:latin typeface="a고딕14" panose="02020600000000000000" pitchFamily="18" charset="-127"/>
                <a:ea typeface="a고딕14" panose="02020600000000000000" pitchFamily="18" charset="-127"/>
              </a:rPr>
              <a:t>10%</a:t>
            </a:r>
            <a:r>
              <a:rPr lang="ko-KR" altLang="en-US" sz="800" dirty="0">
                <a:latin typeface="a고딕14" panose="02020600000000000000" pitchFamily="18" charset="-127"/>
                <a:ea typeface="a고딕14" panose="02020600000000000000" pitchFamily="18" charset="-127"/>
              </a:rPr>
              <a:t> 이상 세분류가 포함되는 직종에 대해 </a:t>
            </a:r>
            <a:r>
              <a:rPr lang="ko-KR" altLang="en-US" sz="800" dirty="0" err="1">
                <a:latin typeface="a고딕14" panose="02020600000000000000" pitchFamily="18" charset="-127"/>
                <a:ea typeface="a고딕14" panose="02020600000000000000" pitchFamily="18" charset="-127"/>
              </a:rPr>
              <a:t>음영표기함</a:t>
            </a:r>
            <a:endParaRPr lang="ko-KR" altLang="en-US" sz="800" dirty="0">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73932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04837-62BD-0750-72E3-E6C1F57F216A}"/>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E213917-0571-8E40-5219-2E409725DE50}"/>
              </a:ext>
            </a:extLst>
          </p:cNvPr>
          <p:cNvSpPr>
            <a:spLocks noGrp="1"/>
          </p:cNvSpPr>
          <p:nvPr>
            <p:ph type="body" sz="quarter" idx="12"/>
          </p:nvPr>
        </p:nvSpPr>
        <p:spPr/>
        <p:txBody>
          <a:bodyPr/>
          <a:lstStyle/>
          <a:p>
            <a:pPr latinLnBrk="0"/>
            <a:r>
              <a:rPr lang="en-US" altLang="ko-KR" sz="1800" dirty="0">
                <a:latin typeface="+mj-ea"/>
                <a:ea typeface="+mj-ea"/>
              </a:rPr>
              <a:t>4</a:t>
            </a:r>
            <a:r>
              <a:rPr lang="ko-KR" altLang="en-US" sz="1800" dirty="0">
                <a:latin typeface="+mj-ea"/>
                <a:ea typeface="+mj-ea"/>
              </a:rPr>
              <a:t>단계 절차를 거쳐 이러닝 및 가상훈련 콘텐츠 개발에 적합한 </a:t>
            </a:r>
            <a:r>
              <a:rPr lang="en-US" altLang="ko-KR" sz="1800" dirty="0">
                <a:latin typeface="+mj-ea"/>
                <a:ea typeface="+mj-ea"/>
              </a:rPr>
              <a:t>NCS </a:t>
            </a:r>
            <a:r>
              <a:rPr lang="ko-KR" altLang="en-US" sz="1800" dirty="0">
                <a:latin typeface="+mj-ea"/>
                <a:ea typeface="+mj-ea"/>
              </a:rPr>
              <a:t>능력단위를 도출하고</a:t>
            </a:r>
            <a:r>
              <a:rPr lang="en-US" altLang="ko-KR" sz="1800" dirty="0">
                <a:latin typeface="+mj-ea"/>
                <a:ea typeface="+mj-ea"/>
              </a:rPr>
              <a:t>, 10</a:t>
            </a:r>
            <a:r>
              <a:rPr lang="ko-KR" altLang="en-US" sz="1800" dirty="0">
                <a:latin typeface="+mj-ea"/>
                <a:ea typeface="+mj-ea"/>
              </a:rPr>
              <a:t>대 분야별로 온평원이 개발 가능한 콘텐츠 수를 체계적으로 산정하고자 적합성 평가를 실시함</a:t>
            </a:r>
          </a:p>
        </p:txBody>
      </p:sp>
      <p:sp>
        <p:nvSpPr>
          <p:cNvPr id="5" name="텍스트 개체 틀 4">
            <a:extLst>
              <a:ext uri="{FF2B5EF4-FFF2-40B4-BE49-F238E27FC236}">
                <a16:creationId xmlns:a16="http://schemas.microsoft.com/office/drawing/2014/main" id="{6EA8DDFC-5947-FFDF-6AC4-13523E631C68}"/>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AE9D1C68-0690-8C51-9E3F-087A55D33707}"/>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22F76FC7-5B5B-3430-2663-E397A5F7FD4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0C3FA9AC-8FA0-A0DB-D810-AC72F16CFCF2}"/>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286E2A5B-F3C2-AFF3-9AA1-5A05DA82F530}"/>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이러닝</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가상훈련 콘텐츠 개발에 적합한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능력단위 선별 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BBBE5971-9666-1101-8941-A23EBBA967B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39" name="그룹 38">
            <a:extLst>
              <a:ext uri="{FF2B5EF4-FFF2-40B4-BE49-F238E27FC236}">
                <a16:creationId xmlns:a16="http://schemas.microsoft.com/office/drawing/2014/main" id="{D0827284-0BC9-7D77-1B05-F9E4196A67C9}"/>
              </a:ext>
            </a:extLst>
          </p:cNvPr>
          <p:cNvGrpSpPr/>
          <p:nvPr/>
        </p:nvGrpSpPr>
        <p:grpSpPr>
          <a:xfrm>
            <a:off x="2321507" y="3613061"/>
            <a:ext cx="7024104" cy="704676"/>
            <a:chOff x="2321507" y="4364632"/>
            <a:chExt cx="7024104" cy="704676"/>
          </a:xfrm>
        </p:grpSpPr>
        <p:sp>
          <p:nvSpPr>
            <p:cNvPr id="19" name="오각형 56">
              <a:extLst>
                <a:ext uri="{FF2B5EF4-FFF2-40B4-BE49-F238E27FC236}">
                  <a16:creationId xmlns:a16="http://schemas.microsoft.com/office/drawing/2014/main" id="{3FDA4A06-6F70-3E77-ED78-FB3426A480D1}"/>
                </a:ext>
              </a:extLst>
            </p:cNvPr>
            <p:cNvSpPr/>
            <p:nvPr/>
          </p:nvSpPr>
          <p:spPr>
            <a:xfrm>
              <a:off x="2340040" y="4377778"/>
              <a:ext cx="1835358" cy="691413"/>
            </a:xfrm>
            <a:prstGeom prst="homePlate">
              <a:avLst>
                <a:gd name="adj" fmla="val 21438"/>
              </a:avLst>
            </a:prstGeom>
            <a:solidFill>
              <a:srgbClr val="003F56"/>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17" name="갈매기형 수장 54">
              <a:extLst>
                <a:ext uri="{FF2B5EF4-FFF2-40B4-BE49-F238E27FC236}">
                  <a16:creationId xmlns:a16="http://schemas.microsoft.com/office/drawing/2014/main" id="{4AA9BA9F-B0F8-D61B-F3B4-C319E8AE010C}"/>
                </a:ext>
              </a:extLst>
            </p:cNvPr>
            <p:cNvSpPr/>
            <p:nvPr/>
          </p:nvSpPr>
          <p:spPr>
            <a:xfrm>
              <a:off x="3885971" y="4377587"/>
              <a:ext cx="2082751" cy="691720"/>
            </a:xfrm>
            <a:prstGeom prst="chevron">
              <a:avLst>
                <a:gd name="adj" fmla="val 18166"/>
              </a:avLst>
            </a:prstGeom>
            <a:solidFill>
              <a:srgbClr val="005E80"/>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prstClr val="black"/>
                </a:solidFill>
                <a:latin typeface="Arial Narrow" panose="020B0606020202030204" pitchFamily="34" charset="0"/>
                <a:ea typeface="a고딕14" panose="02020600000000000000" pitchFamily="18" charset="-127"/>
              </a:endParaRPr>
            </a:p>
          </p:txBody>
        </p:sp>
        <p:sp>
          <p:nvSpPr>
            <p:cNvPr id="15" name="갈매기형 수장 49">
              <a:extLst>
                <a:ext uri="{FF2B5EF4-FFF2-40B4-BE49-F238E27FC236}">
                  <a16:creationId xmlns:a16="http://schemas.microsoft.com/office/drawing/2014/main" id="{7EE42D33-DDB9-6442-79DA-81F471D2664B}"/>
                </a:ext>
              </a:extLst>
            </p:cNvPr>
            <p:cNvSpPr/>
            <p:nvPr/>
          </p:nvSpPr>
          <p:spPr>
            <a:xfrm>
              <a:off x="7295234" y="4377776"/>
              <a:ext cx="2050377" cy="691531"/>
            </a:xfrm>
            <a:prstGeom prst="chevron">
              <a:avLst>
                <a:gd name="adj" fmla="val 16289"/>
              </a:avLst>
            </a:prstGeom>
            <a:solidFill>
              <a:srgbClr val="D5F4FF"/>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srgbClr val="005E80"/>
                </a:solidFill>
                <a:latin typeface="Arial Narrow" panose="020B0606020202030204" pitchFamily="34" charset="0"/>
                <a:ea typeface="a고딕14" panose="02020600000000000000" pitchFamily="18" charset="-127"/>
              </a:endParaRPr>
            </a:p>
          </p:txBody>
        </p:sp>
        <p:sp>
          <p:nvSpPr>
            <p:cNvPr id="13" name="갈매기형 수장 43">
              <a:extLst>
                <a:ext uri="{FF2B5EF4-FFF2-40B4-BE49-F238E27FC236}">
                  <a16:creationId xmlns:a16="http://schemas.microsoft.com/office/drawing/2014/main" id="{16AD5B3E-61D7-F7FB-C7E0-1235B069EA87}"/>
                </a:ext>
              </a:extLst>
            </p:cNvPr>
            <p:cNvSpPr/>
            <p:nvPr/>
          </p:nvSpPr>
          <p:spPr>
            <a:xfrm>
              <a:off x="5679294" y="4377589"/>
              <a:ext cx="1888462" cy="691719"/>
            </a:xfrm>
            <a:prstGeom prst="chevron">
              <a:avLst>
                <a:gd name="adj" fmla="val 18842"/>
              </a:avLst>
            </a:prstGeom>
            <a:solidFill>
              <a:srgbClr val="93CDDD"/>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prstClr val="black"/>
                </a:solidFill>
                <a:latin typeface="Arial Narrow" panose="020B0606020202030204" pitchFamily="34" charset="0"/>
                <a:ea typeface="a고딕14" panose="02020600000000000000" pitchFamily="18" charset="-127"/>
              </a:endParaRPr>
            </a:p>
          </p:txBody>
        </p:sp>
        <p:sp>
          <p:nvSpPr>
            <p:cNvPr id="24" name="TextBox 23">
              <a:extLst>
                <a:ext uri="{FF2B5EF4-FFF2-40B4-BE49-F238E27FC236}">
                  <a16:creationId xmlns:a16="http://schemas.microsoft.com/office/drawing/2014/main" id="{1CCF942D-2C30-ED34-B7F2-DA9278C49C5E}"/>
                </a:ext>
              </a:extLst>
            </p:cNvPr>
            <p:cNvSpPr txBox="1"/>
            <p:nvPr/>
          </p:nvSpPr>
          <p:spPr>
            <a:xfrm>
              <a:off x="2435540" y="4597782"/>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평가 지표 </a:t>
              </a:r>
              <a:r>
                <a:rPr lang="en-US" altLang="ko-KR" dirty="0">
                  <a:solidFill>
                    <a:schemeClr val="bg1"/>
                  </a:solidFill>
                  <a:latin typeface="Arial Narrow" panose="020B0606020202030204" pitchFamily="34" charset="0"/>
                  <a:ea typeface="a고딕14" panose="02020600000000000000" pitchFamily="18" charset="-127"/>
                </a:rPr>
                <a:t>Pool </a:t>
              </a:r>
              <a:r>
                <a:rPr lang="ko-KR" altLang="en-US" dirty="0">
                  <a:solidFill>
                    <a:schemeClr val="bg1"/>
                  </a:solidFill>
                  <a:latin typeface="Arial Narrow" panose="020B0606020202030204" pitchFamily="34" charset="0"/>
                  <a:ea typeface="a고딕14" panose="02020600000000000000" pitchFamily="18" charset="-127"/>
                </a:rPr>
                <a:t>제작</a:t>
              </a:r>
            </a:p>
          </p:txBody>
        </p:sp>
        <p:sp>
          <p:nvSpPr>
            <p:cNvPr id="25" name="TextBox 24">
              <a:extLst>
                <a:ext uri="{FF2B5EF4-FFF2-40B4-BE49-F238E27FC236}">
                  <a16:creationId xmlns:a16="http://schemas.microsoft.com/office/drawing/2014/main" id="{3E684174-2B9D-13EF-6DEF-5988BE2BD442}"/>
                </a:ext>
              </a:extLst>
            </p:cNvPr>
            <p:cNvSpPr txBox="1"/>
            <p:nvPr/>
          </p:nvSpPr>
          <p:spPr>
            <a:xfrm>
              <a:off x="4239878" y="4597782"/>
              <a:ext cx="1182045" cy="265756"/>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전문가 자문회의</a:t>
              </a:r>
            </a:p>
          </p:txBody>
        </p:sp>
        <p:sp>
          <p:nvSpPr>
            <p:cNvPr id="26" name="TextBox 25">
              <a:extLst>
                <a:ext uri="{FF2B5EF4-FFF2-40B4-BE49-F238E27FC236}">
                  <a16:creationId xmlns:a16="http://schemas.microsoft.com/office/drawing/2014/main" id="{9E0FDAB0-5C48-323F-5B74-F61426BDB9A1}"/>
                </a:ext>
              </a:extLst>
            </p:cNvPr>
            <p:cNvSpPr txBox="1"/>
            <p:nvPr/>
          </p:nvSpPr>
          <p:spPr>
            <a:xfrm>
              <a:off x="5769228" y="4597782"/>
              <a:ext cx="1694508" cy="461665"/>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연구진 및 </a:t>
              </a:r>
              <a:r>
                <a:rPr lang="ko-KR" altLang="en-US" dirty="0" err="1">
                  <a:solidFill>
                    <a:schemeClr val="bg1"/>
                  </a:solidFill>
                  <a:latin typeface="Arial Narrow" panose="020B0606020202030204" pitchFamily="34" charset="0"/>
                  <a:ea typeface="a고딕14" panose="02020600000000000000" pitchFamily="18" charset="-127"/>
                </a:rPr>
                <a:t>온평원</a:t>
              </a:r>
              <a:r>
                <a:rPr lang="ko-KR" altLang="en-US" dirty="0">
                  <a:solidFill>
                    <a:schemeClr val="bg1"/>
                  </a:solidFill>
                  <a:latin typeface="Arial Narrow" panose="020B0606020202030204" pitchFamily="34" charset="0"/>
                  <a:ea typeface="a고딕14" panose="02020600000000000000" pitchFamily="18" charset="-127"/>
                </a:rPr>
                <a:t> 검토를 통한 평가지표 최종 확정</a:t>
              </a:r>
            </a:p>
          </p:txBody>
        </p:sp>
        <p:sp>
          <p:nvSpPr>
            <p:cNvPr id="27" name="TextBox 26">
              <a:extLst>
                <a:ext uri="{FF2B5EF4-FFF2-40B4-BE49-F238E27FC236}">
                  <a16:creationId xmlns:a16="http://schemas.microsoft.com/office/drawing/2014/main" id="{71EB6B06-7303-3722-7711-93FB9AA41AB3}"/>
                </a:ext>
              </a:extLst>
            </p:cNvPr>
            <p:cNvSpPr txBox="1"/>
            <p:nvPr/>
          </p:nvSpPr>
          <p:spPr>
            <a:xfrm>
              <a:off x="7803332" y="4597782"/>
              <a:ext cx="1279261" cy="276999"/>
            </a:xfrm>
            <a:prstGeom prst="rect">
              <a:avLst/>
            </a:prstGeom>
            <a:noFill/>
          </p:spPr>
          <p:txBody>
            <a:bodyPr wrap="square" rtlCol="0">
              <a:spAutoFit/>
            </a:bodyPr>
            <a:lstStyle/>
            <a:p>
              <a:pPr latinLnBrk="0">
                <a:buNone/>
              </a:pPr>
              <a:r>
                <a:rPr lang="ko-KR" altLang="en-US" dirty="0">
                  <a:solidFill>
                    <a:srgbClr val="31859C"/>
                  </a:solidFill>
                  <a:latin typeface="Arial Narrow" panose="020B0606020202030204" pitchFamily="34" charset="0"/>
                  <a:ea typeface="a고딕14" panose="02020600000000000000" pitchFamily="18" charset="-127"/>
                </a:rPr>
                <a:t>적합성 평가 실시</a:t>
              </a:r>
            </a:p>
          </p:txBody>
        </p:sp>
        <p:sp>
          <p:nvSpPr>
            <p:cNvPr id="29" name="TextBox 28">
              <a:extLst>
                <a:ext uri="{FF2B5EF4-FFF2-40B4-BE49-F238E27FC236}">
                  <a16:creationId xmlns:a16="http://schemas.microsoft.com/office/drawing/2014/main" id="{CF2480F2-B9C5-34C5-A2AD-38EE1572FEBA}"/>
                </a:ext>
              </a:extLst>
            </p:cNvPr>
            <p:cNvSpPr txBox="1"/>
            <p:nvPr/>
          </p:nvSpPr>
          <p:spPr>
            <a:xfrm>
              <a:off x="2321507"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1</a:t>
              </a:r>
            </a:p>
          </p:txBody>
        </p:sp>
        <p:sp>
          <p:nvSpPr>
            <p:cNvPr id="30" name="TextBox 29">
              <a:extLst>
                <a:ext uri="{FF2B5EF4-FFF2-40B4-BE49-F238E27FC236}">
                  <a16:creationId xmlns:a16="http://schemas.microsoft.com/office/drawing/2014/main" id="{81B2CCEF-F78F-9EA4-1EC6-D6DEB381C4F0}"/>
                </a:ext>
              </a:extLst>
            </p:cNvPr>
            <p:cNvSpPr txBox="1"/>
            <p:nvPr/>
          </p:nvSpPr>
          <p:spPr>
            <a:xfrm>
              <a:off x="3930908"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p>
          </p:txBody>
        </p:sp>
        <p:sp>
          <p:nvSpPr>
            <p:cNvPr id="31" name="TextBox 30">
              <a:extLst>
                <a:ext uri="{FF2B5EF4-FFF2-40B4-BE49-F238E27FC236}">
                  <a16:creationId xmlns:a16="http://schemas.microsoft.com/office/drawing/2014/main" id="{A08FDC4C-5FA2-35D7-BA4D-B7FA53508C20}"/>
                </a:ext>
              </a:extLst>
            </p:cNvPr>
            <p:cNvSpPr txBox="1"/>
            <p:nvPr/>
          </p:nvSpPr>
          <p:spPr>
            <a:xfrm>
              <a:off x="5707135"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3</a:t>
              </a:r>
            </a:p>
          </p:txBody>
        </p:sp>
        <p:sp>
          <p:nvSpPr>
            <p:cNvPr id="32" name="TextBox 31">
              <a:extLst>
                <a:ext uri="{FF2B5EF4-FFF2-40B4-BE49-F238E27FC236}">
                  <a16:creationId xmlns:a16="http://schemas.microsoft.com/office/drawing/2014/main" id="{4C8FC09F-747A-215B-2C16-51703D21AA43}"/>
                </a:ext>
              </a:extLst>
            </p:cNvPr>
            <p:cNvSpPr txBox="1"/>
            <p:nvPr/>
          </p:nvSpPr>
          <p:spPr>
            <a:xfrm>
              <a:off x="7556823"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srgbClr val="31859C"/>
                  </a:solidFill>
                  <a:latin typeface="Arial Narrow" panose="020B0606020202030204" pitchFamily="34" charset="0"/>
                  <a:ea typeface="a고딕14" panose="02020600000000000000" pitchFamily="18" charset="-127"/>
                </a:rPr>
                <a:t>Section </a:t>
              </a:r>
              <a:r>
                <a:rPr lang="en-US" altLang="ko-KR" i="1" kern="0" dirty="0">
                  <a:solidFill>
                    <a:srgbClr val="31859C"/>
                  </a:solidFill>
                  <a:latin typeface="Arial Narrow" panose="020B0606020202030204" pitchFamily="34" charset="0"/>
                  <a:ea typeface="a고딕14" panose="02020600000000000000" pitchFamily="18" charset="-127"/>
                </a:rPr>
                <a:t>4</a:t>
              </a:r>
            </a:p>
          </p:txBody>
        </p:sp>
      </p:grpSp>
      <p:sp>
        <p:nvSpPr>
          <p:cNvPr id="33" name="직사각형 32">
            <a:extLst>
              <a:ext uri="{FF2B5EF4-FFF2-40B4-BE49-F238E27FC236}">
                <a16:creationId xmlns:a16="http://schemas.microsoft.com/office/drawing/2014/main" id="{2E0034DD-4440-B247-301F-711C8BE86141}"/>
              </a:ext>
            </a:extLst>
          </p:cNvPr>
          <p:cNvSpPr/>
          <p:nvPr/>
        </p:nvSpPr>
        <p:spPr>
          <a:xfrm>
            <a:off x="616417" y="2097088"/>
            <a:ext cx="1456263" cy="576064"/>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목적</a:t>
            </a:r>
          </a:p>
        </p:txBody>
      </p:sp>
      <p:sp>
        <p:nvSpPr>
          <p:cNvPr id="35" name="직사각형 34">
            <a:extLst>
              <a:ext uri="{FF2B5EF4-FFF2-40B4-BE49-F238E27FC236}">
                <a16:creationId xmlns:a16="http://schemas.microsoft.com/office/drawing/2014/main" id="{41200C02-414B-4A3F-A840-4D20F54DF66B}"/>
              </a:ext>
            </a:extLst>
          </p:cNvPr>
          <p:cNvSpPr/>
          <p:nvPr/>
        </p:nvSpPr>
        <p:spPr>
          <a:xfrm>
            <a:off x="2321507" y="2097088"/>
            <a:ext cx="7024106" cy="576064"/>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300" dirty="0">
                <a:solidFill>
                  <a:schemeClr val="tx1"/>
                </a:solidFill>
                <a:latin typeface="+mj-ea"/>
                <a:ea typeface="+mj-ea"/>
              </a:rPr>
              <a:t>온평원이 보유한 콘텐츠의 대표 </a:t>
            </a:r>
            <a:r>
              <a:rPr lang="en-US" altLang="ko-KR" sz="1300" dirty="0">
                <a:solidFill>
                  <a:schemeClr val="tx1"/>
                </a:solidFill>
                <a:latin typeface="+mj-ea"/>
                <a:ea typeface="+mj-ea"/>
              </a:rPr>
              <a:t>10</a:t>
            </a:r>
            <a:r>
              <a:rPr lang="ko-KR" altLang="en-US" sz="1300" dirty="0">
                <a:solidFill>
                  <a:schemeClr val="tx1"/>
                </a:solidFill>
                <a:latin typeface="+mj-ea"/>
                <a:ea typeface="+mj-ea"/>
              </a:rPr>
              <a:t>개 분야</a:t>
            </a:r>
            <a:r>
              <a:rPr lang="en-US" altLang="ko-KR" sz="1300" dirty="0">
                <a:solidFill>
                  <a:schemeClr val="tx1"/>
                </a:solidFill>
                <a:latin typeface="+mj-ea"/>
                <a:ea typeface="+mj-ea"/>
              </a:rPr>
              <a:t>(NCS </a:t>
            </a:r>
            <a:r>
              <a:rPr lang="ko-KR" altLang="en-US" sz="1300" dirty="0">
                <a:solidFill>
                  <a:schemeClr val="tx1"/>
                </a:solidFill>
                <a:latin typeface="+mj-ea"/>
                <a:ea typeface="+mj-ea"/>
              </a:rPr>
              <a:t>대분류</a:t>
            </a:r>
            <a:r>
              <a:rPr lang="en-US" altLang="ko-KR" sz="1300" dirty="0">
                <a:solidFill>
                  <a:schemeClr val="tx1"/>
                </a:solidFill>
                <a:latin typeface="+mj-ea"/>
                <a:ea typeface="+mj-ea"/>
              </a:rPr>
              <a:t>)</a:t>
            </a:r>
            <a:r>
              <a:rPr lang="ko-KR" altLang="en-US" sz="1300" dirty="0">
                <a:solidFill>
                  <a:schemeClr val="tx1"/>
                </a:solidFill>
                <a:latin typeface="+mj-ea"/>
                <a:ea typeface="+mj-ea"/>
              </a:rPr>
              <a:t>에 대한 </a:t>
            </a:r>
            <a:br>
              <a:rPr lang="en-US" altLang="ko-KR" sz="1300" dirty="0">
                <a:solidFill>
                  <a:schemeClr val="tx1"/>
                </a:solidFill>
                <a:latin typeface="+mj-ea"/>
                <a:ea typeface="+mj-ea"/>
              </a:rPr>
            </a:br>
            <a:r>
              <a:rPr lang="ko-KR" altLang="en-US" sz="1300" dirty="0">
                <a:solidFill>
                  <a:schemeClr val="tx1"/>
                </a:solidFill>
                <a:latin typeface="+mj-ea"/>
                <a:ea typeface="+mj-ea"/>
              </a:rPr>
              <a:t>전반적인 개발 수요를 파악하기 위한 방안을 모색하는 데 목적이 있음</a:t>
            </a:r>
          </a:p>
        </p:txBody>
      </p:sp>
      <p:sp>
        <p:nvSpPr>
          <p:cNvPr id="36" name="직사각형 35">
            <a:extLst>
              <a:ext uri="{FF2B5EF4-FFF2-40B4-BE49-F238E27FC236}">
                <a16:creationId xmlns:a16="http://schemas.microsoft.com/office/drawing/2014/main" id="{F83A64D6-9A44-DFDA-2D4D-23AED97346E4}"/>
              </a:ext>
            </a:extLst>
          </p:cNvPr>
          <p:cNvSpPr/>
          <p:nvPr/>
        </p:nvSpPr>
        <p:spPr>
          <a:xfrm>
            <a:off x="616417" y="2852936"/>
            <a:ext cx="1456263" cy="576064"/>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범위</a:t>
            </a:r>
          </a:p>
        </p:txBody>
      </p:sp>
      <p:sp>
        <p:nvSpPr>
          <p:cNvPr id="37" name="직사각형 36">
            <a:extLst>
              <a:ext uri="{FF2B5EF4-FFF2-40B4-BE49-F238E27FC236}">
                <a16:creationId xmlns:a16="http://schemas.microsoft.com/office/drawing/2014/main" id="{3AA62A64-8162-86EC-7B9C-DB6F76BBF4A1}"/>
              </a:ext>
            </a:extLst>
          </p:cNvPr>
          <p:cNvSpPr/>
          <p:nvPr/>
        </p:nvSpPr>
        <p:spPr>
          <a:xfrm>
            <a:off x="2321507" y="2852936"/>
            <a:ext cx="7024106" cy="576064"/>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sz="1300" dirty="0">
                <a:solidFill>
                  <a:schemeClr val="tx1"/>
                </a:solidFill>
                <a:latin typeface="+mj-ea"/>
                <a:ea typeface="+mj-ea"/>
              </a:rPr>
              <a:t>2024</a:t>
            </a:r>
            <a:r>
              <a:rPr lang="ko-KR" altLang="en-US" sz="1300" dirty="0">
                <a:solidFill>
                  <a:schemeClr val="tx1"/>
                </a:solidFill>
                <a:latin typeface="+mj-ea"/>
                <a:ea typeface="+mj-ea"/>
              </a:rPr>
              <a:t>년 </a:t>
            </a:r>
            <a:r>
              <a:rPr lang="en-US" altLang="ko-KR" sz="1300" dirty="0">
                <a:solidFill>
                  <a:schemeClr val="tx1"/>
                </a:solidFill>
                <a:latin typeface="+mj-ea"/>
                <a:ea typeface="+mj-ea"/>
              </a:rPr>
              <a:t>12</a:t>
            </a:r>
            <a:r>
              <a:rPr lang="ko-KR" altLang="en-US" sz="1300" dirty="0">
                <a:solidFill>
                  <a:schemeClr val="tx1"/>
                </a:solidFill>
                <a:latin typeface="+mj-ea"/>
                <a:ea typeface="+mj-ea"/>
              </a:rPr>
              <a:t>월 </a:t>
            </a:r>
            <a:r>
              <a:rPr lang="en-US" altLang="ko-KR" sz="1300" dirty="0">
                <a:solidFill>
                  <a:schemeClr val="tx1"/>
                </a:solidFill>
                <a:latin typeface="+mj-ea"/>
                <a:ea typeface="+mj-ea"/>
              </a:rPr>
              <a:t>04</a:t>
            </a:r>
            <a:r>
              <a:rPr lang="ko-KR" altLang="en-US" sz="1300" dirty="0">
                <a:solidFill>
                  <a:schemeClr val="tx1"/>
                </a:solidFill>
                <a:latin typeface="+mj-ea"/>
                <a:ea typeface="+mj-ea"/>
              </a:rPr>
              <a:t>일 기준 </a:t>
            </a:r>
            <a:r>
              <a:rPr lang="en-US" altLang="ko-KR" sz="1300" dirty="0">
                <a:solidFill>
                  <a:schemeClr val="tx1"/>
                </a:solidFill>
                <a:latin typeface="+mj-ea"/>
                <a:ea typeface="+mj-ea"/>
              </a:rPr>
              <a:t>NCS </a:t>
            </a:r>
            <a:r>
              <a:rPr lang="ko-KR" altLang="en-US" sz="1300" dirty="0">
                <a:solidFill>
                  <a:schemeClr val="tx1"/>
                </a:solidFill>
                <a:latin typeface="+mj-ea"/>
                <a:ea typeface="+mj-ea"/>
              </a:rPr>
              <a:t>능력단위 </a:t>
            </a:r>
            <a:r>
              <a:rPr lang="en-US" altLang="ko-KR" sz="1300" dirty="0">
                <a:solidFill>
                  <a:schemeClr val="tx1"/>
                </a:solidFill>
                <a:latin typeface="+mj-ea"/>
                <a:ea typeface="+mj-ea"/>
              </a:rPr>
              <a:t>9,497</a:t>
            </a:r>
            <a:r>
              <a:rPr lang="ko-KR" altLang="en-US" sz="1300" dirty="0">
                <a:solidFill>
                  <a:schemeClr val="tx1"/>
                </a:solidFill>
                <a:latin typeface="+mj-ea"/>
                <a:ea typeface="+mj-ea"/>
              </a:rPr>
              <a:t>개 중 </a:t>
            </a:r>
            <a:endParaRPr lang="en-US" altLang="ko-KR" sz="1300" dirty="0">
              <a:solidFill>
                <a:schemeClr val="tx1"/>
              </a:solidFill>
              <a:latin typeface="+mj-ea"/>
              <a:ea typeface="+mj-ea"/>
            </a:endParaRPr>
          </a:p>
          <a:p>
            <a:pPr>
              <a:buNone/>
            </a:pPr>
            <a:r>
              <a:rPr lang="ko-KR" altLang="en-US" sz="1300" dirty="0">
                <a:solidFill>
                  <a:schemeClr val="tx1"/>
                </a:solidFill>
                <a:latin typeface="+mj-ea"/>
                <a:ea typeface="+mj-ea"/>
              </a:rPr>
              <a:t>콘텐츠로 이미 개발된 </a:t>
            </a:r>
            <a:r>
              <a:rPr lang="en-US" altLang="ko-KR" sz="1300" dirty="0">
                <a:solidFill>
                  <a:schemeClr val="tx1"/>
                </a:solidFill>
                <a:latin typeface="+mj-ea"/>
                <a:ea typeface="+mj-ea"/>
              </a:rPr>
              <a:t>1,971</a:t>
            </a:r>
            <a:r>
              <a:rPr lang="ko-KR" altLang="en-US" sz="1300" dirty="0">
                <a:solidFill>
                  <a:schemeClr val="tx1"/>
                </a:solidFill>
                <a:latin typeface="+mj-ea"/>
                <a:ea typeface="+mj-ea"/>
              </a:rPr>
              <a:t>개</a:t>
            </a:r>
            <a:r>
              <a:rPr lang="en-US" altLang="ko-KR" sz="1300" baseline="30000" dirty="0">
                <a:solidFill>
                  <a:schemeClr val="tx1"/>
                </a:solidFill>
                <a:latin typeface="+mj-ea"/>
                <a:ea typeface="+mj-ea"/>
              </a:rPr>
              <a:t>*</a:t>
            </a:r>
            <a:r>
              <a:rPr lang="ko-KR" altLang="en-US" sz="1300" dirty="0">
                <a:solidFill>
                  <a:schemeClr val="tx1"/>
                </a:solidFill>
                <a:latin typeface="+mj-ea"/>
                <a:ea typeface="+mj-ea"/>
              </a:rPr>
              <a:t>를 제외한 </a:t>
            </a:r>
            <a:r>
              <a:rPr lang="en-US" altLang="ko-KR" sz="1300" dirty="0">
                <a:solidFill>
                  <a:schemeClr val="tx1"/>
                </a:solidFill>
                <a:latin typeface="+mj-ea"/>
                <a:ea typeface="+mj-ea"/>
              </a:rPr>
              <a:t>7,526</a:t>
            </a:r>
            <a:r>
              <a:rPr lang="ko-KR" altLang="en-US" sz="1300" dirty="0">
                <a:solidFill>
                  <a:schemeClr val="tx1"/>
                </a:solidFill>
                <a:latin typeface="+mj-ea"/>
                <a:ea typeface="+mj-ea"/>
              </a:rPr>
              <a:t>개를 대상으로 설정함</a:t>
            </a:r>
          </a:p>
        </p:txBody>
      </p:sp>
      <p:sp>
        <p:nvSpPr>
          <p:cNvPr id="38" name="직사각형 37">
            <a:extLst>
              <a:ext uri="{FF2B5EF4-FFF2-40B4-BE49-F238E27FC236}">
                <a16:creationId xmlns:a16="http://schemas.microsoft.com/office/drawing/2014/main" id="{449528AC-7AFD-2970-3254-6507F798D7A7}"/>
              </a:ext>
            </a:extLst>
          </p:cNvPr>
          <p:cNvSpPr/>
          <p:nvPr/>
        </p:nvSpPr>
        <p:spPr>
          <a:xfrm>
            <a:off x="616417" y="3608783"/>
            <a:ext cx="1456263" cy="708953"/>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절차</a:t>
            </a:r>
          </a:p>
        </p:txBody>
      </p:sp>
      <p:sp>
        <p:nvSpPr>
          <p:cNvPr id="40" name="직사각형 39">
            <a:extLst>
              <a:ext uri="{FF2B5EF4-FFF2-40B4-BE49-F238E27FC236}">
                <a16:creationId xmlns:a16="http://schemas.microsoft.com/office/drawing/2014/main" id="{E971AFD5-C959-B619-D429-CE2082E7B817}"/>
              </a:ext>
            </a:extLst>
          </p:cNvPr>
          <p:cNvSpPr/>
          <p:nvPr/>
        </p:nvSpPr>
        <p:spPr>
          <a:xfrm>
            <a:off x="616417" y="4468020"/>
            <a:ext cx="1456263" cy="2021680"/>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내용</a:t>
            </a:r>
          </a:p>
        </p:txBody>
      </p:sp>
      <p:sp>
        <p:nvSpPr>
          <p:cNvPr id="41" name="직사각형 40">
            <a:extLst>
              <a:ext uri="{FF2B5EF4-FFF2-40B4-BE49-F238E27FC236}">
                <a16:creationId xmlns:a16="http://schemas.microsoft.com/office/drawing/2014/main" id="{573C18B0-406C-25BA-B9F9-F7C8A75829F7}"/>
              </a:ext>
            </a:extLst>
          </p:cNvPr>
          <p:cNvSpPr/>
          <p:nvPr/>
        </p:nvSpPr>
        <p:spPr>
          <a:xfrm>
            <a:off x="2345540" y="4468020"/>
            <a:ext cx="1663200" cy="2021680"/>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36000" rtlCol="0" anchor="t"/>
          <a:lstStyle/>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담당 주체</a:t>
            </a:r>
            <a:r>
              <a:rPr lang="en-US" altLang="ko-KR" dirty="0">
                <a:solidFill>
                  <a:schemeClr val="tx1"/>
                </a:solidFill>
                <a:latin typeface="+mj-ea"/>
                <a:ea typeface="+mj-ea"/>
              </a:rPr>
              <a:t>: </a:t>
            </a:r>
            <a:r>
              <a:rPr lang="ko-KR" altLang="en-US" dirty="0">
                <a:solidFill>
                  <a:schemeClr val="tx1"/>
                </a:solidFill>
                <a:latin typeface="+mj-ea"/>
                <a:ea typeface="+mj-ea"/>
              </a:rPr>
              <a:t>연구진</a:t>
            </a:r>
            <a:endParaRPr lang="en-US" altLang="ko-KR" dirty="0">
              <a:solidFill>
                <a:schemeClr val="tx1"/>
              </a:solidFill>
              <a:latin typeface="+mj-ea"/>
              <a:ea typeface="+mj-ea"/>
            </a:endParaRPr>
          </a:p>
          <a:p>
            <a:pPr marL="87313" indent="-87313" algn="l" latinLnBrk="0">
              <a:spcAft>
                <a:spcPts val="600"/>
              </a:spcAft>
              <a:buFont typeface="Arial" panose="020B0604020202020204" pitchFamily="34" charset="0"/>
              <a:buChar char="•"/>
            </a:pPr>
            <a:r>
              <a:rPr lang="en-US" altLang="ko-KR" dirty="0">
                <a:solidFill>
                  <a:schemeClr val="tx1"/>
                </a:solidFill>
                <a:latin typeface="+mj-ea"/>
                <a:ea typeface="+mj-ea"/>
              </a:rPr>
              <a:t>NCS </a:t>
            </a:r>
            <a:r>
              <a:rPr lang="ko-KR" altLang="en-US" dirty="0">
                <a:solidFill>
                  <a:schemeClr val="tx1"/>
                </a:solidFill>
                <a:latin typeface="+mj-ea"/>
                <a:ea typeface="+mj-ea"/>
              </a:rPr>
              <a:t>기반 교육과정 개발 방법에 관한 연구 보고서</a:t>
            </a:r>
            <a:r>
              <a:rPr lang="en-US" altLang="ko-KR" dirty="0">
                <a:solidFill>
                  <a:schemeClr val="tx1"/>
                </a:solidFill>
                <a:latin typeface="+mj-ea"/>
                <a:ea typeface="+mj-ea"/>
              </a:rPr>
              <a:t>, </a:t>
            </a:r>
            <a:r>
              <a:rPr lang="ko-KR" altLang="en-US" dirty="0">
                <a:solidFill>
                  <a:schemeClr val="tx1"/>
                </a:solidFill>
                <a:latin typeface="+mj-ea"/>
                <a:ea typeface="+mj-ea"/>
              </a:rPr>
              <a:t>논문</a:t>
            </a:r>
            <a:r>
              <a:rPr lang="en-US" altLang="ko-KR" dirty="0">
                <a:solidFill>
                  <a:schemeClr val="tx1"/>
                </a:solidFill>
                <a:latin typeface="+mj-ea"/>
                <a:ea typeface="+mj-ea"/>
              </a:rPr>
              <a:t>, </a:t>
            </a:r>
            <a:r>
              <a:rPr lang="ko-KR" altLang="en-US" dirty="0">
                <a:solidFill>
                  <a:schemeClr val="tx1"/>
                </a:solidFill>
                <a:latin typeface="+mj-ea"/>
                <a:ea typeface="+mj-ea"/>
              </a:rPr>
              <a:t>및 다양한 참고자료를 분석하여 적합성 평가 지표 </a:t>
            </a:r>
            <a:r>
              <a:rPr lang="en-US" altLang="ko-KR" dirty="0">
                <a:solidFill>
                  <a:schemeClr val="tx1"/>
                </a:solidFill>
                <a:latin typeface="+mj-ea"/>
                <a:ea typeface="+mj-ea"/>
              </a:rPr>
              <a:t>Pool</a:t>
            </a:r>
            <a:r>
              <a:rPr lang="ko-KR" altLang="en-US" dirty="0">
                <a:solidFill>
                  <a:schemeClr val="tx1"/>
                </a:solidFill>
                <a:latin typeface="+mj-ea"/>
                <a:ea typeface="+mj-ea"/>
              </a:rPr>
              <a:t>을 도출함</a:t>
            </a:r>
          </a:p>
        </p:txBody>
      </p:sp>
      <p:sp>
        <p:nvSpPr>
          <p:cNvPr id="42" name="직사각형 41">
            <a:extLst>
              <a:ext uri="{FF2B5EF4-FFF2-40B4-BE49-F238E27FC236}">
                <a16:creationId xmlns:a16="http://schemas.microsoft.com/office/drawing/2014/main" id="{8F54531C-31A0-C6AC-C05E-FB7BE4A4E6DB}"/>
              </a:ext>
            </a:extLst>
          </p:cNvPr>
          <p:cNvSpPr/>
          <p:nvPr/>
        </p:nvSpPr>
        <p:spPr>
          <a:xfrm>
            <a:off x="4123586" y="4468020"/>
            <a:ext cx="1664104" cy="2021680"/>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36000" rtlCol="0" anchor="t"/>
          <a:lstStyle/>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담당 주체</a:t>
            </a:r>
            <a:r>
              <a:rPr lang="en-US" altLang="ko-KR" dirty="0">
                <a:solidFill>
                  <a:schemeClr val="tx1"/>
                </a:solidFill>
                <a:latin typeface="+mj-ea"/>
                <a:ea typeface="+mj-ea"/>
              </a:rPr>
              <a:t>: </a:t>
            </a:r>
            <a:r>
              <a:rPr lang="ko-KR" altLang="en-US" dirty="0">
                <a:solidFill>
                  <a:schemeClr val="tx1"/>
                </a:solidFill>
                <a:latin typeface="+mj-ea"/>
                <a:ea typeface="+mj-ea"/>
              </a:rPr>
              <a:t>전문가</a:t>
            </a:r>
            <a:r>
              <a:rPr lang="en-US" altLang="ko-KR" dirty="0">
                <a:solidFill>
                  <a:schemeClr val="tx1"/>
                </a:solidFill>
                <a:latin typeface="+mj-ea"/>
                <a:ea typeface="+mj-ea"/>
              </a:rPr>
              <a:t>, </a:t>
            </a:r>
            <a:r>
              <a:rPr lang="ko-KR" altLang="en-US" dirty="0" err="1">
                <a:solidFill>
                  <a:schemeClr val="tx1"/>
                </a:solidFill>
                <a:latin typeface="+mj-ea"/>
                <a:ea typeface="+mj-ea"/>
              </a:rPr>
              <a:t>온평원</a:t>
            </a:r>
            <a:r>
              <a:rPr lang="en-US" altLang="ko-KR" dirty="0">
                <a:solidFill>
                  <a:schemeClr val="tx1"/>
                </a:solidFill>
                <a:latin typeface="+mj-ea"/>
                <a:ea typeface="+mj-ea"/>
              </a:rPr>
              <a:t>, </a:t>
            </a:r>
            <a:r>
              <a:rPr lang="ko-KR" altLang="en-US" dirty="0">
                <a:solidFill>
                  <a:schemeClr val="tx1"/>
                </a:solidFill>
                <a:latin typeface="+mj-ea"/>
                <a:ea typeface="+mj-ea"/>
              </a:rPr>
              <a:t>연구진</a:t>
            </a:r>
            <a:endParaRPr lang="en-US" altLang="ko-KR" dirty="0">
              <a:solidFill>
                <a:schemeClr val="tx1"/>
              </a:solidFill>
              <a:latin typeface="+mj-ea"/>
              <a:ea typeface="+mj-ea"/>
            </a:endParaRPr>
          </a:p>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연구진이 도출한 평가 지표 </a:t>
            </a:r>
            <a:r>
              <a:rPr lang="en-US" altLang="ko-KR" dirty="0">
                <a:solidFill>
                  <a:schemeClr val="tx1"/>
                </a:solidFill>
                <a:latin typeface="+mj-ea"/>
                <a:ea typeface="+mj-ea"/>
              </a:rPr>
              <a:t>Pool</a:t>
            </a:r>
            <a:r>
              <a:rPr lang="ko-KR" altLang="en-US" dirty="0">
                <a:solidFill>
                  <a:schemeClr val="tx1"/>
                </a:solidFill>
                <a:latin typeface="+mj-ea"/>
                <a:ea typeface="+mj-ea"/>
              </a:rPr>
              <a:t>을 기반으로 적합성 평가 지표</a:t>
            </a:r>
            <a:r>
              <a:rPr lang="en-US" altLang="ko-KR" dirty="0">
                <a:solidFill>
                  <a:schemeClr val="tx1"/>
                </a:solidFill>
                <a:latin typeface="+mj-ea"/>
                <a:ea typeface="+mj-ea"/>
              </a:rPr>
              <a:t>, </a:t>
            </a:r>
            <a:r>
              <a:rPr lang="ko-KR" altLang="en-US" dirty="0">
                <a:solidFill>
                  <a:schemeClr val="tx1"/>
                </a:solidFill>
                <a:latin typeface="+mj-ea"/>
                <a:ea typeface="+mj-ea"/>
              </a:rPr>
              <a:t>평가 절차</a:t>
            </a:r>
            <a:r>
              <a:rPr lang="en-US" altLang="ko-KR" dirty="0">
                <a:solidFill>
                  <a:schemeClr val="tx1"/>
                </a:solidFill>
                <a:latin typeface="+mj-ea"/>
                <a:ea typeface="+mj-ea"/>
              </a:rPr>
              <a:t>, </a:t>
            </a:r>
            <a:r>
              <a:rPr lang="ko-KR" altLang="en-US" dirty="0">
                <a:solidFill>
                  <a:schemeClr val="tx1"/>
                </a:solidFill>
                <a:latin typeface="+mj-ea"/>
                <a:ea typeface="+mj-ea"/>
              </a:rPr>
              <a:t>활용 방법 및 타당성 등을 논의함</a:t>
            </a:r>
          </a:p>
        </p:txBody>
      </p:sp>
      <p:sp>
        <p:nvSpPr>
          <p:cNvPr id="43" name="직사각형 42">
            <a:extLst>
              <a:ext uri="{FF2B5EF4-FFF2-40B4-BE49-F238E27FC236}">
                <a16:creationId xmlns:a16="http://schemas.microsoft.com/office/drawing/2014/main" id="{FA6BA4E8-E32C-9B64-177C-897CFD79C332}"/>
              </a:ext>
            </a:extLst>
          </p:cNvPr>
          <p:cNvSpPr/>
          <p:nvPr/>
        </p:nvSpPr>
        <p:spPr>
          <a:xfrm>
            <a:off x="5902536" y="4468020"/>
            <a:ext cx="1664104" cy="2021680"/>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36000" rtlCol="0" anchor="t"/>
          <a:lstStyle/>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담당주체</a:t>
            </a:r>
            <a:r>
              <a:rPr lang="en-US" altLang="ko-KR" dirty="0">
                <a:solidFill>
                  <a:schemeClr val="tx1"/>
                </a:solidFill>
                <a:latin typeface="+mj-ea"/>
                <a:ea typeface="+mj-ea"/>
              </a:rPr>
              <a:t>: </a:t>
            </a:r>
            <a:r>
              <a:rPr lang="ko-KR" altLang="en-US" dirty="0" err="1">
                <a:solidFill>
                  <a:schemeClr val="tx1"/>
                </a:solidFill>
                <a:latin typeface="+mj-ea"/>
                <a:ea typeface="+mj-ea"/>
              </a:rPr>
              <a:t>온평원</a:t>
            </a:r>
            <a:r>
              <a:rPr lang="en-US" altLang="ko-KR" dirty="0">
                <a:solidFill>
                  <a:schemeClr val="tx1"/>
                </a:solidFill>
                <a:latin typeface="+mj-ea"/>
                <a:ea typeface="+mj-ea"/>
              </a:rPr>
              <a:t>, </a:t>
            </a:r>
            <a:r>
              <a:rPr lang="ko-KR" altLang="en-US" dirty="0">
                <a:solidFill>
                  <a:schemeClr val="tx1"/>
                </a:solidFill>
                <a:latin typeface="+mj-ea"/>
                <a:ea typeface="+mj-ea"/>
              </a:rPr>
              <a:t>연구진</a:t>
            </a:r>
            <a:endParaRPr lang="en-US" altLang="ko-KR" dirty="0">
              <a:solidFill>
                <a:schemeClr val="tx1"/>
              </a:solidFill>
              <a:latin typeface="+mj-ea"/>
              <a:ea typeface="+mj-ea"/>
            </a:endParaRPr>
          </a:p>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자문회의를 통해 도출된 평가지표 및 방법</a:t>
            </a:r>
            <a:r>
              <a:rPr lang="en-US" altLang="ko-KR" dirty="0">
                <a:solidFill>
                  <a:schemeClr val="tx1"/>
                </a:solidFill>
                <a:latin typeface="+mj-ea"/>
                <a:ea typeface="+mj-ea"/>
              </a:rPr>
              <a:t>(</a:t>
            </a:r>
            <a:r>
              <a:rPr lang="ko-KR" altLang="en-US" dirty="0">
                <a:solidFill>
                  <a:schemeClr val="tx1"/>
                </a:solidFill>
                <a:latin typeface="+mj-ea"/>
                <a:ea typeface="+mj-ea"/>
              </a:rPr>
              <a:t>절차</a:t>
            </a:r>
            <a:r>
              <a:rPr lang="en-US" altLang="ko-KR" dirty="0">
                <a:solidFill>
                  <a:schemeClr val="tx1"/>
                </a:solidFill>
                <a:latin typeface="+mj-ea"/>
                <a:ea typeface="+mj-ea"/>
              </a:rPr>
              <a:t>)</a:t>
            </a:r>
            <a:r>
              <a:rPr lang="ko-KR" altLang="en-US" dirty="0">
                <a:solidFill>
                  <a:schemeClr val="tx1"/>
                </a:solidFill>
                <a:latin typeface="+mj-ea"/>
                <a:ea typeface="+mj-ea"/>
              </a:rPr>
              <a:t>을 기반으로 </a:t>
            </a:r>
            <a:r>
              <a:rPr lang="ko-KR" altLang="en-US" dirty="0" err="1">
                <a:solidFill>
                  <a:schemeClr val="tx1"/>
                </a:solidFill>
                <a:latin typeface="+mj-ea"/>
                <a:ea typeface="+mj-ea"/>
              </a:rPr>
              <a:t>온평원</a:t>
            </a:r>
            <a:r>
              <a:rPr lang="ko-KR" altLang="en-US" dirty="0">
                <a:solidFill>
                  <a:schemeClr val="tx1"/>
                </a:solidFill>
                <a:latin typeface="+mj-ea"/>
                <a:ea typeface="+mj-ea"/>
              </a:rPr>
              <a:t> 각 파트의 의견을 수렴하고</a:t>
            </a:r>
            <a:r>
              <a:rPr lang="en-US" altLang="ko-KR" dirty="0">
                <a:solidFill>
                  <a:schemeClr val="tx1"/>
                </a:solidFill>
                <a:latin typeface="+mj-ea"/>
                <a:ea typeface="+mj-ea"/>
              </a:rPr>
              <a:t>, </a:t>
            </a:r>
            <a:r>
              <a:rPr lang="ko-KR" altLang="en-US" dirty="0">
                <a:solidFill>
                  <a:schemeClr val="tx1"/>
                </a:solidFill>
                <a:latin typeface="+mj-ea"/>
                <a:ea typeface="+mj-ea"/>
              </a:rPr>
              <a:t>연구진이 종합하여 최종안을 정리함</a:t>
            </a:r>
          </a:p>
        </p:txBody>
      </p:sp>
      <p:sp>
        <p:nvSpPr>
          <p:cNvPr id="44" name="직사각형 43">
            <a:extLst>
              <a:ext uri="{FF2B5EF4-FFF2-40B4-BE49-F238E27FC236}">
                <a16:creationId xmlns:a16="http://schemas.microsoft.com/office/drawing/2014/main" id="{B242ACBB-65D0-E494-4A37-CF926F787496}"/>
              </a:ext>
            </a:extLst>
          </p:cNvPr>
          <p:cNvSpPr/>
          <p:nvPr/>
        </p:nvSpPr>
        <p:spPr>
          <a:xfrm>
            <a:off x="7681486" y="4468020"/>
            <a:ext cx="1663200" cy="2021680"/>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36000" rtlCol="0" anchor="t"/>
          <a:lstStyle/>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담당주체</a:t>
            </a:r>
            <a:r>
              <a:rPr lang="en-US" altLang="ko-KR" dirty="0">
                <a:solidFill>
                  <a:schemeClr val="tx1"/>
                </a:solidFill>
                <a:latin typeface="+mj-ea"/>
                <a:ea typeface="+mj-ea"/>
              </a:rPr>
              <a:t>: </a:t>
            </a:r>
            <a:r>
              <a:rPr lang="ko-KR" altLang="en-US" dirty="0">
                <a:solidFill>
                  <a:schemeClr val="tx1"/>
                </a:solidFill>
                <a:latin typeface="+mj-ea"/>
                <a:ea typeface="+mj-ea"/>
              </a:rPr>
              <a:t>전문가</a:t>
            </a:r>
            <a:r>
              <a:rPr lang="en-US" altLang="ko-KR" dirty="0">
                <a:solidFill>
                  <a:schemeClr val="tx1"/>
                </a:solidFill>
                <a:latin typeface="+mj-ea"/>
                <a:ea typeface="+mj-ea"/>
              </a:rPr>
              <a:t>, </a:t>
            </a:r>
            <a:r>
              <a:rPr lang="ko-KR" altLang="en-US" dirty="0">
                <a:solidFill>
                  <a:schemeClr val="tx1"/>
                </a:solidFill>
                <a:latin typeface="+mj-ea"/>
                <a:ea typeface="+mj-ea"/>
              </a:rPr>
              <a:t>연구진</a:t>
            </a:r>
            <a:endParaRPr lang="en-US" altLang="ko-KR" dirty="0">
              <a:solidFill>
                <a:schemeClr val="tx1"/>
              </a:solidFill>
              <a:latin typeface="+mj-ea"/>
              <a:ea typeface="+mj-ea"/>
            </a:endParaRPr>
          </a:p>
          <a:p>
            <a:pPr marL="87313" indent="-87313" algn="l" latinLnBrk="0">
              <a:spcAft>
                <a:spcPts val="600"/>
              </a:spcAft>
              <a:buFont typeface="Arial" panose="020B0604020202020204" pitchFamily="34" charset="0"/>
              <a:buChar char="•"/>
            </a:pPr>
            <a:r>
              <a:rPr lang="ko-KR" altLang="en-US" dirty="0">
                <a:solidFill>
                  <a:schemeClr val="tx1"/>
                </a:solidFill>
                <a:latin typeface="+mj-ea"/>
                <a:ea typeface="+mj-ea"/>
              </a:rPr>
              <a:t>연구진이 개발한 </a:t>
            </a:r>
            <a:r>
              <a:rPr lang="en-US" altLang="ko-KR" dirty="0">
                <a:solidFill>
                  <a:schemeClr val="tx1"/>
                </a:solidFill>
                <a:latin typeface="+mj-ea"/>
                <a:ea typeface="+mj-ea"/>
              </a:rPr>
              <a:t>AI </a:t>
            </a:r>
            <a:r>
              <a:rPr lang="ko-KR" altLang="en-US" dirty="0">
                <a:solidFill>
                  <a:schemeClr val="tx1"/>
                </a:solidFill>
                <a:latin typeface="+mj-ea"/>
                <a:ea typeface="+mj-ea"/>
              </a:rPr>
              <a:t>프롬프트를 기반으로 </a:t>
            </a:r>
            <a:r>
              <a:rPr lang="en-US" altLang="ko-KR" dirty="0">
                <a:solidFill>
                  <a:schemeClr val="tx1"/>
                </a:solidFill>
                <a:latin typeface="+mj-ea"/>
                <a:ea typeface="+mj-ea"/>
              </a:rPr>
              <a:t>1</a:t>
            </a:r>
            <a:r>
              <a:rPr lang="ko-KR" altLang="en-US" dirty="0">
                <a:solidFill>
                  <a:schemeClr val="tx1"/>
                </a:solidFill>
                <a:latin typeface="+mj-ea"/>
                <a:ea typeface="+mj-ea"/>
              </a:rPr>
              <a:t>차 적합성 평가</a:t>
            </a:r>
            <a:r>
              <a:rPr lang="en-US" altLang="ko-KR" dirty="0">
                <a:solidFill>
                  <a:schemeClr val="tx1"/>
                </a:solidFill>
                <a:latin typeface="+mj-ea"/>
                <a:ea typeface="+mj-ea"/>
              </a:rPr>
              <a:t>(</a:t>
            </a:r>
            <a:r>
              <a:rPr lang="ko-KR" altLang="en-US" dirty="0">
                <a:solidFill>
                  <a:schemeClr val="tx1"/>
                </a:solidFill>
                <a:latin typeface="+mj-ea"/>
                <a:ea typeface="+mj-ea"/>
              </a:rPr>
              <a:t>생성형 </a:t>
            </a:r>
            <a:r>
              <a:rPr lang="en-US" altLang="ko-KR" dirty="0">
                <a:solidFill>
                  <a:schemeClr val="tx1"/>
                </a:solidFill>
                <a:latin typeface="+mj-ea"/>
                <a:ea typeface="+mj-ea"/>
              </a:rPr>
              <a:t>AI)</a:t>
            </a:r>
            <a:r>
              <a:rPr lang="ko-KR" altLang="en-US" dirty="0">
                <a:solidFill>
                  <a:schemeClr val="tx1"/>
                </a:solidFill>
                <a:latin typeface="+mj-ea"/>
                <a:ea typeface="+mj-ea"/>
              </a:rPr>
              <a:t>를 실시하였으며</a:t>
            </a:r>
            <a:r>
              <a:rPr lang="en-US" altLang="ko-KR" dirty="0">
                <a:solidFill>
                  <a:schemeClr val="tx1"/>
                </a:solidFill>
                <a:latin typeface="+mj-ea"/>
                <a:ea typeface="+mj-ea"/>
              </a:rPr>
              <a:t>, </a:t>
            </a:r>
            <a:r>
              <a:rPr lang="ko-KR" altLang="en-US" dirty="0">
                <a:solidFill>
                  <a:schemeClr val="tx1"/>
                </a:solidFill>
                <a:latin typeface="+mj-ea"/>
                <a:ea typeface="+mj-ea"/>
              </a:rPr>
              <a:t>  </a:t>
            </a:r>
            <a:r>
              <a:rPr lang="en-US" altLang="ko-KR" dirty="0">
                <a:solidFill>
                  <a:schemeClr val="tx1"/>
                </a:solidFill>
                <a:latin typeface="+mj-ea"/>
                <a:ea typeface="+mj-ea"/>
              </a:rPr>
              <a:t>2</a:t>
            </a:r>
            <a:r>
              <a:rPr lang="ko-KR" altLang="en-US" dirty="0">
                <a:solidFill>
                  <a:schemeClr val="tx1"/>
                </a:solidFill>
                <a:latin typeface="+mj-ea"/>
                <a:ea typeface="+mj-ea"/>
              </a:rPr>
              <a:t>차 전문가 검토를 통해 결과를 검증하였음</a:t>
            </a:r>
            <a:r>
              <a:rPr lang="en-US" altLang="ko-KR" dirty="0">
                <a:solidFill>
                  <a:schemeClr val="tx1"/>
                </a:solidFill>
                <a:latin typeface="+mj-ea"/>
                <a:ea typeface="+mj-ea"/>
              </a:rPr>
              <a:t> </a:t>
            </a:r>
            <a:endParaRPr lang="ko-KR" altLang="en-US" dirty="0">
              <a:solidFill>
                <a:schemeClr val="tx1"/>
              </a:solidFill>
              <a:latin typeface="+mj-ea"/>
              <a:ea typeface="+mj-ea"/>
            </a:endParaRPr>
          </a:p>
        </p:txBody>
      </p:sp>
      <p:sp>
        <p:nvSpPr>
          <p:cNvPr id="45" name="TextBox 44">
            <a:extLst>
              <a:ext uri="{FF2B5EF4-FFF2-40B4-BE49-F238E27FC236}">
                <a16:creationId xmlns:a16="http://schemas.microsoft.com/office/drawing/2014/main" id="{4626DED9-201B-2820-06BD-9E52F170C943}"/>
              </a:ext>
            </a:extLst>
          </p:cNvPr>
          <p:cNvSpPr txBox="1"/>
          <p:nvPr/>
        </p:nvSpPr>
        <p:spPr>
          <a:xfrm>
            <a:off x="596515" y="6457890"/>
            <a:ext cx="4356485" cy="246221"/>
          </a:xfrm>
          <a:prstGeom prst="rect">
            <a:avLst/>
          </a:prstGeom>
          <a:noFill/>
        </p:spPr>
        <p:txBody>
          <a:bodyPr wrap="square" rtlCol="0">
            <a:spAutoFit/>
          </a:bodyPr>
          <a:lstStyle/>
          <a:p>
            <a:pPr algn="l">
              <a:buNone/>
            </a:pP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출처</a:t>
            </a:r>
            <a:r>
              <a:rPr lang="en-US" altLang="ko-KR" sz="1000" dirty="0">
                <a:latin typeface="a고딕12" panose="02020600000000000000" pitchFamily="18" charset="-127"/>
                <a:ea typeface="a고딕12" panose="02020600000000000000" pitchFamily="18" charset="-127"/>
              </a:rPr>
              <a:t>: 2025</a:t>
            </a:r>
            <a:r>
              <a:rPr lang="ko-KR" altLang="en-US" sz="1000" dirty="0">
                <a:latin typeface="a고딕12" panose="02020600000000000000" pitchFamily="18" charset="-127"/>
                <a:ea typeface="a고딕12" panose="02020600000000000000" pitchFamily="18" charset="-127"/>
              </a:rPr>
              <a:t>년 </a:t>
            </a:r>
            <a:r>
              <a:rPr lang="en-US" altLang="ko-KR" sz="1000" dirty="0">
                <a:latin typeface="a고딕12" panose="02020600000000000000" pitchFamily="18" charset="-127"/>
                <a:ea typeface="a고딕12" panose="02020600000000000000" pitchFamily="18" charset="-127"/>
              </a:rPr>
              <a:t>TTR Master DB_251020</a:t>
            </a:r>
            <a:endParaRPr lang="ko-KR" altLang="en-US" sz="1000" dirty="0">
              <a:latin typeface="a고딕12" panose="02020600000000000000" pitchFamily="18" charset="-127"/>
              <a:ea typeface="a고딕12" panose="02020600000000000000" pitchFamily="18" charset="-127"/>
            </a:endParaRPr>
          </a:p>
        </p:txBody>
      </p:sp>
    </p:spTree>
    <p:extLst>
      <p:ext uri="{BB962C8B-B14F-4D97-AF65-F5344CB8AC3E}">
        <p14:creationId xmlns:p14="http://schemas.microsoft.com/office/powerpoint/2010/main" val="92560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61B53-9DBA-2E8F-66FF-26EA001BB58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FD254F9-A017-C3FB-115B-81DAE89D32BD}"/>
              </a:ext>
            </a:extLst>
          </p:cNvPr>
          <p:cNvSpPr>
            <a:spLocks noGrp="1"/>
          </p:cNvSpPr>
          <p:nvPr>
            <p:ph type="body" sz="quarter" idx="12"/>
          </p:nvPr>
        </p:nvSpPr>
        <p:spPr/>
        <p:txBody>
          <a:bodyPr/>
          <a:lstStyle/>
          <a:p>
            <a:pPr latinLnBrk="0"/>
            <a:r>
              <a:rPr lang="ko-KR" altLang="en-US" sz="1800" dirty="0"/>
              <a:t>연구진이 적합성 평가 지표 개발을 위해 관련 평가 지표 </a:t>
            </a:r>
            <a:r>
              <a:rPr lang="en-US" altLang="ko-KR" sz="1800" dirty="0"/>
              <a:t>Pool</a:t>
            </a:r>
            <a:r>
              <a:rPr lang="ko-KR" altLang="en-US" sz="1800" dirty="0"/>
              <a:t>을 도출하고</a:t>
            </a:r>
            <a:r>
              <a:rPr lang="en-US" altLang="ko-KR" sz="1800" dirty="0"/>
              <a:t>, </a:t>
            </a:r>
            <a:r>
              <a:rPr lang="ko-KR" altLang="en-US" sz="1800" dirty="0"/>
              <a:t>전문가 자문회의를 거쳐 최종 지표를 확정하였음</a:t>
            </a:r>
          </a:p>
        </p:txBody>
      </p:sp>
      <p:sp>
        <p:nvSpPr>
          <p:cNvPr id="5" name="텍스트 개체 틀 4">
            <a:extLst>
              <a:ext uri="{FF2B5EF4-FFF2-40B4-BE49-F238E27FC236}">
                <a16:creationId xmlns:a16="http://schemas.microsoft.com/office/drawing/2014/main" id="{4B876A9B-417F-0057-CCFF-5A721FFB09B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198B5AEF-BA05-3405-35AD-4EFEF232D6E2}"/>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152F8612-4DF8-FF01-CA4A-2ADD7F013B6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F4C765DA-6D12-3D89-42BA-5A8DFFAB223A}"/>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CBD2899C-9486-900F-E2E5-EBC16421CDC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평가지표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제작 및 전문가 자문회의 개요</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C175A78C-51B1-7B22-CE1E-C0B6BE2EEC0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 name="오각형 56">
            <a:extLst>
              <a:ext uri="{FF2B5EF4-FFF2-40B4-BE49-F238E27FC236}">
                <a16:creationId xmlns:a16="http://schemas.microsoft.com/office/drawing/2014/main" id="{F896B915-52A7-97D1-3EB4-A1C1AB8A3B96}"/>
              </a:ext>
            </a:extLst>
          </p:cNvPr>
          <p:cNvSpPr/>
          <p:nvPr/>
        </p:nvSpPr>
        <p:spPr>
          <a:xfrm>
            <a:off x="615433" y="2110235"/>
            <a:ext cx="1835358" cy="413310"/>
          </a:xfrm>
          <a:prstGeom prst="homePlate">
            <a:avLst>
              <a:gd name="adj" fmla="val 21438"/>
            </a:avLst>
          </a:prstGeom>
          <a:solidFill>
            <a:srgbClr val="003F56"/>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11" name="TextBox 10">
            <a:extLst>
              <a:ext uri="{FF2B5EF4-FFF2-40B4-BE49-F238E27FC236}">
                <a16:creationId xmlns:a16="http://schemas.microsoft.com/office/drawing/2014/main" id="{0C8128E2-8738-1F3D-EDF1-0E5C588AA1FC}"/>
              </a:ext>
            </a:extLst>
          </p:cNvPr>
          <p:cNvSpPr txBox="1"/>
          <p:nvPr/>
        </p:nvSpPr>
        <p:spPr>
          <a:xfrm>
            <a:off x="1049267" y="2246546"/>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평가 지표 </a:t>
            </a:r>
            <a:r>
              <a:rPr lang="en-US" altLang="ko-KR" dirty="0">
                <a:solidFill>
                  <a:schemeClr val="bg1"/>
                </a:solidFill>
                <a:latin typeface="Arial Narrow" panose="020B0606020202030204" pitchFamily="34" charset="0"/>
                <a:ea typeface="a고딕14" panose="02020600000000000000" pitchFamily="18" charset="-127"/>
              </a:rPr>
              <a:t>Pool </a:t>
            </a:r>
            <a:r>
              <a:rPr lang="ko-KR" altLang="en-US" dirty="0">
                <a:solidFill>
                  <a:schemeClr val="bg1"/>
                </a:solidFill>
                <a:latin typeface="Arial Narrow" panose="020B0606020202030204" pitchFamily="34" charset="0"/>
                <a:ea typeface="a고딕14" panose="02020600000000000000" pitchFamily="18" charset="-127"/>
              </a:rPr>
              <a:t>제작</a:t>
            </a:r>
          </a:p>
        </p:txBody>
      </p:sp>
      <p:sp>
        <p:nvSpPr>
          <p:cNvPr id="18" name="TextBox 17">
            <a:extLst>
              <a:ext uri="{FF2B5EF4-FFF2-40B4-BE49-F238E27FC236}">
                <a16:creationId xmlns:a16="http://schemas.microsoft.com/office/drawing/2014/main" id="{EF39EC50-02DF-AD22-B443-717FBE905827}"/>
              </a:ext>
            </a:extLst>
          </p:cNvPr>
          <p:cNvSpPr txBox="1"/>
          <p:nvPr/>
        </p:nvSpPr>
        <p:spPr>
          <a:xfrm>
            <a:off x="596900" y="2069447"/>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1</a:t>
            </a:r>
          </a:p>
        </p:txBody>
      </p:sp>
      <p:sp>
        <p:nvSpPr>
          <p:cNvPr id="46" name="오각형 56">
            <a:extLst>
              <a:ext uri="{FF2B5EF4-FFF2-40B4-BE49-F238E27FC236}">
                <a16:creationId xmlns:a16="http://schemas.microsoft.com/office/drawing/2014/main" id="{36B93B29-0923-7A8B-0930-F0F33AE03257}"/>
              </a:ext>
            </a:extLst>
          </p:cNvPr>
          <p:cNvSpPr/>
          <p:nvPr/>
        </p:nvSpPr>
        <p:spPr>
          <a:xfrm>
            <a:off x="4958821" y="2110235"/>
            <a:ext cx="1835358" cy="413310"/>
          </a:xfrm>
          <a:prstGeom prst="homePlate">
            <a:avLst>
              <a:gd name="adj" fmla="val 21438"/>
            </a:avLst>
          </a:prstGeom>
          <a:solidFill>
            <a:srgbClr val="005E80"/>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47" name="TextBox 46">
            <a:extLst>
              <a:ext uri="{FF2B5EF4-FFF2-40B4-BE49-F238E27FC236}">
                <a16:creationId xmlns:a16="http://schemas.microsoft.com/office/drawing/2014/main" id="{FD301EDF-9961-C402-D023-58397F0805CF}"/>
              </a:ext>
            </a:extLst>
          </p:cNvPr>
          <p:cNvSpPr txBox="1"/>
          <p:nvPr/>
        </p:nvSpPr>
        <p:spPr>
          <a:xfrm>
            <a:off x="5392655" y="2246546"/>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전문가 자문회의</a:t>
            </a:r>
          </a:p>
        </p:txBody>
      </p:sp>
      <p:sp>
        <p:nvSpPr>
          <p:cNvPr id="48" name="TextBox 47">
            <a:extLst>
              <a:ext uri="{FF2B5EF4-FFF2-40B4-BE49-F238E27FC236}">
                <a16:creationId xmlns:a16="http://schemas.microsoft.com/office/drawing/2014/main" id="{FF0B73B9-3E92-F5B5-B6BC-2CCA25BD41E9}"/>
              </a:ext>
            </a:extLst>
          </p:cNvPr>
          <p:cNvSpPr txBox="1"/>
          <p:nvPr/>
        </p:nvSpPr>
        <p:spPr>
          <a:xfrm>
            <a:off x="4940288" y="2069447"/>
            <a:ext cx="746352" cy="276999"/>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p>
        </p:txBody>
      </p:sp>
      <p:graphicFrame>
        <p:nvGraphicFramePr>
          <p:cNvPr id="74" name="표 73">
            <a:extLst>
              <a:ext uri="{FF2B5EF4-FFF2-40B4-BE49-F238E27FC236}">
                <a16:creationId xmlns:a16="http://schemas.microsoft.com/office/drawing/2014/main" id="{8F5228B3-3B8F-7837-A143-B24F0392E9C9}"/>
              </a:ext>
            </a:extLst>
          </p:cNvPr>
          <p:cNvGraphicFramePr>
            <a:graphicFrameLocks noGrp="1"/>
          </p:cNvGraphicFramePr>
          <p:nvPr>
            <p:extLst>
              <p:ext uri="{D42A27DB-BD31-4B8C-83A1-F6EECF244321}">
                <p14:modId xmlns:p14="http://schemas.microsoft.com/office/powerpoint/2010/main" val="2954138374"/>
              </p:ext>
            </p:extLst>
          </p:nvPr>
        </p:nvGraphicFramePr>
        <p:xfrm>
          <a:off x="596900" y="3140969"/>
          <a:ext cx="4140200" cy="3355252"/>
        </p:xfrm>
        <a:graphic>
          <a:graphicData uri="http://schemas.openxmlformats.org/drawingml/2006/table">
            <a:tbl>
              <a:tblPr/>
              <a:tblGrid>
                <a:gridCol w="552032">
                  <a:extLst>
                    <a:ext uri="{9D8B030D-6E8A-4147-A177-3AD203B41FA5}">
                      <a16:colId xmlns:a16="http://schemas.microsoft.com/office/drawing/2014/main" val="1377073281"/>
                    </a:ext>
                  </a:extLst>
                </a:gridCol>
                <a:gridCol w="575535">
                  <a:extLst>
                    <a:ext uri="{9D8B030D-6E8A-4147-A177-3AD203B41FA5}">
                      <a16:colId xmlns:a16="http://schemas.microsoft.com/office/drawing/2014/main" val="2342945714"/>
                    </a:ext>
                  </a:extLst>
                </a:gridCol>
                <a:gridCol w="3012633">
                  <a:extLst>
                    <a:ext uri="{9D8B030D-6E8A-4147-A177-3AD203B41FA5}">
                      <a16:colId xmlns:a16="http://schemas.microsoft.com/office/drawing/2014/main" val="3791666451"/>
                    </a:ext>
                  </a:extLst>
                </a:gridCol>
              </a:tblGrid>
              <a:tr h="206092">
                <a:tc>
                  <a:txBody>
                    <a:bodyPr/>
                    <a:lstStyle/>
                    <a:p>
                      <a:pPr algn="ctr" fontAlgn="ctr" latinLnBrk="0">
                        <a:buNone/>
                      </a:pPr>
                      <a:r>
                        <a:rPr lang="ko-KR" altLang="en-US" sz="1000" b="0" i="0" u="none" strike="noStrike" dirty="0" err="1">
                          <a:solidFill>
                            <a:schemeClr val="bg1"/>
                          </a:solidFill>
                          <a:effectLst/>
                          <a:latin typeface="+mj-ea"/>
                          <a:ea typeface="+mj-ea"/>
                        </a:rPr>
                        <a:t>지표명</a:t>
                      </a:r>
                      <a:endParaRPr lang="ko-KR" altLang="en-US" sz="1000" b="0" i="0" u="none" strike="noStrike" dirty="0">
                        <a:solidFill>
                          <a:schemeClr val="bg1"/>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algn="ctr" fontAlgn="ctr" latinLnBrk="0">
                        <a:buNone/>
                      </a:pPr>
                      <a:r>
                        <a:rPr lang="ko-KR" altLang="en-US" sz="1000" b="0" i="0" u="none" strike="noStrike" dirty="0">
                          <a:solidFill>
                            <a:schemeClr val="bg1"/>
                          </a:solidFill>
                          <a:effectLst/>
                          <a:latin typeface="+mj-ea"/>
                          <a:ea typeface="+mj-ea"/>
                        </a:rPr>
                        <a:t>내용</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1621925712"/>
                  </a:ext>
                </a:extLst>
              </a:tr>
              <a:tr h="393645">
                <a:tc rowSpan="2">
                  <a:txBody>
                    <a:bodyPr/>
                    <a:lstStyle/>
                    <a:p>
                      <a:pPr algn="ctr" fontAlgn="ctr" latinLnBrk="0">
                        <a:buNone/>
                      </a:pPr>
                      <a:r>
                        <a:rPr lang="ko-KR" altLang="en-US" sz="1000" b="0" i="0" u="none" strike="noStrike" dirty="0">
                          <a:solidFill>
                            <a:srgbClr val="000000"/>
                          </a:solidFill>
                          <a:effectLst/>
                          <a:latin typeface="+mj-ea"/>
                          <a:ea typeface="+mj-ea"/>
                        </a:rPr>
                        <a:t>이론 중심 정도</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a:solidFill>
                            <a:srgbClr val="000000"/>
                          </a:solidFill>
                          <a:effectLst/>
                          <a:latin typeface="+mj-ea"/>
                          <a:ea typeface="+mj-ea"/>
                        </a:rPr>
                        <a:t>지표정의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학습재용이 이해</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분석의 이론 중심이면 온라인 적합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실습 중심이면 집체교육 또는 혼합 필요</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6664041"/>
                  </a:ext>
                </a:extLst>
              </a:tr>
              <a:tr h="393645">
                <a:tc vMerge="1">
                  <a:txBody>
                    <a:bodyPr/>
                    <a:lstStyle/>
                    <a:p>
                      <a:pPr latinLnBrk="1"/>
                      <a:endParaRPr lang="ko-KR" altLang="en-US"/>
                    </a:p>
                  </a:txBody>
                  <a:tcPr/>
                </a:tc>
                <a:tc>
                  <a:txBody>
                    <a:bodyPr/>
                    <a:lstStyle/>
                    <a:p>
                      <a:pPr algn="ctr" fontAlgn="ctr" latinLnBrk="0">
                        <a:buNone/>
                      </a:pPr>
                      <a:r>
                        <a:rPr lang="ko-KR" altLang="en-US" sz="1000" b="0" i="0" u="none" strike="noStrike" dirty="0">
                          <a:solidFill>
                            <a:srgbClr val="000000"/>
                          </a:solidFill>
                          <a:effectLst/>
                          <a:latin typeface="+mj-ea"/>
                          <a:ea typeface="+mj-ea"/>
                        </a:rPr>
                        <a:t>문항 및 평가방법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이 능력단위의 학습내용이 주로 이론 중심이어서 온라인 학습으로 충분히 달성할 수 있다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3602125"/>
                  </a:ext>
                </a:extLst>
              </a:tr>
              <a:tr h="393645">
                <a:tc rowSpan="2">
                  <a:txBody>
                    <a:bodyPr/>
                    <a:lstStyle/>
                    <a:p>
                      <a:pPr algn="ctr" fontAlgn="ctr" latinLnBrk="0">
                        <a:buNone/>
                      </a:pPr>
                      <a:r>
                        <a:rPr lang="ko-KR" altLang="en-US" sz="1000" b="0" i="0" u="none" strike="noStrike" dirty="0">
                          <a:solidFill>
                            <a:srgbClr val="000000"/>
                          </a:solidFill>
                          <a:effectLst/>
                          <a:latin typeface="+mj-ea"/>
                          <a:ea typeface="+mj-ea"/>
                        </a:rPr>
                        <a:t>장비 의존성</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a:solidFill>
                            <a:srgbClr val="000000"/>
                          </a:solidFill>
                          <a:effectLst/>
                          <a:latin typeface="+mj-ea"/>
                          <a:ea typeface="+mj-ea"/>
                        </a:rPr>
                        <a:t>지표정의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특수 장비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계측기</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공구 사용 빈가 높을수록 온라인 단독 운영 어려움</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2795461"/>
                  </a:ext>
                </a:extLst>
              </a:tr>
              <a:tr h="393645">
                <a:tc vMerge="1">
                  <a:txBody>
                    <a:bodyPr/>
                    <a:lstStyle/>
                    <a:p>
                      <a:pPr latinLnBrk="1"/>
                      <a:endParaRPr lang="ko-KR" altLang="en-US"/>
                    </a:p>
                  </a:txBody>
                  <a:tcPr/>
                </a:tc>
                <a:tc>
                  <a:txBody>
                    <a:bodyPr/>
                    <a:lstStyle/>
                    <a:p>
                      <a:pPr algn="ctr" fontAlgn="ctr" latinLnBrk="0">
                        <a:buNone/>
                      </a:pPr>
                      <a:r>
                        <a:rPr lang="ko-KR" altLang="en-US" sz="1000" b="0" i="0" u="none" strike="noStrike">
                          <a:solidFill>
                            <a:srgbClr val="000000"/>
                          </a:solidFill>
                          <a:effectLst/>
                          <a:latin typeface="+mj-ea"/>
                          <a:ea typeface="+mj-ea"/>
                        </a:rPr>
                        <a:t>문항 및 평가방법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a:solidFill>
                            <a:srgbClr val="000000"/>
                          </a:solidFill>
                          <a:effectLst/>
                          <a:latin typeface="+mj-ea"/>
                          <a:ea typeface="+mj-ea"/>
                        </a:rPr>
                        <a:t>이 능력단위는 특수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고가 장비 없이도 학습 목표를 달성할 수 있어 온라인 진행에 적합하다</a:t>
                      </a:r>
                      <a:r>
                        <a:rPr lang="en-US" altLang="ko-KR" sz="1000" b="0" i="0" u="none" strike="noStrike">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4329671"/>
                  </a:ext>
                </a:extLst>
              </a:tr>
              <a:tr h="393645">
                <a:tc rowSpan="2">
                  <a:txBody>
                    <a:bodyPr/>
                    <a:lstStyle/>
                    <a:p>
                      <a:pPr algn="ctr" fontAlgn="ctr" latinLnBrk="0">
                        <a:buNone/>
                      </a:pPr>
                      <a:r>
                        <a:rPr lang="ko-KR" altLang="en-US" sz="1000" b="0" i="0" u="none" strike="noStrike" dirty="0">
                          <a:solidFill>
                            <a:srgbClr val="000000"/>
                          </a:solidFill>
                          <a:effectLst/>
                          <a:latin typeface="+mj-ea"/>
                          <a:ea typeface="+mj-ea"/>
                        </a:rPr>
                        <a:t>즉시 피드백성</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dirty="0">
                          <a:solidFill>
                            <a:srgbClr val="000000"/>
                          </a:solidFill>
                          <a:effectLst/>
                          <a:latin typeface="+mj-ea"/>
                          <a:ea typeface="+mj-ea"/>
                        </a:rPr>
                        <a:t>지표정의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실시간 코칭</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예</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용접 자세 교정</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이 중요할수록 실습 중심의 집체 교육 필요</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3277048"/>
                  </a:ext>
                </a:extLst>
              </a:tr>
              <a:tr h="393645">
                <a:tc vMerge="1">
                  <a:txBody>
                    <a:bodyPr/>
                    <a:lstStyle/>
                    <a:p>
                      <a:pPr latinLnBrk="1"/>
                      <a:endParaRPr lang="ko-KR" altLang="en-US"/>
                    </a:p>
                  </a:txBody>
                  <a:tcPr/>
                </a:tc>
                <a:tc>
                  <a:txBody>
                    <a:bodyPr/>
                    <a:lstStyle/>
                    <a:p>
                      <a:pPr algn="ctr" fontAlgn="ctr" latinLnBrk="0">
                        <a:buNone/>
                      </a:pPr>
                      <a:r>
                        <a:rPr lang="ko-KR" altLang="en-US" sz="1000" b="0" i="0" u="none" strike="noStrike">
                          <a:solidFill>
                            <a:srgbClr val="000000"/>
                          </a:solidFill>
                          <a:effectLst/>
                          <a:latin typeface="+mj-ea"/>
                          <a:ea typeface="+mj-ea"/>
                        </a:rPr>
                        <a:t>문항 및 평가방법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이 능력단위는 실시간 현장 코칭이 없어도 학습자가 스스로 오류를 확인</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수정할 수 있다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2608609"/>
                  </a:ext>
                </a:extLst>
              </a:tr>
              <a:tr h="393645">
                <a:tc rowSpan="2">
                  <a:txBody>
                    <a:bodyPr/>
                    <a:lstStyle/>
                    <a:p>
                      <a:pPr algn="ctr" fontAlgn="ctr" latinLnBrk="0">
                        <a:buNone/>
                      </a:pPr>
                      <a:r>
                        <a:rPr lang="ko-KR" altLang="en-US" sz="1000" b="0" i="0" u="none" strike="noStrike" dirty="0">
                          <a:solidFill>
                            <a:srgbClr val="000000"/>
                          </a:solidFill>
                          <a:effectLst/>
                          <a:latin typeface="+mj-ea"/>
                          <a:ea typeface="+mj-ea"/>
                        </a:rPr>
                        <a:t>디지털화 용이성</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a:solidFill>
                            <a:srgbClr val="000000"/>
                          </a:solidFill>
                          <a:effectLst/>
                          <a:latin typeface="+mj-ea"/>
                          <a:ea typeface="+mj-ea"/>
                        </a:rPr>
                        <a:t>지표정의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콘텐츠</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도면</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코드</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계산식</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디지털화 및 배포 등 관리가 쉬우면 온라인 전환에 용이함</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5546472"/>
                  </a:ext>
                </a:extLst>
              </a:tr>
              <a:tr h="393645">
                <a:tc vMerge="1">
                  <a:txBody>
                    <a:bodyPr/>
                    <a:lstStyle/>
                    <a:p>
                      <a:pPr latinLnBrk="1"/>
                      <a:endParaRPr lang="ko-KR" altLang="en-US"/>
                    </a:p>
                  </a:txBody>
                  <a:tcPr/>
                </a:tc>
                <a:tc>
                  <a:txBody>
                    <a:bodyPr/>
                    <a:lstStyle/>
                    <a:p>
                      <a:pPr algn="ctr" fontAlgn="ctr" latinLnBrk="0">
                        <a:buNone/>
                      </a:pPr>
                      <a:r>
                        <a:rPr lang="ko-KR" altLang="en-US" sz="1000" b="0" i="0" u="none" strike="noStrike">
                          <a:solidFill>
                            <a:srgbClr val="000000"/>
                          </a:solidFill>
                          <a:effectLst/>
                          <a:latin typeface="+mj-ea"/>
                          <a:ea typeface="+mj-ea"/>
                        </a:rPr>
                        <a:t>문항 및 평가방법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이 능력단위의 학습 자료</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도면</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코드</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데이터 등</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는 쉽게 디지털 형태로 제공</a:t>
                      </a:r>
                      <a:r>
                        <a:rPr lang="en-US" altLang="ko-KR" sz="1000" b="0" i="0" u="none" strike="noStrike" dirty="0">
                          <a:solidFill>
                            <a:srgbClr val="000000"/>
                          </a:solidFill>
                          <a:effectLst/>
                          <a:latin typeface="+mj-ea"/>
                          <a:ea typeface="+mj-ea"/>
                        </a:rPr>
                        <a:t>·</a:t>
                      </a:r>
                      <a:r>
                        <a:rPr lang="ko-KR" altLang="en-US" sz="1000" b="0" i="0" u="none" strike="noStrike" dirty="0" err="1">
                          <a:solidFill>
                            <a:srgbClr val="000000"/>
                          </a:solidFill>
                          <a:effectLst/>
                          <a:latin typeface="+mj-ea"/>
                          <a:ea typeface="+mj-ea"/>
                        </a:rPr>
                        <a:t>활요할</a:t>
                      </a:r>
                      <a:r>
                        <a:rPr lang="ko-KR" altLang="en-US" sz="1000" b="0" i="0" u="none" strike="noStrike" dirty="0">
                          <a:solidFill>
                            <a:srgbClr val="000000"/>
                          </a:solidFill>
                          <a:effectLst/>
                          <a:latin typeface="+mj-ea"/>
                          <a:ea typeface="+mj-ea"/>
                        </a:rPr>
                        <a:t> 수 있다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838936"/>
                  </a:ext>
                </a:extLst>
              </a:tr>
            </a:tbl>
          </a:graphicData>
        </a:graphic>
      </p:graphicFrame>
      <p:grpSp>
        <p:nvGrpSpPr>
          <p:cNvPr id="75" name="Group 484">
            <a:extLst>
              <a:ext uri="{FF2B5EF4-FFF2-40B4-BE49-F238E27FC236}">
                <a16:creationId xmlns:a16="http://schemas.microsoft.com/office/drawing/2014/main" id="{8FA56F03-FB8B-CF2E-9043-1CCD42FA0E62}"/>
              </a:ext>
            </a:extLst>
          </p:cNvPr>
          <p:cNvGrpSpPr>
            <a:grpSpLocks/>
          </p:cNvGrpSpPr>
          <p:nvPr/>
        </p:nvGrpSpPr>
        <p:grpSpPr bwMode="auto">
          <a:xfrm>
            <a:off x="579611" y="6207818"/>
            <a:ext cx="4163840" cy="322668"/>
            <a:chOff x="352" y="2083"/>
            <a:chExt cx="5546" cy="344"/>
          </a:xfrm>
        </p:grpSpPr>
        <p:sp>
          <p:nvSpPr>
            <p:cNvPr id="76" name="Freeform 486">
              <a:extLst>
                <a:ext uri="{FF2B5EF4-FFF2-40B4-BE49-F238E27FC236}">
                  <a16:creationId xmlns:a16="http://schemas.microsoft.com/office/drawing/2014/main" id="{B89CB20F-A9BB-5F52-0610-B638A6AEED2F}"/>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77" name="Freeform 485">
              <a:extLst>
                <a:ext uri="{FF2B5EF4-FFF2-40B4-BE49-F238E27FC236}">
                  <a16:creationId xmlns:a16="http://schemas.microsoft.com/office/drawing/2014/main" id="{55B206AF-9505-A8DF-365F-9FB8CAAB89A0}"/>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sp>
        <p:nvSpPr>
          <p:cNvPr id="78" name="직사각형 77">
            <a:extLst>
              <a:ext uri="{FF2B5EF4-FFF2-40B4-BE49-F238E27FC236}">
                <a16:creationId xmlns:a16="http://schemas.microsoft.com/office/drawing/2014/main" id="{B27E71B0-59F1-5BCB-0F1F-52654087F50E}"/>
              </a:ext>
            </a:extLst>
          </p:cNvPr>
          <p:cNvSpPr/>
          <p:nvPr/>
        </p:nvSpPr>
        <p:spPr>
          <a:xfrm>
            <a:off x="596900" y="2590740"/>
            <a:ext cx="4140200" cy="444235"/>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en-US" altLang="ko-KR" sz="1100" dirty="0">
                <a:solidFill>
                  <a:schemeClr val="tx1"/>
                </a:solidFill>
                <a:latin typeface="+mj-ea"/>
                <a:ea typeface="+mj-ea"/>
              </a:rPr>
              <a:t>NCS </a:t>
            </a:r>
            <a:r>
              <a:rPr lang="ko-KR" altLang="en-US" sz="1100" dirty="0">
                <a:solidFill>
                  <a:schemeClr val="tx1"/>
                </a:solidFill>
                <a:latin typeface="+mj-ea"/>
                <a:ea typeface="+mj-ea"/>
              </a:rPr>
              <a:t>기반 교육과정 개발 방법에 관한 연구 보고서</a:t>
            </a:r>
            <a:r>
              <a:rPr lang="en-US" altLang="ko-KR" sz="1100" dirty="0">
                <a:solidFill>
                  <a:schemeClr val="tx1"/>
                </a:solidFill>
                <a:latin typeface="+mj-ea"/>
                <a:ea typeface="+mj-ea"/>
              </a:rPr>
              <a:t>, </a:t>
            </a:r>
            <a:r>
              <a:rPr lang="ko-KR" altLang="en-US" sz="1100" dirty="0">
                <a:solidFill>
                  <a:schemeClr val="tx1"/>
                </a:solidFill>
                <a:latin typeface="+mj-ea"/>
                <a:ea typeface="+mj-ea"/>
              </a:rPr>
              <a:t>논문</a:t>
            </a:r>
            <a:r>
              <a:rPr lang="en-US" altLang="ko-KR" sz="1100" dirty="0">
                <a:solidFill>
                  <a:schemeClr val="tx1"/>
                </a:solidFill>
                <a:latin typeface="+mj-ea"/>
                <a:ea typeface="+mj-ea"/>
              </a:rPr>
              <a:t> </a:t>
            </a:r>
            <a:r>
              <a:rPr lang="ko-KR" altLang="en-US" sz="1100" dirty="0">
                <a:solidFill>
                  <a:schemeClr val="tx1"/>
                </a:solidFill>
                <a:latin typeface="+mj-ea"/>
                <a:ea typeface="+mj-ea"/>
              </a:rPr>
              <a:t>및 다양한 참고자료를 분석하여 적합성 평가 지표 </a:t>
            </a:r>
            <a:r>
              <a:rPr lang="en-US" altLang="ko-KR" sz="1100" dirty="0">
                <a:solidFill>
                  <a:schemeClr val="tx1"/>
                </a:solidFill>
                <a:latin typeface="+mj-ea"/>
                <a:ea typeface="+mj-ea"/>
              </a:rPr>
              <a:t>Pool</a:t>
            </a:r>
            <a:r>
              <a:rPr lang="ko-KR" altLang="en-US" sz="1100" dirty="0">
                <a:solidFill>
                  <a:schemeClr val="tx1"/>
                </a:solidFill>
                <a:latin typeface="+mj-ea"/>
                <a:ea typeface="+mj-ea"/>
              </a:rPr>
              <a:t>을 도출함</a:t>
            </a:r>
          </a:p>
        </p:txBody>
      </p:sp>
      <p:sp>
        <p:nvSpPr>
          <p:cNvPr id="79" name="Text Box 350">
            <a:extLst>
              <a:ext uri="{FF2B5EF4-FFF2-40B4-BE49-F238E27FC236}">
                <a16:creationId xmlns:a16="http://schemas.microsoft.com/office/drawing/2014/main" id="{67C6BCDA-1539-44BC-6D65-8673ED290EA2}"/>
              </a:ext>
            </a:extLst>
          </p:cNvPr>
          <p:cNvSpPr txBox="1">
            <a:spLocks noChangeArrowheads="1"/>
          </p:cNvSpPr>
          <p:nvPr/>
        </p:nvSpPr>
        <p:spPr bwMode="auto">
          <a:xfrm rot="21154115">
            <a:off x="3562646" y="5753031"/>
            <a:ext cx="979066"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graphicFrame>
        <p:nvGraphicFramePr>
          <p:cNvPr id="83" name="표 82">
            <a:extLst>
              <a:ext uri="{FF2B5EF4-FFF2-40B4-BE49-F238E27FC236}">
                <a16:creationId xmlns:a16="http://schemas.microsoft.com/office/drawing/2014/main" id="{6E72F711-BF22-92E7-D0BF-BD891546BD8A}"/>
              </a:ext>
            </a:extLst>
          </p:cNvPr>
          <p:cNvGraphicFramePr>
            <a:graphicFrameLocks noGrp="1"/>
          </p:cNvGraphicFramePr>
          <p:nvPr>
            <p:extLst>
              <p:ext uri="{D42A27DB-BD31-4B8C-83A1-F6EECF244321}">
                <p14:modId xmlns:p14="http://schemas.microsoft.com/office/powerpoint/2010/main" val="187315700"/>
              </p:ext>
            </p:extLst>
          </p:nvPr>
        </p:nvGraphicFramePr>
        <p:xfrm>
          <a:off x="5686640" y="5064220"/>
          <a:ext cx="3658046" cy="1425480"/>
        </p:xfrm>
        <a:graphic>
          <a:graphicData uri="http://schemas.openxmlformats.org/drawingml/2006/table">
            <a:tbl>
              <a:tblPr/>
              <a:tblGrid>
                <a:gridCol w="1815145">
                  <a:extLst>
                    <a:ext uri="{9D8B030D-6E8A-4147-A177-3AD203B41FA5}">
                      <a16:colId xmlns:a16="http://schemas.microsoft.com/office/drawing/2014/main" val="2649562251"/>
                    </a:ext>
                  </a:extLst>
                </a:gridCol>
                <a:gridCol w="1217972">
                  <a:extLst>
                    <a:ext uri="{9D8B030D-6E8A-4147-A177-3AD203B41FA5}">
                      <a16:colId xmlns:a16="http://schemas.microsoft.com/office/drawing/2014/main" val="1902724433"/>
                    </a:ext>
                  </a:extLst>
                </a:gridCol>
                <a:gridCol w="624929">
                  <a:extLst>
                    <a:ext uri="{9D8B030D-6E8A-4147-A177-3AD203B41FA5}">
                      <a16:colId xmlns:a16="http://schemas.microsoft.com/office/drawing/2014/main" val="890868450"/>
                    </a:ext>
                  </a:extLst>
                </a:gridCol>
              </a:tblGrid>
              <a:tr h="114117">
                <a:tc>
                  <a:txBody>
                    <a:bodyPr/>
                    <a:lstStyle/>
                    <a:p>
                      <a:pPr algn="ctr" rtl="0" fontAlgn="ctr" latinLnBrk="0"/>
                      <a:r>
                        <a:rPr lang="ko-KR" altLang="en-US" sz="1100" b="0" dirty="0">
                          <a:solidFill>
                            <a:schemeClr val="bg1"/>
                          </a:solidFill>
                          <a:effectLst/>
                          <a:latin typeface="+mj-ea"/>
                          <a:ea typeface="+mj-ea"/>
                        </a:rPr>
                        <a:t>소속기관</a:t>
                      </a:r>
                    </a:p>
                  </a:txBody>
                  <a:tcPr marL="36000" marR="36000" marT="18000" marB="18000"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rtl="0" fontAlgn="ctr" latinLnBrk="0"/>
                      <a:r>
                        <a:rPr lang="ko-KR" altLang="en-US" sz="1100" b="0" dirty="0">
                          <a:solidFill>
                            <a:schemeClr val="bg1"/>
                          </a:solidFill>
                          <a:effectLst/>
                          <a:latin typeface="+mj-ea"/>
                          <a:ea typeface="+mj-ea"/>
                        </a:rPr>
                        <a:t>소속부서</a:t>
                      </a:r>
                      <a:r>
                        <a:rPr lang="en-US" altLang="ko-KR" sz="1100" b="0" dirty="0">
                          <a:solidFill>
                            <a:schemeClr val="bg1"/>
                          </a:solidFill>
                          <a:effectLst/>
                          <a:latin typeface="+mj-ea"/>
                          <a:ea typeface="+mj-ea"/>
                        </a:rPr>
                        <a:t>/</a:t>
                      </a:r>
                      <a:r>
                        <a:rPr lang="ko-KR" altLang="en-US" sz="1100" b="0" dirty="0">
                          <a:solidFill>
                            <a:schemeClr val="bg1"/>
                          </a:solidFill>
                          <a:effectLst/>
                          <a:latin typeface="+mj-ea"/>
                          <a:ea typeface="+mj-ea"/>
                        </a:rPr>
                        <a:t>직위</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rtl="0" fontAlgn="ctr" latinLnBrk="0"/>
                      <a:r>
                        <a:rPr lang="ko-KR" altLang="en-US" sz="1100" b="0" dirty="0">
                          <a:solidFill>
                            <a:schemeClr val="bg1"/>
                          </a:solidFill>
                          <a:effectLst/>
                          <a:latin typeface="+mj-ea"/>
                          <a:ea typeface="+mj-ea"/>
                        </a:rPr>
                        <a:t>이름</a:t>
                      </a:r>
                    </a:p>
                  </a:txBody>
                  <a:tcPr marL="36000" marR="36000" marT="18000" marB="18000" anchor="ctr">
                    <a:lnL w="31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035341123"/>
                  </a:ext>
                </a:extLst>
              </a:tr>
              <a:tr h="114117">
                <a:tc>
                  <a:txBody>
                    <a:bodyPr/>
                    <a:lstStyle/>
                    <a:p>
                      <a:pPr algn="ctr" rtl="0" fontAlgn="ctr" latinLnBrk="0"/>
                      <a:r>
                        <a:rPr lang="ko-KR" altLang="en-US" sz="1100" b="0" dirty="0">
                          <a:effectLst/>
                          <a:latin typeface="+mj-ea"/>
                          <a:ea typeface="+mj-ea"/>
                        </a:rPr>
                        <a:t>건국대학교</a:t>
                      </a:r>
                    </a:p>
                  </a:txBody>
                  <a:tcPr marL="36000" marR="36000" marT="18000" marB="18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교수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김종훈</a:t>
                      </a: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0778702"/>
                  </a:ext>
                </a:extLst>
              </a:tr>
              <a:tr h="114117">
                <a:tc>
                  <a:txBody>
                    <a:bodyPr/>
                    <a:lstStyle/>
                    <a:p>
                      <a:pPr algn="ctr" rtl="0" fontAlgn="ctr" latinLnBrk="0"/>
                      <a:r>
                        <a:rPr lang="ko-KR" altLang="en-US" sz="1100" b="0" dirty="0">
                          <a:effectLst/>
                          <a:latin typeface="+mj-ea"/>
                          <a:ea typeface="+mj-ea"/>
                        </a:rPr>
                        <a:t>한국고용정보원</a:t>
                      </a:r>
                    </a:p>
                  </a:txBody>
                  <a:tcPr marL="36000" marR="36000" marT="18000" marB="18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연구위원</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김동규</a:t>
                      </a: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945641"/>
                  </a:ext>
                </a:extLst>
              </a:tr>
              <a:tr h="114117">
                <a:tc>
                  <a:txBody>
                    <a:bodyPr/>
                    <a:lstStyle/>
                    <a:p>
                      <a:pPr algn="ctr" latinLnBrk="0"/>
                      <a:r>
                        <a:rPr lang="ko-KR" altLang="en-US" sz="1100" dirty="0">
                          <a:latin typeface="+mj-ea"/>
                          <a:ea typeface="+mj-ea"/>
                        </a:rPr>
                        <a:t>한국직업능력연구원</a:t>
                      </a:r>
                    </a:p>
                  </a:txBody>
                  <a:tcPr marL="36000" marR="36000" marT="18000" marB="18000" anchor="ctr">
                    <a:lnL w="12700" cmpd="sng">
                      <a:noFill/>
                      <a:prstDash val="soli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latinLnBrk="0"/>
                      <a:r>
                        <a:rPr lang="ko-KR" altLang="en-US" sz="1100" b="0" dirty="0">
                          <a:effectLst/>
                          <a:latin typeface="+mj-ea"/>
                          <a:ea typeface="+mj-ea"/>
                        </a:rPr>
                        <a:t>선임연구위원</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err="1">
                          <a:effectLst/>
                          <a:latin typeface="+mj-ea"/>
                          <a:ea typeface="+mj-ea"/>
                        </a:rPr>
                        <a:t>나동만</a:t>
                      </a:r>
                      <a:endParaRPr lang="ko-KR" altLang="en-US" sz="1100" b="0" dirty="0">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354502"/>
                  </a:ext>
                </a:extLst>
              </a:tr>
              <a:tr h="114117">
                <a:tc>
                  <a:txBody>
                    <a:bodyPr/>
                    <a:lstStyle/>
                    <a:p>
                      <a:pPr algn="ctr" rtl="0" fontAlgn="ctr" latinLnBrk="0"/>
                      <a:r>
                        <a:rPr lang="ko-KR" altLang="en-US" sz="1100" b="0" dirty="0" err="1">
                          <a:effectLst/>
                          <a:latin typeface="+mj-ea"/>
                          <a:ea typeface="+mj-ea"/>
                        </a:rPr>
                        <a:t>직업능력사평가원</a:t>
                      </a:r>
                      <a:endParaRPr lang="ko-KR" altLang="en-US" sz="1100" b="0" dirty="0">
                        <a:effectLst/>
                        <a:latin typeface="+mj-ea"/>
                        <a:ea typeface="+mj-ea"/>
                      </a:endParaRPr>
                    </a:p>
                  </a:txBody>
                  <a:tcPr marL="36000" marR="36000" marT="18000" marB="18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dirty="0">
                          <a:effectLst/>
                          <a:latin typeface="+mj-ea"/>
                          <a:ea typeface="+mj-ea"/>
                        </a:rPr>
                        <a:t>파트장</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err="1">
                          <a:effectLst/>
                          <a:latin typeface="+mj-ea"/>
                          <a:ea typeface="+mj-ea"/>
                        </a:rPr>
                        <a:t>이옥영</a:t>
                      </a:r>
                      <a:endParaRPr lang="ko-KR" altLang="en-US" sz="1100" b="0" dirty="0">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057459"/>
                  </a:ext>
                </a:extLst>
              </a:tr>
              <a:tr h="114117">
                <a:tc>
                  <a:txBody>
                    <a:bodyPr/>
                    <a:lstStyle/>
                    <a:p>
                      <a:pPr algn="ctr" rtl="0" fontAlgn="ctr" latinLnBrk="0"/>
                      <a:r>
                        <a:rPr lang="ko-KR" altLang="en-US" sz="1100" b="0" dirty="0">
                          <a:effectLst/>
                          <a:latin typeface="+mj-ea"/>
                          <a:ea typeface="+mj-ea"/>
                        </a:rPr>
                        <a:t>기계</a:t>
                      </a:r>
                      <a:r>
                        <a:rPr lang="en-US" altLang="ko-KR" sz="1100" b="0" dirty="0">
                          <a:effectLst/>
                          <a:latin typeface="+mj-ea"/>
                          <a:ea typeface="+mj-ea"/>
                        </a:rPr>
                        <a:t>ISC</a:t>
                      </a:r>
                      <a:endParaRPr lang="ko-KR" altLang="en-US" sz="1100" b="0" dirty="0">
                        <a:effectLst/>
                        <a:latin typeface="+mj-ea"/>
                        <a:ea typeface="+mj-ea"/>
                      </a:endParaRPr>
                    </a:p>
                  </a:txBody>
                  <a:tcPr marL="36000" marR="36000" marT="18000" marB="18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팀장</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err="1">
                          <a:effectLst/>
                          <a:latin typeface="+mj-ea"/>
                          <a:ea typeface="+mj-ea"/>
                        </a:rPr>
                        <a:t>황태진</a:t>
                      </a:r>
                      <a:endParaRPr lang="ko-KR" altLang="en-US" sz="1100" b="0" dirty="0">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674231"/>
                  </a:ext>
                </a:extLst>
              </a:tr>
              <a:tr h="114117">
                <a:tc>
                  <a:txBody>
                    <a:bodyPr/>
                    <a:lstStyle/>
                    <a:p>
                      <a:pPr algn="ctr" rtl="0" fontAlgn="ctr" latinLnBrk="0"/>
                      <a:r>
                        <a:rPr lang="ko-KR" altLang="en-US" sz="1100" b="0" dirty="0">
                          <a:effectLst/>
                          <a:latin typeface="+mj-ea"/>
                          <a:ea typeface="+mj-ea"/>
                        </a:rPr>
                        <a:t>정보기술</a:t>
                      </a:r>
                      <a:r>
                        <a:rPr lang="en-US" altLang="ko-KR" sz="1100" b="0" dirty="0">
                          <a:effectLst/>
                          <a:latin typeface="+mj-ea"/>
                          <a:ea typeface="+mj-ea"/>
                        </a:rPr>
                        <a:t>·</a:t>
                      </a:r>
                      <a:r>
                        <a:rPr lang="ko-KR" altLang="en-US" sz="1100" b="0" dirty="0">
                          <a:effectLst/>
                          <a:latin typeface="+mj-ea"/>
                          <a:ea typeface="+mj-ea"/>
                        </a:rPr>
                        <a:t>사업관리 </a:t>
                      </a:r>
                      <a:r>
                        <a:rPr lang="en-US" altLang="ko-KR" sz="1100" b="0" dirty="0">
                          <a:effectLst/>
                          <a:latin typeface="+mj-ea"/>
                          <a:ea typeface="+mj-ea"/>
                        </a:rPr>
                        <a:t>ISC</a:t>
                      </a:r>
                      <a:endParaRPr lang="ko-KR" altLang="en-US" sz="1100" b="0" dirty="0">
                        <a:effectLst/>
                        <a:latin typeface="+mj-ea"/>
                        <a:ea typeface="+mj-ea"/>
                      </a:endParaRPr>
                    </a:p>
                  </a:txBody>
                  <a:tcPr marL="36000" marR="36000" marT="18000" marB="18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전문위원</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latinLnBrk="0"/>
                      <a:r>
                        <a:rPr lang="ko-KR" altLang="en-US" sz="1100" b="0" dirty="0">
                          <a:effectLst/>
                          <a:latin typeface="+mj-ea"/>
                          <a:ea typeface="+mj-ea"/>
                        </a:rPr>
                        <a:t>김태현</a:t>
                      </a:r>
                    </a:p>
                  </a:txBody>
                  <a:tcPr marL="36000" marR="36000" marT="18000" marB="18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288713"/>
                  </a:ext>
                </a:extLst>
              </a:tr>
            </a:tbl>
          </a:graphicData>
        </a:graphic>
      </p:graphicFrame>
      <p:sp>
        <p:nvSpPr>
          <p:cNvPr id="84" name="직사각형 83">
            <a:extLst>
              <a:ext uri="{FF2B5EF4-FFF2-40B4-BE49-F238E27FC236}">
                <a16:creationId xmlns:a16="http://schemas.microsoft.com/office/drawing/2014/main" id="{939B4C6B-C36B-2B14-81FE-BE5251DC41E7}"/>
              </a:ext>
            </a:extLst>
          </p:cNvPr>
          <p:cNvSpPr/>
          <p:nvPr/>
        </p:nvSpPr>
        <p:spPr>
          <a:xfrm>
            <a:off x="4966658" y="2591852"/>
            <a:ext cx="666880" cy="443124"/>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목적</a:t>
            </a:r>
          </a:p>
        </p:txBody>
      </p:sp>
      <p:sp>
        <p:nvSpPr>
          <p:cNvPr id="85" name="직사각형 84">
            <a:extLst>
              <a:ext uri="{FF2B5EF4-FFF2-40B4-BE49-F238E27FC236}">
                <a16:creationId xmlns:a16="http://schemas.microsoft.com/office/drawing/2014/main" id="{69A59A77-FA01-04C7-626C-A54146513661}"/>
              </a:ext>
            </a:extLst>
          </p:cNvPr>
          <p:cNvSpPr/>
          <p:nvPr/>
        </p:nvSpPr>
        <p:spPr>
          <a:xfrm>
            <a:off x="5686640" y="2591852"/>
            <a:ext cx="3658973" cy="443124"/>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en-US" altLang="ko-KR" sz="1100" spc="-50" dirty="0">
                <a:solidFill>
                  <a:schemeClr val="tx1"/>
                </a:solidFill>
                <a:latin typeface="+mj-ea"/>
                <a:ea typeface="+mj-ea"/>
              </a:rPr>
              <a:t>NCS 10</a:t>
            </a:r>
            <a:r>
              <a:rPr lang="ko-KR" altLang="en-US" sz="1100" spc="-50" dirty="0">
                <a:solidFill>
                  <a:schemeClr val="tx1"/>
                </a:solidFill>
                <a:latin typeface="+mj-ea"/>
                <a:ea typeface="+mj-ea"/>
              </a:rPr>
              <a:t>대 분야의 능력단위 중 이러닝 또는 가상훈련 콘텐츠 개발에 활용 가능한 능력단위를 선별하고</a:t>
            </a:r>
            <a:r>
              <a:rPr lang="en-US" altLang="ko-KR" sz="1100" spc="-50" dirty="0">
                <a:solidFill>
                  <a:schemeClr val="tx1"/>
                </a:solidFill>
                <a:latin typeface="+mj-ea"/>
                <a:ea typeface="+mj-ea"/>
              </a:rPr>
              <a:t>, </a:t>
            </a:r>
            <a:r>
              <a:rPr lang="ko-KR" altLang="en-US" sz="1100" spc="-50" dirty="0">
                <a:solidFill>
                  <a:schemeClr val="tx1"/>
                </a:solidFill>
                <a:latin typeface="+mj-ea"/>
                <a:ea typeface="+mj-ea"/>
              </a:rPr>
              <a:t>이에 대한 개발 우선순위 도출</a:t>
            </a:r>
          </a:p>
        </p:txBody>
      </p:sp>
      <p:sp>
        <p:nvSpPr>
          <p:cNvPr id="86" name="직사각형 85">
            <a:extLst>
              <a:ext uri="{FF2B5EF4-FFF2-40B4-BE49-F238E27FC236}">
                <a16:creationId xmlns:a16="http://schemas.microsoft.com/office/drawing/2014/main" id="{5F3E91E5-EBC8-0159-E868-51484A034190}"/>
              </a:ext>
            </a:extLst>
          </p:cNvPr>
          <p:cNvSpPr/>
          <p:nvPr/>
        </p:nvSpPr>
        <p:spPr>
          <a:xfrm>
            <a:off x="4966658" y="3544932"/>
            <a:ext cx="666880" cy="1461791"/>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검토 </a:t>
            </a:r>
            <a:endParaRPr lang="en-US" altLang="ko-KR" dirty="0">
              <a:solidFill>
                <a:schemeClr val="bg1"/>
              </a:solidFill>
              <a:latin typeface="Arial Narrow" panose="020B0606020202030204" pitchFamily="34" charset="0"/>
              <a:ea typeface="a고딕14" panose="02020600000000000000" pitchFamily="18" charset="-127"/>
            </a:endParaRPr>
          </a:p>
          <a:p>
            <a:pPr>
              <a:buNone/>
            </a:pPr>
            <a:r>
              <a:rPr lang="ko-KR" altLang="en-US" dirty="0">
                <a:solidFill>
                  <a:schemeClr val="bg1"/>
                </a:solidFill>
                <a:latin typeface="Arial Narrow" panose="020B0606020202030204" pitchFamily="34" charset="0"/>
                <a:ea typeface="a고딕14" panose="02020600000000000000" pitchFamily="18" charset="-127"/>
              </a:rPr>
              <a:t>내용</a:t>
            </a:r>
          </a:p>
        </p:txBody>
      </p:sp>
      <p:sp>
        <p:nvSpPr>
          <p:cNvPr id="87" name="직사각형 86">
            <a:extLst>
              <a:ext uri="{FF2B5EF4-FFF2-40B4-BE49-F238E27FC236}">
                <a16:creationId xmlns:a16="http://schemas.microsoft.com/office/drawing/2014/main" id="{B6F77B6B-5EFE-7008-0D0F-A09776E6974A}"/>
              </a:ext>
            </a:extLst>
          </p:cNvPr>
          <p:cNvSpPr/>
          <p:nvPr/>
        </p:nvSpPr>
        <p:spPr>
          <a:xfrm>
            <a:off x="5686640" y="3544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85725" algn="l" latinLnBrk="0">
              <a:buNone/>
            </a:pPr>
            <a:r>
              <a:rPr lang="en-US" altLang="ko-KR" sz="1100" spc="-50" dirty="0">
                <a:solidFill>
                  <a:schemeClr val="tx1"/>
                </a:solidFill>
                <a:latin typeface="+mj-ea"/>
                <a:ea typeface="+mj-ea"/>
              </a:rPr>
              <a:t>1. </a:t>
            </a:r>
            <a:r>
              <a:rPr lang="ko-KR" altLang="en-US" sz="1100" spc="-50" dirty="0">
                <a:solidFill>
                  <a:schemeClr val="tx1"/>
                </a:solidFill>
                <a:latin typeface="+mj-ea"/>
                <a:ea typeface="+mj-ea"/>
              </a:rPr>
              <a:t>지표 </a:t>
            </a:r>
            <a:r>
              <a:rPr lang="en-US" altLang="ko-KR" sz="1100" spc="-50" dirty="0">
                <a:solidFill>
                  <a:schemeClr val="tx1"/>
                </a:solidFill>
                <a:latin typeface="+mj-ea"/>
                <a:ea typeface="+mj-ea"/>
              </a:rPr>
              <a:t>Pool</a:t>
            </a:r>
            <a:r>
              <a:rPr lang="ko-KR" altLang="en-US" sz="1100" spc="-50" dirty="0">
                <a:solidFill>
                  <a:schemeClr val="tx1"/>
                </a:solidFill>
                <a:latin typeface="+mj-ea"/>
                <a:ea typeface="+mj-ea"/>
              </a:rPr>
              <a:t>에 제시된 평가 지표는 </a:t>
            </a:r>
            <a:r>
              <a:rPr lang="en-US" altLang="ko-KR" sz="1100" spc="-50" dirty="0">
                <a:solidFill>
                  <a:schemeClr val="tx1"/>
                </a:solidFill>
                <a:latin typeface="+mj-ea"/>
                <a:ea typeface="+mj-ea"/>
              </a:rPr>
              <a:t>NCS </a:t>
            </a:r>
            <a:r>
              <a:rPr lang="ko-KR" altLang="en-US" sz="1100" spc="-50" dirty="0">
                <a:solidFill>
                  <a:schemeClr val="tx1"/>
                </a:solidFill>
                <a:latin typeface="+mj-ea"/>
                <a:ea typeface="+mj-ea"/>
              </a:rPr>
              <a:t>능력단위의 이러닝 또는 가상훈련 </a:t>
            </a:r>
            <a:r>
              <a:rPr lang="ko-KR" altLang="en-US" sz="1100" spc="-50" dirty="0">
                <a:solidFill>
                  <a:srgbClr val="0070C0"/>
                </a:solidFill>
                <a:latin typeface="+mj-ea"/>
                <a:ea typeface="+mj-ea"/>
              </a:rPr>
              <a:t>콘텐츠 개발 가능성을 판단하기에 적절</a:t>
            </a:r>
            <a:r>
              <a:rPr lang="ko-KR" altLang="en-US" sz="1100" spc="-50" dirty="0">
                <a:solidFill>
                  <a:schemeClr val="tx1"/>
                </a:solidFill>
                <a:latin typeface="+mj-ea"/>
                <a:ea typeface="+mj-ea"/>
              </a:rPr>
              <a:t>한가</a:t>
            </a:r>
            <a:r>
              <a:rPr lang="en-US" altLang="ko-KR" sz="1100" spc="-50" dirty="0">
                <a:solidFill>
                  <a:schemeClr val="tx1"/>
                </a:solidFill>
                <a:latin typeface="+mj-ea"/>
                <a:ea typeface="+mj-ea"/>
              </a:rPr>
              <a:t>?</a:t>
            </a:r>
            <a:endParaRPr lang="ko-KR" altLang="en-US" sz="1100" spc="-50" dirty="0">
              <a:solidFill>
                <a:schemeClr val="tx1"/>
              </a:solidFill>
              <a:latin typeface="+mj-ea"/>
              <a:ea typeface="+mj-ea"/>
            </a:endParaRPr>
          </a:p>
        </p:txBody>
      </p:sp>
      <p:sp>
        <p:nvSpPr>
          <p:cNvPr id="88" name="직사각형 87">
            <a:extLst>
              <a:ext uri="{FF2B5EF4-FFF2-40B4-BE49-F238E27FC236}">
                <a16:creationId xmlns:a16="http://schemas.microsoft.com/office/drawing/2014/main" id="{ACCD4239-359D-CAE7-53B5-51CB2861AD9C}"/>
              </a:ext>
            </a:extLst>
          </p:cNvPr>
          <p:cNvSpPr/>
          <p:nvPr/>
        </p:nvSpPr>
        <p:spPr>
          <a:xfrm>
            <a:off x="5686640" y="3917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85725" algn="l" latinLnBrk="0">
              <a:buNone/>
            </a:pPr>
            <a:r>
              <a:rPr lang="en-US" altLang="ko-KR" sz="1100" spc="-50" dirty="0">
                <a:solidFill>
                  <a:schemeClr val="tx1"/>
                </a:solidFill>
                <a:latin typeface="+mj-ea"/>
                <a:ea typeface="+mj-ea"/>
              </a:rPr>
              <a:t>2.</a:t>
            </a:r>
            <a:r>
              <a:rPr lang="ko-KR" altLang="en-US" sz="1100" spc="-50" dirty="0">
                <a:solidFill>
                  <a:schemeClr val="tx1"/>
                </a:solidFill>
                <a:latin typeface="+mj-ea"/>
                <a:ea typeface="+mj-ea"/>
              </a:rPr>
              <a:t> 이러닝 콘텐츠 개발 가능성 판단을 위해 </a:t>
            </a:r>
            <a:r>
              <a:rPr lang="ko-KR" altLang="en-US" sz="1100" spc="-50" dirty="0">
                <a:solidFill>
                  <a:srgbClr val="0070C0"/>
                </a:solidFill>
                <a:latin typeface="+mj-ea"/>
                <a:ea typeface="+mj-ea"/>
              </a:rPr>
              <a:t>추가로 포함되어야 할 지표나 자료</a:t>
            </a:r>
            <a:r>
              <a:rPr lang="en-US" altLang="ko-KR" sz="1100" spc="-50" dirty="0">
                <a:solidFill>
                  <a:srgbClr val="0070C0"/>
                </a:solidFill>
                <a:latin typeface="+mj-ea"/>
                <a:ea typeface="+mj-ea"/>
              </a:rPr>
              <a:t>(DB)</a:t>
            </a:r>
            <a:r>
              <a:rPr lang="ko-KR" altLang="en-US" sz="1100" spc="-50" dirty="0">
                <a:solidFill>
                  <a:srgbClr val="0070C0"/>
                </a:solidFill>
                <a:latin typeface="+mj-ea"/>
                <a:ea typeface="+mj-ea"/>
              </a:rPr>
              <a:t>는 없는가</a:t>
            </a:r>
            <a:r>
              <a:rPr lang="en-US" altLang="ko-KR" sz="1100" spc="-50" dirty="0">
                <a:solidFill>
                  <a:srgbClr val="0070C0"/>
                </a:solidFill>
                <a:latin typeface="+mj-ea"/>
                <a:ea typeface="+mj-ea"/>
              </a:rPr>
              <a:t>?</a:t>
            </a:r>
            <a:endParaRPr lang="ko-KR" altLang="en-US" sz="1100" spc="-50" dirty="0">
              <a:solidFill>
                <a:srgbClr val="0070C0"/>
              </a:solidFill>
              <a:latin typeface="+mj-ea"/>
              <a:ea typeface="+mj-ea"/>
            </a:endParaRPr>
          </a:p>
        </p:txBody>
      </p:sp>
      <p:sp>
        <p:nvSpPr>
          <p:cNvPr id="89" name="직사각형 88">
            <a:extLst>
              <a:ext uri="{FF2B5EF4-FFF2-40B4-BE49-F238E27FC236}">
                <a16:creationId xmlns:a16="http://schemas.microsoft.com/office/drawing/2014/main" id="{47EC3B6C-2CB8-1A7E-6A88-5F5B8087EACF}"/>
              </a:ext>
            </a:extLst>
          </p:cNvPr>
          <p:cNvSpPr/>
          <p:nvPr/>
        </p:nvSpPr>
        <p:spPr>
          <a:xfrm>
            <a:off x="5686640" y="4290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85725" algn="l" latinLnBrk="0">
              <a:buNone/>
            </a:pPr>
            <a:r>
              <a:rPr lang="en-US" altLang="ko-KR" sz="1100" spc="-50" dirty="0">
                <a:solidFill>
                  <a:schemeClr val="tx1"/>
                </a:solidFill>
                <a:latin typeface="+mj-ea"/>
                <a:ea typeface="+mj-ea"/>
              </a:rPr>
              <a:t>3. </a:t>
            </a:r>
            <a:r>
              <a:rPr lang="ko-KR" altLang="en-US" sz="1100" spc="-50" dirty="0">
                <a:solidFill>
                  <a:schemeClr val="tx1"/>
                </a:solidFill>
                <a:latin typeface="+mj-ea"/>
                <a:ea typeface="+mj-ea"/>
              </a:rPr>
              <a:t>약 </a:t>
            </a:r>
            <a:r>
              <a:rPr lang="en-US" altLang="ko-KR" sz="1100" spc="-50" dirty="0">
                <a:solidFill>
                  <a:schemeClr val="tx1"/>
                </a:solidFill>
                <a:latin typeface="+mj-ea"/>
                <a:ea typeface="+mj-ea"/>
              </a:rPr>
              <a:t>7,000</a:t>
            </a:r>
            <a:r>
              <a:rPr lang="ko-KR" altLang="en-US" sz="1100" spc="-50" dirty="0">
                <a:solidFill>
                  <a:schemeClr val="tx1"/>
                </a:solidFill>
                <a:latin typeface="+mj-ea"/>
                <a:ea typeface="+mj-ea"/>
              </a:rPr>
              <a:t>개의 능력단위를 </a:t>
            </a:r>
            <a:r>
              <a:rPr lang="en-US" altLang="ko-KR" sz="1100" spc="-50" dirty="0">
                <a:solidFill>
                  <a:schemeClr val="tx1"/>
                </a:solidFill>
                <a:latin typeface="+mj-ea"/>
                <a:ea typeface="+mj-ea"/>
              </a:rPr>
              <a:t>30</a:t>
            </a:r>
            <a:r>
              <a:rPr lang="ko-KR" altLang="en-US" sz="1100" spc="-50" dirty="0">
                <a:solidFill>
                  <a:schemeClr val="tx1"/>
                </a:solidFill>
                <a:latin typeface="+mj-ea"/>
                <a:ea typeface="+mj-ea"/>
              </a:rPr>
              <a:t>명의 전문가가 </a:t>
            </a:r>
            <a:r>
              <a:rPr lang="ko-KR" altLang="en-US" sz="1100" spc="-50" dirty="0">
                <a:solidFill>
                  <a:srgbClr val="0070C0"/>
                </a:solidFill>
                <a:latin typeface="+mj-ea"/>
                <a:ea typeface="+mj-ea"/>
              </a:rPr>
              <a:t>평가하는 구조는 현실적으로 타당</a:t>
            </a:r>
            <a:r>
              <a:rPr lang="ko-KR" altLang="en-US" sz="1100" spc="-50" dirty="0">
                <a:solidFill>
                  <a:schemeClr val="tx1"/>
                </a:solidFill>
                <a:latin typeface="+mj-ea"/>
                <a:ea typeface="+mj-ea"/>
              </a:rPr>
              <a:t>한가</a:t>
            </a:r>
            <a:r>
              <a:rPr lang="en-US" altLang="ko-KR" sz="1100" spc="-50" dirty="0">
                <a:solidFill>
                  <a:schemeClr val="tx1"/>
                </a:solidFill>
                <a:latin typeface="+mj-ea"/>
                <a:ea typeface="+mj-ea"/>
              </a:rPr>
              <a:t>?</a:t>
            </a:r>
            <a:endParaRPr lang="ko-KR" altLang="en-US" sz="1100" spc="-50" dirty="0">
              <a:solidFill>
                <a:schemeClr val="tx1"/>
              </a:solidFill>
              <a:latin typeface="+mj-ea"/>
              <a:ea typeface="+mj-ea"/>
            </a:endParaRPr>
          </a:p>
        </p:txBody>
      </p:sp>
      <p:sp>
        <p:nvSpPr>
          <p:cNvPr id="90" name="직사각형 89">
            <a:extLst>
              <a:ext uri="{FF2B5EF4-FFF2-40B4-BE49-F238E27FC236}">
                <a16:creationId xmlns:a16="http://schemas.microsoft.com/office/drawing/2014/main" id="{DCC3E5D0-93CF-068B-BA1F-8BCD4312FEB5}"/>
              </a:ext>
            </a:extLst>
          </p:cNvPr>
          <p:cNvSpPr/>
          <p:nvPr/>
        </p:nvSpPr>
        <p:spPr>
          <a:xfrm>
            <a:off x="5686640" y="4663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85725" algn="l" latinLnBrk="0">
              <a:buNone/>
            </a:pPr>
            <a:r>
              <a:rPr lang="en-US" altLang="ko-KR" sz="1100" spc="-50" dirty="0">
                <a:solidFill>
                  <a:schemeClr val="tx1"/>
                </a:solidFill>
                <a:latin typeface="+mj-ea"/>
                <a:ea typeface="+mj-ea"/>
              </a:rPr>
              <a:t>4. </a:t>
            </a:r>
            <a:r>
              <a:rPr lang="ko-KR" altLang="en-US" sz="1100" spc="-50" dirty="0">
                <a:solidFill>
                  <a:schemeClr val="tx1"/>
                </a:solidFill>
                <a:latin typeface="+mj-ea"/>
                <a:ea typeface="+mj-ea"/>
              </a:rPr>
              <a:t>평가자의 일관성 확보와 </a:t>
            </a:r>
            <a:r>
              <a:rPr lang="ko-KR" altLang="en-US" sz="1100" spc="-50" dirty="0">
                <a:solidFill>
                  <a:srgbClr val="0070C0"/>
                </a:solidFill>
                <a:latin typeface="+mj-ea"/>
                <a:ea typeface="+mj-ea"/>
              </a:rPr>
              <a:t>다양한 평가관점</a:t>
            </a:r>
            <a:r>
              <a:rPr lang="en-US" altLang="ko-KR" sz="1100" spc="-50" dirty="0">
                <a:solidFill>
                  <a:srgbClr val="0070C0"/>
                </a:solidFill>
                <a:latin typeface="+mj-ea"/>
                <a:ea typeface="+mj-ea"/>
              </a:rPr>
              <a:t>(</a:t>
            </a:r>
            <a:r>
              <a:rPr lang="ko-KR" altLang="en-US" sz="1100" spc="-50" dirty="0">
                <a:solidFill>
                  <a:srgbClr val="0070C0"/>
                </a:solidFill>
                <a:latin typeface="+mj-ea"/>
                <a:ea typeface="+mj-ea"/>
              </a:rPr>
              <a:t>교수</a:t>
            </a:r>
            <a:r>
              <a:rPr lang="en-US" altLang="ko-KR" sz="1100" spc="-50" dirty="0">
                <a:solidFill>
                  <a:srgbClr val="0070C0"/>
                </a:solidFill>
                <a:latin typeface="+mj-lt"/>
                <a:ea typeface="+mj-ea"/>
              </a:rPr>
              <a:t>·</a:t>
            </a:r>
            <a:r>
              <a:rPr lang="ko-KR" altLang="en-US" sz="1100" spc="-50" dirty="0">
                <a:solidFill>
                  <a:srgbClr val="0070C0"/>
                </a:solidFill>
                <a:latin typeface="+mj-ea"/>
                <a:ea typeface="+mj-ea"/>
              </a:rPr>
              <a:t>산업전문가</a:t>
            </a:r>
            <a:r>
              <a:rPr lang="en-US" altLang="ko-KR" sz="1100" spc="-50" dirty="0">
                <a:solidFill>
                  <a:srgbClr val="0070C0"/>
                </a:solidFill>
              </a:rPr>
              <a:t>·</a:t>
            </a:r>
            <a:r>
              <a:rPr lang="en-US" altLang="ko-KR" sz="1100" spc="-50" dirty="0">
                <a:solidFill>
                  <a:srgbClr val="0070C0"/>
                </a:solidFill>
                <a:latin typeface="+mj-ea"/>
                <a:ea typeface="+mj-ea"/>
              </a:rPr>
              <a:t>ISC)</a:t>
            </a:r>
            <a:r>
              <a:rPr lang="ko-KR" altLang="en-US" sz="1100" spc="-50" dirty="0">
                <a:solidFill>
                  <a:srgbClr val="0070C0"/>
                </a:solidFill>
                <a:latin typeface="+mj-ea"/>
                <a:ea typeface="+mj-ea"/>
              </a:rPr>
              <a:t>의 균형을 위한 운영 방안</a:t>
            </a:r>
            <a:r>
              <a:rPr lang="ko-KR" altLang="en-US" sz="1100" spc="-50" dirty="0">
                <a:solidFill>
                  <a:schemeClr val="tx1"/>
                </a:solidFill>
                <a:latin typeface="+mj-ea"/>
                <a:ea typeface="+mj-ea"/>
              </a:rPr>
              <a:t>은 무엇이 적절한가</a:t>
            </a:r>
            <a:r>
              <a:rPr lang="en-US" altLang="ko-KR" sz="1100" spc="-50" dirty="0">
                <a:solidFill>
                  <a:schemeClr val="tx1"/>
                </a:solidFill>
                <a:latin typeface="+mj-ea"/>
                <a:ea typeface="+mj-ea"/>
              </a:rPr>
              <a:t>?</a:t>
            </a:r>
            <a:endParaRPr lang="ko-KR" altLang="en-US" sz="1100" spc="-50" dirty="0">
              <a:solidFill>
                <a:schemeClr val="tx1"/>
              </a:solidFill>
              <a:latin typeface="+mj-ea"/>
              <a:ea typeface="+mj-ea"/>
            </a:endParaRPr>
          </a:p>
        </p:txBody>
      </p:sp>
      <p:sp>
        <p:nvSpPr>
          <p:cNvPr id="91" name="직사각형 90">
            <a:extLst>
              <a:ext uri="{FF2B5EF4-FFF2-40B4-BE49-F238E27FC236}">
                <a16:creationId xmlns:a16="http://schemas.microsoft.com/office/drawing/2014/main" id="{4140B50B-710C-5C33-2565-590BB384F4A0}"/>
              </a:ext>
            </a:extLst>
          </p:cNvPr>
          <p:cNvSpPr/>
          <p:nvPr/>
        </p:nvSpPr>
        <p:spPr>
          <a:xfrm>
            <a:off x="4966658" y="5064220"/>
            <a:ext cx="666880" cy="1432001"/>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전문가</a:t>
            </a:r>
            <a:endParaRPr lang="en-US" altLang="ko-KR" dirty="0">
              <a:solidFill>
                <a:schemeClr val="bg1"/>
              </a:solidFill>
              <a:latin typeface="Arial Narrow" panose="020B0606020202030204" pitchFamily="34" charset="0"/>
              <a:ea typeface="a고딕14" panose="02020600000000000000" pitchFamily="18" charset="-127"/>
            </a:endParaRPr>
          </a:p>
          <a:p>
            <a:pPr>
              <a:buNone/>
            </a:pPr>
            <a:r>
              <a:rPr lang="ko-KR" altLang="en-US" dirty="0">
                <a:solidFill>
                  <a:schemeClr val="bg1"/>
                </a:solidFill>
                <a:latin typeface="Arial Narrow" panose="020B0606020202030204" pitchFamily="34" charset="0"/>
                <a:ea typeface="a고딕14" panose="02020600000000000000" pitchFamily="18" charset="-127"/>
              </a:rPr>
              <a:t>명단</a:t>
            </a:r>
          </a:p>
        </p:txBody>
      </p:sp>
      <p:sp>
        <p:nvSpPr>
          <p:cNvPr id="92" name="직사각형 91">
            <a:extLst>
              <a:ext uri="{FF2B5EF4-FFF2-40B4-BE49-F238E27FC236}">
                <a16:creationId xmlns:a16="http://schemas.microsoft.com/office/drawing/2014/main" id="{16CDA0E6-CB51-C853-891E-7606E09BFC9B}"/>
              </a:ext>
            </a:extLst>
          </p:cNvPr>
          <p:cNvSpPr/>
          <p:nvPr/>
        </p:nvSpPr>
        <p:spPr>
          <a:xfrm>
            <a:off x="4966658" y="3068392"/>
            <a:ext cx="666880" cy="443124"/>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절차</a:t>
            </a:r>
          </a:p>
        </p:txBody>
      </p:sp>
      <p:sp>
        <p:nvSpPr>
          <p:cNvPr id="93" name="직사각형 92">
            <a:extLst>
              <a:ext uri="{FF2B5EF4-FFF2-40B4-BE49-F238E27FC236}">
                <a16:creationId xmlns:a16="http://schemas.microsoft.com/office/drawing/2014/main" id="{51E6B26E-9E17-13B6-58C8-A441550881F6}"/>
              </a:ext>
            </a:extLst>
          </p:cNvPr>
          <p:cNvSpPr/>
          <p:nvPr/>
        </p:nvSpPr>
        <p:spPr>
          <a:xfrm>
            <a:off x="5686640" y="3068392"/>
            <a:ext cx="3658973" cy="443124"/>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en-US" altLang="ko-KR" sz="1100" spc="-50" dirty="0">
                <a:solidFill>
                  <a:schemeClr val="tx1"/>
                </a:solidFill>
                <a:latin typeface="+mj-ea"/>
                <a:ea typeface="+mj-ea"/>
              </a:rPr>
              <a:t>1</a:t>
            </a:r>
            <a:r>
              <a:rPr lang="ko-KR" altLang="en-US" sz="1100" spc="-50" dirty="0">
                <a:solidFill>
                  <a:schemeClr val="tx1"/>
                </a:solidFill>
                <a:latin typeface="+mj-ea"/>
                <a:ea typeface="+mj-ea"/>
              </a:rPr>
              <a:t>차 대면 자문 </a:t>
            </a:r>
            <a:r>
              <a:rPr lang="en-US" altLang="ko-KR" sz="1100" spc="-50" dirty="0">
                <a:solidFill>
                  <a:schemeClr val="tx1"/>
                </a:solidFill>
                <a:latin typeface="+mj-ea"/>
                <a:ea typeface="+mj-ea"/>
              </a:rPr>
              <a:t>-&gt; 2</a:t>
            </a:r>
            <a:r>
              <a:rPr lang="ko-KR" altLang="en-US" sz="1100" spc="-50" dirty="0">
                <a:solidFill>
                  <a:schemeClr val="tx1"/>
                </a:solidFill>
                <a:latin typeface="+mj-ea"/>
                <a:ea typeface="+mj-ea"/>
              </a:rPr>
              <a:t>차 서면 자문 </a:t>
            </a:r>
            <a:r>
              <a:rPr lang="en-US" altLang="ko-KR" sz="1100" spc="-50" dirty="0">
                <a:solidFill>
                  <a:schemeClr val="tx1"/>
                </a:solidFill>
                <a:latin typeface="+mj-ea"/>
                <a:ea typeface="+mj-ea"/>
              </a:rPr>
              <a:t>-&gt; 3</a:t>
            </a:r>
            <a:r>
              <a:rPr lang="ko-KR" altLang="en-US" sz="1100" spc="-50" dirty="0">
                <a:solidFill>
                  <a:schemeClr val="tx1"/>
                </a:solidFill>
                <a:latin typeface="+mj-ea"/>
                <a:ea typeface="+mj-ea"/>
              </a:rPr>
              <a:t>차 서면 자문</a:t>
            </a:r>
          </a:p>
        </p:txBody>
      </p:sp>
    </p:spTree>
    <p:extLst>
      <p:ext uri="{BB962C8B-B14F-4D97-AF65-F5344CB8AC3E}">
        <p14:creationId xmlns:p14="http://schemas.microsoft.com/office/powerpoint/2010/main" val="3654344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15792-56B8-3E2D-C96A-79332CBD30C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8BCC06AF-C85B-525B-657E-FA9D301A3096}"/>
              </a:ext>
            </a:extLst>
          </p:cNvPr>
          <p:cNvSpPr>
            <a:spLocks noGrp="1"/>
          </p:cNvSpPr>
          <p:nvPr>
            <p:ph type="body" sz="quarter" idx="12"/>
          </p:nvPr>
        </p:nvSpPr>
        <p:spPr/>
        <p:txBody>
          <a:bodyPr/>
          <a:lstStyle/>
          <a:p>
            <a:pPr latinLnBrk="0"/>
            <a:r>
              <a:rPr lang="ko-KR" altLang="en-US" sz="1800" dirty="0"/>
              <a:t>전문가 자문회의</a:t>
            </a:r>
            <a:r>
              <a:rPr lang="en-US" altLang="ko-KR" sz="1800" dirty="0"/>
              <a:t>(1</a:t>
            </a:r>
            <a:r>
              <a:rPr lang="ko-KR" altLang="en-US" sz="1800" dirty="0"/>
              <a:t>차 </a:t>
            </a:r>
            <a:r>
              <a:rPr lang="ko-KR" altLang="en-US" dirty="0"/>
              <a:t>대면</a:t>
            </a:r>
            <a:r>
              <a:rPr lang="en-US" altLang="ko-KR" sz="1800" dirty="0"/>
              <a:t>)</a:t>
            </a:r>
            <a:r>
              <a:rPr lang="ko-KR" altLang="en-US" sz="1800" dirty="0"/>
              <a:t>에서 가상훈련 </a:t>
            </a:r>
            <a:r>
              <a:rPr lang="en-US" altLang="ko-KR" sz="1800" dirty="0"/>
              <a:t>3</a:t>
            </a:r>
            <a:r>
              <a:rPr lang="ko-KR" altLang="en-US" sz="1800" dirty="0"/>
              <a:t>개</a:t>
            </a:r>
            <a:r>
              <a:rPr lang="en-US" altLang="ko-KR" sz="1800" dirty="0"/>
              <a:t>, </a:t>
            </a:r>
            <a:r>
              <a:rPr lang="ko-KR" altLang="en-US" sz="1800" dirty="0"/>
              <a:t>이러닝 </a:t>
            </a:r>
            <a:r>
              <a:rPr lang="en-US" altLang="ko-KR" sz="1800" dirty="0"/>
              <a:t>4</a:t>
            </a:r>
            <a:r>
              <a:rPr lang="ko-KR" altLang="en-US" sz="1800" dirty="0"/>
              <a:t>개의 평가지표를 도출하고</a:t>
            </a:r>
            <a:r>
              <a:rPr lang="en-US" altLang="ko-KR" sz="1800" dirty="0"/>
              <a:t>, </a:t>
            </a:r>
            <a:r>
              <a:rPr lang="ko-KR" altLang="en-US" sz="1800" dirty="0"/>
              <a:t>생성형 </a:t>
            </a:r>
            <a:r>
              <a:rPr lang="en-US" altLang="ko-KR" sz="1800" dirty="0"/>
              <a:t>AI 1</a:t>
            </a:r>
            <a:r>
              <a:rPr lang="ko-KR" altLang="en-US" sz="1800" dirty="0"/>
              <a:t>차 평가 후 전문가 </a:t>
            </a:r>
            <a:r>
              <a:rPr lang="en-US" altLang="ko-KR" sz="1800" dirty="0"/>
              <a:t>2</a:t>
            </a:r>
            <a:r>
              <a:rPr lang="ko-KR" altLang="en-US" sz="1800" dirty="0"/>
              <a:t>차 평가로 이어지는 평가 절차에 대해 논의함</a:t>
            </a:r>
          </a:p>
        </p:txBody>
      </p:sp>
      <p:sp>
        <p:nvSpPr>
          <p:cNvPr id="5" name="텍스트 개체 틀 4">
            <a:extLst>
              <a:ext uri="{FF2B5EF4-FFF2-40B4-BE49-F238E27FC236}">
                <a16:creationId xmlns:a16="http://schemas.microsoft.com/office/drawing/2014/main" id="{C55908C6-2204-414C-6EFB-4F0A0305974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F917C504-B6A9-2F2B-D365-52698BB0DADA}"/>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B27D58B9-FC63-F4C8-C7D2-8978C9A40156}"/>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D89F7294-BCE5-DA33-D8B7-29377CE582B1}"/>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7490E77D-C7D0-2138-7FC3-156E097B6D54}"/>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전문가 자문회의 결과</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6E10942A-67C1-3623-FBD9-76C41D114EE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6" name="오각형 56">
            <a:extLst>
              <a:ext uri="{FF2B5EF4-FFF2-40B4-BE49-F238E27FC236}">
                <a16:creationId xmlns:a16="http://schemas.microsoft.com/office/drawing/2014/main" id="{B49293A1-F3DF-1286-A980-4E93A2AEEC72}"/>
              </a:ext>
            </a:extLst>
          </p:cNvPr>
          <p:cNvSpPr/>
          <p:nvPr/>
        </p:nvSpPr>
        <p:spPr>
          <a:xfrm>
            <a:off x="603763" y="2110235"/>
            <a:ext cx="1835358" cy="413310"/>
          </a:xfrm>
          <a:prstGeom prst="homePlate">
            <a:avLst>
              <a:gd name="adj" fmla="val 21438"/>
            </a:avLst>
          </a:prstGeom>
          <a:solidFill>
            <a:srgbClr val="005E80"/>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47" name="TextBox 46">
            <a:extLst>
              <a:ext uri="{FF2B5EF4-FFF2-40B4-BE49-F238E27FC236}">
                <a16:creationId xmlns:a16="http://schemas.microsoft.com/office/drawing/2014/main" id="{94F9CD50-69BD-A8ED-C10E-4ACE5A48F10E}"/>
              </a:ext>
            </a:extLst>
          </p:cNvPr>
          <p:cNvSpPr txBox="1"/>
          <p:nvPr/>
        </p:nvSpPr>
        <p:spPr>
          <a:xfrm>
            <a:off x="1037597" y="2246546"/>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전문가 자문회의</a:t>
            </a:r>
          </a:p>
        </p:txBody>
      </p:sp>
      <p:sp>
        <p:nvSpPr>
          <p:cNvPr id="48" name="TextBox 47">
            <a:extLst>
              <a:ext uri="{FF2B5EF4-FFF2-40B4-BE49-F238E27FC236}">
                <a16:creationId xmlns:a16="http://schemas.microsoft.com/office/drawing/2014/main" id="{99621761-2B9E-0BA4-389F-ED78B661BF60}"/>
              </a:ext>
            </a:extLst>
          </p:cNvPr>
          <p:cNvSpPr txBox="1"/>
          <p:nvPr/>
        </p:nvSpPr>
        <p:spPr>
          <a:xfrm>
            <a:off x="585230" y="2069447"/>
            <a:ext cx="746352" cy="276999"/>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p>
        </p:txBody>
      </p:sp>
      <p:sp>
        <p:nvSpPr>
          <p:cNvPr id="3" name="모서리가 둥근 직사각형 28">
            <a:extLst>
              <a:ext uri="{FF2B5EF4-FFF2-40B4-BE49-F238E27FC236}">
                <a16:creationId xmlns:a16="http://schemas.microsoft.com/office/drawing/2014/main" id="{26445936-6043-DD1B-BE27-F8E53D16BD44}"/>
              </a:ext>
            </a:extLst>
          </p:cNvPr>
          <p:cNvSpPr/>
          <p:nvPr/>
        </p:nvSpPr>
        <p:spPr>
          <a:xfrm>
            <a:off x="590799" y="2585642"/>
            <a:ext cx="545778" cy="261593"/>
          </a:xfrm>
          <a:prstGeom prst="roundRect">
            <a:avLst/>
          </a:prstGeom>
          <a:solidFill>
            <a:srgbClr val="212E55"/>
          </a:solidFill>
        </p:spPr>
        <p:txBody>
          <a:bodyPr wrap="square" tIns="36000" bIns="36000" anchor="ctr">
            <a:noAutofit/>
          </a:bodyPr>
          <a:lstStyle/>
          <a:p>
            <a:pPr>
              <a:buNone/>
            </a:pPr>
            <a:r>
              <a:rPr lang="ko-KR" altLang="en-US" dirty="0">
                <a:solidFill>
                  <a:schemeClr val="bg1"/>
                </a:solidFill>
                <a:latin typeface="a고딕14" panose="02020600000000000000" pitchFamily="18" charset="-127"/>
                <a:ea typeface="a고딕14" panose="02020600000000000000" pitchFamily="18" charset="-127"/>
              </a:rPr>
              <a:t>일시</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7" name="모서리가 둥근 직사각형 28">
            <a:extLst>
              <a:ext uri="{FF2B5EF4-FFF2-40B4-BE49-F238E27FC236}">
                <a16:creationId xmlns:a16="http://schemas.microsoft.com/office/drawing/2014/main" id="{E179E1BA-A27A-AC46-68E2-CA9036CC7C05}"/>
              </a:ext>
            </a:extLst>
          </p:cNvPr>
          <p:cNvSpPr/>
          <p:nvPr/>
        </p:nvSpPr>
        <p:spPr>
          <a:xfrm>
            <a:off x="1219321" y="2585642"/>
            <a:ext cx="2918897" cy="261593"/>
          </a:xfrm>
          <a:prstGeom prst="roundRect">
            <a:avLst/>
          </a:prstGeom>
          <a:noFill/>
          <a:ln>
            <a:solidFill>
              <a:schemeClr val="bg1">
                <a:lumMod val="65000"/>
              </a:schemeClr>
            </a:solidFill>
          </a:ln>
        </p:spPr>
        <p:txBody>
          <a:bodyPr wrap="square" tIns="36000" bIns="36000" anchor="ctr">
            <a:noAutofit/>
          </a:bodyPr>
          <a:lstStyle/>
          <a:p>
            <a:pPr>
              <a:buNone/>
            </a:pPr>
            <a:r>
              <a:rPr lang="en-US" altLang="ko-KR" dirty="0">
                <a:latin typeface="a고딕14" panose="02020600000000000000" pitchFamily="18" charset="-127"/>
                <a:ea typeface="a고딕14" panose="02020600000000000000" pitchFamily="18" charset="-127"/>
              </a:rPr>
              <a:t>2025</a:t>
            </a:r>
            <a:r>
              <a:rPr lang="ko-KR" altLang="en-US" dirty="0">
                <a:latin typeface="a고딕14" panose="02020600000000000000" pitchFamily="18" charset="-127"/>
                <a:ea typeface="a고딕14" panose="02020600000000000000" pitchFamily="18" charset="-127"/>
              </a:rPr>
              <a:t>년 </a:t>
            </a:r>
            <a:r>
              <a:rPr lang="en-US" altLang="ko-KR" dirty="0">
                <a:latin typeface="a고딕14" panose="02020600000000000000" pitchFamily="18" charset="-127"/>
                <a:ea typeface="a고딕14" panose="02020600000000000000" pitchFamily="18" charset="-127"/>
              </a:rPr>
              <a:t>08</a:t>
            </a:r>
            <a:r>
              <a:rPr lang="ko-KR" altLang="en-US" dirty="0">
                <a:latin typeface="a고딕14" panose="02020600000000000000" pitchFamily="18" charset="-127"/>
                <a:ea typeface="a고딕14" panose="02020600000000000000" pitchFamily="18" charset="-127"/>
              </a:rPr>
              <a:t>월 </a:t>
            </a:r>
            <a:r>
              <a:rPr lang="en-US" altLang="ko-KR" dirty="0">
                <a:latin typeface="a고딕14" panose="02020600000000000000" pitchFamily="18" charset="-127"/>
                <a:ea typeface="a고딕14" panose="02020600000000000000" pitchFamily="18" charset="-127"/>
              </a:rPr>
              <a:t>01</a:t>
            </a:r>
            <a:r>
              <a:rPr lang="ko-KR" altLang="en-US" dirty="0">
                <a:latin typeface="a고딕14" panose="02020600000000000000" pitchFamily="18" charset="-127"/>
                <a:ea typeface="a고딕14" panose="02020600000000000000" pitchFamily="18" charset="-127"/>
              </a:rPr>
              <a:t>일</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금</a:t>
            </a:r>
            <a:r>
              <a:rPr lang="en-US" altLang="ko-KR" dirty="0">
                <a:latin typeface="a고딕14" panose="02020600000000000000" pitchFamily="18" charset="-127"/>
                <a:ea typeface="a고딕14" panose="02020600000000000000" pitchFamily="18" charset="-127"/>
              </a:rPr>
              <a:t>) 14:00 ~ 16:00</a:t>
            </a:r>
          </a:p>
        </p:txBody>
      </p:sp>
      <p:sp>
        <p:nvSpPr>
          <p:cNvPr id="8" name="모서리가 둥근 직사각형 28">
            <a:extLst>
              <a:ext uri="{FF2B5EF4-FFF2-40B4-BE49-F238E27FC236}">
                <a16:creationId xmlns:a16="http://schemas.microsoft.com/office/drawing/2014/main" id="{86C119AF-4243-0E11-1B3D-CC0E7A016B49}"/>
              </a:ext>
            </a:extLst>
          </p:cNvPr>
          <p:cNvSpPr/>
          <p:nvPr/>
        </p:nvSpPr>
        <p:spPr>
          <a:xfrm>
            <a:off x="590799" y="2927108"/>
            <a:ext cx="545778" cy="261593"/>
          </a:xfrm>
          <a:prstGeom prst="roundRect">
            <a:avLst/>
          </a:prstGeom>
          <a:solidFill>
            <a:srgbClr val="212E55"/>
          </a:solidFill>
        </p:spPr>
        <p:txBody>
          <a:bodyPr wrap="square" tIns="36000" bIns="36000" anchor="ctr">
            <a:noAutofit/>
          </a:bodyPr>
          <a:lstStyle/>
          <a:p>
            <a:pPr>
              <a:buNone/>
            </a:pPr>
            <a:r>
              <a:rPr lang="ko-KR" altLang="en-US" dirty="0">
                <a:solidFill>
                  <a:schemeClr val="bg1"/>
                </a:solidFill>
                <a:latin typeface="a고딕14" panose="02020600000000000000" pitchFamily="18" charset="-127"/>
                <a:ea typeface="a고딕14" panose="02020600000000000000" pitchFamily="18" charset="-127"/>
              </a:rPr>
              <a:t>장소</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9" name="모서리가 둥근 직사각형 28">
            <a:extLst>
              <a:ext uri="{FF2B5EF4-FFF2-40B4-BE49-F238E27FC236}">
                <a16:creationId xmlns:a16="http://schemas.microsoft.com/office/drawing/2014/main" id="{998164E8-507E-61EC-7C78-639AD9C11D2F}"/>
              </a:ext>
            </a:extLst>
          </p:cNvPr>
          <p:cNvSpPr/>
          <p:nvPr/>
        </p:nvSpPr>
        <p:spPr>
          <a:xfrm>
            <a:off x="1219321" y="2927108"/>
            <a:ext cx="2918897" cy="261593"/>
          </a:xfrm>
          <a:prstGeom prst="roundRect">
            <a:avLst/>
          </a:prstGeom>
          <a:noFill/>
          <a:ln>
            <a:solidFill>
              <a:schemeClr val="bg1">
                <a:lumMod val="65000"/>
              </a:schemeClr>
            </a:solidFill>
          </a:ln>
        </p:spPr>
        <p:txBody>
          <a:bodyPr wrap="square" tIns="36000" bIns="36000" anchor="ctr">
            <a:noAutofit/>
          </a:bodyPr>
          <a:lstStyle/>
          <a:p>
            <a:pPr>
              <a:buNone/>
            </a:pPr>
            <a:r>
              <a:rPr lang="ko-KR" altLang="en-US" dirty="0" err="1">
                <a:latin typeface="a고딕14" panose="02020600000000000000" pitchFamily="18" charset="-127"/>
                <a:ea typeface="a고딕14" panose="02020600000000000000" pitchFamily="18" charset="-127"/>
              </a:rPr>
              <a:t>비즈허브</a:t>
            </a:r>
            <a:r>
              <a:rPr lang="ko-KR" altLang="en-US" dirty="0">
                <a:latin typeface="a고딕14" panose="02020600000000000000" pitchFamily="18" charset="-127"/>
                <a:ea typeface="a고딕14" panose="02020600000000000000" pitchFamily="18" charset="-127"/>
              </a:rPr>
              <a:t> 서울센터</a:t>
            </a:r>
            <a:endParaRPr lang="en-US" altLang="ko-KR" dirty="0">
              <a:latin typeface="a고딕14" panose="02020600000000000000" pitchFamily="18" charset="-127"/>
              <a:ea typeface="a고딕14" panose="02020600000000000000" pitchFamily="18" charset="-127"/>
            </a:endParaRPr>
          </a:p>
        </p:txBody>
      </p:sp>
      <p:sp>
        <p:nvSpPr>
          <p:cNvPr id="12" name="모서리가 둥근 직사각형 28">
            <a:extLst>
              <a:ext uri="{FF2B5EF4-FFF2-40B4-BE49-F238E27FC236}">
                <a16:creationId xmlns:a16="http://schemas.microsoft.com/office/drawing/2014/main" id="{AA5E0BFE-BAEC-58EE-60A4-C75BBC07D006}"/>
              </a:ext>
            </a:extLst>
          </p:cNvPr>
          <p:cNvSpPr/>
          <p:nvPr/>
        </p:nvSpPr>
        <p:spPr>
          <a:xfrm>
            <a:off x="590799" y="3268574"/>
            <a:ext cx="545778" cy="3221126"/>
          </a:xfrm>
          <a:prstGeom prst="roundRect">
            <a:avLst/>
          </a:prstGeom>
          <a:solidFill>
            <a:srgbClr val="212E55"/>
          </a:solidFill>
        </p:spPr>
        <p:txBody>
          <a:bodyPr wrap="square" tIns="36000" bIns="36000" anchor="ctr">
            <a:noAutofit/>
          </a:bodyPr>
          <a:lstStyle/>
          <a:p>
            <a:pPr>
              <a:buNone/>
            </a:pPr>
            <a:r>
              <a:rPr lang="ko-KR" altLang="en-US" dirty="0">
                <a:solidFill>
                  <a:schemeClr val="bg1"/>
                </a:solidFill>
                <a:latin typeface="a고딕14" panose="02020600000000000000" pitchFamily="18" charset="-127"/>
                <a:ea typeface="a고딕14" panose="02020600000000000000" pitchFamily="18" charset="-127"/>
              </a:rPr>
              <a:t>회의</a:t>
            </a:r>
            <a:endParaRPr lang="en-US" altLang="ko-KR" dirty="0">
              <a:solidFill>
                <a:schemeClr val="bg1"/>
              </a:solidFill>
              <a:latin typeface="a고딕14" panose="02020600000000000000" pitchFamily="18" charset="-127"/>
              <a:ea typeface="a고딕14" panose="02020600000000000000" pitchFamily="18" charset="-127"/>
            </a:endParaRPr>
          </a:p>
          <a:p>
            <a:pPr>
              <a:buNone/>
            </a:pPr>
            <a:r>
              <a:rPr lang="ko-KR" altLang="en-US" dirty="0">
                <a:solidFill>
                  <a:schemeClr val="bg1"/>
                </a:solidFill>
                <a:latin typeface="a고딕14" panose="02020600000000000000" pitchFamily="18" charset="-127"/>
                <a:ea typeface="a고딕14" panose="02020600000000000000" pitchFamily="18" charset="-127"/>
              </a:rPr>
              <a:t>내용</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13" name="모서리가 둥근 직사각형 28">
            <a:extLst>
              <a:ext uri="{FF2B5EF4-FFF2-40B4-BE49-F238E27FC236}">
                <a16:creationId xmlns:a16="http://schemas.microsoft.com/office/drawing/2014/main" id="{F81D2F64-DE79-977F-ECFA-455937EB5468}"/>
              </a:ext>
            </a:extLst>
          </p:cNvPr>
          <p:cNvSpPr/>
          <p:nvPr/>
        </p:nvSpPr>
        <p:spPr>
          <a:xfrm>
            <a:off x="1219321" y="3268574"/>
            <a:ext cx="2918897" cy="3221126"/>
          </a:xfrm>
          <a:prstGeom prst="roundRect">
            <a:avLst>
              <a:gd name="adj" fmla="val 6897"/>
            </a:avLst>
          </a:prstGeom>
          <a:noFill/>
          <a:ln>
            <a:solidFill>
              <a:schemeClr val="bg1">
                <a:lumMod val="65000"/>
              </a:schemeClr>
            </a:solidFill>
          </a:ln>
        </p:spPr>
        <p:txBody>
          <a:bodyPr wrap="square" lIns="36000" tIns="18000" rIns="36000" bIns="18000" anchor="ctr">
            <a:noAutofit/>
          </a:bodyPr>
          <a:lstStyle/>
          <a:p>
            <a:pPr algn="l" latinLnBrk="0">
              <a:buNone/>
            </a:pPr>
            <a:r>
              <a:rPr lang="en-US" altLang="ko-KR" dirty="0">
                <a:solidFill>
                  <a:srgbClr val="0070C0"/>
                </a:solidFill>
                <a:latin typeface="a고딕14" panose="02020600000000000000" pitchFamily="18" charset="-127"/>
                <a:ea typeface="a고딕14" panose="02020600000000000000" pitchFamily="18" charset="-127"/>
              </a:rPr>
              <a:t>1. 6</a:t>
            </a:r>
            <a:r>
              <a:rPr lang="ko-KR" altLang="en-US" dirty="0">
                <a:solidFill>
                  <a:srgbClr val="0070C0"/>
                </a:solidFill>
                <a:latin typeface="a고딕14" panose="02020600000000000000" pitchFamily="18" charset="-127"/>
                <a:ea typeface="a고딕14" panose="02020600000000000000" pitchFamily="18" charset="-127"/>
              </a:rPr>
              <a:t>개 지표 </a:t>
            </a:r>
            <a:r>
              <a:rPr lang="en-US" altLang="ko-KR" dirty="0">
                <a:solidFill>
                  <a:srgbClr val="0070C0"/>
                </a:solidFill>
                <a:latin typeface="a고딕14" panose="02020600000000000000" pitchFamily="18" charset="-127"/>
                <a:ea typeface="a고딕14" panose="02020600000000000000" pitchFamily="18" charset="-127"/>
              </a:rPr>
              <a:t>Pool</a:t>
            </a:r>
            <a:r>
              <a:rPr lang="ko-KR" altLang="en-US" dirty="0">
                <a:solidFill>
                  <a:srgbClr val="0070C0"/>
                </a:solidFill>
                <a:latin typeface="a고딕14" panose="02020600000000000000" pitchFamily="18" charset="-127"/>
                <a:ea typeface="a고딕14" panose="02020600000000000000" pitchFamily="18" charset="-127"/>
              </a:rPr>
              <a:t>에 대한 보완사항</a:t>
            </a:r>
            <a:endParaRPr lang="en-US" altLang="ko-KR" dirty="0">
              <a:solidFill>
                <a:srgbClr val="0070C0"/>
              </a:solidFill>
              <a:latin typeface="a고딕14" panose="02020600000000000000" pitchFamily="18" charset="-127"/>
              <a:ea typeface="a고딕14" panose="02020600000000000000" pitchFamily="18" charset="-127"/>
            </a:endParaRPr>
          </a:p>
          <a:p>
            <a:pPr marL="171450" indent="-171450" algn="l" latinLnBrk="0">
              <a:buFont typeface="Wingdings" panose="05000000000000000000" pitchFamily="2" charset="2"/>
              <a:buChar char="Ø"/>
            </a:pPr>
            <a:r>
              <a:rPr lang="ko-KR" altLang="en-US" sz="1100" dirty="0">
                <a:latin typeface="a고딕14" panose="02020600000000000000" pitchFamily="18" charset="-127"/>
                <a:ea typeface="a고딕14" panose="02020600000000000000" pitchFamily="18" charset="-127"/>
              </a:rPr>
              <a:t>이러닝</a:t>
            </a: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가상훈련 평가 지표 분리 필요</a:t>
            </a:r>
            <a:endParaRPr lang="en-US" altLang="ko-KR" sz="1100" dirty="0">
              <a:latin typeface="a고딕14" panose="02020600000000000000" pitchFamily="18" charset="-127"/>
              <a:ea typeface="a고딕14" panose="02020600000000000000" pitchFamily="18" charset="-127"/>
            </a:endParaRPr>
          </a:p>
          <a:p>
            <a:pPr marL="171450" indent="-171450" algn="l" latinLnBrk="0">
              <a:buFont typeface="Wingdings" panose="05000000000000000000" pitchFamily="2" charset="2"/>
              <a:buChar char="Ø"/>
            </a:pPr>
            <a:r>
              <a:rPr lang="ko-KR" altLang="en-US" sz="1100" spc="-50" dirty="0">
                <a:latin typeface="a고딕14" panose="02020600000000000000" pitchFamily="18" charset="-127"/>
                <a:ea typeface="a고딕14" panose="02020600000000000000" pitchFamily="18" charset="-127"/>
              </a:rPr>
              <a:t>콘텐츠 개발이 불가능한 능력단위가 있는지 의문</a:t>
            </a:r>
            <a:endParaRPr lang="en-US" altLang="ko-KR" sz="1100" spc="-50" dirty="0">
              <a:latin typeface="a고딕14" panose="02020600000000000000" pitchFamily="18" charset="-127"/>
              <a:ea typeface="a고딕14" panose="02020600000000000000" pitchFamily="18" charset="-127"/>
            </a:endParaRPr>
          </a:p>
          <a:p>
            <a:pPr marL="171450" indent="-171450" algn="l" latinLnBrk="0">
              <a:buFont typeface="Wingdings" panose="05000000000000000000" pitchFamily="2" charset="2"/>
              <a:buChar char="Ø"/>
            </a:pPr>
            <a:r>
              <a:rPr lang="ko-KR" altLang="en-US" sz="1100" spc="-50" dirty="0">
                <a:latin typeface="a고딕14" panose="02020600000000000000" pitchFamily="18" charset="-127"/>
                <a:ea typeface="a고딕14" panose="02020600000000000000" pitchFamily="18" charset="-127"/>
              </a:rPr>
              <a:t>지표명은 직관적으로 이해 가능하도록 작성 필요</a:t>
            </a:r>
            <a:endParaRPr lang="en-US" altLang="ko-KR" sz="1100" spc="-50" dirty="0">
              <a:latin typeface="a고딕14" panose="02020600000000000000" pitchFamily="18" charset="-127"/>
              <a:ea typeface="a고딕14" panose="02020600000000000000" pitchFamily="18" charset="-127"/>
            </a:endParaRPr>
          </a:p>
          <a:p>
            <a:pPr algn="l" latinLnBrk="0">
              <a:buNone/>
            </a:pPr>
            <a:endParaRPr lang="en-US" altLang="ko-KR" sz="1100" dirty="0">
              <a:latin typeface="a고딕14" panose="02020600000000000000" pitchFamily="18" charset="-127"/>
              <a:ea typeface="a고딕14" panose="02020600000000000000" pitchFamily="18" charset="-127"/>
            </a:endParaRPr>
          </a:p>
          <a:p>
            <a:pPr algn="l" latinLnBrk="0">
              <a:buNone/>
            </a:pPr>
            <a:r>
              <a:rPr lang="en-US" altLang="ko-KR" dirty="0">
                <a:solidFill>
                  <a:srgbClr val="0070C0"/>
                </a:solidFill>
                <a:latin typeface="a고딕14" panose="02020600000000000000" pitchFamily="18" charset="-127"/>
                <a:ea typeface="a고딕14" panose="02020600000000000000" pitchFamily="18" charset="-127"/>
              </a:rPr>
              <a:t>2. </a:t>
            </a:r>
            <a:r>
              <a:rPr lang="ko-KR" altLang="en-US" dirty="0">
                <a:solidFill>
                  <a:srgbClr val="0070C0"/>
                </a:solidFill>
                <a:latin typeface="a고딕14" panose="02020600000000000000" pitchFamily="18" charset="-127"/>
                <a:ea typeface="a고딕14" panose="02020600000000000000" pitchFamily="18" charset="-127"/>
              </a:rPr>
              <a:t>지표 설정 추가 제언</a:t>
            </a:r>
            <a:endParaRPr lang="en-US" altLang="ko-KR" dirty="0">
              <a:solidFill>
                <a:srgbClr val="0070C0"/>
              </a:solidFill>
              <a:latin typeface="a고딕14" panose="02020600000000000000" pitchFamily="18" charset="-127"/>
              <a:ea typeface="a고딕14" panose="02020600000000000000" pitchFamily="18" charset="-127"/>
            </a:endParaRPr>
          </a:p>
          <a:p>
            <a:pPr marL="171450" indent="-171450" algn="l" latinLnBrk="0">
              <a:buFont typeface="Wingdings" panose="05000000000000000000" pitchFamily="2" charset="2"/>
              <a:buChar char="Ø"/>
            </a:pPr>
            <a:r>
              <a:rPr lang="ko-KR" altLang="en-US" sz="1100" spc="-50" dirty="0">
                <a:latin typeface="a고딕14" panose="02020600000000000000" pitchFamily="18" charset="-127"/>
                <a:ea typeface="a고딕14" panose="02020600000000000000" pitchFamily="18" charset="-127"/>
              </a:rPr>
              <a:t>모든 지표는 </a:t>
            </a:r>
            <a:r>
              <a:rPr lang="en-US" altLang="ko-KR" sz="1100" spc="-50" dirty="0">
                <a:latin typeface="a고딕14" panose="02020600000000000000" pitchFamily="18" charset="-127"/>
                <a:ea typeface="a고딕14" panose="02020600000000000000" pitchFamily="18" charset="-127"/>
              </a:rPr>
              <a:t>‘</a:t>
            </a:r>
            <a:r>
              <a:rPr lang="ko-KR" altLang="en-US" sz="1100" spc="-50" dirty="0">
                <a:latin typeface="a고딕14" panose="02020600000000000000" pitchFamily="18" charset="-127"/>
                <a:ea typeface="a고딕14" panose="02020600000000000000" pitchFamily="18" charset="-127"/>
              </a:rPr>
              <a:t>집체교육 대비</a:t>
            </a:r>
            <a:r>
              <a:rPr lang="en-US" altLang="ko-KR" sz="1100" spc="-50" dirty="0">
                <a:latin typeface="a고딕14" panose="02020600000000000000" pitchFamily="18" charset="-127"/>
                <a:ea typeface="a고딕14" panose="02020600000000000000" pitchFamily="18" charset="-127"/>
              </a:rPr>
              <a:t>’</a:t>
            </a:r>
            <a:r>
              <a:rPr lang="ko-KR" altLang="en-US" sz="1100" spc="-50" dirty="0">
                <a:latin typeface="a고딕14" panose="02020600000000000000" pitchFamily="18" charset="-127"/>
                <a:ea typeface="a고딕14" panose="02020600000000000000" pitchFamily="18" charset="-127"/>
              </a:rPr>
              <a:t>라는 전제가 필요함</a:t>
            </a:r>
            <a:endParaRPr lang="en-US" altLang="ko-KR" sz="1100" spc="-50" dirty="0">
              <a:latin typeface="a고딕14" panose="02020600000000000000" pitchFamily="18" charset="-127"/>
              <a:ea typeface="a고딕14" panose="02020600000000000000" pitchFamily="18" charset="-127"/>
            </a:endParaRPr>
          </a:p>
          <a:p>
            <a:pPr algn="l" latinLnBrk="0">
              <a:buNone/>
            </a:pPr>
            <a:endParaRPr lang="en-US" altLang="ko-KR" sz="1100" dirty="0">
              <a:latin typeface="a고딕14" panose="02020600000000000000" pitchFamily="18" charset="-127"/>
              <a:ea typeface="a고딕14" panose="02020600000000000000" pitchFamily="18" charset="-127"/>
            </a:endParaRPr>
          </a:p>
          <a:p>
            <a:pPr algn="l" latinLnBrk="0">
              <a:buNone/>
            </a:pPr>
            <a:r>
              <a:rPr lang="en-US" altLang="ko-KR" dirty="0">
                <a:solidFill>
                  <a:srgbClr val="0070C0"/>
                </a:solidFill>
                <a:latin typeface="a고딕14" panose="02020600000000000000" pitchFamily="18" charset="-127"/>
                <a:ea typeface="a고딕14" panose="02020600000000000000" pitchFamily="18" charset="-127"/>
              </a:rPr>
              <a:t>3. </a:t>
            </a:r>
            <a:r>
              <a:rPr lang="ko-KR" altLang="en-US" dirty="0">
                <a:solidFill>
                  <a:srgbClr val="0070C0"/>
                </a:solidFill>
                <a:latin typeface="a고딕14" panose="02020600000000000000" pitchFamily="18" charset="-127"/>
                <a:ea typeface="a고딕14" panose="02020600000000000000" pitchFamily="18" charset="-127"/>
              </a:rPr>
              <a:t>평가 방법</a:t>
            </a:r>
            <a:r>
              <a:rPr lang="en-US" altLang="ko-KR" dirty="0">
                <a:solidFill>
                  <a:srgbClr val="0070C0"/>
                </a:solidFill>
                <a:latin typeface="a고딕14" panose="02020600000000000000" pitchFamily="18" charset="-127"/>
                <a:ea typeface="a고딕14" panose="02020600000000000000" pitchFamily="18" charset="-127"/>
              </a:rPr>
              <a:t>(</a:t>
            </a:r>
            <a:r>
              <a:rPr lang="ko-KR" altLang="en-US" dirty="0">
                <a:solidFill>
                  <a:srgbClr val="0070C0"/>
                </a:solidFill>
                <a:latin typeface="a고딕14" panose="02020600000000000000" pitchFamily="18" charset="-127"/>
                <a:ea typeface="a고딕14" panose="02020600000000000000" pitchFamily="18" charset="-127"/>
              </a:rPr>
              <a:t>안</a:t>
            </a:r>
            <a:r>
              <a:rPr lang="en-US" altLang="ko-KR" dirty="0">
                <a:solidFill>
                  <a:srgbClr val="0070C0"/>
                </a:solidFill>
                <a:latin typeface="a고딕14" panose="02020600000000000000" pitchFamily="18" charset="-127"/>
                <a:ea typeface="a고딕14" panose="02020600000000000000" pitchFamily="18" charset="-127"/>
              </a:rPr>
              <a:t>)</a:t>
            </a:r>
          </a:p>
          <a:p>
            <a:pPr marL="171450" indent="-171450" algn="l" latinLnBrk="0">
              <a:buFont typeface="Wingdings" panose="05000000000000000000" pitchFamily="2" charset="2"/>
              <a:buChar char="Ø"/>
            </a:pPr>
            <a:r>
              <a:rPr lang="ko-KR" altLang="en-US" sz="1100" spc="-50" dirty="0">
                <a:latin typeface="a고딕14" panose="02020600000000000000" pitchFamily="18" charset="-127"/>
                <a:ea typeface="a고딕14" panose="02020600000000000000" pitchFamily="18" charset="-127"/>
              </a:rPr>
              <a:t>생성형 </a:t>
            </a:r>
            <a:r>
              <a:rPr lang="en-US" altLang="ko-KR" sz="1100" spc="-50" dirty="0">
                <a:latin typeface="a고딕14" panose="02020600000000000000" pitchFamily="18" charset="-127"/>
                <a:ea typeface="a고딕14" panose="02020600000000000000" pitchFamily="18" charset="-127"/>
              </a:rPr>
              <a:t>AI</a:t>
            </a:r>
            <a:r>
              <a:rPr lang="ko-KR" altLang="en-US" sz="1100" spc="-50" dirty="0">
                <a:latin typeface="a고딕14" panose="02020600000000000000" pitchFamily="18" charset="-127"/>
                <a:ea typeface="a고딕14" panose="02020600000000000000" pitchFamily="18" charset="-127"/>
              </a:rPr>
              <a:t>를 통해 </a:t>
            </a:r>
            <a:r>
              <a:rPr lang="en-US" altLang="ko-KR" sz="1100" spc="-50" dirty="0">
                <a:latin typeface="a고딕14" panose="02020600000000000000" pitchFamily="18" charset="-127"/>
                <a:ea typeface="a고딕14" panose="02020600000000000000" pitchFamily="18" charset="-127"/>
              </a:rPr>
              <a:t>1</a:t>
            </a:r>
            <a:r>
              <a:rPr lang="ko-KR" altLang="en-US" sz="1100" spc="-50" dirty="0">
                <a:latin typeface="a고딕14" panose="02020600000000000000" pitchFamily="18" charset="-127"/>
                <a:ea typeface="a고딕14" panose="02020600000000000000" pitchFamily="18" charset="-127"/>
              </a:rPr>
              <a:t>차 평가를 진행하여</a:t>
            </a:r>
            <a:r>
              <a:rPr lang="en-US" altLang="ko-KR" sz="1100" spc="-50" dirty="0">
                <a:latin typeface="a고딕14" panose="02020600000000000000" pitchFamily="18" charset="-127"/>
                <a:ea typeface="a고딕14" panose="02020600000000000000" pitchFamily="18" charset="-127"/>
              </a:rPr>
              <a:t>, </a:t>
            </a:r>
            <a:r>
              <a:rPr lang="ko-KR" altLang="en-US" sz="1100" spc="-50" dirty="0">
                <a:latin typeface="a고딕14" panose="02020600000000000000" pitchFamily="18" charset="-127"/>
                <a:ea typeface="a고딕14" panose="02020600000000000000" pitchFamily="18" charset="-127"/>
              </a:rPr>
              <a:t>평가의 신뢰성을 높이고</a:t>
            </a:r>
            <a:r>
              <a:rPr lang="en-US" altLang="ko-KR" sz="1100" spc="-50" dirty="0">
                <a:latin typeface="a고딕14" panose="02020600000000000000" pitchFamily="18" charset="-127"/>
                <a:ea typeface="a고딕14" panose="02020600000000000000" pitchFamily="18" charset="-127"/>
              </a:rPr>
              <a:t>,</a:t>
            </a:r>
            <a:r>
              <a:rPr lang="ko-KR" altLang="en-US" sz="1100" spc="-50" dirty="0">
                <a:latin typeface="a고딕14" panose="02020600000000000000" pitchFamily="18" charset="-127"/>
                <a:ea typeface="a고딕14" panose="02020600000000000000" pitchFamily="18" charset="-127"/>
              </a:rPr>
              <a:t> 전문가 검토를 통하여 </a:t>
            </a:r>
            <a:r>
              <a:rPr lang="en-US" altLang="ko-KR" sz="1100" spc="-50" dirty="0">
                <a:latin typeface="a고딕14" panose="02020600000000000000" pitchFamily="18" charset="-127"/>
                <a:ea typeface="a고딕14" panose="02020600000000000000" pitchFamily="18" charset="-127"/>
              </a:rPr>
              <a:t>2</a:t>
            </a:r>
            <a:r>
              <a:rPr lang="ko-KR" altLang="en-US" sz="1100" spc="-50" dirty="0">
                <a:latin typeface="a고딕14" panose="02020600000000000000" pitchFamily="18" charset="-127"/>
                <a:ea typeface="a고딕14" panose="02020600000000000000" pitchFamily="18" charset="-127"/>
              </a:rPr>
              <a:t>차 평가를 실시하는 것도 가능하다고 판단됨</a:t>
            </a:r>
            <a:endParaRPr lang="en-US" altLang="ko-KR" sz="1100" spc="-50" dirty="0">
              <a:latin typeface="a고딕14" panose="02020600000000000000" pitchFamily="18" charset="-127"/>
              <a:ea typeface="a고딕14" panose="02020600000000000000" pitchFamily="18" charset="-127"/>
            </a:endParaRPr>
          </a:p>
          <a:p>
            <a:pPr algn="l" latinLnBrk="0">
              <a:buNone/>
            </a:pPr>
            <a:endParaRPr lang="en-US" altLang="ko-KR" dirty="0">
              <a:latin typeface="a고딕14" panose="02020600000000000000" pitchFamily="18" charset="-127"/>
              <a:ea typeface="a고딕14" panose="02020600000000000000" pitchFamily="18" charset="-127"/>
            </a:endParaRPr>
          </a:p>
          <a:p>
            <a:pPr algn="l" latinLnBrk="0">
              <a:buNone/>
            </a:pPr>
            <a:r>
              <a:rPr lang="en-US" altLang="ko-KR" dirty="0">
                <a:solidFill>
                  <a:srgbClr val="0070C0"/>
                </a:solidFill>
                <a:latin typeface="a고딕14" panose="02020600000000000000" pitchFamily="18" charset="-127"/>
                <a:ea typeface="a고딕14" panose="02020600000000000000" pitchFamily="18" charset="-127"/>
              </a:rPr>
              <a:t>4. </a:t>
            </a:r>
            <a:r>
              <a:rPr lang="ko-KR" altLang="en-US" dirty="0">
                <a:solidFill>
                  <a:srgbClr val="0070C0"/>
                </a:solidFill>
                <a:latin typeface="a고딕14" panose="02020600000000000000" pitchFamily="18" charset="-127"/>
                <a:ea typeface="a고딕14" panose="02020600000000000000" pitchFamily="18" charset="-127"/>
              </a:rPr>
              <a:t>추가 의견</a:t>
            </a:r>
          </a:p>
          <a:p>
            <a:pPr marL="171450" indent="-171450" algn="l" latinLnBrk="0">
              <a:buFont typeface="Wingdings" panose="05000000000000000000" pitchFamily="2" charset="2"/>
              <a:buChar char="Ø"/>
            </a:pPr>
            <a:r>
              <a:rPr lang="ko-KR" altLang="en-US" sz="1100" spc="-50" dirty="0" err="1">
                <a:latin typeface="a고딕14" panose="02020600000000000000" pitchFamily="18" charset="-127"/>
                <a:ea typeface="a고딕14" panose="02020600000000000000" pitchFamily="18" charset="-127"/>
              </a:rPr>
              <a:t>세분류</a:t>
            </a:r>
            <a:r>
              <a:rPr lang="ko-KR" altLang="en-US" sz="1100" spc="-50" dirty="0">
                <a:latin typeface="a고딕14" panose="02020600000000000000" pitchFamily="18" charset="-127"/>
                <a:ea typeface="a고딕14" panose="02020600000000000000" pitchFamily="18" charset="-127"/>
              </a:rPr>
              <a:t> 수요평가 지표와 비슷한 지표가 적합성 평가 지표로 도출되는 경우에 대한 우려가 있음</a:t>
            </a:r>
            <a:endParaRPr lang="en-US" altLang="ko-KR" sz="1100" spc="-50" dirty="0">
              <a:latin typeface="a고딕14" panose="02020600000000000000" pitchFamily="18" charset="-127"/>
              <a:ea typeface="a고딕14" panose="02020600000000000000" pitchFamily="18" charset="-127"/>
            </a:endParaRPr>
          </a:p>
          <a:p>
            <a:pPr marL="171450" indent="-171450" algn="l" latinLnBrk="0">
              <a:buFont typeface="Wingdings" panose="05000000000000000000" pitchFamily="2" charset="2"/>
              <a:buChar char="Ø"/>
            </a:pPr>
            <a:r>
              <a:rPr lang="ko-KR" altLang="en-US" sz="1100" spc="-50" dirty="0">
                <a:latin typeface="a고딕14" panose="02020600000000000000" pitchFamily="18" charset="-127"/>
                <a:ea typeface="a고딕14" panose="02020600000000000000" pitchFamily="18" charset="-127"/>
              </a:rPr>
              <a:t>능력단위를 이러닝</a:t>
            </a:r>
            <a:r>
              <a:rPr lang="en-US" altLang="ko-KR" sz="1100" spc="-50" dirty="0">
                <a:latin typeface="a고딕14" panose="02020600000000000000" pitchFamily="18" charset="-127"/>
                <a:ea typeface="a고딕14" panose="02020600000000000000" pitchFamily="18" charset="-127"/>
              </a:rPr>
              <a:t>/</a:t>
            </a:r>
            <a:r>
              <a:rPr lang="ko-KR" altLang="en-US" sz="1100" spc="-50" dirty="0">
                <a:latin typeface="a고딕14" panose="02020600000000000000" pitchFamily="18" charset="-127"/>
                <a:ea typeface="a고딕14" panose="02020600000000000000" pitchFamily="18" charset="-127"/>
              </a:rPr>
              <a:t>가상훈련으로 구현할 때</a:t>
            </a:r>
            <a:r>
              <a:rPr lang="en-US" altLang="ko-KR" sz="1100" spc="-50" dirty="0">
                <a:latin typeface="a고딕14" panose="02020600000000000000" pitchFamily="18" charset="-127"/>
                <a:ea typeface="a고딕14" panose="02020600000000000000" pitchFamily="18" charset="-127"/>
              </a:rPr>
              <a:t>,</a:t>
            </a:r>
            <a:r>
              <a:rPr lang="ko-KR" altLang="en-US" sz="1100" spc="-50" dirty="0">
                <a:latin typeface="a고딕14" panose="02020600000000000000" pitchFamily="18" charset="-127"/>
                <a:ea typeface="a고딕14" panose="02020600000000000000" pitchFamily="18" charset="-127"/>
              </a:rPr>
              <a:t> 학습 관리 측면에서 적절한가 에 대한 고민도 가능함</a:t>
            </a:r>
            <a:endParaRPr lang="en-US" altLang="ko-KR" spc="-50" dirty="0">
              <a:latin typeface="a고딕14" panose="02020600000000000000" pitchFamily="18" charset="-127"/>
              <a:ea typeface="a고딕14" panose="02020600000000000000" pitchFamily="18" charset="-127"/>
            </a:endParaRPr>
          </a:p>
        </p:txBody>
      </p:sp>
      <p:sp>
        <p:nvSpPr>
          <p:cNvPr id="24" name="사다리꼴 23">
            <a:extLst>
              <a:ext uri="{FF2B5EF4-FFF2-40B4-BE49-F238E27FC236}">
                <a16:creationId xmlns:a16="http://schemas.microsoft.com/office/drawing/2014/main" id="{D961C0DF-B9A9-7930-A400-1A7EA7A460A3}"/>
              </a:ext>
            </a:extLst>
          </p:cNvPr>
          <p:cNvSpPr/>
          <p:nvPr/>
        </p:nvSpPr>
        <p:spPr>
          <a:xfrm rot="16200000">
            <a:off x="2172310" y="4267375"/>
            <a:ext cx="4188233" cy="256416"/>
          </a:xfrm>
          <a:prstGeom prst="trapezoid">
            <a:avLst>
              <a:gd name="adj" fmla="val 91956"/>
            </a:avLst>
          </a:prstGeom>
          <a:solidFill>
            <a:sysClr val="window" lastClr="FFFFFF">
              <a:lumMod val="85000"/>
            </a:sysClr>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dirty="0">
              <a:ln>
                <a:noFill/>
              </a:ln>
              <a:solidFill>
                <a:prstClr val="white"/>
              </a:solidFill>
              <a:effectLst/>
              <a:uLnTx/>
              <a:uFillTx/>
              <a:latin typeface="Arial Narrow"/>
              <a:ea typeface="a고딕14"/>
              <a:cs typeface="+mn-cs"/>
            </a:endParaRPr>
          </a:p>
        </p:txBody>
      </p:sp>
      <p:sp>
        <p:nvSpPr>
          <p:cNvPr id="25" name="object 20">
            <a:extLst>
              <a:ext uri="{FF2B5EF4-FFF2-40B4-BE49-F238E27FC236}">
                <a16:creationId xmlns:a16="http://schemas.microsoft.com/office/drawing/2014/main" id="{D522A80A-8307-9348-985D-C20A04245018}"/>
              </a:ext>
            </a:extLst>
          </p:cNvPr>
          <p:cNvSpPr/>
          <p:nvPr/>
        </p:nvSpPr>
        <p:spPr>
          <a:xfrm>
            <a:off x="4361328" y="2290839"/>
            <a:ext cx="4983900" cy="4198861"/>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800" b="0" i="0" u="none" strike="noStrike" kern="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26" name="직사각형 25">
            <a:extLst>
              <a:ext uri="{FF2B5EF4-FFF2-40B4-BE49-F238E27FC236}">
                <a16:creationId xmlns:a16="http://schemas.microsoft.com/office/drawing/2014/main" id="{A5DED602-0BEE-E863-8A0E-8437075422F7}"/>
              </a:ext>
            </a:extLst>
          </p:cNvPr>
          <p:cNvSpPr/>
          <p:nvPr/>
        </p:nvSpPr>
        <p:spPr>
          <a:xfrm>
            <a:off x="4625002" y="2025242"/>
            <a:ext cx="4720226" cy="276225"/>
          </a:xfrm>
          <a:prstGeom prst="rect">
            <a:avLst/>
          </a:prstGeom>
          <a:noFill/>
          <a:ln w="25400" cap="flat" cmpd="sng" algn="ctr">
            <a:no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r>
              <a:rPr kumimoji="0" lang="ko-KR" altLang="en-US" b="0" i="0" u="none" strike="noStrike" kern="0" cap="none" spc="0" normalizeH="0" baseline="0" noProof="0" dirty="0">
                <a:ln>
                  <a:noFill/>
                </a:ln>
                <a:solidFill>
                  <a:srgbClr val="000000"/>
                </a:solidFill>
                <a:effectLst/>
                <a:uLnTx/>
                <a:uFillTx/>
                <a:latin typeface="a고딕14" panose="02020600000000000000" pitchFamily="18" charset="-127"/>
                <a:ea typeface="a고딕14"/>
                <a:cs typeface="+mn-cs"/>
              </a:rPr>
              <a:t>이러닝 및 가상훈련 콘텐츠 개발 적합성 평가</a:t>
            </a:r>
            <a:r>
              <a:rPr kumimoji="0" lang="en-US" altLang="ko-KR" b="0" i="0" u="none" strike="noStrike" kern="0" cap="none" spc="0" normalizeH="0" baseline="0" noProof="0" dirty="0">
                <a:ln>
                  <a:noFill/>
                </a:ln>
                <a:solidFill>
                  <a:srgbClr val="000000"/>
                </a:solidFill>
                <a:effectLst/>
                <a:uLnTx/>
                <a:uFillTx/>
                <a:latin typeface="a고딕14" panose="02020600000000000000" pitchFamily="18" charset="-127"/>
                <a:ea typeface="a고딕14"/>
                <a:cs typeface="+mn-cs"/>
              </a:rPr>
              <a:t>(</a:t>
            </a:r>
            <a:r>
              <a:rPr kumimoji="0" lang="ko-KR" altLang="en-US" b="0" i="0" u="none" strike="noStrike" kern="0" cap="none" spc="0" normalizeH="0" baseline="0" noProof="0" dirty="0">
                <a:ln>
                  <a:noFill/>
                </a:ln>
                <a:solidFill>
                  <a:srgbClr val="000000"/>
                </a:solidFill>
                <a:effectLst/>
                <a:uLnTx/>
                <a:uFillTx/>
                <a:latin typeface="a고딕14" panose="02020600000000000000" pitchFamily="18" charset="-127"/>
                <a:ea typeface="a고딕14"/>
                <a:cs typeface="+mn-cs"/>
              </a:rPr>
              <a:t>안</a:t>
            </a:r>
            <a:r>
              <a:rPr kumimoji="0" lang="en-US" altLang="ko-KR" b="0" i="0" u="none" strike="noStrike" kern="0" cap="none" spc="0" normalizeH="0" baseline="0" noProof="0" dirty="0">
                <a:ln>
                  <a:noFill/>
                </a:ln>
                <a:solidFill>
                  <a:srgbClr val="000000"/>
                </a:solidFill>
                <a:effectLst/>
                <a:uLnTx/>
                <a:uFillTx/>
                <a:latin typeface="a고딕14" panose="02020600000000000000" pitchFamily="18" charset="-127"/>
                <a:ea typeface="a고딕14"/>
                <a:cs typeface="+mn-cs"/>
              </a:rPr>
              <a:t>)</a:t>
            </a:r>
            <a:endParaRPr kumimoji="0" lang="ko-KR" altLang="en-US" b="0" i="0" u="none" strike="noStrike" kern="0" cap="none" spc="0" normalizeH="0" baseline="0" noProof="0" dirty="0">
              <a:ln>
                <a:noFill/>
              </a:ln>
              <a:solidFill>
                <a:srgbClr val="000000"/>
              </a:solidFill>
              <a:effectLst/>
              <a:uLnTx/>
              <a:uFillTx/>
              <a:latin typeface="a고딕14" panose="02020600000000000000" pitchFamily="18" charset="-127"/>
              <a:ea typeface="a고딕14"/>
              <a:cs typeface="+mn-cs"/>
            </a:endParaRPr>
          </a:p>
        </p:txBody>
      </p:sp>
      <p:graphicFrame>
        <p:nvGraphicFramePr>
          <p:cNvPr id="28" name="표 27">
            <a:extLst>
              <a:ext uri="{FF2B5EF4-FFF2-40B4-BE49-F238E27FC236}">
                <a16:creationId xmlns:a16="http://schemas.microsoft.com/office/drawing/2014/main" id="{0BB8F82C-15E8-30B3-6CA9-C3871E96E709}"/>
              </a:ext>
            </a:extLst>
          </p:cNvPr>
          <p:cNvGraphicFramePr>
            <a:graphicFrameLocks noGrp="1"/>
          </p:cNvGraphicFramePr>
          <p:nvPr>
            <p:extLst>
              <p:ext uri="{D42A27DB-BD31-4B8C-83A1-F6EECF244321}">
                <p14:modId xmlns:p14="http://schemas.microsoft.com/office/powerpoint/2010/main" val="3786067224"/>
              </p:ext>
            </p:extLst>
          </p:nvPr>
        </p:nvGraphicFramePr>
        <p:xfrm>
          <a:off x="4463172" y="2562051"/>
          <a:ext cx="4798747" cy="2574000"/>
        </p:xfrm>
        <a:graphic>
          <a:graphicData uri="http://schemas.openxmlformats.org/drawingml/2006/table">
            <a:tbl>
              <a:tblPr/>
              <a:tblGrid>
                <a:gridCol w="346192">
                  <a:extLst>
                    <a:ext uri="{9D8B030D-6E8A-4147-A177-3AD203B41FA5}">
                      <a16:colId xmlns:a16="http://schemas.microsoft.com/office/drawing/2014/main" val="370636207"/>
                    </a:ext>
                  </a:extLst>
                </a:gridCol>
                <a:gridCol w="330762">
                  <a:extLst>
                    <a:ext uri="{9D8B030D-6E8A-4147-A177-3AD203B41FA5}">
                      <a16:colId xmlns:a16="http://schemas.microsoft.com/office/drawing/2014/main" val="711137965"/>
                    </a:ext>
                  </a:extLst>
                </a:gridCol>
                <a:gridCol w="896847">
                  <a:extLst>
                    <a:ext uri="{9D8B030D-6E8A-4147-A177-3AD203B41FA5}">
                      <a16:colId xmlns:a16="http://schemas.microsoft.com/office/drawing/2014/main" val="2812615928"/>
                    </a:ext>
                  </a:extLst>
                </a:gridCol>
                <a:gridCol w="3224946">
                  <a:extLst>
                    <a:ext uri="{9D8B030D-6E8A-4147-A177-3AD203B41FA5}">
                      <a16:colId xmlns:a16="http://schemas.microsoft.com/office/drawing/2014/main" val="4280019791"/>
                    </a:ext>
                  </a:extLst>
                </a:gridCol>
              </a:tblGrid>
              <a:tr h="0">
                <a:tc>
                  <a:txBody>
                    <a:bodyPr/>
                    <a:lstStyle/>
                    <a:p>
                      <a:pPr algn="ctr" fontAlgn="ctr" latinLnBrk="0">
                        <a:buNone/>
                      </a:pPr>
                      <a:r>
                        <a:rPr lang="ko-KR" altLang="en-US" sz="1000" b="0" i="0" u="none" strike="noStrike" dirty="0">
                          <a:solidFill>
                            <a:schemeClr val="bg1"/>
                          </a:solidFill>
                          <a:effectLst/>
                          <a:latin typeface="+mj-ea"/>
                          <a:ea typeface="+mj-ea"/>
                        </a:rPr>
                        <a:t>구분</a:t>
                      </a:r>
                    </a:p>
                  </a:txBody>
                  <a:tcPr marL="36000" marR="36000" marT="18000" marB="1800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a:solidFill>
                            <a:schemeClr val="bg1"/>
                          </a:solidFill>
                          <a:effectLst/>
                          <a:latin typeface="+mj-ea"/>
                          <a:ea typeface="+mj-ea"/>
                        </a:rPr>
                        <a:t>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dirty="0" err="1">
                          <a:solidFill>
                            <a:schemeClr val="bg1"/>
                          </a:solidFill>
                          <a:effectLst/>
                          <a:latin typeface="+mj-ea"/>
                          <a:ea typeface="+mj-ea"/>
                        </a:rPr>
                        <a:t>지표명</a:t>
                      </a:r>
                      <a:endParaRPr lang="ko-KR" altLang="en-US" sz="1000" b="0" i="0" u="none" strike="noStrike" dirty="0">
                        <a:solidFill>
                          <a:schemeClr val="bg1"/>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dirty="0">
                          <a:solidFill>
                            <a:schemeClr val="bg1"/>
                          </a:solidFill>
                          <a:effectLst/>
                          <a:latin typeface="+mj-ea"/>
                          <a:ea typeface="+mj-ea"/>
                        </a:rPr>
                        <a:t>지표 설명</a:t>
                      </a:r>
                    </a:p>
                  </a:txBody>
                  <a:tcPr marL="36000" marR="36000" marT="18000" marB="1800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672519231"/>
                  </a:ext>
                </a:extLst>
              </a:tr>
              <a:tr h="86198">
                <a:tc rowSpan="3">
                  <a:txBody>
                    <a:bodyPr/>
                    <a:lstStyle/>
                    <a:p>
                      <a:pPr algn="ctr" fontAlgn="ctr" latinLnBrk="0">
                        <a:buNone/>
                      </a:pPr>
                      <a:r>
                        <a:rPr lang="ko-KR" altLang="en-US" sz="1000" b="0" i="0" u="none" strike="noStrike" dirty="0">
                          <a:solidFill>
                            <a:srgbClr val="000000"/>
                          </a:solidFill>
                          <a:effectLst/>
                          <a:latin typeface="+mj-ea"/>
                          <a:ea typeface="+mj-ea"/>
                        </a:rPr>
                        <a:t>가</a:t>
                      </a:r>
                      <a:endParaRPr lang="en-US" altLang="ko-KR" sz="1000" b="0" i="0" u="none" strike="noStrike" dirty="0">
                        <a:solidFill>
                          <a:srgbClr val="000000"/>
                        </a:solidFill>
                        <a:effectLst/>
                        <a:latin typeface="+mj-ea"/>
                        <a:ea typeface="+mj-ea"/>
                      </a:endParaRPr>
                    </a:p>
                    <a:p>
                      <a:pPr algn="ctr" fontAlgn="ctr" latinLnBrk="0">
                        <a:buNone/>
                      </a:pPr>
                      <a:r>
                        <a:rPr lang="ko-KR" altLang="en-US" sz="1000" b="0" i="0" u="none" strike="noStrike" dirty="0">
                          <a:solidFill>
                            <a:srgbClr val="000000"/>
                          </a:solidFill>
                          <a:effectLst/>
                          <a:latin typeface="+mj-ea"/>
                          <a:ea typeface="+mj-ea"/>
                        </a:rPr>
                        <a:t>상</a:t>
                      </a:r>
                      <a:endParaRPr lang="en-US" altLang="ko-KR" sz="1000" b="0" i="0" u="none" strike="noStrike" dirty="0">
                        <a:solidFill>
                          <a:srgbClr val="000000"/>
                        </a:solidFill>
                        <a:effectLst/>
                        <a:latin typeface="+mj-ea"/>
                        <a:ea typeface="+mj-ea"/>
                      </a:endParaRPr>
                    </a:p>
                    <a:p>
                      <a:pPr algn="ctr" fontAlgn="ctr" latinLnBrk="0">
                        <a:buNone/>
                      </a:pPr>
                      <a:r>
                        <a:rPr lang="ko-KR" altLang="en-US" sz="1000" b="0" i="0" u="none" strike="noStrike" dirty="0">
                          <a:solidFill>
                            <a:srgbClr val="000000"/>
                          </a:solidFill>
                          <a:effectLst/>
                          <a:latin typeface="+mj-ea"/>
                          <a:ea typeface="+mj-ea"/>
                        </a:rPr>
                        <a:t>훈</a:t>
                      </a:r>
                      <a:endParaRPr lang="en-US" altLang="ko-KR" sz="1000" b="0" i="0" u="none" strike="noStrike" dirty="0">
                        <a:solidFill>
                          <a:srgbClr val="000000"/>
                        </a:solidFill>
                        <a:effectLst/>
                        <a:latin typeface="+mj-ea"/>
                        <a:ea typeface="+mj-ea"/>
                      </a:endParaRPr>
                    </a:p>
                    <a:p>
                      <a:pPr algn="ctr" fontAlgn="ctr" latinLnBrk="0">
                        <a:buNone/>
                      </a:pPr>
                      <a:r>
                        <a:rPr lang="ko-KR" altLang="en-US" sz="1000" b="0" i="0" u="none" strike="noStrike" dirty="0" err="1">
                          <a:solidFill>
                            <a:srgbClr val="000000"/>
                          </a:solidFill>
                          <a:effectLst/>
                          <a:latin typeface="+mj-ea"/>
                          <a:ea typeface="+mj-ea"/>
                        </a:rPr>
                        <a:t>련</a:t>
                      </a:r>
                      <a:endParaRPr lang="ko-KR" altLang="en-US" sz="1000" b="0" i="0" u="none" strike="noStrike"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0" i="0" u="none" strike="noStrike">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a:solidFill>
                            <a:srgbClr val="000000"/>
                          </a:solidFill>
                          <a:effectLst/>
                          <a:latin typeface="+mj-ea"/>
                          <a:ea typeface="+mj-ea"/>
                        </a:rPr>
                        <a:t>장비 실습 필요도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해당 능력단위에서 특수 장비 또는 고가 장비의 활용이 필수적이며</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a:solidFill>
                            <a:srgbClr val="000000"/>
                          </a:solidFill>
                          <a:effectLst/>
                          <a:latin typeface="+mj-ea"/>
                          <a:ea typeface="+mj-ea"/>
                        </a:rPr>
                        <a:t>이를 실제로 다루기 어려운 경우 가상훈련 콘텐츠 개발이 적합함</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3541720"/>
                  </a:ext>
                </a:extLst>
              </a:tr>
              <a:tr h="86198">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a:solidFill>
                            <a:srgbClr val="000000"/>
                          </a:solidFill>
                          <a:effectLst/>
                          <a:latin typeface="+mj-ea"/>
                          <a:ea typeface="+mj-ea"/>
                        </a:rPr>
                        <a:t>반복훈련 적합도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해당 능력단위가 명확한 작업 절차를 포함하고</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a:solidFill>
                            <a:srgbClr val="000000"/>
                          </a:solidFill>
                          <a:effectLst/>
                          <a:latin typeface="+mj-ea"/>
                          <a:ea typeface="+mj-ea"/>
                        </a:rPr>
                        <a:t>반복적인 훈련을 통해 숙련도가 요구되는 경우 가상훈련이 효과적임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82753"/>
                  </a:ext>
                </a:extLst>
              </a:tr>
              <a:tr h="86198">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a:solidFill>
                            <a:srgbClr val="000000"/>
                          </a:solidFill>
                          <a:effectLst/>
                          <a:latin typeface="+mj-ea"/>
                          <a:ea typeface="+mj-ea"/>
                        </a:rPr>
                        <a:t>안전환경 필요도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고위험 작업</a:t>
                      </a:r>
                      <a:r>
                        <a:rPr lang="en-US" altLang="ko-KR" sz="1000" b="0" i="0" u="none" strike="noStrike" spc="-50" baseline="0" dirty="0">
                          <a:solidFill>
                            <a:srgbClr val="000000"/>
                          </a:solidFill>
                          <a:effectLst/>
                          <a:latin typeface="+mj-ea"/>
                          <a:ea typeface="+mj-ea"/>
                        </a:rPr>
                        <a:t>(</a:t>
                      </a:r>
                      <a:r>
                        <a:rPr lang="ko-KR" altLang="en-US" sz="1000" b="0" i="0" u="none" strike="noStrike" spc="-50" baseline="0" dirty="0">
                          <a:solidFill>
                            <a:srgbClr val="000000"/>
                          </a:solidFill>
                          <a:effectLst/>
                          <a:latin typeface="+mj-ea"/>
                          <a:ea typeface="+mj-ea"/>
                        </a:rPr>
                        <a:t>고온</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a:solidFill>
                            <a:srgbClr val="000000"/>
                          </a:solidFill>
                          <a:effectLst/>
                          <a:latin typeface="+mj-ea"/>
                          <a:ea typeface="+mj-ea"/>
                        </a:rPr>
                        <a:t>고전압</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a:solidFill>
                            <a:srgbClr val="000000"/>
                          </a:solidFill>
                          <a:effectLst/>
                          <a:latin typeface="+mj-ea"/>
                          <a:ea typeface="+mj-ea"/>
                        </a:rPr>
                        <a:t>유해화학물질 등</a:t>
                      </a:r>
                      <a:r>
                        <a:rPr lang="en-US" altLang="ko-KR" sz="1000" b="0" i="0" u="none" strike="noStrike" spc="-50" baseline="0" dirty="0">
                          <a:solidFill>
                            <a:srgbClr val="000000"/>
                          </a:solidFill>
                          <a:effectLst/>
                          <a:latin typeface="+mj-ea"/>
                          <a:ea typeface="+mj-ea"/>
                        </a:rPr>
                        <a:t>)</a:t>
                      </a:r>
                      <a:r>
                        <a:rPr lang="ko-KR" altLang="en-US" sz="1000" b="0" i="0" u="none" strike="noStrike" spc="-50" baseline="0" dirty="0">
                          <a:solidFill>
                            <a:srgbClr val="000000"/>
                          </a:solidFill>
                          <a:effectLst/>
                          <a:latin typeface="+mj-ea"/>
                          <a:ea typeface="+mj-ea"/>
                        </a:rPr>
                        <a:t>으로 인해 안전한 가상 시뮬레이션이 요구되는 경우 가상훈련 개발이 적합함</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8401391"/>
                  </a:ext>
                </a:extLst>
              </a:tr>
              <a:tr h="86198">
                <a:tc rowSpan="4">
                  <a:txBody>
                    <a:bodyPr/>
                    <a:lstStyle/>
                    <a:p>
                      <a:pPr algn="ctr" fontAlgn="ctr" latinLnBrk="0">
                        <a:buNone/>
                      </a:pPr>
                      <a:r>
                        <a:rPr lang="ko-KR" altLang="en-US" sz="1000" b="0" i="0" u="none" strike="noStrike" dirty="0">
                          <a:solidFill>
                            <a:srgbClr val="000000"/>
                          </a:solidFill>
                          <a:effectLst/>
                          <a:latin typeface="+mj-ea"/>
                          <a:ea typeface="+mj-ea"/>
                        </a:rPr>
                        <a:t>이</a:t>
                      </a:r>
                      <a:br>
                        <a:rPr lang="en-US" altLang="ko-KR" sz="1000" b="0" i="0" u="none" strike="noStrike" dirty="0">
                          <a:solidFill>
                            <a:srgbClr val="000000"/>
                          </a:solidFill>
                          <a:effectLst/>
                          <a:latin typeface="+mj-ea"/>
                          <a:ea typeface="+mj-ea"/>
                        </a:rPr>
                      </a:br>
                      <a:r>
                        <a:rPr lang="ko-KR" altLang="en-US" sz="1000" b="0" i="0" u="none" strike="noStrike" dirty="0">
                          <a:solidFill>
                            <a:srgbClr val="000000"/>
                          </a:solidFill>
                          <a:effectLst/>
                          <a:latin typeface="+mj-ea"/>
                          <a:ea typeface="+mj-ea"/>
                        </a:rPr>
                        <a:t>러</a:t>
                      </a:r>
                      <a:endParaRPr lang="en-US" altLang="ko-KR" sz="1000" b="0" i="0" u="none" strike="noStrike" dirty="0">
                        <a:solidFill>
                          <a:srgbClr val="000000"/>
                        </a:solidFill>
                        <a:effectLst/>
                        <a:latin typeface="+mj-ea"/>
                        <a:ea typeface="+mj-ea"/>
                      </a:endParaRPr>
                    </a:p>
                    <a:p>
                      <a:pPr algn="ctr" fontAlgn="ctr" latinLnBrk="0">
                        <a:buNone/>
                      </a:pPr>
                      <a:r>
                        <a:rPr lang="ko-KR" altLang="en-US" sz="1000" b="0" i="0" u="none" strike="noStrike" dirty="0" err="1">
                          <a:solidFill>
                            <a:srgbClr val="000000"/>
                          </a:solidFill>
                          <a:effectLst/>
                          <a:latin typeface="+mj-ea"/>
                          <a:ea typeface="+mj-ea"/>
                        </a:rPr>
                        <a:t>닝</a:t>
                      </a:r>
                      <a:endParaRPr lang="ko-KR" altLang="en-US" sz="1000" b="0" i="0" u="none" strike="noStrike"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0" i="0" u="none" strike="noStrike">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err="1">
                          <a:solidFill>
                            <a:srgbClr val="000000"/>
                          </a:solidFill>
                          <a:effectLst/>
                          <a:latin typeface="+mj-ea"/>
                          <a:ea typeface="+mj-ea"/>
                        </a:rPr>
                        <a:t>비대면</a:t>
                      </a:r>
                      <a:r>
                        <a:rPr lang="ko-KR" altLang="en-US" sz="1000" b="0" i="0" u="none" strike="noStrike" spc="-150" dirty="0">
                          <a:solidFill>
                            <a:srgbClr val="000000"/>
                          </a:solidFill>
                          <a:effectLst/>
                          <a:latin typeface="+mj-ea"/>
                          <a:ea typeface="+mj-ea"/>
                        </a:rPr>
                        <a:t> 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동료 또는 강사와의 실시간 상호작용 없이도 독립적 학습이 가능한 정도 </a:t>
                      </a:r>
                      <a:r>
                        <a:rPr lang="en-US" altLang="ko-KR" sz="1000" b="0" i="0" u="none" strike="noStrike" spc="-50" baseline="0" dirty="0">
                          <a:solidFill>
                            <a:srgbClr val="000000"/>
                          </a:solidFill>
                          <a:effectLst/>
                          <a:latin typeface="+mj-ea"/>
                          <a:ea typeface="+mj-ea"/>
                        </a:rPr>
                        <a:t>(</a:t>
                      </a:r>
                      <a:r>
                        <a:rPr lang="ko-KR" altLang="en-US" sz="1000" b="0" i="0" u="none" strike="noStrike" spc="-50" baseline="0" dirty="0">
                          <a:solidFill>
                            <a:srgbClr val="000000"/>
                          </a:solidFill>
                          <a:effectLst/>
                          <a:latin typeface="+mj-ea"/>
                          <a:ea typeface="+mj-ea"/>
                        </a:rPr>
                        <a:t>협업</a:t>
                      </a:r>
                      <a:r>
                        <a:rPr lang="en-US" altLang="ko-KR" sz="1000" b="0" i="0" u="none" strike="noStrike" spc="-50" baseline="0" dirty="0">
                          <a:solidFill>
                            <a:srgbClr val="000000"/>
                          </a:solidFill>
                          <a:effectLst/>
                          <a:latin typeface="+mj-ea"/>
                          <a:ea typeface="+mj-ea"/>
                        </a:rPr>
                        <a:t>·</a:t>
                      </a:r>
                      <a:r>
                        <a:rPr lang="ko-KR" altLang="en-US" sz="1000" b="0" i="0" u="none" strike="noStrike" spc="-50" baseline="0" dirty="0">
                          <a:solidFill>
                            <a:srgbClr val="000000"/>
                          </a:solidFill>
                          <a:effectLst/>
                          <a:latin typeface="+mj-ea"/>
                          <a:ea typeface="+mj-ea"/>
                        </a:rPr>
                        <a:t>피드백이 필수적이지 않은 경우</a:t>
                      </a:r>
                      <a:r>
                        <a:rPr lang="en-US" altLang="ko-KR" sz="1000" b="0" i="0" u="none" strike="noStrike" spc="-50" baseline="0"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601641"/>
                  </a:ext>
                </a:extLst>
              </a:tr>
              <a:tr h="86198">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a:solidFill>
                            <a:srgbClr val="000000"/>
                          </a:solidFill>
                          <a:effectLst/>
                          <a:latin typeface="+mj-ea"/>
                          <a:ea typeface="+mj-ea"/>
                        </a:rPr>
                        <a:t>이론 </a:t>
                      </a:r>
                      <a:r>
                        <a:rPr lang="ko-KR" altLang="en-US" sz="1000" b="0" i="0" u="none" strike="noStrike" spc="-150" dirty="0" err="1">
                          <a:solidFill>
                            <a:srgbClr val="000000"/>
                          </a:solidFill>
                          <a:effectLst/>
                          <a:latin typeface="+mj-ea"/>
                          <a:ea typeface="+mj-ea"/>
                        </a:rPr>
                        <a:t>중심성</a:t>
                      </a:r>
                      <a:endParaRPr lang="ko-KR" altLang="en-US" sz="1000" b="0" i="0" u="none" strike="noStrike" spc="-150"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해당 능력단위가 장비 실습보다는 이론적 이해에 기반하여 학습할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18785"/>
                  </a:ext>
                </a:extLst>
              </a:tr>
              <a:tr h="86198">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a:solidFill>
                            <a:srgbClr val="000000"/>
                          </a:solidFill>
                          <a:effectLst/>
                          <a:latin typeface="+mj-ea"/>
                          <a:ea typeface="+mj-ea"/>
                        </a:rPr>
                        <a:t>분절 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짧은 시간 내에 학습이 가능하고</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err="1">
                          <a:solidFill>
                            <a:srgbClr val="000000"/>
                          </a:solidFill>
                          <a:effectLst/>
                          <a:latin typeface="+mj-ea"/>
                          <a:ea typeface="+mj-ea"/>
                        </a:rPr>
                        <a:t>모듈화된</a:t>
                      </a:r>
                      <a:r>
                        <a:rPr lang="ko-KR" altLang="en-US" sz="1000" b="0" i="0" u="none" strike="noStrike" spc="-50" baseline="0" dirty="0">
                          <a:solidFill>
                            <a:srgbClr val="000000"/>
                          </a:solidFill>
                          <a:effectLst/>
                          <a:latin typeface="+mj-ea"/>
                          <a:ea typeface="+mj-ea"/>
                        </a:rPr>
                        <a:t> 방식으로 분절 학습이 용이한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9265047"/>
                  </a:ext>
                </a:extLst>
              </a:tr>
              <a:tr h="86198">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spc="-150" dirty="0">
                          <a:solidFill>
                            <a:srgbClr val="000000"/>
                          </a:solidFill>
                          <a:effectLst/>
                          <a:latin typeface="+mj-ea"/>
                          <a:ea typeface="+mj-ea"/>
                        </a:rPr>
                        <a:t>반복학습 적합도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ctr" latinLnBrk="0">
                        <a:buNone/>
                      </a:pPr>
                      <a:r>
                        <a:rPr lang="ko-KR" altLang="en-US" sz="1000" b="0" i="0" u="none" strike="noStrike" spc="-50" baseline="0" dirty="0">
                          <a:solidFill>
                            <a:srgbClr val="000000"/>
                          </a:solidFill>
                          <a:effectLst/>
                          <a:latin typeface="+mj-ea"/>
                          <a:ea typeface="+mj-ea"/>
                        </a:rPr>
                        <a:t>반복적으로 수강하며 학습 내용을 숙지하고</a:t>
                      </a:r>
                      <a:r>
                        <a:rPr lang="en-US" altLang="ko-KR" sz="1000" b="0" i="0" u="none" strike="noStrike" spc="-50" baseline="0" dirty="0">
                          <a:solidFill>
                            <a:srgbClr val="000000"/>
                          </a:solidFill>
                          <a:effectLst/>
                          <a:latin typeface="+mj-ea"/>
                          <a:ea typeface="+mj-ea"/>
                        </a:rPr>
                        <a:t>, </a:t>
                      </a:r>
                      <a:r>
                        <a:rPr lang="ko-KR" altLang="en-US" sz="1000" b="0" i="0" u="none" strike="noStrike" spc="-50" baseline="0" dirty="0">
                          <a:solidFill>
                            <a:srgbClr val="000000"/>
                          </a:solidFill>
                          <a:effectLst/>
                          <a:latin typeface="+mj-ea"/>
                          <a:ea typeface="+mj-ea"/>
                        </a:rPr>
                        <a:t>자기주도 학습이 효과적인 정도 </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3436140"/>
                  </a:ext>
                </a:extLst>
              </a:tr>
            </a:tbl>
          </a:graphicData>
        </a:graphic>
      </p:graphicFrame>
      <p:grpSp>
        <p:nvGrpSpPr>
          <p:cNvPr id="29" name="그룹 28">
            <a:extLst>
              <a:ext uri="{FF2B5EF4-FFF2-40B4-BE49-F238E27FC236}">
                <a16:creationId xmlns:a16="http://schemas.microsoft.com/office/drawing/2014/main" id="{BE90247E-8379-3242-1D96-7E871E27C9B9}"/>
              </a:ext>
            </a:extLst>
          </p:cNvPr>
          <p:cNvGrpSpPr/>
          <p:nvPr/>
        </p:nvGrpSpPr>
        <p:grpSpPr>
          <a:xfrm>
            <a:off x="4467008" y="2309181"/>
            <a:ext cx="3852428" cy="261610"/>
            <a:chOff x="672170" y="1944148"/>
            <a:chExt cx="3852428" cy="319269"/>
          </a:xfrm>
        </p:grpSpPr>
        <p:sp>
          <p:nvSpPr>
            <p:cNvPr id="30" name="TextBox 29">
              <a:extLst>
                <a:ext uri="{FF2B5EF4-FFF2-40B4-BE49-F238E27FC236}">
                  <a16:creationId xmlns:a16="http://schemas.microsoft.com/office/drawing/2014/main" id="{0C99C5C2-6639-60E8-F930-64E96EC9CA0A}"/>
                </a:ext>
              </a:extLst>
            </p:cNvPr>
            <p:cNvSpPr txBox="1"/>
            <p:nvPr/>
          </p:nvSpPr>
          <p:spPr>
            <a:xfrm>
              <a:off x="708173" y="1944148"/>
              <a:ext cx="3816425" cy="319269"/>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평가 지표</a:t>
              </a:r>
            </a:p>
          </p:txBody>
        </p:sp>
        <p:sp>
          <p:nvSpPr>
            <p:cNvPr id="31" name="직사각형 30">
              <a:extLst>
                <a:ext uri="{FF2B5EF4-FFF2-40B4-BE49-F238E27FC236}">
                  <a16:creationId xmlns:a16="http://schemas.microsoft.com/office/drawing/2014/main" id="{D7781B8C-F6CC-BF59-19C0-5742EA7E2667}"/>
                </a:ext>
              </a:extLst>
            </p:cNvPr>
            <p:cNvSpPr/>
            <p:nvPr/>
          </p:nvSpPr>
          <p:spPr>
            <a:xfrm>
              <a:off x="672170" y="1980004"/>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pSp>
        <p:nvGrpSpPr>
          <p:cNvPr id="32" name="그룹 31">
            <a:extLst>
              <a:ext uri="{FF2B5EF4-FFF2-40B4-BE49-F238E27FC236}">
                <a16:creationId xmlns:a16="http://schemas.microsoft.com/office/drawing/2014/main" id="{E0A77460-2DDD-3D0E-B4F9-025CA68EEB6D}"/>
              </a:ext>
            </a:extLst>
          </p:cNvPr>
          <p:cNvGrpSpPr/>
          <p:nvPr/>
        </p:nvGrpSpPr>
        <p:grpSpPr>
          <a:xfrm>
            <a:off x="4467008" y="5182268"/>
            <a:ext cx="3852428" cy="261610"/>
            <a:chOff x="672170" y="1944145"/>
            <a:chExt cx="3852428" cy="319269"/>
          </a:xfrm>
        </p:grpSpPr>
        <p:sp>
          <p:nvSpPr>
            <p:cNvPr id="33" name="TextBox 32">
              <a:extLst>
                <a:ext uri="{FF2B5EF4-FFF2-40B4-BE49-F238E27FC236}">
                  <a16:creationId xmlns:a16="http://schemas.microsoft.com/office/drawing/2014/main" id="{782EE54C-9D61-6091-4640-DD53348F4FFE}"/>
                </a:ext>
              </a:extLst>
            </p:cNvPr>
            <p:cNvSpPr txBox="1"/>
            <p:nvPr/>
          </p:nvSpPr>
          <p:spPr>
            <a:xfrm>
              <a:off x="708173" y="1944145"/>
              <a:ext cx="3816425" cy="319269"/>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평가 절차</a:t>
              </a:r>
            </a:p>
          </p:txBody>
        </p:sp>
        <p:sp>
          <p:nvSpPr>
            <p:cNvPr id="34" name="직사각형 33">
              <a:extLst>
                <a:ext uri="{FF2B5EF4-FFF2-40B4-BE49-F238E27FC236}">
                  <a16:creationId xmlns:a16="http://schemas.microsoft.com/office/drawing/2014/main" id="{C5DEDE82-56FD-9325-9D3F-47A216E90C9D}"/>
                </a:ext>
              </a:extLst>
            </p:cNvPr>
            <p:cNvSpPr/>
            <p:nvPr/>
          </p:nvSpPr>
          <p:spPr>
            <a:xfrm>
              <a:off x="672170" y="1980004"/>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cxnSp>
        <p:nvCxnSpPr>
          <p:cNvPr id="40" name="직선 화살표 연결선 39">
            <a:extLst>
              <a:ext uri="{FF2B5EF4-FFF2-40B4-BE49-F238E27FC236}">
                <a16:creationId xmlns:a16="http://schemas.microsoft.com/office/drawing/2014/main" id="{3BE3F45E-230D-974E-8A69-E0F0F517120B}"/>
              </a:ext>
            </a:extLst>
          </p:cNvPr>
          <p:cNvCxnSpPr>
            <a:stCxn id="35" idx="3"/>
            <a:endCxn id="37" idx="1"/>
          </p:cNvCxnSpPr>
          <p:nvPr/>
        </p:nvCxnSpPr>
        <p:spPr>
          <a:xfrm>
            <a:off x="5503331" y="5910120"/>
            <a:ext cx="2722265"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35" name="모서리가 둥근 직사각형 28">
            <a:extLst>
              <a:ext uri="{FF2B5EF4-FFF2-40B4-BE49-F238E27FC236}">
                <a16:creationId xmlns:a16="http://schemas.microsoft.com/office/drawing/2014/main" id="{D7D824E9-3000-03EA-E442-A8F6D3DF1579}"/>
              </a:ext>
            </a:extLst>
          </p:cNvPr>
          <p:cNvSpPr/>
          <p:nvPr/>
        </p:nvSpPr>
        <p:spPr>
          <a:xfrm>
            <a:off x="4467008" y="5510919"/>
            <a:ext cx="1036323" cy="798401"/>
          </a:xfrm>
          <a:prstGeom prst="roundRect">
            <a:avLst/>
          </a:prstGeom>
          <a:solidFill>
            <a:srgbClr val="DCF1F9"/>
          </a:solidFill>
        </p:spPr>
        <p:txBody>
          <a:bodyPr wrap="square" tIns="36000" bIns="36000" anchor="ctr">
            <a:noAutofit/>
          </a:bodyPr>
          <a:lstStyle/>
          <a:p>
            <a:pPr>
              <a:buNone/>
            </a:pPr>
            <a:r>
              <a:rPr lang="ko-KR" altLang="en-US" dirty="0">
                <a:latin typeface="a고딕14" panose="02020600000000000000" pitchFamily="18" charset="-127"/>
                <a:ea typeface="a고딕14" panose="02020600000000000000" pitchFamily="18" charset="-127"/>
              </a:rPr>
              <a:t>프롬프트 </a:t>
            </a:r>
            <a:endParaRPr lang="en-US" altLang="ko-KR" dirty="0">
              <a:latin typeface="a고딕14" panose="02020600000000000000" pitchFamily="18" charset="-127"/>
              <a:ea typeface="a고딕14" panose="02020600000000000000" pitchFamily="18" charset="-127"/>
            </a:endParaRPr>
          </a:p>
          <a:p>
            <a:pPr>
              <a:buNone/>
            </a:pPr>
            <a:r>
              <a:rPr lang="ko-KR" altLang="en-US" dirty="0">
                <a:latin typeface="a고딕14" panose="02020600000000000000" pitchFamily="18" charset="-127"/>
                <a:ea typeface="a고딕14" panose="02020600000000000000" pitchFamily="18" charset="-127"/>
              </a:rPr>
              <a:t>개발</a:t>
            </a:r>
            <a:endParaRPr lang="en-US" altLang="ko-KR" dirty="0">
              <a:latin typeface="a고딕14" panose="02020600000000000000" pitchFamily="18" charset="-127"/>
              <a:ea typeface="a고딕14" panose="02020600000000000000" pitchFamily="18" charset="-127"/>
            </a:endParaRPr>
          </a:p>
        </p:txBody>
      </p:sp>
      <p:sp>
        <p:nvSpPr>
          <p:cNvPr id="36" name="모서리가 둥근 직사각형 28">
            <a:extLst>
              <a:ext uri="{FF2B5EF4-FFF2-40B4-BE49-F238E27FC236}">
                <a16:creationId xmlns:a16="http://schemas.microsoft.com/office/drawing/2014/main" id="{95ED9101-47AD-D212-B4CE-19DF74E68FC1}"/>
              </a:ext>
            </a:extLst>
          </p:cNvPr>
          <p:cNvSpPr/>
          <p:nvPr/>
        </p:nvSpPr>
        <p:spPr>
          <a:xfrm>
            <a:off x="5719871" y="5510919"/>
            <a:ext cx="1036323" cy="798401"/>
          </a:xfrm>
          <a:prstGeom prst="roundRect">
            <a:avLst/>
          </a:prstGeom>
          <a:solidFill>
            <a:srgbClr val="82B5DE"/>
          </a:solidFill>
        </p:spPr>
        <p:txBody>
          <a:bodyPr wrap="square" tIns="36000" bIns="36000" anchor="ctr">
            <a:noAutofit/>
          </a:bodyPr>
          <a:lstStyle/>
          <a:p>
            <a:pPr>
              <a:buNone/>
            </a:pPr>
            <a:r>
              <a:rPr lang="ko-KR" altLang="en-US" dirty="0">
                <a:solidFill>
                  <a:schemeClr val="bg1"/>
                </a:solidFill>
                <a:latin typeface="a고딕14" panose="02020600000000000000" pitchFamily="18" charset="-127"/>
                <a:ea typeface="a고딕14" panose="02020600000000000000" pitchFamily="18" charset="-127"/>
              </a:rPr>
              <a:t>프롬프트 </a:t>
            </a:r>
            <a:endParaRPr lang="en-US" altLang="ko-KR" dirty="0">
              <a:solidFill>
                <a:schemeClr val="bg1"/>
              </a:solidFill>
              <a:latin typeface="a고딕14" panose="02020600000000000000" pitchFamily="18" charset="-127"/>
              <a:ea typeface="a고딕14" panose="02020600000000000000" pitchFamily="18" charset="-127"/>
            </a:endParaRPr>
          </a:p>
          <a:p>
            <a:pPr>
              <a:buNone/>
            </a:pPr>
            <a:r>
              <a:rPr lang="ko-KR" altLang="en-US" dirty="0">
                <a:solidFill>
                  <a:schemeClr val="bg1"/>
                </a:solidFill>
                <a:latin typeface="a고딕14" panose="02020600000000000000" pitchFamily="18" charset="-127"/>
                <a:ea typeface="a고딕14" panose="02020600000000000000" pitchFamily="18" charset="-127"/>
              </a:rPr>
              <a:t>검증</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37" name="모서리가 둥근 직사각형 28">
            <a:extLst>
              <a:ext uri="{FF2B5EF4-FFF2-40B4-BE49-F238E27FC236}">
                <a16:creationId xmlns:a16="http://schemas.microsoft.com/office/drawing/2014/main" id="{F63E961D-D14F-7B77-AEA2-25C40F002D76}"/>
              </a:ext>
            </a:extLst>
          </p:cNvPr>
          <p:cNvSpPr/>
          <p:nvPr/>
        </p:nvSpPr>
        <p:spPr>
          <a:xfrm>
            <a:off x="8225596" y="5510919"/>
            <a:ext cx="1036323" cy="798401"/>
          </a:xfrm>
          <a:prstGeom prst="roundRect">
            <a:avLst/>
          </a:prstGeom>
          <a:solidFill>
            <a:srgbClr val="212E55"/>
          </a:solidFill>
        </p:spPr>
        <p:txBody>
          <a:bodyPr wrap="square" tIns="36000" bIns="36000" anchor="ctr">
            <a:noAutofit/>
          </a:bodyPr>
          <a:lstStyle/>
          <a:p>
            <a:pPr>
              <a:buNone/>
            </a:pPr>
            <a:r>
              <a:rPr lang="ko-KR" altLang="en-US" dirty="0">
                <a:solidFill>
                  <a:schemeClr val="bg1"/>
                </a:solidFill>
                <a:latin typeface="a고딕14" panose="02020600000000000000" pitchFamily="18" charset="-127"/>
                <a:ea typeface="a고딕14" panose="02020600000000000000" pitchFamily="18" charset="-127"/>
              </a:rPr>
              <a:t>전문가 결과 검토 및 보완</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38" name="모서리가 둥근 직사각형 28">
            <a:extLst>
              <a:ext uri="{FF2B5EF4-FFF2-40B4-BE49-F238E27FC236}">
                <a16:creationId xmlns:a16="http://schemas.microsoft.com/office/drawing/2014/main" id="{EAB3E20D-66E2-76C4-5B37-C21D4F3BA889}"/>
              </a:ext>
            </a:extLst>
          </p:cNvPr>
          <p:cNvSpPr/>
          <p:nvPr/>
        </p:nvSpPr>
        <p:spPr>
          <a:xfrm>
            <a:off x="6972734" y="5510919"/>
            <a:ext cx="1036323" cy="798401"/>
          </a:xfrm>
          <a:prstGeom prst="roundRect">
            <a:avLst/>
          </a:prstGeom>
          <a:solidFill>
            <a:srgbClr val="3061A3"/>
          </a:solidFill>
        </p:spPr>
        <p:txBody>
          <a:bodyPr wrap="square" tIns="36000" bIns="36000" anchor="ctr">
            <a:noAutofit/>
          </a:bodyPr>
          <a:lstStyle/>
          <a:p>
            <a:pPr>
              <a:buNone/>
            </a:pPr>
            <a:r>
              <a:rPr lang="en-US" altLang="ko-KR" dirty="0">
                <a:solidFill>
                  <a:schemeClr val="bg1"/>
                </a:solidFill>
                <a:latin typeface="a고딕14" panose="02020600000000000000" pitchFamily="18" charset="-127"/>
                <a:ea typeface="a고딕14" panose="02020600000000000000" pitchFamily="18" charset="-127"/>
              </a:rPr>
              <a:t>AI</a:t>
            </a:r>
          </a:p>
          <a:p>
            <a:pPr>
              <a:buNone/>
            </a:pPr>
            <a:r>
              <a:rPr lang="ko-KR" altLang="en-US" dirty="0">
                <a:solidFill>
                  <a:schemeClr val="bg1"/>
                </a:solidFill>
                <a:latin typeface="a고딕14" panose="02020600000000000000" pitchFamily="18" charset="-127"/>
                <a:ea typeface="a고딕14" panose="02020600000000000000" pitchFamily="18" charset="-127"/>
              </a:rPr>
              <a:t>평가 실시</a:t>
            </a:r>
            <a:endParaRPr lang="en-US" altLang="ko-KR" dirty="0">
              <a:solidFill>
                <a:schemeClr val="bg1"/>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3287441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F5442-9F61-06F9-FC58-52AA017B2E98}"/>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977F01D-68E2-6921-0A15-4C82DE7C1D24}"/>
              </a:ext>
            </a:extLst>
          </p:cNvPr>
          <p:cNvSpPr>
            <a:spLocks noGrp="1"/>
          </p:cNvSpPr>
          <p:nvPr>
            <p:ph type="body" sz="quarter" idx="12"/>
          </p:nvPr>
        </p:nvSpPr>
        <p:spPr/>
        <p:txBody>
          <a:bodyPr/>
          <a:lstStyle/>
          <a:p>
            <a:pPr latinLnBrk="0"/>
            <a:r>
              <a:rPr lang="ko-KR" altLang="en-US" dirty="0"/>
              <a:t>전문가 자문회의를 통해 도출된 지표를 기반으로 연구진이 평가지표 </a:t>
            </a:r>
            <a:r>
              <a:rPr lang="en-US" altLang="ko-KR" dirty="0"/>
              <a:t>1</a:t>
            </a:r>
            <a:r>
              <a:rPr lang="ko-KR" altLang="en-US" dirty="0"/>
              <a:t>차 안을 마련하였으며</a:t>
            </a:r>
            <a:r>
              <a:rPr lang="en-US" altLang="ko-KR" dirty="0"/>
              <a:t>, </a:t>
            </a:r>
            <a:r>
              <a:rPr lang="ko-KR" altLang="en-US" dirty="0"/>
              <a:t>이후 온평원과 전문가의 의견을 수렴하여 </a:t>
            </a:r>
            <a:r>
              <a:rPr lang="en-US" altLang="ko-KR" dirty="0"/>
              <a:t>2</a:t>
            </a:r>
            <a:r>
              <a:rPr lang="ko-KR" altLang="en-US" dirty="0"/>
              <a:t>차 수정을 진행함</a:t>
            </a:r>
            <a:endParaRPr lang="ko-KR" altLang="en-US" sz="1800" dirty="0"/>
          </a:p>
        </p:txBody>
      </p:sp>
      <p:sp>
        <p:nvSpPr>
          <p:cNvPr id="5" name="텍스트 개체 틀 4">
            <a:extLst>
              <a:ext uri="{FF2B5EF4-FFF2-40B4-BE49-F238E27FC236}">
                <a16:creationId xmlns:a16="http://schemas.microsoft.com/office/drawing/2014/main" id="{BB643EB0-F6A0-A22C-D054-5C3EC9469A9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375F20B6-D698-4D5D-59C2-9355460F6E46}"/>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06792D2A-C32D-7BD8-A18B-BEBD1E6AC636}"/>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B3053036-450F-3706-37ED-F3689C1274A2}"/>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7B44D217-500D-7842-159C-883D58A979D4}"/>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적합성 평가지표 개발 및 확정 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FEC21560-A409-D068-E704-8891D44E187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9" name="사각형: 둥근 모서리 103">
            <a:extLst>
              <a:ext uri="{FF2B5EF4-FFF2-40B4-BE49-F238E27FC236}">
                <a16:creationId xmlns:a16="http://schemas.microsoft.com/office/drawing/2014/main" id="{E0C5E2A7-1F52-8A03-DAF8-400FED35EC98}"/>
              </a:ext>
            </a:extLst>
          </p:cNvPr>
          <p:cNvSpPr/>
          <p:nvPr/>
        </p:nvSpPr>
        <p:spPr>
          <a:xfrm>
            <a:off x="1343252" y="3075416"/>
            <a:ext cx="1521868" cy="468000"/>
          </a:xfrm>
          <a:prstGeom prst="roundRect">
            <a:avLst/>
          </a:prstGeom>
          <a:solidFill>
            <a:srgbClr val="E6E6E6"/>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algn="l">
              <a:buNone/>
            </a:pPr>
            <a:r>
              <a:rPr lang="ko-KR" altLang="en-US" dirty="0">
                <a:solidFill>
                  <a:schemeClr val="tx1"/>
                </a:solidFill>
                <a:latin typeface="a고딕14" panose="02020600000000000000" pitchFamily="18" charset="-127"/>
                <a:ea typeface="a고딕14" panose="02020600000000000000" pitchFamily="18" charset="-127"/>
              </a:rPr>
              <a:t>❷ 반복훈련 적합도</a:t>
            </a:r>
            <a:endParaRPr lang="en-US" altLang="ko-KR" dirty="0">
              <a:solidFill>
                <a:schemeClr val="tx1"/>
              </a:solidFill>
              <a:latin typeface="a고딕12" panose="02020600000000000000" pitchFamily="18" charset="-127"/>
              <a:ea typeface="a고딕12" panose="02020600000000000000" pitchFamily="18" charset="-127"/>
            </a:endParaRPr>
          </a:p>
        </p:txBody>
      </p:sp>
      <p:sp>
        <p:nvSpPr>
          <p:cNvPr id="20" name="사각형: 둥근 모서리 104">
            <a:extLst>
              <a:ext uri="{FF2B5EF4-FFF2-40B4-BE49-F238E27FC236}">
                <a16:creationId xmlns:a16="http://schemas.microsoft.com/office/drawing/2014/main" id="{B3F6CC89-EDE4-7293-15F3-88331BF88EF4}"/>
              </a:ext>
            </a:extLst>
          </p:cNvPr>
          <p:cNvSpPr/>
          <p:nvPr/>
        </p:nvSpPr>
        <p:spPr>
          <a:xfrm>
            <a:off x="1343252" y="2488611"/>
            <a:ext cx="1521868" cy="468000"/>
          </a:xfrm>
          <a:prstGeom prst="roundRect">
            <a:avLst/>
          </a:prstGeom>
          <a:solidFill>
            <a:srgbClr val="E6E6E6"/>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algn="l">
              <a:buNone/>
            </a:pPr>
            <a:r>
              <a:rPr lang="ko-KR" altLang="en-US" dirty="0">
                <a:solidFill>
                  <a:schemeClr val="tx1"/>
                </a:solidFill>
                <a:latin typeface="a고딕14" panose="02020600000000000000" pitchFamily="18" charset="-127"/>
                <a:ea typeface="a고딕14" panose="02020600000000000000" pitchFamily="18" charset="-127"/>
              </a:rPr>
              <a:t>❶ 장비 실습 필요도</a:t>
            </a:r>
            <a:endParaRPr lang="en-US" altLang="ko-KR" dirty="0">
              <a:solidFill>
                <a:schemeClr val="tx1"/>
              </a:solidFill>
              <a:latin typeface="a고딕12" panose="02020600000000000000" pitchFamily="18" charset="-127"/>
              <a:ea typeface="a고딕12" panose="02020600000000000000" pitchFamily="18" charset="-127"/>
            </a:endParaRPr>
          </a:p>
        </p:txBody>
      </p:sp>
      <p:sp>
        <p:nvSpPr>
          <p:cNvPr id="24" name="사각형: 둥근 모서리 101">
            <a:extLst>
              <a:ext uri="{FF2B5EF4-FFF2-40B4-BE49-F238E27FC236}">
                <a16:creationId xmlns:a16="http://schemas.microsoft.com/office/drawing/2014/main" id="{CE226F5C-C029-99E5-D792-E7AFC48A868C}"/>
              </a:ext>
            </a:extLst>
          </p:cNvPr>
          <p:cNvSpPr/>
          <p:nvPr/>
        </p:nvSpPr>
        <p:spPr>
          <a:xfrm>
            <a:off x="1343252" y="4835831"/>
            <a:ext cx="1521868" cy="468000"/>
          </a:xfrm>
          <a:prstGeom prst="roundRect">
            <a:avLst/>
          </a:prstGeom>
          <a:solidFill>
            <a:srgbClr val="3061A3"/>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lvl="0" algn="l">
              <a:buNone/>
            </a:pPr>
            <a:r>
              <a:rPr lang="ko-KR" altLang="en-US" dirty="0">
                <a:solidFill>
                  <a:schemeClr val="bg1"/>
                </a:solidFill>
                <a:latin typeface="a고딕14" panose="02020600000000000000" pitchFamily="18" charset="-127"/>
                <a:ea typeface="a고딕14" panose="02020600000000000000" pitchFamily="18" charset="-127"/>
              </a:rPr>
              <a:t>❺ 이론 </a:t>
            </a:r>
            <a:r>
              <a:rPr lang="ko-KR" altLang="en-US" dirty="0" err="1">
                <a:solidFill>
                  <a:schemeClr val="bg1"/>
                </a:solidFill>
                <a:latin typeface="a고딕14" panose="02020600000000000000" pitchFamily="18" charset="-127"/>
                <a:ea typeface="a고딕14" panose="02020600000000000000" pitchFamily="18" charset="-127"/>
              </a:rPr>
              <a:t>중심성</a:t>
            </a:r>
            <a:endParaRPr lang="en-US" altLang="ko-KR" baseline="30000" dirty="0">
              <a:solidFill>
                <a:schemeClr val="bg1">
                  <a:lumMod val="85000"/>
                </a:schemeClr>
              </a:solidFill>
              <a:latin typeface="a고딕12" panose="02020600000000000000" pitchFamily="18" charset="-127"/>
              <a:ea typeface="a고딕12" panose="02020600000000000000" pitchFamily="18" charset="-127"/>
            </a:endParaRPr>
          </a:p>
        </p:txBody>
      </p:sp>
      <p:sp>
        <p:nvSpPr>
          <p:cNvPr id="25" name="사각형: 둥근 모서리 101">
            <a:extLst>
              <a:ext uri="{FF2B5EF4-FFF2-40B4-BE49-F238E27FC236}">
                <a16:creationId xmlns:a16="http://schemas.microsoft.com/office/drawing/2014/main" id="{649D888F-9B2B-FEC9-CD18-70E214005CC1}"/>
              </a:ext>
            </a:extLst>
          </p:cNvPr>
          <p:cNvSpPr/>
          <p:nvPr/>
        </p:nvSpPr>
        <p:spPr>
          <a:xfrm>
            <a:off x="1343252" y="5422636"/>
            <a:ext cx="1521868" cy="468000"/>
          </a:xfrm>
          <a:prstGeom prst="roundRect">
            <a:avLst/>
          </a:prstGeom>
          <a:solidFill>
            <a:srgbClr val="3061A3"/>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lvl="0" algn="l">
              <a:buNone/>
            </a:pPr>
            <a:r>
              <a:rPr lang="ko-KR" altLang="en-US" dirty="0">
                <a:solidFill>
                  <a:schemeClr val="bg1"/>
                </a:solidFill>
                <a:latin typeface="a고딕14" panose="02020600000000000000" pitchFamily="18" charset="-127"/>
                <a:ea typeface="a고딕14" panose="02020600000000000000" pitchFamily="18" charset="-127"/>
              </a:rPr>
              <a:t>❻ 분절 학습 가능성</a:t>
            </a:r>
            <a:endParaRPr lang="en-US" altLang="ko-KR" dirty="0">
              <a:solidFill>
                <a:schemeClr val="bg1">
                  <a:lumMod val="85000"/>
                </a:schemeClr>
              </a:solidFill>
              <a:latin typeface="a고딕12" panose="02020600000000000000" pitchFamily="18" charset="-127"/>
              <a:ea typeface="a고딕12" panose="02020600000000000000" pitchFamily="18" charset="-127"/>
            </a:endParaRPr>
          </a:p>
        </p:txBody>
      </p:sp>
      <p:sp>
        <p:nvSpPr>
          <p:cNvPr id="26" name="사각형: 둥근 모서리 101">
            <a:extLst>
              <a:ext uri="{FF2B5EF4-FFF2-40B4-BE49-F238E27FC236}">
                <a16:creationId xmlns:a16="http://schemas.microsoft.com/office/drawing/2014/main" id="{AC7C9E38-4749-C578-BA5E-94C2C792B231}"/>
              </a:ext>
            </a:extLst>
          </p:cNvPr>
          <p:cNvSpPr/>
          <p:nvPr/>
        </p:nvSpPr>
        <p:spPr>
          <a:xfrm>
            <a:off x="1343252" y="4249026"/>
            <a:ext cx="1521868" cy="468000"/>
          </a:xfrm>
          <a:prstGeom prst="roundRect">
            <a:avLst/>
          </a:prstGeom>
          <a:solidFill>
            <a:srgbClr val="3061A3"/>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lvl="0" algn="l">
              <a:buNone/>
            </a:pPr>
            <a:r>
              <a:rPr lang="ko-KR" altLang="en-US" dirty="0">
                <a:solidFill>
                  <a:schemeClr val="bg1"/>
                </a:solidFill>
                <a:latin typeface="a고딕14" panose="02020600000000000000" pitchFamily="18" charset="-127"/>
                <a:ea typeface="a고딕14" panose="02020600000000000000" pitchFamily="18" charset="-127"/>
              </a:rPr>
              <a:t>❹ </a:t>
            </a:r>
            <a:r>
              <a:rPr lang="ko-KR" altLang="en-US" spc="-80" dirty="0" err="1">
                <a:solidFill>
                  <a:schemeClr val="bg1"/>
                </a:solidFill>
                <a:latin typeface="a고딕14" panose="02020600000000000000" pitchFamily="18" charset="-127"/>
                <a:ea typeface="a고딕14" panose="02020600000000000000" pitchFamily="18" charset="-127"/>
              </a:rPr>
              <a:t>비대면</a:t>
            </a:r>
            <a:r>
              <a:rPr lang="ko-KR" altLang="en-US" spc="-80" dirty="0">
                <a:solidFill>
                  <a:schemeClr val="bg1"/>
                </a:solidFill>
                <a:latin typeface="a고딕14" panose="02020600000000000000" pitchFamily="18" charset="-127"/>
                <a:ea typeface="a고딕14" panose="02020600000000000000" pitchFamily="18" charset="-127"/>
              </a:rPr>
              <a:t> 학습 가능성</a:t>
            </a:r>
            <a:endParaRPr lang="en-US" altLang="ko-KR" spc="-80" dirty="0">
              <a:solidFill>
                <a:schemeClr val="bg1">
                  <a:lumMod val="85000"/>
                </a:schemeClr>
              </a:solidFill>
              <a:latin typeface="a고딕12" panose="02020600000000000000" pitchFamily="18" charset="-127"/>
              <a:ea typeface="a고딕12" panose="02020600000000000000" pitchFamily="18" charset="-127"/>
            </a:endParaRPr>
          </a:p>
        </p:txBody>
      </p:sp>
      <p:sp>
        <p:nvSpPr>
          <p:cNvPr id="27" name="사각형: 둥근 모서리 102">
            <a:extLst>
              <a:ext uri="{FF2B5EF4-FFF2-40B4-BE49-F238E27FC236}">
                <a16:creationId xmlns:a16="http://schemas.microsoft.com/office/drawing/2014/main" id="{E17FA4E2-0440-965C-27FB-00C6498F3DF9}"/>
              </a:ext>
            </a:extLst>
          </p:cNvPr>
          <p:cNvSpPr/>
          <p:nvPr/>
        </p:nvSpPr>
        <p:spPr>
          <a:xfrm>
            <a:off x="1343252" y="3662221"/>
            <a:ext cx="1521868" cy="468000"/>
          </a:xfrm>
          <a:prstGeom prst="roundRect">
            <a:avLst/>
          </a:prstGeom>
          <a:solidFill>
            <a:srgbClr val="E6E6E6"/>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lvl="0" algn="l">
              <a:buNone/>
            </a:pPr>
            <a:r>
              <a:rPr lang="ko-KR" altLang="en-US" dirty="0">
                <a:solidFill>
                  <a:schemeClr val="tx1"/>
                </a:solidFill>
                <a:latin typeface="a고딕14" panose="02020600000000000000" pitchFamily="18" charset="-127"/>
                <a:ea typeface="a고딕14" panose="02020600000000000000" pitchFamily="18" charset="-127"/>
              </a:rPr>
              <a:t>❸ 안전환경 필요도</a:t>
            </a:r>
            <a:endParaRPr lang="en-US" altLang="ko-KR" dirty="0">
              <a:solidFill>
                <a:schemeClr val="tx1"/>
              </a:solidFill>
              <a:latin typeface="a고딕12" panose="02020600000000000000" pitchFamily="18" charset="-127"/>
              <a:ea typeface="a고딕12" panose="02020600000000000000" pitchFamily="18" charset="-127"/>
            </a:endParaRPr>
          </a:p>
        </p:txBody>
      </p:sp>
      <p:sp>
        <p:nvSpPr>
          <p:cNvPr id="30" name="사각형: 둥근 모서리 101">
            <a:extLst>
              <a:ext uri="{FF2B5EF4-FFF2-40B4-BE49-F238E27FC236}">
                <a16:creationId xmlns:a16="http://schemas.microsoft.com/office/drawing/2014/main" id="{A08683F6-B90B-B5DC-434A-F042D522544D}"/>
              </a:ext>
            </a:extLst>
          </p:cNvPr>
          <p:cNvSpPr/>
          <p:nvPr/>
        </p:nvSpPr>
        <p:spPr>
          <a:xfrm>
            <a:off x="1343252" y="6009444"/>
            <a:ext cx="1521868" cy="468000"/>
          </a:xfrm>
          <a:prstGeom prst="roundRect">
            <a:avLst/>
          </a:prstGeom>
          <a:solidFill>
            <a:srgbClr val="3061A3"/>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pPr lvl="0" algn="l">
              <a:buNone/>
            </a:pPr>
            <a:r>
              <a:rPr lang="ko-KR" altLang="en-US" dirty="0">
                <a:solidFill>
                  <a:schemeClr val="bg1"/>
                </a:solidFill>
                <a:latin typeface="a고딕14" panose="02020600000000000000" pitchFamily="18" charset="-127"/>
                <a:ea typeface="a고딕14" panose="02020600000000000000" pitchFamily="18" charset="-127"/>
              </a:rPr>
              <a:t>➐ 반복학습 적합도</a:t>
            </a:r>
            <a:endParaRPr lang="en-US" altLang="ko-KR" dirty="0">
              <a:solidFill>
                <a:schemeClr val="bg1">
                  <a:lumMod val="85000"/>
                </a:schemeClr>
              </a:solidFill>
              <a:latin typeface="a고딕12" panose="02020600000000000000" pitchFamily="18" charset="-127"/>
              <a:ea typeface="a고딕12" panose="02020600000000000000" pitchFamily="18" charset="-127"/>
            </a:endParaRPr>
          </a:p>
        </p:txBody>
      </p:sp>
      <p:sp>
        <p:nvSpPr>
          <p:cNvPr id="33" name="사각형: 둥근 모서리 104">
            <a:extLst>
              <a:ext uri="{FF2B5EF4-FFF2-40B4-BE49-F238E27FC236}">
                <a16:creationId xmlns:a16="http://schemas.microsoft.com/office/drawing/2014/main" id="{72F5B6BF-E3EF-7ECB-0561-7B48C4639D3B}"/>
              </a:ext>
            </a:extLst>
          </p:cNvPr>
          <p:cNvSpPr/>
          <p:nvPr/>
        </p:nvSpPr>
        <p:spPr>
          <a:xfrm>
            <a:off x="616872" y="2488612"/>
            <a:ext cx="627716" cy="1641609"/>
          </a:xfrm>
          <a:prstGeom prst="roundRect">
            <a:avLst/>
          </a:prstGeom>
          <a:solidFill>
            <a:srgbClr val="535353"/>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buNone/>
            </a:pPr>
            <a:r>
              <a:rPr lang="ko-KR" altLang="en-US" sz="1250" dirty="0">
                <a:solidFill>
                  <a:schemeClr val="bg1"/>
                </a:solidFill>
                <a:latin typeface="a고딕14" panose="02020600000000000000" pitchFamily="18" charset="-127"/>
                <a:ea typeface="a고딕14" panose="02020600000000000000" pitchFamily="18" charset="-127"/>
              </a:rPr>
              <a:t>가상</a:t>
            </a:r>
            <a:endParaRPr lang="en-US" altLang="ko-KR" sz="1250" dirty="0">
              <a:solidFill>
                <a:schemeClr val="bg1"/>
              </a:solidFill>
              <a:latin typeface="a고딕14" panose="02020600000000000000" pitchFamily="18" charset="-127"/>
              <a:ea typeface="a고딕14" panose="02020600000000000000" pitchFamily="18" charset="-127"/>
            </a:endParaRPr>
          </a:p>
          <a:p>
            <a:pPr>
              <a:buNone/>
            </a:pPr>
            <a:r>
              <a:rPr lang="ko-KR" altLang="en-US" sz="1250" dirty="0">
                <a:solidFill>
                  <a:schemeClr val="bg1"/>
                </a:solidFill>
                <a:latin typeface="a고딕14" panose="02020600000000000000" pitchFamily="18" charset="-127"/>
                <a:ea typeface="a고딕14" panose="02020600000000000000" pitchFamily="18" charset="-127"/>
              </a:rPr>
              <a:t>훈련</a:t>
            </a:r>
            <a:endParaRPr lang="en-US" altLang="ko-KR" sz="1050" dirty="0">
              <a:solidFill>
                <a:schemeClr val="bg1">
                  <a:lumMod val="85000"/>
                </a:schemeClr>
              </a:solidFill>
              <a:latin typeface="a고딕12" panose="02020600000000000000" pitchFamily="18" charset="-127"/>
              <a:ea typeface="a고딕12" panose="02020600000000000000" pitchFamily="18" charset="-127"/>
            </a:endParaRPr>
          </a:p>
        </p:txBody>
      </p:sp>
      <p:sp>
        <p:nvSpPr>
          <p:cNvPr id="34" name="사각형: 둥근 모서리 104">
            <a:extLst>
              <a:ext uri="{FF2B5EF4-FFF2-40B4-BE49-F238E27FC236}">
                <a16:creationId xmlns:a16="http://schemas.microsoft.com/office/drawing/2014/main" id="{C78F46E3-CD8E-DDA9-05E7-4594D22221D4}"/>
              </a:ext>
            </a:extLst>
          </p:cNvPr>
          <p:cNvSpPr/>
          <p:nvPr/>
        </p:nvSpPr>
        <p:spPr>
          <a:xfrm>
            <a:off x="616872" y="4249027"/>
            <a:ext cx="627716" cy="2228418"/>
          </a:xfrm>
          <a:prstGeom prst="roundRect">
            <a:avLst/>
          </a:prstGeom>
          <a:solidFill>
            <a:srgbClr val="212E55"/>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buNone/>
            </a:pPr>
            <a:r>
              <a:rPr lang="ko-KR" altLang="en-US" sz="1250" dirty="0">
                <a:solidFill>
                  <a:schemeClr val="bg1"/>
                </a:solidFill>
                <a:latin typeface="a고딕14" panose="02020600000000000000" pitchFamily="18" charset="-127"/>
                <a:ea typeface="a고딕14" panose="02020600000000000000" pitchFamily="18" charset="-127"/>
              </a:rPr>
              <a:t>이러닝</a:t>
            </a:r>
            <a:endParaRPr lang="en-US" altLang="ko-KR" sz="1050" dirty="0">
              <a:solidFill>
                <a:schemeClr val="bg1">
                  <a:lumMod val="85000"/>
                </a:schemeClr>
              </a:solidFill>
              <a:latin typeface="a고딕12" panose="02020600000000000000" pitchFamily="18" charset="-127"/>
              <a:ea typeface="a고딕12" panose="02020600000000000000" pitchFamily="18" charset="-127"/>
            </a:endParaRPr>
          </a:p>
        </p:txBody>
      </p:sp>
      <p:sp>
        <p:nvSpPr>
          <p:cNvPr id="38" name="사각형: 둥근 모서리 37">
            <a:extLst>
              <a:ext uri="{FF2B5EF4-FFF2-40B4-BE49-F238E27FC236}">
                <a16:creationId xmlns:a16="http://schemas.microsoft.com/office/drawing/2014/main" id="{06E7A6A6-4261-1D7A-3677-746170579B7D}"/>
              </a:ext>
            </a:extLst>
          </p:cNvPr>
          <p:cNvSpPr/>
          <p:nvPr/>
        </p:nvSpPr>
        <p:spPr>
          <a:xfrm>
            <a:off x="596900" y="2097089"/>
            <a:ext cx="2268220" cy="322262"/>
          </a:xfrm>
          <a:prstGeom prst="round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en-US" altLang="ko-KR" dirty="0">
                <a:solidFill>
                  <a:schemeClr val="bg1"/>
                </a:solidFill>
                <a:latin typeface="+mj-ea"/>
                <a:ea typeface="+mj-ea"/>
              </a:rPr>
              <a:t>(</a:t>
            </a:r>
            <a:r>
              <a:rPr lang="ko-KR" altLang="en-US" dirty="0">
                <a:solidFill>
                  <a:schemeClr val="bg1"/>
                </a:solidFill>
                <a:latin typeface="+mj-ea"/>
                <a:ea typeface="+mj-ea"/>
              </a:rPr>
              <a:t>연구진</a:t>
            </a:r>
            <a:r>
              <a:rPr lang="en-US" altLang="ko-KR" dirty="0">
                <a:solidFill>
                  <a:schemeClr val="bg1"/>
                </a:solidFill>
                <a:latin typeface="+mj-ea"/>
                <a:ea typeface="+mj-ea"/>
              </a:rPr>
              <a:t>) </a:t>
            </a:r>
            <a:r>
              <a:rPr lang="ko-KR" altLang="en-US" dirty="0">
                <a:solidFill>
                  <a:schemeClr val="bg1"/>
                </a:solidFill>
                <a:latin typeface="+mj-ea"/>
                <a:ea typeface="+mj-ea"/>
              </a:rPr>
              <a:t>평가지표 </a:t>
            </a:r>
            <a:r>
              <a:rPr lang="en-US" altLang="ko-KR" dirty="0">
                <a:solidFill>
                  <a:schemeClr val="bg1"/>
                </a:solidFill>
                <a:latin typeface="+mj-ea"/>
                <a:ea typeface="+mj-ea"/>
              </a:rPr>
              <a:t>1</a:t>
            </a:r>
            <a:r>
              <a:rPr lang="ko-KR" altLang="en-US" dirty="0">
                <a:solidFill>
                  <a:schemeClr val="bg1"/>
                </a:solidFill>
                <a:latin typeface="+mj-ea"/>
                <a:ea typeface="+mj-ea"/>
              </a:rPr>
              <a:t>차</a:t>
            </a:r>
          </a:p>
        </p:txBody>
      </p:sp>
      <p:sp>
        <p:nvSpPr>
          <p:cNvPr id="39" name="사각형: 둥근 모서리 38">
            <a:extLst>
              <a:ext uri="{FF2B5EF4-FFF2-40B4-BE49-F238E27FC236}">
                <a16:creationId xmlns:a16="http://schemas.microsoft.com/office/drawing/2014/main" id="{E4E68BBE-0286-50CB-11CD-03E92CBD02A8}"/>
              </a:ext>
            </a:extLst>
          </p:cNvPr>
          <p:cNvSpPr/>
          <p:nvPr/>
        </p:nvSpPr>
        <p:spPr>
          <a:xfrm>
            <a:off x="3354443" y="2102093"/>
            <a:ext cx="1510580" cy="322262"/>
          </a:xfrm>
          <a:prstGeom prst="round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en-US" altLang="ko-KR" dirty="0">
                <a:solidFill>
                  <a:schemeClr val="bg1"/>
                </a:solidFill>
                <a:latin typeface="+mj-ea"/>
                <a:ea typeface="+mj-ea"/>
              </a:rPr>
              <a:t>(</a:t>
            </a:r>
            <a:r>
              <a:rPr lang="ko-KR" altLang="en-US" dirty="0" err="1">
                <a:solidFill>
                  <a:schemeClr val="bg1"/>
                </a:solidFill>
                <a:latin typeface="+mj-ea"/>
                <a:ea typeface="+mj-ea"/>
              </a:rPr>
              <a:t>온평원</a:t>
            </a:r>
            <a:r>
              <a:rPr lang="en-US" altLang="ko-KR" dirty="0">
                <a:solidFill>
                  <a:schemeClr val="bg1"/>
                </a:solidFill>
                <a:latin typeface="+mj-ea"/>
                <a:ea typeface="+mj-ea"/>
              </a:rPr>
              <a:t>) </a:t>
            </a:r>
            <a:r>
              <a:rPr lang="ko-KR" altLang="en-US" dirty="0">
                <a:solidFill>
                  <a:schemeClr val="bg1"/>
                </a:solidFill>
                <a:latin typeface="+mj-ea"/>
                <a:ea typeface="+mj-ea"/>
              </a:rPr>
              <a:t>수정요청 사항</a:t>
            </a:r>
          </a:p>
        </p:txBody>
      </p:sp>
      <p:sp>
        <p:nvSpPr>
          <p:cNvPr id="49" name="사각형: 둥근 모서리 104">
            <a:extLst>
              <a:ext uri="{FF2B5EF4-FFF2-40B4-BE49-F238E27FC236}">
                <a16:creationId xmlns:a16="http://schemas.microsoft.com/office/drawing/2014/main" id="{0F5A6FAB-7083-287A-3358-0D5F28CF366F}"/>
              </a:ext>
            </a:extLst>
          </p:cNvPr>
          <p:cNvSpPr/>
          <p:nvPr/>
        </p:nvSpPr>
        <p:spPr>
          <a:xfrm>
            <a:off x="3345741" y="2488611"/>
            <a:ext cx="1510579" cy="468000"/>
          </a:xfrm>
          <a:prstGeom prst="roundRect">
            <a:avLst/>
          </a:prstGeom>
          <a:solidFill>
            <a:schemeClr val="accent3">
              <a:lumMod val="20000"/>
              <a:lumOff val="80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a:solidFill>
                  <a:schemeClr val="accent3">
                    <a:lumMod val="50000"/>
                  </a:schemeClr>
                </a:solidFill>
                <a:latin typeface="+mj-ea"/>
                <a:ea typeface="+mj-ea"/>
              </a:rPr>
              <a:t>지표설명</a:t>
            </a:r>
            <a:endParaRPr lang="en-US" altLang="ko-KR" dirty="0">
              <a:solidFill>
                <a:schemeClr val="accent3">
                  <a:lumMod val="50000"/>
                </a:schemeClr>
              </a:solidFill>
              <a:latin typeface="+mj-ea"/>
              <a:ea typeface="+mj-ea"/>
            </a:endParaRPr>
          </a:p>
        </p:txBody>
      </p:sp>
      <p:sp>
        <p:nvSpPr>
          <p:cNvPr id="51" name="사각형: 둥근 모서리 104">
            <a:extLst>
              <a:ext uri="{FF2B5EF4-FFF2-40B4-BE49-F238E27FC236}">
                <a16:creationId xmlns:a16="http://schemas.microsoft.com/office/drawing/2014/main" id="{B8830698-22DB-9F4C-0587-D4884D0F9795}"/>
              </a:ext>
            </a:extLst>
          </p:cNvPr>
          <p:cNvSpPr/>
          <p:nvPr/>
        </p:nvSpPr>
        <p:spPr>
          <a:xfrm>
            <a:off x="3354446" y="5424541"/>
            <a:ext cx="1510577" cy="468000"/>
          </a:xfrm>
          <a:prstGeom prst="round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a:solidFill>
                  <a:schemeClr val="accent2"/>
                </a:solidFill>
                <a:latin typeface="+mj-ea"/>
                <a:ea typeface="+mj-ea"/>
              </a:rPr>
              <a:t>지표 삭제</a:t>
            </a:r>
            <a:endParaRPr lang="en-US" altLang="ko-KR" dirty="0">
              <a:solidFill>
                <a:schemeClr val="accent2"/>
              </a:solidFill>
              <a:latin typeface="+mj-ea"/>
              <a:ea typeface="+mj-ea"/>
            </a:endParaRPr>
          </a:p>
        </p:txBody>
      </p:sp>
      <p:sp>
        <p:nvSpPr>
          <p:cNvPr id="53" name="사각형: 둥근 모서리 104">
            <a:extLst>
              <a:ext uri="{FF2B5EF4-FFF2-40B4-BE49-F238E27FC236}">
                <a16:creationId xmlns:a16="http://schemas.microsoft.com/office/drawing/2014/main" id="{0055A247-4FD9-E2DA-259C-19B735A93FA6}"/>
              </a:ext>
            </a:extLst>
          </p:cNvPr>
          <p:cNvSpPr/>
          <p:nvPr/>
        </p:nvSpPr>
        <p:spPr>
          <a:xfrm>
            <a:off x="3345742" y="3075797"/>
            <a:ext cx="1510579" cy="468000"/>
          </a:xfrm>
          <a:prstGeom prst="roundRect">
            <a:avLst/>
          </a:prstGeom>
          <a:solidFill>
            <a:schemeClr val="accent3">
              <a:lumMod val="20000"/>
              <a:lumOff val="80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a:solidFill>
                  <a:schemeClr val="accent3">
                    <a:lumMod val="50000"/>
                  </a:schemeClr>
                </a:solidFill>
                <a:latin typeface="+mj-ea"/>
                <a:ea typeface="+mj-ea"/>
              </a:rPr>
              <a:t>지표설명</a:t>
            </a:r>
            <a:endParaRPr lang="en-US" altLang="ko-KR" dirty="0">
              <a:solidFill>
                <a:schemeClr val="accent3">
                  <a:lumMod val="50000"/>
                </a:schemeClr>
              </a:solidFill>
              <a:latin typeface="+mj-ea"/>
              <a:ea typeface="+mj-ea"/>
            </a:endParaRPr>
          </a:p>
        </p:txBody>
      </p:sp>
      <p:sp>
        <p:nvSpPr>
          <p:cNvPr id="54" name="사각형: 둥근 모서리 104">
            <a:extLst>
              <a:ext uri="{FF2B5EF4-FFF2-40B4-BE49-F238E27FC236}">
                <a16:creationId xmlns:a16="http://schemas.microsoft.com/office/drawing/2014/main" id="{2A879DCA-56B2-AA73-5956-D99C41D531DE}"/>
              </a:ext>
            </a:extLst>
          </p:cNvPr>
          <p:cNvSpPr/>
          <p:nvPr/>
        </p:nvSpPr>
        <p:spPr>
          <a:xfrm>
            <a:off x="3354447" y="3662983"/>
            <a:ext cx="1510578" cy="468000"/>
          </a:xfrm>
          <a:prstGeom prst="roundRect">
            <a:avLst/>
          </a:prstGeom>
          <a:solidFill>
            <a:schemeClr val="accent3">
              <a:lumMod val="20000"/>
              <a:lumOff val="80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a:solidFill>
                  <a:schemeClr val="accent3">
                    <a:lumMod val="50000"/>
                  </a:schemeClr>
                </a:solidFill>
                <a:latin typeface="+mj-ea"/>
                <a:ea typeface="+mj-ea"/>
              </a:rPr>
              <a:t>지표설명</a:t>
            </a:r>
            <a:endParaRPr lang="en-US" altLang="ko-KR" dirty="0">
              <a:solidFill>
                <a:schemeClr val="accent3">
                  <a:lumMod val="50000"/>
                </a:schemeClr>
              </a:solidFill>
              <a:latin typeface="+mj-ea"/>
              <a:ea typeface="+mj-ea"/>
            </a:endParaRPr>
          </a:p>
        </p:txBody>
      </p:sp>
      <p:sp>
        <p:nvSpPr>
          <p:cNvPr id="55" name="사각형: 둥근 모서리 104">
            <a:extLst>
              <a:ext uri="{FF2B5EF4-FFF2-40B4-BE49-F238E27FC236}">
                <a16:creationId xmlns:a16="http://schemas.microsoft.com/office/drawing/2014/main" id="{3D9EED9C-A5AB-A632-7AE8-E0E420F3D526}"/>
              </a:ext>
            </a:extLst>
          </p:cNvPr>
          <p:cNvSpPr/>
          <p:nvPr/>
        </p:nvSpPr>
        <p:spPr>
          <a:xfrm>
            <a:off x="3345743" y="4250169"/>
            <a:ext cx="1510578" cy="468000"/>
          </a:xfrm>
          <a:prstGeom prst="roundRect">
            <a:avLst/>
          </a:prstGeom>
          <a:solidFill>
            <a:schemeClr val="accent3">
              <a:lumMod val="20000"/>
              <a:lumOff val="80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a:solidFill>
                  <a:schemeClr val="accent3">
                    <a:lumMod val="50000"/>
                  </a:schemeClr>
                </a:solidFill>
                <a:latin typeface="+mj-ea"/>
                <a:ea typeface="+mj-ea"/>
              </a:rPr>
              <a:t>지표설명</a:t>
            </a:r>
            <a:endParaRPr lang="en-US" altLang="ko-KR" dirty="0">
              <a:solidFill>
                <a:schemeClr val="accent3">
                  <a:lumMod val="50000"/>
                </a:schemeClr>
              </a:solidFill>
              <a:latin typeface="+mj-ea"/>
              <a:ea typeface="+mj-ea"/>
            </a:endParaRPr>
          </a:p>
        </p:txBody>
      </p:sp>
      <p:sp>
        <p:nvSpPr>
          <p:cNvPr id="56" name="사각형: 둥근 모서리 104">
            <a:extLst>
              <a:ext uri="{FF2B5EF4-FFF2-40B4-BE49-F238E27FC236}">
                <a16:creationId xmlns:a16="http://schemas.microsoft.com/office/drawing/2014/main" id="{289B4D68-E7AE-D4B4-3D85-3C75DECD54F1}"/>
              </a:ext>
            </a:extLst>
          </p:cNvPr>
          <p:cNvSpPr/>
          <p:nvPr/>
        </p:nvSpPr>
        <p:spPr>
          <a:xfrm>
            <a:off x="3354446" y="4837355"/>
            <a:ext cx="1510577" cy="468000"/>
          </a:xfrm>
          <a:prstGeom prst="roundRect">
            <a:avLst/>
          </a:prstGeom>
          <a:solidFill>
            <a:srgbClr val="E6E0EC"/>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err="1">
                <a:solidFill>
                  <a:srgbClr val="8064A2"/>
                </a:solidFill>
                <a:latin typeface="+mj-ea"/>
                <a:ea typeface="+mj-ea"/>
              </a:rPr>
              <a:t>지표명</a:t>
            </a:r>
            <a:r>
              <a:rPr lang="en-US" altLang="ko-KR" dirty="0">
                <a:solidFill>
                  <a:srgbClr val="8064A2"/>
                </a:solidFill>
                <a:latin typeface="+mj-ea"/>
                <a:ea typeface="+mj-ea"/>
              </a:rPr>
              <a:t>, </a:t>
            </a:r>
            <a:r>
              <a:rPr lang="ko-KR" altLang="en-US" dirty="0">
                <a:solidFill>
                  <a:srgbClr val="8064A2"/>
                </a:solidFill>
                <a:latin typeface="+mj-ea"/>
                <a:ea typeface="+mj-ea"/>
              </a:rPr>
              <a:t>지표 설명</a:t>
            </a:r>
            <a:endParaRPr lang="en-US" altLang="ko-KR" dirty="0">
              <a:solidFill>
                <a:srgbClr val="8064A2"/>
              </a:solidFill>
              <a:latin typeface="+mj-ea"/>
              <a:ea typeface="+mj-ea"/>
            </a:endParaRPr>
          </a:p>
        </p:txBody>
      </p:sp>
      <p:sp>
        <p:nvSpPr>
          <p:cNvPr id="57" name="사각형: 둥근 모서리 104">
            <a:extLst>
              <a:ext uri="{FF2B5EF4-FFF2-40B4-BE49-F238E27FC236}">
                <a16:creationId xmlns:a16="http://schemas.microsoft.com/office/drawing/2014/main" id="{63AB4519-2DE0-3503-E5F6-72FDC9C78012}"/>
              </a:ext>
            </a:extLst>
          </p:cNvPr>
          <p:cNvSpPr/>
          <p:nvPr/>
        </p:nvSpPr>
        <p:spPr>
          <a:xfrm>
            <a:off x="3354446" y="6011725"/>
            <a:ext cx="1510577" cy="468000"/>
          </a:xfrm>
          <a:prstGeom prst="roundRect">
            <a:avLst/>
          </a:prstGeom>
          <a:solidFill>
            <a:srgbClr val="E6E0EC"/>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buNone/>
            </a:pPr>
            <a:r>
              <a:rPr lang="ko-KR" altLang="en-US" dirty="0" err="1">
                <a:solidFill>
                  <a:srgbClr val="8064A2"/>
                </a:solidFill>
                <a:latin typeface="+mj-ea"/>
                <a:ea typeface="+mj-ea"/>
              </a:rPr>
              <a:t>지표명</a:t>
            </a:r>
            <a:r>
              <a:rPr lang="en-US" altLang="ko-KR" dirty="0">
                <a:solidFill>
                  <a:srgbClr val="8064A2"/>
                </a:solidFill>
                <a:latin typeface="+mj-ea"/>
                <a:ea typeface="+mj-ea"/>
              </a:rPr>
              <a:t>, </a:t>
            </a:r>
            <a:r>
              <a:rPr lang="ko-KR" altLang="en-US" dirty="0">
                <a:solidFill>
                  <a:srgbClr val="8064A2"/>
                </a:solidFill>
                <a:latin typeface="+mj-ea"/>
                <a:ea typeface="+mj-ea"/>
              </a:rPr>
              <a:t>지표 설명</a:t>
            </a:r>
            <a:endParaRPr lang="en-US" altLang="ko-KR" dirty="0">
              <a:solidFill>
                <a:srgbClr val="8064A2"/>
              </a:solidFill>
              <a:latin typeface="+mj-ea"/>
              <a:ea typeface="+mj-ea"/>
            </a:endParaRPr>
          </a:p>
        </p:txBody>
      </p:sp>
      <p:sp>
        <p:nvSpPr>
          <p:cNvPr id="58" name="사각형: 둥근 모서리 57">
            <a:extLst>
              <a:ext uri="{FF2B5EF4-FFF2-40B4-BE49-F238E27FC236}">
                <a16:creationId xmlns:a16="http://schemas.microsoft.com/office/drawing/2014/main" id="{11FBF9B8-E25E-F8A9-3760-651C2275672B}"/>
              </a:ext>
            </a:extLst>
          </p:cNvPr>
          <p:cNvSpPr/>
          <p:nvPr/>
        </p:nvSpPr>
        <p:spPr>
          <a:xfrm>
            <a:off x="5324511" y="2066567"/>
            <a:ext cx="4021101" cy="322262"/>
          </a:xfrm>
          <a:prstGeom prst="round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en-US" altLang="ko-KR" dirty="0">
                <a:solidFill>
                  <a:schemeClr val="bg1"/>
                </a:solidFill>
                <a:latin typeface="+mj-ea"/>
                <a:ea typeface="+mj-ea"/>
              </a:rPr>
              <a:t>(</a:t>
            </a:r>
            <a:r>
              <a:rPr lang="ko-KR" altLang="en-US" dirty="0">
                <a:solidFill>
                  <a:schemeClr val="bg1"/>
                </a:solidFill>
                <a:latin typeface="+mj-ea"/>
                <a:ea typeface="+mj-ea"/>
              </a:rPr>
              <a:t>전문가</a:t>
            </a:r>
            <a:r>
              <a:rPr lang="en-US" altLang="ko-KR" dirty="0">
                <a:solidFill>
                  <a:schemeClr val="bg1"/>
                </a:solidFill>
                <a:latin typeface="+mj-ea"/>
                <a:ea typeface="+mj-ea"/>
              </a:rPr>
              <a:t>) </a:t>
            </a:r>
            <a:r>
              <a:rPr lang="ko-KR" altLang="en-US" dirty="0">
                <a:solidFill>
                  <a:schemeClr val="bg1"/>
                </a:solidFill>
                <a:latin typeface="+mj-ea"/>
                <a:ea typeface="+mj-ea"/>
              </a:rPr>
              <a:t>지표 적합성 </a:t>
            </a:r>
            <a:r>
              <a:rPr lang="en-US" altLang="ko-KR" dirty="0">
                <a:solidFill>
                  <a:schemeClr val="bg1"/>
                </a:solidFill>
                <a:latin typeface="+mj-ea"/>
                <a:ea typeface="+mj-ea"/>
              </a:rPr>
              <a:t>2</a:t>
            </a:r>
            <a:r>
              <a:rPr lang="ko-KR" altLang="en-US" dirty="0">
                <a:solidFill>
                  <a:schemeClr val="bg1"/>
                </a:solidFill>
                <a:latin typeface="+mj-ea"/>
                <a:ea typeface="+mj-ea"/>
              </a:rPr>
              <a:t>차 서면 자문 </a:t>
            </a:r>
            <a:r>
              <a:rPr lang="en-US" altLang="ko-KR" dirty="0">
                <a:solidFill>
                  <a:schemeClr val="bg1"/>
                </a:solidFill>
                <a:latin typeface="+mj-ea"/>
                <a:ea typeface="+mj-ea"/>
              </a:rPr>
              <a:t>(</a:t>
            </a:r>
            <a:r>
              <a:rPr lang="ko-KR" altLang="en-US" dirty="0">
                <a:solidFill>
                  <a:schemeClr val="bg1"/>
                </a:solidFill>
                <a:latin typeface="+mj-ea"/>
                <a:ea typeface="+mj-ea"/>
              </a:rPr>
              <a:t>지표 적절성 평가</a:t>
            </a:r>
            <a:r>
              <a:rPr lang="en-US" altLang="ko-KR" dirty="0">
                <a:solidFill>
                  <a:schemeClr val="bg1"/>
                </a:solidFill>
                <a:latin typeface="+mj-ea"/>
                <a:ea typeface="+mj-ea"/>
              </a:rPr>
              <a:t>)</a:t>
            </a:r>
            <a:endParaRPr lang="ko-KR" altLang="en-US" dirty="0">
              <a:solidFill>
                <a:schemeClr val="bg1"/>
              </a:solidFill>
              <a:latin typeface="+mj-ea"/>
              <a:ea typeface="+mj-ea"/>
            </a:endParaRPr>
          </a:p>
        </p:txBody>
      </p:sp>
      <p:graphicFrame>
        <p:nvGraphicFramePr>
          <p:cNvPr id="59" name="표 58">
            <a:extLst>
              <a:ext uri="{FF2B5EF4-FFF2-40B4-BE49-F238E27FC236}">
                <a16:creationId xmlns:a16="http://schemas.microsoft.com/office/drawing/2014/main" id="{C5EBBEB3-BAE2-4A5B-7E2E-DDE2932F1FF3}"/>
              </a:ext>
            </a:extLst>
          </p:cNvPr>
          <p:cNvGraphicFramePr>
            <a:graphicFrameLocks noGrp="1"/>
          </p:cNvGraphicFramePr>
          <p:nvPr>
            <p:extLst>
              <p:ext uri="{D42A27DB-BD31-4B8C-83A1-F6EECF244321}">
                <p14:modId xmlns:p14="http://schemas.microsoft.com/office/powerpoint/2010/main" val="352518347"/>
              </p:ext>
            </p:extLst>
          </p:nvPr>
        </p:nvGraphicFramePr>
        <p:xfrm>
          <a:off x="5324475" y="2433411"/>
          <a:ext cx="4020211" cy="1696810"/>
        </p:xfrm>
        <a:graphic>
          <a:graphicData uri="http://schemas.openxmlformats.org/drawingml/2006/table">
            <a:tbl>
              <a:tblPr/>
              <a:tblGrid>
                <a:gridCol w="566515">
                  <a:extLst>
                    <a:ext uri="{9D8B030D-6E8A-4147-A177-3AD203B41FA5}">
                      <a16:colId xmlns:a16="http://schemas.microsoft.com/office/drawing/2014/main" val="615537001"/>
                    </a:ext>
                  </a:extLst>
                </a:gridCol>
                <a:gridCol w="1151232">
                  <a:extLst>
                    <a:ext uri="{9D8B030D-6E8A-4147-A177-3AD203B41FA5}">
                      <a16:colId xmlns:a16="http://schemas.microsoft.com/office/drawing/2014/main" val="2576776376"/>
                    </a:ext>
                  </a:extLst>
                </a:gridCol>
                <a:gridCol w="1151232">
                  <a:extLst>
                    <a:ext uri="{9D8B030D-6E8A-4147-A177-3AD203B41FA5}">
                      <a16:colId xmlns:a16="http://schemas.microsoft.com/office/drawing/2014/main" val="3721420933"/>
                    </a:ext>
                  </a:extLst>
                </a:gridCol>
                <a:gridCol w="1151232">
                  <a:extLst>
                    <a:ext uri="{9D8B030D-6E8A-4147-A177-3AD203B41FA5}">
                      <a16:colId xmlns:a16="http://schemas.microsoft.com/office/drawing/2014/main" val="919074271"/>
                    </a:ext>
                  </a:extLst>
                </a:gridCol>
              </a:tblGrid>
              <a:tr h="169681">
                <a:tc rowSpan="2">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응답자</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gridSpan="3">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가상훈련</a:t>
                      </a:r>
                      <a:endParaRPr lang="ko-KR" altLang="en-US" sz="1000" kern="0" spc="0" dirty="0">
                        <a:solidFill>
                          <a:srgbClr val="000000"/>
                        </a:solidFill>
                        <a:effectLst/>
                        <a:latin typeface="+mj-ea"/>
                        <a:ea typeface="+mj-ea"/>
                      </a:endParaRPr>
                    </a:p>
                  </a:txBody>
                  <a:tcPr marL="36000" marR="36000" marT="0" marB="0" anchor="ctr">
                    <a:lnL w="3175"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11108826"/>
                  </a:ext>
                </a:extLst>
              </a:tr>
              <a:tr h="169681">
                <a:tc vMerge="1">
                  <a:txBody>
                    <a:bodyPr/>
                    <a:lstStyle/>
                    <a:p>
                      <a:pPr latinLnBrk="1"/>
                      <a:endParaRPr lang="ko-KR" altLang="en-US"/>
                    </a:p>
                  </a:txBody>
                  <a:tcPr/>
                </a:tc>
                <a:tc>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장비실습 필요도</a:t>
                      </a:r>
                      <a:endParaRPr lang="ko-KR" altLang="en-US" sz="1000" kern="0" spc="0" dirty="0">
                        <a:solidFill>
                          <a:srgbClr val="000000"/>
                        </a:solidFill>
                        <a:effectLst/>
                        <a:latin typeface="+mj-ea"/>
                        <a:ea typeface="+mj-ea"/>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a:txBody>
                    <a:bodyPr/>
                    <a:lstStyle/>
                    <a:p>
                      <a:pPr marL="0" marR="0" indent="0" algn="ctr" fontAlgn="base" latinLnBrk="0">
                        <a:lnSpc>
                          <a:spcPct val="100000"/>
                        </a:lnSpc>
                        <a:buNone/>
                      </a:pPr>
                      <a:r>
                        <a:rPr lang="ko-KR" altLang="en-US" sz="1000" b="1" kern="0" spc="0">
                          <a:solidFill>
                            <a:srgbClr val="000000"/>
                          </a:solidFill>
                          <a:effectLst/>
                          <a:latin typeface="+mj-ea"/>
                          <a:ea typeface="+mj-ea"/>
                        </a:rPr>
                        <a:t>반복훈련 적합도</a:t>
                      </a:r>
                      <a:endParaRPr lang="ko-KR" altLang="en-US" sz="1000" kern="0" spc="0">
                        <a:solidFill>
                          <a:srgbClr val="000000"/>
                        </a:solidFill>
                        <a:effectLst/>
                        <a:latin typeface="+mj-ea"/>
                        <a:ea typeface="+mj-ea"/>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a:txBody>
                    <a:bodyPr/>
                    <a:lstStyle/>
                    <a:p>
                      <a:pPr marL="0" marR="0" indent="0" algn="ctr" fontAlgn="base" latinLnBrk="0">
                        <a:lnSpc>
                          <a:spcPct val="100000"/>
                        </a:lnSpc>
                        <a:buNone/>
                      </a:pPr>
                      <a:r>
                        <a:rPr lang="ko-KR" altLang="en-US" sz="1000" b="1" kern="0" spc="0">
                          <a:solidFill>
                            <a:srgbClr val="000000"/>
                          </a:solidFill>
                          <a:effectLst/>
                          <a:latin typeface="+mj-ea"/>
                          <a:ea typeface="+mj-ea"/>
                        </a:rPr>
                        <a:t>안전환경 필요도</a:t>
                      </a:r>
                      <a:endParaRPr lang="ko-KR" altLang="en-US" sz="1000" kern="0" spc="0">
                        <a:solidFill>
                          <a:srgbClr val="000000"/>
                        </a:solidFill>
                        <a:effectLst/>
                        <a:latin typeface="+mj-ea"/>
                        <a:ea typeface="+mj-ea"/>
                      </a:endParaRP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extLst>
                  <a:ext uri="{0D108BD9-81ED-4DB2-BD59-A6C34878D82A}">
                    <a16:rowId xmlns:a16="http://schemas.microsoft.com/office/drawing/2014/main" val="3682762723"/>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A</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6632760"/>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B</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3550596"/>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C</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274675"/>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D</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1127403"/>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E</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45"/>
                  </a:ext>
                </a:extLst>
              </a:tr>
              <a:tr h="16968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F</a:t>
                      </a:r>
                      <a:endParaRPr lang="ko-KR" altLang="en-US" sz="1000" kern="0" spc="0" dirty="0">
                        <a:solidFill>
                          <a:srgbClr val="000000"/>
                        </a:solidFill>
                        <a:effectLst/>
                        <a:latin typeface="+mj-ea"/>
                        <a:ea typeface="+mj-ea"/>
                      </a:endParaRP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8253710"/>
                  </a:ext>
                </a:extLst>
              </a:tr>
              <a:tr h="169681">
                <a:tc>
                  <a:txBody>
                    <a:bodyPr/>
                    <a:lstStyle/>
                    <a:p>
                      <a:pPr marL="0" marR="0" indent="0" algn="ctr" fontAlgn="base" latinLnBrk="0">
                        <a:lnSpc>
                          <a:spcPct val="100000"/>
                        </a:lnSpc>
                        <a:buNone/>
                      </a:pPr>
                      <a:r>
                        <a:rPr lang="ko-KR" altLang="en-US" sz="1000" b="0" kern="0" spc="0" dirty="0">
                          <a:solidFill>
                            <a:srgbClr val="000000"/>
                          </a:solidFill>
                          <a:effectLst/>
                          <a:latin typeface="+mj-ea"/>
                          <a:ea typeface="+mj-ea"/>
                        </a:rPr>
                        <a:t>총합</a:t>
                      </a: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29</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a:solidFill>
                            <a:srgbClr val="000000"/>
                          </a:solidFill>
                          <a:effectLst/>
                          <a:latin typeface="+mj-ea"/>
                          <a:ea typeface="+mj-ea"/>
                        </a:rPr>
                        <a:t>29</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a:solidFill>
                            <a:srgbClr val="000000"/>
                          </a:solidFill>
                          <a:effectLst/>
                          <a:latin typeface="+mj-ea"/>
                          <a:ea typeface="+mj-ea"/>
                        </a:rPr>
                        <a:t>29</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575627942"/>
                  </a:ext>
                </a:extLst>
              </a:tr>
              <a:tr h="169681">
                <a:tc>
                  <a:txBody>
                    <a:bodyPr/>
                    <a:lstStyle/>
                    <a:p>
                      <a:pPr marL="0" marR="0" indent="0" algn="ctr" fontAlgn="base" latinLnBrk="0">
                        <a:lnSpc>
                          <a:spcPct val="100000"/>
                        </a:lnSpc>
                        <a:buNone/>
                      </a:pPr>
                      <a:r>
                        <a:rPr lang="ko-KR" altLang="en-US" sz="1000" b="0" kern="0" spc="0" dirty="0">
                          <a:solidFill>
                            <a:srgbClr val="000000"/>
                          </a:solidFill>
                          <a:effectLst/>
                          <a:latin typeface="+mj-ea"/>
                          <a:ea typeface="+mj-ea"/>
                        </a:rPr>
                        <a:t>평균점수</a:t>
                      </a:r>
                    </a:p>
                  </a:txBody>
                  <a:tcPr marL="36000" marR="36000" marT="0" marB="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4.8 </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4.8 </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4.8 </a:t>
                      </a:r>
                    </a:p>
                  </a:txBody>
                  <a:tcPr marL="36000" marR="36000" marT="0" marB="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517536026"/>
                  </a:ext>
                </a:extLst>
              </a:tr>
            </a:tbl>
          </a:graphicData>
        </a:graphic>
      </p:graphicFrame>
      <p:graphicFrame>
        <p:nvGraphicFramePr>
          <p:cNvPr id="61" name="표 60">
            <a:extLst>
              <a:ext uri="{FF2B5EF4-FFF2-40B4-BE49-F238E27FC236}">
                <a16:creationId xmlns:a16="http://schemas.microsoft.com/office/drawing/2014/main" id="{35BD7FD8-1416-4DD4-33F4-5D39C4AAD2A7}"/>
              </a:ext>
            </a:extLst>
          </p:cNvPr>
          <p:cNvGraphicFramePr>
            <a:graphicFrameLocks noGrp="1"/>
          </p:cNvGraphicFramePr>
          <p:nvPr>
            <p:extLst>
              <p:ext uri="{D42A27DB-BD31-4B8C-83A1-F6EECF244321}">
                <p14:modId xmlns:p14="http://schemas.microsoft.com/office/powerpoint/2010/main" val="2635974925"/>
              </p:ext>
            </p:extLst>
          </p:nvPr>
        </p:nvGraphicFramePr>
        <p:xfrm>
          <a:off x="5324513" y="4250168"/>
          <a:ext cx="4020174" cy="2227275"/>
        </p:xfrm>
        <a:graphic>
          <a:graphicData uri="http://schemas.openxmlformats.org/drawingml/2006/table">
            <a:tbl>
              <a:tblPr/>
              <a:tblGrid>
                <a:gridCol w="549557">
                  <a:extLst>
                    <a:ext uri="{9D8B030D-6E8A-4147-A177-3AD203B41FA5}">
                      <a16:colId xmlns:a16="http://schemas.microsoft.com/office/drawing/2014/main" val="4034050397"/>
                    </a:ext>
                  </a:extLst>
                </a:gridCol>
                <a:gridCol w="822466">
                  <a:extLst>
                    <a:ext uri="{9D8B030D-6E8A-4147-A177-3AD203B41FA5}">
                      <a16:colId xmlns:a16="http://schemas.microsoft.com/office/drawing/2014/main" val="242537097"/>
                    </a:ext>
                  </a:extLst>
                </a:gridCol>
                <a:gridCol w="810774">
                  <a:extLst>
                    <a:ext uri="{9D8B030D-6E8A-4147-A177-3AD203B41FA5}">
                      <a16:colId xmlns:a16="http://schemas.microsoft.com/office/drawing/2014/main" val="1753461975"/>
                    </a:ext>
                  </a:extLst>
                </a:gridCol>
                <a:gridCol w="879774">
                  <a:extLst>
                    <a:ext uri="{9D8B030D-6E8A-4147-A177-3AD203B41FA5}">
                      <a16:colId xmlns:a16="http://schemas.microsoft.com/office/drawing/2014/main" val="699343764"/>
                    </a:ext>
                  </a:extLst>
                </a:gridCol>
                <a:gridCol w="957603">
                  <a:extLst>
                    <a:ext uri="{9D8B030D-6E8A-4147-A177-3AD203B41FA5}">
                      <a16:colId xmlns:a16="http://schemas.microsoft.com/office/drawing/2014/main" val="1017494831"/>
                    </a:ext>
                  </a:extLst>
                </a:gridCol>
              </a:tblGrid>
              <a:tr h="206059">
                <a:tc rowSpan="2">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응답자</a:t>
                      </a:r>
                    </a:p>
                  </a:txBody>
                  <a:tcPr marL="36000" marR="36000" marT="18000" marB="18000" anchor="ctr">
                    <a:lnL>
                      <a:noFill/>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gridSpan="4">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이러닝</a:t>
                      </a:r>
                    </a:p>
                  </a:txBody>
                  <a:tcPr marL="36000" marR="36000" marT="18000" marB="18000" anchor="ctr">
                    <a:lnL w="3175"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353453110"/>
                  </a:ext>
                </a:extLst>
              </a:tr>
              <a:tr h="372744">
                <a:tc vMerge="1">
                  <a:txBody>
                    <a:bodyPr/>
                    <a:lstStyle/>
                    <a:p>
                      <a:pPr latinLnBrk="1"/>
                      <a:endParaRPr lang="ko-KR" altLang="en-US"/>
                    </a:p>
                  </a:txBody>
                  <a:tcPr/>
                </a:tc>
                <a:tc>
                  <a:txBody>
                    <a:bodyPr/>
                    <a:lstStyle/>
                    <a:p>
                      <a:pPr marL="0" marR="0" indent="0" algn="ctr" fontAlgn="base" latinLnBrk="0">
                        <a:lnSpc>
                          <a:spcPct val="100000"/>
                        </a:lnSpc>
                        <a:buNone/>
                      </a:pPr>
                      <a:r>
                        <a:rPr lang="ko-KR" altLang="en-US" sz="1000" b="1" kern="0" spc="0" dirty="0" err="1">
                          <a:solidFill>
                            <a:srgbClr val="000000"/>
                          </a:solidFill>
                          <a:effectLst/>
                          <a:latin typeface="+mj-ea"/>
                          <a:ea typeface="+mj-ea"/>
                        </a:rPr>
                        <a:t>비대면</a:t>
                      </a:r>
                      <a:r>
                        <a:rPr lang="ko-KR" altLang="en-US" sz="1000" b="1" kern="0" spc="0" dirty="0">
                          <a:solidFill>
                            <a:srgbClr val="000000"/>
                          </a:solidFill>
                          <a:effectLst/>
                          <a:latin typeface="+mj-ea"/>
                          <a:ea typeface="+mj-ea"/>
                        </a:rPr>
                        <a:t> 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이론 </a:t>
                      </a:r>
                      <a:r>
                        <a:rPr lang="ko-KR" altLang="en-US" sz="1000" b="1" kern="0" spc="0" dirty="0" err="1">
                          <a:solidFill>
                            <a:srgbClr val="000000"/>
                          </a:solidFill>
                          <a:effectLst/>
                          <a:latin typeface="+mj-ea"/>
                          <a:ea typeface="+mj-ea"/>
                        </a:rPr>
                        <a:t>중심성</a:t>
                      </a:r>
                      <a:endParaRPr lang="ko-KR" altLang="en-US" sz="1000" b="1" kern="0" spc="0"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분절학습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tc>
                  <a:txBody>
                    <a:bodyPr/>
                    <a:lstStyle/>
                    <a:p>
                      <a:pPr marL="0" marR="0" indent="0" algn="ctr" fontAlgn="base" latinLnBrk="0">
                        <a:lnSpc>
                          <a:spcPct val="100000"/>
                        </a:lnSpc>
                        <a:buNone/>
                      </a:pPr>
                      <a:r>
                        <a:rPr lang="ko-KR" altLang="en-US" sz="1000" b="1" kern="0" spc="0" dirty="0">
                          <a:solidFill>
                            <a:srgbClr val="000000"/>
                          </a:solidFill>
                          <a:effectLst/>
                          <a:latin typeface="+mj-ea"/>
                          <a:ea typeface="+mj-ea"/>
                        </a:rPr>
                        <a:t>반복학습 적합도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FE6F7"/>
                    </a:solidFill>
                  </a:tcPr>
                </a:tc>
                <a:extLst>
                  <a:ext uri="{0D108BD9-81ED-4DB2-BD59-A6C34878D82A}">
                    <a16:rowId xmlns:a16="http://schemas.microsoft.com/office/drawing/2014/main" val="2545257340"/>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A</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8395965"/>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B</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4197971"/>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C</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6815917"/>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D</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774635"/>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E</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1363"/>
                  </a:ext>
                </a:extLst>
              </a:tr>
              <a:tr h="206059">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F</a:t>
                      </a:r>
                      <a:endParaRPr lang="ko-KR" altLang="en-US" sz="1000" kern="0" spc="0" dirty="0">
                        <a:solidFill>
                          <a:srgbClr val="000000"/>
                        </a:solidFill>
                        <a:effectLst/>
                        <a:latin typeface="+mj-ea"/>
                        <a:ea typeface="+mj-ea"/>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5</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9279271"/>
                  </a:ext>
                </a:extLst>
              </a:tr>
              <a:tr h="206059">
                <a:tc>
                  <a:txBody>
                    <a:bodyPr/>
                    <a:lstStyle/>
                    <a:p>
                      <a:pPr marL="0" marR="0" indent="0" algn="ctr" fontAlgn="base" latinLnBrk="0">
                        <a:lnSpc>
                          <a:spcPct val="100000"/>
                        </a:lnSpc>
                        <a:buNone/>
                      </a:pPr>
                      <a:r>
                        <a:rPr lang="ko-KR" altLang="en-US" sz="1000" b="0" kern="0" spc="0" dirty="0">
                          <a:solidFill>
                            <a:srgbClr val="000000"/>
                          </a:solidFill>
                          <a:effectLst/>
                          <a:latin typeface="+mj-ea"/>
                          <a:ea typeface="+mj-ea"/>
                        </a:rPr>
                        <a:t>총합</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a:solidFill>
                            <a:srgbClr val="000000"/>
                          </a:solidFill>
                          <a:effectLst/>
                          <a:latin typeface="+mj-ea"/>
                          <a:ea typeface="+mj-ea"/>
                        </a:rPr>
                        <a:t>25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a:solidFill>
                            <a:srgbClr val="000000"/>
                          </a:solidFill>
                          <a:effectLst/>
                          <a:latin typeface="+mj-ea"/>
                          <a:ea typeface="+mj-ea"/>
                        </a:rPr>
                        <a:t>27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FF0000"/>
                          </a:solidFill>
                          <a:effectLst/>
                          <a:latin typeface="+mj-ea"/>
                          <a:ea typeface="+mj-ea"/>
                        </a:rPr>
                        <a:t>17</a:t>
                      </a:r>
                      <a:endParaRPr lang="en-US" sz="1000" b="0" kern="0" spc="0"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25</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360839093"/>
                  </a:ext>
                </a:extLst>
              </a:tr>
              <a:tr h="206059">
                <a:tc>
                  <a:txBody>
                    <a:bodyPr/>
                    <a:lstStyle/>
                    <a:p>
                      <a:pPr marL="0" marR="0" indent="0" algn="ctr" fontAlgn="base" latinLnBrk="0">
                        <a:lnSpc>
                          <a:spcPct val="100000"/>
                        </a:lnSpc>
                        <a:buNone/>
                      </a:pPr>
                      <a:r>
                        <a:rPr lang="ko-KR" altLang="en-US" sz="1000" b="0" kern="0" spc="0">
                          <a:solidFill>
                            <a:srgbClr val="000000"/>
                          </a:solidFill>
                          <a:effectLst/>
                          <a:latin typeface="+mj-ea"/>
                          <a:ea typeface="+mj-ea"/>
                        </a:rPr>
                        <a:t>평균점수</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4.2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4.5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FF0000"/>
                          </a:solidFill>
                          <a:effectLst/>
                          <a:latin typeface="+mj-ea"/>
                          <a:ea typeface="+mj-ea"/>
                        </a:rPr>
                        <a:t>2.8 </a:t>
                      </a:r>
                      <a:endParaRPr lang="en-US" sz="1000" b="0" kern="0" spc="0"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indent="0" algn="ctr" fontAlgn="base" latinLnBrk="0">
                        <a:lnSpc>
                          <a:spcPct val="100000"/>
                        </a:lnSpc>
                        <a:buNone/>
                      </a:pPr>
                      <a:r>
                        <a:rPr lang="en-US" sz="1000" b="0" kern="0" spc="0" dirty="0">
                          <a:solidFill>
                            <a:srgbClr val="000000"/>
                          </a:solidFill>
                          <a:effectLst/>
                          <a:latin typeface="+mj-ea"/>
                          <a:ea typeface="+mj-ea"/>
                        </a:rPr>
                        <a:t>4.2 </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80209704"/>
                  </a:ext>
                </a:extLst>
              </a:tr>
            </a:tbl>
          </a:graphicData>
        </a:graphic>
      </p:graphicFrame>
      <p:sp>
        <p:nvSpPr>
          <p:cNvPr id="70" name="사다리꼴 12">
            <a:extLst>
              <a:ext uri="{FF2B5EF4-FFF2-40B4-BE49-F238E27FC236}">
                <a16:creationId xmlns:a16="http://schemas.microsoft.com/office/drawing/2014/main" id="{08DB76B4-603E-E1FD-1F70-F13CD04F5A78}"/>
              </a:ext>
            </a:extLst>
          </p:cNvPr>
          <p:cNvSpPr/>
          <p:nvPr/>
        </p:nvSpPr>
        <p:spPr>
          <a:xfrm rot="5400000" flipH="1">
            <a:off x="911589" y="4112433"/>
            <a:ext cx="4375351" cy="354670"/>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53000">
                <a:sysClr val="window" lastClr="FFFFFF">
                  <a:lumMod val="85000"/>
                </a:sysClr>
              </a:gs>
              <a:gs pos="100000">
                <a:sysClr val="window" lastClr="FFFFFF">
                  <a:lumMod val="65000"/>
                  <a:alpha val="87000"/>
                </a:sysClr>
              </a:gs>
            </a:gsLst>
            <a:lin ang="5400000" scaled="1"/>
          </a:gradFill>
          <a:ln w="25400" cap="flat" cmpd="sng" algn="ctr">
            <a:noFill/>
            <a:prstDash val="solid"/>
          </a:ln>
          <a:effectLst/>
        </p:spPr>
        <p:txBody>
          <a:bodyPr rtlCol="0" anchor="t"/>
          <a:lstStyle/>
          <a:p>
            <a:pPr marL="90488" marR="0" lvl="0" indent="-90488"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71" name="더하기 기호 70">
            <a:extLst>
              <a:ext uri="{FF2B5EF4-FFF2-40B4-BE49-F238E27FC236}">
                <a16:creationId xmlns:a16="http://schemas.microsoft.com/office/drawing/2014/main" id="{D2AAC739-4884-17DE-4732-2755EF9508B4}"/>
              </a:ext>
            </a:extLst>
          </p:cNvPr>
          <p:cNvSpPr/>
          <p:nvPr/>
        </p:nvSpPr>
        <p:spPr>
          <a:xfrm>
            <a:off x="4892141" y="2055522"/>
            <a:ext cx="405396" cy="405396"/>
          </a:xfrm>
          <a:prstGeom prst="mathPlus">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1583270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2ED13-3A9A-1227-B2CB-6501E6337AE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049D3FD-B725-7758-A738-354EAC3C095B}"/>
              </a:ext>
            </a:extLst>
          </p:cNvPr>
          <p:cNvSpPr>
            <a:spLocks noGrp="1"/>
          </p:cNvSpPr>
          <p:nvPr>
            <p:ph type="body" sz="quarter" idx="12"/>
          </p:nvPr>
        </p:nvSpPr>
        <p:spPr/>
        <p:txBody>
          <a:bodyPr/>
          <a:lstStyle/>
          <a:p>
            <a:pPr latinLnBrk="0"/>
            <a:r>
              <a:rPr lang="ko-KR" altLang="en-US" spc="-150" dirty="0"/>
              <a:t>온평원과 전문가의 의견을 반영하여 연구진이 </a:t>
            </a:r>
            <a:r>
              <a:rPr lang="en-US" altLang="ko-KR" spc="-150" dirty="0"/>
              <a:t>2</a:t>
            </a:r>
            <a:r>
              <a:rPr lang="ko-KR" altLang="en-US" spc="-150" dirty="0"/>
              <a:t>차로 수정한 평가지표</a:t>
            </a:r>
            <a:r>
              <a:rPr lang="en-US" altLang="ko-KR" spc="-150" dirty="0"/>
              <a:t>(</a:t>
            </a:r>
            <a:r>
              <a:rPr lang="ko-KR" altLang="en-US" spc="-150" dirty="0"/>
              <a:t>가상 </a:t>
            </a:r>
            <a:r>
              <a:rPr lang="en-US" altLang="ko-KR" spc="-150" dirty="0"/>
              <a:t>3</a:t>
            </a:r>
            <a:r>
              <a:rPr lang="ko-KR" altLang="en-US" spc="-150" dirty="0"/>
              <a:t>개</a:t>
            </a:r>
            <a:r>
              <a:rPr lang="en-US" altLang="ko-KR" spc="-150" dirty="0"/>
              <a:t>, </a:t>
            </a:r>
            <a:r>
              <a:rPr lang="ko-KR" altLang="en-US" spc="-150" dirty="0"/>
              <a:t>이러닝 </a:t>
            </a:r>
            <a:r>
              <a:rPr lang="en-US" altLang="ko-KR" spc="-150" dirty="0"/>
              <a:t>3</a:t>
            </a:r>
            <a:r>
              <a:rPr lang="ko-KR" altLang="en-US" spc="-150" dirty="0"/>
              <a:t>개</a:t>
            </a:r>
            <a:r>
              <a:rPr lang="en-US" altLang="ko-KR" spc="-150" dirty="0"/>
              <a:t>)</a:t>
            </a:r>
            <a:r>
              <a:rPr lang="ko-KR" altLang="en-US" spc="-150" dirty="0"/>
              <a:t>와 이에 따른 평가 방법 및 평가지표 척도를 설계하였으며</a:t>
            </a:r>
            <a:r>
              <a:rPr lang="en-US" altLang="ko-KR" spc="-150" dirty="0"/>
              <a:t>, </a:t>
            </a:r>
            <a:r>
              <a:rPr lang="ko-KR" altLang="en-US" spc="-150" dirty="0"/>
              <a:t>세 요소의 적절성을 검토하기 위해 </a:t>
            </a:r>
            <a:r>
              <a:rPr lang="en-US" altLang="ko-KR" spc="-150" dirty="0"/>
              <a:t>2</a:t>
            </a:r>
            <a:r>
              <a:rPr lang="ko-KR" altLang="en-US" spc="-150" dirty="0"/>
              <a:t>차 서면 자문을 실시하였음</a:t>
            </a:r>
            <a:endParaRPr lang="ko-KR" altLang="en-US" sz="1800" spc="-150" dirty="0"/>
          </a:p>
        </p:txBody>
      </p:sp>
      <p:sp>
        <p:nvSpPr>
          <p:cNvPr id="5" name="텍스트 개체 틀 4">
            <a:extLst>
              <a:ext uri="{FF2B5EF4-FFF2-40B4-BE49-F238E27FC236}">
                <a16:creationId xmlns:a16="http://schemas.microsoft.com/office/drawing/2014/main" id="{280DBE44-9D6D-2D70-7AFA-ED8068E3D47A}"/>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99EBD146-1428-E78E-C1FD-3809E2C128E7}"/>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4B1AF6F4-E3C9-8468-8AE0-4BB4CC26CB40}"/>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F228851F-3D36-37A0-1762-4454D9FFA9ED}"/>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37380D9F-F5E6-4680-368A-01973EE92D06}"/>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적합성 평가지표 개발 및 확정 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43529BA3-F6F5-287B-CD7B-C95CD75F576A}"/>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7" name="그룹 6">
            <a:extLst>
              <a:ext uri="{FF2B5EF4-FFF2-40B4-BE49-F238E27FC236}">
                <a16:creationId xmlns:a16="http://schemas.microsoft.com/office/drawing/2014/main" id="{50B79E9D-76F5-F7C2-A820-AD96FD101552}"/>
              </a:ext>
            </a:extLst>
          </p:cNvPr>
          <p:cNvGrpSpPr/>
          <p:nvPr/>
        </p:nvGrpSpPr>
        <p:grpSpPr>
          <a:xfrm>
            <a:off x="597367" y="4369154"/>
            <a:ext cx="3852428" cy="276999"/>
            <a:chOff x="672170" y="1944148"/>
            <a:chExt cx="3852428" cy="338050"/>
          </a:xfrm>
        </p:grpSpPr>
        <p:sp>
          <p:nvSpPr>
            <p:cNvPr id="8" name="TextBox 7">
              <a:extLst>
                <a:ext uri="{FF2B5EF4-FFF2-40B4-BE49-F238E27FC236}">
                  <a16:creationId xmlns:a16="http://schemas.microsoft.com/office/drawing/2014/main" id="{C3244E98-6FC7-77B9-97D8-B9291BDAECE7}"/>
                </a:ext>
              </a:extLst>
            </p:cNvPr>
            <p:cNvSpPr txBox="1"/>
            <p:nvPr/>
          </p:nvSpPr>
          <p:spPr>
            <a:xfrm>
              <a:off x="708173" y="1944148"/>
              <a:ext cx="3816425" cy="338050"/>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평가 절차 </a:t>
              </a:r>
              <a:r>
                <a:rPr lang="ko-KR" altLang="en-US" dirty="0">
                  <a:solidFill>
                    <a:prstClr val="black"/>
                  </a:solidFill>
                  <a:latin typeface="Arial Narrow" panose="020B0606020202030204" pitchFamily="34" charset="0"/>
                  <a:ea typeface="a고딕14" panose="02020600000000000000" pitchFamily="18" charset="-127"/>
                </a:rPr>
                <a:t>설계</a:t>
              </a:r>
              <a:endParaRPr kumimoji="0" lang="ko-KR" altLang="en-US"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9" name="직사각형 8">
              <a:extLst>
                <a:ext uri="{FF2B5EF4-FFF2-40B4-BE49-F238E27FC236}">
                  <a16:creationId xmlns:a16="http://schemas.microsoft.com/office/drawing/2014/main" id="{D1AAD8AA-D6C4-A60C-F1E6-EB85C7B3480D}"/>
                </a:ext>
              </a:extLst>
            </p:cNvPr>
            <p:cNvSpPr/>
            <p:nvPr/>
          </p:nvSpPr>
          <p:spPr>
            <a:xfrm>
              <a:off x="672170" y="1980003"/>
              <a:ext cx="53948" cy="27923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aphicFrame>
        <p:nvGraphicFramePr>
          <p:cNvPr id="11" name="표 10">
            <a:extLst>
              <a:ext uri="{FF2B5EF4-FFF2-40B4-BE49-F238E27FC236}">
                <a16:creationId xmlns:a16="http://schemas.microsoft.com/office/drawing/2014/main" id="{70704608-8E01-7C25-8CE2-6D1DBBAA80C0}"/>
              </a:ext>
            </a:extLst>
          </p:cNvPr>
          <p:cNvGraphicFramePr>
            <a:graphicFrameLocks noGrp="1"/>
          </p:cNvGraphicFramePr>
          <p:nvPr>
            <p:extLst>
              <p:ext uri="{D42A27DB-BD31-4B8C-83A1-F6EECF244321}">
                <p14:modId xmlns:p14="http://schemas.microsoft.com/office/powerpoint/2010/main" val="4262824160"/>
              </p:ext>
            </p:extLst>
          </p:nvPr>
        </p:nvGraphicFramePr>
        <p:xfrm>
          <a:off x="597366" y="4699736"/>
          <a:ext cx="3994665" cy="1789963"/>
        </p:xfrm>
        <a:graphic>
          <a:graphicData uri="http://schemas.openxmlformats.org/drawingml/2006/table">
            <a:tbl>
              <a:tblPr/>
              <a:tblGrid>
                <a:gridCol w="970665">
                  <a:extLst>
                    <a:ext uri="{9D8B030D-6E8A-4147-A177-3AD203B41FA5}">
                      <a16:colId xmlns:a16="http://schemas.microsoft.com/office/drawing/2014/main" val="3493119163"/>
                    </a:ext>
                  </a:extLst>
                </a:gridCol>
                <a:gridCol w="3024000">
                  <a:extLst>
                    <a:ext uri="{9D8B030D-6E8A-4147-A177-3AD203B41FA5}">
                      <a16:colId xmlns:a16="http://schemas.microsoft.com/office/drawing/2014/main" val="4004531386"/>
                    </a:ext>
                  </a:extLst>
                </a:gridCol>
              </a:tblGrid>
              <a:tr h="168718">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단계</a:t>
                      </a:r>
                    </a:p>
                  </a:txBody>
                  <a:tcPr marL="23370" marR="23370" marT="6461" marB="6461"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주요 내용</a:t>
                      </a:r>
                    </a:p>
                  </a:txBody>
                  <a:tcPr marL="23370" marR="23370" marT="6461" marB="6461" anchor="ctr">
                    <a:lnL w="3175" cap="flat" cmpd="sng" algn="ctr">
                      <a:solidFill>
                        <a:schemeClr val="bg1"/>
                      </a:solidFill>
                      <a:prstDash val="solid"/>
                      <a:round/>
                      <a:headEnd type="none" w="med" len="med"/>
                      <a:tailEnd type="none" w="med" len="med"/>
                    </a:lnL>
                    <a:lnR w="3556"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081294855"/>
                  </a:ext>
                </a:extLst>
              </a:tr>
              <a:tr h="324249">
                <a:tc>
                  <a:txBody>
                    <a:bodyPr/>
                    <a:lstStyle/>
                    <a:p>
                      <a:pPr marL="0" marR="0" indent="0" algn="ctr" fontAlgn="base" latinLnBrk="0">
                        <a:lnSpc>
                          <a:spcPct val="100000"/>
                        </a:lnSpc>
                        <a:buNone/>
                      </a:pPr>
                      <a:r>
                        <a:rPr lang="en-US" altLang="ko-KR" sz="1000" b="1" kern="0" spc="0">
                          <a:solidFill>
                            <a:srgbClr val="000000"/>
                          </a:solidFill>
                          <a:effectLst/>
                          <a:latin typeface="+mj-ea"/>
                          <a:ea typeface="+mj-ea"/>
                        </a:rPr>
                        <a:t>1</a:t>
                      </a:r>
                      <a:r>
                        <a:rPr lang="ko-KR" altLang="en-US" sz="1000" b="1" kern="0" spc="0">
                          <a:solidFill>
                            <a:srgbClr val="000000"/>
                          </a:solidFill>
                          <a:effectLst/>
                          <a:latin typeface="+mj-ea"/>
                          <a:ea typeface="+mj-ea"/>
                        </a:rPr>
                        <a:t>단계</a:t>
                      </a:r>
                      <a:endParaRPr lang="ko-KR" altLang="en-US" sz="1000" kern="0" spc="0">
                        <a:solidFill>
                          <a:srgbClr val="000000"/>
                        </a:solidFill>
                        <a:effectLst/>
                        <a:latin typeface="+mj-ea"/>
                        <a:ea typeface="+mj-ea"/>
                      </a:endParaRPr>
                    </a:p>
                    <a:p>
                      <a:pPr marL="0" marR="0" indent="0" algn="ctr" fontAlgn="base" latinLnBrk="0">
                        <a:lnSpc>
                          <a:spcPct val="100000"/>
                        </a:lnSpc>
                        <a:buNone/>
                      </a:pPr>
                      <a:r>
                        <a:rPr lang="ko-KR" altLang="en-US" sz="1000" kern="0" spc="0">
                          <a:solidFill>
                            <a:srgbClr val="000000"/>
                          </a:solidFill>
                          <a:effectLst/>
                          <a:latin typeface="+mj-ea"/>
                          <a:ea typeface="+mj-ea"/>
                        </a:rPr>
                        <a:t>생성형 </a:t>
                      </a:r>
                      <a:r>
                        <a:rPr lang="en-US" altLang="ko-KR" sz="1000" kern="0" spc="0">
                          <a:solidFill>
                            <a:srgbClr val="000000"/>
                          </a:solidFill>
                          <a:effectLst/>
                          <a:latin typeface="+mj-ea"/>
                          <a:ea typeface="+mj-ea"/>
                        </a:rPr>
                        <a:t>AI </a:t>
                      </a:r>
                      <a:r>
                        <a:rPr lang="ko-KR" altLang="en-US" sz="1000" kern="0" spc="0">
                          <a:solidFill>
                            <a:srgbClr val="000000"/>
                          </a:solidFill>
                          <a:effectLst/>
                          <a:latin typeface="+mj-ea"/>
                          <a:ea typeface="+mj-ea"/>
                        </a:rPr>
                        <a:t>결정</a:t>
                      </a:r>
                    </a:p>
                  </a:txBody>
                  <a:tcPr marL="23370" marR="23370" marT="6461" marB="6461"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0" marR="0" indent="0" algn="just" fontAlgn="base" latinLnBrk="0">
                        <a:lnSpc>
                          <a:spcPct val="100000"/>
                        </a:lnSpc>
                        <a:buNone/>
                      </a:pPr>
                      <a:r>
                        <a:rPr lang="en-US" altLang="ko-KR" sz="1000" kern="0" spc="-20">
                          <a:solidFill>
                            <a:srgbClr val="000000"/>
                          </a:solidFill>
                          <a:effectLst/>
                          <a:latin typeface="+mj-ea"/>
                          <a:ea typeface="+mj-ea"/>
                        </a:rPr>
                        <a:t>Chat GPT, Gemini, Perplexity, </a:t>
                      </a:r>
                      <a:r>
                        <a:rPr lang="ko-KR" altLang="en-US" sz="1000" kern="0" spc="-20">
                          <a:solidFill>
                            <a:srgbClr val="000000"/>
                          </a:solidFill>
                          <a:effectLst/>
                          <a:latin typeface="+mj-ea"/>
                          <a:ea typeface="+mj-ea"/>
                        </a:rPr>
                        <a:t>뤼튼 등 </a:t>
                      </a:r>
                      <a:r>
                        <a:rPr lang="en-US" altLang="ko-KR" sz="1000" kern="0" spc="-20">
                          <a:solidFill>
                            <a:srgbClr val="000000"/>
                          </a:solidFill>
                          <a:effectLst/>
                          <a:latin typeface="+mj-ea"/>
                          <a:ea typeface="+mj-ea"/>
                        </a:rPr>
                        <a:t>1</a:t>
                      </a:r>
                      <a:r>
                        <a:rPr lang="ko-KR" altLang="en-US" sz="1000" kern="0" spc="-20">
                          <a:solidFill>
                            <a:srgbClr val="000000"/>
                          </a:solidFill>
                          <a:effectLst/>
                          <a:latin typeface="+mj-ea"/>
                          <a:ea typeface="+mj-ea"/>
                        </a:rPr>
                        <a:t>차 평가 수행에 적합한 생성형 </a:t>
                      </a:r>
                      <a:r>
                        <a:rPr lang="en-US" altLang="ko-KR" sz="1000" kern="0" spc="-20">
                          <a:solidFill>
                            <a:srgbClr val="000000"/>
                          </a:solidFill>
                          <a:effectLst/>
                          <a:latin typeface="+mj-ea"/>
                          <a:ea typeface="+mj-ea"/>
                        </a:rPr>
                        <a:t>AI </a:t>
                      </a:r>
                      <a:r>
                        <a:rPr lang="ko-KR" altLang="en-US" sz="1000" kern="0" spc="-20">
                          <a:solidFill>
                            <a:srgbClr val="000000"/>
                          </a:solidFill>
                          <a:effectLst/>
                          <a:latin typeface="+mj-ea"/>
                          <a:ea typeface="+mj-ea"/>
                        </a:rPr>
                        <a:t>결정</a:t>
                      </a:r>
                      <a:endParaRPr lang="ko-KR" altLang="en-US" sz="1000" kern="0" spc="0">
                        <a:solidFill>
                          <a:srgbClr val="000000"/>
                        </a:solidFill>
                        <a:effectLst/>
                        <a:latin typeface="+mj-ea"/>
                        <a:ea typeface="+mj-ea"/>
                      </a:endParaRPr>
                    </a:p>
                  </a:txBody>
                  <a:tcPr marL="23370" marR="23370" marT="6461" marB="6461" anchor="ctr">
                    <a:lnL w="3175" cap="flat" cmpd="sng" algn="ctr">
                      <a:solidFill>
                        <a:schemeClr val="tx1"/>
                      </a:solidFill>
                      <a:prstDash val="solid"/>
                      <a:round/>
                      <a:headEnd type="none" w="med" len="med"/>
                      <a:tailEnd type="none" w="med" len="med"/>
                    </a:lnL>
                    <a:lnR w="3556"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2184327"/>
                  </a:ext>
                </a:extLst>
              </a:tr>
              <a:tr h="324249">
                <a:tc>
                  <a:txBody>
                    <a:bodyPr/>
                    <a:lstStyle/>
                    <a:p>
                      <a:pPr marL="0" marR="0" indent="0" algn="ctr" fontAlgn="base" latinLnBrk="0">
                        <a:lnSpc>
                          <a:spcPct val="100000"/>
                        </a:lnSpc>
                        <a:buNone/>
                      </a:pPr>
                      <a:r>
                        <a:rPr lang="en-US" altLang="ko-KR" sz="1000" b="1" kern="0" spc="0">
                          <a:solidFill>
                            <a:srgbClr val="000000"/>
                          </a:solidFill>
                          <a:effectLst/>
                          <a:latin typeface="+mj-ea"/>
                          <a:ea typeface="+mj-ea"/>
                        </a:rPr>
                        <a:t>2</a:t>
                      </a:r>
                      <a:r>
                        <a:rPr lang="ko-KR" altLang="en-US" sz="1000" b="1" kern="0" spc="0">
                          <a:solidFill>
                            <a:srgbClr val="000000"/>
                          </a:solidFill>
                          <a:effectLst/>
                          <a:latin typeface="+mj-ea"/>
                          <a:ea typeface="+mj-ea"/>
                        </a:rPr>
                        <a:t>단계</a:t>
                      </a:r>
                      <a:endParaRPr lang="ko-KR" altLang="en-US" sz="1000" kern="0" spc="0">
                        <a:solidFill>
                          <a:srgbClr val="000000"/>
                        </a:solidFill>
                        <a:effectLst/>
                        <a:latin typeface="+mj-ea"/>
                        <a:ea typeface="+mj-ea"/>
                      </a:endParaRPr>
                    </a:p>
                    <a:p>
                      <a:pPr marL="0" marR="0" indent="0" algn="ctr" fontAlgn="base" latinLnBrk="0">
                        <a:lnSpc>
                          <a:spcPct val="100000"/>
                        </a:lnSpc>
                        <a:buNone/>
                      </a:pPr>
                      <a:r>
                        <a:rPr lang="ko-KR" altLang="en-US" sz="1000" kern="0" spc="0">
                          <a:solidFill>
                            <a:srgbClr val="000000"/>
                          </a:solidFill>
                          <a:effectLst/>
                          <a:latin typeface="+mj-ea"/>
                          <a:ea typeface="+mj-ea"/>
                        </a:rPr>
                        <a:t>프롬프트 개발</a:t>
                      </a:r>
                    </a:p>
                  </a:txBody>
                  <a:tcPr marL="23370" marR="23370" marT="6461" marB="6461"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0" marR="0" indent="0" algn="just" fontAlgn="base" latinLnBrk="0">
                        <a:lnSpc>
                          <a:spcPct val="100000"/>
                        </a:lnSpc>
                        <a:buNone/>
                      </a:pPr>
                      <a:r>
                        <a:rPr lang="en-US" altLang="ko-KR" sz="1000" kern="0" spc="-20" dirty="0">
                          <a:solidFill>
                            <a:srgbClr val="000000"/>
                          </a:solidFill>
                          <a:effectLst/>
                          <a:latin typeface="+mj-ea"/>
                          <a:ea typeface="+mj-ea"/>
                        </a:rPr>
                        <a:t>NCS </a:t>
                      </a:r>
                      <a:r>
                        <a:rPr lang="ko-KR" altLang="en-US" sz="1000" kern="0" spc="-20" dirty="0">
                          <a:solidFill>
                            <a:srgbClr val="000000"/>
                          </a:solidFill>
                          <a:effectLst/>
                          <a:latin typeface="+mj-ea"/>
                          <a:ea typeface="+mj-ea"/>
                        </a:rPr>
                        <a:t>능력단위별 콘텐츠 개발 가능성을 자동 분석할 수 있는 프롬프트 초안 설계</a:t>
                      </a:r>
                      <a:endParaRPr lang="ko-KR" altLang="en-US" sz="1000" kern="0" spc="0" dirty="0">
                        <a:solidFill>
                          <a:srgbClr val="000000"/>
                        </a:solidFill>
                        <a:effectLst/>
                        <a:latin typeface="+mj-ea"/>
                        <a:ea typeface="+mj-ea"/>
                      </a:endParaRPr>
                    </a:p>
                  </a:txBody>
                  <a:tcPr marL="23370" marR="23370" marT="6461" marB="6461" anchor="ctr">
                    <a:lnL w="3175" cap="flat" cmpd="sng" algn="ctr">
                      <a:solidFill>
                        <a:schemeClr val="tx1"/>
                      </a:solidFill>
                      <a:prstDash val="solid"/>
                      <a:round/>
                      <a:headEnd type="none" w="med" len="med"/>
                      <a:tailEnd type="none" w="med" len="med"/>
                    </a:lnL>
                    <a:lnR w="3556"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4603990"/>
                  </a:ext>
                </a:extLst>
              </a:tr>
              <a:tr h="324249">
                <a:tc>
                  <a:txBody>
                    <a:bodyPr/>
                    <a:lstStyle/>
                    <a:p>
                      <a:pPr marL="0" marR="0" indent="0" algn="ctr" fontAlgn="base" latinLnBrk="0">
                        <a:lnSpc>
                          <a:spcPct val="100000"/>
                        </a:lnSpc>
                        <a:buNone/>
                      </a:pPr>
                      <a:r>
                        <a:rPr lang="en-US" altLang="ko-KR" sz="1000" b="1" kern="0" spc="0">
                          <a:solidFill>
                            <a:srgbClr val="000000"/>
                          </a:solidFill>
                          <a:effectLst/>
                          <a:latin typeface="+mj-ea"/>
                          <a:ea typeface="+mj-ea"/>
                        </a:rPr>
                        <a:t>3</a:t>
                      </a:r>
                      <a:r>
                        <a:rPr lang="ko-KR" altLang="en-US" sz="1000" b="1" kern="0" spc="0">
                          <a:solidFill>
                            <a:srgbClr val="000000"/>
                          </a:solidFill>
                          <a:effectLst/>
                          <a:latin typeface="+mj-ea"/>
                          <a:ea typeface="+mj-ea"/>
                        </a:rPr>
                        <a:t>단계</a:t>
                      </a:r>
                      <a:endParaRPr lang="ko-KR" altLang="en-US" sz="1000" kern="0" spc="0">
                        <a:solidFill>
                          <a:srgbClr val="000000"/>
                        </a:solidFill>
                        <a:effectLst/>
                        <a:latin typeface="+mj-ea"/>
                        <a:ea typeface="+mj-ea"/>
                      </a:endParaRPr>
                    </a:p>
                    <a:p>
                      <a:pPr marL="0" marR="0" indent="0" algn="ctr" fontAlgn="base" latinLnBrk="0">
                        <a:lnSpc>
                          <a:spcPct val="100000"/>
                        </a:lnSpc>
                        <a:buNone/>
                      </a:pPr>
                      <a:r>
                        <a:rPr lang="ko-KR" altLang="en-US" sz="1000" kern="0" spc="0">
                          <a:solidFill>
                            <a:srgbClr val="000000"/>
                          </a:solidFill>
                          <a:effectLst/>
                          <a:latin typeface="+mj-ea"/>
                          <a:ea typeface="+mj-ea"/>
                        </a:rPr>
                        <a:t>프롬프트 검증</a:t>
                      </a:r>
                    </a:p>
                  </a:txBody>
                  <a:tcPr marL="23370" marR="23370" marT="6461" marB="6461"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0" marR="0" indent="0" algn="just" fontAlgn="base" latinLnBrk="0">
                        <a:lnSpc>
                          <a:spcPct val="100000"/>
                        </a:lnSpc>
                        <a:buNone/>
                      </a:pPr>
                      <a:r>
                        <a:rPr lang="ko-KR" altLang="en-US" sz="1000" kern="0" spc="0" dirty="0">
                          <a:solidFill>
                            <a:srgbClr val="000000"/>
                          </a:solidFill>
                          <a:effectLst/>
                          <a:latin typeface="+mj-ea"/>
                          <a:ea typeface="+mj-ea"/>
                        </a:rPr>
                        <a:t>개발된 프롬프트의 논리성</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일관성</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실제 적용 가능성을 검토 </a:t>
                      </a:r>
                      <a:r>
                        <a:rPr lang="en-US" altLang="ko-KR" sz="1000" kern="0" spc="0" dirty="0">
                          <a:solidFill>
                            <a:srgbClr val="000000"/>
                          </a:solidFill>
                          <a:effectLst/>
                          <a:latin typeface="+mj-ea"/>
                          <a:ea typeface="+mj-ea"/>
                        </a:rPr>
                        <a:t>(</a:t>
                      </a:r>
                      <a:r>
                        <a:rPr lang="ko-KR" altLang="en-US" sz="1000" kern="0" spc="0" dirty="0" err="1">
                          <a:solidFill>
                            <a:srgbClr val="000000"/>
                          </a:solidFill>
                          <a:effectLst/>
                          <a:latin typeface="+mj-ea"/>
                          <a:ea typeface="+mj-ea"/>
                        </a:rPr>
                        <a:t>기개발</a:t>
                      </a:r>
                      <a:r>
                        <a:rPr lang="ko-KR" altLang="en-US" sz="1000" kern="0" spc="0" dirty="0">
                          <a:solidFill>
                            <a:srgbClr val="000000"/>
                          </a:solidFill>
                          <a:effectLst/>
                          <a:latin typeface="+mj-ea"/>
                          <a:ea typeface="+mj-ea"/>
                        </a:rPr>
                        <a:t> 능력단위 대상 시범 테스트 실시</a:t>
                      </a:r>
                      <a:r>
                        <a:rPr lang="en-US" altLang="ko-KR" sz="1000" kern="0" spc="0" dirty="0">
                          <a:solidFill>
                            <a:srgbClr val="000000"/>
                          </a:solidFill>
                          <a:effectLst/>
                          <a:latin typeface="+mj-ea"/>
                          <a:ea typeface="+mj-ea"/>
                        </a:rPr>
                        <a:t>)</a:t>
                      </a:r>
                      <a:endParaRPr lang="ko-KR" altLang="en-US" sz="1000" kern="0" spc="0" dirty="0">
                        <a:solidFill>
                          <a:srgbClr val="000000"/>
                        </a:solidFill>
                        <a:effectLst/>
                        <a:latin typeface="+mj-ea"/>
                        <a:ea typeface="+mj-ea"/>
                      </a:endParaRPr>
                    </a:p>
                  </a:txBody>
                  <a:tcPr marL="23370" marR="23370" marT="6461" marB="6461" anchor="ctr">
                    <a:lnL w="3175" cap="flat" cmpd="sng" algn="ctr">
                      <a:solidFill>
                        <a:schemeClr val="tx1"/>
                      </a:solidFill>
                      <a:prstDash val="solid"/>
                      <a:round/>
                      <a:headEnd type="none" w="med" len="med"/>
                      <a:tailEnd type="none" w="med" len="med"/>
                    </a:lnL>
                    <a:lnR w="3556"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646847"/>
                  </a:ext>
                </a:extLst>
              </a:tr>
              <a:tr h="324249">
                <a:tc>
                  <a:txBody>
                    <a:bodyPr/>
                    <a:lstStyle/>
                    <a:p>
                      <a:pPr marL="0" marR="0" indent="0" algn="ctr" fontAlgn="base" latinLnBrk="0">
                        <a:lnSpc>
                          <a:spcPct val="100000"/>
                        </a:lnSpc>
                        <a:buNone/>
                      </a:pPr>
                      <a:r>
                        <a:rPr lang="en-US" altLang="ko-KR" sz="1000" b="1" kern="0" spc="0" dirty="0">
                          <a:solidFill>
                            <a:srgbClr val="000000"/>
                          </a:solidFill>
                          <a:effectLst/>
                          <a:latin typeface="+mj-ea"/>
                          <a:ea typeface="+mj-ea"/>
                        </a:rPr>
                        <a:t>4</a:t>
                      </a:r>
                      <a:r>
                        <a:rPr lang="ko-KR" altLang="en-US" sz="1000" b="1" kern="0" spc="0" dirty="0">
                          <a:solidFill>
                            <a:srgbClr val="000000"/>
                          </a:solidFill>
                          <a:effectLst/>
                          <a:latin typeface="+mj-ea"/>
                          <a:ea typeface="+mj-ea"/>
                        </a:rPr>
                        <a:t>단계</a:t>
                      </a:r>
                      <a:endParaRPr lang="ko-KR" altLang="en-US" sz="1000" kern="0" spc="0" dirty="0">
                        <a:solidFill>
                          <a:srgbClr val="000000"/>
                        </a:solidFill>
                        <a:effectLst/>
                        <a:latin typeface="+mj-ea"/>
                        <a:ea typeface="+mj-ea"/>
                      </a:endParaRPr>
                    </a:p>
                    <a:p>
                      <a:pPr marL="0" marR="0" indent="0" algn="ctr" fontAlgn="base" latinLnBrk="0">
                        <a:lnSpc>
                          <a:spcPct val="100000"/>
                        </a:lnSpc>
                        <a:buNone/>
                      </a:pPr>
                      <a:r>
                        <a:rPr lang="ko-KR" altLang="en-US" sz="1000" kern="0" spc="0" dirty="0">
                          <a:solidFill>
                            <a:srgbClr val="000000"/>
                          </a:solidFill>
                          <a:effectLst/>
                          <a:latin typeface="+mj-ea"/>
                          <a:ea typeface="+mj-ea"/>
                        </a:rPr>
                        <a:t>전문가 평가 실시</a:t>
                      </a:r>
                    </a:p>
                  </a:txBody>
                  <a:tcPr marL="23370" marR="23370" marT="6461" marB="6461"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0" marR="0" indent="0" algn="just" fontAlgn="base" latinLnBrk="0">
                        <a:lnSpc>
                          <a:spcPct val="100000"/>
                        </a:lnSpc>
                        <a:buNone/>
                      </a:pPr>
                      <a:r>
                        <a:rPr lang="ko-KR" altLang="en-US" sz="1000" kern="0" spc="0" dirty="0">
                          <a:solidFill>
                            <a:srgbClr val="000000"/>
                          </a:solidFill>
                          <a:effectLst/>
                          <a:latin typeface="+mj-ea"/>
                          <a:ea typeface="+mj-ea"/>
                        </a:rPr>
                        <a:t>검증된 프롬프트를 기반으로 능력단위별 이러닝</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가상훈련 개발 적합성 평가 수행</a:t>
                      </a:r>
                    </a:p>
                  </a:txBody>
                  <a:tcPr marL="23370" marR="23370" marT="6461" marB="6461" anchor="ctr">
                    <a:lnL w="3175" cap="flat" cmpd="sng" algn="ctr">
                      <a:solidFill>
                        <a:schemeClr val="tx1"/>
                      </a:solidFill>
                      <a:prstDash val="solid"/>
                      <a:round/>
                      <a:headEnd type="none" w="med" len="med"/>
                      <a:tailEnd type="none" w="med" len="med"/>
                    </a:lnL>
                    <a:lnR w="3556"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2989419"/>
                  </a:ext>
                </a:extLst>
              </a:tr>
              <a:tr h="324249">
                <a:tc>
                  <a:txBody>
                    <a:bodyPr/>
                    <a:lstStyle/>
                    <a:p>
                      <a:pPr marL="0" marR="0" indent="0" algn="ctr" fontAlgn="base" latinLnBrk="0">
                        <a:lnSpc>
                          <a:spcPct val="100000"/>
                        </a:lnSpc>
                        <a:buNone/>
                      </a:pPr>
                      <a:r>
                        <a:rPr lang="en-US" altLang="ko-KR" sz="1000" b="1" kern="0" spc="0" dirty="0">
                          <a:solidFill>
                            <a:srgbClr val="000000"/>
                          </a:solidFill>
                          <a:effectLst/>
                          <a:latin typeface="+mj-ea"/>
                          <a:ea typeface="+mj-ea"/>
                        </a:rPr>
                        <a:t>5</a:t>
                      </a:r>
                      <a:r>
                        <a:rPr lang="ko-KR" altLang="en-US" sz="1000" b="1" kern="0" spc="0" dirty="0">
                          <a:solidFill>
                            <a:srgbClr val="000000"/>
                          </a:solidFill>
                          <a:effectLst/>
                          <a:latin typeface="+mj-ea"/>
                          <a:ea typeface="+mj-ea"/>
                        </a:rPr>
                        <a:t>단계</a:t>
                      </a:r>
                      <a:endParaRPr lang="ko-KR" altLang="en-US" sz="1000" kern="0" spc="0" dirty="0">
                        <a:solidFill>
                          <a:srgbClr val="000000"/>
                        </a:solidFill>
                        <a:effectLst/>
                        <a:latin typeface="+mj-ea"/>
                        <a:ea typeface="+mj-ea"/>
                      </a:endParaRPr>
                    </a:p>
                    <a:p>
                      <a:pPr marL="0" marR="0" indent="0" algn="ctr" fontAlgn="base" latinLnBrk="0">
                        <a:lnSpc>
                          <a:spcPct val="100000"/>
                        </a:lnSpc>
                        <a:buNone/>
                      </a:pPr>
                      <a:r>
                        <a:rPr lang="ko-KR" altLang="en-US" sz="1000" kern="0" spc="0" dirty="0">
                          <a:solidFill>
                            <a:srgbClr val="000000"/>
                          </a:solidFill>
                          <a:effectLst/>
                          <a:latin typeface="+mj-ea"/>
                          <a:ea typeface="+mj-ea"/>
                        </a:rPr>
                        <a:t>결과 검토 및 보완</a:t>
                      </a:r>
                    </a:p>
                  </a:txBody>
                  <a:tcPr marL="23370" marR="23370" marT="6461" marB="6461"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0" marR="0" indent="0" algn="just" fontAlgn="base" latinLnBrk="0">
                        <a:lnSpc>
                          <a:spcPct val="100000"/>
                        </a:lnSpc>
                        <a:buNone/>
                      </a:pPr>
                      <a:r>
                        <a:rPr lang="ko-KR" altLang="en-US" sz="1000" kern="0" spc="0" dirty="0">
                          <a:solidFill>
                            <a:srgbClr val="000000"/>
                          </a:solidFill>
                          <a:effectLst/>
                          <a:latin typeface="+mj-ea"/>
                          <a:ea typeface="+mj-ea"/>
                        </a:rPr>
                        <a:t>평가 결과의 타당성 및 일관성 확보를 위한 검토 및 필요시 보완 수행</a:t>
                      </a:r>
                    </a:p>
                  </a:txBody>
                  <a:tcPr marL="23370" marR="23370" marT="6461" marB="6461" anchor="ctr">
                    <a:lnL w="3175" cap="flat" cmpd="sng" algn="ctr">
                      <a:solidFill>
                        <a:schemeClr val="tx1"/>
                      </a:solidFill>
                      <a:prstDash val="solid"/>
                      <a:round/>
                      <a:headEnd type="none" w="med" len="med"/>
                      <a:tailEnd type="none" w="med" len="med"/>
                    </a:lnL>
                    <a:lnR w="3556"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116088"/>
                  </a:ext>
                </a:extLst>
              </a:tr>
            </a:tbl>
          </a:graphicData>
        </a:graphic>
      </p:graphicFrame>
      <p:grpSp>
        <p:nvGrpSpPr>
          <p:cNvPr id="13" name="그룹 12">
            <a:extLst>
              <a:ext uri="{FF2B5EF4-FFF2-40B4-BE49-F238E27FC236}">
                <a16:creationId xmlns:a16="http://schemas.microsoft.com/office/drawing/2014/main" id="{90F7A937-9069-9B5D-274B-678C7D5E2B06}"/>
              </a:ext>
            </a:extLst>
          </p:cNvPr>
          <p:cNvGrpSpPr/>
          <p:nvPr/>
        </p:nvGrpSpPr>
        <p:grpSpPr>
          <a:xfrm>
            <a:off x="4953000" y="4369154"/>
            <a:ext cx="3852428" cy="276999"/>
            <a:chOff x="672170" y="1944148"/>
            <a:chExt cx="3852428" cy="338050"/>
          </a:xfrm>
        </p:grpSpPr>
        <p:sp>
          <p:nvSpPr>
            <p:cNvPr id="14" name="TextBox 13">
              <a:extLst>
                <a:ext uri="{FF2B5EF4-FFF2-40B4-BE49-F238E27FC236}">
                  <a16:creationId xmlns:a16="http://schemas.microsoft.com/office/drawing/2014/main" id="{9C1CD9FB-EEA6-89BF-1AA3-8F8555C47BD3}"/>
                </a:ext>
              </a:extLst>
            </p:cNvPr>
            <p:cNvSpPr txBox="1"/>
            <p:nvPr/>
          </p:nvSpPr>
          <p:spPr>
            <a:xfrm>
              <a:off x="708173" y="1944148"/>
              <a:ext cx="3816425" cy="338050"/>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평가 지표 척도 설계</a:t>
              </a:r>
            </a:p>
          </p:txBody>
        </p:sp>
        <p:sp>
          <p:nvSpPr>
            <p:cNvPr id="15" name="직사각형 14">
              <a:extLst>
                <a:ext uri="{FF2B5EF4-FFF2-40B4-BE49-F238E27FC236}">
                  <a16:creationId xmlns:a16="http://schemas.microsoft.com/office/drawing/2014/main" id="{638936F9-2671-C525-9B3B-7C34E969A107}"/>
                </a:ext>
              </a:extLst>
            </p:cNvPr>
            <p:cNvSpPr/>
            <p:nvPr/>
          </p:nvSpPr>
          <p:spPr>
            <a:xfrm>
              <a:off x="672170" y="1980003"/>
              <a:ext cx="53948" cy="27923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aphicFrame>
        <p:nvGraphicFramePr>
          <p:cNvPr id="16" name="표 15">
            <a:extLst>
              <a:ext uri="{FF2B5EF4-FFF2-40B4-BE49-F238E27FC236}">
                <a16:creationId xmlns:a16="http://schemas.microsoft.com/office/drawing/2014/main" id="{16658DAB-D357-60C7-8060-99C65421F385}"/>
              </a:ext>
            </a:extLst>
          </p:cNvPr>
          <p:cNvGraphicFramePr>
            <a:graphicFrameLocks noGrp="1"/>
          </p:cNvGraphicFramePr>
          <p:nvPr>
            <p:extLst>
              <p:ext uri="{D42A27DB-BD31-4B8C-83A1-F6EECF244321}">
                <p14:modId xmlns:p14="http://schemas.microsoft.com/office/powerpoint/2010/main" val="1630720709"/>
              </p:ext>
            </p:extLst>
          </p:nvPr>
        </p:nvGraphicFramePr>
        <p:xfrm>
          <a:off x="4953000" y="4699736"/>
          <a:ext cx="4392612" cy="1789963"/>
        </p:xfrm>
        <a:graphic>
          <a:graphicData uri="http://schemas.openxmlformats.org/drawingml/2006/table">
            <a:tbl>
              <a:tblPr/>
              <a:tblGrid>
                <a:gridCol w="632814">
                  <a:extLst>
                    <a:ext uri="{9D8B030D-6E8A-4147-A177-3AD203B41FA5}">
                      <a16:colId xmlns:a16="http://schemas.microsoft.com/office/drawing/2014/main" val="836416658"/>
                    </a:ext>
                  </a:extLst>
                </a:gridCol>
                <a:gridCol w="1879899">
                  <a:extLst>
                    <a:ext uri="{9D8B030D-6E8A-4147-A177-3AD203B41FA5}">
                      <a16:colId xmlns:a16="http://schemas.microsoft.com/office/drawing/2014/main" val="1833248129"/>
                    </a:ext>
                  </a:extLst>
                </a:gridCol>
                <a:gridCol w="1879899">
                  <a:extLst>
                    <a:ext uri="{9D8B030D-6E8A-4147-A177-3AD203B41FA5}">
                      <a16:colId xmlns:a16="http://schemas.microsoft.com/office/drawing/2014/main" val="2570966085"/>
                    </a:ext>
                  </a:extLst>
                </a:gridCol>
              </a:tblGrid>
              <a:tr h="253003">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구분</a:t>
                      </a:r>
                    </a:p>
                  </a:txBody>
                  <a:tcPr marL="72000" marR="72000" marT="36000" marB="3600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a:solidFill>
                            <a:schemeClr val="bg1"/>
                          </a:solidFill>
                          <a:effectLst/>
                          <a:latin typeface="+mj-ea"/>
                          <a:ea typeface="+mj-ea"/>
                        </a:rPr>
                        <a:t>장점</a:t>
                      </a:r>
                    </a:p>
                  </a:txBody>
                  <a:tcPr marL="72000" marR="7200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단점</a:t>
                      </a:r>
                    </a:p>
                  </a:txBody>
                  <a:tcPr marL="72000" marR="72000" marT="36000" marB="3600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721745993"/>
                  </a:ext>
                </a:extLst>
              </a:tr>
              <a:tr h="768480">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5</a:t>
                      </a:r>
                      <a:r>
                        <a:rPr lang="ko-KR" altLang="en-US" sz="1000" kern="0" spc="0" dirty="0">
                          <a:solidFill>
                            <a:srgbClr val="000000"/>
                          </a:solidFill>
                          <a:effectLst/>
                          <a:latin typeface="+mj-ea"/>
                          <a:ea typeface="+mj-ea"/>
                        </a:rPr>
                        <a:t>점 척도</a:t>
                      </a:r>
                    </a:p>
                  </a:txBody>
                  <a:tcPr marL="72000" marR="72000" marT="36000" marB="36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단순</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신속하게 평가를 진행할 수 있음</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평가자 부담이 상대적으로 낮음</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응답 편차가 적음</a:t>
                      </a:r>
                    </a:p>
                  </a:txBody>
                  <a:tcPr marL="72000" marR="72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평가 점수의 세밀한 구분이 어려움</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중간값</a:t>
                      </a:r>
                      <a:r>
                        <a:rPr lang="en-US" altLang="ko-KR" sz="1000" kern="0" spc="0" dirty="0">
                          <a:solidFill>
                            <a:srgbClr val="000000"/>
                          </a:solidFill>
                          <a:effectLst/>
                          <a:latin typeface="+mj-ea"/>
                          <a:ea typeface="+mj-ea"/>
                        </a:rPr>
                        <a:t>(3</a:t>
                      </a:r>
                      <a:r>
                        <a:rPr lang="ko-KR" altLang="en-US" sz="1000" kern="0" spc="0" dirty="0">
                          <a:solidFill>
                            <a:srgbClr val="000000"/>
                          </a:solidFill>
                          <a:effectLst/>
                          <a:latin typeface="+mj-ea"/>
                          <a:ea typeface="+mj-ea"/>
                        </a:rPr>
                        <a:t>점</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에 쏠림 현상이 발생할 수 있음</a:t>
                      </a:r>
                    </a:p>
                  </a:txBody>
                  <a:tcPr marL="72000" marR="72000" marT="36000" marB="36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0220522"/>
                  </a:ext>
                </a:extLst>
              </a:tr>
              <a:tr h="768480">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7</a:t>
                      </a:r>
                      <a:r>
                        <a:rPr lang="ko-KR" altLang="en-US" sz="1000" kern="0" spc="0" dirty="0">
                          <a:solidFill>
                            <a:srgbClr val="000000"/>
                          </a:solidFill>
                          <a:effectLst/>
                          <a:latin typeface="+mj-ea"/>
                          <a:ea typeface="+mj-ea"/>
                        </a:rPr>
                        <a:t>점 척도</a:t>
                      </a:r>
                    </a:p>
                  </a:txBody>
                  <a:tcPr marL="72000" marR="72000" marT="36000" marB="36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marR="0" lvl="0" indent="-85725" algn="just" fontAlgn="base" latinLnBrk="0">
                        <a:lnSpc>
                          <a:spcPct val="100000"/>
                        </a:lnSpc>
                        <a:buFont typeface="Arial" panose="020B0604020202020204" pitchFamily="34" charset="0"/>
                        <a:buChar char="•"/>
                      </a:pPr>
                      <a:r>
                        <a:rPr lang="en-US" altLang="ko-KR" sz="1000" kern="0" spc="0" dirty="0">
                          <a:solidFill>
                            <a:srgbClr val="000000"/>
                          </a:solidFill>
                          <a:effectLst/>
                          <a:latin typeface="+mj-ea"/>
                          <a:ea typeface="+mj-ea"/>
                        </a:rPr>
                        <a:t>5</a:t>
                      </a:r>
                      <a:r>
                        <a:rPr lang="ko-KR" altLang="en-US" sz="1000" kern="0" spc="0" dirty="0">
                          <a:solidFill>
                            <a:srgbClr val="000000"/>
                          </a:solidFill>
                          <a:effectLst/>
                          <a:latin typeface="+mj-ea"/>
                          <a:ea typeface="+mj-ea"/>
                        </a:rPr>
                        <a:t>점 척도에 비해 세밀한 차이를 반영할 수 있음</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통계 분석 시 분산이 높아져 변별력이 강화됨</a:t>
                      </a:r>
                    </a:p>
                  </a:txBody>
                  <a:tcPr marL="72000" marR="72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응답 피로가 증가 됨</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점수 해석이 복잡할 수 있음</a:t>
                      </a:r>
                    </a:p>
                    <a:p>
                      <a:pPr marL="85725" marR="0" lvl="0" indent="-85725" algn="just" fontAlgn="base" latinLnBrk="0">
                        <a:lnSpc>
                          <a:spcPct val="100000"/>
                        </a:lnSpc>
                        <a:buFont typeface="Arial" panose="020B0604020202020204" pitchFamily="34" charset="0"/>
                        <a:buChar char="•"/>
                      </a:pPr>
                      <a:r>
                        <a:rPr lang="ko-KR" altLang="en-US" sz="1000" kern="0" spc="0" dirty="0">
                          <a:solidFill>
                            <a:srgbClr val="000000"/>
                          </a:solidFill>
                          <a:effectLst/>
                          <a:latin typeface="+mj-ea"/>
                          <a:ea typeface="+mj-ea"/>
                        </a:rPr>
                        <a:t>일관성 확보가 어려울 수 있음</a:t>
                      </a:r>
                    </a:p>
                  </a:txBody>
                  <a:tcPr marL="72000" marR="72000" marT="36000" marB="36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7507479"/>
                  </a:ext>
                </a:extLst>
              </a:tr>
            </a:tbl>
          </a:graphicData>
        </a:graphic>
      </p:graphicFrame>
      <p:graphicFrame>
        <p:nvGraphicFramePr>
          <p:cNvPr id="29" name="표 28">
            <a:extLst>
              <a:ext uri="{FF2B5EF4-FFF2-40B4-BE49-F238E27FC236}">
                <a16:creationId xmlns:a16="http://schemas.microsoft.com/office/drawing/2014/main" id="{12A1EF9B-0746-765C-73D2-84E8304E214F}"/>
              </a:ext>
            </a:extLst>
          </p:cNvPr>
          <p:cNvGraphicFramePr>
            <a:graphicFrameLocks noGrp="1"/>
          </p:cNvGraphicFramePr>
          <p:nvPr>
            <p:extLst>
              <p:ext uri="{D42A27DB-BD31-4B8C-83A1-F6EECF244321}">
                <p14:modId xmlns:p14="http://schemas.microsoft.com/office/powerpoint/2010/main" val="1509462045"/>
              </p:ext>
            </p:extLst>
          </p:nvPr>
        </p:nvGraphicFramePr>
        <p:xfrm>
          <a:off x="596514" y="2000472"/>
          <a:ext cx="8748172" cy="2233200"/>
        </p:xfrm>
        <a:graphic>
          <a:graphicData uri="http://schemas.openxmlformats.org/drawingml/2006/table">
            <a:tbl>
              <a:tblPr/>
              <a:tblGrid>
                <a:gridCol w="618578">
                  <a:extLst>
                    <a:ext uri="{9D8B030D-6E8A-4147-A177-3AD203B41FA5}">
                      <a16:colId xmlns:a16="http://schemas.microsoft.com/office/drawing/2014/main" val="854849211"/>
                    </a:ext>
                  </a:extLst>
                </a:gridCol>
                <a:gridCol w="353249">
                  <a:extLst>
                    <a:ext uri="{9D8B030D-6E8A-4147-A177-3AD203B41FA5}">
                      <a16:colId xmlns:a16="http://schemas.microsoft.com/office/drawing/2014/main" val="611353688"/>
                    </a:ext>
                  </a:extLst>
                </a:gridCol>
                <a:gridCol w="1469466">
                  <a:extLst>
                    <a:ext uri="{9D8B030D-6E8A-4147-A177-3AD203B41FA5}">
                      <a16:colId xmlns:a16="http://schemas.microsoft.com/office/drawing/2014/main" val="2466894022"/>
                    </a:ext>
                  </a:extLst>
                </a:gridCol>
                <a:gridCol w="6306879">
                  <a:extLst>
                    <a:ext uri="{9D8B030D-6E8A-4147-A177-3AD203B41FA5}">
                      <a16:colId xmlns:a16="http://schemas.microsoft.com/office/drawing/2014/main" val="3161783085"/>
                    </a:ext>
                  </a:extLst>
                </a:gridCol>
              </a:tblGrid>
              <a:tr h="0">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구분</a:t>
                      </a:r>
                    </a:p>
                  </a:txBody>
                  <a:tcPr marL="36000" marR="36000" marT="18000" marB="1800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a:solidFill>
                            <a:schemeClr val="bg1"/>
                          </a:solidFill>
                          <a:effectLst/>
                          <a:latin typeface="+mj-ea"/>
                          <a:ea typeface="+mj-ea"/>
                        </a:rPr>
                        <a:t>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en-US" altLang="ko-KR" sz="1000" b="0" kern="0" spc="0" dirty="0">
                          <a:solidFill>
                            <a:schemeClr val="bg1"/>
                          </a:solidFill>
                          <a:effectLst/>
                          <a:latin typeface="+mj-ea"/>
                          <a:ea typeface="+mj-ea"/>
                        </a:rPr>
                        <a:t>(2</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명</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en-US" altLang="ko-KR" sz="1000" b="0" kern="0" spc="0" dirty="0">
                          <a:solidFill>
                            <a:schemeClr val="bg1"/>
                          </a:solidFill>
                          <a:effectLst/>
                          <a:latin typeface="+mj-ea"/>
                          <a:ea typeface="+mj-ea"/>
                        </a:rPr>
                        <a:t>(2</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설명</a:t>
                      </a:r>
                    </a:p>
                  </a:txBody>
                  <a:tcPr marL="36000" marR="36000" marT="18000" marB="1800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1779197449"/>
                  </a:ext>
                </a:extLst>
              </a:tr>
              <a:tr h="109259">
                <a:tc rowSpan="3">
                  <a:txBody>
                    <a:bodyPr/>
                    <a:lstStyle/>
                    <a:p>
                      <a:pPr marL="0" marR="0" indent="0" algn="ctr" fontAlgn="base" latinLnBrk="0">
                        <a:lnSpc>
                          <a:spcPct val="100000"/>
                        </a:lnSpc>
                        <a:buNone/>
                      </a:pPr>
                      <a:r>
                        <a:rPr lang="ko-KR" altLang="en-US" sz="1000" kern="0" spc="0">
                          <a:solidFill>
                            <a:srgbClr val="000000"/>
                          </a:solidFill>
                          <a:effectLst/>
                          <a:latin typeface="+mj-ea"/>
                          <a:ea typeface="+mj-ea"/>
                        </a:rPr>
                        <a:t>가상훈련</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실습 장비 사용의 용이성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훈련 과정에서 다뤄야 하는 장비가 고가이거나 특수하여 구입</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설치</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이동이 어렵고 접근이 제한적인 경우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가상 시뮬레이션을 통해 비용</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공간</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시간 등의 제약을 해소하고 효과적으로 실습 훈련을 대체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보완 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098564"/>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반복훈련 적합도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명확한 작업 절차와 수행 행동을 포함하는 능력단위에서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집체 훈련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실습 전에 가상훈련을 반복 실시하여 숙련도와 학습성과를 향상시킬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8880665"/>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안전환경 확보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고온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고전압</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유해화학물질 등 고위험 작업 요소가 포함된 능력단위에서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훈련생이 안전한 환경에서 훈련을 시작하고 수행할 수 있도록 가상훈련을 적용하는 것이 적합한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38846"/>
                  </a:ext>
                </a:extLst>
              </a:tr>
              <a:tr h="109259">
                <a:tc rowSpan="3">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이러닝</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err="1">
                          <a:solidFill>
                            <a:srgbClr val="000000"/>
                          </a:solidFill>
                          <a:effectLst/>
                          <a:latin typeface="+mj-ea"/>
                          <a:ea typeface="+mj-ea"/>
                        </a:rPr>
                        <a:t>비대면</a:t>
                      </a:r>
                      <a:r>
                        <a:rPr lang="ko-KR" altLang="en-US" sz="1000" kern="0" spc="0" dirty="0">
                          <a:solidFill>
                            <a:srgbClr val="000000"/>
                          </a:solidFill>
                          <a:effectLst/>
                          <a:latin typeface="+mj-ea"/>
                          <a:ea typeface="+mj-ea"/>
                        </a:rPr>
                        <a:t> 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동료나 강사와의 실시간 상호작용이나 대면 협업</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피드백 없이</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콘텐츠 중심의 자기주도 학습과 비동기적 상호작용만으로도 학습목표를 달성할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351599"/>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이론 중심 학습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해당 능력단위가 장비 실습보다 이론</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절차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사례 등의 이해를 중심으로 학습할 수 있도록 구성되어 있으며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언어적 설명과 시각 자료를 통해 온라인 또는 혼합훈련</a:t>
                      </a:r>
                      <a:r>
                        <a:rPr lang="en-US" altLang="ko-KR" sz="1000" kern="0" spc="0" dirty="0">
                          <a:solidFill>
                            <a:srgbClr val="000000"/>
                          </a:solidFill>
                          <a:effectLst/>
                          <a:latin typeface="+mj-ea"/>
                          <a:ea typeface="+mj-ea"/>
                        </a:rPr>
                        <a:t>(</a:t>
                      </a:r>
                      <a:r>
                        <a:rPr lang="ko-KR" altLang="en-US" sz="1000" kern="0" spc="0" dirty="0" err="1">
                          <a:solidFill>
                            <a:srgbClr val="000000"/>
                          </a:solidFill>
                          <a:effectLst/>
                          <a:latin typeface="+mj-ea"/>
                          <a:ea typeface="+mj-ea"/>
                        </a:rPr>
                        <a:t>블렌디드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방식으로 학습목표를 달성할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759522"/>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자기주도 학습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학습자가 개인 진도와 속도에 맞춰 반복 학습을 수행하며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교수자의 직접적인 도움 없이도 학습 내용을 이해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숙지하여 학습 성과를 향상시킬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3784782"/>
                  </a:ext>
                </a:extLst>
              </a:tr>
            </a:tbl>
          </a:graphicData>
        </a:graphic>
      </p:graphicFrame>
    </p:spTree>
    <p:extLst>
      <p:ext uri="{BB962C8B-B14F-4D97-AF65-F5344CB8AC3E}">
        <p14:creationId xmlns:p14="http://schemas.microsoft.com/office/powerpoint/2010/main" val="735415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9291D-4A6F-EC6B-4149-6287D8B24239}"/>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45D958D-6529-278F-66C7-9CABB65CBB5C}"/>
              </a:ext>
            </a:extLst>
          </p:cNvPr>
          <p:cNvSpPr>
            <a:spLocks noGrp="1"/>
          </p:cNvSpPr>
          <p:nvPr>
            <p:ph type="body" sz="quarter" idx="12"/>
          </p:nvPr>
        </p:nvSpPr>
        <p:spPr/>
        <p:txBody>
          <a:bodyPr/>
          <a:lstStyle/>
          <a:p>
            <a:pPr latinLnBrk="0"/>
            <a:r>
              <a:rPr lang="en-US" altLang="ko-KR" dirty="0"/>
              <a:t>2</a:t>
            </a:r>
            <a:r>
              <a:rPr lang="ko-KR" altLang="en-US" dirty="0"/>
              <a:t>차로 수정된 평가지표에 대해 온평원과 전문가가 제시한 </a:t>
            </a:r>
            <a:r>
              <a:rPr lang="en-US" altLang="ko-KR" dirty="0"/>
              <a:t>3</a:t>
            </a:r>
            <a:r>
              <a:rPr lang="ko-KR" altLang="en-US" dirty="0"/>
              <a:t>차 수정 의견은 다음과 같으며</a:t>
            </a:r>
            <a:r>
              <a:rPr lang="en-US" altLang="ko-KR" dirty="0"/>
              <a:t>, </a:t>
            </a:r>
            <a:r>
              <a:rPr lang="ko-KR" altLang="en-US" dirty="0"/>
              <a:t>검토 결과 평가 척도로 </a:t>
            </a:r>
            <a:r>
              <a:rPr lang="en-US" altLang="ko-KR" dirty="0"/>
              <a:t>7</a:t>
            </a:r>
            <a:r>
              <a:rPr lang="ko-KR" altLang="en-US" dirty="0"/>
              <a:t>점 척도를 채택함</a:t>
            </a:r>
            <a:endParaRPr lang="ko-KR" altLang="en-US" sz="1800" dirty="0"/>
          </a:p>
        </p:txBody>
      </p:sp>
      <p:sp>
        <p:nvSpPr>
          <p:cNvPr id="5" name="텍스트 개체 틀 4">
            <a:extLst>
              <a:ext uri="{FF2B5EF4-FFF2-40B4-BE49-F238E27FC236}">
                <a16:creationId xmlns:a16="http://schemas.microsoft.com/office/drawing/2014/main" id="{FDCBFB28-C934-FC03-01F9-139E5E47826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0D755298-9F13-B5C6-49BD-003F375B0AF2}"/>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7D2ECD93-73C8-D161-5B68-C63EA79BECBA}"/>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7CFEA425-84F8-77EF-8A43-163B3F4E6C7A}"/>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B7711DCB-1708-8F1F-DFC8-7954AF8CDE32}"/>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적합성 평가지표 개발 및 확정 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93D38555-3BA7-93CB-15E1-0A54D6146E74}"/>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4" name="표 3">
            <a:extLst>
              <a:ext uri="{FF2B5EF4-FFF2-40B4-BE49-F238E27FC236}">
                <a16:creationId xmlns:a16="http://schemas.microsoft.com/office/drawing/2014/main" id="{B66645FD-514D-923D-E871-ACFEFA97A227}"/>
              </a:ext>
            </a:extLst>
          </p:cNvPr>
          <p:cNvGraphicFramePr>
            <a:graphicFrameLocks noGrp="1"/>
          </p:cNvGraphicFramePr>
          <p:nvPr>
            <p:extLst>
              <p:ext uri="{D42A27DB-BD31-4B8C-83A1-F6EECF244321}">
                <p14:modId xmlns:p14="http://schemas.microsoft.com/office/powerpoint/2010/main" val="2738750999"/>
              </p:ext>
            </p:extLst>
          </p:nvPr>
        </p:nvGraphicFramePr>
        <p:xfrm>
          <a:off x="596514" y="2000472"/>
          <a:ext cx="8748172" cy="2233200"/>
        </p:xfrm>
        <a:graphic>
          <a:graphicData uri="http://schemas.openxmlformats.org/drawingml/2006/table">
            <a:tbl>
              <a:tblPr/>
              <a:tblGrid>
                <a:gridCol w="618578">
                  <a:extLst>
                    <a:ext uri="{9D8B030D-6E8A-4147-A177-3AD203B41FA5}">
                      <a16:colId xmlns:a16="http://schemas.microsoft.com/office/drawing/2014/main" val="854849211"/>
                    </a:ext>
                  </a:extLst>
                </a:gridCol>
                <a:gridCol w="353249">
                  <a:extLst>
                    <a:ext uri="{9D8B030D-6E8A-4147-A177-3AD203B41FA5}">
                      <a16:colId xmlns:a16="http://schemas.microsoft.com/office/drawing/2014/main" val="611353688"/>
                    </a:ext>
                  </a:extLst>
                </a:gridCol>
                <a:gridCol w="1469466">
                  <a:extLst>
                    <a:ext uri="{9D8B030D-6E8A-4147-A177-3AD203B41FA5}">
                      <a16:colId xmlns:a16="http://schemas.microsoft.com/office/drawing/2014/main" val="2466894022"/>
                    </a:ext>
                  </a:extLst>
                </a:gridCol>
                <a:gridCol w="6306879">
                  <a:extLst>
                    <a:ext uri="{9D8B030D-6E8A-4147-A177-3AD203B41FA5}">
                      <a16:colId xmlns:a16="http://schemas.microsoft.com/office/drawing/2014/main" val="3161783085"/>
                    </a:ext>
                  </a:extLst>
                </a:gridCol>
              </a:tblGrid>
              <a:tr h="0">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구분</a:t>
                      </a:r>
                    </a:p>
                  </a:txBody>
                  <a:tcPr marL="36000" marR="36000" marT="18000" marB="1800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a:solidFill>
                            <a:schemeClr val="bg1"/>
                          </a:solidFill>
                          <a:effectLst/>
                          <a:latin typeface="+mj-ea"/>
                          <a:ea typeface="+mj-ea"/>
                        </a:rPr>
                        <a:t>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en-US" altLang="ko-KR" sz="1000" b="0" kern="0" spc="0" dirty="0">
                          <a:solidFill>
                            <a:schemeClr val="bg1"/>
                          </a:solidFill>
                          <a:effectLst/>
                          <a:latin typeface="+mj-ea"/>
                          <a:ea typeface="+mj-ea"/>
                        </a:rPr>
                        <a:t>(2</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명</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en-US" altLang="ko-KR" sz="1000" b="0" kern="0" spc="0" dirty="0">
                          <a:solidFill>
                            <a:schemeClr val="bg1"/>
                          </a:solidFill>
                          <a:effectLst/>
                          <a:latin typeface="+mj-ea"/>
                          <a:ea typeface="+mj-ea"/>
                        </a:rPr>
                        <a:t>(2</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설명</a:t>
                      </a:r>
                    </a:p>
                  </a:txBody>
                  <a:tcPr marL="36000" marR="36000" marT="18000" marB="1800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1779197449"/>
                  </a:ext>
                </a:extLst>
              </a:tr>
              <a:tr h="109259">
                <a:tc rowSpan="3">
                  <a:txBody>
                    <a:bodyPr/>
                    <a:lstStyle/>
                    <a:p>
                      <a:pPr marL="0" marR="0" indent="0" algn="ctr" fontAlgn="base" latinLnBrk="0">
                        <a:lnSpc>
                          <a:spcPct val="100000"/>
                        </a:lnSpc>
                        <a:buNone/>
                      </a:pPr>
                      <a:r>
                        <a:rPr lang="ko-KR" altLang="en-US" sz="1000" kern="0" spc="0">
                          <a:solidFill>
                            <a:srgbClr val="000000"/>
                          </a:solidFill>
                          <a:effectLst/>
                          <a:latin typeface="+mj-ea"/>
                          <a:ea typeface="+mj-ea"/>
                        </a:rPr>
                        <a:t>가상훈련</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실습 장비 사용의 용이성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훈련 과정에서 다뤄야 하는 장비가 고가이거나 특수하여 구입</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설치</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이동이 어렵고 접근이 제한적인 경우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가상 시뮬레이션을 통해 비용</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공간</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시간 등의 제약을 해소하고 효과적으로 실습 훈련을 대체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보완 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098564"/>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반복훈련 적합도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명확한 작업 절차와 수행 행동을 포함하는 능력단위에서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집체 훈련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실습 전에 가상훈련을 반복 실시하여 숙련도와 학습성과를 향상시킬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8880665"/>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안전환경 확보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고온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고전압</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유해화학물질 등 고위험 작업 요소가 포함된 능력단위에서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훈련생이 안전한 환경에서 훈련을 시작하고 수행할 수 있도록 가상훈련을 적용하는 것이 적합한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38846"/>
                  </a:ext>
                </a:extLst>
              </a:tr>
              <a:tr h="109259">
                <a:tc rowSpan="3">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이러닝</a:t>
                      </a: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err="1">
                          <a:solidFill>
                            <a:srgbClr val="000000"/>
                          </a:solidFill>
                          <a:effectLst/>
                          <a:latin typeface="+mj-ea"/>
                          <a:ea typeface="+mj-ea"/>
                        </a:rPr>
                        <a:t>비대면</a:t>
                      </a:r>
                      <a:r>
                        <a:rPr lang="ko-KR" altLang="en-US" sz="1000" kern="0" spc="0" dirty="0">
                          <a:solidFill>
                            <a:srgbClr val="000000"/>
                          </a:solidFill>
                          <a:effectLst/>
                          <a:latin typeface="+mj-ea"/>
                          <a:ea typeface="+mj-ea"/>
                        </a:rPr>
                        <a:t> 학습 가능성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동료나 강사와의 실시간 상호작용이나 대면 협업</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피드백 없이</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콘텐츠 중심의 자기주도 학습과 비동기적 상호작용만으로도 학습목표를 달성할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351599"/>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dirty="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이론 중심 학습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해당 능력단위가 장비 실습보다 이론</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절차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사례 등의 이해를 중심으로 학습할 수 있도록 구성되어 있으며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언어적 설명과 시각 자료를 통해 온라인 또는 혼합훈련</a:t>
                      </a:r>
                      <a:r>
                        <a:rPr lang="en-US" altLang="ko-KR" sz="1000" kern="0" spc="0" dirty="0">
                          <a:solidFill>
                            <a:srgbClr val="000000"/>
                          </a:solidFill>
                          <a:effectLst/>
                          <a:latin typeface="+mj-ea"/>
                          <a:ea typeface="+mj-ea"/>
                        </a:rPr>
                        <a:t>(</a:t>
                      </a:r>
                      <a:r>
                        <a:rPr lang="ko-KR" altLang="en-US" sz="1000" kern="0" spc="0" dirty="0" err="1">
                          <a:solidFill>
                            <a:srgbClr val="000000"/>
                          </a:solidFill>
                          <a:effectLst/>
                          <a:latin typeface="+mj-ea"/>
                          <a:ea typeface="+mj-ea"/>
                        </a:rPr>
                        <a:t>블렌디드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방식으로 학습목표를 달성할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759522"/>
                  </a:ext>
                </a:extLst>
              </a:tr>
              <a:tr h="109259">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자기주도 학습 적합성</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학습자가 개인 진도와 속도에 맞춰 반복 학습을 수행하며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교수자의 직접적인 도움 없이도 학습 내용을 이해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숙지하여 학습 성과를 향상시킬 수 있는 정도</a:t>
                      </a:r>
                    </a:p>
                  </a:txBody>
                  <a:tcPr marL="36000" marR="36000" marT="18000" marB="180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3784782"/>
                  </a:ext>
                </a:extLst>
              </a:tr>
            </a:tbl>
          </a:graphicData>
        </a:graphic>
      </p:graphicFrame>
      <p:graphicFrame>
        <p:nvGraphicFramePr>
          <p:cNvPr id="12" name="표 11">
            <a:extLst>
              <a:ext uri="{FF2B5EF4-FFF2-40B4-BE49-F238E27FC236}">
                <a16:creationId xmlns:a16="http://schemas.microsoft.com/office/drawing/2014/main" id="{D7A9DA51-C90F-33EC-1F00-28EC433F0AF7}"/>
              </a:ext>
            </a:extLst>
          </p:cNvPr>
          <p:cNvGraphicFramePr>
            <a:graphicFrameLocks noGrp="1"/>
          </p:cNvGraphicFramePr>
          <p:nvPr>
            <p:extLst>
              <p:ext uri="{D42A27DB-BD31-4B8C-83A1-F6EECF244321}">
                <p14:modId xmlns:p14="http://schemas.microsoft.com/office/powerpoint/2010/main" val="3274180292"/>
              </p:ext>
            </p:extLst>
          </p:nvPr>
        </p:nvGraphicFramePr>
        <p:xfrm>
          <a:off x="594019" y="4876800"/>
          <a:ext cx="8751593" cy="1612904"/>
        </p:xfrm>
        <a:graphic>
          <a:graphicData uri="http://schemas.openxmlformats.org/drawingml/2006/table">
            <a:tbl>
              <a:tblPr/>
              <a:tblGrid>
                <a:gridCol w="396163">
                  <a:extLst>
                    <a:ext uri="{9D8B030D-6E8A-4147-A177-3AD203B41FA5}">
                      <a16:colId xmlns:a16="http://schemas.microsoft.com/office/drawing/2014/main" val="1366230401"/>
                    </a:ext>
                  </a:extLst>
                </a:gridCol>
                <a:gridCol w="324133">
                  <a:extLst>
                    <a:ext uri="{9D8B030D-6E8A-4147-A177-3AD203B41FA5}">
                      <a16:colId xmlns:a16="http://schemas.microsoft.com/office/drawing/2014/main" val="3553679815"/>
                    </a:ext>
                  </a:extLst>
                </a:gridCol>
                <a:gridCol w="1188488">
                  <a:extLst>
                    <a:ext uri="{9D8B030D-6E8A-4147-A177-3AD203B41FA5}">
                      <a16:colId xmlns:a16="http://schemas.microsoft.com/office/drawing/2014/main" val="483978240"/>
                    </a:ext>
                  </a:extLst>
                </a:gridCol>
                <a:gridCol w="6338602">
                  <a:extLst>
                    <a:ext uri="{9D8B030D-6E8A-4147-A177-3AD203B41FA5}">
                      <a16:colId xmlns:a16="http://schemas.microsoft.com/office/drawing/2014/main" val="3135895096"/>
                    </a:ext>
                  </a:extLst>
                </a:gridCol>
                <a:gridCol w="504207">
                  <a:extLst>
                    <a:ext uri="{9D8B030D-6E8A-4147-A177-3AD203B41FA5}">
                      <a16:colId xmlns:a16="http://schemas.microsoft.com/office/drawing/2014/main" val="471607453"/>
                    </a:ext>
                  </a:extLst>
                </a:gridCol>
              </a:tblGrid>
              <a:tr h="201613">
                <a:tc>
                  <a:txBody>
                    <a:bodyPr/>
                    <a:lstStyle/>
                    <a:p>
                      <a:pPr marL="0" marR="0" indent="0" algn="ctr" fontAlgn="base" latinLnBrk="0" hangingPunct="1">
                        <a:lnSpc>
                          <a:spcPct val="100000"/>
                        </a:lnSpc>
                        <a:buNone/>
                      </a:pPr>
                      <a:r>
                        <a:rPr lang="ko-KR" altLang="en-US" sz="1000" b="0" kern="0" spc="0" dirty="0">
                          <a:solidFill>
                            <a:schemeClr val="bg1"/>
                          </a:solidFill>
                          <a:effectLst/>
                          <a:latin typeface="+mj-ea"/>
                          <a:ea typeface="+mj-ea"/>
                        </a:rPr>
                        <a:t>구분</a:t>
                      </a:r>
                    </a:p>
                  </a:txBody>
                  <a:tcPr marL="36000" marR="36000" marT="10800" marB="1080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marL="0" marR="0" indent="0" algn="ctr" fontAlgn="base" latinLnBrk="0" hangingPunct="1">
                        <a:lnSpc>
                          <a:spcPct val="100000"/>
                        </a:lnSpc>
                        <a:buNone/>
                      </a:pPr>
                      <a:r>
                        <a:rPr lang="ko-KR" altLang="en-US" sz="1000" b="0" kern="0" spc="0">
                          <a:solidFill>
                            <a:schemeClr val="bg1"/>
                          </a:solidFill>
                          <a:effectLst/>
                          <a:latin typeface="+mj-ea"/>
                          <a:ea typeface="+mj-ea"/>
                        </a:rPr>
                        <a:t>번호</a:t>
                      </a:r>
                    </a:p>
                  </a:txBody>
                  <a:tcPr marL="36000" marR="36000" marT="10800" marB="108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marL="0" marR="0" indent="0" algn="ctr" fontAlgn="base" latinLnBrk="0" hangingPunct="1">
                        <a:lnSpc>
                          <a:spcPct val="100000"/>
                        </a:lnSpc>
                        <a:buNone/>
                      </a:pPr>
                      <a:r>
                        <a:rPr lang="en-US" altLang="ko-KR" sz="1000" b="0" kern="0" spc="0" dirty="0">
                          <a:solidFill>
                            <a:schemeClr val="bg1"/>
                          </a:solidFill>
                          <a:effectLst/>
                          <a:latin typeface="+mj-ea"/>
                          <a:ea typeface="+mj-ea"/>
                        </a:rPr>
                        <a:t>(3</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명</a:t>
                      </a:r>
                    </a:p>
                  </a:txBody>
                  <a:tcPr marL="36000" marR="36000" marT="10800" marB="108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marL="0" marR="0" indent="0" algn="ctr" fontAlgn="base" latinLnBrk="0" hangingPunct="1">
                        <a:lnSpc>
                          <a:spcPct val="100000"/>
                        </a:lnSpc>
                        <a:buNone/>
                      </a:pPr>
                      <a:r>
                        <a:rPr lang="en-US" altLang="ko-KR" sz="1000" b="0" kern="0" spc="0" dirty="0">
                          <a:solidFill>
                            <a:schemeClr val="bg1"/>
                          </a:solidFill>
                          <a:effectLst/>
                          <a:latin typeface="+mj-ea"/>
                          <a:ea typeface="+mj-ea"/>
                        </a:rPr>
                        <a:t>(3</a:t>
                      </a:r>
                      <a:r>
                        <a:rPr lang="ko-KR" altLang="en-US" sz="1000" b="0" kern="0" spc="0" dirty="0">
                          <a:solidFill>
                            <a:schemeClr val="bg1"/>
                          </a:solidFill>
                          <a:effectLst/>
                          <a:latin typeface="+mj-ea"/>
                          <a:ea typeface="+mj-ea"/>
                        </a:rPr>
                        <a:t>차 수정</a:t>
                      </a:r>
                      <a:r>
                        <a:rPr lang="en-US" altLang="ko-KR" sz="1000" b="0" kern="0" spc="0" dirty="0">
                          <a:solidFill>
                            <a:schemeClr val="bg1"/>
                          </a:solidFill>
                          <a:effectLst/>
                          <a:latin typeface="+mj-ea"/>
                          <a:ea typeface="+mj-ea"/>
                        </a:rPr>
                        <a:t>) </a:t>
                      </a:r>
                      <a:r>
                        <a:rPr lang="ko-KR" altLang="en-US" sz="1000" b="0" kern="0" spc="0" dirty="0">
                          <a:solidFill>
                            <a:schemeClr val="bg1"/>
                          </a:solidFill>
                          <a:effectLst/>
                          <a:latin typeface="+mj-ea"/>
                          <a:ea typeface="+mj-ea"/>
                        </a:rPr>
                        <a:t>지표 설명</a:t>
                      </a:r>
                    </a:p>
                  </a:txBody>
                  <a:tcPr marL="36000" marR="36000" marT="10800" marB="108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marL="0" marR="0" indent="0" algn="ctr" fontAlgn="base" latinLnBrk="0" hangingPunct="1">
                        <a:lnSpc>
                          <a:spcPct val="100000"/>
                        </a:lnSpc>
                        <a:buNone/>
                      </a:pPr>
                      <a:r>
                        <a:rPr lang="ko-KR" altLang="en-US" sz="1000" b="0" kern="0" spc="0" dirty="0" err="1">
                          <a:solidFill>
                            <a:schemeClr val="bg1"/>
                          </a:solidFill>
                          <a:effectLst/>
                          <a:latin typeface="+mj-ea"/>
                          <a:ea typeface="+mj-ea"/>
                        </a:rPr>
                        <a:t>의견자</a:t>
                      </a:r>
                      <a:endParaRPr lang="ko-KR" altLang="en-US" sz="1000" b="0" kern="0" spc="0" dirty="0">
                        <a:solidFill>
                          <a:schemeClr val="bg1"/>
                        </a:solidFill>
                        <a:effectLst/>
                        <a:latin typeface="+mj-ea"/>
                        <a:ea typeface="+mj-ea"/>
                      </a:endParaRPr>
                    </a:p>
                  </a:txBody>
                  <a:tcPr marL="36000" marR="36000" marT="10800" marB="1080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564752558"/>
                  </a:ext>
                </a:extLst>
              </a:tr>
              <a:tr h="201613">
                <a:tc rowSpan="2">
                  <a:txBody>
                    <a:bodyPr/>
                    <a:lstStyle/>
                    <a:p>
                      <a:pPr marL="0" marR="0" indent="0" algn="ctr" fontAlgn="base" latinLnBrk="0" hangingPunct="1">
                        <a:lnSpc>
                          <a:spcPct val="100000"/>
                        </a:lnSpc>
                        <a:buNone/>
                      </a:pPr>
                      <a:r>
                        <a:rPr lang="ko-KR" altLang="en-US" sz="1000" b="0" kern="0" spc="0" dirty="0">
                          <a:solidFill>
                            <a:srgbClr val="000000"/>
                          </a:solidFill>
                          <a:effectLst/>
                          <a:latin typeface="+mj-ea"/>
                          <a:ea typeface="+mj-ea"/>
                        </a:rPr>
                        <a:t>가상훈련</a:t>
                      </a:r>
                    </a:p>
                  </a:txBody>
                  <a:tcPr marL="36000" marR="36000" marT="10800" marB="108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sz="1000" b="0" kern="0" spc="0" dirty="0">
                          <a:solidFill>
                            <a:srgbClr val="000000"/>
                          </a:solidFill>
                          <a:effectLst/>
                          <a:latin typeface="+mj-ea"/>
                          <a:ea typeface="+mj-ea"/>
                        </a:rPr>
                        <a:t>1</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ko-KR" altLang="en-US" sz="1000" b="0" kern="0" spc="0" dirty="0">
                          <a:solidFill>
                            <a:srgbClr val="000000"/>
                          </a:solidFill>
                          <a:effectLst/>
                          <a:latin typeface="+mj-ea"/>
                          <a:ea typeface="+mj-ea"/>
                        </a:rPr>
                        <a:t>실습 대체 보완 가능성</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spcBef>
                          <a:spcPts val="300"/>
                        </a:spcBef>
                        <a:spcAft>
                          <a:spcPts val="300"/>
                        </a:spcAft>
                        <a:buNone/>
                      </a:pPr>
                      <a:r>
                        <a:rPr lang="en-US" altLang="ko-KR" sz="1000" b="0" kern="0" spc="0" dirty="0">
                          <a:solidFill>
                            <a:srgbClr val="000000"/>
                          </a:solidFill>
                          <a:effectLst/>
                          <a:latin typeface="+mj-ea"/>
                          <a:ea typeface="+mj-ea"/>
                        </a:rPr>
                        <a:t>-</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spcBef>
                          <a:spcPts val="300"/>
                        </a:spcBef>
                        <a:spcAft>
                          <a:spcPts val="300"/>
                        </a:spcAft>
                        <a:buNone/>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426248"/>
                  </a:ext>
                </a:extLst>
              </a:tr>
              <a:tr h="201613">
                <a:tc vMerge="1">
                  <a:txBody>
                    <a:bodyPr/>
                    <a:lstStyle/>
                    <a:p>
                      <a:pPr latinLnBrk="1"/>
                      <a:endParaRPr lang="ko-KR" altLang="en-US"/>
                    </a:p>
                  </a:txBody>
                  <a:tcPr/>
                </a:tc>
                <a:tc>
                  <a:txBody>
                    <a:bodyPr/>
                    <a:lstStyle/>
                    <a:p>
                      <a:pPr marL="0" marR="0" indent="0" algn="ctr" fontAlgn="base" latinLnBrk="0" hangingPunct="1">
                        <a:lnSpc>
                          <a:spcPct val="100000"/>
                        </a:lnSpc>
                        <a:buNone/>
                      </a:pPr>
                      <a:r>
                        <a:rPr lang="en-US" sz="1000" b="0" kern="0" spc="0">
                          <a:solidFill>
                            <a:srgbClr val="000000"/>
                          </a:solidFill>
                          <a:effectLst/>
                          <a:latin typeface="+mj-ea"/>
                          <a:ea typeface="+mj-ea"/>
                        </a:rPr>
                        <a:t>2</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ko-KR" altLang="en-US" sz="1000" b="0" kern="0" spc="0">
                          <a:solidFill>
                            <a:srgbClr val="000000"/>
                          </a:solidFill>
                          <a:effectLst/>
                          <a:latin typeface="+mj-ea"/>
                          <a:ea typeface="+mj-ea"/>
                        </a:rPr>
                        <a:t>반복훈련 적합성</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spcBef>
                          <a:spcPts val="300"/>
                        </a:spcBef>
                        <a:spcAft>
                          <a:spcPts val="300"/>
                        </a:spcAft>
                        <a:buNone/>
                      </a:pPr>
                      <a:r>
                        <a:rPr lang="en-US" altLang="ko-KR" sz="1000" b="0" kern="0" spc="0" dirty="0">
                          <a:solidFill>
                            <a:srgbClr val="000000"/>
                          </a:solidFill>
                          <a:effectLst/>
                          <a:latin typeface="+mj-ea"/>
                          <a:ea typeface="+mj-ea"/>
                        </a:rPr>
                        <a:t>-</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309409"/>
                  </a:ext>
                </a:extLst>
              </a:tr>
              <a:tr h="201613">
                <a:tc rowSpan="4">
                  <a:txBody>
                    <a:bodyPr/>
                    <a:lstStyle/>
                    <a:p>
                      <a:pPr marL="0" marR="0" indent="0" algn="ctr" fontAlgn="base" latinLnBrk="0" hangingPunct="1">
                        <a:lnSpc>
                          <a:spcPct val="100000"/>
                        </a:lnSpc>
                        <a:buNone/>
                      </a:pPr>
                      <a:r>
                        <a:rPr lang="ko-KR" altLang="en-US" sz="1000" b="0" kern="0" spc="0" dirty="0">
                          <a:solidFill>
                            <a:srgbClr val="000000"/>
                          </a:solidFill>
                          <a:effectLst/>
                          <a:latin typeface="+mj-ea"/>
                          <a:ea typeface="+mj-ea"/>
                        </a:rPr>
                        <a:t>이</a:t>
                      </a:r>
                      <a:endParaRPr lang="en-US" altLang="ko-KR" sz="1000" b="0" kern="0" spc="0" dirty="0">
                        <a:solidFill>
                          <a:srgbClr val="000000"/>
                        </a:solidFill>
                        <a:effectLst/>
                        <a:latin typeface="+mj-ea"/>
                        <a:ea typeface="+mj-ea"/>
                      </a:endParaRPr>
                    </a:p>
                    <a:p>
                      <a:pPr marL="0" marR="0" indent="0" algn="ctr" fontAlgn="base" latinLnBrk="0" hangingPunct="1">
                        <a:lnSpc>
                          <a:spcPct val="100000"/>
                        </a:lnSpc>
                        <a:buNone/>
                      </a:pPr>
                      <a:r>
                        <a:rPr lang="ko-KR" altLang="en-US" sz="1000" b="0" kern="0" spc="0" dirty="0">
                          <a:solidFill>
                            <a:srgbClr val="000000"/>
                          </a:solidFill>
                          <a:effectLst/>
                          <a:latin typeface="+mj-ea"/>
                          <a:ea typeface="+mj-ea"/>
                        </a:rPr>
                        <a:t>러</a:t>
                      </a:r>
                      <a:endParaRPr lang="en-US" altLang="ko-KR" sz="1000" b="0" kern="0" spc="0" dirty="0">
                        <a:solidFill>
                          <a:srgbClr val="000000"/>
                        </a:solidFill>
                        <a:effectLst/>
                        <a:latin typeface="+mj-ea"/>
                        <a:ea typeface="+mj-ea"/>
                      </a:endParaRPr>
                    </a:p>
                    <a:p>
                      <a:pPr marL="0" marR="0" indent="0" algn="ctr" fontAlgn="base" latinLnBrk="0" hangingPunct="1">
                        <a:lnSpc>
                          <a:spcPct val="100000"/>
                        </a:lnSpc>
                        <a:buNone/>
                      </a:pPr>
                      <a:r>
                        <a:rPr lang="ko-KR" altLang="en-US" sz="1000" b="0" kern="0" spc="0" dirty="0" err="1">
                          <a:solidFill>
                            <a:srgbClr val="000000"/>
                          </a:solidFill>
                          <a:effectLst/>
                          <a:latin typeface="+mj-ea"/>
                          <a:ea typeface="+mj-ea"/>
                        </a:rPr>
                        <a:t>닝</a:t>
                      </a:r>
                      <a:endParaRPr lang="ko-KR" altLang="en-US" sz="1000" b="0" kern="0" spc="0" dirty="0">
                        <a:solidFill>
                          <a:srgbClr val="000000"/>
                        </a:solidFill>
                        <a:effectLst/>
                        <a:latin typeface="+mj-ea"/>
                        <a:ea typeface="+mj-ea"/>
                      </a:endParaRPr>
                    </a:p>
                  </a:txBody>
                  <a:tcPr marL="36000" marR="36000" marT="10800" marB="108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sz="1000" b="0" kern="0" spc="0" dirty="0">
                          <a:solidFill>
                            <a:srgbClr val="000000"/>
                          </a:solidFill>
                          <a:effectLst/>
                          <a:latin typeface="+mj-ea"/>
                          <a:ea typeface="+mj-ea"/>
                        </a:rPr>
                        <a:t>1</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altLang="ko-KR" sz="1000" b="0" kern="0" spc="0" dirty="0">
                          <a:solidFill>
                            <a:srgbClr val="000000"/>
                          </a:solidFill>
                          <a:effectLst/>
                          <a:latin typeface="+mj-ea"/>
                          <a:ea typeface="+mj-ea"/>
                        </a:rPr>
                        <a:t>-</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fontAlgn="base" latinLnBrk="0" hangingPunct="1">
                        <a:lnSpc>
                          <a:spcPct val="100000"/>
                        </a:lnSpc>
                        <a:spcBef>
                          <a:spcPts val="300"/>
                        </a:spcBef>
                        <a:spcAft>
                          <a:spcPts val="300"/>
                        </a:spcAft>
                        <a:buNone/>
                      </a:pPr>
                      <a:r>
                        <a:rPr lang="ko-KR" altLang="en-US" sz="1000" b="0" kern="0" spc="-150" baseline="0" dirty="0">
                          <a:solidFill>
                            <a:srgbClr val="000000"/>
                          </a:solidFill>
                          <a:effectLst/>
                          <a:latin typeface="+mj-ea"/>
                          <a:ea typeface="+mj-ea"/>
                        </a:rPr>
                        <a:t>동료나 강사와의 실시간 상호작용이나 대면 협업</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피드백 없이</a:t>
                      </a:r>
                      <a:r>
                        <a:rPr lang="en-US" altLang="ko-KR" sz="1000" b="0" kern="0" spc="-150" baseline="0" dirty="0">
                          <a:solidFill>
                            <a:srgbClr val="000000"/>
                          </a:solidFill>
                          <a:effectLst/>
                          <a:latin typeface="+mj-ea"/>
                          <a:ea typeface="+mj-ea"/>
                        </a:rPr>
                        <a:t>, </a:t>
                      </a:r>
                      <a:r>
                        <a:rPr lang="ko-KR" altLang="en-US" sz="1000" b="0" kern="0" spc="-150" baseline="0" dirty="0">
                          <a:solidFill>
                            <a:srgbClr val="000000"/>
                          </a:solidFill>
                          <a:effectLst/>
                          <a:latin typeface="+mj-ea"/>
                          <a:ea typeface="+mj-ea"/>
                        </a:rPr>
                        <a:t>콘텐츠 중심의 자기주도 학습과 비동기적 상호작용만으로도 학습목표를 달성할 수 있는 정도</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spcBef>
                          <a:spcPts val="300"/>
                        </a:spcBef>
                        <a:spcAft>
                          <a:spcPts val="300"/>
                        </a:spcAft>
                        <a:buNone/>
                      </a:pPr>
                      <a:r>
                        <a:rPr lang="ko-KR" altLang="en-US" sz="1000" b="0" kern="0" spc="0" dirty="0">
                          <a:solidFill>
                            <a:srgbClr val="000000"/>
                          </a:solidFill>
                          <a:effectLst/>
                          <a:latin typeface="+mj-ea"/>
                          <a:ea typeface="+mj-ea"/>
                        </a:rPr>
                        <a:t>전문가</a:t>
                      </a: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48916"/>
                  </a:ext>
                </a:extLst>
              </a:tr>
              <a:tr h="201613">
                <a:tc vMerge="1">
                  <a:txBody>
                    <a:bodyPr/>
                    <a:lstStyle/>
                    <a:p>
                      <a:endParaRPr dirty="0"/>
                    </a:p>
                  </a:txBody>
                  <a:tcPr marL="36000" marR="36000" marT="10800" marB="108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sz="1000" b="0" kern="0" spc="0">
                          <a:solidFill>
                            <a:srgbClr val="000000"/>
                          </a:solidFill>
                          <a:effectLst/>
                          <a:latin typeface="+mj-ea"/>
                          <a:ea typeface="+mj-ea"/>
                        </a:rPr>
                        <a:t>2</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altLang="ko-KR" sz="1000" b="0" kern="0" spc="0" dirty="0">
                          <a:solidFill>
                            <a:srgbClr val="000000"/>
                          </a:solidFill>
                          <a:effectLst/>
                          <a:latin typeface="+mj-ea"/>
                          <a:ea typeface="+mj-ea"/>
                        </a:rPr>
                        <a:t>-</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fontAlgn="base" latinLnBrk="0" hangingPunct="1">
                        <a:lnSpc>
                          <a:spcPct val="100000"/>
                        </a:lnSpc>
                        <a:spcBef>
                          <a:spcPts val="300"/>
                        </a:spcBef>
                        <a:spcAft>
                          <a:spcPts val="300"/>
                        </a:spcAft>
                        <a:buNone/>
                      </a:pPr>
                      <a:r>
                        <a:rPr lang="ko-KR" altLang="en-US" sz="1000" b="0" kern="0" spc="-150" baseline="0" dirty="0">
                          <a:solidFill>
                            <a:srgbClr val="000000"/>
                          </a:solidFill>
                          <a:effectLst/>
                          <a:latin typeface="+mj-ea"/>
                          <a:ea typeface="+mj-ea"/>
                        </a:rPr>
                        <a:t>동료나 강사의 실시간 상호작용이나 대면</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협업이 필수적이지 않고</a:t>
                      </a:r>
                      <a:r>
                        <a:rPr lang="en-US" altLang="ko-KR" sz="1000" b="0" kern="0" spc="-150" baseline="0" dirty="0">
                          <a:solidFill>
                            <a:srgbClr val="000000"/>
                          </a:solidFill>
                          <a:effectLst/>
                          <a:latin typeface="+mj-ea"/>
                          <a:ea typeface="+mj-ea"/>
                        </a:rPr>
                        <a:t>, </a:t>
                      </a:r>
                      <a:r>
                        <a:rPr lang="ko-KR" altLang="en-US" sz="1000" b="0" kern="0" spc="-150" baseline="0" dirty="0">
                          <a:solidFill>
                            <a:srgbClr val="000000"/>
                          </a:solidFill>
                          <a:effectLst/>
                          <a:latin typeface="+mj-ea"/>
                          <a:ea typeface="+mj-ea"/>
                        </a:rPr>
                        <a:t>콘텐츠와 비동기적 학습 활동만으로도 학습목표를 달성할 수 있는 정도</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407541"/>
                  </a:ext>
                </a:extLst>
              </a:tr>
              <a:tr h="201613">
                <a:tc vMerge="1">
                  <a:txBody>
                    <a:bodyPr/>
                    <a:lstStyle/>
                    <a:p>
                      <a:pPr latinLnBrk="1"/>
                      <a:endParaRPr lang="ko-KR" altLang="en-US"/>
                    </a:p>
                  </a:txBody>
                  <a:tcPr/>
                </a:tc>
                <a:tc>
                  <a:txBody>
                    <a:bodyPr/>
                    <a:lstStyle/>
                    <a:p>
                      <a:pPr marL="0" marR="0" indent="0" algn="ctr" fontAlgn="base" latinLnBrk="0" hangingPunct="1">
                        <a:lnSpc>
                          <a:spcPct val="100000"/>
                        </a:lnSpc>
                        <a:buNone/>
                      </a:pPr>
                      <a:r>
                        <a:rPr lang="en-US" sz="1000" b="0" kern="0" spc="0">
                          <a:solidFill>
                            <a:srgbClr val="000000"/>
                          </a:solidFill>
                          <a:effectLst/>
                          <a:latin typeface="+mj-ea"/>
                          <a:ea typeface="+mj-ea"/>
                        </a:rPr>
                        <a:t>2</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ko-KR" altLang="en-US" sz="1000" b="0" kern="0" spc="-150" dirty="0">
                          <a:solidFill>
                            <a:srgbClr val="000000"/>
                          </a:solidFill>
                          <a:effectLst/>
                          <a:latin typeface="+mj-ea"/>
                          <a:ea typeface="+mj-ea"/>
                        </a:rPr>
                        <a:t>온라인 기반 학습 적합성</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fontAlgn="base" latinLnBrk="0" hangingPunct="1">
                        <a:lnSpc>
                          <a:spcPct val="100000"/>
                        </a:lnSpc>
                        <a:spcBef>
                          <a:spcPts val="300"/>
                        </a:spcBef>
                        <a:spcAft>
                          <a:spcPts val="300"/>
                        </a:spcAft>
                        <a:buNone/>
                      </a:pPr>
                      <a:r>
                        <a:rPr lang="ko-KR" altLang="en-US" sz="1000" b="0" kern="0" spc="-150" baseline="0" dirty="0">
                          <a:solidFill>
                            <a:srgbClr val="000000"/>
                          </a:solidFill>
                          <a:effectLst/>
                          <a:latin typeface="+mj-ea"/>
                          <a:ea typeface="+mj-ea"/>
                        </a:rPr>
                        <a:t>해당 능력단위가 이론</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절차</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사례 중심으로 구성되어 있으며</a:t>
                      </a:r>
                      <a:r>
                        <a:rPr lang="en-US" altLang="ko-KR" sz="1000" b="0" kern="0" spc="-150" baseline="0" dirty="0">
                          <a:solidFill>
                            <a:srgbClr val="000000"/>
                          </a:solidFill>
                          <a:effectLst/>
                          <a:latin typeface="+mj-ea"/>
                          <a:ea typeface="+mj-ea"/>
                        </a:rPr>
                        <a:t>, </a:t>
                      </a:r>
                      <a:r>
                        <a:rPr lang="ko-KR" altLang="en-US" sz="1000" b="0" kern="0" spc="-150" baseline="0" dirty="0">
                          <a:solidFill>
                            <a:srgbClr val="000000"/>
                          </a:solidFill>
                          <a:effectLst/>
                          <a:latin typeface="+mj-ea"/>
                          <a:ea typeface="+mj-ea"/>
                        </a:rPr>
                        <a:t>온라인 또는 혼합훈련</a:t>
                      </a:r>
                      <a:r>
                        <a:rPr lang="en-US" altLang="ko-KR" sz="1000" b="0" kern="0" spc="-150" baseline="0" dirty="0">
                          <a:solidFill>
                            <a:srgbClr val="000000"/>
                          </a:solidFill>
                          <a:effectLst/>
                          <a:latin typeface="+mj-ea"/>
                          <a:ea typeface="+mj-ea"/>
                        </a:rPr>
                        <a:t>(</a:t>
                      </a:r>
                      <a:r>
                        <a:rPr lang="ko-KR" altLang="en-US" sz="1000" b="0" kern="0" spc="-150" baseline="0" dirty="0" err="1">
                          <a:solidFill>
                            <a:srgbClr val="000000"/>
                          </a:solidFill>
                          <a:effectLst/>
                          <a:latin typeface="+mj-ea"/>
                          <a:ea typeface="+mj-ea"/>
                        </a:rPr>
                        <a:t>블렌디드</a:t>
                      </a:r>
                      <a:r>
                        <a:rPr lang="en-US" altLang="ko-KR" sz="1000" b="0" kern="0" spc="-150" baseline="0" dirty="0">
                          <a:solidFill>
                            <a:srgbClr val="000000"/>
                          </a:solidFill>
                          <a:effectLst/>
                          <a:latin typeface="+mj-ea"/>
                          <a:ea typeface="+mj-ea"/>
                        </a:rPr>
                        <a:t>) </a:t>
                      </a:r>
                      <a:r>
                        <a:rPr lang="ko-KR" altLang="en-US" sz="1000" b="0" kern="0" spc="-150" baseline="0" dirty="0">
                          <a:solidFill>
                            <a:srgbClr val="000000"/>
                          </a:solidFill>
                          <a:effectLst/>
                          <a:latin typeface="+mj-ea"/>
                          <a:ea typeface="+mj-ea"/>
                        </a:rPr>
                        <a:t>방식으로 학습목표를 달성할 수 있는 정도</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3571062"/>
                  </a:ext>
                </a:extLst>
              </a:tr>
              <a:tr h="201613">
                <a:tc vMerge="1">
                  <a:txBody>
                    <a:bodyPr/>
                    <a:lstStyle/>
                    <a:p>
                      <a:pPr latinLnBrk="1"/>
                      <a:endParaRPr lang="ko-KR" altLang="en-US"/>
                    </a:p>
                  </a:txBody>
                  <a:tcPr/>
                </a:tc>
                <a:tc>
                  <a:txBody>
                    <a:bodyPr/>
                    <a:lstStyle/>
                    <a:p>
                      <a:pPr marL="0" marR="0" indent="0" algn="ctr" fontAlgn="base" latinLnBrk="0" hangingPunct="1">
                        <a:lnSpc>
                          <a:spcPct val="100000"/>
                        </a:lnSpc>
                        <a:buNone/>
                      </a:pPr>
                      <a:r>
                        <a:rPr lang="en-US" sz="1000" b="0" kern="0" spc="0">
                          <a:solidFill>
                            <a:srgbClr val="000000"/>
                          </a:solidFill>
                          <a:effectLst/>
                          <a:latin typeface="+mj-ea"/>
                          <a:ea typeface="+mj-ea"/>
                        </a:rPr>
                        <a:t>3</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hangingPunct="1">
                        <a:lnSpc>
                          <a:spcPct val="100000"/>
                        </a:lnSpc>
                        <a:buNone/>
                      </a:pPr>
                      <a:r>
                        <a:rPr lang="en-US" altLang="ko-KR" sz="1000" b="0" kern="0" spc="0" dirty="0">
                          <a:solidFill>
                            <a:srgbClr val="000000"/>
                          </a:solidFill>
                          <a:effectLst/>
                          <a:latin typeface="+mj-ea"/>
                          <a:ea typeface="+mj-ea"/>
                        </a:rPr>
                        <a:t>-</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fontAlgn="base" latinLnBrk="0" hangingPunct="1">
                        <a:lnSpc>
                          <a:spcPct val="100000"/>
                        </a:lnSpc>
                        <a:spcBef>
                          <a:spcPts val="300"/>
                        </a:spcBef>
                        <a:spcAft>
                          <a:spcPts val="300"/>
                        </a:spcAft>
                        <a:buNone/>
                      </a:pPr>
                      <a:r>
                        <a:rPr lang="ko-KR" altLang="en-US" sz="1000" b="0" kern="0" spc="-150" baseline="0" dirty="0">
                          <a:solidFill>
                            <a:srgbClr val="000000"/>
                          </a:solidFill>
                          <a:effectLst/>
                          <a:latin typeface="+mj-ea"/>
                          <a:ea typeface="+mj-ea"/>
                        </a:rPr>
                        <a:t>학습자가 개인 진도와 속도를 스스로 조절하며 반복 학습을 수행하고</a:t>
                      </a:r>
                      <a:r>
                        <a:rPr lang="en-US" altLang="ko-KR" sz="1000" b="0" kern="0" spc="-150" baseline="0" dirty="0">
                          <a:solidFill>
                            <a:srgbClr val="000000"/>
                          </a:solidFill>
                          <a:effectLst/>
                          <a:latin typeface="+mj-ea"/>
                          <a:ea typeface="+mj-ea"/>
                        </a:rPr>
                        <a:t>, </a:t>
                      </a:r>
                      <a:r>
                        <a:rPr lang="ko-KR" altLang="en-US" sz="1000" b="0" kern="0" spc="-150" baseline="0" dirty="0" err="1">
                          <a:solidFill>
                            <a:srgbClr val="000000"/>
                          </a:solidFill>
                          <a:effectLst/>
                          <a:latin typeface="+mj-ea"/>
                          <a:ea typeface="+mj-ea"/>
                        </a:rPr>
                        <a:t>교수자</a:t>
                      </a:r>
                      <a:r>
                        <a:rPr lang="ko-KR" altLang="en-US" sz="1000" b="0" kern="0" spc="-150" baseline="0" dirty="0">
                          <a:solidFill>
                            <a:srgbClr val="000000"/>
                          </a:solidFill>
                          <a:effectLst/>
                          <a:latin typeface="+mj-ea"/>
                          <a:ea typeface="+mj-ea"/>
                        </a:rPr>
                        <a:t> 개입 없이 학습 내용을 이해</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숙지하여 학습 성과를 관리</a:t>
                      </a:r>
                      <a:r>
                        <a:rPr lang="en-US" altLang="ko-KR" sz="1000" b="0" kern="0" spc="-150" baseline="0" dirty="0">
                          <a:solidFill>
                            <a:srgbClr val="000000"/>
                          </a:solidFill>
                          <a:effectLst/>
                          <a:latin typeface="+mj-ea"/>
                          <a:ea typeface="+mj-ea"/>
                        </a:rPr>
                        <a:t>·</a:t>
                      </a:r>
                      <a:r>
                        <a:rPr lang="ko-KR" altLang="en-US" sz="1000" b="0" kern="0" spc="-150" baseline="0" dirty="0">
                          <a:solidFill>
                            <a:srgbClr val="000000"/>
                          </a:solidFill>
                          <a:effectLst/>
                          <a:latin typeface="+mj-ea"/>
                          <a:ea typeface="+mj-ea"/>
                        </a:rPr>
                        <a:t>향상시킬 수 있는 정도</a:t>
                      </a: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4789500"/>
                  </a:ext>
                </a:extLst>
              </a:tr>
              <a:tr h="201613">
                <a:tc>
                  <a:txBody>
                    <a:bodyPr/>
                    <a:lstStyle/>
                    <a:p>
                      <a:pPr marL="0" marR="0" indent="0" algn="ctr" fontAlgn="base" latinLnBrk="0" hangingPunct="1">
                        <a:lnSpc>
                          <a:spcPct val="100000"/>
                        </a:lnSpc>
                        <a:buNone/>
                      </a:pPr>
                      <a:r>
                        <a:rPr lang="ko-KR" altLang="en-US" sz="1000" b="0" kern="0" spc="0" dirty="0">
                          <a:solidFill>
                            <a:srgbClr val="000000"/>
                          </a:solidFill>
                          <a:effectLst/>
                          <a:latin typeface="+mj-ea"/>
                          <a:ea typeface="+mj-ea"/>
                        </a:rPr>
                        <a:t>척도</a:t>
                      </a:r>
                    </a:p>
                  </a:txBody>
                  <a:tcPr marL="36000" marR="36000" marT="10800" marB="108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marL="0" marR="0" indent="0" algn="ctr" fontAlgn="base" latinLnBrk="0" hangingPunct="1">
                        <a:lnSpc>
                          <a:spcPct val="100000"/>
                        </a:lnSpc>
                        <a:buNone/>
                      </a:pPr>
                      <a:r>
                        <a:rPr lang="en-US" sz="1000" b="0" kern="0" spc="0" dirty="0">
                          <a:solidFill>
                            <a:srgbClr val="000000"/>
                          </a:solidFill>
                          <a:effectLst/>
                          <a:latin typeface="+mj-ea"/>
                          <a:ea typeface="+mj-ea"/>
                        </a:rPr>
                        <a:t>7</a:t>
                      </a:r>
                      <a:r>
                        <a:rPr lang="ko-KR" altLang="en-US" sz="1000" b="0" kern="0" spc="0" dirty="0">
                          <a:solidFill>
                            <a:srgbClr val="000000"/>
                          </a:solidFill>
                          <a:effectLst/>
                          <a:latin typeface="+mj-ea"/>
                          <a:ea typeface="+mj-ea"/>
                        </a:rPr>
                        <a:t>점 척도로 진행하되</a:t>
                      </a:r>
                      <a:r>
                        <a:rPr lang="en-US" altLang="ko-KR" sz="1000" b="0" kern="0" spc="0" dirty="0">
                          <a:solidFill>
                            <a:srgbClr val="000000"/>
                          </a:solidFill>
                          <a:effectLst/>
                          <a:latin typeface="+mj-ea"/>
                          <a:ea typeface="+mj-ea"/>
                        </a:rPr>
                        <a:t>, </a:t>
                      </a:r>
                      <a:r>
                        <a:rPr lang="ko-KR" altLang="en-US" sz="1000" b="0" kern="0" spc="0" dirty="0">
                          <a:solidFill>
                            <a:srgbClr val="000000"/>
                          </a:solidFill>
                          <a:effectLst/>
                          <a:latin typeface="+mj-ea"/>
                          <a:ea typeface="+mj-ea"/>
                        </a:rPr>
                        <a:t>척도에 대한 설명을 제시하여 평가자에게 평가 기준을 제공</a:t>
                      </a:r>
                      <a:endParaRPr 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indent="0" algn="ctr" fontAlgn="base" latinLnBrk="0">
                        <a:lnSpc>
                          <a:spcPct val="100000"/>
                        </a:lnSpc>
                        <a:buNone/>
                      </a:pPr>
                      <a:endParaRPr lang="ko-KR" altLang="en-US" sz="1000" kern="0" spc="0" dirty="0">
                        <a:solidFill>
                          <a:srgbClr val="000000"/>
                        </a:solidFill>
                        <a:effectLst/>
                        <a:latin typeface="a고딕12" panose="02020600000000000000" pitchFamily="18" charset="-127"/>
                        <a:ea typeface="a고딕12" panose="02020600000000000000" pitchFamily="18" charset="-127"/>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fontAlgn="base" latinLnBrk="0">
                        <a:lnSpc>
                          <a:spcPct val="100000"/>
                        </a:lnSpc>
                        <a:spcBef>
                          <a:spcPts val="300"/>
                        </a:spcBef>
                        <a:spcAft>
                          <a:spcPts val="300"/>
                        </a:spcAft>
                        <a:buNone/>
                      </a:pPr>
                      <a:endParaRPr lang="ko-KR" altLang="en-US" sz="1000" kern="0" spc="0" dirty="0">
                        <a:solidFill>
                          <a:srgbClr val="000000"/>
                        </a:solidFill>
                        <a:effectLst/>
                        <a:latin typeface="a고딕12" panose="02020600000000000000" pitchFamily="18" charset="-127"/>
                        <a:ea typeface="a고딕12" panose="02020600000000000000" pitchFamily="18" charset="-127"/>
                      </a:endParaRPr>
                    </a:p>
                  </a:txBody>
                  <a:tcPr marL="36000" marR="36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lang="ko-KR" altLang="en-US" sz="1000" b="0" kern="0" spc="0" dirty="0" err="1">
                          <a:solidFill>
                            <a:srgbClr val="000000"/>
                          </a:solidFill>
                          <a:effectLst/>
                          <a:latin typeface="+mj-ea"/>
                          <a:ea typeface="+mj-ea"/>
                        </a:rPr>
                        <a:t>온평원</a:t>
                      </a:r>
                      <a:endParaRPr lang="ko-KR" altLang="en-US" sz="1000" b="0" kern="0" spc="0" dirty="0">
                        <a:solidFill>
                          <a:srgbClr val="000000"/>
                        </a:solidFill>
                        <a:effectLst/>
                        <a:latin typeface="+mj-ea"/>
                        <a:ea typeface="+mj-ea"/>
                      </a:endParaRPr>
                    </a:p>
                  </a:txBody>
                  <a:tcPr marL="36000" marR="36000" marT="10800" marB="1080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4234589"/>
                  </a:ext>
                </a:extLst>
              </a:tr>
            </a:tbl>
          </a:graphicData>
        </a:graphic>
      </p:graphicFrame>
      <p:pic>
        <p:nvPicPr>
          <p:cNvPr id="18" name="Picture 22" descr="E:\포폴정리\멀캠\개체\자주쓰는 PNG\화살표2.png">
            <a:extLst>
              <a:ext uri="{FF2B5EF4-FFF2-40B4-BE49-F238E27FC236}">
                <a16:creationId xmlns:a16="http://schemas.microsoft.com/office/drawing/2014/main" id="{750D783B-ABF7-55C2-692A-1E7CC1FF675E}"/>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10800000" flipV="1">
            <a:off x="596899" y="4286514"/>
            <a:ext cx="8712585" cy="482329"/>
          </a:xfrm>
          <a:prstGeom prst="rect">
            <a:avLst/>
          </a:prstGeom>
          <a:noFill/>
        </p:spPr>
      </p:pic>
    </p:spTree>
    <p:extLst>
      <p:ext uri="{BB962C8B-B14F-4D97-AF65-F5344CB8AC3E}">
        <p14:creationId xmlns:p14="http://schemas.microsoft.com/office/powerpoint/2010/main" val="459223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9488-8C08-0212-D0A6-CFA46A295DB9}"/>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0B7078E-833E-A67E-8A72-0DAE6716A6A3}"/>
              </a:ext>
            </a:extLst>
          </p:cNvPr>
          <p:cNvSpPr>
            <a:spLocks noGrp="1"/>
          </p:cNvSpPr>
          <p:nvPr>
            <p:ph type="body" sz="quarter" idx="12"/>
          </p:nvPr>
        </p:nvSpPr>
        <p:spPr/>
        <p:txBody>
          <a:bodyPr/>
          <a:lstStyle/>
          <a:p>
            <a:pPr latinLnBrk="0"/>
            <a:r>
              <a:rPr lang="ko-KR" altLang="en-US" sz="1800" dirty="0"/>
              <a:t>총 </a:t>
            </a:r>
            <a:r>
              <a:rPr lang="en-US" altLang="ko-KR" sz="1800" dirty="0"/>
              <a:t>3</a:t>
            </a:r>
            <a:r>
              <a:rPr lang="ko-KR" altLang="en-US" sz="1800" dirty="0"/>
              <a:t>회의 전문가 자문을 거쳐 적합성 평가 지표를 최종 확정하였으며</a:t>
            </a:r>
            <a:r>
              <a:rPr lang="en-US" altLang="ko-KR" sz="1800" dirty="0"/>
              <a:t>, </a:t>
            </a:r>
            <a:r>
              <a:rPr lang="ko-KR" altLang="en-US" sz="1800" dirty="0"/>
              <a:t>평가 지표 척도와 함께 결과 분석 및 활용방안을 종합적으로 마련하였음</a:t>
            </a:r>
          </a:p>
        </p:txBody>
      </p:sp>
      <p:sp>
        <p:nvSpPr>
          <p:cNvPr id="5" name="텍스트 개체 틀 4">
            <a:extLst>
              <a:ext uri="{FF2B5EF4-FFF2-40B4-BE49-F238E27FC236}">
                <a16:creationId xmlns:a16="http://schemas.microsoft.com/office/drawing/2014/main" id="{F0B77E34-2398-A088-5223-488E4D189D90}"/>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B2AA6CFE-D891-AC41-BF66-24662B326CE8}"/>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A18B2792-29C1-D38E-F685-C2AC10887289}"/>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E997E8AC-E455-BF36-46AC-436FBCBCC166}"/>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992C8E88-90D0-B419-1069-17CE24BE4864}"/>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적합성 평가지표 개발 및 확정 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C6D6BE40-8DC4-564D-4C34-2CA23E295F97}"/>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3" name="표 2">
            <a:extLst>
              <a:ext uri="{FF2B5EF4-FFF2-40B4-BE49-F238E27FC236}">
                <a16:creationId xmlns:a16="http://schemas.microsoft.com/office/drawing/2014/main" id="{6679FC15-BCF7-65A5-98DF-F327C585200A}"/>
              </a:ext>
            </a:extLst>
          </p:cNvPr>
          <p:cNvGraphicFramePr>
            <a:graphicFrameLocks noGrp="1"/>
          </p:cNvGraphicFramePr>
          <p:nvPr>
            <p:extLst>
              <p:ext uri="{D42A27DB-BD31-4B8C-83A1-F6EECF244321}">
                <p14:modId xmlns:p14="http://schemas.microsoft.com/office/powerpoint/2010/main" val="3176219437"/>
              </p:ext>
            </p:extLst>
          </p:nvPr>
        </p:nvGraphicFramePr>
        <p:xfrm>
          <a:off x="596515" y="2097088"/>
          <a:ext cx="8743048" cy="2304022"/>
        </p:xfrm>
        <a:graphic>
          <a:graphicData uri="http://schemas.openxmlformats.org/drawingml/2006/table">
            <a:tbl>
              <a:tblPr/>
              <a:tblGrid>
                <a:gridCol w="521670">
                  <a:extLst>
                    <a:ext uri="{9D8B030D-6E8A-4147-A177-3AD203B41FA5}">
                      <a16:colId xmlns:a16="http://schemas.microsoft.com/office/drawing/2014/main" val="1040570727"/>
                    </a:ext>
                  </a:extLst>
                </a:gridCol>
                <a:gridCol w="299420">
                  <a:extLst>
                    <a:ext uri="{9D8B030D-6E8A-4147-A177-3AD203B41FA5}">
                      <a16:colId xmlns:a16="http://schemas.microsoft.com/office/drawing/2014/main" val="3627263507"/>
                    </a:ext>
                  </a:extLst>
                </a:gridCol>
                <a:gridCol w="1297958">
                  <a:extLst>
                    <a:ext uri="{9D8B030D-6E8A-4147-A177-3AD203B41FA5}">
                      <a16:colId xmlns:a16="http://schemas.microsoft.com/office/drawing/2014/main" val="438394585"/>
                    </a:ext>
                  </a:extLst>
                </a:gridCol>
                <a:gridCol w="6624000">
                  <a:extLst>
                    <a:ext uri="{9D8B030D-6E8A-4147-A177-3AD203B41FA5}">
                      <a16:colId xmlns:a16="http://schemas.microsoft.com/office/drawing/2014/main" val="2888504122"/>
                    </a:ext>
                  </a:extLst>
                </a:gridCol>
              </a:tblGrid>
              <a:tr h="183034">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구분</a:t>
                      </a:r>
                    </a:p>
                  </a:txBody>
                  <a:tcPr marL="20329" marR="20329" marT="5620" marB="5620"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a:solidFill>
                            <a:schemeClr val="bg1"/>
                          </a:solidFill>
                          <a:effectLst/>
                          <a:latin typeface="+mj-ea"/>
                          <a:ea typeface="+mj-ea"/>
                        </a:rPr>
                        <a:t>번호</a:t>
                      </a:r>
                    </a:p>
                  </a:txBody>
                  <a:tcPr marL="20329" marR="20329" marT="5620" marB="56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지표 명</a:t>
                      </a:r>
                    </a:p>
                  </a:txBody>
                  <a:tcPr marL="20329" marR="20329" marT="5620" marB="56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지표 설명</a:t>
                      </a:r>
                    </a:p>
                  </a:txBody>
                  <a:tcPr marL="20329" marR="20329" marT="5620" marB="5620"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275887807"/>
                  </a:ext>
                </a:extLst>
              </a:tr>
              <a:tr h="353498">
                <a:tc rowSpan="3">
                  <a:txBody>
                    <a:bodyPr/>
                    <a:lstStyle/>
                    <a:p>
                      <a:pPr marL="0" marR="0" indent="0" algn="ctr" fontAlgn="base" latinLnBrk="0">
                        <a:lnSpc>
                          <a:spcPct val="100000"/>
                        </a:lnSpc>
                        <a:buNone/>
                      </a:pPr>
                      <a:r>
                        <a:rPr lang="ko-KR" altLang="en-US" sz="1000" kern="0" spc="0">
                          <a:solidFill>
                            <a:srgbClr val="000000"/>
                          </a:solidFill>
                          <a:effectLst/>
                          <a:latin typeface="+mj-ea"/>
                          <a:ea typeface="+mj-ea"/>
                        </a:rPr>
                        <a:t>가상훈련</a:t>
                      </a:r>
                    </a:p>
                  </a:txBody>
                  <a:tcPr marL="20329" marR="20329" marT="5620" marB="562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실습 대체 </a:t>
                      </a:r>
                    </a:p>
                    <a:p>
                      <a:pPr marL="0" marR="0" indent="0" algn="ctr" fontAlgn="base" latinLnBrk="0">
                        <a:lnSpc>
                          <a:spcPct val="100000"/>
                        </a:lnSpc>
                        <a:buNone/>
                      </a:pPr>
                      <a:r>
                        <a:rPr lang="ko-KR" altLang="en-US" sz="1000" kern="0" spc="0" dirty="0">
                          <a:solidFill>
                            <a:srgbClr val="000000"/>
                          </a:solidFill>
                          <a:effectLst/>
                          <a:latin typeface="+mj-ea"/>
                          <a:ea typeface="+mj-ea"/>
                        </a:rPr>
                        <a:t>보완 가능성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훈련 과정에서 다뤄야 하는 장비가 고가이거나 특수하여 구입</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설치</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이동이 어렵고 접근이 제한적인 경우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가상 시뮬레이션을 통해 비용</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공간</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시간 등의 제약을 해소하고 효과적으로 실습 훈련을 대체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보완 할 수 있는 정도</a:t>
                      </a: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143314"/>
                  </a:ext>
                </a:extLst>
              </a:tr>
              <a:tr h="353498">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반복훈련 적합성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a:solidFill>
                            <a:srgbClr val="000000"/>
                          </a:solidFill>
                          <a:effectLst/>
                          <a:latin typeface="+mj-ea"/>
                          <a:ea typeface="+mj-ea"/>
                        </a:rPr>
                        <a:t>명확한 작업 절차와 수행 행동을 포함하는 능력단위에서</a:t>
                      </a:r>
                      <a:r>
                        <a:rPr lang="en-US" altLang="ko-KR" sz="1000" kern="0" spc="0">
                          <a:solidFill>
                            <a:srgbClr val="000000"/>
                          </a:solidFill>
                          <a:effectLst/>
                          <a:latin typeface="+mj-ea"/>
                          <a:ea typeface="+mj-ea"/>
                        </a:rPr>
                        <a:t>, </a:t>
                      </a:r>
                      <a:r>
                        <a:rPr lang="ko-KR" altLang="en-US" sz="1000" kern="0" spc="0">
                          <a:solidFill>
                            <a:srgbClr val="000000"/>
                          </a:solidFill>
                          <a:effectLst/>
                          <a:latin typeface="+mj-ea"/>
                          <a:ea typeface="+mj-ea"/>
                        </a:rPr>
                        <a:t>집체 훈련</a:t>
                      </a:r>
                      <a:r>
                        <a:rPr lang="en-US" altLang="ko-KR" sz="1000" kern="0" spc="0">
                          <a:solidFill>
                            <a:srgbClr val="000000"/>
                          </a:solidFill>
                          <a:effectLst/>
                          <a:latin typeface="+mj-ea"/>
                          <a:ea typeface="+mj-ea"/>
                        </a:rPr>
                        <a:t>·</a:t>
                      </a:r>
                      <a:r>
                        <a:rPr lang="ko-KR" altLang="en-US" sz="1000" kern="0" spc="0">
                          <a:solidFill>
                            <a:srgbClr val="000000"/>
                          </a:solidFill>
                          <a:effectLst/>
                          <a:latin typeface="+mj-ea"/>
                          <a:ea typeface="+mj-ea"/>
                        </a:rPr>
                        <a:t>실습 전에 가상훈련을 반복 실시하여 숙련도와 학습성과를 향상시킬 수 있는 정도</a:t>
                      </a: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0695297"/>
                  </a:ext>
                </a:extLst>
              </a:tr>
              <a:tr h="353498">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안전환경 확보 적합성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고온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고전압</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유해화학물질 등 고위험 작업 요소가 포함된 능력단위에서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훈련생이 안전한 환경에서 훈련을 시작하고 수행할 수 있도록 가상훈련을 적용하는 것이 적합한 정도</a:t>
                      </a: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5316135"/>
                  </a:ext>
                </a:extLst>
              </a:tr>
              <a:tr h="353498">
                <a:tc rowSpan="3">
                  <a:txBody>
                    <a:bodyPr/>
                    <a:lstStyle/>
                    <a:p>
                      <a:pPr marL="0" marR="0" indent="0" algn="ctr" fontAlgn="base" latinLnBrk="0">
                        <a:lnSpc>
                          <a:spcPct val="100000"/>
                        </a:lnSpc>
                        <a:buNone/>
                      </a:pPr>
                      <a:r>
                        <a:rPr lang="ko-KR" altLang="en-US" sz="1000" kern="0" spc="0">
                          <a:solidFill>
                            <a:srgbClr val="000000"/>
                          </a:solidFill>
                          <a:effectLst/>
                          <a:latin typeface="+mj-ea"/>
                          <a:ea typeface="+mj-ea"/>
                        </a:rPr>
                        <a:t>이러닝</a:t>
                      </a:r>
                    </a:p>
                  </a:txBody>
                  <a:tcPr marL="20329" marR="20329" marT="5620" marB="562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en-US" sz="1000" kern="0" spc="0">
                          <a:solidFill>
                            <a:srgbClr val="000000"/>
                          </a:solidFill>
                          <a:effectLst/>
                          <a:latin typeface="+mj-ea"/>
                          <a:ea typeface="+mj-ea"/>
                        </a:rPr>
                        <a:t>1</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비대면 학습 가능성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동료나 강사의 실시간 상호작용이나 대면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협업이 필수적이지 않고</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콘텐츠와 비동기적 학습 활동만으로도 학습목표를 달성할 수 있는 정도</a:t>
                      </a: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551862"/>
                  </a:ext>
                </a:extLst>
              </a:tr>
              <a:tr h="353498">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2</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온라인 기반 학습 적합성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해당 능력단위가 이론</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절차</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사례 중심으로 구성되어 있으며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온라인 학습 방식으로 학습목표를 달성할 수 있는 정도</a:t>
                      </a:r>
                      <a:br>
                        <a:rPr lang="ko-KR" altLang="en-US" sz="1000" kern="0" spc="0" dirty="0">
                          <a:solidFill>
                            <a:srgbClr val="000000"/>
                          </a:solidFill>
                          <a:effectLst/>
                          <a:latin typeface="+mj-ea"/>
                          <a:ea typeface="+mj-ea"/>
                        </a:rPr>
                      </a:b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필요 시 혼합훈련</a:t>
                      </a:r>
                      <a:r>
                        <a:rPr lang="en-US" altLang="ko-KR" sz="1000" kern="0" spc="0" dirty="0">
                          <a:solidFill>
                            <a:srgbClr val="000000"/>
                          </a:solidFill>
                          <a:effectLst/>
                          <a:latin typeface="+mj-ea"/>
                          <a:ea typeface="+mj-ea"/>
                        </a:rPr>
                        <a:t>(</a:t>
                      </a:r>
                      <a:r>
                        <a:rPr lang="ko-KR" altLang="en-US" sz="1000" kern="0" spc="0" dirty="0" err="1">
                          <a:solidFill>
                            <a:srgbClr val="000000"/>
                          </a:solidFill>
                          <a:effectLst/>
                          <a:latin typeface="+mj-ea"/>
                          <a:ea typeface="+mj-ea"/>
                        </a:rPr>
                        <a:t>블렌디드</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방식으로도 운영 가능함</a:t>
                      </a:r>
                      <a:r>
                        <a:rPr lang="en-US" altLang="ko-KR" sz="1000" kern="0" spc="0" dirty="0">
                          <a:solidFill>
                            <a:srgbClr val="000000"/>
                          </a:solidFill>
                          <a:effectLst/>
                          <a:latin typeface="+mj-ea"/>
                          <a:ea typeface="+mj-ea"/>
                        </a:rPr>
                        <a:t>)</a:t>
                      </a:r>
                      <a:endParaRPr lang="ko-KR" altLang="en-US" sz="1000" kern="0" spc="0" dirty="0">
                        <a:solidFill>
                          <a:srgbClr val="000000"/>
                        </a:solidFill>
                        <a:effectLst/>
                        <a:latin typeface="+mj-ea"/>
                        <a:ea typeface="+mj-ea"/>
                      </a:endParaRP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6091287"/>
                  </a:ext>
                </a:extLst>
              </a:tr>
              <a:tr h="353498">
                <a:tc vMerge="1">
                  <a:txBody>
                    <a:bodyPr/>
                    <a:lstStyle/>
                    <a:p>
                      <a:pPr latinLnBrk="1"/>
                      <a:endParaRPr lang="ko-KR" altLang="en-US"/>
                    </a:p>
                  </a:txBody>
                  <a:tcPr/>
                </a:tc>
                <a:tc>
                  <a:txBody>
                    <a:bodyPr/>
                    <a:lstStyle/>
                    <a:p>
                      <a:pPr marL="0" marR="0" indent="0" algn="ctr" fontAlgn="base" latinLnBrk="0">
                        <a:lnSpc>
                          <a:spcPct val="100000"/>
                        </a:lnSpc>
                        <a:buNone/>
                      </a:pPr>
                      <a:r>
                        <a:rPr lang="en-US" sz="1000" kern="0" spc="0">
                          <a:solidFill>
                            <a:srgbClr val="000000"/>
                          </a:solidFill>
                          <a:effectLst/>
                          <a:latin typeface="+mj-ea"/>
                          <a:ea typeface="+mj-ea"/>
                        </a:rPr>
                        <a:t>3</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자기주도 학습 적합성</a:t>
                      </a:r>
                    </a:p>
                  </a:txBody>
                  <a:tcPr marL="20329" marR="20329" marT="5620" marB="56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1000" kern="0" spc="0" dirty="0">
                          <a:solidFill>
                            <a:srgbClr val="000000"/>
                          </a:solidFill>
                          <a:effectLst/>
                          <a:latin typeface="+mj-ea"/>
                          <a:ea typeface="+mj-ea"/>
                        </a:rPr>
                        <a:t>학습자가 개인 진도와 속도를 스스로 조절하며 반복 학습을 수행하고</a:t>
                      </a:r>
                      <a:r>
                        <a:rPr lang="en-US" altLang="ko-KR" sz="1000" kern="0" spc="0" dirty="0">
                          <a:solidFill>
                            <a:srgbClr val="000000"/>
                          </a:solidFill>
                          <a:effectLst/>
                          <a:latin typeface="+mj-ea"/>
                          <a:ea typeface="+mj-ea"/>
                        </a:rPr>
                        <a:t>, </a:t>
                      </a:r>
                      <a:r>
                        <a:rPr lang="ko-KR" altLang="en-US" sz="1000" kern="0" spc="0" dirty="0" err="1">
                          <a:solidFill>
                            <a:srgbClr val="000000"/>
                          </a:solidFill>
                          <a:effectLst/>
                          <a:latin typeface="+mj-ea"/>
                          <a:ea typeface="+mj-ea"/>
                        </a:rPr>
                        <a:t>교수자</a:t>
                      </a:r>
                      <a:r>
                        <a:rPr lang="ko-KR" altLang="en-US" sz="1000" kern="0" spc="0" dirty="0">
                          <a:solidFill>
                            <a:srgbClr val="000000"/>
                          </a:solidFill>
                          <a:effectLst/>
                          <a:latin typeface="+mj-ea"/>
                          <a:ea typeface="+mj-ea"/>
                        </a:rPr>
                        <a:t> 개입 없이 학습 내용을 이해</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숙지하여 학습 성과를 관리</a:t>
                      </a:r>
                      <a:r>
                        <a:rPr lang="en-US" altLang="ko-KR" sz="1000" kern="0" spc="0" dirty="0">
                          <a:solidFill>
                            <a:srgbClr val="000000"/>
                          </a:solidFill>
                          <a:effectLst/>
                          <a:latin typeface="+mj-ea"/>
                          <a:ea typeface="+mj-ea"/>
                        </a:rPr>
                        <a:t>·</a:t>
                      </a:r>
                      <a:r>
                        <a:rPr lang="ko-KR" altLang="en-US" sz="1000" kern="0" spc="0" dirty="0">
                          <a:solidFill>
                            <a:srgbClr val="000000"/>
                          </a:solidFill>
                          <a:effectLst/>
                          <a:latin typeface="+mj-ea"/>
                          <a:ea typeface="+mj-ea"/>
                        </a:rPr>
                        <a:t>향상시킬 수 있는 정도</a:t>
                      </a:r>
                    </a:p>
                  </a:txBody>
                  <a:tcPr marL="20329" marR="20329" marT="5620" marB="5620"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017221"/>
                  </a:ext>
                </a:extLst>
              </a:tr>
            </a:tbl>
          </a:graphicData>
        </a:graphic>
      </p:graphicFrame>
      <p:graphicFrame>
        <p:nvGraphicFramePr>
          <p:cNvPr id="8" name="표 7">
            <a:extLst>
              <a:ext uri="{FF2B5EF4-FFF2-40B4-BE49-F238E27FC236}">
                <a16:creationId xmlns:a16="http://schemas.microsoft.com/office/drawing/2014/main" id="{2A2508CB-EC6A-C3BB-2B64-F6DD0272CB51}"/>
              </a:ext>
            </a:extLst>
          </p:cNvPr>
          <p:cNvGraphicFramePr>
            <a:graphicFrameLocks noGrp="1"/>
          </p:cNvGraphicFramePr>
          <p:nvPr>
            <p:extLst>
              <p:ext uri="{D42A27DB-BD31-4B8C-83A1-F6EECF244321}">
                <p14:modId xmlns:p14="http://schemas.microsoft.com/office/powerpoint/2010/main" val="720794681"/>
              </p:ext>
            </p:extLst>
          </p:nvPr>
        </p:nvGraphicFramePr>
        <p:xfrm>
          <a:off x="596516" y="4833156"/>
          <a:ext cx="4716848" cy="1650408"/>
        </p:xfrm>
        <a:graphic>
          <a:graphicData uri="http://schemas.openxmlformats.org/drawingml/2006/table">
            <a:tbl>
              <a:tblPr/>
              <a:tblGrid>
                <a:gridCol w="320825">
                  <a:extLst>
                    <a:ext uri="{9D8B030D-6E8A-4147-A177-3AD203B41FA5}">
                      <a16:colId xmlns:a16="http://schemas.microsoft.com/office/drawing/2014/main" val="1732030905"/>
                    </a:ext>
                  </a:extLst>
                </a:gridCol>
                <a:gridCol w="1083331">
                  <a:extLst>
                    <a:ext uri="{9D8B030D-6E8A-4147-A177-3AD203B41FA5}">
                      <a16:colId xmlns:a16="http://schemas.microsoft.com/office/drawing/2014/main" val="759510530"/>
                    </a:ext>
                  </a:extLst>
                </a:gridCol>
                <a:gridCol w="3312692">
                  <a:extLst>
                    <a:ext uri="{9D8B030D-6E8A-4147-A177-3AD203B41FA5}">
                      <a16:colId xmlns:a16="http://schemas.microsoft.com/office/drawing/2014/main" val="3604566496"/>
                    </a:ext>
                  </a:extLst>
                </a:gridCol>
              </a:tblGrid>
              <a:tr h="206301">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점수</a:t>
                      </a:r>
                    </a:p>
                  </a:txBody>
                  <a:tcPr marL="46523" marR="46523" marT="12862" marB="12862" anchor="ctr">
                    <a:lnL>
                      <a:noFill/>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en-US" altLang="ko-KR" sz="1000" b="0" kern="0" spc="0">
                          <a:solidFill>
                            <a:schemeClr val="bg1"/>
                          </a:solidFill>
                          <a:effectLst/>
                          <a:latin typeface="+mj-ea"/>
                          <a:ea typeface="+mj-ea"/>
                        </a:rPr>
                        <a:t>7</a:t>
                      </a:r>
                      <a:r>
                        <a:rPr lang="ko-KR" altLang="en-US" sz="1000" b="0" kern="0" spc="0">
                          <a:solidFill>
                            <a:schemeClr val="bg1"/>
                          </a:solidFill>
                          <a:effectLst/>
                          <a:latin typeface="+mj-ea"/>
                          <a:ea typeface="+mj-ea"/>
                        </a:rPr>
                        <a:t>점 척도</a:t>
                      </a:r>
                    </a:p>
                  </a:txBody>
                  <a:tcPr marL="46523" marR="46523" marT="12862" marB="12862"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buNone/>
                      </a:pPr>
                      <a:r>
                        <a:rPr lang="ko-KR" altLang="en-US" sz="1000" b="0" kern="0" spc="0" dirty="0">
                          <a:solidFill>
                            <a:schemeClr val="bg1"/>
                          </a:solidFill>
                          <a:effectLst/>
                          <a:latin typeface="+mj-ea"/>
                          <a:ea typeface="+mj-ea"/>
                        </a:rPr>
                        <a:t>척도 설명</a:t>
                      </a:r>
                    </a:p>
                  </a:txBody>
                  <a:tcPr marL="46523" marR="46523" marT="12862" marB="12862" anchor="ctr">
                    <a:lnL w="3175"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462076481"/>
                  </a:ext>
                </a:extLst>
              </a:tr>
              <a:tr h="206301">
                <a:tc>
                  <a:txBody>
                    <a:bodyPr/>
                    <a:lstStyle/>
                    <a:p>
                      <a:pPr marL="0" marR="0" indent="0" algn="ctr" fontAlgn="base" latinLnBrk="0">
                        <a:lnSpc>
                          <a:spcPct val="100000"/>
                        </a:lnSpc>
                        <a:buNone/>
                      </a:pPr>
                      <a:r>
                        <a:rPr lang="en-US" altLang="ko-KR" sz="1000" kern="0" spc="0" dirty="0">
                          <a:solidFill>
                            <a:srgbClr val="000000"/>
                          </a:solidFill>
                          <a:effectLst/>
                          <a:latin typeface="+mj-ea"/>
                          <a:ea typeface="+mj-ea"/>
                        </a:rPr>
                        <a:t>7</a:t>
                      </a:r>
                      <a:r>
                        <a:rPr lang="ko-KR" altLang="en-US" sz="1000" kern="0" spc="0" dirty="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매우 적합하다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0" dirty="0">
                          <a:solidFill>
                            <a:srgbClr val="000000"/>
                          </a:solidFill>
                          <a:effectLst/>
                          <a:latin typeface="+mj-ea"/>
                          <a:ea typeface="+mj-ea"/>
                        </a:rPr>
                        <a:t>이 훈련방식이 가장 최적이며 다른 방식보다 우수함</a:t>
                      </a: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9337801"/>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6</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적합하다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0" dirty="0">
                          <a:solidFill>
                            <a:srgbClr val="000000"/>
                          </a:solidFill>
                          <a:effectLst/>
                          <a:latin typeface="+mj-ea"/>
                          <a:ea typeface="+mj-ea"/>
                        </a:rPr>
                        <a:t>대체로 적합하며</a:t>
                      </a:r>
                      <a:r>
                        <a:rPr lang="en-US" altLang="ko-KR" sz="1000" kern="0" spc="0" dirty="0">
                          <a:solidFill>
                            <a:srgbClr val="000000"/>
                          </a:solidFill>
                          <a:effectLst/>
                          <a:latin typeface="+mj-ea"/>
                          <a:ea typeface="+mj-ea"/>
                        </a:rPr>
                        <a:t>, </a:t>
                      </a:r>
                      <a:r>
                        <a:rPr lang="ko-KR" altLang="en-US" sz="1000" kern="0" spc="0" dirty="0">
                          <a:solidFill>
                            <a:srgbClr val="000000"/>
                          </a:solidFill>
                          <a:effectLst/>
                          <a:latin typeface="+mj-ea"/>
                          <a:ea typeface="+mj-ea"/>
                        </a:rPr>
                        <a:t>해당 방식으로 진행 시 무리가 없음</a:t>
                      </a: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7772696"/>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5</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약간 적합하다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10">
                          <a:solidFill>
                            <a:srgbClr val="000000"/>
                          </a:solidFill>
                          <a:effectLst/>
                          <a:latin typeface="+mj-ea"/>
                          <a:ea typeface="+mj-ea"/>
                        </a:rPr>
                        <a:t>조건부 적합 일부 보완이 필요하지만 해당 방식으로 진행 가능함</a:t>
                      </a:r>
                      <a:endParaRPr lang="ko-KR" altLang="en-US" sz="1000" kern="0" spc="0">
                        <a:solidFill>
                          <a:srgbClr val="000000"/>
                        </a:solidFill>
                        <a:effectLst/>
                        <a:latin typeface="+mj-ea"/>
                        <a:ea typeface="+mj-ea"/>
                      </a:endParaRP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900916"/>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4</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중립적이다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0">
                          <a:solidFill>
                            <a:srgbClr val="000000"/>
                          </a:solidFill>
                          <a:effectLst/>
                          <a:latin typeface="+mj-ea"/>
                          <a:ea typeface="+mj-ea"/>
                        </a:rPr>
                        <a:t>특별히 적합</a:t>
                      </a:r>
                      <a:r>
                        <a:rPr lang="en-US" altLang="ko-KR" sz="1000" kern="0" spc="0">
                          <a:solidFill>
                            <a:srgbClr val="000000"/>
                          </a:solidFill>
                          <a:effectLst/>
                          <a:latin typeface="+mj-ea"/>
                          <a:ea typeface="+mj-ea"/>
                        </a:rPr>
                        <a:t>/</a:t>
                      </a:r>
                      <a:r>
                        <a:rPr lang="ko-KR" altLang="en-US" sz="1000" kern="0" spc="0">
                          <a:solidFill>
                            <a:srgbClr val="000000"/>
                          </a:solidFill>
                          <a:effectLst/>
                          <a:latin typeface="+mj-ea"/>
                          <a:ea typeface="+mj-ea"/>
                        </a:rPr>
                        <a:t>부적합을 판단하기 어려운 중간 수준</a:t>
                      </a: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101731"/>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3</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dirty="0">
                          <a:solidFill>
                            <a:srgbClr val="000000"/>
                          </a:solidFill>
                          <a:effectLst/>
                          <a:latin typeface="+mj-ea"/>
                          <a:ea typeface="+mj-ea"/>
                        </a:rPr>
                        <a:t>약간 적합하지 않다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20" dirty="0">
                          <a:solidFill>
                            <a:srgbClr val="000000"/>
                          </a:solidFill>
                          <a:effectLst/>
                          <a:latin typeface="+mj-ea"/>
                          <a:ea typeface="+mj-ea"/>
                        </a:rPr>
                        <a:t>조건부 부적합 제한적 활용은 가능하지만 해당 방식은 비효율적임</a:t>
                      </a:r>
                      <a:endParaRPr lang="ko-KR" altLang="en-US" sz="1000" kern="0" spc="0" dirty="0">
                        <a:solidFill>
                          <a:srgbClr val="000000"/>
                        </a:solidFill>
                        <a:effectLst/>
                        <a:latin typeface="+mj-ea"/>
                        <a:ea typeface="+mj-ea"/>
                      </a:endParaRP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962621"/>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2</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적합하지 않다</a:t>
                      </a: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0">
                          <a:solidFill>
                            <a:srgbClr val="000000"/>
                          </a:solidFill>
                          <a:effectLst/>
                          <a:latin typeface="+mj-ea"/>
                          <a:ea typeface="+mj-ea"/>
                        </a:rPr>
                        <a:t>대체로 부적합하며 해당 방식 진행 시 큰 무리가 있음</a:t>
                      </a: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9048582"/>
                  </a:ext>
                </a:extLst>
              </a:tr>
              <a:tr h="206301">
                <a:tc>
                  <a:txBody>
                    <a:bodyPr/>
                    <a:lstStyle/>
                    <a:p>
                      <a:pPr marL="0" marR="0" indent="0" algn="ctr" fontAlgn="base" latinLnBrk="0">
                        <a:lnSpc>
                          <a:spcPct val="100000"/>
                        </a:lnSpc>
                        <a:buNone/>
                      </a:pPr>
                      <a:r>
                        <a:rPr lang="en-US" altLang="ko-KR" sz="1000" kern="0" spc="0">
                          <a:solidFill>
                            <a:srgbClr val="000000"/>
                          </a:solidFill>
                          <a:effectLst/>
                          <a:latin typeface="+mj-ea"/>
                          <a:ea typeface="+mj-ea"/>
                        </a:rPr>
                        <a:t>1</a:t>
                      </a:r>
                      <a:r>
                        <a:rPr lang="ko-KR" altLang="en-US" sz="1000" kern="0" spc="0">
                          <a:solidFill>
                            <a:srgbClr val="000000"/>
                          </a:solidFill>
                          <a:effectLst/>
                          <a:latin typeface="+mj-ea"/>
                          <a:ea typeface="+mj-ea"/>
                        </a:rPr>
                        <a:t>점</a:t>
                      </a:r>
                    </a:p>
                  </a:txBody>
                  <a:tcPr marL="46523" marR="46523" marT="12862" marB="12862"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40">
                          <a:solidFill>
                            <a:srgbClr val="000000"/>
                          </a:solidFill>
                          <a:effectLst/>
                          <a:latin typeface="+mj-ea"/>
                          <a:ea typeface="+mj-ea"/>
                        </a:rPr>
                        <a:t>전혀 적합하지 않다</a:t>
                      </a:r>
                      <a:endParaRPr lang="ko-KR" altLang="en-US" sz="1000" kern="0" spc="0">
                        <a:solidFill>
                          <a:srgbClr val="000000"/>
                        </a:solidFill>
                        <a:effectLst/>
                        <a:latin typeface="+mj-ea"/>
                        <a:ea typeface="+mj-ea"/>
                      </a:endParaRPr>
                    </a:p>
                  </a:txBody>
                  <a:tcPr marL="46523" marR="46523" marT="12862" marB="1286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1">
                        <a:lnSpc>
                          <a:spcPct val="100000"/>
                        </a:lnSpc>
                        <a:buNone/>
                      </a:pPr>
                      <a:r>
                        <a:rPr lang="ko-KR" altLang="en-US" sz="1000" kern="0" spc="0" dirty="0">
                          <a:solidFill>
                            <a:srgbClr val="000000"/>
                          </a:solidFill>
                          <a:effectLst/>
                          <a:latin typeface="+mj-ea"/>
                          <a:ea typeface="+mj-ea"/>
                        </a:rPr>
                        <a:t>절대 불가능 해당 방식으로는 진행 불가</a:t>
                      </a:r>
                    </a:p>
                  </a:txBody>
                  <a:tcPr marL="46523" marR="46523" marT="12862" marB="12862" anchor="ctr">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8121210"/>
                  </a:ext>
                </a:extLst>
              </a:tr>
            </a:tbl>
          </a:graphicData>
        </a:graphic>
      </p:graphicFrame>
      <p:sp>
        <p:nvSpPr>
          <p:cNvPr id="11" name="직사각형 10">
            <a:extLst>
              <a:ext uri="{FF2B5EF4-FFF2-40B4-BE49-F238E27FC236}">
                <a16:creationId xmlns:a16="http://schemas.microsoft.com/office/drawing/2014/main" id="{3F1B96D5-F7A7-4D5D-B64E-DBC1CEF1268F}"/>
              </a:ext>
            </a:extLst>
          </p:cNvPr>
          <p:cNvSpPr/>
          <p:nvPr/>
        </p:nvSpPr>
        <p:spPr>
          <a:xfrm>
            <a:off x="5529064" y="4833156"/>
            <a:ext cx="3816549" cy="1650403"/>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171450" indent="-85725" algn="l" latinLnBrk="0">
              <a:spcAft>
                <a:spcPts val="300"/>
              </a:spcAft>
              <a:buFont typeface="Arial" panose="020B0604020202020204" pitchFamily="34" charset="0"/>
              <a:buChar char="•"/>
            </a:pPr>
            <a:r>
              <a:rPr lang="en-US" altLang="ko-KR" sz="1100" dirty="0">
                <a:solidFill>
                  <a:schemeClr val="tx1"/>
                </a:solidFill>
                <a:latin typeface="+mj-ea"/>
                <a:ea typeface="+mj-ea"/>
              </a:rPr>
              <a:t>3</a:t>
            </a:r>
            <a:r>
              <a:rPr lang="ko-KR" altLang="en-US" sz="1100" dirty="0">
                <a:solidFill>
                  <a:schemeClr val="tx1"/>
                </a:solidFill>
                <a:latin typeface="+mj-ea"/>
                <a:ea typeface="+mj-ea"/>
              </a:rPr>
              <a:t>명의 평가자가 부여한 점수를 합산한 뒤 평균하여 지표별 평균 점수를 산출</a:t>
            </a:r>
            <a:endParaRPr lang="en-US" altLang="ko-KR" sz="1100" dirty="0">
              <a:solidFill>
                <a:schemeClr val="tx1"/>
              </a:solidFill>
              <a:latin typeface="+mj-ea"/>
              <a:ea typeface="+mj-ea"/>
            </a:endParaRPr>
          </a:p>
          <a:p>
            <a:pPr marL="171450" indent="-85725" algn="l" latinLnBrk="0">
              <a:spcAft>
                <a:spcPts val="300"/>
              </a:spcAft>
              <a:buFont typeface="Arial" panose="020B0604020202020204" pitchFamily="34" charset="0"/>
              <a:buChar char="•"/>
            </a:pPr>
            <a:r>
              <a:rPr lang="ko-KR" altLang="en-US" sz="1100" dirty="0">
                <a:solidFill>
                  <a:schemeClr val="tx1"/>
                </a:solidFill>
                <a:latin typeface="+mj-ea"/>
                <a:ea typeface="+mj-ea"/>
              </a:rPr>
              <a:t>평균 점수가 높은 순서대로 능력단위를 배열하여 순위화 함</a:t>
            </a:r>
            <a:endParaRPr lang="en-US" altLang="ko-KR" sz="1100" dirty="0">
              <a:solidFill>
                <a:schemeClr val="tx1"/>
              </a:solidFill>
              <a:latin typeface="+mj-ea"/>
              <a:ea typeface="+mj-ea"/>
            </a:endParaRPr>
          </a:p>
          <a:p>
            <a:pPr marL="171450" indent="-85725" algn="l" latinLnBrk="0">
              <a:spcAft>
                <a:spcPts val="300"/>
              </a:spcAft>
              <a:buFont typeface="Arial" panose="020B0604020202020204" pitchFamily="34" charset="0"/>
              <a:buChar char="•"/>
            </a:pPr>
            <a:r>
              <a:rPr lang="ko-KR" altLang="en-US" sz="1100" dirty="0">
                <a:solidFill>
                  <a:schemeClr val="tx1"/>
                </a:solidFill>
                <a:latin typeface="+mj-ea"/>
                <a:ea typeface="+mj-ea"/>
              </a:rPr>
              <a:t>이러닝 과정과 가상훈련 과정은 독립적으로 구분하여 산정</a:t>
            </a:r>
            <a:endParaRPr lang="en-US" altLang="ko-KR" sz="1100" dirty="0">
              <a:solidFill>
                <a:schemeClr val="tx1"/>
              </a:solidFill>
              <a:latin typeface="+mj-ea"/>
              <a:ea typeface="+mj-ea"/>
            </a:endParaRPr>
          </a:p>
          <a:p>
            <a:pPr marL="171450" indent="-85725" algn="l" latinLnBrk="0">
              <a:spcAft>
                <a:spcPts val="300"/>
              </a:spcAft>
              <a:buFont typeface="Arial" panose="020B0604020202020204" pitchFamily="34" charset="0"/>
              <a:buChar char="•"/>
            </a:pPr>
            <a:r>
              <a:rPr lang="ko-KR" altLang="en-US" sz="1100" dirty="0">
                <a:solidFill>
                  <a:schemeClr val="tx1"/>
                </a:solidFill>
                <a:latin typeface="+mj-ea"/>
                <a:ea typeface="+mj-ea"/>
              </a:rPr>
              <a:t>순위 분포와 종합 평균 점수 구간을 고려하여 능력단위를 </a:t>
            </a:r>
            <a:r>
              <a:rPr lang="en-US" altLang="ko-KR" sz="1100" dirty="0">
                <a:solidFill>
                  <a:schemeClr val="tx1"/>
                </a:solidFill>
                <a:latin typeface="+mj-ea"/>
                <a:ea typeface="+mj-ea"/>
              </a:rPr>
              <a:t>4</a:t>
            </a:r>
            <a:r>
              <a:rPr lang="ko-KR" altLang="en-US" sz="1100" dirty="0">
                <a:solidFill>
                  <a:schemeClr val="tx1"/>
                </a:solidFill>
                <a:latin typeface="+mj-ea"/>
                <a:ea typeface="+mj-ea"/>
              </a:rPr>
              <a:t>개 그룹으로 구분 </a:t>
            </a:r>
            <a:r>
              <a:rPr lang="en-US" altLang="ko-KR" sz="1000" dirty="0">
                <a:solidFill>
                  <a:schemeClr val="tx1"/>
                </a:solidFill>
                <a:latin typeface="+mj-ea"/>
                <a:ea typeface="+mj-ea"/>
              </a:rPr>
              <a:t>(</a:t>
            </a:r>
            <a:r>
              <a:rPr lang="ko-KR" altLang="en-US" sz="1000" dirty="0">
                <a:solidFill>
                  <a:schemeClr val="tx1"/>
                </a:solidFill>
                <a:latin typeface="+mj-ea"/>
                <a:ea typeface="+mj-ea"/>
              </a:rPr>
              <a:t>핵심개발군</a:t>
            </a:r>
            <a:r>
              <a:rPr lang="en-US" altLang="ko-KR" sz="1000" dirty="0">
                <a:solidFill>
                  <a:schemeClr val="tx1"/>
                </a:solidFill>
                <a:latin typeface="+mj-ea"/>
                <a:ea typeface="+mj-ea"/>
              </a:rPr>
              <a:t>/</a:t>
            </a:r>
            <a:r>
              <a:rPr lang="ko-KR" altLang="en-US" sz="1000" dirty="0">
                <a:solidFill>
                  <a:schemeClr val="tx1"/>
                </a:solidFill>
                <a:latin typeface="+mj-ea"/>
                <a:ea typeface="+mj-ea"/>
              </a:rPr>
              <a:t>우선개발군</a:t>
            </a:r>
            <a:r>
              <a:rPr lang="en-US" altLang="ko-KR" sz="1000" dirty="0">
                <a:solidFill>
                  <a:schemeClr val="tx1"/>
                </a:solidFill>
                <a:latin typeface="+mj-ea"/>
                <a:ea typeface="+mj-ea"/>
              </a:rPr>
              <a:t>/</a:t>
            </a:r>
            <a:r>
              <a:rPr lang="ko-KR" altLang="en-US" sz="1000" dirty="0">
                <a:solidFill>
                  <a:schemeClr val="tx1"/>
                </a:solidFill>
                <a:latin typeface="+mj-ea"/>
                <a:ea typeface="+mj-ea"/>
              </a:rPr>
              <a:t>개발가능군</a:t>
            </a:r>
            <a:r>
              <a:rPr lang="en-US" altLang="ko-KR" sz="1000" dirty="0">
                <a:solidFill>
                  <a:schemeClr val="tx1"/>
                </a:solidFill>
                <a:latin typeface="+mj-ea"/>
                <a:ea typeface="+mj-ea"/>
              </a:rPr>
              <a:t>/</a:t>
            </a:r>
            <a:r>
              <a:rPr lang="ko-KR" altLang="en-US" sz="1000" dirty="0">
                <a:solidFill>
                  <a:schemeClr val="tx1"/>
                </a:solidFill>
                <a:latin typeface="+mj-ea"/>
                <a:ea typeface="+mj-ea"/>
              </a:rPr>
              <a:t>개발검토군</a:t>
            </a:r>
            <a:r>
              <a:rPr lang="en-US" altLang="ko-KR" sz="1000" dirty="0">
                <a:solidFill>
                  <a:schemeClr val="tx1"/>
                </a:solidFill>
                <a:latin typeface="+mj-ea"/>
                <a:ea typeface="+mj-ea"/>
              </a:rPr>
              <a:t>)</a:t>
            </a:r>
            <a:endParaRPr lang="en-US" altLang="ko-KR" sz="1100" dirty="0">
              <a:solidFill>
                <a:schemeClr val="tx1"/>
              </a:solidFill>
              <a:latin typeface="+mj-ea"/>
              <a:ea typeface="+mj-ea"/>
            </a:endParaRPr>
          </a:p>
          <a:p>
            <a:pPr marL="171450" indent="-85725" algn="l" latinLnBrk="0">
              <a:spcAft>
                <a:spcPts val="300"/>
              </a:spcAft>
              <a:buFont typeface="Arial" panose="020B0604020202020204" pitchFamily="34" charset="0"/>
              <a:buChar char="•"/>
            </a:pPr>
            <a:r>
              <a:rPr lang="ko-KR" altLang="en-US" sz="1100" dirty="0">
                <a:solidFill>
                  <a:schemeClr val="tx1"/>
                </a:solidFill>
                <a:latin typeface="+mj-ea"/>
                <a:ea typeface="+mj-ea"/>
              </a:rPr>
              <a:t>교육과정 개요서 작성 시</a:t>
            </a:r>
            <a:r>
              <a:rPr lang="en-US" altLang="ko-KR" sz="1100" dirty="0">
                <a:solidFill>
                  <a:schemeClr val="tx1"/>
                </a:solidFill>
                <a:latin typeface="+mj-ea"/>
                <a:ea typeface="+mj-ea"/>
              </a:rPr>
              <a:t>, </a:t>
            </a:r>
            <a:r>
              <a:rPr lang="ko-KR" altLang="en-US" sz="1100" dirty="0">
                <a:solidFill>
                  <a:schemeClr val="tx1"/>
                </a:solidFill>
                <a:latin typeface="+mj-ea"/>
                <a:ea typeface="+mj-ea"/>
              </a:rPr>
              <a:t>해당 과정의 개발 형태를 결정하는 근거 자료로서 활용</a:t>
            </a:r>
          </a:p>
        </p:txBody>
      </p:sp>
      <p:grpSp>
        <p:nvGrpSpPr>
          <p:cNvPr id="13" name="그룹 12">
            <a:extLst>
              <a:ext uri="{FF2B5EF4-FFF2-40B4-BE49-F238E27FC236}">
                <a16:creationId xmlns:a16="http://schemas.microsoft.com/office/drawing/2014/main" id="{D9DA7ED0-FFDA-1BB5-8E64-8ED49C3D624C}"/>
              </a:ext>
            </a:extLst>
          </p:cNvPr>
          <p:cNvGrpSpPr/>
          <p:nvPr/>
        </p:nvGrpSpPr>
        <p:grpSpPr>
          <a:xfrm>
            <a:off x="597367" y="4478633"/>
            <a:ext cx="3852428" cy="276999"/>
            <a:chOff x="672170" y="1944148"/>
            <a:chExt cx="3852428" cy="338050"/>
          </a:xfrm>
        </p:grpSpPr>
        <p:sp>
          <p:nvSpPr>
            <p:cNvPr id="14" name="TextBox 13">
              <a:extLst>
                <a:ext uri="{FF2B5EF4-FFF2-40B4-BE49-F238E27FC236}">
                  <a16:creationId xmlns:a16="http://schemas.microsoft.com/office/drawing/2014/main" id="{265A0D00-FFED-7FC4-A3C0-30371B674BAB}"/>
                </a:ext>
              </a:extLst>
            </p:cNvPr>
            <p:cNvSpPr txBox="1"/>
            <p:nvPr/>
          </p:nvSpPr>
          <p:spPr>
            <a:xfrm>
              <a:off x="708173" y="1944148"/>
              <a:ext cx="3816425" cy="338050"/>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lang="ko-KR" altLang="en-US" dirty="0">
                  <a:solidFill>
                    <a:prstClr val="black"/>
                  </a:solidFill>
                  <a:latin typeface="Arial Narrow" panose="020B0606020202030204" pitchFamily="34" charset="0"/>
                  <a:ea typeface="a고딕14" panose="02020600000000000000" pitchFamily="18" charset="-127"/>
                </a:rPr>
                <a:t>적합성 평가 지표 척도</a:t>
              </a:r>
              <a:endParaRPr kumimoji="0" lang="ko-KR" altLang="en-US"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15" name="직사각형 14">
              <a:extLst>
                <a:ext uri="{FF2B5EF4-FFF2-40B4-BE49-F238E27FC236}">
                  <a16:creationId xmlns:a16="http://schemas.microsoft.com/office/drawing/2014/main" id="{46F88312-4262-715C-79D5-A07257C7B865}"/>
                </a:ext>
              </a:extLst>
            </p:cNvPr>
            <p:cNvSpPr/>
            <p:nvPr/>
          </p:nvSpPr>
          <p:spPr>
            <a:xfrm>
              <a:off x="672170" y="1980003"/>
              <a:ext cx="53948" cy="27923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pSp>
        <p:nvGrpSpPr>
          <p:cNvPr id="16" name="그룹 15">
            <a:extLst>
              <a:ext uri="{FF2B5EF4-FFF2-40B4-BE49-F238E27FC236}">
                <a16:creationId xmlns:a16="http://schemas.microsoft.com/office/drawing/2014/main" id="{FFD8ABD9-89FF-D018-87B1-F90033DB15AC}"/>
              </a:ext>
            </a:extLst>
          </p:cNvPr>
          <p:cNvGrpSpPr/>
          <p:nvPr/>
        </p:nvGrpSpPr>
        <p:grpSpPr>
          <a:xfrm>
            <a:off x="5531793" y="4478633"/>
            <a:ext cx="3852428" cy="276999"/>
            <a:chOff x="672170" y="1944148"/>
            <a:chExt cx="3852428" cy="338050"/>
          </a:xfrm>
        </p:grpSpPr>
        <p:sp>
          <p:nvSpPr>
            <p:cNvPr id="17" name="TextBox 16">
              <a:extLst>
                <a:ext uri="{FF2B5EF4-FFF2-40B4-BE49-F238E27FC236}">
                  <a16:creationId xmlns:a16="http://schemas.microsoft.com/office/drawing/2014/main" id="{7E75BA1E-7E98-3E93-5DEC-873D280370FE}"/>
                </a:ext>
              </a:extLst>
            </p:cNvPr>
            <p:cNvSpPr txBox="1"/>
            <p:nvPr/>
          </p:nvSpPr>
          <p:spPr>
            <a:xfrm>
              <a:off x="708173" y="1944148"/>
              <a:ext cx="3816425" cy="338050"/>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lang="ko-KR" altLang="en-US" dirty="0">
                  <a:solidFill>
                    <a:prstClr val="black"/>
                  </a:solidFill>
                  <a:latin typeface="Arial Narrow" panose="020B0606020202030204" pitchFamily="34" charset="0"/>
                  <a:ea typeface="a고딕14" panose="02020600000000000000" pitchFamily="18" charset="-127"/>
                </a:rPr>
                <a:t>평가 결과 분석 방법 및 활용 방안</a:t>
              </a:r>
              <a:endParaRPr kumimoji="0" lang="ko-KR" altLang="en-US"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19" name="직사각형 18">
              <a:extLst>
                <a:ext uri="{FF2B5EF4-FFF2-40B4-BE49-F238E27FC236}">
                  <a16:creationId xmlns:a16="http://schemas.microsoft.com/office/drawing/2014/main" id="{928DE6D6-025F-8C09-1494-9D18F99F4F6F}"/>
                </a:ext>
              </a:extLst>
            </p:cNvPr>
            <p:cNvSpPr/>
            <p:nvPr/>
          </p:nvSpPr>
          <p:spPr>
            <a:xfrm>
              <a:off x="672170" y="1980003"/>
              <a:ext cx="53948" cy="27923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spTree>
    <p:extLst>
      <p:ext uri="{BB962C8B-B14F-4D97-AF65-F5344CB8AC3E}">
        <p14:creationId xmlns:p14="http://schemas.microsoft.com/office/powerpoint/2010/main" val="2331400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F87F-622E-377E-2585-6284C3B0C60F}"/>
            </a:ext>
          </a:extLst>
        </p:cNvPr>
        <p:cNvGrpSpPr/>
        <p:nvPr/>
      </p:nvGrpSpPr>
      <p:grpSpPr>
        <a:xfrm>
          <a:off x="0" y="0"/>
          <a:ext cx="0" cy="0"/>
          <a:chOff x="0" y="0"/>
          <a:chExt cx="0" cy="0"/>
        </a:xfrm>
      </p:grpSpPr>
      <p:cxnSp>
        <p:nvCxnSpPr>
          <p:cNvPr id="30" name="직선 화살표 연결선 29">
            <a:extLst>
              <a:ext uri="{FF2B5EF4-FFF2-40B4-BE49-F238E27FC236}">
                <a16:creationId xmlns:a16="http://schemas.microsoft.com/office/drawing/2014/main" id="{9E0E5A4E-8B0A-4EC9-AAE1-DD7CE45D14E8}"/>
              </a:ext>
            </a:extLst>
          </p:cNvPr>
          <p:cNvCxnSpPr>
            <a:cxnSpLocks/>
            <a:stCxn id="25" idx="3"/>
            <a:endCxn id="29" idx="1"/>
          </p:cNvCxnSpPr>
          <p:nvPr/>
        </p:nvCxnSpPr>
        <p:spPr>
          <a:xfrm>
            <a:off x="3152630" y="2259012"/>
            <a:ext cx="4925986"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2" name="텍스트 개체 틀 1">
            <a:extLst>
              <a:ext uri="{FF2B5EF4-FFF2-40B4-BE49-F238E27FC236}">
                <a16:creationId xmlns:a16="http://schemas.microsoft.com/office/drawing/2014/main" id="{6FFF72FB-C9EA-9822-70D9-643B833C78FC}"/>
              </a:ext>
            </a:extLst>
          </p:cNvPr>
          <p:cNvSpPr>
            <a:spLocks noGrp="1"/>
          </p:cNvSpPr>
          <p:nvPr>
            <p:ph type="body" sz="quarter" idx="12"/>
          </p:nvPr>
        </p:nvSpPr>
        <p:spPr/>
        <p:txBody>
          <a:bodyPr/>
          <a:lstStyle/>
          <a:p>
            <a:pPr latinLnBrk="0"/>
            <a:r>
              <a:rPr lang="ko-KR" altLang="en-US" sz="1800" dirty="0"/>
              <a:t>정해진 평가 절차에 따라 능력단위 적합성 평가는 </a:t>
            </a:r>
            <a:r>
              <a:rPr lang="en-US" altLang="ko-KR" sz="1800" dirty="0"/>
              <a:t>1</a:t>
            </a:r>
            <a:r>
              <a:rPr lang="ko-KR" altLang="en-US" sz="1800" dirty="0"/>
              <a:t>차로 생성형 </a:t>
            </a:r>
            <a:r>
              <a:rPr lang="en-US" altLang="ko-KR" sz="1800" dirty="0"/>
              <a:t>AI</a:t>
            </a:r>
            <a:r>
              <a:rPr lang="ko-KR" altLang="en-US" sz="1800" dirty="0"/>
              <a:t>를 활용하여 실시하였으며</a:t>
            </a:r>
            <a:r>
              <a:rPr lang="en-US" altLang="ko-KR" sz="1800" dirty="0"/>
              <a:t>, 2</a:t>
            </a:r>
            <a:r>
              <a:rPr lang="ko-KR" altLang="en-US" sz="1800" dirty="0"/>
              <a:t>차로 전문가 검토를 통해 평가 결과를 보완</a:t>
            </a:r>
            <a:r>
              <a:rPr lang="en-US" altLang="ko-KR" sz="1800" dirty="0"/>
              <a:t>·</a:t>
            </a:r>
            <a:r>
              <a:rPr lang="ko-KR" altLang="en-US" sz="1800" dirty="0"/>
              <a:t>확정하였음</a:t>
            </a:r>
          </a:p>
        </p:txBody>
      </p:sp>
      <p:sp>
        <p:nvSpPr>
          <p:cNvPr id="5" name="텍스트 개체 틀 4">
            <a:extLst>
              <a:ext uri="{FF2B5EF4-FFF2-40B4-BE49-F238E27FC236}">
                <a16:creationId xmlns:a16="http://schemas.microsoft.com/office/drawing/2014/main" id="{BE57CAE7-A7F6-D751-F5BF-EEEC548DD4F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EE6A10CF-EB14-6BD2-939E-192101104E28}"/>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콘텐츠 개발 적합성 평가</a:t>
            </a:r>
          </a:p>
        </p:txBody>
      </p:sp>
      <p:sp>
        <p:nvSpPr>
          <p:cNvPr id="10" name="직사각형 9">
            <a:extLst>
              <a:ext uri="{FF2B5EF4-FFF2-40B4-BE49-F238E27FC236}">
                <a16:creationId xmlns:a16="http://schemas.microsoft.com/office/drawing/2014/main" id="{62604C44-2DDD-F734-EE03-37F19F2D63C9}"/>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21" name="그룹 20">
            <a:extLst>
              <a:ext uri="{FF2B5EF4-FFF2-40B4-BE49-F238E27FC236}">
                <a16:creationId xmlns:a16="http://schemas.microsoft.com/office/drawing/2014/main" id="{A56FC249-B24D-953F-69F7-2EA62E8ABB0E}"/>
              </a:ext>
            </a:extLst>
          </p:cNvPr>
          <p:cNvGrpSpPr/>
          <p:nvPr/>
        </p:nvGrpSpPr>
        <p:grpSpPr>
          <a:xfrm>
            <a:off x="596515" y="1681027"/>
            <a:ext cx="8749097" cy="266602"/>
            <a:chOff x="802640" y="2236632"/>
            <a:chExt cx="4130805" cy="266552"/>
          </a:xfrm>
        </p:grpSpPr>
        <p:sp>
          <p:nvSpPr>
            <p:cNvPr id="22" name="ListLeanHorizontalTextTopic0">
              <a:extLst>
                <a:ext uri="{FF2B5EF4-FFF2-40B4-BE49-F238E27FC236}">
                  <a16:creationId xmlns:a16="http://schemas.microsoft.com/office/drawing/2014/main" id="{DEB00AEB-C072-837D-A4FA-BE26C321818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평가지표 최종 확정 및 적합성 평가 실시</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3" name="Horizontal Line">
              <a:extLst>
                <a:ext uri="{FF2B5EF4-FFF2-40B4-BE49-F238E27FC236}">
                  <a16:creationId xmlns:a16="http://schemas.microsoft.com/office/drawing/2014/main" id="{2A90FF94-8E88-E2B5-4655-3B8DBA396E07}"/>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3" name="표 12">
            <a:extLst>
              <a:ext uri="{FF2B5EF4-FFF2-40B4-BE49-F238E27FC236}">
                <a16:creationId xmlns:a16="http://schemas.microsoft.com/office/drawing/2014/main" id="{EDF2AF2B-75E4-25F0-1146-62F22C9E1EBF}"/>
              </a:ext>
            </a:extLst>
          </p:cNvPr>
          <p:cNvGraphicFramePr>
            <a:graphicFrameLocks noGrp="1"/>
          </p:cNvGraphicFramePr>
          <p:nvPr>
            <p:extLst>
              <p:ext uri="{D42A27DB-BD31-4B8C-83A1-F6EECF244321}">
                <p14:modId xmlns:p14="http://schemas.microsoft.com/office/powerpoint/2010/main" val="933462057"/>
              </p:ext>
            </p:extLst>
          </p:nvPr>
        </p:nvGraphicFramePr>
        <p:xfrm>
          <a:off x="596900" y="2486278"/>
          <a:ext cx="8748712" cy="3757200"/>
        </p:xfrm>
        <a:graphic>
          <a:graphicData uri="http://schemas.openxmlformats.org/drawingml/2006/table">
            <a:tbl>
              <a:tblPr/>
              <a:tblGrid>
                <a:gridCol w="847959">
                  <a:extLst>
                    <a:ext uri="{9D8B030D-6E8A-4147-A177-3AD203B41FA5}">
                      <a16:colId xmlns:a16="http://schemas.microsoft.com/office/drawing/2014/main" val="1269646663"/>
                    </a:ext>
                  </a:extLst>
                </a:gridCol>
                <a:gridCol w="2201407">
                  <a:extLst>
                    <a:ext uri="{9D8B030D-6E8A-4147-A177-3AD203B41FA5}">
                      <a16:colId xmlns:a16="http://schemas.microsoft.com/office/drawing/2014/main" val="949439353"/>
                    </a:ext>
                  </a:extLst>
                </a:gridCol>
                <a:gridCol w="284207">
                  <a:extLst>
                    <a:ext uri="{9D8B030D-6E8A-4147-A177-3AD203B41FA5}">
                      <a16:colId xmlns:a16="http://schemas.microsoft.com/office/drawing/2014/main" val="445932977"/>
                    </a:ext>
                  </a:extLst>
                </a:gridCol>
                <a:gridCol w="284207">
                  <a:extLst>
                    <a:ext uri="{9D8B030D-6E8A-4147-A177-3AD203B41FA5}">
                      <a16:colId xmlns:a16="http://schemas.microsoft.com/office/drawing/2014/main" val="3259116902"/>
                    </a:ext>
                  </a:extLst>
                </a:gridCol>
                <a:gridCol w="284207">
                  <a:extLst>
                    <a:ext uri="{9D8B030D-6E8A-4147-A177-3AD203B41FA5}">
                      <a16:colId xmlns:a16="http://schemas.microsoft.com/office/drawing/2014/main" val="608903885"/>
                    </a:ext>
                  </a:extLst>
                </a:gridCol>
                <a:gridCol w="284207">
                  <a:extLst>
                    <a:ext uri="{9D8B030D-6E8A-4147-A177-3AD203B41FA5}">
                      <a16:colId xmlns:a16="http://schemas.microsoft.com/office/drawing/2014/main" val="3050012849"/>
                    </a:ext>
                  </a:extLst>
                </a:gridCol>
                <a:gridCol w="284207">
                  <a:extLst>
                    <a:ext uri="{9D8B030D-6E8A-4147-A177-3AD203B41FA5}">
                      <a16:colId xmlns:a16="http://schemas.microsoft.com/office/drawing/2014/main" val="3161404913"/>
                    </a:ext>
                  </a:extLst>
                </a:gridCol>
                <a:gridCol w="284207">
                  <a:extLst>
                    <a:ext uri="{9D8B030D-6E8A-4147-A177-3AD203B41FA5}">
                      <a16:colId xmlns:a16="http://schemas.microsoft.com/office/drawing/2014/main" val="3175519608"/>
                    </a:ext>
                  </a:extLst>
                </a:gridCol>
                <a:gridCol w="284207">
                  <a:extLst>
                    <a:ext uri="{9D8B030D-6E8A-4147-A177-3AD203B41FA5}">
                      <a16:colId xmlns:a16="http://schemas.microsoft.com/office/drawing/2014/main" val="1227054401"/>
                    </a:ext>
                  </a:extLst>
                </a:gridCol>
                <a:gridCol w="284207">
                  <a:extLst>
                    <a:ext uri="{9D8B030D-6E8A-4147-A177-3AD203B41FA5}">
                      <a16:colId xmlns:a16="http://schemas.microsoft.com/office/drawing/2014/main" val="4291007355"/>
                    </a:ext>
                  </a:extLst>
                </a:gridCol>
                <a:gridCol w="3425690">
                  <a:extLst>
                    <a:ext uri="{9D8B030D-6E8A-4147-A177-3AD203B41FA5}">
                      <a16:colId xmlns:a16="http://schemas.microsoft.com/office/drawing/2014/main" val="3788537981"/>
                    </a:ext>
                  </a:extLst>
                </a:gridCol>
              </a:tblGrid>
              <a:tr h="179041">
                <a:tc gridSpan="2">
                  <a:txBody>
                    <a:bodyPr/>
                    <a:lstStyle/>
                    <a:p>
                      <a:pPr algn="ctr" fontAlgn="ctr" latinLnBrk="0">
                        <a:buNone/>
                      </a:pPr>
                      <a:r>
                        <a:rPr lang="en-US" altLang="ko-KR" sz="1000" b="0" i="0" u="none" strike="noStrike" dirty="0">
                          <a:solidFill>
                            <a:schemeClr val="bg1"/>
                          </a:solidFill>
                          <a:effectLst/>
                          <a:latin typeface="+mj-ea"/>
                          <a:ea typeface="+mj-ea"/>
                        </a:rPr>
                        <a:t>NCS</a:t>
                      </a:r>
                      <a:endParaRPr lang="ko-KR" altLang="en-US" sz="1000" b="0" i="0" u="none" strike="noStrike" dirty="0">
                        <a:solidFill>
                          <a:schemeClr val="bg1"/>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gridSpan="4">
                  <a:txBody>
                    <a:bodyPr/>
                    <a:lstStyle/>
                    <a:p>
                      <a:pPr algn="ctr" fontAlgn="ctr" latinLnBrk="0">
                        <a:buNone/>
                      </a:pPr>
                      <a:r>
                        <a:rPr lang="ko-KR" altLang="en-US" sz="1000" b="0" i="0" u="none" strike="noStrike" dirty="0">
                          <a:solidFill>
                            <a:schemeClr val="bg1"/>
                          </a:solidFill>
                          <a:effectLst/>
                          <a:latin typeface="+mj-ea"/>
                          <a:ea typeface="+mj-ea"/>
                        </a:rPr>
                        <a:t>가상훈련 평가지표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4">
                  <a:txBody>
                    <a:bodyPr/>
                    <a:lstStyle/>
                    <a:p>
                      <a:pPr algn="ctr" fontAlgn="ctr" latinLnBrk="0">
                        <a:buNone/>
                      </a:pPr>
                      <a:r>
                        <a:rPr lang="ko-KR" altLang="en-US" sz="1000" b="0" i="0" u="none" strike="noStrike" dirty="0">
                          <a:solidFill>
                            <a:schemeClr val="bg1"/>
                          </a:solidFill>
                          <a:effectLst/>
                          <a:latin typeface="+mj-ea"/>
                          <a:ea typeface="+mj-ea"/>
                        </a:rPr>
                        <a:t>이러닝 평가지표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hMerge="1">
                  <a:txBody>
                    <a:bodyPr/>
                    <a:lstStyle/>
                    <a:p>
                      <a:pPr algn="ctr" fontAlgn="ctr" latinLnBrk="0">
                        <a:buNone/>
                      </a:pP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rowSpan="2">
                  <a:txBody>
                    <a:bodyPr/>
                    <a:lstStyle/>
                    <a:p>
                      <a:pPr algn="ctr" fontAlgn="ctr" latinLnBrk="0">
                        <a:buNone/>
                      </a:pPr>
                      <a:r>
                        <a:rPr lang="ko-KR" altLang="en-US" sz="1000" b="0" i="0" u="none" strike="noStrike" dirty="0">
                          <a:solidFill>
                            <a:schemeClr val="bg1"/>
                          </a:solidFill>
                          <a:effectLst/>
                          <a:latin typeface="+mj-ea"/>
                          <a:ea typeface="+mj-ea"/>
                        </a:rPr>
                        <a:t>평가 근거</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952031225"/>
                  </a:ext>
                </a:extLst>
              </a:tr>
              <a:tr h="179041">
                <a:tc>
                  <a:txBody>
                    <a:bodyPr/>
                    <a:lstStyle/>
                    <a:p>
                      <a:pPr algn="ctr" fontAlgn="ctr" latinLnBrk="0">
                        <a:buNone/>
                      </a:pPr>
                      <a:r>
                        <a:rPr lang="ko-KR" altLang="en-US" sz="1000" b="0" i="0" u="none" strike="noStrike" dirty="0">
                          <a:solidFill>
                            <a:srgbClr val="000000"/>
                          </a:solidFill>
                          <a:effectLst/>
                          <a:latin typeface="+mj-ea"/>
                          <a:ea typeface="+mj-ea"/>
                        </a:rPr>
                        <a:t>능력단위명칭</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ctr" latinLnBrk="0">
                        <a:buNone/>
                      </a:pPr>
                      <a:r>
                        <a:rPr lang="ko-KR" altLang="en-US" sz="1000" b="0" i="0" u="none" strike="noStrike" dirty="0">
                          <a:solidFill>
                            <a:srgbClr val="000000"/>
                          </a:solidFill>
                          <a:effectLst/>
                          <a:latin typeface="+mj-ea"/>
                          <a:ea typeface="+mj-ea"/>
                        </a:rPr>
                        <a:t>능력단위 정의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A</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B</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C</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ko-KR" altLang="en-US" sz="1000" b="0" i="0" u="none" strike="noStrike" dirty="0">
                          <a:solidFill>
                            <a:srgbClr val="000000"/>
                          </a:solidFill>
                          <a:effectLst/>
                          <a:latin typeface="+mj-ea"/>
                          <a:ea typeface="+mj-ea"/>
                        </a:rPr>
                        <a:t>합</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 D</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E</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en-US" altLang="ko-KR" sz="1000" b="0" i="0" u="none" strike="noStrike" dirty="0">
                          <a:solidFill>
                            <a:srgbClr val="000000"/>
                          </a:solidFill>
                          <a:effectLst/>
                          <a:latin typeface="+mj-ea"/>
                          <a:ea typeface="+mj-ea"/>
                        </a:rPr>
                        <a:t>F</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ko-KR" altLang="en-US" sz="1000" b="0" i="0" u="none" strike="noStrike" dirty="0">
                          <a:solidFill>
                            <a:srgbClr val="000000"/>
                          </a:solidFill>
                          <a:effectLst/>
                          <a:latin typeface="+mj-ea"/>
                          <a:ea typeface="+mj-ea"/>
                        </a:rPr>
                        <a:t>합</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endParaRPr dirty="0"/>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extLst>
                  <a:ext uri="{0D108BD9-81ED-4DB2-BD59-A6C34878D82A}">
                    <a16:rowId xmlns:a16="http://schemas.microsoft.com/office/drawing/2014/main" val="1407561977"/>
                  </a:ext>
                </a:extLst>
              </a:tr>
              <a:tr h="758360">
                <a:tc>
                  <a:txBody>
                    <a:bodyPr/>
                    <a:lstStyle/>
                    <a:p>
                      <a:pPr algn="ctr" fontAlgn="ctr" latinLnBrk="0">
                        <a:buNone/>
                      </a:pPr>
                      <a:r>
                        <a:rPr lang="ko-KR" altLang="en-US" sz="1000" b="0" i="0" u="none" strike="noStrike" dirty="0">
                          <a:solidFill>
                            <a:srgbClr val="000000"/>
                          </a:solidFill>
                          <a:effectLst/>
                          <a:latin typeface="+mj-ea"/>
                          <a:ea typeface="+mj-ea"/>
                        </a:rPr>
                        <a:t>조난 구급장비 운용</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조난 구급장비 운용이란 선박에서 사고 발생 시 피해를 최소로 하기 위하여 신속한 초기대응과 </a:t>
                      </a:r>
                      <a:r>
                        <a:rPr lang="ko-KR" altLang="en-US" sz="1000" b="0" i="0" u="none" strike="noStrike" dirty="0" err="1">
                          <a:solidFill>
                            <a:srgbClr val="000000"/>
                          </a:solidFill>
                          <a:effectLst/>
                          <a:latin typeface="+mj-ea"/>
                          <a:ea typeface="+mj-ea"/>
                        </a:rPr>
                        <a:t>의료응급처치를</a:t>
                      </a:r>
                      <a:r>
                        <a:rPr lang="ko-KR" altLang="en-US" sz="1000" b="0" i="0" u="none" strike="noStrike" dirty="0">
                          <a:solidFill>
                            <a:srgbClr val="000000"/>
                          </a:solidFill>
                          <a:effectLst/>
                          <a:latin typeface="+mj-ea"/>
                          <a:ea typeface="+mj-ea"/>
                        </a:rPr>
                        <a:t> 수행하고</a:t>
                      </a:r>
                      <a:r>
                        <a:rPr lang="en-US" altLang="ko-KR" sz="1000" b="0" i="0" u="none" strike="noStrike" dirty="0">
                          <a:solidFill>
                            <a:srgbClr val="000000"/>
                          </a:solidFill>
                          <a:effectLst/>
                          <a:latin typeface="+mj-ea"/>
                          <a:ea typeface="+mj-ea"/>
                        </a:rPr>
                        <a:t>, </a:t>
                      </a:r>
                      <a:r>
                        <a:rPr lang="ko-KR" altLang="en-US" sz="1000" b="0" i="0" u="none" strike="noStrike" dirty="0" err="1">
                          <a:solidFill>
                            <a:srgbClr val="000000"/>
                          </a:solidFill>
                          <a:effectLst/>
                          <a:latin typeface="+mj-ea"/>
                          <a:ea typeface="+mj-ea"/>
                        </a:rPr>
                        <a:t>퇴선</a:t>
                      </a:r>
                      <a:r>
                        <a:rPr lang="ko-KR" altLang="en-US" sz="1000" b="0" i="0" u="none" strike="noStrike" dirty="0">
                          <a:solidFill>
                            <a:srgbClr val="000000"/>
                          </a:solidFill>
                          <a:effectLst/>
                          <a:latin typeface="+mj-ea"/>
                          <a:ea typeface="+mj-ea"/>
                        </a:rPr>
                        <a:t> 시 생존의 가능성을 높일 수 있도록 구명설비와 생존기술을 운용하는 능력이다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응급처치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구명설비 운용은 실제 몸으로 익히는 학습이어서 단순 이러닝보다 </a:t>
                      </a:r>
                      <a:r>
                        <a:rPr lang="en-US" altLang="ko-KR" sz="1000" b="0" i="0" u="none" strike="noStrike" dirty="0">
                          <a:solidFill>
                            <a:srgbClr val="000000"/>
                          </a:solidFill>
                          <a:effectLst/>
                          <a:latin typeface="+mj-ea"/>
                          <a:ea typeface="+mj-ea"/>
                        </a:rPr>
                        <a:t>VR </a:t>
                      </a:r>
                      <a:r>
                        <a:rPr lang="ko-KR" altLang="en-US" sz="1000" b="0" i="0" u="none" strike="noStrike" dirty="0">
                          <a:solidFill>
                            <a:srgbClr val="000000"/>
                          </a:solidFill>
                          <a:effectLst/>
                          <a:latin typeface="+mj-ea"/>
                          <a:ea typeface="+mj-ea"/>
                        </a:rPr>
                        <a:t>실습이 효과적임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1500108"/>
                  </a:ext>
                </a:extLst>
              </a:tr>
              <a:tr h="613530">
                <a:tc>
                  <a:txBody>
                    <a:bodyPr/>
                    <a:lstStyle/>
                    <a:p>
                      <a:pPr algn="ctr" fontAlgn="ctr" latinLnBrk="0">
                        <a:buNone/>
                      </a:pPr>
                      <a:r>
                        <a:rPr lang="ko-KR" altLang="en-US" sz="1000" b="0" i="0" u="none" strike="noStrike" dirty="0">
                          <a:solidFill>
                            <a:srgbClr val="000000"/>
                          </a:solidFill>
                          <a:effectLst/>
                          <a:latin typeface="+mj-ea"/>
                          <a:ea typeface="+mj-ea"/>
                        </a:rPr>
                        <a:t>추진장치 운용</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추진장치 운용이란 선박 추진력을 확보하기 위해 축계장치</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추진기</a:t>
                      </a:r>
                      <a:r>
                        <a:rPr lang="en-US" altLang="ko-KR" sz="1000" b="0" i="0" u="none" strike="noStrike" dirty="0">
                          <a:solidFill>
                            <a:srgbClr val="000000"/>
                          </a:solidFill>
                          <a:effectLst/>
                          <a:latin typeface="+mj-ea"/>
                          <a:ea typeface="+mj-ea"/>
                        </a:rPr>
                        <a:t>(thruster)</a:t>
                      </a:r>
                      <a:r>
                        <a:rPr lang="ko-KR" altLang="en-US" sz="1000" b="0" i="0" u="none" strike="noStrike" dirty="0">
                          <a:solidFill>
                            <a:srgbClr val="000000"/>
                          </a:solidFill>
                          <a:effectLst/>
                          <a:latin typeface="+mj-ea"/>
                          <a:ea typeface="+mj-ea"/>
                        </a:rPr>
                        <a:t>를 운용하고 관리하는 능력이다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21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추진기</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축계장치는 고위험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고비용 장비로 </a:t>
                      </a:r>
                      <a:r>
                        <a:rPr lang="en-US" altLang="ko-KR" sz="1000" b="0" i="0" u="none" strike="noStrike" dirty="0">
                          <a:solidFill>
                            <a:srgbClr val="000000"/>
                          </a:solidFill>
                          <a:effectLst/>
                          <a:latin typeface="+mj-ea"/>
                          <a:ea typeface="+mj-ea"/>
                        </a:rPr>
                        <a:t>VR </a:t>
                      </a:r>
                      <a:r>
                        <a:rPr lang="ko-KR" altLang="en-US" sz="1000" b="0" i="0" u="none" strike="noStrike" dirty="0">
                          <a:solidFill>
                            <a:srgbClr val="000000"/>
                          </a:solidFill>
                          <a:effectLst/>
                          <a:latin typeface="+mj-ea"/>
                          <a:ea typeface="+mj-ea"/>
                        </a:rPr>
                        <a:t>모의 운전이 최적</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9046168"/>
                  </a:ext>
                </a:extLst>
              </a:tr>
              <a:tr h="468701">
                <a:tc>
                  <a:txBody>
                    <a:bodyPr/>
                    <a:lstStyle/>
                    <a:p>
                      <a:pPr algn="ctr" fontAlgn="ctr" latinLnBrk="0">
                        <a:buNone/>
                      </a:pPr>
                      <a:r>
                        <a:rPr lang="ko-KR" altLang="en-US" sz="1000" b="0" i="0" u="none" strike="noStrike">
                          <a:solidFill>
                            <a:srgbClr val="000000"/>
                          </a:solidFill>
                          <a:effectLst/>
                          <a:latin typeface="+mj-ea"/>
                          <a:ea typeface="+mj-ea"/>
                        </a:rPr>
                        <a:t>세일보트 비상시 조종</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세일보트 비상시 조종이란 바람에 따라 세일을 트림하고 황천 시 조종하는 능력이다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위험상황 대응 중심으로 안전환경과 반복훈련 확보에 </a:t>
                      </a:r>
                      <a:r>
                        <a:rPr lang="en-US" altLang="ko-KR" sz="1000" b="0" i="0" u="none" strike="noStrike" dirty="0">
                          <a:solidFill>
                            <a:srgbClr val="000000"/>
                          </a:solidFill>
                          <a:effectLst/>
                          <a:latin typeface="+mj-ea"/>
                          <a:ea typeface="+mj-ea"/>
                        </a:rPr>
                        <a:t>VR </a:t>
                      </a:r>
                      <a:r>
                        <a:rPr lang="ko-KR" altLang="en-US" sz="1000" b="0" i="0" u="none" strike="noStrike" dirty="0">
                          <a:solidFill>
                            <a:srgbClr val="000000"/>
                          </a:solidFill>
                          <a:effectLst/>
                          <a:latin typeface="+mj-ea"/>
                          <a:ea typeface="+mj-ea"/>
                        </a:rPr>
                        <a:t>적합성이 </a:t>
                      </a:r>
                      <a:r>
                        <a:rPr lang="ko-KR" altLang="en-US" sz="1000" b="0" i="0" u="none" strike="noStrike" dirty="0" err="1">
                          <a:solidFill>
                            <a:srgbClr val="000000"/>
                          </a:solidFill>
                          <a:effectLst/>
                          <a:latin typeface="+mj-ea"/>
                          <a:ea typeface="+mj-ea"/>
                        </a:rPr>
                        <a:t>매우높음</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9694771"/>
                  </a:ext>
                </a:extLst>
              </a:tr>
              <a:tr h="758360">
                <a:tc>
                  <a:txBody>
                    <a:bodyPr/>
                    <a:lstStyle/>
                    <a:p>
                      <a:pPr algn="ctr" fontAlgn="ctr" latinLnBrk="0">
                        <a:buNone/>
                      </a:pPr>
                      <a:r>
                        <a:rPr lang="ko-KR" altLang="en-US" sz="1000" b="0" i="0" u="none" strike="noStrike">
                          <a:solidFill>
                            <a:srgbClr val="000000"/>
                          </a:solidFill>
                          <a:effectLst/>
                          <a:latin typeface="+mj-ea"/>
                          <a:ea typeface="+mj-ea"/>
                        </a:rPr>
                        <a:t>경량항공기 이륙</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a:solidFill>
                            <a:srgbClr val="000000"/>
                          </a:solidFill>
                          <a:effectLst/>
                          <a:latin typeface="+mj-ea"/>
                          <a:ea typeface="+mj-ea"/>
                        </a:rPr>
                        <a:t>경량항공기 이륙이란 계획된 비행을 위하여 출항 관제허가를 획득하고</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이</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착륙장의 조건</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기상상태</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항공기의 성능 등을 고려하여 경량항공기를 활주로에서 안전하게 이륙시키는 능력이다</a:t>
                      </a:r>
                      <a:r>
                        <a:rPr lang="en-US" altLang="ko-KR" sz="1000" b="0" i="0" u="none" strike="noStrike">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고위험 기술 숙련이 요구되므로 </a:t>
                      </a:r>
                      <a:r>
                        <a:rPr lang="en-US" altLang="ko-KR" sz="1000" b="0" i="0" u="none" strike="noStrike" dirty="0">
                          <a:solidFill>
                            <a:srgbClr val="000000"/>
                          </a:solidFill>
                          <a:effectLst/>
                          <a:latin typeface="+mj-ea"/>
                          <a:ea typeface="+mj-ea"/>
                        </a:rPr>
                        <a:t>VR </a:t>
                      </a:r>
                      <a:r>
                        <a:rPr lang="ko-KR" altLang="en-US" sz="1000" b="0" i="0" u="none" strike="noStrike" dirty="0">
                          <a:solidFill>
                            <a:srgbClr val="000000"/>
                          </a:solidFill>
                          <a:effectLst/>
                          <a:latin typeface="+mj-ea"/>
                          <a:ea typeface="+mj-ea"/>
                        </a:rPr>
                        <a:t>활용이 필수적</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6624257"/>
                  </a:ext>
                </a:extLst>
              </a:tr>
              <a:tr h="613530">
                <a:tc>
                  <a:txBody>
                    <a:bodyPr/>
                    <a:lstStyle/>
                    <a:p>
                      <a:pPr algn="ctr" fontAlgn="ctr" latinLnBrk="0">
                        <a:buNone/>
                      </a:pPr>
                      <a:r>
                        <a:rPr lang="ko-KR" altLang="en-US" sz="1000" b="0" i="0" u="none" strike="noStrike">
                          <a:solidFill>
                            <a:srgbClr val="000000"/>
                          </a:solidFill>
                          <a:effectLst/>
                          <a:latin typeface="+mj-ea"/>
                          <a:ea typeface="+mj-ea"/>
                        </a:rPr>
                        <a:t>경량항공기 공중조작</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a:solidFill>
                            <a:srgbClr val="000000"/>
                          </a:solidFill>
                          <a:effectLst/>
                          <a:latin typeface="+mj-ea"/>
                          <a:ea typeface="+mj-ea"/>
                        </a:rPr>
                        <a:t>경량항공기 공중조작이란 안전한 비행을 하기 위한 기본적인 직진수평 비행</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선회 비행</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상승</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하강 비행 및 정지 비행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헬리콥터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을 할 수 있는 능력이다</a:t>
                      </a:r>
                      <a:r>
                        <a:rPr lang="en-US" altLang="ko-KR" sz="1000" b="0" i="0" u="none" strike="noStrike">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a:solidFill>
                            <a:srgbClr val="000000"/>
                          </a:solidFill>
                          <a:effectLst/>
                          <a:latin typeface="+mj-ea"/>
                          <a:ea typeface="+mj-ea"/>
                        </a:rPr>
                        <a:t>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altLang="ko-KR" sz="1000" b="0" i="0" u="none" strike="noStrike" dirty="0">
                          <a:solidFill>
                            <a:srgbClr val="000000"/>
                          </a:solidFill>
                          <a:effectLst/>
                          <a:latin typeface="+mj-ea"/>
                          <a:ea typeface="+mj-ea"/>
                        </a:rPr>
                        <a:t>7</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latinLnBrk="0">
                        <a:buNone/>
                      </a:pPr>
                      <a:r>
                        <a:rPr lang="ko-KR" altLang="en-US" sz="1000" b="0" i="0" u="none" strike="noStrike" dirty="0">
                          <a:solidFill>
                            <a:srgbClr val="000000"/>
                          </a:solidFill>
                          <a:effectLst/>
                          <a:latin typeface="+mj-ea"/>
                          <a:ea typeface="+mj-ea"/>
                        </a:rPr>
                        <a:t>다양한 비행 동작을 반복 숙달해야 하므로 실제 운항이전에 </a:t>
                      </a:r>
                      <a:r>
                        <a:rPr lang="en-US" altLang="ko-KR" sz="1000" b="0" i="0" u="none" strike="noStrike" dirty="0">
                          <a:solidFill>
                            <a:srgbClr val="000000"/>
                          </a:solidFill>
                          <a:effectLst/>
                          <a:latin typeface="+mj-ea"/>
                          <a:ea typeface="+mj-ea"/>
                        </a:rPr>
                        <a:t>VR </a:t>
                      </a:r>
                      <a:r>
                        <a:rPr lang="ko-KR" altLang="en-US" sz="1000" b="0" i="0" u="none" strike="noStrike" dirty="0">
                          <a:solidFill>
                            <a:srgbClr val="000000"/>
                          </a:solidFill>
                          <a:effectLst/>
                          <a:latin typeface="+mj-ea"/>
                          <a:ea typeface="+mj-ea"/>
                        </a:rPr>
                        <a:t>훈련이 필수적임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5222196"/>
                  </a:ext>
                </a:extLst>
              </a:tr>
            </a:tbl>
          </a:graphicData>
        </a:graphic>
      </p:graphicFrame>
      <p:sp>
        <p:nvSpPr>
          <p:cNvPr id="14" name="TextBox 13">
            <a:extLst>
              <a:ext uri="{FF2B5EF4-FFF2-40B4-BE49-F238E27FC236}">
                <a16:creationId xmlns:a16="http://schemas.microsoft.com/office/drawing/2014/main" id="{0835FD6F-F4EA-E0DF-6C81-618928087D61}"/>
              </a:ext>
            </a:extLst>
          </p:cNvPr>
          <p:cNvSpPr txBox="1"/>
          <p:nvPr/>
        </p:nvSpPr>
        <p:spPr>
          <a:xfrm>
            <a:off x="596515" y="6246384"/>
            <a:ext cx="7884877" cy="246221"/>
          </a:xfrm>
          <a:prstGeom prst="rect">
            <a:avLst/>
          </a:prstGeom>
          <a:noFill/>
        </p:spPr>
        <p:txBody>
          <a:bodyPr wrap="square" rtlCol="0">
            <a:spAutoFit/>
          </a:bodyPr>
          <a:lstStyle/>
          <a:p>
            <a:pPr algn="l">
              <a:buNone/>
            </a:pPr>
            <a:r>
              <a:rPr lang="en-US" altLang="ko-KR" sz="1000" dirty="0">
                <a:latin typeface="a고딕12" panose="02020600000000000000" pitchFamily="18" charset="-127"/>
                <a:ea typeface="a고딕12" panose="02020600000000000000" pitchFamily="18" charset="-127"/>
              </a:rPr>
              <a:t>* A: </a:t>
            </a:r>
            <a:r>
              <a:rPr lang="ko-KR" altLang="en-US" sz="1000" dirty="0">
                <a:latin typeface="a고딕12" panose="02020600000000000000" pitchFamily="18" charset="-127"/>
                <a:ea typeface="a고딕12" panose="02020600000000000000" pitchFamily="18" charset="-127"/>
              </a:rPr>
              <a:t>실습대체보완</a:t>
            </a:r>
            <a:r>
              <a:rPr lang="en-US" altLang="ko-KR" sz="1000" dirty="0">
                <a:latin typeface="a고딕12" panose="02020600000000000000" pitchFamily="18" charset="-127"/>
                <a:ea typeface="a고딕12" panose="02020600000000000000" pitchFamily="18" charset="-127"/>
              </a:rPr>
              <a:t>, B: </a:t>
            </a:r>
            <a:r>
              <a:rPr lang="ko-KR" altLang="en-US" sz="1000" dirty="0">
                <a:latin typeface="a고딕12" panose="02020600000000000000" pitchFamily="18" charset="-127"/>
                <a:ea typeface="a고딕12" panose="02020600000000000000" pitchFamily="18" charset="-127"/>
              </a:rPr>
              <a:t>반복훈련 적합성</a:t>
            </a:r>
            <a:r>
              <a:rPr lang="en-US" altLang="ko-KR" sz="1000" dirty="0">
                <a:latin typeface="a고딕12" panose="02020600000000000000" pitchFamily="18" charset="-127"/>
                <a:ea typeface="a고딕12" panose="02020600000000000000" pitchFamily="18" charset="-127"/>
              </a:rPr>
              <a:t>, C:</a:t>
            </a:r>
            <a:r>
              <a:rPr lang="ko-KR" altLang="en-US" sz="1000" dirty="0">
                <a:latin typeface="a고딕12" panose="02020600000000000000" pitchFamily="18" charset="-127"/>
                <a:ea typeface="a고딕12" panose="02020600000000000000" pitchFamily="18" charset="-127"/>
              </a:rPr>
              <a:t>안전환경 확보 적합성</a:t>
            </a:r>
            <a:r>
              <a:rPr lang="en-US" altLang="ko-KR" sz="1000" dirty="0">
                <a:latin typeface="a고딕12" panose="02020600000000000000" pitchFamily="18" charset="-127"/>
                <a:ea typeface="a고딕12" panose="02020600000000000000" pitchFamily="18" charset="-127"/>
              </a:rPr>
              <a:t>, D: </a:t>
            </a:r>
            <a:r>
              <a:rPr lang="ko-KR" altLang="en-US" sz="1000" dirty="0" err="1">
                <a:latin typeface="a고딕12" panose="02020600000000000000" pitchFamily="18" charset="-127"/>
                <a:ea typeface="a고딕12" panose="02020600000000000000" pitchFamily="18" charset="-127"/>
              </a:rPr>
              <a:t>비대면</a:t>
            </a:r>
            <a:r>
              <a:rPr lang="ko-KR" altLang="en-US" sz="1000" dirty="0">
                <a:latin typeface="a고딕12" panose="02020600000000000000" pitchFamily="18" charset="-127"/>
                <a:ea typeface="a고딕12" panose="02020600000000000000" pitchFamily="18" charset="-127"/>
              </a:rPr>
              <a:t> 학습 가능성</a:t>
            </a:r>
            <a:r>
              <a:rPr lang="en-US" altLang="ko-KR" sz="1000" dirty="0">
                <a:latin typeface="a고딕12" panose="02020600000000000000" pitchFamily="18" charset="-127"/>
                <a:ea typeface="a고딕12" panose="02020600000000000000" pitchFamily="18" charset="-127"/>
              </a:rPr>
              <a:t>, E: </a:t>
            </a:r>
            <a:r>
              <a:rPr lang="ko-KR" altLang="en-US" sz="1000" dirty="0">
                <a:latin typeface="a고딕12" panose="02020600000000000000" pitchFamily="18" charset="-127"/>
                <a:ea typeface="a고딕12" panose="02020600000000000000" pitchFamily="18" charset="-127"/>
              </a:rPr>
              <a:t>온라인 기반 학습 적합성</a:t>
            </a:r>
            <a:r>
              <a:rPr lang="en-US" altLang="ko-KR" sz="1000" dirty="0">
                <a:latin typeface="a고딕12" panose="02020600000000000000" pitchFamily="18" charset="-127"/>
                <a:ea typeface="a고딕12" panose="02020600000000000000" pitchFamily="18" charset="-127"/>
              </a:rPr>
              <a:t>,  F: </a:t>
            </a:r>
            <a:r>
              <a:rPr lang="ko-KR" altLang="en-US" sz="1000" dirty="0">
                <a:latin typeface="a고딕12" panose="02020600000000000000" pitchFamily="18" charset="-127"/>
                <a:ea typeface="a고딕12" panose="02020600000000000000" pitchFamily="18" charset="-127"/>
              </a:rPr>
              <a:t>자기주도 학습 적합성</a:t>
            </a:r>
          </a:p>
        </p:txBody>
      </p:sp>
      <p:grpSp>
        <p:nvGrpSpPr>
          <p:cNvPr id="18" name="Group 484">
            <a:extLst>
              <a:ext uri="{FF2B5EF4-FFF2-40B4-BE49-F238E27FC236}">
                <a16:creationId xmlns:a16="http://schemas.microsoft.com/office/drawing/2014/main" id="{58A422A0-F710-7EB0-3D99-58E3E24566F2}"/>
              </a:ext>
            </a:extLst>
          </p:cNvPr>
          <p:cNvGrpSpPr>
            <a:grpSpLocks/>
          </p:cNvGrpSpPr>
          <p:nvPr/>
        </p:nvGrpSpPr>
        <p:grpSpPr bwMode="auto">
          <a:xfrm>
            <a:off x="579610" y="5749468"/>
            <a:ext cx="8837885" cy="735670"/>
            <a:chOff x="352" y="2083"/>
            <a:chExt cx="5546" cy="344"/>
          </a:xfrm>
        </p:grpSpPr>
        <p:sp>
          <p:nvSpPr>
            <p:cNvPr id="19" name="Freeform 486">
              <a:extLst>
                <a:ext uri="{FF2B5EF4-FFF2-40B4-BE49-F238E27FC236}">
                  <a16:creationId xmlns:a16="http://schemas.microsoft.com/office/drawing/2014/main" id="{D62FB06E-77AA-8719-6613-D2B7FF61AB2A}"/>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20" name="Freeform 485">
              <a:extLst>
                <a:ext uri="{FF2B5EF4-FFF2-40B4-BE49-F238E27FC236}">
                  <a16:creationId xmlns:a16="http://schemas.microsoft.com/office/drawing/2014/main" id="{54D4C80A-D39F-A98C-2858-80C4E972740D}"/>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sp>
        <p:nvSpPr>
          <p:cNvPr id="24" name="직사각형 23">
            <a:extLst>
              <a:ext uri="{FF2B5EF4-FFF2-40B4-BE49-F238E27FC236}">
                <a16:creationId xmlns:a16="http://schemas.microsoft.com/office/drawing/2014/main" id="{6E84778E-4EA8-DD59-1BAC-A0EC2A520D3D}"/>
              </a:ext>
            </a:extLst>
          </p:cNvPr>
          <p:cNvSpPr/>
          <p:nvPr/>
        </p:nvSpPr>
        <p:spPr>
          <a:xfrm>
            <a:off x="596900" y="2097088"/>
            <a:ext cx="971550" cy="32384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평가 절차</a:t>
            </a:r>
          </a:p>
        </p:txBody>
      </p:sp>
      <p:sp>
        <p:nvSpPr>
          <p:cNvPr id="25" name="직사각형 24">
            <a:extLst>
              <a:ext uri="{FF2B5EF4-FFF2-40B4-BE49-F238E27FC236}">
                <a16:creationId xmlns:a16="http://schemas.microsoft.com/office/drawing/2014/main" id="{2AB71E7F-68B4-2948-2E55-826984081C98}"/>
              </a:ext>
            </a:extLst>
          </p:cNvPr>
          <p:cNvSpPr/>
          <p:nvPr/>
        </p:nvSpPr>
        <p:spPr>
          <a:xfrm>
            <a:off x="1892630"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생성형 </a:t>
            </a:r>
            <a:r>
              <a:rPr lang="en-US" altLang="ko-KR" dirty="0">
                <a:solidFill>
                  <a:schemeClr val="tx1"/>
                </a:solidFill>
                <a:latin typeface="Arial Narrow" panose="020B0606020202030204" pitchFamily="34" charset="0"/>
                <a:ea typeface="a고딕14" panose="02020600000000000000" pitchFamily="18" charset="-127"/>
              </a:rPr>
              <a:t>AI </a:t>
            </a:r>
            <a:r>
              <a:rPr lang="ko-KR" altLang="en-US" dirty="0">
                <a:solidFill>
                  <a:schemeClr val="tx1"/>
                </a:solidFill>
                <a:latin typeface="Arial Narrow" panose="020B0606020202030204" pitchFamily="34" charset="0"/>
                <a:ea typeface="a고딕14" panose="02020600000000000000" pitchFamily="18" charset="-127"/>
              </a:rPr>
              <a:t>결정</a:t>
            </a:r>
          </a:p>
        </p:txBody>
      </p:sp>
      <p:sp>
        <p:nvSpPr>
          <p:cNvPr id="26" name="직사각형 25">
            <a:extLst>
              <a:ext uri="{FF2B5EF4-FFF2-40B4-BE49-F238E27FC236}">
                <a16:creationId xmlns:a16="http://schemas.microsoft.com/office/drawing/2014/main" id="{77208567-165D-51BE-72C3-53B2338C4F5E}"/>
              </a:ext>
            </a:extLst>
          </p:cNvPr>
          <p:cNvSpPr/>
          <p:nvPr/>
        </p:nvSpPr>
        <p:spPr>
          <a:xfrm>
            <a:off x="3439126"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프롬프트 개발</a:t>
            </a:r>
          </a:p>
        </p:txBody>
      </p:sp>
      <p:sp>
        <p:nvSpPr>
          <p:cNvPr id="27" name="직사각형 26">
            <a:extLst>
              <a:ext uri="{FF2B5EF4-FFF2-40B4-BE49-F238E27FC236}">
                <a16:creationId xmlns:a16="http://schemas.microsoft.com/office/drawing/2014/main" id="{618B787E-0F1C-827C-5C56-537F8B6E50D6}"/>
              </a:ext>
            </a:extLst>
          </p:cNvPr>
          <p:cNvSpPr/>
          <p:nvPr/>
        </p:nvSpPr>
        <p:spPr>
          <a:xfrm>
            <a:off x="4985622"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프롬프트 검증</a:t>
            </a:r>
          </a:p>
        </p:txBody>
      </p:sp>
      <p:sp>
        <p:nvSpPr>
          <p:cNvPr id="28" name="직사각형 27">
            <a:extLst>
              <a:ext uri="{FF2B5EF4-FFF2-40B4-BE49-F238E27FC236}">
                <a16:creationId xmlns:a16="http://schemas.microsoft.com/office/drawing/2014/main" id="{111BCE27-23B3-B952-3559-F45DA9D1B73E}"/>
              </a:ext>
            </a:extLst>
          </p:cNvPr>
          <p:cNvSpPr/>
          <p:nvPr/>
        </p:nvSpPr>
        <p:spPr>
          <a:xfrm>
            <a:off x="6532118"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전문가 평가 실시</a:t>
            </a:r>
          </a:p>
        </p:txBody>
      </p:sp>
      <p:sp>
        <p:nvSpPr>
          <p:cNvPr id="29" name="직사각형 28">
            <a:extLst>
              <a:ext uri="{FF2B5EF4-FFF2-40B4-BE49-F238E27FC236}">
                <a16:creationId xmlns:a16="http://schemas.microsoft.com/office/drawing/2014/main" id="{41D3338A-30B3-1253-2CBC-E87D3BF8547B}"/>
              </a:ext>
            </a:extLst>
          </p:cNvPr>
          <p:cNvSpPr/>
          <p:nvPr/>
        </p:nvSpPr>
        <p:spPr>
          <a:xfrm>
            <a:off x="8078616"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결과 검토 및 보완</a:t>
            </a:r>
          </a:p>
        </p:txBody>
      </p:sp>
    </p:spTree>
    <p:extLst>
      <p:ext uri="{BB962C8B-B14F-4D97-AF65-F5344CB8AC3E}">
        <p14:creationId xmlns:p14="http://schemas.microsoft.com/office/powerpoint/2010/main" val="2262251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3573-B04D-A0B2-EBE1-74C287AA861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04A3B8D-8A04-E677-AE6A-058758612973}"/>
              </a:ext>
            </a:extLst>
          </p:cNvPr>
          <p:cNvSpPr>
            <a:spLocks noGrp="1"/>
          </p:cNvSpPr>
          <p:nvPr>
            <p:ph type="body" sz="quarter" idx="12"/>
          </p:nvPr>
        </p:nvSpPr>
        <p:spPr/>
        <p:txBody>
          <a:bodyPr/>
          <a:lstStyle/>
          <a:p>
            <a:pPr latinLnBrk="0"/>
            <a:r>
              <a:rPr lang="ko-KR" altLang="en-US" dirty="0">
                <a:latin typeface="+mj-ea"/>
                <a:ea typeface="+mj-ea"/>
              </a:rPr>
              <a:t>전년도 능력단위 수요평가 시</a:t>
            </a:r>
            <a:r>
              <a:rPr lang="en-US" altLang="ko-KR" dirty="0">
                <a:latin typeface="+mj-ea"/>
                <a:ea typeface="+mj-ea"/>
              </a:rPr>
              <a:t>,</a:t>
            </a:r>
            <a:r>
              <a:rPr lang="ko-KR" altLang="en-US" dirty="0">
                <a:latin typeface="+mj-ea"/>
                <a:ea typeface="+mj-ea"/>
              </a:rPr>
              <a:t> 기 개발 능력단위</a:t>
            </a:r>
            <a:r>
              <a:rPr lang="en-US" altLang="ko-KR" dirty="0">
                <a:latin typeface="+mj-ea"/>
                <a:ea typeface="+mj-ea"/>
              </a:rPr>
              <a:t>, </a:t>
            </a:r>
            <a:r>
              <a:rPr lang="ko-KR" altLang="en-US" dirty="0">
                <a:latin typeface="+mj-ea"/>
                <a:ea typeface="+mj-ea"/>
              </a:rPr>
              <a:t>공학교육 적합여부 평가 단계를 삭제하고 진행하되</a:t>
            </a:r>
            <a:r>
              <a:rPr lang="en-US" altLang="ko-KR" dirty="0">
                <a:latin typeface="+mj-ea"/>
                <a:ea typeface="+mj-ea"/>
              </a:rPr>
              <a:t>, </a:t>
            </a:r>
            <a:r>
              <a:rPr lang="ko-KR" altLang="en-US" dirty="0">
                <a:latin typeface="+mj-ea"/>
                <a:ea typeface="+mj-ea"/>
              </a:rPr>
              <a:t>평가 효율성을 고려해 전년도 평가에서 제외된 능력단위를 대상으로 평가를 진행함</a:t>
            </a:r>
          </a:p>
        </p:txBody>
      </p:sp>
      <p:sp>
        <p:nvSpPr>
          <p:cNvPr id="5" name="텍스트 개체 틀 4">
            <a:extLst>
              <a:ext uri="{FF2B5EF4-FFF2-40B4-BE49-F238E27FC236}">
                <a16:creationId xmlns:a16="http://schemas.microsoft.com/office/drawing/2014/main" id="{E173025B-31FC-707B-68AB-A4D9A873A4C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2" name="직사각형 11">
            <a:extLst>
              <a:ext uri="{FF2B5EF4-FFF2-40B4-BE49-F238E27FC236}">
                <a16:creationId xmlns:a16="http://schemas.microsoft.com/office/drawing/2014/main" id="{37BC574F-425E-F551-25FE-8B18B38E913A}"/>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CECDBB52-D67B-22A3-69D7-5BB30C82D38A}"/>
              </a:ext>
            </a:extLst>
          </p:cNvPr>
          <p:cNvGrpSpPr/>
          <p:nvPr/>
        </p:nvGrpSpPr>
        <p:grpSpPr>
          <a:xfrm>
            <a:off x="596515" y="1681026"/>
            <a:ext cx="8749098" cy="266603"/>
            <a:chOff x="802640" y="2236631"/>
            <a:chExt cx="4130805" cy="266553"/>
          </a:xfrm>
        </p:grpSpPr>
        <p:sp>
          <p:nvSpPr>
            <p:cNvPr id="15" name="ListLeanHorizontalTextTopic0">
              <a:extLst>
                <a:ext uri="{FF2B5EF4-FFF2-40B4-BE49-F238E27FC236}">
                  <a16:creationId xmlns:a16="http://schemas.microsoft.com/office/drawing/2014/main" id="{7F64AFE2-7F61-6493-0053-430588DC73CA}"/>
                </a:ext>
              </a:extLst>
            </p:cNvPr>
            <p:cNvSpPr txBox="1"/>
            <p:nvPr/>
          </p:nvSpPr>
          <p:spPr>
            <a:xfrm>
              <a:off x="802640" y="2236631"/>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능력단위 수요평가 절차 </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2248A426-3FC0-065D-D68B-6124DA4247DF}"/>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0" name="텍스트 개체 틀 87">
            <a:extLst>
              <a:ext uri="{FF2B5EF4-FFF2-40B4-BE49-F238E27FC236}">
                <a16:creationId xmlns:a16="http://schemas.microsoft.com/office/drawing/2014/main" id="{C78210D6-CAE5-3A3F-DC81-056E7043E393}"/>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수요평가</a:t>
            </a:r>
          </a:p>
        </p:txBody>
      </p:sp>
      <p:cxnSp>
        <p:nvCxnSpPr>
          <p:cNvPr id="4" name="직선 화살표 연결선 3">
            <a:extLst>
              <a:ext uri="{FF2B5EF4-FFF2-40B4-BE49-F238E27FC236}">
                <a16:creationId xmlns:a16="http://schemas.microsoft.com/office/drawing/2014/main" id="{20254C1F-37DA-D1F6-A6EC-0B0096F3C5C5}"/>
              </a:ext>
            </a:extLst>
          </p:cNvPr>
          <p:cNvCxnSpPr>
            <a:cxnSpLocks/>
            <a:stCxn id="7" idx="3"/>
            <a:endCxn id="11" idx="1"/>
          </p:cNvCxnSpPr>
          <p:nvPr/>
        </p:nvCxnSpPr>
        <p:spPr>
          <a:xfrm>
            <a:off x="3152630" y="2421007"/>
            <a:ext cx="4925986"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FB85F0EB-44A5-8535-8DF6-E4E0DC002B60}"/>
              </a:ext>
            </a:extLst>
          </p:cNvPr>
          <p:cNvSpPr/>
          <p:nvPr/>
        </p:nvSpPr>
        <p:spPr>
          <a:xfrm>
            <a:off x="596900" y="2097089"/>
            <a:ext cx="971550" cy="647836"/>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2024</a:t>
            </a:r>
            <a:r>
              <a:rPr lang="ko-KR" altLang="en-US" dirty="0">
                <a:solidFill>
                  <a:schemeClr val="bg1"/>
                </a:solidFill>
                <a:latin typeface="Arial Narrow" panose="020B0606020202030204" pitchFamily="34" charset="0"/>
                <a:ea typeface="a고딕14" panose="02020600000000000000" pitchFamily="18" charset="-127"/>
              </a:rPr>
              <a:t>년 절차</a:t>
            </a:r>
          </a:p>
        </p:txBody>
      </p:sp>
      <p:sp>
        <p:nvSpPr>
          <p:cNvPr id="7" name="직사각형 6">
            <a:extLst>
              <a:ext uri="{FF2B5EF4-FFF2-40B4-BE49-F238E27FC236}">
                <a16:creationId xmlns:a16="http://schemas.microsoft.com/office/drawing/2014/main" id="{C9AF731B-F496-E7C4-9728-E405D77502A4}"/>
              </a:ext>
            </a:extLst>
          </p:cNvPr>
          <p:cNvSpPr/>
          <p:nvPr/>
        </p:nvSpPr>
        <p:spPr>
          <a:xfrm>
            <a:off x="1892630" y="2097089"/>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세분류</a:t>
            </a:r>
            <a:r>
              <a:rPr lang="ko-KR" altLang="en-US" dirty="0">
                <a:solidFill>
                  <a:schemeClr val="tx1"/>
                </a:solidFill>
                <a:latin typeface="Arial Narrow" panose="020B0606020202030204" pitchFamily="34" charset="0"/>
                <a:ea typeface="a고딕14" panose="02020600000000000000" pitchFamily="18" charset="-127"/>
              </a:rPr>
              <a:t> 평가 결과에 따른 능력단위 도출</a:t>
            </a:r>
          </a:p>
        </p:txBody>
      </p:sp>
      <p:sp>
        <p:nvSpPr>
          <p:cNvPr id="8" name="직사각형 7">
            <a:extLst>
              <a:ext uri="{FF2B5EF4-FFF2-40B4-BE49-F238E27FC236}">
                <a16:creationId xmlns:a16="http://schemas.microsoft.com/office/drawing/2014/main" id="{3FD193CD-E16F-7314-2D0B-EF4DE9930B37}"/>
              </a:ext>
            </a:extLst>
          </p:cNvPr>
          <p:cNvSpPr/>
          <p:nvPr/>
        </p:nvSpPr>
        <p:spPr>
          <a:xfrm>
            <a:off x="3439126" y="2097089"/>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기개발과정 활용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능력단위  제외</a:t>
            </a:r>
          </a:p>
        </p:txBody>
      </p:sp>
      <p:sp>
        <p:nvSpPr>
          <p:cNvPr id="9" name="직사각형 8">
            <a:extLst>
              <a:ext uri="{FF2B5EF4-FFF2-40B4-BE49-F238E27FC236}">
                <a16:creationId xmlns:a16="http://schemas.microsoft.com/office/drawing/2014/main" id="{E7AD304F-2E5D-3D00-75C7-08FDEA4B1BCB}"/>
              </a:ext>
            </a:extLst>
          </p:cNvPr>
          <p:cNvSpPr/>
          <p:nvPr/>
        </p:nvSpPr>
        <p:spPr>
          <a:xfrm>
            <a:off x="4985622" y="2097089"/>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공학교육에 부적합 능력단위 제외</a:t>
            </a:r>
          </a:p>
        </p:txBody>
      </p:sp>
      <p:sp>
        <p:nvSpPr>
          <p:cNvPr id="10" name="직사각형 9">
            <a:extLst>
              <a:ext uri="{FF2B5EF4-FFF2-40B4-BE49-F238E27FC236}">
                <a16:creationId xmlns:a16="http://schemas.microsoft.com/office/drawing/2014/main" id="{2E92FDAF-4FB6-2262-883C-17EBA4578B23}"/>
              </a:ext>
            </a:extLst>
          </p:cNvPr>
          <p:cNvSpPr/>
          <p:nvPr/>
        </p:nvSpPr>
        <p:spPr>
          <a:xfrm>
            <a:off x="6532118" y="2097089"/>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전문가 평가 실시</a:t>
            </a:r>
          </a:p>
        </p:txBody>
      </p:sp>
      <p:sp>
        <p:nvSpPr>
          <p:cNvPr id="11" name="직사각형 10">
            <a:extLst>
              <a:ext uri="{FF2B5EF4-FFF2-40B4-BE49-F238E27FC236}">
                <a16:creationId xmlns:a16="http://schemas.microsoft.com/office/drawing/2014/main" id="{33BF8414-8B94-35BE-EEA5-234E054629CF}"/>
              </a:ext>
            </a:extLst>
          </p:cNvPr>
          <p:cNvSpPr/>
          <p:nvPr/>
        </p:nvSpPr>
        <p:spPr>
          <a:xfrm>
            <a:off x="8078616" y="2097089"/>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수요 평가 순위 도출 및 수요조사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범위 확정</a:t>
            </a:r>
          </a:p>
        </p:txBody>
      </p:sp>
      <p:cxnSp>
        <p:nvCxnSpPr>
          <p:cNvPr id="20" name="직선 화살표 연결선 19">
            <a:extLst>
              <a:ext uri="{FF2B5EF4-FFF2-40B4-BE49-F238E27FC236}">
                <a16:creationId xmlns:a16="http://schemas.microsoft.com/office/drawing/2014/main" id="{4BFD6D2D-ADC9-05DA-4589-7BBA0A854498}"/>
              </a:ext>
            </a:extLst>
          </p:cNvPr>
          <p:cNvCxnSpPr>
            <a:cxnSpLocks/>
            <a:stCxn id="22" idx="3"/>
            <a:endCxn id="26" idx="1"/>
          </p:cNvCxnSpPr>
          <p:nvPr/>
        </p:nvCxnSpPr>
        <p:spPr>
          <a:xfrm>
            <a:off x="3167489" y="3218302"/>
            <a:ext cx="4925986"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E36C326-0EF6-EAEB-6098-44FD197D9289}"/>
              </a:ext>
            </a:extLst>
          </p:cNvPr>
          <p:cNvSpPr/>
          <p:nvPr/>
        </p:nvSpPr>
        <p:spPr>
          <a:xfrm>
            <a:off x="611759" y="2894384"/>
            <a:ext cx="971550" cy="647836"/>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2025</a:t>
            </a:r>
            <a:r>
              <a:rPr lang="ko-KR" altLang="en-US" dirty="0">
                <a:solidFill>
                  <a:schemeClr val="bg1"/>
                </a:solidFill>
                <a:latin typeface="Arial Narrow" panose="020B0606020202030204" pitchFamily="34" charset="0"/>
                <a:ea typeface="a고딕14" panose="02020600000000000000" pitchFamily="18" charset="-127"/>
              </a:rPr>
              <a:t>년 </a:t>
            </a:r>
            <a:br>
              <a:rPr lang="en-US" altLang="ko-KR" dirty="0">
                <a:solidFill>
                  <a:schemeClr val="bg1"/>
                </a:solidFill>
                <a:latin typeface="Arial Narrow" panose="020B0606020202030204" pitchFamily="34" charset="0"/>
                <a:ea typeface="a고딕14" panose="02020600000000000000" pitchFamily="18" charset="-127"/>
              </a:rPr>
            </a:br>
            <a:r>
              <a:rPr lang="ko-KR" altLang="en-US" dirty="0">
                <a:solidFill>
                  <a:schemeClr val="bg1"/>
                </a:solidFill>
                <a:latin typeface="Arial Narrow" panose="020B0606020202030204" pitchFamily="34" charset="0"/>
                <a:ea typeface="a고딕14" panose="02020600000000000000" pitchFamily="18" charset="-127"/>
              </a:rPr>
              <a:t>수정 절차</a:t>
            </a:r>
          </a:p>
        </p:txBody>
      </p:sp>
      <p:sp>
        <p:nvSpPr>
          <p:cNvPr id="22" name="직사각형 21">
            <a:extLst>
              <a:ext uri="{FF2B5EF4-FFF2-40B4-BE49-F238E27FC236}">
                <a16:creationId xmlns:a16="http://schemas.microsoft.com/office/drawing/2014/main" id="{718B45DE-81B2-DEC3-583A-0B641D64DBC8}"/>
              </a:ext>
            </a:extLst>
          </p:cNvPr>
          <p:cNvSpPr/>
          <p:nvPr/>
        </p:nvSpPr>
        <p:spPr>
          <a:xfrm>
            <a:off x="1907489" y="2894384"/>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세분류</a:t>
            </a:r>
            <a:r>
              <a:rPr lang="ko-KR" altLang="en-US" dirty="0">
                <a:solidFill>
                  <a:schemeClr val="tx1"/>
                </a:solidFill>
                <a:latin typeface="Arial Narrow" panose="020B0606020202030204" pitchFamily="34" charset="0"/>
                <a:ea typeface="a고딕14" panose="02020600000000000000" pitchFamily="18" charset="-127"/>
              </a:rPr>
              <a:t> 평가 결과에 따른 능력단위 도출</a:t>
            </a:r>
          </a:p>
        </p:txBody>
      </p:sp>
      <p:sp>
        <p:nvSpPr>
          <p:cNvPr id="25" name="직사각형 24">
            <a:extLst>
              <a:ext uri="{FF2B5EF4-FFF2-40B4-BE49-F238E27FC236}">
                <a16:creationId xmlns:a16="http://schemas.microsoft.com/office/drawing/2014/main" id="{66A47ED0-B298-86A3-510B-8E11B3676367}"/>
              </a:ext>
            </a:extLst>
          </p:cNvPr>
          <p:cNvSpPr/>
          <p:nvPr/>
        </p:nvSpPr>
        <p:spPr>
          <a:xfrm>
            <a:off x="6546977" y="2894384"/>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전문가 평가 실시</a:t>
            </a:r>
          </a:p>
        </p:txBody>
      </p:sp>
      <p:sp>
        <p:nvSpPr>
          <p:cNvPr id="26" name="직사각형 25">
            <a:extLst>
              <a:ext uri="{FF2B5EF4-FFF2-40B4-BE49-F238E27FC236}">
                <a16:creationId xmlns:a16="http://schemas.microsoft.com/office/drawing/2014/main" id="{2FAD5B07-899D-4D81-4DC6-6CBF069796A8}"/>
              </a:ext>
            </a:extLst>
          </p:cNvPr>
          <p:cNvSpPr/>
          <p:nvPr/>
        </p:nvSpPr>
        <p:spPr>
          <a:xfrm>
            <a:off x="8093475" y="2894384"/>
            <a:ext cx="1260000" cy="64783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수요 평가 순위 도출 및 수요조사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범위 확정</a:t>
            </a:r>
          </a:p>
        </p:txBody>
      </p:sp>
      <p:sp>
        <p:nvSpPr>
          <p:cNvPr id="27" name="사각형: 둥근 모서리 26">
            <a:extLst>
              <a:ext uri="{FF2B5EF4-FFF2-40B4-BE49-F238E27FC236}">
                <a16:creationId xmlns:a16="http://schemas.microsoft.com/office/drawing/2014/main" id="{ED8F1575-7788-218C-A4EA-434E8A1EC6E1}"/>
              </a:ext>
            </a:extLst>
          </p:cNvPr>
          <p:cNvSpPr/>
          <p:nvPr/>
        </p:nvSpPr>
        <p:spPr>
          <a:xfrm>
            <a:off x="3439126" y="2894384"/>
            <a:ext cx="2821353" cy="647836"/>
          </a:xfrm>
          <a:prstGeom prst="roundRect">
            <a:avLst/>
          </a:prstGeom>
          <a:solidFill>
            <a:srgbClr val="F2DCDB">
              <a:alpha val="95000"/>
            </a:srgbClr>
          </a:solid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i="1" dirty="0">
                <a:solidFill>
                  <a:schemeClr val="accent2"/>
                </a:solidFill>
                <a:latin typeface="Arial Narrow" panose="020B0606020202030204" pitchFamily="34" charset="0"/>
                <a:ea typeface="a고딕14" panose="02020600000000000000" pitchFamily="18" charset="-127"/>
              </a:rPr>
              <a:t>필터 삭제에 따른 평가대상 범위 확대</a:t>
            </a:r>
            <a:endParaRPr lang="en-US" altLang="ko-KR" i="1" dirty="0">
              <a:solidFill>
                <a:schemeClr val="accent2"/>
              </a:solidFill>
              <a:latin typeface="Arial Narrow" panose="020B0606020202030204" pitchFamily="34" charset="0"/>
              <a:ea typeface="a고딕14" panose="02020600000000000000" pitchFamily="18" charset="-127"/>
            </a:endParaRPr>
          </a:p>
          <a:p>
            <a:pPr>
              <a:buNone/>
            </a:pPr>
            <a:r>
              <a:rPr lang="ko-KR" altLang="en-US" i="1" dirty="0">
                <a:solidFill>
                  <a:schemeClr val="accent2"/>
                </a:solidFill>
                <a:latin typeface="Arial Narrow" panose="020B0606020202030204" pitchFamily="34" charset="0"/>
                <a:ea typeface="a고딕14" panose="02020600000000000000" pitchFamily="18" charset="-127"/>
              </a:rPr>
              <a:t>→ 평가 효율성 이슈 발생</a:t>
            </a:r>
          </a:p>
        </p:txBody>
      </p:sp>
      <p:sp>
        <p:nvSpPr>
          <p:cNvPr id="34" name="사다리꼴 12">
            <a:extLst>
              <a:ext uri="{FF2B5EF4-FFF2-40B4-BE49-F238E27FC236}">
                <a16:creationId xmlns:a16="http://schemas.microsoft.com/office/drawing/2014/main" id="{B251CE03-2E6C-2F7F-8A50-C8496D1B486A}"/>
              </a:ext>
            </a:extLst>
          </p:cNvPr>
          <p:cNvSpPr/>
          <p:nvPr/>
        </p:nvSpPr>
        <p:spPr>
          <a:xfrm rot="10800000" flipH="1" flipV="1">
            <a:off x="3269690" y="3542219"/>
            <a:ext cx="3096344" cy="410503"/>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40774 h 440774"/>
              <a:gd name="connsiteX1" fmla="*/ 131440 w 1756457"/>
              <a:gd name="connsiteY1" fmla="*/ 0 h 440774"/>
              <a:gd name="connsiteX2" fmla="*/ 1480571 w 1756457"/>
              <a:gd name="connsiteY2" fmla="*/ 4370 h 440774"/>
              <a:gd name="connsiteX3" fmla="*/ 1756457 w 1756457"/>
              <a:gd name="connsiteY3" fmla="*/ 440774 h 440774"/>
              <a:gd name="connsiteX4" fmla="*/ 0 w 1756457"/>
              <a:gd name="connsiteY4" fmla="*/ 440774 h 440774"/>
              <a:gd name="connsiteX0" fmla="*/ 0 w 1756457"/>
              <a:gd name="connsiteY0" fmla="*/ 449210 h 449210"/>
              <a:gd name="connsiteX1" fmla="*/ 131440 w 1756457"/>
              <a:gd name="connsiteY1" fmla="*/ 8436 h 449210"/>
              <a:gd name="connsiteX2" fmla="*/ 1644165 w 1756457"/>
              <a:gd name="connsiteY2" fmla="*/ 0 h 449210"/>
              <a:gd name="connsiteX3" fmla="*/ 1756457 w 1756457"/>
              <a:gd name="connsiteY3" fmla="*/ 449210 h 449210"/>
              <a:gd name="connsiteX4" fmla="*/ 0 w 1756457"/>
              <a:gd name="connsiteY4" fmla="*/ 449210 h 449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49210">
                <a:moveTo>
                  <a:pt x="0" y="449210"/>
                </a:moveTo>
                <a:lnTo>
                  <a:pt x="131440" y="8436"/>
                </a:lnTo>
                <a:lnTo>
                  <a:pt x="1644165" y="0"/>
                </a:lnTo>
                <a:lnTo>
                  <a:pt x="1756457" y="449210"/>
                </a:lnTo>
                <a:lnTo>
                  <a:pt x="0" y="449210"/>
                </a:lnTo>
                <a:close/>
              </a:path>
            </a:pathLst>
          </a:custGeom>
          <a:gradFill>
            <a:gsLst>
              <a:gs pos="0">
                <a:srgbClr val="F0F5FA">
                  <a:alpha val="41000"/>
                </a:srgbClr>
              </a:gs>
              <a:gs pos="53000">
                <a:schemeClr val="bg1">
                  <a:lumMod val="85000"/>
                </a:schemeClr>
              </a:gs>
              <a:gs pos="100000">
                <a:schemeClr val="bg1">
                  <a:lumMod val="65000"/>
                  <a:alpha val="87000"/>
                </a:schemeClr>
              </a:gs>
            </a:gsLst>
            <a:lin ang="16200000" scaled="0"/>
          </a:gradFill>
          <a:ln w="25400" cap="flat" cmpd="sng" algn="ctr">
            <a:noFill/>
            <a:prstDash val="solid"/>
          </a:ln>
          <a:effectLst/>
        </p:spPr>
        <p:txBody>
          <a:bodyPr rtlCol="0" anchor="t"/>
          <a:lstStyle/>
          <a:p>
            <a:pPr marL="90488" marR="0" lvl="0" indent="-904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grpSp>
        <p:nvGrpSpPr>
          <p:cNvPr id="37" name="그룹 36">
            <a:extLst>
              <a:ext uri="{FF2B5EF4-FFF2-40B4-BE49-F238E27FC236}">
                <a16:creationId xmlns:a16="http://schemas.microsoft.com/office/drawing/2014/main" id="{779948FE-05C1-67B4-F720-475A8D6D78BD}"/>
              </a:ext>
            </a:extLst>
          </p:cNvPr>
          <p:cNvGrpSpPr/>
          <p:nvPr/>
        </p:nvGrpSpPr>
        <p:grpSpPr>
          <a:xfrm>
            <a:off x="611759" y="3902890"/>
            <a:ext cx="8741717" cy="445505"/>
            <a:chOff x="484644" y="2437322"/>
            <a:chExt cx="8741717" cy="873249"/>
          </a:xfrm>
        </p:grpSpPr>
        <p:sp>
          <p:nvSpPr>
            <p:cNvPr id="38" name="모서리가 둥근 직사각형 28">
              <a:extLst>
                <a:ext uri="{FF2B5EF4-FFF2-40B4-BE49-F238E27FC236}">
                  <a16:creationId xmlns:a16="http://schemas.microsoft.com/office/drawing/2014/main" id="{5BAB152D-3A62-E2AA-07E2-0B447D6FEF60}"/>
                </a:ext>
              </a:extLst>
            </p:cNvPr>
            <p:cNvSpPr/>
            <p:nvPr/>
          </p:nvSpPr>
          <p:spPr>
            <a:xfrm>
              <a:off x="484644" y="2437322"/>
              <a:ext cx="974594" cy="873249"/>
            </a:xfrm>
            <a:prstGeom prst="rect">
              <a:avLst/>
            </a:prstGeom>
            <a:solidFill>
              <a:srgbClr val="3061A3"/>
            </a:solidFill>
          </p:spPr>
          <p:txBody>
            <a:bodyPr wrap="square" lIns="0" tIns="36000" rIns="0" bIns="36000" anchor="ctr">
              <a:noAutofit/>
            </a:bodyPr>
            <a:lstStyle/>
            <a:p>
              <a:pPr latinLnBrk="0">
                <a:buNone/>
              </a:pPr>
              <a:r>
                <a:rPr lang="ko-KR" altLang="en-US" dirty="0">
                  <a:solidFill>
                    <a:schemeClr val="bg1"/>
                  </a:solidFill>
                  <a:latin typeface="a고딕14" panose="02020600000000000000" pitchFamily="18" charset="-127"/>
                  <a:ea typeface="a고딕14" panose="02020600000000000000" pitchFamily="18" charset="-127"/>
                </a:rPr>
                <a:t>대응방안</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39" name="모서리가 둥근 직사각형 28">
              <a:extLst>
                <a:ext uri="{FF2B5EF4-FFF2-40B4-BE49-F238E27FC236}">
                  <a16:creationId xmlns:a16="http://schemas.microsoft.com/office/drawing/2014/main" id="{DBDA1B6F-361C-1C85-F0A7-36CF69C0BDB3}"/>
                </a:ext>
              </a:extLst>
            </p:cNvPr>
            <p:cNvSpPr/>
            <p:nvPr/>
          </p:nvSpPr>
          <p:spPr>
            <a:xfrm>
              <a:off x="1780375" y="2437322"/>
              <a:ext cx="7445986"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buFont typeface="Wingdings" panose="05000000000000000000" pitchFamily="2" charset="2"/>
                <a:buChar char="Ø"/>
              </a:pPr>
              <a:r>
                <a:rPr lang="en-US" altLang="ko-KR" dirty="0">
                  <a:latin typeface="a고딕14" panose="02020600000000000000" pitchFamily="18" charset="-127"/>
                  <a:ea typeface="a고딕14" panose="02020600000000000000" pitchFamily="18" charset="-127"/>
                </a:rPr>
                <a:t>NCS </a:t>
              </a:r>
              <a:r>
                <a:rPr lang="ko-KR" altLang="en-US" dirty="0" err="1">
                  <a:latin typeface="a고딕14" panose="02020600000000000000" pitchFamily="18" charset="-127"/>
                  <a:ea typeface="a고딕14" panose="02020600000000000000" pitchFamily="18" charset="-127"/>
                </a:rPr>
                <a:t>세분류</a:t>
              </a:r>
              <a:r>
                <a:rPr lang="ko-KR" altLang="en-US" dirty="0">
                  <a:latin typeface="a고딕14" panose="02020600000000000000" pitchFamily="18" charset="-127"/>
                  <a:ea typeface="a고딕14" panose="02020600000000000000" pitchFamily="18" charset="-127"/>
                </a:rPr>
                <a:t> 수요평가 최신화 방향성 준용하여 전년도 평가 결과 활용</a:t>
              </a:r>
            </a:p>
          </p:txBody>
        </p:sp>
      </p:grpSp>
      <p:grpSp>
        <p:nvGrpSpPr>
          <p:cNvPr id="41" name="그룹 40">
            <a:extLst>
              <a:ext uri="{FF2B5EF4-FFF2-40B4-BE49-F238E27FC236}">
                <a16:creationId xmlns:a16="http://schemas.microsoft.com/office/drawing/2014/main" id="{DB320DD0-E52C-EBAE-9A07-8B3DC9D4DFC4}"/>
              </a:ext>
            </a:extLst>
          </p:cNvPr>
          <p:cNvGrpSpPr/>
          <p:nvPr/>
        </p:nvGrpSpPr>
        <p:grpSpPr>
          <a:xfrm>
            <a:off x="616417" y="4500446"/>
            <a:ext cx="8741716" cy="653776"/>
            <a:chOff x="484644" y="2437322"/>
            <a:chExt cx="8841741" cy="873249"/>
          </a:xfrm>
        </p:grpSpPr>
        <p:sp>
          <p:nvSpPr>
            <p:cNvPr id="42" name="모서리가 둥근 직사각형 28">
              <a:extLst>
                <a:ext uri="{FF2B5EF4-FFF2-40B4-BE49-F238E27FC236}">
                  <a16:creationId xmlns:a16="http://schemas.microsoft.com/office/drawing/2014/main" id="{BF046993-0436-0E20-E953-098520841F89}"/>
                </a:ext>
              </a:extLst>
            </p:cNvPr>
            <p:cNvSpPr/>
            <p:nvPr/>
          </p:nvSpPr>
          <p:spPr>
            <a:xfrm>
              <a:off x="484644" y="2437322"/>
              <a:ext cx="974594" cy="873249"/>
            </a:xfrm>
            <a:prstGeom prst="rect">
              <a:avLst/>
            </a:prstGeom>
            <a:solidFill>
              <a:srgbClr val="3061A3"/>
            </a:solidFill>
          </p:spPr>
          <p:txBody>
            <a:bodyPr wrap="square" lIns="0" tIns="36000" rIns="0" bIns="36000" anchor="ctr">
              <a:noAutofit/>
            </a:bodyPr>
            <a:lstStyle/>
            <a:p>
              <a:pPr latinLnBrk="0">
                <a:buNone/>
              </a:pPr>
              <a:r>
                <a:rPr lang="ko-KR" altLang="en-US">
                  <a:solidFill>
                    <a:schemeClr val="bg1"/>
                  </a:solidFill>
                  <a:latin typeface="a고딕14" panose="02020600000000000000" pitchFamily="18" charset="-127"/>
                  <a:ea typeface="a고딕14" panose="02020600000000000000" pitchFamily="18" charset="-127"/>
                </a:rPr>
                <a:t>평가범위</a:t>
              </a:r>
              <a:endParaRPr lang="en-US" altLang="ko-KR" dirty="0">
                <a:solidFill>
                  <a:schemeClr val="bg1"/>
                </a:solidFill>
                <a:latin typeface="a고딕14" panose="02020600000000000000" pitchFamily="18" charset="-127"/>
                <a:ea typeface="a고딕14" panose="02020600000000000000" pitchFamily="18" charset="-127"/>
              </a:endParaRPr>
            </a:p>
          </p:txBody>
        </p:sp>
        <p:sp>
          <p:nvSpPr>
            <p:cNvPr id="46" name="모서리가 둥근 직사각형 28">
              <a:extLst>
                <a:ext uri="{FF2B5EF4-FFF2-40B4-BE49-F238E27FC236}">
                  <a16:creationId xmlns:a16="http://schemas.microsoft.com/office/drawing/2014/main" id="{91F2605F-B11E-2FA0-8667-B2F162462573}"/>
                </a:ext>
              </a:extLst>
            </p:cNvPr>
            <p:cNvSpPr/>
            <p:nvPr/>
          </p:nvSpPr>
          <p:spPr>
            <a:xfrm>
              <a:off x="1780374" y="2437322"/>
              <a:ext cx="7546011"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pPr>
              <a:r>
                <a:rPr lang="ko-KR" altLang="en-US" dirty="0">
                  <a:latin typeface="a고딕14" panose="02020600000000000000" pitchFamily="18" charset="-127"/>
                  <a:ea typeface="a고딕14" panose="02020600000000000000" pitchFamily="18" charset="-127"/>
                </a:rPr>
                <a:t>전체 범위</a:t>
              </a:r>
              <a:r>
                <a:rPr lang="en-US" altLang="ko-KR" dirty="0">
                  <a:latin typeface="a고딕14" panose="02020600000000000000" pitchFamily="18" charset="-127"/>
                  <a:ea typeface="a고딕14" panose="02020600000000000000" pitchFamily="18" charset="-127"/>
                </a:rPr>
                <a:t>: </a:t>
              </a:r>
              <a:r>
                <a:rPr lang="en-US" altLang="ko-KR" dirty="0">
                  <a:solidFill>
                    <a:srgbClr val="00B0F0"/>
                  </a:solidFill>
                  <a:latin typeface="a고딕14" panose="02020600000000000000" pitchFamily="18" charset="-127"/>
                  <a:ea typeface="a고딕14" panose="02020600000000000000" pitchFamily="18" charset="-127"/>
                </a:rPr>
                <a:t>4,018</a:t>
              </a:r>
              <a:r>
                <a:rPr lang="ko-KR" altLang="en-US" dirty="0">
                  <a:solidFill>
                    <a:srgbClr val="00B0F0"/>
                  </a:solidFill>
                  <a:latin typeface="a고딕14" panose="02020600000000000000" pitchFamily="18" charset="-127"/>
                  <a:ea typeface="a고딕14" panose="02020600000000000000" pitchFamily="18" charset="-127"/>
                </a:rPr>
                <a:t>개</a:t>
              </a:r>
              <a:r>
                <a:rPr lang="ko-KR" altLang="en-US" dirty="0">
                  <a:latin typeface="a고딕14" panose="02020600000000000000" pitchFamily="18" charset="-127"/>
                  <a:ea typeface="a고딕14" panose="02020600000000000000" pitchFamily="18" charset="-127"/>
                </a:rPr>
                <a:t> 능력단위</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평생</a:t>
              </a:r>
              <a:r>
                <a:rPr lang="en-US" altLang="ko-KR" dirty="0">
                  <a:latin typeface="a고딕14" panose="02020600000000000000" pitchFamily="18" charset="-127"/>
                  <a:ea typeface="a고딕14" panose="02020600000000000000" pitchFamily="18" charset="-127"/>
                </a:rPr>
                <a:t> 2,559</a:t>
              </a:r>
              <a:r>
                <a:rPr lang="ko-KR" altLang="en-US" dirty="0">
                  <a:latin typeface="a고딕14" panose="02020600000000000000" pitchFamily="18" charset="-127"/>
                  <a:ea typeface="a고딕14" panose="02020600000000000000" pitchFamily="18" charset="-127"/>
                </a:rPr>
                <a:t>개</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디지털</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첨단분야</a:t>
              </a:r>
              <a:r>
                <a:rPr lang="en-US" altLang="ko-KR" dirty="0">
                  <a:latin typeface="a고딕14" panose="02020600000000000000" pitchFamily="18" charset="-127"/>
                  <a:ea typeface="a고딕14" panose="02020600000000000000" pitchFamily="18" charset="-127"/>
                </a:rPr>
                <a:t> 1,459</a:t>
              </a:r>
              <a:r>
                <a:rPr lang="ko-KR" altLang="en-US" dirty="0">
                  <a:latin typeface="a고딕14" panose="02020600000000000000" pitchFamily="18" charset="-127"/>
                  <a:ea typeface="a고딕14" panose="02020600000000000000" pitchFamily="18" charset="-127"/>
                </a:rPr>
                <a:t>개</a:t>
              </a:r>
              <a:r>
                <a:rPr lang="en-US" altLang="ko-KR" dirty="0">
                  <a:latin typeface="a고딕14" panose="02020600000000000000" pitchFamily="18" charset="-127"/>
                  <a:ea typeface="a고딕14" panose="02020600000000000000" pitchFamily="18" charset="-127"/>
                </a:rPr>
                <a:t>)</a:t>
              </a:r>
            </a:p>
            <a:p>
              <a:pPr marL="171450" indent="-171450" algn="l" latinLnBrk="0">
                <a:spcAft>
                  <a:spcPts val="300"/>
                </a:spcAft>
              </a:pPr>
              <a:r>
                <a:rPr lang="ko-KR" altLang="en-US" dirty="0">
                  <a:latin typeface="a고딕14" panose="02020600000000000000" pitchFamily="18" charset="-127"/>
                  <a:ea typeface="a고딕14" panose="02020600000000000000" pitchFamily="18" charset="-127"/>
                </a:rPr>
                <a:t>신규평가 대상</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 </a:t>
              </a:r>
              <a:r>
                <a:rPr lang="en-US" altLang="ko-KR" dirty="0">
                  <a:solidFill>
                    <a:srgbClr val="00B0F0"/>
                  </a:solidFill>
                  <a:latin typeface="a고딕14" panose="02020600000000000000" pitchFamily="18" charset="-127"/>
                  <a:ea typeface="a고딕14" panose="02020600000000000000" pitchFamily="18" charset="-127"/>
                </a:rPr>
                <a:t>2,075</a:t>
              </a:r>
              <a:r>
                <a:rPr lang="ko-KR" altLang="en-US" dirty="0">
                  <a:solidFill>
                    <a:srgbClr val="00B0F0"/>
                  </a:solidFill>
                  <a:latin typeface="a고딕14" panose="02020600000000000000" pitchFamily="18" charset="-127"/>
                  <a:ea typeface="a고딕14" panose="02020600000000000000" pitchFamily="18" charset="-127"/>
                </a:rPr>
                <a:t>개</a:t>
              </a:r>
              <a:r>
                <a:rPr lang="ko-KR" altLang="en-US" dirty="0">
                  <a:latin typeface="a고딕14" panose="02020600000000000000" pitchFamily="18" charset="-127"/>
                  <a:ea typeface="a고딕14" panose="02020600000000000000" pitchFamily="18" charset="-127"/>
                </a:rPr>
                <a:t> 능력단위</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평생 </a:t>
              </a:r>
              <a:r>
                <a:rPr lang="en-US" altLang="ko-KR" dirty="0">
                  <a:latin typeface="a고딕14" panose="02020600000000000000" pitchFamily="18" charset="-127"/>
                  <a:ea typeface="a고딕14" panose="02020600000000000000" pitchFamily="18" charset="-127"/>
                </a:rPr>
                <a:t>1,313</a:t>
              </a:r>
              <a:r>
                <a:rPr lang="ko-KR" altLang="en-US" dirty="0">
                  <a:latin typeface="a고딕14" panose="02020600000000000000" pitchFamily="18" charset="-127"/>
                  <a:ea typeface="a고딕14" panose="02020600000000000000" pitchFamily="18" charset="-127"/>
                </a:rPr>
                <a:t>개</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디지털</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첨단 </a:t>
              </a:r>
              <a:r>
                <a:rPr lang="en-US" altLang="ko-KR" dirty="0">
                  <a:latin typeface="a고딕14" panose="02020600000000000000" pitchFamily="18" charset="-127"/>
                  <a:ea typeface="a고딕14" panose="02020600000000000000" pitchFamily="18" charset="-127"/>
                </a:rPr>
                <a:t>762</a:t>
              </a:r>
              <a:r>
                <a:rPr lang="ko-KR" altLang="en-US" dirty="0">
                  <a:latin typeface="a고딕14" panose="02020600000000000000" pitchFamily="18" charset="-127"/>
                  <a:ea typeface="a고딕14" panose="02020600000000000000" pitchFamily="18" charset="-127"/>
                </a:rPr>
                <a:t>개</a:t>
              </a:r>
              <a:r>
                <a:rPr lang="en-US" altLang="ko-KR" dirty="0">
                  <a:latin typeface="a고딕14" panose="02020600000000000000" pitchFamily="18" charset="-127"/>
                  <a:ea typeface="a고딕14" panose="02020600000000000000" pitchFamily="18" charset="-127"/>
                </a:rPr>
                <a:t>)</a:t>
              </a:r>
            </a:p>
          </p:txBody>
        </p:sp>
      </p:grpSp>
      <p:grpSp>
        <p:nvGrpSpPr>
          <p:cNvPr id="48" name="그룹 47">
            <a:extLst>
              <a:ext uri="{FF2B5EF4-FFF2-40B4-BE49-F238E27FC236}">
                <a16:creationId xmlns:a16="http://schemas.microsoft.com/office/drawing/2014/main" id="{2D1942EC-8406-968F-CEFE-AB3C93CA193F}"/>
              </a:ext>
            </a:extLst>
          </p:cNvPr>
          <p:cNvGrpSpPr/>
          <p:nvPr/>
        </p:nvGrpSpPr>
        <p:grpSpPr>
          <a:xfrm>
            <a:off x="611759" y="5306273"/>
            <a:ext cx="8746374" cy="873250"/>
            <a:chOff x="611759" y="5306273"/>
            <a:chExt cx="8746374" cy="873250"/>
          </a:xfrm>
        </p:grpSpPr>
        <p:sp>
          <p:nvSpPr>
            <p:cNvPr id="35" name="모서리가 둥근 직사각형 28">
              <a:extLst>
                <a:ext uri="{FF2B5EF4-FFF2-40B4-BE49-F238E27FC236}">
                  <a16:creationId xmlns:a16="http://schemas.microsoft.com/office/drawing/2014/main" id="{DB587CFF-CCA0-E4C7-9919-96DC0728F108}"/>
                </a:ext>
              </a:extLst>
            </p:cNvPr>
            <p:cNvSpPr/>
            <p:nvPr/>
          </p:nvSpPr>
          <p:spPr>
            <a:xfrm>
              <a:off x="1897287" y="5306274"/>
              <a:ext cx="7460846" cy="873249"/>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pPr>
              <a:r>
                <a:rPr lang="ko-KR" altLang="en-US" dirty="0" err="1">
                  <a:latin typeface="a고딕14" panose="02020600000000000000" pitchFamily="18" charset="-127"/>
                  <a:ea typeface="a고딕14" panose="02020600000000000000" pitchFamily="18" charset="-127"/>
                </a:rPr>
                <a:t>세분류</a:t>
              </a:r>
              <a:r>
                <a:rPr lang="ko-KR" altLang="en-US" dirty="0">
                  <a:latin typeface="a고딕14" panose="02020600000000000000" pitchFamily="18" charset="-127"/>
                  <a:ea typeface="a고딕14" panose="02020600000000000000" pitchFamily="18" charset="-127"/>
                </a:rPr>
                <a:t> 수요평가 지표와 동일한 미래 교육과정 수요 예상도</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교육과정 개발 필요성</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교육과정 개발 시급성</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각 </a:t>
              </a:r>
              <a:r>
                <a:rPr lang="en-US" altLang="ko-KR" dirty="0">
                  <a:latin typeface="a고딕14" panose="02020600000000000000" pitchFamily="18" charset="-127"/>
                  <a:ea typeface="a고딕14" panose="02020600000000000000" pitchFamily="18" charset="-127"/>
                </a:rPr>
                <a:t>5</a:t>
              </a:r>
              <a:r>
                <a:rPr lang="ko-KR" altLang="en-US" dirty="0">
                  <a:latin typeface="a고딕14" panose="02020600000000000000" pitchFamily="18" charset="-127"/>
                  <a:ea typeface="a고딕14" panose="02020600000000000000" pitchFamily="18" charset="-127"/>
                </a:rPr>
                <a:t>점 척도</a:t>
              </a:r>
              <a:r>
                <a:rPr lang="en-US" altLang="ko-KR" dirty="0">
                  <a:latin typeface="a고딕14" panose="02020600000000000000" pitchFamily="18" charset="-127"/>
                  <a:ea typeface="a고딕14" panose="02020600000000000000" pitchFamily="18" charset="-127"/>
                </a:rPr>
                <a:t>) 3</a:t>
              </a:r>
              <a:r>
                <a:rPr lang="ko-KR" altLang="en-US" dirty="0">
                  <a:latin typeface="a고딕14" panose="02020600000000000000" pitchFamily="18" charset="-127"/>
                  <a:ea typeface="a고딕14" panose="02020600000000000000" pitchFamily="18" charset="-127"/>
                </a:rPr>
                <a:t>개 지표를 활용한 정성평가 진행</a:t>
              </a:r>
              <a:endParaRPr lang="en-US" altLang="ko-KR" dirty="0">
                <a:latin typeface="a고딕14" panose="02020600000000000000" pitchFamily="18" charset="-127"/>
                <a:ea typeface="a고딕14" panose="02020600000000000000" pitchFamily="18" charset="-127"/>
              </a:endParaRPr>
            </a:p>
            <a:p>
              <a:pPr marL="171450" indent="-171450" algn="l" latinLnBrk="0">
                <a:spcAft>
                  <a:spcPts val="300"/>
                </a:spcAft>
              </a:pPr>
              <a:r>
                <a:rPr lang="en-US" altLang="ko-KR" dirty="0">
                  <a:latin typeface="a고딕14" panose="02020600000000000000" pitchFamily="18" charset="-127"/>
                  <a:ea typeface="a고딕14" panose="02020600000000000000" pitchFamily="18" charset="-127"/>
                </a:rPr>
                <a:t>ISC, </a:t>
              </a:r>
              <a:r>
                <a:rPr lang="ko-KR" altLang="en-US" dirty="0" err="1">
                  <a:latin typeface="a고딕14" panose="02020600000000000000" pitchFamily="18" charset="-127"/>
                  <a:ea typeface="a고딕14" panose="02020600000000000000" pitchFamily="18" charset="-127"/>
                </a:rPr>
                <a:t>훈련교</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강사</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산업전문가</a:t>
              </a:r>
              <a:r>
                <a:rPr lang="en-US" altLang="ko-KR" dirty="0">
                  <a:latin typeface="a고딕14" panose="02020600000000000000" pitchFamily="18" charset="-127"/>
                  <a:ea typeface="a고딕14" panose="02020600000000000000" pitchFamily="18" charset="-127"/>
                </a:rPr>
                <a:t> 3</a:t>
              </a:r>
              <a:r>
                <a:rPr lang="ko-KR" altLang="en-US" dirty="0">
                  <a:latin typeface="a고딕14" panose="02020600000000000000" pitchFamily="18" charset="-127"/>
                  <a:ea typeface="a고딕14" panose="02020600000000000000" pitchFamily="18" charset="-127"/>
                </a:rPr>
                <a:t>인으로 구성된 전문가의 개별 </a:t>
              </a:r>
              <a:r>
                <a:rPr lang="ko-KR" altLang="en-US" dirty="0" err="1">
                  <a:latin typeface="a고딕14" panose="02020600000000000000" pitchFamily="18" charset="-127"/>
                  <a:ea typeface="a고딕14" panose="02020600000000000000" pitchFamily="18" charset="-127"/>
                </a:rPr>
                <a:t>평가값을</a:t>
              </a:r>
              <a:r>
                <a:rPr lang="ko-KR" altLang="en-US" dirty="0">
                  <a:latin typeface="a고딕14" panose="02020600000000000000" pitchFamily="18" charset="-127"/>
                  <a:ea typeface="a고딕14" panose="02020600000000000000" pitchFamily="18" charset="-127"/>
                </a:rPr>
                <a:t> 합산하여 순위 산출</a:t>
              </a:r>
            </a:p>
          </p:txBody>
        </p:sp>
        <p:sp>
          <p:nvSpPr>
            <p:cNvPr id="47" name="모서리가 둥근 직사각형 28">
              <a:extLst>
                <a:ext uri="{FF2B5EF4-FFF2-40B4-BE49-F238E27FC236}">
                  <a16:creationId xmlns:a16="http://schemas.microsoft.com/office/drawing/2014/main" id="{EC4A8F71-7CA8-081F-4376-9297F70694D8}"/>
                </a:ext>
              </a:extLst>
            </p:cNvPr>
            <p:cNvSpPr/>
            <p:nvPr/>
          </p:nvSpPr>
          <p:spPr>
            <a:xfrm>
              <a:off x="611759" y="5306273"/>
              <a:ext cx="963569" cy="873249"/>
            </a:xfrm>
            <a:prstGeom prst="rect">
              <a:avLst/>
            </a:prstGeom>
            <a:solidFill>
              <a:srgbClr val="3061A3"/>
            </a:solidFill>
          </p:spPr>
          <p:txBody>
            <a:bodyPr wrap="square" lIns="0" tIns="36000" rIns="0" bIns="36000" anchor="ctr">
              <a:noAutofit/>
            </a:bodyPr>
            <a:lstStyle/>
            <a:p>
              <a:pPr latinLnBrk="0">
                <a:buNone/>
              </a:pPr>
              <a:r>
                <a:rPr lang="ko-KR" altLang="en-US">
                  <a:solidFill>
                    <a:schemeClr val="bg1"/>
                  </a:solidFill>
                  <a:latin typeface="a고딕14" panose="02020600000000000000" pitchFamily="18" charset="-127"/>
                  <a:ea typeface="a고딕14" panose="02020600000000000000" pitchFamily="18" charset="-127"/>
                </a:rPr>
                <a:t>평가방법</a:t>
              </a:r>
              <a:endParaRPr lang="en-US" altLang="ko-KR" dirty="0">
                <a:solidFill>
                  <a:schemeClr val="bg1"/>
                </a:solidFill>
                <a:latin typeface="a고딕14" panose="02020600000000000000" pitchFamily="18" charset="-127"/>
                <a:ea typeface="a고딕14" panose="02020600000000000000" pitchFamily="18" charset="-127"/>
              </a:endParaRPr>
            </a:p>
          </p:txBody>
        </p:sp>
      </p:grpSp>
    </p:spTree>
    <p:extLst>
      <p:ext uri="{BB962C8B-B14F-4D97-AF65-F5344CB8AC3E}">
        <p14:creationId xmlns:p14="http://schemas.microsoft.com/office/powerpoint/2010/main" val="3352874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F3AC8-9095-5F82-C9A8-4F94207EFD2C}"/>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B3EEEE7-AB6C-4AA1-21C0-35D02563D0EC}"/>
              </a:ext>
            </a:extLst>
          </p:cNvPr>
          <p:cNvSpPr>
            <a:spLocks noGrp="1"/>
          </p:cNvSpPr>
          <p:nvPr>
            <p:ph type="body" sz="quarter" idx="12"/>
          </p:nvPr>
        </p:nvSpPr>
        <p:spPr/>
        <p:txBody>
          <a:bodyPr/>
          <a:lstStyle/>
          <a:p>
            <a:pPr latinLnBrk="0"/>
            <a:r>
              <a:rPr lang="ko-KR" altLang="en-US" dirty="0">
                <a:latin typeface="+mj-ea"/>
                <a:ea typeface="+mj-ea"/>
              </a:rPr>
              <a:t>능력단위 수요평가 </a:t>
            </a:r>
            <a:r>
              <a:rPr lang="ko-KR" altLang="en-US" spc="-10" dirty="0">
                <a:latin typeface="+mj-ea"/>
              </a:rPr>
              <a:t>결과 상위 </a:t>
            </a:r>
            <a:r>
              <a:rPr lang="en-US" altLang="ko-KR" spc="-10" dirty="0">
                <a:latin typeface="+mj-ea"/>
              </a:rPr>
              <a:t>20% </a:t>
            </a:r>
            <a:r>
              <a:rPr lang="ko-KR" altLang="en-US" spc="-10" dirty="0">
                <a:latin typeface="+mj-ea"/>
              </a:rPr>
              <a:t>그룹에 다수 분포하는 대분류는</a:t>
            </a:r>
            <a:r>
              <a:rPr lang="ko-KR" altLang="en-US" spc="-10" dirty="0"/>
              <a:t> 정보통신 분야로 나타남</a:t>
            </a:r>
            <a:endParaRPr lang="ko-KR" altLang="en-US" dirty="0">
              <a:latin typeface="+mj-ea"/>
              <a:ea typeface="+mj-ea"/>
            </a:endParaRPr>
          </a:p>
        </p:txBody>
      </p:sp>
      <p:sp>
        <p:nvSpPr>
          <p:cNvPr id="5" name="텍스트 개체 틀 4">
            <a:extLst>
              <a:ext uri="{FF2B5EF4-FFF2-40B4-BE49-F238E27FC236}">
                <a16:creationId xmlns:a16="http://schemas.microsoft.com/office/drawing/2014/main" id="{36084DF6-EAD9-917C-1108-6CBBB392471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12" name="직사각형 11">
            <a:extLst>
              <a:ext uri="{FF2B5EF4-FFF2-40B4-BE49-F238E27FC236}">
                <a16:creationId xmlns:a16="http://schemas.microsoft.com/office/drawing/2014/main" id="{909CFD27-C078-98BF-EB5F-8C69A09EE533}"/>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14" name="그룹 13">
            <a:extLst>
              <a:ext uri="{FF2B5EF4-FFF2-40B4-BE49-F238E27FC236}">
                <a16:creationId xmlns:a16="http://schemas.microsoft.com/office/drawing/2014/main" id="{47836CDA-C861-83F5-CCF3-61C9CD4F4F12}"/>
              </a:ext>
            </a:extLst>
          </p:cNvPr>
          <p:cNvGrpSpPr/>
          <p:nvPr/>
        </p:nvGrpSpPr>
        <p:grpSpPr>
          <a:xfrm>
            <a:off x="596515" y="1681026"/>
            <a:ext cx="8749098" cy="266603"/>
            <a:chOff x="802640" y="2236631"/>
            <a:chExt cx="4130805" cy="266553"/>
          </a:xfrm>
        </p:grpSpPr>
        <p:sp>
          <p:nvSpPr>
            <p:cNvPr id="15" name="ListLeanHorizontalTextTopic0">
              <a:extLst>
                <a:ext uri="{FF2B5EF4-FFF2-40B4-BE49-F238E27FC236}">
                  <a16:creationId xmlns:a16="http://schemas.microsoft.com/office/drawing/2014/main" id="{50EADB0B-E568-390F-26CE-C67FDF82D150}"/>
                </a:ext>
              </a:extLst>
            </p:cNvPr>
            <p:cNvSpPr txBox="1"/>
            <p:nvPr/>
          </p:nvSpPr>
          <p:spPr>
            <a:xfrm>
              <a:off x="802640" y="2236631"/>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능력단위 수요평가 </a:t>
              </a:r>
              <a:r>
                <a:rPr lang="ko-KR" altLang="en-US" sz="1400" dirty="0">
                  <a:solidFill>
                    <a:prstClr val="black"/>
                  </a:solidFill>
                  <a:latin typeface="Arial Narrow" panose="020B0606020202030204" pitchFamily="34" charset="0"/>
                  <a:ea typeface="a고딕14" panose="02020600000000000000" pitchFamily="18" charset="-127"/>
                </a:rPr>
                <a:t>결과 </a:t>
              </a:r>
              <a:r>
                <a:rPr lang="en-US" altLang="ko-KR" sz="1400" dirty="0">
                  <a:solidFill>
                    <a:prstClr val="black"/>
                  </a:solidFill>
                  <a:latin typeface="Arial Narrow" panose="020B0606020202030204" pitchFamily="34" charset="0"/>
                  <a:ea typeface="a고딕14" panose="02020600000000000000" pitchFamily="18" charset="-127"/>
                </a:rPr>
                <a:t>(</a:t>
              </a:r>
              <a:r>
                <a:rPr lang="ko-KR" altLang="en-US" sz="1400" dirty="0">
                  <a:solidFill>
                    <a:prstClr val="black"/>
                  </a:solidFill>
                  <a:latin typeface="Arial Narrow" panose="020B0606020202030204" pitchFamily="34" charset="0"/>
                  <a:ea typeface="a고딕14" panose="02020600000000000000" pitchFamily="18" charset="-127"/>
                </a:rPr>
                <a:t>순위 그룹별 능력단위 수 </a:t>
              </a:r>
              <a:r>
                <a:rPr lang="ko-KR" altLang="en-US" sz="1400" dirty="0" err="1">
                  <a:solidFill>
                    <a:prstClr val="black"/>
                  </a:solidFill>
                  <a:latin typeface="Arial Narrow" panose="020B0606020202030204" pitchFamily="34" charset="0"/>
                  <a:ea typeface="a고딕14" panose="02020600000000000000" pitchFamily="18" charset="-127"/>
                </a:rPr>
                <a:t>누적값</a:t>
              </a:r>
              <a:r>
                <a:rPr lang="en-US" altLang="ko-KR" sz="1400" dirty="0">
                  <a:solidFill>
                    <a:prstClr val="black"/>
                  </a:solidFill>
                  <a:latin typeface="Arial Narrow" panose="020B0606020202030204" pitchFamily="34" charset="0"/>
                  <a:ea typeface="a고딕14" panose="02020600000000000000" pitchFamily="18" charset="-127"/>
                </a:rPr>
                <a:t>)</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6C693D48-33B6-56EF-74D5-103FF2D7B8FE}"/>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0" name="텍스트 개체 틀 87">
            <a:extLst>
              <a:ext uri="{FF2B5EF4-FFF2-40B4-BE49-F238E27FC236}">
                <a16:creationId xmlns:a16="http://schemas.microsoft.com/office/drawing/2014/main" id="{8CD5A6D1-3047-56D1-7855-85ABB45BE1F0}"/>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NCS </a:t>
            </a:r>
            <a:r>
              <a:rPr lang="ko-KR" altLang="en-US" sz="1200" dirty="0">
                <a:solidFill>
                  <a:schemeClr val="bg1"/>
                </a:solidFill>
              </a:rPr>
              <a:t>능력단위 수요평가</a:t>
            </a:r>
          </a:p>
        </p:txBody>
      </p:sp>
      <p:graphicFrame>
        <p:nvGraphicFramePr>
          <p:cNvPr id="13" name="표 12">
            <a:extLst>
              <a:ext uri="{FF2B5EF4-FFF2-40B4-BE49-F238E27FC236}">
                <a16:creationId xmlns:a16="http://schemas.microsoft.com/office/drawing/2014/main" id="{6143DBD5-B24F-413D-3184-0E3A9EDE3028}"/>
              </a:ext>
            </a:extLst>
          </p:cNvPr>
          <p:cNvGraphicFramePr>
            <a:graphicFrameLocks noGrp="1"/>
          </p:cNvGraphicFramePr>
          <p:nvPr>
            <p:extLst>
              <p:ext uri="{D42A27DB-BD31-4B8C-83A1-F6EECF244321}">
                <p14:modId xmlns:p14="http://schemas.microsoft.com/office/powerpoint/2010/main" val="4078789126"/>
              </p:ext>
            </p:extLst>
          </p:nvPr>
        </p:nvGraphicFramePr>
        <p:xfrm>
          <a:off x="590797" y="2097088"/>
          <a:ext cx="8754814" cy="4149296"/>
        </p:xfrm>
        <a:graphic>
          <a:graphicData uri="http://schemas.openxmlformats.org/drawingml/2006/table">
            <a:tbl>
              <a:tblPr>
                <a:tableStyleId>{5C22544A-7EE6-4342-B048-85BDC9FD1C3A}</a:tableStyleId>
              </a:tblPr>
              <a:tblGrid>
                <a:gridCol w="1036306">
                  <a:extLst>
                    <a:ext uri="{9D8B030D-6E8A-4147-A177-3AD203B41FA5}">
                      <a16:colId xmlns:a16="http://schemas.microsoft.com/office/drawing/2014/main" val="1341341881"/>
                    </a:ext>
                  </a:extLst>
                </a:gridCol>
                <a:gridCol w="367548">
                  <a:extLst>
                    <a:ext uri="{9D8B030D-6E8A-4147-A177-3AD203B41FA5}">
                      <a16:colId xmlns:a16="http://schemas.microsoft.com/office/drawing/2014/main" val="2846663058"/>
                    </a:ext>
                  </a:extLst>
                </a:gridCol>
                <a:gridCol w="367548">
                  <a:extLst>
                    <a:ext uri="{9D8B030D-6E8A-4147-A177-3AD203B41FA5}">
                      <a16:colId xmlns:a16="http://schemas.microsoft.com/office/drawing/2014/main" val="4054991696"/>
                    </a:ext>
                  </a:extLst>
                </a:gridCol>
                <a:gridCol w="367548">
                  <a:extLst>
                    <a:ext uri="{9D8B030D-6E8A-4147-A177-3AD203B41FA5}">
                      <a16:colId xmlns:a16="http://schemas.microsoft.com/office/drawing/2014/main" val="2477218586"/>
                    </a:ext>
                  </a:extLst>
                </a:gridCol>
                <a:gridCol w="367548">
                  <a:extLst>
                    <a:ext uri="{9D8B030D-6E8A-4147-A177-3AD203B41FA5}">
                      <a16:colId xmlns:a16="http://schemas.microsoft.com/office/drawing/2014/main" val="3463639349"/>
                    </a:ext>
                  </a:extLst>
                </a:gridCol>
                <a:gridCol w="367548">
                  <a:extLst>
                    <a:ext uri="{9D8B030D-6E8A-4147-A177-3AD203B41FA5}">
                      <a16:colId xmlns:a16="http://schemas.microsoft.com/office/drawing/2014/main" val="695060992"/>
                    </a:ext>
                  </a:extLst>
                </a:gridCol>
                <a:gridCol w="367548">
                  <a:extLst>
                    <a:ext uri="{9D8B030D-6E8A-4147-A177-3AD203B41FA5}">
                      <a16:colId xmlns:a16="http://schemas.microsoft.com/office/drawing/2014/main" val="1773507769"/>
                    </a:ext>
                  </a:extLst>
                </a:gridCol>
                <a:gridCol w="367548">
                  <a:extLst>
                    <a:ext uri="{9D8B030D-6E8A-4147-A177-3AD203B41FA5}">
                      <a16:colId xmlns:a16="http://schemas.microsoft.com/office/drawing/2014/main" val="1488584134"/>
                    </a:ext>
                  </a:extLst>
                </a:gridCol>
                <a:gridCol w="367548">
                  <a:extLst>
                    <a:ext uri="{9D8B030D-6E8A-4147-A177-3AD203B41FA5}">
                      <a16:colId xmlns:a16="http://schemas.microsoft.com/office/drawing/2014/main" val="2336414764"/>
                    </a:ext>
                  </a:extLst>
                </a:gridCol>
                <a:gridCol w="367548">
                  <a:extLst>
                    <a:ext uri="{9D8B030D-6E8A-4147-A177-3AD203B41FA5}">
                      <a16:colId xmlns:a16="http://schemas.microsoft.com/office/drawing/2014/main" val="2705754145"/>
                    </a:ext>
                  </a:extLst>
                </a:gridCol>
                <a:gridCol w="367548">
                  <a:extLst>
                    <a:ext uri="{9D8B030D-6E8A-4147-A177-3AD203B41FA5}">
                      <a16:colId xmlns:a16="http://schemas.microsoft.com/office/drawing/2014/main" val="2455782021"/>
                    </a:ext>
                  </a:extLst>
                </a:gridCol>
                <a:gridCol w="367548">
                  <a:extLst>
                    <a:ext uri="{9D8B030D-6E8A-4147-A177-3AD203B41FA5}">
                      <a16:colId xmlns:a16="http://schemas.microsoft.com/office/drawing/2014/main" val="1312349796"/>
                    </a:ext>
                  </a:extLst>
                </a:gridCol>
                <a:gridCol w="367548">
                  <a:extLst>
                    <a:ext uri="{9D8B030D-6E8A-4147-A177-3AD203B41FA5}">
                      <a16:colId xmlns:a16="http://schemas.microsoft.com/office/drawing/2014/main" val="658751963"/>
                    </a:ext>
                  </a:extLst>
                </a:gridCol>
                <a:gridCol w="367548">
                  <a:extLst>
                    <a:ext uri="{9D8B030D-6E8A-4147-A177-3AD203B41FA5}">
                      <a16:colId xmlns:a16="http://schemas.microsoft.com/office/drawing/2014/main" val="4198679212"/>
                    </a:ext>
                  </a:extLst>
                </a:gridCol>
                <a:gridCol w="367548">
                  <a:extLst>
                    <a:ext uri="{9D8B030D-6E8A-4147-A177-3AD203B41FA5}">
                      <a16:colId xmlns:a16="http://schemas.microsoft.com/office/drawing/2014/main" val="3432070704"/>
                    </a:ext>
                  </a:extLst>
                </a:gridCol>
                <a:gridCol w="367548">
                  <a:extLst>
                    <a:ext uri="{9D8B030D-6E8A-4147-A177-3AD203B41FA5}">
                      <a16:colId xmlns:a16="http://schemas.microsoft.com/office/drawing/2014/main" val="26982119"/>
                    </a:ext>
                  </a:extLst>
                </a:gridCol>
                <a:gridCol w="367548">
                  <a:extLst>
                    <a:ext uri="{9D8B030D-6E8A-4147-A177-3AD203B41FA5}">
                      <a16:colId xmlns:a16="http://schemas.microsoft.com/office/drawing/2014/main" val="3028680393"/>
                    </a:ext>
                  </a:extLst>
                </a:gridCol>
                <a:gridCol w="367548">
                  <a:extLst>
                    <a:ext uri="{9D8B030D-6E8A-4147-A177-3AD203B41FA5}">
                      <a16:colId xmlns:a16="http://schemas.microsoft.com/office/drawing/2014/main" val="2416988345"/>
                    </a:ext>
                  </a:extLst>
                </a:gridCol>
                <a:gridCol w="367548">
                  <a:extLst>
                    <a:ext uri="{9D8B030D-6E8A-4147-A177-3AD203B41FA5}">
                      <a16:colId xmlns:a16="http://schemas.microsoft.com/office/drawing/2014/main" val="3452219493"/>
                    </a:ext>
                  </a:extLst>
                </a:gridCol>
                <a:gridCol w="367548">
                  <a:extLst>
                    <a:ext uri="{9D8B030D-6E8A-4147-A177-3AD203B41FA5}">
                      <a16:colId xmlns:a16="http://schemas.microsoft.com/office/drawing/2014/main" val="86554823"/>
                    </a:ext>
                  </a:extLst>
                </a:gridCol>
                <a:gridCol w="367548">
                  <a:extLst>
                    <a:ext uri="{9D8B030D-6E8A-4147-A177-3AD203B41FA5}">
                      <a16:colId xmlns:a16="http://schemas.microsoft.com/office/drawing/2014/main" val="1614503089"/>
                    </a:ext>
                  </a:extLst>
                </a:gridCol>
                <a:gridCol w="367548">
                  <a:extLst>
                    <a:ext uri="{9D8B030D-6E8A-4147-A177-3AD203B41FA5}">
                      <a16:colId xmlns:a16="http://schemas.microsoft.com/office/drawing/2014/main" val="2245343275"/>
                    </a:ext>
                  </a:extLst>
                </a:gridCol>
              </a:tblGrid>
              <a:tr h="299652">
                <a:tc>
                  <a:txBody>
                    <a:bodyPr/>
                    <a:lstStyle/>
                    <a:p>
                      <a:pPr algn="ctr" fontAlgn="ctr" latinLnBrk="0"/>
                      <a:endParaRPr lang="ko-KR" altLang="en-US" sz="1000" b="0" i="0" u="none" strike="noStrike" dirty="0">
                        <a:solidFill>
                          <a:schemeClr val="bg1"/>
                        </a:solidFill>
                        <a:effectLst/>
                        <a:latin typeface="+mn-ea"/>
                        <a:ea typeface="+mn-ea"/>
                      </a:endParaRP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10">
                  <a:txBody>
                    <a:bodyPr/>
                    <a:lstStyle/>
                    <a:p>
                      <a:pPr algn="ctr" fontAlgn="ctr"/>
                      <a:r>
                        <a:rPr lang="ko-KR" altLang="en-US" sz="1000" b="0" i="0" u="none" strike="noStrike" dirty="0">
                          <a:solidFill>
                            <a:schemeClr val="bg1"/>
                          </a:solidFill>
                          <a:effectLst/>
                          <a:latin typeface="+mn-ea"/>
                          <a:ea typeface="+mn-ea"/>
                        </a:rPr>
                        <a:t>평생능력개발분야</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10">
                  <a:txBody>
                    <a:bodyPr/>
                    <a:lstStyle/>
                    <a:p>
                      <a:pPr algn="ctr" fontAlgn="ctr"/>
                      <a:r>
                        <a:rPr lang="ko-KR" altLang="en-US" sz="1000" b="0" i="0" u="none" strike="noStrike" dirty="0">
                          <a:solidFill>
                            <a:schemeClr val="bg1"/>
                          </a:solidFill>
                          <a:effectLst/>
                          <a:latin typeface="+mn-ea"/>
                          <a:ea typeface="+mn-ea"/>
                        </a:rPr>
                        <a:t>디지털</a:t>
                      </a:r>
                      <a:r>
                        <a:rPr lang="en-US" altLang="ko-KR" sz="1000" b="0" i="0" u="none" strike="noStrike" dirty="0">
                          <a:solidFill>
                            <a:schemeClr val="bg1"/>
                          </a:solidFill>
                          <a:effectLst/>
                          <a:latin typeface="+mn-ea"/>
                          <a:ea typeface="+mn-ea"/>
                        </a:rPr>
                        <a:t>·</a:t>
                      </a:r>
                      <a:r>
                        <a:rPr lang="ko-KR" altLang="en-US" sz="1000" b="0" i="0" u="none" strike="noStrike" dirty="0">
                          <a:solidFill>
                            <a:schemeClr val="bg1"/>
                          </a:solidFill>
                          <a:effectLst/>
                          <a:latin typeface="+mn-ea"/>
                          <a:ea typeface="+mn-ea"/>
                        </a:rPr>
                        <a:t>첨단분야</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h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latinLnBrk="1"/>
                      <a:endParaRPr lang="ko-KR" altLang="en-US"/>
                    </a:p>
                  </a:txBody>
                  <a:tcPr/>
                </a:tc>
                <a:tc rowSpan="2">
                  <a:txBody>
                    <a:bodyPr/>
                    <a:lstStyle/>
                    <a:p>
                      <a:pPr algn="ctr" fontAlgn="ctr"/>
                      <a:r>
                        <a:rPr lang="ko-KR" altLang="en-US" sz="1000" b="0" i="0" u="none" strike="noStrike" dirty="0">
                          <a:solidFill>
                            <a:schemeClr val="bg1"/>
                          </a:solidFill>
                          <a:effectLst/>
                          <a:latin typeface="+mn-ea"/>
                          <a:ea typeface="+mn-ea"/>
                        </a:rPr>
                        <a:t>계</a:t>
                      </a:r>
                    </a:p>
                  </a:txBody>
                  <a:tcPr marL="0" marR="0" marT="0" marB="0" anchor="ctr">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extLst>
                  <a:ext uri="{0D108BD9-81ED-4DB2-BD59-A6C34878D82A}">
                    <a16:rowId xmlns:a16="http://schemas.microsoft.com/office/drawing/2014/main" val="771423147"/>
                  </a:ext>
                </a:extLst>
              </a:tr>
              <a:tr h="299652">
                <a:tc rowSpan="2">
                  <a:txBody>
                    <a:bodyPr/>
                    <a:lstStyle/>
                    <a:p>
                      <a:pPr algn="ctr" fontAlgn="ctr" latinLnBrk="0"/>
                      <a:r>
                        <a:rPr lang="ko-KR" altLang="en-US" sz="1000" b="0" i="0" u="none" strike="noStrike" dirty="0">
                          <a:solidFill>
                            <a:schemeClr val="bg1"/>
                          </a:solidFill>
                          <a:effectLst/>
                          <a:latin typeface="+mn-ea"/>
                          <a:ea typeface="+mn-ea"/>
                        </a:rPr>
                        <a:t>대분류</a:t>
                      </a: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20%</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a:t>
                      </a:r>
                      <a:r>
                        <a:rPr lang="en-US" altLang="ko-KR" sz="1000" u="none" strike="noStrike" dirty="0">
                          <a:solidFill>
                            <a:schemeClr val="bg1"/>
                          </a:solidFill>
                          <a:effectLst/>
                          <a:latin typeface="+mn-ea"/>
                          <a:ea typeface="+mn-ea"/>
                        </a:rPr>
                        <a:t> ~ 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~100%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20%</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 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a:t>
                      </a:r>
                      <a:r>
                        <a:rPr lang="en-US" altLang="ko-KR" sz="1000" u="none" strike="noStrike" dirty="0">
                          <a:solidFill>
                            <a:schemeClr val="bg1"/>
                          </a:solidFill>
                          <a:effectLst/>
                          <a:latin typeface="+mn-ea"/>
                          <a:ea typeface="+mn-ea"/>
                        </a:rPr>
                        <a:t> ~ 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gridSpan="2">
                  <a:txBody>
                    <a:bodyPr/>
                    <a:lstStyle/>
                    <a:p>
                      <a:pPr algn="ctr" fontAlgn="ctr"/>
                      <a:r>
                        <a:rPr lang="ko-KR" altLang="en-US" sz="1000" u="none" strike="noStrike" dirty="0">
                          <a:solidFill>
                            <a:schemeClr val="bg1"/>
                          </a:solidFill>
                          <a:effectLst/>
                          <a:latin typeface="+mn-ea"/>
                          <a:ea typeface="+mn-ea"/>
                        </a:rPr>
                        <a:t>상위 </a:t>
                      </a:r>
                      <a:r>
                        <a:rPr lang="en-US" altLang="ko-KR" sz="1000" u="none" strike="noStrike" dirty="0">
                          <a:solidFill>
                            <a:schemeClr val="bg1"/>
                          </a:solidFill>
                          <a:effectLst/>
                          <a:latin typeface="+mn-ea"/>
                          <a:ea typeface="+mn-ea"/>
                        </a:rPr>
                        <a:t>~100%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vMerge="1">
                  <a:txBody>
                    <a:bodyPr/>
                    <a:lstStyle/>
                    <a:p>
                      <a:pPr algn="ctr" fontAlgn="ctr"/>
                      <a:endParaRPr lang="en-US" altLang="ko-KR" sz="80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extLst>
                  <a:ext uri="{0D108BD9-81ED-4DB2-BD59-A6C34878D82A}">
                    <a16:rowId xmlns:a16="http://schemas.microsoft.com/office/drawing/2014/main" val="3431993032"/>
                  </a:ext>
                </a:extLst>
              </a:tr>
              <a:tr h="299652">
                <a:tc vMerge="1">
                  <a:txBody>
                    <a:bodyPr/>
                    <a:lstStyle/>
                    <a:p>
                      <a:pPr latinLnBrk="1"/>
                      <a:endParaRPr lang="ko-KR" altLang="en-US"/>
                    </a:p>
                  </a:txBody>
                  <a:tcPr/>
                </a:tc>
                <a:tc>
                  <a:txBody>
                    <a:bodyPr/>
                    <a:lstStyle/>
                    <a:p>
                      <a:pPr algn="ctr" fontAlgn="ctr"/>
                      <a:r>
                        <a:rPr lang="ko-KR" altLang="en-US" sz="1000" b="0" i="0" u="none" strike="noStrike" dirty="0" err="1">
                          <a:solidFill>
                            <a:schemeClr val="bg1"/>
                          </a:solidFill>
                          <a:effectLst/>
                          <a:latin typeface="+mn-ea"/>
                          <a:ea typeface="+mn-ea"/>
                        </a:rPr>
                        <a:t>누적값</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ko-KR" altLang="en-US"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err="1">
                          <a:solidFill>
                            <a:schemeClr val="bg1"/>
                          </a:solidFill>
                          <a:effectLst/>
                          <a:latin typeface="+mn-ea"/>
                          <a:ea typeface="+mn-ea"/>
                        </a:rPr>
                        <a:t>누적값</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비중</a:t>
                      </a:r>
                      <a:endParaRPr lang="en-US" altLang="ko-KR" sz="10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ko-KR" altLang="en-US" sz="1000" b="0" i="0" u="none" strike="noStrike" dirty="0">
                          <a:solidFill>
                            <a:schemeClr val="bg1"/>
                          </a:solidFill>
                          <a:effectLst/>
                          <a:latin typeface="+mn-ea"/>
                          <a:ea typeface="+mn-ea"/>
                        </a:rPr>
                        <a:t>수</a:t>
                      </a:r>
                    </a:p>
                  </a:txBody>
                  <a:tcPr marL="0" marR="0" marT="0" marB="0" anchor="ctr">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821198345"/>
                  </a:ext>
                </a:extLst>
              </a:tr>
              <a:tr h="342791">
                <a:tc>
                  <a:txBody>
                    <a:bodyPr/>
                    <a:lstStyle/>
                    <a:p>
                      <a:pPr algn="ctr" fontAlgn="ctr" latinLnBrk="0"/>
                      <a:r>
                        <a:rPr lang="ko-KR" altLang="en-US" sz="1000" u="none" strike="noStrike" dirty="0">
                          <a:solidFill>
                            <a:schemeClr val="tx1"/>
                          </a:solidFill>
                          <a:effectLst/>
                          <a:latin typeface="+mn-ea"/>
                          <a:ea typeface="+mn-ea"/>
                        </a:rPr>
                        <a:t>문화</a:t>
                      </a:r>
                      <a:r>
                        <a:rPr lang="en-US" altLang="ko-KR" sz="1000" u="none" strike="noStrike" dirty="0">
                          <a:solidFill>
                            <a:schemeClr val="tx1"/>
                          </a:solidFill>
                          <a:effectLst/>
                          <a:latin typeface="+mn-ea"/>
                          <a:ea typeface="+mn-ea"/>
                        </a:rPr>
                        <a:t>·</a:t>
                      </a:r>
                      <a:r>
                        <a:rPr lang="ko-KR" altLang="en-US" sz="1000" u="none" strike="noStrike" dirty="0">
                          <a:solidFill>
                            <a:schemeClr val="tx1"/>
                          </a:solidFill>
                          <a:effectLst/>
                          <a:latin typeface="+mn-ea"/>
                          <a:ea typeface="+mn-ea"/>
                        </a:rPr>
                        <a:t>예술</a:t>
                      </a:r>
                      <a:r>
                        <a:rPr lang="en-US" altLang="ko-KR" sz="1000" u="none" strike="noStrike" dirty="0">
                          <a:solidFill>
                            <a:schemeClr val="tx1"/>
                          </a:solidFill>
                          <a:effectLst/>
                          <a:latin typeface="+mn-ea"/>
                          <a:ea typeface="+mn-ea"/>
                        </a:rPr>
                        <a:t>·</a:t>
                      </a:r>
                    </a:p>
                    <a:p>
                      <a:pPr algn="ctr" fontAlgn="ctr" latinLnBrk="0"/>
                      <a:r>
                        <a:rPr lang="ko-KR" altLang="en-US" sz="1000" u="none" strike="noStrike" dirty="0">
                          <a:solidFill>
                            <a:schemeClr val="tx1"/>
                          </a:solidFill>
                          <a:effectLst/>
                          <a:latin typeface="+mn-ea"/>
                          <a:ea typeface="+mn-ea"/>
                        </a:rPr>
                        <a:t>디자인</a:t>
                      </a:r>
                      <a:r>
                        <a:rPr lang="en-US" altLang="ko-KR" sz="1000" u="none" strike="noStrike" dirty="0">
                          <a:solidFill>
                            <a:schemeClr val="tx1"/>
                          </a:solidFill>
                          <a:effectLst/>
                          <a:latin typeface="+mn-ea"/>
                          <a:ea typeface="+mn-ea"/>
                        </a:rPr>
                        <a:t>·</a:t>
                      </a:r>
                      <a:r>
                        <a:rPr lang="ko-KR" altLang="en-US" sz="1000" u="none" strike="noStrike" dirty="0">
                          <a:solidFill>
                            <a:schemeClr val="tx1"/>
                          </a:solidFill>
                          <a:effectLst/>
                          <a:latin typeface="+mn-ea"/>
                          <a:ea typeface="+mn-ea"/>
                        </a:rPr>
                        <a:t>방송</a:t>
                      </a:r>
                      <a:endParaRPr lang="ko-KR" altLang="en-US" sz="1000" b="0" i="0" u="none" strike="noStrike" dirty="0">
                        <a:solidFill>
                          <a:schemeClr val="tx1"/>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48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21.6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52.3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195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87.8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95.0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222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222</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6764978"/>
                  </a:ext>
                </a:extLst>
              </a:tr>
              <a:tr h="323061">
                <a:tc>
                  <a:txBody>
                    <a:bodyPr/>
                    <a:lstStyle/>
                    <a:p>
                      <a:pPr algn="ctr" fontAlgn="ctr" latinLnBrk="0"/>
                      <a:r>
                        <a:rPr lang="ko-KR" altLang="en-US" sz="1000" u="none" strike="noStrike">
                          <a:solidFill>
                            <a:schemeClr val="tx1"/>
                          </a:solidFill>
                          <a:effectLst/>
                          <a:latin typeface="+mn-ea"/>
                          <a:ea typeface="+mn-ea"/>
                        </a:rPr>
                        <a:t>운전</a:t>
                      </a:r>
                      <a:r>
                        <a:rPr lang="en-US" altLang="ko-KR" sz="1000" u="none" strike="noStrike">
                          <a:solidFill>
                            <a:schemeClr val="tx1"/>
                          </a:solidFill>
                          <a:effectLst/>
                          <a:latin typeface="+mn-ea"/>
                          <a:ea typeface="+mn-ea"/>
                        </a:rPr>
                        <a:t>·</a:t>
                      </a:r>
                      <a:r>
                        <a:rPr lang="ko-KR" altLang="en-US" sz="1000" u="none" strike="noStrike">
                          <a:solidFill>
                            <a:schemeClr val="tx1"/>
                          </a:solidFill>
                          <a:effectLst/>
                          <a:latin typeface="+mn-ea"/>
                          <a:ea typeface="+mn-ea"/>
                        </a:rPr>
                        <a:t>운송</a:t>
                      </a:r>
                      <a:endParaRPr lang="ko-KR" altLang="en-US" sz="1000" b="0" i="0" u="none" strike="noStrike">
                        <a:solidFill>
                          <a:schemeClr val="tx1"/>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0</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72.7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18.8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43.8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87.5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49</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8827272"/>
                  </a:ext>
                </a:extLst>
              </a:tr>
              <a:tr h="323061">
                <a:tc>
                  <a:txBody>
                    <a:bodyPr/>
                    <a:lstStyle/>
                    <a:p>
                      <a:pPr algn="ctr" fontAlgn="ctr" latinLnBrk="0"/>
                      <a:r>
                        <a:rPr lang="ko-KR" altLang="en-US" sz="1000" u="none" strike="noStrike" dirty="0">
                          <a:solidFill>
                            <a:schemeClr val="tx1"/>
                          </a:solidFill>
                          <a:effectLst/>
                          <a:latin typeface="+mn-ea"/>
                          <a:ea typeface="+mn-ea"/>
                        </a:rPr>
                        <a:t>건설</a:t>
                      </a:r>
                      <a:endParaRPr lang="ko-KR" altLang="en-US" sz="1000" b="0" i="0" u="none" strike="noStrike" dirty="0">
                        <a:solidFill>
                          <a:schemeClr val="tx1"/>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11.0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51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16.0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117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67.7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319</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319</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8777367"/>
                  </a:ext>
                </a:extLst>
              </a:tr>
              <a:tr h="323061">
                <a:tc>
                  <a:txBody>
                    <a:bodyPr/>
                    <a:lstStyle/>
                    <a:p>
                      <a:pPr marL="0" algn="ctr" defTabSz="914400" rtl="0" eaLnBrk="1" fontAlgn="ctr" latinLnBrk="0" hangingPunct="1"/>
                      <a:r>
                        <a:rPr lang="ko-KR" altLang="en-US" sz="1000" u="none" strike="noStrike" kern="1200" dirty="0">
                          <a:solidFill>
                            <a:srgbClr val="00B0F0"/>
                          </a:solidFill>
                          <a:effectLst/>
                          <a:latin typeface="+mn-ea"/>
                          <a:ea typeface="+mn-ea"/>
                          <a:cs typeface="+mn-cs"/>
                        </a:rPr>
                        <a:t>기계</a:t>
                      </a: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153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20.6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339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45.6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471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63.4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646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86.9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743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B0F0"/>
                          </a:solidFill>
                          <a:effectLst/>
                          <a:latin typeface="A고딕14" panose="02020600000000000000" pitchFamily="18" charset="-127"/>
                          <a:ea typeface="A고딕14" panose="02020600000000000000" pitchFamily="18" charset="-127"/>
                          <a:cs typeface="+mn-cs"/>
                        </a:rPr>
                        <a:t>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rgbClr val="00B0F0"/>
                          </a:solidFill>
                          <a:effectLst/>
                          <a:latin typeface="A고딕14" panose="02020600000000000000" pitchFamily="18" charset="-127"/>
                          <a:ea typeface="A고딕14" panose="02020600000000000000" pitchFamily="18" charset="-127"/>
                          <a:cs typeface="+mn-cs"/>
                        </a:rPr>
                        <a:t>40.0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A고딕14" panose="02020600000000000000" pitchFamily="18" charset="-127"/>
                          <a:ea typeface="A고딕14" panose="02020600000000000000" pitchFamily="18" charset="-127"/>
                          <a:cs typeface="+mn-cs"/>
                        </a:rPr>
                        <a:t>13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A고딕14" panose="02020600000000000000" pitchFamily="18" charset="-127"/>
                          <a:ea typeface="A고딕14" panose="02020600000000000000" pitchFamily="18" charset="-127"/>
                          <a:cs typeface="+mn-cs"/>
                        </a:rPr>
                        <a:t>86.7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758</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4887252"/>
                  </a:ext>
                </a:extLst>
              </a:tr>
              <a:tr h="323061">
                <a:tc>
                  <a:txBody>
                    <a:bodyPr/>
                    <a:lstStyle/>
                    <a:p>
                      <a:pPr algn="ctr" fontAlgn="ctr" latinLnBrk="0"/>
                      <a:r>
                        <a:rPr lang="ko-KR" altLang="en-US" sz="1000" u="none" strike="noStrike" dirty="0">
                          <a:solidFill>
                            <a:schemeClr val="tx1"/>
                          </a:solidFill>
                          <a:effectLst/>
                          <a:latin typeface="+mn-ea"/>
                          <a:ea typeface="+mn-ea"/>
                        </a:rPr>
                        <a:t>재료</a:t>
                      </a:r>
                      <a:endParaRPr lang="ko-KR" altLang="en-US" sz="1000" b="0" i="0" u="none" strike="noStrike" dirty="0">
                        <a:solidFill>
                          <a:schemeClr val="tx1"/>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17.2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33.0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183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68.5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226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84.6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267</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19.6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31.5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78.3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94.6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92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359</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6215789"/>
                  </a:ext>
                </a:extLst>
              </a:tr>
              <a:tr h="323061">
                <a:tc>
                  <a:txBody>
                    <a:bodyPr/>
                    <a:lstStyle/>
                    <a:p>
                      <a:pPr marL="0" algn="ctr" defTabSz="914400" rtl="0" eaLnBrk="1" fontAlgn="ctr" latinLnBrk="0" hangingPunct="1"/>
                      <a:r>
                        <a:rPr lang="ko-KR" altLang="en-US" sz="1000" u="none" strike="noStrike" kern="1200" dirty="0">
                          <a:solidFill>
                            <a:schemeClr val="tx1"/>
                          </a:solidFill>
                          <a:effectLst/>
                          <a:latin typeface="+mn-ea"/>
                          <a:ea typeface="+mn-ea"/>
                          <a:cs typeface="+mn-cs"/>
                        </a:rPr>
                        <a:t>화학</a:t>
                      </a:r>
                      <a:r>
                        <a:rPr lang="en-US" altLang="ko-KR" sz="1000" u="none" strike="noStrike" kern="1200" dirty="0">
                          <a:solidFill>
                            <a:schemeClr val="tx1"/>
                          </a:solidFill>
                          <a:effectLst/>
                          <a:latin typeface="+mn-ea"/>
                          <a:ea typeface="+mn-ea"/>
                          <a:cs typeface="+mn-cs"/>
                        </a:rPr>
                        <a:t>·</a:t>
                      </a:r>
                      <a:r>
                        <a:rPr lang="ko-KR" altLang="en-US" sz="1000" u="none" strike="noStrike" kern="1200" dirty="0">
                          <a:solidFill>
                            <a:schemeClr val="tx1"/>
                          </a:solidFill>
                          <a:effectLst/>
                          <a:latin typeface="+mn-ea"/>
                          <a:ea typeface="+mn-ea"/>
                          <a:cs typeface="+mn-cs"/>
                        </a:rPr>
                        <a:t>바이오</a:t>
                      </a: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52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18.2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174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61.1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227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79.6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254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89.1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14.2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69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30.5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137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60.6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202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89.4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226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511</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175630"/>
                  </a:ext>
                </a:extLst>
              </a:tr>
              <a:tr h="323061">
                <a:tc>
                  <a:txBody>
                    <a:bodyPr/>
                    <a:lstStyle/>
                    <a:p>
                      <a:pPr marL="0" algn="ctr" defTabSz="914400" rtl="0" eaLnBrk="1" fontAlgn="ctr" latinLnBrk="1" hangingPunct="1">
                        <a:buNone/>
                      </a:pPr>
                      <a:r>
                        <a:rPr lang="ko-KR" altLang="en-US" sz="1000" b="0" i="0" u="none" strike="noStrike" kern="1200" dirty="0">
                          <a:solidFill>
                            <a:schemeClr val="tx1"/>
                          </a:solidFill>
                          <a:effectLst/>
                          <a:latin typeface="A고딕14" panose="02020600000000000000" pitchFamily="18" charset="-127"/>
                          <a:ea typeface="A고딕14" panose="02020600000000000000" pitchFamily="18" charset="-127"/>
                          <a:cs typeface="+mn-cs"/>
                        </a:rPr>
                        <a:t>전기</a:t>
                      </a:r>
                      <a:r>
                        <a:rPr lang="en-US" altLang="ko-KR" sz="1000" b="0" i="0" u="none" strike="noStrike" kern="1200" dirty="0">
                          <a:solidFill>
                            <a:schemeClr val="tx1"/>
                          </a:solidFill>
                          <a:effectLst/>
                          <a:latin typeface="A고딕14" panose="02020600000000000000" pitchFamily="18" charset="-127"/>
                          <a:ea typeface="A고딕14" panose="02020600000000000000" pitchFamily="18" charset="-127"/>
                          <a:cs typeface="+mn-cs"/>
                        </a:rPr>
                        <a:t>·</a:t>
                      </a:r>
                      <a:r>
                        <a:rPr lang="ko-KR" altLang="en-US" sz="1000" b="0" i="0" u="none" strike="noStrike" kern="1200" dirty="0">
                          <a:solidFill>
                            <a:schemeClr val="tx1"/>
                          </a:solidFill>
                          <a:effectLst/>
                          <a:latin typeface="A고딕14" panose="02020600000000000000" pitchFamily="18" charset="-127"/>
                          <a:ea typeface="A고딕14" panose="02020600000000000000" pitchFamily="18" charset="-127"/>
                          <a:cs typeface="+mn-cs"/>
                        </a:rPr>
                        <a:t>전자</a:t>
                      </a: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93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171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46.0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231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62.1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285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76.6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372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57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20.6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39.0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208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75.1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254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91.7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277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649</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9304076"/>
                  </a:ext>
                </a:extLst>
              </a:tr>
              <a:tr h="323061">
                <a:tc>
                  <a:txBody>
                    <a:bodyPr/>
                    <a:lstStyle/>
                    <a:p>
                      <a:pPr algn="ctr" fontAlgn="ctr" latinLnBrk="0"/>
                      <a:r>
                        <a:rPr lang="ko-KR" altLang="en-US" sz="1000" u="none" strike="noStrike" dirty="0">
                          <a:solidFill>
                            <a:srgbClr val="00B0F0"/>
                          </a:solidFill>
                          <a:effectLst/>
                          <a:latin typeface="+mn-ea"/>
                          <a:ea typeface="+mn-ea"/>
                        </a:rPr>
                        <a:t>정보통신</a:t>
                      </a:r>
                      <a:endParaRPr lang="ko-KR" altLang="en-US" sz="1000" b="0" i="0" u="none" strike="noStrike" dirty="0">
                        <a:solidFill>
                          <a:srgbClr val="00B0F0"/>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rgbClr val="00B0F0"/>
                          </a:solidFill>
                          <a:effectLst/>
                          <a:latin typeface="A고딕14" panose="02020600000000000000" pitchFamily="18" charset="-127"/>
                          <a:ea typeface="A고딕14" panose="02020600000000000000" pitchFamily="18" charset="-127"/>
                          <a:cs typeface="+mn-cs"/>
                        </a:rPr>
                        <a:t>90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rgbClr val="00B0F0"/>
                          </a:solidFill>
                          <a:effectLst/>
                          <a:latin typeface="A고딕14" panose="02020600000000000000" pitchFamily="18" charset="-127"/>
                          <a:ea typeface="A고딕14" panose="02020600000000000000" pitchFamily="18" charset="-127"/>
                          <a:cs typeface="+mn-cs"/>
                        </a:rPr>
                        <a:t>31.7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117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41.2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165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58.1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239</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84.2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284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en-US" altLang="ko-KR" sz="1000" u="none" strike="noStrike" kern="1200" dirty="0">
                          <a:solidFill>
                            <a:srgbClr val="00B0F0"/>
                          </a:solidFill>
                          <a:effectLst/>
                          <a:latin typeface="+mn-ea"/>
                          <a:ea typeface="+mn-ea"/>
                          <a:cs typeface="+mn-cs"/>
                        </a:rPr>
                        <a:t>152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1000" u="none" strike="noStrike" kern="1200" dirty="0">
                          <a:solidFill>
                            <a:srgbClr val="00B0F0"/>
                          </a:solidFill>
                          <a:effectLst/>
                          <a:latin typeface="+mn-ea"/>
                          <a:ea typeface="+mn-ea"/>
                          <a:cs typeface="+mn-cs"/>
                        </a:rPr>
                        <a:t>31.8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194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40.6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266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55.6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352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73.6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478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762</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5966178"/>
                  </a:ext>
                </a:extLst>
              </a:tr>
              <a:tr h="323061">
                <a:tc>
                  <a:txBody>
                    <a:bodyPr/>
                    <a:lstStyle/>
                    <a:p>
                      <a:pPr algn="ctr" fontAlgn="ctr" latinLnBrk="0"/>
                      <a:r>
                        <a:rPr lang="ko-KR" altLang="en-US" sz="1000" u="none" strike="noStrike" dirty="0">
                          <a:solidFill>
                            <a:schemeClr val="tx1"/>
                          </a:solidFill>
                          <a:effectLst/>
                          <a:latin typeface="+mn-ea"/>
                          <a:ea typeface="+mn-ea"/>
                        </a:rPr>
                        <a:t>인쇄</a:t>
                      </a:r>
                      <a:r>
                        <a:rPr lang="en-US" altLang="ko-KR" sz="1000" u="none" strike="noStrike" dirty="0">
                          <a:solidFill>
                            <a:schemeClr val="tx1"/>
                          </a:solidFill>
                          <a:effectLst/>
                          <a:latin typeface="+mn-ea"/>
                          <a:ea typeface="+mn-ea"/>
                        </a:rPr>
                        <a:t>·</a:t>
                      </a:r>
                      <a:r>
                        <a:rPr lang="ko-KR" altLang="en-US" sz="1000" u="none" strike="noStrike" dirty="0">
                          <a:solidFill>
                            <a:schemeClr val="tx1"/>
                          </a:solidFill>
                          <a:effectLst/>
                          <a:latin typeface="+mn-ea"/>
                          <a:ea typeface="+mn-ea"/>
                        </a:rPr>
                        <a:t>목재</a:t>
                      </a:r>
                      <a:r>
                        <a:rPr lang="en-US" altLang="ko-KR" sz="1000" u="none" strike="noStrike" dirty="0">
                          <a:solidFill>
                            <a:schemeClr val="tx1"/>
                          </a:solidFill>
                          <a:effectLst/>
                          <a:latin typeface="+mn-ea"/>
                          <a:ea typeface="+mn-ea"/>
                        </a:rPr>
                        <a:t>·</a:t>
                      </a:r>
                    </a:p>
                    <a:p>
                      <a:pPr algn="ctr" fontAlgn="ctr" latinLnBrk="0"/>
                      <a:r>
                        <a:rPr lang="ko-KR" altLang="en-US" sz="1000" u="none" strike="noStrike" dirty="0">
                          <a:solidFill>
                            <a:schemeClr val="tx1"/>
                          </a:solidFill>
                          <a:effectLst/>
                          <a:latin typeface="+mn-ea"/>
                          <a:ea typeface="+mn-ea"/>
                        </a:rPr>
                        <a:t>가구</a:t>
                      </a:r>
                      <a:r>
                        <a:rPr lang="en-US" altLang="ko-KR" sz="1000" u="none" strike="noStrike" dirty="0">
                          <a:solidFill>
                            <a:schemeClr val="tx1"/>
                          </a:solidFill>
                          <a:effectLst/>
                          <a:latin typeface="+mn-ea"/>
                          <a:ea typeface="+mn-ea"/>
                        </a:rPr>
                        <a:t>·</a:t>
                      </a:r>
                      <a:r>
                        <a:rPr lang="ko-KR" altLang="en-US" sz="1000" u="none" strike="noStrike" dirty="0">
                          <a:solidFill>
                            <a:schemeClr val="tx1"/>
                          </a:solidFill>
                          <a:effectLst/>
                          <a:latin typeface="+mn-ea"/>
                          <a:ea typeface="+mn-ea"/>
                        </a:rPr>
                        <a:t>공예</a:t>
                      </a:r>
                      <a:endParaRPr lang="ko-KR" altLang="en-US" sz="1000" b="0" i="0" u="none" strike="noStrike" dirty="0">
                        <a:solidFill>
                          <a:schemeClr val="tx1"/>
                        </a:solidFill>
                        <a:effectLst/>
                        <a:latin typeface="+mn-ea"/>
                        <a:ea typeface="+mn-ea"/>
                      </a:endParaRP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endParaRPr lang="ko-KR" altLang="en-US" sz="10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07408957"/>
                  </a:ext>
                </a:extLst>
              </a:tr>
              <a:tr h="323061">
                <a:tc>
                  <a:txBody>
                    <a:bodyPr/>
                    <a:lstStyle/>
                    <a:p>
                      <a:pPr marL="0" algn="ctr" defTabSz="914400" rtl="0" eaLnBrk="1" fontAlgn="ctr" latinLnBrk="0" hangingPunct="1"/>
                      <a:r>
                        <a:rPr lang="ko-KR" altLang="en-US" sz="1000" u="none" strike="noStrike" kern="1200" dirty="0">
                          <a:solidFill>
                            <a:srgbClr val="00B0F0"/>
                          </a:solidFill>
                          <a:effectLst/>
                          <a:latin typeface="+mn-ea"/>
                          <a:ea typeface="+mn-ea"/>
                          <a:cs typeface="+mn-cs"/>
                        </a:rPr>
                        <a:t>환경</a:t>
                      </a:r>
                      <a:r>
                        <a:rPr lang="en-US" altLang="ko-KR" sz="1000" u="none" strike="noStrike" kern="1200" dirty="0">
                          <a:solidFill>
                            <a:srgbClr val="00B0F0"/>
                          </a:solidFill>
                          <a:effectLst/>
                          <a:latin typeface="+mn-ea"/>
                          <a:ea typeface="+mn-ea"/>
                          <a:cs typeface="+mn-cs"/>
                        </a:rPr>
                        <a:t>·</a:t>
                      </a:r>
                      <a:r>
                        <a:rPr lang="ko-KR" altLang="en-US" sz="1000" u="none" strike="noStrike" kern="1200" dirty="0">
                          <a:solidFill>
                            <a:srgbClr val="00B0F0"/>
                          </a:solidFill>
                          <a:effectLst/>
                          <a:latin typeface="+mn-ea"/>
                          <a:ea typeface="+mn-ea"/>
                          <a:cs typeface="+mn-cs"/>
                        </a:rPr>
                        <a:t>에너지</a:t>
                      </a:r>
                      <a:r>
                        <a:rPr lang="en-US" altLang="ko-KR" sz="1000" u="none" strike="noStrike" kern="1200" dirty="0">
                          <a:solidFill>
                            <a:srgbClr val="00B0F0"/>
                          </a:solidFill>
                          <a:effectLst/>
                          <a:latin typeface="+mn-ea"/>
                          <a:ea typeface="+mn-ea"/>
                          <a:cs typeface="+mn-cs"/>
                        </a:rPr>
                        <a:t>·</a:t>
                      </a:r>
                      <a:r>
                        <a:rPr lang="ko-KR" altLang="en-US" sz="1000" u="none" strike="noStrike" kern="1200" dirty="0">
                          <a:solidFill>
                            <a:srgbClr val="00B0F0"/>
                          </a:solidFill>
                          <a:effectLst/>
                          <a:latin typeface="+mn-ea"/>
                          <a:ea typeface="+mn-ea"/>
                          <a:cs typeface="+mn-cs"/>
                        </a:rPr>
                        <a:t>안전</a:t>
                      </a:r>
                    </a:p>
                  </a:txBody>
                  <a:tcPr marL="0" marR="0" marT="0" marB="0" anchor="ctr">
                    <a:lnL w="31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1000" u="none" strike="noStrike" kern="1200" dirty="0">
                          <a:solidFill>
                            <a:srgbClr val="00B0F0"/>
                          </a:solidFill>
                          <a:effectLst/>
                          <a:latin typeface="+mn-ea"/>
                          <a:ea typeface="+mn-ea"/>
                          <a:cs typeface="+mn-cs"/>
                        </a:rPr>
                        <a:t>11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1000" u="none" strike="noStrike" kern="1200" dirty="0">
                          <a:solidFill>
                            <a:srgbClr val="00B0F0"/>
                          </a:solidFill>
                          <a:effectLst/>
                          <a:latin typeface="+mn-ea"/>
                          <a:ea typeface="+mn-ea"/>
                          <a:cs typeface="+mn-cs"/>
                        </a:rPr>
                        <a:t>32.4</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21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61.8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73.5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88.2</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a:solidFill>
                            <a:srgbClr val="000000"/>
                          </a:solidFill>
                          <a:effectLst/>
                          <a:latin typeface="A고딕14" panose="02020600000000000000" pitchFamily="18" charset="-127"/>
                          <a:ea typeface="A고딕14" panose="02020600000000000000" pitchFamily="18" charset="-127"/>
                          <a:cs typeface="+mn-cs"/>
                        </a:rPr>
                        <a:t>34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21.7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198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55.8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263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74.1</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298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83.9</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355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100.0</a:t>
                      </a:r>
                    </a:p>
                  </a:txBody>
                  <a:tcPr marL="9525" marR="9525" marT="9525" marB="0" anchor="ctr">
                    <a:lnL w="6350" cap="flat" cmpd="sng" algn="ctr">
                      <a:solidFill>
                        <a:schemeClr val="tx1"/>
                      </a:solidFill>
                      <a:prstDash val="dot"/>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고딕14" panose="02020600000000000000" pitchFamily="18" charset="-127"/>
                          <a:ea typeface="A고딕14" panose="02020600000000000000" pitchFamily="18" charset="-127"/>
                          <a:cs typeface="+mn-cs"/>
                        </a:rPr>
                        <a:t>389</a:t>
                      </a:r>
                    </a:p>
                  </a:txBody>
                  <a:tcPr marL="9525" marR="9525" marT="9525" marB="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1984812"/>
                  </a:ext>
                </a:extLst>
              </a:tr>
            </a:tbl>
          </a:graphicData>
        </a:graphic>
      </p:graphicFrame>
      <p:sp>
        <p:nvSpPr>
          <p:cNvPr id="3" name="TextBox 2">
            <a:extLst>
              <a:ext uri="{FF2B5EF4-FFF2-40B4-BE49-F238E27FC236}">
                <a16:creationId xmlns:a16="http://schemas.microsoft.com/office/drawing/2014/main" id="{35AA54D0-CD0D-7559-D133-B617044F590A}"/>
              </a:ext>
            </a:extLst>
          </p:cNvPr>
          <p:cNvSpPr txBox="1"/>
          <p:nvPr/>
        </p:nvSpPr>
        <p:spPr>
          <a:xfrm>
            <a:off x="596515" y="6246384"/>
            <a:ext cx="7884877" cy="246221"/>
          </a:xfrm>
          <a:prstGeom prst="rect">
            <a:avLst/>
          </a:prstGeom>
          <a:noFill/>
        </p:spPr>
        <p:txBody>
          <a:bodyPr wrap="square" rtlCol="0">
            <a:spAutoFit/>
          </a:bodyPr>
          <a:lstStyle/>
          <a:p>
            <a:pPr algn="l">
              <a:buNone/>
            </a:pPr>
            <a:r>
              <a:rPr lang="ko-KR" altLang="en-US" sz="1000" dirty="0">
                <a:latin typeface="a고딕12" panose="02020600000000000000" pitchFamily="18" charset="-127"/>
                <a:ea typeface="a고딕12" panose="02020600000000000000" pitchFamily="18" charset="-127"/>
              </a:rPr>
              <a:t>주</a:t>
            </a: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상위 </a:t>
            </a:r>
            <a:r>
              <a:rPr lang="en-US" altLang="ko-KR" sz="1000" dirty="0">
                <a:latin typeface="a고딕12" panose="02020600000000000000" pitchFamily="18" charset="-127"/>
                <a:ea typeface="a고딕12" panose="02020600000000000000" pitchFamily="18" charset="-127"/>
              </a:rPr>
              <a:t>20% </a:t>
            </a:r>
            <a:r>
              <a:rPr lang="ko-KR" altLang="en-US" sz="1000" dirty="0">
                <a:latin typeface="a고딕12" panose="02020600000000000000" pitchFamily="18" charset="-127"/>
                <a:ea typeface="a고딕12" panose="02020600000000000000" pitchFamily="18" charset="-127"/>
              </a:rPr>
              <a:t>그룹에 </a:t>
            </a:r>
            <a:r>
              <a:rPr lang="en-US" altLang="ko-KR" sz="1000" dirty="0">
                <a:latin typeface="a고딕12" panose="02020600000000000000" pitchFamily="18" charset="-127"/>
                <a:ea typeface="a고딕12" panose="02020600000000000000" pitchFamily="18" charset="-127"/>
              </a:rPr>
              <a:t>30%</a:t>
            </a:r>
            <a:r>
              <a:rPr lang="ko-KR" altLang="en-US" sz="1000" dirty="0">
                <a:latin typeface="a고딕12" panose="02020600000000000000" pitchFamily="18" charset="-127"/>
                <a:ea typeface="a고딕12" panose="02020600000000000000" pitchFamily="18" charset="-127"/>
              </a:rPr>
              <a:t>이상 분포할 경우 </a:t>
            </a:r>
            <a:r>
              <a:rPr lang="ko-KR" altLang="en-US" sz="1000" dirty="0" err="1">
                <a:latin typeface="a고딕12" panose="02020600000000000000" pitchFamily="18" charset="-127"/>
                <a:ea typeface="a고딕12" panose="02020600000000000000" pitchFamily="18" charset="-127"/>
              </a:rPr>
              <a:t>음영표기함</a:t>
            </a: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분야별 능력단위 수에 차이가 있어 해석에 유의 필요</a:t>
            </a:r>
          </a:p>
        </p:txBody>
      </p:sp>
    </p:spTree>
    <p:extLst>
      <p:ext uri="{BB962C8B-B14F-4D97-AF65-F5344CB8AC3E}">
        <p14:creationId xmlns:p14="http://schemas.microsoft.com/office/powerpoint/2010/main" val="1256743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A59A-7D83-3BB5-2926-1CF6EF9E533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91C5B506-595B-58A0-DB3C-071847144C65}"/>
              </a:ext>
            </a:extLst>
          </p:cNvPr>
          <p:cNvSpPr>
            <a:spLocks noGrp="1"/>
          </p:cNvSpPr>
          <p:nvPr>
            <p:ph type="body" sz="quarter" idx="12"/>
          </p:nvPr>
        </p:nvSpPr>
        <p:spPr/>
        <p:txBody>
          <a:bodyPr/>
          <a:lstStyle/>
          <a:p>
            <a:pPr latinLnBrk="0"/>
            <a:r>
              <a:rPr lang="ko-KR" altLang="en-US" dirty="0">
                <a:latin typeface="+mj-ea"/>
                <a:ea typeface="+mj-ea"/>
              </a:rPr>
              <a:t>능력단위 교육과정 개발 적합성 평가 결과와 </a:t>
            </a:r>
            <a:r>
              <a:rPr lang="ko-KR" altLang="en-US" dirty="0" err="1">
                <a:latin typeface="+mj-ea"/>
                <a:ea typeface="+mj-ea"/>
              </a:rPr>
              <a:t>세분류</a:t>
            </a:r>
            <a:r>
              <a:rPr lang="en-US" altLang="ko-KR" dirty="0">
                <a:latin typeface="+mj-lt"/>
                <a:ea typeface="+mj-ea"/>
              </a:rPr>
              <a:t>·</a:t>
            </a:r>
            <a:r>
              <a:rPr lang="ko-KR" altLang="en-US" dirty="0">
                <a:latin typeface="+mj-ea"/>
                <a:ea typeface="+mj-ea"/>
              </a:rPr>
              <a:t>능력단위 수요평가 결과를 반영하여 세 가지 수요조사 대상 선정 방안을 제시하였고</a:t>
            </a:r>
            <a:r>
              <a:rPr lang="en-US" altLang="ko-KR" dirty="0">
                <a:latin typeface="+mj-ea"/>
                <a:ea typeface="+mj-ea"/>
              </a:rPr>
              <a:t>, </a:t>
            </a:r>
            <a:r>
              <a:rPr lang="ko-KR" altLang="en-US" dirty="0">
                <a:latin typeface="+mj-ea"/>
                <a:ea typeface="+mj-ea"/>
              </a:rPr>
              <a:t>온평원과의 협의 결과 </a:t>
            </a:r>
            <a:r>
              <a:rPr lang="en-US" altLang="ko-KR" dirty="0">
                <a:latin typeface="+mj-ea"/>
                <a:ea typeface="+mj-ea"/>
              </a:rPr>
              <a:t>2</a:t>
            </a:r>
            <a:r>
              <a:rPr lang="ko-KR" altLang="en-US" dirty="0">
                <a:latin typeface="+mj-ea"/>
                <a:ea typeface="+mj-ea"/>
              </a:rPr>
              <a:t>안이 최종 선정됨</a:t>
            </a:r>
            <a:endParaRPr lang="ko-KR" altLang="en-US" sz="1800" dirty="0">
              <a:solidFill>
                <a:srgbClr val="FF0000"/>
              </a:solidFill>
              <a:latin typeface="+mj-ea"/>
              <a:ea typeface="+mj-ea"/>
            </a:endParaRPr>
          </a:p>
        </p:txBody>
      </p:sp>
      <p:sp>
        <p:nvSpPr>
          <p:cNvPr id="5" name="텍스트 개체 틀 4">
            <a:extLst>
              <a:ext uri="{FF2B5EF4-FFF2-40B4-BE49-F238E27FC236}">
                <a16:creationId xmlns:a16="http://schemas.microsoft.com/office/drawing/2014/main" id="{4F317CB0-F8F2-3DE5-90E2-DBFAAB37D50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C9148935-86C7-9737-5AF5-6DD9917802ED}"/>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ko-KR" altLang="en-US" sz="1200" dirty="0">
                <a:solidFill>
                  <a:schemeClr val="bg1"/>
                </a:solidFill>
              </a:rPr>
              <a:t>능력단위 수요 평가 </a:t>
            </a:r>
            <a:r>
              <a:rPr lang="en-US" altLang="ko-KR" sz="1200" dirty="0">
                <a:solidFill>
                  <a:schemeClr val="bg1"/>
                </a:solidFill>
              </a:rPr>
              <a:t>+</a:t>
            </a:r>
            <a:r>
              <a:rPr lang="ko-KR" altLang="en-US" sz="1200" dirty="0">
                <a:solidFill>
                  <a:schemeClr val="bg1"/>
                </a:solidFill>
              </a:rPr>
              <a:t> 적합성 평가 종합</a:t>
            </a:r>
          </a:p>
        </p:txBody>
      </p:sp>
      <p:sp>
        <p:nvSpPr>
          <p:cNvPr id="10" name="직사각형 9">
            <a:extLst>
              <a:ext uri="{FF2B5EF4-FFF2-40B4-BE49-F238E27FC236}">
                <a16:creationId xmlns:a16="http://schemas.microsoft.com/office/drawing/2014/main" id="{3E8786E9-8C46-99A9-8FE6-F231D92F5D7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7" name="그룹 6">
            <a:extLst>
              <a:ext uri="{FF2B5EF4-FFF2-40B4-BE49-F238E27FC236}">
                <a16:creationId xmlns:a16="http://schemas.microsoft.com/office/drawing/2014/main" id="{066301E8-5C30-661D-3478-0DC3689ABB6B}"/>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4414B61B-23CB-F5C5-FCCE-5C09E66FE08C}"/>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능력단위 수요평가 및 적합성 평가 결과 활용 방안</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34CBB250-92F1-C077-78E5-62FF6C993DED}"/>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3" name="직사각형 2">
            <a:extLst>
              <a:ext uri="{FF2B5EF4-FFF2-40B4-BE49-F238E27FC236}">
                <a16:creationId xmlns:a16="http://schemas.microsoft.com/office/drawing/2014/main" id="{EE9D1EFF-7F6D-83F1-E8F5-85D0A6BE0E9D}"/>
              </a:ext>
            </a:extLst>
          </p:cNvPr>
          <p:cNvSpPr/>
          <p:nvPr/>
        </p:nvSpPr>
        <p:spPr>
          <a:xfrm>
            <a:off x="596899" y="2097089"/>
            <a:ext cx="8748713" cy="395284"/>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bg1"/>
                </a:solidFill>
                <a:latin typeface="+mj-ea"/>
                <a:ea typeface="+mj-ea"/>
              </a:rPr>
              <a:t>능력단위 수요평가와 적합성 평가 종합 방안</a:t>
            </a:r>
            <a:endParaRPr lang="ko-KR" altLang="en-US" dirty="0">
              <a:solidFill>
                <a:schemeClr val="bg1"/>
              </a:solidFill>
              <a:latin typeface="+mj-ea"/>
              <a:ea typeface="+mj-ea"/>
            </a:endParaRPr>
          </a:p>
        </p:txBody>
      </p:sp>
      <p:sp>
        <p:nvSpPr>
          <p:cNvPr id="18" name="직사각형 17">
            <a:extLst>
              <a:ext uri="{FF2B5EF4-FFF2-40B4-BE49-F238E27FC236}">
                <a16:creationId xmlns:a16="http://schemas.microsoft.com/office/drawing/2014/main" id="{832DA26E-B84F-0072-41EC-15552E5508DF}"/>
              </a:ext>
            </a:extLst>
          </p:cNvPr>
          <p:cNvSpPr/>
          <p:nvPr/>
        </p:nvSpPr>
        <p:spPr>
          <a:xfrm>
            <a:off x="3575015" y="2637251"/>
            <a:ext cx="2805906" cy="395284"/>
          </a:xfrm>
          <a:prstGeom prst="rect">
            <a:avLst/>
          </a:prstGeom>
          <a:solidFill>
            <a:srgbClr val="3061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dirty="0">
                <a:latin typeface="a고딕14" panose="02020600000000000000" pitchFamily="18" charset="-127"/>
                <a:ea typeface="a고딕14" panose="02020600000000000000" pitchFamily="18" charset="-127"/>
              </a:rPr>
              <a:t>2</a:t>
            </a:r>
            <a:r>
              <a:rPr lang="ko-KR" altLang="en-US" dirty="0">
                <a:latin typeface="a고딕14" panose="02020600000000000000" pitchFamily="18" charset="-127"/>
                <a:ea typeface="a고딕14" panose="02020600000000000000" pitchFamily="18" charset="-127"/>
              </a:rPr>
              <a:t>안</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 적합성 평가 결과 우선 반영</a:t>
            </a:r>
          </a:p>
        </p:txBody>
      </p:sp>
      <p:sp>
        <p:nvSpPr>
          <p:cNvPr id="19" name="직사각형 18">
            <a:extLst>
              <a:ext uri="{FF2B5EF4-FFF2-40B4-BE49-F238E27FC236}">
                <a16:creationId xmlns:a16="http://schemas.microsoft.com/office/drawing/2014/main" id="{41489CD1-40F8-AA7A-2B85-7917A6272F7D}"/>
              </a:ext>
            </a:extLst>
          </p:cNvPr>
          <p:cNvSpPr/>
          <p:nvPr/>
        </p:nvSpPr>
        <p:spPr>
          <a:xfrm>
            <a:off x="3575015" y="3258978"/>
            <a:ext cx="2805907" cy="1656184"/>
          </a:xfrm>
          <a:prstGeom prst="rect">
            <a:avLst/>
          </a:prstGeom>
          <a:solidFill>
            <a:srgbClr val="DCF1F9"/>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이러닝</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가상훈련 적합성 평가 결과를 우선 반영하여</a:t>
            </a:r>
            <a:r>
              <a:rPr lang="en-US" altLang="ko-KR" dirty="0">
                <a:solidFill>
                  <a:schemeClr val="tx1"/>
                </a:solidFill>
                <a:latin typeface="a고딕14" panose="02020600000000000000" pitchFamily="18" charset="-127"/>
                <a:ea typeface="a고딕14" panose="02020600000000000000" pitchFamily="18" charset="-127"/>
              </a:rPr>
              <a:t>, 4</a:t>
            </a:r>
            <a:r>
              <a:rPr lang="ko-KR" altLang="en-US" dirty="0">
                <a:solidFill>
                  <a:schemeClr val="tx1"/>
                </a:solidFill>
                <a:latin typeface="a고딕14" panose="02020600000000000000" pitchFamily="18" charset="-127"/>
                <a:ea typeface="a고딕14" panose="02020600000000000000" pitchFamily="18" charset="-127"/>
              </a:rPr>
              <a:t>그룹</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개발 </a:t>
            </a:r>
            <a:r>
              <a:rPr lang="ko-KR" altLang="en-US" dirty="0" err="1">
                <a:solidFill>
                  <a:schemeClr val="tx1"/>
                </a:solidFill>
                <a:latin typeface="a고딕14" panose="02020600000000000000" pitchFamily="18" charset="-127"/>
                <a:ea typeface="a고딕14" panose="02020600000000000000" pitchFamily="18" charset="-127"/>
              </a:rPr>
              <a:t>검토군</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을 제외한 수요평가 </a:t>
            </a:r>
            <a:r>
              <a:rPr lang="en-US" altLang="ko-KR" dirty="0">
                <a:solidFill>
                  <a:schemeClr val="tx1"/>
                </a:solidFill>
                <a:latin typeface="a고딕14" panose="02020600000000000000" pitchFamily="18" charset="-127"/>
                <a:ea typeface="a고딕14" panose="02020600000000000000" pitchFamily="18" charset="-127"/>
              </a:rPr>
              <a:t>Pool </a:t>
            </a:r>
            <a:r>
              <a:rPr lang="ko-KR" altLang="en-US" dirty="0">
                <a:solidFill>
                  <a:schemeClr val="tx1"/>
                </a:solidFill>
                <a:latin typeface="a고딕14" panose="02020600000000000000" pitchFamily="18" charset="-127"/>
                <a:ea typeface="a고딕14" panose="02020600000000000000" pitchFamily="18" charset="-127"/>
              </a:rPr>
              <a:t>중 상위 </a:t>
            </a:r>
            <a:r>
              <a:rPr lang="en-US" altLang="ko-KR" dirty="0">
                <a:solidFill>
                  <a:schemeClr val="tx1"/>
                </a:solidFill>
                <a:latin typeface="a고딕14" panose="02020600000000000000" pitchFamily="18" charset="-127"/>
                <a:ea typeface="a고딕14" panose="02020600000000000000" pitchFamily="18" charset="-127"/>
              </a:rPr>
              <a:t>20%</a:t>
            </a:r>
            <a:r>
              <a:rPr lang="ko-KR" altLang="en-US" dirty="0">
                <a:solidFill>
                  <a:schemeClr val="tx1"/>
                </a:solidFill>
                <a:latin typeface="a고딕14" panose="02020600000000000000" pitchFamily="18" charset="-127"/>
                <a:ea typeface="a고딕14" panose="02020600000000000000" pitchFamily="18" charset="-127"/>
              </a:rPr>
              <a:t>를 선정하는 방식</a:t>
            </a:r>
            <a:endParaRPr lang="ko-KR" altLang="en-US" spc="-20" dirty="0">
              <a:solidFill>
                <a:schemeClr val="tx1"/>
              </a:solidFill>
              <a:latin typeface="a고딕14" panose="02020600000000000000" pitchFamily="18" charset="-127"/>
              <a:ea typeface="a고딕14" panose="02020600000000000000" pitchFamily="18" charset="-127"/>
            </a:endParaRPr>
          </a:p>
        </p:txBody>
      </p:sp>
      <p:sp>
        <p:nvSpPr>
          <p:cNvPr id="33" name="직사각형 32">
            <a:extLst>
              <a:ext uri="{FF2B5EF4-FFF2-40B4-BE49-F238E27FC236}">
                <a16:creationId xmlns:a16="http://schemas.microsoft.com/office/drawing/2014/main" id="{48E166BA-9DC9-2FAE-9959-2F95E79E37D0}"/>
              </a:ext>
            </a:extLst>
          </p:cNvPr>
          <p:cNvSpPr/>
          <p:nvPr/>
        </p:nvSpPr>
        <p:spPr>
          <a:xfrm>
            <a:off x="6537245" y="2637251"/>
            <a:ext cx="2805906" cy="395284"/>
          </a:xfrm>
          <a:prstGeom prst="rect">
            <a:avLst/>
          </a:prstGeom>
          <a:solidFill>
            <a:srgbClr val="3061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dirty="0">
                <a:latin typeface="a고딕14" panose="02020600000000000000" pitchFamily="18" charset="-127"/>
                <a:ea typeface="a고딕14" panose="02020600000000000000" pitchFamily="18" charset="-127"/>
              </a:rPr>
              <a:t>3</a:t>
            </a:r>
            <a:r>
              <a:rPr lang="ko-KR" altLang="en-US" dirty="0">
                <a:latin typeface="a고딕14" panose="02020600000000000000" pitchFamily="18" charset="-127"/>
                <a:ea typeface="a고딕14" panose="02020600000000000000" pitchFamily="18" charset="-127"/>
              </a:rPr>
              <a:t>안</a:t>
            </a:r>
            <a:r>
              <a:rPr lang="en-US" altLang="ko-KR" dirty="0">
                <a:latin typeface="a고딕14" panose="02020600000000000000" pitchFamily="18" charset="-127"/>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 수요평가</a:t>
            </a:r>
            <a:r>
              <a:rPr lang="en-US" altLang="ko-KR" dirty="0">
                <a:latin typeface="+mj-lt"/>
                <a:ea typeface="a고딕14" panose="02020600000000000000" pitchFamily="18" charset="-127"/>
              </a:rPr>
              <a:t>·</a:t>
            </a:r>
            <a:r>
              <a:rPr lang="ko-KR" altLang="en-US" dirty="0">
                <a:latin typeface="a고딕14" panose="02020600000000000000" pitchFamily="18" charset="-127"/>
                <a:ea typeface="a고딕14" panose="02020600000000000000" pitchFamily="18" charset="-127"/>
              </a:rPr>
              <a:t>적합성 평가</a:t>
            </a:r>
            <a:r>
              <a:rPr lang="en-US" altLang="ko-KR" dirty="0">
                <a:latin typeface="a고딕14" panose="02020600000000000000" pitchFamily="18" charset="-127"/>
                <a:ea typeface="a고딕14" panose="02020600000000000000" pitchFamily="18" charset="-127"/>
              </a:rPr>
              <a:t> </a:t>
            </a:r>
            <a:r>
              <a:rPr lang="ko-KR" altLang="en-US" dirty="0">
                <a:latin typeface="a고딕14" panose="02020600000000000000" pitchFamily="18" charset="-127"/>
                <a:ea typeface="a고딕14" panose="02020600000000000000" pitchFamily="18" charset="-127"/>
              </a:rPr>
              <a:t>통합 점수 산출</a:t>
            </a:r>
          </a:p>
        </p:txBody>
      </p:sp>
      <p:sp>
        <p:nvSpPr>
          <p:cNvPr id="36" name="직사각형 35">
            <a:extLst>
              <a:ext uri="{FF2B5EF4-FFF2-40B4-BE49-F238E27FC236}">
                <a16:creationId xmlns:a16="http://schemas.microsoft.com/office/drawing/2014/main" id="{72AC0935-FE8D-53D5-C4BE-15398016939F}"/>
              </a:ext>
            </a:extLst>
          </p:cNvPr>
          <p:cNvSpPr/>
          <p:nvPr/>
        </p:nvSpPr>
        <p:spPr>
          <a:xfrm>
            <a:off x="6539705" y="3258978"/>
            <a:ext cx="2805907" cy="1656184"/>
          </a:xfrm>
          <a:prstGeom prst="rect">
            <a:avLst/>
          </a:prstGeom>
          <a:solidFill>
            <a:srgbClr val="DCF1F9"/>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buFont typeface="Arial" panose="020B0604020202020204" pitchFamily="34" charset="0"/>
              <a:buChar char="•"/>
            </a:pP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평가결과를 기반으로 디지털 분야와 평생 분야 능력단위를 통합 </a:t>
            </a:r>
            <a:br>
              <a:rPr lang="en-US" altLang="ko-KR" dirty="0">
                <a:solidFill>
                  <a:schemeClr val="tx1"/>
                </a:solidFill>
                <a:latin typeface="a고딕14" panose="02020600000000000000" pitchFamily="18" charset="-127"/>
                <a:ea typeface="a고딕14" panose="02020600000000000000" pitchFamily="18" charset="-127"/>
              </a:rPr>
            </a:b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총 </a:t>
            </a:r>
            <a:r>
              <a:rPr lang="en-US" altLang="ko-KR" dirty="0">
                <a:solidFill>
                  <a:schemeClr val="tx1"/>
                </a:solidFill>
                <a:latin typeface="a고딕14" panose="02020600000000000000" pitchFamily="18" charset="-127"/>
                <a:ea typeface="a고딕14" panose="02020600000000000000" pitchFamily="18" charset="-127"/>
              </a:rPr>
              <a:t>4,018</a:t>
            </a:r>
            <a:r>
              <a:rPr lang="ko-KR" altLang="en-US" dirty="0">
                <a:solidFill>
                  <a:schemeClr val="tx1"/>
                </a:solidFill>
                <a:latin typeface="a고딕14" panose="02020600000000000000" pitchFamily="18" charset="-127"/>
                <a:ea typeface="a고딕14" panose="02020600000000000000" pitchFamily="18" charset="-127"/>
              </a:rPr>
              <a:t>개</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하고</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수요평가와 적합성 평가 결과를 각각 </a:t>
            </a:r>
            <a:r>
              <a:rPr lang="en-US" altLang="ko-KR" dirty="0">
                <a:solidFill>
                  <a:schemeClr val="tx1"/>
                </a:solidFill>
                <a:latin typeface="a고딕14" panose="02020600000000000000" pitchFamily="18" charset="-127"/>
                <a:ea typeface="a고딕14" panose="02020600000000000000" pitchFamily="18" charset="-127"/>
              </a:rPr>
              <a:t>50% </a:t>
            </a:r>
            <a:r>
              <a:rPr lang="ko-KR" altLang="en-US" dirty="0">
                <a:solidFill>
                  <a:schemeClr val="tx1"/>
                </a:solidFill>
                <a:latin typeface="a고딕14" panose="02020600000000000000" pitchFamily="18" charset="-127"/>
                <a:ea typeface="a고딕14" panose="02020600000000000000" pitchFamily="18" charset="-127"/>
              </a:rPr>
              <a:t>반영해 합산 점수</a:t>
            </a:r>
            <a:r>
              <a:rPr lang="en-US" altLang="ko-KR" dirty="0">
                <a:solidFill>
                  <a:schemeClr val="tx1"/>
                </a:solidFill>
                <a:latin typeface="a고딕14" panose="02020600000000000000" pitchFamily="18" charset="-127"/>
                <a:ea typeface="a고딕14" panose="02020600000000000000" pitchFamily="18" charset="-127"/>
              </a:rPr>
              <a:t>(200</a:t>
            </a:r>
            <a:r>
              <a:rPr lang="ko-KR" altLang="en-US" dirty="0">
                <a:solidFill>
                  <a:schemeClr val="tx1"/>
                </a:solidFill>
                <a:latin typeface="a고딕14" panose="02020600000000000000" pitchFamily="18" charset="-127"/>
                <a:ea typeface="a고딕14" panose="02020600000000000000" pitchFamily="18" charset="-127"/>
              </a:rPr>
              <a:t>점 만점</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를 산출 후 상위 </a:t>
            </a:r>
            <a:r>
              <a:rPr lang="en-US" altLang="ko-KR" dirty="0">
                <a:solidFill>
                  <a:schemeClr val="tx1"/>
                </a:solidFill>
                <a:latin typeface="a고딕14" panose="02020600000000000000" pitchFamily="18" charset="-127"/>
                <a:ea typeface="a고딕14" panose="02020600000000000000" pitchFamily="18" charset="-127"/>
              </a:rPr>
              <a:t>20%</a:t>
            </a:r>
            <a:r>
              <a:rPr lang="ko-KR" altLang="en-US" dirty="0">
                <a:solidFill>
                  <a:schemeClr val="tx1"/>
                </a:solidFill>
                <a:latin typeface="a고딕14" panose="02020600000000000000" pitchFamily="18" charset="-127"/>
                <a:ea typeface="a고딕14" panose="02020600000000000000" pitchFamily="18" charset="-127"/>
              </a:rPr>
              <a:t>를 선정하는 방식</a:t>
            </a:r>
            <a:endParaRPr lang="ko-KR" altLang="en-US" spc="-20" dirty="0">
              <a:solidFill>
                <a:schemeClr val="tx1"/>
              </a:solidFill>
              <a:latin typeface="a고딕14" panose="02020600000000000000" pitchFamily="18" charset="-127"/>
              <a:ea typeface="a고딕14" panose="02020600000000000000" pitchFamily="18" charset="-127"/>
            </a:endParaRPr>
          </a:p>
        </p:txBody>
      </p:sp>
      <p:sp>
        <p:nvSpPr>
          <p:cNvPr id="40" name="직사각형 39">
            <a:extLst>
              <a:ext uri="{FF2B5EF4-FFF2-40B4-BE49-F238E27FC236}">
                <a16:creationId xmlns:a16="http://schemas.microsoft.com/office/drawing/2014/main" id="{89794D85-AF66-3AE7-9E2D-C0F51B068355}"/>
              </a:ext>
            </a:extLst>
          </p:cNvPr>
          <p:cNvSpPr/>
          <p:nvPr/>
        </p:nvSpPr>
        <p:spPr>
          <a:xfrm>
            <a:off x="598803" y="2637251"/>
            <a:ext cx="2805906" cy="395284"/>
          </a:xfrm>
          <a:prstGeom prst="rect">
            <a:avLst/>
          </a:prstGeom>
          <a:solidFill>
            <a:srgbClr val="3061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pc="-50" dirty="0">
                <a:latin typeface="a고딕14" panose="02020600000000000000" pitchFamily="18" charset="-127"/>
                <a:ea typeface="a고딕14" panose="02020600000000000000" pitchFamily="18" charset="-127"/>
              </a:rPr>
              <a:t>1</a:t>
            </a:r>
            <a:r>
              <a:rPr lang="ko-KR" altLang="en-US" spc="-50" dirty="0">
                <a:latin typeface="a고딕14" panose="02020600000000000000" pitchFamily="18" charset="-127"/>
                <a:ea typeface="a고딕14" panose="02020600000000000000" pitchFamily="18" charset="-127"/>
              </a:rPr>
              <a:t>안</a:t>
            </a:r>
            <a:r>
              <a:rPr lang="en-US" altLang="ko-KR" spc="-50" dirty="0">
                <a:latin typeface="a고딕14" panose="02020600000000000000" pitchFamily="18" charset="-127"/>
                <a:ea typeface="a고딕14" panose="02020600000000000000" pitchFamily="18" charset="-127"/>
              </a:rPr>
              <a:t>)</a:t>
            </a:r>
            <a:r>
              <a:rPr lang="ko-KR" altLang="en-US" spc="-50" dirty="0">
                <a:latin typeface="a고딕14" panose="02020600000000000000" pitchFamily="18" charset="-127"/>
                <a:ea typeface="a고딕14" panose="02020600000000000000" pitchFamily="18" charset="-127"/>
              </a:rPr>
              <a:t> 수요평가 상위 비율 확대 및 </a:t>
            </a:r>
            <a:r>
              <a:rPr lang="en-US" altLang="ko-KR" spc="-50" dirty="0">
                <a:latin typeface="a고딕14" panose="02020600000000000000" pitchFamily="18" charset="-127"/>
                <a:ea typeface="a고딕14" panose="02020600000000000000" pitchFamily="18" charset="-127"/>
              </a:rPr>
              <a:t>4</a:t>
            </a:r>
            <a:r>
              <a:rPr lang="ko-KR" altLang="en-US" spc="-50" dirty="0">
                <a:latin typeface="a고딕14" panose="02020600000000000000" pitchFamily="18" charset="-127"/>
                <a:ea typeface="a고딕14" panose="02020600000000000000" pitchFamily="18" charset="-127"/>
              </a:rPr>
              <a:t>그룹 제외</a:t>
            </a:r>
          </a:p>
        </p:txBody>
      </p:sp>
      <p:sp>
        <p:nvSpPr>
          <p:cNvPr id="46" name="직사각형 45">
            <a:extLst>
              <a:ext uri="{FF2B5EF4-FFF2-40B4-BE49-F238E27FC236}">
                <a16:creationId xmlns:a16="http://schemas.microsoft.com/office/drawing/2014/main" id="{B64C45D8-10FC-3A1D-1814-C8DF7FE3ED81}"/>
              </a:ext>
            </a:extLst>
          </p:cNvPr>
          <p:cNvSpPr/>
          <p:nvPr/>
        </p:nvSpPr>
        <p:spPr>
          <a:xfrm>
            <a:off x="598802" y="3258978"/>
            <a:ext cx="2805907" cy="1656184"/>
          </a:xfrm>
          <a:prstGeom prst="rect">
            <a:avLst/>
          </a:prstGeom>
          <a:solidFill>
            <a:srgbClr val="DCF1F9"/>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학습자 수요조사에 활용되는 능력단위를 기존 상위 </a:t>
            </a:r>
            <a:r>
              <a:rPr lang="en-US" altLang="ko-KR" dirty="0">
                <a:solidFill>
                  <a:schemeClr val="tx1"/>
                </a:solidFill>
                <a:latin typeface="a고딕14" panose="02020600000000000000" pitchFamily="18" charset="-127"/>
                <a:ea typeface="a고딕14" panose="02020600000000000000" pitchFamily="18" charset="-127"/>
              </a:rPr>
              <a:t>20%</a:t>
            </a:r>
            <a:r>
              <a:rPr lang="ko-KR" altLang="en-US" dirty="0">
                <a:solidFill>
                  <a:schemeClr val="tx1"/>
                </a:solidFill>
                <a:latin typeface="a고딕14" panose="02020600000000000000" pitchFamily="18" charset="-127"/>
                <a:ea typeface="a고딕14" panose="02020600000000000000" pitchFamily="18" charset="-127"/>
              </a:rPr>
              <a:t>보다 넓은 범위</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예</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상위 </a:t>
            </a:r>
            <a:r>
              <a:rPr lang="en-US" altLang="ko-KR" dirty="0">
                <a:solidFill>
                  <a:schemeClr val="tx1"/>
                </a:solidFill>
                <a:latin typeface="a고딕14" panose="02020600000000000000" pitchFamily="18" charset="-127"/>
                <a:ea typeface="a고딕14" panose="02020600000000000000" pitchFamily="18" charset="-127"/>
              </a:rPr>
              <a:t>25~30%)</a:t>
            </a:r>
            <a:r>
              <a:rPr lang="ko-KR" altLang="en-US" dirty="0">
                <a:solidFill>
                  <a:schemeClr val="tx1"/>
                </a:solidFill>
                <a:latin typeface="a고딕14" panose="02020600000000000000" pitchFamily="18" charset="-127"/>
                <a:ea typeface="a고딕14" panose="02020600000000000000" pitchFamily="18" charset="-127"/>
              </a:rPr>
              <a:t>로 확대 선정하고</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적합성 평가 결과 </a:t>
            </a:r>
            <a:r>
              <a:rPr lang="en-US" altLang="ko-KR" dirty="0">
                <a:solidFill>
                  <a:schemeClr val="tx1"/>
                </a:solidFill>
                <a:latin typeface="a고딕14" panose="02020600000000000000" pitchFamily="18" charset="-127"/>
                <a:ea typeface="a고딕14" panose="02020600000000000000" pitchFamily="18" charset="-127"/>
              </a:rPr>
              <a:t>4</a:t>
            </a:r>
            <a:r>
              <a:rPr lang="ko-KR" altLang="en-US" dirty="0">
                <a:solidFill>
                  <a:schemeClr val="tx1"/>
                </a:solidFill>
                <a:latin typeface="a고딕14" panose="02020600000000000000" pitchFamily="18" charset="-127"/>
                <a:ea typeface="a고딕14" panose="02020600000000000000" pitchFamily="18" charset="-127"/>
              </a:rPr>
              <a:t>그룹</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개발 </a:t>
            </a:r>
            <a:r>
              <a:rPr lang="ko-KR" altLang="en-US" dirty="0" err="1">
                <a:solidFill>
                  <a:schemeClr val="tx1"/>
                </a:solidFill>
                <a:latin typeface="a고딕14" panose="02020600000000000000" pitchFamily="18" charset="-127"/>
                <a:ea typeface="a고딕14" panose="02020600000000000000" pitchFamily="18" charset="-127"/>
              </a:rPr>
              <a:t>검토군</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은 제외하여 수요조사를 실시</a:t>
            </a:r>
          </a:p>
        </p:txBody>
      </p:sp>
      <p:sp>
        <p:nvSpPr>
          <p:cNvPr id="47" name="직사각형 46">
            <a:extLst>
              <a:ext uri="{FF2B5EF4-FFF2-40B4-BE49-F238E27FC236}">
                <a16:creationId xmlns:a16="http://schemas.microsoft.com/office/drawing/2014/main" id="{E972772B-791E-04EE-BD86-FB798397E32F}"/>
              </a:ext>
            </a:extLst>
          </p:cNvPr>
          <p:cNvSpPr/>
          <p:nvPr/>
        </p:nvSpPr>
        <p:spPr>
          <a:xfrm>
            <a:off x="3575015" y="5176973"/>
            <a:ext cx="2805907" cy="1300408"/>
          </a:xfrm>
          <a:prstGeom prst="rect">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spcBef>
                <a:spcPts val="600"/>
              </a:spcBef>
              <a:spcAft>
                <a:spcPts val="600"/>
              </a:spcAft>
              <a:buFont typeface="Arial" panose="020B0604020202020204" pitchFamily="34" charset="0"/>
              <a:buChar char="•"/>
            </a:pPr>
            <a:r>
              <a:rPr lang="ko-KR" altLang="en-US" dirty="0" err="1">
                <a:solidFill>
                  <a:schemeClr val="tx1"/>
                </a:solidFill>
                <a:latin typeface="a고딕14" panose="02020600000000000000" pitchFamily="18" charset="-127"/>
                <a:ea typeface="a고딕14" panose="02020600000000000000" pitchFamily="18" charset="-127"/>
              </a:rPr>
              <a:t>기개발</a:t>
            </a:r>
            <a:r>
              <a:rPr lang="ko-KR" altLang="en-US" dirty="0">
                <a:solidFill>
                  <a:schemeClr val="tx1"/>
                </a:solidFill>
                <a:latin typeface="a고딕14" panose="02020600000000000000" pitchFamily="18" charset="-127"/>
                <a:ea typeface="a고딕14" panose="02020600000000000000" pitchFamily="18" charset="-127"/>
              </a:rPr>
              <a:t> 콘텐츠가 포함될 가능성이 높아</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기존 교육과정과의 중복 여부 검토 필요</a:t>
            </a:r>
            <a:endParaRPr lang="en-US" altLang="ko-KR" dirty="0">
              <a:solidFill>
                <a:schemeClr val="tx1"/>
              </a:solidFill>
              <a:latin typeface="a고딕14" panose="02020600000000000000" pitchFamily="18" charset="-127"/>
              <a:ea typeface="a고딕14" panose="02020600000000000000" pitchFamily="18" charset="-127"/>
            </a:endParaRPr>
          </a:p>
          <a:p>
            <a:pPr marL="92075" indent="-92075" algn="l" latinLnBrk="0">
              <a:spcBef>
                <a:spcPts val="600"/>
              </a:spcBef>
              <a:spcAft>
                <a:spcPts val="600"/>
              </a:spcAft>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신규 개발 과정의 차별성 확보를 위한 보완 필요</a:t>
            </a:r>
            <a:endParaRPr lang="ko-KR" altLang="en-US" spc="-20" dirty="0">
              <a:solidFill>
                <a:schemeClr val="tx1"/>
              </a:solidFill>
              <a:latin typeface="a고딕14" panose="02020600000000000000" pitchFamily="18" charset="-127"/>
              <a:ea typeface="a고딕14" panose="02020600000000000000" pitchFamily="18" charset="-127"/>
            </a:endParaRPr>
          </a:p>
        </p:txBody>
      </p:sp>
      <p:sp>
        <p:nvSpPr>
          <p:cNvPr id="48" name="직사각형 47">
            <a:extLst>
              <a:ext uri="{FF2B5EF4-FFF2-40B4-BE49-F238E27FC236}">
                <a16:creationId xmlns:a16="http://schemas.microsoft.com/office/drawing/2014/main" id="{0FF020BC-B796-E1B3-C9AB-72F9A521F23E}"/>
              </a:ext>
            </a:extLst>
          </p:cNvPr>
          <p:cNvSpPr/>
          <p:nvPr/>
        </p:nvSpPr>
        <p:spPr>
          <a:xfrm>
            <a:off x="6539705" y="5176973"/>
            <a:ext cx="2805907" cy="1300408"/>
          </a:xfrm>
          <a:prstGeom prst="rect">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spcBef>
                <a:spcPts val="600"/>
              </a:spcBef>
              <a:spcAft>
                <a:spcPts val="600"/>
              </a:spcAft>
              <a:buFont typeface="Arial" panose="020B0604020202020204" pitchFamily="34" charset="0"/>
              <a:buChar char="•"/>
            </a:pPr>
            <a:r>
              <a:rPr lang="ko-KR" altLang="en-US" dirty="0" err="1">
                <a:solidFill>
                  <a:schemeClr val="tx1"/>
                </a:solidFill>
                <a:latin typeface="a고딕14" panose="02020600000000000000" pitchFamily="18" charset="-127"/>
                <a:ea typeface="a고딕14" panose="02020600000000000000" pitchFamily="18" charset="-127"/>
              </a:rPr>
              <a:t>기개발</a:t>
            </a:r>
            <a:r>
              <a:rPr lang="ko-KR" altLang="en-US" dirty="0">
                <a:solidFill>
                  <a:schemeClr val="tx1"/>
                </a:solidFill>
                <a:latin typeface="a고딕14" panose="02020600000000000000" pitchFamily="18" charset="-127"/>
                <a:ea typeface="a고딕14" panose="02020600000000000000" pitchFamily="18" charset="-127"/>
              </a:rPr>
              <a:t> 교육과정과의 중복성 검토 및 추가 개발 가능성에 대한 정밀 판단 필요</a:t>
            </a:r>
            <a:endParaRPr lang="en-US" altLang="ko-KR" dirty="0">
              <a:solidFill>
                <a:schemeClr val="tx1"/>
              </a:solidFill>
              <a:latin typeface="a고딕14" panose="02020600000000000000" pitchFamily="18" charset="-127"/>
              <a:ea typeface="a고딕14" panose="02020600000000000000" pitchFamily="18" charset="-127"/>
            </a:endParaRPr>
          </a:p>
          <a:p>
            <a:pPr marL="92075" indent="-92075" algn="l" latinLnBrk="0">
              <a:spcBef>
                <a:spcPts val="600"/>
              </a:spcBef>
              <a:spcAft>
                <a:spcPts val="600"/>
              </a:spcAft>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적합성 평가가 없는 능력단위에 대해서는 별도 점수 부여 기준 적용 필요</a:t>
            </a:r>
            <a:endParaRPr lang="ko-KR" altLang="en-US" spc="-20" dirty="0">
              <a:solidFill>
                <a:schemeClr val="tx1"/>
              </a:solidFill>
              <a:latin typeface="a고딕14" panose="02020600000000000000" pitchFamily="18" charset="-127"/>
              <a:ea typeface="a고딕14" panose="02020600000000000000" pitchFamily="18" charset="-127"/>
            </a:endParaRPr>
          </a:p>
        </p:txBody>
      </p:sp>
      <p:sp>
        <p:nvSpPr>
          <p:cNvPr id="49" name="직사각형 48">
            <a:extLst>
              <a:ext uri="{FF2B5EF4-FFF2-40B4-BE49-F238E27FC236}">
                <a16:creationId xmlns:a16="http://schemas.microsoft.com/office/drawing/2014/main" id="{082EB457-D189-12AB-382E-78F64B15F72D}"/>
              </a:ext>
            </a:extLst>
          </p:cNvPr>
          <p:cNvSpPr/>
          <p:nvPr/>
        </p:nvSpPr>
        <p:spPr>
          <a:xfrm>
            <a:off x="598802" y="5176973"/>
            <a:ext cx="2805907" cy="1300408"/>
          </a:xfrm>
          <a:prstGeom prst="rect">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indent="-92075" algn="l" latinLnBrk="0">
              <a:spcBef>
                <a:spcPts val="600"/>
              </a:spcBef>
              <a:spcAft>
                <a:spcPts val="600"/>
              </a:spcAft>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기존 ‘상위 </a:t>
            </a:r>
            <a:r>
              <a:rPr lang="en-US" altLang="ko-KR" dirty="0">
                <a:solidFill>
                  <a:schemeClr val="tx1"/>
                </a:solidFill>
                <a:latin typeface="a고딕14" panose="02020600000000000000" pitchFamily="18" charset="-127"/>
                <a:ea typeface="a고딕14" panose="02020600000000000000" pitchFamily="18" charset="-127"/>
              </a:rPr>
              <a:t>20%’ </a:t>
            </a:r>
            <a:r>
              <a:rPr lang="ko-KR" altLang="en-US" dirty="0">
                <a:solidFill>
                  <a:schemeClr val="tx1"/>
                </a:solidFill>
                <a:latin typeface="a고딕14" panose="02020600000000000000" pitchFamily="18" charset="-127"/>
                <a:ea typeface="a고딕14" panose="02020600000000000000" pitchFamily="18" charset="-127"/>
              </a:rPr>
              <a:t>선정 체계가 유지되지 않아</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이전 결과와의 비교 가능성이 낮음</a:t>
            </a:r>
            <a:endParaRPr lang="en-US" altLang="ko-KR" dirty="0">
              <a:solidFill>
                <a:schemeClr val="tx1"/>
              </a:solidFill>
              <a:latin typeface="a고딕14" panose="02020600000000000000" pitchFamily="18" charset="-127"/>
              <a:ea typeface="a고딕14" panose="02020600000000000000" pitchFamily="18" charset="-127"/>
            </a:endParaRPr>
          </a:p>
          <a:p>
            <a:pPr marL="92075" indent="-92075" algn="l" latinLnBrk="0">
              <a:spcBef>
                <a:spcPts val="600"/>
              </a:spcBef>
              <a:spcAft>
                <a:spcPts val="600"/>
              </a:spcAft>
              <a:buFont typeface="Arial" panose="020B0604020202020204" pitchFamily="34" charset="0"/>
              <a:buChar char="•"/>
            </a:pPr>
            <a:r>
              <a:rPr lang="ko-KR" altLang="en-US" dirty="0">
                <a:solidFill>
                  <a:schemeClr val="tx1"/>
                </a:solidFill>
                <a:latin typeface="a고딕14" panose="02020600000000000000" pitchFamily="18" charset="-127"/>
                <a:ea typeface="a고딕14" panose="02020600000000000000" pitchFamily="18" charset="-127"/>
              </a:rPr>
              <a:t>설문문항 수 증가로 응답자 부담 및 피로도가 가중될 우려가 있음</a:t>
            </a:r>
          </a:p>
        </p:txBody>
      </p:sp>
      <p:grpSp>
        <p:nvGrpSpPr>
          <p:cNvPr id="69" name="그룹 68">
            <a:extLst>
              <a:ext uri="{FF2B5EF4-FFF2-40B4-BE49-F238E27FC236}">
                <a16:creationId xmlns:a16="http://schemas.microsoft.com/office/drawing/2014/main" id="{83BC0056-81B7-4C91-AA31-7E0EBD37DCE3}"/>
              </a:ext>
            </a:extLst>
          </p:cNvPr>
          <p:cNvGrpSpPr/>
          <p:nvPr/>
        </p:nvGrpSpPr>
        <p:grpSpPr>
          <a:xfrm>
            <a:off x="428496" y="3089434"/>
            <a:ext cx="1155727" cy="303397"/>
            <a:chOff x="866914" y="2447205"/>
            <a:chExt cx="1256932" cy="273532"/>
          </a:xfrm>
        </p:grpSpPr>
        <p:sp>
          <p:nvSpPr>
            <p:cNvPr id="70" name="Freeform 40">
              <a:extLst>
                <a:ext uri="{FF2B5EF4-FFF2-40B4-BE49-F238E27FC236}">
                  <a16:creationId xmlns:a16="http://schemas.microsoft.com/office/drawing/2014/main" id="{6B739697-9B3F-4DEB-8E39-B04E97776183}"/>
                </a:ext>
              </a:extLst>
            </p:cNvPr>
            <p:cNvSpPr>
              <a:spLocks/>
            </p:cNvSpPr>
            <p:nvPr/>
          </p:nvSpPr>
          <p:spPr bwMode="auto">
            <a:xfrm>
              <a:off x="866914" y="2447205"/>
              <a:ext cx="1256932" cy="273532"/>
            </a:xfrm>
            <a:custGeom>
              <a:avLst/>
              <a:gdLst>
                <a:gd name="T0" fmla="*/ 796 w 976"/>
                <a:gd name="T1" fmla="*/ 38 h 282"/>
                <a:gd name="T2" fmla="*/ 0 w 976"/>
                <a:gd name="T3" fmla="*/ 38 h 282"/>
                <a:gd name="T4" fmla="*/ 0 w 976"/>
                <a:gd name="T5" fmla="*/ 282 h 282"/>
                <a:gd name="T6" fmla="*/ 796 w 976"/>
                <a:gd name="T7" fmla="*/ 282 h 282"/>
                <a:gd name="T8" fmla="*/ 796 w 976"/>
                <a:gd name="T9" fmla="*/ 282 h 282"/>
                <a:gd name="T10" fmla="*/ 818 w 976"/>
                <a:gd name="T11" fmla="*/ 282 h 282"/>
                <a:gd name="T12" fmla="*/ 842 w 976"/>
                <a:gd name="T13" fmla="*/ 280 h 282"/>
                <a:gd name="T14" fmla="*/ 872 w 976"/>
                <a:gd name="T15" fmla="*/ 278 h 282"/>
                <a:gd name="T16" fmla="*/ 902 w 976"/>
                <a:gd name="T17" fmla="*/ 274 h 282"/>
                <a:gd name="T18" fmla="*/ 932 w 976"/>
                <a:gd name="T19" fmla="*/ 268 h 282"/>
                <a:gd name="T20" fmla="*/ 946 w 976"/>
                <a:gd name="T21" fmla="*/ 264 h 282"/>
                <a:gd name="T22" fmla="*/ 958 w 976"/>
                <a:gd name="T23" fmla="*/ 258 h 282"/>
                <a:gd name="T24" fmla="*/ 968 w 976"/>
                <a:gd name="T25" fmla="*/ 252 h 282"/>
                <a:gd name="T26" fmla="*/ 976 w 976"/>
                <a:gd name="T27" fmla="*/ 244 h 282"/>
                <a:gd name="T28" fmla="*/ 976 w 976"/>
                <a:gd name="T29" fmla="*/ 0 h 282"/>
                <a:gd name="T30" fmla="*/ 976 w 976"/>
                <a:gd name="T31" fmla="*/ 0 h 282"/>
                <a:gd name="T32" fmla="*/ 970 w 976"/>
                <a:gd name="T33" fmla="*/ 6 h 282"/>
                <a:gd name="T34" fmla="*/ 958 w 976"/>
                <a:gd name="T35" fmla="*/ 12 h 282"/>
                <a:gd name="T36" fmla="*/ 942 w 976"/>
                <a:gd name="T37" fmla="*/ 20 h 282"/>
                <a:gd name="T38" fmla="*/ 918 w 976"/>
                <a:gd name="T39" fmla="*/ 26 h 282"/>
                <a:gd name="T40" fmla="*/ 888 w 976"/>
                <a:gd name="T41" fmla="*/ 32 h 282"/>
                <a:gd name="T42" fmla="*/ 846 w 976"/>
                <a:gd name="T43" fmla="*/ 36 h 282"/>
                <a:gd name="T44" fmla="*/ 796 w 976"/>
                <a:gd name="T45" fmla="*/ 38 h 282"/>
                <a:gd name="T46" fmla="*/ 796 w 976"/>
                <a:gd name="T47" fmla="*/ 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6" h="282">
                  <a:moveTo>
                    <a:pt x="796" y="38"/>
                  </a:moveTo>
                  <a:lnTo>
                    <a:pt x="0" y="38"/>
                  </a:lnTo>
                  <a:lnTo>
                    <a:pt x="0" y="282"/>
                  </a:lnTo>
                  <a:lnTo>
                    <a:pt x="796" y="282"/>
                  </a:lnTo>
                  <a:lnTo>
                    <a:pt x="796" y="282"/>
                  </a:lnTo>
                  <a:lnTo>
                    <a:pt x="818" y="282"/>
                  </a:lnTo>
                  <a:lnTo>
                    <a:pt x="842" y="280"/>
                  </a:lnTo>
                  <a:lnTo>
                    <a:pt x="872" y="278"/>
                  </a:lnTo>
                  <a:lnTo>
                    <a:pt x="902" y="274"/>
                  </a:lnTo>
                  <a:lnTo>
                    <a:pt x="932" y="268"/>
                  </a:lnTo>
                  <a:lnTo>
                    <a:pt x="946" y="264"/>
                  </a:lnTo>
                  <a:lnTo>
                    <a:pt x="958" y="258"/>
                  </a:lnTo>
                  <a:lnTo>
                    <a:pt x="968" y="252"/>
                  </a:lnTo>
                  <a:lnTo>
                    <a:pt x="976" y="244"/>
                  </a:lnTo>
                  <a:lnTo>
                    <a:pt x="976" y="0"/>
                  </a:lnTo>
                  <a:lnTo>
                    <a:pt x="976" y="0"/>
                  </a:lnTo>
                  <a:lnTo>
                    <a:pt x="970" y="6"/>
                  </a:lnTo>
                  <a:lnTo>
                    <a:pt x="958" y="12"/>
                  </a:lnTo>
                  <a:lnTo>
                    <a:pt x="942" y="20"/>
                  </a:lnTo>
                  <a:lnTo>
                    <a:pt x="918" y="26"/>
                  </a:lnTo>
                  <a:lnTo>
                    <a:pt x="888" y="32"/>
                  </a:lnTo>
                  <a:lnTo>
                    <a:pt x="846" y="36"/>
                  </a:lnTo>
                  <a:lnTo>
                    <a:pt x="796" y="38"/>
                  </a:lnTo>
                  <a:lnTo>
                    <a:pt x="796" y="38"/>
                  </a:lnTo>
                  <a:close/>
                </a:path>
              </a:pathLst>
            </a:custGeom>
            <a:solidFill>
              <a:srgbClr val="26365B"/>
            </a:solidFill>
            <a:ln>
              <a:noFill/>
            </a:ln>
            <a:effectLst>
              <a:outerShdw dist="38100" dir="2700000" algn="tl" rotWithShape="0">
                <a:prstClr val="black">
                  <a:alpha val="18000"/>
                </a:prstClr>
              </a:outerShdw>
            </a:effectLst>
          </p:spPr>
          <p:txBody>
            <a:bodyPr vert="horz" wrap="square" lIns="84406" tIns="42203" rIns="84406" bIns="42203" numCol="1" anchor="t" anchorCtr="0" compatLnSpc="1">
              <a:prstTxWarp prst="textNoShape">
                <a:avLst/>
              </a:prstTxWarp>
            </a:bodyPr>
            <a:lstStyle/>
            <a:p>
              <a:pPr algn="l" defTabSz="422041" eaLnBrk="1" fontAlgn="auto" latinLnBrk="0" hangingPunct="1">
                <a:spcBef>
                  <a:spcPts val="0"/>
                </a:spcBef>
                <a:spcAft>
                  <a:spcPts val="0"/>
                </a:spcAft>
                <a:buFontTx/>
                <a:buNone/>
              </a:pPr>
              <a:endParaRPr lang="ko-KR" altLang="en-US" dirty="0">
                <a:ln>
                  <a:solidFill>
                    <a:prstClr val="black">
                      <a:lumMod val="50000"/>
                      <a:lumOff val="50000"/>
                      <a:alpha val="0"/>
                    </a:prstClr>
                  </a:solidFill>
                </a:ln>
                <a:solidFill>
                  <a:prstClr val="black"/>
                </a:solidFill>
                <a:latin typeface="a고딕14" panose="02020600000000000000" pitchFamily="18" charset="-127"/>
                <a:ea typeface="a고딕14" panose="02020600000000000000" pitchFamily="18" charset="-127"/>
              </a:endParaRPr>
            </a:p>
          </p:txBody>
        </p:sp>
        <p:sp>
          <p:nvSpPr>
            <p:cNvPr id="71" name="제목 27">
              <a:extLst>
                <a:ext uri="{FF2B5EF4-FFF2-40B4-BE49-F238E27FC236}">
                  <a16:creationId xmlns:a16="http://schemas.microsoft.com/office/drawing/2014/main" id="{2FE9847F-20F7-4480-818A-1F34FF92E173}"/>
                </a:ext>
              </a:extLst>
            </p:cNvPr>
            <p:cNvSpPr txBox="1">
              <a:spLocks/>
            </p:cNvSpPr>
            <p:nvPr/>
          </p:nvSpPr>
          <p:spPr bwMode="auto">
            <a:xfrm>
              <a:off x="866916" y="2493652"/>
              <a:ext cx="1256930" cy="166488"/>
            </a:xfrm>
            <a:prstGeom prst="rect">
              <a:avLst/>
            </a:prstGeom>
            <a:noFill/>
          </p:spPr>
          <p:txBody>
            <a:bodyPr wrap="square" lIns="0" tIns="0" rIns="0" bIns="0" rtlCol="0" anchor="t" anchorCtr="0">
              <a:spAutoFit/>
              <a:scene3d>
                <a:camera prst="orthographicFront"/>
                <a:lightRig rig="threePt" dir="t"/>
              </a:scene3d>
              <a:sp3d>
                <a:bevelT w="0" h="38100"/>
                <a:contourClr>
                  <a:schemeClr val="bg1"/>
                </a:contourClr>
              </a:sp3d>
            </a:bodyPr>
            <a:lstStyle>
              <a:defPPr>
                <a:defRPr lang="ko-KR"/>
              </a:defPPr>
              <a:lvl1pPr fontAlgn="base" latinLnBrk="0">
                <a:lnSpc>
                  <a:spcPct val="110000"/>
                </a:lnSpc>
                <a:spcBef>
                  <a:spcPct val="0"/>
                </a:spcBef>
                <a:spcAft>
                  <a:spcPct val="0"/>
                </a:spcAft>
                <a:defRPr kumimoji="1" sz="1200" spc="-100">
                  <a:solidFill>
                    <a:prstClr val="black">
                      <a:lumMod val="75000"/>
                      <a:lumOff val="25000"/>
                    </a:prstClr>
                  </a:solidFill>
                  <a:latin typeface="맑은 고딕" panose="020B0503020000020004" pitchFamily="50" charset="-127"/>
                  <a:ea typeface="맑은 고딕" panose="020B0503020000020004" pitchFamily="50" charset="-127"/>
                </a:defRPr>
              </a:lvl1pPr>
            </a:lstStyle>
            <a:p>
              <a:pPr defTabSz="422041" eaLnBrk="1" hangingPunct="1">
                <a:lnSpc>
                  <a:spcPct val="100000"/>
                </a:lnSpc>
                <a:spcBef>
                  <a:spcPts val="277"/>
                </a:spcBef>
                <a:buFontTx/>
                <a:buNone/>
              </a:pPr>
              <a:r>
                <a:rPr lang="ko-KR" altLang="en-US" b="1" spc="0" dirty="0">
                  <a:ln>
                    <a:solidFill>
                      <a:prstClr val="black">
                        <a:lumMod val="50000"/>
                        <a:lumOff val="50000"/>
                        <a:alpha val="0"/>
                      </a:prstClr>
                    </a:solidFill>
                  </a:ln>
                  <a:solidFill>
                    <a:prstClr val="white"/>
                  </a:solidFill>
                  <a:latin typeface="a고딕14" panose="02020600000000000000" pitchFamily="18" charset="-127"/>
                  <a:ea typeface="a고딕14" panose="02020600000000000000" pitchFamily="18" charset="-127"/>
                </a:rPr>
                <a:t>진행 방안</a:t>
              </a:r>
            </a:p>
          </p:txBody>
        </p:sp>
      </p:grpSp>
      <p:grpSp>
        <p:nvGrpSpPr>
          <p:cNvPr id="58" name="그룹 57">
            <a:extLst>
              <a:ext uri="{FF2B5EF4-FFF2-40B4-BE49-F238E27FC236}">
                <a16:creationId xmlns:a16="http://schemas.microsoft.com/office/drawing/2014/main" id="{20E08E99-BF98-8AB9-B175-6A6CCB468F55}"/>
              </a:ext>
            </a:extLst>
          </p:cNvPr>
          <p:cNvGrpSpPr/>
          <p:nvPr/>
        </p:nvGrpSpPr>
        <p:grpSpPr>
          <a:xfrm>
            <a:off x="428496" y="5007429"/>
            <a:ext cx="1155727" cy="303397"/>
            <a:chOff x="866914" y="2447205"/>
            <a:chExt cx="1256932" cy="273532"/>
          </a:xfrm>
        </p:grpSpPr>
        <p:sp>
          <p:nvSpPr>
            <p:cNvPr id="59" name="Freeform 40">
              <a:extLst>
                <a:ext uri="{FF2B5EF4-FFF2-40B4-BE49-F238E27FC236}">
                  <a16:creationId xmlns:a16="http://schemas.microsoft.com/office/drawing/2014/main" id="{1D907590-2977-D746-5360-F2D0386997A7}"/>
                </a:ext>
              </a:extLst>
            </p:cNvPr>
            <p:cNvSpPr>
              <a:spLocks/>
            </p:cNvSpPr>
            <p:nvPr/>
          </p:nvSpPr>
          <p:spPr bwMode="auto">
            <a:xfrm>
              <a:off x="866914" y="2447205"/>
              <a:ext cx="1256932" cy="273532"/>
            </a:xfrm>
            <a:custGeom>
              <a:avLst/>
              <a:gdLst>
                <a:gd name="T0" fmla="*/ 796 w 976"/>
                <a:gd name="T1" fmla="*/ 38 h 282"/>
                <a:gd name="T2" fmla="*/ 0 w 976"/>
                <a:gd name="T3" fmla="*/ 38 h 282"/>
                <a:gd name="T4" fmla="*/ 0 w 976"/>
                <a:gd name="T5" fmla="*/ 282 h 282"/>
                <a:gd name="T6" fmla="*/ 796 w 976"/>
                <a:gd name="T7" fmla="*/ 282 h 282"/>
                <a:gd name="T8" fmla="*/ 796 w 976"/>
                <a:gd name="T9" fmla="*/ 282 h 282"/>
                <a:gd name="T10" fmla="*/ 818 w 976"/>
                <a:gd name="T11" fmla="*/ 282 h 282"/>
                <a:gd name="T12" fmla="*/ 842 w 976"/>
                <a:gd name="T13" fmla="*/ 280 h 282"/>
                <a:gd name="T14" fmla="*/ 872 w 976"/>
                <a:gd name="T15" fmla="*/ 278 h 282"/>
                <a:gd name="T16" fmla="*/ 902 w 976"/>
                <a:gd name="T17" fmla="*/ 274 h 282"/>
                <a:gd name="T18" fmla="*/ 932 w 976"/>
                <a:gd name="T19" fmla="*/ 268 h 282"/>
                <a:gd name="T20" fmla="*/ 946 w 976"/>
                <a:gd name="T21" fmla="*/ 264 h 282"/>
                <a:gd name="T22" fmla="*/ 958 w 976"/>
                <a:gd name="T23" fmla="*/ 258 h 282"/>
                <a:gd name="T24" fmla="*/ 968 w 976"/>
                <a:gd name="T25" fmla="*/ 252 h 282"/>
                <a:gd name="T26" fmla="*/ 976 w 976"/>
                <a:gd name="T27" fmla="*/ 244 h 282"/>
                <a:gd name="T28" fmla="*/ 976 w 976"/>
                <a:gd name="T29" fmla="*/ 0 h 282"/>
                <a:gd name="T30" fmla="*/ 976 w 976"/>
                <a:gd name="T31" fmla="*/ 0 h 282"/>
                <a:gd name="T32" fmla="*/ 970 w 976"/>
                <a:gd name="T33" fmla="*/ 6 h 282"/>
                <a:gd name="T34" fmla="*/ 958 w 976"/>
                <a:gd name="T35" fmla="*/ 12 h 282"/>
                <a:gd name="T36" fmla="*/ 942 w 976"/>
                <a:gd name="T37" fmla="*/ 20 h 282"/>
                <a:gd name="T38" fmla="*/ 918 w 976"/>
                <a:gd name="T39" fmla="*/ 26 h 282"/>
                <a:gd name="T40" fmla="*/ 888 w 976"/>
                <a:gd name="T41" fmla="*/ 32 h 282"/>
                <a:gd name="T42" fmla="*/ 846 w 976"/>
                <a:gd name="T43" fmla="*/ 36 h 282"/>
                <a:gd name="T44" fmla="*/ 796 w 976"/>
                <a:gd name="T45" fmla="*/ 38 h 282"/>
                <a:gd name="T46" fmla="*/ 796 w 976"/>
                <a:gd name="T47" fmla="*/ 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6" h="282">
                  <a:moveTo>
                    <a:pt x="796" y="38"/>
                  </a:moveTo>
                  <a:lnTo>
                    <a:pt x="0" y="38"/>
                  </a:lnTo>
                  <a:lnTo>
                    <a:pt x="0" y="282"/>
                  </a:lnTo>
                  <a:lnTo>
                    <a:pt x="796" y="282"/>
                  </a:lnTo>
                  <a:lnTo>
                    <a:pt x="796" y="282"/>
                  </a:lnTo>
                  <a:lnTo>
                    <a:pt x="818" y="282"/>
                  </a:lnTo>
                  <a:lnTo>
                    <a:pt x="842" y="280"/>
                  </a:lnTo>
                  <a:lnTo>
                    <a:pt x="872" y="278"/>
                  </a:lnTo>
                  <a:lnTo>
                    <a:pt x="902" y="274"/>
                  </a:lnTo>
                  <a:lnTo>
                    <a:pt x="932" y="268"/>
                  </a:lnTo>
                  <a:lnTo>
                    <a:pt x="946" y="264"/>
                  </a:lnTo>
                  <a:lnTo>
                    <a:pt x="958" y="258"/>
                  </a:lnTo>
                  <a:lnTo>
                    <a:pt x="968" y="252"/>
                  </a:lnTo>
                  <a:lnTo>
                    <a:pt x="976" y="244"/>
                  </a:lnTo>
                  <a:lnTo>
                    <a:pt x="976" y="0"/>
                  </a:lnTo>
                  <a:lnTo>
                    <a:pt x="976" y="0"/>
                  </a:lnTo>
                  <a:lnTo>
                    <a:pt x="970" y="6"/>
                  </a:lnTo>
                  <a:lnTo>
                    <a:pt x="958" y="12"/>
                  </a:lnTo>
                  <a:lnTo>
                    <a:pt x="942" y="20"/>
                  </a:lnTo>
                  <a:lnTo>
                    <a:pt x="918" y="26"/>
                  </a:lnTo>
                  <a:lnTo>
                    <a:pt x="888" y="32"/>
                  </a:lnTo>
                  <a:lnTo>
                    <a:pt x="846" y="36"/>
                  </a:lnTo>
                  <a:lnTo>
                    <a:pt x="796" y="38"/>
                  </a:lnTo>
                  <a:lnTo>
                    <a:pt x="796" y="38"/>
                  </a:lnTo>
                  <a:close/>
                </a:path>
              </a:pathLst>
            </a:custGeom>
            <a:solidFill>
              <a:srgbClr val="26365B"/>
            </a:solidFill>
            <a:ln>
              <a:noFill/>
            </a:ln>
            <a:effectLst>
              <a:outerShdw dist="38100" dir="2700000" algn="tl" rotWithShape="0">
                <a:prstClr val="black">
                  <a:alpha val="18000"/>
                </a:prstClr>
              </a:outerShdw>
            </a:effectLst>
          </p:spPr>
          <p:txBody>
            <a:bodyPr vert="horz" wrap="square" lIns="84406" tIns="42203" rIns="84406" bIns="42203" numCol="1" anchor="t" anchorCtr="0" compatLnSpc="1">
              <a:prstTxWarp prst="textNoShape">
                <a:avLst/>
              </a:prstTxWarp>
            </a:bodyPr>
            <a:lstStyle/>
            <a:p>
              <a:pPr algn="l" defTabSz="422041" eaLnBrk="1" fontAlgn="auto" latinLnBrk="0" hangingPunct="1">
                <a:spcBef>
                  <a:spcPts val="0"/>
                </a:spcBef>
                <a:spcAft>
                  <a:spcPts val="0"/>
                </a:spcAft>
                <a:buFontTx/>
                <a:buNone/>
              </a:pPr>
              <a:endParaRPr lang="ko-KR" altLang="en-US" dirty="0">
                <a:ln>
                  <a:solidFill>
                    <a:prstClr val="black">
                      <a:lumMod val="50000"/>
                      <a:lumOff val="50000"/>
                      <a:alpha val="0"/>
                    </a:prstClr>
                  </a:solidFill>
                </a:ln>
                <a:solidFill>
                  <a:prstClr val="black"/>
                </a:solidFill>
                <a:latin typeface="a고딕14" panose="02020600000000000000" pitchFamily="18" charset="-127"/>
                <a:ea typeface="a고딕14" panose="02020600000000000000" pitchFamily="18" charset="-127"/>
              </a:endParaRPr>
            </a:p>
          </p:txBody>
        </p:sp>
        <p:sp>
          <p:nvSpPr>
            <p:cNvPr id="60" name="제목 27">
              <a:extLst>
                <a:ext uri="{FF2B5EF4-FFF2-40B4-BE49-F238E27FC236}">
                  <a16:creationId xmlns:a16="http://schemas.microsoft.com/office/drawing/2014/main" id="{8F84A001-EA43-002C-A0B8-30C3D2802DA0}"/>
                </a:ext>
              </a:extLst>
            </p:cNvPr>
            <p:cNvSpPr txBox="1">
              <a:spLocks/>
            </p:cNvSpPr>
            <p:nvPr/>
          </p:nvSpPr>
          <p:spPr bwMode="auto">
            <a:xfrm>
              <a:off x="866916" y="2493652"/>
              <a:ext cx="1256930" cy="188685"/>
            </a:xfrm>
            <a:prstGeom prst="rect">
              <a:avLst/>
            </a:prstGeom>
            <a:noFill/>
          </p:spPr>
          <p:txBody>
            <a:bodyPr wrap="square" lIns="0" tIns="0" rIns="0" bIns="0" rtlCol="0" anchor="t" anchorCtr="0">
              <a:spAutoFit/>
              <a:scene3d>
                <a:camera prst="orthographicFront"/>
                <a:lightRig rig="threePt" dir="t"/>
              </a:scene3d>
              <a:sp3d>
                <a:bevelT w="0" h="38100"/>
                <a:contourClr>
                  <a:schemeClr val="bg1"/>
                </a:contourClr>
              </a:sp3d>
            </a:bodyPr>
            <a:lstStyle>
              <a:defPPr>
                <a:defRPr lang="ko-KR"/>
              </a:defPPr>
              <a:lvl1pPr fontAlgn="base" latinLnBrk="0">
                <a:lnSpc>
                  <a:spcPct val="110000"/>
                </a:lnSpc>
                <a:spcBef>
                  <a:spcPct val="0"/>
                </a:spcBef>
                <a:spcAft>
                  <a:spcPct val="0"/>
                </a:spcAft>
                <a:defRPr kumimoji="1" sz="1200" spc="-100">
                  <a:solidFill>
                    <a:prstClr val="black">
                      <a:lumMod val="75000"/>
                      <a:lumOff val="25000"/>
                    </a:prstClr>
                  </a:solidFill>
                  <a:latin typeface="맑은 고딕" panose="020B0503020000020004" pitchFamily="50" charset="-127"/>
                  <a:ea typeface="맑은 고딕" panose="020B0503020000020004" pitchFamily="50" charset="-127"/>
                </a:defRPr>
              </a:lvl1pPr>
            </a:lstStyle>
            <a:p>
              <a:pPr defTabSz="422041" eaLnBrk="1" hangingPunct="1">
                <a:lnSpc>
                  <a:spcPct val="100000"/>
                </a:lnSpc>
                <a:spcBef>
                  <a:spcPts val="277"/>
                </a:spcBef>
                <a:buFontTx/>
                <a:buNone/>
              </a:pPr>
              <a:r>
                <a:rPr lang="ko-KR" altLang="en-US" b="1" spc="0" dirty="0">
                  <a:ln>
                    <a:solidFill>
                      <a:prstClr val="black">
                        <a:lumMod val="50000"/>
                        <a:lumOff val="50000"/>
                        <a:alpha val="0"/>
                      </a:prstClr>
                    </a:solidFill>
                  </a:ln>
                  <a:solidFill>
                    <a:prstClr val="white"/>
                  </a:solidFill>
                  <a:latin typeface="a고딕14" panose="02020600000000000000" pitchFamily="18" charset="-127"/>
                  <a:ea typeface="a고딕14" panose="02020600000000000000" pitchFamily="18" charset="-127"/>
                </a:rPr>
                <a:t>고려사항</a:t>
              </a:r>
            </a:p>
          </p:txBody>
        </p:sp>
      </p:grpSp>
      <p:pic>
        <p:nvPicPr>
          <p:cNvPr id="67" name="그림 66">
            <a:extLst>
              <a:ext uri="{FF2B5EF4-FFF2-40B4-BE49-F238E27FC236}">
                <a16:creationId xmlns:a16="http://schemas.microsoft.com/office/drawing/2014/main" id="{4E194231-C2EE-2215-30CB-5176F1D9AD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1573" y="2288429"/>
            <a:ext cx="634331" cy="634331"/>
          </a:xfrm>
          <a:prstGeom prst="rect">
            <a:avLst/>
          </a:prstGeom>
        </p:spPr>
      </p:pic>
    </p:spTree>
    <p:extLst>
      <p:ext uri="{BB962C8B-B14F-4D97-AF65-F5344CB8AC3E}">
        <p14:creationId xmlns:p14="http://schemas.microsoft.com/office/powerpoint/2010/main" val="3023592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8B317-586B-53E3-A4E3-E3E3FD13E2C8}"/>
            </a:ext>
          </a:extLst>
        </p:cNvPr>
        <p:cNvGrpSpPr/>
        <p:nvPr/>
      </p:nvGrpSpPr>
      <p:grpSpPr>
        <a:xfrm>
          <a:off x="0" y="0"/>
          <a:ext cx="0" cy="0"/>
          <a:chOff x="0" y="0"/>
          <a:chExt cx="0" cy="0"/>
        </a:xfrm>
      </p:grpSpPr>
      <p:sp>
        <p:nvSpPr>
          <p:cNvPr id="45" name="화살표: 아래쪽 44">
            <a:extLst>
              <a:ext uri="{FF2B5EF4-FFF2-40B4-BE49-F238E27FC236}">
                <a16:creationId xmlns:a16="http://schemas.microsoft.com/office/drawing/2014/main" id="{349E3AE9-AC26-9822-F2B9-419172DB96FD}"/>
              </a:ext>
            </a:extLst>
          </p:cNvPr>
          <p:cNvSpPr/>
          <p:nvPr/>
        </p:nvSpPr>
        <p:spPr>
          <a:xfrm>
            <a:off x="6946909" y="3521886"/>
            <a:ext cx="765158" cy="2351557"/>
          </a:xfrm>
          <a:prstGeom prst="downArrow">
            <a:avLst/>
          </a:prstGeom>
          <a:solidFill>
            <a:srgbClr val="18254E"/>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 name="텍스트 개체 틀 1">
            <a:extLst>
              <a:ext uri="{FF2B5EF4-FFF2-40B4-BE49-F238E27FC236}">
                <a16:creationId xmlns:a16="http://schemas.microsoft.com/office/drawing/2014/main" id="{102B3A3D-C4F4-95EA-B22D-3DD43E7A8313}"/>
              </a:ext>
            </a:extLst>
          </p:cNvPr>
          <p:cNvSpPr>
            <a:spLocks noGrp="1"/>
          </p:cNvSpPr>
          <p:nvPr>
            <p:ph type="body" sz="quarter" idx="12"/>
          </p:nvPr>
        </p:nvSpPr>
        <p:spPr/>
        <p:txBody>
          <a:bodyPr/>
          <a:lstStyle/>
          <a:p>
            <a:pPr latinLnBrk="0"/>
            <a:r>
              <a:rPr lang="ko-KR" altLang="en-US" dirty="0"/>
              <a:t>수요조사 대상 과정을 선정하기 위하여 </a:t>
            </a:r>
            <a:r>
              <a:rPr lang="ko-KR" altLang="en-US" dirty="0" err="1"/>
              <a:t>세분류</a:t>
            </a:r>
            <a:r>
              <a:rPr lang="ko-KR" altLang="en-US" dirty="0"/>
              <a:t> 수요평가 결과</a:t>
            </a:r>
            <a:r>
              <a:rPr lang="en-US" altLang="ko-KR" dirty="0"/>
              <a:t>, </a:t>
            </a:r>
            <a:r>
              <a:rPr lang="ko-KR" altLang="en-US" dirty="0"/>
              <a:t>적합성 평가 결과 및 교육과정 </a:t>
            </a:r>
            <a:r>
              <a:rPr lang="ko-KR" altLang="en-US" dirty="0" err="1"/>
              <a:t>기개발</a:t>
            </a:r>
            <a:r>
              <a:rPr lang="ko-KR" altLang="en-US" dirty="0"/>
              <a:t> 능력단위 중복성 검토를 실시하였음</a:t>
            </a:r>
            <a:endParaRPr lang="ko-KR" altLang="en-US" sz="1800" dirty="0">
              <a:solidFill>
                <a:srgbClr val="FF0000"/>
              </a:solidFill>
            </a:endParaRPr>
          </a:p>
        </p:txBody>
      </p:sp>
      <p:sp>
        <p:nvSpPr>
          <p:cNvPr id="5" name="텍스트 개체 틀 4">
            <a:extLst>
              <a:ext uri="{FF2B5EF4-FFF2-40B4-BE49-F238E27FC236}">
                <a16:creationId xmlns:a16="http://schemas.microsoft.com/office/drawing/2014/main" id="{7B74B281-24E8-56C7-C9E5-9030241FB28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D71ABCF4-108C-1169-77E8-2F9558A59FEE}"/>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ko-KR" altLang="en-US" sz="1200" dirty="0">
                <a:solidFill>
                  <a:schemeClr val="bg1"/>
                </a:solidFill>
              </a:rPr>
              <a:t>능력단위 수요 평가 </a:t>
            </a:r>
            <a:r>
              <a:rPr lang="en-US" altLang="ko-KR" sz="1200" dirty="0">
                <a:solidFill>
                  <a:schemeClr val="bg1"/>
                </a:solidFill>
              </a:rPr>
              <a:t>+</a:t>
            </a:r>
            <a:r>
              <a:rPr lang="ko-KR" altLang="en-US" sz="1200" dirty="0">
                <a:solidFill>
                  <a:schemeClr val="bg1"/>
                </a:solidFill>
              </a:rPr>
              <a:t> 적합성 평가 종합</a:t>
            </a:r>
          </a:p>
        </p:txBody>
      </p:sp>
      <p:sp>
        <p:nvSpPr>
          <p:cNvPr id="10" name="직사각형 9">
            <a:extLst>
              <a:ext uri="{FF2B5EF4-FFF2-40B4-BE49-F238E27FC236}">
                <a16:creationId xmlns:a16="http://schemas.microsoft.com/office/drawing/2014/main" id="{CF20759F-1FD9-C8C4-BC37-62AD676A7F7A}"/>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7" name="그룹 6">
            <a:extLst>
              <a:ext uri="{FF2B5EF4-FFF2-40B4-BE49-F238E27FC236}">
                <a16:creationId xmlns:a16="http://schemas.microsoft.com/office/drawing/2014/main" id="{791A26DE-000C-75BE-D532-5E89ECA3C505}"/>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5A0E8308-A718-5921-80DB-A8C98A68DDC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수요조사 대상 과정 선정</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7B161651-3770-C18D-6C56-3BE0E1BBFFAC}"/>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직사각형 10">
            <a:extLst>
              <a:ext uri="{FF2B5EF4-FFF2-40B4-BE49-F238E27FC236}">
                <a16:creationId xmlns:a16="http://schemas.microsoft.com/office/drawing/2014/main" id="{D724E390-17AC-EBCD-26C7-B3369765107C}"/>
              </a:ext>
            </a:extLst>
          </p:cNvPr>
          <p:cNvSpPr/>
          <p:nvPr/>
        </p:nvSpPr>
        <p:spPr>
          <a:xfrm>
            <a:off x="596900" y="2097089"/>
            <a:ext cx="971550" cy="417832"/>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mj-ea"/>
                <a:ea typeface="+mj-ea"/>
              </a:rPr>
              <a:t>범위</a:t>
            </a:r>
          </a:p>
        </p:txBody>
      </p:sp>
      <p:sp>
        <p:nvSpPr>
          <p:cNvPr id="12" name="직사각형 11">
            <a:extLst>
              <a:ext uri="{FF2B5EF4-FFF2-40B4-BE49-F238E27FC236}">
                <a16:creationId xmlns:a16="http://schemas.microsoft.com/office/drawing/2014/main" id="{8D200D8B-72CE-2A45-806A-F584A8E6A8D7}"/>
              </a:ext>
            </a:extLst>
          </p:cNvPr>
          <p:cNvSpPr/>
          <p:nvPr/>
        </p:nvSpPr>
        <p:spPr>
          <a:xfrm>
            <a:off x="1748643" y="2097089"/>
            <a:ext cx="7596969" cy="417832"/>
          </a:xfrm>
          <a:prstGeom prst="rect">
            <a:avLst/>
          </a:prstGeom>
          <a:solidFill>
            <a:srgbClr val="E6E6E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mj-ea"/>
                <a:ea typeface="+mj-ea"/>
              </a:rPr>
              <a:t>세분류</a:t>
            </a:r>
            <a:r>
              <a:rPr lang="ko-KR" altLang="en-US" dirty="0">
                <a:solidFill>
                  <a:schemeClr val="tx1"/>
                </a:solidFill>
                <a:latin typeface="+mj-ea"/>
                <a:ea typeface="+mj-ea"/>
              </a:rPr>
              <a:t> 수요평가 </a:t>
            </a:r>
            <a:r>
              <a:rPr lang="ko-KR" altLang="en-US">
                <a:solidFill>
                  <a:schemeClr val="tx1"/>
                </a:solidFill>
                <a:latin typeface="+mj-ea"/>
                <a:ea typeface="+mj-ea"/>
              </a:rPr>
              <a:t>결과 </a:t>
            </a:r>
            <a:endParaRPr lang="en-US" altLang="ko-KR" dirty="0">
              <a:solidFill>
                <a:schemeClr val="tx1"/>
              </a:solidFill>
              <a:latin typeface="+mj-ea"/>
              <a:ea typeface="+mj-ea"/>
            </a:endParaRPr>
          </a:p>
          <a:p>
            <a:pPr>
              <a:buNone/>
            </a:pPr>
            <a:r>
              <a:rPr lang="ko-KR" altLang="en-US">
                <a:solidFill>
                  <a:schemeClr val="tx1"/>
                </a:solidFill>
                <a:latin typeface="+mj-ea"/>
                <a:ea typeface="+mj-ea"/>
              </a:rPr>
              <a:t>상위 </a:t>
            </a:r>
            <a:r>
              <a:rPr lang="en-US" altLang="ko-KR" dirty="0">
                <a:solidFill>
                  <a:schemeClr val="tx1"/>
                </a:solidFill>
                <a:latin typeface="+mj-ea"/>
                <a:ea typeface="+mj-ea"/>
              </a:rPr>
              <a:t>80</a:t>
            </a:r>
            <a:r>
              <a:rPr lang="en-US" altLang="ko-KR">
                <a:solidFill>
                  <a:schemeClr val="tx1"/>
                </a:solidFill>
                <a:latin typeface="+mj-ea"/>
                <a:ea typeface="+mj-ea"/>
              </a:rPr>
              <a:t>% </a:t>
            </a:r>
            <a:r>
              <a:rPr lang="ko-KR" altLang="en-US">
                <a:solidFill>
                  <a:schemeClr val="tx1"/>
                </a:solidFill>
                <a:latin typeface="+mj-ea"/>
                <a:ea typeface="+mj-ea"/>
              </a:rPr>
              <a:t>디지털첨단</a:t>
            </a:r>
            <a:r>
              <a:rPr lang="en-US" altLang="ko-KR" dirty="0">
                <a:solidFill>
                  <a:schemeClr val="tx1"/>
                </a:solidFill>
                <a:latin typeface="+mj-ea"/>
                <a:ea typeface="+mj-ea"/>
              </a:rPr>
              <a:t>(</a:t>
            </a:r>
            <a:r>
              <a:rPr lang="en-US" altLang="ko-KR">
                <a:solidFill>
                  <a:schemeClr val="tx1"/>
                </a:solidFill>
                <a:latin typeface="+mj-ea"/>
                <a:ea typeface="+mj-ea"/>
              </a:rPr>
              <a:t>1,459</a:t>
            </a:r>
            <a:r>
              <a:rPr lang="ko-KR" altLang="en-US">
                <a:solidFill>
                  <a:schemeClr val="tx1"/>
                </a:solidFill>
                <a:latin typeface="+mj-ea"/>
                <a:ea typeface="+mj-ea"/>
              </a:rPr>
              <a:t>개</a:t>
            </a:r>
            <a:r>
              <a:rPr lang="en-US" altLang="ko-KR">
                <a:solidFill>
                  <a:schemeClr val="tx1"/>
                </a:solidFill>
                <a:latin typeface="+mj-ea"/>
                <a:ea typeface="+mj-ea"/>
              </a:rPr>
              <a:t>)</a:t>
            </a:r>
            <a:r>
              <a:rPr lang="ko-KR" altLang="en-US">
                <a:solidFill>
                  <a:schemeClr val="tx1"/>
                </a:solidFill>
                <a:latin typeface="+mj-ea"/>
                <a:ea typeface="+mj-ea"/>
              </a:rPr>
              <a:t> </a:t>
            </a:r>
            <a:r>
              <a:rPr lang="en-US" altLang="ko-KR" dirty="0">
                <a:solidFill>
                  <a:schemeClr val="tx1"/>
                </a:solidFill>
                <a:latin typeface="+mj-ea"/>
                <a:ea typeface="+mj-ea"/>
              </a:rPr>
              <a:t>+ </a:t>
            </a:r>
            <a:r>
              <a:rPr lang="ko-KR" altLang="en-US">
                <a:solidFill>
                  <a:schemeClr val="tx1"/>
                </a:solidFill>
                <a:latin typeface="+mj-ea"/>
                <a:ea typeface="+mj-ea"/>
              </a:rPr>
              <a:t>상위 </a:t>
            </a:r>
            <a:r>
              <a:rPr lang="en-US" altLang="ko-KR" dirty="0">
                <a:solidFill>
                  <a:schemeClr val="tx1"/>
                </a:solidFill>
                <a:latin typeface="+mj-ea"/>
                <a:ea typeface="+mj-ea"/>
              </a:rPr>
              <a:t>30</a:t>
            </a:r>
            <a:r>
              <a:rPr lang="en-US" altLang="ko-KR">
                <a:solidFill>
                  <a:schemeClr val="tx1"/>
                </a:solidFill>
                <a:latin typeface="+mj-ea"/>
                <a:ea typeface="+mj-ea"/>
              </a:rPr>
              <a:t>% </a:t>
            </a:r>
            <a:r>
              <a:rPr lang="ko-KR" altLang="en-US">
                <a:solidFill>
                  <a:schemeClr val="tx1"/>
                </a:solidFill>
                <a:latin typeface="+mj-ea"/>
                <a:ea typeface="+mj-ea"/>
              </a:rPr>
              <a:t>평생</a:t>
            </a:r>
            <a:r>
              <a:rPr lang="en-US" altLang="ko-KR" dirty="0">
                <a:solidFill>
                  <a:schemeClr val="tx1"/>
                </a:solidFill>
                <a:latin typeface="+mj-ea"/>
                <a:ea typeface="+mj-ea"/>
              </a:rPr>
              <a:t>(</a:t>
            </a:r>
            <a:r>
              <a:rPr lang="en-US" altLang="ko-KR">
                <a:solidFill>
                  <a:schemeClr val="tx1"/>
                </a:solidFill>
                <a:latin typeface="+mj-ea"/>
                <a:ea typeface="+mj-ea"/>
              </a:rPr>
              <a:t>2,559</a:t>
            </a:r>
            <a:r>
              <a:rPr lang="ko-KR" altLang="en-US">
                <a:solidFill>
                  <a:schemeClr val="tx1"/>
                </a:solidFill>
                <a:latin typeface="+mj-ea"/>
                <a:ea typeface="+mj-ea"/>
              </a:rPr>
              <a:t>개</a:t>
            </a:r>
            <a:r>
              <a:rPr lang="en-US" altLang="ko-KR">
                <a:solidFill>
                  <a:schemeClr val="tx1"/>
                </a:solidFill>
                <a:latin typeface="+mj-ea"/>
                <a:ea typeface="+mj-ea"/>
              </a:rPr>
              <a:t>)</a:t>
            </a:r>
            <a:r>
              <a:rPr lang="ko-KR" altLang="en-US">
                <a:solidFill>
                  <a:schemeClr val="tx1"/>
                </a:solidFill>
                <a:latin typeface="+mj-ea"/>
                <a:ea typeface="+mj-ea"/>
              </a:rPr>
              <a:t> </a:t>
            </a:r>
            <a:r>
              <a:rPr lang="en-US" altLang="ko-KR" dirty="0">
                <a:solidFill>
                  <a:schemeClr val="tx1"/>
                </a:solidFill>
                <a:latin typeface="+mj-ea"/>
                <a:ea typeface="+mj-ea"/>
              </a:rPr>
              <a:t>= 4,018</a:t>
            </a:r>
            <a:r>
              <a:rPr lang="ko-KR" altLang="en-US" dirty="0">
                <a:solidFill>
                  <a:schemeClr val="tx1"/>
                </a:solidFill>
                <a:latin typeface="+mj-ea"/>
                <a:ea typeface="+mj-ea"/>
              </a:rPr>
              <a:t>개</a:t>
            </a:r>
          </a:p>
        </p:txBody>
      </p:sp>
      <p:sp>
        <p:nvSpPr>
          <p:cNvPr id="13" name="직사각형 12">
            <a:extLst>
              <a:ext uri="{FF2B5EF4-FFF2-40B4-BE49-F238E27FC236}">
                <a16:creationId xmlns:a16="http://schemas.microsoft.com/office/drawing/2014/main" id="{96D22109-8A5A-3CDF-A0A5-CDFF0F1C48E6}"/>
              </a:ext>
            </a:extLst>
          </p:cNvPr>
          <p:cNvSpPr/>
          <p:nvPr/>
        </p:nvSpPr>
        <p:spPr>
          <a:xfrm>
            <a:off x="599278" y="2611065"/>
            <a:ext cx="4467609" cy="317160"/>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mj-ea"/>
                <a:ea typeface="+mj-ea"/>
              </a:rPr>
              <a:t>적합성 평가 결과 점수 부여</a:t>
            </a:r>
          </a:p>
        </p:txBody>
      </p:sp>
      <p:sp>
        <p:nvSpPr>
          <p:cNvPr id="14" name="직사각형 13">
            <a:extLst>
              <a:ext uri="{FF2B5EF4-FFF2-40B4-BE49-F238E27FC236}">
                <a16:creationId xmlns:a16="http://schemas.microsoft.com/office/drawing/2014/main" id="{86CB4509-8513-35EA-A921-9B4A920193C9}"/>
              </a:ext>
            </a:extLst>
          </p:cNvPr>
          <p:cNvSpPr/>
          <p:nvPr/>
        </p:nvSpPr>
        <p:spPr>
          <a:xfrm>
            <a:off x="5313363" y="2611065"/>
            <a:ext cx="4031323" cy="317160"/>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mj-ea"/>
                <a:ea typeface="+mj-ea"/>
              </a:rPr>
              <a:t>교육과정 </a:t>
            </a:r>
            <a:r>
              <a:rPr lang="ko-KR" altLang="en-US" dirty="0" err="1">
                <a:solidFill>
                  <a:schemeClr val="bg1"/>
                </a:solidFill>
                <a:latin typeface="+mj-ea"/>
                <a:ea typeface="+mj-ea"/>
              </a:rPr>
              <a:t>기개발</a:t>
            </a:r>
            <a:r>
              <a:rPr lang="ko-KR" altLang="en-US" dirty="0">
                <a:solidFill>
                  <a:schemeClr val="bg1"/>
                </a:solidFill>
                <a:latin typeface="+mj-ea"/>
                <a:ea typeface="+mj-ea"/>
              </a:rPr>
              <a:t> 능력단위 중복성 검토</a:t>
            </a:r>
          </a:p>
        </p:txBody>
      </p:sp>
      <p:sp>
        <p:nvSpPr>
          <p:cNvPr id="17" name="직사각형 16">
            <a:extLst>
              <a:ext uri="{FF2B5EF4-FFF2-40B4-BE49-F238E27FC236}">
                <a16:creationId xmlns:a16="http://schemas.microsoft.com/office/drawing/2014/main" id="{37F6305E-5DB2-1369-ADDB-633DC029F36B}"/>
              </a:ext>
            </a:extLst>
          </p:cNvPr>
          <p:cNvSpPr/>
          <p:nvPr/>
        </p:nvSpPr>
        <p:spPr>
          <a:xfrm>
            <a:off x="495798" y="3947409"/>
            <a:ext cx="1692000" cy="4466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b="1" dirty="0">
                <a:solidFill>
                  <a:srgbClr val="0070C0"/>
                </a:solidFill>
                <a:latin typeface="+mj-ea"/>
                <a:ea typeface="+mj-ea"/>
              </a:rPr>
              <a:t>2025</a:t>
            </a:r>
            <a:r>
              <a:rPr lang="ko-KR" altLang="en-US" b="1" dirty="0">
                <a:solidFill>
                  <a:srgbClr val="0070C0"/>
                </a:solidFill>
                <a:latin typeface="+mj-ea"/>
                <a:ea typeface="+mj-ea"/>
              </a:rPr>
              <a:t>년 적합성 평가 </a:t>
            </a:r>
            <a:endParaRPr lang="en-US" altLang="ko-KR" b="1" dirty="0">
              <a:solidFill>
                <a:srgbClr val="0070C0"/>
              </a:solidFill>
              <a:latin typeface="+mj-ea"/>
              <a:ea typeface="+mj-ea"/>
            </a:endParaRPr>
          </a:p>
          <a:p>
            <a:pPr>
              <a:buNone/>
            </a:pPr>
            <a:r>
              <a:rPr lang="ko-KR" altLang="en-US" b="1" dirty="0">
                <a:solidFill>
                  <a:srgbClr val="0070C0"/>
                </a:solidFill>
                <a:latin typeface="+mj-ea"/>
                <a:ea typeface="+mj-ea"/>
              </a:rPr>
              <a:t>결과를 바탕으로 점수 부여</a:t>
            </a:r>
          </a:p>
        </p:txBody>
      </p:sp>
      <p:graphicFrame>
        <p:nvGraphicFramePr>
          <p:cNvPr id="20" name="표 19">
            <a:extLst>
              <a:ext uri="{FF2B5EF4-FFF2-40B4-BE49-F238E27FC236}">
                <a16:creationId xmlns:a16="http://schemas.microsoft.com/office/drawing/2014/main" id="{C791AC90-F269-6D77-0F95-F3960175C5D6}"/>
              </a:ext>
            </a:extLst>
          </p:cNvPr>
          <p:cNvGraphicFramePr>
            <a:graphicFrameLocks noGrp="1"/>
          </p:cNvGraphicFramePr>
          <p:nvPr>
            <p:extLst>
              <p:ext uri="{D42A27DB-BD31-4B8C-83A1-F6EECF244321}">
                <p14:modId xmlns:p14="http://schemas.microsoft.com/office/powerpoint/2010/main" val="3857042739"/>
              </p:ext>
            </p:extLst>
          </p:nvPr>
        </p:nvGraphicFramePr>
        <p:xfrm>
          <a:off x="2292301" y="3947409"/>
          <a:ext cx="2774586" cy="823555"/>
        </p:xfrm>
        <a:graphic>
          <a:graphicData uri="http://schemas.openxmlformats.org/drawingml/2006/table">
            <a:tbl>
              <a:tblPr/>
              <a:tblGrid>
                <a:gridCol w="924862">
                  <a:extLst>
                    <a:ext uri="{9D8B030D-6E8A-4147-A177-3AD203B41FA5}">
                      <a16:colId xmlns:a16="http://schemas.microsoft.com/office/drawing/2014/main" val="818326062"/>
                    </a:ext>
                  </a:extLst>
                </a:gridCol>
                <a:gridCol w="924862">
                  <a:extLst>
                    <a:ext uri="{9D8B030D-6E8A-4147-A177-3AD203B41FA5}">
                      <a16:colId xmlns:a16="http://schemas.microsoft.com/office/drawing/2014/main" val="4004584789"/>
                    </a:ext>
                  </a:extLst>
                </a:gridCol>
                <a:gridCol w="924862">
                  <a:extLst>
                    <a:ext uri="{9D8B030D-6E8A-4147-A177-3AD203B41FA5}">
                      <a16:colId xmlns:a16="http://schemas.microsoft.com/office/drawing/2014/main" val="3339647977"/>
                    </a:ext>
                  </a:extLst>
                </a:gridCol>
              </a:tblGrid>
              <a:tr h="0">
                <a:tc gridSpan="3">
                  <a:txBody>
                    <a:bodyPr/>
                    <a:lstStyle/>
                    <a:p>
                      <a:pPr algn="ctr" fontAlgn="ctr"/>
                      <a:r>
                        <a:rPr lang="ko-KR" altLang="en-US" sz="1100" b="0" i="0" u="none" strike="noStrike" dirty="0">
                          <a:solidFill>
                            <a:schemeClr val="bg1"/>
                          </a:solidFill>
                          <a:effectLst/>
                          <a:latin typeface="a고딕14" panose="02020600000000000000" pitchFamily="18" charset="-127"/>
                          <a:ea typeface="a고딕14" panose="02020600000000000000" pitchFamily="18" charset="-127"/>
                        </a:rPr>
                        <a:t>점수 부여 기준</a:t>
                      </a:r>
                    </a:p>
                  </a:txBody>
                  <a:tcPr marL="7739" marR="7739" marT="7739" marB="0" anchor="ctr">
                    <a:lnL w="12700" cmpd="sng">
                      <a:noFill/>
                    </a:lnL>
                    <a:lnR w="12700" cmpd="sng">
                      <a:noFill/>
                    </a:lnR>
                    <a:lnT w="6350" cap="flat" cmpd="sng" algn="ctr">
                      <a:solidFill>
                        <a:schemeClr val="tx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7739" marR="7739" marT="7739" marB="0" anchor="ctr">
                    <a:lnL w="12700" cmpd="sng">
                      <a:noFill/>
                    </a:lnL>
                    <a:lnR w="12700" cmpd="sng">
                      <a:noFill/>
                    </a:lnR>
                    <a:lnT w="6350" cap="flat" cmpd="sng" algn="ctr">
                      <a:solidFill>
                        <a:schemeClr val="tx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ctr" fontAlgn="ctr"/>
                      <a:endParaRPr lang="ko-KR" altLang="en-US" sz="900" b="0" i="0" u="none" strike="noStrike" dirty="0">
                        <a:solidFill>
                          <a:schemeClr val="bg1"/>
                        </a:solidFill>
                        <a:effectLst/>
                        <a:latin typeface="a고딕14" panose="02020600000000000000" pitchFamily="18" charset="-127"/>
                        <a:ea typeface="a고딕14" panose="02020600000000000000" pitchFamily="18" charset="-127"/>
                      </a:endParaRPr>
                    </a:p>
                  </a:txBody>
                  <a:tcPr marL="7739" marR="7739" marT="7739"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837321360"/>
                  </a:ext>
                </a:extLst>
              </a:tr>
              <a:tr h="0">
                <a:tc>
                  <a:txBody>
                    <a:bodyPr/>
                    <a:lstStyle/>
                    <a:p>
                      <a:pPr algn="ctr" fontAlgn="ctr"/>
                      <a:r>
                        <a:rPr lang="en-US" altLang="ko-KR" sz="1050" b="0" i="0" u="none" strike="noStrike" dirty="0">
                          <a:solidFill>
                            <a:schemeClr val="bg1"/>
                          </a:solidFill>
                          <a:effectLst/>
                          <a:latin typeface="a고딕14" panose="02020600000000000000" pitchFamily="18" charset="-127"/>
                          <a:ea typeface="a고딕14" panose="02020600000000000000" pitchFamily="18" charset="-127"/>
                        </a:rPr>
                        <a:t>Case</a:t>
                      </a:r>
                      <a:endParaRPr lang="ko-KR" altLang="en-US" sz="1050" b="0" i="0" u="none" strike="noStrike" dirty="0">
                        <a:solidFill>
                          <a:schemeClr val="bg1"/>
                        </a:solidFill>
                        <a:effectLst/>
                        <a:latin typeface="a고딕14" panose="02020600000000000000" pitchFamily="18" charset="-127"/>
                        <a:ea typeface="a고딕14" panose="02020600000000000000" pitchFamily="18" charset="-127"/>
                      </a:endParaRPr>
                    </a:p>
                  </a:txBody>
                  <a:tcPr marL="7739" marR="7739" marT="7739" marB="0" anchor="ctr">
                    <a:lnL w="12700" cmpd="sng">
                      <a:noFill/>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50" u="none" strike="noStrike" dirty="0">
                          <a:solidFill>
                            <a:schemeClr val="bg1"/>
                          </a:solidFill>
                          <a:effectLst/>
                          <a:latin typeface="a고딕14" panose="02020600000000000000" pitchFamily="18" charset="-127"/>
                          <a:ea typeface="a고딕14" panose="02020600000000000000" pitchFamily="18" charset="-127"/>
                        </a:rPr>
                        <a:t>이러닝</a:t>
                      </a:r>
                      <a:endParaRPr lang="ko-KR" altLang="en-US" sz="1050" b="0" i="0" u="none" strike="noStrike" dirty="0">
                        <a:solidFill>
                          <a:schemeClr val="bg1"/>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50" u="none" strike="noStrike" dirty="0">
                          <a:solidFill>
                            <a:schemeClr val="bg1"/>
                          </a:solidFill>
                          <a:effectLst/>
                          <a:latin typeface="a고딕14" panose="02020600000000000000" pitchFamily="18" charset="-127"/>
                          <a:ea typeface="a고딕14" panose="02020600000000000000" pitchFamily="18" charset="-127"/>
                        </a:rPr>
                        <a:t>가상</a:t>
                      </a:r>
                      <a:endParaRPr lang="ko-KR" altLang="en-US" sz="1050" b="0" i="0" u="none" strike="noStrike" dirty="0">
                        <a:solidFill>
                          <a:schemeClr val="bg1"/>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bg1"/>
                      </a:solidFill>
                      <a:prstDash val="solid"/>
                      <a:round/>
                      <a:headEnd type="none" w="med" len="med"/>
                      <a:tailEnd type="none" w="med" len="med"/>
                    </a:lnL>
                    <a:lnR w="12700" cmpd="sng">
                      <a:noFill/>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2895935074"/>
                  </a:ext>
                </a:extLst>
              </a:tr>
              <a:tr h="0">
                <a:tc>
                  <a:txBody>
                    <a:bodyPr/>
                    <a:lstStyle/>
                    <a:p>
                      <a:pPr algn="ctr"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이러닝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O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가상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O</a:t>
                      </a:r>
                    </a:p>
                  </a:txBody>
                  <a:tcPr marL="7739" marR="7739" marT="7739"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이러닝 </a:t>
                      </a:r>
                      <a:r>
                        <a:rPr lang="en-US" altLang="ko-KR" sz="1000" u="none" strike="noStrike" dirty="0">
                          <a:effectLst/>
                          <a:latin typeface="a고딕14" panose="02020600000000000000" pitchFamily="18" charset="-127"/>
                          <a:ea typeface="a고딕14" panose="02020600000000000000" pitchFamily="18" charset="-127"/>
                        </a:rPr>
                        <a:t>1</a:t>
                      </a:r>
                      <a:r>
                        <a:rPr lang="ko-KR" altLang="en-US" sz="1000" u="none" strike="noStrike" dirty="0">
                          <a:effectLst/>
                          <a:latin typeface="a고딕14" panose="02020600000000000000" pitchFamily="18" charset="-127"/>
                          <a:ea typeface="a고딕14" panose="02020600000000000000" pitchFamily="18" charset="-127"/>
                        </a:rPr>
                        <a:t>군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가상 </a:t>
                      </a:r>
                      <a:r>
                        <a:rPr lang="en-US" altLang="ko-KR" sz="1000" u="none" strike="noStrike" dirty="0">
                          <a:effectLst/>
                          <a:latin typeface="a고딕14" panose="02020600000000000000" pitchFamily="18" charset="-127"/>
                          <a:ea typeface="a고딕14" panose="02020600000000000000" pitchFamily="18" charset="-127"/>
                        </a:rPr>
                        <a:t>1</a:t>
                      </a:r>
                      <a:r>
                        <a:rPr lang="ko-KR" altLang="en-US" sz="1000" u="none" strike="noStrike" dirty="0">
                          <a:effectLst/>
                          <a:latin typeface="a고딕14" panose="02020600000000000000" pitchFamily="18" charset="-127"/>
                          <a:ea typeface="a고딕14" panose="02020600000000000000" pitchFamily="18" charset="-127"/>
                        </a:rPr>
                        <a:t>군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391038338"/>
                  </a:ext>
                </a:extLst>
              </a:tr>
              <a:tr h="0">
                <a:tc>
                  <a:txBody>
                    <a:bodyPr/>
                    <a:lstStyle/>
                    <a:p>
                      <a:pPr algn="ctr"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이러닝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O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가상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a:t>
                      </a:r>
                    </a:p>
                  </a:txBody>
                  <a:tcPr marL="7739" marR="7739" marT="7739"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이러닝 </a:t>
                      </a:r>
                      <a:r>
                        <a:rPr lang="en-US" altLang="ko-KR" sz="1000" u="none" strike="noStrike" dirty="0">
                          <a:effectLst/>
                          <a:latin typeface="a고딕14" panose="02020600000000000000" pitchFamily="18" charset="-127"/>
                          <a:ea typeface="a고딕14" panose="02020600000000000000" pitchFamily="18" charset="-127"/>
                        </a:rPr>
                        <a:t>1</a:t>
                      </a:r>
                      <a:r>
                        <a:rPr lang="ko-KR" altLang="en-US" sz="1000" u="none" strike="noStrike" dirty="0">
                          <a:effectLst/>
                          <a:latin typeface="a고딕14" panose="02020600000000000000" pitchFamily="18" charset="-127"/>
                          <a:ea typeface="a고딕14" panose="02020600000000000000" pitchFamily="18" charset="-127"/>
                        </a:rPr>
                        <a:t>군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가상 전체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345816109"/>
                  </a:ext>
                </a:extLst>
              </a:tr>
              <a:tr h="0">
                <a:tc>
                  <a:txBody>
                    <a:bodyPr/>
                    <a:lstStyle/>
                    <a:p>
                      <a:pPr algn="ctr"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이러닝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가상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O</a:t>
                      </a:r>
                    </a:p>
                  </a:txBody>
                  <a:tcPr marL="7739" marR="7739" marT="7739"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이러닝 전체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dk1"/>
                          </a:solidFill>
                          <a:latin typeface="맑은 고딕"/>
                        </a:defRPr>
                      </a:lvl1pPr>
                      <a:lvl2pPr marL="457200" algn="l" defTabSz="914400" rtl="0" eaLnBrk="1" latinLnBrk="1" hangingPunct="1">
                        <a:defRPr sz="1800" kern="1200">
                          <a:solidFill>
                            <a:schemeClr val="dk1"/>
                          </a:solidFill>
                          <a:latin typeface="맑은 고딕"/>
                        </a:defRPr>
                      </a:lvl2pPr>
                      <a:lvl3pPr marL="914400" algn="l" defTabSz="914400" rtl="0" eaLnBrk="1" latinLnBrk="1" hangingPunct="1">
                        <a:defRPr sz="1800" kern="1200">
                          <a:solidFill>
                            <a:schemeClr val="dk1"/>
                          </a:solidFill>
                          <a:latin typeface="맑은 고딕"/>
                        </a:defRPr>
                      </a:lvl3pPr>
                      <a:lvl4pPr marL="1371600" algn="l" defTabSz="914400" rtl="0" eaLnBrk="1" latinLnBrk="1" hangingPunct="1">
                        <a:defRPr sz="1800" kern="1200">
                          <a:solidFill>
                            <a:schemeClr val="dk1"/>
                          </a:solidFill>
                          <a:latin typeface="맑은 고딕"/>
                        </a:defRPr>
                      </a:lvl4pPr>
                      <a:lvl5pPr marL="1828800" algn="l" defTabSz="914400" rtl="0" eaLnBrk="1" latinLnBrk="1" hangingPunct="1">
                        <a:defRPr sz="1800" kern="1200">
                          <a:solidFill>
                            <a:schemeClr val="dk1"/>
                          </a:solidFill>
                          <a:latin typeface="맑은 고딕"/>
                        </a:defRPr>
                      </a:lvl5pPr>
                      <a:lvl6pPr marL="2286000" algn="l" defTabSz="914400" rtl="0" eaLnBrk="1" latinLnBrk="1" hangingPunct="1">
                        <a:defRPr sz="1800" kern="1200">
                          <a:solidFill>
                            <a:schemeClr val="dk1"/>
                          </a:solidFill>
                          <a:latin typeface="맑은 고딕"/>
                        </a:defRPr>
                      </a:lvl6pPr>
                      <a:lvl7pPr marL="2743200" algn="l" defTabSz="914400" rtl="0" eaLnBrk="1" latinLnBrk="1" hangingPunct="1">
                        <a:defRPr sz="1800" kern="1200">
                          <a:solidFill>
                            <a:schemeClr val="dk1"/>
                          </a:solidFill>
                          <a:latin typeface="맑은 고딕"/>
                        </a:defRPr>
                      </a:lvl7pPr>
                      <a:lvl8pPr marL="3200400" algn="l" defTabSz="914400" rtl="0" eaLnBrk="1" latinLnBrk="1" hangingPunct="1">
                        <a:defRPr sz="1800" kern="1200">
                          <a:solidFill>
                            <a:schemeClr val="dk1"/>
                          </a:solidFill>
                          <a:latin typeface="맑은 고딕"/>
                        </a:defRPr>
                      </a:lvl8pPr>
                      <a:lvl9pPr marL="3657600" algn="l" defTabSz="914400" rtl="0" eaLnBrk="1" latinLnBrk="1" hangingPunct="1">
                        <a:defRPr sz="1800" kern="1200">
                          <a:solidFill>
                            <a:schemeClr val="dk1"/>
                          </a:solidFill>
                          <a:latin typeface="맑은 고딕"/>
                        </a:defRPr>
                      </a:lvl9pPr>
                    </a:lstStyle>
                    <a:p>
                      <a:pPr algn="ctr" fontAlgn="ctr"/>
                      <a:r>
                        <a:rPr lang="ko-KR" altLang="en-US" sz="1000" u="none" strike="noStrike" dirty="0">
                          <a:effectLst/>
                          <a:latin typeface="a고딕14" panose="02020600000000000000" pitchFamily="18" charset="-127"/>
                          <a:ea typeface="a고딕14" panose="02020600000000000000" pitchFamily="18" charset="-127"/>
                        </a:rPr>
                        <a:t>가상 </a:t>
                      </a:r>
                      <a:r>
                        <a:rPr lang="en-US" altLang="ko-KR" sz="1000" u="none" strike="noStrike" dirty="0">
                          <a:effectLst/>
                          <a:latin typeface="a고딕14" panose="02020600000000000000" pitchFamily="18" charset="-127"/>
                          <a:ea typeface="a고딕14" panose="02020600000000000000" pitchFamily="18" charset="-127"/>
                        </a:rPr>
                        <a:t>1</a:t>
                      </a:r>
                      <a:r>
                        <a:rPr lang="ko-KR" altLang="en-US" sz="1000" u="none" strike="noStrike" dirty="0">
                          <a:effectLst/>
                          <a:latin typeface="a고딕14" panose="02020600000000000000" pitchFamily="18" charset="-127"/>
                          <a:ea typeface="a고딕14" panose="02020600000000000000" pitchFamily="18" charset="-127"/>
                        </a:rPr>
                        <a:t>군 평균</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7739" marR="7739" marT="7739" marB="0" anchor="ctr">
                    <a:lnL w="3175" cap="flat" cmpd="sng" algn="ctr">
                      <a:solidFill>
                        <a:schemeClr val="tx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2818855864"/>
                  </a:ext>
                </a:extLst>
              </a:tr>
            </a:tbl>
          </a:graphicData>
        </a:graphic>
      </p:graphicFrame>
      <p:sp>
        <p:nvSpPr>
          <p:cNvPr id="22" name="직사각형 21">
            <a:extLst>
              <a:ext uri="{FF2B5EF4-FFF2-40B4-BE49-F238E27FC236}">
                <a16:creationId xmlns:a16="http://schemas.microsoft.com/office/drawing/2014/main" id="{CECB2CF9-6939-4FBA-C0E9-EB31E1D1FCD8}"/>
              </a:ext>
            </a:extLst>
          </p:cNvPr>
          <p:cNvSpPr/>
          <p:nvPr/>
        </p:nvSpPr>
        <p:spPr>
          <a:xfrm>
            <a:off x="495798" y="3261596"/>
            <a:ext cx="1838266" cy="12591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mj-ea"/>
              <a:ea typeface="+mj-ea"/>
            </a:endParaRPr>
          </a:p>
        </p:txBody>
      </p:sp>
      <p:sp>
        <p:nvSpPr>
          <p:cNvPr id="23" name="TextBox 22">
            <a:extLst>
              <a:ext uri="{FF2B5EF4-FFF2-40B4-BE49-F238E27FC236}">
                <a16:creationId xmlns:a16="http://schemas.microsoft.com/office/drawing/2014/main" id="{22A08B95-4091-ED26-0775-654D4D15FAEF}"/>
              </a:ext>
            </a:extLst>
          </p:cNvPr>
          <p:cNvSpPr txBox="1"/>
          <p:nvPr/>
        </p:nvSpPr>
        <p:spPr>
          <a:xfrm>
            <a:off x="1239550" y="3521886"/>
            <a:ext cx="855039" cy="322139"/>
          </a:xfrm>
          <a:prstGeom prst="rect">
            <a:avLst/>
          </a:prstGeom>
          <a:noFill/>
        </p:spPr>
        <p:txBody>
          <a:bodyPr wrap="square" rtlCol="0">
            <a:spAutoFit/>
          </a:bodyPr>
          <a:lstStyle/>
          <a:p>
            <a:pPr algn="l">
              <a:lnSpc>
                <a:spcPct val="70000"/>
              </a:lnSpc>
              <a:buNone/>
            </a:pPr>
            <a:r>
              <a:rPr lang="en-US" altLang="ko-KR" sz="1050" dirty="0">
                <a:solidFill>
                  <a:schemeClr val="bg1">
                    <a:lumMod val="65000"/>
                  </a:schemeClr>
                </a:solidFill>
                <a:latin typeface="+mj-ea"/>
                <a:ea typeface="+mj-ea"/>
              </a:rPr>
              <a:t>◆</a:t>
            </a:r>
          </a:p>
          <a:p>
            <a:pPr algn="l">
              <a:lnSpc>
                <a:spcPct val="70000"/>
              </a:lnSpc>
              <a:buNone/>
            </a:pPr>
            <a:r>
              <a:rPr lang="en-US" altLang="ko-KR" sz="1050" dirty="0">
                <a:solidFill>
                  <a:schemeClr val="bg1">
                    <a:lumMod val="65000"/>
                  </a:schemeClr>
                </a:solidFill>
                <a:latin typeface="+mj-ea"/>
                <a:ea typeface="+mj-ea"/>
              </a:rPr>
              <a:t>◆</a:t>
            </a:r>
            <a:endParaRPr lang="ko-KR" altLang="en-US" sz="1050" dirty="0">
              <a:solidFill>
                <a:schemeClr val="bg1">
                  <a:lumMod val="65000"/>
                </a:schemeClr>
              </a:solidFill>
              <a:latin typeface="+mj-ea"/>
              <a:ea typeface="+mj-ea"/>
            </a:endParaRPr>
          </a:p>
        </p:txBody>
      </p:sp>
      <p:sp>
        <p:nvSpPr>
          <p:cNvPr id="24" name="TextBox 23">
            <a:extLst>
              <a:ext uri="{FF2B5EF4-FFF2-40B4-BE49-F238E27FC236}">
                <a16:creationId xmlns:a16="http://schemas.microsoft.com/office/drawing/2014/main" id="{98B69A07-6DD9-C1B0-6FCA-E674673C6DC7}"/>
              </a:ext>
            </a:extLst>
          </p:cNvPr>
          <p:cNvSpPr txBox="1"/>
          <p:nvPr/>
        </p:nvSpPr>
        <p:spPr>
          <a:xfrm>
            <a:off x="333884" y="3056953"/>
            <a:ext cx="2162093" cy="323165"/>
          </a:xfrm>
          <a:prstGeom prst="rect">
            <a:avLst/>
          </a:prstGeom>
          <a:noFill/>
        </p:spPr>
        <p:txBody>
          <a:bodyPr wrap="squar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500" b="1" u="none" strike="noStrike" kern="0" cap="none" spc="0" normalizeH="0" baseline="0" noProof="0" dirty="0">
                <a:ln>
                  <a:noFill/>
                </a:ln>
                <a:solidFill>
                  <a:schemeClr val="tx1">
                    <a:lumMod val="75000"/>
                    <a:lumOff val="25000"/>
                  </a:schemeClr>
                </a:solidFill>
                <a:effectLst/>
                <a:uLnTx/>
                <a:uFillTx/>
                <a:latin typeface="+mj-ea"/>
                <a:ea typeface="+mj-ea"/>
                <a:cs typeface="+mn-cs"/>
              </a:rPr>
              <a:t>교육과정 미개발 능력단위</a:t>
            </a:r>
            <a:endParaRPr kumimoji="0" lang="ko-KR" altLang="en-US" sz="1500" b="1" u="none" strike="noStrike" kern="1200" cap="none" spc="0" normalizeH="0" baseline="0" noProof="0" dirty="0">
              <a:ln>
                <a:noFill/>
              </a:ln>
              <a:solidFill>
                <a:schemeClr val="tx1">
                  <a:lumMod val="75000"/>
                  <a:lumOff val="25000"/>
                </a:schemeClr>
              </a:solidFill>
              <a:effectLst/>
              <a:uLnTx/>
              <a:uFillTx/>
              <a:latin typeface="+mj-ea"/>
              <a:ea typeface="+mj-ea"/>
              <a:cs typeface="+mn-cs"/>
            </a:endParaRPr>
          </a:p>
        </p:txBody>
      </p:sp>
      <p:sp>
        <p:nvSpPr>
          <p:cNvPr id="25" name="직사각형 24">
            <a:extLst>
              <a:ext uri="{FF2B5EF4-FFF2-40B4-BE49-F238E27FC236}">
                <a16:creationId xmlns:a16="http://schemas.microsoft.com/office/drawing/2014/main" id="{D0EEF189-9660-AE56-20F6-B7587E467ED7}"/>
              </a:ext>
            </a:extLst>
          </p:cNvPr>
          <p:cNvSpPr/>
          <p:nvPr/>
        </p:nvSpPr>
        <p:spPr>
          <a:xfrm>
            <a:off x="2952821" y="3261596"/>
            <a:ext cx="1838266" cy="12591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mj-ea"/>
              <a:ea typeface="+mj-ea"/>
            </a:endParaRPr>
          </a:p>
        </p:txBody>
      </p:sp>
      <p:sp>
        <p:nvSpPr>
          <p:cNvPr id="26" name="TextBox 25">
            <a:extLst>
              <a:ext uri="{FF2B5EF4-FFF2-40B4-BE49-F238E27FC236}">
                <a16:creationId xmlns:a16="http://schemas.microsoft.com/office/drawing/2014/main" id="{10428F2F-8501-9EDB-91FF-7537AE74E01B}"/>
              </a:ext>
            </a:extLst>
          </p:cNvPr>
          <p:cNvSpPr txBox="1"/>
          <p:nvPr/>
        </p:nvSpPr>
        <p:spPr>
          <a:xfrm>
            <a:off x="3696573" y="3521886"/>
            <a:ext cx="855039" cy="322139"/>
          </a:xfrm>
          <a:prstGeom prst="rect">
            <a:avLst/>
          </a:prstGeom>
          <a:noFill/>
        </p:spPr>
        <p:txBody>
          <a:bodyPr wrap="square" rtlCol="0">
            <a:spAutoFit/>
          </a:bodyPr>
          <a:lstStyle/>
          <a:p>
            <a:pPr algn="l">
              <a:lnSpc>
                <a:spcPct val="70000"/>
              </a:lnSpc>
              <a:buNone/>
            </a:pPr>
            <a:r>
              <a:rPr lang="en-US" altLang="ko-KR" sz="1050" dirty="0">
                <a:solidFill>
                  <a:schemeClr val="bg1">
                    <a:lumMod val="65000"/>
                  </a:schemeClr>
                </a:solidFill>
                <a:latin typeface="+mj-ea"/>
                <a:ea typeface="+mj-ea"/>
              </a:rPr>
              <a:t>◆</a:t>
            </a:r>
          </a:p>
          <a:p>
            <a:pPr algn="l">
              <a:lnSpc>
                <a:spcPct val="70000"/>
              </a:lnSpc>
              <a:buNone/>
            </a:pPr>
            <a:r>
              <a:rPr lang="en-US" altLang="ko-KR" sz="1050" dirty="0">
                <a:solidFill>
                  <a:schemeClr val="bg1">
                    <a:lumMod val="65000"/>
                  </a:schemeClr>
                </a:solidFill>
                <a:latin typeface="+mj-ea"/>
                <a:ea typeface="+mj-ea"/>
              </a:rPr>
              <a:t>◆</a:t>
            </a:r>
            <a:endParaRPr lang="ko-KR" altLang="en-US" sz="1050" dirty="0">
              <a:solidFill>
                <a:schemeClr val="bg1">
                  <a:lumMod val="65000"/>
                </a:schemeClr>
              </a:solidFill>
              <a:latin typeface="+mj-ea"/>
              <a:ea typeface="+mj-ea"/>
            </a:endParaRPr>
          </a:p>
        </p:txBody>
      </p:sp>
      <p:sp>
        <p:nvSpPr>
          <p:cNvPr id="27" name="TextBox 26">
            <a:extLst>
              <a:ext uri="{FF2B5EF4-FFF2-40B4-BE49-F238E27FC236}">
                <a16:creationId xmlns:a16="http://schemas.microsoft.com/office/drawing/2014/main" id="{DF28A32C-A273-A86D-6510-A7B9A719202B}"/>
              </a:ext>
            </a:extLst>
          </p:cNvPr>
          <p:cNvSpPr txBox="1"/>
          <p:nvPr/>
        </p:nvSpPr>
        <p:spPr>
          <a:xfrm>
            <a:off x="2790907" y="3056953"/>
            <a:ext cx="2162093" cy="323165"/>
          </a:xfrm>
          <a:prstGeom prst="rect">
            <a:avLst/>
          </a:prstGeom>
          <a:noFill/>
        </p:spPr>
        <p:txBody>
          <a:bodyPr wrap="squar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500" b="1" u="none" strike="noStrike" kern="0" cap="none" spc="0" normalizeH="0" baseline="0" noProof="0" dirty="0">
                <a:ln>
                  <a:noFill/>
                </a:ln>
                <a:solidFill>
                  <a:schemeClr val="tx1">
                    <a:lumMod val="75000"/>
                    <a:lumOff val="25000"/>
                  </a:schemeClr>
                </a:solidFill>
                <a:effectLst/>
                <a:uLnTx/>
                <a:uFillTx/>
                <a:latin typeface="+mj-ea"/>
                <a:ea typeface="+mj-ea"/>
                <a:cs typeface="+mn-cs"/>
              </a:rPr>
              <a:t>교육과정 </a:t>
            </a:r>
            <a:r>
              <a:rPr kumimoji="0" lang="ko-KR" altLang="en-US" sz="1500" b="1" u="none" strike="noStrike" kern="0" cap="none" spc="0" normalizeH="0" baseline="0" noProof="0" dirty="0" err="1">
                <a:ln>
                  <a:noFill/>
                </a:ln>
                <a:solidFill>
                  <a:schemeClr val="tx1">
                    <a:lumMod val="75000"/>
                    <a:lumOff val="25000"/>
                  </a:schemeClr>
                </a:solidFill>
                <a:effectLst/>
                <a:uLnTx/>
                <a:uFillTx/>
                <a:latin typeface="+mj-ea"/>
                <a:ea typeface="+mj-ea"/>
                <a:cs typeface="+mn-cs"/>
              </a:rPr>
              <a:t>기개발</a:t>
            </a:r>
            <a:r>
              <a:rPr kumimoji="0" lang="ko-KR" altLang="en-US" sz="1500" b="1" u="none" strike="noStrike" kern="0" cap="none" spc="0" normalizeH="0" baseline="0" noProof="0" dirty="0">
                <a:ln>
                  <a:noFill/>
                </a:ln>
                <a:solidFill>
                  <a:schemeClr val="tx1">
                    <a:lumMod val="75000"/>
                    <a:lumOff val="25000"/>
                  </a:schemeClr>
                </a:solidFill>
                <a:effectLst/>
                <a:uLnTx/>
                <a:uFillTx/>
                <a:latin typeface="+mj-ea"/>
                <a:ea typeface="+mj-ea"/>
                <a:cs typeface="+mn-cs"/>
              </a:rPr>
              <a:t> 능력단위</a:t>
            </a:r>
            <a:endParaRPr kumimoji="0" lang="ko-KR" altLang="en-US" sz="1500" b="1" u="none" strike="noStrike" kern="1200" cap="none" spc="0" normalizeH="0" baseline="0" noProof="0" dirty="0">
              <a:ln>
                <a:noFill/>
              </a:ln>
              <a:solidFill>
                <a:schemeClr val="tx1">
                  <a:lumMod val="75000"/>
                  <a:lumOff val="25000"/>
                </a:schemeClr>
              </a:solidFill>
              <a:effectLst/>
              <a:uLnTx/>
              <a:uFillTx/>
              <a:latin typeface="+mj-ea"/>
              <a:ea typeface="+mj-ea"/>
              <a:cs typeface="+mn-cs"/>
            </a:endParaRPr>
          </a:p>
        </p:txBody>
      </p:sp>
      <p:sp>
        <p:nvSpPr>
          <p:cNvPr id="30" name="직사각형 29">
            <a:extLst>
              <a:ext uri="{FF2B5EF4-FFF2-40B4-BE49-F238E27FC236}">
                <a16:creationId xmlns:a16="http://schemas.microsoft.com/office/drawing/2014/main" id="{053133DA-245C-54DA-7BB6-A11AC30C5B8B}"/>
              </a:ext>
            </a:extLst>
          </p:cNvPr>
          <p:cNvSpPr/>
          <p:nvPr/>
        </p:nvSpPr>
        <p:spPr>
          <a:xfrm>
            <a:off x="5313363" y="3099615"/>
            <a:ext cx="4032250" cy="544076"/>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dirty="0">
                <a:solidFill>
                  <a:schemeClr val="tx1"/>
                </a:solidFill>
                <a:latin typeface="+mj-ea"/>
                <a:ea typeface="+mj-ea"/>
              </a:rPr>
              <a:t>4,018</a:t>
            </a:r>
            <a:r>
              <a:rPr lang="ko-KR" altLang="en-US" dirty="0">
                <a:solidFill>
                  <a:schemeClr val="tx1"/>
                </a:solidFill>
                <a:latin typeface="+mj-ea"/>
                <a:ea typeface="+mj-ea"/>
              </a:rPr>
              <a:t>개 능력단위 중 교육과정 </a:t>
            </a:r>
            <a:r>
              <a:rPr lang="ko-KR" altLang="en-US" dirty="0" err="1">
                <a:solidFill>
                  <a:schemeClr val="tx1"/>
                </a:solidFill>
                <a:latin typeface="+mj-ea"/>
                <a:ea typeface="+mj-ea"/>
              </a:rPr>
              <a:t>기개발</a:t>
            </a:r>
            <a:r>
              <a:rPr lang="ko-KR" altLang="en-US" dirty="0">
                <a:solidFill>
                  <a:schemeClr val="tx1"/>
                </a:solidFill>
                <a:latin typeface="+mj-ea"/>
                <a:ea typeface="+mj-ea"/>
              </a:rPr>
              <a:t> 능력단위 </a:t>
            </a:r>
            <a:r>
              <a:rPr lang="en-US" altLang="ko-KR" dirty="0">
                <a:solidFill>
                  <a:schemeClr val="tx1"/>
                </a:solidFill>
                <a:latin typeface="+mj-ea"/>
                <a:ea typeface="+mj-ea"/>
              </a:rPr>
              <a:t>1,482</a:t>
            </a:r>
            <a:r>
              <a:rPr lang="ko-KR" altLang="en-US" dirty="0">
                <a:solidFill>
                  <a:schemeClr val="tx1"/>
                </a:solidFill>
                <a:latin typeface="+mj-ea"/>
                <a:ea typeface="+mj-ea"/>
              </a:rPr>
              <a:t>개의 </a:t>
            </a:r>
            <a:br>
              <a:rPr lang="en-US" altLang="ko-KR" dirty="0">
                <a:solidFill>
                  <a:schemeClr val="tx1"/>
                </a:solidFill>
                <a:latin typeface="+mj-ea"/>
                <a:ea typeface="+mj-ea"/>
              </a:rPr>
            </a:br>
            <a:r>
              <a:rPr lang="ko-KR" altLang="en-US" dirty="0">
                <a:solidFill>
                  <a:schemeClr val="tx1"/>
                </a:solidFill>
                <a:latin typeface="+mj-ea"/>
                <a:ea typeface="+mj-ea"/>
              </a:rPr>
              <a:t>과정개요서</a:t>
            </a:r>
            <a:r>
              <a:rPr lang="en-US" altLang="ko-KR" dirty="0">
                <a:solidFill>
                  <a:schemeClr val="tx1"/>
                </a:solidFill>
                <a:latin typeface="+mj-ea"/>
                <a:ea typeface="+mj-ea"/>
              </a:rPr>
              <a:t>/</a:t>
            </a:r>
            <a:r>
              <a:rPr lang="ko-KR" altLang="en-US" dirty="0">
                <a:solidFill>
                  <a:schemeClr val="tx1"/>
                </a:solidFill>
                <a:latin typeface="+mj-ea"/>
                <a:ea typeface="+mj-ea"/>
              </a:rPr>
              <a:t>강의계획서 </a:t>
            </a:r>
            <a:r>
              <a:rPr lang="en-US" altLang="ko-KR" dirty="0">
                <a:solidFill>
                  <a:schemeClr val="tx1"/>
                </a:solidFill>
                <a:latin typeface="+mj-ea"/>
                <a:ea typeface="+mj-ea"/>
              </a:rPr>
              <a:t>1,773</a:t>
            </a:r>
            <a:r>
              <a:rPr lang="ko-KR" altLang="en-US" dirty="0">
                <a:solidFill>
                  <a:schemeClr val="tx1"/>
                </a:solidFill>
                <a:latin typeface="+mj-ea"/>
                <a:ea typeface="+mj-ea"/>
              </a:rPr>
              <a:t>개 요청</a:t>
            </a:r>
          </a:p>
        </p:txBody>
      </p:sp>
      <p:sp>
        <p:nvSpPr>
          <p:cNvPr id="31" name="직사각형 30">
            <a:extLst>
              <a:ext uri="{FF2B5EF4-FFF2-40B4-BE49-F238E27FC236}">
                <a16:creationId xmlns:a16="http://schemas.microsoft.com/office/drawing/2014/main" id="{5391D3F0-C3EC-6759-F0F2-0FC9D6009825}"/>
              </a:ext>
            </a:extLst>
          </p:cNvPr>
          <p:cNvSpPr/>
          <p:nvPr/>
        </p:nvSpPr>
        <p:spPr>
          <a:xfrm>
            <a:off x="5313363" y="3966424"/>
            <a:ext cx="4031323" cy="542696"/>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dirty="0">
                <a:solidFill>
                  <a:schemeClr val="tx1"/>
                </a:solidFill>
                <a:latin typeface="+mj-ea"/>
                <a:ea typeface="+mj-ea"/>
              </a:rPr>
              <a:t>1,773</a:t>
            </a:r>
            <a:r>
              <a:rPr lang="ko-KR" altLang="en-US" dirty="0">
                <a:solidFill>
                  <a:schemeClr val="tx1"/>
                </a:solidFill>
                <a:latin typeface="+mj-ea"/>
                <a:ea typeface="+mj-ea"/>
              </a:rPr>
              <a:t>개 중 </a:t>
            </a:r>
            <a:r>
              <a:rPr lang="en-US" altLang="ko-KR" dirty="0">
                <a:solidFill>
                  <a:schemeClr val="tx1"/>
                </a:solidFill>
                <a:latin typeface="+mj-ea"/>
                <a:ea typeface="+mj-ea"/>
              </a:rPr>
              <a:t>1,483</a:t>
            </a:r>
            <a:r>
              <a:rPr lang="ko-KR" altLang="en-US" dirty="0">
                <a:solidFill>
                  <a:schemeClr val="tx1"/>
                </a:solidFill>
                <a:latin typeface="+mj-ea"/>
                <a:ea typeface="+mj-ea"/>
              </a:rPr>
              <a:t>개</a:t>
            </a:r>
            <a:r>
              <a:rPr lang="en-US" altLang="ko-KR" dirty="0">
                <a:solidFill>
                  <a:schemeClr val="tx1"/>
                </a:solidFill>
                <a:latin typeface="+mj-ea"/>
                <a:ea typeface="+mj-ea"/>
              </a:rPr>
              <a:t>(</a:t>
            </a:r>
            <a:r>
              <a:rPr lang="ko-KR" altLang="en-US" dirty="0">
                <a:solidFill>
                  <a:schemeClr val="tx1"/>
                </a:solidFill>
                <a:latin typeface="+mj-ea"/>
                <a:ea typeface="+mj-ea"/>
              </a:rPr>
              <a:t>능력단위 </a:t>
            </a:r>
            <a:r>
              <a:rPr lang="en-US" altLang="ko-KR" dirty="0">
                <a:solidFill>
                  <a:schemeClr val="tx1"/>
                </a:solidFill>
                <a:latin typeface="+mj-ea"/>
                <a:ea typeface="+mj-ea"/>
              </a:rPr>
              <a:t>1,196</a:t>
            </a:r>
            <a:r>
              <a:rPr lang="ko-KR" altLang="en-US" dirty="0">
                <a:solidFill>
                  <a:schemeClr val="tx1"/>
                </a:solidFill>
                <a:latin typeface="+mj-ea"/>
                <a:ea typeface="+mj-ea"/>
              </a:rPr>
              <a:t>개</a:t>
            </a:r>
            <a:r>
              <a:rPr lang="en-US" altLang="ko-KR" dirty="0">
                <a:solidFill>
                  <a:schemeClr val="tx1"/>
                </a:solidFill>
                <a:latin typeface="+mj-ea"/>
                <a:ea typeface="+mj-ea"/>
              </a:rPr>
              <a:t>)</a:t>
            </a:r>
            <a:r>
              <a:rPr lang="ko-KR" altLang="en-US" dirty="0">
                <a:solidFill>
                  <a:schemeClr val="tx1"/>
                </a:solidFill>
                <a:latin typeface="+mj-ea"/>
                <a:ea typeface="+mj-ea"/>
              </a:rPr>
              <a:t> 교육과정에 활용된</a:t>
            </a:r>
            <a:r>
              <a:rPr lang="en-US" altLang="ko-KR" dirty="0">
                <a:solidFill>
                  <a:schemeClr val="tx1"/>
                </a:solidFill>
                <a:latin typeface="+mj-ea"/>
                <a:ea typeface="+mj-ea"/>
              </a:rPr>
              <a:t> </a:t>
            </a:r>
            <a:r>
              <a:rPr lang="ko-KR" altLang="en-US" dirty="0">
                <a:solidFill>
                  <a:schemeClr val="tx1"/>
                </a:solidFill>
                <a:latin typeface="+mj-ea"/>
                <a:ea typeface="+mj-ea"/>
              </a:rPr>
              <a:t>능력단위 요소를 확인하여 </a:t>
            </a:r>
            <a:r>
              <a:rPr lang="en-US" altLang="ko-KR" dirty="0">
                <a:solidFill>
                  <a:schemeClr val="tx1"/>
                </a:solidFill>
                <a:latin typeface="+mj-ea"/>
                <a:ea typeface="+mj-ea"/>
              </a:rPr>
              <a:t>Excel</a:t>
            </a:r>
            <a:r>
              <a:rPr lang="ko-KR" altLang="en-US" dirty="0">
                <a:solidFill>
                  <a:schemeClr val="tx1"/>
                </a:solidFill>
                <a:latin typeface="+mj-ea"/>
                <a:ea typeface="+mj-ea"/>
              </a:rPr>
              <a:t>에 정리함</a:t>
            </a:r>
          </a:p>
        </p:txBody>
      </p:sp>
      <p:sp>
        <p:nvSpPr>
          <p:cNvPr id="32" name="직사각형 31">
            <a:extLst>
              <a:ext uri="{FF2B5EF4-FFF2-40B4-BE49-F238E27FC236}">
                <a16:creationId xmlns:a16="http://schemas.microsoft.com/office/drawing/2014/main" id="{60175A86-5B86-EB36-506C-D0B0E71E9300}"/>
              </a:ext>
            </a:extLst>
          </p:cNvPr>
          <p:cNvSpPr/>
          <p:nvPr/>
        </p:nvSpPr>
        <p:spPr>
          <a:xfrm>
            <a:off x="5313363" y="4794516"/>
            <a:ext cx="4031323" cy="542696"/>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mj-ea"/>
                <a:ea typeface="+mj-ea"/>
              </a:rPr>
              <a:t>기개발</a:t>
            </a:r>
            <a:r>
              <a:rPr lang="ko-KR" altLang="en-US" dirty="0">
                <a:solidFill>
                  <a:schemeClr val="tx1"/>
                </a:solidFill>
                <a:latin typeface="+mj-ea"/>
                <a:ea typeface="+mj-ea"/>
              </a:rPr>
              <a:t> 능력단위 중 활용되지 않은 능력단위 요소 개수가 </a:t>
            </a:r>
            <a:r>
              <a:rPr lang="en-US" altLang="ko-KR" dirty="0">
                <a:solidFill>
                  <a:schemeClr val="tx1"/>
                </a:solidFill>
                <a:latin typeface="+mj-ea"/>
                <a:ea typeface="+mj-ea"/>
              </a:rPr>
              <a:t>3</a:t>
            </a:r>
            <a:r>
              <a:rPr lang="ko-KR" altLang="en-US" dirty="0">
                <a:solidFill>
                  <a:schemeClr val="tx1"/>
                </a:solidFill>
                <a:latin typeface="+mj-ea"/>
                <a:ea typeface="+mj-ea"/>
              </a:rPr>
              <a:t>개 이상이면서 활용 가능 요소 비율 </a:t>
            </a:r>
            <a:r>
              <a:rPr lang="en-US" altLang="ko-KR" dirty="0">
                <a:solidFill>
                  <a:schemeClr val="tx1"/>
                </a:solidFill>
                <a:latin typeface="+mj-ea"/>
                <a:ea typeface="+mj-ea"/>
              </a:rPr>
              <a:t>60% </a:t>
            </a:r>
            <a:r>
              <a:rPr lang="ko-KR" altLang="en-US" dirty="0">
                <a:solidFill>
                  <a:schemeClr val="tx1"/>
                </a:solidFill>
                <a:latin typeface="+mj-ea"/>
                <a:ea typeface="+mj-ea"/>
              </a:rPr>
              <a:t>이상으로 </a:t>
            </a:r>
            <a:r>
              <a:rPr lang="ko-KR" altLang="en-US" dirty="0" err="1">
                <a:solidFill>
                  <a:schemeClr val="tx1"/>
                </a:solidFill>
                <a:latin typeface="+mj-ea"/>
                <a:ea typeface="+mj-ea"/>
              </a:rPr>
              <a:t>스크리닝</a:t>
            </a:r>
            <a:r>
              <a:rPr lang="ko-KR" altLang="en-US" dirty="0">
                <a:solidFill>
                  <a:schemeClr val="tx1"/>
                </a:solidFill>
                <a:latin typeface="+mj-ea"/>
                <a:ea typeface="+mj-ea"/>
              </a:rPr>
              <a:t> 함</a:t>
            </a:r>
          </a:p>
        </p:txBody>
      </p:sp>
      <p:sp>
        <p:nvSpPr>
          <p:cNvPr id="34" name="직사각형 33">
            <a:extLst>
              <a:ext uri="{FF2B5EF4-FFF2-40B4-BE49-F238E27FC236}">
                <a16:creationId xmlns:a16="http://schemas.microsoft.com/office/drawing/2014/main" id="{E5869818-3557-2B0D-8C2D-96835EF2D534}"/>
              </a:ext>
            </a:extLst>
          </p:cNvPr>
          <p:cNvSpPr/>
          <p:nvPr/>
        </p:nvSpPr>
        <p:spPr>
          <a:xfrm>
            <a:off x="5313363" y="5638647"/>
            <a:ext cx="4031323" cy="814689"/>
          </a:xfrm>
          <a:prstGeom prst="rect">
            <a:avLst/>
          </a:prstGeom>
          <a:solidFill>
            <a:schemeClr val="accent1">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mj-ea"/>
                <a:ea typeface="+mj-ea"/>
              </a:rPr>
              <a:t>스크리닝</a:t>
            </a:r>
            <a:r>
              <a:rPr lang="ko-KR" altLang="en-US" dirty="0">
                <a:solidFill>
                  <a:schemeClr val="tx1"/>
                </a:solidFill>
                <a:latin typeface="+mj-ea"/>
                <a:ea typeface="+mj-ea"/>
              </a:rPr>
              <a:t> 결과 </a:t>
            </a:r>
            <a:r>
              <a:rPr lang="en-US" altLang="ko-KR" dirty="0">
                <a:solidFill>
                  <a:schemeClr val="tx1"/>
                </a:solidFill>
                <a:latin typeface="+mj-ea"/>
                <a:ea typeface="+mj-ea"/>
              </a:rPr>
              <a:t>1,196</a:t>
            </a:r>
            <a:r>
              <a:rPr lang="ko-KR" altLang="en-US" dirty="0">
                <a:solidFill>
                  <a:schemeClr val="tx1"/>
                </a:solidFill>
                <a:latin typeface="+mj-ea"/>
                <a:ea typeface="+mj-ea"/>
              </a:rPr>
              <a:t>개 중 </a:t>
            </a:r>
            <a:r>
              <a:rPr lang="en-US" altLang="ko-KR" dirty="0">
                <a:solidFill>
                  <a:schemeClr val="tx1"/>
                </a:solidFill>
                <a:latin typeface="+mj-ea"/>
                <a:ea typeface="+mj-ea"/>
              </a:rPr>
              <a:t>69</a:t>
            </a:r>
            <a:r>
              <a:rPr lang="ko-KR" altLang="en-US" dirty="0">
                <a:solidFill>
                  <a:schemeClr val="tx1"/>
                </a:solidFill>
                <a:latin typeface="+mj-ea"/>
                <a:ea typeface="+mj-ea"/>
              </a:rPr>
              <a:t>개의 능력단위가 남았으며</a:t>
            </a:r>
            <a:r>
              <a:rPr lang="en-US" altLang="ko-KR" dirty="0">
                <a:solidFill>
                  <a:schemeClr val="tx1"/>
                </a:solidFill>
                <a:latin typeface="+mj-ea"/>
                <a:ea typeface="+mj-ea"/>
              </a:rPr>
              <a:t>, </a:t>
            </a:r>
            <a:r>
              <a:rPr lang="ko-KR" altLang="en-US" dirty="0">
                <a:solidFill>
                  <a:schemeClr val="tx1"/>
                </a:solidFill>
                <a:latin typeface="+mj-ea"/>
                <a:ea typeface="+mj-ea"/>
              </a:rPr>
              <a:t>전문가와 함께 </a:t>
            </a:r>
            <a:r>
              <a:rPr lang="en-US" altLang="ko-KR" dirty="0">
                <a:solidFill>
                  <a:schemeClr val="tx1"/>
                </a:solidFill>
                <a:latin typeface="+mj-ea"/>
                <a:ea typeface="+mj-ea"/>
              </a:rPr>
              <a:t>69</a:t>
            </a:r>
            <a:r>
              <a:rPr lang="ko-KR" altLang="en-US" dirty="0">
                <a:solidFill>
                  <a:schemeClr val="tx1"/>
                </a:solidFill>
                <a:latin typeface="+mj-ea"/>
                <a:ea typeface="+mj-ea"/>
              </a:rPr>
              <a:t>개의 능력단위를 검토하여 </a:t>
            </a:r>
            <a:r>
              <a:rPr lang="en-US" altLang="ko-KR" dirty="0">
                <a:solidFill>
                  <a:schemeClr val="tx1"/>
                </a:solidFill>
                <a:latin typeface="+mj-ea"/>
                <a:ea typeface="+mj-ea"/>
              </a:rPr>
              <a:t>23</a:t>
            </a:r>
            <a:r>
              <a:rPr lang="ko-KR" altLang="en-US" dirty="0">
                <a:solidFill>
                  <a:schemeClr val="tx1"/>
                </a:solidFill>
                <a:latin typeface="+mj-ea"/>
                <a:ea typeface="+mj-ea"/>
              </a:rPr>
              <a:t>개의 능력단위는 추가 교육과정 개발이 가능한 것으로 판단됨</a:t>
            </a:r>
          </a:p>
        </p:txBody>
      </p:sp>
      <p:grpSp>
        <p:nvGrpSpPr>
          <p:cNvPr id="41" name="그룹 40">
            <a:extLst>
              <a:ext uri="{FF2B5EF4-FFF2-40B4-BE49-F238E27FC236}">
                <a16:creationId xmlns:a16="http://schemas.microsoft.com/office/drawing/2014/main" id="{58A66FF0-28C7-0163-D514-18150C6F2182}"/>
              </a:ext>
            </a:extLst>
          </p:cNvPr>
          <p:cNvGrpSpPr/>
          <p:nvPr/>
        </p:nvGrpSpPr>
        <p:grpSpPr>
          <a:xfrm>
            <a:off x="624124" y="5731446"/>
            <a:ext cx="4442763" cy="775597"/>
            <a:chOff x="704528" y="2149484"/>
            <a:chExt cx="760401" cy="370272"/>
          </a:xfrm>
          <a:solidFill>
            <a:srgbClr val="EAF1FA"/>
          </a:solidFill>
        </p:grpSpPr>
        <p:sp>
          <p:nvSpPr>
            <p:cNvPr id="42" name="직사각형 41">
              <a:extLst>
                <a:ext uri="{FF2B5EF4-FFF2-40B4-BE49-F238E27FC236}">
                  <a16:creationId xmlns:a16="http://schemas.microsoft.com/office/drawing/2014/main" id="{86740FF0-EB6C-EC47-AC32-4A054DFFFEB5}"/>
                </a:ext>
              </a:extLst>
            </p:cNvPr>
            <p:cNvSpPr/>
            <p:nvPr/>
          </p:nvSpPr>
          <p:spPr>
            <a:xfrm>
              <a:off x="704528" y="2149484"/>
              <a:ext cx="742417" cy="320063"/>
            </a:xfrm>
            <a:prstGeom prst="rect">
              <a:avLst/>
            </a:prstGeom>
            <a:solidFill>
              <a:schemeClr val="bg1">
                <a:lumMod val="75000"/>
              </a:schemeClr>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3" name="직사각형 42">
              <a:extLst>
                <a:ext uri="{FF2B5EF4-FFF2-40B4-BE49-F238E27FC236}">
                  <a16:creationId xmlns:a16="http://schemas.microsoft.com/office/drawing/2014/main" id="{A7C615E7-05FE-56ED-0E9F-E831C2E440AB}"/>
                </a:ext>
              </a:extLst>
            </p:cNvPr>
            <p:cNvSpPr/>
            <p:nvPr/>
          </p:nvSpPr>
          <p:spPr>
            <a:xfrm>
              <a:off x="722512" y="2199693"/>
              <a:ext cx="742417" cy="320063"/>
            </a:xfrm>
            <a:prstGeom prst="rect">
              <a:avLst/>
            </a:prstGeom>
            <a:solidFill>
              <a:srgbClr val="3B4A71"/>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None/>
                <a:defRPr/>
              </a:pPr>
              <a:r>
                <a:rPr lang="ko-KR" altLang="en-US" dirty="0">
                  <a:solidFill>
                    <a:prstClr val="white"/>
                  </a:solidFill>
                  <a:latin typeface="a고딕14"/>
                  <a:ea typeface="a고딕14" panose="02020600000000000000" pitchFamily="18" charset="-127"/>
                </a:rPr>
                <a:t>수요조사 범위에 해당하는 </a:t>
              </a:r>
            </a:p>
            <a:p>
              <a:pPr lvl="0">
                <a:buNone/>
                <a:defRPr/>
              </a:pPr>
              <a:r>
                <a:rPr lang="ko-KR" altLang="en-US" dirty="0">
                  <a:solidFill>
                    <a:prstClr val="white"/>
                  </a:solidFill>
                  <a:latin typeface="a고딕14"/>
                  <a:ea typeface="a고딕14" panose="02020600000000000000" pitchFamily="18" charset="-127"/>
                </a:rPr>
                <a:t>모든 능력단위의 적합성 평가 점수를 도출하였음</a:t>
              </a:r>
            </a:p>
          </p:txBody>
        </p:sp>
      </p:grpSp>
      <p:sp>
        <p:nvSpPr>
          <p:cNvPr id="44" name="이등변 삼각형 43">
            <a:extLst>
              <a:ext uri="{FF2B5EF4-FFF2-40B4-BE49-F238E27FC236}">
                <a16:creationId xmlns:a16="http://schemas.microsoft.com/office/drawing/2014/main" id="{F7063975-302E-3EE0-8DF2-75E52CC2A54A}"/>
              </a:ext>
            </a:extLst>
          </p:cNvPr>
          <p:cNvSpPr/>
          <p:nvPr/>
        </p:nvSpPr>
        <p:spPr bwMode="auto">
          <a:xfrm rot="10800000">
            <a:off x="596512" y="5034362"/>
            <a:ext cx="4467611" cy="538857"/>
          </a:xfrm>
          <a:prstGeom prst="triangle">
            <a:avLst>
              <a:gd name="adj" fmla="val 51101"/>
            </a:avLst>
          </a:prstGeom>
          <a:gradFill flip="none" rotWithShape="1">
            <a:gsLst>
              <a:gs pos="0">
                <a:schemeClr val="bg1">
                  <a:lumMod val="65000"/>
                </a:schemeClr>
              </a:gs>
              <a:gs pos="100000">
                <a:srgbClr val="FFFFFF">
                  <a:shade val="93000"/>
                  <a:satMod val="130000"/>
                  <a:alpha val="0"/>
                </a:srgbClr>
              </a:gs>
              <a:gs pos="100000">
                <a:srgbClr val="FFFFFF">
                  <a:shade val="94000"/>
                  <a:satMod val="135000"/>
                  <a:alpha val="0"/>
                </a:srgbClr>
              </a:gs>
            </a:gsLst>
            <a:lin ang="5400000" scaled="1"/>
            <a:tileRect/>
          </a:gradFill>
          <a:ln>
            <a:noFill/>
            <a:headEnd type="none" w="med" len="med"/>
            <a:tailEnd type="none" w="med" len="med"/>
          </a:ln>
          <a:effectLst/>
        </p:spPr>
        <p:txBody>
          <a:bodyPr lIns="36000" tIns="36000" rIns="36000" bIns="36000" anchor="ctr"/>
          <a:lstStyle/>
          <a:p>
            <a:pPr algn="ctr" eaLnBrk="0" fontAlgn="ctr" hangingPunct="0">
              <a:spcBef>
                <a:spcPct val="50000"/>
              </a:spcBef>
              <a:defRPr/>
            </a:pPr>
            <a:endParaRPr lang="ko-KR" altLang="en-US" sz="1100" b="1" kern="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24784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D930A-0D55-67CC-0877-EE7EC30A3AA0}"/>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8278E7B-DED7-573C-AA66-417AADF48A75}"/>
              </a:ext>
            </a:extLst>
          </p:cNvPr>
          <p:cNvSpPr>
            <a:spLocks noGrp="1"/>
          </p:cNvSpPr>
          <p:nvPr>
            <p:ph type="body" sz="quarter" idx="12"/>
          </p:nvPr>
        </p:nvSpPr>
        <p:spPr/>
        <p:txBody>
          <a:bodyPr/>
          <a:lstStyle/>
          <a:p>
            <a:pPr latinLnBrk="0"/>
            <a:r>
              <a:rPr lang="ko-KR" altLang="en-US" spc="-150" dirty="0" err="1">
                <a:latin typeface="+mj-ea"/>
                <a:ea typeface="+mj-ea"/>
              </a:rPr>
              <a:t>세분류</a:t>
            </a:r>
            <a:r>
              <a:rPr lang="ko-KR" altLang="en-US" spc="-150" dirty="0">
                <a:latin typeface="+mj-ea"/>
                <a:ea typeface="+mj-ea"/>
              </a:rPr>
              <a:t> 수요평가 결과로 도출된 </a:t>
            </a:r>
            <a:r>
              <a:rPr lang="en-US" altLang="ko-KR" spc="-150" dirty="0">
                <a:latin typeface="+mj-ea"/>
                <a:ea typeface="+mj-ea"/>
              </a:rPr>
              <a:t>4,018</a:t>
            </a:r>
            <a:r>
              <a:rPr lang="ko-KR" altLang="en-US" spc="-150" dirty="0">
                <a:latin typeface="+mj-ea"/>
                <a:ea typeface="+mj-ea"/>
              </a:rPr>
              <a:t>개 능력단위를 대상으로 중복성 검토를 실시하여 </a:t>
            </a:r>
            <a:r>
              <a:rPr lang="en-US" altLang="ko-KR" spc="-150" dirty="0">
                <a:latin typeface="+mj-ea"/>
                <a:ea typeface="+mj-ea"/>
              </a:rPr>
              <a:t>1,459</a:t>
            </a:r>
            <a:r>
              <a:rPr lang="ko-KR" altLang="en-US" spc="-150" dirty="0">
                <a:latin typeface="+mj-ea"/>
                <a:ea typeface="+mj-ea"/>
              </a:rPr>
              <a:t>개를 제외하였으며</a:t>
            </a:r>
            <a:r>
              <a:rPr lang="en-US" altLang="ko-KR" spc="-150" dirty="0">
                <a:latin typeface="+mj-ea"/>
                <a:ea typeface="+mj-ea"/>
              </a:rPr>
              <a:t>, </a:t>
            </a:r>
            <a:r>
              <a:rPr lang="ko-KR" altLang="en-US" spc="-150" dirty="0">
                <a:latin typeface="+mj-ea"/>
                <a:ea typeface="+mj-ea"/>
              </a:rPr>
              <a:t>적합성 평가 결과에서는 제외된 항목이 없어 최종적으로 </a:t>
            </a:r>
            <a:r>
              <a:rPr lang="en-US" altLang="ko-KR" spc="-150" dirty="0">
                <a:latin typeface="+mj-ea"/>
                <a:ea typeface="+mj-ea"/>
              </a:rPr>
              <a:t>2,559</a:t>
            </a:r>
            <a:r>
              <a:rPr lang="ko-KR" altLang="en-US" spc="-150" dirty="0">
                <a:latin typeface="+mj-ea"/>
                <a:ea typeface="+mj-ea"/>
              </a:rPr>
              <a:t>개의 능력단위가 확정됨</a:t>
            </a:r>
            <a:endParaRPr lang="ko-KR" altLang="en-US" spc="-150" dirty="0">
              <a:solidFill>
                <a:srgbClr val="FF0000"/>
              </a:solidFill>
              <a:latin typeface="+mj-ea"/>
              <a:ea typeface="+mj-ea"/>
            </a:endParaRPr>
          </a:p>
        </p:txBody>
      </p:sp>
      <p:sp>
        <p:nvSpPr>
          <p:cNvPr id="5" name="텍스트 개체 틀 4">
            <a:extLst>
              <a:ext uri="{FF2B5EF4-FFF2-40B4-BE49-F238E27FC236}">
                <a16:creationId xmlns:a16="http://schemas.microsoft.com/office/drawing/2014/main" id="{06AEB14F-2968-6BBA-F027-4D2EE99522D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9D788B85-2166-626F-C8BF-A81B1616E8B7}"/>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ko-KR" altLang="en-US" sz="1200" dirty="0">
                <a:solidFill>
                  <a:schemeClr val="bg1"/>
                </a:solidFill>
              </a:rPr>
              <a:t>능력단위 수요 평가 </a:t>
            </a:r>
            <a:r>
              <a:rPr lang="en-US" altLang="ko-KR" sz="1200" dirty="0">
                <a:solidFill>
                  <a:schemeClr val="bg1"/>
                </a:solidFill>
              </a:rPr>
              <a:t>+</a:t>
            </a:r>
            <a:r>
              <a:rPr lang="ko-KR" altLang="en-US" sz="1200" dirty="0">
                <a:solidFill>
                  <a:schemeClr val="bg1"/>
                </a:solidFill>
              </a:rPr>
              <a:t> 적합성 평가 종합</a:t>
            </a:r>
          </a:p>
        </p:txBody>
      </p:sp>
      <p:sp>
        <p:nvSpPr>
          <p:cNvPr id="10" name="직사각형 9">
            <a:extLst>
              <a:ext uri="{FF2B5EF4-FFF2-40B4-BE49-F238E27FC236}">
                <a16:creationId xmlns:a16="http://schemas.microsoft.com/office/drawing/2014/main" id="{3E3EFF4A-5ACB-1DD1-3330-7E16715FC34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7" name="그룹 6">
            <a:extLst>
              <a:ext uri="{FF2B5EF4-FFF2-40B4-BE49-F238E27FC236}">
                <a16:creationId xmlns:a16="http://schemas.microsoft.com/office/drawing/2014/main" id="{CE1FFE6A-3614-0309-1DF9-FD188397222C}"/>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30EF104C-949B-0734-1C1C-36A6B8DE05C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수요조사 대상 과정 선정</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DA9CDC2D-0944-D70E-3CE6-FB149F25CF0F}"/>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1" name="직사각형 20">
            <a:extLst>
              <a:ext uri="{FF2B5EF4-FFF2-40B4-BE49-F238E27FC236}">
                <a16:creationId xmlns:a16="http://schemas.microsoft.com/office/drawing/2014/main" id="{5D05E0ED-34BE-CC7E-9E72-7B119E2A384F}"/>
              </a:ext>
            </a:extLst>
          </p:cNvPr>
          <p:cNvSpPr/>
          <p:nvPr/>
        </p:nvSpPr>
        <p:spPr>
          <a:xfrm>
            <a:off x="609293" y="2492375"/>
            <a:ext cx="1987967" cy="39973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교육과정 미개발 </a:t>
            </a: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능력단위</a:t>
            </a:r>
            <a:r>
              <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(2,536</a:t>
            </a: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개</a:t>
            </a:r>
            <a:r>
              <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a:t>
            </a: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28" name="직사각형 27">
            <a:extLst>
              <a:ext uri="{FF2B5EF4-FFF2-40B4-BE49-F238E27FC236}">
                <a16:creationId xmlns:a16="http://schemas.microsoft.com/office/drawing/2014/main" id="{00A71B12-6B07-7690-68E5-E4D90B056AC6}"/>
              </a:ext>
            </a:extLst>
          </p:cNvPr>
          <p:cNvSpPr/>
          <p:nvPr/>
        </p:nvSpPr>
        <p:spPr>
          <a:xfrm>
            <a:off x="609294" y="5015986"/>
            <a:ext cx="1987966" cy="1473712"/>
          </a:xfrm>
          <a:prstGeom prst="rect">
            <a:avLst/>
          </a:prstGeom>
          <a:pattFill prst="ltUpDiag">
            <a:fgClr>
              <a:schemeClr val="accent5">
                <a:lumMod val="40000"/>
                <a:lumOff val="6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dirty="0">
                <a:solidFill>
                  <a:schemeClr val="tx1"/>
                </a:solidFill>
                <a:latin typeface="a고딕14" panose="02020600000000000000" pitchFamily="18" charset="-127"/>
                <a:ea typeface="a고딕14" panose="02020600000000000000" pitchFamily="18" charset="-127"/>
              </a:rPr>
              <a:t>교육과정 </a:t>
            </a:r>
            <a:r>
              <a:rPr lang="ko-KR" altLang="en-US" sz="1100" dirty="0" err="1">
                <a:solidFill>
                  <a:schemeClr val="tx1"/>
                </a:solidFill>
                <a:latin typeface="a고딕14" panose="02020600000000000000" pitchFamily="18" charset="-127"/>
                <a:ea typeface="a고딕14" panose="02020600000000000000" pitchFamily="18" charset="-127"/>
              </a:rPr>
              <a:t>기개발</a:t>
            </a:r>
            <a:endParaRPr lang="en-US" altLang="ko-KR" sz="1100" dirty="0">
              <a:solidFill>
                <a:schemeClr val="tx1"/>
              </a:solidFill>
              <a:latin typeface="a고딕14" panose="02020600000000000000" pitchFamily="18" charset="-127"/>
              <a:ea typeface="a고딕14" panose="02020600000000000000" pitchFamily="18" charset="-127"/>
            </a:endParaRPr>
          </a:p>
          <a:p>
            <a:pPr>
              <a:buNone/>
            </a:pPr>
            <a:r>
              <a:rPr lang="ko-KR" altLang="en-US" sz="1100" dirty="0">
                <a:solidFill>
                  <a:schemeClr val="tx1"/>
                </a:solidFill>
                <a:latin typeface="a고딕14" panose="02020600000000000000" pitchFamily="18" charset="-127"/>
                <a:ea typeface="a고딕14" panose="02020600000000000000" pitchFamily="18" charset="-127"/>
              </a:rPr>
              <a:t>능력단위</a:t>
            </a:r>
            <a:r>
              <a:rPr lang="en-US" altLang="ko-KR" sz="1100" dirty="0">
                <a:solidFill>
                  <a:schemeClr val="tx1"/>
                </a:solidFill>
                <a:latin typeface="a고딕14" panose="02020600000000000000" pitchFamily="18" charset="-127"/>
                <a:ea typeface="a고딕14" panose="02020600000000000000" pitchFamily="18" charset="-127"/>
              </a:rPr>
              <a:t>(1,482</a:t>
            </a:r>
            <a:r>
              <a:rPr lang="ko-KR" altLang="en-US" sz="1100" dirty="0">
                <a:solidFill>
                  <a:schemeClr val="tx1"/>
                </a:solidFill>
                <a:latin typeface="a고딕14" panose="02020600000000000000" pitchFamily="18" charset="-127"/>
                <a:ea typeface="a고딕14" panose="02020600000000000000" pitchFamily="18" charset="-127"/>
              </a:rPr>
              <a:t>개</a:t>
            </a:r>
            <a:r>
              <a:rPr lang="en-US" altLang="ko-KR" sz="1100" dirty="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33" name="오각형 125">
            <a:extLst>
              <a:ext uri="{FF2B5EF4-FFF2-40B4-BE49-F238E27FC236}">
                <a16:creationId xmlns:a16="http://schemas.microsoft.com/office/drawing/2014/main" id="{D0A8177A-5196-B958-787F-17FEEE81EAB0}"/>
              </a:ext>
            </a:extLst>
          </p:cNvPr>
          <p:cNvSpPr/>
          <p:nvPr/>
        </p:nvSpPr>
        <p:spPr>
          <a:xfrm>
            <a:off x="617425" y="2116081"/>
            <a:ext cx="2060312" cy="355541"/>
          </a:xfrm>
          <a:prstGeom prst="homePlate">
            <a:avLst>
              <a:gd name="adj" fmla="val 22885"/>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mj-ea"/>
                <a:ea typeface="+mj-ea"/>
              </a:rPr>
              <a:t>① </a:t>
            </a:r>
            <a:r>
              <a:rPr lang="ko-KR" altLang="en-US" dirty="0" err="1">
                <a:latin typeface="+mj-ea"/>
                <a:ea typeface="+mj-ea"/>
              </a:rPr>
              <a:t>세분류</a:t>
            </a:r>
            <a:r>
              <a:rPr lang="ko-KR" altLang="en-US" dirty="0">
                <a:latin typeface="+mj-ea"/>
                <a:ea typeface="+mj-ea"/>
              </a:rPr>
              <a:t> 평가 결과에 </a:t>
            </a:r>
            <a:endParaRPr lang="en-US" altLang="ko-KR" dirty="0">
              <a:latin typeface="+mj-ea"/>
              <a:ea typeface="+mj-ea"/>
            </a:endParaRPr>
          </a:p>
          <a:p>
            <a:pPr>
              <a:buNone/>
            </a:pPr>
            <a:r>
              <a:rPr lang="ko-KR" altLang="en-US" dirty="0">
                <a:latin typeface="+mj-ea"/>
                <a:ea typeface="+mj-ea"/>
              </a:rPr>
              <a:t>따른 능력단위 </a:t>
            </a:r>
            <a:r>
              <a:rPr lang="en-US" altLang="ko-KR" dirty="0">
                <a:latin typeface="+mj-ea"/>
                <a:ea typeface="+mj-ea"/>
              </a:rPr>
              <a:t>4,018</a:t>
            </a:r>
            <a:r>
              <a:rPr lang="ko-KR" altLang="en-US" dirty="0">
                <a:latin typeface="+mj-ea"/>
                <a:ea typeface="+mj-ea"/>
              </a:rPr>
              <a:t>개</a:t>
            </a:r>
          </a:p>
        </p:txBody>
      </p:sp>
      <p:sp>
        <p:nvSpPr>
          <p:cNvPr id="36" name="직사각형 35">
            <a:extLst>
              <a:ext uri="{FF2B5EF4-FFF2-40B4-BE49-F238E27FC236}">
                <a16:creationId xmlns:a16="http://schemas.microsoft.com/office/drawing/2014/main" id="{97163555-D3AF-9761-EC52-BA8404A973BB}"/>
              </a:ext>
            </a:extLst>
          </p:cNvPr>
          <p:cNvSpPr/>
          <p:nvPr/>
        </p:nvSpPr>
        <p:spPr>
          <a:xfrm>
            <a:off x="3539708" y="2492375"/>
            <a:ext cx="1987967" cy="39973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교육과정 미개발 </a:t>
            </a: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능력단위</a:t>
            </a:r>
            <a:r>
              <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(2,536</a:t>
            </a:r>
            <a:r>
              <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개</a:t>
            </a:r>
            <a:r>
              <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a:t>
            </a: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lang="en-US" altLang="ko-KR" sz="1100" dirty="0">
              <a:solidFill>
                <a:prstClr val="black"/>
              </a:solidFill>
              <a:latin typeface="a고딕14" panose="02020600000000000000" pitchFamily="18" charset="-127"/>
              <a:ea typeface="a고딕14" panose="02020600000000000000" pitchFamily="18" charset="-127"/>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7" name="직사각형 36">
            <a:extLst>
              <a:ext uri="{FF2B5EF4-FFF2-40B4-BE49-F238E27FC236}">
                <a16:creationId xmlns:a16="http://schemas.microsoft.com/office/drawing/2014/main" id="{F35067AC-3095-7F64-E6D5-CBB68E213845}"/>
              </a:ext>
            </a:extLst>
          </p:cNvPr>
          <p:cNvSpPr/>
          <p:nvPr/>
        </p:nvSpPr>
        <p:spPr>
          <a:xfrm>
            <a:off x="3539709" y="5015986"/>
            <a:ext cx="1987966" cy="1473712"/>
          </a:xfrm>
          <a:prstGeom prst="rect">
            <a:avLst/>
          </a:prstGeom>
          <a:pattFill prst="ltDnDiag">
            <a:fgClr>
              <a:schemeClr val="accent2">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en-US" altLang="ko-KR" sz="1100" dirty="0">
              <a:solidFill>
                <a:schemeClr val="tx1"/>
              </a:solidFill>
              <a:latin typeface="a고딕14" panose="02020600000000000000" pitchFamily="18" charset="-127"/>
              <a:ea typeface="a고딕14" panose="02020600000000000000" pitchFamily="18" charset="-127"/>
            </a:endParaRPr>
          </a:p>
          <a:p>
            <a:pPr>
              <a:buNone/>
            </a:pPr>
            <a:r>
              <a:rPr lang="ko-KR" altLang="en-US" sz="1100" dirty="0">
                <a:solidFill>
                  <a:schemeClr val="tx1"/>
                </a:solidFill>
                <a:latin typeface="a고딕14" panose="02020600000000000000" pitchFamily="18" charset="-127"/>
                <a:ea typeface="a고딕14" panose="02020600000000000000" pitchFamily="18" charset="-127"/>
              </a:rPr>
              <a:t>교육과정 추가 개발 불가능 </a:t>
            </a:r>
            <a:br>
              <a:rPr lang="en-US" altLang="ko-KR" sz="1100" dirty="0">
                <a:solidFill>
                  <a:schemeClr val="tx1"/>
                </a:solidFill>
                <a:latin typeface="a고딕14" panose="02020600000000000000" pitchFamily="18" charset="-127"/>
                <a:ea typeface="a고딕14" panose="02020600000000000000" pitchFamily="18" charset="-127"/>
              </a:rPr>
            </a:br>
            <a:r>
              <a:rPr lang="ko-KR" altLang="en-US" sz="1100" dirty="0">
                <a:solidFill>
                  <a:schemeClr val="tx1"/>
                </a:solidFill>
                <a:latin typeface="a고딕14" panose="02020600000000000000" pitchFamily="18" charset="-127"/>
                <a:ea typeface="a고딕14" panose="02020600000000000000" pitchFamily="18" charset="-127"/>
              </a:rPr>
              <a:t>능력단위</a:t>
            </a:r>
            <a:r>
              <a:rPr lang="en-US" altLang="ko-KR" sz="1100" dirty="0">
                <a:solidFill>
                  <a:schemeClr val="tx1"/>
                </a:solidFill>
                <a:latin typeface="a고딕14" panose="02020600000000000000" pitchFamily="18" charset="-127"/>
                <a:ea typeface="a고딕14" panose="02020600000000000000" pitchFamily="18" charset="-127"/>
              </a:rPr>
              <a:t>(1,459</a:t>
            </a:r>
            <a:r>
              <a:rPr lang="ko-KR" altLang="en-US" sz="1100" dirty="0">
                <a:solidFill>
                  <a:schemeClr val="tx1"/>
                </a:solidFill>
                <a:latin typeface="a고딕14" panose="02020600000000000000" pitchFamily="18" charset="-127"/>
                <a:ea typeface="a고딕14" panose="02020600000000000000" pitchFamily="18" charset="-127"/>
              </a:rPr>
              <a:t>개</a:t>
            </a:r>
            <a:r>
              <a:rPr lang="en-US" altLang="ko-KR" sz="1100" dirty="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38" name="오각형 125">
            <a:extLst>
              <a:ext uri="{FF2B5EF4-FFF2-40B4-BE49-F238E27FC236}">
                <a16:creationId xmlns:a16="http://schemas.microsoft.com/office/drawing/2014/main" id="{BA17D607-6FA4-D58D-33AD-D0AC49EABAEB}"/>
              </a:ext>
            </a:extLst>
          </p:cNvPr>
          <p:cNvSpPr/>
          <p:nvPr/>
        </p:nvSpPr>
        <p:spPr>
          <a:xfrm>
            <a:off x="3539708" y="2116081"/>
            <a:ext cx="2060312" cy="355541"/>
          </a:xfrm>
          <a:prstGeom prst="homePlate">
            <a:avLst>
              <a:gd name="adj" fmla="val 22885"/>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mj-ea"/>
                <a:ea typeface="+mj-ea"/>
              </a:rPr>
              <a:t>② 중복성 검토 결과 교육과정 개발 가능 능력단위 </a:t>
            </a:r>
            <a:r>
              <a:rPr lang="en-US" altLang="ko-KR" dirty="0">
                <a:latin typeface="+mj-ea"/>
                <a:ea typeface="+mj-ea"/>
              </a:rPr>
              <a:t>2,559</a:t>
            </a:r>
            <a:r>
              <a:rPr lang="ko-KR" altLang="en-US" dirty="0">
                <a:latin typeface="+mj-ea"/>
                <a:ea typeface="+mj-ea"/>
              </a:rPr>
              <a:t>개</a:t>
            </a:r>
          </a:p>
        </p:txBody>
      </p:sp>
      <p:sp>
        <p:nvSpPr>
          <p:cNvPr id="39" name="직사각형 38">
            <a:extLst>
              <a:ext uri="{FF2B5EF4-FFF2-40B4-BE49-F238E27FC236}">
                <a16:creationId xmlns:a16="http://schemas.microsoft.com/office/drawing/2014/main" id="{A5622837-2A6A-59C4-F547-C85BCB0C5A35}"/>
              </a:ext>
            </a:extLst>
          </p:cNvPr>
          <p:cNvSpPr/>
          <p:nvPr/>
        </p:nvSpPr>
        <p:spPr>
          <a:xfrm>
            <a:off x="3539708" y="5015985"/>
            <a:ext cx="1995768" cy="365912"/>
          </a:xfrm>
          <a:prstGeom prst="rect">
            <a:avLst/>
          </a:prstGeom>
          <a:pattFill prst="dkVert">
            <a:fgClr>
              <a:schemeClr val="accent1">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mj-ea"/>
                <a:ea typeface="+mj-ea"/>
              </a:rPr>
              <a:t>교육과정 추가 개발 가능 능력단위</a:t>
            </a:r>
            <a:r>
              <a:rPr lang="en-US" altLang="ko-KR" sz="1100" dirty="0">
                <a:solidFill>
                  <a:schemeClr val="tx1"/>
                </a:solidFill>
                <a:latin typeface="+mj-ea"/>
                <a:ea typeface="+mj-ea"/>
              </a:rPr>
              <a:t>(23</a:t>
            </a:r>
            <a:r>
              <a:rPr lang="ko-KR" altLang="en-US" sz="1100" dirty="0">
                <a:solidFill>
                  <a:schemeClr val="tx1"/>
                </a:solidFill>
                <a:latin typeface="+mj-ea"/>
                <a:ea typeface="+mj-ea"/>
              </a:rPr>
              <a:t>개</a:t>
            </a:r>
            <a:r>
              <a:rPr lang="en-US" altLang="ko-KR" sz="1100" dirty="0">
                <a:solidFill>
                  <a:schemeClr val="tx1"/>
                </a:solidFill>
                <a:latin typeface="+mj-ea"/>
                <a:ea typeface="+mj-ea"/>
              </a:rPr>
              <a:t>)</a:t>
            </a:r>
            <a:endParaRPr lang="ko-KR" altLang="en-US" sz="1100" dirty="0" err="1">
              <a:solidFill>
                <a:schemeClr val="tx1"/>
              </a:solidFill>
              <a:latin typeface="+mj-ea"/>
              <a:ea typeface="+mj-ea"/>
            </a:endParaRPr>
          </a:p>
        </p:txBody>
      </p:sp>
      <p:cxnSp>
        <p:nvCxnSpPr>
          <p:cNvPr id="58" name="연결선: 꺾임 57">
            <a:extLst>
              <a:ext uri="{FF2B5EF4-FFF2-40B4-BE49-F238E27FC236}">
                <a16:creationId xmlns:a16="http://schemas.microsoft.com/office/drawing/2014/main" id="{A80EF3A7-A23D-A4D0-1896-6F21FD2913D7}"/>
              </a:ext>
            </a:extLst>
          </p:cNvPr>
          <p:cNvCxnSpPr>
            <a:endCxn id="39" idx="3"/>
          </p:cNvCxnSpPr>
          <p:nvPr/>
        </p:nvCxnSpPr>
        <p:spPr>
          <a:xfrm rot="16200000" flipH="1">
            <a:off x="4620405" y="4283870"/>
            <a:ext cx="1769942" cy="60199"/>
          </a:xfrm>
          <a:prstGeom prst="bentConnector4">
            <a:avLst>
              <a:gd name="adj1" fmla="val 58"/>
              <a:gd name="adj2" fmla="val 479741"/>
            </a:avLst>
          </a:prstGeom>
          <a:ln w="19050">
            <a:headEnd type="oval"/>
            <a:tailEnd type="oval"/>
          </a:ln>
        </p:spPr>
        <p:style>
          <a:lnRef idx="1">
            <a:schemeClr val="accent1"/>
          </a:lnRef>
          <a:fillRef idx="0">
            <a:schemeClr val="accent1"/>
          </a:fillRef>
          <a:effectRef idx="0">
            <a:schemeClr val="accent1"/>
          </a:effectRef>
          <a:fontRef idx="minor">
            <a:schemeClr val="tx1"/>
          </a:fontRef>
        </p:style>
      </p:cxnSp>
      <p:sp>
        <p:nvSpPr>
          <p:cNvPr id="61" name="직사각형 60">
            <a:extLst>
              <a:ext uri="{FF2B5EF4-FFF2-40B4-BE49-F238E27FC236}">
                <a16:creationId xmlns:a16="http://schemas.microsoft.com/office/drawing/2014/main" id="{6EC0A8E8-21FC-7968-8F0F-51CE64C2893E}"/>
              </a:ext>
            </a:extLst>
          </p:cNvPr>
          <p:cNvSpPr/>
          <p:nvPr/>
        </p:nvSpPr>
        <p:spPr>
          <a:xfrm>
            <a:off x="6461991" y="2555778"/>
            <a:ext cx="2885281" cy="4036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buNone/>
            </a:pPr>
            <a:r>
              <a:rPr lang="ko-KR" altLang="en-US" sz="1000" dirty="0">
                <a:latin typeface="a고딕14" panose="02020600000000000000" pitchFamily="18" charset="-127"/>
                <a:ea typeface="a고딕14" panose="02020600000000000000" pitchFamily="18" charset="-127"/>
              </a:rPr>
              <a:t>교육과정 개발 가능 능력단위 </a:t>
            </a:r>
            <a:r>
              <a:rPr lang="en-US" altLang="ko-KR" sz="1000" dirty="0">
                <a:latin typeface="a고딕14" panose="02020600000000000000" pitchFamily="18" charset="-127"/>
                <a:ea typeface="a고딕14" panose="02020600000000000000" pitchFamily="18" charset="-127"/>
              </a:rPr>
              <a:t>2,559</a:t>
            </a:r>
            <a:r>
              <a:rPr lang="ko-KR" altLang="en-US" sz="1000" dirty="0">
                <a:latin typeface="a고딕14" panose="02020600000000000000" pitchFamily="18" charset="-127"/>
                <a:ea typeface="a고딕14" panose="02020600000000000000" pitchFamily="18" charset="-127"/>
              </a:rPr>
              <a:t>개 대상으로 </a:t>
            </a:r>
            <a:endParaRPr lang="en-US" altLang="ko-KR" sz="1000" dirty="0">
              <a:latin typeface="a고딕14" panose="02020600000000000000" pitchFamily="18" charset="-127"/>
              <a:ea typeface="a고딕14" panose="02020600000000000000" pitchFamily="18" charset="-127"/>
            </a:endParaRPr>
          </a:p>
          <a:p>
            <a:pPr algn="ctr">
              <a:buNone/>
            </a:pPr>
            <a:r>
              <a:rPr lang="ko-KR" altLang="en-US" sz="1000" dirty="0">
                <a:latin typeface="a고딕14" panose="02020600000000000000" pitchFamily="18" charset="-127"/>
                <a:ea typeface="a고딕14" panose="02020600000000000000" pitchFamily="18" charset="-127"/>
              </a:rPr>
              <a:t>군집분석 수행</a:t>
            </a:r>
          </a:p>
        </p:txBody>
      </p:sp>
      <p:sp>
        <p:nvSpPr>
          <p:cNvPr id="62" name="아래쪽 화살표 1">
            <a:extLst>
              <a:ext uri="{FF2B5EF4-FFF2-40B4-BE49-F238E27FC236}">
                <a16:creationId xmlns:a16="http://schemas.microsoft.com/office/drawing/2014/main" id="{817D8D69-633C-061E-127A-3216EAD68E7E}"/>
              </a:ext>
            </a:extLst>
          </p:cNvPr>
          <p:cNvSpPr/>
          <p:nvPr/>
        </p:nvSpPr>
        <p:spPr>
          <a:xfrm>
            <a:off x="7505945" y="3160749"/>
            <a:ext cx="792087" cy="2431671"/>
          </a:xfrm>
          <a:prstGeom prst="down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000" dirty="0" err="1">
              <a:latin typeface="Arial Narrow" panose="020B0606020202030204" pitchFamily="34" charset="0"/>
              <a:ea typeface="a고딕14" panose="02020600000000000000" pitchFamily="18" charset="-127"/>
            </a:endParaRPr>
          </a:p>
        </p:txBody>
      </p:sp>
      <p:sp>
        <p:nvSpPr>
          <p:cNvPr id="63" name="직사각형 62">
            <a:extLst>
              <a:ext uri="{FF2B5EF4-FFF2-40B4-BE49-F238E27FC236}">
                <a16:creationId xmlns:a16="http://schemas.microsoft.com/office/drawing/2014/main" id="{317F3690-C1E7-A27F-31EB-10CE2DE2CF14}"/>
              </a:ext>
            </a:extLst>
          </p:cNvPr>
          <p:cNvSpPr/>
          <p:nvPr/>
        </p:nvSpPr>
        <p:spPr>
          <a:xfrm>
            <a:off x="6462597" y="4477519"/>
            <a:ext cx="2880000" cy="435600"/>
          </a:xfrm>
          <a:prstGeom prst="rect">
            <a:avLst/>
          </a:prstGeom>
          <a:solidFill>
            <a:schemeClr val="bg1"/>
          </a:solid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8000" indent="-108000" algn="l" latinLnBrk="0">
              <a:lnSpc>
                <a:spcPct val="110000"/>
              </a:lnSpc>
              <a:spcAft>
                <a:spcPts val="200"/>
              </a:spcAft>
              <a:buFont typeface="Arial" panose="020B0604020202020204" pitchFamily="34" charset="0"/>
              <a:buChar char="•"/>
            </a:pPr>
            <a:r>
              <a:rPr lang="ko-KR" altLang="en-US" sz="1000" dirty="0">
                <a:solidFill>
                  <a:schemeClr val="tx1"/>
                </a:solidFill>
                <a:latin typeface="a고딕14" panose="02020600000000000000" pitchFamily="18" charset="-127"/>
                <a:ea typeface="a고딕14" panose="02020600000000000000" pitchFamily="18" charset="-127"/>
              </a:rPr>
              <a:t>군집분석 결과 이러닝과</a:t>
            </a:r>
            <a:r>
              <a:rPr lang="en-US" altLang="ko-KR" sz="1000" dirty="0">
                <a:solidFill>
                  <a:schemeClr val="tx1"/>
                </a:solidFill>
                <a:latin typeface="a고딕14" panose="02020600000000000000" pitchFamily="18" charset="-127"/>
                <a:ea typeface="a고딕14" panose="02020600000000000000" pitchFamily="18" charset="-127"/>
              </a:rPr>
              <a:t> </a:t>
            </a:r>
            <a:r>
              <a:rPr lang="ko-KR" altLang="en-US" sz="1000" dirty="0">
                <a:solidFill>
                  <a:schemeClr val="tx1"/>
                </a:solidFill>
                <a:latin typeface="a고딕14" panose="02020600000000000000" pitchFamily="18" charset="-127"/>
                <a:ea typeface="a고딕14" panose="02020600000000000000" pitchFamily="18" charset="-127"/>
              </a:rPr>
              <a:t>가상훈련 모두 </a:t>
            </a:r>
            <a:r>
              <a:rPr lang="en-US" altLang="ko-KR" sz="1000" dirty="0">
                <a:solidFill>
                  <a:schemeClr val="tx1"/>
                </a:solidFill>
                <a:latin typeface="a고딕14" panose="02020600000000000000" pitchFamily="18" charset="-127"/>
                <a:ea typeface="a고딕14" panose="02020600000000000000" pitchFamily="18" charset="-127"/>
              </a:rPr>
              <a:t>4</a:t>
            </a:r>
            <a:r>
              <a:rPr lang="ko-KR" altLang="en-US" sz="1000" dirty="0">
                <a:solidFill>
                  <a:schemeClr val="tx1"/>
                </a:solidFill>
                <a:latin typeface="a고딕14" panose="02020600000000000000" pitchFamily="18" charset="-127"/>
                <a:ea typeface="a고딕14" panose="02020600000000000000" pitchFamily="18" charset="-127"/>
              </a:rPr>
              <a:t>군 </a:t>
            </a:r>
            <a:r>
              <a:rPr lang="en-US" altLang="ko-KR" sz="1000" dirty="0">
                <a:solidFill>
                  <a:schemeClr val="tx1"/>
                </a:solidFill>
                <a:latin typeface="a고딕14" panose="02020600000000000000" pitchFamily="18" charset="-127"/>
                <a:ea typeface="a고딕14" panose="02020600000000000000" pitchFamily="18" charset="-127"/>
              </a:rPr>
              <a:t>(</a:t>
            </a:r>
            <a:r>
              <a:rPr lang="ko-KR" altLang="en-US" sz="1000" dirty="0">
                <a:solidFill>
                  <a:schemeClr val="tx1"/>
                </a:solidFill>
                <a:latin typeface="a고딕14" panose="02020600000000000000" pitchFamily="18" charset="-127"/>
                <a:ea typeface="a고딕14" panose="02020600000000000000" pitchFamily="18" charset="-127"/>
              </a:rPr>
              <a:t>개발 </a:t>
            </a:r>
            <a:r>
              <a:rPr lang="ko-KR" altLang="en-US" sz="1000" dirty="0" err="1">
                <a:solidFill>
                  <a:schemeClr val="tx1"/>
                </a:solidFill>
                <a:latin typeface="a고딕14" panose="02020600000000000000" pitchFamily="18" charset="-127"/>
                <a:ea typeface="a고딕14" panose="02020600000000000000" pitchFamily="18" charset="-127"/>
              </a:rPr>
              <a:t>검토군</a:t>
            </a:r>
            <a:r>
              <a:rPr lang="en-US" altLang="ko-KR" sz="1000" dirty="0">
                <a:solidFill>
                  <a:schemeClr val="tx1"/>
                </a:solidFill>
                <a:latin typeface="a고딕14" panose="02020600000000000000" pitchFamily="18" charset="-127"/>
                <a:ea typeface="a고딕14" panose="02020600000000000000" pitchFamily="18" charset="-127"/>
              </a:rPr>
              <a:t>)</a:t>
            </a:r>
            <a:r>
              <a:rPr lang="ko-KR" altLang="en-US" sz="1000" dirty="0">
                <a:solidFill>
                  <a:schemeClr val="tx1"/>
                </a:solidFill>
                <a:latin typeface="a고딕14" panose="02020600000000000000" pitchFamily="18" charset="-127"/>
                <a:ea typeface="a고딕14" panose="02020600000000000000" pitchFamily="18" charset="-127"/>
              </a:rPr>
              <a:t>에 속하는 능력단위는 </a:t>
            </a:r>
            <a:r>
              <a:rPr lang="en-US" altLang="ko-KR" sz="1000" dirty="0">
                <a:solidFill>
                  <a:schemeClr val="tx1"/>
                </a:solidFill>
                <a:latin typeface="a고딕14" panose="02020600000000000000" pitchFamily="18" charset="-127"/>
                <a:ea typeface="a고딕14" panose="02020600000000000000" pitchFamily="18" charset="-127"/>
              </a:rPr>
              <a:t>0</a:t>
            </a:r>
            <a:r>
              <a:rPr lang="ko-KR" altLang="en-US" sz="1000" dirty="0">
                <a:solidFill>
                  <a:schemeClr val="tx1"/>
                </a:solidFill>
                <a:latin typeface="a고딕14" panose="02020600000000000000" pitchFamily="18" charset="-127"/>
                <a:ea typeface="a고딕14" panose="02020600000000000000" pitchFamily="18" charset="-127"/>
              </a:rPr>
              <a:t>개로 나타남</a:t>
            </a:r>
            <a:endParaRPr lang="en-US" altLang="ko-KR" sz="1000" dirty="0">
              <a:solidFill>
                <a:schemeClr val="tx1"/>
              </a:solidFill>
              <a:latin typeface="a고딕14" panose="02020600000000000000" pitchFamily="18" charset="-127"/>
              <a:ea typeface="a고딕14" panose="02020600000000000000" pitchFamily="18" charset="-127"/>
            </a:endParaRPr>
          </a:p>
        </p:txBody>
      </p:sp>
      <p:sp>
        <p:nvSpPr>
          <p:cNvPr id="64" name="직사각형 63">
            <a:extLst>
              <a:ext uri="{FF2B5EF4-FFF2-40B4-BE49-F238E27FC236}">
                <a16:creationId xmlns:a16="http://schemas.microsoft.com/office/drawing/2014/main" id="{297F7B71-DDB2-2B96-DFF4-DB2942756E5B}"/>
              </a:ext>
            </a:extLst>
          </p:cNvPr>
          <p:cNvSpPr/>
          <p:nvPr/>
        </p:nvSpPr>
        <p:spPr>
          <a:xfrm>
            <a:off x="6462982" y="4074319"/>
            <a:ext cx="2887200" cy="403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ko-KR" altLang="en-US" sz="1000" dirty="0">
                <a:latin typeface="a고딕14" panose="02020600000000000000" pitchFamily="18" charset="-127"/>
                <a:ea typeface="a고딕14" panose="02020600000000000000" pitchFamily="18" charset="-127"/>
              </a:rPr>
              <a:t>이러닝과 가상훈련 모두 </a:t>
            </a:r>
            <a:endParaRPr lang="en-US" altLang="ko-KR" sz="1000" dirty="0">
              <a:latin typeface="a고딕14" panose="02020600000000000000" pitchFamily="18" charset="-127"/>
              <a:ea typeface="a고딕14" panose="02020600000000000000" pitchFamily="18" charset="-127"/>
            </a:endParaRPr>
          </a:p>
          <a:p>
            <a:pPr algn="ctr">
              <a:buNone/>
            </a:pPr>
            <a:r>
              <a:rPr lang="en-US" altLang="ko-KR" sz="1000" dirty="0">
                <a:latin typeface="a고딕14" panose="02020600000000000000" pitchFamily="18" charset="-127"/>
                <a:ea typeface="a고딕14" panose="02020600000000000000" pitchFamily="18" charset="-127"/>
              </a:rPr>
              <a:t>4</a:t>
            </a:r>
            <a:r>
              <a:rPr lang="ko-KR" altLang="en-US" sz="1000" dirty="0">
                <a:latin typeface="a고딕14" panose="02020600000000000000" pitchFamily="18" charset="-127"/>
                <a:ea typeface="a고딕14" panose="02020600000000000000" pitchFamily="18" charset="-127"/>
              </a:rPr>
              <a:t>군</a:t>
            </a:r>
            <a:r>
              <a:rPr lang="en-US" altLang="ko-KR" sz="1000" dirty="0">
                <a:latin typeface="a고딕14" panose="02020600000000000000" pitchFamily="18" charset="-127"/>
                <a:ea typeface="a고딕14" panose="02020600000000000000" pitchFamily="18" charset="-127"/>
              </a:rPr>
              <a:t>(</a:t>
            </a:r>
            <a:r>
              <a:rPr lang="ko-KR" altLang="en-US" sz="1000" dirty="0">
                <a:latin typeface="a고딕14" panose="02020600000000000000" pitchFamily="18" charset="-127"/>
                <a:ea typeface="a고딕14" panose="02020600000000000000" pitchFamily="18" charset="-127"/>
              </a:rPr>
              <a:t>개발 </a:t>
            </a:r>
            <a:r>
              <a:rPr lang="ko-KR" altLang="en-US" sz="1000" dirty="0" err="1">
                <a:latin typeface="a고딕14" panose="02020600000000000000" pitchFamily="18" charset="-127"/>
                <a:ea typeface="a고딕14" panose="02020600000000000000" pitchFamily="18" charset="-127"/>
              </a:rPr>
              <a:t>검토군</a:t>
            </a:r>
            <a:r>
              <a:rPr lang="en-US" altLang="ko-KR" sz="1000" dirty="0">
                <a:latin typeface="a고딕14" panose="02020600000000000000" pitchFamily="18" charset="-127"/>
                <a:ea typeface="a고딕14" panose="02020600000000000000" pitchFamily="18" charset="-127"/>
              </a:rPr>
              <a:t>)</a:t>
            </a:r>
            <a:r>
              <a:rPr lang="ko-KR" altLang="en-US" sz="1000" dirty="0">
                <a:latin typeface="a고딕14" panose="02020600000000000000" pitchFamily="18" charset="-127"/>
                <a:ea typeface="a고딕14" panose="02020600000000000000" pitchFamily="18" charset="-127"/>
              </a:rPr>
              <a:t>에 속하는 능력단위 제외</a:t>
            </a:r>
          </a:p>
        </p:txBody>
      </p:sp>
      <p:sp>
        <p:nvSpPr>
          <p:cNvPr id="65" name="직사각형 64">
            <a:extLst>
              <a:ext uri="{FF2B5EF4-FFF2-40B4-BE49-F238E27FC236}">
                <a16:creationId xmlns:a16="http://schemas.microsoft.com/office/drawing/2014/main" id="{6FC60AC1-AB30-7A00-CD76-B7C1A06789A4}"/>
              </a:ext>
            </a:extLst>
          </p:cNvPr>
          <p:cNvSpPr/>
          <p:nvPr/>
        </p:nvSpPr>
        <p:spPr>
          <a:xfrm>
            <a:off x="6462983" y="5592421"/>
            <a:ext cx="2887200" cy="897279"/>
          </a:xfrm>
          <a:prstGeom prst="rect">
            <a:avLst/>
          </a:prstGeom>
          <a:solidFill>
            <a:srgbClr val="DC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buNone/>
            </a:pP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수요평가 결과 </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중복성 검토 결과 </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콘텐츠 개발 적합성 평가 결과를 모두 반영한 </a:t>
            </a:r>
            <a:r>
              <a:rPr lang="ko-KR" altLang="en-US" dirty="0">
                <a:solidFill>
                  <a:srgbClr val="0070C0"/>
                </a:solidFill>
                <a:latin typeface="a고딕14" panose="02020600000000000000" pitchFamily="18" charset="-127"/>
                <a:ea typeface="a고딕14" panose="02020600000000000000" pitchFamily="18" charset="-127"/>
              </a:rPr>
              <a:t>최종 능력단위 </a:t>
            </a:r>
            <a:r>
              <a:rPr lang="en-US" altLang="ko-KR" dirty="0">
                <a:solidFill>
                  <a:srgbClr val="0070C0"/>
                </a:solidFill>
                <a:latin typeface="a고딕14" panose="02020600000000000000" pitchFamily="18" charset="-127"/>
                <a:ea typeface="a고딕14" panose="02020600000000000000" pitchFamily="18" charset="-127"/>
              </a:rPr>
              <a:t>2,559</a:t>
            </a:r>
            <a:r>
              <a:rPr lang="ko-KR" altLang="en-US" dirty="0">
                <a:solidFill>
                  <a:srgbClr val="0070C0"/>
                </a:solidFill>
                <a:latin typeface="a고딕14" panose="02020600000000000000" pitchFamily="18" charset="-127"/>
                <a:ea typeface="a고딕14" panose="02020600000000000000" pitchFamily="18" charset="-127"/>
              </a:rPr>
              <a:t>개 도출</a:t>
            </a:r>
          </a:p>
        </p:txBody>
      </p:sp>
      <p:sp>
        <p:nvSpPr>
          <p:cNvPr id="67" name="직사각형 66">
            <a:extLst>
              <a:ext uri="{FF2B5EF4-FFF2-40B4-BE49-F238E27FC236}">
                <a16:creationId xmlns:a16="http://schemas.microsoft.com/office/drawing/2014/main" id="{33323402-3B84-0053-2897-A5C64014A8BE}"/>
              </a:ext>
            </a:extLst>
          </p:cNvPr>
          <p:cNvSpPr/>
          <p:nvPr/>
        </p:nvSpPr>
        <p:spPr>
          <a:xfrm>
            <a:off x="6461991" y="2953690"/>
            <a:ext cx="2879997" cy="435044"/>
          </a:xfrm>
          <a:prstGeom prst="rect">
            <a:avLst/>
          </a:prstGeom>
          <a:solidFill>
            <a:schemeClr val="bg1"/>
          </a:solid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8000" indent="-108000" algn="l" latinLnBrk="0">
              <a:lnSpc>
                <a:spcPct val="110000"/>
              </a:lnSpc>
              <a:spcAft>
                <a:spcPts val="200"/>
              </a:spcAft>
              <a:buFont typeface="Arial" panose="020B0604020202020204" pitchFamily="34" charset="0"/>
              <a:buChar char="•"/>
            </a:pPr>
            <a:r>
              <a:rPr lang="ko-KR" altLang="en-US" sz="1000" dirty="0">
                <a:solidFill>
                  <a:sysClr val="windowText" lastClr="000000"/>
                </a:solidFill>
                <a:latin typeface="a고딕14" panose="02020600000000000000" pitchFamily="18" charset="-127"/>
                <a:ea typeface="a고딕14" panose="02020600000000000000" pitchFamily="18" charset="-127"/>
              </a:rPr>
              <a:t>이러닝</a:t>
            </a:r>
            <a:r>
              <a:rPr lang="en-US" altLang="ko-KR" sz="1000" dirty="0">
                <a:solidFill>
                  <a:sysClr val="windowText" lastClr="000000"/>
                </a:solidFill>
                <a:latin typeface="a고딕14" panose="02020600000000000000" pitchFamily="18" charset="-127"/>
                <a:ea typeface="a고딕14" panose="02020600000000000000" pitchFamily="18" charset="-127"/>
              </a:rPr>
              <a:t>/</a:t>
            </a:r>
            <a:r>
              <a:rPr lang="ko-KR" altLang="en-US" sz="1000" dirty="0">
                <a:solidFill>
                  <a:sysClr val="windowText" lastClr="000000"/>
                </a:solidFill>
                <a:latin typeface="a고딕14" panose="02020600000000000000" pitchFamily="18" charset="-127"/>
                <a:ea typeface="a고딕14" panose="02020600000000000000" pitchFamily="18" charset="-127"/>
              </a:rPr>
              <a:t>가상훈련 콘텐츠 개발 적합성 </a:t>
            </a:r>
            <a:r>
              <a:rPr lang="en-US" altLang="ko-KR" sz="1000" dirty="0">
                <a:solidFill>
                  <a:sysClr val="windowText" lastClr="000000"/>
                </a:solidFill>
                <a:latin typeface="a고딕14" panose="02020600000000000000" pitchFamily="18" charset="-127"/>
                <a:ea typeface="a고딕14" panose="02020600000000000000" pitchFamily="18" charset="-127"/>
              </a:rPr>
              <a:t>1~4</a:t>
            </a:r>
            <a:r>
              <a:rPr lang="ko-KR" altLang="en-US" sz="1000" dirty="0">
                <a:solidFill>
                  <a:sysClr val="windowText" lastClr="000000"/>
                </a:solidFill>
                <a:latin typeface="a고딕14" panose="02020600000000000000" pitchFamily="18" charset="-127"/>
                <a:ea typeface="a고딕14" panose="02020600000000000000" pitchFamily="18" charset="-127"/>
              </a:rPr>
              <a:t>군 분류</a:t>
            </a:r>
            <a:br>
              <a:rPr lang="en-US" altLang="ko-KR" sz="1000" dirty="0">
                <a:solidFill>
                  <a:sysClr val="windowText" lastClr="000000"/>
                </a:solidFill>
                <a:latin typeface="a고딕14" panose="02020600000000000000" pitchFamily="18" charset="-127"/>
                <a:ea typeface="a고딕14" panose="02020600000000000000" pitchFamily="18" charset="-127"/>
              </a:rPr>
            </a:br>
            <a:r>
              <a:rPr lang="en-US" altLang="ko-KR" sz="1000" dirty="0">
                <a:solidFill>
                  <a:sysClr val="windowText" lastClr="000000"/>
                </a:solidFill>
                <a:latin typeface="a고딕14" panose="02020600000000000000" pitchFamily="18" charset="-127"/>
                <a:ea typeface="a고딕14" panose="02020600000000000000" pitchFamily="18" charset="-127"/>
              </a:rPr>
              <a:t>(</a:t>
            </a:r>
            <a:r>
              <a:rPr lang="ko-KR" altLang="en-US" sz="1000" dirty="0">
                <a:solidFill>
                  <a:sysClr val="windowText" lastClr="000000"/>
                </a:solidFill>
                <a:latin typeface="a고딕14" panose="02020600000000000000" pitchFamily="18" charset="-127"/>
                <a:ea typeface="a고딕14" panose="02020600000000000000" pitchFamily="18" charset="-127"/>
              </a:rPr>
              <a:t>결과값</a:t>
            </a:r>
            <a:r>
              <a:rPr lang="en-US" altLang="ko-KR" sz="1000" dirty="0">
                <a:solidFill>
                  <a:sysClr val="windowText" lastClr="000000"/>
                </a:solidFill>
                <a:latin typeface="a고딕14" panose="02020600000000000000" pitchFamily="18" charset="-127"/>
                <a:ea typeface="a고딕14" panose="02020600000000000000" pitchFamily="18" charset="-127"/>
              </a:rPr>
              <a:t>: </a:t>
            </a:r>
            <a:r>
              <a:rPr lang="ko-KR" altLang="en-US" sz="1000" dirty="0">
                <a:solidFill>
                  <a:sysClr val="windowText" lastClr="000000"/>
                </a:solidFill>
                <a:latin typeface="a고딕14" panose="02020600000000000000" pitchFamily="18" charset="-127"/>
                <a:ea typeface="a고딕14" panose="02020600000000000000" pitchFamily="18" charset="-127"/>
              </a:rPr>
              <a:t>이러닝 </a:t>
            </a:r>
            <a:r>
              <a:rPr lang="en-US" altLang="ko-KR" sz="1000" dirty="0">
                <a:solidFill>
                  <a:sysClr val="windowText" lastClr="000000"/>
                </a:solidFill>
                <a:latin typeface="a고딕14" panose="02020600000000000000" pitchFamily="18" charset="-127"/>
                <a:ea typeface="a고딕14" panose="02020600000000000000" pitchFamily="18" charset="-127"/>
              </a:rPr>
              <a:t>1~4</a:t>
            </a:r>
            <a:r>
              <a:rPr lang="ko-KR" altLang="en-US" sz="1000" dirty="0">
                <a:solidFill>
                  <a:sysClr val="windowText" lastClr="000000"/>
                </a:solidFill>
                <a:latin typeface="a고딕14" panose="02020600000000000000" pitchFamily="18" charset="-127"/>
                <a:ea typeface="a고딕14" panose="02020600000000000000" pitchFamily="18" charset="-127"/>
              </a:rPr>
              <a:t>군</a:t>
            </a:r>
            <a:r>
              <a:rPr lang="en-US" altLang="ko-KR" sz="1000" dirty="0">
                <a:solidFill>
                  <a:sysClr val="windowText" lastClr="000000"/>
                </a:solidFill>
                <a:latin typeface="a고딕14" panose="02020600000000000000" pitchFamily="18" charset="-127"/>
                <a:ea typeface="a고딕14" panose="02020600000000000000" pitchFamily="18" charset="-127"/>
              </a:rPr>
              <a:t>/</a:t>
            </a:r>
            <a:r>
              <a:rPr lang="ko-KR" altLang="en-US" sz="1000" dirty="0">
                <a:solidFill>
                  <a:sysClr val="windowText" lastClr="000000"/>
                </a:solidFill>
                <a:latin typeface="a고딕14" panose="02020600000000000000" pitchFamily="18" charset="-127"/>
                <a:ea typeface="a고딕14" panose="02020600000000000000" pitchFamily="18" charset="-127"/>
              </a:rPr>
              <a:t>가상훈련 </a:t>
            </a:r>
            <a:r>
              <a:rPr lang="en-US" altLang="ko-KR" sz="1000" dirty="0">
                <a:solidFill>
                  <a:sysClr val="windowText" lastClr="000000"/>
                </a:solidFill>
                <a:latin typeface="a고딕14" panose="02020600000000000000" pitchFamily="18" charset="-127"/>
                <a:ea typeface="a고딕14" panose="02020600000000000000" pitchFamily="18" charset="-127"/>
              </a:rPr>
              <a:t>1~4</a:t>
            </a:r>
            <a:r>
              <a:rPr lang="ko-KR" altLang="en-US" sz="1000" dirty="0">
                <a:solidFill>
                  <a:sysClr val="windowText" lastClr="000000"/>
                </a:solidFill>
                <a:latin typeface="a고딕14" panose="02020600000000000000" pitchFamily="18" charset="-127"/>
                <a:ea typeface="a고딕14" panose="02020600000000000000" pitchFamily="18" charset="-127"/>
              </a:rPr>
              <a:t>군</a:t>
            </a:r>
            <a:r>
              <a:rPr lang="en-US" altLang="ko-KR" sz="1000" dirty="0">
                <a:solidFill>
                  <a:sysClr val="windowText" lastClr="000000"/>
                </a:solidFill>
                <a:latin typeface="a고딕14" panose="02020600000000000000" pitchFamily="18" charset="-127"/>
                <a:ea typeface="a고딕14" panose="02020600000000000000" pitchFamily="18" charset="-127"/>
              </a:rPr>
              <a:t>)</a:t>
            </a:r>
          </a:p>
        </p:txBody>
      </p:sp>
      <p:sp>
        <p:nvSpPr>
          <p:cNvPr id="68" name="오각형 125">
            <a:extLst>
              <a:ext uri="{FF2B5EF4-FFF2-40B4-BE49-F238E27FC236}">
                <a16:creationId xmlns:a16="http://schemas.microsoft.com/office/drawing/2014/main" id="{EFEBA2CD-BA6F-2D03-D6B3-00CF69639244}"/>
              </a:ext>
            </a:extLst>
          </p:cNvPr>
          <p:cNvSpPr/>
          <p:nvPr/>
        </p:nvSpPr>
        <p:spPr>
          <a:xfrm>
            <a:off x="6461991" y="2116081"/>
            <a:ext cx="2879997" cy="355541"/>
          </a:xfrm>
          <a:prstGeom prst="homePlate">
            <a:avLst>
              <a:gd name="adj" fmla="val 22885"/>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a고딕14" panose="02020600000000000000" pitchFamily="18" charset="-127"/>
                <a:ea typeface="a고딕14" panose="02020600000000000000" pitchFamily="18" charset="-127"/>
              </a:rPr>
              <a:t>③ 적합성 평가 결과 군집분석</a:t>
            </a:r>
          </a:p>
        </p:txBody>
      </p:sp>
      <p:cxnSp>
        <p:nvCxnSpPr>
          <p:cNvPr id="70" name="연결선: 꺾임 69">
            <a:extLst>
              <a:ext uri="{FF2B5EF4-FFF2-40B4-BE49-F238E27FC236}">
                <a16:creationId xmlns:a16="http://schemas.microsoft.com/office/drawing/2014/main" id="{30682F42-3458-403D-37E8-E382DEB9CD9F}"/>
              </a:ext>
            </a:extLst>
          </p:cNvPr>
          <p:cNvCxnSpPr>
            <a:cxnSpLocks/>
            <a:stCxn id="74" idx="3"/>
            <a:endCxn id="61" idx="1"/>
          </p:cNvCxnSpPr>
          <p:nvPr/>
        </p:nvCxnSpPr>
        <p:spPr>
          <a:xfrm flipV="1">
            <a:off x="5760255" y="2757598"/>
            <a:ext cx="701736" cy="164126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7E823116-936C-ABCC-DD7B-9816EEE98A03}"/>
              </a:ext>
            </a:extLst>
          </p:cNvPr>
          <p:cNvSpPr/>
          <p:nvPr/>
        </p:nvSpPr>
        <p:spPr>
          <a:xfrm>
            <a:off x="5519713" y="4221088"/>
            <a:ext cx="240542" cy="35553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4089586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534A-41B6-8CAD-3BAD-0F22F77BFCD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7A41AE4-F41F-FD3C-34FE-23A205AB9841}"/>
              </a:ext>
            </a:extLst>
          </p:cNvPr>
          <p:cNvSpPr>
            <a:spLocks noGrp="1"/>
          </p:cNvSpPr>
          <p:nvPr>
            <p:ph type="body" sz="quarter" idx="12"/>
          </p:nvPr>
        </p:nvSpPr>
        <p:spPr/>
        <p:txBody>
          <a:bodyPr/>
          <a:lstStyle/>
          <a:p>
            <a:pPr latinLnBrk="0"/>
            <a:r>
              <a:rPr lang="ko-KR" altLang="en-US" sz="1800" dirty="0">
                <a:latin typeface="+mj-ea"/>
                <a:ea typeface="+mj-ea"/>
              </a:rPr>
              <a:t>수요조사 문항 수를 보완하기 위해 능력단위 수요평가 결과 상위 </a:t>
            </a:r>
            <a:r>
              <a:rPr lang="en-US" altLang="ko-KR" sz="1800" dirty="0">
                <a:latin typeface="+mj-ea"/>
                <a:ea typeface="+mj-ea"/>
              </a:rPr>
              <a:t>25%</a:t>
            </a:r>
            <a:r>
              <a:rPr lang="ko-KR" altLang="en-US" sz="1800" dirty="0">
                <a:latin typeface="+mj-ea"/>
                <a:ea typeface="+mj-ea"/>
              </a:rPr>
              <a:t>까지 확대하고</a:t>
            </a:r>
            <a:r>
              <a:rPr lang="en-US" altLang="ko-KR" sz="1800" dirty="0">
                <a:latin typeface="+mj-ea"/>
                <a:ea typeface="+mj-ea"/>
              </a:rPr>
              <a:t>, </a:t>
            </a:r>
            <a:r>
              <a:rPr lang="ko-KR" altLang="en-US" sz="1800" dirty="0">
                <a:latin typeface="+mj-ea"/>
                <a:ea typeface="+mj-ea"/>
              </a:rPr>
              <a:t>응답자의 이해도를 높이기 위해 과정명과 설명을 추가하였음</a:t>
            </a:r>
          </a:p>
        </p:txBody>
      </p:sp>
      <p:sp>
        <p:nvSpPr>
          <p:cNvPr id="5" name="텍스트 개체 틀 4">
            <a:extLst>
              <a:ext uri="{FF2B5EF4-FFF2-40B4-BE49-F238E27FC236}">
                <a16:creationId xmlns:a16="http://schemas.microsoft.com/office/drawing/2014/main" id="{959AF04F-9D69-3CAC-B38C-81428354C8B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A35660B7-95A9-F5C9-89D4-8A6A6424CD83}"/>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ko-KR" altLang="en-US" sz="1200" dirty="0">
                <a:solidFill>
                  <a:schemeClr val="bg1"/>
                </a:solidFill>
              </a:rPr>
              <a:t>능력단위 수요 평가 </a:t>
            </a:r>
            <a:r>
              <a:rPr lang="en-US" altLang="ko-KR" sz="1200" dirty="0">
                <a:solidFill>
                  <a:schemeClr val="bg1"/>
                </a:solidFill>
              </a:rPr>
              <a:t>+</a:t>
            </a:r>
            <a:r>
              <a:rPr lang="ko-KR" altLang="en-US" sz="1200" dirty="0">
                <a:solidFill>
                  <a:schemeClr val="bg1"/>
                </a:solidFill>
              </a:rPr>
              <a:t> 적합성 평가 종합</a:t>
            </a:r>
          </a:p>
        </p:txBody>
      </p:sp>
      <p:sp>
        <p:nvSpPr>
          <p:cNvPr id="10" name="직사각형 9">
            <a:extLst>
              <a:ext uri="{FF2B5EF4-FFF2-40B4-BE49-F238E27FC236}">
                <a16:creationId xmlns:a16="http://schemas.microsoft.com/office/drawing/2014/main" id="{4DBEFA5F-D2F9-13CE-C607-18A4D916184F}"/>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2. </a:t>
            </a:r>
            <a:r>
              <a:rPr lang="ko-KR" altLang="en-US" sz="1100" dirty="0">
                <a:solidFill>
                  <a:srgbClr val="003F56"/>
                </a:solidFill>
                <a:latin typeface="a고딕14"/>
                <a:ea typeface="a고딕14"/>
              </a:rPr>
              <a:t>신규 과정개발을 위한 능력단위 평가</a:t>
            </a:r>
          </a:p>
        </p:txBody>
      </p:sp>
      <p:grpSp>
        <p:nvGrpSpPr>
          <p:cNvPr id="7" name="그룹 6">
            <a:extLst>
              <a:ext uri="{FF2B5EF4-FFF2-40B4-BE49-F238E27FC236}">
                <a16:creationId xmlns:a16="http://schemas.microsoft.com/office/drawing/2014/main" id="{557BEAFF-0687-8BC4-E836-61A7E6B77410}"/>
              </a:ext>
            </a:extLst>
          </p:cNvPr>
          <p:cNvGrpSpPr/>
          <p:nvPr/>
        </p:nvGrpSpPr>
        <p:grpSpPr>
          <a:xfrm>
            <a:off x="596515" y="1681027"/>
            <a:ext cx="8749097" cy="266602"/>
            <a:chOff x="802640" y="2236632"/>
            <a:chExt cx="4130805" cy="266552"/>
          </a:xfrm>
        </p:grpSpPr>
        <p:sp>
          <p:nvSpPr>
            <p:cNvPr id="8" name="ListLeanHorizontalTextTopic0">
              <a:extLst>
                <a:ext uri="{FF2B5EF4-FFF2-40B4-BE49-F238E27FC236}">
                  <a16:creationId xmlns:a16="http://schemas.microsoft.com/office/drawing/2014/main" id="{021FEA05-DD23-7007-F0E0-EF84EF39811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수요조사 대상 과정 선정</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절차</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540485DA-B8F3-932B-3562-2D7B19776A2D}"/>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직사각형 10">
            <a:extLst>
              <a:ext uri="{FF2B5EF4-FFF2-40B4-BE49-F238E27FC236}">
                <a16:creationId xmlns:a16="http://schemas.microsoft.com/office/drawing/2014/main" id="{15A698C4-12A2-9764-9D82-C10EBEBDB378}"/>
              </a:ext>
            </a:extLst>
          </p:cNvPr>
          <p:cNvSpPr/>
          <p:nvPr/>
        </p:nvSpPr>
        <p:spPr>
          <a:xfrm>
            <a:off x="323734" y="2060848"/>
            <a:ext cx="971550" cy="417832"/>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mj-ea"/>
                <a:ea typeface="+mj-ea"/>
              </a:rPr>
              <a:t>범위</a:t>
            </a:r>
          </a:p>
        </p:txBody>
      </p:sp>
      <p:sp>
        <p:nvSpPr>
          <p:cNvPr id="12" name="직사각형 11">
            <a:extLst>
              <a:ext uri="{FF2B5EF4-FFF2-40B4-BE49-F238E27FC236}">
                <a16:creationId xmlns:a16="http://schemas.microsoft.com/office/drawing/2014/main" id="{1B4CEBED-CBD0-BF2C-5C99-33643E44B177}"/>
              </a:ext>
            </a:extLst>
          </p:cNvPr>
          <p:cNvSpPr/>
          <p:nvPr/>
        </p:nvSpPr>
        <p:spPr>
          <a:xfrm>
            <a:off x="1388605" y="2060848"/>
            <a:ext cx="7957008" cy="417832"/>
          </a:xfrm>
          <a:prstGeom prst="rect">
            <a:avLst/>
          </a:prstGeom>
          <a:solidFill>
            <a:srgbClr val="E6E6E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수요평가 결과 </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중복성 검토 결과 </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콘텐츠 개발 적합성 평가 결과를 모두 반영한 </a:t>
            </a:r>
            <a:r>
              <a:rPr lang="ko-KR" altLang="en-US" dirty="0">
                <a:solidFill>
                  <a:srgbClr val="0070C0"/>
                </a:solidFill>
                <a:latin typeface="a고딕14" panose="02020600000000000000" pitchFamily="18" charset="-127"/>
                <a:ea typeface="a고딕14" panose="02020600000000000000" pitchFamily="18" charset="-127"/>
              </a:rPr>
              <a:t>최종 능력단위 </a:t>
            </a:r>
            <a:r>
              <a:rPr lang="en-US" altLang="ko-KR" dirty="0">
                <a:solidFill>
                  <a:srgbClr val="0070C0"/>
                </a:solidFill>
                <a:latin typeface="a고딕14" panose="02020600000000000000" pitchFamily="18" charset="-127"/>
                <a:ea typeface="a고딕14" panose="02020600000000000000" pitchFamily="18" charset="-127"/>
              </a:rPr>
              <a:t>2,559</a:t>
            </a:r>
            <a:r>
              <a:rPr lang="ko-KR" altLang="en-US" dirty="0">
                <a:solidFill>
                  <a:srgbClr val="0070C0"/>
                </a:solidFill>
                <a:latin typeface="a고딕14" panose="02020600000000000000" pitchFamily="18" charset="-127"/>
                <a:ea typeface="a고딕14" panose="02020600000000000000" pitchFamily="18" charset="-127"/>
              </a:rPr>
              <a:t>개</a:t>
            </a:r>
            <a:endParaRPr lang="en-US" altLang="ko-KR" dirty="0">
              <a:solidFill>
                <a:srgbClr val="0070C0"/>
              </a:solidFill>
              <a:latin typeface="a고딕14" panose="02020600000000000000" pitchFamily="18" charset="-127"/>
              <a:ea typeface="a고딕14" panose="02020600000000000000" pitchFamily="18" charset="-127"/>
            </a:endParaRPr>
          </a:p>
          <a:p>
            <a:pPr latinLnBrk="0">
              <a:buNone/>
            </a:pP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디지털 첨단 </a:t>
            </a:r>
            <a:r>
              <a:rPr lang="en-US" altLang="ko-KR" dirty="0">
                <a:solidFill>
                  <a:schemeClr val="tx1"/>
                </a:solidFill>
                <a:latin typeface="a고딕14" panose="02020600000000000000" pitchFamily="18" charset="-127"/>
                <a:ea typeface="a고딕14" panose="02020600000000000000" pitchFamily="18" charset="-127"/>
              </a:rPr>
              <a:t>844</a:t>
            </a:r>
            <a:r>
              <a:rPr lang="ko-KR" altLang="en-US" dirty="0">
                <a:solidFill>
                  <a:schemeClr val="tx1"/>
                </a:solidFill>
                <a:latin typeface="a고딕14" panose="02020600000000000000" pitchFamily="18" charset="-127"/>
                <a:ea typeface="a고딕14" panose="02020600000000000000" pitchFamily="18" charset="-127"/>
              </a:rPr>
              <a:t>개 </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평생 </a:t>
            </a:r>
            <a:r>
              <a:rPr lang="en-US" altLang="ko-KR" dirty="0">
                <a:solidFill>
                  <a:schemeClr val="tx1"/>
                </a:solidFill>
                <a:latin typeface="a고딕14" panose="02020600000000000000" pitchFamily="18" charset="-127"/>
                <a:ea typeface="a고딕14" panose="02020600000000000000" pitchFamily="18" charset="-127"/>
              </a:rPr>
              <a:t>1,715</a:t>
            </a:r>
            <a:r>
              <a:rPr lang="ko-KR" altLang="en-US" dirty="0">
                <a:solidFill>
                  <a:schemeClr val="tx1"/>
                </a:solidFill>
                <a:latin typeface="a고딕14" panose="02020600000000000000" pitchFamily="18" charset="-127"/>
                <a:ea typeface="a고딕14" panose="02020600000000000000" pitchFamily="18" charset="-127"/>
              </a:rPr>
              <a:t>개</a:t>
            </a:r>
          </a:p>
        </p:txBody>
      </p:sp>
      <p:sp>
        <p:nvSpPr>
          <p:cNvPr id="13" name="직사각형 12">
            <a:extLst>
              <a:ext uri="{FF2B5EF4-FFF2-40B4-BE49-F238E27FC236}">
                <a16:creationId xmlns:a16="http://schemas.microsoft.com/office/drawing/2014/main" id="{C345A242-050D-958B-1E0C-313E304111FC}"/>
              </a:ext>
            </a:extLst>
          </p:cNvPr>
          <p:cNvSpPr/>
          <p:nvPr/>
        </p:nvSpPr>
        <p:spPr>
          <a:xfrm>
            <a:off x="395013" y="2611065"/>
            <a:ext cx="5105977" cy="317160"/>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mj-ea"/>
                <a:ea typeface="+mj-ea"/>
              </a:rPr>
              <a:t>능력단위 수요 평가 결과 반영</a:t>
            </a:r>
          </a:p>
        </p:txBody>
      </p:sp>
      <p:sp>
        <p:nvSpPr>
          <p:cNvPr id="14" name="직사각형 13">
            <a:extLst>
              <a:ext uri="{FF2B5EF4-FFF2-40B4-BE49-F238E27FC236}">
                <a16:creationId xmlns:a16="http://schemas.microsoft.com/office/drawing/2014/main" id="{6BBB2073-2859-3F33-F9C7-B9FE630240F0}"/>
              </a:ext>
            </a:extLst>
          </p:cNvPr>
          <p:cNvSpPr/>
          <p:nvPr/>
        </p:nvSpPr>
        <p:spPr>
          <a:xfrm>
            <a:off x="1221723" y="3006730"/>
            <a:ext cx="2049465" cy="317160"/>
          </a:xfrm>
          <a:prstGeom prst="rect">
            <a:avLst/>
          </a:prstGeom>
          <a:solidFill>
            <a:srgbClr val="3061A3"/>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mj-ea"/>
                <a:ea typeface="+mj-ea"/>
              </a:rPr>
              <a:t>상위 </a:t>
            </a:r>
            <a:r>
              <a:rPr lang="en-US" altLang="ko-KR" dirty="0">
                <a:solidFill>
                  <a:schemeClr val="bg1"/>
                </a:solidFill>
                <a:latin typeface="+mj-ea"/>
                <a:ea typeface="+mj-ea"/>
              </a:rPr>
              <a:t>20%(</a:t>
            </a:r>
            <a:r>
              <a:rPr lang="ko-KR" altLang="en-US" dirty="0">
                <a:solidFill>
                  <a:schemeClr val="bg1"/>
                </a:solidFill>
                <a:latin typeface="+mj-ea"/>
                <a:ea typeface="+mj-ea"/>
              </a:rPr>
              <a:t>총 </a:t>
            </a:r>
            <a:r>
              <a:rPr lang="en-US" altLang="ko-KR" dirty="0">
                <a:solidFill>
                  <a:schemeClr val="bg1"/>
                </a:solidFill>
                <a:latin typeface="+mj-ea"/>
                <a:ea typeface="+mj-ea"/>
              </a:rPr>
              <a:t>351</a:t>
            </a:r>
            <a:r>
              <a:rPr lang="ko-KR" altLang="en-US" dirty="0">
                <a:solidFill>
                  <a:schemeClr val="bg1"/>
                </a:solidFill>
                <a:latin typeface="+mj-ea"/>
                <a:ea typeface="+mj-ea"/>
              </a:rPr>
              <a:t>개</a:t>
            </a:r>
            <a:r>
              <a:rPr lang="en-US" altLang="ko-KR" dirty="0">
                <a:solidFill>
                  <a:schemeClr val="bg1"/>
                </a:solidFill>
                <a:latin typeface="+mj-ea"/>
                <a:ea typeface="+mj-ea"/>
              </a:rPr>
              <a:t>)</a:t>
            </a:r>
            <a:endParaRPr lang="ko-KR" altLang="en-US" dirty="0">
              <a:solidFill>
                <a:schemeClr val="bg1"/>
              </a:solidFill>
              <a:latin typeface="+mj-ea"/>
              <a:ea typeface="+mj-ea"/>
            </a:endParaRPr>
          </a:p>
        </p:txBody>
      </p:sp>
      <p:sp>
        <p:nvSpPr>
          <p:cNvPr id="15" name="직사각형 14">
            <a:extLst>
              <a:ext uri="{FF2B5EF4-FFF2-40B4-BE49-F238E27FC236}">
                <a16:creationId xmlns:a16="http://schemas.microsoft.com/office/drawing/2014/main" id="{8B561D2A-85D1-102D-0764-63AE31CAED24}"/>
              </a:ext>
            </a:extLst>
          </p:cNvPr>
          <p:cNvSpPr/>
          <p:nvPr/>
        </p:nvSpPr>
        <p:spPr>
          <a:xfrm>
            <a:off x="3452590" y="3006730"/>
            <a:ext cx="2048400" cy="317160"/>
          </a:xfrm>
          <a:prstGeom prst="rect">
            <a:avLst/>
          </a:prstGeom>
          <a:solidFill>
            <a:srgbClr val="3061A3"/>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mj-ea"/>
                <a:ea typeface="+mj-ea"/>
              </a:rPr>
              <a:t>상위 </a:t>
            </a:r>
            <a:r>
              <a:rPr lang="en-US" altLang="ko-KR" dirty="0">
                <a:solidFill>
                  <a:schemeClr val="bg1"/>
                </a:solidFill>
                <a:latin typeface="+mj-ea"/>
                <a:ea typeface="+mj-ea"/>
              </a:rPr>
              <a:t>25%(</a:t>
            </a:r>
            <a:r>
              <a:rPr lang="ko-KR" altLang="en-US" dirty="0">
                <a:solidFill>
                  <a:schemeClr val="bg1"/>
                </a:solidFill>
                <a:latin typeface="+mj-ea"/>
                <a:ea typeface="+mj-ea"/>
              </a:rPr>
              <a:t>총 </a:t>
            </a:r>
            <a:r>
              <a:rPr lang="en-US" altLang="ko-KR" dirty="0">
                <a:solidFill>
                  <a:schemeClr val="bg1"/>
                </a:solidFill>
                <a:latin typeface="+mj-ea"/>
                <a:ea typeface="+mj-ea"/>
              </a:rPr>
              <a:t>742</a:t>
            </a:r>
            <a:r>
              <a:rPr lang="ko-KR" altLang="en-US" dirty="0">
                <a:solidFill>
                  <a:schemeClr val="bg1"/>
                </a:solidFill>
                <a:latin typeface="+mj-ea"/>
                <a:ea typeface="+mj-ea"/>
              </a:rPr>
              <a:t>개</a:t>
            </a:r>
            <a:r>
              <a:rPr lang="en-US" altLang="ko-KR" dirty="0">
                <a:solidFill>
                  <a:schemeClr val="bg1"/>
                </a:solidFill>
                <a:latin typeface="+mj-ea"/>
                <a:ea typeface="+mj-ea"/>
              </a:rPr>
              <a:t>)</a:t>
            </a:r>
            <a:endParaRPr lang="ko-KR" altLang="en-US" dirty="0">
              <a:solidFill>
                <a:schemeClr val="bg1"/>
              </a:solidFill>
              <a:latin typeface="+mj-ea"/>
              <a:ea typeface="+mj-ea"/>
            </a:endParaRPr>
          </a:p>
        </p:txBody>
      </p:sp>
      <p:sp>
        <p:nvSpPr>
          <p:cNvPr id="16" name="직사각형 15">
            <a:extLst>
              <a:ext uri="{FF2B5EF4-FFF2-40B4-BE49-F238E27FC236}">
                <a16:creationId xmlns:a16="http://schemas.microsoft.com/office/drawing/2014/main" id="{ACD119D9-30B0-A25C-CB4B-5A21AF1F80F6}"/>
              </a:ext>
            </a:extLst>
          </p:cNvPr>
          <p:cNvSpPr/>
          <p:nvPr/>
        </p:nvSpPr>
        <p:spPr>
          <a:xfrm>
            <a:off x="405991" y="3006730"/>
            <a:ext cx="634331" cy="317160"/>
          </a:xfrm>
          <a:prstGeom prst="rect">
            <a:avLst/>
          </a:prstGeom>
          <a:solidFill>
            <a:srgbClr val="3061A3"/>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mj-ea"/>
                <a:ea typeface="+mj-ea"/>
              </a:rPr>
              <a:t>구분</a:t>
            </a:r>
          </a:p>
        </p:txBody>
      </p:sp>
      <p:sp>
        <p:nvSpPr>
          <p:cNvPr id="17" name="직사각형 16">
            <a:extLst>
              <a:ext uri="{FF2B5EF4-FFF2-40B4-BE49-F238E27FC236}">
                <a16:creationId xmlns:a16="http://schemas.microsoft.com/office/drawing/2014/main" id="{7171B324-8F2D-A9BE-A8F2-4CA0B25B3AC0}"/>
              </a:ext>
            </a:extLst>
          </p:cNvPr>
          <p:cNvSpPr/>
          <p:nvPr/>
        </p:nvSpPr>
        <p:spPr>
          <a:xfrm>
            <a:off x="405991" y="3429000"/>
            <a:ext cx="634331" cy="1404156"/>
          </a:xfrm>
          <a:prstGeom prst="rect">
            <a:avLst/>
          </a:prstGeom>
          <a:solidFill>
            <a:srgbClr val="82B5DE"/>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tx1"/>
                </a:solidFill>
                <a:latin typeface="+mj-ea"/>
                <a:ea typeface="+mj-ea"/>
              </a:rPr>
              <a:t>디지털</a:t>
            </a:r>
            <a:endParaRPr lang="en-US" altLang="ko-KR" dirty="0">
              <a:solidFill>
                <a:schemeClr val="tx1"/>
              </a:solidFill>
              <a:latin typeface="+mj-ea"/>
              <a:ea typeface="+mj-ea"/>
            </a:endParaRPr>
          </a:p>
          <a:p>
            <a:pPr latinLnBrk="0">
              <a:buNone/>
            </a:pPr>
            <a:r>
              <a:rPr lang="ko-KR" altLang="en-US" dirty="0">
                <a:solidFill>
                  <a:schemeClr val="tx1"/>
                </a:solidFill>
                <a:latin typeface="+mj-ea"/>
                <a:ea typeface="+mj-ea"/>
              </a:rPr>
              <a:t>첨단</a:t>
            </a:r>
            <a:endParaRPr lang="en-US" altLang="ko-KR" dirty="0">
              <a:solidFill>
                <a:schemeClr val="tx1"/>
              </a:solidFill>
              <a:latin typeface="+mj-ea"/>
              <a:ea typeface="+mj-ea"/>
            </a:endParaRPr>
          </a:p>
          <a:p>
            <a:pPr latinLnBrk="0">
              <a:buNone/>
            </a:pPr>
            <a:r>
              <a:rPr lang="en-US" altLang="ko-KR" dirty="0">
                <a:solidFill>
                  <a:schemeClr val="tx1"/>
                </a:solidFill>
                <a:latin typeface="+mj-ea"/>
                <a:ea typeface="+mj-ea"/>
              </a:rPr>
              <a:t>(30%)</a:t>
            </a:r>
            <a:endParaRPr lang="ko-KR" altLang="en-US" dirty="0">
              <a:solidFill>
                <a:schemeClr val="tx1"/>
              </a:solidFill>
              <a:latin typeface="+mj-ea"/>
              <a:ea typeface="+mj-ea"/>
            </a:endParaRPr>
          </a:p>
        </p:txBody>
      </p:sp>
      <p:sp>
        <p:nvSpPr>
          <p:cNvPr id="18" name="직사각형 17">
            <a:extLst>
              <a:ext uri="{FF2B5EF4-FFF2-40B4-BE49-F238E27FC236}">
                <a16:creationId xmlns:a16="http://schemas.microsoft.com/office/drawing/2014/main" id="{A03027DA-4C18-9EDD-C596-D98292A4E724}"/>
              </a:ext>
            </a:extLst>
          </p:cNvPr>
          <p:cNvSpPr/>
          <p:nvPr/>
        </p:nvSpPr>
        <p:spPr>
          <a:xfrm>
            <a:off x="405991" y="4924425"/>
            <a:ext cx="634331" cy="1795046"/>
          </a:xfrm>
          <a:prstGeom prst="rect">
            <a:avLst/>
          </a:prstGeom>
          <a:solidFill>
            <a:srgbClr val="82B5DE"/>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tx1"/>
                </a:solidFill>
                <a:latin typeface="+mj-ea"/>
                <a:ea typeface="+mj-ea"/>
              </a:rPr>
              <a:t>평생</a:t>
            </a:r>
            <a:endParaRPr lang="en-US" altLang="ko-KR" dirty="0">
              <a:solidFill>
                <a:schemeClr val="tx1"/>
              </a:solidFill>
              <a:latin typeface="+mj-ea"/>
              <a:ea typeface="+mj-ea"/>
            </a:endParaRPr>
          </a:p>
          <a:p>
            <a:pPr latinLnBrk="0">
              <a:buNone/>
            </a:pPr>
            <a:r>
              <a:rPr lang="en-US" altLang="ko-KR" dirty="0">
                <a:solidFill>
                  <a:schemeClr val="tx1"/>
                </a:solidFill>
                <a:latin typeface="+mj-ea"/>
                <a:ea typeface="+mj-ea"/>
              </a:rPr>
              <a:t>(70%)</a:t>
            </a:r>
            <a:endParaRPr lang="ko-KR" altLang="en-US" dirty="0">
              <a:solidFill>
                <a:schemeClr val="tx1"/>
              </a:solidFill>
              <a:latin typeface="+mj-ea"/>
              <a:ea typeface="+mj-ea"/>
            </a:endParaRPr>
          </a:p>
        </p:txBody>
      </p:sp>
      <p:sp>
        <p:nvSpPr>
          <p:cNvPr id="19" name="직사각형 18">
            <a:extLst>
              <a:ext uri="{FF2B5EF4-FFF2-40B4-BE49-F238E27FC236}">
                <a16:creationId xmlns:a16="http://schemas.microsoft.com/office/drawing/2014/main" id="{5E549212-810C-DB53-364C-1B3C464D4F45}"/>
              </a:ext>
            </a:extLst>
          </p:cNvPr>
          <p:cNvSpPr/>
          <p:nvPr/>
        </p:nvSpPr>
        <p:spPr>
          <a:xfrm>
            <a:off x="1227211" y="3429000"/>
            <a:ext cx="2043977" cy="140415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b="1" dirty="0">
                <a:solidFill>
                  <a:schemeClr val="tx1"/>
                </a:solidFill>
                <a:latin typeface="+mj-ea"/>
                <a:ea typeface="+mj-ea"/>
              </a:rPr>
              <a:t>총 </a:t>
            </a:r>
            <a:r>
              <a:rPr lang="en-US" altLang="ko-KR" b="1" dirty="0">
                <a:solidFill>
                  <a:schemeClr val="tx1"/>
                </a:solidFill>
                <a:latin typeface="+mj-ea"/>
                <a:ea typeface="+mj-ea"/>
              </a:rPr>
              <a:t>129</a:t>
            </a:r>
            <a:r>
              <a:rPr lang="ko-KR" altLang="en-US" b="1" dirty="0">
                <a:solidFill>
                  <a:schemeClr val="tx1"/>
                </a:solidFill>
                <a:latin typeface="+mj-ea"/>
                <a:ea typeface="+mj-ea"/>
              </a:rPr>
              <a:t>개 능력단위</a:t>
            </a:r>
            <a:endParaRPr lang="en-US" altLang="ko-KR" b="1"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15. </a:t>
            </a:r>
            <a:r>
              <a:rPr lang="ko-KR" altLang="en-US" dirty="0">
                <a:solidFill>
                  <a:schemeClr val="tx1"/>
                </a:solidFill>
                <a:latin typeface="+mj-ea"/>
                <a:ea typeface="+mj-ea"/>
              </a:rPr>
              <a:t>기계</a:t>
            </a:r>
            <a:r>
              <a:rPr lang="en-US" altLang="ko-KR" dirty="0">
                <a:solidFill>
                  <a:schemeClr val="tx1"/>
                </a:solidFill>
                <a:latin typeface="+mj-ea"/>
                <a:ea typeface="+mj-ea"/>
              </a:rPr>
              <a:t> 2</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16. </a:t>
            </a:r>
            <a:r>
              <a:rPr lang="ko-KR" altLang="en-US" dirty="0">
                <a:solidFill>
                  <a:schemeClr val="tx1"/>
                </a:solidFill>
                <a:latin typeface="+mj-ea"/>
                <a:ea typeface="+mj-ea"/>
              </a:rPr>
              <a:t>재료 </a:t>
            </a:r>
            <a:r>
              <a:rPr lang="en-US" altLang="ko-KR" dirty="0">
                <a:solidFill>
                  <a:schemeClr val="tx1"/>
                </a:solidFill>
                <a:latin typeface="+mj-ea"/>
                <a:ea typeface="+mj-ea"/>
              </a:rPr>
              <a:t>3</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17. </a:t>
            </a:r>
            <a:r>
              <a:rPr lang="ko-KR" altLang="en-US" dirty="0" err="1">
                <a:solidFill>
                  <a:schemeClr val="tx1"/>
                </a:solidFill>
                <a:latin typeface="+mj-ea"/>
                <a:ea typeface="+mj-ea"/>
              </a:rPr>
              <a:t>화학바이오</a:t>
            </a:r>
            <a:r>
              <a:rPr lang="ko-KR" altLang="en-US" dirty="0">
                <a:solidFill>
                  <a:schemeClr val="tx1"/>
                </a:solidFill>
                <a:latin typeface="+mj-ea"/>
                <a:ea typeface="+mj-ea"/>
              </a:rPr>
              <a:t> </a:t>
            </a:r>
            <a:r>
              <a:rPr lang="en-US" altLang="ko-KR" dirty="0">
                <a:solidFill>
                  <a:schemeClr val="tx1"/>
                </a:solidFill>
                <a:latin typeface="+mj-ea"/>
                <a:ea typeface="+mj-ea"/>
              </a:rPr>
              <a:t>6</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19. </a:t>
            </a:r>
            <a:r>
              <a:rPr lang="ko-KR" altLang="en-US" dirty="0">
                <a:solidFill>
                  <a:schemeClr val="tx1"/>
                </a:solidFill>
                <a:latin typeface="+mj-ea"/>
                <a:ea typeface="+mj-ea"/>
              </a:rPr>
              <a:t>전기전자 </a:t>
            </a:r>
            <a:r>
              <a:rPr lang="en-US" altLang="ko-KR" dirty="0">
                <a:solidFill>
                  <a:schemeClr val="tx1"/>
                </a:solidFill>
                <a:latin typeface="+mj-ea"/>
                <a:ea typeface="+mj-ea"/>
              </a:rPr>
              <a:t>23</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20. </a:t>
            </a:r>
            <a:r>
              <a:rPr lang="ko-KR" altLang="en-US" dirty="0">
                <a:solidFill>
                  <a:schemeClr val="tx1"/>
                </a:solidFill>
                <a:latin typeface="+mj-ea"/>
                <a:ea typeface="+mj-ea"/>
              </a:rPr>
              <a:t>정보통신 </a:t>
            </a:r>
            <a:r>
              <a:rPr lang="en-US" altLang="ko-KR" dirty="0">
                <a:solidFill>
                  <a:schemeClr val="tx1"/>
                </a:solidFill>
                <a:latin typeface="+mj-ea"/>
                <a:ea typeface="+mj-ea"/>
              </a:rPr>
              <a:t>51</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23. </a:t>
            </a:r>
            <a:r>
              <a:rPr lang="ko-KR" altLang="en-US" dirty="0">
                <a:solidFill>
                  <a:schemeClr val="tx1"/>
                </a:solidFill>
                <a:latin typeface="+mj-ea"/>
                <a:ea typeface="+mj-ea"/>
              </a:rPr>
              <a:t>환경에너지안전 </a:t>
            </a:r>
            <a:r>
              <a:rPr lang="en-US" altLang="ko-KR" dirty="0">
                <a:solidFill>
                  <a:schemeClr val="tx1"/>
                </a:solidFill>
                <a:latin typeface="+mj-ea"/>
                <a:ea typeface="+mj-ea"/>
              </a:rPr>
              <a:t>44</a:t>
            </a:r>
            <a:r>
              <a:rPr lang="ko-KR" altLang="en-US" dirty="0">
                <a:solidFill>
                  <a:schemeClr val="tx1"/>
                </a:solidFill>
                <a:latin typeface="+mj-ea"/>
                <a:ea typeface="+mj-ea"/>
              </a:rPr>
              <a:t>개</a:t>
            </a:r>
          </a:p>
        </p:txBody>
      </p:sp>
      <p:sp>
        <p:nvSpPr>
          <p:cNvPr id="20" name="직사각형 19">
            <a:extLst>
              <a:ext uri="{FF2B5EF4-FFF2-40B4-BE49-F238E27FC236}">
                <a16:creationId xmlns:a16="http://schemas.microsoft.com/office/drawing/2014/main" id="{75F8E1B8-0EDA-2755-4D7B-7A244081DB2F}"/>
              </a:ext>
            </a:extLst>
          </p:cNvPr>
          <p:cNvSpPr/>
          <p:nvPr/>
        </p:nvSpPr>
        <p:spPr>
          <a:xfrm>
            <a:off x="1227211" y="4924425"/>
            <a:ext cx="2043977" cy="179504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b="1" dirty="0">
                <a:solidFill>
                  <a:schemeClr val="tx1"/>
                </a:solidFill>
                <a:latin typeface="+mj-ea"/>
                <a:ea typeface="+mj-ea"/>
              </a:rPr>
              <a:t>총 </a:t>
            </a:r>
            <a:r>
              <a:rPr lang="en-US" altLang="ko-KR" b="1" dirty="0">
                <a:solidFill>
                  <a:schemeClr val="tx1"/>
                </a:solidFill>
                <a:latin typeface="+mj-ea"/>
                <a:ea typeface="+mj-ea"/>
              </a:rPr>
              <a:t>222</a:t>
            </a:r>
            <a:r>
              <a:rPr lang="ko-KR" altLang="en-US" b="1" dirty="0">
                <a:solidFill>
                  <a:schemeClr val="tx1"/>
                </a:solidFill>
                <a:latin typeface="+mj-ea"/>
                <a:ea typeface="+mj-ea"/>
              </a:rPr>
              <a:t>개 능력단위</a:t>
            </a:r>
            <a:endParaRPr lang="en-US" altLang="ko-KR" b="1"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08. </a:t>
            </a:r>
            <a:r>
              <a:rPr lang="ko-KR" altLang="en-US" dirty="0">
                <a:solidFill>
                  <a:schemeClr val="tx1"/>
                </a:solidFill>
                <a:latin typeface="+mj-ea"/>
                <a:ea typeface="+mj-ea"/>
              </a:rPr>
              <a:t>문화예술 </a:t>
            </a:r>
            <a:r>
              <a:rPr lang="en-US" altLang="ko-KR" dirty="0">
                <a:solidFill>
                  <a:schemeClr val="tx1"/>
                </a:solidFill>
                <a:latin typeface="+mj-ea"/>
                <a:ea typeface="+mj-ea"/>
              </a:rPr>
              <a:t>6</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14. </a:t>
            </a:r>
            <a:r>
              <a:rPr lang="ko-KR" altLang="en-US" dirty="0">
                <a:solidFill>
                  <a:schemeClr val="tx1"/>
                </a:solidFill>
                <a:latin typeface="+mj-ea"/>
                <a:ea typeface="+mj-ea"/>
              </a:rPr>
              <a:t>건설 </a:t>
            </a:r>
            <a:r>
              <a:rPr lang="en-US" altLang="ko-KR" dirty="0">
                <a:solidFill>
                  <a:schemeClr val="tx1"/>
                </a:solidFill>
                <a:latin typeface="+mj-ea"/>
                <a:ea typeface="+mj-ea"/>
              </a:rPr>
              <a:t>12</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15. </a:t>
            </a:r>
            <a:r>
              <a:rPr lang="ko-KR" altLang="en-US" dirty="0">
                <a:solidFill>
                  <a:schemeClr val="tx1"/>
                </a:solidFill>
                <a:latin typeface="+mj-ea"/>
                <a:ea typeface="+mj-ea"/>
              </a:rPr>
              <a:t>기계 </a:t>
            </a:r>
            <a:r>
              <a:rPr lang="en-US" altLang="ko-KR" dirty="0">
                <a:solidFill>
                  <a:schemeClr val="tx1"/>
                </a:solidFill>
                <a:latin typeface="+mj-ea"/>
                <a:ea typeface="+mj-ea"/>
              </a:rPr>
              <a:t>83</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16. </a:t>
            </a:r>
            <a:r>
              <a:rPr lang="ko-KR" altLang="en-US" dirty="0">
                <a:solidFill>
                  <a:schemeClr val="tx1"/>
                </a:solidFill>
                <a:latin typeface="+mj-ea"/>
                <a:ea typeface="+mj-ea"/>
              </a:rPr>
              <a:t>재료 </a:t>
            </a:r>
            <a:r>
              <a:rPr lang="en-US" altLang="ko-KR" dirty="0">
                <a:solidFill>
                  <a:schemeClr val="tx1"/>
                </a:solidFill>
                <a:latin typeface="+mj-ea"/>
                <a:ea typeface="+mj-ea"/>
              </a:rPr>
              <a:t>8</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17. </a:t>
            </a:r>
            <a:r>
              <a:rPr lang="ko-KR" altLang="en-US" dirty="0" err="1">
                <a:solidFill>
                  <a:schemeClr val="tx1"/>
                </a:solidFill>
                <a:latin typeface="+mj-ea"/>
                <a:ea typeface="+mj-ea"/>
              </a:rPr>
              <a:t>화학바이오</a:t>
            </a:r>
            <a:r>
              <a:rPr lang="ko-KR" altLang="en-US" dirty="0">
                <a:solidFill>
                  <a:schemeClr val="tx1"/>
                </a:solidFill>
                <a:latin typeface="+mj-ea"/>
                <a:ea typeface="+mj-ea"/>
              </a:rPr>
              <a:t> </a:t>
            </a:r>
            <a:r>
              <a:rPr lang="en-US" altLang="ko-KR" dirty="0">
                <a:solidFill>
                  <a:schemeClr val="tx1"/>
                </a:solidFill>
                <a:latin typeface="+mj-ea"/>
                <a:ea typeface="+mj-ea"/>
              </a:rPr>
              <a:t>23</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19. </a:t>
            </a:r>
            <a:r>
              <a:rPr lang="ko-KR" altLang="en-US" dirty="0">
                <a:solidFill>
                  <a:schemeClr val="tx1"/>
                </a:solidFill>
                <a:latin typeface="+mj-ea"/>
                <a:ea typeface="+mj-ea"/>
              </a:rPr>
              <a:t>전기전자 </a:t>
            </a:r>
            <a:r>
              <a:rPr lang="en-US" altLang="ko-KR" dirty="0">
                <a:solidFill>
                  <a:schemeClr val="tx1"/>
                </a:solidFill>
                <a:latin typeface="+mj-ea"/>
                <a:ea typeface="+mj-ea"/>
              </a:rPr>
              <a:t>37</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20. </a:t>
            </a:r>
            <a:r>
              <a:rPr lang="ko-KR" altLang="en-US" dirty="0">
                <a:solidFill>
                  <a:schemeClr val="tx1"/>
                </a:solidFill>
                <a:latin typeface="+mj-ea"/>
                <a:ea typeface="+mj-ea"/>
              </a:rPr>
              <a:t>정보통신 </a:t>
            </a:r>
            <a:r>
              <a:rPr lang="en-US" altLang="ko-KR" dirty="0">
                <a:solidFill>
                  <a:schemeClr val="tx1"/>
                </a:solidFill>
                <a:latin typeface="+mj-ea"/>
                <a:ea typeface="+mj-ea"/>
              </a:rPr>
              <a:t>50</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23. </a:t>
            </a:r>
            <a:r>
              <a:rPr lang="ko-KR" altLang="en-US" dirty="0">
                <a:solidFill>
                  <a:schemeClr val="tx1"/>
                </a:solidFill>
                <a:latin typeface="+mj-ea"/>
                <a:ea typeface="+mj-ea"/>
              </a:rPr>
              <a:t>환경에너지안전 </a:t>
            </a:r>
            <a:r>
              <a:rPr lang="en-US" altLang="ko-KR" dirty="0">
                <a:solidFill>
                  <a:schemeClr val="tx1"/>
                </a:solidFill>
                <a:latin typeface="+mj-ea"/>
                <a:ea typeface="+mj-ea"/>
              </a:rPr>
              <a:t>3</a:t>
            </a:r>
            <a:r>
              <a:rPr lang="ko-KR" altLang="en-US" dirty="0">
                <a:solidFill>
                  <a:schemeClr val="tx1"/>
                </a:solidFill>
                <a:latin typeface="+mj-ea"/>
                <a:ea typeface="+mj-ea"/>
              </a:rPr>
              <a:t>개</a:t>
            </a:r>
          </a:p>
        </p:txBody>
      </p:sp>
      <p:sp>
        <p:nvSpPr>
          <p:cNvPr id="21" name="직사각형 20">
            <a:extLst>
              <a:ext uri="{FF2B5EF4-FFF2-40B4-BE49-F238E27FC236}">
                <a16:creationId xmlns:a16="http://schemas.microsoft.com/office/drawing/2014/main" id="{22C1F429-5B72-3824-7CAC-A9F6F8AAA8C5}"/>
              </a:ext>
            </a:extLst>
          </p:cNvPr>
          <p:cNvSpPr/>
          <p:nvPr/>
        </p:nvSpPr>
        <p:spPr>
          <a:xfrm>
            <a:off x="3457013" y="3429000"/>
            <a:ext cx="2043977" cy="140415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b="1" dirty="0">
                <a:solidFill>
                  <a:schemeClr val="tx1"/>
                </a:solidFill>
                <a:latin typeface="+mj-ea"/>
                <a:ea typeface="+mj-ea"/>
              </a:rPr>
              <a:t>총 </a:t>
            </a:r>
            <a:r>
              <a:rPr lang="en-US" altLang="ko-KR" b="1" dirty="0">
                <a:solidFill>
                  <a:schemeClr val="tx1"/>
                </a:solidFill>
                <a:latin typeface="+mj-ea"/>
                <a:ea typeface="+mj-ea"/>
              </a:rPr>
              <a:t>230</a:t>
            </a:r>
            <a:r>
              <a:rPr lang="ko-KR" altLang="en-US" b="1" dirty="0">
                <a:solidFill>
                  <a:schemeClr val="tx1"/>
                </a:solidFill>
                <a:latin typeface="+mj-ea"/>
                <a:ea typeface="+mj-ea"/>
              </a:rPr>
              <a:t>개 능력단위</a:t>
            </a:r>
            <a:endParaRPr lang="en-US" altLang="ko-KR" b="1"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15. </a:t>
            </a:r>
            <a:r>
              <a:rPr lang="ko-KR" altLang="en-US" dirty="0">
                <a:solidFill>
                  <a:schemeClr val="tx1"/>
                </a:solidFill>
                <a:latin typeface="+mj-ea"/>
                <a:ea typeface="+mj-ea"/>
              </a:rPr>
              <a:t>기계 </a:t>
            </a:r>
            <a:r>
              <a:rPr lang="en-US" altLang="ko-KR" dirty="0">
                <a:solidFill>
                  <a:schemeClr val="tx1"/>
                </a:solidFill>
                <a:latin typeface="+mj-ea"/>
                <a:ea typeface="+mj-ea"/>
              </a:rPr>
              <a:t>5</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16. </a:t>
            </a:r>
            <a:r>
              <a:rPr lang="ko-KR" altLang="en-US" dirty="0">
                <a:solidFill>
                  <a:schemeClr val="tx1"/>
                </a:solidFill>
                <a:latin typeface="+mj-ea"/>
                <a:ea typeface="+mj-ea"/>
              </a:rPr>
              <a:t>재료 </a:t>
            </a:r>
            <a:r>
              <a:rPr lang="en-US" altLang="ko-KR" dirty="0">
                <a:solidFill>
                  <a:schemeClr val="tx1"/>
                </a:solidFill>
                <a:latin typeface="+mj-ea"/>
                <a:ea typeface="+mj-ea"/>
              </a:rPr>
              <a:t>5</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17. </a:t>
            </a:r>
            <a:r>
              <a:rPr lang="ko-KR" altLang="en-US" dirty="0" err="1">
                <a:solidFill>
                  <a:schemeClr val="tx1"/>
                </a:solidFill>
                <a:latin typeface="+mj-ea"/>
                <a:ea typeface="+mj-ea"/>
              </a:rPr>
              <a:t>화학바이오</a:t>
            </a:r>
            <a:r>
              <a:rPr lang="ko-KR" altLang="en-US" dirty="0">
                <a:solidFill>
                  <a:schemeClr val="tx1"/>
                </a:solidFill>
                <a:latin typeface="+mj-ea"/>
                <a:ea typeface="+mj-ea"/>
              </a:rPr>
              <a:t> </a:t>
            </a:r>
            <a:r>
              <a:rPr lang="en-US" altLang="ko-KR" dirty="0">
                <a:solidFill>
                  <a:schemeClr val="tx1"/>
                </a:solidFill>
                <a:latin typeface="+mj-ea"/>
                <a:ea typeface="+mj-ea"/>
              </a:rPr>
              <a:t>14</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19. </a:t>
            </a:r>
            <a:r>
              <a:rPr lang="ko-KR" altLang="en-US" dirty="0">
                <a:solidFill>
                  <a:schemeClr val="tx1"/>
                </a:solidFill>
                <a:latin typeface="+mj-ea"/>
                <a:ea typeface="+mj-ea"/>
              </a:rPr>
              <a:t>전기전자 </a:t>
            </a:r>
            <a:r>
              <a:rPr lang="en-US" altLang="ko-KR" dirty="0">
                <a:solidFill>
                  <a:schemeClr val="tx1"/>
                </a:solidFill>
                <a:latin typeface="+mj-ea"/>
                <a:ea typeface="+mj-ea"/>
              </a:rPr>
              <a:t>41</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20. </a:t>
            </a:r>
            <a:r>
              <a:rPr lang="ko-KR" altLang="en-US" dirty="0">
                <a:solidFill>
                  <a:schemeClr val="tx1"/>
                </a:solidFill>
                <a:latin typeface="+mj-ea"/>
                <a:ea typeface="+mj-ea"/>
              </a:rPr>
              <a:t>정보통신 </a:t>
            </a:r>
            <a:r>
              <a:rPr lang="en-US" altLang="ko-KR" dirty="0">
                <a:solidFill>
                  <a:schemeClr val="tx1"/>
                </a:solidFill>
                <a:latin typeface="+mj-ea"/>
                <a:ea typeface="+mj-ea"/>
              </a:rPr>
              <a:t>59</a:t>
            </a:r>
            <a:r>
              <a:rPr lang="ko-KR" altLang="en-US" dirty="0">
                <a:solidFill>
                  <a:schemeClr val="tx1"/>
                </a:solidFill>
                <a:latin typeface="+mj-ea"/>
                <a:ea typeface="+mj-ea"/>
              </a:rPr>
              <a:t>개</a:t>
            </a:r>
            <a:endParaRPr lang="en-US" altLang="ko-KR"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ea typeface="+mj-ea"/>
              </a:rPr>
              <a:t>23. </a:t>
            </a:r>
            <a:r>
              <a:rPr lang="ko-KR" altLang="en-US" dirty="0">
                <a:solidFill>
                  <a:schemeClr val="tx1"/>
                </a:solidFill>
                <a:latin typeface="+mj-ea"/>
                <a:ea typeface="+mj-ea"/>
              </a:rPr>
              <a:t>환경에너지안전 </a:t>
            </a:r>
            <a:r>
              <a:rPr lang="en-US" altLang="ko-KR" dirty="0">
                <a:solidFill>
                  <a:schemeClr val="tx1"/>
                </a:solidFill>
                <a:latin typeface="+mj-ea"/>
                <a:ea typeface="+mj-ea"/>
              </a:rPr>
              <a:t>106</a:t>
            </a:r>
            <a:r>
              <a:rPr lang="ko-KR" altLang="en-US" dirty="0">
                <a:solidFill>
                  <a:schemeClr val="tx1"/>
                </a:solidFill>
                <a:latin typeface="+mj-ea"/>
                <a:ea typeface="+mj-ea"/>
              </a:rPr>
              <a:t>개</a:t>
            </a:r>
          </a:p>
        </p:txBody>
      </p:sp>
      <p:sp>
        <p:nvSpPr>
          <p:cNvPr id="22" name="직사각형 21">
            <a:extLst>
              <a:ext uri="{FF2B5EF4-FFF2-40B4-BE49-F238E27FC236}">
                <a16:creationId xmlns:a16="http://schemas.microsoft.com/office/drawing/2014/main" id="{42763122-0F3C-25B8-B0DC-41BCE133F8DA}"/>
              </a:ext>
            </a:extLst>
          </p:cNvPr>
          <p:cNvSpPr/>
          <p:nvPr/>
        </p:nvSpPr>
        <p:spPr>
          <a:xfrm>
            <a:off x="3457013" y="4924425"/>
            <a:ext cx="2043977" cy="1795046"/>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b="1" dirty="0">
                <a:solidFill>
                  <a:schemeClr val="tx1"/>
                </a:solidFill>
                <a:latin typeface="+mj-ea"/>
                <a:ea typeface="+mj-ea"/>
              </a:rPr>
              <a:t>총 </a:t>
            </a:r>
            <a:r>
              <a:rPr lang="en-US" altLang="ko-KR" b="1" dirty="0">
                <a:solidFill>
                  <a:schemeClr val="tx1"/>
                </a:solidFill>
                <a:latin typeface="+mj-ea"/>
                <a:ea typeface="+mj-ea"/>
              </a:rPr>
              <a:t>512</a:t>
            </a:r>
            <a:r>
              <a:rPr lang="ko-KR" altLang="en-US" b="1" dirty="0">
                <a:solidFill>
                  <a:schemeClr val="tx1"/>
                </a:solidFill>
                <a:latin typeface="+mj-ea"/>
                <a:ea typeface="+mj-ea"/>
              </a:rPr>
              <a:t>개 능력단위</a:t>
            </a:r>
            <a:endParaRPr lang="en-US" altLang="ko-KR" b="1" dirty="0">
              <a:solidFill>
                <a:schemeClr val="tx1"/>
              </a:solidFill>
              <a:latin typeface="+mj-ea"/>
              <a:ea typeface="+mj-ea"/>
            </a:endParaRPr>
          </a:p>
          <a:p>
            <a:pPr marL="171450" indent="-171450" algn="l" latinLnBrk="0">
              <a:buFont typeface="Arial" panose="020B0604020202020204" pitchFamily="34" charset="0"/>
              <a:buChar char="•"/>
            </a:pPr>
            <a:r>
              <a:rPr lang="en-US" altLang="ko-KR" dirty="0">
                <a:solidFill>
                  <a:schemeClr val="tx1"/>
                </a:solidFill>
                <a:latin typeface="+mj-ea"/>
              </a:rPr>
              <a:t>08. </a:t>
            </a:r>
            <a:r>
              <a:rPr lang="ko-KR" altLang="en-US" dirty="0">
                <a:solidFill>
                  <a:schemeClr val="tx1"/>
                </a:solidFill>
                <a:latin typeface="+mj-ea"/>
              </a:rPr>
              <a:t>문화예술 </a:t>
            </a:r>
            <a:r>
              <a:rPr lang="en-US" altLang="ko-KR" dirty="0">
                <a:solidFill>
                  <a:schemeClr val="tx1"/>
                </a:solidFill>
                <a:latin typeface="+mj-ea"/>
              </a:rPr>
              <a:t>30</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14. </a:t>
            </a:r>
            <a:r>
              <a:rPr lang="ko-KR" altLang="en-US" dirty="0">
                <a:solidFill>
                  <a:schemeClr val="tx1"/>
                </a:solidFill>
                <a:latin typeface="+mj-ea"/>
              </a:rPr>
              <a:t>건설 </a:t>
            </a:r>
            <a:r>
              <a:rPr lang="en-US" altLang="ko-KR" dirty="0">
                <a:solidFill>
                  <a:schemeClr val="tx1"/>
                </a:solidFill>
                <a:latin typeface="+mj-ea"/>
              </a:rPr>
              <a:t>21</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15. </a:t>
            </a:r>
            <a:r>
              <a:rPr lang="ko-KR" altLang="en-US" dirty="0">
                <a:solidFill>
                  <a:schemeClr val="tx1"/>
                </a:solidFill>
                <a:latin typeface="+mj-ea"/>
              </a:rPr>
              <a:t>기계 </a:t>
            </a:r>
            <a:r>
              <a:rPr lang="en-US" altLang="ko-KR" dirty="0">
                <a:solidFill>
                  <a:schemeClr val="tx1"/>
                </a:solidFill>
                <a:latin typeface="+mj-ea"/>
              </a:rPr>
              <a:t>186</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16. </a:t>
            </a:r>
            <a:r>
              <a:rPr lang="ko-KR" altLang="en-US" dirty="0">
                <a:solidFill>
                  <a:schemeClr val="tx1"/>
                </a:solidFill>
                <a:latin typeface="+mj-ea"/>
              </a:rPr>
              <a:t>재료 </a:t>
            </a:r>
            <a:r>
              <a:rPr lang="en-US" altLang="ko-KR" dirty="0">
                <a:solidFill>
                  <a:schemeClr val="tx1"/>
                </a:solidFill>
                <a:latin typeface="+mj-ea"/>
              </a:rPr>
              <a:t>25</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17. </a:t>
            </a:r>
            <a:r>
              <a:rPr lang="ko-KR" altLang="en-US" dirty="0" err="1">
                <a:solidFill>
                  <a:schemeClr val="tx1"/>
                </a:solidFill>
                <a:latin typeface="+mj-ea"/>
              </a:rPr>
              <a:t>화학바이오</a:t>
            </a:r>
            <a:r>
              <a:rPr lang="ko-KR" altLang="en-US" dirty="0">
                <a:solidFill>
                  <a:schemeClr val="tx1"/>
                </a:solidFill>
                <a:latin typeface="+mj-ea"/>
              </a:rPr>
              <a:t> </a:t>
            </a:r>
            <a:r>
              <a:rPr lang="en-US" altLang="ko-KR" dirty="0">
                <a:solidFill>
                  <a:schemeClr val="tx1"/>
                </a:solidFill>
                <a:latin typeface="+mj-ea"/>
              </a:rPr>
              <a:t>119</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19. </a:t>
            </a:r>
            <a:r>
              <a:rPr lang="ko-KR" altLang="en-US" dirty="0">
                <a:solidFill>
                  <a:schemeClr val="tx1"/>
                </a:solidFill>
                <a:latin typeface="+mj-ea"/>
              </a:rPr>
              <a:t>전기전자 </a:t>
            </a:r>
            <a:r>
              <a:rPr lang="en-US" altLang="ko-KR" dirty="0">
                <a:solidFill>
                  <a:schemeClr val="tx1"/>
                </a:solidFill>
                <a:latin typeface="+mj-ea"/>
              </a:rPr>
              <a:t>65</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20. </a:t>
            </a:r>
            <a:r>
              <a:rPr lang="ko-KR" altLang="en-US" dirty="0">
                <a:solidFill>
                  <a:schemeClr val="tx1"/>
                </a:solidFill>
                <a:latin typeface="+mj-ea"/>
              </a:rPr>
              <a:t>정보통신 </a:t>
            </a:r>
            <a:r>
              <a:rPr lang="en-US" altLang="ko-KR" dirty="0">
                <a:solidFill>
                  <a:schemeClr val="tx1"/>
                </a:solidFill>
                <a:latin typeface="+mj-ea"/>
              </a:rPr>
              <a:t>62</a:t>
            </a:r>
            <a:r>
              <a:rPr lang="ko-KR" altLang="en-US" dirty="0">
                <a:solidFill>
                  <a:schemeClr val="tx1"/>
                </a:solidFill>
                <a:latin typeface="+mj-ea"/>
              </a:rPr>
              <a:t>개</a:t>
            </a:r>
            <a:endParaRPr lang="en-US" altLang="ko-KR" dirty="0">
              <a:solidFill>
                <a:schemeClr val="tx1"/>
              </a:solidFill>
              <a:latin typeface="+mj-ea"/>
            </a:endParaRPr>
          </a:p>
          <a:p>
            <a:pPr marL="171450" indent="-171450" algn="l" latinLnBrk="0">
              <a:buFont typeface="Arial" panose="020B0604020202020204" pitchFamily="34" charset="0"/>
              <a:buChar char="•"/>
            </a:pPr>
            <a:r>
              <a:rPr lang="en-US" altLang="ko-KR" dirty="0">
                <a:solidFill>
                  <a:schemeClr val="tx1"/>
                </a:solidFill>
                <a:latin typeface="+mj-ea"/>
              </a:rPr>
              <a:t>23. </a:t>
            </a:r>
            <a:r>
              <a:rPr lang="ko-KR" altLang="en-US" dirty="0">
                <a:solidFill>
                  <a:schemeClr val="tx1"/>
                </a:solidFill>
                <a:latin typeface="+mj-ea"/>
              </a:rPr>
              <a:t>환경에너지안전 </a:t>
            </a:r>
            <a:r>
              <a:rPr lang="en-US" altLang="ko-KR" dirty="0">
                <a:solidFill>
                  <a:schemeClr val="tx1"/>
                </a:solidFill>
                <a:latin typeface="+mj-ea"/>
              </a:rPr>
              <a:t>4</a:t>
            </a:r>
            <a:r>
              <a:rPr lang="ko-KR" altLang="en-US" dirty="0">
                <a:solidFill>
                  <a:schemeClr val="tx1"/>
                </a:solidFill>
                <a:latin typeface="+mj-ea"/>
              </a:rPr>
              <a:t>개</a:t>
            </a:r>
            <a:endParaRPr lang="ko-KR" altLang="en-US" dirty="0">
              <a:solidFill>
                <a:schemeClr val="tx1"/>
              </a:solidFill>
              <a:latin typeface="+mj-ea"/>
              <a:ea typeface="+mj-ea"/>
            </a:endParaRPr>
          </a:p>
        </p:txBody>
      </p:sp>
      <p:pic>
        <p:nvPicPr>
          <p:cNvPr id="24" name="그림 23">
            <a:extLst>
              <a:ext uri="{FF2B5EF4-FFF2-40B4-BE49-F238E27FC236}">
                <a16:creationId xmlns:a16="http://schemas.microsoft.com/office/drawing/2014/main" id="{57D59F6C-448D-E939-48DB-98870E975E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4720" y="2689564"/>
            <a:ext cx="634331" cy="634331"/>
          </a:xfrm>
          <a:prstGeom prst="rect">
            <a:avLst/>
          </a:prstGeom>
        </p:spPr>
      </p:pic>
      <p:sp>
        <p:nvSpPr>
          <p:cNvPr id="25" name="직사각형 24">
            <a:extLst>
              <a:ext uri="{FF2B5EF4-FFF2-40B4-BE49-F238E27FC236}">
                <a16:creationId xmlns:a16="http://schemas.microsoft.com/office/drawing/2014/main" id="{5B2FA702-E835-3981-1E71-6633EF2827EE}"/>
              </a:ext>
            </a:extLst>
          </p:cNvPr>
          <p:cNvSpPr/>
          <p:nvPr/>
        </p:nvSpPr>
        <p:spPr>
          <a:xfrm>
            <a:off x="323734" y="2547938"/>
            <a:ext cx="5365317" cy="4233862"/>
          </a:xfrm>
          <a:prstGeom prst="rect">
            <a:avLst/>
          </a:prstGeom>
          <a:noFill/>
          <a:ln w="3175" cap="flat" cmpd="sng" algn="ctr">
            <a:solidFill>
              <a:sysClr val="window" lastClr="FFFFFF">
                <a:lumMod val="85000"/>
              </a:sysClr>
            </a:solidFill>
            <a:prstDash val="solid"/>
            <a:miter lim="800000"/>
          </a:ln>
          <a:effectLst/>
        </p:spPr>
        <p:txBody>
          <a:bodyPr lIns="288000" tIns="108000" bIns="108000" rtlCol="0" anchor="ctr"/>
          <a:lstStyle/>
          <a:p>
            <a:pPr marL="0" marR="0" lvl="0" indent="0" algn="l" defTabSz="914400" eaLnBrk="1" fontAlgn="auto" latinLnBrk="0" hangingPunct="1">
              <a:lnSpc>
                <a:spcPct val="100000"/>
              </a:lnSpc>
              <a:spcBef>
                <a:spcPts val="600"/>
              </a:spcBef>
              <a:spcAft>
                <a:spcPts val="0"/>
              </a:spcAft>
              <a:buClrTx/>
              <a:buSzTx/>
              <a:buFontTx/>
              <a:buNone/>
              <a:tabLst/>
              <a:defRPr/>
            </a:pPr>
            <a:endParaRPr kumimoji="0" lang="ko-KR" altLang="en-US" sz="11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 name="사다리꼴 12">
            <a:extLst>
              <a:ext uri="{FF2B5EF4-FFF2-40B4-BE49-F238E27FC236}">
                <a16:creationId xmlns:a16="http://schemas.microsoft.com/office/drawing/2014/main" id="{A305321E-D600-2931-AAE7-D6DCFC4ECEA4}"/>
              </a:ext>
            </a:extLst>
          </p:cNvPr>
          <p:cNvSpPr/>
          <p:nvPr/>
        </p:nvSpPr>
        <p:spPr>
          <a:xfrm rot="5400000" flipH="1">
            <a:off x="3827653" y="4412841"/>
            <a:ext cx="4233862" cy="504056"/>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53000">
                <a:sysClr val="window" lastClr="FFFFFF">
                  <a:lumMod val="85000"/>
                </a:sysClr>
              </a:gs>
              <a:gs pos="100000">
                <a:sysClr val="window" lastClr="FFFFFF">
                  <a:lumMod val="65000"/>
                  <a:alpha val="87000"/>
                </a:sysClr>
              </a:gs>
            </a:gsLst>
            <a:lin ang="5400000" scaled="1"/>
          </a:gradFill>
          <a:ln w="25400" cap="flat" cmpd="sng" algn="ctr">
            <a:noFill/>
            <a:prstDash val="solid"/>
          </a:ln>
          <a:effectLst/>
        </p:spPr>
        <p:txBody>
          <a:bodyPr rtlCol="0" anchor="t"/>
          <a:lstStyle/>
          <a:p>
            <a:pPr marL="90488" marR="0" lvl="0" indent="-90488"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graphicFrame>
        <p:nvGraphicFramePr>
          <p:cNvPr id="30" name="표 29">
            <a:extLst>
              <a:ext uri="{FF2B5EF4-FFF2-40B4-BE49-F238E27FC236}">
                <a16:creationId xmlns:a16="http://schemas.microsoft.com/office/drawing/2014/main" id="{D2FE9B39-47F7-7059-7D68-D897B1617787}"/>
              </a:ext>
            </a:extLst>
          </p:cNvPr>
          <p:cNvGraphicFramePr>
            <a:graphicFrameLocks noGrp="1"/>
          </p:cNvGraphicFramePr>
          <p:nvPr>
            <p:extLst>
              <p:ext uri="{D42A27DB-BD31-4B8C-83A1-F6EECF244321}">
                <p14:modId xmlns:p14="http://schemas.microsoft.com/office/powerpoint/2010/main" val="601081681"/>
              </p:ext>
            </p:extLst>
          </p:nvPr>
        </p:nvGraphicFramePr>
        <p:xfrm>
          <a:off x="6225519" y="2689564"/>
          <a:ext cx="3120093" cy="3800136"/>
        </p:xfrm>
        <a:graphic>
          <a:graphicData uri="http://schemas.openxmlformats.org/drawingml/2006/table">
            <a:tbl>
              <a:tblPr/>
              <a:tblGrid>
                <a:gridCol w="675863">
                  <a:extLst>
                    <a:ext uri="{9D8B030D-6E8A-4147-A177-3AD203B41FA5}">
                      <a16:colId xmlns:a16="http://schemas.microsoft.com/office/drawing/2014/main" val="2089954487"/>
                    </a:ext>
                  </a:extLst>
                </a:gridCol>
                <a:gridCol w="694201">
                  <a:extLst>
                    <a:ext uri="{9D8B030D-6E8A-4147-A177-3AD203B41FA5}">
                      <a16:colId xmlns:a16="http://schemas.microsoft.com/office/drawing/2014/main" val="3876598963"/>
                    </a:ext>
                  </a:extLst>
                </a:gridCol>
                <a:gridCol w="1750029">
                  <a:extLst>
                    <a:ext uri="{9D8B030D-6E8A-4147-A177-3AD203B41FA5}">
                      <a16:colId xmlns:a16="http://schemas.microsoft.com/office/drawing/2014/main" val="746243093"/>
                    </a:ext>
                  </a:extLst>
                </a:gridCol>
              </a:tblGrid>
              <a:tr h="354918">
                <a:tc>
                  <a:txBody>
                    <a:bodyPr/>
                    <a:lstStyle/>
                    <a:p>
                      <a:pPr algn="ctr" fontAlgn="ctr" latinLnBrk="0">
                        <a:buNone/>
                      </a:pPr>
                      <a:r>
                        <a:rPr lang="ko-KR" altLang="en-US" sz="1200" b="0" i="0" u="none" strike="noStrike" dirty="0">
                          <a:solidFill>
                            <a:schemeClr val="bg1"/>
                          </a:solidFill>
                          <a:effectLst/>
                          <a:latin typeface="+mj-ea"/>
                          <a:ea typeface="+mj-ea"/>
                        </a:rPr>
                        <a:t>능력단위</a:t>
                      </a:r>
                      <a:endParaRPr lang="en-US" altLang="ko-KR" sz="1200" b="0" i="0" u="none" strike="noStrike" dirty="0">
                        <a:solidFill>
                          <a:schemeClr val="bg1"/>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200" b="0" i="0" u="none" strike="noStrike" dirty="0" err="1">
                          <a:solidFill>
                            <a:schemeClr val="bg1"/>
                          </a:solidFill>
                          <a:effectLst/>
                          <a:latin typeface="+mj-ea"/>
                          <a:ea typeface="+mj-ea"/>
                        </a:rPr>
                        <a:t>과정명</a:t>
                      </a:r>
                      <a:endParaRPr lang="ko-KR" altLang="en-US" sz="1200" b="0" i="0" u="none" strike="noStrike" dirty="0">
                        <a:solidFill>
                          <a:schemeClr val="bg1"/>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200" b="0" i="0" u="none" strike="noStrike" dirty="0">
                          <a:solidFill>
                            <a:schemeClr val="bg1"/>
                          </a:solidFill>
                          <a:effectLst/>
                          <a:latin typeface="+mj-ea"/>
                          <a:ea typeface="+mj-ea"/>
                        </a:rPr>
                        <a:t>과정설명</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1795218422"/>
                  </a:ext>
                </a:extLst>
              </a:tr>
              <a:tr h="741555">
                <a:tc>
                  <a:txBody>
                    <a:bodyPr/>
                    <a:lstStyle/>
                    <a:p>
                      <a:pPr algn="ctr" fontAlgn="ctr" latinLnBrk="0">
                        <a:buNone/>
                      </a:pPr>
                      <a:r>
                        <a:rPr lang="ko-KR" altLang="en-US" sz="1000" b="0" i="0" u="none" strike="noStrike" dirty="0">
                          <a:solidFill>
                            <a:srgbClr val="000000"/>
                          </a:solidFill>
                          <a:effectLst/>
                          <a:latin typeface="+mj-ea"/>
                          <a:ea typeface="+mj-ea"/>
                        </a:rPr>
                        <a:t>유해 화학물질 분석</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dirty="0">
                          <a:solidFill>
                            <a:srgbClr val="000000"/>
                          </a:solidFill>
                          <a:effectLst/>
                          <a:latin typeface="+mj-ea"/>
                          <a:ea typeface="+mj-ea"/>
                        </a:rPr>
                        <a:t>유해 화학물질 분석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85725" algn="l" fontAlgn="ctr" latinLnBrk="0">
                        <a:buFont typeface="Arial" panose="020B0604020202020204" pitchFamily="34" charset="0"/>
                        <a:buChar char="•"/>
                      </a:pPr>
                      <a:r>
                        <a:rPr lang="ko-KR" altLang="en-US" sz="1000" b="0" i="0" u="none" strike="noStrike" dirty="0">
                          <a:solidFill>
                            <a:srgbClr val="000000"/>
                          </a:solidFill>
                          <a:effectLst/>
                          <a:latin typeface="+mj-ea"/>
                          <a:ea typeface="+mj-ea"/>
                        </a:rPr>
                        <a:t>유해 화학물질의 종류와 특성을 확인하고 분석하며</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결과 데이터를 검토하고 활용하는 방법을 학습한다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453702"/>
                  </a:ext>
                </a:extLst>
              </a:tr>
              <a:tr h="1045501">
                <a:tc>
                  <a:txBody>
                    <a:bodyPr/>
                    <a:lstStyle/>
                    <a:p>
                      <a:pPr algn="ctr" fontAlgn="ctr">
                        <a:buNone/>
                      </a:pPr>
                      <a:r>
                        <a:rPr lang="ko-KR" altLang="en-US" sz="1000" b="0" i="0" u="none" strike="noStrike" dirty="0">
                          <a:solidFill>
                            <a:srgbClr val="000000"/>
                          </a:solidFill>
                          <a:effectLst/>
                          <a:latin typeface="+mj-ea"/>
                          <a:ea typeface="+mj-ea"/>
                        </a:rPr>
                        <a:t>미들웨어 </a:t>
                      </a:r>
                      <a:endParaRPr lang="en-US" altLang="ko-KR" sz="1000" b="0" i="0" u="none" strike="noStrike" dirty="0">
                        <a:solidFill>
                          <a:srgbClr val="000000"/>
                        </a:solidFill>
                        <a:effectLst/>
                        <a:latin typeface="+mj-ea"/>
                        <a:ea typeface="+mj-ea"/>
                      </a:endParaRPr>
                    </a:p>
                    <a:p>
                      <a:pPr algn="ctr" fontAlgn="ctr">
                        <a:buNone/>
                      </a:pPr>
                      <a:r>
                        <a:rPr lang="ko-KR" altLang="en-US" sz="1000" b="0" i="0" u="none" strike="noStrike" dirty="0">
                          <a:solidFill>
                            <a:srgbClr val="000000"/>
                          </a:solidFill>
                          <a:effectLst/>
                          <a:latin typeface="+mj-ea"/>
                          <a:ea typeface="+mj-ea"/>
                        </a:rPr>
                        <a:t>개발</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mj-ea"/>
                          <a:ea typeface="+mj-ea"/>
                        </a:rPr>
                        <a:t>산업용</a:t>
                      </a:r>
                      <a:endParaRPr lang="en-US" altLang="ko-KR" sz="1000" b="0" i="0" u="none" strike="noStrike" dirty="0">
                        <a:solidFill>
                          <a:srgbClr val="000000"/>
                        </a:solidFill>
                        <a:effectLst/>
                        <a:latin typeface="+mj-ea"/>
                        <a:ea typeface="+mj-ea"/>
                      </a:endParaRPr>
                    </a:p>
                    <a:p>
                      <a:pPr algn="ctr" fontAlgn="ctr">
                        <a:buNone/>
                      </a:pPr>
                      <a:r>
                        <a:rPr lang="ko-KR" altLang="en-US" sz="1000" b="0" i="0" u="none" strike="noStrike" dirty="0">
                          <a:solidFill>
                            <a:srgbClr val="000000"/>
                          </a:solidFill>
                          <a:effectLst/>
                          <a:latin typeface="+mj-ea"/>
                          <a:ea typeface="+mj-ea"/>
                        </a:rPr>
                        <a:t>전자기기 </a:t>
                      </a:r>
                      <a:endParaRPr lang="en-US" altLang="ko-KR" sz="1000" b="0" i="0" u="none" strike="noStrike" dirty="0">
                        <a:solidFill>
                          <a:srgbClr val="000000"/>
                        </a:solidFill>
                        <a:effectLst/>
                        <a:latin typeface="+mj-ea"/>
                        <a:ea typeface="+mj-ea"/>
                      </a:endParaRPr>
                    </a:p>
                    <a:p>
                      <a:pPr algn="ctr" fontAlgn="ctr">
                        <a:buNone/>
                      </a:pPr>
                      <a:r>
                        <a:rPr lang="ko-KR" altLang="en-US" sz="1000" b="0" i="0" u="none" strike="noStrike" dirty="0">
                          <a:solidFill>
                            <a:srgbClr val="000000"/>
                          </a:solidFill>
                          <a:effectLst/>
                          <a:latin typeface="+mj-ea"/>
                          <a:ea typeface="+mj-ea"/>
                        </a:rPr>
                        <a:t>미들웨어 </a:t>
                      </a:r>
                      <a:endParaRPr lang="en-US" altLang="ko-KR" sz="1000" b="0" i="0" u="none" strike="noStrike" dirty="0">
                        <a:solidFill>
                          <a:srgbClr val="000000"/>
                        </a:solidFill>
                        <a:effectLst/>
                        <a:latin typeface="+mj-ea"/>
                        <a:ea typeface="+mj-ea"/>
                      </a:endParaRPr>
                    </a:p>
                    <a:p>
                      <a:pPr algn="ctr" fontAlgn="ctr">
                        <a:buNone/>
                      </a:pPr>
                      <a:r>
                        <a:rPr lang="ko-KR" altLang="en-US" sz="1000" b="0" i="0" u="none" strike="noStrike" dirty="0">
                          <a:solidFill>
                            <a:srgbClr val="000000"/>
                          </a:solidFill>
                          <a:effectLst/>
                          <a:latin typeface="+mj-ea"/>
                          <a:ea typeface="+mj-ea"/>
                        </a:rPr>
                        <a:t>개발 교육</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85725" algn="l" fontAlgn="ctr">
                        <a:buFont typeface="Arial" panose="020B0604020202020204" pitchFamily="34" charset="0"/>
                        <a:buChar char="•"/>
                      </a:pPr>
                      <a:r>
                        <a:rPr lang="ko-KR" altLang="en-US" sz="1000" b="0" i="0" u="none" strike="noStrike" dirty="0">
                          <a:solidFill>
                            <a:srgbClr val="000000"/>
                          </a:solidFill>
                          <a:effectLst/>
                          <a:latin typeface="+mj-ea"/>
                          <a:ea typeface="+mj-ea"/>
                        </a:rPr>
                        <a:t>시스템 및 응용 프로그램 간의 연동을 위해 미들웨어를 설계</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구현</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검증하는 기술을 학습한다</a:t>
                      </a:r>
                      <a:r>
                        <a:rPr lang="en-US" altLang="ko-KR" sz="1000" b="0" i="0" u="none" strike="noStrike" dirty="0">
                          <a:solidFill>
                            <a:srgbClr val="000000"/>
                          </a:solidFill>
                          <a:effectLst/>
                          <a:latin typeface="+mj-ea"/>
                          <a:ea typeface="+mj-ea"/>
                        </a:rPr>
                        <a:t>.</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2554163"/>
                  </a:ext>
                </a:extLst>
              </a:tr>
              <a:tr h="741555">
                <a:tc>
                  <a:txBody>
                    <a:bodyPr/>
                    <a:lstStyle/>
                    <a:p>
                      <a:pPr algn="ctr" fontAlgn="ctr" latinLnBrk="0">
                        <a:buNone/>
                      </a:pPr>
                      <a:r>
                        <a:rPr lang="ko-KR" altLang="en-US" sz="1000" b="0" i="0" u="none" strike="noStrike" dirty="0">
                          <a:solidFill>
                            <a:srgbClr val="000000"/>
                          </a:solidFill>
                          <a:effectLst/>
                          <a:latin typeface="+mj-ea"/>
                          <a:ea typeface="+mj-ea"/>
                        </a:rPr>
                        <a:t>안전설계</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dirty="0">
                          <a:solidFill>
                            <a:srgbClr val="000000"/>
                          </a:solidFill>
                          <a:effectLst/>
                          <a:latin typeface="+mj-ea"/>
                          <a:ea typeface="+mj-ea"/>
                        </a:rPr>
                        <a:t>석유화학 설비 안전설계 실무</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85725" algn="l" fontAlgn="ctr" latinLnBrk="0">
                        <a:buFont typeface="Arial" panose="020B0604020202020204" pitchFamily="34" charset="0"/>
                        <a:buChar char="•"/>
                      </a:pPr>
                      <a:r>
                        <a:rPr lang="ko-KR" altLang="en-US" sz="1000" b="0" i="0" u="none" strike="noStrike" dirty="0">
                          <a:solidFill>
                            <a:srgbClr val="000000"/>
                          </a:solidFill>
                          <a:effectLst/>
                          <a:latin typeface="+mj-ea"/>
                          <a:ea typeface="+mj-ea"/>
                        </a:rPr>
                        <a:t>안전설계 과정에서 공정위험성 평가</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피해범위 예측</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위험관리 절차서 작성</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안전시설 검토 방법을 학습한다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4162524"/>
                  </a:ext>
                </a:extLst>
              </a:tr>
              <a:tr h="916607">
                <a:tc>
                  <a:txBody>
                    <a:bodyPr/>
                    <a:lstStyle/>
                    <a:p>
                      <a:pPr algn="ctr" fontAlgn="ctr" latinLnBrk="0">
                        <a:buNone/>
                      </a:pPr>
                      <a:r>
                        <a:rPr lang="ko-KR" altLang="en-US" sz="1000" b="0" i="0" u="none" strike="noStrike">
                          <a:solidFill>
                            <a:srgbClr val="000000"/>
                          </a:solidFill>
                          <a:effectLst/>
                          <a:latin typeface="+mj-ea"/>
                          <a:ea typeface="+mj-ea"/>
                        </a:rPr>
                        <a:t>엘리베이터 부품 교체</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ko-KR" altLang="en-US" sz="1000" b="0" i="0" u="none" strike="noStrike" dirty="0">
                          <a:solidFill>
                            <a:srgbClr val="000000"/>
                          </a:solidFill>
                          <a:effectLst/>
                          <a:latin typeface="+mj-ea"/>
                          <a:ea typeface="+mj-ea"/>
                        </a:rPr>
                        <a:t>엘리베이터 부품 교체 실무 과정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85725" algn="l" fontAlgn="ctr" latinLnBrk="0">
                        <a:buFont typeface="Arial" panose="020B0604020202020204" pitchFamily="34" charset="0"/>
                        <a:buChar char="•"/>
                      </a:pPr>
                      <a:r>
                        <a:rPr lang="ko-KR" altLang="en-US" sz="1000" b="0" i="0" u="none" strike="noStrike" dirty="0">
                          <a:solidFill>
                            <a:srgbClr val="000000"/>
                          </a:solidFill>
                          <a:effectLst/>
                          <a:latin typeface="+mj-ea"/>
                          <a:ea typeface="+mj-ea"/>
                        </a:rPr>
                        <a:t>엘리베이터 부품 진단</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자재 수급</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주요 부품 교체 기술을 학습하여 안전하고 효율적인 엘리베이터 유지보수 능력을 강화한다</a:t>
                      </a:r>
                      <a:r>
                        <a:rPr lang="en-US" altLang="ko-KR" sz="1000" b="0" i="0" u="none" strike="noStrike" dirty="0">
                          <a:solidFill>
                            <a:srgbClr val="000000"/>
                          </a:solidFill>
                          <a:effectLst/>
                          <a:latin typeface="+mj-ea"/>
                          <a:ea typeface="+mj-ea"/>
                        </a:rPr>
                        <a:t>.</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898158"/>
                  </a:ext>
                </a:extLst>
              </a:tr>
            </a:tbl>
          </a:graphicData>
        </a:graphic>
      </p:graphicFrame>
      <p:grpSp>
        <p:nvGrpSpPr>
          <p:cNvPr id="31" name="Group 484">
            <a:extLst>
              <a:ext uri="{FF2B5EF4-FFF2-40B4-BE49-F238E27FC236}">
                <a16:creationId xmlns:a16="http://schemas.microsoft.com/office/drawing/2014/main" id="{58DFF294-4D73-1241-C393-88BDB7686F99}"/>
              </a:ext>
            </a:extLst>
          </p:cNvPr>
          <p:cNvGrpSpPr>
            <a:grpSpLocks/>
          </p:cNvGrpSpPr>
          <p:nvPr/>
        </p:nvGrpSpPr>
        <p:grpSpPr bwMode="auto">
          <a:xfrm>
            <a:off x="6225520" y="5995310"/>
            <a:ext cx="3120093" cy="735670"/>
            <a:chOff x="352" y="2083"/>
            <a:chExt cx="5546" cy="344"/>
          </a:xfrm>
        </p:grpSpPr>
        <p:sp>
          <p:nvSpPr>
            <p:cNvPr id="32" name="Freeform 486">
              <a:extLst>
                <a:ext uri="{FF2B5EF4-FFF2-40B4-BE49-F238E27FC236}">
                  <a16:creationId xmlns:a16="http://schemas.microsoft.com/office/drawing/2014/main" id="{A5AAA040-874B-3DC0-199D-6985D3FAA832}"/>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33" name="Freeform 485">
              <a:extLst>
                <a:ext uri="{FF2B5EF4-FFF2-40B4-BE49-F238E27FC236}">
                  <a16:creationId xmlns:a16="http://schemas.microsoft.com/office/drawing/2014/main" id="{E55F5C4C-00C3-8321-E9DD-B35B5A23EF90}"/>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spTree>
    <p:extLst>
      <p:ext uri="{BB962C8B-B14F-4D97-AF65-F5344CB8AC3E}">
        <p14:creationId xmlns:p14="http://schemas.microsoft.com/office/powerpoint/2010/main" val="4124826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1CF9-B995-B003-0D81-BF93D572F15E}"/>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033C1B5D-6B02-B104-F464-EB6CB9A42A6C}"/>
              </a:ext>
            </a:extLst>
          </p:cNvPr>
          <p:cNvSpPr>
            <a:spLocks noGrp="1"/>
          </p:cNvSpPr>
          <p:nvPr>
            <p:ph type="body" sz="quarter" idx="12"/>
          </p:nvPr>
        </p:nvSpPr>
        <p:spPr/>
        <p:txBody>
          <a:bodyPr/>
          <a:lstStyle/>
          <a:p>
            <a:pPr latinLnBrk="0"/>
            <a:r>
              <a:rPr lang="ko-KR" altLang="en-US">
                <a:latin typeface="a고딕14" panose="02020600000000000000" pitchFamily="18" charset="-127"/>
              </a:rPr>
              <a:t>전문가들이 도출한 총 </a:t>
            </a:r>
            <a:r>
              <a:rPr lang="en-US" altLang="ko-KR">
                <a:latin typeface="a고딕14" panose="02020600000000000000" pitchFamily="18" charset="-127"/>
              </a:rPr>
              <a:t>742</a:t>
            </a:r>
            <a:r>
              <a:rPr lang="ko-KR" altLang="en-US">
                <a:latin typeface="a고딕14" panose="02020600000000000000" pitchFamily="18" charset="-127"/>
              </a:rPr>
              <a:t>개의 교육과정에 대해 조사대상과정과 유사한 분야의 </a:t>
            </a:r>
            <a:r>
              <a:rPr lang="en-US" altLang="ko-KR">
                <a:latin typeface="a고딕14" panose="02020600000000000000" pitchFamily="18" charset="-127"/>
              </a:rPr>
              <a:t>STEP </a:t>
            </a:r>
            <a:r>
              <a:rPr lang="ko-KR" altLang="en-US">
                <a:latin typeface="a고딕14" panose="02020600000000000000" pitchFamily="18" charset="-127"/>
              </a:rPr>
              <a:t>학습자를 분류하여 온라인 수요조사를 실시함</a:t>
            </a:r>
            <a:endParaRPr lang="ko-KR" altLang="en-US" dirty="0">
              <a:latin typeface="a고딕14" panose="02020600000000000000" pitchFamily="18" charset="-127"/>
            </a:endParaRPr>
          </a:p>
        </p:txBody>
      </p:sp>
      <p:sp>
        <p:nvSpPr>
          <p:cNvPr id="5" name="텍스트 개체 틀 4">
            <a:extLst>
              <a:ext uri="{FF2B5EF4-FFF2-40B4-BE49-F238E27FC236}">
                <a16:creationId xmlns:a16="http://schemas.microsoft.com/office/drawing/2014/main" id="{470C3CE6-F44E-50EE-4672-74978673042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DF901D85-8AB9-A95C-25AC-6018218A4C9B}"/>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ko-KR" altLang="en-US" sz="1200" dirty="0">
                <a:solidFill>
                  <a:schemeClr val="bg1"/>
                </a:solidFill>
              </a:rPr>
              <a:t>수요조사 문항 제작 및 실시</a:t>
            </a:r>
          </a:p>
        </p:txBody>
      </p:sp>
      <p:sp>
        <p:nvSpPr>
          <p:cNvPr id="10" name="직사각형 9">
            <a:extLst>
              <a:ext uri="{FF2B5EF4-FFF2-40B4-BE49-F238E27FC236}">
                <a16:creationId xmlns:a16="http://schemas.microsoft.com/office/drawing/2014/main" id="{55F91789-71EC-F6DF-3DF5-142BE3F9CDE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3. </a:t>
            </a:r>
            <a:r>
              <a:rPr lang="ko-KR" altLang="en-US" sz="1100" dirty="0">
                <a:solidFill>
                  <a:srgbClr val="003F56"/>
                </a:solidFill>
                <a:latin typeface="a고딕14"/>
                <a:ea typeface="a고딕14"/>
              </a:rPr>
              <a:t>수요조사</a:t>
            </a:r>
          </a:p>
        </p:txBody>
      </p:sp>
      <p:grpSp>
        <p:nvGrpSpPr>
          <p:cNvPr id="8" name="그룹 7">
            <a:extLst>
              <a:ext uri="{FF2B5EF4-FFF2-40B4-BE49-F238E27FC236}">
                <a16:creationId xmlns:a16="http://schemas.microsoft.com/office/drawing/2014/main" id="{34E48F52-C963-E8B0-D5C4-BF985E8D416F}"/>
              </a:ext>
            </a:extLst>
          </p:cNvPr>
          <p:cNvGrpSpPr/>
          <p:nvPr/>
        </p:nvGrpSpPr>
        <p:grpSpPr>
          <a:xfrm>
            <a:off x="596515" y="1681027"/>
            <a:ext cx="8749098" cy="266602"/>
            <a:chOff x="802640" y="2236632"/>
            <a:chExt cx="4130805" cy="266552"/>
          </a:xfrm>
        </p:grpSpPr>
        <p:sp>
          <p:nvSpPr>
            <p:cNvPr id="9" name="ListLeanHorizontalTextTopic0">
              <a:extLst>
                <a:ext uri="{FF2B5EF4-FFF2-40B4-BE49-F238E27FC236}">
                  <a16:creationId xmlns:a16="http://schemas.microsoft.com/office/drawing/2014/main" id="{059C2ADE-B619-81F0-3856-75E624A01D86}"/>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개요</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1" name="Horizontal Line">
              <a:extLst>
                <a:ext uri="{FF2B5EF4-FFF2-40B4-BE49-F238E27FC236}">
                  <a16:creationId xmlns:a16="http://schemas.microsoft.com/office/drawing/2014/main" id="{4D8787A5-1361-9931-8154-22B6D3B7C6B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12" name="그룹 11">
            <a:extLst>
              <a:ext uri="{FF2B5EF4-FFF2-40B4-BE49-F238E27FC236}">
                <a16:creationId xmlns:a16="http://schemas.microsoft.com/office/drawing/2014/main" id="{D62790BD-875E-7AB9-E8F1-B3820E47E6A1}"/>
              </a:ext>
            </a:extLst>
          </p:cNvPr>
          <p:cNvGrpSpPr/>
          <p:nvPr/>
        </p:nvGrpSpPr>
        <p:grpSpPr>
          <a:xfrm>
            <a:off x="599021" y="2056450"/>
            <a:ext cx="3597895" cy="613328"/>
            <a:chOff x="599021" y="2056450"/>
            <a:chExt cx="3993616" cy="433375"/>
          </a:xfrm>
        </p:grpSpPr>
        <p:sp>
          <p:nvSpPr>
            <p:cNvPr id="13" name="직사각형 12">
              <a:extLst>
                <a:ext uri="{FF2B5EF4-FFF2-40B4-BE49-F238E27FC236}">
                  <a16:creationId xmlns:a16="http://schemas.microsoft.com/office/drawing/2014/main" id="{5880465D-1172-2CFF-539C-59A84DA7CC17}"/>
                </a:ext>
              </a:extLst>
            </p:cNvPr>
            <p:cNvSpPr/>
            <p:nvPr/>
          </p:nvSpPr>
          <p:spPr>
            <a:xfrm>
              <a:off x="599021" y="2056450"/>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대상</a:t>
              </a:r>
            </a:p>
          </p:txBody>
        </p:sp>
        <p:sp>
          <p:nvSpPr>
            <p:cNvPr id="14" name="직사각형 13">
              <a:extLst>
                <a:ext uri="{FF2B5EF4-FFF2-40B4-BE49-F238E27FC236}">
                  <a16:creationId xmlns:a16="http://schemas.microsoft.com/office/drawing/2014/main" id="{56A2A6E4-9BD4-E4D2-0709-FF3FF534165B}"/>
                </a:ext>
              </a:extLst>
            </p:cNvPr>
            <p:cNvSpPr/>
            <p:nvPr/>
          </p:nvSpPr>
          <p:spPr bwMode="auto">
            <a:xfrm>
              <a:off x="1038044" y="2057825"/>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normalizeH="0" baseline="0" noProof="0">
                  <a:ln>
                    <a:solidFill>
                      <a:srgbClr val="4F81BD">
                        <a:alpha val="0"/>
                      </a:srgbClr>
                    </a:solidFill>
                  </a:ln>
                  <a:effectLst/>
                  <a:uLnTx/>
                  <a:uFillTx/>
                  <a:latin typeface="a고딕14" panose="02020600000000000000" pitchFamily="18" charset="-127"/>
                  <a:ea typeface="a고딕14" panose="02020600000000000000" pitchFamily="18" charset="-127"/>
                  <a:cs typeface="Arial" panose="020B0604020202020204" pitchFamily="34" charset="0"/>
                </a:rPr>
                <a:t>STEP </a:t>
              </a:r>
              <a:r>
                <a:rPr kumimoji="0" lang="ko-KR" altLang="en-US" sz="1050" b="0" i="0" u="none" strike="noStrike" kern="1200" cap="none" normalizeH="0" baseline="0" noProof="0" dirty="0">
                  <a:ln>
                    <a:solidFill>
                      <a:srgbClr val="4F81BD">
                        <a:alpha val="0"/>
                      </a:srgbClr>
                    </a:solidFill>
                  </a:ln>
                  <a:effectLst/>
                  <a:uLnTx/>
                  <a:uFillTx/>
                  <a:latin typeface="a고딕14" panose="02020600000000000000" pitchFamily="18" charset="-127"/>
                  <a:ea typeface="a고딕14" panose="02020600000000000000" pitchFamily="18" charset="-127"/>
                  <a:cs typeface="Arial" panose="020B0604020202020204" pitchFamily="34" charset="0"/>
                </a:rPr>
                <a:t>학습자 대상</a:t>
              </a:r>
              <a:endParaRPr kumimoji="0" lang="en-US" altLang="ko-KR" sz="1050" b="0" i="0" u="none" strike="noStrike" kern="1200" cap="none" normalizeH="0" baseline="0" noProof="0" dirty="0">
                <a:ln>
                  <a:solidFill>
                    <a:srgbClr val="4F81BD">
                      <a:alpha val="0"/>
                    </a:srgbClr>
                  </a:solidFill>
                </a:ln>
                <a:effectLst/>
                <a:uLnTx/>
                <a:uFillTx/>
                <a:latin typeface="a고딕14" panose="02020600000000000000" pitchFamily="18" charset="-127"/>
                <a:ea typeface="a고딕14" panose="02020600000000000000" pitchFamily="18" charset="-127"/>
                <a:cs typeface="Arial" panose="020B0604020202020204" pitchFamily="34" charset="0"/>
              </a:endParaRPr>
            </a:p>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STEP </a:t>
              </a:r>
              <a:r>
                <a:rPr kumimoji="0" lang="ko-KR" altLang="en-US" sz="1050" b="0" i="0" u="none" strike="noStrike" kern="1200" cap="none"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직무 과정 분야별로 </a:t>
              </a:r>
              <a:r>
                <a:rPr kumimoji="0" lang="en-US" altLang="ko-KR" sz="1050" b="0" i="0" u="none" strike="noStrike" kern="1200" cap="none"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2</a:t>
              </a:r>
              <a:r>
                <a:rPr kumimoji="0" lang="ko-KR" altLang="en-US" sz="1050" b="0" i="0" u="none" strike="noStrike" kern="1200" cap="none"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개 과정 이상 수강한 수강생</a:t>
              </a:r>
              <a:endParaRPr kumimoji="0" lang="en-US" altLang="ko-KR" sz="1050" b="0" i="0" u="none" strike="noStrike" kern="1200" cap="none"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p:txBody>
        </p:sp>
      </p:grpSp>
      <p:grpSp>
        <p:nvGrpSpPr>
          <p:cNvPr id="15" name="그룹 14">
            <a:extLst>
              <a:ext uri="{FF2B5EF4-FFF2-40B4-BE49-F238E27FC236}">
                <a16:creationId xmlns:a16="http://schemas.microsoft.com/office/drawing/2014/main" id="{A56DA0A7-0B2B-CA6B-5358-A759C62AE16D}"/>
              </a:ext>
            </a:extLst>
          </p:cNvPr>
          <p:cNvGrpSpPr/>
          <p:nvPr/>
        </p:nvGrpSpPr>
        <p:grpSpPr>
          <a:xfrm>
            <a:off x="599021" y="2716290"/>
            <a:ext cx="3597895" cy="510426"/>
            <a:chOff x="599021" y="2778969"/>
            <a:chExt cx="3993616" cy="434753"/>
          </a:xfrm>
        </p:grpSpPr>
        <p:sp>
          <p:nvSpPr>
            <p:cNvPr id="16" name="직사각형 15">
              <a:extLst>
                <a:ext uri="{FF2B5EF4-FFF2-40B4-BE49-F238E27FC236}">
                  <a16:creationId xmlns:a16="http://schemas.microsoft.com/office/drawing/2014/main" id="{0354EDC5-7F2F-1060-9422-B75B41D19DFB}"/>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설문</a:t>
              </a:r>
              <a:endParaRPr kumimoji="0" lang="en-US" altLang="ko-KR"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기간</a:t>
              </a:r>
            </a:p>
          </p:txBody>
        </p:sp>
        <p:sp>
          <p:nvSpPr>
            <p:cNvPr id="17" name="직사각형 16">
              <a:extLst>
                <a:ext uri="{FF2B5EF4-FFF2-40B4-BE49-F238E27FC236}">
                  <a16:creationId xmlns:a16="http://schemas.microsoft.com/office/drawing/2014/main" id="{8FA5A3F9-7F6A-B813-5C60-B8B78C01D7FF}"/>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2025</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년 </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10</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월 </a:t>
              </a:r>
              <a:r>
                <a:rPr lang="en-US" altLang="ko-KR" sz="1050">
                  <a:ln>
                    <a:solidFill>
                      <a:srgbClr val="4F81BD">
                        <a:alpha val="0"/>
                      </a:srgbClr>
                    </a:solidFill>
                  </a:ln>
                  <a:solidFill>
                    <a:prstClr val="black"/>
                  </a:solidFill>
                  <a:latin typeface="a고딕14" panose="02020600000000000000" pitchFamily="18" charset="-127"/>
                  <a:ea typeface="a고딕14" panose="02020600000000000000" pitchFamily="18" charset="-127"/>
                  <a:cs typeface="Arial" panose="020B0604020202020204" pitchFamily="34" charset="0"/>
                </a:rPr>
                <a:t>28</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일</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solidFill>
                    <a:prstClr val="black"/>
                  </a:solidFill>
                  <a:latin typeface="a고딕14" panose="02020600000000000000" pitchFamily="18" charset="-127"/>
                  <a:ea typeface="a고딕14" panose="02020600000000000000" pitchFamily="18" charset="-127"/>
                  <a:cs typeface="Arial" panose="020B0604020202020204" pitchFamily="34" charset="0"/>
                </a:rPr>
                <a:t>화</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 2025</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년 </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11</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월 </a:t>
              </a:r>
              <a:r>
                <a:rPr lang="en-US" altLang="ko-KR" sz="1050">
                  <a:ln>
                    <a:solidFill>
                      <a:srgbClr val="4F81BD">
                        <a:alpha val="0"/>
                      </a:srgbClr>
                    </a:solidFill>
                  </a:ln>
                  <a:solidFill>
                    <a:prstClr val="black"/>
                  </a:solidFill>
                  <a:latin typeface="a고딕14" panose="02020600000000000000" pitchFamily="18" charset="-127"/>
                  <a:ea typeface="a고딕14" panose="02020600000000000000" pitchFamily="18" charset="-127"/>
                  <a:cs typeface="Arial" panose="020B0604020202020204" pitchFamily="34" charset="0"/>
                </a:rPr>
                <a:t>7</a:t>
              </a:r>
              <a:r>
                <a:rPr kumimoji="0" lang="ko-KR" altLang="en-US"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일</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solidFill>
                    <a:prstClr val="black"/>
                  </a:solidFill>
                  <a:latin typeface="a고딕14" panose="02020600000000000000" pitchFamily="18" charset="-127"/>
                  <a:ea typeface="a고딕14" panose="02020600000000000000" pitchFamily="18" charset="-127"/>
                  <a:cs typeface="Arial" panose="020B0604020202020204" pitchFamily="34" charset="0"/>
                </a:rPr>
                <a:t>금</a:t>
              </a:r>
              <a: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br>
                <a:rPr kumimoji="0" lang="en-US" altLang="ko-KR" sz="1050" b="0" i="0" u="none" strike="noStrike" kern="1200" cap="none"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br>
              <a:r>
                <a:rPr kumimoji="0" lang="ko-KR" altLang="en-US" sz="1050" b="1" i="0" u="none" strike="noStrike" kern="1200" cap="none" normalizeH="0" baseline="0" noProof="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총 </a:t>
              </a:r>
              <a:r>
                <a:rPr kumimoji="0" lang="en-US" altLang="ko-KR" sz="1050" b="1" i="0" u="none" strike="noStrike" kern="1200" cap="none" normalizeH="0" baseline="0" noProof="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11</a:t>
              </a:r>
              <a:r>
                <a:rPr kumimoji="0" lang="ko-KR" altLang="en-US" sz="1050" b="1" i="0" u="none" strike="noStrike" kern="1200" cap="none" normalizeH="0" baseline="0" noProof="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일간</a:t>
              </a:r>
              <a:endParaRPr kumimoji="0" lang="en-US" altLang="ko-KR" sz="1050" b="1" i="0" u="none" strike="noStrike" kern="1200" cap="none" normalizeH="0" baseline="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endParaRPr>
            </a:p>
          </p:txBody>
        </p:sp>
      </p:grpSp>
      <p:grpSp>
        <p:nvGrpSpPr>
          <p:cNvPr id="18" name="그룹 17">
            <a:extLst>
              <a:ext uri="{FF2B5EF4-FFF2-40B4-BE49-F238E27FC236}">
                <a16:creationId xmlns:a16="http://schemas.microsoft.com/office/drawing/2014/main" id="{6E5AAFB7-9C18-085B-C177-858D1BA3021D}"/>
              </a:ext>
            </a:extLst>
          </p:cNvPr>
          <p:cNvGrpSpPr/>
          <p:nvPr/>
        </p:nvGrpSpPr>
        <p:grpSpPr>
          <a:xfrm>
            <a:off x="599021" y="3273228"/>
            <a:ext cx="3597895" cy="2341508"/>
            <a:chOff x="599021" y="3283585"/>
            <a:chExt cx="3993616" cy="2018584"/>
          </a:xfrm>
        </p:grpSpPr>
        <p:sp>
          <p:nvSpPr>
            <p:cNvPr id="19" name="직사각형 18">
              <a:extLst>
                <a:ext uri="{FF2B5EF4-FFF2-40B4-BE49-F238E27FC236}">
                  <a16:creationId xmlns:a16="http://schemas.microsoft.com/office/drawing/2014/main" id="{03AA2754-7FFA-BA9A-D52A-F3515439F093}"/>
                </a:ext>
              </a:extLst>
            </p:cNvPr>
            <p:cNvSpPr/>
            <p:nvPr/>
          </p:nvSpPr>
          <p:spPr>
            <a:xfrm>
              <a:off x="599021" y="3285945"/>
              <a:ext cx="354426" cy="201622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조사</a:t>
              </a:r>
              <a:endParaRPr kumimoji="0" lang="en-US" altLang="ko-KR"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방법</a:t>
              </a:r>
            </a:p>
          </p:txBody>
        </p:sp>
        <p:sp>
          <p:nvSpPr>
            <p:cNvPr id="20" name="직사각형 19">
              <a:extLst>
                <a:ext uri="{FF2B5EF4-FFF2-40B4-BE49-F238E27FC236}">
                  <a16:creationId xmlns:a16="http://schemas.microsoft.com/office/drawing/2014/main" id="{31415E77-6290-D3D4-8603-305978E81EE5}"/>
                </a:ext>
              </a:extLst>
            </p:cNvPr>
            <p:cNvSpPr/>
            <p:nvPr/>
          </p:nvSpPr>
          <p:spPr bwMode="auto">
            <a:xfrm>
              <a:off x="1038044" y="3283585"/>
              <a:ext cx="3554593" cy="2016223"/>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온라인 설문</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kumimoji="0" lang="ko-KR" altLang="en-US" sz="1050" b="0" i="0" u="none" strike="noStrike" kern="1200" cap="none" normalizeH="0" noProof="0" dirty="0" err="1">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모아폼</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활용</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진행</a:t>
              </a:r>
              <a:endPar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E-</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러닝</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가상훈련 수강자 대상 설문지와</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훈련기관 대상 설문지를 구분하여 수요조사를 실시함</a:t>
              </a:r>
              <a:endPar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교육과정 별로 </a:t>
              </a:r>
              <a:r>
                <a:rPr kumimoji="0" lang="ko-KR" altLang="en-US"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이러닝 개발 필요성</a:t>
              </a:r>
              <a:r>
                <a:rPr kumimoji="0" lang="en-US" altLang="ko-KR"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수강의향</a:t>
              </a:r>
              <a:r>
                <a:rPr kumimoji="0" lang="en-US" altLang="ko-KR"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1" i="0" u="none" strike="noStrike" kern="1200" cap="none" normalizeH="0" noProof="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가상훈련 개발 필요성을 </a:t>
              </a:r>
              <a:r>
                <a:rPr kumimoji="0" lang="en-US" altLang="ko-KR"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5</a:t>
              </a:r>
              <a:r>
                <a:rPr kumimoji="0" lang="ko-KR" altLang="en-US"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점 척도로 체크하도록 함</a:t>
              </a:r>
              <a:endParaRPr kumimoji="0" lang="en-US" altLang="ko-KR"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endParaRPr>
            </a:p>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도출된 교육과정이 많아 </a:t>
              </a:r>
              <a:r>
                <a:rPr kumimoji="0" lang="ko-KR" altLang="en-US"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한번에 응답하기 어려운 대분류</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기계</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전기전자</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err="1">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화학바이오</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정보통신</a:t>
              </a:r>
              <a:r>
                <a:rPr kumimoji="0" lang="en-US" altLang="ko-KR"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환경에너지안전</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t>
              </a:r>
              <a:r>
                <a:rPr kumimoji="0" lang="ko-KR" altLang="en-US" sz="1050" b="1" i="0" u="none" strike="noStrike" kern="1200" cap="none" normalizeH="0" noProof="0" dirty="0">
                  <a:ln>
                    <a:solidFill>
                      <a:srgbClr val="4F81BD">
                        <a:alpha val="0"/>
                      </a:srgbClr>
                    </a:solidFill>
                  </a:ln>
                  <a:solidFill>
                    <a:srgbClr val="0070C0"/>
                  </a:solidFill>
                  <a:effectLst/>
                  <a:uLnTx/>
                  <a:uFillTx/>
                  <a:latin typeface="a고딕14" panose="02020600000000000000" pitchFamily="18" charset="-127"/>
                  <a:ea typeface="a고딕14" panose="02020600000000000000" pitchFamily="18" charset="-127"/>
                  <a:cs typeface="Arial" panose="020B0604020202020204" pitchFamily="34" charset="0"/>
                </a:rPr>
                <a:t>는 수요조사 집단을 나누어 평가</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하도록 하였음</a:t>
              </a:r>
              <a:br>
                <a:rPr kumimoji="0" lang="en-US" altLang="ko-KR"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br>
              <a:r>
                <a:rPr lang="en-US" altLang="ko-KR" sz="1050">
                  <a:ln>
                    <a:solidFill>
                      <a:srgbClr val="4F81BD">
                        <a:alpha val="0"/>
                      </a:srgbClr>
                    </a:solidFill>
                  </a:ln>
                  <a:solidFill>
                    <a:prstClr val="black"/>
                  </a:solidFill>
                  <a:latin typeface="a고딕14" panose="02020600000000000000" pitchFamily="18" charset="-127"/>
                  <a:ea typeface="a고딕14" panose="02020600000000000000" pitchFamily="18" charset="-127"/>
                  <a:cs typeface="Arial" panose="020B0604020202020204" pitchFamily="34" charset="0"/>
                </a:rPr>
                <a:t>→</a:t>
              </a:r>
              <a:r>
                <a:rPr kumimoji="0" lang="en-US" altLang="ko-KR"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대분류 별 교육과정을 </a:t>
              </a:r>
              <a:r>
                <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N</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개로 나누어 </a:t>
              </a:r>
              <a:r>
                <a:rPr kumimoji="0" lang="en-US" altLang="ko-KR"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N</a:t>
              </a:r>
              <a:r>
                <a:rPr kumimoji="0" lang="ko-KR" altLang="en-US" sz="1050" b="0" i="0" u="none" strike="noStrike" kern="1200" cap="none" normalizeH="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개 </a:t>
              </a:r>
              <a:r>
                <a:rPr kumimoji="0" lang="ko-KR" altLang="en-US"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집단에 배포</a:t>
              </a:r>
              <a:endParaRPr kumimoji="0" lang="en-US" altLang="ko-KR" sz="1050" b="0" i="0" u="none" strike="noStrike" kern="1200" cap="none" normalizeH="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p:txBody>
        </p:sp>
      </p:grpSp>
      <p:sp>
        <p:nvSpPr>
          <p:cNvPr id="21" name="직사각형 20">
            <a:extLst>
              <a:ext uri="{FF2B5EF4-FFF2-40B4-BE49-F238E27FC236}">
                <a16:creationId xmlns:a16="http://schemas.microsoft.com/office/drawing/2014/main" id="{E0AF339D-705E-EA19-CE07-71DC56F510B8}"/>
              </a:ext>
            </a:extLst>
          </p:cNvPr>
          <p:cNvSpPr/>
          <p:nvPr/>
        </p:nvSpPr>
        <p:spPr>
          <a:xfrm>
            <a:off x="4270952" y="2062799"/>
            <a:ext cx="5074662" cy="28608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lang="ko-KR" altLang="en-US" sz="1100">
                <a:solidFill>
                  <a:prstClr val="white"/>
                </a:solidFill>
                <a:latin typeface="a고딕14" panose="02020600000000000000" pitchFamily="18" charset="-127"/>
                <a:ea typeface="a고딕14" panose="02020600000000000000" pitchFamily="18" charset="-127"/>
              </a:rPr>
              <a:t>유형별</a:t>
            </a:r>
            <a:r>
              <a:rPr lang="en-US" altLang="ko-KR" sz="1100">
                <a:solidFill>
                  <a:prstClr val="white"/>
                </a:solidFill>
                <a:latin typeface="a고딕14" panose="02020600000000000000" pitchFamily="18" charset="-127"/>
                <a:ea typeface="a고딕14" panose="02020600000000000000" pitchFamily="18" charset="-127"/>
              </a:rPr>
              <a:t>/</a:t>
            </a:r>
            <a:r>
              <a:rPr lang="ko-KR" altLang="en-US" sz="1100">
                <a:solidFill>
                  <a:prstClr val="white"/>
                </a:solidFill>
                <a:latin typeface="a고딕14" panose="02020600000000000000" pitchFamily="18" charset="-127"/>
                <a:ea typeface="a고딕14" panose="02020600000000000000" pitchFamily="18" charset="-127"/>
              </a:rPr>
              <a:t>대분류별 설문 현황</a:t>
            </a:r>
            <a:endParaRPr kumimoji="0" lang="en-US" altLang="ko-KR"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22" name="그룹 21">
            <a:extLst>
              <a:ext uri="{FF2B5EF4-FFF2-40B4-BE49-F238E27FC236}">
                <a16:creationId xmlns:a16="http://schemas.microsoft.com/office/drawing/2014/main" id="{61A1B501-726E-FEF8-C592-DE77A7A71F79}"/>
              </a:ext>
            </a:extLst>
          </p:cNvPr>
          <p:cNvGrpSpPr/>
          <p:nvPr/>
        </p:nvGrpSpPr>
        <p:grpSpPr>
          <a:xfrm>
            <a:off x="606801" y="5661248"/>
            <a:ext cx="3590885" cy="828452"/>
            <a:chOff x="606801" y="5368535"/>
            <a:chExt cx="3985836" cy="1121165"/>
          </a:xfrm>
        </p:grpSpPr>
        <p:sp>
          <p:nvSpPr>
            <p:cNvPr id="23" name="직사각형 22">
              <a:extLst>
                <a:ext uri="{FF2B5EF4-FFF2-40B4-BE49-F238E27FC236}">
                  <a16:creationId xmlns:a16="http://schemas.microsoft.com/office/drawing/2014/main" id="{7F840673-A693-3D4C-1178-385FBF0DF611}"/>
                </a:ext>
              </a:extLst>
            </p:cNvPr>
            <p:cNvSpPr/>
            <p:nvPr/>
          </p:nvSpPr>
          <p:spPr>
            <a:xfrm>
              <a:off x="606801" y="5368535"/>
              <a:ext cx="354426" cy="1120028"/>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설문</a:t>
              </a:r>
              <a:endParaRPr kumimoji="0" lang="en-US" altLang="ko-KR"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1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문항</a:t>
              </a:r>
            </a:p>
          </p:txBody>
        </p:sp>
        <p:sp>
          <p:nvSpPr>
            <p:cNvPr id="24" name="직사각형 23">
              <a:extLst>
                <a:ext uri="{FF2B5EF4-FFF2-40B4-BE49-F238E27FC236}">
                  <a16:creationId xmlns:a16="http://schemas.microsoft.com/office/drawing/2014/main" id="{B1C12118-7F2A-CE48-5D42-A985724FAF8D}"/>
                </a:ext>
              </a:extLst>
            </p:cNvPr>
            <p:cNvSpPr/>
            <p:nvPr/>
          </p:nvSpPr>
          <p:spPr bwMode="auto">
            <a:xfrm>
              <a:off x="1045825" y="5369672"/>
              <a:ext cx="3546812" cy="1120028"/>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A. </a:t>
              </a:r>
              <a:r>
                <a:rPr kumimoji="0" lang="ko-KR" altLang="en-US"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응답자 일반사항</a:t>
              </a:r>
              <a:endParaRPr kumimoji="0" lang="en-US" altLang="ko-KR"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p>
              <a:pPr marL="84138" marR="0" lvl="0" indent="-84138" algn="l" defTabSz="914400" rtl="0" eaLnBrk="0" fontAlgn="base" latinLnBrk="0" hangingPunct="0">
                <a:lnSpc>
                  <a:spcPct val="120000"/>
                </a:lnSpc>
                <a:spcBef>
                  <a:spcPct val="0"/>
                </a:spcBef>
                <a:spcAft>
                  <a:spcPts val="300"/>
                </a:spcAft>
                <a:buClrTx/>
                <a:buSzTx/>
                <a:buFont typeface="Arial" panose="020B0604020202020204" pitchFamily="34" charset="0"/>
                <a:buChar char="•"/>
                <a:tabLst/>
                <a:defRPr/>
              </a:pPr>
              <a:r>
                <a:rPr kumimoji="0" lang="en-US" altLang="ko-KR"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B. </a:t>
              </a:r>
              <a:r>
                <a:rPr kumimoji="0" lang="ko-KR" altLang="en-US"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온라인 교육과정</a:t>
              </a:r>
              <a:r>
                <a:rPr kumimoji="0" lang="en-US" altLang="ko-KR" sz="1050" b="0" i="0" u="none" strike="noStrike" kern="1200" cap="none" spc="0"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(e-learning/</a:t>
              </a:r>
              <a:r>
                <a:rPr kumimoji="0" lang="ko-KR" altLang="en-US" sz="1050" b="0" i="0" u="none" strike="noStrike" kern="1200" cap="none" spc="0"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가상훈련</a:t>
              </a:r>
              <a:r>
                <a:rPr kumimoji="0" lang="en-US" altLang="ko-KR" sz="1050" b="0" i="0" u="none" strike="noStrike" kern="1200" cap="none" spc="0"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 </a:t>
              </a:r>
              <a:r>
                <a:rPr kumimoji="0" lang="ko-KR" altLang="en-US" sz="1050" b="0" i="0" u="none" strike="noStrike" kern="1200" cap="none" spc="0" normalizeH="0" baseline="0" noProof="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rPr>
                <a:t>수요조사</a:t>
              </a:r>
              <a:endParaRPr kumimoji="0" lang="en-US" altLang="ko-KR" sz="1050" b="0" i="0" u="none" strike="noStrike" kern="1200" cap="none" spc="0" normalizeH="0" baseline="0" noProof="0" dirty="0">
                <a:ln>
                  <a:solidFill>
                    <a:srgbClr val="4F81BD">
                      <a:alpha val="0"/>
                    </a:srgbClr>
                  </a:solid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p:txBody>
        </p:sp>
      </p:grpSp>
      <p:graphicFrame>
        <p:nvGraphicFramePr>
          <p:cNvPr id="25" name="표 24">
            <a:extLst>
              <a:ext uri="{FF2B5EF4-FFF2-40B4-BE49-F238E27FC236}">
                <a16:creationId xmlns:a16="http://schemas.microsoft.com/office/drawing/2014/main" id="{A839E4B3-C6A5-68FE-47C7-58719D828CBB}"/>
              </a:ext>
            </a:extLst>
          </p:cNvPr>
          <p:cNvGraphicFramePr>
            <a:graphicFrameLocks noGrp="1"/>
          </p:cNvGraphicFramePr>
          <p:nvPr/>
        </p:nvGraphicFramePr>
        <p:xfrm>
          <a:off x="4270952" y="2532162"/>
          <a:ext cx="2302228" cy="3956400"/>
        </p:xfrm>
        <a:graphic>
          <a:graphicData uri="http://schemas.openxmlformats.org/drawingml/2006/table">
            <a:tbl>
              <a:tblPr/>
              <a:tblGrid>
                <a:gridCol w="476507">
                  <a:extLst>
                    <a:ext uri="{9D8B030D-6E8A-4147-A177-3AD203B41FA5}">
                      <a16:colId xmlns:a16="http://schemas.microsoft.com/office/drawing/2014/main" val="4203295257"/>
                    </a:ext>
                  </a:extLst>
                </a:gridCol>
                <a:gridCol w="673593">
                  <a:extLst>
                    <a:ext uri="{9D8B030D-6E8A-4147-A177-3AD203B41FA5}">
                      <a16:colId xmlns:a16="http://schemas.microsoft.com/office/drawing/2014/main" val="3010969342"/>
                    </a:ext>
                  </a:extLst>
                </a:gridCol>
                <a:gridCol w="288032">
                  <a:extLst>
                    <a:ext uri="{9D8B030D-6E8A-4147-A177-3AD203B41FA5}">
                      <a16:colId xmlns:a16="http://schemas.microsoft.com/office/drawing/2014/main" val="700142861"/>
                    </a:ext>
                  </a:extLst>
                </a:gridCol>
                <a:gridCol w="432048">
                  <a:extLst>
                    <a:ext uri="{9D8B030D-6E8A-4147-A177-3AD203B41FA5}">
                      <a16:colId xmlns:a16="http://schemas.microsoft.com/office/drawing/2014/main" val="3439050835"/>
                    </a:ext>
                  </a:extLst>
                </a:gridCol>
                <a:gridCol w="432048">
                  <a:extLst>
                    <a:ext uri="{9D8B030D-6E8A-4147-A177-3AD203B41FA5}">
                      <a16:colId xmlns:a16="http://schemas.microsoft.com/office/drawing/2014/main" val="1889916634"/>
                    </a:ext>
                  </a:extLst>
                </a:gridCol>
              </a:tblGrid>
              <a:tr h="184277">
                <a:tc>
                  <a:txBody>
                    <a:bodyPr/>
                    <a:lstStyle/>
                    <a:p>
                      <a:pPr algn="ctr" fontAlgn="ctr"/>
                      <a:r>
                        <a:rPr lang="ko-KR" altLang="en-US" sz="1000" b="0" i="0" u="none" strike="noStrike" spc="-100" baseline="0" dirty="0">
                          <a:solidFill>
                            <a:schemeClr val="bg1"/>
                          </a:solidFill>
                          <a:effectLst/>
                          <a:latin typeface="+mn-ea"/>
                          <a:ea typeface="+mn-ea"/>
                        </a:rPr>
                        <a:t>대상</a:t>
                      </a: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spc="-100" baseline="0" dirty="0">
                          <a:solidFill>
                            <a:schemeClr val="bg1"/>
                          </a:solidFill>
                          <a:effectLst/>
                          <a:latin typeface="+mn-ea"/>
                          <a:ea typeface="+mn-ea"/>
                        </a:rPr>
                        <a:t>분야</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spc="-100" baseline="0" dirty="0">
                          <a:solidFill>
                            <a:schemeClr val="bg1"/>
                          </a:solidFill>
                          <a:effectLst/>
                          <a:latin typeface="+mn-ea"/>
                          <a:ea typeface="+mn-ea"/>
                        </a:rPr>
                        <a:t>구분</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spc="-100" baseline="0" dirty="0">
                          <a:solidFill>
                            <a:schemeClr val="bg1"/>
                          </a:solidFill>
                          <a:effectLst/>
                          <a:latin typeface="+mn-ea"/>
                          <a:ea typeface="+mn-ea"/>
                        </a:rPr>
                        <a:t>모집단</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spc="-100" baseline="0">
                          <a:solidFill>
                            <a:schemeClr val="bg1"/>
                          </a:solidFill>
                          <a:effectLst/>
                          <a:latin typeface="+mn-ea"/>
                          <a:ea typeface="+mn-ea"/>
                        </a:rPr>
                        <a:t>문항 수</a:t>
                      </a:r>
                      <a:endParaRPr lang="ko-KR" altLang="en-US" sz="1000" b="0" i="0" u="none" strike="noStrike" spc="-100" baseline="0" dirty="0">
                        <a:solidFill>
                          <a:schemeClr val="bg1"/>
                        </a:solidFill>
                        <a:effectLst/>
                        <a:latin typeface="+mn-ea"/>
                        <a:ea typeface="+mn-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3266521557"/>
                  </a:ext>
                </a:extLst>
              </a:tr>
              <a:tr h="184277">
                <a:tc rowSpan="19">
                  <a:txBody>
                    <a:bodyPr/>
                    <a:lstStyle/>
                    <a:p>
                      <a:pPr algn="ctr" fontAlgn="ctr"/>
                      <a:r>
                        <a:rPr lang="en-US" altLang="ko-KR" sz="1000" b="0" i="0" u="none" strike="noStrike" spc="-130" baseline="0" dirty="0">
                          <a:solidFill>
                            <a:srgbClr val="000000"/>
                          </a:solidFill>
                          <a:effectLst/>
                          <a:latin typeface="+mn-ea"/>
                          <a:ea typeface="+mn-ea"/>
                        </a:rPr>
                        <a:t>e-</a:t>
                      </a:r>
                      <a:r>
                        <a:rPr lang="ko-KR" altLang="en-US" sz="1000" b="0" i="0" u="none" strike="noStrike" spc="-130" baseline="0" dirty="0">
                          <a:solidFill>
                            <a:srgbClr val="000000"/>
                          </a:solidFill>
                          <a:effectLst/>
                          <a:latin typeface="+mn-ea"/>
                          <a:ea typeface="+mn-ea"/>
                        </a:rPr>
                        <a:t>러닝</a:t>
                      </a:r>
                      <a:r>
                        <a:rPr lang="en-US" altLang="ko-KR" sz="1000" b="0" i="0" u="none" strike="noStrike" spc="-130" baseline="0" dirty="0">
                          <a:solidFill>
                            <a:srgbClr val="000000"/>
                          </a:solidFill>
                          <a:effectLst/>
                          <a:latin typeface="+mn-ea"/>
                          <a:ea typeface="+mn-ea"/>
                        </a:rPr>
                        <a:t>,</a:t>
                      </a:r>
                    </a:p>
                    <a:p>
                      <a:pPr algn="ctr" fontAlgn="ctr"/>
                      <a:r>
                        <a:rPr lang="ko-KR" altLang="en-US" sz="1000" b="0" i="0" u="none" strike="noStrike" spc="-130" baseline="0">
                          <a:solidFill>
                            <a:srgbClr val="000000"/>
                          </a:solidFill>
                          <a:effectLst/>
                          <a:latin typeface="+mn-ea"/>
                          <a:ea typeface="+mn-ea"/>
                        </a:rPr>
                        <a:t>가상훈련</a:t>
                      </a:r>
                      <a:endParaRPr lang="ko-KR" altLang="en-US" sz="1000" b="0" i="0" u="none" strike="noStrike" spc="-130" baseline="0" dirty="0">
                        <a:solidFill>
                          <a:srgbClr val="000000"/>
                        </a:solidFill>
                        <a:effectLst/>
                        <a:latin typeface="+mn-ea"/>
                        <a:ea typeface="+mn-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fontAlgn="ctr"/>
                      <a:r>
                        <a:rPr lang="ko-KR" altLang="en-US" sz="1000" b="0" i="0" u="none" strike="noStrike" spc="-100" baseline="0" dirty="0">
                          <a:solidFill>
                            <a:srgbClr val="000000"/>
                          </a:solidFill>
                          <a:effectLst/>
                          <a:latin typeface="+mn-ea"/>
                          <a:ea typeface="+mn-ea"/>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dirty="0">
                          <a:solidFill>
                            <a:srgbClr val="000000"/>
                          </a:solidFill>
                          <a:effectLst/>
                          <a:latin typeface="+mn-ea"/>
                          <a:ea typeface="+mn-ea"/>
                        </a:rPr>
                        <a:t>A</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1,043</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47</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167600"/>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dirty="0">
                          <a:solidFill>
                            <a:srgbClr val="000000"/>
                          </a:solidFill>
                          <a:effectLst/>
                          <a:latin typeface="+mn-ea"/>
                          <a:ea typeface="+mn-ea"/>
                        </a:rPr>
                        <a:t>B</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a:solidFill>
                            <a:srgbClr val="000000"/>
                          </a:solidFill>
                          <a:effectLst/>
                          <a:latin typeface="+mj-ea"/>
                          <a:ea typeface="+mn-ea"/>
                          <a:cs typeface="+mn-cs"/>
                        </a:rPr>
                        <a:t>1,043</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47</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585322"/>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C</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dirty="0">
                          <a:solidFill>
                            <a:srgbClr val="000000"/>
                          </a:solidFill>
                          <a:effectLst/>
                          <a:latin typeface="+mj-ea"/>
                          <a:ea typeface="+mn-ea"/>
                          <a:cs typeface="+mn-cs"/>
                        </a:rPr>
                        <a:t>1,043</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47</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9291064"/>
                  </a:ext>
                </a:extLst>
              </a:tr>
              <a:tr h="184277">
                <a:tc vMerge="1">
                  <a:txBody>
                    <a:bodyPr/>
                    <a:lstStyle/>
                    <a:p>
                      <a:pPr latinLnBrk="1"/>
                      <a:endParaRPr lang="ko-KR" altLang="en-US"/>
                    </a:p>
                  </a:txBody>
                  <a:tcPr/>
                </a:tc>
                <a:tc vMerge="1">
                  <a:txBody>
                    <a:bodyPr/>
                    <a:lstStyle/>
                    <a:p>
                      <a:pPr algn="ctr" fontAlgn="ctr"/>
                      <a:endParaRPr lang="ko-KR" altLang="en-US" sz="1000" b="0" i="0" u="none" strike="noStrike" spc="0" baseline="0" dirty="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D</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a:solidFill>
                            <a:srgbClr val="000000"/>
                          </a:solidFill>
                          <a:effectLst/>
                          <a:latin typeface="+mj-ea"/>
                          <a:ea typeface="+mn-ea"/>
                          <a:cs typeface="+mn-cs"/>
                        </a:rPr>
                        <a:t>1,042</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a:solidFill>
                            <a:srgbClr val="000000"/>
                          </a:solidFill>
                          <a:effectLst/>
                          <a:latin typeface="+mj-ea"/>
                          <a:ea typeface="+mn-ea"/>
                          <a:cs typeface="+mn-cs"/>
                        </a:rPr>
                        <a:t>50</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970037"/>
                  </a:ext>
                </a:extLst>
              </a:tr>
              <a:tr h="184277">
                <a:tc vMerge="1">
                  <a:txBody>
                    <a:bodyPr/>
                    <a:lstStyle/>
                    <a:p>
                      <a:pPr latinLnBrk="1"/>
                      <a:endParaRPr lang="ko-KR" altLang="en-US"/>
                    </a:p>
                  </a:txBody>
                  <a:tcPr/>
                </a:tc>
                <a:tc rowSpan="3">
                  <a:txBody>
                    <a:bodyPr/>
                    <a:lstStyle/>
                    <a:p>
                      <a:pPr algn="ctr" fontAlgn="ctr"/>
                      <a:r>
                        <a:rPr lang="ko-KR" altLang="en-US" sz="1000" b="0" i="0" u="none" strike="noStrike" spc="-100" baseline="0" dirty="0">
                          <a:solidFill>
                            <a:srgbClr val="000000"/>
                          </a:solidFill>
                          <a:effectLst/>
                          <a:latin typeface="+mn-ea"/>
                          <a:ea typeface="+mn-ea"/>
                        </a:rPr>
                        <a:t>전기전자</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A</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1,905</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36</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7092"/>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B</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dirty="0">
                          <a:solidFill>
                            <a:srgbClr val="000000"/>
                          </a:solidFill>
                          <a:effectLst/>
                          <a:latin typeface="+mj-ea"/>
                          <a:ea typeface="+mn-ea"/>
                          <a:cs typeface="+mn-cs"/>
                        </a:rPr>
                        <a:t>1,905</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35</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286549"/>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C</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a:solidFill>
                            <a:srgbClr val="000000"/>
                          </a:solidFill>
                          <a:effectLst/>
                          <a:latin typeface="+mj-ea"/>
                          <a:ea typeface="+mn-ea"/>
                          <a:cs typeface="+mn-cs"/>
                        </a:rPr>
                        <a:t>1,906</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35</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4206964"/>
                  </a:ext>
                </a:extLst>
              </a:tr>
              <a:tr h="184277">
                <a:tc vMerge="1">
                  <a:txBody>
                    <a:bodyPr/>
                    <a:lstStyle/>
                    <a:p>
                      <a:pPr latinLnBrk="1"/>
                      <a:endParaRPr lang="ko-KR" altLang="en-US"/>
                    </a:p>
                  </a:txBody>
                  <a:tcPr/>
                </a:tc>
                <a:tc rowSpan="3">
                  <a:txBody>
                    <a:bodyPr/>
                    <a:lstStyle/>
                    <a:p>
                      <a:pPr algn="ctr" fontAlgn="ctr"/>
                      <a:r>
                        <a:rPr lang="ko-KR" altLang="en-US" sz="1000" b="0" i="0" u="none" strike="noStrike" spc="-100" baseline="0" dirty="0" err="1">
                          <a:solidFill>
                            <a:srgbClr val="000000"/>
                          </a:solidFill>
                          <a:effectLst/>
                          <a:latin typeface="+mn-ea"/>
                          <a:ea typeface="+mn-ea"/>
                        </a:rPr>
                        <a:t>화학바이오</a:t>
                      </a:r>
                      <a:endParaRPr lang="ko-KR" altLang="en-US" sz="1000" b="0" i="0" u="none" strike="noStrike" spc="-100" baseline="0" dirty="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A</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236</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44</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846627"/>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B</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dirty="0">
                          <a:solidFill>
                            <a:srgbClr val="000000"/>
                          </a:solidFill>
                          <a:effectLst/>
                          <a:latin typeface="+mj-ea"/>
                          <a:ea typeface="+mn-ea"/>
                          <a:cs typeface="+mn-cs"/>
                        </a:rPr>
                        <a:t>236</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44</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1181141"/>
                  </a:ext>
                </a:extLst>
              </a:tr>
              <a:tr h="184277">
                <a:tc vMerge="1">
                  <a:txBody>
                    <a:bodyPr/>
                    <a:lstStyle/>
                    <a:p>
                      <a:pPr latinLnBrk="1"/>
                      <a:endParaRPr lang="ko-KR" altLang="en-US"/>
                    </a:p>
                  </a:txBody>
                  <a:tcPr/>
                </a:tc>
                <a:tc vMerge="1">
                  <a:txBody>
                    <a:bodyPr/>
                    <a:lstStyle/>
                    <a:p>
                      <a:pPr algn="ctr" fontAlgn="ctr"/>
                      <a:endParaRPr lang="ko-KR" altLang="en-US" sz="1000" b="0" i="0" u="none" strike="noStrike" spc="0" baseline="0" dirty="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C</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dirty="0">
                          <a:solidFill>
                            <a:srgbClr val="000000"/>
                          </a:solidFill>
                          <a:effectLst/>
                          <a:latin typeface="+mj-ea"/>
                          <a:ea typeface="+mn-ea"/>
                          <a:cs typeface="+mn-cs"/>
                        </a:rPr>
                        <a:t>236</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a:solidFill>
                            <a:srgbClr val="000000"/>
                          </a:solidFill>
                          <a:effectLst/>
                          <a:latin typeface="+mj-ea"/>
                          <a:ea typeface="+mn-ea"/>
                          <a:cs typeface="+mn-cs"/>
                        </a:rPr>
                        <a:t>45</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5245471"/>
                  </a:ext>
                </a:extLst>
              </a:tr>
              <a:tr h="184277">
                <a:tc vMerge="1">
                  <a:txBody>
                    <a:bodyPr/>
                    <a:lstStyle/>
                    <a:p>
                      <a:pPr latinLnBrk="1"/>
                      <a:endParaRPr lang="ko-KR" altLang="en-US"/>
                    </a:p>
                  </a:txBody>
                  <a:tcPr/>
                </a:tc>
                <a:tc rowSpan="3">
                  <a:txBody>
                    <a:bodyPr/>
                    <a:lstStyle/>
                    <a:p>
                      <a:pPr algn="ctr" fontAlgn="ctr"/>
                      <a:r>
                        <a:rPr lang="ko-KR" altLang="en-US" sz="1000" b="0" i="0" u="none" strike="noStrike" spc="-100" baseline="0" dirty="0">
                          <a:solidFill>
                            <a:srgbClr val="000000"/>
                          </a:solidFill>
                          <a:effectLst/>
                          <a:latin typeface="+mn-ea"/>
                          <a:ea typeface="+mn-ea"/>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A</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a:solidFill>
                            <a:srgbClr val="000000"/>
                          </a:solidFill>
                          <a:effectLst/>
                          <a:latin typeface="+mj-ea"/>
                          <a:ea typeface="+mj-ea"/>
                        </a:rPr>
                        <a:t>2,043</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41</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265267"/>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B</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kern="1200" spc="-100" baseline="0" dirty="0">
                          <a:solidFill>
                            <a:srgbClr val="000000"/>
                          </a:solidFill>
                          <a:effectLst/>
                          <a:latin typeface="+mj-ea"/>
                          <a:ea typeface="+mn-ea"/>
                          <a:cs typeface="+mn-cs"/>
                        </a:rPr>
                        <a:t>2,043</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kern="1200" spc="-100" baseline="0">
                          <a:solidFill>
                            <a:srgbClr val="000000"/>
                          </a:solidFill>
                          <a:effectLst/>
                          <a:latin typeface="+mj-ea"/>
                          <a:ea typeface="+mn-ea"/>
                          <a:cs typeface="+mn-cs"/>
                        </a:rPr>
                        <a:t>41</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408701"/>
                  </a:ext>
                </a:extLst>
              </a:tr>
              <a:tr h="184277">
                <a:tc vMerge="1">
                  <a:txBody>
                    <a:bodyPr/>
                    <a:lstStyle/>
                    <a:p>
                      <a:pPr latinLnBrk="1"/>
                      <a:endParaRPr lang="ko-KR" altLang="en-US"/>
                    </a:p>
                  </a:txBody>
                  <a:tcPr/>
                </a:tc>
                <a:tc vMerge="1">
                  <a:txBody>
                    <a:bodyPr/>
                    <a:lstStyle/>
                    <a:p>
                      <a:pPr algn="ctr" fontAlgn="ctr"/>
                      <a:endParaRPr lang="ko-KR" altLang="en-US" sz="1000" b="0" i="0" u="none" strike="noStrike" spc="0" baseline="0" dirty="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C</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dirty="0">
                          <a:solidFill>
                            <a:srgbClr val="000000"/>
                          </a:solidFill>
                          <a:effectLst/>
                          <a:latin typeface="+mj-ea"/>
                          <a:ea typeface="+mn-ea"/>
                          <a:cs typeface="+mn-cs"/>
                        </a:rPr>
                        <a:t>2,041</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a:solidFill>
                            <a:srgbClr val="000000"/>
                          </a:solidFill>
                          <a:effectLst/>
                          <a:latin typeface="+mj-ea"/>
                          <a:ea typeface="+mn-ea"/>
                          <a:cs typeface="+mn-cs"/>
                        </a:rPr>
                        <a:t>39</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3852307"/>
                  </a:ext>
                </a:extLst>
              </a:tr>
              <a:tr h="184277">
                <a:tc vMerge="1">
                  <a:txBody>
                    <a:bodyPr/>
                    <a:lstStyle/>
                    <a:p>
                      <a:pPr latinLnBrk="1"/>
                      <a:endParaRPr lang="ko-KR" altLang="en-US"/>
                    </a:p>
                  </a:txBody>
                  <a:tcPr/>
                </a:tc>
                <a:tc>
                  <a:txBody>
                    <a:bodyPr/>
                    <a:lstStyle/>
                    <a:p>
                      <a:pPr algn="ctr" fontAlgn="ctr"/>
                      <a:r>
                        <a:rPr lang="ko-KR" altLang="en-US" sz="1000" b="0" i="0" u="none" strike="noStrike" spc="-100" baseline="0" dirty="0">
                          <a:solidFill>
                            <a:srgbClr val="000000"/>
                          </a:solidFill>
                          <a:effectLst/>
                          <a:latin typeface="+mn-ea"/>
                          <a:ea typeface="+mn-ea"/>
                        </a:rPr>
                        <a:t>재료</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000" b="0" i="0" u="none" strike="noStrike" spc="-100" baseline="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381 </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30</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479394"/>
                  </a:ext>
                </a:extLst>
              </a:tr>
              <a:tr h="184277">
                <a:tc vMerge="1">
                  <a:txBody>
                    <a:bodyPr/>
                    <a:lstStyle/>
                    <a:p>
                      <a:pPr latinLnBrk="1"/>
                      <a:endParaRPr lang="ko-KR" altLang="en-US"/>
                    </a:p>
                  </a:txBody>
                  <a:tcPr/>
                </a:tc>
                <a:tc rowSpan="3">
                  <a:txBody>
                    <a:bodyPr/>
                    <a:lstStyle/>
                    <a:p>
                      <a:pPr algn="ctr" fontAlgn="ctr"/>
                      <a:r>
                        <a:rPr lang="ko-KR" altLang="en-US" sz="1000" b="0" i="0" u="none" strike="noStrike" spc="-100" baseline="0">
                          <a:solidFill>
                            <a:srgbClr val="000000"/>
                          </a:solidFill>
                          <a:effectLst/>
                          <a:latin typeface="+mn-ea"/>
                          <a:ea typeface="+mn-ea"/>
                        </a:rPr>
                        <a:t>환경에너지</a:t>
                      </a:r>
                      <a:endParaRPr lang="en-US" altLang="ko-KR" sz="1000" b="0" i="0" u="none" strike="noStrike" spc="-100" baseline="0">
                        <a:solidFill>
                          <a:srgbClr val="000000"/>
                        </a:solidFill>
                        <a:effectLst/>
                        <a:latin typeface="+mn-ea"/>
                        <a:ea typeface="+mn-ea"/>
                      </a:endParaRPr>
                    </a:p>
                    <a:p>
                      <a:pPr algn="ctr" fontAlgn="ctr"/>
                      <a:r>
                        <a:rPr lang="ko-KR" altLang="en-US" sz="1000" b="0" i="0" u="none" strike="noStrike" spc="-100" baseline="0">
                          <a:solidFill>
                            <a:srgbClr val="000000"/>
                          </a:solidFill>
                          <a:effectLst/>
                          <a:latin typeface="+mn-ea"/>
                          <a:ea typeface="+mn-ea"/>
                        </a:rPr>
                        <a:t>안전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A</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542</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37</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2786970"/>
                  </a:ext>
                </a:extLst>
              </a:tr>
              <a:tr h="184277">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sz="1000" b="0" i="0" u="none" strike="noStrike" spc="-100" baseline="0">
                          <a:solidFill>
                            <a:srgbClr val="000000"/>
                          </a:solidFill>
                          <a:effectLst/>
                          <a:latin typeface="+mn-ea"/>
                          <a:ea typeface="+mn-ea"/>
                        </a:rPr>
                        <a:t>B</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dirty="0">
                          <a:solidFill>
                            <a:srgbClr val="000000"/>
                          </a:solidFill>
                          <a:effectLst/>
                          <a:latin typeface="+mj-ea"/>
                          <a:ea typeface="+mn-ea"/>
                          <a:cs typeface="+mn-cs"/>
                        </a:rPr>
                        <a:t>542</a:t>
                      </a:r>
                      <a:r>
                        <a:rPr lang="en-US" altLang="ko-KR" sz="1000" b="0" i="0" u="none" strike="noStrike" spc="-100" baseline="0" dirty="0">
                          <a:solidFill>
                            <a:srgbClr val="000000"/>
                          </a:solidFill>
                          <a:effectLst/>
                          <a:latin typeface="+mj-ea"/>
                          <a:ea typeface="+mj-ea"/>
                        </a:rPr>
                        <a:t> </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spc="-100" baseline="0">
                          <a:solidFill>
                            <a:srgbClr val="000000"/>
                          </a:solidFill>
                          <a:effectLst/>
                          <a:latin typeface="+mj-ea"/>
                          <a:ea typeface="+mj-ea"/>
                        </a:rPr>
                        <a:t>37</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574433"/>
                  </a:ext>
                </a:extLst>
              </a:tr>
              <a:tr h="184277">
                <a:tc vMerge="1">
                  <a:txBody>
                    <a:bodyPr/>
                    <a:lstStyle/>
                    <a:p>
                      <a:pPr latinLnBrk="1"/>
                      <a:endParaRPr lang="ko-KR" altLang="en-US"/>
                    </a:p>
                  </a:txBody>
                  <a:tcPr/>
                </a:tc>
                <a:tc vMerge="1">
                  <a:txBody>
                    <a:bodyPr/>
                    <a:lstStyle/>
                    <a:p>
                      <a:pPr algn="ctr" fontAlgn="ctr"/>
                      <a:endParaRPr lang="ko-KR" altLang="en-US" sz="1000" b="0" i="0" u="none" strike="noStrike" spc="0" baseline="0">
                        <a:solidFill>
                          <a:srgbClr val="000000"/>
                        </a:solidFill>
                        <a:effectLst/>
                        <a:latin typeface="+mn-ea"/>
                        <a:ea typeface="+mn-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spc="-100" baseline="0">
                          <a:solidFill>
                            <a:srgbClr val="000000"/>
                          </a:solidFill>
                          <a:effectLst/>
                          <a:latin typeface="+mn-ea"/>
                          <a:ea typeface="+mn-ea"/>
                        </a:rPr>
                        <a:t>C</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dirty="0">
                          <a:solidFill>
                            <a:srgbClr val="000000"/>
                          </a:solidFill>
                          <a:effectLst/>
                          <a:latin typeface="+mj-ea"/>
                          <a:ea typeface="+mn-ea"/>
                          <a:cs typeface="+mn-cs"/>
                        </a:rPr>
                        <a:t>541</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spc="-100" baseline="0">
                          <a:solidFill>
                            <a:srgbClr val="000000"/>
                          </a:solidFill>
                          <a:effectLst/>
                          <a:latin typeface="+mj-ea"/>
                          <a:ea typeface="+mn-ea"/>
                          <a:cs typeface="+mn-cs"/>
                        </a:rPr>
                        <a:t>36</a:t>
                      </a:r>
                      <a:endParaRPr lang="en-US" altLang="ko-KR" sz="1000" b="0" i="0" u="none" strike="noStrike" kern="1200" spc="-100" baseline="0" dirty="0">
                        <a:solidFill>
                          <a:srgbClr val="000000"/>
                        </a:solidFill>
                        <a:effectLst/>
                        <a:latin typeface="+mj-ea"/>
                        <a:ea typeface="+mn-ea"/>
                        <a:cs typeface="+mn-cs"/>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7493786"/>
                  </a:ext>
                </a:extLst>
              </a:tr>
              <a:tr h="184277">
                <a:tc vMerge="1">
                  <a:txBody>
                    <a:bodyPr/>
                    <a:lstStyle/>
                    <a:p>
                      <a:pPr latinLnBrk="1"/>
                      <a:endParaRPr lang="ko-KR" altLang="en-US"/>
                    </a:p>
                  </a:txBody>
                  <a:tcPr/>
                </a:tc>
                <a:tc>
                  <a:txBody>
                    <a:bodyPr/>
                    <a:lstStyle/>
                    <a:p>
                      <a:pPr algn="ctr" fontAlgn="ctr"/>
                      <a:r>
                        <a:rPr lang="ko-KR" altLang="en-US" sz="1000" b="0" i="0" u="none" strike="noStrike" spc="-100" baseline="0" dirty="0">
                          <a:solidFill>
                            <a:srgbClr val="000000"/>
                          </a:solidFill>
                          <a:effectLst/>
                          <a:latin typeface="+mn-ea"/>
                          <a:ea typeface="+mn-ea"/>
                        </a:rPr>
                        <a:t>문화예술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spc="-100" baseline="0">
                          <a:solidFill>
                            <a:srgbClr val="000000"/>
                          </a:solidFill>
                          <a:effectLst/>
                          <a:latin typeface="+mn-ea"/>
                          <a:ea typeface="+mn-ea"/>
                        </a:rPr>
                        <a:t>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1,488</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30</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2378085"/>
                  </a:ext>
                </a:extLst>
              </a:tr>
              <a:tr h="184277">
                <a:tc vMerge="1">
                  <a:txBody>
                    <a:bodyPr/>
                    <a:lstStyle/>
                    <a:p>
                      <a:pPr latinLnBrk="1"/>
                      <a:endParaRPr lang="ko-KR" altLang="en-US"/>
                    </a:p>
                  </a:txBody>
                  <a:tcPr/>
                </a:tc>
                <a:tc>
                  <a:txBody>
                    <a:bodyPr/>
                    <a:lstStyle/>
                    <a:p>
                      <a:pPr algn="ctr" fontAlgn="ctr"/>
                      <a:r>
                        <a:rPr lang="ko-KR" altLang="en-US" sz="1000" b="0" i="0" u="none" strike="noStrike" spc="-100" baseline="0">
                          <a:solidFill>
                            <a:srgbClr val="000000"/>
                          </a:solidFill>
                          <a:effectLst/>
                          <a:latin typeface="+mn-ea"/>
                          <a:ea typeface="+mn-ea"/>
                        </a:rPr>
                        <a:t>건설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spc="-100" baseline="0">
                          <a:solidFill>
                            <a:srgbClr val="000000"/>
                          </a:solidFill>
                          <a:effectLst/>
                          <a:latin typeface="+mn-ea"/>
                          <a:ea typeface="+mn-ea"/>
                        </a:rPr>
                        <a:t>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ko-KR" sz="1000" b="0" i="0" u="none" strike="noStrike" spc="-100" baseline="0" dirty="0">
                          <a:solidFill>
                            <a:srgbClr val="000000"/>
                          </a:solidFill>
                          <a:effectLst/>
                          <a:latin typeface="+mj-ea"/>
                          <a:ea typeface="+mj-ea"/>
                        </a:rPr>
                        <a:t>601</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00" baseline="0">
                          <a:solidFill>
                            <a:srgbClr val="000000"/>
                          </a:solidFill>
                          <a:effectLst/>
                          <a:latin typeface="+mj-ea"/>
                          <a:ea typeface="+mj-ea"/>
                        </a:rPr>
                        <a:t>21</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9852379"/>
                  </a:ext>
                </a:extLst>
              </a:tr>
              <a:tr h="184277">
                <a:tc gridSpan="3">
                  <a:txBody>
                    <a:bodyPr/>
                    <a:lstStyle/>
                    <a:p>
                      <a:pPr algn="ctr" fontAlgn="ctr"/>
                      <a:r>
                        <a:rPr lang="ko-KR" altLang="en-US" sz="1000" b="1" i="0" u="none" strike="noStrike" spc="-100" baseline="0" dirty="0">
                          <a:solidFill>
                            <a:srgbClr val="000000"/>
                          </a:solidFill>
                          <a:effectLst/>
                          <a:latin typeface="+mn-ea"/>
                          <a:ea typeface="+mn-ea"/>
                        </a:rPr>
                        <a:t>합계</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r" fontAlgn="ctr"/>
                      <a:r>
                        <a:rPr lang="en-US" altLang="ko-KR" sz="1000" b="0" i="0" u="none" strike="noStrike" spc="-100" baseline="0" dirty="0">
                          <a:solidFill>
                            <a:srgbClr val="000000"/>
                          </a:solidFill>
                          <a:effectLst/>
                          <a:latin typeface="+mj-ea"/>
                          <a:ea typeface="+mj-ea"/>
                        </a:rPr>
                        <a:t>20,817 </a:t>
                      </a: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en-US" altLang="ko-KR" sz="1000" b="0" i="0" u="none" strike="noStrike" spc="-100" baseline="0">
                          <a:solidFill>
                            <a:srgbClr val="000000"/>
                          </a:solidFill>
                          <a:effectLst/>
                          <a:latin typeface="+mj-ea"/>
                          <a:ea typeface="+mj-ea"/>
                        </a:rPr>
                        <a:t>742</a:t>
                      </a:r>
                      <a:endParaRPr lang="en-US" altLang="ko-KR" sz="1000" b="0" i="0" u="none" strike="noStrike" spc="-100" baseline="0" dirty="0">
                        <a:solidFill>
                          <a:srgbClr val="000000"/>
                        </a:solidFill>
                        <a:effectLst/>
                        <a:latin typeface="+mj-ea"/>
                        <a:ea typeface="+mj-ea"/>
                      </a:endParaRPr>
                    </a:p>
                  </a:txBody>
                  <a:tcPr marL="9525" marR="36000"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103140732"/>
                  </a:ext>
                </a:extLst>
              </a:tr>
            </a:tbl>
          </a:graphicData>
        </a:graphic>
      </p:graphicFrame>
      <p:graphicFrame>
        <p:nvGraphicFramePr>
          <p:cNvPr id="26" name="표 25">
            <a:extLst>
              <a:ext uri="{FF2B5EF4-FFF2-40B4-BE49-F238E27FC236}">
                <a16:creationId xmlns:a16="http://schemas.microsoft.com/office/drawing/2014/main" id="{DB175FCB-5580-4C0F-D505-6EF31085FBFC}"/>
              </a:ext>
            </a:extLst>
          </p:cNvPr>
          <p:cNvGraphicFramePr>
            <a:graphicFrameLocks noGrp="1"/>
          </p:cNvGraphicFramePr>
          <p:nvPr>
            <p:extLst>
              <p:ext uri="{D42A27DB-BD31-4B8C-83A1-F6EECF244321}">
                <p14:modId xmlns:p14="http://schemas.microsoft.com/office/powerpoint/2010/main" val="3802852194"/>
              </p:ext>
            </p:extLst>
          </p:nvPr>
        </p:nvGraphicFramePr>
        <p:xfrm>
          <a:off x="6647999" y="2531086"/>
          <a:ext cx="2697615" cy="1581990"/>
        </p:xfrm>
        <a:graphic>
          <a:graphicData uri="http://schemas.openxmlformats.org/drawingml/2006/table">
            <a:tbl>
              <a:tblPr/>
              <a:tblGrid>
                <a:gridCol w="379399">
                  <a:extLst>
                    <a:ext uri="{9D8B030D-6E8A-4147-A177-3AD203B41FA5}">
                      <a16:colId xmlns:a16="http://schemas.microsoft.com/office/drawing/2014/main" val="1743059126"/>
                    </a:ext>
                  </a:extLst>
                </a:gridCol>
                <a:gridCol w="1159108">
                  <a:extLst>
                    <a:ext uri="{9D8B030D-6E8A-4147-A177-3AD203B41FA5}">
                      <a16:colId xmlns:a16="http://schemas.microsoft.com/office/drawing/2014/main" val="40278856"/>
                    </a:ext>
                  </a:extLst>
                </a:gridCol>
                <a:gridCol w="1159108">
                  <a:extLst>
                    <a:ext uri="{9D8B030D-6E8A-4147-A177-3AD203B41FA5}">
                      <a16:colId xmlns:a16="http://schemas.microsoft.com/office/drawing/2014/main" val="2197150485"/>
                    </a:ext>
                  </a:extLst>
                </a:gridCol>
              </a:tblGrid>
              <a:tr h="0">
                <a:tc>
                  <a:txBody>
                    <a:bodyPr/>
                    <a:lstStyle/>
                    <a:p>
                      <a:pPr algn="ctr" fontAlgn="ctr"/>
                      <a:r>
                        <a:rPr lang="ko-KR" altLang="en-US" sz="1000" b="0" i="0" u="none" strike="noStrike" dirty="0">
                          <a:solidFill>
                            <a:schemeClr val="bg1"/>
                          </a:solidFill>
                          <a:effectLst/>
                          <a:latin typeface="+mn-ea"/>
                          <a:ea typeface="+mn-ea"/>
                        </a:rPr>
                        <a:t>대상</a:t>
                      </a:r>
                    </a:p>
                  </a:txBody>
                  <a:tcPr marL="5799" marR="5799" marT="5799"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dirty="0">
                          <a:solidFill>
                            <a:schemeClr val="bg1"/>
                          </a:solidFill>
                          <a:effectLst/>
                          <a:latin typeface="+mn-ea"/>
                          <a:ea typeface="+mn-ea"/>
                        </a:rPr>
                        <a:t>분야</a:t>
                      </a:r>
                    </a:p>
                  </a:txBody>
                  <a:tcPr marL="5799" marR="5799" marT="579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000" b="0" i="0" u="none" strike="noStrike" dirty="0">
                          <a:solidFill>
                            <a:schemeClr val="bg1"/>
                          </a:solidFill>
                          <a:effectLst/>
                          <a:latin typeface="+mn-ea"/>
                          <a:ea typeface="+mn-ea"/>
                        </a:rPr>
                        <a:t>문항 수</a:t>
                      </a:r>
                    </a:p>
                  </a:txBody>
                  <a:tcPr marL="5799" marR="5799" marT="5799" marB="0" anchor="ctr">
                    <a:lnL w="31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1107925172"/>
                  </a:ext>
                </a:extLst>
              </a:tr>
              <a:tr h="58040">
                <a:tc rowSpan="8">
                  <a:txBody>
                    <a:bodyPr/>
                    <a:lstStyle/>
                    <a:p>
                      <a:pPr algn="ctr" fontAlgn="ctr"/>
                      <a:r>
                        <a:rPr lang="ko-KR" altLang="en-US" sz="1000" b="0" i="0" u="none" strike="noStrike" dirty="0">
                          <a:solidFill>
                            <a:srgbClr val="000000"/>
                          </a:solidFill>
                          <a:effectLst/>
                          <a:latin typeface="+mn-ea"/>
                          <a:ea typeface="+mn-ea"/>
                        </a:rPr>
                        <a:t>훈련</a:t>
                      </a:r>
                      <a:endParaRPr lang="en-US" altLang="ko-KR" sz="1000" b="0" i="0" u="none" strike="noStrike" dirty="0">
                        <a:solidFill>
                          <a:srgbClr val="000000"/>
                        </a:solidFill>
                        <a:effectLst/>
                        <a:latin typeface="+mn-ea"/>
                        <a:ea typeface="+mn-ea"/>
                      </a:endParaRPr>
                    </a:p>
                    <a:p>
                      <a:pPr algn="ctr" fontAlgn="ctr"/>
                      <a:r>
                        <a:rPr lang="ko-KR" altLang="en-US" sz="1000" b="0" i="0" u="none" strike="noStrike" dirty="0">
                          <a:solidFill>
                            <a:srgbClr val="000000"/>
                          </a:solidFill>
                          <a:effectLst/>
                          <a:latin typeface="+mn-ea"/>
                          <a:ea typeface="+mn-ea"/>
                        </a:rPr>
                        <a:t>기관</a:t>
                      </a:r>
                    </a:p>
                  </a:txBody>
                  <a:tcPr marL="5799" marR="5799" marT="579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n-ea"/>
                          <a:ea typeface="+mn-ea"/>
                        </a:rPr>
                        <a:t>기계</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191</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152795"/>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전기전자</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106</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0598705"/>
                  </a:ext>
                </a:extLst>
              </a:tr>
              <a:tr h="62388">
                <a:tc vMerge="1">
                  <a:txBody>
                    <a:bodyPr/>
                    <a:lstStyle/>
                    <a:p>
                      <a:pPr latinLnBrk="1"/>
                      <a:endParaRPr lang="ko-KR" altLang="en-US"/>
                    </a:p>
                  </a:txBody>
                  <a:tcPr/>
                </a:tc>
                <a:tc>
                  <a:txBody>
                    <a:bodyPr/>
                    <a:lstStyle/>
                    <a:p>
                      <a:pPr algn="ctr" fontAlgn="ctr"/>
                      <a:r>
                        <a:rPr lang="ko-KR" altLang="en-US" sz="1000" b="0" i="0" u="none" strike="noStrike">
                          <a:solidFill>
                            <a:srgbClr val="000000"/>
                          </a:solidFill>
                          <a:effectLst/>
                          <a:latin typeface="+mn-ea"/>
                          <a:ea typeface="+mn-ea"/>
                        </a:rPr>
                        <a:t>화학바이오</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133</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06836"/>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정보통신</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121</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6032565"/>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재료</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30</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9036911"/>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환경에너지안전</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110</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308753"/>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문화예술</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30</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721244"/>
                  </a:ext>
                </a:extLst>
              </a:tr>
              <a:tr h="58040">
                <a:tc vMerge="1">
                  <a:txBody>
                    <a:bodyPr/>
                    <a:lstStyle/>
                    <a:p>
                      <a:pPr latinLnBrk="1"/>
                      <a:endParaRPr lang="ko-KR" altLang="en-US"/>
                    </a:p>
                  </a:txBody>
                  <a:tcPr/>
                </a:tc>
                <a:tc>
                  <a:txBody>
                    <a:bodyPr/>
                    <a:lstStyle/>
                    <a:p>
                      <a:pPr algn="ctr" fontAlgn="ctr"/>
                      <a:r>
                        <a:rPr lang="ko-KR" altLang="en-US" sz="1000" b="0" i="0" u="none" strike="noStrike" dirty="0">
                          <a:solidFill>
                            <a:srgbClr val="000000"/>
                          </a:solidFill>
                          <a:effectLst/>
                          <a:latin typeface="+mn-ea"/>
                          <a:ea typeface="+mn-ea"/>
                        </a:rPr>
                        <a:t>건설</a:t>
                      </a: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n-ea"/>
                          <a:ea typeface="+mn-ea"/>
                        </a:rPr>
                        <a:t>21</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201548"/>
                  </a:ext>
                </a:extLst>
              </a:tr>
              <a:tr h="58040">
                <a:tc gridSpan="2">
                  <a:txBody>
                    <a:bodyPr/>
                    <a:lstStyle/>
                    <a:p>
                      <a:pPr algn="ctr" fontAlgn="ctr"/>
                      <a:r>
                        <a:rPr lang="ko-KR" altLang="en-US" sz="1000" b="0" i="0" u="none" strike="noStrike">
                          <a:solidFill>
                            <a:srgbClr val="000000"/>
                          </a:solidFill>
                          <a:effectLst/>
                          <a:latin typeface="+mn-ea"/>
                          <a:ea typeface="+mn-ea"/>
                        </a:rPr>
                        <a:t>계</a:t>
                      </a:r>
                      <a:endParaRPr lang="ko-KR" altLang="en-US" sz="1000" b="0" i="0" u="none" strike="noStrike" dirty="0">
                        <a:solidFill>
                          <a:srgbClr val="000000"/>
                        </a:solidFill>
                        <a:effectLst/>
                        <a:latin typeface="+mn-ea"/>
                        <a:ea typeface="+mn-ea"/>
                      </a:endParaRPr>
                    </a:p>
                  </a:txBody>
                  <a:tcPr marL="5799" marR="5799" marT="579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n-ea"/>
                          <a:ea typeface="+mn-ea"/>
                        </a:rPr>
                        <a:t>742</a:t>
                      </a:r>
                      <a:endParaRPr lang="ko-KR" altLang="en-US" sz="1000" b="0" i="0" u="none" strike="noStrike" dirty="0">
                        <a:solidFill>
                          <a:srgbClr val="000000"/>
                        </a:solidFill>
                        <a:effectLst/>
                        <a:latin typeface="+mn-ea"/>
                        <a:ea typeface="+mn-ea"/>
                      </a:endParaRPr>
                    </a:p>
                  </a:txBody>
                  <a:tcPr marL="5799" marR="5799" marT="5799"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8334122"/>
                  </a:ext>
                </a:extLst>
              </a:tr>
            </a:tbl>
          </a:graphicData>
        </a:graphic>
      </p:graphicFrame>
      <p:sp>
        <p:nvSpPr>
          <p:cNvPr id="27" name="TextBox 26">
            <a:extLst>
              <a:ext uri="{FF2B5EF4-FFF2-40B4-BE49-F238E27FC236}">
                <a16:creationId xmlns:a16="http://schemas.microsoft.com/office/drawing/2014/main" id="{ADEFBA32-E18D-FDDE-673B-A7F2064BCEA1}"/>
              </a:ext>
            </a:extLst>
          </p:cNvPr>
          <p:cNvSpPr txBox="1"/>
          <p:nvPr/>
        </p:nvSpPr>
        <p:spPr>
          <a:xfrm>
            <a:off x="5900683" y="2332799"/>
            <a:ext cx="745763" cy="215444"/>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8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a:t>
            </a:r>
            <a:r>
              <a:rPr kumimoji="0" lang="ko-KR" altLang="en-US" sz="8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단위</a:t>
            </a:r>
            <a:r>
              <a:rPr kumimoji="0" lang="en-US" altLang="ko-KR"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 </a:t>
            </a:r>
            <a:r>
              <a:rPr kumimoji="0" lang="ko-KR" altLang="en-US"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명</a:t>
            </a:r>
            <a:r>
              <a:rPr kumimoji="0" lang="en-US" altLang="ko-KR"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a:t>
            </a:r>
            <a:r>
              <a:rPr kumimoji="0" lang="ko-KR" altLang="en-US"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개</a:t>
            </a:r>
            <a:r>
              <a:rPr kumimoji="0" lang="en-US" altLang="ko-KR"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a:t>
            </a:r>
            <a:endParaRPr kumimoji="0" lang="ko-KR" altLang="en-US" sz="800" b="0" i="0" u="none" strike="noStrike" kern="1200" cap="none" spc="0" normalizeH="0" baseline="0" noProof="0" dirty="0">
              <a:ln>
                <a:noFill/>
              </a:ln>
              <a:solidFill>
                <a:prstClr val="black"/>
              </a:solidFill>
              <a:effectLst/>
              <a:uLnTx/>
              <a:uFillTx/>
              <a:latin typeface="a고딕14"/>
              <a:ea typeface="a고딕14"/>
              <a:cs typeface="+mn-cs"/>
            </a:endParaRPr>
          </a:p>
        </p:txBody>
      </p:sp>
      <p:pic>
        <p:nvPicPr>
          <p:cNvPr id="28" name="그림 27"/>
          <p:cNvPicPr>
            <a:picLocks noChangeAspect="1"/>
          </p:cNvPicPr>
          <p:nvPr/>
        </p:nvPicPr>
        <p:blipFill>
          <a:blip r:embed="rId2"/>
          <a:stretch>
            <a:fillRect/>
          </a:stretch>
        </p:blipFill>
        <p:spPr>
          <a:xfrm>
            <a:off x="6647998" y="4437112"/>
            <a:ext cx="2697615" cy="2052588"/>
          </a:xfrm>
          <a:prstGeom prst="rect">
            <a:avLst/>
          </a:prstGeom>
          <a:effectLst>
            <a:outerShdw blurRad="50800" dist="38100" dir="2700000" algn="tl" rotWithShape="0">
              <a:prstClr val="black">
                <a:alpha val="40000"/>
              </a:prstClr>
            </a:outerShdw>
          </a:effectLst>
        </p:spPr>
      </p:pic>
      <p:sp>
        <p:nvSpPr>
          <p:cNvPr id="29" name="TextBox 28"/>
          <p:cNvSpPr txBox="1"/>
          <p:nvPr/>
        </p:nvSpPr>
        <p:spPr>
          <a:xfrm>
            <a:off x="6647999" y="4083464"/>
            <a:ext cx="2218877" cy="369332"/>
          </a:xfrm>
          <a:prstGeom prst="rect">
            <a:avLst/>
          </a:prstGeom>
          <a:noFill/>
        </p:spPr>
        <p:txBody>
          <a:bodyPr wrap="none" rtlCol="0">
            <a:spAutoFit/>
          </a:bodyPr>
          <a:lstStyle/>
          <a:p>
            <a:pPr algn="l">
              <a:buNone/>
            </a:pPr>
            <a:r>
              <a:rPr lang="en-US" altLang="ko-KR" sz="900">
                <a:latin typeface="+mj-ea"/>
                <a:ea typeface="+mj-ea"/>
              </a:rPr>
              <a:t>*</a:t>
            </a:r>
            <a:r>
              <a:rPr lang="ko-KR" altLang="en-US" sz="900">
                <a:latin typeface="+mj-ea"/>
                <a:ea typeface="+mj-ea"/>
              </a:rPr>
              <a:t>훈련기관 설문지는 혼합훈련팀에서 배포함</a:t>
            </a:r>
            <a:endParaRPr lang="en-US" altLang="ko-KR" sz="900">
              <a:latin typeface="+mj-ea"/>
              <a:ea typeface="+mj-ea"/>
            </a:endParaRPr>
          </a:p>
          <a:p>
            <a:pPr algn="l">
              <a:buNone/>
            </a:pPr>
            <a:r>
              <a:rPr lang="en-US" altLang="ko-KR" sz="900">
                <a:latin typeface="+mj-ea"/>
                <a:ea typeface="+mj-ea"/>
              </a:rPr>
              <a:t>**</a:t>
            </a:r>
            <a:r>
              <a:rPr lang="ko-KR" altLang="en-US" sz="900">
                <a:latin typeface="+mj-ea"/>
                <a:ea typeface="+mj-ea"/>
              </a:rPr>
              <a:t>훈련기관 설문지는 대분류별 </a:t>
            </a:r>
            <a:r>
              <a:rPr lang="en-US" altLang="ko-KR" sz="900">
                <a:latin typeface="+mj-ea"/>
                <a:ea typeface="+mj-ea"/>
              </a:rPr>
              <a:t>1</a:t>
            </a:r>
            <a:r>
              <a:rPr lang="ko-KR" altLang="en-US" sz="900">
                <a:latin typeface="+mj-ea"/>
                <a:ea typeface="+mj-ea"/>
              </a:rPr>
              <a:t>개씩 구성됨</a:t>
            </a:r>
            <a:endParaRPr lang="ko-KR" altLang="en-US" sz="900" dirty="0">
              <a:latin typeface="+mj-ea"/>
              <a:ea typeface="+mj-ea"/>
            </a:endParaRPr>
          </a:p>
        </p:txBody>
      </p:sp>
      <p:sp>
        <p:nvSpPr>
          <p:cNvPr id="30" name="TextBox 29">
            <a:extLst>
              <a:ext uri="{FF2B5EF4-FFF2-40B4-BE49-F238E27FC236}">
                <a16:creationId xmlns:a16="http://schemas.microsoft.com/office/drawing/2014/main" id="{ADEFBA32-E18D-FDDE-673B-A7F2064BCEA1}"/>
              </a:ext>
            </a:extLst>
          </p:cNvPr>
          <p:cNvSpPr txBox="1"/>
          <p:nvPr/>
        </p:nvSpPr>
        <p:spPr>
          <a:xfrm>
            <a:off x="8598924" y="2332799"/>
            <a:ext cx="745763" cy="215444"/>
          </a:xfrm>
          <a:prstGeom prst="rect">
            <a:avLst/>
          </a:prstGeom>
          <a:noFill/>
        </p:spPr>
        <p:txBody>
          <a:bodyPr wrap="square" rtlCol="0">
            <a:spAutoFit/>
          </a:bodyPr>
          <a:lstStyle/>
          <a:p>
            <a:pPr marL="0" marR="0" lvl="0" indent="0" algn="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8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a:t>
            </a:r>
            <a:r>
              <a:rPr kumimoji="0" lang="ko-KR" altLang="en-US" sz="8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단위</a:t>
            </a:r>
            <a:r>
              <a:rPr kumimoji="0" lang="en-US" altLang="ko-KR"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 </a:t>
            </a:r>
            <a:r>
              <a:rPr kumimoji="0" lang="ko-KR" altLang="en-US"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개</a:t>
            </a:r>
            <a:r>
              <a:rPr kumimoji="0" lang="en-US" altLang="ko-KR" sz="800" b="0" i="0" u="none" strike="noStrike" kern="120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a:t>
            </a:r>
            <a:endParaRPr kumimoji="0" lang="ko-KR" altLang="en-US" sz="800" b="0" i="0" u="none" strike="noStrike" kern="1200" cap="none" spc="0" normalizeH="0" baseline="0" noProof="0" dirty="0">
              <a:ln>
                <a:noFill/>
              </a:ln>
              <a:solidFill>
                <a:prstClr val="black"/>
              </a:solidFill>
              <a:effectLst/>
              <a:uLnTx/>
              <a:uFillTx/>
              <a:latin typeface="a고딕14"/>
              <a:ea typeface="a고딕14"/>
              <a:cs typeface="+mn-cs"/>
            </a:endParaRPr>
          </a:p>
        </p:txBody>
      </p:sp>
    </p:spTree>
    <p:extLst>
      <p:ext uri="{BB962C8B-B14F-4D97-AF65-F5344CB8AC3E}">
        <p14:creationId xmlns:p14="http://schemas.microsoft.com/office/powerpoint/2010/main" val="404325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8E580-D4F5-AF9B-728B-FAE20356CBC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8EA848E-4030-7471-B1A0-58D803C915E4}"/>
              </a:ext>
            </a:extLst>
          </p:cNvPr>
          <p:cNvSpPr>
            <a:spLocks noGrp="1"/>
          </p:cNvSpPr>
          <p:nvPr>
            <p:ph type="body" sz="quarter" idx="12"/>
          </p:nvPr>
        </p:nvSpPr>
        <p:spPr/>
        <p:txBody>
          <a:bodyPr/>
          <a:lstStyle/>
          <a:p>
            <a:pPr latinLnBrk="0"/>
            <a:r>
              <a:rPr lang="en-US" altLang="ko-KR"/>
              <a:t>AI </a:t>
            </a:r>
            <a:r>
              <a:rPr lang="ko-KR" altLang="en-US"/>
              <a:t>리터러시 역량이 새 정부의 핵심 전략 분야로 부상함에 따라</a:t>
            </a:r>
            <a:r>
              <a:rPr lang="en-US" altLang="ko-KR"/>
              <a:t>, </a:t>
            </a:r>
            <a:r>
              <a:rPr lang="ko-KR" altLang="en-US"/>
              <a:t>온평원은 전 국민의 </a:t>
            </a:r>
            <a:r>
              <a:rPr lang="en-US" altLang="ko-KR"/>
              <a:t>AI </a:t>
            </a:r>
            <a:r>
              <a:rPr lang="ko-KR" altLang="en-US"/>
              <a:t>리터러시 함양을 효과적으로 지원하기 위해 직무별 맞춤형 </a:t>
            </a:r>
            <a:r>
              <a:rPr lang="en-US" altLang="ko-KR"/>
              <a:t>AI </a:t>
            </a:r>
            <a:r>
              <a:rPr lang="ko-KR" altLang="en-US"/>
              <a:t>리터러시 교육과정을</a:t>
            </a:r>
            <a:r>
              <a:rPr lang="en-US" altLang="ko-KR"/>
              <a:t> </a:t>
            </a:r>
            <a:r>
              <a:rPr lang="ko-KR" altLang="en-US"/>
              <a:t>개발하고자 함</a:t>
            </a:r>
            <a:endParaRPr lang="ko-KR" altLang="en-US" dirty="0"/>
          </a:p>
        </p:txBody>
      </p:sp>
      <p:sp>
        <p:nvSpPr>
          <p:cNvPr id="5" name="텍스트 개체 틀 4">
            <a:extLst>
              <a:ext uri="{FF2B5EF4-FFF2-40B4-BE49-F238E27FC236}">
                <a16:creationId xmlns:a16="http://schemas.microsoft.com/office/drawing/2014/main" id="{47069581-BEDA-0F34-95AB-EFC00D1D93FA}"/>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Ⅱ. 25</a:t>
            </a:r>
            <a:r>
              <a:rPr lang="ko-KR" altLang="en-US" dirty="0">
                <a:latin typeface="+mn-ea"/>
              </a:rPr>
              <a:t>년도 </a:t>
            </a:r>
            <a:r>
              <a:rPr lang="en-US" altLang="ko-KR" dirty="0">
                <a:latin typeface="+mn-ea"/>
              </a:rPr>
              <a:t>TTR </a:t>
            </a:r>
            <a:r>
              <a:rPr lang="ko-KR" altLang="en-US" dirty="0">
                <a:latin typeface="+mn-ea"/>
              </a:rPr>
              <a:t>개발 및 신규과정 선정</a:t>
            </a:r>
          </a:p>
        </p:txBody>
      </p:sp>
      <p:sp>
        <p:nvSpPr>
          <p:cNvPr id="6" name="텍스트 개체 틀 87">
            <a:extLst>
              <a:ext uri="{FF2B5EF4-FFF2-40B4-BE49-F238E27FC236}">
                <a16:creationId xmlns:a16="http://schemas.microsoft.com/office/drawing/2014/main" id="{7E0D0D5E-1E99-6705-E066-929E1A75359B}"/>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AI </a:t>
            </a:r>
            <a:r>
              <a:rPr lang="ko-KR" altLang="en-US" sz="1200" dirty="0" err="1">
                <a:solidFill>
                  <a:schemeClr val="bg1"/>
                </a:solidFill>
              </a:rPr>
              <a:t>리터러시</a:t>
            </a:r>
            <a:r>
              <a:rPr lang="ko-KR" altLang="en-US" sz="1200" dirty="0">
                <a:solidFill>
                  <a:schemeClr val="bg1"/>
                </a:solidFill>
              </a:rPr>
              <a:t> 교육과정 개발 절차 수립</a:t>
            </a:r>
          </a:p>
        </p:txBody>
      </p:sp>
      <p:sp>
        <p:nvSpPr>
          <p:cNvPr id="10" name="직사각형 9">
            <a:extLst>
              <a:ext uri="{FF2B5EF4-FFF2-40B4-BE49-F238E27FC236}">
                <a16:creationId xmlns:a16="http://schemas.microsoft.com/office/drawing/2014/main" id="{B6BC7ACA-8521-1E2C-B743-792589233C53}"/>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7. AI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리터러시</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분야 교육과정 개발</a:t>
            </a:r>
            <a:endParaRPr lang="ko-KR" altLang="en-US" sz="1100" dirty="0">
              <a:solidFill>
                <a:srgbClr val="003F56"/>
              </a:solidFill>
              <a:latin typeface="a고딕14"/>
              <a:ea typeface="a고딕14"/>
            </a:endParaRPr>
          </a:p>
        </p:txBody>
      </p:sp>
      <p:sp>
        <p:nvSpPr>
          <p:cNvPr id="8" name="직사각형 7">
            <a:extLst>
              <a:ext uri="{FF2B5EF4-FFF2-40B4-BE49-F238E27FC236}">
                <a16:creationId xmlns:a16="http://schemas.microsoft.com/office/drawing/2014/main" id="{EACFDDE7-19CA-2983-36D7-B3DE1C97669B}"/>
              </a:ext>
            </a:extLst>
          </p:cNvPr>
          <p:cNvSpPr/>
          <p:nvPr/>
        </p:nvSpPr>
        <p:spPr>
          <a:xfrm>
            <a:off x="591468" y="2494790"/>
            <a:ext cx="4145631" cy="39949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9" name="그룹 8">
            <a:extLst>
              <a:ext uri="{FF2B5EF4-FFF2-40B4-BE49-F238E27FC236}">
                <a16:creationId xmlns:a16="http://schemas.microsoft.com/office/drawing/2014/main" id="{F999D5E6-49FA-CA27-7CA2-33762F674DF4}"/>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A5347357-1F59-91A0-D653-9B84C58C65C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직무별 </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AI </a:t>
              </a:r>
              <a:r>
                <a:rPr kumimoji="0" lang="ko-KR" altLang="en-US" sz="140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리터러시</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융합 교육과정 개발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E1010F7-3467-0050-1E48-2EB087DBF05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3" name="직사각형 12">
            <a:extLst>
              <a:ext uri="{FF2B5EF4-FFF2-40B4-BE49-F238E27FC236}">
                <a16:creationId xmlns:a16="http://schemas.microsoft.com/office/drawing/2014/main" id="{E9C30701-E66A-5718-C6ED-61EF82A214DC}"/>
              </a:ext>
            </a:extLst>
          </p:cNvPr>
          <p:cNvSpPr/>
          <p:nvPr/>
        </p:nvSpPr>
        <p:spPr>
          <a:xfrm>
            <a:off x="596515" y="2107247"/>
            <a:ext cx="4140585"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err="1">
                <a:solidFill>
                  <a:prstClr val="white"/>
                </a:solidFill>
                <a:latin typeface="+mn-ea"/>
              </a:rPr>
              <a:t>이재명</a:t>
            </a:r>
            <a:r>
              <a:rPr lang="ko-KR" altLang="en-US" dirty="0">
                <a:solidFill>
                  <a:prstClr val="white"/>
                </a:solidFill>
                <a:latin typeface="+mn-ea"/>
              </a:rPr>
              <a:t> 정부의 </a:t>
            </a:r>
            <a:r>
              <a:rPr lang="en-US" altLang="ko-KR" dirty="0">
                <a:solidFill>
                  <a:prstClr val="white"/>
                </a:solidFill>
                <a:latin typeface="+mn-ea"/>
              </a:rPr>
              <a:t>AI </a:t>
            </a:r>
            <a:r>
              <a:rPr lang="ko-KR" altLang="en-US" dirty="0">
                <a:solidFill>
                  <a:prstClr val="white"/>
                </a:solidFill>
                <a:latin typeface="+mn-ea"/>
              </a:rPr>
              <a:t>역량체계 구축</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4" name="사각형: 둥근 모서리 29">
            <a:extLst>
              <a:ext uri="{FF2B5EF4-FFF2-40B4-BE49-F238E27FC236}">
                <a16:creationId xmlns:a16="http://schemas.microsoft.com/office/drawing/2014/main" id="{2ED7AF42-0AAF-14DC-8685-A5AB76A920E4}"/>
              </a:ext>
            </a:extLst>
          </p:cNvPr>
          <p:cNvSpPr/>
          <p:nvPr/>
        </p:nvSpPr>
        <p:spPr>
          <a:xfrm>
            <a:off x="871939" y="2935163"/>
            <a:ext cx="3799238" cy="6878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b="0" i="1" u="none" strike="noStrike" kern="1200" cap="none" spc="-5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인공지능</a:t>
            </a:r>
            <a:r>
              <a:rPr kumimoji="0" lang="en-US" altLang="ko-KR" b="0" i="1" u="none" strike="noStrike" kern="1200" cap="none" spc="-5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 </a:t>
            </a:r>
            <a:r>
              <a:rPr kumimoji="0" lang="ko-KR" altLang="en-US" b="0" i="1" u="none" strike="noStrike" kern="1200" cap="none" spc="-5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반도체 등 첨단 기술 산업에 대한 대대적 투자와 지원을 통해 미래를 주도하는 산업 강국으로 도약할 것이다</a:t>
            </a:r>
            <a:r>
              <a:rPr kumimoji="0" lang="en-US" altLang="ko-KR" b="0" i="1" u="none" strike="noStrike" kern="1200" cap="none" spc="-5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en-US" altLang="ko-KR" b="0" i="1"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
        <p:nvSpPr>
          <p:cNvPr id="15" name="TextBox 14">
            <a:extLst>
              <a:ext uri="{FF2B5EF4-FFF2-40B4-BE49-F238E27FC236}">
                <a16:creationId xmlns:a16="http://schemas.microsoft.com/office/drawing/2014/main" id="{D0730E7D-ED91-3276-29B5-6F51307E0DBC}"/>
              </a:ext>
            </a:extLst>
          </p:cNvPr>
          <p:cNvSpPr txBox="1"/>
          <p:nvPr/>
        </p:nvSpPr>
        <p:spPr>
          <a:xfrm>
            <a:off x="846301" y="2791794"/>
            <a:ext cx="1116124" cy="461665"/>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
        <p:nvSpPr>
          <p:cNvPr id="16" name="TextBox 15">
            <a:extLst>
              <a:ext uri="{FF2B5EF4-FFF2-40B4-BE49-F238E27FC236}">
                <a16:creationId xmlns:a16="http://schemas.microsoft.com/office/drawing/2014/main" id="{AAB81AED-9903-2A77-95A7-D53805647F42}"/>
              </a:ext>
            </a:extLst>
          </p:cNvPr>
          <p:cNvSpPr txBox="1"/>
          <p:nvPr/>
        </p:nvSpPr>
        <p:spPr>
          <a:xfrm>
            <a:off x="4248753" y="3485341"/>
            <a:ext cx="1116124" cy="461665"/>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
        <p:nvSpPr>
          <p:cNvPr id="17" name="모서리가 둥근 직사각형 2">
            <a:extLst>
              <a:ext uri="{FF2B5EF4-FFF2-40B4-BE49-F238E27FC236}">
                <a16:creationId xmlns:a16="http://schemas.microsoft.com/office/drawing/2014/main" id="{CF06D1BA-E620-35DB-A8AA-C611FAAA022E}"/>
              </a:ext>
            </a:extLst>
          </p:cNvPr>
          <p:cNvSpPr/>
          <p:nvPr/>
        </p:nvSpPr>
        <p:spPr>
          <a:xfrm>
            <a:off x="362776" y="2452540"/>
            <a:ext cx="1116123" cy="392871"/>
          </a:xfrm>
          <a:prstGeom prst="round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15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대통령 취임 선서</a:t>
            </a:r>
          </a:p>
        </p:txBody>
      </p:sp>
      <p:sp>
        <p:nvSpPr>
          <p:cNvPr id="18" name="사각형: 둥근 모서리 32">
            <a:extLst>
              <a:ext uri="{FF2B5EF4-FFF2-40B4-BE49-F238E27FC236}">
                <a16:creationId xmlns:a16="http://schemas.microsoft.com/office/drawing/2014/main" id="{E43875D4-325C-8752-08B2-9EC76A3AED51}"/>
              </a:ext>
            </a:extLst>
          </p:cNvPr>
          <p:cNvSpPr/>
          <p:nvPr/>
        </p:nvSpPr>
        <p:spPr>
          <a:xfrm>
            <a:off x="791668" y="4257608"/>
            <a:ext cx="1188132" cy="556581"/>
          </a:xfrm>
          <a:prstGeom prst="round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atinLnBrk="0">
              <a:buNone/>
            </a:pPr>
            <a:r>
              <a:rPr lang="en-US" altLang="ko-KR" dirty="0">
                <a:solidFill>
                  <a:schemeClr val="tx1"/>
                </a:solidFill>
                <a:latin typeface="Arial Narrow" panose="020B0606020202030204" pitchFamily="34" charset="0"/>
                <a:ea typeface="a고딕14" panose="02020600000000000000" pitchFamily="18" charset="-127"/>
              </a:rPr>
              <a:t>‘AI </a:t>
            </a:r>
            <a:r>
              <a:rPr lang="ko-KR" altLang="en-US" dirty="0">
                <a:solidFill>
                  <a:schemeClr val="tx1"/>
                </a:solidFill>
                <a:latin typeface="Arial Narrow" panose="020B0606020202030204" pitchFamily="34" charset="0"/>
                <a:ea typeface="a고딕14" panose="02020600000000000000" pitchFamily="18" charset="-127"/>
              </a:rPr>
              <a:t>교육특구</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지정</a:t>
            </a:r>
          </a:p>
        </p:txBody>
      </p:sp>
      <p:sp>
        <p:nvSpPr>
          <p:cNvPr id="19" name="사각형: 둥근 모서리 33">
            <a:extLst>
              <a:ext uri="{FF2B5EF4-FFF2-40B4-BE49-F238E27FC236}">
                <a16:creationId xmlns:a16="http://schemas.microsoft.com/office/drawing/2014/main" id="{3EDE921F-55E4-F96F-854E-E99DA13EE004}"/>
              </a:ext>
            </a:extLst>
          </p:cNvPr>
          <p:cNvSpPr/>
          <p:nvPr/>
        </p:nvSpPr>
        <p:spPr>
          <a:xfrm>
            <a:off x="2137489" y="4257608"/>
            <a:ext cx="1188000" cy="556581"/>
          </a:xfrm>
          <a:prstGeom prst="round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생애주기 기반 교육체계 수립</a:t>
            </a:r>
          </a:p>
        </p:txBody>
      </p:sp>
      <p:sp>
        <p:nvSpPr>
          <p:cNvPr id="20" name="사각형: 둥근 모서리 35">
            <a:extLst>
              <a:ext uri="{FF2B5EF4-FFF2-40B4-BE49-F238E27FC236}">
                <a16:creationId xmlns:a16="http://schemas.microsoft.com/office/drawing/2014/main" id="{8BBF4F8F-67F0-79A1-2805-231581C893DF}"/>
              </a:ext>
            </a:extLst>
          </p:cNvPr>
          <p:cNvSpPr/>
          <p:nvPr/>
        </p:nvSpPr>
        <p:spPr>
          <a:xfrm>
            <a:off x="3483177" y="4257608"/>
            <a:ext cx="1188000" cy="556581"/>
          </a:xfrm>
          <a:prstGeom prst="round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고등교육</a:t>
            </a:r>
            <a:r>
              <a:rPr lang="en-US" altLang="ko-KR" dirty="0">
                <a:solidFill>
                  <a:schemeClr val="tx1"/>
                </a:solidFill>
                <a:latin typeface="Arial Narrow" panose="020B0606020202030204" pitchFamily="34" charset="0"/>
                <a:ea typeface="a고딕14" panose="02020600000000000000" pitchFamily="18" charset="-127"/>
              </a:rPr>
              <a:t>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체계 개편</a:t>
            </a:r>
          </a:p>
        </p:txBody>
      </p:sp>
      <p:pic>
        <p:nvPicPr>
          <p:cNvPr id="21" name="Picture 22" descr="E:\포폴정리\멀캠\개체\자주쓰는 PNG\화살표2.png">
            <a:extLst>
              <a:ext uri="{FF2B5EF4-FFF2-40B4-BE49-F238E27FC236}">
                <a16:creationId xmlns:a16="http://schemas.microsoft.com/office/drawing/2014/main" id="{F7799D98-E5F4-79A5-2890-0DA6C21D5A3E}"/>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10800000" flipV="1">
            <a:off x="871939" y="3429000"/>
            <a:ext cx="3799238" cy="650778"/>
          </a:xfrm>
          <a:prstGeom prst="rect">
            <a:avLst/>
          </a:prstGeom>
          <a:noFill/>
        </p:spPr>
      </p:pic>
      <p:sp>
        <p:nvSpPr>
          <p:cNvPr id="22" name="모서리가 둥근 직사각형 2">
            <a:extLst>
              <a:ext uri="{FF2B5EF4-FFF2-40B4-BE49-F238E27FC236}">
                <a16:creationId xmlns:a16="http://schemas.microsoft.com/office/drawing/2014/main" id="{5CEFE459-F041-6A55-C21C-51A6BEBC2004}"/>
              </a:ext>
            </a:extLst>
          </p:cNvPr>
          <p:cNvSpPr/>
          <p:nvPr/>
        </p:nvSpPr>
        <p:spPr>
          <a:xfrm>
            <a:off x="362776" y="3756209"/>
            <a:ext cx="1116124" cy="392871"/>
          </a:xfrm>
          <a:prstGeom prst="round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en-US" altLang="ko-KR" sz="12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AI </a:t>
            </a:r>
            <a:r>
              <a:rPr kumimoji="0" lang="ko-KR" altLang="en-US" sz="1200" b="0" i="0" u="none" strike="noStrike" kern="1200" cap="none"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인재 양성의 핵심 수단</a:t>
            </a:r>
          </a:p>
        </p:txBody>
      </p:sp>
      <p:sp>
        <p:nvSpPr>
          <p:cNvPr id="23" name="모서리가 둥근 직사각형 2">
            <a:extLst>
              <a:ext uri="{FF2B5EF4-FFF2-40B4-BE49-F238E27FC236}">
                <a16:creationId xmlns:a16="http://schemas.microsoft.com/office/drawing/2014/main" id="{26F516D5-D8E9-6FF9-EC3A-DA433EF92944}"/>
              </a:ext>
            </a:extLst>
          </p:cNvPr>
          <p:cNvSpPr/>
          <p:nvPr/>
        </p:nvSpPr>
        <p:spPr>
          <a:xfrm>
            <a:off x="742819" y="4184780"/>
            <a:ext cx="299812" cy="173331"/>
          </a:xfrm>
          <a:prstGeom prst="round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0" cap="none" spc="0" normalizeH="0" baseline="0" noProof="0" dirty="0">
                <a:ln>
                  <a:noFill/>
                </a:ln>
                <a:solidFill>
                  <a:prstClr val="white"/>
                </a:solidFill>
                <a:effectLst/>
                <a:uLnTx/>
                <a:uFillTx/>
                <a:latin typeface="a고딕16" panose="02020600000000000000" pitchFamily="18" charset="-127"/>
                <a:ea typeface="a고딕16" panose="02020600000000000000" pitchFamily="18" charset="-127"/>
                <a:cs typeface="+mn-cs"/>
              </a:rPr>
              <a:t>❶</a:t>
            </a: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4" name="모서리가 둥근 직사각형 2">
            <a:extLst>
              <a:ext uri="{FF2B5EF4-FFF2-40B4-BE49-F238E27FC236}">
                <a16:creationId xmlns:a16="http://schemas.microsoft.com/office/drawing/2014/main" id="{9E8B628A-357E-55E0-54DA-1D0A862F9F31}"/>
              </a:ext>
            </a:extLst>
          </p:cNvPr>
          <p:cNvSpPr/>
          <p:nvPr/>
        </p:nvSpPr>
        <p:spPr>
          <a:xfrm>
            <a:off x="2053369" y="4184780"/>
            <a:ext cx="299812" cy="173331"/>
          </a:xfrm>
          <a:prstGeom prst="round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0" cap="none" spc="0" normalizeH="0" baseline="0" noProof="0" dirty="0">
                <a:ln>
                  <a:noFill/>
                </a:ln>
                <a:solidFill>
                  <a:prstClr val="white"/>
                </a:solidFill>
                <a:effectLst/>
                <a:uLnTx/>
                <a:uFillTx/>
                <a:latin typeface="a고딕16" panose="02020600000000000000" pitchFamily="18" charset="-127"/>
                <a:ea typeface="a고딕16" panose="02020600000000000000" pitchFamily="18" charset="-127"/>
                <a:cs typeface="+mn-cs"/>
              </a:rPr>
              <a:t>❷</a:t>
            </a: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5" name="모서리가 둥근 직사각형 2">
            <a:extLst>
              <a:ext uri="{FF2B5EF4-FFF2-40B4-BE49-F238E27FC236}">
                <a16:creationId xmlns:a16="http://schemas.microsoft.com/office/drawing/2014/main" id="{C758DC5B-0CC8-3AAC-84AF-C80AFA5ACDAE}"/>
              </a:ext>
            </a:extLst>
          </p:cNvPr>
          <p:cNvSpPr/>
          <p:nvPr/>
        </p:nvSpPr>
        <p:spPr>
          <a:xfrm>
            <a:off x="3399058" y="4184780"/>
            <a:ext cx="299812" cy="173331"/>
          </a:xfrm>
          <a:prstGeom prst="round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rPr>
              <a:t>➌</a:t>
            </a: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6" name="직사각형 25">
            <a:extLst>
              <a:ext uri="{FF2B5EF4-FFF2-40B4-BE49-F238E27FC236}">
                <a16:creationId xmlns:a16="http://schemas.microsoft.com/office/drawing/2014/main" id="{24BBED1F-739A-C01C-69D6-4D90648DEC8B}"/>
              </a:ext>
            </a:extLst>
          </p:cNvPr>
          <p:cNvSpPr/>
          <p:nvPr/>
        </p:nvSpPr>
        <p:spPr>
          <a:xfrm>
            <a:off x="791668" y="5036588"/>
            <a:ext cx="3879509" cy="1306998"/>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171450" algn="l" latinLnBrk="0">
              <a:spcAft>
                <a:spcPts val="600"/>
              </a:spcAft>
              <a:buFont typeface="Wingdings" panose="05000000000000000000" pitchFamily="2" charset="2"/>
              <a:buChar char="Ø"/>
            </a:pPr>
            <a:r>
              <a:rPr lang="ko-KR" altLang="en-US" spc="-100" dirty="0">
                <a:latin typeface="a고딕14" panose="02020600000000000000" pitchFamily="18" charset="-127"/>
                <a:ea typeface="a고딕14" panose="02020600000000000000" pitchFamily="18" charset="-127"/>
              </a:rPr>
              <a:t>대학에서는 학습자의 전공에 따라 </a:t>
            </a:r>
            <a:r>
              <a:rPr lang="en-US" altLang="ko-KR" spc="-100" dirty="0">
                <a:latin typeface="a고딕14" panose="02020600000000000000" pitchFamily="18" charset="-127"/>
                <a:ea typeface="a고딕14" panose="02020600000000000000" pitchFamily="18" charset="-127"/>
              </a:rPr>
              <a:t>AI </a:t>
            </a:r>
            <a:r>
              <a:rPr lang="ko-KR" altLang="en-US" spc="-100" dirty="0">
                <a:latin typeface="a고딕14" panose="02020600000000000000" pitchFamily="18" charset="-127"/>
                <a:ea typeface="a고딕14" panose="02020600000000000000" pitchFamily="18" charset="-127"/>
              </a:rPr>
              <a:t>활용 수준을 나누고</a:t>
            </a:r>
            <a:r>
              <a:rPr lang="en-US" altLang="ko-KR" spc="-100" dirty="0">
                <a:latin typeface="a고딕14" panose="02020600000000000000" pitchFamily="18" charset="-127"/>
                <a:ea typeface="a고딕14" panose="02020600000000000000" pitchFamily="18" charset="-127"/>
              </a:rPr>
              <a:t>, </a:t>
            </a:r>
            <a:r>
              <a:rPr lang="ko-KR" altLang="en-US" b="1" spc="-100" dirty="0">
                <a:solidFill>
                  <a:srgbClr val="FFFF00"/>
                </a:solidFill>
                <a:latin typeface="a고딕14" panose="02020600000000000000" pitchFamily="18" charset="-127"/>
                <a:ea typeface="a고딕14" panose="02020600000000000000" pitchFamily="18" charset="-127"/>
              </a:rPr>
              <a:t>비전공자를 위한 </a:t>
            </a:r>
            <a:r>
              <a:rPr lang="en-US" altLang="ko-KR" b="1" spc="-100" dirty="0">
                <a:solidFill>
                  <a:srgbClr val="FFFF00"/>
                </a:solidFill>
                <a:latin typeface="a고딕14" panose="02020600000000000000" pitchFamily="18" charset="-127"/>
                <a:ea typeface="a고딕14" panose="02020600000000000000" pitchFamily="18" charset="-127"/>
              </a:rPr>
              <a:t>AI </a:t>
            </a:r>
            <a:r>
              <a:rPr lang="ko-KR" altLang="en-US" b="1" spc="-100" dirty="0" err="1">
                <a:solidFill>
                  <a:srgbClr val="FFFF00"/>
                </a:solidFill>
                <a:latin typeface="a고딕14" panose="02020600000000000000" pitchFamily="18" charset="-127"/>
                <a:ea typeface="a고딕14" panose="02020600000000000000" pitchFamily="18" charset="-127"/>
              </a:rPr>
              <a:t>리터러시</a:t>
            </a:r>
            <a:r>
              <a:rPr lang="ko-KR" altLang="en-US" b="1" spc="-100" dirty="0">
                <a:solidFill>
                  <a:srgbClr val="FFFF00"/>
                </a:solidFill>
                <a:latin typeface="a고딕14" panose="02020600000000000000" pitchFamily="18" charset="-127"/>
                <a:ea typeface="a고딕14" panose="02020600000000000000" pitchFamily="18" charset="-127"/>
              </a:rPr>
              <a:t> 교양과정</a:t>
            </a:r>
            <a:r>
              <a:rPr lang="en-US" altLang="ko-KR" spc="-100" dirty="0">
                <a:latin typeface="a고딕14" panose="02020600000000000000" pitchFamily="18" charset="-127"/>
                <a:ea typeface="a고딕14" panose="02020600000000000000" pitchFamily="18" charset="-127"/>
              </a:rPr>
              <a:t>, </a:t>
            </a:r>
            <a:r>
              <a:rPr lang="ko-KR" altLang="en-US" spc="-100" dirty="0">
                <a:latin typeface="a고딕14" panose="02020600000000000000" pitchFamily="18" charset="-127"/>
                <a:ea typeface="a고딕14" panose="02020600000000000000" pitchFamily="18" charset="-127"/>
              </a:rPr>
              <a:t>각 </a:t>
            </a:r>
            <a:r>
              <a:rPr lang="ko-KR" altLang="en-US" b="1" spc="-100" dirty="0">
                <a:solidFill>
                  <a:srgbClr val="FFFF00"/>
                </a:solidFill>
                <a:latin typeface="a고딕14" panose="02020600000000000000" pitchFamily="18" charset="-127"/>
                <a:ea typeface="a고딕14" panose="02020600000000000000" pitchFamily="18" charset="-127"/>
              </a:rPr>
              <a:t>전공과 </a:t>
            </a:r>
            <a:r>
              <a:rPr lang="en-US" altLang="ko-KR" b="1" spc="-100" dirty="0">
                <a:solidFill>
                  <a:srgbClr val="FFFF00"/>
                </a:solidFill>
                <a:latin typeface="a고딕14" panose="02020600000000000000" pitchFamily="18" charset="-127"/>
                <a:ea typeface="a고딕14" panose="02020600000000000000" pitchFamily="18" charset="-127"/>
              </a:rPr>
              <a:t>AI </a:t>
            </a:r>
            <a:r>
              <a:rPr lang="ko-KR" altLang="en-US" b="1" spc="-100" dirty="0">
                <a:solidFill>
                  <a:srgbClr val="FFFF00"/>
                </a:solidFill>
                <a:latin typeface="a고딕14" panose="02020600000000000000" pitchFamily="18" charset="-127"/>
                <a:ea typeface="a고딕14" panose="02020600000000000000" pitchFamily="18" charset="-127"/>
              </a:rPr>
              <a:t>기술을 결합한 </a:t>
            </a:r>
            <a:r>
              <a:rPr lang="en-US" altLang="ko-KR" b="1" spc="-100" dirty="0">
                <a:solidFill>
                  <a:srgbClr val="FFFF00"/>
                </a:solidFill>
                <a:latin typeface="a고딕14" panose="02020600000000000000" pitchFamily="18" charset="-127"/>
                <a:ea typeface="a고딕14" panose="02020600000000000000" pitchFamily="18" charset="-127"/>
              </a:rPr>
              <a:t>AI+X </a:t>
            </a:r>
            <a:r>
              <a:rPr lang="ko-KR" altLang="en-US" b="1" spc="-100" dirty="0">
                <a:solidFill>
                  <a:srgbClr val="FFFF00"/>
                </a:solidFill>
                <a:latin typeface="a고딕14" panose="02020600000000000000" pitchFamily="18" charset="-127"/>
                <a:ea typeface="a고딕14" panose="02020600000000000000" pitchFamily="18" charset="-127"/>
              </a:rPr>
              <a:t>응용과정</a:t>
            </a:r>
            <a:r>
              <a:rPr lang="en-US" altLang="ko-KR" spc="-100" dirty="0">
                <a:latin typeface="a고딕14" panose="02020600000000000000" pitchFamily="18" charset="-127"/>
                <a:ea typeface="a고딕14" panose="02020600000000000000" pitchFamily="18" charset="-127"/>
              </a:rPr>
              <a:t>, </a:t>
            </a:r>
            <a:r>
              <a:rPr lang="ko-KR" altLang="en-US" spc="-100" dirty="0">
                <a:latin typeface="a고딕14" panose="02020600000000000000" pitchFamily="18" charset="-127"/>
                <a:ea typeface="a고딕14" panose="02020600000000000000" pitchFamily="18" charset="-127"/>
              </a:rPr>
              <a:t>그리고 인공지능 모델 설계와 구현을 위한 </a:t>
            </a:r>
            <a:r>
              <a:rPr lang="en-US" altLang="ko-KR" b="1" spc="-100" dirty="0">
                <a:solidFill>
                  <a:srgbClr val="FFFF00"/>
                </a:solidFill>
                <a:latin typeface="a고딕14" panose="02020600000000000000" pitchFamily="18" charset="-127"/>
                <a:ea typeface="a고딕14" panose="02020600000000000000" pitchFamily="18" charset="-127"/>
              </a:rPr>
              <a:t>AI </a:t>
            </a:r>
            <a:r>
              <a:rPr lang="ko-KR" altLang="en-US" b="1" spc="-100" dirty="0">
                <a:solidFill>
                  <a:srgbClr val="FFFF00"/>
                </a:solidFill>
                <a:latin typeface="a고딕14" panose="02020600000000000000" pitchFamily="18" charset="-127"/>
                <a:ea typeface="a고딕14" panose="02020600000000000000" pitchFamily="18" charset="-127"/>
              </a:rPr>
              <a:t>핵심과정을 구분</a:t>
            </a:r>
            <a:endParaRPr lang="en-US" altLang="ko-KR" b="1" spc="-100" dirty="0">
              <a:solidFill>
                <a:srgbClr val="FFFF00"/>
              </a:solidFill>
              <a:latin typeface="a고딕14" panose="02020600000000000000" pitchFamily="18" charset="-127"/>
              <a:ea typeface="a고딕14" panose="02020600000000000000" pitchFamily="18" charset="-127"/>
            </a:endParaRPr>
          </a:p>
          <a:p>
            <a:pPr marL="171450" indent="-171450" algn="l" latinLnBrk="0">
              <a:spcAft>
                <a:spcPts val="600"/>
              </a:spcAft>
              <a:buFont typeface="Wingdings" panose="05000000000000000000" pitchFamily="2" charset="2"/>
              <a:buChar char="Ø"/>
            </a:pPr>
            <a:r>
              <a:rPr lang="ko-KR" altLang="en-US" spc="-100" dirty="0">
                <a:latin typeface="a고딕14" panose="02020600000000000000" pitchFamily="18" charset="-127"/>
                <a:ea typeface="a고딕14" panose="02020600000000000000" pitchFamily="18" charset="-127"/>
              </a:rPr>
              <a:t>예를 들어</a:t>
            </a:r>
            <a:r>
              <a:rPr lang="en-US" altLang="ko-KR" spc="-100" dirty="0">
                <a:latin typeface="a고딕14" panose="02020600000000000000" pitchFamily="18" charset="-127"/>
                <a:ea typeface="a고딕14" panose="02020600000000000000" pitchFamily="18" charset="-127"/>
              </a:rPr>
              <a:t>, </a:t>
            </a:r>
            <a:r>
              <a:rPr lang="ko-KR" altLang="en-US" spc="-100" dirty="0">
                <a:latin typeface="a고딕14" panose="02020600000000000000" pitchFamily="18" charset="-127"/>
                <a:ea typeface="a고딕14" panose="02020600000000000000" pitchFamily="18" charset="-127"/>
              </a:rPr>
              <a:t>교육학과 학생은 교육 </a:t>
            </a:r>
            <a:r>
              <a:rPr lang="en-US" altLang="ko-KR" spc="-100" dirty="0">
                <a:latin typeface="a고딕14" panose="02020600000000000000" pitchFamily="18" charset="-127"/>
                <a:ea typeface="a고딕14" panose="02020600000000000000" pitchFamily="18" charset="-127"/>
              </a:rPr>
              <a:t>AI, </a:t>
            </a:r>
            <a:r>
              <a:rPr lang="ko-KR" altLang="en-US" spc="-100" dirty="0">
                <a:latin typeface="a고딕14" panose="02020600000000000000" pitchFamily="18" charset="-127"/>
                <a:ea typeface="a고딕14" panose="02020600000000000000" pitchFamily="18" charset="-127"/>
              </a:rPr>
              <a:t>법학과 학생은 법률 </a:t>
            </a:r>
            <a:r>
              <a:rPr lang="en-US" altLang="ko-KR" spc="-100" dirty="0">
                <a:latin typeface="a고딕14" panose="02020600000000000000" pitchFamily="18" charset="-127"/>
                <a:ea typeface="a고딕14" panose="02020600000000000000" pitchFamily="18" charset="-127"/>
              </a:rPr>
              <a:t>AI, </a:t>
            </a:r>
            <a:r>
              <a:rPr lang="ko-KR" altLang="en-US" spc="-100" dirty="0">
                <a:latin typeface="a고딕14" panose="02020600000000000000" pitchFamily="18" charset="-127"/>
                <a:ea typeface="a고딕14" panose="02020600000000000000" pitchFamily="18" charset="-127"/>
              </a:rPr>
              <a:t>간호학과 학생은 의료</a:t>
            </a:r>
            <a:r>
              <a:rPr lang="en-US" altLang="ko-KR" spc="-100" dirty="0">
                <a:latin typeface="a고딕14" panose="02020600000000000000" pitchFamily="18" charset="-127"/>
                <a:ea typeface="a고딕14" panose="02020600000000000000" pitchFamily="18" charset="-127"/>
              </a:rPr>
              <a:t>Ai</a:t>
            </a:r>
            <a:r>
              <a:rPr lang="ko-KR" altLang="en-US" spc="-100" dirty="0">
                <a:latin typeface="a고딕14" panose="02020600000000000000" pitchFamily="18" charset="-127"/>
                <a:ea typeface="a고딕14" panose="02020600000000000000" pitchFamily="18" charset="-127"/>
              </a:rPr>
              <a:t>로 연계 됨</a:t>
            </a:r>
            <a:endParaRPr lang="en-US" altLang="ko-KR" spc="-100" dirty="0">
              <a:latin typeface="a고딕14" panose="02020600000000000000" pitchFamily="18" charset="-127"/>
              <a:ea typeface="a고딕14" panose="02020600000000000000" pitchFamily="18" charset="-127"/>
            </a:endParaRPr>
          </a:p>
        </p:txBody>
      </p:sp>
      <p:cxnSp>
        <p:nvCxnSpPr>
          <p:cNvPr id="27" name="직선 화살표 연결선 26">
            <a:extLst>
              <a:ext uri="{FF2B5EF4-FFF2-40B4-BE49-F238E27FC236}">
                <a16:creationId xmlns:a16="http://schemas.microsoft.com/office/drawing/2014/main" id="{5E2050A3-26A1-E50F-032C-59D92D472D47}"/>
              </a:ext>
            </a:extLst>
          </p:cNvPr>
          <p:cNvCxnSpPr>
            <a:cxnSpLocks/>
            <a:stCxn id="19" idx="2"/>
            <a:endCxn id="26" idx="0"/>
          </p:cNvCxnSpPr>
          <p:nvPr/>
        </p:nvCxnSpPr>
        <p:spPr>
          <a:xfrm flipH="1">
            <a:off x="2731423" y="4814189"/>
            <a:ext cx="66" cy="222399"/>
          </a:xfrm>
          <a:prstGeom prst="straightConnector1">
            <a:avLst/>
          </a:prstGeom>
          <a:ln w="38100">
            <a:solidFill>
              <a:srgbClr val="363636"/>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3624F1B-B1BF-C078-DE53-AFDEF4DF9381}"/>
              </a:ext>
            </a:extLst>
          </p:cNvPr>
          <p:cNvSpPr txBox="1"/>
          <p:nvPr/>
        </p:nvSpPr>
        <p:spPr>
          <a:xfrm>
            <a:off x="596900" y="6497159"/>
            <a:ext cx="5724252" cy="230832"/>
          </a:xfrm>
          <a:prstGeom prst="rect">
            <a:avLst/>
          </a:prstGeom>
          <a:noFill/>
        </p:spPr>
        <p:txBody>
          <a:bodyPr wrap="square" rtlCol="0">
            <a:spAutoFit/>
          </a:bodyPr>
          <a:lstStyle/>
          <a:p>
            <a:pPr algn="l">
              <a:buNone/>
            </a:pPr>
            <a:r>
              <a:rPr lang="en-US" altLang="ko-KR" sz="900" dirty="0">
                <a:latin typeface="Arial Narrow" panose="020B0606020202030204" pitchFamily="34" charset="0"/>
                <a:ea typeface="a고딕14" panose="02020600000000000000" pitchFamily="18" charset="-127"/>
              </a:rPr>
              <a:t>* </a:t>
            </a:r>
            <a:r>
              <a:rPr lang="ko-KR" altLang="en-US" sz="900" dirty="0">
                <a:latin typeface="Arial Narrow" panose="020B0606020202030204" pitchFamily="34" charset="0"/>
                <a:ea typeface="a고딕14" panose="02020600000000000000" pitchFamily="18" charset="-127"/>
              </a:rPr>
              <a:t>출처</a:t>
            </a:r>
            <a:r>
              <a:rPr lang="en-US" altLang="ko-KR" sz="900" dirty="0">
                <a:latin typeface="Arial Narrow" panose="020B0606020202030204" pitchFamily="34" charset="0"/>
                <a:ea typeface="a고딕14" panose="02020600000000000000" pitchFamily="18" charset="-127"/>
              </a:rPr>
              <a:t>: </a:t>
            </a:r>
            <a:r>
              <a:rPr lang="ko-KR" altLang="en-US" sz="900" dirty="0">
                <a:latin typeface="Arial Narrow" panose="020B0606020202030204" pitchFamily="34" charset="0"/>
                <a:ea typeface="a고딕14" panose="02020600000000000000" pitchFamily="18" charset="-127"/>
              </a:rPr>
              <a:t>대학이 바뀌면 </a:t>
            </a:r>
            <a:r>
              <a:rPr lang="en-US" altLang="ko-KR" sz="900" dirty="0">
                <a:latin typeface="Arial Narrow" panose="020B0606020202030204" pitchFamily="34" charset="0"/>
                <a:ea typeface="a고딕14" panose="02020600000000000000" pitchFamily="18" charset="-127"/>
              </a:rPr>
              <a:t>AI</a:t>
            </a:r>
            <a:r>
              <a:rPr lang="ko-KR" altLang="en-US" sz="900" dirty="0">
                <a:latin typeface="Arial Narrow" panose="020B0606020202030204" pitchFamily="34" charset="0"/>
                <a:ea typeface="a고딕14" panose="02020600000000000000" pitchFamily="18" charset="-127"/>
              </a:rPr>
              <a:t>가 달라진다</a:t>
            </a:r>
            <a:r>
              <a:rPr lang="en-US" altLang="ko-KR" sz="900" dirty="0">
                <a:latin typeface="Arial Narrow" panose="020B0606020202030204" pitchFamily="34" charset="0"/>
                <a:ea typeface="a고딕14" panose="02020600000000000000" pitchFamily="18" charset="-127"/>
              </a:rPr>
              <a:t>. </a:t>
            </a:r>
            <a:r>
              <a:rPr lang="ko-KR" altLang="en-US" sz="900" dirty="0">
                <a:latin typeface="Arial Narrow" panose="020B0606020202030204" pitchFamily="34" charset="0"/>
                <a:ea typeface="a고딕14" panose="02020600000000000000" pitchFamily="18" charset="-127"/>
              </a:rPr>
              <a:t>한국대학신문</a:t>
            </a:r>
            <a:r>
              <a:rPr lang="en-US" altLang="ko-KR" sz="900" dirty="0">
                <a:latin typeface="Arial Narrow" panose="020B0606020202030204" pitchFamily="34" charset="0"/>
                <a:ea typeface="a고딕14" panose="02020600000000000000" pitchFamily="18" charset="-127"/>
              </a:rPr>
              <a:t>, ’25.06.09 / </a:t>
            </a:r>
            <a:r>
              <a:rPr lang="ko-KR" altLang="en-US" sz="900" dirty="0">
                <a:latin typeface="Arial Narrow" panose="020B0606020202030204" pitchFamily="34" charset="0"/>
                <a:ea typeface="a고딕14" panose="02020600000000000000" pitchFamily="18" charset="-127"/>
              </a:rPr>
              <a:t>진짜 고등교육</a:t>
            </a:r>
            <a:r>
              <a:rPr lang="en-US" altLang="ko-KR" sz="900" dirty="0">
                <a:latin typeface="Arial Narrow" panose="020B0606020202030204" pitchFamily="34" charset="0"/>
                <a:ea typeface="a고딕14" panose="02020600000000000000" pitchFamily="18" charset="-127"/>
              </a:rPr>
              <a:t>, </a:t>
            </a:r>
            <a:r>
              <a:rPr lang="ko-KR" altLang="en-US" sz="900" dirty="0">
                <a:latin typeface="Arial Narrow" panose="020B0606020202030204" pitchFamily="34" charset="0"/>
                <a:ea typeface="a고딕14" panose="02020600000000000000" pitchFamily="18" charset="-127"/>
              </a:rPr>
              <a:t>새 판 짠다</a:t>
            </a:r>
            <a:r>
              <a:rPr lang="en-US" altLang="ko-KR" sz="900" dirty="0">
                <a:latin typeface="Arial Narrow" panose="020B0606020202030204" pitchFamily="34" charset="0"/>
                <a:ea typeface="a고딕14" panose="02020600000000000000" pitchFamily="18" charset="-127"/>
              </a:rPr>
              <a:t>. </a:t>
            </a:r>
            <a:r>
              <a:rPr lang="ko-KR" altLang="en-US" sz="900" dirty="0">
                <a:latin typeface="Arial Narrow" panose="020B0606020202030204" pitchFamily="34" charset="0"/>
                <a:ea typeface="a고딕14" panose="02020600000000000000" pitchFamily="18" charset="-127"/>
              </a:rPr>
              <a:t>한국대학신문</a:t>
            </a:r>
            <a:r>
              <a:rPr lang="en-US" altLang="ko-KR" sz="900" dirty="0">
                <a:latin typeface="Arial Narrow" panose="020B0606020202030204" pitchFamily="34" charset="0"/>
                <a:ea typeface="a고딕14" panose="02020600000000000000" pitchFamily="18" charset="-127"/>
              </a:rPr>
              <a:t>, ‘25.06.26</a:t>
            </a:r>
            <a:endParaRPr lang="ko-KR" altLang="en-US" sz="900" dirty="0">
              <a:latin typeface="Arial Narrow" panose="020B0606020202030204" pitchFamily="34" charset="0"/>
              <a:ea typeface="a고딕14" panose="02020600000000000000" pitchFamily="18" charset="-127"/>
            </a:endParaRPr>
          </a:p>
        </p:txBody>
      </p:sp>
      <p:grpSp>
        <p:nvGrpSpPr>
          <p:cNvPr id="29" name="그룹 28">
            <a:extLst>
              <a:ext uri="{FF2B5EF4-FFF2-40B4-BE49-F238E27FC236}">
                <a16:creationId xmlns:a16="http://schemas.microsoft.com/office/drawing/2014/main" id="{EFD9A3AD-CFD7-64DC-08E8-156D7B0D2D86}"/>
              </a:ext>
            </a:extLst>
          </p:cNvPr>
          <p:cNvGrpSpPr/>
          <p:nvPr/>
        </p:nvGrpSpPr>
        <p:grpSpPr>
          <a:xfrm>
            <a:off x="5087358" y="2142050"/>
            <a:ext cx="4255789" cy="4380832"/>
            <a:chOff x="-5416152" y="6669360"/>
            <a:chExt cx="4255789" cy="4380832"/>
          </a:xfrm>
        </p:grpSpPr>
        <p:sp>
          <p:nvSpPr>
            <p:cNvPr id="30" name="사각형: 둥근 대각선 방향 모서리 7">
              <a:extLst>
                <a:ext uri="{FF2B5EF4-FFF2-40B4-BE49-F238E27FC236}">
                  <a16:creationId xmlns:a16="http://schemas.microsoft.com/office/drawing/2014/main" id="{D222FF7C-1AFB-1A06-9C85-3044D871166C}"/>
                </a:ext>
              </a:extLst>
            </p:cNvPr>
            <p:cNvSpPr/>
            <p:nvPr/>
          </p:nvSpPr>
          <p:spPr>
            <a:xfrm>
              <a:off x="-5416152" y="6669360"/>
              <a:ext cx="2602004" cy="378565"/>
            </a:xfrm>
            <a:prstGeom prst="round2DiagRect">
              <a:avLst/>
            </a:prstGeom>
            <a:solidFill>
              <a:srgbClr val="234389"/>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lvl="0">
                <a:buNone/>
                <a:defRPr/>
              </a:pPr>
              <a:r>
                <a:rPr lang="en-US" altLang="ko-KR" sz="1400" dirty="0">
                  <a:solidFill>
                    <a:prstClr val="white"/>
                  </a:solidFill>
                  <a:latin typeface="a고딕14" panose="02020600000000000000" pitchFamily="18" charset="-127"/>
                  <a:ea typeface="a고딕14" panose="02020600000000000000" pitchFamily="18" charset="-127"/>
                </a:rPr>
                <a:t>AI </a:t>
              </a:r>
              <a:r>
                <a:rPr lang="ko-KR" altLang="en-US" sz="1400" dirty="0" err="1">
                  <a:solidFill>
                    <a:prstClr val="white"/>
                  </a:solidFill>
                  <a:latin typeface="a고딕14" panose="02020600000000000000" pitchFamily="18" charset="-127"/>
                  <a:ea typeface="a고딕14" panose="02020600000000000000" pitchFamily="18" charset="-127"/>
                </a:rPr>
                <a:t>리터러시</a:t>
              </a:r>
              <a:r>
                <a:rPr lang="ko-KR" altLang="en-US" sz="1400" dirty="0">
                  <a:solidFill>
                    <a:prstClr val="white"/>
                  </a:solidFill>
                  <a:latin typeface="a고딕14" panose="02020600000000000000" pitchFamily="18" charset="-127"/>
                  <a:ea typeface="a고딕14" panose="02020600000000000000" pitchFamily="18" charset="-127"/>
                </a:rPr>
                <a:t> 교육 과정 개발 절차</a:t>
              </a:r>
              <a:endParaRPr kumimoji="0" lang="ko-KR" altLang="en-US" sz="14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
          <p:nvSpPr>
            <p:cNvPr id="31" name="object 20">
              <a:extLst>
                <a:ext uri="{FF2B5EF4-FFF2-40B4-BE49-F238E27FC236}">
                  <a16:creationId xmlns:a16="http://schemas.microsoft.com/office/drawing/2014/main" id="{65DDFC06-2B84-E78F-0684-90167BD0CE9F}"/>
                </a:ext>
              </a:extLst>
            </p:cNvPr>
            <p:cNvSpPr/>
            <p:nvPr/>
          </p:nvSpPr>
          <p:spPr>
            <a:xfrm>
              <a:off x="-4345984" y="7107247"/>
              <a:ext cx="3161811" cy="792528"/>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eaLnBrk="1" fontAlgn="auto" latinLnBrk="0" hangingPunct="1">
                <a:spcBef>
                  <a:spcPts val="0"/>
                </a:spcBef>
                <a:spcAft>
                  <a:spcPts val="0"/>
                </a:spcAft>
                <a:buFontTx/>
                <a:buNone/>
                <a:defRPr/>
              </a:pPr>
              <a:endParaRPr sz="800" kern="0">
                <a:solidFill>
                  <a:prstClr val="black"/>
                </a:solidFill>
                <a:latin typeface="Arial Narrow" panose="020B0606020202030204" pitchFamily="34" charset="0"/>
                <a:ea typeface="a고딕14" panose="02020600000000000000" pitchFamily="18" charset="-127"/>
              </a:endParaRPr>
            </a:p>
          </p:txBody>
        </p:sp>
        <p:sp>
          <p:nvSpPr>
            <p:cNvPr id="32" name="object 20">
              <a:extLst>
                <a:ext uri="{FF2B5EF4-FFF2-40B4-BE49-F238E27FC236}">
                  <a16:creationId xmlns:a16="http://schemas.microsoft.com/office/drawing/2014/main" id="{AFEC0A50-5B8F-9D64-8D4D-40EF65B65D2C}"/>
                </a:ext>
              </a:extLst>
            </p:cNvPr>
            <p:cNvSpPr/>
            <p:nvPr/>
          </p:nvSpPr>
          <p:spPr>
            <a:xfrm>
              <a:off x="-4345984" y="8088622"/>
              <a:ext cx="3161811" cy="792528"/>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eaLnBrk="1" fontAlgn="auto" latinLnBrk="0" hangingPunct="1">
                <a:spcBef>
                  <a:spcPts val="0"/>
                </a:spcBef>
                <a:spcAft>
                  <a:spcPts val="0"/>
                </a:spcAft>
                <a:buFontTx/>
                <a:buNone/>
                <a:defRPr/>
              </a:pPr>
              <a:endParaRPr sz="800" kern="0">
                <a:solidFill>
                  <a:prstClr val="black"/>
                </a:solidFill>
                <a:latin typeface="Arial Narrow" panose="020B0606020202030204" pitchFamily="34" charset="0"/>
                <a:ea typeface="a고딕14" panose="02020600000000000000" pitchFamily="18" charset="-127"/>
              </a:endParaRPr>
            </a:p>
          </p:txBody>
        </p:sp>
        <p:sp>
          <p:nvSpPr>
            <p:cNvPr id="33" name="object 20">
              <a:extLst>
                <a:ext uri="{FF2B5EF4-FFF2-40B4-BE49-F238E27FC236}">
                  <a16:creationId xmlns:a16="http://schemas.microsoft.com/office/drawing/2014/main" id="{304BA31F-5EE4-ECA1-E998-A4E5E669454E}"/>
                </a:ext>
              </a:extLst>
            </p:cNvPr>
            <p:cNvSpPr/>
            <p:nvPr/>
          </p:nvSpPr>
          <p:spPr>
            <a:xfrm>
              <a:off x="-4345984" y="9046412"/>
              <a:ext cx="3161811" cy="792528"/>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eaLnBrk="1" fontAlgn="auto" latinLnBrk="0" hangingPunct="1">
                <a:spcBef>
                  <a:spcPts val="0"/>
                </a:spcBef>
                <a:spcAft>
                  <a:spcPts val="0"/>
                </a:spcAft>
                <a:buFontTx/>
                <a:buNone/>
                <a:defRPr/>
              </a:pPr>
              <a:endParaRPr sz="800" kern="0">
                <a:solidFill>
                  <a:prstClr val="black"/>
                </a:solidFill>
                <a:latin typeface="Arial Narrow" panose="020B0606020202030204" pitchFamily="34" charset="0"/>
                <a:ea typeface="a고딕14" panose="02020600000000000000" pitchFamily="18" charset="-127"/>
              </a:endParaRPr>
            </a:p>
          </p:txBody>
        </p:sp>
        <p:sp>
          <p:nvSpPr>
            <p:cNvPr id="34" name="object 20">
              <a:extLst>
                <a:ext uri="{FF2B5EF4-FFF2-40B4-BE49-F238E27FC236}">
                  <a16:creationId xmlns:a16="http://schemas.microsoft.com/office/drawing/2014/main" id="{A16FE552-CF97-F5BE-B9D0-45439E94FD22}"/>
                </a:ext>
              </a:extLst>
            </p:cNvPr>
            <p:cNvSpPr/>
            <p:nvPr/>
          </p:nvSpPr>
          <p:spPr>
            <a:xfrm>
              <a:off x="-4322174" y="10077284"/>
              <a:ext cx="3161811" cy="792528"/>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eaLnBrk="1" fontAlgn="auto" latinLnBrk="0" hangingPunct="1">
                <a:spcBef>
                  <a:spcPts val="0"/>
                </a:spcBef>
                <a:spcAft>
                  <a:spcPts val="0"/>
                </a:spcAft>
                <a:buFontTx/>
                <a:buNone/>
                <a:defRPr/>
              </a:pPr>
              <a:endParaRPr sz="800" kern="0">
                <a:solidFill>
                  <a:prstClr val="black"/>
                </a:solidFill>
                <a:latin typeface="Arial Narrow" panose="020B0606020202030204" pitchFamily="34" charset="0"/>
                <a:ea typeface="a고딕14" panose="02020600000000000000" pitchFamily="18" charset="-127"/>
              </a:endParaRPr>
            </a:p>
          </p:txBody>
        </p:sp>
        <p:sp>
          <p:nvSpPr>
            <p:cNvPr id="35" name="ListLeanHorizontalTextDetail0">
              <a:extLst>
                <a:ext uri="{FF2B5EF4-FFF2-40B4-BE49-F238E27FC236}">
                  <a16:creationId xmlns:a16="http://schemas.microsoft.com/office/drawing/2014/main" id="{8219F493-5B39-78B7-72E7-DFB6DEC361C9}"/>
                </a:ext>
              </a:extLst>
            </p:cNvPr>
            <p:cNvSpPr txBox="1">
              <a:spLocks/>
            </p:cNvSpPr>
            <p:nvPr/>
          </p:nvSpPr>
          <p:spPr>
            <a:xfrm>
              <a:off x="-4229017" y="7222665"/>
              <a:ext cx="2996522" cy="561692"/>
            </a:xfrm>
            <a:prstGeom prst="rect">
              <a:avLst/>
            </a:prstGeom>
            <a:noFill/>
            <a:ln w="9525">
              <a:noFill/>
            </a:ln>
          </p:spPr>
          <p:txBody>
            <a:bodyPr vert="horz" wrap="square" lIns="0" tIns="0" rIns="0" bIns="0" rtlCol="0">
              <a:spAutoFit/>
            </a:bodyPr>
            <a:lstStyle>
              <a:defPPr>
                <a:defRPr lang="en-US"/>
              </a:defPPr>
              <a:lvl2pPr marL="177800" lvl="1" indent="-177800" algn="l" eaLnBrk="1" latinLnBrk="0" hangingPunct="1">
                <a:lnSpc>
                  <a:spcPct val="120000"/>
                </a:lnSpc>
                <a:spcBef>
                  <a:spcPts val="600"/>
                </a:spcBef>
                <a:buSzPct val="100000"/>
                <a:buFont typeface="Arial Narrow" panose="020B0606020202030204" pitchFamily="34" charset="0"/>
                <a:buChar char="&gt;"/>
                <a:defRPr>
                  <a:solidFill>
                    <a:srgbClr val="000000"/>
                  </a:solidFill>
                  <a:latin typeface="Arial Narrow" panose="020B0606020202030204" pitchFamily="34" charset="0"/>
                  <a:ea typeface="a고딕14" panose="02020600000000000000" pitchFamily="18" charset="-127"/>
                  <a:cs typeface="Arial Narrow" pitchFamily="34" charset="0"/>
                </a:defRPr>
              </a:lvl2pPr>
            </a:lstStyle>
            <a:p>
              <a:pPr marL="177800" indent="-177800" algn="l" latinLnBrk="0">
                <a:spcAft>
                  <a:spcPts val="300"/>
                </a:spcAft>
                <a:buFont typeface="Arial" panose="020B0604020202020204" pitchFamily="34" charset="0"/>
                <a:buChar char="•"/>
                <a:defRPr/>
              </a:pPr>
              <a:r>
                <a:rPr lang="en-US" altLang="ko-KR" dirty="0">
                  <a:solidFill>
                    <a:srgbClr val="0070C0"/>
                  </a:solidFill>
                  <a:latin typeface="a고딕14" panose="02020600000000000000" pitchFamily="18" charset="-127"/>
                  <a:ea typeface="a고딕14" panose="02020600000000000000" pitchFamily="18" charset="-127"/>
                </a:rPr>
                <a:t>AI </a:t>
              </a:r>
              <a:r>
                <a:rPr lang="ko-KR" altLang="en-US" dirty="0" err="1">
                  <a:solidFill>
                    <a:srgbClr val="0070C0"/>
                  </a:solidFill>
                  <a:latin typeface="a고딕14" panose="02020600000000000000" pitchFamily="18" charset="-127"/>
                  <a:ea typeface="a고딕14" panose="02020600000000000000" pitchFamily="18" charset="-127"/>
                </a:rPr>
                <a:t>리터러시</a:t>
              </a:r>
              <a:r>
                <a:rPr lang="ko-KR" altLang="en-US" dirty="0">
                  <a:solidFill>
                    <a:srgbClr val="0070C0"/>
                  </a:solidFill>
                  <a:latin typeface="a고딕14" panose="02020600000000000000" pitchFamily="18" charset="-127"/>
                  <a:ea typeface="a고딕14" panose="02020600000000000000" pitchFamily="18" charset="-127"/>
                </a:rPr>
                <a:t> 교육과정 개발 체계 수립 자문회의</a:t>
              </a:r>
              <a:endParaRPr lang="en-US" altLang="ko-KR" dirty="0">
                <a:solidFill>
                  <a:prstClr val="black"/>
                </a:solidFill>
                <a:latin typeface="a고딕14" panose="02020600000000000000" pitchFamily="18" charset="-127"/>
                <a:ea typeface="a고딕14" panose="02020600000000000000" pitchFamily="18" charset="-127"/>
              </a:endParaRPr>
            </a:p>
            <a:p>
              <a:pPr marL="177800" indent="-88900" algn="l" latinLnBrk="0">
                <a:spcAft>
                  <a:spcPts val="300"/>
                </a:spcAft>
                <a:buFont typeface="a고딕14" panose="02020600000000000000" pitchFamily="18" charset="-127"/>
                <a:buChar char="-"/>
                <a:defRPr/>
              </a:pPr>
              <a:r>
                <a:rPr lang="en-US" altLang="ko-KR" sz="1100" dirty="0">
                  <a:solidFill>
                    <a:prstClr val="black"/>
                  </a:solidFill>
                  <a:latin typeface="a고딕14" panose="02020600000000000000" pitchFamily="18" charset="-127"/>
                  <a:ea typeface="a고딕14" panose="02020600000000000000" pitchFamily="18" charset="-127"/>
                </a:rPr>
                <a:t>AI </a:t>
              </a:r>
              <a:r>
                <a:rPr lang="ko-KR" altLang="en-US" sz="1100" dirty="0">
                  <a:solidFill>
                    <a:prstClr val="black"/>
                  </a:solidFill>
                  <a:latin typeface="a고딕14" panose="02020600000000000000" pitchFamily="18" charset="-127"/>
                  <a:ea typeface="a고딕14" panose="02020600000000000000" pitchFamily="18" charset="-127"/>
                </a:rPr>
                <a:t>전문가 대상 전문가 자문회의를 통하여 </a:t>
              </a:r>
              <a:r>
                <a:rPr lang="en-US" altLang="ko-KR" sz="1100" dirty="0">
                  <a:solidFill>
                    <a:prstClr val="black"/>
                  </a:solidFill>
                  <a:latin typeface="a고딕14" panose="02020600000000000000" pitchFamily="18" charset="-127"/>
                  <a:ea typeface="a고딕14" panose="02020600000000000000" pitchFamily="18" charset="-127"/>
                </a:rPr>
                <a:t>AI </a:t>
              </a:r>
              <a:r>
                <a:rPr lang="ko-KR" altLang="en-US" sz="1100" dirty="0" err="1">
                  <a:solidFill>
                    <a:prstClr val="black"/>
                  </a:solidFill>
                  <a:latin typeface="a고딕14" panose="02020600000000000000" pitchFamily="18" charset="-127"/>
                  <a:ea typeface="a고딕14" panose="02020600000000000000" pitchFamily="18" charset="-127"/>
                </a:rPr>
                <a:t>리터러시</a:t>
              </a:r>
              <a:r>
                <a:rPr lang="ko-KR" altLang="en-US" sz="1100" dirty="0">
                  <a:solidFill>
                    <a:prstClr val="black"/>
                  </a:solidFill>
                  <a:latin typeface="a고딕14" panose="02020600000000000000" pitchFamily="18" charset="-127"/>
                  <a:ea typeface="a고딕14" panose="02020600000000000000" pitchFamily="18" charset="-127"/>
                </a:rPr>
                <a:t> 교육과정 개발 체계를 수립</a:t>
              </a:r>
              <a:endParaRPr lang="en-US" altLang="ko-KR" sz="1100" dirty="0">
                <a:solidFill>
                  <a:prstClr val="black"/>
                </a:solidFill>
                <a:latin typeface="a고딕14" panose="02020600000000000000" pitchFamily="18" charset="-127"/>
                <a:ea typeface="a고딕14" panose="02020600000000000000" pitchFamily="18" charset="-127"/>
              </a:endParaRPr>
            </a:p>
          </p:txBody>
        </p:sp>
        <p:grpSp>
          <p:nvGrpSpPr>
            <p:cNvPr id="36" name="그룹 35">
              <a:extLst>
                <a:ext uri="{FF2B5EF4-FFF2-40B4-BE49-F238E27FC236}">
                  <a16:creationId xmlns:a16="http://schemas.microsoft.com/office/drawing/2014/main" id="{941FA04A-DD2C-3916-CCD9-EA93ED03134F}"/>
                </a:ext>
              </a:extLst>
            </p:cNvPr>
            <p:cNvGrpSpPr/>
            <p:nvPr/>
          </p:nvGrpSpPr>
          <p:grpSpPr>
            <a:xfrm>
              <a:off x="-5340376" y="7107248"/>
              <a:ext cx="1035930" cy="1032994"/>
              <a:chOff x="5237728" y="2881221"/>
              <a:chExt cx="973549" cy="741676"/>
            </a:xfrm>
          </p:grpSpPr>
          <p:sp>
            <p:nvSpPr>
              <p:cNvPr id="48" name="오각형 56">
                <a:extLst>
                  <a:ext uri="{FF2B5EF4-FFF2-40B4-BE49-F238E27FC236}">
                    <a16:creationId xmlns:a16="http://schemas.microsoft.com/office/drawing/2014/main" id="{A3C12A88-6309-F850-51ED-D0B120667F91}"/>
                  </a:ext>
                </a:extLst>
              </p:cNvPr>
              <p:cNvSpPr/>
              <p:nvPr/>
            </p:nvSpPr>
            <p:spPr>
              <a:xfrm rot="5400000">
                <a:off x="5353665" y="2765284"/>
                <a:ext cx="741676" cy="973549"/>
              </a:xfrm>
              <a:prstGeom prst="homePlate">
                <a:avLst>
                  <a:gd name="adj" fmla="val 21438"/>
                </a:avLst>
              </a:prstGeom>
              <a:solidFill>
                <a:srgbClr val="003F56"/>
              </a:solidFill>
              <a:ln w="12700" cap="flat" cmpd="sng" algn="ctr">
                <a:noFill/>
                <a:prstDash val="solid"/>
                <a:miter lim="800000"/>
              </a:ln>
              <a:effectLst/>
            </p:spPr>
            <p:txBody>
              <a:bodyPr rtlCol="0" anchor="ctr"/>
              <a:lstStyle/>
              <a:p>
                <a:pPr eaLnBrk="1" fontAlgn="auto" latinLnBrk="0" hangingPunct="1">
                  <a:spcBef>
                    <a:spcPts val="0"/>
                  </a:spcBef>
                  <a:spcAft>
                    <a:spcPts val="0"/>
                  </a:spcAft>
                  <a:buFontTx/>
                  <a:buNone/>
                  <a:defRPr/>
                </a:pPr>
                <a:endParaRPr lang="ko-KR" altLang="en-US" sz="1800" kern="0">
                  <a:solidFill>
                    <a:prstClr val="white"/>
                  </a:solidFill>
                  <a:latin typeface="Arial Narrow" panose="020B0606020202030204" pitchFamily="34" charset="0"/>
                  <a:ea typeface="a고딕14" panose="02020600000000000000" pitchFamily="18" charset="-127"/>
                </a:endParaRPr>
              </a:p>
            </p:txBody>
          </p:sp>
          <p:sp>
            <p:nvSpPr>
              <p:cNvPr id="49" name="TextBox 48">
                <a:extLst>
                  <a:ext uri="{FF2B5EF4-FFF2-40B4-BE49-F238E27FC236}">
                    <a16:creationId xmlns:a16="http://schemas.microsoft.com/office/drawing/2014/main" id="{D9F35043-D4C7-732E-316B-23F023E58120}"/>
                  </a:ext>
                </a:extLst>
              </p:cNvPr>
              <p:cNvSpPr txBox="1"/>
              <p:nvPr/>
            </p:nvSpPr>
            <p:spPr>
              <a:xfrm>
                <a:off x="5256504" y="2893498"/>
                <a:ext cx="954773" cy="519302"/>
              </a:xfrm>
              <a:prstGeom prst="rect">
                <a:avLst/>
              </a:prstGeom>
              <a:noFill/>
            </p:spPr>
            <p:txBody>
              <a:bodyPr wrap="square" rtlCol="0">
                <a:spAutoFit/>
              </a:bodyPr>
              <a:lstStyle/>
              <a:p>
                <a:pPr algn="l" eaLnBrk="1" fontAlgn="auto" latinLnBrk="0" hangingPunct="1">
                  <a:spcBef>
                    <a:spcPts val="0"/>
                  </a:spcBef>
                  <a:spcAft>
                    <a:spcPts val="0"/>
                  </a:spcAft>
                  <a:buFontTx/>
                  <a:buNone/>
                  <a:defRPr/>
                </a:pPr>
                <a:r>
                  <a:rPr lang="en-US" altLang="ko-KR" sz="105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1</a:t>
                </a:r>
              </a:p>
              <a:p>
                <a:pPr eaLnBrk="1" fontAlgn="auto" latinLnBrk="0" hangingPunct="1">
                  <a:spcBef>
                    <a:spcPts val="0"/>
                  </a:spcBef>
                  <a:spcAft>
                    <a:spcPts val="0"/>
                  </a:spcAft>
                  <a:buFontTx/>
                  <a:buNone/>
                  <a:defRPr/>
                </a:pPr>
                <a:endParaRPr lang="en-US" altLang="ko-KR" sz="500" kern="0" dirty="0">
                  <a:solidFill>
                    <a:prstClr val="white"/>
                  </a:solidFill>
                  <a:latin typeface="Arial Narrow" panose="020B0606020202030204" pitchFamily="34" charset="0"/>
                  <a:ea typeface="a고딕14" panose="02020600000000000000" pitchFamily="18" charset="-127"/>
                </a:endParaRPr>
              </a:p>
              <a:p>
                <a:pPr eaLnBrk="1" fontAlgn="auto" latinLnBrk="0" hangingPunct="1">
                  <a:spcBef>
                    <a:spcPts val="0"/>
                  </a:spcBef>
                  <a:spcAft>
                    <a:spcPts val="0"/>
                  </a:spcAft>
                  <a:buFontTx/>
                  <a:buNone/>
                  <a:defRPr/>
                </a:pPr>
                <a:r>
                  <a:rPr lang="ko-KR" altLang="en-US" kern="0" dirty="0">
                    <a:solidFill>
                      <a:prstClr val="white"/>
                    </a:solidFill>
                    <a:latin typeface="Arial Narrow" panose="020B0606020202030204" pitchFamily="34" charset="0"/>
                    <a:ea typeface="a고딕14" panose="02020600000000000000" pitchFamily="18" charset="-127"/>
                  </a:rPr>
                  <a:t>체계 설정</a:t>
                </a:r>
                <a:endParaRPr lang="en-US" altLang="ko-KR" kern="0" dirty="0">
                  <a:solidFill>
                    <a:prstClr val="white"/>
                  </a:solidFill>
                  <a:latin typeface="Arial Narrow" panose="020B0606020202030204" pitchFamily="34" charset="0"/>
                  <a:ea typeface="a고딕14" panose="02020600000000000000" pitchFamily="18" charset="-127"/>
                </a:endParaRPr>
              </a:p>
              <a:p>
                <a:pPr eaLnBrk="1" fontAlgn="auto" latinLnBrk="0" hangingPunct="1">
                  <a:spcBef>
                    <a:spcPts val="0"/>
                  </a:spcBef>
                  <a:spcAft>
                    <a:spcPts val="0"/>
                  </a:spcAft>
                  <a:buFontTx/>
                  <a:buNone/>
                  <a:defRPr/>
                </a:pPr>
                <a:r>
                  <a:rPr lang="ko-KR" altLang="en-US" kern="0" dirty="0">
                    <a:solidFill>
                      <a:prstClr val="white"/>
                    </a:solidFill>
                    <a:latin typeface="Arial Narrow" panose="020B0606020202030204" pitchFamily="34" charset="0"/>
                    <a:ea typeface="a고딕14" panose="02020600000000000000" pitchFamily="18" charset="-127"/>
                  </a:rPr>
                  <a:t>자문회의</a:t>
                </a:r>
              </a:p>
            </p:txBody>
          </p:sp>
        </p:grpSp>
        <p:sp>
          <p:nvSpPr>
            <p:cNvPr id="37" name="갈매기형 수장 54">
              <a:extLst>
                <a:ext uri="{FF2B5EF4-FFF2-40B4-BE49-F238E27FC236}">
                  <a16:creationId xmlns:a16="http://schemas.microsoft.com/office/drawing/2014/main" id="{117FCE50-B274-787A-D9DC-246361524577}"/>
                </a:ext>
              </a:extLst>
            </p:cNvPr>
            <p:cNvSpPr/>
            <p:nvPr/>
          </p:nvSpPr>
          <p:spPr>
            <a:xfrm rot="5400000">
              <a:off x="-5408472" y="8045266"/>
              <a:ext cx="1172235" cy="1036390"/>
            </a:xfrm>
            <a:prstGeom prst="chevron">
              <a:avLst>
                <a:gd name="adj" fmla="val 18166"/>
              </a:avLst>
            </a:prstGeom>
            <a:solidFill>
              <a:srgbClr val="005E80"/>
            </a:solidFill>
            <a:ln w="12700" cap="flat" cmpd="sng" algn="ctr">
              <a:noFill/>
              <a:prstDash val="solid"/>
              <a:miter lim="800000"/>
            </a:ln>
            <a:effectLst/>
          </p:spPr>
          <p:txBody>
            <a:bodyPr rtlCol="0" anchor="ctr"/>
            <a:lstStyle/>
            <a:p>
              <a:pPr eaLnBrk="1" fontAlgn="auto" latinLnBrk="0" hangingPunct="1">
                <a:spcBef>
                  <a:spcPts val="0"/>
                </a:spcBef>
                <a:spcAft>
                  <a:spcPts val="0"/>
                </a:spcAft>
                <a:buFontTx/>
                <a:buNone/>
                <a:defRPr/>
              </a:pPr>
              <a:endParaRPr lang="ko-KR" altLang="en-US" sz="1800" kern="0">
                <a:solidFill>
                  <a:prstClr val="black"/>
                </a:solidFill>
                <a:latin typeface="Arial Narrow" panose="020B0606020202030204" pitchFamily="34" charset="0"/>
                <a:ea typeface="a고딕14" panose="02020600000000000000" pitchFamily="18" charset="-127"/>
              </a:endParaRPr>
            </a:p>
          </p:txBody>
        </p:sp>
        <p:sp>
          <p:nvSpPr>
            <p:cNvPr id="38" name="TextBox 37">
              <a:extLst>
                <a:ext uri="{FF2B5EF4-FFF2-40B4-BE49-F238E27FC236}">
                  <a16:creationId xmlns:a16="http://schemas.microsoft.com/office/drawing/2014/main" id="{93738014-0A1F-8467-AEE1-2389EFA27CF0}"/>
                </a:ext>
              </a:extLst>
            </p:cNvPr>
            <p:cNvSpPr txBox="1"/>
            <p:nvPr/>
          </p:nvSpPr>
          <p:spPr>
            <a:xfrm>
              <a:off x="-5320396" y="8153376"/>
              <a:ext cx="1015951" cy="692497"/>
            </a:xfrm>
            <a:prstGeom prst="rect">
              <a:avLst/>
            </a:prstGeom>
            <a:noFill/>
          </p:spPr>
          <p:txBody>
            <a:bodyPr wrap="square" lIns="0" rIns="0" rtlCol="0">
              <a:spAutoFit/>
            </a:bodyPr>
            <a:lstStyle/>
            <a:p>
              <a:pPr algn="l" eaLnBrk="1" fontAlgn="auto" latinLnBrk="0" hangingPunct="1">
                <a:spcBef>
                  <a:spcPts val="0"/>
                </a:spcBef>
                <a:spcAft>
                  <a:spcPts val="0"/>
                </a:spcAft>
                <a:buFontTx/>
                <a:buNone/>
                <a:defRPr/>
              </a:pPr>
              <a:r>
                <a:rPr lang="en-US" altLang="ko-KR" sz="1050" i="1" kern="0" dirty="0">
                  <a:solidFill>
                    <a:prstClr val="white"/>
                  </a:solidFill>
                  <a:latin typeface="Arial Narrow" panose="020B0606020202030204" pitchFamily="34" charset="0"/>
                  <a:ea typeface="a고딕14" panose="02020600000000000000" pitchFamily="18" charset="-127"/>
                </a:rPr>
                <a:t>   Section </a:t>
              </a:r>
              <a:r>
                <a:rPr lang="en-US" altLang="ko-KR" i="1" kern="0" dirty="0">
                  <a:solidFill>
                    <a:prstClr val="white"/>
                  </a:solidFill>
                  <a:latin typeface="Arial Narrow" panose="020B0606020202030204" pitchFamily="34" charset="0"/>
                  <a:ea typeface="a고딕14" panose="02020600000000000000" pitchFamily="18" charset="-127"/>
                </a:rPr>
                <a:t>2</a:t>
              </a:r>
            </a:p>
            <a:p>
              <a:pPr algn="l" eaLnBrk="1" fontAlgn="auto" latinLnBrk="0" hangingPunct="1">
                <a:spcBef>
                  <a:spcPts val="0"/>
                </a:spcBef>
                <a:spcAft>
                  <a:spcPts val="0"/>
                </a:spcAft>
                <a:buFontTx/>
                <a:buNone/>
                <a:defRPr/>
              </a:pPr>
              <a:r>
                <a:rPr lang="en-US" altLang="ko-KR" sz="300" i="1" kern="0" dirty="0">
                  <a:solidFill>
                    <a:prstClr val="white"/>
                  </a:solidFill>
                  <a:latin typeface="Arial Narrow" panose="020B0606020202030204" pitchFamily="34" charset="0"/>
                  <a:ea typeface="a고딕14" panose="02020600000000000000" pitchFamily="18" charset="-127"/>
                </a:rPr>
                <a:t> </a:t>
              </a:r>
            </a:p>
            <a:p>
              <a:pPr eaLnBrk="1" fontAlgn="auto" latinLnBrk="0" hangingPunct="1">
                <a:spcBef>
                  <a:spcPts val="0"/>
                </a:spcBef>
                <a:spcAft>
                  <a:spcPts val="0"/>
                </a:spcAft>
                <a:buFont typeface="Wingdings" pitchFamily="2" charset="2"/>
                <a:buNone/>
                <a:defRPr/>
              </a:pPr>
              <a:r>
                <a:rPr lang="en-US" altLang="ko-KR" kern="0">
                  <a:solidFill>
                    <a:prstClr val="white"/>
                  </a:solidFill>
                  <a:latin typeface="Arial Narrow" panose="020B0606020202030204" pitchFamily="34" charset="0"/>
                  <a:ea typeface="a고딕14" panose="02020600000000000000" pitchFamily="18" charset="-127"/>
                </a:rPr>
                <a:t>AI</a:t>
              </a:r>
              <a:r>
                <a:rPr lang="ko-KR" altLang="en-US" kern="0">
                  <a:solidFill>
                    <a:prstClr val="white"/>
                  </a:solidFill>
                  <a:latin typeface="Arial Narrow" panose="020B0606020202030204" pitchFamily="34" charset="0"/>
                  <a:ea typeface="a고딕14" panose="02020600000000000000" pitchFamily="18" charset="-127"/>
                </a:rPr>
                <a:t> 활용가능 </a:t>
              </a:r>
              <a:endParaRPr lang="en-US" altLang="ko-KR" kern="0">
                <a:solidFill>
                  <a:prstClr val="white"/>
                </a:solidFill>
                <a:latin typeface="Arial Narrow" panose="020B0606020202030204" pitchFamily="34" charset="0"/>
                <a:ea typeface="a고딕14" panose="02020600000000000000" pitchFamily="18" charset="-127"/>
              </a:endParaRPr>
            </a:p>
            <a:p>
              <a:pPr eaLnBrk="1" fontAlgn="auto" latinLnBrk="0" hangingPunct="1">
                <a:spcBef>
                  <a:spcPts val="0"/>
                </a:spcBef>
                <a:spcAft>
                  <a:spcPts val="0"/>
                </a:spcAft>
                <a:buFont typeface="Wingdings" pitchFamily="2" charset="2"/>
                <a:buNone/>
                <a:defRPr/>
              </a:pPr>
              <a:r>
                <a:rPr lang="ko-KR" altLang="en-US" kern="0">
                  <a:solidFill>
                    <a:prstClr val="white"/>
                  </a:solidFill>
                  <a:latin typeface="Arial Narrow" panose="020B0606020202030204" pitchFamily="34" charset="0"/>
                  <a:ea typeface="a고딕14" panose="02020600000000000000" pitchFamily="18" charset="-127"/>
                </a:rPr>
                <a:t>영역 파악</a:t>
              </a:r>
              <a:endParaRPr lang="ko-KR" altLang="en-US" kern="0" dirty="0">
                <a:solidFill>
                  <a:prstClr val="white"/>
                </a:solidFill>
                <a:latin typeface="Arial Narrow" panose="020B0606020202030204" pitchFamily="34" charset="0"/>
                <a:ea typeface="a고딕14" panose="02020600000000000000" pitchFamily="18" charset="-127"/>
              </a:endParaRPr>
            </a:p>
          </p:txBody>
        </p:sp>
        <p:grpSp>
          <p:nvGrpSpPr>
            <p:cNvPr id="39" name="그룹 38">
              <a:extLst>
                <a:ext uri="{FF2B5EF4-FFF2-40B4-BE49-F238E27FC236}">
                  <a16:creationId xmlns:a16="http://schemas.microsoft.com/office/drawing/2014/main" id="{A8302675-FBE2-F5C8-FDE2-1D11D3029E04}"/>
                </a:ext>
              </a:extLst>
            </p:cNvPr>
            <p:cNvGrpSpPr/>
            <p:nvPr/>
          </p:nvGrpSpPr>
          <p:grpSpPr>
            <a:xfrm>
              <a:off x="-5389825" y="9896179"/>
              <a:ext cx="1085380" cy="1154013"/>
              <a:chOff x="5191256" y="4883634"/>
              <a:chExt cx="1020021" cy="828566"/>
            </a:xfrm>
          </p:grpSpPr>
          <p:sp>
            <p:nvSpPr>
              <p:cNvPr id="46" name="갈매기형 수장 49">
                <a:extLst>
                  <a:ext uri="{FF2B5EF4-FFF2-40B4-BE49-F238E27FC236}">
                    <a16:creationId xmlns:a16="http://schemas.microsoft.com/office/drawing/2014/main" id="{8EF80EEC-90A9-10BD-CA73-FD96ED64F21C}"/>
                  </a:ext>
                </a:extLst>
              </p:cNvPr>
              <p:cNvSpPr/>
              <p:nvPr/>
            </p:nvSpPr>
            <p:spPr>
              <a:xfrm rot="5400000">
                <a:off x="5310137" y="4811059"/>
                <a:ext cx="828566" cy="973715"/>
              </a:xfrm>
              <a:prstGeom prst="chevron">
                <a:avLst>
                  <a:gd name="adj" fmla="val 16289"/>
                </a:avLst>
              </a:prstGeom>
              <a:solidFill>
                <a:srgbClr val="D5F4FF"/>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sz="1800" kern="0">
                  <a:solidFill>
                    <a:srgbClr val="005E80"/>
                  </a:solidFill>
                  <a:latin typeface="Arial Narrow" panose="020B0606020202030204" pitchFamily="34" charset="0"/>
                  <a:ea typeface="a고딕14" panose="02020600000000000000" pitchFamily="18" charset="-127"/>
                </a:endParaRPr>
              </a:p>
            </p:txBody>
          </p:sp>
          <p:sp>
            <p:nvSpPr>
              <p:cNvPr id="47" name="TextBox 46">
                <a:extLst>
                  <a:ext uri="{FF2B5EF4-FFF2-40B4-BE49-F238E27FC236}">
                    <a16:creationId xmlns:a16="http://schemas.microsoft.com/office/drawing/2014/main" id="{6E1FFD5D-CA8D-ACEA-B4C9-69E0852877B8}"/>
                  </a:ext>
                </a:extLst>
              </p:cNvPr>
              <p:cNvSpPr txBox="1"/>
              <p:nvPr/>
            </p:nvSpPr>
            <p:spPr>
              <a:xfrm>
                <a:off x="5191256" y="5048701"/>
                <a:ext cx="1020021" cy="497204"/>
              </a:xfrm>
              <a:prstGeom prst="rect">
                <a:avLst/>
              </a:prstGeom>
              <a:noFill/>
            </p:spPr>
            <p:txBody>
              <a:bodyPr wrap="square" rtlCol="0">
                <a:spAutoFit/>
              </a:bodyPr>
              <a:lstStyle/>
              <a:p>
                <a:pPr algn="l" eaLnBrk="1" fontAlgn="auto" latinLnBrk="0" hangingPunct="1">
                  <a:spcBef>
                    <a:spcPts val="0"/>
                  </a:spcBef>
                  <a:spcAft>
                    <a:spcPts val="0"/>
                  </a:spcAft>
                  <a:buFontTx/>
                  <a:buNone/>
                  <a:defRPr/>
                </a:pPr>
                <a:r>
                  <a:rPr lang="en-US" altLang="ko-KR" sz="1050" i="1" kern="0" dirty="0">
                    <a:solidFill>
                      <a:srgbClr val="31859C"/>
                    </a:solidFill>
                    <a:latin typeface="Arial Narrow" panose="020B0606020202030204" pitchFamily="34" charset="0"/>
                    <a:ea typeface="a고딕14" panose="02020600000000000000" pitchFamily="18" charset="-127"/>
                  </a:rPr>
                  <a:t>Section </a:t>
                </a:r>
                <a:r>
                  <a:rPr lang="en-US" altLang="ko-KR" i="1" kern="0" dirty="0">
                    <a:solidFill>
                      <a:srgbClr val="31859C"/>
                    </a:solidFill>
                    <a:latin typeface="Arial Narrow" panose="020B0606020202030204" pitchFamily="34" charset="0"/>
                    <a:ea typeface="a고딕14" panose="02020600000000000000" pitchFamily="18" charset="-127"/>
                  </a:rPr>
                  <a:t>4</a:t>
                </a:r>
                <a:br>
                  <a:rPr lang="en-US" altLang="ko-KR" sz="300" i="1" kern="0" dirty="0">
                    <a:solidFill>
                      <a:srgbClr val="31859C"/>
                    </a:solidFill>
                    <a:latin typeface="Arial Narrow" panose="020B0606020202030204" pitchFamily="34" charset="0"/>
                    <a:ea typeface="a고딕14" panose="02020600000000000000" pitchFamily="18" charset="-127"/>
                  </a:rPr>
                </a:br>
                <a:endParaRPr lang="en-US" altLang="ko-KR" sz="300" i="1" kern="0" dirty="0">
                  <a:solidFill>
                    <a:srgbClr val="31859C"/>
                  </a:solidFill>
                  <a:latin typeface="Arial Narrow" panose="020B0606020202030204" pitchFamily="34" charset="0"/>
                  <a:ea typeface="a고딕14" panose="02020600000000000000" pitchFamily="18" charset="-127"/>
                </a:endParaRPr>
              </a:p>
              <a:p>
                <a:pPr eaLnBrk="1" fontAlgn="auto" latinLnBrk="0" hangingPunct="1">
                  <a:spcBef>
                    <a:spcPts val="0"/>
                  </a:spcBef>
                  <a:spcAft>
                    <a:spcPts val="0"/>
                  </a:spcAft>
                  <a:buFont typeface="Wingdings" pitchFamily="2" charset="2"/>
                  <a:buNone/>
                  <a:defRPr/>
                </a:pPr>
                <a:r>
                  <a:rPr lang="ko-KR" altLang="en-US" kern="0" dirty="0">
                    <a:solidFill>
                      <a:srgbClr val="31859C"/>
                    </a:solidFill>
                    <a:latin typeface="Arial Narrow" panose="020B0606020202030204" pitchFamily="34" charset="0"/>
                    <a:ea typeface="a고딕14" panose="02020600000000000000" pitchFamily="18" charset="-127"/>
                  </a:rPr>
                  <a:t>교육과정 개요서 작성</a:t>
                </a:r>
              </a:p>
            </p:txBody>
          </p:sp>
        </p:grpSp>
        <p:grpSp>
          <p:nvGrpSpPr>
            <p:cNvPr id="40" name="그룹 39">
              <a:extLst>
                <a:ext uri="{FF2B5EF4-FFF2-40B4-BE49-F238E27FC236}">
                  <a16:creationId xmlns:a16="http://schemas.microsoft.com/office/drawing/2014/main" id="{54D1D924-26E1-66AB-B59A-67DA3BC3C1AE}"/>
                </a:ext>
              </a:extLst>
            </p:cNvPr>
            <p:cNvGrpSpPr/>
            <p:nvPr/>
          </p:nvGrpSpPr>
          <p:grpSpPr>
            <a:xfrm>
              <a:off x="-5342127" y="8986678"/>
              <a:ext cx="1037964" cy="1062883"/>
              <a:chOff x="5236082" y="4236706"/>
              <a:chExt cx="975461" cy="763135"/>
            </a:xfrm>
          </p:grpSpPr>
          <p:sp>
            <p:nvSpPr>
              <p:cNvPr id="44" name="갈매기형 수장 43">
                <a:extLst>
                  <a:ext uri="{FF2B5EF4-FFF2-40B4-BE49-F238E27FC236}">
                    <a16:creationId xmlns:a16="http://schemas.microsoft.com/office/drawing/2014/main" id="{B01A683A-C547-475D-75C6-54D969E5E070}"/>
                  </a:ext>
                </a:extLst>
              </p:cNvPr>
              <p:cNvSpPr/>
              <p:nvPr/>
            </p:nvSpPr>
            <p:spPr>
              <a:xfrm rot="5400000">
                <a:off x="5342985" y="4131283"/>
                <a:ext cx="763135" cy="973981"/>
              </a:xfrm>
              <a:prstGeom prst="chevron">
                <a:avLst>
                  <a:gd name="adj" fmla="val 18842"/>
                </a:avLst>
              </a:prstGeom>
              <a:solidFill>
                <a:srgbClr val="93CDDD"/>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sz="1800" kern="0">
                  <a:solidFill>
                    <a:prstClr val="black"/>
                  </a:solidFill>
                  <a:latin typeface="Arial Narrow" panose="020B0606020202030204" pitchFamily="34" charset="0"/>
                  <a:ea typeface="a고딕14" panose="02020600000000000000" pitchFamily="18" charset="-127"/>
                </a:endParaRPr>
              </a:p>
            </p:txBody>
          </p:sp>
          <p:sp>
            <p:nvSpPr>
              <p:cNvPr id="45" name="TextBox 44">
                <a:extLst>
                  <a:ext uri="{FF2B5EF4-FFF2-40B4-BE49-F238E27FC236}">
                    <a16:creationId xmlns:a16="http://schemas.microsoft.com/office/drawing/2014/main" id="{6BC8C954-E1F9-1A3C-5D18-D502FCE4693A}"/>
                  </a:ext>
                </a:extLst>
              </p:cNvPr>
              <p:cNvSpPr txBox="1"/>
              <p:nvPr/>
            </p:nvSpPr>
            <p:spPr>
              <a:xfrm>
                <a:off x="5236082" y="4378755"/>
                <a:ext cx="975195" cy="364615"/>
              </a:xfrm>
              <a:prstGeom prst="rect">
                <a:avLst/>
              </a:prstGeom>
              <a:noFill/>
            </p:spPr>
            <p:txBody>
              <a:bodyPr wrap="square" lIns="0" rIns="0" rtlCol="0">
                <a:spAutoFit/>
              </a:bodyPr>
              <a:lstStyle/>
              <a:p>
                <a:pPr algn="l" eaLnBrk="1" fontAlgn="auto" latinLnBrk="0" hangingPunct="1">
                  <a:spcBef>
                    <a:spcPts val="0"/>
                  </a:spcBef>
                  <a:spcAft>
                    <a:spcPts val="0"/>
                  </a:spcAft>
                  <a:buFontTx/>
                  <a:buNone/>
                  <a:defRPr/>
                </a:pPr>
                <a:r>
                  <a:rPr lang="en-US" altLang="ko-KR" sz="1050" i="1" kern="0" dirty="0">
                    <a:solidFill>
                      <a:prstClr val="white"/>
                    </a:solidFill>
                    <a:latin typeface="Arial Narrow" panose="020B0606020202030204" pitchFamily="34" charset="0"/>
                    <a:ea typeface="a고딕14" panose="02020600000000000000" pitchFamily="18" charset="-127"/>
                  </a:rPr>
                  <a:t>   Section </a:t>
                </a:r>
                <a:r>
                  <a:rPr lang="en-US" altLang="ko-KR" i="1" kern="0" dirty="0">
                    <a:solidFill>
                      <a:prstClr val="white"/>
                    </a:solidFill>
                    <a:latin typeface="Arial Narrow" panose="020B0606020202030204" pitchFamily="34" charset="0"/>
                    <a:ea typeface="a고딕14" panose="02020600000000000000" pitchFamily="18" charset="-127"/>
                  </a:rPr>
                  <a:t>3</a:t>
                </a:r>
              </a:p>
              <a:p>
                <a:pPr algn="l" eaLnBrk="1" fontAlgn="auto" latinLnBrk="0" hangingPunct="1">
                  <a:spcBef>
                    <a:spcPts val="0"/>
                  </a:spcBef>
                  <a:spcAft>
                    <a:spcPts val="0"/>
                  </a:spcAft>
                  <a:buFontTx/>
                  <a:buNone/>
                  <a:defRPr/>
                </a:pPr>
                <a:r>
                  <a:rPr lang="en-US" altLang="ko-KR" sz="300" i="1" kern="0" dirty="0">
                    <a:solidFill>
                      <a:prstClr val="white"/>
                    </a:solidFill>
                    <a:latin typeface="Arial Narrow" panose="020B0606020202030204" pitchFamily="34" charset="0"/>
                    <a:ea typeface="a고딕14" panose="02020600000000000000" pitchFamily="18" charset="-127"/>
                  </a:rPr>
                  <a:t> </a:t>
                </a:r>
              </a:p>
              <a:p>
                <a:pPr eaLnBrk="1" fontAlgn="auto" latinLnBrk="0" hangingPunct="1">
                  <a:spcBef>
                    <a:spcPts val="0"/>
                  </a:spcBef>
                  <a:spcAft>
                    <a:spcPts val="0"/>
                  </a:spcAft>
                  <a:buFont typeface="Wingdings" pitchFamily="2" charset="2"/>
                  <a:buNone/>
                  <a:defRPr/>
                </a:pPr>
                <a:r>
                  <a:rPr lang="ko-KR" altLang="en-US" kern="0" spc="-100" dirty="0">
                    <a:solidFill>
                      <a:prstClr val="white"/>
                    </a:solidFill>
                    <a:latin typeface="Arial Narrow" panose="020B0606020202030204" pitchFamily="34" charset="0"/>
                    <a:ea typeface="a고딕14" panose="02020600000000000000" pitchFamily="18" charset="-127"/>
                  </a:rPr>
                  <a:t>분야별 의견 청취</a:t>
                </a:r>
              </a:p>
            </p:txBody>
          </p:sp>
        </p:grpSp>
        <p:sp>
          <p:nvSpPr>
            <p:cNvPr id="41" name="ListLeanHorizontalTextDetail0">
              <a:extLst>
                <a:ext uri="{FF2B5EF4-FFF2-40B4-BE49-F238E27FC236}">
                  <a16:creationId xmlns:a16="http://schemas.microsoft.com/office/drawing/2014/main" id="{82C91B95-B39C-ECEB-A6D4-D055B3CED326}"/>
                </a:ext>
              </a:extLst>
            </p:cNvPr>
            <p:cNvSpPr txBox="1">
              <a:spLocks/>
            </p:cNvSpPr>
            <p:nvPr/>
          </p:nvSpPr>
          <p:spPr>
            <a:xfrm>
              <a:off x="-4229017" y="8171150"/>
              <a:ext cx="2996522" cy="730969"/>
            </a:xfrm>
            <a:prstGeom prst="rect">
              <a:avLst/>
            </a:prstGeom>
            <a:noFill/>
            <a:ln w="9525">
              <a:noFill/>
            </a:ln>
          </p:spPr>
          <p:txBody>
            <a:bodyPr vert="horz" wrap="square" lIns="0" tIns="0" rIns="0" bIns="0" rtlCol="0">
              <a:spAutoFit/>
            </a:bodyPr>
            <a:lstStyle>
              <a:defPPr>
                <a:defRPr lang="en-US"/>
              </a:defPPr>
              <a:lvl2pPr marL="177800" lvl="1" indent="-177800" algn="l" eaLnBrk="1" latinLnBrk="0" hangingPunct="1">
                <a:lnSpc>
                  <a:spcPct val="120000"/>
                </a:lnSpc>
                <a:spcBef>
                  <a:spcPts val="600"/>
                </a:spcBef>
                <a:buSzPct val="100000"/>
                <a:buFont typeface="Arial Narrow" panose="020B0606020202030204" pitchFamily="34" charset="0"/>
                <a:buChar char="&gt;"/>
                <a:defRPr>
                  <a:solidFill>
                    <a:srgbClr val="000000"/>
                  </a:solidFill>
                  <a:latin typeface="Arial Narrow" panose="020B0606020202030204" pitchFamily="34" charset="0"/>
                  <a:ea typeface="a고딕14" panose="02020600000000000000" pitchFamily="18" charset="-127"/>
                  <a:cs typeface="Arial Narrow" pitchFamily="34" charset="0"/>
                </a:defRPr>
              </a:lvl2pPr>
            </a:lstStyle>
            <a:p>
              <a:pPr marL="177800" indent="-177800" algn="l" latinLnBrk="0">
                <a:spcAft>
                  <a:spcPts val="300"/>
                </a:spcAft>
                <a:buFont typeface="Arial" panose="020B0604020202020204" pitchFamily="34" charset="0"/>
                <a:buChar char="•"/>
                <a:defRPr/>
              </a:pPr>
              <a:r>
                <a:rPr lang="ko-KR" altLang="en-US" dirty="0">
                  <a:solidFill>
                    <a:srgbClr val="0070C0"/>
                  </a:solidFill>
                  <a:latin typeface="a고딕14" panose="02020600000000000000" pitchFamily="18" charset="-127"/>
                  <a:ea typeface="a고딕14" panose="02020600000000000000" pitchFamily="18" charset="-127"/>
                </a:rPr>
                <a:t>분야별 </a:t>
              </a:r>
              <a:r>
                <a:rPr lang="en-US" altLang="ko-KR" dirty="0">
                  <a:solidFill>
                    <a:srgbClr val="0070C0"/>
                  </a:solidFill>
                  <a:latin typeface="a고딕14" panose="02020600000000000000" pitchFamily="18" charset="-127"/>
                  <a:ea typeface="a고딕14" panose="02020600000000000000" pitchFamily="18" charset="-127"/>
                </a:rPr>
                <a:t>AI </a:t>
              </a:r>
              <a:r>
                <a:rPr lang="ko-KR" altLang="en-US" dirty="0">
                  <a:solidFill>
                    <a:srgbClr val="0070C0"/>
                  </a:solidFill>
                  <a:latin typeface="a고딕14" panose="02020600000000000000" pitchFamily="18" charset="-127"/>
                  <a:ea typeface="a고딕14" panose="02020600000000000000" pitchFamily="18" charset="-127"/>
                </a:rPr>
                <a:t>적용</a:t>
              </a:r>
              <a:r>
                <a:rPr lang="en-US" altLang="ko-KR" dirty="0">
                  <a:solidFill>
                    <a:srgbClr val="0070C0"/>
                  </a:solidFill>
                  <a:latin typeface="a고딕14" panose="02020600000000000000" pitchFamily="18" charset="-127"/>
                  <a:ea typeface="a고딕14" panose="02020600000000000000" pitchFamily="18" charset="-127"/>
                </a:rPr>
                <a:t> </a:t>
              </a:r>
              <a:r>
                <a:rPr lang="ko-KR" altLang="en-US" dirty="0">
                  <a:solidFill>
                    <a:srgbClr val="0070C0"/>
                  </a:solidFill>
                  <a:latin typeface="a고딕14" panose="02020600000000000000" pitchFamily="18" charset="-127"/>
                  <a:ea typeface="a고딕14" panose="02020600000000000000" pitchFamily="18" charset="-127"/>
                </a:rPr>
                <a:t>및 활용 가능 영역 파악</a:t>
              </a:r>
              <a:endParaRPr lang="en-US" altLang="ko-KR" dirty="0">
                <a:solidFill>
                  <a:prstClr val="black"/>
                </a:solidFill>
                <a:latin typeface="a고딕14" panose="02020600000000000000" pitchFamily="18" charset="-127"/>
                <a:ea typeface="a고딕14" panose="02020600000000000000" pitchFamily="18" charset="-127"/>
              </a:endParaRPr>
            </a:p>
            <a:p>
              <a:pPr marL="177800" indent="-88900" algn="l" latinLnBrk="0">
                <a:spcAft>
                  <a:spcPts val="300"/>
                </a:spcAft>
                <a:buFont typeface="a고딕14" panose="02020600000000000000" pitchFamily="18" charset="-127"/>
                <a:buChar char="-"/>
                <a:defRPr/>
              </a:pPr>
              <a:r>
                <a:rPr lang="ko-KR" altLang="en-US" sz="1100" dirty="0">
                  <a:solidFill>
                    <a:prstClr val="black"/>
                  </a:solidFill>
                  <a:latin typeface="a고딕14" panose="02020600000000000000" pitchFamily="18" charset="-127"/>
                  <a:ea typeface="a고딕14" panose="02020600000000000000" pitchFamily="18" charset="-127"/>
                </a:rPr>
                <a:t>산업별</a:t>
              </a:r>
              <a:r>
                <a:rPr lang="en-US" altLang="ko-KR" sz="1100" dirty="0">
                  <a:solidFill>
                    <a:prstClr val="black"/>
                  </a:solidFill>
                  <a:latin typeface="a고딕14" panose="02020600000000000000" pitchFamily="18" charset="-127"/>
                  <a:ea typeface="a고딕14" panose="02020600000000000000" pitchFamily="18" charset="-127"/>
                </a:rPr>
                <a:t>/</a:t>
              </a:r>
              <a:r>
                <a:rPr lang="ko-KR" altLang="en-US" sz="1100" dirty="0">
                  <a:solidFill>
                    <a:prstClr val="black"/>
                  </a:solidFill>
                  <a:latin typeface="a고딕14" panose="02020600000000000000" pitchFamily="18" charset="-127"/>
                  <a:ea typeface="a고딕14" panose="02020600000000000000" pitchFamily="18" charset="-127"/>
                </a:rPr>
                <a:t>직무별</a:t>
              </a:r>
              <a:r>
                <a:rPr lang="en-US" altLang="ko-KR" sz="1100" dirty="0">
                  <a:solidFill>
                    <a:prstClr val="black"/>
                  </a:solidFill>
                  <a:latin typeface="a고딕14" panose="02020600000000000000" pitchFamily="18" charset="-127"/>
                  <a:ea typeface="a고딕14" panose="02020600000000000000" pitchFamily="18" charset="-127"/>
                </a:rPr>
                <a:t>/</a:t>
              </a:r>
              <a:r>
                <a:rPr lang="ko-KR" altLang="en-US" sz="1100" dirty="0">
                  <a:solidFill>
                    <a:prstClr val="black"/>
                  </a:solidFill>
                  <a:latin typeface="a고딕14" panose="02020600000000000000" pitchFamily="18" charset="-127"/>
                  <a:ea typeface="a고딕14" panose="02020600000000000000" pitchFamily="18" charset="-127"/>
                </a:rPr>
                <a:t>기능별 활용가능 영역 파악을 </a:t>
              </a:r>
              <a:r>
                <a:rPr lang="ko-KR" altLang="en-US" sz="1100">
                  <a:solidFill>
                    <a:prstClr val="black"/>
                  </a:solidFill>
                  <a:latin typeface="a고딕14" panose="02020600000000000000" pitchFamily="18" charset="-127"/>
                  <a:ea typeface="a고딕14" panose="02020600000000000000" pitchFamily="18" charset="-127"/>
                </a:rPr>
                <a:t>위해 취업자 수</a:t>
              </a:r>
              <a:r>
                <a:rPr lang="en-US" altLang="ko-KR" sz="1100">
                  <a:solidFill>
                    <a:prstClr val="black"/>
                  </a:solidFill>
                  <a:latin typeface="a고딕14" panose="02020600000000000000" pitchFamily="18" charset="-127"/>
                  <a:ea typeface="a고딕14" panose="02020600000000000000" pitchFamily="18" charset="-127"/>
                </a:rPr>
                <a:t>, </a:t>
              </a:r>
              <a:r>
                <a:rPr lang="en-US" altLang="ko-KR" sz="1100" dirty="0">
                  <a:solidFill>
                    <a:prstClr val="black"/>
                  </a:solidFill>
                  <a:latin typeface="a고딕14" panose="02020600000000000000" pitchFamily="18" charset="-127"/>
                  <a:ea typeface="a고딕14" panose="02020600000000000000" pitchFamily="18" charset="-127"/>
                </a:rPr>
                <a:t>Data </a:t>
              </a:r>
              <a:r>
                <a:rPr lang="ko-KR" altLang="en-US" sz="1100" dirty="0">
                  <a:solidFill>
                    <a:prstClr val="black"/>
                  </a:solidFill>
                  <a:latin typeface="a고딕14" panose="02020600000000000000" pitchFamily="18" charset="-127"/>
                  <a:ea typeface="a고딕14" panose="02020600000000000000" pitchFamily="18" charset="-127"/>
                </a:rPr>
                <a:t>활용</a:t>
              </a:r>
              <a:r>
                <a:rPr lang="en-US" altLang="ko-KR" sz="1100" dirty="0">
                  <a:solidFill>
                    <a:prstClr val="black"/>
                  </a:solidFill>
                  <a:latin typeface="a고딕14" panose="02020600000000000000" pitchFamily="18" charset="-127"/>
                  <a:ea typeface="a고딕14" panose="02020600000000000000" pitchFamily="18" charset="-127"/>
                </a:rPr>
                <a:t> </a:t>
              </a:r>
              <a:r>
                <a:rPr lang="ko-KR" altLang="en-US" sz="1100" dirty="0">
                  <a:solidFill>
                    <a:prstClr val="black"/>
                  </a:solidFill>
                  <a:latin typeface="a고딕14" panose="02020600000000000000" pitchFamily="18" charset="-127"/>
                  <a:ea typeface="a고딕14" panose="02020600000000000000" pitchFamily="18" charset="-127"/>
                </a:rPr>
                <a:t>및 </a:t>
              </a:r>
              <a:r>
                <a:rPr lang="en-US" altLang="ko-KR" sz="1100" dirty="0">
                  <a:solidFill>
                    <a:prstClr val="black"/>
                  </a:solidFill>
                  <a:latin typeface="a고딕14" panose="02020600000000000000" pitchFamily="18" charset="-127"/>
                  <a:ea typeface="a고딕14" panose="02020600000000000000" pitchFamily="18" charset="-127"/>
                </a:rPr>
                <a:t>AI </a:t>
              </a:r>
              <a:r>
                <a:rPr lang="ko-KR" altLang="en-US" sz="1100" dirty="0">
                  <a:solidFill>
                    <a:prstClr val="black"/>
                  </a:solidFill>
                  <a:latin typeface="a고딕14" panose="02020600000000000000" pitchFamily="18" charset="-127"/>
                  <a:ea typeface="a고딕14" panose="02020600000000000000" pitchFamily="18" charset="-127"/>
                </a:rPr>
                <a:t>적용적합성이 높은 분야를 선정</a:t>
              </a:r>
              <a:endParaRPr lang="en-US" altLang="ko-KR" sz="1100" dirty="0">
                <a:solidFill>
                  <a:prstClr val="black"/>
                </a:solidFill>
                <a:latin typeface="a고딕14" panose="02020600000000000000" pitchFamily="18" charset="-127"/>
                <a:ea typeface="a고딕14" panose="02020600000000000000" pitchFamily="18" charset="-127"/>
              </a:endParaRPr>
            </a:p>
          </p:txBody>
        </p:sp>
        <p:sp>
          <p:nvSpPr>
            <p:cNvPr id="42" name="ListLeanHorizontalTextDetail0">
              <a:extLst>
                <a:ext uri="{FF2B5EF4-FFF2-40B4-BE49-F238E27FC236}">
                  <a16:creationId xmlns:a16="http://schemas.microsoft.com/office/drawing/2014/main" id="{728D9BB8-36E4-D35E-6265-E38EFA6FF945}"/>
                </a:ext>
              </a:extLst>
            </p:cNvPr>
            <p:cNvSpPr txBox="1">
              <a:spLocks/>
            </p:cNvSpPr>
            <p:nvPr/>
          </p:nvSpPr>
          <p:spPr>
            <a:xfrm>
              <a:off x="-4229017" y="9161830"/>
              <a:ext cx="2996522" cy="561692"/>
            </a:xfrm>
            <a:prstGeom prst="rect">
              <a:avLst/>
            </a:prstGeom>
            <a:noFill/>
            <a:ln w="9525">
              <a:noFill/>
            </a:ln>
          </p:spPr>
          <p:txBody>
            <a:bodyPr vert="horz" wrap="square" lIns="0" tIns="0" rIns="0" bIns="0" rtlCol="0">
              <a:spAutoFit/>
            </a:bodyPr>
            <a:lstStyle>
              <a:defPPr>
                <a:defRPr lang="en-US"/>
              </a:defPPr>
              <a:lvl2pPr marL="177800" lvl="1" indent="-177800" algn="l" eaLnBrk="1" latinLnBrk="0" hangingPunct="1">
                <a:lnSpc>
                  <a:spcPct val="120000"/>
                </a:lnSpc>
                <a:spcBef>
                  <a:spcPts val="600"/>
                </a:spcBef>
                <a:buSzPct val="100000"/>
                <a:buFont typeface="Arial Narrow" panose="020B0606020202030204" pitchFamily="34" charset="0"/>
                <a:buChar char="&gt;"/>
                <a:defRPr>
                  <a:solidFill>
                    <a:srgbClr val="000000"/>
                  </a:solidFill>
                  <a:latin typeface="Arial Narrow" panose="020B0606020202030204" pitchFamily="34" charset="0"/>
                  <a:ea typeface="a고딕14" panose="02020600000000000000" pitchFamily="18" charset="-127"/>
                  <a:cs typeface="Arial Narrow" pitchFamily="34" charset="0"/>
                </a:defRPr>
              </a:lvl2pPr>
            </a:lstStyle>
            <a:p>
              <a:pPr marL="177800" indent="-177800" algn="l" latinLnBrk="0">
                <a:spcAft>
                  <a:spcPts val="300"/>
                </a:spcAft>
                <a:buFont typeface="Arial" panose="020B0604020202020204" pitchFamily="34" charset="0"/>
                <a:buChar char="•"/>
                <a:defRPr/>
              </a:pPr>
              <a:r>
                <a:rPr lang="ko-KR" altLang="en-US" spc="-150" dirty="0">
                  <a:solidFill>
                    <a:srgbClr val="0070C0"/>
                  </a:solidFill>
                  <a:latin typeface="a고딕14" panose="02020600000000000000" pitchFamily="18" charset="-127"/>
                  <a:ea typeface="a고딕14" panose="02020600000000000000" pitchFamily="18" charset="-127"/>
                </a:rPr>
                <a:t>분야별 전문가 의견을 통한 교육과정 내용 수준 도출</a:t>
              </a:r>
              <a:endParaRPr lang="en-US" altLang="ko-KR" spc="-150" dirty="0">
                <a:solidFill>
                  <a:prstClr val="black"/>
                </a:solidFill>
                <a:latin typeface="a고딕14" panose="02020600000000000000" pitchFamily="18" charset="-127"/>
                <a:ea typeface="a고딕14" panose="02020600000000000000" pitchFamily="18" charset="-127"/>
              </a:endParaRPr>
            </a:p>
            <a:p>
              <a:pPr marL="177800" indent="-88900" algn="l" latinLnBrk="0">
                <a:spcAft>
                  <a:spcPts val="300"/>
                </a:spcAft>
                <a:buFont typeface="a고딕14" panose="02020600000000000000" pitchFamily="18" charset="-127"/>
                <a:buChar char="-"/>
                <a:defRPr/>
              </a:pPr>
              <a:r>
                <a:rPr lang="ko-KR" altLang="en-US" sz="1100">
                  <a:solidFill>
                    <a:prstClr val="black"/>
                  </a:solidFill>
                  <a:latin typeface="a고딕14" panose="02020600000000000000" pitchFamily="18" charset="-127"/>
                  <a:ea typeface="a고딕14" panose="02020600000000000000" pitchFamily="18" charset="-127"/>
                </a:rPr>
                <a:t>각 분야별 </a:t>
              </a:r>
              <a:r>
                <a:rPr lang="ko-KR" altLang="en-US" sz="1100" dirty="0">
                  <a:solidFill>
                    <a:prstClr val="black"/>
                  </a:solidFill>
                  <a:latin typeface="a고딕14" panose="02020600000000000000" pitchFamily="18" charset="-127"/>
                  <a:ea typeface="a고딕14" panose="02020600000000000000" pitchFamily="18" charset="-127"/>
                </a:rPr>
                <a:t>전문가에게 </a:t>
              </a:r>
              <a:r>
                <a:rPr lang="en-US" altLang="ko-KR" sz="1100" dirty="0">
                  <a:solidFill>
                    <a:prstClr val="black"/>
                  </a:solidFill>
                  <a:latin typeface="a고딕14" panose="02020600000000000000" pitchFamily="18" charset="-127"/>
                  <a:ea typeface="a고딕14" panose="02020600000000000000" pitchFamily="18" charset="-127"/>
                </a:rPr>
                <a:t>AI </a:t>
              </a:r>
              <a:r>
                <a:rPr lang="ko-KR" altLang="en-US" sz="1100" dirty="0" err="1">
                  <a:solidFill>
                    <a:prstClr val="black"/>
                  </a:solidFill>
                  <a:latin typeface="a고딕14" panose="02020600000000000000" pitchFamily="18" charset="-127"/>
                  <a:ea typeface="a고딕14" panose="02020600000000000000" pitchFamily="18" charset="-127"/>
                </a:rPr>
                <a:t>리터러시</a:t>
              </a:r>
              <a:r>
                <a:rPr lang="ko-KR" altLang="en-US" sz="1100" dirty="0">
                  <a:solidFill>
                    <a:prstClr val="black"/>
                  </a:solidFill>
                  <a:latin typeface="a고딕14" panose="02020600000000000000" pitchFamily="18" charset="-127"/>
                  <a:ea typeface="a고딕14" panose="02020600000000000000" pitchFamily="18" charset="-127"/>
                </a:rPr>
                <a:t> 교육과정 개발에 필요한 내용</a:t>
              </a:r>
              <a:r>
                <a:rPr lang="en-US" altLang="ko-KR" sz="1100" dirty="0">
                  <a:solidFill>
                    <a:prstClr val="black"/>
                  </a:solidFill>
                  <a:latin typeface="a고딕14" panose="02020600000000000000" pitchFamily="18" charset="-127"/>
                  <a:ea typeface="a고딕14" panose="02020600000000000000" pitchFamily="18" charset="-127"/>
                </a:rPr>
                <a:t>, </a:t>
              </a:r>
              <a:r>
                <a:rPr lang="ko-KR" altLang="en-US" sz="1100" dirty="0">
                  <a:solidFill>
                    <a:prstClr val="black"/>
                  </a:solidFill>
                  <a:latin typeface="a고딕14" panose="02020600000000000000" pitchFamily="18" charset="-127"/>
                  <a:ea typeface="a고딕14" panose="02020600000000000000" pitchFamily="18" charset="-127"/>
                </a:rPr>
                <a:t>수준 등 의견 청취</a:t>
              </a:r>
              <a:endParaRPr lang="en-US" altLang="ko-KR" sz="1100" dirty="0">
                <a:solidFill>
                  <a:prstClr val="black"/>
                </a:solidFill>
                <a:latin typeface="a고딕14" panose="02020600000000000000" pitchFamily="18" charset="-127"/>
                <a:ea typeface="a고딕14" panose="02020600000000000000" pitchFamily="18" charset="-127"/>
              </a:endParaRPr>
            </a:p>
          </p:txBody>
        </p:sp>
        <p:sp>
          <p:nvSpPr>
            <p:cNvPr id="43" name="ListLeanHorizontalTextDetail0">
              <a:extLst>
                <a:ext uri="{FF2B5EF4-FFF2-40B4-BE49-F238E27FC236}">
                  <a16:creationId xmlns:a16="http://schemas.microsoft.com/office/drawing/2014/main" id="{C0D778B3-7BEC-2FA7-26F7-BF025A387068}"/>
                </a:ext>
              </a:extLst>
            </p:cNvPr>
            <p:cNvSpPr txBox="1">
              <a:spLocks/>
            </p:cNvSpPr>
            <p:nvPr/>
          </p:nvSpPr>
          <p:spPr>
            <a:xfrm>
              <a:off x="-4229017" y="10192702"/>
              <a:ext cx="2996522" cy="561692"/>
            </a:xfrm>
            <a:prstGeom prst="rect">
              <a:avLst/>
            </a:prstGeom>
            <a:noFill/>
            <a:ln w="9525">
              <a:noFill/>
            </a:ln>
          </p:spPr>
          <p:txBody>
            <a:bodyPr vert="horz" wrap="square" lIns="0" tIns="0" rIns="0" bIns="0" rtlCol="0">
              <a:spAutoFit/>
            </a:bodyPr>
            <a:lstStyle>
              <a:defPPr>
                <a:defRPr lang="en-US"/>
              </a:defPPr>
              <a:lvl2pPr marL="177800" lvl="1" indent="-177800" algn="l" eaLnBrk="1" latinLnBrk="0" hangingPunct="1">
                <a:lnSpc>
                  <a:spcPct val="120000"/>
                </a:lnSpc>
                <a:spcBef>
                  <a:spcPts val="600"/>
                </a:spcBef>
                <a:buSzPct val="100000"/>
                <a:buFont typeface="Arial Narrow" panose="020B0606020202030204" pitchFamily="34" charset="0"/>
                <a:buChar char="&gt;"/>
                <a:defRPr>
                  <a:solidFill>
                    <a:srgbClr val="000000"/>
                  </a:solidFill>
                  <a:latin typeface="Arial Narrow" panose="020B0606020202030204" pitchFamily="34" charset="0"/>
                  <a:ea typeface="a고딕14" panose="02020600000000000000" pitchFamily="18" charset="-127"/>
                  <a:cs typeface="Arial Narrow" pitchFamily="34" charset="0"/>
                </a:defRPr>
              </a:lvl2pPr>
            </a:lstStyle>
            <a:p>
              <a:pPr marL="177800" indent="-177800" algn="l" latinLnBrk="0">
                <a:spcAft>
                  <a:spcPts val="300"/>
                </a:spcAft>
                <a:buFont typeface="Arial" panose="020B0604020202020204" pitchFamily="34" charset="0"/>
                <a:buChar char="•"/>
                <a:defRPr/>
              </a:pPr>
              <a:r>
                <a:rPr lang="ko-KR" altLang="en-US" dirty="0">
                  <a:solidFill>
                    <a:srgbClr val="0070C0"/>
                  </a:solidFill>
                  <a:latin typeface="a고딕14" panose="02020600000000000000" pitchFamily="18" charset="-127"/>
                  <a:ea typeface="a고딕14" panose="02020600000000000000" pitchFamily="18" charset="-127"/>
                </a:rPr>
                <a:t>교육과정 개요서 작성</a:t>
              </a:r>
              <a:endParaRPr lang="en-US" altLang="ko-KR" dirty="0">
                <a:solidFill>
                  <a:srgbClr val="0070C0"/>
                </a:solidFill>
                <a:latin typeface="a고딕14" panose="02020600000000000000" pitchFamily="18" charset="-127"/>
                <a:ea typeface="a고딕14" panose="02020600000000000000" pitchFamily="18" charset="-127"/>
              </a:endParaRPr>
            </a:p>
            <a:p>
              <a:pPr marL="177800" marR="0" lvl="0" indent="-88900" algn="l" defTabSz="914400" rtl="0" eaLnBrk="0" fontAlgn="base" latinLnBrk="0" hangingPunct="0">
                <a:lnSpc>
                  <a:spcPct val="100000"/>
                </a:lnSpc>
                <a:spcBef>
                  <a:spcPct val="0"/>
                </a:spcBef>
                <a:spcAft>
                  <a:spcPts val="300"/>
                </a:spcAft>
                <a:buClrTx/>
                <a:buSzTx/>
                <a:buFont typeface="a고딕14" panose="02020600000000000000" pitchFamily="18" charset="-127"/>
                <a:buChar char="-"/>
                <a:tabLst/>
                <a:defRPr/>
              </a:pPr>
              <a:r>
                <a:rPr lang="ko-KR" altLang="en-US" sz="1100" dirty="0">
                  <a:solidFill>
                    <a:prstClr val="black"/>
                  </a:solidFill>
                  <a:latin typeface="a고딕14" panose="02020600000000000000" pitchFamily="18" charset="-127"/>
                  <a:ea typeface="a고딕14" panose="02020600000000000000" pitchFamily="18" charset="-127"/>
                </a:rPr>
                <a:t>분야별 전문가 및 </a:t>
              </a:r>
              <a:r>
                <a:rPr lang="en-US" altLang="ko-KR" sz="1100" dirty="0">
                  <a:solidFill>
                    <a:prstClr val="black"/>
                  </a:solidFill>
                  <a:latin typeface="a고딕14" panose="02020600000000000000" pitchFamily="18" charset="-127"/>
                  <a:ea typeface="a고딕14" panose="02020600000000000000" pitchFamily="18" charset="-127"/>
                </a:rPr>
                <a:t>AI </a:t>
              </a:r>
              <a:r>
                <a:rPr lang="ko-KR" altLang="en-US" sz="1100" dirty="0">
                  <a:solidFill>
                    <a:prstClr val="black"/>
                  </a:solidFill>
                  <a:latin typeface="a고딕14" panose="02020600000000000000" pitchFamily="18" charset="-127"/>
                  <a:ea typeface="a고딕14" panose="02020600000000000000" pitchFamily="18" charset="-127"/>
                </a:rPr>
                <a:t>전문가의 협업을 통하여 교육과정 개요서 작성</a:t>
              </a:r>
              <a:endParaRPr kumimoji="0" lang="en-US" altLang="ko-KR" sz="11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grpSp>
    </p:spTree>
    <p:extLst>
      <p:ext uri="{BB962C8B-B14F-4D97-AF65-F5344CB8AC3E}">
        <p14:creationId xmlns:p14="http://schemas.microsoft.com/office/powerpoint/2010/main" val="396205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FB00-A56B-7AAE-4147-2ADCB490953A}"/>
            </a:ext>
          </a:extLst>
        </p:cNvPr>
        <p:cNvGrpSpPr/>
        <p:nvPr/>
      </p:nvGrpSpPr>
      <p:grpSpPr>
        <a:xfrm>
          <a:off x="0" y="0"/>
          <a:ext cx="0" cy="0"/>
          <a:chOff x="0" y="0"/>
          <a:chExt cx="0" cy="0"/>
        </a:xfrm>
      </p:grpSpPr>
      <p:sp>
        <p:nvSpPr>
          <p:cNvPr id="37" name="순서도: 수동 입력 2"/>
          <p:cNvSpPr/>
          <p:nvPr/>
        </p:nvSpPr>
        <p:spPr>
          <a:xfrm>
            <a:off x="4700972" y="2163355"/>
            <a:ext cx="396045" cy="432634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6022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6022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6022"/>
                </a:moveTo>
                <a:lnTo>
                  <a:pt x="10000" y="0"/>
                </a:lnTo>
                <a:lnTo>
                  <a:pt x="10000" y="10000"/>
                </a:lnTo>
                <a:lnTo>
                  <a:pt x="0" y="10000"/>
                </a:lnTo>
                <a:lnTo>
                  <a:pt x="0" y="6022"/>
                </a:lnTo>
                <a:close/>
              </a:path>
            </a:pathLst>
          </a:cu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 name="텍스트 개체 틀 1">
            <a:extLst>
              <a:ext uri="{FF2B5EF4-FFF2-40B4-BE49-F238E27FC236}">
                <a16:creationId xmlns:a16="http://schemas.microsoft.com/office/drawing/2014/main" id="{C7F9A532-92CC-C853-4172-312B2642BB60}"/>
              </a:ext>
            </a:extLst>
          </p:cNvPr>
          <p:cNvSpPr>
            <a:spLocks noGrp="1"/>
          </p:cNvSpPr>
          <p:nvPr>
            <p:ph type="body" sz="quarter" idx="12"/>
          </p:nvPr>
        </p:nvSpPr>
        <p:spPr/>
        <p:txBody>
          <a:bodyPr/>
          <a:lstStyle/>
          <a:p>
            <a:pPr latinLnBrk="0"/>
            <a:r>
              <a:rPr lang="en-US" altLang="ko-KR"/>
              <a:t>AI </a:t>
            </a:r>
            <a:r>
              <a:rPr lang="ko-KR" altLang="en-US"/>
              <a:t>리터러시 교육과정 개발의 방향성 설정을 위해 </a:t>
            </a:r>
            <a:r>
              <a:rPr lang="en-US" altLang="ko-KR"/>
              <a:t>AI </a:t>
            </a:r>
            <a:r>
              <a:rPr lang="ko-KR" altLang="en-US"/>
              <a:t>리터러시 전문가인 자문위원을 </a:t>
            </a:r>
            <a:r>
              <a:rPr lang="en-US" altLang="ko-KR"/>
              <a:t>3</a:t>
            </a:r>
            <a:r>
              <a:rPr lang="ko-KR" altLang="en-US"/>
              <a:t>명 섭외하여</a:t>
            </a:r>
            <a:r>
              <a:rPr lang="en-US" altLang="ko-KR"/>
              <a:t>, AI </a:t>
            </a:r>
            <a:r>
              <a:rPr lang="ko-KR" altLang="en-US"/>
              <a:t>리터러시의 정의</a:t>
            </a:r>
            <a:r>
              <a:rPr lang="en-US" altLang="ko-KR"/>
              <a:t>,</a:t>
            </a:r>
            <a:r>
              <a:rPr lang="ko-KR" altLang="en-US"/>
              <a:t> 교육 범위</a:t>
            </a:r>
            <a:r>
              <a:rPr lang="en-US" altLang="ko-KR"/>
              <a:t>, </a:t>
            </a:r>
            <a:r>
              <a:rPr lang="ko-KR" altLang="en-US"/>
              <a:t>과정 설계 기준 등을 논의하였음</a:t>
            </a:r>
            <a:endParaRPr lang="ko-KR" altLang="en-US" dirty="0"/>
          </a:p>
        </p:txBody>
      </p:sp>
      <p:sp>
        <p:nvSpPr>
          <p:cNvPr id="5" name="텍스트 개체 틀 4">
            <a:extLst>
              <a:ext uri="{FF2B5EF4-FFF2-40B4-BE49-F238E27FC236}">
                <a16:creationId xmlns:a16="http://schemas.microsoft.com/office/drawing/2014/main" id="{F67FE4BA-47EB-3C79-1543-98F7B694FB3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Ⅲ. AI </a:t>
            </a:r>
            <a:r>
              <a:rPr lang="ko-KR" altLang="en-US" dirty="0" err="1">
                <a:latin typeface="+mn-ea"/>
              </a:rPr>
              <a:t>리터러시</a:t>
            </a:r>
            <a:r>
              <a:rPr lang="ko-KR" altLang="en-US" dirty="0">
                <a:latin typeface="+mn-ea"/>
              </a:rPr>
              <a:t> 교육과정 개발</a:t>
            </a:r>
          </a:p>
        </p:txBody>
      </p:sp>
      <p:sp>
        <p:nvSpPr>
          <p:cNvPr id="6" name="텍스트 개체 틀 87">
            <a:extLst>
              <a:ext uri="{FF2B5EF4-FFF2-40B4-BE49-F238E27FC236}">
                <a16:creationId xmlns:a16="http://schemas.microsoft.com/office/drawing/2014/main" id="{86351667-EB1D-F28B-DE24-E115BA118282}"/>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en-US" altLang="ko-KR" sz="1200" dirty="0">
                <a:solidFill>
                  <a:schemeClr val="bg1"/>
                </a:solidFill>
              </a:rPr>
              <a:t>AI </a:t>
            </a:r>
            <a:r>
              <a:rPr lang="ko-KR" altLang="en-US" sz="1200" dirty="0" err="1">
                <a:solidFill>
                  <a:schemeClr val="bg1"/>
                </a:solidFill>
              </a:rPr>
              <a:t>리터러시</a:t>
            </a:r>
            <a:r>
              <a:rPr lang="ko-KR" altLang="en-US" sz="1200" dirty="0">
                <a:solidFill>
                  <a:schemeClr val="bg1"/>
                </a:solidFill>
              </a:rPr>
              <a:t> 교육과정 개발 절차 수립</a:t>
            </a:r>
          </a:p>
        </p:txBody>
      </p:sp>
      <p:sp>
        <p:nvSpPr>
          <p:cNvPr id="10" name="직사각형 9">
            <a:extLst>
              <a:ext uri="{FF2B5EF4-FFF2-40B4-BE49-F238E27FC236}">
                <a16:creationId xmlns:a16="http://schemas.microsoft.com/office/drawing/2014/main" id="{FA4EE084-C96F-C15F-43F6-C1A9B0B2A375}"/>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7. AI </a:t>
            </a:r>
            <a:r>
              <a:rPr lang="ko-KR" altLang="en-US" sz="1100" dirty="0" err="1">
                <a:solidFill>
                  <a:srgbClr val="003F56"/>
                </a:solidFill>
                <a:latin typeface="a고딕14"/>
                <a:ea typeface="a고딕14"/>
              </a:rPr>
              <a:t>리터러시</a:t>
            </a:r>
            <a:r>
              <a:rPr lang="ko-KR" altLang="en-US" sz="1100" dirty="0">
                <a:solidFill>
                  <a:srgbClr val="003F56"/>
                </a:solidFill>
                <a:latin typeface="a고딕14"/>
                <a:ea typeface="a고딕14"/>
              </a:rPr>
              <a:t> 분야 교육과정 개발</a:t>
            </a:r>
          </a:p>
        </p:txBody>
      </p:sp>
      <p:sp>
        <p:nvSpPr>
          <p:cNvPr id="8" name="순서도: 수동 입력 2"/>
          <p:cNvSpPr/>
          <p:nvPr/>
        </p:nvSpPr>
        <p:spPr>
          <a:xfrm>
            <a:off x="5097017" y="2067307"/>
            <a:ext cx="4258356" cy="4422032"/>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9" name="그룹 8">
            <a:extLst>
              <a:ext uri="{FF2B5EF4-FFF2-40B4-BE49-F238E27FC236}">
                <a16:creationId xmlns:a16="http://schemas.microsoft.com/office/drawing/2014/main" id="{F999D5E6-49FA-CA27-7CA2-33762F674DF4}"/>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A5347357-1F59-91A0-D653-9B84C58C65C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AI </a:t>
              </a:r>
              <a:r>
                <a:rPr kumimoji="0" lang="ko-KR" altLang="en-US" sz="140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리터러시</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교육과정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개발 자문회의</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E1010F7-3467-0050-1E48-2EB087DBF05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3" name="직사각형 12">
            <a:extLst>
              <a:ext uri="{FF2B5EF4-FFF2-40B4-BE49-F238E27FC236}">
                <a16:creationId xmlns:a16="http://schemas.microsoft.com/office/drawing/2014/main" id="{6F731321-690E-303A-BAC0-7194404B770C}"/>
              </a:ext>
            </a:extLst>
          </p:cNvPr>
          <p:cNvSpPr/>
          <p:nvPr/>
        </p:nvSpPr>
        <p:spPr>
          <a:xfrm>
            <a:off x="598102" y="3632547"/>
            <a:ext cx="659622" cy="105944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latinLnBrk="0">
              <a:spcAft>
                <a:spcPts val="600"/>
              </a:spcAft>
              <a:buNone/>
            </a:pPr>
            <a:r>
              <a:rPr lang="ko-KR" altLang="en-US" spc="-100">
                <a:latin typeface="a고딕14" panose="02020600000000000000" pitchFamily="18" charset="-127"/>
                <a:ea typeface="a고딕14" panose="02020600000000000000" pitchFamily="18" charset="-127"/>
              </a:rPr>
              <a:t>자문 목적</a:t>
            </a:r>
            <a:endParaRPr lang="en-US" altLang="ko-KR" spc="-100" dirty="0">
              <a:latin typeface="a고딕14" panose="02020600000000000000" pitchFamily="18" charset="-127"/>
              <a:ea typeface="a고딕14" panose="02020600000000000000" pitchFamily="18" charset="-127"/>
            </a:endParaRPr>
          </a:p>
        </p:txBody>
      </p:sp>
      <p:sp>
        <p:nvSpPr>
          <p:cNvPr id="14" name="직사각형 13">
            <a:extLst>
              <a:ext uri="{FF2B5EF4-FFF2-40B4-BE49-F238E27FC236}">
                <a16:creationId xmlns:a16="http://schemas.microsoft.com/office/drawing/2014/main" id="{5DB93D47-677B-B6BD-AC9A-272D7A34FD9D}"/>
              </a:ext>
            </a:extLst>
          </p:cNvPr>
          <p:cNvSpPr/>
          <p:nvPr/>
        </p:nvSpPr>
        <p:spPr>
          <a:xfrm>
            <a:off x="1328823" y="3632445"/>
            <a:ext cx="3425794" cy="1061546"/>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200"/>
              </a:spcAft>
              <a:buFont typeface="Arial" panose="020B0604020202020204" pitchFamily="34" charset="0"/>
              <a:buChar char="•"/>
            </a:pPr>
            <a:r>
              <a:rPr lang="en-US" altLang="ko-KR" sz="1100" dirty="0">
                <a:solidFill>
                  <a:schemeClr val="tx1"/>
                </a:solidFill>
                <a:latin typeface="a고딕14" panose="02020600000000000000" pitchFamily="18" charset="-127"/>
                <a:ea typeface="a고딕14" panose="02020600000000000000" pitchFamily="18" charset="-127"/>
              </a:rPr>
              <a:t>AI </a:t>
            </a:r>
            <a:r>
              <a:rPr lang="ko-KR" altLang="en-US" sz="1100" dirty="0" err="1">
                <a:solidFill>
                  <a:schemeClr val="tx1"/>
                </a:solidFill>
                <a:latin typeface="a고딕14" panose="02020600000000000000" pitchFamily="18" charset="-127"/>
                <a:ea typeface="a고딕14" panose="02020600000000000000" pitchFamily="18" charset="-127"/>
              </a:rPr>
              <a:t>리터러시</a:t>
            </a:r>
            <a:r>
              <a:rPr lang="ko-KR" altLang="en-US" sz="1100" dirty="0">
                <a:solidFill>
                  <a:schemeClr val="tx1"/>
                </a:solidFill>
                <a:latin typeface="a고딕14" panose="02020600000000000000" pitchFamily="18" charset="-127"/>
                <a:ea typeface="a고딕14" panose="02020600000000000000" pitchFamily="18" charset="-127"/>
              </a:rPr>
              <a:t> 교육과정 개발의 기초 방향을 설정하고자 함</a:t>
            </a:r>
            <a:endParaRPr lang="en-US" altLang="ko-KR" sz="1100" dirty="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rial" panose="020B0604020202020204" pitchFamily="34" charset="0"/>
              <a:buChar char="•"/>
            </a:pPr>
            <a:r>
              <a:rPr lang="ko-KR" altLang="en-US" sz="1100" spc="-50" dirty="0">
                <a:solidFill>
                  <a:schemeClr val="tx1"/>
                </a:solidFill>
                <a:latin typeface="a고딕14" panose="02020600000000000000" pitchFamily="18" charset="-127"/>
                <a:ea typeface="a고딕14" panose="02020600000000000000" pitchFamily="18" charset="-127"/>
              </a:rPr>
              <a:t>산업별로 요구되는 </a:t>
            </a:r>
            <a:r>
              <a:rPr lang="en-US" altLang="ko-KR" sz="1100" spc="-50" dirty="0">
                <a:solidFill>
                  <a:schemeClr val="tx1"/>
                </a:solidFill>
                <a:latin typeface="a고딕14" panose="02020600000000000000" pitchFamily="18" charset="-127"/>
                <a:ea typeface="a고딕14" panose="02020600000000000000" pitchFamily="18" charset="-127"/>
              </a:rPr>
              <a:t>AI </a:t>
            </a:r>
            <a:r>
              <a:rPr lang="ko-KR" altLang="en-US" sz="1100" spc="-50" dirty="0" err="1">
                <a:solidFill>
                  <a:schemeClr val="tx1"/>
                </a:solidFill>
                <a:latin typeface="a고딕14" panose="02020600000000000000" pitchFamily="18" charset="-127"/>
                <a:ea typeface="a고딕14" panose="02020600000000000000" pitchFamily="18" charset="-127"/>
              </a:rPr>
              <a:t>리터러시의</a:t>
            </a:r>
            <a:r>
              <a:rPr lang="ko-KR" altLang="en-US" sz="1100" spc="-50" dirty="0">
                <a:solidFill>
                  <a:schemeClr val="tx1"/>
                </a:solidFill>
                <a:latin typeface="a고딕14" panose="02020600000000000000" pitchFamily="18" charset="-127"/>
                <a:ea typeface="a고딕14" panose="02020600000000000000" pitchFamily="18" charset="-127"/>
              </a:rPr>
              <a:t> 정의</a:t>
            </a:r>
            <a:r>
              <a:rPr lang="en-US" altLang="ko-KR" sz="1100" spc="-50" dirty="0">
                <a:solidFill>
                  <a:schemeClr val="tx1"/>
                </a:solidFill>
                <a:latin typeface="a고딕14" panose="02020600000000000000" pitchFamily="18" charset="-127"/>
                <a:ea typeface="a고딕14" panose="02020600000000000000" pitchFamily="18" charset="-127"/>
              </a:rPr>
              <a:t>·</a:t>
            </a:r>
            <a:r>
              <a:rPr lang="ko-KR" altLang="en-US" sz="1100" spc="-50" dirty="0">
                <a:solidFill>
                  <a:schemeClr val="tx1"/>
                </a:solidFill>
                <a:latin typeface="a고딕14" panose="02020600000000000000" pitchFamily="18" charset="-127"/>
                <a:ea typeface="a고딕14" panose="02020600000000000000" pitchFamily="18" charset="-127"/>
              </a:rPr>
              <a:t>교육 범위</a:t>
            </a:r>
            <a:r>
              <a:rPr lang="en-US" altLang="ko-KR" sz="1100" spc="-50" dirty="0">
                <a:solidFill>
                  <a:schemeClr val="tx1"/>
                </a:solidFill>
                <a:latin typeface="a고딕14" panose="02020600000000000000" pitchFamily="18" charset="-127"/>
                <a:ea typeface="a고딕14" panose="02020600000000000000" pitchFamily="18" charset="-127"/>
              </a:rPr>
              <a:t>·</a:t>
            </a:r>
            <a:r>
              <a:rPr lang="ko-KR" altLang="en-US" sz="1100" spc="-50" dirty="0">
                <a:solidFill>
                  <a:schemeClr val="tx1"/>
                </a:solidFill>
                <a:latin typeface="a고딕14" panose="02020600000000000000" pitchFamily="18" charset="-127"/>
                <a:ea typeface="a고딕14" panose="02020600000000000000" pitchFamily="18" charset="-127"/>
              </a:rPr>
              <a:t>대상 검토</a:t>
            </a:r>
            <a:endParaRPr lang="en-US" altLang="ko-KR" sz="1100" spc="-50" dirty="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교육과정 설계 기준</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산업별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직무별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기능별</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을 논의하여 체계적 개발의 토대 마련을 목적으로 함</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15" name="직사각형 14">
            <a:extLst>
              <a:ext uri="{FF2B5EF4-FFF2-40B4-BE49-F238E27FC236}">
                <a16:creationId xmlns:a16="http://schemas.microsoft.com/office/drawing/2014/main" id="{219CA529-BDBD-23CA-E33F-4E7FB3147037}"/>
              </a:ext>
            </a:extLst>
          </p:cNvPr>
          <p:cNvSpPr/>
          <p:nvPr/>
        </p:nvSpPr>
        <p:spPr>
          <a:xfrm>
            <a:off x="598102" y="4767164"/>
            <a:ext cx="659622" cy="172217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latinLnBrk="0">
              <a:spcAft>
                <a:spcPts val="600"/>
              </a:spcAft>
              <a:buNone/>
            </a:pPr>
            <a:r>
              <a:rPr lang="ko-KR" altLang="en-US" spc="-100">
                <a:latin typeface="a고딕14" panose="02020600000000000000" pitchFamily="18" charset="-127"/>
                <a:ea typeface="a고딕14" panose="02020600000000000000" pitchFamily="18" charset="-127"/>
              </a:rPr>
              <a:t>자문 범위 </a:t>
            </a:r>
            <a:endParaRPr lang="en-US" altLang="ko-KR" spc="-100" dirty="0">
              <a:latin typeface="a고딕14" panose="02020600000000000000" pitchFamily="18" charset="-127"/>
              <a:ea typeface="a고딕14" panose="02020600000000000000" pitchFamily="18" charset="-127"/>
            </a:endParaRPr>
          </a:p>
        </p:txBody>
      </p:sp>
      <p:graphicFrame>
        <p:nvGraphicFramePr>
          <p:cNvPr id="16" name="표 15">
            <a:extLst>
              <a:ext uri="{FF2B5EF4-FFF2-40B4-BE49-F238E27FC236}">
                <a16:creationId xmlns:a16="http://schemas.microsoft.com/office/drawing/2014/main" id="{99520F03-AE39-178E-C222-433C261005A8}"/>
              </a:ext>
            </a:extLst>
          </p:cNvPr>
          <p:cNvGraphicFramePr>
            <a:graphicFrameLocks noGrp="1"/>
          </p:cNvGraphicFramePr>
          <p:nvPr>
            <p:extLst>
              <p:ext uri="{D42A27DB-BD31-4B8C-83A1-F6EECF244321}">
                <p14:modId xmlns:p14="http://schemas.microsoft.com/office/powerpoint/2010/main" val="55487813"/>
              </p:ext>
            </p:extLst>
          </p:nvPr>
        </p:nvGraphicFramePr>
        <p:xfrm>
          <a:off x="599070" y="2392801"/>
          <a:ext cx="4138029" cy="1119964"/>
        </p:xfrm>
        <a:graphic>
          <a:graphicData uri="http://schemas.openxmlformats.org/drawingml/2006/table">
            <a:tbl>
              <a:tblPr firstRow="1" bandRow="1">
                <a:tableStyleId>{5C22544A-7EE6-4342-B048-85BDC9FD1C3A}</a:tableStyleId>
              </a:tblPr>
              <a:tblGrid>
                <a:gridCol w="1379343">
                  <a:extLst>
                    <a:ext uri="{9D8B030D-6E8A-4147-A177-3AD203B41FA5}">
                      <a16:colId xmlns:a16="http://schemas.microsoft.com/office/drawing/2014/main" val="297393405"/>
                    </a:ext>
                  </a:extLst>
                </a:gridCol>
                <a:gridCol w="1379343">
                  <a:extLst>
                    <a:ext uri="{9D8B030D-6E8A-4147-A177-3AD203B41FA5}">
                      <a16:colId xmlns:a16="http://schemas.microsoft.com/office/drawing/2014/main" val="351509445"/>
                    </a:ext>
                  </a:extLst>
                </a:gridCol>
                <a:gridCol w="1379343">
                  <a:extLst>
                    <a:ext uri="{9D8B030D-6E8A-4147-A177-3AD203B41FA5}">
                      <a16:colId xmlns:a16="http://schemas.microsoft.com/office/drawing/2014/main" val="2048756064"/>
                    </a:ext>
                  </a:extLst>
                </a:gridCol>
              </a:tblGrid>
              <a:tr h="279991">
                <a:tc>
                  <a:txBody>
                    <a:bodyPr/>
                    <a:lstStyle/>
                    <a:p>
                      <a:pPr algn="ctr" latinLnBrk="1"/>
                      <a:r>
                        <a:rPr lang="ko-KR" altLang="en-US" sz="1100" b="0" dirty="0">
                          <a:solidFill>
                            <a:schemeClr val="bg1"/>
                          </a:solidFill>
                          <a:latin typeface="+mj-ea"/>
                          <a:ea typeface="+mj-ea"/>
                        </a:rPr>
                        <a:t>소속기관                                                                                                                                                                                                                                                                                                                                                                                                                                                                                                                                                                                                                                                                                                                                                                                                                                                                                                                                                                                                                                                                                                                                                                                                                                                                                                                                                                                                                                                                                                                                                                                                                                                                                                                                                                                                                                                                                                                                                                                                                                                                                                                                                                                                                                                                                                                                                                                                                                                                                                                                                                                                                                                                                                                                                                                                                                                                                                                                                                                                                                                                                                                                                                                                                                                                                                                                                                                                                                                                                                                                                                                                                                                                                                                                                                                                                                                                                                                                                                                                                                                                                                                                                                                                                                                                                                                                                                                                                                                                                                                                                                                                                                                                                                                                                                                                                                                                                                                                                                                                                                                                                                                                                                                                                                                                                                                                                                                                                                                                                                                                                                                                                                                                                                                                                                                                                                                                                                                                                                                                                                                                                                                                                                                                                                                                                                                                                                                                                                                                                                                                                                                                                                                                                                                                                               </a:t>
                      </a:r>
                    </a:p>
                  </a:txBody>
                  <a:tcPr anchor="ctr">
                    <a:lnL w="317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latinLnBrk="1"/>
                      <a:r>
                        <a:rPr lang="ko-KR" altLang="en-US" sz="1100" b="0" dirty="0">
                          <a:solidFill>
                            <a:schemeClr val="bg1"/>
                          </a:solidFill>
                          <a:latin typeface="+mj-ea"/>
                          <a:ea typeface="+mj-ea"/>
                        </a:rPr>
                        <a:t>소속부서</a:t>
                      </a:r>
                      <a:r>
                        <a:rPr lang="en-US" altLang="ko-KR" sz="1100" b="0" dirty="0">
                          <a:solidFill>
                            <a:schemeClr val="bg1"/>
                          </a:solidFill>
                          <a:latin typeface="+mj-ea"/>
                          <a:ea typeface="+mj-ea"/>
                        </a:rPr>
                        <a:t>/</a:t>
                      </a:r>
                      <a:r>
                        <a:rPr lang="ko-KR" altLang="en-US" sz="1100" b="0" dirty="0">
                          <a:solidFill>
                            <a:schemeClr val="bg1"/>
                          </a:solidFill>
                          <a:latin typeface="+mj-ea"/>
                          <a:ea typeface="+mj-ea"/>
                        </a:rPr>
                        <a:t>지위</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latinLnBrk="1"/>
                      <a:r>
                        <a:rPr lang="ko-KR" altLang="en-US" sz="1100" b="0" dirty="0">
                          <a:solidFill>
                            <a:schemeClr val="bg1"/>
                          </a:solidFill>
                          <a:latin typeface="+mj-ea"/>
                          <a:ea typeface="+mj-ea"/>
                        </a:rPr>
                        <a:t>이름</a:t>
                      </a:r>
                    </a:p>
                  </a:txBody>
                  <a:tcPr anchor="ctr">
                    <a:lnL w="635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2111822037"/>
                  </a:ext>
                </a:extLst>
              </a:tr>
              <a:tr h="279991">
                <a:tc>
                  <a:txBody>
                    <a:bodyPr/>
                    <a:lstStyle/>
                    <a:p>
                      <a:pPr algn="ctr" latinLnBrk="1"/>
                      <a:r>
                        <a:rPr lang="ko-KR" altLang="en-US" sz="1100" b="0" dirty="0">
                          <a:solidFill>
                            <a:schemeClr val="tx1"/>
                          </a:solidFill>
                          <a:latin typeface="+mj-ea"/>
                          <a:ea typeface="+mj-ea"/>
                        </a:rPr>
                        <a:t>고려사이버대학교</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a:solidFill>
                            <a:schemeClr val="tx1"/>
                          </a:solidFill>
                          <a:latin typeface="+mj-ea"/>
                          <a:ea typeface="+mj-ea"/>
                        </a:rPr>
                        <a:t>교수</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err="1">
                          <a:solidFill>
                            <a:schemeClr val="tx1"/>
                          </a:solidFill>
                          <a:latin typeface="+mj-ea"/>
                          <a:ea typeface="+mj-ea"/>
                        </a:rPr>
                        <a:t>김한성</a:t>
                      </a:r>
                      <a:endParaRPr lang="ko-KR" altLang="en-US" sz="1100" b="0" dirty="0">
                        <a:solidFill>
                          <a:schemeClr val="tx1"/>
                        </a:solidFill>
                        <a:latin typeface="+mj-ea"/>
                        <a:ea typeface="+mj-ea"/>
                      </a:endParaRPr>
                    </a:p>
                  </a:txBody>
                  <a:tcPr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9529102"/>
                  </a:ext>
                </a:extLst>
              </a:tr>
              <a:tr h="279991">
                <a:tc>
                  <a:txBody>
                    <a:bodyPr/>
                    <a:lstStyle/>
                    <a:p>
                      <a:pPr algn="ctr" latinLnBrk="1"/>
                      <a:r>
                        <a:rPr lang="ko-KR" altLang="en-US" sz="1100" b="0" dirty="0">
                          <a:solidFill>
                            <a:schemeClr val="tx1"/>
                          </a:solidFill>
                          <a:latin typeface="+mj-ea"/>
                          <a:ea typeface="+mj-ea"/>
                        </a:rPr>
                        <a:t>중앙대학교</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a:solidFill>
                            <a:schemeClr val="tx1"/>
                          </a:solidFill>
                          <a:latin typeface="+mj-ea"/>
                          <a:ea typeface="+mj-ea"/>
                        </a:rPr>
                        <a:t>교수</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a:solidFill>
                            <a:schemeClr val="tx1"/>
                          </a:solidFill>
                          <a:latin typeface="+mj-ea"/>
                          <a:ea typeface="+mj-ea"/>
                        </a:rPr>
                        <a:t>이유미</a:t>
                      </a:r>
                    </a:p>
                  </a:txBody>
                  <a:tcPr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262871"/>
                  </a:ext>
                </a:extLst>
              </a:tr>
              <a:tr h="279991">
                <a:tc>
                  <a:txBody>
                    <a:bodyPr/>
                    <a:lstStyle/>
                    <a:p>
                      <a:pPr algn="ctr" latinLnBrk="1"/>
                      <a:r>
                        <a:rPr lang="ko-KR" altLang="en-US" sz="1100" b="0" dirty="0">
                          <a:solidFill>
                            <a:schemeClr val="tx1"/>
                          </a:solidFill>
                          <a:latin typeface="+mj-ea"/>
                          <a:ea typeface="+mj-ea"/>
                        </a:rPr>
                        <a:t>배재대학교</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a:solidFill>
                            <a:schemeClr val="tx1"/>
                          </a:solidFill>
                          <a:latin typeface="+mj-ea"/>
                          <a:ea typeface="+mj-ea"/>
                        </a:rPr>
                        <a:t>교수</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0" dirty="0" err="1">
                          <a:solidFill>
                            <a:schemeClr val="tx1"/>
                          </a:solidFill>
                          <a:latin typeface="+mj-ea"/>
                          <a:ea typeface="+mj-ea"/>
                        </a:rPr>
                        <a:t>이성옥</a:t>
                      </a:r>
                      <a:endParaRPr lang="ko-KR" altLang="en-US" sz="1100" b="0" dirty="0">
                        <a:solidFill>
                          <a:schemeClr val="tx1"/>
                        </a:solidFill>
                        <a:latin typeface="+mj-ea"/>
                        <a:ea typeface="+mj-ea"/>
                      </a:endParaRPr>
                    </a:p>
                  </a:txBody>
                  <a:tcPr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4380026"/>
                  </a:ext>
                </a:extLst>
              </a:tr>
            </a:tbl>
          </a:graphicData>
        </a:graphic>
      </p:graphicFrame>
      <p:sp>
        <p:nvSpPr>
          <p:cNvPr id="17" name="직사각형 16">
            <a:extLst>
              <a:ext uri="{FF2B5EF4-FFF2-40B4-BE49-F238E27FC236}">
                <a16:creationId xmlns:a16="http://schemas.microsoft.com/office/drawing/2014/main" id="{F4E84E68-A6F0-4FB3-AB3B-B09E4859C2CD}"/>
              </a:ext>
            </a:extLst>
          </p:cNvPr>
          <p:cNvSpPr/>
          <p:nvPr/>
        </p:nvSpPr>
        <p:spPr>
          <a:xfrm>
            <a:off x="1328823" y="4767163"/>
            <a:ext cx="1000221" cy="403813"/>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en-US" altLang="ko-KR" sz="1100">
                <a:solidFill>
                  <a:schemeClr val="bg1"/>
                </a:solidFill>
                <a:latin typeface="a고딕14" panose="02020600000000000000" pitchFamily="18" charset="-127"/>
                <a:ea typeface="a고딕14" panose="02020600000000000000" pitchFamily="18" charset="-127"/>
              </a:rPr>
              <a:t>AI </a:t>
            </a:r>
            <a:r>
              <a:rPr lang="ko-KR" altLang="en-US" sz="1100" err="1">
                <a:solidFill>
                  <a:schemeClr val="bg1"/>
                </a:solidFill>
                <a:latin typeface="a고딕14" panose="02020600000000000000" pitchFamily="18" charset="-127"/>
                <a:ea typeface="a고딕14" panose="02020600000000000000" pitchFamily="18" charset="-127"/>
              </a:rPr>
              <a:t>리터러시</a:t>
            </a:r>
            <a:r>
              <a:rPr lang="ko-KR" altLang="en-US" sz="1100">
                <a:solidFill>
                  <a:schemeClr val="bg1"/>
                </a:solidFill>
                <a:latin typeface="a고딕14" panose="02020600000000000000" pitchFamily="18" charset="-127"/>
                <a:ea typeface="a고딕14" panose="02020600000000000000" pitchFamily="18" charset="-127"/>
              </a:rPr>
              <a:t> 정의</a:t>
            </a:r>
            <a:endParaRPr lang="en-US" altLang="ko-KR" sz="1100" dirty="0">
              <a:solidFill>
                <a:schemeClr val="bg1"/>
              </a:solidFill>
              <a:latin typeface="a고딕14" panose="02020600000000000000" pitchFamily="18" charset="-127"/>
              <a:ea typeface="a고딕14" panose="02020600000000000000" pitchFamily="18" charset="-127"/>
            </a:endParaRPr>
          </a:p>
        </p:txBody>
      </p:sp>
      <p:sp>
        <p:nvSpPr>
          <p:cNvPr id="18" name="직사각형 17">
            <a:extLst>
              <a:ext uri="{FF2B5EF4-FFF2-40B4-BE49-F238E27FC236}">
                <a16:creationId xmlns:a16="http://schemas.microsoft.com/office/drawing/2014/main" id="{F4E84E68-A6F0-4FB3-AB3B-B09E4859C2CD}"/>
              </a:ext>
            </a:extLst>
          </p:cNvPr>
          <p:cNvSpPr/>
          <p:nvPr/>
        </p:nvSpPr>
        <p:spPr>
          <a:xfrm>
            <a:off x="2396717" y="4767163"/>
            <a:ext cx="2347316" cy="403813"/>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산업별로 </a:t>
            </a:r>
            <a:r>
              <a:rPr lang="ko-KR" altLang="en-US" sz="1100" dirty="0">
                <a:solidFill>
                  <a:schemeClr val="tx1"/>
                </a:solidFill>
                <a:latin typeface="a고딕14" panose="02020600000000000000" pitchFamily="18" charset="-127"/>
                <a:ea typeface="a고딕14" panose="02020600000000000000" pitchFamily="18" charset="-127"/>
              </a:rPr>
              <a:t>요구되는 공통 역량과 산업별 </a:t>
            </a:r>
            <a:r>
              <a:rPr lang="ko-KR" altLang="en-US" sz="1100">
                <a:solidFill>
                  <a:schemeClr val="tx1"/>
                </a:solidFill>
                <a:latin typeface="a고딕14" panose="02020600000000000000" pitchFamily="18" charset="-127"/>
                <a:ea typeface="a고딕14" panose="02020600000000000000" pitchFamily="18" charset="-127"/>
              </a:rPr>
              <a:t>역량 규명</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19" name="직사각형 18">
            <a:extLst>
              <a:ext uri="{FF2B5EF4-FFF2-40B4-BE49-F238E27FC236}">
                <a16:creationId xmlns:a16="http://schemas.microsoft.com/office/drawing/2014/main" id="{F4E84E68-A6F0-4FB3-AB3B-B09E4859C2CD}"/>
              </a:ext>
            </a:extLst>
          </p:cNvPr>
          <p:cNvSpPr/>
          <p:nvPr/>
        </p:nvSpPr>
        <p:spPr>
          <a:xfrm>
            <a:off x="1328822" y="5215259"/>
            <a:ext cx="1000221" cy="426819"/>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4" panose="02020600000000000000" pitchFamily="18" charset="-127"/>
                <a:ea typeface="a고딕14" panose="02020600000000000000" pitchFamily="18" charset="-127"/>
              </a:rPr>
              <a:t>교육 범위 설정</a:t>
            </a:r>
            <a:endParaRPr lang="en-US" altLang="ko-KR" sz="1100" dirty="0">
              <a:solidFill>
                <a:schemeClr val="bg1"/>
              </a:solidFill>
              <a:latin typeface="a고딕14" panose="02020600000000000000" pitchFamily="18" charset="-127"/>
              <a:ea typeface="a고딕14" panose="02020600000000000000" pitchFamily="18" charset="-127"/>
            </a:endParaRPr>
          </a:p>
        </p:txBody>
      </p:sp>
      <p:sp>
        <p:nvSpPr>
          <p:cNvPr id="20" name="직사각형 19">
            <a:extLst>
              <a:ext uri="{FF2B5EF4-FFF2-40B4-BE49-F238E27FC236}">
                <a16:creationId xmlns:a16="http://schemas.microsoft.com/office/drawing/2014/main" id="{F4E84E68-A6F0-4FB3-AB3B-B09E4859C2CD}"/>
              </a:ext>
            </a:extLst>
          </p:cNvPr>
          <p:cNvSpPr/>
          <p:nvPr/>
        </p:nvSpPr>
        <p:spPr>
          <a:xfrm>
            <a:off x="2396717" y="5215259"/>
            <a:ext cx="2347316" cy="426819"/>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기초</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개념</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원리</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활용</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도구</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문제해결</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윤리</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사회적 가치 등 </a:t>
            </a:r>
            <a:r>
              <a:rPr lang="ko-KR" altLang="en-US" sz="1100">
                <a:solidFill>
                  <a:schemeClr val="tx1"/>
                </a:solidFill>
                <a:latin typeface="a고딕14" panose="02020600000000000000" pitchFamily="18" charset="-127"/>
                <a:ea typeface="a고딕14" panose="02020600000000000000" pitchFamily="18" charset="-127"/>
              </a:rPr>
              <a:t>포함 여부</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21" name="직사각형 20">
            <a:extLst>
              <a:ext uri="{FF2B5EF4-FFF2-40B4-BE49-F238E27FC236}">
                <a16:creationId xmlns:a16="http://schemas.microsoft.com/office/drawing/2014/main" id="{F4E84E68-A6F0-4FB3-AB3B-B09E4859C2CD}"/>
              </a:ext>
            </a:extLst>
          </p:cNvPr>
          <p:cNvSpPr/>
          <p:nvPr/>
        </p:nvSpPr>
        <p:spPr>
          <a:xfrm>
            <a:off x="1328864" y="5686361"/>
            <a:ext cx="998631" cy="331877"/>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4" panose="02020600000000000000" pitchFamily="18" charset="-127"/>
                <a:ea typeface="a고딕14" panose="02020600000000000000" pitchFamily="18" charset="-127"/>
              </a:rPr>
              <a:t>교육대상 선정</a:t>
            </a:r>
            <a:endParaRPr lang="en-US" altLang="ko-KR" sz="1100" dirty="0">
              <a:solidFill>
                <a:schemeClr val="bg1"/>
              </a:solidFill>
              <a:latin typeface="a고딕14" panose="02020600000000000000" pitchFamily="18" charset="-127"/>
              <a:ea typeface="a고딕14" panose="02020600000000000000" pitchFamily="18" charset="-127"/>
            </a:endParaRPr>
          </a:p>
        </p:txBody>
      </p:sp>
      <p:sp>
        <p:nvSpPr>
          <p:cNvPr id="22" name="직사각형 21">
            <a:extLst>
              <a:ext uri="{FF2B5EF4-FFF2-40B4-BE49-F238E27FC236}">
                <a16:creationId xmlns:a16="http://schemas.microsoft.com/office/drawing/2014/main" id="{F4E84E68-A6F0-4FB3-AB3B-B09E4859C2CD}"/>
              </a:ext>
            </a:extLst>
          </p:cNvPr>
          <p:cNvSpPr/>
          <p:nvPr/>
        </p:nvSpPr>
        <p:spPr>
          <a:xfrm>
            <a:off x="2396717" y="5686361"/>
            <a:ext cx="2347316" cy="331877"/>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우선 </a:t>
            </a:r>
            <a:r>
              <a:rPr lang="ko-KR" altLang="en-US" sz="1100" dirty="0">
                <a:solidFill>
                  <a:schemeClr val="tx1"/>
                </a:solidFill>
                <a:latin typeface="a고딕14" panose="02020600000000000000" pitchFamily="18" charset="-127"/>
                <a:ea typeface="a고딕14" panose="02020600000000000000" pitchFamily="18" charset="-127"/>
              </a:rPr>
              <a:t>교육이 필요한 핵심 </a:t>
            </a:r>
            <a:r>
              <a:rPr lang="ko-KR" altLang="en-US" sz="1100" err="1">
                <a:solidFill>
                  <a:schemeClr val="tx1"/>
                </a:solidFill>
                <a:latin typeface="a고딕14" panose="02020600000000000000" pitchFamily="18" charset="-127"/>
                <a:ea typeface="a고딕14" panose="02020600000000000000" pitchFamily="18" charset="-127"/>
              </a:rPr>
              <a:t>대상군</a:t>
            </a:r>
            <a:r>
              <a:rPr lang="ko-KR" altLang="en-US" sz="1100">
                <a:solidFill>
                  <a:schemeClr val="tx1"/>
                </a:solidFill>
                <a:latin typeface="a고딕14" panose="02020600000000000000" pitchFamily="18" charset="-127"/>
                <a:ea typeface="a고딕14" panose="02020600000000000000" pitchFamily="18" charset="-127"/>
              </a:rPr>
              <a:t> 설정</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23" name="직사각형 22">
            <a:extLst>
              <a:ext uri="{FF2B5EF4-FFF2-40B4-BE49-F238E27FC236}">
                <a16:creationId xmlns:a16="http://schemas.microsoft.com/office/drawing/2014/main" id="{F4E84E68-A6F0-4FB3-AB3B-B09E4859C2CD}"/>
              </a:ext>
            </a:extLst>
          </p:cNvPr>
          <p:cNvSpPr/>
          <p:nvPr/>
        </p:nvSpPr>
        <p:spPr>
          <a:xfrm>
            <a:off x="1328864" y="6062520"/>
            <a:ext cx="998632" cy="426819"/>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4" panose="02020600000000000000" pitchFamily="18" charset="-127"/>
                <a:ea typeface="a고딕14" panose="02020600000000000000" pitchFamily="18" charset="-127"/>
              </a:rPr>
              <a:t>과정 </a:t>
            </a:r>
            <a:r>
              <a:rPr lang="ko-KR" altLang="en-US" sz="1100" dirty="0">
                <a:solidFill>
                  <a:schemeClr val="bg1"/>
                </a:solidFill>
                <a:latin typeface="a고딕14" panose="02020600000000000000" pitchFamily="18" charset="-127"/>
                <a:ea typeface="a고딕14" panose="02020600000000000000" pitchFamily="18" charset="-127"/>
              </a:rPr>
              <a:t>설계 </a:t>
            </a:r>
            <a:r>
              <a:rPr lang="ko-KR" altLang="en-US" sz="1100">
                <a:solidFill>
                  <a:schemeClr val="bg1"/>
                </a:solidFill>
                <a:latin typeface="a고딕14" panose="02020600000000000000" pitchFamily="18" charset="-127"/>
                <a:ea typeface="a고딕14" panose="02020600000000000000" pitchFamily="18" charset="-127"/>
              </a:rPr>
              <a:t>기준 검토</a:t>
            </a:r>
            <a:endParaRPr lang="en-US" altLang="ko-KR" sz="1100" dirty="0">
              <a:solidFill>
                <a:schemeClr val="bg1"/>
              </a:solidFill>
              <a:latin typeface="a고딕14" panose="02020600000000000000" pitchFamily="18" charset="-127"/>
              <a:ea typeface="a고딕14" panose="02020600000000000000" pitchFamily="18" charset="-127"/>
            </a:endParaRPr>
          </a:p>
        </p:txBody>
      </p:sp>
      <p:sp>
        <p:nvSpPr>
          <p:cNvPr id="24" name="직사각형 23">
            <a:extLst>
              <a:ext uri="{FF2B5EF4-FFF2-40B4-BE49-F238E27FC236}">
                <a16:creationId xmlns:a16="http://schemas.microsoft.com/office/drawing/2014/main" id="{F4E84E68-A6F0-4FB3-AB3B-B09E4859C2CD}"/>
              </a:ext>
            </a:extLst>
          </p:cNvPr>
          <p:cNvSpPr/>
          <p:nvPr/>
        </p:nvSpPr>
        <p:spPr>
          <a:xfrm>
            <a:off x="2396717" y="6062520"/>
            <a:ext cx="2347316" cy="426819"/>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산업별</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직무별</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기능별 중 어떤 틀로 교육과정을 개발할지 논의</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25" name="직사각형 24">
            <a:extLst>
              <a:ext uri="{FF2B5EF4-FFF2-40B4-BE49-F238E27FC236}">
                <a16:creationId xmlns:a16="http://schemas.microsoft.com/office/drawing/2014/main" id="{219CA529-BDBD-23CA-E33F-4E7FB3147037}"/>
              </a:ext>
            </a:extLst>
          </p:cNvPr>
          <p:cNvSpPr/>
          <p:nvPr/>
        </p:nvSpPr>
        <p:spPr>
          <a:xfrm>
            <a:off x="5176168" y="2106106"/>
            <a:ext cx="1050145" cy="242774"/>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latinLnBrk="0">
              <a:spcAft>
                <a:spcPts val="600"/>
              </a:spcAft>
              <a:buNone/>
            </a:pPr>
            <a:r>
              <a:rPr lang="ko-KR" altLang="en-US" spc="-100">
                <a:latin typeface="a고딕14" panose="02020600000000000000" pitchFamily="18" charset="-127"/>
                <a:ea typeface="a고딕14" panose="02020600000000000000" pitchFamily="18" charset="-127"/>
              </a:rPr>
              <a:t>자문 범위 </a:t>
            </a:r>
            <a:endParaRPr lang="en-US" altLang="ko-KR" spc="-100" dirty="0">
              <a:latin typeface="a고딕14" panose="02020600000000000000" pitchFamily="18" charset="-127"/>
              <a:ea typeface="a고딕14" panose="02020600000000000000" pitchFamily="18" charset="-127"/>
            </a:endParaRPr>
          </a:p>
        </p:txBody>
      </p:sp>
      <p:sp>
        <p:nvSpPr>
          <p:cNvPr id="26" name="직사각형 25">
            <a:extLst>
              <a:ext uri="{FF2B5EF4-FFF2-40B4-BE49-F238E27FC236}">
                <a16:creationId xmlns:a16="http://schemas.microsoft.com/office/drawing/2014/main" id="{F4E84E68-A6F0-4FB3-AB3B-B09E4859C2CD}"/>
              </a:ext>
            </a:extLst>
          </p:cNvPr>
          <p:cNvSpPr/>
          <p:nvPr/>
        </p:nvSpPr>
        <p:spPr>
          <a:xfrm>
            <a:off x="5168117" y="2418725"/>
            <a:ext cx="1057529" cy="403813"/>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en-US" altLang="ko-KR" sz="1100">
                <a:solidFill>
                  <a:schemeClr val="bg1"/>
                </a:solidFill>
                <a:latin typeface="a고딕16" panose="02020600000000000000" pitchFamily="18" charset="-127"/>
                <a:ea typeface="a고딕16" panose="02020600000000000000" pitchFamily="18" charset="-127"/>
              </a:rPr>
              <a:t>AI </a:t>
            </a:r>
            <a:r>
              <a:rPr lang="ko-KR" altLang="en-US" sz="1100" err="1">
                <a:solidFill>
                  <a:schemeClr val="bg1"/>
                </a:solidFill>
                <a:latin typeface="a고딕16" panose="02020600000000000000" pitchFamily="18" charset="-127"/>
                <a:ea typeface="a고딕16" panose="02020600000000000000" pitchFamily="18" charset="-127"/>
              </a:rPr>
              <a:t>리터러시</a:t>
            </a:r>
            <a:r>
              <a:rPr lang="ko-KR" altLang="en-US" sz="1100">
                <a:solidFill>
                  <a:schemeClr val="bg1"/>
                </a:solidFill>
                <a:latin typeface="a고딕16" panose="02020600000000000000" pitchFamily="18" charset="-127"/>
                <a:ea typeface="a고딕16" panose="02020600000000000000" pitchFamily="18" charset="-127"/>
              </a:rPr>
              <a:t> 정의</a:t>
            </a:r>
            <a:endParaRPr lang="en-US" altLang="ko-KR" sz="1100" dirty="0">
              <a:solidFill>
                <a:schemeClr val="bg1"/>
              </a:solidFill>
              <a:latin typeface="a고딕16" panose="02020600000000000000" pitchFamily="18" charset="-127"/>
              <a:ea typeface="a고딕16" panose="02020600000000000000" pitchFamily="18" charset="-127"/>
            </a:endParaRPr>
          </a:p>
        </p:txBody>
      </p:sp>
      <p:sp>
        <p:nvSpPr>
          <p:cNvPr id="27" name="직사각형 26">
            <a:extLst>
              <a:ext uri="{FF2B5EF4-FFF2-40B4-BE49-F238E27FC236}">
                <a16:creationId xmlns:a16="http://schemas.microsoft.com/office/drawing/2014/main" id="{F4E84E68-A6F0-4FB3-AB3B-B09E4859C2CD}"/>
              </a:ext>
            </a:extLst>
          </p:cNvPr>
          <p:cNvSpPr/>
          <p:nvPr/>
        </p:nvSpPr>
        <p:spPr>
          <a:xfrm>
            <a:off x="6305095" y="2418725"/>
            <a:ext cx="3039591" cy="403200"/>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en-US" altLang="ko-KR" sz="1100">
                <a:solidFill>
                  <a:schemeClr val="tx1"/>
                </a:solidFill>
                <a:latin typeface="a고딕14" panose="02020600000000000000" pitchFamily="18" charset="-127"/>
                <a:ea typeface="a고딕14" panose="02020600000000000000" pitchFamily="18" charset="-127"/>
              </a:rPr>
              <a:t>AI </a:t>
            </a:r>
            <a:r>
              <a:rPr lang="ko-KR" altLang="en-US" sz="1100">
                <a:solidFill>
                  <a:schemeClr val="tx1"/>
                </a:solidFill>
                <a:latin typeface="a고딕14" panose="02020600000000000000" pitchFamily="18" charset="-127"/>
                <a:ea typeface="a고딕14" panose="02020600000000000000" pitchFamily="18" charset="-127"/>
              </a:rPr>
              <a:t>리터러시의 정의는 무엇으로 설정하는 것이 적절한가</a:t>
            </a:r>
            <a:r>
              <a:rPr lang="en-US" altLang="ko-KR" sz="110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28" name="직사각형 27">
            <a:extLst>
              <a:ext uri="{FF2B5EF4-FFF2-40B4-BE49-F238E27FC236}">
                <a16:creationId xmlns:a16="http://schemas.microsoft.com/office/drawing/2014/main" id="{F4E84E68-A6F0-4FB3-AB3B-B09E4859C2CD}"/>
              </a:ext>
            </a:extLst>
          </p:cNvPr>
          <p:cNvSpPr/>
          <p:nvPr/>
        </p:nvSpPr>
        <p:spPr>
          <a:xfrm>
            <a:off x="5168116" y="2886702"/>
            <a:ext cx="1057529" cy="869952"/>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6" panose="02020600000000000000" pitchFamily="18" charset="-127"/>
                <a:ea typeface="a고딕16" panose="02020600000000000000" pitchFamily="18" charset="-127"/>
              </a:rPr>
              <a:t>교육 범위</a:t>
            </a:r>
            <a:endParaRPr lang="en-US" altLang="ko-KR" sz="1100" dirty="0">
              <a:solidFill>
                <a:schemeClr val="bg1"/>
              </a:solidFill>
              <a:latin typeface="a고딕16" panose="02020600000000000000" pitchFamily="18" charset="-127"/>
              <a:ea typeface="a고딕16" panose="02020600000000000000" pitchFamily="18" charset="-127"/>
            </a:endParaRPr>
          </a:p>
        </p:txBody>
      </p:sp>
      <p:sp>
        <p:nvSpPr>
          <p:cNvPr id="29" name="직사각형 28">
            <a:extLst>
              <a:ext uri="{FF2B5EF4-FFF2-40B4-BE49-F238E27FC236}">
                <a16:creationId xmlns:a16="http://schemas.microsoft.com/office/drawing/2014/main" id="{F4E84E68-A6F0-4FB3-AB3B-B09E4859C2CD}"/>
              </a:ext>
            </a:extLst>
          </p:cNvPr>
          <p:cNvSpPr/>
          <p:nvPr/>
        </p:nvSpPr>
        <p:spPr>
          <a:xfrm>
            <a:off x="6305095" y="3364909"/>
            <a:ext cx="3039591" cy="403200"/>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defRPr/>
            </a:pPr>
            <a:r>
              <a:rPr lang="en-US" altLang="ko-KR" sz="1100">
                <a:solidFill>
                  <a:schemeClr val="tx1"/>
                </a:solidFill>
                <a:latin typeface="a고딕14" panose="02020600000000000000" pitchFamily="18" charset="-127"/>
                <a:ea typeface="a고딕14" panose="02020600000000000000" pitchFamily="18" charset="-127"/>
              </a:rPr>
              <a:t>AI </a:t>
            </a:r>
            <a:r>
              <a:rPr lang="ko-KR" altLang="en-US" sz="1100">
                <a:solidFill>
                  <a:schemeClr val="tx1"/>
                </a:solidFill>
                <a:latin typeface="a고딕14" panose="02020600000000000000" pitchFamily="18" charset="-127"/>
                <a:ea typeface="a고딕14" panose="02020600000000000000" pitchFamily="18" charset="-127"/>
              </a:rPr>
              <a:t>리터러시를 산업에 접목할 경우</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우선적으로 다루어야 할 핵심 주제와 역량은 무엇인가</a:t>
            </a:r>
            <a:r>
              <a:rPr lang="en-US" altLang="ko-KR" sz="1100">
                <a:solidFill>
                  <a:schemeClr val="tx1"/>
                </a:solidFill>
                <a:latin typeface="a고딕14" panose="02020600000000000000" pitchFamily="18" charset="-127"/>
                <a:ea typeface="a고딕14" panose="02020600000000000000" pitchFamily="18" charset="-127"/>
              </a:rPr>
              <a:t>?</a:t>
            </a:r>
            <a:endParaRPr lang="ko-KR" altLang="en-US" sz="1100">
              <a:solidFill>
                <a:schemeClr val="tx1"/>
              </a:solidFill>
              <a:latin typeface="a고딕14" panose="02020600000000000000" pitchFamily="18" charset="-127"/>
              <a:ea typeface="a고딕14" panose="02020600000000000000" pitchFamily="18" charset="-127"/>
            </a:endParaRPr>
          </a:p>
        </p:txBody>
      </p:sp>
      <p:sp>
        <p:nvSpPr>
          <p:cNvPr id="30" name="직사각형 29">
            <a:extLst>
              <a:ext uri="{FF2B5EF4-FFF2-40B4-BE49-F238E27FC236}">
                <a16:creationId xmlns:a16="http://schemas.microsoft.com/office/drawing/2014/main" id="{F4E84E68-A6F0-4FB3-AB3B-B09E4859C2CD}"/>
              </a:ext>
            </a:extLst>
          </p:cNvPr>
          <p:cNvSpPr/>
          <p:nvPr/>
        </p:nvSpPr>
        <p:spPr>
          <a:xfrm>
            <a:off x="5168116" y="3820818"/>
            <a:ext cx="1055848" cy="2280323"/>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6" panose="02020600000000000000" pitchFamily="18" charset="-127"/>
                <a:ea typeface="a고딕16" panose="02020600000000000000" pitchFamily="18" charset="-127"/>
              </a:rPr>
              <a:t>과정 설계 기준</a:t>
            </a:r>
            <a:endParaRPr lang="en-US" altLang="ko-KR" sz="1100" dirty="0">
              <a:solidFill>
                <a:schemeClr val="bg1"/>
              </a:solidFill>
              <a:latin typeface="a고딕16" panose="02020600000000000000" pitchFamily="18" charset="-127"/>
              <a:ea typeface="a고딕16" panose="02020600000000000000" pitchFamily="18" charset="-127"/>
            </a:endParaRPr>
          </a:p>
        </p:txBody>
      </p:sp>
      <p:sp>
        <p:nvSpPr>
          <p:cNvPr id="31" name="직사각형 30">
            <a:extLst>
              <a:ext uri="{FF2B5EF4-FFF2-40B4-BE49-F238E27FC236}">
                <a16:creationId xmlns:a16="http://schemas.microsoft.com/office/drawing/2014/main" id="{F4E84E68-A6F0-4FB3-AB3B-B09E4859C2CD}"/>
              </a:ext>
            </a:extLst>
          </p:cNvPr>
          <p:cNvSpPr/>
          <p:nvPr/>
        </p:nvSpPr>
        <p:spPr>
          <a:xfrm>
            <a:off x="6305095" y="3820818"/>
            <a:ext cx="3039591" cy="403200"/>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교육과정의 개발 기준은 산업군별</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기능별</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직무별 중 어느 방식이 바람직한가</a:t>
            </a:r>
            <a:r>
              <a:rPr lang="en-US" altLang="ko-KR" sz="110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32" name="직사각형 31">
            <a:extLst>
              <a:ext uri="{FF2B5EF4-FFF2-40B4-BE49-F238E27FC236}">
                <a16:creationId xmlns:a16="http://schemas.microsoft.com/office/drawing/2014/main" id="{F4E84E68-A6F0-4FB3-AB3B-B09E4859C2CD}"/>
              </a:ext>
            </a:extLst>
          </p:cNvPr>
          <p:cNvSpPr/>
          <p:nvPr/>
        </p:nvSpPr>
        <p:spPr>
          <a:xfrm>
            <a:off x="5168116" y="6165304"/>
            <a:ext cx="1055848" cy="331855"/>
          </a:xfrm>
          <a:prstGeom prst="rect">
            <a:avLst/>
          </a:prstGeom>
          <a:solidFill>
            <a:srgbClr val="82B5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200"/>
              </a:spcAft>
              <a:buNone/>
            </a:pPr>
            <a:r>
              <a:rPr lang="ko-KR" altLang="en-US" sz="1100">
                <a:solidFill>
                  <a:schemeClr val="bg1"/>
                </a:solidFill>
                <a:latin typeface="a고딕16" panose="02020600000000000000" pitchFamily="18" charset="-127"/>
                <a:ea typeface="a고딕16" panose="02020600000000000000" pitchFamily="18" charset="-127"/>
              </a:rPr>
              <a:t>교육대상</a:t>
            </a:r>
            <a:endParaRPr lang="en-US" altLang="ko-KR" sz="1100">
              <a:solidFill>
                <a:schemeClr val="bg1"/>
              </a:solidFill>
              <a:latin typeface="a고딕16" panose="02020600000000000000" pitchFamily="18" charset="-127"/>
              <a:ea typeface="a고딕16" panose="02020600000000000000" pitchFamily="18" charset="-127"/>
            </a:endParaRPr>
          </a:p>
        </p:txBody>
      </p:sp>
      <p:sp>
        <p:nvSpPr>
          <p:cNvPr id="33" name="직사각형 32">
            <a:extLst>
              <a:ext uri="{FF2B5EF4-FFF2-40B4-BE49-F238E27FC236}">
                <a16:creationId xmlns:a16="http://schemas.microsoft.com/office/drawing/2014/main" id="{F4E84E68-A6F0-4FB3-AB3B-B09E4859C2CD}"/>
              </a:ext>
            </a:extLst>
          </p:cNvPr>
          <p:cNvSpPr/>
          <p:nvPr/>
        </p:nvSpPr>
        <p:spPr>
          <a:xfrm>
            <a:off x="6305096" y="6165304"/>
            <a:ext cx="3039590" cy="331855"/>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ko-KR" altLang="en-US" sz="1100">
                <a:solidFill>
                  <a:schemeClr val="tx1"/>
                </a:solidFill>
                <a:latin typeface="a고딕14" panose="02020600000000000000" pitchFamily="18" charset="-127"/>
                <a:ea typeface="a고딕14" panose="02020600000000000000" pitchFamily="18" charset="-127"/>
              </a:rPr>
              <a:t>교육대상자는 누구로 설정하는 것이 적절한가</a:t>
            </a:r>
            <a:r>
              <a:rPr lang="en-US" altLang="ko-KR" sz="110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34" name="직사각형 33">
            <a:extLst>
              <a:ext uri="{FF2B5EF4-FFF2-40B4-BE49-F238E27FC236}">
                <a16:creationId xmlns:a16="http://schemas.microsoft.com/office/drawing/2014/main" id="{F4E84E68-A6F0-4FB3-AB3B-B09E4859C2CD}"/>
              </a:ext>
            </a:extLst>
          </p:cNvPr>
          <p:cNvSpPr/>
          <p:nvPr/>
        </p:nvSpPr>
        <p:spPr>
          <a:xfrm>
            <a:off x="6305095" y="2898156"/>
            <a:ext cx="3039591" cy="403200"/>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08000" indent="-108000" algn="l" latinLnBrk="0">
              <a:lnSpc>
                <a:spcPct val="120000"/>
              </a:lnSpc>
              <a:spcAft>
                <a:spcPts val="0"/>
              </a:spcAft>
              <a:buFont typeface="Arial" panose="020B0604020202020204" pitchFamily="34" charset="0"/>
              <a:buChar char="•"/>
            </a:pPr>
            <a:r>
              <a:rPr lang="en-US" altLang="ko-KR" sz="1100">
                <a:solidFill>
                  <a:schemeClr val="tx1"/>
                </a:solidFill>
                <a:latin typeface="a고딕14" panose="02020600000000000000" pitchFamily="18" charset="-127"/>
                <a:ea typeface="a고딕14" panose="02020600000000000000" pitchFamily="18" charset="-127"/>
              </a:rPr>
              <a:t>AI </a:t>
            </a:r>
            <a:r>
              <a:rPr lang="ko-KR" altLang="en-US" sz="1100">
                <a:solidFill>
                  <a:schemeClr val="tx1"/>
                </a:solidFill>
                <a:latin typeface="a고딕14" panose="02020600000000000000" pitchFamily="18" charset="-127"/>
                <a:ea typeface="a고딕14" panose="02020600000000000000" pitchFamily="18" charset="-127"/>
              </a:rPr>
              <a:t>교육과정의 수준과 범위</a:t>
            </a:r>
            <a:r>
              <a:rPr lang="en-US" altLang="ko-KR" sz="1100">
                <a:solidFill>
                  <a:schemeClr val="tx1"/>
                </a:solidFill>
                <a:latin typeface="a고딕14" panose="02020600000000000000" pitchFamily="18" charset="-127"/>
                <a:ea typeface="a고딕14" panose="02020600000000000000" pitchFamily="18" charset="-127"/>
              </a:rPr>
              <a:t>(</a:t>
            </a:r>
            <a:r>
              <a:rPr lang="ko-KR" altLang="en-US" sz="1100">
                <a:solidFill>
                  <a:schemeClr val="tx1"/>
                </a:solidFill>
                <a:latin typeface="a고딕14" panose="02020600000000000000" pitchFamily="18" charset="-127"/>
                <a:ea typeface="a고딕14" panose="02020600000000000000" pitchFamily="18" charset="-127"/>
              </a:rPr>
              <a:t>공통</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기초</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활용</a:t>
            </a:r>
            <a:r>
              <a:rPr lang="en-US" altLang="ko-KR" sz="1100">
                <a:solidFill>
                  <a:schemeClr val="tx1"/>
                </a:solidFill>
                <a:latin typeface="a고딕14" panose="02020600000000000000" pitchFamily="18" charset="-127"/>
                <a:ea typeface="a고딕14" panose="02020600000000000000" pitchFamily="18" charset="-127"/>
              </a:rPr>
              <a:t>)</a:t>
            </a:r>
            <a:r>
              <a:rPr lang="ko-KR" altLang="en-US" sz="1100">
                <a:solidFill>
                  <a:schemeClr val="tx1"/>
                </a:solidFill>
                <a:latin typeface="a고딕14" panose="02020600000000000000" pitchFamily="18" charset="-127"/>
                <a:ea typeface="a고딕14" panose="02020600000000000000" pitchFamily="18" charset="-127"/>
              </a:rPr>
              <a:t>은 어떻게 구분하는 것이 타당한가</a:t>
            </a:r>
            <a:r>
              <a:rPr lang="en-US" altLang="ko-KR" sz="1100">
                <a:solidFill>
                  <a:schemeClr val="tx1"/>
                </a:solidFill>
                <a:latin typeface="a고딕14" panose="02020600000000000000" pitchFamily="18" charset="-127"/>
                <a:ea typeface="a고딕14" panose="02020600000000000000" pitchFamily="18" charset="-127"/>
              </a:rPr>
              <a:t>?</a:t>
            </a:r>
            <a:endParaRPr lang="ko-KR" altLang="en-US" sz="1100" dirty="0">
              <a:solidFill>
                <a:schemeClr val="tx1"/>
              </a:solidFill>
              <a:latin typeface="a고딕14" panose="02020600000000000000" pitchFamily="18" charset="-127"/>
              <a:ea typeface="a고딕14" panose="02020600000000000000" pitchFamily="18" charset="-127"/>
            </a:endParaRPr>
          </a:p>
        </p:txBody>
      </p:sp>
      <p:sp>
        <p:nvSpPr>
          <p:cNvPr id="35" name="직사각형 34">
            <a:extLst>
              <a:ext uri="{FF2B5EF4-FFF2-40B4-BE49-F238E27FC236}">
                <a16:creationId xmlns:a16="http://schemas.microsoft.com/office/drawing/2014/main" id="{219CA529-BDBD-23CA-E33F-4E7FB3147037}"/>
              </a:ext>
            </a:extLst>
          </p:cNvPr>
          <p:cNvSpPr/>
          <p:nvPr/>
        </p:nvSpPr>
        <p:spPr>
          <a:xfrm>
            <a:off x="6305095" y="2106106"/>
            <a:ext cx="3039592" cy="242774"/>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latinLnBrk="0">
              <a:spcAft>
                <a:spcPts val="600"/>
              </a:spcAft>
              <a:buNone/>
            </a:pPr>
            <a:r>
              <a:rPr lang="ko-KR" altLang="en-US" spc="-100">
                <a:latin typeface="a고딕14" panose="02020600000000000000" pitchFamily="18" charset="-127"/>
                <a:ea typeface="a고딕14" panose="02020600000000000000" pitchFamily="18" charset="-127"/>
              </a:rPr>
              <a:t>검토 내용</a:t>
            </a:r>
            <a:endParaRPr lang="en-US" altLang="ko-KR" spc="-100" dirty="0">
              <a:latin typeface="a고딕14" panose="02020600000000000000" pitchFamily="18" charset="-127"/>
              <a:ea typeface="a고딕14" panose="02020600000000000000" pitchFamily="18" charset="-127"/>
            </a:endParaRPr>
          </a:p>
        </p:txBody>
      </p:sp>
      <p:sp>
        <p:nvSpPr>
          <p:cNvPr id="36" name="직사각형 35">
            <a:extLst>
              <a:ext uri="{FF2B5EF4-FFF2-40B4-BE49-F238E27FC236}">
                <a16:creationId xmlns:a16="http://schemas.microsoft.com/office/drawing/2014/main" id="{F4E84E68-A6F0-4FB3-AB3B-B09E4859C2CD}"/>
              </a:ext>
            </a:extLst>
          </p:cNvPr>
          <p:cNvSpPr/>
          <p:nvPr/>
        </p:nvSpPr>
        <p:spPr>
          <a:xfrm>
            <a:off x="6321789" y="4276727"/>
            <a:ext cx="2952452" cy="17958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200"/>
              </a:spcAft>
              <a:buFont typeface="a고딕14" panose="02020600000000000000" pitchFamily="18" charset="-127"/>
              <a:buChar char="-"/>
            </a:pPr>
            <a:r>
              <a:rPr lang="ko-KR" altLang="en-US" sz="1100">
                <a:solidFill>
                  <a:srgbClr val="0070C0"/>
                </a:solidFill>
                <a:latin typeface="a고딕14" panose="02020600000000000000" pitchFamily="18" charset="-127"/>
                <a:ea typeface="a고딕14" panose="02020600000000000000" pitchFamily="18" charset="-127"/>
              </a:rPr>
              <a:t>산업군별</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온평원과의 협의를 통해 제조</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디자인</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 등의 분야를 우선적으로 검토하여 산업 특성에 따른 핵심 활용 영역별 교육과정 개발</a:t>
            </a:r>
            <a:endParaRPr lang="en-US" altLang="ko-KR" sz="110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고딕14" panose="02020600000000000000" pitchFamily="18" charset="-127"/>
              <a:buChar char="-"/>
            </a:pPr>
            <a:r>
              <a:rPr lang="ko-KR" altLang="en-US" sz="1100">
                <a:solidFill>
                  <a:srgbClr val="0070C0"/>
                </a:solidFill>
                <a:latin typeface="a고딕14" panose="02020600000000000000" pitchFamily="18" charset="-127"/>
                <a:ea typeface="a고딕14" panose="02020600000000000000" pitchFamily="18" charset="-127"/>
              </a:rPr>
              <a:t>기능별</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조직 內 기능별 </a:t>
            </a:r>
            <a:r>
              <a:rPr lang="en-US" altLang="ko-KR" sz="1100">
                <a:solidFill>
                  <a:schemeClr val="tx1"/>
                </a:solidFill>
                <a:latin typeface="a고딕14" panose="02020600000000000000" pitchFamily="18" charset="-127"/>
                <a:ea typeface="a고딕14" panose="02020600000000000000" pitchFamily="18" charset="-127"/>
              </a:rPr>
              <a:t>AI</a:t>
            </a:r>
            <a:r>
              <a:rPr lang="ko-KR" altLang="en-US" sz="1100">
                <a:solidFill>
                  <a:schemeClr val="tx1"/>
                </a:solidFill>
                <a:latin typeface="a고딕14" panose="02020600000000000000" pitchFamily="18" charset="-127"/>
                <a:ea typeface="a고딕14" panose="02020600000000000000" pitchFamily="18" charset="-127"/>
              </a:rPr>
              <a:t> 활용방법을 기준으로 교육과정 개발</a:t>
            </a:r>
            <a:endParaRPr lang="en-US" altLang="ko-KR" sz="110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고딕14" panose="02020600000000000000" pitchFamily="18" charset="-127"/>
              <a:buChar char="-"/>
            </a:pPr>
            <a:r>
              <a:rPr lang="ko-KR" altLang="en-US" sz="1100">
                <a:solidFill>
                  <a:srgbClr val="0070C0"/>
                </a:solidFill>
                <a:latin typeface="a고딕14" panose="02020600000000000000" pitchFamily="18" charset="-127"/>
                <a:ea typeface="a고딕14" panose="02020600000000000000" pitchFamily="18" charset="-127"/>
              </a:rPr>
              <a:t>직무별</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산업별 역량체계</a:t>
            </a:r>
            <a:r>
              <a:rPr lang="en-US" altLang="ko-KR" sz="1100">
                <a:solidFill>
                  <a:schemeClr val="tx1"/>
                </a:solidFill>
                <a:latin typeface="a고딕14" panose="02020600000000000000" pitchFamily="18" charset="-127"/>
                <a:ea typeface="a고딕14" panose="02020600000000000000" pitchFamily="18" charset="-127"/>
              </a:rPr>
              <a:t>(SQF)</a:t>
            </a:r>
            <a:r>
              <a:rPr lang="ko-KR" altLang="en-US" sz="1100">
                <a:solidFill>
                  <a:schemeClr val="tx1"/>
                </a:solidFill>
                <a:latin typeface="a고딕14" panose="02020600000000000000" pitchFamily="18" charset="-127"/>
                <a:ea typeface="a고딕14" panose="02020600000000000000" pitchFamily="18" charset="-127"/>
              </a:rPr>
              <a:t>를 참고해 직무별 활용 가능한 능력단위 </a:t>
            </a:r>
            <a:r>
              <a:rPr lang="en-US" altLang="ko-KR" sz="1100">
                <a:solidFill>
                  <a:schemeClr val="tx1"/>
                </a:solidFill>
                <a:latin typeface="a고딕14" panose="02020600000000000000" pitchFamily="18" charset="-127"/>
                <a:ea typeface="a고딕14" panose="02020600000000000000" pitchFamily="18" charset="-127"/>
              </a:rPr>
              <a:t>Pool</a:t>
            </a:r>
            <a:r>
              <a:rPr lang="ko-KR" altLang="en-US" sz="1100">
                <a:solidFill>
                  <a:schemeClr val="tx1"/>
                </a:solidFill>
                <a:latin typeface="a고딕14" panose="02020600000000000000" pitchFamily="18" charset="-127"/>
                <a:ea typeface="a고딕14" panose="02020600000000000000" pitchFamily="18" charset="-127"/>
              </a:rPr>
              <a:t>을 정리하고</a:t>
            </a:r>
            <a:r>
              <a:rPr lang="en-US" altLang="ko-KR" sz="1100">
                <a:solidFill>
                  <a:schemeClr val="tx1"/>
                </a:solidFill>
                <a:latin typeface="a고딕14" panose="02020600000000000000" pitchFamily="18" charset="-127"/>
                <a:ea typeface="a고딕14" panose="02020600000000000000" pitchFamily="18" charset="-127"/>
              </a:rPr>
              <a:t>, </a:t>
            </a:r>
            <a:r>
              <a:rPr lang="ko-KR" altLang="en-US" sz="1100">
                <a:solidFill>
                  <a:schemeClr val="tx1"/>
                </a:solidFill>
                <a:latin typeface="a고딕14" panose="02020600000000000000" pitchFamily="18" charset="-127"/>
                <a:ea typeface="a고딕14" panose="02020600000000000000" pitchFamily="18" charset="-127"/>
              </a:rPr>
              <a:t>온평원이 활용한 능력단위를 제외한 잔여 능력단위 중 우선순위를 도출하여 교육과정 개발</a:t>
            </a:r>
          </a:p>
        </p:txBody>
      </p:sp>
      <p:sp>
        <p:nvSpPr>
          <p:cNvPr id="40" name="직사각형 39">
            <a:extLst>
              <a:ext uri="{FF2B5EF4-FFF2-40B4-BE49-F238E27FC236}">
                <a16:creationId xmlns:a16="http://schemas.microsoft.com/office/drawing/2014/main" id="{6F731321-690E-303A-BAC0-7194404B770C}"/>
              </a:ext>
            </a:extLst>
          </p:cNvPr>
          <p:cNvSpPr/>
          <p:nvPr/>
        </p:nvSpPr>
        <p:spPr>
          <a:xfrm>
            <a:off x="598101" y="2106106"/>
            <a:ext cx="4156515" cy="242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latinLnBrk="0">
              <a:spcAft>
                <a:spcPts val="600"/>
              </a:spcAft>
              <a:buNone/>
            </a:pPr>
            <a:r>
              <a:rPr lang="ko-KR" altLang="en-US" u="sng">
                <a:solidFill>
                  <a:sysClr val="windowText" lastClr="000000"/>
                </a:solidFill>
                <a:latin typeface="a고딕14" panose="02020600000000000000" pitchFamily="18" charset="-127"/>
                <a:ea typeface="a고딕14" panose="02020600000000000000" pitchFamily="18" charset="-127"/>
              </a:rPr>
              <a:t>참여 전문가 명단</a:t>
            </a:r>
            <a:endParaRPr lang="en-US" altLang="ko-KR" u="sng" dirty="0">
              <a:solidFill>
                <a:sysClr val="windowText" lastClr="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522313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65E4-0946-5342-E4B1-7E627610E93C}"/>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46A4905-2D07-0E47-C07C-52E858B01781}"/>
              </a:ext>
            </a:extLst>
          </p:cNvPr>
          <p:cNvSpPr>
            <a:spLocks noGrp="1"/>
          </p:cNvSpPr>
          <p:nvPr>
            <p:ph type="body" sz="quarter" idx="12"/>
          </p:nvPr>
        </p:nvSpPr>
        <p:spPr/>
        <p:txBody>
          <a:bodyPr/>
          <a:lstStyle/>
          <a:p>
            <a:pPr latinLnBrk="0"/>
            <a:r>
              <a:rPr lang="ko-KR" altLang="en-US"/>
              <a:t>자문회의 결과를 바탕으로 </a:t>
            </a:r>
            <a:r>
              <a:rPr lang="en-US" altLang="ko-KR"/>
              <a:t>3</a:t>
            </a:r>
            <a:r>
              <a:rPr lang="ko-KR" altLang="en-US"/>
              <a:t>개의 공통 분야와 </a:t>
            </a:r>
            <a:r>
              <a:rPr lang="en-US" altLang="ko-KR"/>
              <a:t>3</a:t>
            </a:r>
            <a:r>
              <a:rPr lang="ko-KR" altLang="en-US"/>
              <a:t>가지 기준에 따른 기초</a:t>
            </a:r>
            <a:r>
              <a:rPr lang="en-US" altLang="ko-KR"/>
              <a:t>·</a:t>
            </a:r>
            <a:r>
              <a:rPr lang="ko-KR" altLang="en-US"/>
              <a:t>활용 과정 </a:t>
            </a:r>
            <a:r>
              <a:rPr lang="en-US" altLang="ko-KR"/>
              <a:t>6</a:t>
            </a:r>
            <a:r>
              <a:rPr lang="ko-KR" altLang="en-US"/>
              <a:t>개 분야를 선정하고</a:t>
            </a:r>
            <a:r>
              <a:rPr lang="en-US" altLang="ko-KR"/>
              <a:t>,</a:t>
            </a:r>
            <a:r>
              <a:rPr lang="ko-KR" altLang="en-US"/>
              <a:t> 각 분야 및 </a:t>
            </a:r>
            <a:r>
              <a:rPr lang="en-US" altLang="ko-KR"/>
              <a:t>AI </a:t>
            </a:r>
            <a:r>
              <a:rPr lang="ko-KR" altLang="en-US"/>
              <a:t>전문가를 활용하여 공통</a:t>
            </a:r>
            <a:r>
              <a:rPr lang="en-US" altLang="ko-KR"/>
              <a:t>/</a:t>
            </a:r>
            <a:r>
              <a:rPr lang="ko-KR" altLang="en-US"/>
              <a:t>기초</a:t>
            </a:r>
            <a:r>
              <a:rPr lang="en-US" altLang="ko-KR"/>
              <a:t>/</a:t>
            </a:r>
            <a:r>
              <a:rPr lang="ko-KR" altLang="en-US"/>
              <a:t>활용 </a:t>
            </a:r>
            <a:r>
              <a:rPr lang="en-US" altLang="ko-KR"/>
              <a:t>AI </a:t>
            </a:r>
            <a:r>
              <a:rPr lang="ko-KR" altLang="en-US"/>
              <a:t>리터러시 교육과정을 개발하였음</a:t>
            </a:r>
            <a:endParaRPr lang="ko-KR" altLang="en-US" dirty="0"/>
          </a:p>
        </p:txBody>
      </p:sp>
      <p:sp>
        <p:nvSpPr>
          <p:cNvPr id="5" name="텍스트 개체 틀 4">
            <a:extLst>
              <a:ext uri="{FF2B5EF4-FFF2-40B4-BE49-F238E27FC236}">
                <a16:creationId xmlns:a16="http://schemas.microsoft.com/office/drawing/2014/main" id="{5E5AB538-B36B-CA6B-C533-E532D9F1D3DE}"/>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Ⅲ. AI </a:t>
            </a:r>
            <a:r>
              <a:rPr lang="ko-KR" altLang="en-US" dirty="0" err="1">
                <a:latin typeface="+mn-ea"/>
              </a:rPr>
              <a:t>리터러시</a:t>
            </a:r>
            <a:r>
              <a:rPr lang="ko-KR" altLang="en-US" dirty="0">
                <a:latin typeface="+mn-ea"/>
              </a:rPr>
              <a:t> 교육과정 개발</a:t>
            </a:r>
          </a:p>
        </p:txBody>
      </p:sp>
      <p:sp>
        <p:nvSpPr>
          <p:cNvPr id="6" name="텍스트 개체 틀 87">
            <a:extLst>
              <a:ext uri="{FF2B5EF4-FFF2-40B4-BE49-F238E27FC236}">
                <a16:creationId xmlns:a16="http://schemas.microsoft.com/office/drawing/2014/main" id="{7B75FDCD-3BAE-771E-0086-38096E65B516}"/>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AI </a:t>
            </a:r>
            <a:r>
              <a:rPr lang="ko-KR" altLang="en-US" sz="1200" dirty="0" err="1">
                <a:solidFill>
                  <a:schemeClr val="bg1"/>
                </a:solidFill>
              </a:rPr>
              <a:t>리터러시</a:t>
            </a:r>
            <a:r>
              <a:rPr lang="ko-KR" altLang="en-US" sz="1200" dirty="0">
                <a:solidFill>
                  <a:schemeClr val="bg1"/>
                </a:solidFill>
              </a:rPr>
              <a:t> 교육과정 개발</a:t>
            </a:r>
          </a:p>
        </p:txBody>
      </p:sp>
      <p:sp>
        <p:nvSpPr>
          <p:cNvPr id="10" name="직사각형 9">
            <a:extLst>
              <a:ext uri="{FF2B5EF4-FFF2-40B4-BE49-F238E27FC236}">
                <a16:creationId xmlns:a16="http://schemas.microsoft.com/office/drawing/2014/main" id="{E7B4FBBA-E6F1-8B60-CDB7-A1F2653C769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7. AI </a:t>
            </a:r>
            <a:r>
              <a:rPr lang="ko-KR" altLang="en-US" sz="1100" dirty="0" err="1">
                <a:solidFill>
                  <a:srgbClr val="003F56"/>
                </a:solidFill>
                <a:latin typeface="a고딕14"/>
                <a:ea typeface="a고딕14"/>
              </a:rPr>
              <a:t>리터러시</a:t>
            </a:r>
            <a:r>
              <a:rPr lang="ko-KR" altLang="en-US" sz="1100" dirty="0">
                <a:solidFill>
                  <a:srgbClr val="003F56"/>
                </a:solidFill>
                <a:latin typeface="a고딕14"/>
                <a:ea typeface="a고딕14"/>
              </a:rPr>
              <a:t> 분야 교육과정 개발</a:t>
            </a:r>
          </a:p>
        </p:txBody>
      </p:sp>
      <p:grpSp>
        <p:nvGrpSpPr>
          <p:cNvPr id="8" name="그룹 7"/>
          <p:cNvGrpSpPr/>
          <p:nvPr/>
        </p:nvGrpSpPr>
        <p:grpSpPr>
          <a:xfrm>
            <a:off x="546253" y="2488417"/>
            <a:ext cx="4197452" cy="874978"/>
            <a:chOff x="665686" y="2140828"/>
            <a:chExt cx="4197452" cy="874978"/>
          </a:xfrm>
        </p:grpSpPr>
        <p:sp>
          <p:nvSpPr>
            <p:cNvPr id="9" name="대각선 방향의 모서리가 둥근 사각형 8"/>
            <p:cNvSpPr/>
            <p:nvPr/>
          </p:nvSpPr>
          <p:spPr>
            <a:xfrm>
              <a:off x="709586" y="2195596"/>
              <a:ext cx="1008111" cy="820210"/>
            </a:xfrm>
            <a:prstGeom prst="round2Diag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dirty="0">
                  <a:solidFill>
                    <a:schemeClr val="bg1"/>
                  </a:solidFill>
                  <a:latin typeface="Arial Narrow" panose="020B0606020202030204" pitchFamily="34" charset="0"/>
                  <a:ea typeface="a고딕14" panose="02020600000000000000" pitchFamily="18" charset="-127"/>
                </a:rPr>
                <a:t>AI </a:t>
              </a:r>
            </a:p>
            <a:p>
              <a:pPr algn="ctr">
                <a:buNone/>
              </a:pPr>
              <a:r>
                <a:rPr lang="ko-KR" altLang="en-US" dirty="0" err="1">
                  <a:solidFill>
                    <a:schemeClr val="bg1"/>
                  </a:solidFill>
                  <a:latin typeface="Arial Narrow" panose="020B0606020202030204" pitchFamily="34" charset="0"/>
                  <a:ea typeface="a고딕14" panose="02020600000000000000" pitchFamily="18" charset="-127"/>
                </a:rPr>
                <a:t>리터러시란</a:t>
              </a:r>
              <a:r>
                <a:rPr lang="en-US" altLang="ko-KR" dirty="0">
                  <a:solidFill>
                    <a:schemeClr val="bg1"/>
                  </a:solidFill>
                  <a:latin typeface="Arial Narrow" panose="020B0606020202030204" pitchFamily="34" charset="0"/>
                  <a:ea typeface="a고딕14" panose="02020600000000000000" pitchFamily="18" charset="-127"/>
                </a:rPr>
                <a:t>?</a:t>
              </a:r>
            </a:p>
          </p:txBody>
        </p:sp>
        <p:sp>
          <p:nvSpPr>
            <p:cNvPr id="11" name="직사각형 10"/>
            <p:cNvSpPr/>
            <p:nvPr/>
          </p:nvSpPr>
          <p:spPr>
            <a:xfrm>
              <a:off x="1815966" y="2182355"/>
              <a:ext cx="3047172" cy="82021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latinLnBrk="0">
                <a:spcAft>
                  <a:spcPts val="2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AI</a:t>
              </a:r>
              <a:r>
                <a:rPr lang="ko-KR" altLang="en-US" sz="1100" dirty="0">
                  <a:solidFill>
                    <a:schemeClr val="tx1"/>
                  </a:solidFill>
                  <a:latin typeface="Arial Narrow" panose="020B0606020202030204" pitchFamily="34" charset="0"/>
                  <a:ea typeface="a고딕14" panose="02020600000000000000" pitchFamily="18" charset="-127"/>
                </a:rPr>
                <a:t>에 대한 인식과 원리를 이해하고</a:t>
              </a: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 </a:t>
              </a:r>
              <a:endParaRPr lang="en-US" altLang="ko-KR" sz="1100"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2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AI</a:t>
              </a:r>
              <a:r>
                <a:rPr lang="ko-KR" altLang="en-US" sz="1100" dirty="0">
                  <a:solidFill>
                    <a:schemeClr val="tx1"/>
                  </a:solidFill>
                  <a:latin typeface="Arial Narrow" panose="020B0606020202030204" pitchFamily="34" charset="0"/>
                  <a:ea typeface="a고딕14" panose="02020600000000000000" pitchFamily="18" charset="-127"/>
                </a:rPr>
                <a:t>를 활용하여 문제를 해결한 후</a:t>
              </a: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 사회적</a:t>
              </a: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개인적 영향과 결과를 비판적인 시각으로 바라보는 것까지의 全과정</a:t>
              </a:r>
              <a:endParaRPr lang="en-US" altLang="ko-KR" sz="1100" dirty="0">
                <a:solidFill>
                  <a:schemeClr val="tx1"/>
                </a:solidFill>
                <a:latin typeface="Arial Narrow" panose="020B0606020202030204" pitchFamily="34" charset="0"/>
                <a:ea typeface="a고딕14" panose="02020600000000000000" pitchFamily="18" charset="-127"/>
              </a:endParaRPr>
            </a:p>
          </p:txBody>
        </p:sp>
        <p:sp>
          <p:nvSpPr>
            <p:cNvPr id="12" name="타원 11"/>
            <p:cNvSpPr/>
            <p:nvPr/>
          </p:nvSpPr>
          <p:spPr>
            <a:xfrm>
              <a:off x="665686" y="2140828"/>
              <a:ext cx="226907" cy="226907"/>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a:solidFill>
                    <a:schemeClr val="bg1"/>
                  </a:solidFill>
                  <a:latin typeface="Arial Narrow" panose="020B0606020202030204" pitchFamily="34" charset="0"/>
                  <a:ea typeface="a고딕14" panose="02020600000000000000" pitchFamily="18" charset="-127"/>
                </a:rPr>
                <a:t>1</a:t>
              </a:r>
              <a:endParaRPr lang="ko-KR" altLang="en-US" sz="1400" dirty="0" err="1">
                <a:solidFill>
                  <a:schemeClr val="bg1"/>
                </a:solidFill>
                <a:latin typeface="Arial Narrow" panose="020B0606020202030204" pitchFamily="34" charset="0"/>
                <a:ea typeface="a고딕14" panose="02020600000000000000" pitchFamily="18" charset="-127"/>
              </a:endParaRPr>
            </a:p>
          </p:txBody>
        </p:sp>
      </p:grpSp>
      <p:grpSp>
        <p:nvGrpSpPr>
          <p:cNvPr id="13" name="그룹 12"/>
          <p:cNvGrpSpPr/>
          <p:nvPr/>
        </p:nvGrpSpPr>
        <p:grpSpPr>
          <a:xfrm>
            <a:off x="558167" y="3422019"/>
            <a:ext cx="4190220" cy="1365826"/>
            <a:chOff x="665686" y="3252039"/>
            <a:chExt cx="4190220" cy="1365826"/>
          </a:xfrm>
        </p:grpSpPr>
        <p:sp>
          <p:nvSpPr>
            <p:cNvPr id="14" name="대각선 방향의 모서리가 둥근 사각형 13"/>
            <p:cNvSpPr/>
            <p:nvPr/>
          </p:nvSpPr>
          <p:spPr>
            <a:xfrm>
              <a:off x="713122" y="3300672"/>
              <a:ext cx="1004575" cy="837940"/>
            </a:xfrm>
            <a:prstGeom prst="round2Diag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Arial Narrow" panose="020B0606020202030204" pitchFamily="34" charset="0"/>
                  <a:ea typeface="a고딕14" panose="02020600000000000000" pitchFamily="18" charset="-127"/>
                </a:rPr>
                <a:t>공통 과정</a:t>
              </a:r>
              <a:endParaRPr lang="en-US" altLang="ko-KR">
                <a:solidFill>
                  <a:schemeClr val="bg1"/>
                </a:solidFill>
                <a:latin typeface="Arial Narrow" panose="020B0606020202030204" pitchFamily="34" charset="0"/>
                <a:ea typeface="a고딕14" panose="02020600000000000000" pitchFamily="18" charset="-127"/>
              </a:endParaRPr>
            </a:p>
          </p:txBody>
        </p:sp>
        <p:sp>
          <p:nvSpPr>
            <p:cNvPr id="15" name="직사각형 14"/>
            <p:cNvSpPr/>
            <p:nvPr/>
          </p:nvSpPr>
          <p:spPr>
            <a:xfrm>
              <a:off x="1804052" y="3299515"/>
              <a:ext cx="3047172" cy="84844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latinLnBrk="0">
                <a:lnSpc>
                  <a:spcPct val="120000"/>
                </a:lnSpc>
                <a:spcAft>
                  <a:spcPts val="200"/>
                </a:spcAft>
                <a:buNone/>
              </a:pPr>
              <a:r>
                <a:rPr lang="ko-KR" altLang="en-US" sz="1100" spc="-20" dirty="0">
                  <a:solidFill>
                    <a:schemeClr val="tx1"/>
                  </a:solidFill>
                  <a:latin typeface="Arial Narrow" panose="020B0606020202030204" pitchFamily="34" charset="0"/>
                  <a:ea typeface="a고딕14" panose="02020600000000000000" pitchFamily="18" charset="-127"/>
                </a:rPr>
                <a:t>현재 온평원에서 개발 중인 </a:t>
              </a:r>
              <a:r>
                <a:rPr lang="en-US" altLang="ko-KR" sz="1100" spc="-20" dirty="0">
                  <a:solidFill>
                    <a:schemeClr val="tx1"/>
                  </a:solidFill>
                  <a:latin typeface="Arial Narrow" panose="020B0606020202030204" pitchFamily="34" charset="0"/>
                  <a:ea typeface="a고딕14" panose="02020600000000000000" pitchFamily="18" charset="-127"/>
                </a:rPr>
                <a:t>‘AI </a:t>
              </a:r>
              <a:r>
                <a:rPr lang="ko-KR" altLang="en-US" sz="1100" spc="-20" dirty="0" err="1">
                  <a:solidFill>
                    <a:schemeClr val="tx1"/>
                  </a:solidFill>
                  <a:latin typeface="Arial Narrow" panose="020B0606020202030204" pitchFamily="34" charset="0"/>
                  <a:ea typeface="a고딕14" panose="02020600000000000000" pitchFamily="18" charset="-127"/>
                </a:rPr>
                <a:t>리터러시</a:t>
              </a:r>
              <a:r>
                <a:rPr lang="ko-KR" altLang="en-US" sz="1100" spc="-20" dirty="0">
                  <a:solidFill>
                    <a:schemeClr val="tx1"/>
                  </a:solidFill>
                  <a:latin typeface="Arial Narrow" panose="020B0606020202030204" pitchFamily="34" charset="0"/>
                  <a:ea typeface="a고딕14" panose="02020600000000000000" pitchFamily="18" charset="-127"/>
                </a:rPr>
                <a:t> 기초</a:t>
              </a:r>
              <a:r>
                <a:rPr lang="en-US" altLang="ko-KR" sz="1100" spc="-20" dirty="0">
                  <a:solidFill>
                    <a:schemeClr val="tx1"/>
                  </a:solidFill>
                  <a:latin typeface="Arial Narrow" panose="020B0606020202030204" pitchFamily="34" charset="0"/>
                  <a:ea typeface="a고딕14" panose="02020600000000000000" pitchFamily="18" charset="-127"/>
                </a:rPr>
                <a:t>‘ </a:t>
              </a:r>
              <a:r>
                <a:rPr lang="ko-KR" altLang="en-US" sz="1100" spc="-20" dirty="0">
                  <a:solidFill>
                    <a:schemeClr val="tx1"/>
                  </a:solidFill>
                  <a:latin typeface="Arial Narrow" panose="020B0606020202030204" pitchFamily="34" charset="0"/>
                  <a:ea typeface="a고딕14" panose="02020600000000000000" pitchFamily="18" charset="-127"/>
                </a:rPr>
                <a:t>과정 外</a:t>
              </a:r>
              <a:endParaRPr lang="en-US" altLang="ko-KR" sz="1100" spc="-20" dirty="0">
                <a:solidFill>
                  <a:schemeClr val="tx1"/>
                </a:solidFill>
                <a:latin typeface="Arial Narrow" panose="020B0606020202030204" pitchFamily="34" charset="0"/>
                <a:ea typeface="a고딕14" panose="02020600000000000000" pitchFamily="18" charset="-127"/>
              </a:endParaRPr>
            </a:p>
            <a:p>
              <a:pPr marL="171450" indent="-171450" algn="l" latinLnBrk="0">
                <a:lnSpc>
                  <a:spcPct val="120000"/>
                </a:lnSpc>
                <a:spcAft>
                  <a:spcPts val="200"/>
                </a:spcAft>
                <a:buFont typeface="Arial" panose="020B0604020202020204" pitchFamily="34" charset="0"/>
                <a:buChar char="•"/>
              </a:pPr>
              <a:r>
                <a:rPr lang="en-US" altLang="ko-KR" sz="1100" spc="-40" dirty="0">
                  <a:solidFill>
                    <a:schemeClr val="tx1"/>
                  </a:solidFill>
                  <a:latin typeface="Arial Narrow" panose="020B0606020202030204" pitchFamily="34" charset="0"/>
                  <a:ea typeface="a고딕14" panose="02020600000000000000" pitchFamily="18" charset="-127"/>
                </a:rPr>
                <a:t>Data</a:t>
              </a:r>
              <a:r>
                <a:rPr lang="ko-KR" altLang="en-US" sz="1100" spc="-40" dirty="0">
                  <a:solidFill>
                    <a:schemeClr val="tx1"/>
                  </a:solidFill>
                  <a:latin typeface="Arial Narrow" panose="020B0606020202030204" pitchFamily="34" charset="0"/>
                  <a:ea typeface="a고딕14" panose="02020600000000000000" pitchFamily="18" charset="-127"/>
                </a:rPr>
                <a:t>에 대한 기초적인 이해를 도와줄 교육과정 필요</a:t>
              </a:r>
              <a:endParaRPr lang="en-US" altLang="ko-KR" sz="1100" spc="-40" dirty="0">
                <a:solidFill>
                  <a:schemeClr val="tx1"/>
                </a:solidFill>
                <a:latin typeface="Arial Narrow" panose="020B0606020202030204" pitchFamily="34" charset="0"/>
                <a:ea typeface="a고딕14" panose="02020600000000000000" pitchFamily="18" charset="-127"/>
              </a:endParaRPr>
            </a:p>
            <a:p>
              <a:pPr marL="171450" indent="-171450" algn="l" latinLnBrk="0">
                <a:lnSpc>
                  <a:spcPct val="120000"/>
                </a:lnSpc>
                <a:spcAft>
                  <a:spcPts val="200"/>
                </a:spcAft>
                <a:buFont typeface="Arial" panose="020B0604020202020204" pitchFamily="34" charset="0"/>
                <a:buChar char="•"/>
              </a:pPr>
              <a:r>
                <a:rPr lang="ko-KR" altLang="en-US" sz="1100" spc="-50" dirty="0">
                  <a:solidFill>
                    <a:schemeClr val="tx1"/>
                  </a:solidFill>
                  <a:latin typeface="Arial Narrow" panose="020B0606020202030204" pitchFamily="34" charset="0"/>
                  <a:ea typeface="a고딕14" panose="02020600000000000000" pitchFamily="18" charset="-127"/>
                </a:rPr>
                <a:t> </a:t>
              </a:r>
              <a:r>
                <a:rPr lang="en-US" altLang="ko-KR" sz="1100" spc="-50" dirty="0">
                  <a:solidFill>
                    <a:schemeClr val="tx1"/>
                  </a:solidFill>
                  <a:latin typeface="Arial Narrow" panose="020B0606020202030204" pitchFamily="34" charset="0"/>
                  <a:ea typeface="a고딕14" panose="02020600000000000000" pitchFamily="18" charset="-127"/>
                </a:rPr>
                <a:t>AI </a:t>
              </a:r>
              <a:r>
                <a:rPr lang="ko-KR" altLang="en-US" sz="1100" spc="-50" dirty="0">
                  <a:solidFill>
                    <a:schemeClr val="tx1"/>
                  </a:solidFill>
                  <a:latin typeface="Arial Narrow" panose="020B0606020202030204" pitchFamily="34" charset="0"/>
                  <a:ea typeface="a고딕14" panose="02020600000000000000" pitchFamily="18" charset="-127"/>
                </a:rPr>
                <a:t>윤리</a:t>
              </a:r>
              <a:r>
                <a:rPr lang="en-US" altLang="ko-KR" sz="1100" spc="-50" dirty="0">
                  <a:solidFill>
                    <a:schemeClr val="tx1"/>
                  </a:solidFill>
                  <a:latin typeface="Arial Narrow" panose="020B0606020202030204" pitchFamily="34" charset="0"/>
                  <a:ea typeface="a고딕14" panose="02020600000000000000" pitchFamily="18" charset="-127"/>
                </a:rPr>
                <a:t>/</a:t>
              </a:r>
              <a:r>
                <a:rPr lang="ko-KR" altLang="en-US" sz="1100" spc="-50" dirty="0">
                  <a:solidFill>
                    <a:schemeClr val="tx1"/>
                  </a:solidFill>
                  <a:latin typeface="Arial Narrow" panose="020B0606020202030204" pitchFamily="34" charset="0"/>
                  <a:ea typeface="a고딕14" panose="02020600000000000000" pitchFamily="18" charset="-127"/>
                </a:rPr>
                <a:t>보안과 관련된 이슈를 다루는 교육과정 필요</a:t>
              </a:r>
              <a:endParaRPr lang="en-US" altLang="ko-KR" sz="1100" spc="-50" dirty="0">
                <a:solidFill>
                  <a:schemeClr val="tx1"/>
                </a:solidFill>
                <a:latin typeface="Arial Narrow" panose="020B0606020202030204" pitchFamily="34" charset="0"/>
                <a:ea typeface="a고딕14" panose="02020600000000000000" pitchFamily="18" charset="-127"/>
              </a:endParaRPr>
            </a:p>
          </p:txBody>
        </p:sp>
        <p:sp>
          <p:nvSpPr>
            <p:cNvPr id="16" name="직사각형 15"/>
            <p:cNvSpPr/>
            <p:nvPr/>
          </p:nvSpPr>
          <p:spPr>
            <a:xfrm>
              <a:off x="720454" y="4214878"/>
              <a:ext cx="997243" cy="402987"/>
            </a:xfrm>
            <a:prstGeom prst="rect">
              <a:avLst/>
            </a:prstGeom>
            <a:solidFill>
              <a:srgbClr val="3061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bg1"/>
                  </a:solidFill>
                  <a:latin typeface="Arial Narrow" panose="020B0606020202030204" pitchFamily="34" charset="0"/>
                  <a:ea typeface="a고딕14" panose="02020600000000000000" pitchFamily="18" charset="-127"/>
                </a:rPr>
                <a:t>3</a:t>
              </a:r>
              <a:r>
                <a:rPr lang="ko-KR" altLang="en-US" sz="1100">
                  <a:solidFill>
                    <a:schemeClr val="bg1"/>
                  </a:solidFill>
                  <a:latin typeface="Arial Narrow" panose="020B0606020202030204" pitchFamily="34" charset="0"/>
                  <a:ea typeface="a고딕14" panose="02020600000000000000" pitchFamily="18" charset="-127"/>
                </a:rPr>
                <a:t>가지 공통 </a:t>
              </a:r>
              <a:endParaRPr lang="en-US" altLang="ko-KR" sz="1100">
                <a:solidFill>
                  <a:schemeClr val="bg1"/>
                </a:solidFill>
                <a:latin typeface="Arial Narrow" panose="020B0606020202030204" pitchFamily="34" charset="0"/>
                <a:ea typeface="a고딕14" panose="02020600000000000000" pitchFamily="18" charset="-127"/>
              </a:endParaRPr>
            </a:p>
            <a:p>
              <a:pPr>
                <a:buNone/>
              </a:pPr>
              <a:r>
                <a:rPr lang="ko-KR" altLang="en-US" sz="1100">
                  <a:solidFill>
                    <a:schemeClr val="bg1"/>
                  </a:solidFill>
                  <a:latin typeface="Arial Narrow" panose="020B0606020202030204" pitchFamily="34" charset="0"/>
                  <a:ea typeface="a고딕14" panose="02020600000000000000" pitchFamily="18" charset="-127"/>
                </a:rPr>
                <a:t>분야</a:t>
              </a:r>
              <a:r>
                <a:rPr lang="en-US" altLang="ko-KR" sz="1100">
                  <a:solidFill>
                    <a:schemeClr val="bg1"/>
                  </a:solidFill>
                  <a:latin typeface="Arial Narrow" panose="020B0606020202030204" pitchFamily="34" charset="0"/>
                  <a:ea typeface="a고딕14" panose="02020600000000000000" pitchFamily="18" charset="-127"/>
                </a:rPr>
                <a:t> </a:t>
              </a:r>
              <a:r>
                <a:rPr lang="ko-KR" altLang="en-US" sz="1100">
                  <a:solidFill>
                    <a:schemeClr val="bg1"/>
                  </a:solidFill>
                  <a:latin typeface="Arial Narrow" panose="020B0606020202030204" pitchFamily="34" charset="0"/>
                  <a:ea typeface="a고딕14" panose="02020600000000000000" pitchFamily="18" charset="-127"/>
                </a:rPr>
                <a:t>선정</a:t>
              </a:r>
              <a:endParaRPr lang="en-US" altLang="ko-KR" sz="1100">
                <a:solidFill>
                  <a:schemeClr val="bg1"/>
                </a:solidFill>
                <a:latin typeface="Arial Narrow" panose="020B0606020202030204" pitchFamily="34" charset="0"/>
                <a:ea typeface="a고딕14" panose="02020600000000000000" pitchFamily="18" charset="-127"/>
              </a:endParaRPr>
            </a:p>
          </p:txBody>
        </p:sp>
        <p:grpSp>
          <p:nvGrpSpPr>
            <p:cNvPr id="17" name="그룹 16"/>
            <p:cNvGrpSpPr/>
            <p:nvPr/>
          </p:nvGrpSpPr>
          <p:grpSpPr>
            <a:xfrm>
              <a:off x="1804052" y="4214878"/>
              <a:ext cx="3051854" cy="386029"/>
              <a:chOff x="1129763" y="5574326"/>
              <a:chExt cx="3271481" cy="551901"/>
            </a:xfrm>
            <a:solidFill>
              <a:srgbClr val="DCF1F9"/>
            </a:solidFill>
          </p:grpSpPr>
          <p:sp>
            <p:nvSpPr>
              <p:cNvPr id="19" name="직사각형 18"/>
              <p:cNvSpPr/>
              <p:nvPr/>
            </p:nvSpPr>
            <p:spPr>
              <a:xfrm>
                <a:off x="2233035" y="5574326"/>
                <a:ext cx="1064937" cy="551901"/>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보안</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20" name="직사각형 19"/>
              <p:cNvSpPr/>
              <p:nvPr/>
            </p:nvSpPr>
            <p:spPr>
              <a:xfrm>
                <a:off x="3336307" y="5574326"/>
                <a:ext cx="1064937" cy="551901"/>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윤리</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21" name="직사각형 20"/>
              <p:cNvSpPr/>
              <p:nvPr/>
            </p:nvSpPr>
            <p:spPr>
              <a:xfrm>
                <a:off x="1129763" y="5574326"/>
                <a:ext cx="1064937" cy="551901"/>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데이터</a:t>
                </a:r>
                <a:endParaRPr lang="en-US" altLang="ko-KR" sz="1100">
                  <a:solidFill>
                    <a:schemeClr val="tx1"/>
                  </a:solidFill>
                  <a:latin typeface="Arial Narrow" panose="020B0606020202030204" pitchFamily="34" charset="0"/>
                  <a:ea typeface="a고딕14" panose="02020600000000000000" pitchFamily="18" charset="-127"/>
                </a:endParaRPr>
              </a:p>
            </p:txBody>
          </p:sp>
        </p:grpSp>
        <p:sp>
          <p:nvSpPr>
            <p:cNvPr id="18" name="타원 17"/>
            <p:cNvSpPr/>
            <p:nvPr/>
          </p:nvSpPr>
          <p:spPr>
            <a:xfrm>
              <a:off x="665686" y="3252039"/>
              <a:ext cx="226907" cy="226907"/>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a:solidFill>
                    <a:schemeClr val="bg1"/>
                  </a:solidFill>
                  <a:latin typeface="Arial Narrow" panose="020B0606020202030204" pitchFamily="34" charset="0"/>
                  <a:ea typeface="a고딕14" panose="02020600000000000000" pitchFamily="18" charset="-127"/>
                </a:rPr>
                <a:t>2</a:t>
              </a:r>
              <a:endParaRPr lang="ko-KR" altLang="en-US" sz="1400" dirty="0" err="1">
                <a:solidFill>
                  <a:schemeClr val="bg1"/>
                </a:solidFill>
                <a:latin typeface="Arial Narrow" panose="020B0606020202030204" pitchFamily="34" charset="0"/>
                <a:ea typeface="a고딕14" panose="02020600000000000000" pitchFamily="18" charset="-127"/>
              </a:endParaRPr>
            </a:p>
          </p:txBody>
        </p:sp>
      </p:grpSp>
      <p:grpSp>
        <p:nvGrpSpPr>
          <p:cNvPr id="22" name="그룹 21"/>
          <p:cNvGrpSpPr/>
          <p:nvPr/>
        </p:nvGrpSpPr>
        <p:grpSpPr>
          <a:xfrm>
            <a:off x="546253" y="4846468"/>
            <a:ext cx="4204012" cy="1644586"/>
            <a:chOff x="605143" y="5302241"/>
            <a:chExt cx="4204012" cy="1644586"/>
          </a:xfrm>
        </p:grpSpPr>
        <p:sp>
          <p:nvSpPr>
            <p:cNvPr id="23" name="대각선 방향의 모서리가 둥근 사각형 22"/>
            <p:cNvSpPr/>
            <p:nvPr/>
          </p:nvSpPr>
          <p:spPr>
            <a:xfrm>
              <a:off x="640095" y="5361349"/>
              <a:ext cx="1017059" cy="719535"/>
            </a:xfrm>
            <a:prstGeom prst="round2Diag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Arial Narrow" panose="020B0606020202030204" pitchFamily="34" charset="0"/>
                  <a:ea typeface="a고딕14" panose="02020600000000000000" pitchFamily="18" charset="-127"/>
                </a:rPr>
                <a:t>기초</a:t>
              </a:r>
              <a:r>
                <a:rPr lang="en-US" altLang="ko-KR">
                  <a:solidFill>
                    <a:schemeClr val="bg1"/>
                  </a:solidFill>
                  <a:latin typeface="Arial Narrow" panose="020B0606020202030204" pitchFamily="34" charset="0"/>
                  <a:ea typeface="a고딕14" panose="02020600000000000000" pitchFamily="18" charset="-127"/>
                </a:rPr>
                <a:t>·</a:t>
              </a:r>
              <a:r>
                <a:rPr lang="ko-KR" altLang="en-US">
                  <a:solidFill>
                    <a:schemeClr val="bg1"/>
                  </a:solidFill>
                  <a:latin typeface="Arial Narrow" panose="020B0606020202030204" pitchFamily="34" charset="0"/>
                  <a:ea typeface="a고딕14" panose="02020600000000000000" pitchFamily="18" charset="-127"/>
                </a:rPr>
                <a:t>활용 </a:t>
              </a:r>
              <a:endParaRPr lang="en-US" altLang="ko-KR">
                <a:solidFill>
                  <a:schemeClr val="bg1"/>
                </a:solidFill>
                <a:latin typeface="Arial Narrow" panose="020B0606020202030204" pitchFamily="34" charset="0"/>
                <a:ea typeface="a고딕14" panose="02020600000000000000" pitchFamily="18" charset="-127"/>
              </a:endParaRPr>
            </a:p>
            <a:p>
              <a:pPr>
                <a:buNone/>
              </a:pPr>
              <a:r>
                <a:rPr lang="ko-KR" altLang="en-US">
                  <a:solidFill>
                    <a:schemeClr val="bg1"/>
                  </a:solidFill>
                  <a:latin typeface="Arial Narrow" panose="020B0606020202030204" pitchFamily="34" charset="0"/>
                  <a:ea typeface="a고딕14" panose="02020600000000000000" pitchFamily="18" charset="-127"/>
                </a:rPr>
                <a:t>과정</a:t>
              </a:r>
              <a:endParaRPr lang="en-US" altLang="ko-KR">
                <a:solidFill>
                  <a:schemeClr val="bg1"/>
                </a:solidFill>
                <a:latin typeface="Arial Narrow" panose="020B0606020202030204" pitchFamily="34" charset="0"/>
                <a:ea typeface="a고딕14" panose="02020600000000000000" pitchFamily="18" charset="-127"/>
              </a:endParaRPr>
            </a:p>
          </p:txBody>
        </p:sp>
        <p:sp>
          <p:nvSpPr>
            <p:cNvPr id="24" name="직사각형 23"/>
            <p:cNvSpPr/>
            <p:nvPr/>
          </p:nvSpPr>
          <p:spPr>
            <a:xfrm>
              <a:off x="1755423" y="5361349"/>
              <a:ext cx="3047172" cy="71953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20000"/>
                </a:lnSpc>
                <a:spcAft>
                  <a:spcPts val="200"/>
                </a:spcAft>
                <a:buNone/>
              </a:pPr>
              <a:r>
                <a:rPr lang="ko-KR" altLang="en-US" sz="1100" dirty="0">
                  <a:solidFill>
                    <a:schemeClr val="tx1"/>
                  </a:solidFill>
                  <a:latin typeface="Arial Narrow" panose="020B0606020202030204" pitchFamily="34" charset="0"/>
                  <a:ea typeface="a고딕14" panose="02020600000000000000" pitchFamily="18" charset="-127"/>
                </a:rPr>
                <a:t>현재 개발중인 분야 제외</a:t>
              </a: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사무직</a:t>
              </a:r>
              <a:r>
                <a:rPr lang="en-US" altLang="ko-KR" sz="1100" dirty="0">
                  <a:solidFill>
                    <a:schemeClr val="tx1"/>
                  </a:solidFill>
                  <a:latin typeface="Arial Narrow" panose="020B0606020202030204" pitchFamily="34" charset="0"/>
                  <a:ea typeface="a고딕14" panose="02020600000000000000" pitchFamily="18" charset="-127"/>
                </a:rPr>
                <a:t>, </a:t>
              </a:r>
              <a:r>
                <a:rPr lang="ko-KR" altLang="en-US" sz="1100" dirty="0">
                  <a:solidFill>
                    <a:schemeClr val="tx1"/>
                  </a:solidFill>
                  <a:latin typeface="Arial Narrow" panose="020B0606020202030204" pitchFamily="34" charset="0"/>
                  <a:ea typeface="a고딕14" panose="02020600000000000000" pitchFamily="18" charset="-127"/>
                </a:rPr>
                <a:t>마케팅 등</a:t>
              </a:r>
              <a:r>
                <a:rPr lang="en-US" altLang="ko-KR" sz="1100" dirty="0">
                  <a:solidFill>
                    <a:schemeClr val="tx1"/>
                  </a:solidFill>
                  <a:latin typeface="Arial Narrow" panose="020B0606020202030204" pitchFamily="34" charset="0"/>
                  <a:ea typeface="a고딕14" panose="02020600000000000000" pitchFamily="18" charset="-127"/>
                </a:rPr>
                <a:t>)</a:t>
              </a:r>
            </a:p>
            <a:p>
              <a:pPr marL="171450" indent="-171450" algn="l">
                <a:lnSpc>
                  <a:spcPct val="120000"/>
                </a:lnSpc>
                <a:spcAft>
                  <a:spcPts val="200"/>
                </a:spcAft>
                <a:buFont typeface="Arial" panose="020B0604020202020204" pitchFamily="34" charset="0"/>
                <a:buChar char="•"/>
              </a:pPr>
              <a:r>
                <a:rPr lang="ko-KR" altLang="en-US" sz="1100" spc="-50" dirty="0">
                  <a:solidFill>
                    <a:schemeClr val="tx1"/>
                  </a:solidFill>
                  <a:latin typeface="Arial Narrow" panose="020B0606020202030204" pitchFamily="34" charset="0"/>
                  <a:ea typeface="a고딕14" panose="02020600000000000000" pitchFamily="18" charset="-127"/>
                </a:rPr>
                <a:t>실질적으로 실무에 적용을 할 수 있는 분야 개발 필요</a:t>
              </a:r>
              <a:endParaRPr lang="en-US" altLang="ko-KR" sz="1100" spc="-50" dirty="0">
                <a:solidFill>
                  <a:schemeClr val="tx1"/>
                </a:solidFill>
                <a:latin typeface="Arial Narrow" panose="020B0606020202030204" pitchFamily="34" charset="0"/>
                <a:ea typeface="a고딕14" panose="02020600000000000000" pitchFamily="18" charset="-127"/>
              </a:endParaRPr>
            </a:p>
          </p:txBody>
        </p:sp>
        <p:grpSp>
          <p:nvGrpSpPr>
            <p:cNvPr id="25" name="그룹 24"/>
            <p:cNvGrpSpPr/>
            <p:nvPr/>
          </p:nvGrpSpPr>
          <p:grpSpPr>
            <a:xfrm>
              <a:off x="1755422" y="6132973"/>
              <a:ext cx="3053733" cy="813854"/>
              <a:chOff x="5755173" y="6887314"/>
              <a:chExt cx="3258996" cy="1077626"/>
            </a:xfrm>
            <a:solidFill>
              <a:srgbClr val="DCF1F9"/>
            </a:solidFill>
          </p:grpSpPr>
          <p:sp>
            <p:nvSpPr>
              <p:cNvPr id="28" name="직사각형 27"/>
              <p:cNvSpPr/>
              <p:nvPr/>
            </p:nvSpPr>
            <p:spPr>
              <a:xfrm>
                <a:off x="6853815" y="6887318"/>
                <a:ext cx="1059963" cy="493485"/>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금융</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29" name="직사각형 28"/>
              <p:cNvSpPr/>
              <p:nvPr/>
            </p:nvSpPr>
            <p:spPr>
              <a:xfrm>
                <a:off x="7952458" y="6887317"/>
                <a:ext cx="1059963" cy="493485"/>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교육</a:t>
                </a:r>
                <a:r>
                  <a:rPr lang="en-US" altLang="ko-KR" sz="1100">
                    <a:solidFill>
                      <a:schemeClr val="tx1"/>
                    </a:solidFill>
                    <a:latin typeface="Arial Narrow" panose="020B0606020202030204" pitchFamily="34" charset="0"/>
                    <a:ea typeface="a고딕14" panose="02020600000000000000" pitchFamily="18" charset="-127"/>
                  </a:rPr>
                  <a:t>·</a:t>
                </a:r>
                <a:r>
                  <a:rPr lang="ko-KR" altLang="en-US" sz="1100">
                    <a:solidFill>
                      <a:schemeClr val="tx1"/>
                    </a:solidFill>
                    <a:latin typeface="Arial Narrow" panose="020B0606020202030204" pitchFamily="34" charset="0"/>
                    <a:ea typeface="a고딕14" panose="02020600000000000000" pitchFamily="18" charset="-127"/>
                  </a:rPr>
                  <a:t>훈련</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30" name="직사각형 29"/>
              <p:cNvSpPr/>
              <p:nvPr/>
            </p:nvSpPr>
            <p:spPr>
              <a:xfrm>
                <a:off x="5755173" y="7471455"/>
                <a:ext cx="1059963" cy="493484"/>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디자인</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31" name="직사각형 30"/>
              <p:cNvSpPr/>
              <p:nvPr/>
            </p:nvSpPr>
            <p:spPr>
              <a:xfrm>
                <a:off x="6853557" y="7471455"/>
                <a:ext cx="1059963" cy="493485"/>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미디어콘텐츠</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32" name="직사각형 31"/>
              <p:cNvSpPr/>
              <p:nvPr/>
            </p:nvSpPr>
            <p:spPr>
              <a:xfrm>
                <a:off x="7954206" y="7471455"/>
                <a:ext cx="1059963" cy="493485"/>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제조 생산성과 품질</a:t>
                </a:r>
                <a:endParaRPr lang="en-US" altLang="ko-KR" sz="1100">
                  <a:solidFill>
                    <a:schemeClr val="tx1"/>
                  </a:solidFill>
                  <a:latin typeface="Arial Narrow" panose="020B0606020202030204" pitchFamily="34" charset="0"/>
                  <a:ea typeface="a고딕14" panose="02020600000000000000" pitchFamily="18" charset="-127"/>
                </a:endParaRPr>
              </a:p>
            </p:txBody>
          </p:sp>
          <p:sp>
            <p:nvSpPr>
              <p:cNvPr id="33" name="직사각형 32"/>
              <p:cNvSpPr/>
              <p:nvPr/>
            </p:nvSpPr>
            <p:spPr>
              <a:xfrm>
                <a:off x="5755174" y="6887314"/>
                <a:ext cx="1059963" cy="493485"/>
              </a:xfrm>
              <a:prstGeom prst="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경영</a:t>
                </a:r>
                <a:endParaRPr lang="en-US" altLang="ko-KR" sz="1100">
                  <a:solidFill>
                    <a:schemeClr val="tx1"/>
                  </a:solidFill>
                  <a:latin typeface="Arial Narrow" panose="020B0606020202030204" pitchFamily="34" charset="0"/>
                  <a:ea typeface="a고딕14" panose="02020600000000000000" pitchFamily="18" charset="-127"/>
                </a:endParaRPr>
              </a:p>
            </p:txBody>
          </p:sp>
        </p:grpSp>
        <p:sp>
          <p:nvSpPr>
            <p:cNvPr id="26" name="직사각형 25"/>
            <p:cNvSpPr/>
            <p:nvPr/>
          </p:nvSpPr>
          <p:spPr>
            <a:xfrm>
              <a:off x="649930" y="6132973"/>
              <a:ext cx="997243" cy="813853"/>
            </a:xfrm>
            <a:prstGeom prst="rect">
              <a:avLst/>
            </a:prstGeom>
            <a:solidFill>
              <a:srgbClr val="3061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spc="-70">
                  <a:solidFill>
                    <a:schemeClr val="bg1"/>
                  </a:solidFill>
                  <a:latin typeface="Arial Narrow" panose="020B0606020202030204" pitchFamily="34" charset="0"/>
                  <a:ea typeface="a고딕14" panose="02020600000000000000" pitchFamily="18" charset="-127"/>
                </a:rPr>
                <a:t>6</a:t>
              </a:r>
              <a:r>
                <a:rPr lang="ko-KR" altLang="en-US" sz="1100" spc="-70">
                  <a:solidFill>
                    <a:schemeClr val="bg1"/>
                  </a:solidFill>
                  <a:latin typeface="Arial Narrow" panose="020B0606020202030204" pitchFamily="34" charset="0"/>
                  <a:ea typeface="a고딕14" panose="02020600000000000000" pitchFamily="18" charset="-127"/>
                </a:rPr>
                <a:t>가지 기초</a:t>
              </a:r>
              <a:r>
                <a:rPr lang="en-US" altLang="ko-KR" sz="1100" spc="-70">
                  <a:solidFill>
                    <a:schemeClr val="bg1"/>
                  </a:solidFill>
                  <a:latin typeface="Arial Narrow" panose="020B0606020202030204" pitchFamily="34" charset="0"/>
                  <a:ea typeface="a고딕14" panose="02020600000000000000" pitchFamily="18" charset="-127"/>
                </a:rPr>
                <a:t>·</a:t>
              </a:r>
              <a:r>
                <a:rPr lang="ko-KR" altLang="en-US" sz="1100" spc="-70">
                  <a:solidFill>
                    <a:schemeClr val="bg1"/>
                  </a:solidFill>
                  <a:latin typeface="Arial Narrow" panose="020B0606020202030204" pitchFamily="34" charset="0"/>
                  <a:ea typeface="a고딕14" panose="02020600000000000000" pitchFamily="18" charset="-127"/>
                </a:rPr>
                <a:t>활용 분야 선정</a:t>
              </a:r>
              <a:endParaRPr lang="en-US" altLang="ko-KR" sz="1100" spc="-70">
                <a:solidFill>
                  <a:schemeClr val="bg1"/>
                </a:solidFill>
                <a:latin typeface="Arial Narrow" panose="020B0606020202030204" pitchFamily="34" charset="0"/>
                <a:ea typeface="a고딕14" panose="02020600000000000000" pitchFamily="18" charset="-127"/>
              </a:endParaRPr>
            </a:p>
          </p:txBody>
        </p:sp>
        <p:sp>
          <p:nvSpPr>
            <p:cNvPr id="27" name="타원 26"/>
            <p:cNvSpPr/>
            <p:nvPr/>
          </p:nvSpPr>
          <p:spPr>
            <a:xfrm>
              <a:off x="605143" y="5302241"/>
              <a:ext cx="226907" cy="226907"/>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a:solidFill>
                    <a:schemeClr val="bg1"/>
                  </a:solidFill>
                  <a:latin typeface="Arial Narrow" panose="020B0606020202030204" pitchFamily="34" charset="0"/>
                  <a:ea typeface="a고딕14" panose="02020600000000000000" pitchFamily="18" charset="-127"/>
                </a:rPr>
                <a:t>3</a:t>
              </a:r>
              <a:endParaRPr lang="ko-KR" altLang="en-US" sz="1400" dirty="0" err="1">
                <a:solidFill>
                  <a:schemeClr val="bg1"/>
                </a:solidFill>
                <a:latin typeface="Arial Narrow" panose="020B0606020202030204" pitchFamily="34" charset="0"/>
                <a:ea typeface="a고딕14" panose="02020600000000000000" pitchFamily="18" charset="-127"/>
              </a:endParaRPr>
            </a:p>
          </p:txBody>
        </p:sp>
      </p:grpSp>
      <p:sp>
        <p:nvSpPr>
          <p:cNvPr id="34" name="직사각형 33"/>
          <p:cNvSpPr/>
          <p:nvPr/>
        </p:nvSpPr>
        <p:spPr>
          <a:xfrm>
            <a:off x="5168900" y="2087609"/>
            <a:ext cx="4176713"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Arial Narrow" panose="020B0606020202030204" pitchFamily="34" charset="0"/>
                <a:ea typeface="a고딕14" panose="02020600000000000000" pitchFamily="18" charset="-127"/>
              </a:rPr>
              <a:t>기초</a:t>
            </a:r>
            <a:r>
              <a:rPr lang="en-US" altLang="ko-KR">
                <a:solidFill>
                  <a:schemeClr val="bg1"/>
                </a:solidFill>
                <a:latin typeface="Arial Narrow" panose="020B0606020202030204" pitchFamily="34" charset="0"/>
                <a:ea typeface="a고딕14" panose="02020600000000000000" pitchFamily="18" charset="-127"/>
              </a:rPr>
              <a:t>·</a:t>
            </a:r>
            <a:r>
              <a:rPr lang="ko-KR" altLang="en-US">
                <a:solidFill>
                  <a:schemeClr val="bg1"/>
                </a:solidFill>
                <a:latin typeface="Arial Narrow" panose="020B0606020202030204" pitchFamily="34" charset="0"/>
                <a:ea typeface="a고딕14" panose="02020600000000000000" pitchFamily="18" charset="-127"/>
              </a:rPr>
              <a:t>활용 과정 개발 우선분야 선정 절차</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35" name="오각형 34"/>
          <p:cNvSpPr/>
          <p:nvPr/>
        </p:nvSpPr>
        <p:spPr>
          <a:xfrm>
            <a:off x="5568809" y="4147688"/>
            <a:ext cx="1286150" cy="404586"/>
          </a:xfrm>
          <a:prstGeom prst="homePlate">
            <a:avLst>
              <a:gd name="adj" fmla="val 21639"/>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72000" rtlCol="0" anchor="ctr"/>
          <a:lstStyle/>
          <a:p>
            <a:pPr>
              <a:buNone/>
            </a:pPr>
            <a:r>
              <a:rPr lang="ko-KR" altLang="en-US" sz="1100" spc="-100">
                <a:latin typeface="Arial Narrow" panose="020B0606020202030204" pitchFamily="34" charset="0"/>
                <a:ea typeface="a고딕14" panose="02020600000000000000" pitchFamily="18" charset="-127"/>
              </a:rPr>
              <a:t>지표 설정 </a:t>
            </a:r>
            <a:endParaRPr lang="en-US" altLang="ko-KR" sz="1100" spc="-100">
              <a:latin typeface="Arial Narrow" panose="020B0606020202030204" pitchFamily="34" charset="0"/>
              <a:ea typeface="a고딕14" panose="02020600000000000000" pitchFamily="18" charset="-127"/>
            </a:endParaRPr>
          </a:p>
          <a:p>
            <a:pPr>
              <a:buNone/>
            </a:pPr>
            <a:r>
              <a:rPr lang="ko-KR" altLang="en-US" sz="1100" spc="-100">
                <a:latin typeface="Arial Narrow" panose="020B0606020202030204" pitchFamily="34" charset="0"/>
                <a:ea typeface="a고딕14" panose="02020600000000000000" pitchFamily="18" charset="-127"/>
              </a:rPr>
              <a:t>및 개발우선 분야 선정</a:t>
            </a:r>
            <a:endParaRPr lang="en-US" altLang="ko-KR" sz="1100" spc="-100" dirty="0">
              <a:latin typeface="Arial Narrow" panose="020B0606020202030204" pitchFamily="34" charset="0"/>
              <a:ea typeface="a고딕14" panose="02020600000000000000" pitchFamily="18" charset="-127"/>
            </a:endParaRPr>
          </a:p>
        </p:txBody>
      </p:sp>
      <p:sp>
        <p:nvSpPr>
          <p:cNvPr id="36" name="오각형 35"/>
          <p:cNvSpPr/>
          <p:nvPr/>
        </p:nvSpPr>
        <p:spPr>
          <a:xfrm>
            <a:off x="8161085" y="4147689"/>
            <a:ext cx="1278679" cy="404586"/>
          </a:xfrm>
          <a:prstGeom prst="homePlate">
            <a:avLst>
              <a:gd name="adj" fmla="val 19610"/>
            </a:avLst>
          </a:prstGeom>
          <a:solidFill>
            <a:srgbClr val="DAF0F9"/>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72000" rtlCol="0" anchor="ctr"/>
          <a:lstStyle/>
          <a:p>
            <a:pPr>
              <a:buNone/>
            </a:pPr>
            <a:r>
              <a:rPr lang="en-US" altLang="ko-KR" sz="1100">
                <a:solidFill>
                  <a:sysClr val="windowText" lastClr="000000"/>
                </a:solidFill>
                <a:latin typeface="Arial Narrow" panose="020B0606020202030204" pitchFamily="34" charset="0"/>
                <a:ea typeface="a고딕14" panose="02020600000000000000" pitchFamily="18" charset="-127"/>
              </a:rPr>
              <a:t>AI </a:t>
            </a:r>
            <a:r>
              <a:rPr lang="ko-KR" altLang="en-US" sz="1100">
                <a:solidFill>
                  <a:sysClr val="windowText" lastClr="000000"/>
                </a:solidFill>
                <a:latin typeface="Arial Narrow" panose="020B0606020202030204" pitchFamily="34" charset="0"/>
                <a:ea typeface="a고딕14" panose="02020600000000000000" pitchFamily="18" charset="-127"/>
              </a:rPr>
              <a:t>전문가 </a:t>
            </a:r>
            <a:endParaRPr lang="en-US" altLang="ko-KR" sz="1100">
              <a:solidFill>
                <a:sysClr val="windowText" lastClr="000000"/>
              </a:solidFill>
              <a:latin typeface="Arial Narrow" panose="020B0606020202030204" pitchFamily="34" charset="0"/>
              <a:ea typeface="a고딕14" panose="02020600000000000000" pitchFamily="18" charset="-127"/>
            </a:endParaRPr>
          </a:p>
          <a:p>
            <a:pPr>
              <a:buNone/>
            </a:pPr>
            <a:r>
              <a:rPr lang="ko-KR" altLang="en-US" sz="1100">
                <a:solidFill>
                  <a:sysClr val="windowText" lastClr="000000"/>
                </a:solidFill>
                <a:latin typeface="Arial Narrow" panose="020B0606020202030204" pitchFamily="34" charset="0"/>
                <a:ea typeface="a고딕14" panose="02020600000000000000" pitchFamily="18" charset="-127"/>
              </a:rPr>
              <a:t>최종 검토</a:t>
            </a:r>
            <a:endParaRPr lang="en-US" altLang="ko-KR" sz="1100" dirty="0">
              <a:solidFill>
                <a:sysClr val="windowText" lastClr="000000"/>
              </a:solidFill>
              <a:latin typeface="Arial Narrow" panose="020B0606020202030204" pitchFamily="34" charset="0"/>
              <a:ea typeface="a고딕14" panose="02020600000000000000" pitchFamily="18" charset="-127"/>
            </a:endParaRPr>
          </a:p>
        </p:txBody>
      </p:sp>
      <p:sp>
        <p:nvSpPr>
          <p:cNvPr id="37" name="오각형 36"/>
          <p:cNvSpPr/>
          <p:nvPr/>
        </p:nvSpPr>
        <p:spPr>
          <a:xfrm>
            <a:off x="6858694" y="4147688"/>
            <a:ext cx="1298656" cy="406996"/>
          </a:xfrm>
          <a:prstGeom prst="homePlate">
            <a:avLst>
              <a:gd name="adj" fmla="val 18387"/>
            </a:avLst>
          </a:prstGeom>
          <a:solidFill>
            <a:srgbClr val="7DB2D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72000" rtlCol="0" anchor="ctr"/>
          <a:lstStyle/>
          <a:p>
            <a:pPr>
              <a:buNone/>
            </a:pPr>
            <a:r>
              <a:rPr lang="en-US" altLang="ko-KR" sz="1100">
                <a:latin typeface="Arial Narrow" panose="020B0606020202030204" pitchFamily="34" charset="0"/>
                <a:ea typeface="a고딕14" panose="02020600000000000000" pitchFamily="18" charset="-127"/>
              </a:rPr>
              <a:t>AI </a:t>
            </a:r>
            <a:r>
              <a:rPr lang="ko-KR" altLang="en-US" sz="1100">
                <a:latin typeface="Arial Narrow" panose="020B0606020202030204" pitchFamily="34" charset="0"/>
                <a:ea typeface="a고딕14" panose="02020600000000000000" pitchFamily="18" charset="-127"/>
              </a:rPr>
              <a:t>리터러시 </a:t>
            </a:r>
            <a:endParaRPr lang="en-US" altLang="ko-KR" sz="1100">
              <a:latin typeface="Arial Narrow" panose="020B0606020202030204" pitchFamily="34" charset="0"/>
              <a:ea typeface="a고딕14" panose="02020600000000000000" pitchFamily="18" charset="-127"/>
            </a:endParaRPr>
          </a:p>
          <a:p>
            <a:pPr>
              <a:buNone/>
            </a:pPr>
            <a:r>
              <a:rPr lang="ko-KR" altLang="en-US" sz="1100">
                <a:latin typeface="Arial Narrow" panose="020B0606020202030204" pitchFamily="34" charset="0"/>
                <a:ea typeface="a고딕14" panose="02020600000000000000" pitchFamily="18" charset="-127"/>
              </a:rPr>
              <a:t>교육과정 개발</a:t>
            </a:r>
            <a:endParaRPr lang="en-US" altLang="ko-KR" sz="1100" dirty="0">
              <a:latin typeface="Arial Narrow" panose="020B0606020202030204" pitchFamily="34" charset="0"/>
              <a:ea typeface="a고딕14" panose="02020600000000000000" pitchFamily="18" charset="-127"/>
            </a:endParaRPr>
          </a:p>
        </p:txBody>
      </p:sp>
      <p:grpSp>
        <p:nvGrpSpPr>
          <p:cNvPr id="38" name="그룹 37">
            <a:extLst>
              <a:ext uri="{FF2B5EF4-FFF2-40B4-BE49-F238E27FC236}">
                <a16:creationId xmlns:a16="http://schemas.microsoft.com/office/drawing/2014/main" id="{92582806-0B6B-E956-69AE-2B8F40D5B39D}"/>
              </a:ext>
            </a:extLst>
          </p:cNvPr>
          <p:cNvGrpSpPr/>
          <p:nvPr/>
        </p:nvGrpSpPr>
        <p:grpSpPr>
          <a:xfrm>
            <a:off x="596515" y="1681027"/>
            <a:ext cx="8749098" cy="266602"/>
            <a:chOff x="802640" y="2236632"/>
            <a:chExt cx="4130805" cy="266552"/>
          </a:xfrm>
        </p:grpSpPr>
        <p:sp>
          <p:nvSpPr>
            <p:cNvPr id="39" name="ListLeanHorizontalTextTopic0">
              <a:extLst>
                <a:ext uri="{FF2B5EF4-FFF2-40B4-BE49-F238E27FC236}">
                  <a16:creationId xmlns:a16="http://schemas.microsoft.com/office/drawing/2014/main" id="{62694DF0-6195-1E88-9FC5-C19DF357E57A}"/>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AI </a:t>
              </a:r>
              <a:r>
                <a:rPr kumimoji="0" lang="ko-KR" altLang="en-US" sz="1400" b="0" i="0" u="none" strike="noStrike" kern="0" cap="none" spc="0" normalizeH="0" baseline="0" noProof="0" err="1">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리터러시</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정의 및 교육과정 개발 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40" name="Horizontal Line">
              <a:extLst>
                <a:ext uri="{FF2B5EF4-FFF2-40B4-BE49-F238E27FC236}">
                  <a16:creationId xmlns:a16="http://schemas.microsoft.com/office/drawing/2014/main" id="{6FC942B8-1C0E-66DF-D0F5-A83B538B218A}"/>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1" name="직사각형 40"/>
          <p:cNvSpPr/>
          <p:nvPr/>
        </p:nvSpPr>
        <p:spPr>
          <a:xfrm>
            <a:off x="585371" y="2087609"/>
            <a:ext cx="4164893"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Arial Narrow" panose="020B0606020202030204" pitchFamily="34" charset="0"/>
                <a:ea typeface="a고딕14" panose="02020600000000000000" pitchFamily="18" charset="-127"/>
              </a:rPr>
              <a:t>자문회의 결과</a:t>
            </a:r>
            <a:endParaRPr lang="en-US" altLang="ko-KR" dirty="0">
              <a:solidFill>
                <a:schemeClr val="bg1"/>
              </a:solidFill>
              <a:latin typeface="Arial Narrow" panose="020B0606020202030204" pitchFamily="34" charset="0"/>
              <a:ea typeface="a고딕14" panose="02020600000000000000" pitchFamily="18" charset="-127"/>
            </a:endParaRPr>
          </a:p>
        </p:txBody>
      </p:sp>
      <p:graphicFrame>
        <p:nvGraphicFramePr>
          <p:cNvPr id="42" name="표 41">
            <a:extLst>
              <a:ext uri="{FF2B5EF4-FFF2-40B4-BE49-F238E27FC236}">
                <a16:creationId xmlns:a16="http://schemas.microsoft.com/office/drawing/2014/main" id="{99520F03-AE39-178E-C222-433C261005A8}"/>
              </a:ext>
            </a:extLst>
          </p:cNvPr>
          <p:cNvGraphicFramePr>
            <a:graphicFrameLocks noGrp="1"/>
          </p:cNvGraphicFramePr>
          <p:nvPr>
            <p:extLst>
              <p:ext uri="{D42A27DB-BD31-4B8C-83A1-F6EECF244321}">
                <p14:modId xmlns:p14="http://schemas.microsoft.com/office/powerpoint/2010/main" val="2251797885"/>
              </p:ext>
            </p:extLst>
          </p:nvPr>
        </p:nvGraphicFramePr>
        <p:xfrm>
          <a:off x="5163366" y="2538900"/>
          <a:ext cx="4181319" cy="1461480"/>
        </p:xfrm>
        <a:graphic>
          <a:graphicData uri="http://schemas.openxmlformats.org/drawingml/2006/table">
            <a:tbl>
              <a:tblPr firstRow="1" bandRow="1">
                <a:tableStyleId>{5C22544A-7EE6-4342-B048-85BDC9FD1C3A}</a:tableStyleId>
              </a:tblPr>
              <a:tblGrid>
                <a:gridCol w="689734">
                  <a:extLst>
                    <a:ext uri="{9D8B030D-6E8A-4147-A177-3AD203B41FA5}">
                      <a16:colId xmlns:a16="http://schemas.microsoft.com/office/drawing/2014/main" val="297393405"/>
                    </a:ext>
                  </a:extLst>
                </a:gridCol>
                <a:gridCol w="2952328">
                  <a:extLst>
                    <a:ext uri="{9D8B030D-6E8A-4147-A177-3AD203B41FA5}">
                      <a16:colId xmlns:a16="http://schemas.microsoft.com/office/drawing/2014/main" val="351509445"/>
                    </a:ext>
                  </a:extLst>
                </a:gridCol>
                <a:gridCol w="539257">
                  <a:extLst>
                    <a:ext uri="{9D8B030D-6E8A-4147-A177-3AD203B41FA5}">
                      <a16:colId xmlns:a16="http://schemas.microsoft.com/office/drawing/2014/main" val="3815713858"/>
                    </a:ext>
                  </a:extLst>
                </a:gridCol>
              </a:tblGrid>
              <a:tr h="210585">
                <a:tc>
                  <a:txBody>
                    <a:bodyPr/>
                    <a:lstStyle/>
                    <a:p>
                      <a:pPr algn="ctr" latinLnBrk="1"/>
                      <a:r>
                        <a:rPr lang="ko-KR" altLang="en-US" sz="1100" b="0" dirty="0">
                          <a:solidFill>
                            <a:sysClr val="windowText" lastClr="000000"/>
                          </a:solidFill>
                          <a:latin typeface="+mj-ea"/>
                          <a:ea typeface="+mj-ea"/>
                        </a:rPr>
                        <a:t>기준</a:t>
                      </a:r>
                    </a:p>
                  </a:txBody>
                  <a:tcPr marL="36000" marR="36000" marT="36000" marB="36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ko-KR" altLang="en-US" sz="1100" b="0">
                          <a:solidFill>
                            <a:sysClr val="windowText" lastClr="000000"/>
                          </a:solidFill>
                          <a:latin typeface="+mj-ea"/>
                          <a:ea typeface="+mj-ea"/>
                        </a:rPr>
                        <a:t>설명</a:t>
                      </a:r>
                      <a:endParaRPr lang="ko-KR" altLang="en-US" sz="1100" b="0" dirty="0">
                        <a:solidFill>
                          <a:sysClr val="windowText" lastClr="000000"/>
                        </a:solidFill>
                        <a:latin typeface="+mj-ea"/>
                        <a:ea typeface="+mj-ea"/>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ko-KR" altLang="en-US" sz="1100" b="0">
                          <a:solidFill>
                            <a:sysClr val="windowText" lastClr="000000"/>
                          </a:solidFill>
                          <a:latin typeface="+mj-ea"/>
                          <a:ea typeface="+mj-ea"/>
                        </a:rPr>
                        <a:t>성격</a:t>
                      </a:r>
                      <a:endParaRPr lang="ko-KR" altLang="en-US" sz="1100" b="0" dirty="0">
                        <a:solidFill>
                          <a:sysClr val="windowText" lastClr="000000"/>
                        </a:solidFill>
                        <a:latin typeface="+mj-ea"/>
                        <a:ea typeface="+mj-ea"/>
                      </a:endParaRPr>
                    </a:p>
                  </a:txBody>
                  <a:tcPr marL="36000" marR="36000" marT="36000" marB="36000" anchor="ctr">
                    <a:lnL w="3175"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11822037"/>
                  </a:ext>
                </a:extLst>
              </a:tr>
              <a:tr h="251749">
                <a:tc>
                  <a:txBody>
                    <a:bodyPr/>
                    <a:lstStyle/>
                    <a:p>
                      <a:pPr algn="ctr" latinLnBrk="1"/>
                      <a:r>
                        <a:rPr lang="ko-KR" altLang="en-US" sz="1100" b="0" dirty="0">
                          <a:solidFill>
                            <a:schemeClr val="tx1"/>
                          </a:solidFill>
                          <a:latin typeface="+mj-ea"/>
                          <a:ea typeface="+mj-ea"/>
                        </a:rPr>
                        <a:t>취업자 수</a:t>
                      </a:r>
                    </a:p>
                  </a:txBody>
                  <a:tcPr marL="36000" marR="36000" marT="36000" marB="36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0">
                        <a:buNone/>
                      </a:pPr>
                      <a:r>
                        <a:rPr lang="ko-KR" altLang="en-US" sz="1100" spc="-30" dirty="0">
                          <a:solidFill>
                            <a:schemeClr val="tx1"/>
                          </a:solidFill>
                          <a:latin typeface="Arial Narrow" panose="020B0606020202030204" pitchFamily="34" charset="0"/>
                          <a:ea typeface="a고딕14" panose="02020600000000000000" pitchFamily="18" charset="-127"/>
                        </a:rPr>
                        <a:t>학습자 수요와 산업별 인력 수급 전망을 고려하여 종사자 수가  최소 </a:t>
                      </a:r>
                      <a:r>
                        <a:rPr lang="en-US" altLang="ko-KR" sz="1100" spc="-30" dirty="0">
                          <a:solidFill>
                            <a:schemeClr val="tx1"/>
                          </a:solidFill>
                          <a:latin typeface="Arial Narrow" panose="020B0606020202030204" pitchFamily="34" charset="0"/>
                          <a:ea typeface="a고딕14" panose="02020600000000000000" pitchFamily="18" charset="-127"/>
                        </a:rPr>
                        <a:t>10</a:t>
                      </a:r>
                      <a:r>
                        <a:rPr lang="ko-KR" altLang="en-US" sz="1100" spc="-30" dirty="0" err="1">
                          <a:solidFill>
                            <a:schemeClr val="tx1"/>
                          </a:solidFill>
                          <a:latin typeface="Arial Narrow" panose="020B0606020202030204" pitchFamily="34" charset="0"/>
                          <a:ea typeface="a고딕14" panose="02020600000000000000" pitchFamily="18" charset="-127"/>
                        </a:rPr>
                        <a:t>만명</a:t>
                      </a:r>
                      <a:r>
                        <a:rPr lang="ko-KR" altLang="en-US" sz="1100" spc="-30" dirty="0">
                          <a:solidFill>
                            <a:schemeClr val="tx1"/>
                          </a:solidFill>
                          <a:latin typeface="Arial Narrow" panose="020B0606020202030204" pitchFamily="34" charset="0"/>
                          <a:ea typeface="a고딕14" panose="02020600000000000000" pitchFamily="18" charset="-127"/>
                        </a:rPr>
                        <a:t> 이상인 분야 </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0">
                        <a:buNone/>
                      </a:pPr>
                      <a:r>
                        <a:rPr lang="ko-KR" altLang="en-US" sz="1100" spc="-30">
                          <a:solidFill>
                            <a:schemeClr val="tx1"/>
                          </a:solidFill>
                          <a:latin typeface="Arial Narrow" panose="020B0606020202030204" pitchFamily="34" charset="0"/>
                          <a:ea typeface="a고딕14" panose="02020600000000000000" pitchFamily="18" charset="-127"/>
                        </a:rPr>
                        <a:t>정량</a:t>
                      </a:r>
                      <a:endParaRPr lang="ko-KR" altLang="en-US" sz="1100" spc="-30" dirty="0">
                        <a:solidFill>
                          <a:schemeClr val="tx1"/>
                        </a:solidFill>
                        <a:latin typeface="Arial Narrow" panose="020B0606020202030204" pitchFamily="34" charset="0"/>
                        <a:ea typeface="a고딕14" panose="02020600000000000000" pitchFamily="18" charset="-127"/>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9529102"/>
                  </a:ext>
                </a:extLst>
              </a:tr>
              <a:tr h="251749">
                <a:tc>
                  <a:txBody>
                    <a:bodyPr/>
                    <a:lstStyle/>
                    <a:p>
                      <a:pPr algn="ctr" latinLnBrk="1"/>
                      <a:r>
                        <a:rPr lang="en-US" altLang="ko-KR" sz="1100" b="0">
                          <a:solidFill>
                            <a:schemeClr val="tx1"/>
                          </a:solidFill>
                          <a:latin typeface="+mj-ea"/>
                          <a:ea typeface="+mj-ea"/>
                        </a:rPr>
                        <a:t>Data </a:t>
                      </a:r>
                    </a:p>
                    <a:p>
                      <a:pPr algn="ctr" latinLnBrk="1"/>
                      <a:r>
                        <a:rPr lang="ko-KR" altLang="en-US" sz="1100" b="0">
                          <a:solidFill>
                            <a:schemeClr val="tx1"/>
                          </a:solidFill>
                          <a:latin typeface="+mj-ea"/>
                          <a:ea typeface="+mj-ea"/>
                        </a:rPr>
                        <a:t>활용성</a:t>
                      </a:r>
                      <a:endParaRPr lang="ko-KR" altLang="en-US" sz="1100" b="0" dirty="0">
                        <a:solidFill>
                          <a:schemeClr val="tx1"/>
                        </a:solidFill>
                        <a:latin typeface="+mj-ea"/>
                        <a:ea typeface="+mj-ea"/>
                      </a:endParaRPr>
                    </a:p>
                  </a:txBody>
                  <a:tcPr marL="36000" marR="36000" marT="36000" marB="36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ko-KR" sz="1100">
                          <a:solidFill>
                            <a:schemeClr val="tx1"/>
                          </a:solidFill>
                          <a:latin typeface="Arial Narrow" panose="020B0606020202030204" pitchFamily="34" charset="0"/>
                          <a:ea typeface="a고딕14" panose="02020600000000000000" pitchFamily="18" charset="-127"/>
                        </a:rPr>
                        <a:t>AI</a:t>
                      </a:r>
                      <a:r>
                        <a:rPr lang="ko-KR" altLang="en-US" sz="1100">
                          <a:solidFill>
                            <a:schemeClr val="tx1"/>
                          </a:solidFill>
                          <a:latin typeface="Arial Narrow" panose="020B0606020202030204" pitchFamily="34" charset="0"/>
                          <a:ea typeface="a고딕14" panose="02020600000000000000" pitchFamily="18" charset="-127"/>
                        </a:rPr>
                        <a:t>를 활용하기 위해 데이터의 접근성이 용이하고</a:t>
                      </a:r>
                      <a:r>
                        <a:rPr lang="en-US" altLang="ko-KR" sz="1100">
                          <a:solidFill>
                            <a:schemeClr val="tx1"/>
                          </a:solidFill>
                          <a:latin typeface="Arial Narrow" panose="020B0606020202030204" pitchFamily="34" charset="0"/>
                          <a:ea typeface="a고딕14" panose="02020600000000000000" pitchFamily="18" charset="-127"/>
                        </a:rPr>
                        <a:t> </a:t>
                      </a:r>
                      <a:r>
                        <a:rPr lang="ko-KR" altLang="en-US" sz="1100">
                          <a:solidFill>
                            <a:schemeClr val="tx1"/>
                          </a:solidFill>
                          <a:latin typeface="Arial Narrow" panose="020B0606020202030204" pitchFamily="34" charset="0"/>
                          <a:ea typeface="a고딕14" panose="02020600000000000000" pitchFamily="18" charset="-127"/>
                        </a:rPr>
                        <a:t>데이터량이 많은 분야 </a:t>
                      </a:r>
                      <a:endParaRPr lang="en-US" altLang="ko-KR" sz="1100">
                        <a:solidFill>
                          <a:schemeClr val="tx1"/>
                        </a:solidFill>
                        <a:latin typeface="Arial Narrow" panose="020B0606020202030204" pitchFamily="34" charset="0"/>
                        <a:ea typeface="a고딕14" panose="02020600000000000000" pitchFamily="18" charset="-127"/>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100">
                          <a:solidFill>
                            <a:schemeClr val="tx1"/>
                          </a:solidFill>
                          <a:latin typeface="Arial Narrow" panose="020B0606020202030204" pitchFamily="34" charset="0"/>
                          <a:ea typeface="a고딕14" panose="02020600000000000000" pitchFamily="18" charset="-127"/>
                        </a:rPr>
                        <a:t>정성</a:t>
                      </a:r>
                      <a:endParaRPr lang="en-US" altLang="ko-KR" sz="1100">
                        <a:solidFill>
                          <a:schemeClr val="tx1"/>
                        </a:solidFill>
                        <a:latin typeface="Arial Narrow" panose="020B0606020202030204" pitchFamily="34" charset="0"/>
                        <a:ea typeface="a고딕14" panose="02020600000000000000" pitchFamily="18" charset="-127"/>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262871"/>
                  </a:ext>
                </a:extLst>
              </a:tr>
              <a:tr h="251749">
                <a:tc>
                  <a:txBody>
                    <a:bodyPr/>
                    <a:lstStyle/>
                    <a:p>
                      <a:pPr algn="ctr" latinLnBrk="1"/>
                      <a:r>
                        <a:rPr lang="en-US" altLang="ko-KR" sz="1100" b="0">
                          <a:solidFill>
                            <a:schemeClr val="tx1"/>
                          </a:solidFill>
                          <a:latin typeface="+mj-ea"/>
                          <a:ea typeface="+mj-ea"/>
                        </a:rPr>
                        <a:t>AI </a:t>
                      </a:r>
                    </a:p>
                    <a:p>
                      <a:pPr algn="ctr" latinLnBrk="1"/>
                      <a:r>
                        <a:rPr lang="ko-KR" altLang="en-US" sz="1100" b="0">
                          <a:solidFill>
                            <a:schemeClr val="tx1"/>
                          </a:solidFill>
                          <a:latin typeface="+mj-ea"/>
                          <a:ea typeface="+mj-ea"/>
                        </a:rPr>
                        <a:t>적용적합성</a:t>
                      </a:r>
                      <a:endParaRPr lang="ko-KR" altLang="en-US" sz="1100" b="0" dirty="0">
                        <a:solidFill>
                          <a:schemeClr val="tx1"/>
                        </a:solidFill>
                        <a:latin typeface="+mj-ea"/>
                        <a:ea typeface="+mj-ea"/>
                      </a:endParaRPr>
                    </a:p>
                  </a:txBody>
                  <a:tcPr marL="36000" marR="36000" marT="36000" marB="360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ko-KR" sz="1100">
                          <a:solidFill>
                            <a:schemeClr val="tx1"/>
                          </a:solidFill>
                          <a:latin typeface="Arial Narrow" panose="020B0606020202030204" pitchFamily="34" charset="0"/>
                          <a:ea typeface="a고딕14" panose="02020600000000000000" pitchFamily="18" charset="-127"/>
                        </a:rPr>
                        <a:t>AI </a:t>
                      </a:r>
                      <a:r>
                        <a:rPr lang="ko-KR" altLang="en-US" sz="1100">
                          <a:solidFill>
                            <a:schemeClr val="tx1"/>
                          </a:solidFill>
                          <a:latin typeface="Arial Narrow" panose="020B0606020202030204" pitchFamily="34" charset="0"/>
                          <a:ea typeface="a고딕14" panose="02020600000000000000" pitchFamily="18" charset="-127"/>
                        </a:rPr>
                        <a:t>리터러시 정의에 따라 </a:t>
                      </a:r>
                      <a:endParaRPr lang="en-US" altLang="ko-KR" sz="1100">
                        <a:solidFill>
                          <a:schemeClr val="tx1"/>
                        </a:solidFill>
                        <a:latin typeface="Arial Narrow" panose="020B0606020202030204" pitchFamily="34" charset="0"/>
                        <a:ea typeface="a고딕14" panose="02020600000000000000" pitchFamily="18" charset="-127"/>
                      </a:endParaRPr>
                    </a:p>
                    <a:p>
                      <a:pPr marL="0" marR="0" indent="0" algn="ctr" defTabSz="914400" rtl="0" eaLnBrk="1" fontAlgn="auto" latinLnBrk="0" hangingPunct="1">
                        <a:lnSpc>
                          <a:spcPct val="100000"/>
                        </a:lnSpc>
                        <a:spcBef>
                          <a:spcPts val="0"/>
                        </a:spcBef>
                        <a:spcAft>
                          <a:spcPts val="0"/>
                        </a:spcAft>
                        <a:buClrTx/>
                        <a:buSzTx/>
                        <a:buFontTx/>
                        <a:buNone/>
                        <a:tabLst/>
                        <a:defRPr/>
                      </a:pPr>
                      <a:r>
                        <a:rPr lang="ko-KR" altLang="en-US" sz="1100">
                          <a:solidFill>
                            <a:schemeClr val="tx1"/>
                          </a:solidFill>
                          <a:latin typeface="Arial Narrow" panose="020B0606020202030204" pitchFamily="34" charset="0"/>
                          <a:ea typeface="a고딕14" panose="02020600000000000000" pitchFamily="18" charset="-127"/>
                        </a:rPr>
                        <a:t>현재 실무에서 </a:t>
                      </a:r>
                      <a:r>
                        <a:rPr lang="en-US" altLang="ko-KR" sz="1100">
                          <a:solidFill>
                            <a:schemeClr val="tx1"/>
                          </a:solidFill>
                          <a:latin typeface="Arial Narrow" panose="020B0606020202030204" pitchFamily="34" charset="0"/>
                          <a:ea typeface="a고딕14" panose="02020600000000000000" pitchFamily="18" charset="-127"/>
                        </a:rPr>
                        <a:t>AI</a:t>
                      </a:r>
                      <a:r>
                        <a:rPr lang="ko-KR" altLang="en-US" sz="1100">
                          <a:solidFill>
                            <a:schemeClr val="tx1"/>
                          </a:solidFill>
                          <a:latin typeface="Arial Narrow" panose="020B0606020202030204" pitchFamily="34" charset="0"/>
                          <a:ea typeface="a고딕14" panose="02020600000000000000" pitchFamily="18" charset="-127"/>
                        </a:rPr>
                        <a:t>를 활용하고 있는 분야</a:t>
                      </a:r>
                      <a:endParaRPr lang="en-US" altLang="ko-KR" sz="1100">
                        <a:solidFill>
                          <a:schemeClr val="tx1"/>
                        </a:solidFill>
                        <a:latin typeface="Arial Narrow" panose="020B0606020202030204" pitchFamily="34" charset="0"/>
                        <a:ea typeface="a고딕14" panose="02020600000000000000" pitchFamily="18" charset="-127"/>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100" dirty="0">
                          <a:solidFill>
                            <a:schemeClr val="tx1"/>
                          </a:solidFill>
                          <a:latin typeface="Arial Narrow" panose="020B0606020202030204" pitchFamily="34" charset="0"/>
                          <a:ea typeface="a고딕14" panose="02020600000000000000" pitchFamily="18" charset="-127"/>
                        </a:rPr>
                        <a:t>정성</a:t>
                      </a:r>
                      <a:endParaRPr lang="en-US" altLang="ko-KR" sz="1100" dirty="0">
                        <a:solidFill>
                          <a:schemeClr val="tx1"/>
                        </a:solidFill>
                        <a:latin typeface="Arial Narrow" panose="020B0606020202030204" pitchFamily="34" charset="0"/>
                        <a:ea typeface="a고딕14" panose="02020600000000000000" pitchFamily="18" charset="-127"/>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4380026"/>
                  </a:ext>
                </a:extLst>
              </a:tr>
            </a:tbl>
          </a:graphicData>
        </a:graphic>
      </p:graphicFrame>
      <p:sp>
        <p:nvSpPr>
          <p:cNvPr id="43" name="직사각형 42">
            <a:extLst>
              <a:ext uri="{FF2B5EF4-FFF2-40B4-BE49-F238E27FC236}">
                <a16:creationId xmlns:a16="http://schemas.microsoft.com/office/drawing/2014/main" id="{F4E84E68-A6F0-4FB3-AB3B-B09E4859C2CD}"/>
              </a:ext>
            </a:extLst>
          </p:cNvPr>
          <p:cNvSpPr/>
          <p:nvPr/>
        </p:nvSpPr>
        <p:spPr>
          <a:xfrm>
            <a:off x="5568809" y="4611056"/>
            <a:ext cx="1191070" cy="4032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ko-KR" altLang="en-US" sz="1050">
                <a:solidFill>
                  <a:schemeClr val="tx1"/>
                </a:solidFill>
                <a:latin typeface="a고딕14" panose="02020600000000000000" pitchFamily="18" charset="-127"/>
                <a:ea typeface="a고딕14" panose="02020600000000000000" pitchFamily="18" charset="-127"/>
              </a:rPr>
              <a:t>연구진</a:t>
            </a:r>
            <a:r>
              <a:rPr lang="en-US" altLang="ko-KR" sz="1050">
                <a:solidFill>
                  <a:schemeClr val="tx1"/>
                </a:solidFill>
                <a:latin typeface="a고딕14" panose="02020600000000000000" pitchFamily="18" charset="-127"/>
                <a:ea typeface="a고딕14" panose="02020600000000000000" pitchFamily="18" charset="-127"/>
              </a:rPr>
              <a:t>, </a:t>
            </a:r>
            <a:r>
              <a:rPr lang="ko-KR" altLang="en-US" sz="1050">
                <a:solidFill>
                  <a:schemeClr val="tx1"/>
                </a:solidFill>
                <a:latin typeface="a고딕14" panose="02020600000000000000" pitchFamily="18" charset="-127"/>
                <a:ea typeface="a고딕14" panose="02020600000000000000" pitchFamily="18" charset="-127"/>
              </a:rPr>
              <a:t>분야별 전문가</a:t>
            </a:r>
            <a:r>
              <a:rPr lang="en-US" altLang="ko-KR" sz="1050">
                <a:solidFill>
                  <a:schemeClr val="tx1"/>
                </a:solidFill>
                <a:latin typeface="a고딕14" panose="02020600000000000000" pitchFamily="18" charset="-127"/>
                <a:ea typeface="a고딕14" panose="02020600000000000000" pitchFamily="18" charset="-127"/>
              </a:rPr>
              <a:t>, AI </a:t>
            </a:r>
            <a:r>
              <a:rPr lang="ko-KR" altLang="en-US" sz="1050">
                <a:solidFill>
                  <a:schemeClr val="tx1"/>
                </a:solidFill>
                <a:latin typeface="a고딕14" panose="02020600000000000000" pitchFamily="18" charset="-127"/>
                <a:ea typeface="a고딕14" panose="02020600000000000000" pitchFamily="18" charset="-127"/>
              </a:rPr>
              <a:t>전문가</a:t>
            </a:r>
          </a:p>
        </p:txBody>
      </p:sp>
      <p:sp>
        <p:nvSpPr>
          <p:cNvPr id="44" name="직사각형 43">
            <a:extLst>
              <a:ext uri="{FF2B5EF4-FFF2-40B4-BE49-F238E27FC236}">
                <a16:creationId xmlns:a16="http://schemas.microsoft.com/office/drawing/2014/main" id="{F4E84E68-A6F0-4FB3-AB3B-B09E4859C2CD}"/>
              </a:ext>
            </a:extLst>
          </p:cNvPr>
          <p:cNvSpPr/>
          <p:nvPr/>
        </p:nvSpPr>
        <p:spPr>
          <a:xfrm>
            <a:off x="6861212" y="4611056"/>
            <a:ext cx="1191070" cy="4032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ko-KR" altLang="en-US" sz="1050">
                <a:solidFill>
                  <a:schemeClr val="tx1"/>
                </a:solidFill>
                <a:latin typeface="a고딕14" panose="02020600000000000000" pitchFamily="18" charset="-127"/>
                <a:ea typeface="a고딕14" panose="02020600000000000000" pitchFamily="18" charset="-127"/>
              </a:rPr>
              <a:t>분야별 전문가</a:t>
            </a:r>
          </a:p>
        </p:txBody>
      </p:sp>
      <p:sp>
        <p:nvSpPr>
          <p:cNvPr id="45" name="직사각형 44">
            <a:extLst>
              <a:ext uri="{FF2B5EF4-FFF2-40B4-BE49-F238E27FC236}">
                <a16:creationId xmlns:a16="http://schemas.microsoft.com/office/drawing/2014/main" id="{F4E84E68-A6F0-4FB3-AB3B-B09E4859C2CD}"/>
              </a:ext>
            </a:extLst>
          </p:cNvPr>
          <p:cNvSpPr/>
          <p:nvPr/>
        </p:nvSpPr>
        <p:spPr>
          <a:xfrm>
            <a:off x="8153615" y="4611056"/>
            <a:ext cx="1191070" cy="4032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en-US" altLang="ko-KR" sz="1050">
                <a:solidFill>
                  <a:schemeClr val="tx1"/>
                </a:solidFill>
                <a:latin typeface="a고딕14" panose="02020600000000000000" pitchFamily="18" charset="-127"/>
                <a:ea typeface="a고딕14" panose="02020600000000000000" pitchFamily="18" charset="-127"/>
              </a:rPr>
              <a:t>AI </a:t>
            </a:r>
            <a:r>
              <a:rPr lang="ko-KR" altLang="en-US" sz="1050">
                <a:solidFill>
                  <a:schemeClr val="tx1"/>
                </a:solidFill>
                <a:latin typeface="a고딕14" panose="02020600000000000000" pitchFamily="18" charset="-127"/>
                <a:ea typeface="a고딕14" panose="02020600000000000000" pitchFamily="18" charset="-127"/>
              </a:rPr>
              <a:t>전문가</a:t>
            </a:r>
          </a:p>
        </p:txBody>
      </p:sp>
      <p:sp>
        <p:nvSpPr>
          <p:cNvPr id="46" name="직사각형 45">
            <a:extLst>
              <a:ext uri="{FF2B5EF4-FFF2-40B4-BE49-F238E27FC236}">
                <a16:creationId xmlns:a16="http://schemas.microsoft.com/office/drawing/2014/main" id="{F4E84E68-A6F0-4FB3-AB3B-B09E4859C2CD}"/>
              </a:ext>
            </a:extLst>
          </p:cNvPr>
          <p:cNvSpPr/>
          <p:nvPr/>
        </p:nvSpPr>
        <p:spPr>
          <a:xfrm>
            <a:off x="5568809" y="5073039"/>
            <a:ext cx="1191998" cy="14163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71450" indent="-171450" algn="l" latinLnBrk="0">
              <a:spcAft>
                <a:spcPts val="0"/>
              </a:spcAft>
              <a:buFont typeface="Arial" panose="020B0604020202020204" pitchFamily="34" charset="0"/>
              <a:buChar char="•"/>
              <a:defRPr/>
            </a:pPr>
            <a:r>
              <a:rPr lang="en-US" altLang="ko-KR" sz="1050">
                <a:solidFill>
                  <a:schemeClr val="tx1"/>
                </a:solidFill>
                <a:latin typeface="a고딕14" panose="02020600000000000000" pitchFamily="18" charset="-127"/>
                <a:ea typeface="a고딕14" panose="02020600000000000000" pitchFamily="18" charset="-127"/>
              </a:rPr>
              <a:t>AI </a:t>
            </a:r>
            <a:r>
              <a:rPr lang="ko-KR" altLang="en-US" sz="1050">
                <a:solidFill>
                  <a:schemeClr val="tx1"/>
                </a:solidFill>
                <a:latin typeface="a고딕14" panose="02020600000000000000" pitchFamily="18" charset="-127"/>
                <a:ea typeface="a고딕14" panose="02020600000000000000" pitchFamily="18" charset="-127"/>
              </a:rPr>
              <a:t>트렌드가 빠르게 바뀌는 사항을 고려한 기준 설정</a:t>
            </a:r>
            <a:endParaRPr lang="en-US" altLang="ko-KR" sz="1050">
              <a:solidFill>
                <a:schemeClr val="tx1"/>
              </a:solidFill>
              <a:latin typeface="a고딕14" panose="02020600000000000000" pitchFamily="18" charset="-127"/>
              <a:ea typeface="a고딕14" panose="02020600000000000000" pitchFamily="18" charset="-127"/>
            </a:endParaRPr>
          </a:p>
          <a:p>
            <a:pPr marL="171450" indent="-171450" algn="l" latinLnBrk="0">
              <a:spcAft>
                <a:spcPts val="0"/>
              </a:spcAft>
              <a:buFont typeface="Arial" panose="020B0604020202020204" pitchFamily="34" charset="0"/>
              <a:buChar char="•"/>
              <a:defRPr/>
            </a:pPr>
            <a:r>
              <a:rPr lang="ko-KR" altLang="en-US" sz="1050">
                <a:solidFill>
                  <a:schemeClr val="tx1"/>
                </a:solidFill>
                <a:latin typeface="a고딕14" panose="02020600000000000000" pitchFamily="18" charset="-127"/>
                <a:ea typeface="a고딕14" panose="02020600000000000000" pitchFamily="18" charset="-127"/>
              </a:rPr>
              <a:t>수요</a:t>
            </a:r>
            <a:r>
              <a:rPr lang="en-US" altLang="ko-KR" sz="1050">
                <a:solidFill>
                  <a:schemeClr val="tx1"/>
                </a:solidFill>
                <a:latin typeface="a고딕14" panose="02020600000000000000" pitchFamily="18" charset="-127"/>
                <a:ea typeface="a고딕14" panose="02020600000000000000" pitchFamily="18" charset="-127"/>
              </a:rPr>
              <a:t>, </a:t>
            </a:r>
            <a:r>
              <a:rPr lang="ko-KR" altLang="en-US" sz="1050">
                <a:solidFill>
                  <a:schemeClr val="tx1"/>
                </a:solidFill>
                <a:latin typeface="a고딕14" panose="02020600000000000000" pitchFamily="18" charset="-127"/>
                <a:ea typeface="a고딕14" panose="02020600000000000000" pitchFamily="18" charset="-127"/>
              </a:rPr>
              <a:t>접근성 등을 반영하여 최종 </a:t>
            </a:r>
            <a:r>
              <a:rPr lang="en-US" altLang="ko-KR" sz="1050">
                <a:solidFill>
                  <a:schemeClr val="tx1"/>
                </a:solidFill>
                <a:latin typeface="a고딕14" panose="02020600000000000000" pitchFamily="18" charset="-127"/>
                <a:ea typeface="a고딕14" panose="02020600000000000000" pitchFamily="18" charset="-127"/>
              </a:rPr>
              <a:t>6</a:t>
            </a:r>
            <a:r>
              <a:rPr lang="ko-KR" altLang="en-US" sz="1050">
                <a:solidFill>
                  <a:schemeClr val="tx1"/>
                </a:solidFill>
                <a:latin typeface="a고딕14" panose="02020600000000000000" pitchFamily="18" charset="-127"/>
                <a:ea typeface="a고딕14" panose="02020600000000000000" pitchFamily="18" charset="-127"/>
              </a:rPr>
              <a:t>개 분야 직업군 선정</a:t>
            </a:r>
          </a:p>
        </p:txBody>
      </p:sp>
      <p:sp>
        <p:nvSpPr>
          <p:cNvPr id="47" name="직사각형 46">
            <a:extLst>
              <a:ext uri="{FF2B5EF4-FFF2-40B4-BE49-F238E27FC236}">
                <a16:creationId xmlns:a16="http://schemas.microsoft.com/office/drawing/2014/main" id="{F4E84E68-A6F0-4FB3-AB3B-B09E4859C2CD}"/>
              </a:ext>
            </a:extLst>
          </p:cNvPr>
          <p:cNvSpPr/>
          <p:nvPr/>
        </p:nvSpPr>
        <p:spPr>
          <a:xfrm>
            <a:off x="6861212" y="5073039"/>
            <a:ext cx="1191998" cy="14163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71450" indent="-171450" algn="l" latinLnBrk="0">
              <a:spcAft>
                <a:spcPts val="0"/>
              </a:spcAft>
              <a:buFont typeface="Arial" panose="020B0604020202020204" pitchFamily="34" charset="0"/>
              <a:buChar char="•"/>
              <a:defRPr/>
            </a:pPr>
            <a:r>
              <a:rPr lang="ko-KR" altLang="en-US" sz="1050">
                <a:solidFill>
                  <a:schemeClr val="tx1"/>
                </a:solidFill>
                <a:latin typeface="a고딕14" panose="02020600000000000000" pitchFamily="18" charset="-127"/>
                <a:ea typeface="a고딕14" panose="02020600000000000000" pitchFamily="18" charset="-127"/>
              </a:rPr>
              <a:t>실제 직업군의 적용 및 활용성을 위해 분야별 전문가를 활용하여 </a:t>
            </a:r>
            <a:r>
              <a:rPr lang="en-US" altLang="ko-KR" sz="1050">
                <a:solidFill>
                  <a:schemeClr val="tx1"/>
                </a:solidFill>
                <a:latin typeface="a고딕14" panose="02020600000000000000" pitchFamily="18" charset="-127"/>
                <a:ea typeface="a고딕14" panose="02020600000000000000" pitchFamily="18" charset="-127"/>
              </a:rPr>
              <a:t>AI </a:t>
            </a:r>
            <a:r>
              <a:rPr lang="ko-KR" altLang="en-US" sz="1050">
                <a:solidFill>
                  <a:schemeClr val="tx1"/>
                </a:solidFill>
                <a:latin typeface="a고딕14" panose="02020600000000000000" pitchFamily="18" charset="-127"/>
                <a:ea typeface="a고딕14" panose="02020600000000000000" pitchFamily="18" charset="-127"/>
              </a:rPr>
              <a:t>리터러시 교육과정 개발</a:t>
            </a:r>
          </a:p>
        </p:txBody>
      </p:sp>
      <p:sp>
        <p:nvSpPr>
          <p:cNvPr id="48" name="직사각형 47">
            <a:extLst>
              <a:ext uri="{FF2B5EF4-FFF2-40B4-BE49-F238E27FC236}">
                <a16:creationId xmlns:a16="http://schemas.microsoft.com/office/drawing/2014/main" id="{F4E84E68-A6F0-4FB3-AB3B-B09E4859C2CD}"/>
              </a:ext>
            </a:extLst>
          </p:cNvPr>
          <p:cNvSpPr/>
          <p:nvPr/>
        </p:nvSpPr>
        <p:spPr>
          <a:xfrm>
            <a:off x="8153615" y="5073039"/>
            <a:ext cx="1191998" cy="141630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171450" indent="-171450" algn="l" latinLnBrk="0">
              <a:spcAft>
                <a:spcPts val="0"/>
              </a:spcAft>
              <a:buFont typeface="Arial" panose="020B0604020202020204" pitchFamily="34" charset="0"/>
              <a:buChar char="•"/>
              <a:defRPr/>
            </a:pPr>
            <a:r>
              <a:rPr lang="ko-KR" altLang="en-US" sz="1050">
                <a:solidFill>
                  <a:schemeClr val="tx1"/>
                </a:solidFill>
                <a:latin typeface="a고딕14" panose="02020600000000000000" pitchFamily="18" charset="-127"/>
                <a:ea typeface="a고딕14" panose="02020600000000000000" pitchFamily="18" charset="-127"/>
              </a:rPr>
              <a:t>최종 선정된 분야별로 개발된 </a:t>
            </a:r>
            <a:r>
              <a:rPr lang="en-US" altLang="ko-KR" sz="1050">
                <a:solidFill>
                  <a:schemeClr val="tx1"/>
                </a:solidFill>
                <a:latin typeface="a고딕14" panose="02020600000000000000" pitchFamily="18" charset="-127"/>
                <a:ea typeface="a고딕14" panose="02020600000000000000" pitchFamily="18" charset="-127"/>
              </a:rPr>
              <a:t>AI </a:t>
            </a:r>
            <a:r>
              <a:rPr lang="ko-KR" altLang="en-US" sz="1050">
                <a:solidFill>
                  <a:schemeClr val="tx1"/>
                </a:solidFill>
                <a:latin typeface="a고딕14" panose="02020600000000000000" pitchFamily="18" charset="-127"/>
                <a:ea typeface="a고딕14" panose="02020600000000000000" pitchFamily="18" charset="-127"/>
              </a:rPr>
              <a:t>리터러시 교육과정에 대해 </a:t>
            </a:r>
            <a:r>
              <a:rPr lang="en-US" altLang="ko-KR" sz="1050">
                <a:solidFill>
                  <a:schemeClr val="tx1"/>
                </a:solidFill>
                <a:latin typeface="a고딕14" panose="02020600000000000000" pitchFamily="18" charset="-127"/>
                <a:ea typeface="a고딕14" panose="02020600000000000000" pitchFamily="18" charset="-127"/>
              </a:rPr>
              <a:t>AI </a:t>
            </a:r>
            <a:r>
              <a:rPr lang="ko-KR" altLang="en-US" sz="1050">
                <a:solidFill>
                  <a:schemeClr val="tx1"/>
                </a:solidFill>
                <a:latin typeface="a고딕14" panose="02020600000000000000" pitchFamily="18" charset="-127"/>
                <a:ea typeface="a고딕14" panose="02020600000000000000" pitchFamily="18" charset="-127"/>
              </a:rPr>
              <a:t>전문가 검토</a:t>
            </a:r>
          </a:p>
        </p:txBody>
      </p:sp>
      <p:sp>
        <p:nvSpPr>
          <p:cNvPr id="49" name="직사각형 48">
            <a:extLst>
              <a:ext uri="{FF2B5EF4-FFF2-40B4-BE49-F238E27FC236}">
                <a16:creationId xmlns:a16="http://schemas.microsoft.com/office/drawing/2014/main" id="{F4E84E68-A6F0-4FB3-AB3B-B09E4859C2CD}"/>
              </a:ext>
            </a:extLst>
          </p:cNvPr>
          <p:cNvSpPr/>
          <p:nvPr/>
        </p:nvSpPr>
        <p:spPr>
          <a:xfrm>
            <a:off x="5122372" y="4151484"/>
            <a:ext cx="391813" cy="403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ko-KR" altLang="en-US" sz="1100" i="1" dirty="0">
                <a:solidFill>
                  <a:schemeClr val="tx1"/>
                </a:solidFill>
                <a:latin typeface="a고딕14" panose="02020600000000000000" pitchFamily="18" charset="-127"/>
                <a:ea typeface="a고딕14" panose="02020600000000000000" pitchFamily="18" charset="-127"/>
              </a:rPr>
              <a:t>절차</a:t>
            </a:r>
          </a:p>
        </p:txBody>
      </p:sp>
      <p:sp>
        <p:nvSpPr>
          <p:cNvPr id="50" name="직사각형 49">
            <a:extLst>
              <a:ext uri="{FF2B5EF4-FFF2-40B4-BE49-F238E27FC236}">
                <a16:creationId xmlns:a16="http://schemas.microsoft.com/office/drawing/2014/main" id="{F4E84E68-A6F0-4FB3-AB3B-B09E4859C2CD}"/>
              </a:ext>
            </a:extLst>
          </p:cNvPr>
          <p:cNvSpPr/>
          <p:nvPr/>
        </p:nvSpPr>
        <p:spPr>
          <a:xfrm>
            <a:off x="5122372" y="4611056"/>
            <a:ext cx="485905" cy="403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ko-KR" altLang="en-US" sz="1100" i="1">
                <a:solidFill>
                  <a:schemeClr val="tx1"/>
                </a:solidFill>
                <a:latin typeface="a고딕14" panose="02020600000000000000" pitchFamily="18" charset="-127"/>
                <a:ea typeface="a고딕14" panose="02020600000000000000" pitchFamily="18" charset="-127"/>
              </a:rPr>
              <a:t>참여자</a:t>
            </a:r>
          </a:p>
        </p:txBody>
      </p:sp>
      <p:sp>
        <p:nvSpPr>
          <p:cNvPr id="51" name="직사각형 50">
            <a:extLst>
              <a:ext uri="{FF2B5EF4-FFF2-40B4-BE49-F238E27FC236}">
                <a16:creationId xmlns:a16="http://schemas.microsoft.com/office/drawing/2014/main" id="{F4E84E68-A6F0-4FB3-AB3B-B09E4859C2CD}"/>
              </a:ext>
            </a:extLst>
          </p:cNvPr>
          <p:cNvSpPr/>
          <p:nvPr/>
        </p:nvSpPr>
        <p:spPr>
          <a:xfrm>
            <a:off x="5122372" y="5061323"/>
            <a:ext cx="391813" cy="403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latinLnBrk="0">
              <a:lnSpc>
                <a:spcPct val="120000"/>
              </a:lnSpc>
              <a:spcAft>
                <a:spcPts val="0"/>
              </a:spcAft>
              <a:buNone/>
              <a:defRPr/>
            </a:pPr>
            <a:r>
              <a:rPr lang="ko-KR" altLang="en-US" sz="1100" i="1">
                <a:solidFill>
                  <a:schemeClr val="tx1"/>
                </a:solidFill>
                <a:latin typeface="a고딕14" panose="02020600000000000000" pitchFamily="18" charset="-127"/>
                <a:ea typeface="a고딕14" panose="02020600000000000000" pitchFamily="18" charset="-127"/>
              </a:rPr>
              <a:t>내용</a:t>
            </a:r>
          </a:p>
        </p:txBody>
      </p:sp>
    </p:spTree>
    <p:extLst>
      <p:ext uri="{BB962C8B-B14F-4D97-AF65-F5344CB8AC3E}">
        <p14:creationId xmlns:p14="http://schemas.microsoft.com/office/powerpoint/2010/main" val="4004078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65E4-0946-5342-E4B1-7E627610E93C}"/>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46A4905-2D07-0E47-C07C-52E858B01781}"/>
              </a:ext>
            </a:extLst>
          </p:cNvPr>
          <p:cNvSpPr>
            <a:spLocks noGrp="1"/>
          </p:cNvSpPr>
          <p:nvPr>
            <p:ph type="body" sz="quarter" idx="12"/>
          </p:nvPr>
        </p:nvSpPr>
        <p:spPr/>
        <p:txBody>
          <a:bodyPr/>
          <a:lstStyle/>
          <a:p>
            <a:pPr latinLnBrk="0"/>
            <a:r>
              <a:rPr lang="ko-KR" altLang="en-US" dirty="0"/>
              <a:t>공통</a:t>
            </a:r>
            <a:r>
              <a:rPr lang="en-US" altLang="ko-KR" dirty="0"/>
              <a:t>/</a:t>
            </a:r>
            <a:r>
              <a:rPr lang="ko-KR" altLang="en-US" dirty="0"/>
              <a:t>기초</a:t>
            </a:r>
            <a:r>
              <a:rPr lang="en-US" altLang="ko-KR" dirty="0"/>
              <a:t>/</a:t>
            </a:r>
            <a:r>
              <a:rPr lang="ko-KR" altLang="en-US" dirty="0"/>
              <a:t>활용의 구분에 따른 </a:t>
            </a:r>
            <a:r>
              <a:rPr lang="en-US" altLang="ko-KR" dirty="0"/>
              <a:t>AI </a:t>
            </a:r>
            <a:r>
              <a:rPr lang="ko-KR" altLang="en-US" dirty="0" err="1"/>
              <a:t>리터러시</a:t>
            </a:r>
            <a:r>
              <a:rPr lang="ko-KR" altLang="en-US" dirty="0"/>
              <a:t> 교육과정은 총 </a:t>
            </a:r>
            <a:r>
              <a:rPr lang="en-US" altLang="ko-KR" dirty="0"/>
              <a:t>26</a:t>
            </a:r>
            <a:r>
              <a:rPr lang="ko-KR" altLang="en-US" dirty="0"/>
              <a:t>개 개발되었으며</a:t>
            </a:r>
            <a:r>
              <a:rPr lang="en-US" altLang="ko-KR" dirty="0"/>
              <a:t>, </a:t>
            </a:r>
            <a:r>
              <a:rPr lang="ko-KR" altLang="en-US" dirty="0"/>
              <a:t>추후 </a:t>
            </a:r>
            <a:r>
              <a:rPr lang="ko-KR" altLang="en-US" dirty="0" err="1"/>
              <a:t>온평원</a:t>
            </a:r>
            <a:r>
              <a:rPr lang="ko-KR" altLang="en-US" dirty="0"/>
              <a:t> </a:t>
            </a:r>
            <a:r>
              <a:rPr lang="en-US" altLang="ko-KR" dirty="0"/>
              <a:t>TF</a:t>
            </a:r>
            <a:r>
              <a:rPr lang="ko-KR" altLang="en-US" dirty="0"/>
              <a:t>의 피드백을 반영하여 최종 </a:t>
            </a:r>
            <a:r>
              <a:rPr lang="en-US" altLang="ko-KR" dirty="0"/>
              <a:t>AI </a:t>
            </a:r>
            <a:r>
              <a:rPr lang="ko-KR" altLang="en-US" dirty="0" err="1"/>
              <a:t>리터러시</a:t>
            </a:r>
            <a:r>
              <a:rPr lang="ko-KR" altLang="en-US" dirty="0"/>
              <a:t> 교육 </a:t>
            </a:r>
            <a:r>
              <a:rPr lang="ko-KR" altLang="en-US" dirty="0" err="1"/>
              <a:t>과정개요서를</a:t>
            </a:r>
            <a:r>
              <a:rPr lang="ko-KR" altLang="en-US" dirty="0"/>
              <a:t> 도출할 예정임</a:t>
            </a:r>
          </a:p>
        </p:txBody>
      </p:sp>
      <p:sp>
        <p:nvSpPr>
          <p:cNvPr id="5" name="텍스트 개체 틀 4">
            <a:extLst>
              <a:ext uri="{FF2B5EF4-FFF2-40B4-BE49-F238E27FC236}">
                <a16:creationId xmlns:a16="http://schemas.microsoft.com/office/drawing/2014/main" id="{5E5AB538-B36B-CA6B-C533-E532D9F1D3DE}"/>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Ⅲ. AI </a:t>
            </a:r>
            <a:r>
              <a:rPr lang="ko-KR" altLang="en-US" dirty="0" err="1">
                <a:latin typeface="+mn-ea"/>
              </a:rPr>
              <a:t>리터러시</a:t>
            </a:r>
            <a:r>
              <a:rPr lang="ko-KR" altLang="en-US" dirty="0">
                <a:latin typeface="+mn-ea"/>
              </a:rPr>
              <a:t> 교육과정 개발</a:t>
            </a:r>
          </a:p>
        </p:txBody>
      </p:sp>
      <p:sp>
        <p:nvSpPr>
          <p:cNvPr id="6" name="텍스트 개체 틀 87">
            <a:extLst>
              <a:ext uri="{FF2B5EF4-FFF2-40B4-BE49-F238E27FC236}">
                <a16:creationId xmlns:a16="http://schemas.microsoft.com/office/drawing/2014/main" id="{7B75FDCD-3BAE-771E-0086-38096E65B516}"/>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AI </a:t>
            </a:r>
            <a:r>
              <a:rPr lang="ko-KR" altLang="en-US" sz="1200" dirty="0" err="1">
                <a:solidFill>
                  <a:schemeClr val="bg1"/>
                </a:solidFill>
              </a:rPr>
              <a:t>리터러시</a:t>
            </a:r>
            <a:r>
              <a:rPr lang="ko-KR" altLang="en-US" sz="1200" dirty="0">
                <a:solidFill>
                  <a:schemeClr val="bg1"/>
                </a:solidFill>
              </a:rPr>
              <a:t> 교육과정 개발</a:t>
            </a:r>
          </a:p>
        </p:txBody>
      </p:sp>
      <p:sp>
        <p:nvSpPr>
          <p:cNvPr id="10" name="직사각형 9">
            <a:extLst>
              <a:ext uri="{FF2B5EF4-FFF2-40B4-BE49-F238E27FC236}">
                <a16:creationId xmlns:a16="http://schemas.microsoft.com/office/drawing/2014/main" id="{E7B4FBBA-E6F1-8B60-CDB7-A1F2653C769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7. AI </a:t>
            </a:r>
            <a:r>
              <a:rPr lang="ko-KR" altLang="en-US" sz="1100" dirty="0" err="1">
                <a:solidFill>
                  <a:srgbClr val="003F56"/>
                </a:solidFill>
                <a:latin typeface="a고딕14"/>
                <a:ea typeface="a고딕14"/>
              </a:rPr>
              <a:t>리터러시</a:t>
            </a:r>
            <a:r>
              <a:rPr lang="ko-KR" altLang="en-US" sz="1100" dirty="0">
                <a:solidFill>
                  <a:srgbClr val="003F56"/>
                </a:solidFill>
                <a:latin typeface="a고딕14"/>
                <a:ea typeface="a고딕14"/>
              </a:rPr>
              <a:t> 분야 교육과정 개발</a:t>
            </a:r>
          </a:p>
        </p:txBody>
      </p:sp>
      <p:sp>
        <p:nvSpPr>
          <p:cNvPr id="8" name="직사각형 7"/>
          <p:cNvSpPr/>
          <p:nvPr/>
        </p:nvSpPr>
        <p:spPr>
          <a:xfrm>
            <a:off x="5168899" y="5572932"/>
            <a:ext cx="4175787" cy="914954"/>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171450" indent="-171450" algn="l" latinLnBrk="0">
              <a:spcAft>
                <a:spcPts val="200"/>
              </a:spcAft>
              <a:buFont typeface="Arial" panose="020B0604020202020204" pitchFamily="34" charset="0"/>
              <a:buChar char="•"/>
            </a:pPr>
            <a:r>
              <a:rPr lang="en-US" altLang="ko-KR" sz="1100" spc="-100" dirty="0">
                <a:solidFill>
                  <a:schemeClr val="tx1"/>
                </a:solidFill>
                <a:latin typeface="+mj-ea"/>
                <a:ea typeface="+mj-ea"/>
              </a:rPr>
              <a:t>1</a:t>
            </a:r>
            <a:r>
              <a:rPr lang="ko-KR" altLang="en-US" sz="1100" spc="-100" dirty="0">
                <a:solidFill>
                  <a:schemeClr val="tx1"/>
                </a:solidFill>
                <a:latin typeface="+mj-ea"/>
                <a:ea typeface="+mj-ea"/>
              </a:rPr>
              <a:t>차로 개발 완료된 </a:t>
            </a:r>
            <a:r>
              <a:rPr lang="en-US" altLang="ko-KR" sz="1100" spc="-100" dirty="0">
                <a:solidFill>
                  <a:schemeClr val="tx1"/>
                </a:solidFill>
                <a:latin typeface="+mj-ea"/>
                <a:ea typeface="+mj-ea"/>
              </a:rPr>
              <a:t>12</a:t>
            </a:r>
            <a:r>
              <a:rPr lang="ko-KR" altLang="en-US" sz="1100" spc="-100" dirty="0">
                <a:solidFill>
                  <a:schemeClr val="tx1"/>
                </a:solidFill>
                <a:latin typeface="+mj-ea"/>
                <a:ea typeface="+mj-ea"/>
              </a:rPr>
              <a:t>개 과정은 </a:t>
            </a:r>
            <a:r>
              <a:rPr lang="ko-KR" altLang="en-US" sz="1100" spc="-100" dirty="0" err="1">
                <a:solidFill>
                  <a:schemeClr val="tx1"/>
                </a:solidFill>
                <a:latin typeface="+mj-ea"/>
                <a:ea typeface="+mj-ea"/>
              </a:rPr>
              <a:t>온평원</a:t>
            </a:r>
            <a:r>
              <a:rPr lang="ko-KR" altLang="en-US" sz="1100" spc="-100" dirty="0">
                <a:solidFill>
                  <a:schemeClr val="tx1"/>
                </a:solidFill>
                <a:latin typeface="+mj-ea"/>
                <a:ea typeface="+mj-ea"/>
              </a:rPr>
              <a:t> </a:t>
            </a:r>
            <a:r>
              <a:rPr lang="en-US" altLang="ko-KR" sz="1100" spc="-100" dirty="0">
                <a:solidFill>
                  <a:schemeClr val="tx1"/>
                </a:solidFill>
                <a:latin typeface="+mj-ea"/>
                <a:ea typeface="+mj-ea"/>
              </a:rPr>
              <a:t>TF</a:t>
            </a:r>
            <a:r>
              <a:rPr lang="ko-KR" altLang="en-US" sz="1100" spc="-100" dirty="0">
                <a:solidFill>
                  <a:schemeClr val="tx1"/>
                </a:solidFill>
                <a:latin typeface="+mj-ea"/>
                <a:ea typeface="+mj-ea"/>
              </a:rPr>
              <a:t>의 피드백을 받았으며</a:t>
            </a:r>
            <a:r>
              <a:rPr lang="en-US" altLang="ko-KR" sz="1100" spc="-100" dirty="0">
                <a:solidFill>
                  <a:schemeClr val="tx1"/>
                </a:solidFill>
                <a:latin typeface="+mj-ea"/>
                <a:ea typeface="+mj-ea"/>
              </a:rPr>
              <a:t>, </a:t>
            </a:r>
            <a:r>
              <a:rPr lang="ko-KR" altLang="en-US" sz="1100" spc="-100" dirty="0">
                <a:solidFill>
                  <a:schemeClr val="tx1"/>
                </a:solidFill>
                <a:latin typeface="+mj-ea"/>
                <a:ea typeface="+mj-ea"/>
              </a:rPr>
              <a:t>추후 </a:t>
            </a:r>
            <a:r>
              <a:rPr lang="en-US" altLang="ko-KR" sz="1100" spc="-100" dirty="0">
                <a:solidFill>
                  <a:schemeClr val="tx1"/>
                </a:solidFill>
                <a:latin typeface="+mj-ea"/>
                <a:ea typeface="+mj-ea"/>
              </a:rPr>
              <a:t>26</a:t>
            </a:r>
            <a:r>
              <a:rPr lang="ko-KR" altLang="en-US" sz="1100" spc="-100" dirty="0">
                <a:solidFill>
                  <a:schemeClr val="tx1"/>
                </a:solidFill>
                <a:latin typeface="+mj-ea"/>
                <a:ea typeface="+mj-ea"/>
              </a:rPr>
              <a:t>개 과정에 대한 피드백을 최종 반영하여 </a:t>
            </a:r>
            <a:r>
              <a:rPr lang="en-US" altLang="ko-KR" sz="1100" spc="-100" dirty="0">
                <a:solidFill>
                  <a:schemeClr val="tx1"/>
                </a:solidFill>
                <a:latin typeface="+mj-ea"/>
                <a:ea typeface="+mj-ea"/>
              </a:rPr>
              <a:t>AI </a:t>
            </a:r>
            <a:r>
              <a:rPr lang="ko-KR" altLang="en-US" sz="1100" spc="-100" dirty="0" err="1">
                <a:solidFill>
                  <a:schemeClr val="tx1"/>
                </a:solidFill>
                <a:latin typeface="+mj-ea"/>
                <a:ea typeface="+mj-ea"/>
              </a:rPr>
              <a:t>리터러시</a:t>
            </a:r>
            <a:r>
              <a:rPr lang="ko-KR" altLang="en-US" sz="1100" spc="-100" dirty="0">
                <a:solidFill>
                  <a:schemeClr val="tx1"/>
                </a:solidFill>
                <a:latin typeface="+mj-ea"/>
                <a:ea typeface="+mj-ea"/>
              </a:rPr>
              <a:t> </a:t>
            </a:r>
            <a:r>
              <a:rPr lang="ko-KR" altLang="en-US" sz="1100" spc="-100" dirty="0" err="1">
                <a:solidFill>
                  <a:schemeClr val="tx1"/>
                </a:solidFill>
                <a:latin typeface="+mj-ea"/>
                <a:ea typeface="+mj-ea"/>
              </a:rPr>
              <a:t>과정개요서를</a:t>
            </a:r>
            <a:r>
              <a:rPr lang="ko-KR" altLang="en-US" sz="1100" spc="-100" dirty="0">
                <a:solidFill>
                  <a:schemeClr val="tx1"/>
                </a:solidFill>
                <a:latin typeface="+mj-ea"/>
                <a:ea typeface="+mj-ea"/>
              </a:rPr>
              <a:t> 수정하겠음</a:t>
            </a:r>
            <a:endParaRPr lang="en-US" altLang="ko-KR" sz="1100" spc="-100" dirty="0">
              <a:solidFill>
                <a:schemeClr val="tx1"/>
              </a:solidFill>
              <a:latin typeface="+mj-ea"/>
              <a:ea typeface="+mj-ea"/>
            </a:endParaRPr>
          </a:p>
          <a:p>
            <a:pPr marL="171450" indent="-171450" algn="l" latinLnBrk="0">
              <a:spcAft>
                <a:spcPts val="200"/>
              </a:spcAft>
              <a:buFont typeface="Arial" panose="020B0604020202020204" pitchFamily="34" charset="0"/>
              <a:buChar char="•"/>
            </a:pPr>
            <a:r>
              <a:rPr lang="ko-KR" altLang="en-US" sz="1100" dirty="0">
                <a:solidFill>
                  <a:schemeClr val="tx1"/>
                </a:solidFill>
                <a:latin typeface="+mj-ea"/>
                <a:ea typeface="+mj-ea"/>
              </a:rPr>
              <a:t>총 </a:t>
            </a:r>
            <a:r>
              <a:rPr lang="en-US" altLang="ko-KR" sz="1100" dirty="0">
                <a:solidFill>
                  <a:schemeClr val="tx1"/>
                </a:solidFill>
                <a:latin typeface="+mj-ea"/>
                <a:ea typeface="+mj-ea"/>
              </a:rPr>
              <a:t>3</a:t>
            </a:r>
            <a:r>
              <a:rPr lang="ko-KR" altLang="en-US" sz="1100" dirty="0">
                <a:solidFill>
                  <a:schemeClr val="tx1"/>
                </a:solidFill>
                <a:latin typeface="+mj-ea"/>
                <a:ea typeface="+mj-ea"/>
              </a:rPr>
              <a:t>개 지표</a:t>
            </a:r>
            <a:r>
              <a:rPr lang="en-US" altLang="ko-KR" sz="1100" dirty="0">
                <a:solidFill>
                  <a:schemeClr val="tx1"/>
                </a:solidFill>
                <a:latin typeface="+mj-ea"/>
                <a:ea typeface="+mj-ea"/>
              </a:rPr>
              <a:t>(</a:t>
            </a:r>
            <a:r>
              <a:rPr lang="ko-KR" altLang="en-US" sz="1100" dirty="0">
                <a:solidFill>
                  <a:schemeClr val="tx1"/>
                </a:solidFill>
                <a:latin typeface="+mj-ea"/>
                <a:ea typeface="+mj-ea"/>
              </a:rPr>
              <a:t>취업자수</a:t>
            </a:r>
            <a:r>
              <a:rPr lang="en-US" altLang="ko-KR" sz="1100" dirty="0">
                <a:solidFill>
                  <a:schemeClr val="tx1"/>
                </a:solidFill>
                <a:latin typeface="+mj-ea"/>
                <a:ea typeface="+mj-ea"/>
              </a:rPr>
              <a:t>(</a:t>
            </a:r>
            <a:r>
              <a:rPr lang="ko-KR" altLang="en-US" sz="1100" dirty="0">
                <a:solidFill>
                  <a:schemeClr val="tx1"/>
                </a:solidFill>
                <a:latin typeface="+mj-ea"/>
                <a:ea typeface="+mj-ea"/>
              </a:rPr>
              <a:t>정량</a:t>
            </a:r>
            <a:r>
              <a:rPr lang="en-US" altLang="ko-KR" sz="1100" dirty="0">
                <a:solidFill>
                  <a:schemeClr val="tx1"/>
                </a:solidFill>
                <a:latin typeface="+mj-ea"/>
                <a:ea typeface="+mj-ea"/>
              </a:rPr>
              <a:t>),</a:t>
            </a:r>
            <a:r>
              <a:rPr lang="ko-KR" altLang="en-US" sz="1100" dirty="0">
                <a:solidFill>
                  <a:schemeClr val="tx1"/>
                </a:solidFill>
                <a:latin typeface="+mj-ea"/>
                <a:ea typeface="+mj-ea"/>
              </a:rPr>
              <a:t> </a:t>
            </a:r>
            <a:r>
              <a:rPr lang="en-US" altLang="ko-KR" sz="1100" dirty="0">
                <a:solidFill>
                  <a:schemeClr val="tx1"/>
                </a:solidFill>
                <a:latin typeface="+mj-ea"/>
                <a:ea typeface="+mj-ea"/>
              </a:rPr>
              <a:t>Data </a:t>
            </a:r>
            <a:r>
              <a:rPr lang="ko-KR" altLang="en-US" sz="1100" dirty="0">
                <a:solidFill>
                  <a:schemeClr val="tx1"/>
                </a:solidFill>
                <a:latin typeface="+mj-ea"/>
                <a:ea typeface="+mj-ea"/>
              </a:rPr>
              <a:t>활용성</a:t>
            </a:r>
            <a:r>
              <a:rPr lang="en-US" altLang="ko-KR" sz="1100" dirty="0">
                <a:solidFill>
                  <a:schemeClr val="tx1"/>
                </a:solidFill>
                <a:latin typeface="+mj-ea"/>
                <a:ea typeface="+mj-ea"/>
              </a:rPr>
              <a:t>, AI </a:t>
            </a:r>
            <a:r>
              <a:rPr lang="ko-KR" altLang="en-US" sz="1100" dirty="0">
                <a:solidFill>
                  <a:schemeClr val="tx1"/>
                </a:solidFill>
                <a:latin typeface="+mj-ea"/>
                <a:ea typeface="+mj-ea"/>
              </a:rPr>
              <a:t>적용적합성</a:t>
            </a:r>
            <a:r>
              <a:rPr lang="en-US" altLang="ko-KR" sz="1100" dirty="0">
                <a:solidFill>
                  <a:schemeClr val="tx1"/>
                </a:solidFill>
                <a:latin typeface="+mj-ea"/>
                <a:ea typeface="+mj-ea"/>
              </a:rPr>
              <a:t>(</a:t>
            </a:r>
            <a:r>
              <a:rPr lang="ko-KR" altLang="en-US" sz="1100" dirty="0">
                <a:solidFill>
                  <a:schemeClr val="tx1"/>
                </a:solidFill>
                <a:latin typeface="+mj-ea"/>
                <a:ea typeface="+mj-ea"/>
              </a:rPr>
              <a:t>정성</a:t>
            </a:r>
            <a:r>
              <a:rPr lang="en-US" altLang="ko-KR" sz="1100" dirty="0">
                <a:solidFill>
                  <a:schemeClr val="tx1"/>
                </a:solidFill>
                <a:latin typeface="+mj-ea"/>
                <a:ea typeface="+mj-ea"/>
              </a:rPr>
              <a:t>))</a:t>
            </a:r>
            <a:r>
              <a:rPr lang="ko-KR" altLang="en-US" sz="1100" dirty="0">
                <a:solidFill>
                  <a:schemeClr val="tx1"/>
                </a:solidFill>
                <a:latin typeface="+mj-ea"/>
                <a:ea typeface="+mj-ea"/>
              </a:rPr>
              <a:t>로 평가하여 우선 개발 분야를 선정하였고</a:t>
            </a:r>
            <a:r>
              <a:rPr lang="en-US" altLang="ko-KR" sz="1100" dirty="0">
                <a:solidFill>
                  <a:schemeClr val="tx1"/>
                </a:solidFill>
                <a:latin typeface="+mj-ea"/>
                <a:ea typeface="+mj-ea"/>
              </a:rPr>
              <a:t>, </a:t>
            </a:r>
            <a:r>
              <a:rPr lang="ko-KR" altLang="en-US" sz="1100" dirty="0">
                <a:solidFill>
                  <a:schemeClr val="tx1"/>
                </a:solidFill>
                <a:latin typeface="+mj-ea"/>
                <a:ea typeface="+mj-ea"/>
              </a:rPr>
              <a:t>추후 </a:t>
            </a:r>
            <a:r>
              <a:rPr lang="en-US" altLang="ko-KR" sz="1100" dirty="0">
                <a:solidFill>
                  <a:schemeClr val="tx1"/>
                </a:solidFill>
                <a:latin typeface="+mj-ea"/>
                <a:ea typeface="+mj-ea"/>
              </a:rPr>
              <a:t>AI </a:t>
            </a:r>
            <a:r>
              <a:rPr lang="ko-KR" altLang="en-US" sz="1100" dirty="0" err="1">
                <a:solidFill>
                  <a:schemeClr val="tx1"/>
                </a:solidFill>
                <a:latin typeface="+mj-ea"/>
                <a:ea typeface="+mj-ea"/>
              </a:rPr>
              <a:t>리터러시</a:t>
            </a:r>
            <a:r>
              <a:rPr lang="ko-KR" altLang="en-US" sz="1100" dirty="0">
                <a:solidFill>
                  <a:schemeClr val="tx1"/>
                </a:solidFill>
                <a:latin typeface="+mj-ea"/>
                <a:ea typeface="+mj-ea"/>
              </a:rPr>
              <a:t> 교육과정 개발도 동일한 절차로 진행될 수 있도록 평가 기준을 전달하겠음</a:t>
            </a:r>
            <a:endParaRPr lang="en-US" altLang="ko-KR" sz="1100" dirty="0">
              <a:solidFill>
                <a:schemeClr val="tx1"/>
              </a:solidFill>
              <a:latin typeface="+mj-ea"/>
              <a:ea typeface="+mj-ea"/>
            </a:endParaRPr>
          </a:p>
        </p:txBody>
      </p:sp>
      <p:graphicFrame>
        <p:nvGraphicFramePr>
          <p:cNvPr id="9" name="표 8"/>
          <p:cNvGraphicFramePr>
            <a:graphicFrameLocks noGrp="1"/>
          </p:cNvGraphicFramePr>
          <p:nvPr>
            <p:extLst>
              <p:ext uri="{D42A27DB-BD31-4B8C-83A1-F6EECF244321}">
                <p14:modId xmlns:p14="http://schemas.microsoft.com/office/powerpoint/2010/main" val="1613274912"/>
              </p:ext>
            </p:extLst>
          </p:nvPr>
        </p:nvGraphicFramePr>
        <p:xfrm>
          <a:off x="596514" y="2488574"/>
          <a:ext cx="4140585" cy="3496714"/>
        </p:xfrm>
        <a:graphic>
          <a:graphicData uri="http://schemas.openxmlformats.org/drawingml/2006/table">
            <a:tbl>
              <a:tblPr/>
              <a:tblGrid>
                <a:gridCol w="947422">
                  <a:extLst>
                    <a:ext uri="{9D8B030D-6E8A-4147-A177-3AD203B41FA5}">
                      <a16:colId xmlns:a16="http://schemas.microsoft.com/office/drawing/2014/main" val="2729639802"/>
                    </a:ext>
                  </a:extLst>
                </a:gridCol>
                <a:gridCol w="1965024">
                  <a:extLst>
                    <a:ext uri="{9D8B030D-6E8A-4147-A177-3AD203B41FA5}">
                      <a16:colId xmlns:a16="http://schemas.microsoft.com/office/drawing/2014/main" val="537876190"/>
                    </a:ext>
                  </a:extLst>
                </a:gridCol>
                <a:gridCol w="1228139">
                  <a:extLst>
                    <a:ext uri="{9D8B030D-6E8A-4147-A177-3AD203B41FA5}">
                      <a16:colId xmlns:a16="http://schemas.microsoft.com/office/drawing/2014/main" val="2367944107"/>
                    </a:ext>
                  </a:extLst>
                </a:gridCol>
              </a:tblGrid>
              <a:tr h="268978">
                <a:tc>
                  <a:txBody>
                    <a:bodyPr/>
                    <a:lstStyle/>
                    <a:p>
                      <a:pPr algn="ctr" fontAlgn="ctr"/>
                      <a:r>
                        <a:rPr lang="ko-KR" altLang="en-US" sz="1100" b="0" i="0" u="none" strike="noStrike" dirty="0">
                          <a:solidFill>
                            <a:srgbClr val="000000"/>
                          </a:solidFill>
                          <a:effectLst/>
                          <a:latin typeface="+mn-ea"/>
                          <a:ea typeface="+mn-ea"/>
                        </a:rPr>
                        <a:t>구분</a:t>
                      </a: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ko-KR" altLang="en-US" sz="1100" b="0" i="0" u="none" strike="noStrike">
                          <a:solidFill>
                            <a:srgbClr val="000000"/>
                          </a:solidFill>
                          <a:effectLst/>
                          <a:latin typeface="+mn-ea"/>
                          <a:ea typeface="+mn-ea"/>
                        </a:rPr>
                        <a:t>분야</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ko-KR" altLang="en-US" sz="1100" b="0" i="0" u="none" strike="noStrike" dirty="0">
                          <a:solidFill>
                            <a:srgbClr val="000000"/>
                          </a:solidFill>
                          <a:effectLst/>
                          <a:latin typeface="+mn-ea"/>
                          <a:ea typeface="+mn-ea"/>
                        </a:rPr>
                        <a:t>과정 수</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61448960"/>
                  </a:ext>
                </a:extLst>
              </a:tr>
              <a:tr h="268978">
                <a:tc rowSpan="3">
                  <a:txBody>
                    <a:bodyPr/>
                    <a:lstStyle/>
                    <a:p>
                      <a:pPr algn="ctr" fontAlgn="ctr"/>
                      <a:r>
                        <a:rPr lang="ko-KR" altLang="en-US" sz="1100" b="0" i="0" u="none" strike="noStrike" dirty="0">
                          <a:solidFill>
                            <a:srgbClr val="000000"/>
                          </a:solidFill>
                          <a:effectLst/>
                          <a:latin typeface="+mn-ea"/>
                          <a:ea typeface="+mn-ea"/>
                        </a:rPr>
                        <a:t>공통</a:t>
                      </a: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데이터</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1</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417033"/>
                  </a:ext>
                </a:extLst>
              </a:tr>
              <a:tr h="268978">
                <a:tc vMerge="1">
                  <a:txBody>
                    <a:bodyPr/>
                    <a:lstStyle/>
                    <a:p>
                      <a:pPr latinLnBrk="1"/>
                      <a:endParaRPr lang="ko-KR" altLang="en-US"/>
                    </a:p>
                  </a:txBody>
                  <a:tcPr/>
                </a:tc>
                <a:tc>
                  <a:txBody>
                    <a:bodyPr/>
                    <a:lstStyle/>
                    <a:p>
                      <a:pPr algn="ctr" fontAlgn="ctr"/>
                      <a:r>
                        <a:rPr lang="ko-KR" altLang="en-US" sz="1100" b="0" i="0" u="none" strike="noStrike" dirty="0">
                          <a:solidFill>
                            <a:srgbClr val="000000"/>
                          </a:solidFill>
                          <a:effectLst/>
                          <a:latin typeface="+mn-ea"/>
                          <a:ea typeface="+mn-ea"/>
                        </a:rPr>
                        <a:t>보안</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a:solidFill>
                            <a:srgbClr val="000000"/>
                          </a:solidFill>
                          <a:effectLst/>
                          <a:latin typeface="+mn-ea"/>
                          <a:ea typeface="+mn-ea"/>
                        </a:rPr>
                        <a:t>1</a:t>
                      </a:r>
                      <a:endParaRPr lang="en-US" altLang="ko-KR" sz="1100" b="0" i="0" u="none" strike="noStrike" dirty="0">
                        <a:solidFill>
                          <a:srgbClr val="000000"/>
                        </a:solidFill>
                        <a:effectLst/>
                        <a:latin typeface="+mn-ea"/>
                        <a:ea typeface="+mn-ea"/>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267071"/>
                  </a:ext>
                </a:extLst>
              </a:tr>
              <a:tr h="268978">
                <a:tc vMerge="1">
                  <a:txBody>
                    <a:bodyPr/>
                    <a:lstStyle/>
                    <a:p>
                      <a:pPr latinLnBrk="1"/>
                      <a:endParaRPr lang="ko-KR" altLang="en-US"/>
                    </a:p>
                  </a:txBody>
                  <a:tcPr/>
                </a:tc>
                <a:tc>
                  <a:txBody>
                    <a:bodyPr/>
                    <a:lstStyle/>
                    <a:p>
                      <a:pPr algn="ctr" fontAlgn="ctr"/>
                      <a:r>
                        <a:rPr lang="ko-KR" altLang="en-US" sz="1100" b="0" i="0" u="none" strike="noStrike" dirty="0">
                          <a:solidFill>
                            <a:srgbClr val="000000"/>
                          </a:solidFill>
                          <a:effectLst/>
                          <a:latin typeface="+mn-ea"/>
                          <a:ea typeface="+mn-ea"/>
                        </a:rPr>
                        <a:t>윤리</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1</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1815853"/>
                  </a:ext>
                </a:extLst>
              </a:tr>
              <a:tr h="268978">
                <a:tc gridSpan="2">
                  <a:txBody>
                    <a:bodyPr/>
                    <a:lstStyle/>
                    <a:p>
                      <a:pPr algn="ctr" fontAlgn="ctr"/>
                      <a:r>
                        <a:rPr lang="ko-KR" altLang="en-US" sz="1100" b="0" i="0" u="none" strike="noStrike" dirty="0">
                          <a:solidFill>
                            <a:srgbClr val="000000"/>
                          </a:solidFill>
                          <a:effectLst/>
                          <a:latin typeface="+mn-ea"/>
                          <a:ea typeface="+mn-ea"/>
                        </a:rPr>
                        <a:t>소계</a:t>
                      </a:r>
                      <a:r>
                        <a:rPr lang="en-US" altLang="ko-KR" sz="1100" b="0" i="0" u="none" strike="noStrike" dirty="0">
                          <a:solidFill>
                            <a:srgbClr val="000000"/>
                          </a:solidFill>
                          <a:effectLst/>
                          <a:latin typeface="+mn-ea"/>
                          <a:ea typeface="+mn-ea"/>
                        </a:rPr>
                        <a:t>(A)</a:t>
                      </a:r>
                      <a:endParaRPr lang="ko-KR" altLang="en-US" sz="1100" b="0" i="0" u="none" strike="noStrike" dirty="0">
                        <a:solidFill>
                          <a:srgbClr val="000000"/>
                        </a:solidFill>
                        <a:effectLst/>
                        <a:latin typeface="+mn-ea"/>
                        <a:ea typeface="+mn-ea"/>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a:txBody>
                    <a:bodyPr/>
                    <a:lstStyle/>
                    <a:p>
                      <a:pPr algn="ctr" fontAlgn="ctr"/>
                      <a:r>
                        <a:rPr lang="en-US" altLang="ko-KR" sz="1100" b="0" i="0" u="none" strike="noStrike" dirty="0">
                          <a:solidFill>
                            <a:srgbClr val="000000"/>
                          </a:solidFill>
                          <a:effectLst/>
                          <a:latin typeface="+mn-ea"/>
                          <a:ea typeface="+mn-ea"/>
                        </a:rPr>
                        <a:t>3</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09493102"/>
                  </a:ext>
                </a:extLst>
              </a:tr>
              <a:tr h="268978">
                <a:tc rowSpan="6">
                  <a:txBody>
                    <a:bodyPr/>
                    <a:lstStyle/>
                    <a:p>
                      <a:pPr algn="ctr" fontAlgn="ctr"/>
                      <a:r>
                        <a:rPr lang="ko-KR" altLang="en-US" sz="1100" b="0" i="0" u="none" strike="noStrike" dirty="0">
                          <a:solidFill>
                            <a:srgbClr val="000000"/>
                          </a:solidFill>
                          <a:effectLst/>
                          <a:latin typeface="+mn-ea"/>
                          <a:ea typeface="+mn-ea"/>
                        </a:rPr>
                        <a:t>기초</a:t>
                      </a:r>
                      <a:endParaRPr lang="en-US" altLang="ko-KR" sz="1100" b="0" i="0" u="none" strike="noStrike" dirty="0">
                        <a:solidFill>
                          <a:srgbClr val="000000"/>
                        </a:solidFill>
                        <a:effectLst/>
                        <a:latin typeface="+mn-ea"/>
                        <a:ea typeface="+mn-ea"/>
                      </a:endParaRPr>
                    </a:p>
                    <a:p>
                      <a:pPr algn="ctr" fontAlgn="ctr"/>
                      <a:r>
                        <a:rPr lang="en-US" altLang="ko-KR" sz="1100" b="0" i="0" u="none" strike="noStrike" dirty="0">
                          <a:solidFill>
                            <a:srgbClr val="000000"/>
                          </a:solidFill>
                          <a:effectLst/>
                          <a:latin typeface="+mn-ea"/>
                          <a:ea typeface="+mn-ea"/>
                        </a:rPr>
                        <a:t>·</a:t>
                      </a:r>
                    </a:p>
                    <a:p>
                      <a:pPr algn="ctr" fontAlgn="ctr"/>
                      <a:r>
                        <a:rPr lang="ko-KR" altLang="en-US" sz="1100" b="0" i="0" u="none" strike="noStrike" dirty="0">
                          <a:solidFill>
                            <a:srgbClr val="000000"/>
                          </a:solidFill>
                          <a:effectLst/>
                          <a:latin typeface="+mn-ea"/>
                          <a:ea typeface="+mn-ea"/>
                        </a:rPr>
                        <a:t>활용</a:t>
                      </a:r>
                    </a:p>
                  </a:txBody>
                  <a:tcPr marL="7088" marR="7088" marT="7088"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경영</a:t>
                      </a: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3</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9811571"/>
                  </a:ext>
                </a:extLst>
              </a:tr>
              <a:tr h="268978">
                <a:tc vMerge="1">
                  <a:txBody>
                    <a:bodyPr/>
                    <a:lstStyle/>
                    <a:p>
                      <a:pPr latinLnBrk="1"/>
                      <a:endParaRPr lang="ko-KR" alt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금융</a:t>
                      </a: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4</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9703307"/>
                  </a:ext>
                </a:extLst>
              </a:tr>
              <a:tr h="268978">
                <a:tc vMerge="1">
                  <a:txBody>
                    <a:bodyPr/>
                    <a:lstStyle/>
                    <a:p>
                      <a:pPr latinLnBrk="1"/>
                      <a:endParaRPr lang="ko-KR" alt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교육</a:t>
                      </a:r>
                      <a:r>
                        <a:rPr lang="en-US" altLang="ko-KR" sz="1100" b="0" i="0" u="none" strike="noStrike" dirty="0">
                          <a:solidFill>
                            <a:srgbClr val="000000"/>
                          </a:solidFill>
                          <a:effectLst/>
                          <a:latin typeface="+mn-ea"/>
                          <a:ea typeface="+mn-ea"/>
                        </a:rPr>
                        <a:t>·</a:t>
                      </a:r>
                      <a:r>
                        <a:rPr lang="ko-KR" altLang="en-US" sz="1100" b="0" i="0" u="none" strike="noStrike" dirty="0">
                          <a:solidFill>
                            <a:srgbClr val="000000"/>
                          </a:solidFill>
                          <a:effectLst/>
                          <a:latin typeface="+mn-ea"/>
                          <a:ea typeface="+mn-ea"/>
                        </a:rPr>
                        <a:t>훈련</a:t>
                      </a: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3</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2486537"/>
                  </a:ext>
                </a:extLst>
              </a:tr>
              <a:tr h="268978">
                <a:tc vMerge="1">
                  <a:txBody>
                    <a:bodyPr/>
                    <a:lstStyle/>
                    <a:p>
                      <a:pPr latinLnBrk="1"/>
                      <a:endParaRPr lang="ko-KR" alt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디자인</a:t>
                      </a: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6</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344723"/>
                  </a:ext>
                </a:extLst>
              </a:tr>
              <a:tr h="268978">
                <a:tc vMerge="1">
                  <a:txBody>
                    <a:bodyPr/>
                    <a:lstStyle/>
                    <a:p>
                      <a:pPr latinLnBrk="1"/>
                      <a:endParaRPr lang="ko-KR" alt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err="1">
                          <a:solidFill>
                            <a:srgbClr val="000000"/>
                          </a:solidFill>
                          <a:effectLst/>
                          <a:latin typeface="+mn-ea"/>
                          <a:ea typeface="+mn-ea"/>
                        </a:rPr>
                        <a:t>미디어콘텐츠</a:t>
                      </a:r>
                      <a:endParaRPr lang="ko-KR" altLang="en-US" sz="1100" b="0" i="0" u="none" strike="noStrike" dirty="0">
                        <a:solidFill>
                          <a:srgbClr val="000000"/>
                        </a:solidFill>
                        <a:effectLst/>
                        <a:latin typeface="+mn-ea"/>
                        <a:ea typeface="+mn-ea"/>
                      </a:endParaRP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5</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924985"/>
                  </a:ext>
                </a:extLst>
              </a:tr>
              <a:tr h="268978">
                <a:tc vMerge="1">
                  <a:txBody>
                    <a:bodyPr/>
                    <a:lstStyle/>
                    <a:p>
                      <a:pPr latinLnBrk="1"/>
                      <a:endParaRPr lang="ko-KR" alt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ko-KR" altLang="en-US" sz="1100" b="0" i="0" u="none" strike="noStrike" dirty="0">
                          <a:solidFill>
                            <a:srgbClr val="000000"/>
                          </a:solidFill>
                          <a:effectLst/>
                          <a:latin typeface="+mn-ea"/>
                          <a:ea typeface="+mn-ea"/>
                        </a:rPr>
                        <a:t>제조 생산성과 품질</a:t>
                      </a:r>
                    </a:p>
                  </a:txBody>
                  <a:tcPr marL="7088" marR="7088" marT="708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1100" b="0" i="0" u="none" strike="noStrike" dirty="0">
                          <a:solidFill>
                            <a:srgbClr val="000000"/>
                          </a:solidFill>
                          <a:effectLst/>
                          <a:latin typeface="+mn-ea"/>
                          <a:ea typeface="+mn-ea"/>
                        </a:rPr>
                        <a:t>2</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7848548"/>
                  </a:ext>
                </a:extLst>
              </a:tr>
              <a:tr h="268978">
                <a:tc gridSpan="2">
                  <a:txBody>
                    <a:bodyPr/>
                    <a:lstStyle/>
                    <a:p>
                      <a:pPr algn="ctr" fontAlgn="ctr"/>
                      <a:r>
                        <a:rPr lang="ko-KR" altLang="en-US" sz="1100" b="0" i="0" u="none" strike="noStrike" dirty="0">
                          <a:solidFill>
                            <a:srgbClr val="000000"/>
                          </a:solidFill>
                          <a:effectLst/>
                          <a:latin typeface="+mn-ea"/>
                          <a:ea typeface="+mn-ea"/>
                        </a:rPr>
                        <a:t>소계</a:t>
                      </a:r>
                      <a:r>
                        <a:rPr lang="en-US" altLang="ko-KR" sz="1100" b="0" i="0" u="none" strike="noStrike" dirty="0">
                          <a:solidFill>
                            <a:srgbClr val="000000"/>
                          </a:solidFill>
                          <a:effectLst/>
                          <a:latin typeface="+mn-ea"/>
                          <a:ea typeface="+mn-ea"/>
                        </a:rPr>
                        <a:t>(B)</a:t>
                      </a:r>
                      <a:endParaRPr lang="ko-KR" altLang="en-US" sz="1100" b="0" i="0" u="none" strike="noStrike" dirty="0">
                        <a:solidFill>
                          <a:srgbClr val="000000"/>
                        </a:solidFill>
                        <a:effectLst/>
                        <a:latin typeface="+mn-ea"/>
                        <a:ea typeface="+mn-ea"/>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a:txBody>
                    <a:bodyPr/>
                    <a:lstStyle/>
                    <a:p>
                      <a:pPr algn="ctr" fontAlgn="ctr"/>
                      <a:r>
                        <a:rPr lang="en-US" altLang="ko-KR" sz="1100" b="0" i="0" u="none" strike="noStrike" dirty="0">
                          <a:solidFill>
                            <a:srgbClr val="000000"/>
                          </a:solidFill>
                          <a:effectLst/>
                          <a:latin typeface="+mn-ea"/>
                          <a:ea typeface="+mn-ea"/>
                        </a:rPr>
                        <a:t>23</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85289907"/>
                  </a:ext>
                </a:extLst>
              </a:tr>
              <a:tr h="268978">
                <a:tc gridSpan="2">
                  <a:txBody>
                    <a:bodyPr/>
                    <a:lstStyle/>
                    <a:p>
                      <a:pPr algn="ctr" fontAlgn="ctr"/>
                      <a:r>
                        <a:rPr lang="ko-KR" altLang="en-US" sz="1100" b="0" i="0" u="none" strike="noStrike" dirty="0">
                          <a:solidFill>
                            <a:srgbClr val="000000"/>
                          </a:solidFill>
                          <a:effectLst/>
                          <a:latin typeface="+mn-ea"/>
                          <a:ea typeface="+mn-ea"/>
                        </a:rPr>
                        <a:t>계</a:t>
                      </a:r>
                      <a:r>
                        <a:rPr lang="en-US" altLang="ko-KR" sz="1100" b="0" i="0" u="none" strike="noStrike" dirty="0">
                          <a:solidFill>
                            <a:srgbClr val="000000"/>
                          </a:solidFill>
                          <a:effectLst/>
                          <a:latin typeface="+mn-ea"/>
                          <a:ea typeface="+mn-ea"/>
                        </a:rPr>
                        <a:t>(A+B)</a:t>
                      </a:r>
                      <a:endParaRPr lang="ko-KR" altLang="en-US" sz="1100" b="0" i="0" u="none" strike="noStrike" dirty="0">
                        <a:solidFill>
                          <a:srgbClr val="000000"/>
                        </a:solidFill>
                        <a:effectLst/>
                        <a:latin typeface="+mn-ea"/>
                        <a:ea typeface="+mn-ea"/>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tc>
                <a:tc>
                  <a:txBody>
                    <a:bodyPr/>
                    <a:lstStyle/>
                    <a:p>
                      <a:pPr algn="ctr" fontAlgn="ctr"/>
                      <a:r>
                        <a:rPr lang="en-US" altLang="ko-KR" sz="1100" b="0" i="0" u="none" strike="noStrike" dirty="0">
                          <a:solidFill>
                            <a:srgbClr val="000000"/>
                          </a:solidFill>
                          <a:effectLst/>
                          <a:latin typeface="+mn-ea"/>
                          <a:ea typeface="+mn-ea"/>
                        </a:rPr>
                        <a:t>26</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5887373"/>
                  </a:ext>
                </a:extLst>
              </a:tr>
            </a:tbl>
          </a:graphicData>
        </a:graphic>
      </p:graphicFrame>
      <p:grpSp>
        <p:nvGrpSpPr>
          <p:cNvPr id="11" name="그룹 10">
            <a:extLst>
              <a:ext uri="{FF2B5EF4-FFF2-40B4-BE49-F238E27FC236}">
                <a16:creationId xmlns:a16="http://schemas.microsoft.com/office/drawing/2014/main" id="{55C195D8-B932-4C6B-F830-FDC9E5E62B8F}"/>
              </a:ext>
            </a:extLst>
          </p:cNvPr>
          <p:cNvGrpSpPr/>
          <p:nvPr/>
        </p:nvGrpSpPr>
        <p:grpSpPr>
          <a:xfrm>
            <a:off x="596515" y="1681027"/>
            <a:ext cx="8749098" cy="266602"/>
            <a:chOff x="802640" y="2236632"/>
            <a:chExt cx="4130805" cy="266552"/>
          </a:xfrm>
        </p:grpSpPr>
        <p:sp>
          <p:nvSpPr>
            <p:cNvPr id="12" name="ListLeanHorizontalTextTopic0">
              <a:extLst>
                <a:ext uri="{FF2B5EF4-FFF2-40B4-BE49-F238E27FC236}">
                  <a16:creationId xmlns:a16="http://schemas.microsoft.com/office/drawing/2014/main" id="{45F48BDB-2881-31F2-2F8B-DF499C54B94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AI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리터러시 교육과정 개발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3" name="Horizontal Line">
              <a:extLst>
                <a:ext uri="{FF2B5EF4-FFF2-40B4-BE49-F238E27FC236}">
                  <a16:creationId xmlns:a16="http://schemas.microsoft.com/office/drawing/2014/main" id="{8E74D596-4E2E-E4D7-74F7-95BC13D5B86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4" name="모서리가 둥근 직사각형 32"/>
          <p:cNvSpPr/>
          <p:nvPr/>
        </p:nvSpPr>
        <p:spPr>
          <a:xfrm>
            <a:off x="596515" y="6061642"/>
            <a:ext cx="4140584" cy="428058"/>
          </a:xfrm>
          <a:prstGeom prst="roundRect">
            <a:avLst/>
          </a:prstGeom>
          <a:solidFill>
            <a:srgbClr val="82B5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300" dirty="0">
                <a:solidFill>
                  <a:schemeClr val="bg1"/>
                </a:solidFill>
                <a:latin typeface="a고딕15" panose="02020600000000000000" pitchFamily="18" charset="-127"/>
                <a:ea typeface="a고딕15" panose="02020600000000000000" pitchFamily="18" charset="-127"/>
              </a:rPr>
              <a:t>(</a:t>
            </a:r>
            <a:r>
              <a:rPr lang="ko-KR" altLang="en-US" sz="1300" dirty="0">
                <a:solidFill>
                  <a:schemeClr val="bg1"/>
                </a:solidFill>
                <a:latin typeface="a고딕15" panose="02020600000000000000" pitchFamily="18" charset="-127"/>
                <a:ea typeface="a고딕15" panose="02020600000000000000" pitchFamily="18" charset="-127"/>
              </a:rPr>
              <a:t>공통과정</a:t>
            </a:r>
            <a:r>
              <a:rPr lang="en-US" altLang="ko-KR" sz="1300" dirty="0">
                <a:solidFill>
                  <a:schemeClr val="bg1"/>
                </a:solidFill>
                <a:latin typeface="a고딕15" panose="02020600000000000000" pitchFamily="18" charset="-127"/>
                <a:ea typeface="a고딕15" panose="02020600000000000000" pitchFamily="18" charset="-127"/>
              </a:rPr>
              <a:t>+</a:t>
            </a:r>
            <a:r>
              <a:rPr lang="ko-KR" altLang="en-US" sz="1300" dirty="0">
                <a:solidFill>
                  <a:schemeClr val="bg1"/>
                </a:solidFill>
                <a:latin typeface="a고딕15" panose="02020600000000000000" pitchFamily="18" charset="-127"/>
                <a:ea typeface="a고딕15" panose="02020600000000000000" pitchFamily="18" charset="-127"/>
              </a:rPr>
              <a:t>기초과정</a:t>
            </a:r>
            <a:r>
              <a:rPr lang="en-US" altLang="ko-KR" sz="1300" dirty="0">
                <a:solidFill>
                  <a:schemeClr val="bg1"/>
                </a:solidFill>
                <a:latin typeface="a고딕15" panose="02020600000000000000" pitchFamily="18" charset="-127"/>
                <a:ea typeface="a고딕15" panose="02020600000000000000" pitchFamily="18" charset="-127"/>
              </a:rPr>
              <a:t>+</a:t>
            </a:r>
            <a:r>
              <a:rPr lang="ko-KR" altLang="en-US" sz="1300" dirty="0">
                <a:solidFill>
                  <a:schemeClr val="bg1"/>
                </a:solidFill>
                <a:latin typeface="a고딕15" panose="02020600000000000000" pitchFamily="18" charset="-127"/>
                <a:ea typeface="a고딕15" panose="02020600000000000000" pitchFamily="18" charset="-127"/>
              </a:rPr>
              <a:t>활용과정</a:t>
            </a:r>
            <a:r>
              <a:rPr lang="en-US" altLang="ko-KR" sz="1300" dirty="0">
                <a:solidFill>
                  <a:schemeClr val="bg1"/>
                </a:solidFill>
                <a:latin typeface="a고딕15" panose="02020600000000000000" pitchFamily="18" charset="-127"/>
                <a:ea typeface="a고딕15" panose="02020600000000000000" pitchFamily="18" charset="-127"/>
              </a:rPr>
              <a:t>) </a:t>
            </a:r>
            <a:r>
              <a:rPr lang="ko-KR" altLang="en-US" sz="1300" dirty="0">
                <a:solidFill>
                  <a:schemeClr val="bg1"/>
                </a:solidFill>
                <a:latin typeface="a고딕15" panose="02020600000000000000" pitchFamily="18" charset="-127"/>
                <a:ea typeface="a고딕15" panose="02020600000000000000" pitchFamily="18" charset="-127"/>
              </a:rPr>
              <a:t>총 </a:t>
            </a:r>
            <a:r>
              <a:rPr lang="en-US" altLang="ko-KR" sz="1300" dirty="0">
                <a:solidFill>
                  <a:schemeClr val="bg1"/>
                </a:solidFill>
                <a:latin typeface="a고딕15" panose="02020600000000000000" pitchFamily="18" charset="-127"/>
                <a:ea typeface="a고딕15" panose="02020600000000000000" pitchFamily="18" charset="-127"/>
              </a:rPr>
              <a:t>26</a:t>
            </a:r>
            <a:r>
              <a:rPr lang="ko-KR" altLang="en-US" sz="1300" dirty="0">
                <a:solidFill>
                  <a:schemeClr val="bg1"/>
                </a:solidFill>
                <a:latin typeface="a고딕15" panose="02020600000000000000" pitchFamily="18" charset="-127"/>
                <a:ea typeface="a고딕15" panose="02020600000000000000" pitchFamily="18" charset="-127"/>
              </a:rPr>
              <a:t>개</a:t>
            </a:r>
            <a:endParaRPr lang="en-US" altLang="ko-KR" sz="1300" dirty="0">
              <a:solidFill>
                <a:schemeClr val="bg1"/>
              </a:solidFill>
              <a:latin typeface="a고딕15" panose="02020600000000000000" pitchFamily="18" charset="-127"/>
              <a:ea typeface="a고딕15" panose="02020600000000000000" pitchFamily="18" charset="-127"/>
            </a:endParaRPr>
          </a:p>
        </p:txBody>
      </p:sp>
      <p:sp>
        <p:nvSpPr>
          <p:cNvPr id="15" name="직사각형 14"/>
          <p:cNvSpPr/>
          <p:nvPr/>
        </p:nvSpPr>
        <p:spPr>
          <a:xfrm>
            <a:off x="585372" y="2087609"/>
            <a:ext cx="4151728"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a:solidFill>
                  <a:schemeClr val="bg1"/>
                </a:solidFill>
                <a:latin typeface="Arial Narrow" panose="020B0606020202030204" pitchFamily="34" charset="0"/>
                <a:ea typeface="a고딕14" panose="02020600000000000000" pitchFamily="18" charset="-127"/>
              </a:rPr>
              <a:t>AI </a:t>
            </a:r>
            <a:r>
              <a:rPr lang="ko-KR" altLang="en-US">
                <a:solidFill>
                  <a:schemeClr val="bg1"/>
                </a:solidFill>
                <a:latin typeface="Arial Narrow" panose="020B0606020202030204" pitchFamily="34" charset="0"/>
                <a:ea typeface="a고딕14" panose="02020600000000000000" pitchFamily="18" charset="-127"/>
              </a:rPr>
              <a:t>리터러시 개발 분야별 교육과정 수</a:t>
            </a:r>
            <a:endParaRPr lang="en-US" altLang="ko-KR">
              <a:solidFill>
                <a:schemeClr val="bg1"/>
              </a:solidFill>
              <a:latin typeface="Arial Narrow" panose="020B0606020202030204" pitchFamily="34" charset="0"/>
              <a:ea typeface="a고딕14" panose="02020600000000000000" pitchFamily="18" charset="-127"/>
            </a:endParaRPr>
          </a:p>
        </p:txBody>
      </p:sp>
      <p:sp>
        <p:nvSpPr>
          <p:cNvPr id="17" name="직사각형 16"/>
          <p:cNvSpPr/>
          <p:nvPr/>
        </p:nvSpPr>
        <p:spPr>
          <a:xfrm>
            <a:off x="5168899" y="5263307"/>
            <a:ext cx="4176713" cy="257927"/>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추후 작업 계획</a:t>
            </a:r>
            <a:endParaRPr lang="en-US" altLang="ko-KR" dirty="0">
              <a:solidFill>
                <a:schemeClr val="bg1"/>
              </a:solidFill>
              <a:latin typeface="Arial Narrow" panose="020B0606020202030204" pitchFamily="34" charset="0"/>
              <a:ea typeface="a고딕14" panose="02020600000000000000" pitchFamily="18"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237095684"/>
              </p:ext>
            </p:extLst>
          </p:nvPr>
        </p:nvGraphicFramePr>
        <p:xfrm>
          <a:off x="5168898" y="2492375"/>
          <a:ext cx="4175789" cy="2701324"/>
        </p:xfrm>
        <a:graphic>
          <a:graphicData uri="http://schemas.openxmlformats.org/drawingml/2006/table">
            <a:tbl>
              <a:tblPr/>
              <a:tblGrid>
                <a:gridCol w="369357">
                  <a:extLst>
                    <a:ext uri="{9D8B030D-6E8A-4147-A177-3AD203B41FA5}">
                      <a16:colId xmlns:a16="http://schemas.microsoft.com/office/drawing/2014/main" val="746097224"/>
                    </a:ext>
                  </a:extLst>
                </a:gridCol>
                <a:gridCol w="1279070">
                  <a:extLst>
                    <a:ext uri="{9D8B030D-6E8A-4147-A177-3AD203B41FA5}">
                      <a16:colId xmlns:a16="http://schemas.microsoft.com/office/drawing/2014/main" val="1450406301"/>
                    </a:ext>
                  </a:extLst>
                </a:gridCol>
                <a:gridCol w="622435">
                  <a:extLst>
                    <a:ext uri="{9D8B030D-6E8A-4147-A177-3AD203B41FA5}">
                      <a16:colId xmlns:a16="http://schemas.microsoft.com/office/drawing/2014/main" val="895606120"/>
                    </a:ext>
                  </a:extLst>
                </a:gridCol>
                <a:gridCol w="487347">
                  <a:extLst>
                    <a:ext uri="{9D8B030D-6E8A-4147-A177-3AD203B41FA5}">
                      <a16:colId xmlns:a16="http://schemas.microsoft.com/office/drawing/2014/main" val="3301842396"/>
                    </a:ext>
                  </a:extLst>
                </a:gridCol>
                <a:gridCol w="487347">
                  <a:extLst>
                    <a:ext uri="{9D8B030D-6E8A-4147-A177-3AD203B41FA5}">
                      <a16:colId xmlns:a16="http://schemas.microsoft.com/office/drawing/2014/main" val="3625466142"/>
                    </a:ext>
                  </a:extLst>
                </a:gridCol>
                <a:gridCol w="560876">
                  <a:extLst>
                    <a:ext uri="{9D8B030D-6E8A-4147-A177-3AD203B41FA5}">
                      <a16:colId xmlns:a16="http://schemas.microsoft.com/office/drawing/2014/main" val="3878954862"/>
                    </a:ext>
                  </a:extLst>
                </a:gridCol>
                <a:gridCol w="369357">
                  <a:extLst>
                    <a:ext uri="{9D8B030D-6E8A-4147-A177-3AD203B41FA5}">
                      <a16:colId xmlns:a16="http://schemas.microsoft.com/office/drawing/2014/main" val="998484121"/>
                    </a:ext>
                  </a:extLst>
                </a:gridCol>
              </a:tblGrid>
              <a:tr h="314833">
                <a:tc>
                  <a:txBody>
                    <a:bodyPr/>
                    <a:lstStyle/>
                    <a:p>
                      <a:pPr algn="ctr" rtl="0" fontAlgn="ctr"/>
                      <a:r>
                        <a:rPr lang="ko-KR" altLang="en-US" sz="1000" b="0" i="0" u="none" strike="noStrike" dirty="0">
                          <a:solidFill>
                            <a:srgbClr val="000000"/>
                          </a:solidFill>
                          <a:effectLst/>
                          <a:latin typeface="+mn-ea"/>
                          <a:ea typeface="+mn-ea"/>
                        </a:rPr>
                        <a:t>순위</a:t>
                      </a:r>
                      <a:endParaRPr lang="en-US" sz="1000" b="0" i="0" u="none" strike="noStrike" dirty="0">
                        <a:solidFill>
                          <a:srgbClr val="000000"/>
                        </a:solidFill>
                        <a:effectLst/>
                        <a:latin typeface="+mn-ea"/>
                        <a:ea typeface="+mn-ea"/>
                      </a:endParaRP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ko-KR" altLang="en-US" sz="1000" b="0" i="0" u="none" strike="noStrike">
                          <a:solidFill>
                            <a:srgbClr val="000000"/>
                          </a:solidFill>
                          <a:effectLst/>
                          <a:latin typeface="+mn-ea"/>
                          <a:ea typeface="+mn-ea"/>
                        </a:rPr>
                        <a:t>직업군</a:t>
                      </a:r>
                      <a:r>
                        <a:rPr lang="en-US" altLang="ko-KR" sz="1000" b="0" i="0" u="none" strike="noStrike">
                          <a:solidFill>
                            <a:srgbClr val="000000"/>
                          </a:solidFill>
                          <a:effectLst/>
                          <a:latin typeface="+mn-ea"/>
                          <a:ea typeface="+mn-ea"/>
                        </a:rPr>
                        <a:t>(</a:t>
                      </a:r>
                      <a:r>
                        <a:rPr lang="ko-KR" altLang="en-US" sz="1000" b="0" i="0" u="none" strike="noStrike">
                          <a:solidFill>
                            <a:srgbClr val="000000"/>
                          </a:solidFill>
                          <a:effectLst/>
                          <a:latin typeface="+mn-ea"/>
                          <a:ea typeface="+mn-ea"/>
                        </a:rPr>
                        <a:t>중분류</a:t>
                      </a:r>
                      <a:r>
                        <a:rPr lang="en-US" altLang="ko-KR" sz="1000" b="0" i="0" u="none" strike="noStrike">
                          <a:solidFill>
                            <a:srgbClr val="000000"/>
                          </a:solidFill>
                          <a:effectLst/>
                          <a:latin typeface="+mn-ea"/>
                          <a:ea typeface="+mn-ea"/>
                        </a:rPr>
                        <a:t>)</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ko-KR" altLang="en-US" sz="1000" b="0" i="0" u="none" strike="noStrike">
                          <a:solidFill>
                            <a:srgbClr val="000000"/>
                          </a:solidFill>
                          <a:effectLst/>
                          <a:latin typeface="+mn-ea"/>
                          <a:ea typeface="+mn-ea"/>
                        </a:rPr>
                        <a:t>취업자 수</a:t>
                      </a:r>
                      <a:endParaRPr lang="en-US" altLang="ko-KR" sz="1000" b="0" i="0" u="none" strike="noStrike">
                        <a:solidFill>
                          <a:srgbClr val="000000"/>
                        </a:solidFill>
                        <a:effectLst/>
                        <a:latin typeface="+mn-ea"/>
                        <a:ea typeface="+mn-ea"/>
                      </a:endParaRPr>
                    </a:p>
                    <a:p>
                      <a:pPr algn="ctr" rtl="0" fontAlgn="ctr"/>
                      <a:r>
                        <a:rPr lang="en-US" altLang="ko-KR" sz="1000" b="0" i="0" u="none" strike="noStrike">
                          <a:solidFill>
                            <a:srgbClr val="000000"/>
                          </a:solidFill>
                          <a:effectLst/>
                          <a:latin typeface="+mn-ea"/>
                          <a:ea typeface="+mn-ea"/>
                        </a:rPr>
                        <a:t>(</a:t>
                      </a:r>
                      <a:r>
                        <a:rPr lang="ko-KR" altLang="en-US" sz="1000" b="0" i="0" u="none" strike="noStrike">
                          <a:solidFill>
                            <a:srgbClr val="000000"/>
                          </a:solidFill>
                          <a:effectLst/>
                          <a:latin typeface="+mn-ea"/>
                          <a:ea typeface="+mn-ea"/>
                        </a:rPr>
                        <a:t>천명</a:t>
                      </a:r>
                      <a:r>
                        <a:rPr lang="en-US" altLang="ko-KR" sz="1000" b="0" i="0" u="none" strike="noStrike">
                          <a:solidFill>
                            <a:srgbClr val="000000"/>
                          </a:solidFill>
                          <a:effectLst/>
                          <a:latin typeface="+mn-ea"/>
                          <a:ea typeface="+mn-ea"/>
                        </a:rPr>
                        <a:t>)</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ko-KR" altLang="en-US" sz="1000" b="0" i="0" u="none" strike="noStrike">
                          <a:solidFill>
                            <a:srgbClr val="000000"/>
                          </a:solidFill>
                          <a:effectLst/>
                          <a:latin typeface="+mn-ea"/>
                          <a:ea typeface="+mn-ea"/>
                        </a:rPr>
                        <a:t>종사자 수</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en-US" sz="1000" b="0" i="0" u="none" strike="noStrike">
                          <a:solidFill>
                            <a:srgbClr val="000000"/>
                          </a:solidFill>
                          <a:effectLst/>
                          <a:latin typeface="+mn-ea"/>
                          <a:ea typeface="+mn-ea"/>
                        </a:rPr>
                        <a:t>Data </a:t>
                      </a:r>
                    </a:p>
                    <a:p>
                      <a:pPr algn="ctr" rtl="0" fontAlgn="ctr"/>
                      <a:r>
                        <a:rPr lang="ko-KR" altLang="en-US" sz="1000" b="0" i="0" u="none" strike="noStrike">
                          <a:solidFill>
                            <a:srgbClr val="000000"/>
                          </a:solidFill>
                          <a:effectLst/>
                          <a:latin typeface="+mn-ea"/>
                          <a:ea typeface="+mn-ea"/>
                        </a:rPr>
                        <a:t>활용성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en-US" sz="1000" b="0" i="0" u="none" strike="noStrike" spc="-50" baseline="0">
                          <a:solidFill>
                            <a:srgbClr val="000000"/>
                          </a:solidFill>
                          <a:effectLst/>
                          <a:latin typeface="+mn-ea"/>
                          <a:ea typeface="+mn-ea"/>
                        </a:rPr>
                        <a:t>AI </a:t>
                      </a:r>
                    </a:p>
                    <a:p>
                      <a:pPr algn="ctr" rtl="0" fontAlgn="ctr"/>
                      <a:r>
                        <a:rPr lang="ko-KR" altLang="en-US" sz="1000" b="0" i="0" u="none" strike="noStrike" spc="-50" baseline="0">
                          <a:solidFill>
                            <a:srgbClr val="000000"/>
                          </a:solidFill>
                          <a:effectLst/>
                          <a:latin typeface="+mn-ea"/>
                          <a:ea typeface="+mn-ea"/>
                        </a:rPr>
                        <a:t>적용적합성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ctr" rtl="0" fontAlgn="ctr"/>
                      <a:r>
                        <a:rPr lang="ko-KR" altLang="en-US" sz="1000" b="0" i="0" u="none" strike="noStrike">
                          <a:solidFill>
                            <a:srgbClr val="000000"/>
                          </a:solidFill>
                          <a:effectLst/>
                          <a:latin typeface="+mn-ea"/>
                          <a:ea typeface="+mn-ea"/>
                        </a:rPr>
                        <a:t>합계</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extLst>
                  <a:ext uri="{0D108BD9-81ED-4DB2-BD59-A6C34878D82A}">
                    <a16:rowId xmlns:a16="http://schemas.microsoft.com/office/drawing/2014/main" val="1020169539"/>
                  </a:ext>
                </a:extLst>
              </a:tr>
              <a:tr h="195543">
                <a:tc>
                  <a:txBody>
                    <a:bodyPr/>
                    <a:lstStyle/>
                    <a:p>
                      <a:pPr algn="ctr" rtl="0" fontAlgn="ctr"/>
                      <a:r>
                        <a:rPr lang="en-US" altLang="ko-KR" sz="1000" b="0" i="0" u="none" strike="noStrike">
                          <a:solidFill>
                            <a:srgbClr val="000000"/>
                          </a:solidFill>
                          <a:effectLst/>
                          <a:latin typeface="+mn-ea"/>
                          <a:ea typeface="+mn-ea"/>
                        </a:rPr>
                        <a:t>1</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ko-KR" altLang="en-US" sz="1000" b="0" i="0" u="none" strike="noStrike" spc="-150" baseline="0" dirty="0">
                          <a:solidFill>
                            <a:srgbClr val="000000"/>
                          </a:solidFill>
                          <a:effectLst/>
                          <a:latin typeface="+mn-ea"/>
                          <a:ea typeface="+mn-ea"/>
                        </a:rPr>
                        <a:t>경영</a:t>
                      </a:r>
                      <a:r>
                        <a:rPr lang="en-US" altLang="ko-KR" sz="1000" b="0" i="0" u="none" strike="noStrike" spc="-150" baseline="0" dirty="0">
                          <a:solidFill>
                            <a:srgbClr val="000000"/>
                          </a:solidFill>
                          <a:effectLst/>
                          <a:latin typeface="+mn-ea"/>
                          <a:ea typeface="+mn-ea"/>
                        </a:rPr>
                        <a:t>·</a:t>
                      </a:r>
                      <a:r>
                        <a:rPr lang="ko-KR" altLang="en-US" sz="1000" b="0" i="0" u="none" strike="noStrike" spc="-150" baseline="0" dirty="0">
                          <a:solidFill>
                            <a:srgbClr val="000000"/>
                          </a:solidFill>
                          <a:effectLst/>
                          <a:latin typeface="+mn-ea"/>
                          <a:ea typeface="+mn-ea"/>
                        </a:rPr>
                        <a:t>금융 전문가 및 관련직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568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15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2473329"/>
                  </a:ext>
                </a:extLst>
              </a:tr>
              <a:tr h="314833">
                <a:tc>
                  <a:txBody>
                    <a:bodyPr/>
                    <a:lstStyle/>
                    <a:p>
                      <a:pPr algn="ctr" rtl="0" fontAlgn="ctr"/>
                      <a:r>
                        <a:rPr lang="en-US" altLang="ko-KR" sz="1000" b="0" i="0" u="none" strike="noStrike">
                          <a:solidFill>
                            <a:srgbClr val="000000"/>
                          </a:solidFill>
                          <a:effectLst/>
                          <a:latin typeface="+mn-ea"/>
                          <a:ea typeface="+mn-ea"/>
                        </a:rPr>
                        <a:t>1</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ko-KR" altLang="en-US" sz="1000" b="0" i="0" u="none" strike="noStrike" spc="-40" baseline="0" dirty="0">
                          <a:solidFill>
                            <a:srgbClr val="000000"/>
                          </a:solidFill>
                          <a:effectLst/>
                          <a:latin typeface="+mn-ea"/>
                          <a:ea typeface="+mn-ea"/>
                        </a:rPr>
                        <a:t>문화</a:t>
                      </a:r>
                      <a:r>
                        <a:rPr lang="en-US" altLang="ko-KR" sz="1000" b="0" i="0" u="none" strike="noStrike" spc="-40" baseline="0" dirty="0">
                          <a:solidFill>
                            <a:srgbClr val="000000"/>
                          </a:solidFill>
                          <a:effectLst/>
                          <a:latin typeface="+mn-ea"/>
                          <a:ea typeface="+mn-ea"/>
                        </a:rPr>
                        <a:t>·</a:t>
                      </a:r>
                      <a:r>
                        <a:rPr lang="ko-KR" altLang="en-US" sz="1000" b="0" i="0" u="none" strike="noStrike" spc="-40" baseline="0" dirty="0">
                          <a:solidFill>
                            <a:srgbClr val="000000"/>
                          </a:solidFill>
                          <a:effectLst/>
                          <a:latin typeface="+mn-ea"/>
                          <a:ea typeface="+mn-ea"/>
                        </a:rPr>
                        <a:t>예술</a:t>
                      </a:r>
                      <a:r>
                        <a:rPr lang="en-US" altLang="ko-KR" sz="1000" b="0" i="0" u="none" strike="noStrike" spc="-40" baseline="0" dirty="0">
                          <a:solidFill>
                            <a:srgbClr val="000000"/>
                          </a:solidFill>
                          <a:effectLst/>
                          <a:latin typeface="+mn-ea"/>
                          <a:ea typeface="+mn-ea"/>
                        </a:rPr>
                        <a:t>·</a:t>
                      </a:r>
                      <a:r>
                        <a:rPr lang="ko-KR" altLang="en-US" sz="1000" b="0" i="0" u="none" strike="noStrike" spc="-40" baseline="0" dirty="0">
                          <a:solidFill>
                            <a:srgbClr val="000000"/>
                          </a:solidFill>
                          <a:effectLst/>
                          <a:latin typeface="+mn-ea"/>
                          <a:ea typeface="+mn-ea"/>
                        </a:rPr>
                        <a:t>스포츠 전문가 및 관련직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780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15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1921437"/>
                  </a:ext>
                </a:extLst>
              </a:tr>
              <a:tr h="195543">
                <a:tc>
                  <a:txBody>
                    <a:bodyPr/>
                    <a:lstStyle/>
                    <a:p>
                      <a:pPr algn="ctr" rtl="0" fontAlgn="ctr"/>
                      <a:r>
                        <a:rPr lang="en-US" altLang="ko-KR" sz="1000" b="0" i="0" u="none" strike="noStrike">
                          <a:solidFill>
                            <a:srgbClr val="000000"/>
                          </a:solidFill>
                          <a:effectLst/>
                          <a:latin typeface="+mn-ea"/>
                          <a:ea typeface="+mn-ea"/>
                        </a:rPr>
                        <a:t>1</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ko-KR" altLang="en-US" sz="1000" b="0" i="0" u="none" strike="noStrike" spc="-40" baseline="0" dirty="0">
                          <a:solidFill>
                            <a:srgbClr val="000000"/>
                          </a:solidFill>
                          <a:effectLst/>
                          <a:latin typeface="+mn-ea"/>
                          <a:ea typeface="+mn-ea"/>
                        </a:rPr>
                        <a:t>경영 및 회계 관련 사무직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4,064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15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0321554"/>
                  </a:ext>
                </a:extLst>
              </a:tr>
              <a:tr h="195543">
                <a:tc>
                  <a:txBody>
                    <a:bodyPr/>
                    <a:lstStyle/>
                    <a:p>
                      <a:pPr algn="ctr" rtl="0" fontAlgn="ctr"/>
                      <a:r>
                        <a:rPr lang="en-US" altLang="ko-KR" sz="1000" b="0" i="0" u="none" strike="noStrike">
                          <a:solidFill>
                            <a:srgbClr val="000000"/>
                          </a:solidFill>
                          <a:effectLst/>
                          <a:latin typeface="+mn-ea"/>
                          <a:ea typeface="+mn-ea"/>
                        </a:rPr>
                        <a:t>4</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ko-KR" altLang="en-US" sz="1000" b="0" i="0" u="none" strike="noStrike" spc="-40" baseline="0" dirty="0">
                          <a:solidFill>
                            <a:srgbClr val="000000"/>
                          </a:solidFill>
                          <a:effectLst/>
                          <a:latin typeface="+mn-ea"/>
                          <a:ea typeface="+mn-ea"/>
                        </a:rPr>
                        <a:t>교육 전문가 및 관련직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1,154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14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6383079"/>
                  </a:ext>
                </a:extLst>
              </a:tr>
              <a:tr h="195543">
                <a:tc>
                  <a:txBody>
                    <a:bodyPr/>
                    <a:lstStyle/>
                    <a:p>
                      <a:pPr algn="ctr" rtl="0" fontAlgn="ctr"/>
                      <a:r>
                        <a:rPr lang="en-US" altLang="ko-KR" sz="1000" b="0" i="0" u="none" strike="noStrike">
                          <a:solidFill>
                            <a:srgbClr val="000000"/>
                          </a:solidFill>
                          <a:effectLst/>
                          <a:latin typeface="+mn-ea"/>
                          <a:ea typeface="+mn-ea"/>
                        </a:rPr>
                        <a:t>4</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ko-KR" altLang="en-US" sz="1000" b="0" i="0" u="none" strike="noStrike" spc="-40" baseline="0" dirty="0">
                          <a:solidFill>
                            <a:srgbClr val="000000"/>
                          </a:solidFill>
                          <a:effectLst/>
                          <a:latin typeface="+mn-ea"/>
                          <a:ea typeface="+mn-ea"/>
                        </a:rPr>
                        <a:t>금융 사무직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298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4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5</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a:solidFill>
                            <a:srgbClr val="000000"/>
                          </a:solidFill>
                          <a:effectLst/>
                          <a:latin typeface="+mn-ea"/>
                          <a:ea typeface="+mn-ea"/>
                        </a:rPr>
                        <a:t>14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3616509"/>
                  </a:ext>
                </a:extLst>
              </a:tr>
              <a:tr h="195543">
                <a:tc>
                  <a:txBody>
                    <a:bodyPr/>
                    <a:lstStyle/>
                    <a:p>
                      <a:pPr algn="ctr" rtl="0" fontAlgn="ctr"/>
                      <a:r>
                        <a:rPr lang="en-US" altLang="ko-KR" sz="1000" b="0" i="0" u="none" strike="noStrike">
                          <a:solidFill>
                            <a:srgbClr val="000000"/>
                          </a:solidFill>
                          <a:effectLst/>
                          <a:latin typeface="+mn-ea"/>
                          <a:ea typeface="+mn-ea"/>
                        </a:rPr>
                        <a:t>6</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정보통신 전문가 및 기술직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a:solidFill>
                            <a:srgbClr val="000000"/>
                          </a:solidFill>
                          <a:effectLst/>
                          <a:latin typeface="+mn-ea"/>
                          <a:ea typeface="+mn-ea"/>
                        </a:rPr>
                        <a:t>633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3</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12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4492027"/>
                  </a:ext>
                </a:extLst>
              </a:tr>
              <a:tr h="195543">
                <a:tc>
                  <a:txBody>
                    <a:bodyPr/>
                    <a:lstStyle/>
                    <a:p>
                      <a:pPr algn="ctr" rtl="0" fontAlgn="ctr"/>
                      <a:r>
                        <a:rPr lang="en-US" altLang="ko-KR" sz="1000" b="0" i="0" u="none" strike="noStrike">
                          <a:solidFill>
                            <a:srgbClr val="000000"/>
                          </a:solidFill>
                          <a:effectLst/>
                          <a:latin typeface="+mn-ea"/>
                          <a:ea typeface="+mn-ea"/>
                        </a:rPr>
                        <a:t>6</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공학 전문가 및 기술직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dirty="0">
                          <a:solidFill>
                            <a:srgbClr val="000000"/>
                          </a:solidFill>
                          <a:effectLst/>
                          <a:latin typeface="+mn-ea"/>
                          <a:ea typeface="+mn-ea"/>
                        </a:rPr>
                        <a:t>1,080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3</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12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049216"/>
                  </a:ext>
                </a:extLst>
              </a:tr>
              <a:tr h="314833">
                <a:tc>
                  <a:txBody>
                    <a:bodyPr/>
                    <a:lstStyle/>
                    <a:p>
                      <a:pPr algn="ctr" rtl="0" fontAlgn="ctr"/>
                      <a:r>
                        <a:rPr lang="en-US" altLang="ko-KR" sz="1000" b="0" i="0" u="none" strike="noStrike">
                          <a:solidFill>
                            <a:srgbClr val="000000"/>
                          </a:solidFill>
                          <a:effectLst/>
                          <a:latin typeface="+mn-ea"/>
                          <a:ea typeface="+mn-ea"/>
                        </a:rPr>
                        <a:t>6</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상담</a:t>
                      </a:r>
                      <a:r>
                        <a:rPr lang="en-US" altLang="ko-KR" sz="1000" b="0" i="0" u="none" strike="noStrike" spc="-40" baseline="0">
                          <a:solidFill>
                            <a:srgbClr val="000000"/>
                          </a:solidFill>
                          <a:effectLst/>
                          <a:latin typeface="+mn-ea"/>
                          <a:ea typeface="+mn-ea"/>
                        </a:rPr>
                        <a:t>·</a:t>
                      </a:r>
                      <a:r>
                        <a:rPr lang="ko-KR" altLang="en-US" sz="1000" b="0" i="0" u="none" strike="noStrike" spc="-40" baseline="0">
                          <a:solidFill>
                            <a:srgbClr val="000000"/>
                          </a:solidFill>
                          <a:effectLst/>
                          <a:latin typeface="+mn-ea"/>
                          <a:ea typeface="+mn-ea"/>
                        </a:rPr>
                        <a:t>통계</a:t>
                      </a:r>
                      <a:r>
                        <a:rPr lang="en-US" altLang="ko-KR" sz="1000" b="0" i="0" u="none" strike="noStrike" spc="-40" baseline="0">
                          <a:solidFill>
                            <a:srgbClr val="000000"/>
                          </a:solidFill>
                          <a:effectLst/>
                          <a:latin typeface="+mn-ea"/>
                          <a:ea typeface="+mn-ea"/>
                        </a:rPr>
                        <a:t>·</a:t>
                      </a:r>
                      <a:r>
                        <a:rPr lang="ko-KR" altLang="en-US" sz="1000" b="0" i="0" u="none" strike="noStrike" spc="-40" baseline="0">
                          <a:solidFill>
                            <a:srgbClr val="000000"/>
                          </a:solidFill>
                          <a:effectLst/>
                          <a:latin typeface="+mn-ea"/>
                          <a:ea typeface="+mn-ea"/>
                        </a:rPr>
                        <a:t>안내 및 기타 사무직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a:solidFill>
                            <a:srgbClr val="000000"/>
                          </a:solidFill>
                          <a:effectLst/>
                          <a:latin typeface="+mn-ea"/>
                          <a:ea typeface="+mn-ea"/>
                        </a:rPr>
                        <a:t>446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3</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12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3257846"/>
                  </a:ext>
                </a:extLst>
              </a:tr>
              <a:tr h="195543">
                <a:tc>
                  <a:txBody>
                    <a:bodyPr/>
                    <a:lstStyle/>
                    <a:p>
                      <a:pPr algn="ctr" rtl="0" fontAlgn="ctr"/>
                      <a:r>
                        <a:rPr lang="en-US" altLang="ko-KR" sz="1000" b="0" i="0" u="none" strike="noStrike">
                          <a:solidFill>
                            <a:srgbClr val="000000"/>
                          </a:solidFill>
                          <a:effectLst/>
                          <a:latin typeface="+mn-ea"/>
                          <a:ea typeface="+mn-ea"/>
                        </a:rPr>
                        <a:t>6</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전기 및 전자 관련 기능직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a:solidFill>
                            <a:srgbClr val="000000"/>
                          </a:solidFill>
                          <a:effectLst/>
                          <a:latin typeface="+mn-ea"/>
                          <a:ea typeface="+mn-ea"/>
                        </a:rPr>
                        <a:t>329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3</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12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1865474"/>
                  </a:ext>
                </a:extLst>
              </a:tr>
              <a:tr h="195543">
                <a:tc>
                  <a:txBody>
                    <a:bodyPr/>
                    <a:lstStyle/>
                    <a:p>
                      <a:pPr algn="ctr" rtl="0" fontAlgn="ctr"/>
                      <a:r>
                        <a:rPr lang="en-US" altLang="ko-KR" sz="1000" b="0" i="0" u="none" strike="noStrike">
                          <a:solidFill>
                            <a:srgbClr val="000000"/>
                          </a:solidFill>
                          <a:effectLst/>
                          <a:latin typeface="+mn-ea"/>
                          <a:ea typeface="+mn-ea"/>
                        </a:rPr>
                        <a:t>10</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농</a:t>
                      </a:r>
                      <a:r>
                        <a:rPr lang="en-US" altLang="ko-KR" sz="1000" b="0" i="0" u="none" strike="noStrike" spc="-40" baseline="0">
                          <a:solidFill>
                            <a:srgbClr val="000000"/>
                          </a:solidFill>
                          <a:effectLst/>
                          <a:latin typeface="+mn-ea"/>
                          <a:ea typeface="+mn-ea"/>
                        </a:rPr>
                        <a:t>·</a:t>
                      </a:r>
                      <a:r>
                        <a:rPr lang="ko-KR" altLang="en-US" sz="1000" b="0" i="0" u="none" strike="noStrike" spc="-40" baseline="0">
                          <a:solidFill>
                            <a:srgbClr val="000000"/>
                          </a:solidFill>
                          <a:effectLst/>
                          <a:latin typeface="+mn-ea"/>
                          <a:ea typeface="+mn-ea"/>
                        </a:rPr>
                        <a:t>축산 숙련직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a:solidFill>
                            <a:srgbClr val="000000"/>
                          </a:solidFill>
                          <a:effectLst/>
                          <a:latin typeface="+mn-ea"/>
                          <a:ea typeface="+mn-ea"/>
                        </a:rPr>
                        <a:t>1,342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4</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2</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11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4079059"/>
                  </a:ext>
                </a:extLst>
              </a:tr>
              <a:tr h="192481">
                <a:tc>
                  <a:txBody>
                    <a:bodyPr/>
                    <a:lstStyle/>
                    <a:p>
                      <a:pPr algn="ctr" rtl="0" fontAlgn="ctr"/>
                      <a:r>
                        <a:rPr lang="en-US" altLang="ko-KR" sz="1000" b="0" i="0" u="none" strike="noStrike">
                          <a:solidFill>
                            <a:srgbClr val="000000"/>
                          </a:solidFill>
                          <a:effectLst/>
                          <a:latin typeface="+mn-ea"/>
                          <a:ea typeface="+mn-ea"/>
                        </a:rPr>
                        <a:t>11</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ko-KR" altLang="en-US" sz="1000" b="0" i="0" u="none" strike="noStrike" spc="-40" baseline="0">
                          <a:solidFill>
                            <a:srgbClr val="000000"/>
                          </a:solidFill>
                          <a:effectLst/>
                          <a:latin typeface="+mn-ea"/>
                          <a:ea typeface="+mn-ea"/>
                        </a:rPr>
                        <a:t>운송 및 기계 관련 기능직</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ko-KR" sz="1000" b="0" i="0" u="none" strike="noStrike">
                          <a:solidFill>
                            <a:srgbClr val="000000"/>
                          </a:solidFill>
                          <a:effectLst/>
                          <a:latin typeface="+mn-ea"/>
                          <a:ea typeface="+mn-ea"/>
                        </a:rPr>
                        <a:t>448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5 </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a:solidFill>
                            <a:srgbClr val="000000"/>
                          </a:solidFill>
                          <a:effectLst/>
                          <a:latin typeface="+mn-ea"/>
                          <a:ea typeface="+mn-ea"/>
                        </a:rPr>
                        <a:t>3</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2</a:t>
                      </a:r>
                    </a:p>
                  </a:txBody>
                  <a:tcPr marL="18000" marR="18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000" b="0" i="0" u="none" strike="noStrike" dirty="0">
                          <a:solidFill>
                            <a:srgbClr val="000000"/>
                          </a:solidFill>
                          <a:effectLst/>
                          <a:latin typeface="+mn-ea"/>
                          <a:ea typeface="+mn-ea"/>
                        </a:rPr>
                        <a:t>10 </a:t>
                      </a:r>
                    </a:p>
                  </a:txBody>
                  <a:tcPr marL="18000" marR="18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2920522"/>
                  </a:ext>
                </a:extLst>
              </a:tr>
            </a:tbl>
          </a:graphicData>
        </a:graphic>
      </p:graphicFrame>
      <p:sp>
        <p:nvSpPr>
          <p:cNvPr id="26" name="직사각형 25">
            <a:extLst>
              <a:ext uri="{FF2B5EF4-FFF2-40B4-BE49-F238E27FC236}">
                <a16:creationId xmlns:a16="http://schemas.microsoft.com/office/drawing/2014/main" id="{55A8B4DE-59C1-3434-0BF2-98A3ADEABB21}"/>
              </a:ext>
            </a:extLst>
          </p:cNvPr>
          <p:cNvSpPr/>
          <p:nvPr/>
        </p:nvSpPr>
        <p:spPr>
          <a:xfrm>
            <a:off x="5168898" y="2087609"/>
            <a:ext cx="4176715"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dirty="0">
                <a:solidFill>
                  <a:schemeClr val="bg1"/>
                </a:solidFill>
                <a:latin typeface="Arial Narrow" panose="020B0606020202030204" pitchFamily="34" charset="0"/>
                <a:ea typeface="a고딕14" panose="02020600000000000000" pitchFamily="18" charset="-127"/>
              </a:rPr>
              <a:t>AI </a:t>
            </a:r>
            <a:r>
              <a:rPr lang="ko-KR" altLang="en-US" dirty="0" err="1">
                <a:solidFill>
                  <a:schemeClr val="bg1"/>
                </a:solidFill>
                <a:latin typeface="Arial Narrow" panose="020B0606020202030204" pitchFamily="34" charset="0"/>
                <a:ea typeface="a고딕14" panose="02020600000000000000" pitchFamily="18" charset="-127"/>
              </a:rPr>
              <a:t>리터러시</a:t>
            </a:r>
            <a:r>
              <a:rPr lang="ko-KR" altLang="en-US" dirty="0">
                <a:solidFill>
                  <a:schemeClr val="bg1"/>
                </a:solidFill>
                <a:latin typeface="Arial Narrow" panose="020B0606020202030204" pitchFamily="34" charset="0"/>
                <a:ea typeface="a고딕14" panose="02020600000000000000" pitchFamily="18" charset="-127"/>
              </a:rPr>
              <a:t> 개발 분야 선정 평가</a:t>
            </a:r>
            <a:endParaRPr lang="en-US" altLang="ko-KR" dirty="0">
              <a:solidFill>
                <a:schemeClr val="bg1"/>
              </a:solidFill>
              <a:latin typeface="Arial Narrow" panose="020B0606020202030204" pitchFamily="34" charset="0"/>
              <a:ea typeface="a고딕14" panose="02020600000000000000" pitchFamily="18" charset="-127"/>
            </a:endParaRPr>
          </a:p>
        </p:txBody>
      </p:sp>
      <p:grpSp>
        <p:nvGrpSpPr>
          <p:cNvPr id="27" name="Group 484">
            <a:extLst>
              <a:ext uri="{FF2B5EF4-FFF2-40B4-BE49-F238E27FC236}">
                <a16:creationId xmlns:a16="http://schemas.microsoft.com/office/drawing/2014/main" id="{9BEC5A5A-5A7B-DB09-BFD6-EF7F0F7502F1}"/>
              </a:ext>
            </a:extLst>
          </p:cNvPr>
          <p:cNvGrpSpPr>
            <a:grpSpLocks/>
          </p:cNvGrpSpPr>
          <p:nvPr/>
        </p:nvGrpSpPr>
        <p:grpSpPr bwMode="auto">
          <a:xfrm>
            <a:off x="5142242" y="4645664"/>
            <a:ext cx="4229100" cy="815335"/>
            <a:chOff x="352" y="2083"/>
            <a:chExt cx="5546" cy="344"/>
          </a:xfrm>
        </p:grpSpPr>
        <p:sp>
          <p:nvSpPr>
            <p:cNvPr id="28" name="Freeform 486">
              <a:extLst>
                <a:ext uri="{FF2B5EF4-FFF2-40B4-BE49-F238E27FC236}">
                  <a16:creationId xmlns:a16="http://schemas.microsoft.com/office/drawing/2014/main" id="{5DE4DD50-F86E-B7FA-E284-29AD9F645E3D}"/>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29" name="Freeform 485">
              <a:extLst>
                <a:ext uri="{FF2B5EF4-FFF2-40B4-BE49-F238E27FC236}">
                  <a16:creationId xmlns:a16="http://schemas.microsoft.com/office/drawing/2014/main" id="{420D4592-325C-C3C1-79C6-EFFE46C8F2D9}"/>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graphicFrame>
        <p:nvGraphicFramePr>
          <p:cNvPr id="19" name="표 18"/>
          <p:cNvGraphicFramePr>
            <a:graphicFrameLocks noGrp="1"/>
          </p:cNvGraphicFramePr>
          <p:nvPr>
            <p:extLst>
              <p:ext uri="{D42A27DB-BD31-4B8C-83A1-F6EECF244321}">
                <p14:modId xmlns:p14="http://schemas.microsoft.com/office/powerpoint/2010/main" val="2674941308"/>
              </p:ext>
            </p:extLst>
          </p:nvPr>
        </p:nvGraphicFramePr>
        <p:xfrm>
          <a:off x="6177136" y="4257092"/>
          <a:ext cx="1271004" cy="960120"/>
        </p:xfrm>
        <a:graphic>
          <a:graphicData uri="http://schemas.openxmlformats.org/drawingml/2006/table">
            <a:tbl>
              <a:tblPr>
                <a:tableStyleId>{5C22544A-7EE6-4342-B048-85BDC9FD1C3A}</a:tableStyleId>
              </a:tblPr>
              <a:tblGrid>
                <a:gridCol w="901700">
                  <a:extLst>
                    <a:ext uri="{9D8B030D-6E8A-4147-A177-3AD203B41FA5}">
                      <a16:colId xmlns:a16="http://schemas.microsoft.com/office/drawing/2014/main" val="20000"/>
                    </a:ext>
                  </a:extLst>
                </a:gridCol>
                <a:gridCol w="369304">
                  <a:extLst>
                    <a:ext uri="{9D8B030D-6E8A-4147-A177-3AD203B41FA5}">
                      <a16:colId xmlns:a16="http://schemas.microsoft.com/office/drawing/2014/main" val="20001"/>
                    </a:ext>
                  </a:extLst>
                </a:gridCol>
              </a:tblGrid>
              <a:tr h="58108">
                <a:tc>
                  <a:txBody>
                    <a:bodyPr/>
                    <a:lstStyle/>
                    <a:p>
                      <a:pPr algn="ctr" fontAlgn="ctr"/>
                      <a:r>
                        <a:rPr lang="ko-KR" altLang="en-US" sz="1000" b="0" i="0" u="none" strike="noStrike" dirty="0">
                          <a:solidFill>
                            <a:srgbClr val="000000"/>
                          </a:solidFill>
                          <a:effectLst/>
                          <a:latin typeface="+mn-ea"/>
                          <a:ea typeface="+mn-ea"/>
                        </a:rPr>
                        <a:t>취업자 수 범위</a:t>
                      </a: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fontAlgn="ctr"/>
                      <a:r>
                        <a:rPr lang="ko-KR" altLang="en-US" sz="1000" b="0" i="0" u="none" strike="noStrike" dirty="0">
                          <a:solidFill>
                            <a:schemeClr val="dk1"/>
                          </a:solidFill>
                          <a:effectLst/>
                          <a:latin typeface="+mn-ea"/>
                          <a:ea typeface="+mn-ea"/>
                        </a:rPr>
                        <a:t>점수</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58108">
                <a:tc>
                  <a:txBody>
                    <a:bodyPr/>
                    <a:lstStyle/>
                    <a:p>
                      <a:pPr algn="ctr" fontAlgn="ctr"/>
                      <a:r>
                        <a:rPr lang="en-US" altLang="ko-KR" sz="1000" u="none" strike="noStrike" dirty="0">
                          <a:effectLst/>
                          <a:latin typeface="+mn-ea"/>
                          <a:ea typeface="+mn-ea"/>
                        </a:rPr>
                        <a:t>30</a:t>
                      </a:r>
                      <a:r>
                        <a:rPr lang="ko-KR" altLang="en-US" sz="1000" u="none" strike="noStrike" dirty="0">
                          <a:effectLst/>
                          <a:latin typeface="+mn-ea"/>
                          <a:ea typeface="+mn-ea"/>
                        </a:rPr>
                        <a:t>만 명 이상</a:t>
                      </a:r>
                      <a:endParaRPr lang="ko-KR" altLang="en-US"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fontAlgn="ctr"/>
                      <a:r>
                        <a:rPr lang="en-US" altLang="ko-KR" sz="1000" u="none" strike="noStrike" dirty="0">
                          <a:effectLst/>
                          <a:latin typeface="+mn-ea"/>
                          <a:ea typeface="+mn-ea"/>
                        </a:rPr>
                        <a:t>5</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0245">
                <a:tc>
                  <a:txBody>
                    <a:bodyPr/>
                    <a:lstStyle/>
                    <a:p>
                      <a:pPr algn="ctr" fontAlgn="ctr"/>
                      <a:r>
                        <a:rPr lang="en-US" altLang="ko-KR" sz="1000" u="none" strike="noStrike" dirty="0">
                          <a:effectLst/>
                          <a:latin typeface="+mn-ea"/>
                          <a:ea typeface="+mn-ea"/>
                        </a:rPr>
                        <a:t>25~30</a:t>
                      </a:r>
                      <a:r>
                        <a:rPr lang="ko-KR" altLang="en-US" sz="1000" u="none" strike="noStrike" dirty="0">
                          <a:effectLst/>
                          <a:latin typeface="+mn-ea"/>
                          <a:ea typeface="+mn-ea"/>
                        </a:rPr>
                        <a:t>만 명</a:t>
                      </a:r>
                      <a:endParaRPr lang="ko-KR" altLang="en-US"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fontAlgn="ctr"/>
                      <a:r>
                        <a:rPr lang="en-US" altLang="ko-KR" sz="1000" u="none" strike="noStrike" dirty="0">
                          <a:effectLst/>
                          <a:latin typeface="+mn-ea"/>
                          <a:ea typeface="+mn-ea"/>
                        </a:rPr>
                        <a:t>4</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0245">
                <a:tc>
                  <a:txBody>
                    <a:bodyPr/>
                    <a:lstStyle/>
                    <a:p>
                      <a:pPr algn="ctr" fontAlgn="ctr"/>
                      <a:r>
                        <a:rPr lang="en-US" altLang="ko-KR" sz="1000" u="none" strike="noStrike" dirty="0">
                          <a:effectLst/>
                          <a:latin typeface="+mn-ea"/>
                          <a:ea typeface="+mn-ea"/>
                        </a:rPr>
                        <a:t>20~25</a:t>
                      </a:r>
                      <a:r>
                        <a:rPr lang="ko-KR" altLang="en-US" sz="1000" u="none" strike="noStrike" dirty="0">
                          <a:effectLst/>
                          <a:latin typeface="+mn-ea"/>
                          <a:ea typeface="+mn-ea"/>
                        </a:rPr>
                        <a:t>만 명</a:t>
                      </a:r>
                      <a:endParaRPr lang="ko-KR" altLang="en-US"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fontAlgn="ctr"/>
                      <a:r>
                        <a:rPr lang="en-US" altLang="ko-KR" sz="1000" u="none" strike="noStrike" dirty="0">
                          <a:effectLst/>
                          <a:latin typeface="+mn-ea"/>
                          <a:ea typeface="+mn-ea"/>
                        </a:rPr>
                        <a:t>3</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0245">
                <a:tc>
                  <a:txBody>
                    <a:bodyPr/>
                    <a:lstStyle/>
                    <a:p>
                      <a:pPr algn="ctr" fontAlgn="ctr"/>
                      <a:r>
                        <a:rPr lang="en-US" altLang="ko-KR" sz="1000" u="none" strike="noStrike" dirty="0">
                          <a:effectLst/>
                          <a:latin typeface="+mn-ea"/>
                          <a:ea typeface="+mn-ea"/>
                        </a:rPr>
                        <a:t>15~20</a:t>
                      </a:r>
                      <a:r>
                        <a:rPr lang="ko-KR" altLang="en-US" sz="1000" u="none" strike="noStrike" dirty="0">
                          <a:effectLst/>
                          <a:latin typeface="+mn-ea"/>
                          <a:ea typeface="+mn-ea"/>
                        </a:rPr>
                        <a:t>만 명</a:t>
                      </a:r>
                      <a:endParaRPr lang="ko-KR" altLang="en-US"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fontAlgn="ctr"/>
                      <a:r>
                        <a:rPr lang="en-US" altLang="ko-KR" sz="1000" u="none" strike="noStrike" dirty="0">
                          <a:effectLst/>
                          <a:latin typeface="+mn-ea"/>
                          <a:ea typeface="+mn-ea"/>
                        </a:rPr>
                        <a:t>2</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0245">
                <a:tc>
                  <a:txBody>
                    <a:bodyPr/>
                    <a:lstStyle/>
                    <a:p>
                      <a:pPr algn="ctr" fontAlgn="ctr"/>
                      <a:r>
                        <a:rPr lang="en-US" altLang="ko-KR" sz="1000" u="none" strike="noStrike" dirty="0">
                          <a:effectLst/>
                          <a:latin typeface="+mn-ea"/>
                          <a:ea typeface="+mn-ea"/>
                        </a:rPr>
                        <a:t>15</a:t>
                      </a:r>
                      <a:r>
                        <a:rPr lang="ko-KR" altLang="en-US" sz="1000" u="none" strike="noStrike" dirty="0">
                          <a:effectLst/>
                          <a:latin typeface="+mn-ea"/>
                          <a:ea typeface="+mn-ea"/>
                        </a:rPr>
                        <a:t>만 명 미만</a:t>
                      </a:r>
                      <a:endParaRPr lang="ko-KR" altLang="en-US"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fontAlgn="ctr"/>
                      <a:r>
                        <a:rPr lang="en-US" altLang="ko-KR" sz="1000" u="none" strike="noStrike" dirty="0">
                          <a:effectLst/>
                          <a:latin typeface="+mn-ea"/>
                          <a:ea typeface="+mn-ea"/>
                        </a:rPr>
                        <a:t>1</a:t>
                      </a:r>
                      <a:endParaRPr lang="en-US" altLang="ko-KR" sz="1000" b="0" i="0" u="none" strike="noStrike" dirty="0">
                        <a:solidFill>
                          <a:srgbClr val="000000"/>
                        </a:solidFill>
                        <a:effectLst/>
                        <a:latin typeface="+mn-ea"/>
                        <a:ea typeface="+mn-ea"/>
                      </a:endParaRPr>
                    </a:p>
                  </a:txBody>
                  <a:tcPr marL="7620" marR="7620" marT="762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76243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65E4-0946-5342-E4B1-7E627610E93C}"/>
            </a:ext>
          </a:extLst>
        </p:cNvPr>
        <p:cNvGrpSpPr/>
        <p:nvPr/>
      </p:nvGrpSpPr>
      <p:grpSpPr>
        <a:xfrm>
          <a:off x="0" y="0"/>
          <a:ext cx="0" cy="0"/>
          <a:chOff x="0" y="0"/>
          <a:chExt cx="0" cy="0"/>
        </a:xfrm>
      </p:grpSpPr>
      <p:sp>
        <p:nvSpPr>
          <p:cNvPr id="130" name="오른쪽 화살표 129"/>
          <p:cNvSpPr/>
          <p:nvPr/>
        </p:nvSpPr>
        <p:spPr>
          <a:xfrm>
            <a:off x="6238296" y="6166458"/>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sp>
        <p:nvSpPr>
          <p:cNvPr id="126" name="오른쪽 화살표 125"/>
          <p:cNvSpPr/>
          <p:nvPr/>
        </p:nvSpPr>
        <p:spPr>
          <a:xfrm>
            <a:off x="6238296" y="3500924"/>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sp>
        <p:nvSpPr>
          <p:cNvPr id="127" name="오른쪽 화살표 126"/>
          <p:cNvSpPr/>
          <p:nvPr/>
        </p:nvSpPr>
        <p:spPr>
          <a:xfrm>
            <a:off x="6238296" y="4167307"/>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sp>
        <p:nvSpPr>
          <p:cNvPr id="128" name="오른쪽 화살표 127"/>
          <p:cNvSpPr/>
          <p:nvPr/>
        </p:nvSpPr>
        <p:spPr>
          <a:xfrm>
            <a:off x="6238296" y="4833690"/>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sp>
        <p:nvSpPr>
          <p:cNvPr id="129" name="오른쪽 화살표 128"/>
          <p:cNvSpPr/>
          <p:nvPr/>
        </p:nvSpPr>
        <p:spPr>
          <a:xfrm>
            <a:off x="6238296" y="5500073"/>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cxnSp>
        <p:nvCxnSpPr>
          <p:cNvPr id="105" name="직선 화살표 연결선 104"/>
          <p:cNvCxnSpPr>
            <a:stCxn id="24" idx="3"/>
            <a:endCxn id="80" idx="1"/>
          </p:cNvCxnSpPr>
          <p:nvPr/>
        </p:nvCxnSpPr>
        <p:spPr>
          <a:xfrm>
            <a:off x="6529686" y="2927501"/>
            <a:ext cx="21669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오른쪽 화살표 124"/>
          <p:cNvSpPr/>
          <p:nvPr/>
        </p:nvSpPr>
        <p:spPr>
          <a:xfrm>
            <a:off x="6238296" y="2808867"/>
            <a:ext cx="2460538" cy="185919"/>
          </a:xfrm>
          <a:prstGeom prst="rightArrow">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mj-ea"/>
              <a:ea typeface="+mj-ea"/>
            </a:endParaRPr>
          </a:p>
        </p:txBody>
      </p:sp>
      <p:sp>
        <p:nvSpPr>
          <p:cNvPr id="2" name="텍스트 개체 틀 1">
            <a:extLst>
              <a:ext uri="{FF2B5EF4-FFF2-40B4-BE49-F238E27FC236}">
                <a16:creationId xmlns:a16="http://schemas.microsoft.com/office/drawing/2014/main" id="{546A4905-2D07-0E47-C07C-52E858B01781}"/>
              </a:ext>
            </a:extLst>
          </p:cNvPr>
          <p:cNvSpPr>
            <a:spLocks noGrp="1"/>
          </p:cNvSpPr>
          <p:nvPr>
            <p:ph type="body" sz="quarter" idx="12"/>
          </p:nvPr>
        </p:nvSpPr>
        <p:spPr/>
        <p:txBody>
          <a:bodyPr/>
          <a:lstStyle/>
          <a:p>
            <a:pPr latinLnBrk="0"/>
            <a:r>
              <a:rPr lang="en-US" altLang="ko-KR"/>
              <a:t>AI </a:t>
            </a:r>
            <a:r>
              <a:rPr lang="ko-KR" altLang="en-US"/>
              <a:t>리터러시 교육과정 개발 절차에 따라 </a:t>
            </a:r>
            <a:r>
              <a:rPr lang="en-US" altLang="ko-KR"/>
              <a:t>5</a:t>
            </a:r>
            <a:r>
              <a:rPr lang="ko-KR" altLang="en-US"/>
              <a:t>개의 직업군을 선정하고 이를</a:t>
            </a:r>
            <a:r>
              <a:rPr lang="en-US" altLang="ko-KR"/>
              <a:t> NCS</a:t>
            </a:r>
            <a:r>
              <a:rPr lang="ko-KR" altLang="en-US"/>
              <a:t>와 매칭하여 </a:t>
            </a:r>
            <a:r>
              <a:rPr lang="en-US" altLang="ko-KR"/>
              <a:t>6</a:t>
            </a:r>
            <a:r>
              <a:rPr lang="ko-KR" altLang="en-US"/>
              <a:t>개의 개발 분야를 선정함으로써 공통 </a:t>
            </a:r>
            <a:r>
              <a:rPr lang="en-US" altLang="ko-KR"/>
              <a:t>3</a:t>
            </a:r>
            <a:r>
              <a:rPr lang="ko-KR" altLang="en-US"/>
              <a:t>개</a:t>
            </a:r>
            <a:r>
              <a:rPr lang="en-US" altLang="ko-KR"/>
              <a:t>/</a:t>
            </a:r>
            <a:r>
              <a:rPr lang="ko-KR" altLang="en-US"/>
              <a:t>기초 </a:t>
            </a:r>
            <a:r>
              <a:rPr lang="en-US" altLang="ko-KR"/>
              <a:t>6</a:t>
            </a:r>
            <a:r>
              <a:rPr lang="ko-KR" altLang="en-US"/>
              <a:t>개</a:t>
            </a:r>
            <a:r>
              <a:rPr lang="en-US" altLang="ko-KR"/>
              <a:t>/</a:t>
            </a:r>
            <a:r>
              <a:rPr lang="ko-KR" altLang="en-US"/>
              <a:t>활용 </a:t>
            </a:r>
            <a:r>
              <a:rPr lang="en-US" altLang="ko-KR"/>
              <a:t>17</a:t>
            </a:r>
            <a:r>
              <a:rPr lang="ko-KR" altLang="en-US"/>
              <a:t>개의 교육과정을 개발하였음</a:t>
            </a:r>
            <a:endParaRPr lang="ko-KR" altLang="en-US" dirty="0"/>
          </a:p>
        </p:txBody>
      </p:sp>
      <p:sp>
        <p:nvSpPr>
          <p:cNvPr id="5" name="텍스트 개체 틀 4">
            <a:extLst>
              <a:ext uri="{FF2B5EF4-FFF2-40B4-BE49-F238E27FC236}">
                <a16:creationId xmlns:a16="http://schemas.microsoft.com/office/drawing/2014/main" id="{5E5AB538-B36B-CA6B-C533-E532D9F1D3DE}"/>
              </a:ext>
            </a:extLst>
          </p:cNvPr>
          <p:cNvSpPr>
            <a:spLocks noGrp="1"/>
          </p:cNvSpPr>
          <p:nvPr>
            <p:ph type="body" sz="quarter" idx="16"/>
          </p:nvPr>
        </p:nvSpPr>
        <p:spPr/>
        <p:txBody>
          <a:bodyPr vert="horz" wrap="none" lIns="0" tIns="0" rIns="0" bIns="0" rtlCol="0" anchor="ctr">
            <a:noAutofit/>
          </a:bodyPr>
          <a:lstStyle/>
          <a:p>
            <a:pPr latinLnBrk="0"/>
            <a:r>
              <a:rPr lang="en-US" altLang="ko-KR">
                <a:latin typeface="+mn-ea"/>
              </a:rPr>
              <a:t>Ⅱ. 25</a:t>
            </a:r>
            <a:r>
              <a:rPr lang="ko-KR" altLang="en-US">
                <a:latin typeface="+mn-ea"/>
              </a:rPr>
              <a:t>년도 </a:t>
            </a:r>
            <a:r>
              <a:rPr lang="en-US" altLang="ko-KR">
                <a:latin typeface="+mn-ea"/>
              </a:rPr>
              <a:t>TTR </a:t>
            </a:r>
            <a:r>
              <a:rPr lang="ko-KR" altLang="en-US">
                <a:latin typeface="+mn-ea"/>
              </a:rPr>
              <a:t>개발 및 신규과정 선정</a:t>
            </a:r>
            <a:endParaRPr lang="ko-KR" altLang="en-US" dirty="0">
              <a:latin typeface="+mn-ea"/>
            </a:endParaRPr>
          </a:p>
        </p:txBody>
      </p:sp>
      <p:sp>
        <p:nvSpPr>
          <p:cNvPr id="6" name="텍스트 개체 틀 87">
            <a:extLst>
              <a:ext uri="{FF2B5EF4-FFF2-40B4-BE49-F238E27FC236}">
                <a16:creationId xmlns:a16="http://schemas.microsoft.com/office/drawing/2014/main" id="{7B75FDCD-3BAE-771E-0086-38096E65B516}"/>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dirty="0">
                <a:solidFill>
                  <a:schemeClr val="bg1"/>
                </a:solidFill>
              </a:rPr>
              <a:t>AI </a:t>
            </a:r>
            <a:r>
              <a:rPr lang="ko-KR" altLang="en-US" sz="1200" dirty="0" err="1">
                <a:solidFill>
                  <a:schemeClr val="bg1"/>
                </a:solidFill>
              </a:rPr>
              <a:t>리터러시</a:t>
            </a:r>
            <a:r>
              <a:rPr lang="ko-KR" altLang="en-US" sz="1200" dirty="0">
                <a:solidFill>
                  <a:schemeClr val="bg1"/>
                </a:solidFill>
              </a:rPr>
              <a:t> 교육과정 개발</a:t>
            </a:r>
          </a:p>
        </p:txBody>
      </p:sp>
      <p:sp>
        <p:nvSpPr>
          <p:cNvPr id="10" name="직사각형 9">
            <a:extLst>
              <a:ext uri="{FF2B5EF4-FFF2-40B4-BE49-F238E27FC236}">
                <a16:creationId xmlns:a16="http://schemas.microsoft.com/office/drawing/2014/main" id="{E7B4FBBA-E6F1-8B60-CDB7-A1F2653C769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4. AI </a:t>
            </a:r>
            <a:r>
              <a:rPr lang="ko-KR" altLang="en-US" sz="1100" dirty="0" err="1">
                <a:solidFill>
                  <a:srgbClr val="003F56"/>
                </a:solidFill>
                <a:latin typeface="a고딕14"/>
                <a:ea typeface="a고딕14"/>
              </a:rPr>
              <a:t>리터러시</a:t>
            </a:r>
            <a:r>
              <a:rPr lang="ko-KR" altLang="en-US" sz="1100" dirty="0">
                <a:solidFill>
                  <a:srgbClr val="003F56"/>
                </a:solidFill>
                <a:latin typeface="a고딕14"/>
                <a:ea typeface="a고딕14"/>
              </a:rPr>
              <a:t> 분야 교육과정 개발</a:t>
            </a:r>
          </a:p>
        </p:txBody>
      </p:sp>
      <p:grpSp>
        <p:nvGrpSpPr>
          <p:cNvPr id="11" name="그룹 10">
            <a:extLst>
              <a:ext uri="{FF2B5EF4-FFF2-40B4-BE49-F238E27FC236}">
                <a16:creationId xmlns:a16="http://schemas.microsoft.com/office/drawing/2014/main" id="{55C195D8-B932-4C6B-F830-FDC9E5E62B8F}"/>
              </a:ext>
            </a:extLst>
          </p:cNvPr>
          <p:cNvGrpSpPr/>
          <p:nvPr/>
        </p:nvGrpSpPr>
        <p:grpSpPr>
          <a:xfrm>
            <a:off x="596515" y="1681027"/>
            <a:ext cx="8749098" cy="266602"/>
            <a:chOff x="802640" y="2236632"/>
            <a:chExt cx="4130805" cy="266552"/>
          </a:xfrm>
        </p:grpSpPr>
        <p:sp>
          <p:nvSpPr>
            <p:cNvPr id="12" name="ListLeanHorizontalTextTopic0">
              <a:extLst>
                <a:ext uri="{FF2B5EF4-FFF2-40B4-BE49-F238E27FC236}">
                  <a16:creationId xmlns:a16="http://schemas.microsoft.com/office/drawing/2014/main" id="{45F48BDB-2881-31F2-2F8B-DF499C54B94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mj-ea"/>
                  <a:ea typeface="+mj-ea"/>
                  <a:cs typeface="Arial Narrow" pitchFamily="34" charset="0"/>
                </a:rPr>
                <a:t>AI </a:t>
              </a:r>
              <a:r>
                <a:rPr kumimoji="0" lang="ko-KR" altLang="en-US" sz="1400" b="0" i="0" u="none" strike="noStrike" kern="0" cap="none" spc="0" normalizeH="0" baseline="0" noProof="0">
                  <a:ln>
                    <a:noFill/>
                  </a:ln>
                  <a:solidFill>
                    <a:srgbClr val="000000"/>
                  </a:solidFill>
                  <a:effectLst/>
                  <a:uLnTx/>
                  <a:uFillTx/>
                  <a:latin typeface="+mj-ea"/>
                  <a:ea typeface="+mj-ea"/>
                  <a:cs typeface="Arial Narrow" pitchFamily="34" charset="0"/>
                </a:rPr>
                <a:t>리터러시 교육과정 개발 과정</a:t>
              </a:r>
              <a:endParaRPr kumimoji="0" lang="de-DE" altLang="ko-KR" sz="1400" b="0" i="0" u="none" strike="noStrike" kern="0" cap="none" spc="0" normalizeH="0" baseline="0" noProof="0" dirty="0">
                <a:ln>
                  <a:noFill/>
                </a:ln>
                <a:solidFill>
                  <a:srgbClr val="000000"/>
                </a:solidFill>
                <a:effectLst/>
                <a:uLnTx/>
                <a:uFillTx/>
                <a:latin typeface="+mj-ea"/>
                <a:ea typeface="+mj-ea"/>
                <a:cs typeface="Arial Narrow" pitchFamily="34" charset="0"/>
              </a:endParaRPr>
            </a:p>
          </p:txBody>
        </p:sp>
        <p:cxnSp>
          <p:nvCxnSpPr>
            <p:cNvPr id="13" name="Horizontal Line">
              <a:extLst>
                <a:ext uri="{FF2B5EF4-FFF2-40B4-BE49-F238E27FC236}">
                  <a16:creationId xmlns:a16="http://schemas.microsoft.com/office/drawing/2014/main" id="{8E74D596-4E2E-E4D7-74F7-95BC13D5B86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9" name="직사각형 18"/>
          <p:cNvSpPr/>
          <p:nvPr/>
        </p:nvSpPr>
        <p:spPr>
          <a:xfrm>
            <a:off x="4881680" y="3364339"/>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금융</a:t>
            </a:r>
            <a:endParaRPr lang="en-US" altLang="ko-KR" sz="1100">
              <a:solidFill>
                <a:schemeClr val="tx1"/>
              </a:solidFill>
              <a:latin typeface="+mj-ea"/>
              <a:ea typeface="+mj-ea"/>
            </a:endParaRPr>
          </a:p>
        </p:txBody>
      </p:sp>
      <p:sp>
        <p:nvSpPr>
          <p:cNvPr id="20" name="직사각형 19"/>
          <p:cNvSpPr/>
          <p:nvPr/>
        </p:nvSpPr>
        <p:spPr>
          <a:xfrm>
            <a:off x="4881680" y="4030722"/>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교육</a:t>
            </a:r>
            <a:r>
              <a:rPr lang="en-US" altLang="ko-KR" sz="1100">
                <a:solidFill>
                  <a:schemeClr val="tx1"/>
                </a:solidFill>
                <a:latin typeface="+mj-ea"/>
                <a:ea typeface="+mj-ea"/>
              </a:rPr>
              <a:t>·</a:t>
            </a:r>
            <a:r>
              <a:rPr lang="ko-KR" altLang="en-US" sz="1100">
                <a:solidFill>
                  <a:schemeClr val="tx1"/>
                </a:solidFill>
                <a:latin typeface="+mj-ea"/>
                <a:ea typeface="+mj-ea"/>
              </a:rPr>
              <a:t>훈련</a:t>
            </a:r>
            <a:endParaRPr lang="en-US" altLang="ko-KR" sz="1100">
              <a:solidFill>
                <a:schemeClr val="tx1"/>
              </a:solidFill>
              <a:latin typeface="+mj-ea"/>
              <a:ea typeface="+mj-ea"/>
            </a:endParaRPr>
          </a:p>
        </p:txBody>
      </p:sp>
      <p:sp>
        <p:nvSpPr>
          <p:cNvPr id="21" name="직사각형 20"/>
          <p:cNvSpPr/>
          <p:nvPr/>
        </p:nvSpPr>
        <p:spPr>
          <a:xfrm>
            <a:off x="4881680" y="4697105"/>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디자인</a:t>
            </a:r>
            <a:endParaRPr lang="en-US" altLang="ko-KR" sz="1100">
              <a:solidFill>
                <a:schemeClr val="tx1"/>
              </a:solidFill>
              <a:latin typeface="+mj-ea"/>
              <a:ea typeface="+mj-ea"/>
            </a:endParaRPr>
          </a:p>
        </p:txBody>
      </p:sp>
      <p:sp>
        <p:nvSpPr>
          <p:cNvPr id="22" name="직사각형 21"/>
          <p:cNvSpPr/>
          <p:nvPr/>
        </p:nvSpPr>
        <p:spPr>
          <a:xfrm>
            <a:off x="4881680" y="5363488"/>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미디어콘텐츠</a:t>
            </a:r>
            <a:endParaRPr lang="en-US" altLang="ko-KR" sz="1100">
              <a:solidFill>
                <a:schemeClr val="tx1"/>
              </a:solidFill>
              <a:latin typeface="+mj-ea"/>
              <a:ea typeface="+mj-ea"/>
            </a:endParaRPr>
          </a:p>
        </p:txBody>
      </p:sp>
      <p:sp>
        <p:nvSpPr>
          <p:cNvPr id="23" name="직사각형 22"/>
          <p:cNvSpPr/>
          <p:nvPr/>
        </p:nvSpPr>
        <p:spPr>
          <a:xfrm>
            <a:off x="4881680" y="6029873"/>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제조 생산성과 품질</a:t>
            </a:r>
            <a:endParaRPr lang="en-US" altLang="ko-KR" sz="1100">
              <a:solidFill>
                <a:schemeClr val="tx1"/>
              </a:solidFill>
              <a:latin typeface="+mj-ea"/>
              <a:ea typeface="+mj-ea"/>
            </a:endParaRPr>
          </a:p>
        </p:txBody>
      </p:sp>
      <p:sp>
        <p:nvSpPr>
          <p:cNvPr id="24" name="직사각형 23"/>
          <p:cNvSpPr/>
          <p:nvPr/>
        </p:nvSpPr>
        <p:spPr>
          <a:xfrm>
            <a:off x="4881680" y="2697956"/>
            <a:ext cx="1648006"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경영</a:t>
            </a:r>
            <a:endParaRPr lang="en-US" altLang="ko-KR" sz="1100">
              <a:solidFill>
                <a:schemeClr val="tx1"/>
              </a:solidFill>
              <a:latin typeface="+mj-ea"/>
              <a:ea typeface="+mj-ea"/>
            </a:endParaRPr>
          </a:p>
        </p:txBody>
      </p:sp>
      <p:cxnSp>
        <p:nvCxnSpPr>
          <p:cNvPr id="26" name="직선 화살표 연결선 25"/>
          <p:cNvCxnSpPr>
            <a:stCxn id="58" idx="3"/>
            <a:endCxn id="20" idx="1"/>
          </p:cNvCxnSpPr>
          <p:nvPr/>
        </p:nvCxnSpPr>
        <p:spPr>
          <a:xfrm>
            <a:off x="4231494" y="2926763"/>
            <a:ext cx="650186" cy="1333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p:cNvCxnSpPr>
            <a:stCxn id="56" idx="3"/>
            <a:endCxn id="24" idx="1"/>
          </p:cNvCxnSpPr>
          <p:nvPr/>
        </p:nvCxnSpPr>
        <p:spPr>
          <a:xfrm flipV="1">
            <a:off x="4231494" y="2927501"/>
            <a:ext cx="650186" cy="2499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직선 화살표 연결선 27"/>
          <p:cNvCxnSpPr>
            <a:stCxn id="57" idx="3"/>
            <a:endCxn id="19" idx="1"/>
          </p:cNvCxnSpPr>
          <p:nvPr/>
        </p:nvCxnSpPr>
        <p:spPr>
          <a:xfrm flipV="1">
            <a:off x="4231494" y="3593884"/>
            <a:ext cx="650186" cy="2666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p:cNvCxnSpPr>
            <a:stCxn id="54" idx="3"/>
            <a:endCxn id="24" idx="1"/>
          </p:cNvCxnSpPr>
          <p:nvPr/>
        </p:nvCxnSpPr>
        <p:spPr>
          <a:xfrm flipV="1">
            <a:off x="4231494" y="2927501"/>
            <a:ext cx="650186" cy="832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p:cNvCxnSpPr>
            <a:stCxn id="54" idx="3"/>
            <a:endCxn id="19" idx="1"/>
          </p:cNvCxnSpPr>
          <p:nvPr/>
        </p:nvCxnSpPr>
        <p:spPr>
          <a:xfrm flipV="1">
            <a:off x="4231494" y="3593884"/>
            <a:ext cx="650186" cy="166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오각형 30"/>
          <p:cNvSpPr/>
          <p:nvPr/>
        </p:nvSpPr>
        <p:spPr>
          <a:xfrm>
            <a:off x="4881680" y="2096965"/>
            <a:ext cx="1763508" cy="470347"/>
          </a:xfrm>
          <a:prstGeom prst="homePlate">
            <a:avLst>
              <a:gd name="adj" fmla="val 21648"/>
            </a:avLst>
          </a:prstGeom>
          <a:solidFill>
            <a:srgbClr val="82B5D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mj-ea"/>
                <a:ea typeface="+mj-ea"/>
              </a:rPr>
              <a:t>개발 분야</a:t>
            </a:r>
            <a:r>
              <a:rPr lang="en-US" altLang="ko-KR">
                <a:solidFill>
                  <a:schemeClr val="bg1"/>
                </a:solidFill>
                <a:latin typeface="+mj-ea"/>
                <a:ea typeface="+mj-ea"/>
              </a:rPr>
              <a:t>(6</a:t>
            </a:r>
            <a:r>
              <a:rPr lang="ko-KR" altLang="en-US">
                <a:solidFill>
                  <a:schemeClr val="bg1"/>
                </a:solidFill>
                <a:latin typeface="+mj-ea"/>
                <a:ea typeface="+mj-ea"/>
              </a:rPr>
              <a:t>개</a:t>
            </a:r>
            <a:r>
              <a:rPr lang="en-US" altLang="ko-KR">
                <a:solidFill>
                  <a:schemeClr val="bg1"/>
                </a:solidFill>
                <a:latin typeface="+mj-ea"/>
                <a:ea typeface="+mj-ea"/>
              </a:rPr>
              <a:t>)</a:t>
            </a:r>
          </a:p>
        </p:txBody>
      </p:sp>
      <p:cxnSp>
        <p:nvCxnSpPr>
          <p:cNvPr id="32" name="직선 화살표 연결선 31"/>
          <p:cNvCxnSpPr>
            <a:stCxn id="55" idx="3"/>
            <a:endCxn id="21" idx="1"/>
          </p:cNvCxnSpPr>
          <p:nvPr/>
        </p:nvCxnSpPr>
        <p:spPr>
          <a:xfrm>
            <a:off x="4231494" y="4593459"/>
            <a:ext cx="650186" cy="333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p:cNvCxnSpPr>
            <a:stCxn id="55" idx="3"/>
            <a:endCxn id="22" idx="1"/>
          </p:cNvCxnSpPr>
          <p:nvPr/>
        </p:nvCxnSpPr>
        <p:spPr>
          <a:xfrm>
            <a:off x="4231494" y="4593459"/>
            <a:ext cx="650186" cy="99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오각형 52"/>
          <p:cNvSpPr/>
          <p:nvPr/>
        </p:nvSpPr>
        <p:spPr>
          <a:xfrm>
            <a:off x="2085549" y="2096965"/>
            <a:ext cx="2260760" cy="469930"/>
          </a:xfrm>
          <a:prstGeom prst="homePlate">
            <a:avLst>
              <a:gd name="adj" fmla="val 19287"/>
            </a:avLst>
          </a:prstGeom>
          <a:solidFill>
            <a:srgbClr val="3061A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mj-ea"/>
                <a:ea typeface="+mj-ea"/>
              </a:rPr>
              <a:t>선정된 중분류 직업군</a:t>
            </a:r>
            <a:r>
              <a:rPr lang="en-US" altLang="ko-KR">
                <a:solidFill>
                  <a:schemeClr val="bg1"/>
                </a:solidFill>
                <a:latin typeface="+mj-ea"/>
                <a:ea typeface="+mj-ea"/>
              </a:rPr>
              <a:t>(5</a:t>
            </a:r>
            <a:r>
              <a:rPr lang="ko-KR" altLang="en-US">
                <a:solidFill>
                  <a:schemeClr val="bg1"/>
                </a:solidFill>
                <a:latin typeface="+mj-ea"/>
                <a:ea typeface="+mj-ea"/>
              </a:rPr>
              <a:t>개</a:t>
            </a:r>
            <a:r>
              <a:rPr lang="en-US" altLang="ko-KR">
                <a:solidFill>
                  <a:schemeClr val="bg1"/>
                </a:solidFill>
                <a:latin typeface="+mj-ea"/>
                <a:ea typeface="+mj-ea"/>
              </a:rPr>
              <a:t>)</a:t>
            </a:r>
          </a:p>
        </p:txBody>
      </p:sp>
      <p:sp>
        <p:nvSpPr>
          <p:cNvPr id="54" name="직사각형 53"/>
          <p:cNvSpPr/>
          <p:nvPr/>
        </p:nvSpPr>
        <p:spPr>
          <a:xfrm>
            <a:off x="2085550" y="3530566"/>
            <a:ext cx="2145944"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dirty="0">
                <a:solidFill>
                  <a:schemeClr val="tx1"/>
                </a:solidFill>
                <a:latin typeface="+mj-ea"/>
                <a:ea typeface="+mj-ea"/>
              </a:rPr>
              <a:t>경영</a:t>
            </a:r>
            <a:r>
              <a:rPr lang="en-US" altLang="ko-KR" sz="1100" dirty="0">
                <a:solidFill>
                  <a:schemeClr val="tx1"/>
                </a:solidFill>
                <a:latin typeface="+mj-lt"/>
                <a:ea typeface="+mj-ea"/>
              </a:rPr>
              <a:t>·</a:t>
            </a:r>
            <a:r>
              <a:rPr lang="ko-KR" altLang="en-US" sz="1100" dirty="0">
                <a:solidFill>
                  <a:schemeClr val="tx1"/>
                </a:solidFill>
                <a:latin typeface="+mj-ea"/>
                <a:ea typeface="+mj-ea"/>
              </a:rPr>
              <a:t>금융 전문가 및 관련직</a:t>
            </a:r>
          </a:p>
        </p:txBody>
      </p:sp>
      <p:sp>
        <p:nvSpPr>
          <p:cNvPr id="55" name="직사각형 54"/>
          <p:cNvSpPr/>
          <p:nvPr/>
        </p:nvSpPr>
        <p:spPr>
          <a:xfrm>
            <a:off x="2085550" y="4363914"/>
            <a:ext cx="2145944"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dirty="0">
                <a:solidFill>
                  <a:schemeClr val="tx1"/>
                </a:solidFill>
                <a:latin typeface="+mj-ea"/>
                <a:ea typeface="+mj-ea"/>
              </a:rPr>
              <a:t>문화</a:t>
            </a:r>
            <a:r>
              <a:rPr lang="en-US" altLang="ko-KR" sz="1100" dirty="0">
                <a:solidFill>
                  <a:schemeClr val="tx1"/>
                </a:solidFill>
                <a:latin typeface="+mj-lt"/>
                <a:ea typeface="+mj-ea"/>
              </a:rPr>
              <a:t>·</a:t>
            </a:r>
            <a:r>
              <a:rPr lang="ko-KR" altLang="en-US" sz="1100" dirty="0">
                <a:solidFill>
                  <a:schemeClr val="tx1"/>
                </a:solidFill>
                <a:latin typeface="+mj-ea"/>
                <a:ea typeface="+mj-ea"/>
              </a:rPr>
              <a:t>예술</a:t>
            </a:r>
            <a:r>
              <a:rPr lang="en-US" altLang="ko-KR" sz="1100" dirty="0">
                <a:solidFill>
                  <a:schemeClr val="tx1"/>
                </a:solidFill>
                <a:latin typeface="+mj-lt"/>
                <a:ea typeface="+mj-ea"/>
              </a:rPr>
              <a:t>·</a:t>
            </a:r>
            <a:r>
              <a:rPr lang="ko-KR" altLang="en-US" sz="1100" dirty="0">
                <a:solidFill>
                  <a:schemeClr val="tx1"/>
                </a:solidFill>
                <a:latin typeface="+mj-ea"/>
                <a:ea typeface="+mj-ea"/>
              </a:rPr>
              <a:t>스포츠 전문가 및 관련직</a:t>
            </a:r>
          </a:p>
        </p:txBody>
      </p:sp>
      <p:sp>
        <p:nvSpPr>
          <p:cNvPr id="56" name="직사각형 55"/>
          <p:cNvSpPr/>
          <p:nvPr/>
        </p:nvSpPr>
        <p:spPr>
          <a:xfrm>
            <a:off x="2085550" y="5197262"/>
            <a:ext cx="2145944"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경영 및 회계 관련 사무직</a:t>
            </a:r>
          </a:p>
        </p:txBody>
      </p:sp>
      <p:sp>
        <p:nvSpPr>
          <p:cNvPr id="57" name="직사각형 56"/>
          <p:cNvSpPr/>
          <p:nvPr/>
        </p:nvSpPr>
        <p:spPr>
          <a:xfrm>
            <a:off x="2085550" y="6030611"/>
            <a:ext cx="2145944"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금융 사무직</a:t>
            </a:r>
          </a:p>
        </p:txBody>
      </p:sp>
      <p:sp>
        <p:nvSpPr>
          <p:cNvPr id="58" name="직사각형 57"/>
          <p:cNvSpPr/>
          <p:nvPr/>
        </p:nvSpPr>
        <p:spPr>
          <a:xfrm>
            <a:off x="2085550" y="2697218"/>
            <a:ext cx="2145944" cy="4590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chemeClr val="tx1"/>
                </a:solidFill>
                <a:latin typeface="+mj-ea"/>
                <a:ea typeface="+mj-ea"/>
              </a:rPr>
              <a:t>교육 전문가 및 관련직</a:t>
            </a:r>
          </a:p>
        </p:txBody>
      </p:sp>
      <p:sp>
        <p:nvSpPr>
          <p:cNvPr id="59" name="오각형 58"/>
          <p:cNvSpPr/>
          <p:nvPr/>
        </p:nvSpPr>
        <p:spPr>
          <a:xfrm>
            <a:off x="7077236" y="2096965"/>
            <a:ext cx="2340259" cy="244871"/>
          </a:xfrm>
          <a:prstGeom prst="homePlate">
            <a:avLst>
              <a:gd name="adj" fmla="val 24068"/>
            </a:avLst>
          </a:prstGeom>
          <a:solidFill>
            <a:schemeClr val="tx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ysClr val="windowText" lastClr="000000"/>
                </a:solidFill>
                <a:latin typeface="+mj-ea"/>
                <a:ea typeface="+mj-ea"/>
              </a:rPr>
              <a:t>과정 수</a:t>
            </a:r>
            <a:r>
              <a:rPr lang="en-US" altLang="ko-KR">
                <a:solidFill>
                  <a:sysClr val="windowText" lastClr="000000"/>
                </a:solidFill>
                <a:latin typeface="+mj-ea"/>
                <a:ea typeface="+mj-ea"/>
              </a:rPr>
              <a:t>(26</a:t>
            </a:r>
            <a:r>
              <a:rPr lang="ko-KR" altLang="en-US">
                <a:solidFill>
                  <a:sysClr val="windowText" lastClr="000000"/>
                </a:solidFill>
                <a:latin typeface="+mj-ea"/>
                <a:ea typeface="+mj-ea"/>
              </a:rPr>
              <a:t>개</a:t>
            </a:r>
            <a:r>
              <a:rPr lang="en-US" altLang="ko-KR">
                <a:solidFill>
                  <a:sysClr val="windowText" lastClr="000000"/>
                </a:solidFill>
                <a:latin typeface="+mj-ea"/>
                <a:ea typeface="+mj-ea"/>
              </a:rPr>
              <a:t>)</a:t>
            </a:r>
          </a:p>
        </p:txBody>
      </p:sp>
      <p:sp>
        <p:nvSpPr>
          <p:cNvPr id="60" name="직사각형 59"/>
          <p:cNvSpPr/>
          <p:nvPr/>
        </p:nvSpPr>
        <p:spPr>
          <a:xfrm>
            <a:off x="7077237" y="2341836"/>
            <a:ext cx="648072" cy="225476"/>
          </a:xfrm>
          <a:prstGeom prst="rect">
            <a:avLst/>
          </a:prstGeom>
          <a:solidFill>
            <a:srgbClr val="E6E6E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dirty="0">
                <a:solidFill>
                  <a:sysClr val="windowText" lastClr="000000"/>
                </a:solidFill>
                <a:latin typeface="+mj-ea"/>
                <a:ea typeface="+mj-ea"/>
              </a:rPr>
              <a:t>공통</a:t>
            </a:r>
            <a:r>
              <a:rPr lang="en-US" altLang="ko-KR" sz="1100" dirty="0">
                <a:solidFill>
                  <a:sysClr val="windowText" lastClr="000000"/>
                </a:solidFill>
                <a:latin typeface="+mj-ea"/>
                <a:ea typeface="+mj-ea"/>
              </a:rPr>
              <a:t>(3)</a:t>
            </a:r>
          </a:p>
        </p:txBody>
      </p:sp>
      <p:sp>
        <p:nvSpPr>
          <p:cNvPr id="61" name="직사각형 60"/>
          <p:cNvSpPr/>
          <p:nvPr/>
        </p:nvSpPr>
        <p:spPr>
          <a:xfrm>
            <a:off x="7886925" y="2341836"/>
            <a:ext cx="648073" cy="225476"/>
          </a:xfrm>
          <a:prstGeom prst="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a:solidFill>
                  <a:sysClr val="windowText" lastClr="000000"/>
                </a:solidFill>
                <a:latin typeface="+mj-ea"/>
                <a:ea typeface="+mj-ea"/>
              </a:rPr>
              <a:t>기초</a:t>
            </a:r>
            <a:r>
              <a:rPr lang="en-US" altLang="ko-KR" sz="1100">
                <a:solidFill>
                  <a:sysClr val="windowText" lastClr="000000"/>
                </a:solidFill>
                <a:latin typeface="+mj-ea"/>
                <a:ea typeface="+mj-ea"/>
              </a:rPr>
              <a:t>(6)</a:t>
            </a:r>
          </a:p>
        </p:txBody>
      </p:sp>
      <p:sp>
        <p:nvSpPr>
          <p:cNvPr id="62" name="직사각형 61"/>
          <p:cNvSpPr/>
          <p:nvPr/>
        </p:nvSpPr>
        <p:spPr>
          <a:xfrm>
            <a:off x="8696614" y="2341836"/>
            <a:ext cx="648073" cy="225476"/>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spc="-50" dirty="0">
                <a:solidFill>
                  <a:sysClr val="windowText" lastClr="000000"/>
                </a:solidFill>
                <a:latin typeface="+mj-ea"/>
                <a:ea typeface="+mj-ea"/>
              </a:rPr>
              <a:t>활용</a:t>
            </a:r>
            <a:r>
              <a:rPr lang="en-US" altLang="ko-KR" sz="1100" spc="-50" dirty="0">
                <a:solidFill>
                  <a:sysClr val="windowText" lastClr="000000"/>
                </a:solidFill>
                <a:latin typeface="+mj-ea"/>
                <a:ea typeface="+mj-ea"/>
              </a:rPr>
              <a:t>(17)</a:t>
            </a:r>
          </a:p>
        </p:txBody>
      </p:sp>
      <p:sp>
        <p:nvSpPr>
          <p:cNvPr id="63" name="직사각형 62"/>
          <p:cNvSpPr/>
          <p:nvPr/>
        </p:nvSpPr>
        <p:spPr>
          <a:xfrm>
            <a:off x="7077237" y="2697956"/>
            <a:ext cx="648072" cy="3791006"/>
          </a:xfrm>
          <a:prstGeom prst="rect">
            <a:avLst/>
          </a:prstGeom>
          <a:solidFill>
            <a:srgbClr val="E6E6E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dirty="0">
                <a:solidFill>
                  <a:schemeClr val="tx1"/>
                </a:solidFill>
                <a:latin typeface="+mj-ea"/>
                <a:ea typeface="+mj-ea"/>
              </a:rPr>
              <a:t>3</a:t>
            </a:r>
          </a:p>
        </p:txBody>
      </p:sp>
      <p:sp>
        <p:nvSpPr>
          <p:cNvPr id="73" name="직사각형 72"/>
          <p:cNvSpPr/>
          <p:nvPr/>
        </p:nvSpPr>
        <p:spPr>
          <a:xfrm>
            <a:off x="7886926" y="3364339"/>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74" name="직사각형 73"/>
          <p:cNvSpPr/>
          <p:nvPr/>
        </p:nvSpPr>
        <p:spPr>
          <a:xfrm>
            <a:off x="7886926" y="2697956"/>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dirty="0">
                <a:solidFill>
                  <a:schemeClr val="tx1"/>
                </a:solidFill>
                <a:latin typeface="+mj-ea"/>
                <a:ea typeface="+mj-ea"/>
              </a:rPr>
              <a:t>1</a:t>
            </a:r>
          </a:p>
        </p:txBody>
      </p:sp>
      <p:sp>
        <p:nvSpPr>
          <p:cNvPr id="75" name="직사각형 74"/>
          <p:cNvSpPr/>
          <p:nvPr/>
        </p:nvSpPr>
        <p:spPr>
          <a:xfrm>
            <a:off x="7886926" y="4697105"/>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76" name="직사각형 75"/>
          <p:cNvSpPr/>
          <p:nvPr/>
        </p:nvSpPr>
        <p:spPr>
          <a:xfrm>
            <a:off x="7886926" y="4030722"/>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77" name="직사각형 76"/>
          <p:cNvSpPr/>
          <p:nvPr/>
        </p:nvSpPr>
        <p:spPr>
          <a:xfrm>
            <a:off x="7886926" y="6029873"/>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78" name="직사각형 77"/>
          <p:cNvSpPr/>
          <p:nvPr/>
        </p:nvSpPr>
        <p:spPr>
          <a:xfrm>
            <a:off x="7886926" y="5363488"/>
            <a:ext cx="648072" cy="459089"/>
          </a:xfrm>
          <a:prstGeom prst="rect">
            <a:avLst/>
          </a:prstGeom>
          <a:solidFill>
            <a:srgbClr val="FDEAD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79" name="직사각형 78"/>
          <p:cNvSpPr/>
          <p:nvPr/>
        </p:nvSpPr>
        <p:spPr>
          <a:xfrm>
            <a:off x="8696615" y="3364339"/>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3</a:t>
            </a:r>
          </a:p>
        </p:txBody>
      </p:sp>
      <p:sp>
        <p:nvSpPr>
          <p:cNvPr id="80" name="직사각형 79"/>
          <p:cNvSpPr/>
          <p:nvPr/>
        </p:nvSpPr>
        <p:spPr>
          <a:xfrm>
            <a:off x="8696615" y="2697956"/>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2</a:t>
            </a:r>
          </a:p>
        </p:txBody>
      </p:sp>
      <p:sp>
        <p:nvSpPr>
          <p:cNvPr id="81" name="직사각형 80"/>
          <p:cNvSpPr/>
          <p:nvPr/>
        </p:nvSpPr>
        <p:spPr>
          <a:xfrm>
            <a:off x="8696615" y="4697105"/>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5</a:t>
            </a:r>
          </a:p>
        </p:txBody>
      </p:sp>
      <p:sp>
        <p:nvSpPr>
          <p:cNvPr id="82" name="직사각형 81"/>
          <p:cNvSpPr/>
          <p:nvPr/>
        </p:nvSpPr>
        <p:spPr>
          <a:xfrm>
            <a:off x="8696615" y="4030722"/>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2</a:t>
            </a:r>
          </a:p>
        </p:txBody>
      </p:sp>
      <p:sp>
        <p:nvSpPr>
          <p:cNvPr id="83" name="직사각형 82"/>
          <p:cNvSpPr/>
          <p:nvPr/>
        </p:nvSpPr>
        <p:spPr>
          <a:xfrm>
            <a:off x="8696615" y="6029873"/>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1</a:t>
            </a:r>
          </a:p>
        </p:txBody>
      </p:sp>
      <p:sp>
        <p:nvSpPr>
          <p:cNvPr id="84" name="직사각형 83"/>
          <p:cNvSpPr/>
          <p:nvPr/>
        </p:nvSpPr>
        <p:spPr>
          <a:xfrm>
            <a:off x="8696615" y="5363488"/>
            <a:ext cx="648072" cy="459089"/>
          </a:xfrm>
          <a:prstGeom prst="rect">
            <a:avLst/>
          </a:prstGeom>
          <a:solidFill>
            <a:srgbClr val="DCF1F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j-ea"/>
                <a:ea typeface="+mj-ea"/>
              </a:rPr>
              <a:t>4</a:t>
            </a:r>
          </a:p>
        </p:txBody>
      </p:sp>
      <p:cxnSp>
        <p:nvCxnSpPr>
          <p:cNvPr id="92" name="직선 화살표 연결선 91"/>
          <p:cNvCxnSpPr>
            <a:stCxn id="56" idx="3"/>
            <a:endCxn id="23" idx="1"/>
          </p:cNvCxnSpPr>
          <p:nvPr/>
        </p:nvCxnSpPr>
        <p:spPr>
          <a:xfrm>
            <a:off x="4231494" y="5426807"/>
            <a:ext cx="650186" cy="83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2" name="직사각형 181"/>
          <p:cNvSpPr/>
          <p:nvPr/>
        </p:nvSpPr>
        <p:spPr>
          <a:xfrm>
            <a:off x="593843" y="2712085"/>
            <a:ext cx="1082793" cy="3776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100" dirty="0">
                <a:solidFill>
                  <a:schemeClr val="tx1"/>
                </a:solidFill>
                <a:latin typeface="+mj-ea"/>
                <a:ea typeface="+mj-ea"/>
              </a:rPr>
              <a:t>전문가를 </a:t>
            </a:r>
            <a:endParaRPr lang="en-US" altLang="ko-KR" sz="1100" dirty="0">
              <a:solidFill>
                <a:schemeClr val="tx1"/>
              </a:solidFill>
              <a:latin typeface="+mj-ea"/>
              <a:ea typeface="+mj-ea"/>
            </a:endParaRPr>
          </a:p>
          <a:p>
            <a:pPr>
              <a:buNone/>
            </a:pPr>
            <a:r>
              <a:rPr lang="ko-KR" altLang="en-US" sz="1100" dirty="0">
                <a:solidFill>
                  <a:schemeClr val="tx1"/>
                </a:solidFill>
                <a:latin typeface="+mj-ea"/>
                <a:ea typeface="+mj-ea"/>
              </a:rPr>
              <a:t>활용하여 </a:t>
            </a:r>
            <a:endParaRPr lang="en-US" altLang="ko-KR" sz="1100" dirty="0">
              <a:solidFill>
                <a:schemeClr val="tx1"/>
              </a:solidFill>
              <a:latin typeface="+mj-ea"/>
              <a:ea typeface="+mj-ea"/>
            </a:endParaRPr>
          </a:p>
          <a:p>
            <a:pPr>
              <a:buNone/>
            </a:pPr>
            <a:r>
              <a:rPr lang="ko-KR" altLang="en-US" sz="1100" dirty="0">
                <a:solidFill>
                  <a:schemeClr val="tx1"/>
                </a:solidFill>
                <a:latin typeface="+mj-ea"/>
                <a:ea typeface="+mj-ea"/>
              </a:rPr>
              <a:t>정량</a:t>
            </a:r>
            <a:r>
              <a:rPr lang="en-US" altLang="ko-KR" sz="1100" dirty="0">
                <a:solidFill>
                  <a:schemeClr val="tx1"/>
                </a:solidFill>
                <a:latin typeface="+mj-ea"/>
                <a:ea typeface="+mj-ea"/>
              </a:rPr>
              <a:t>·</a:t>
            </a:r>
            <a:r>
              <a:rPr lang="ko-KR" altLang="en-US" sz="1100" dirty="0">
                <a:solidFill>
                  <a:schemeClr val="tx1"/>
                </a:solidFill>
                <a:latin typeface="+mj-ea"/>
                <a:ea typeface="+mj-ea"/>
              </a:rPr>
              <a:t>정성평가 </a:t>
            </a:r>
            <a:endParaRPr lang="en-US" altLang="ko-KR" sz="1100" dirty="0">
              <a:solidFill>
                <a:schemeClr val="tx1"/>
              </a:solidFill>
              <a:latin typeface="+mj-ea"/>
              <a:ea typeface="+mj-ea"/>
            </a:endParaRPr>
          </a:p>
          <a:p>
            <a:pPr>
              <a:buNone/>
            </a:pPr>
            <a:r>
              <a:rPr lang="ko-KR" altLang="en-US" sz="1100" dirty="0">
                <a:solidFill>
                  <a:schemeClr val="tx1"/>
                </a:solidFill>
                <a:latin typeface="+mj-ea"/>
                <a:ea typeface="+mj-ea"/>
              </a:rPr>
              <a:t>실시</a:t>
            </a:r>
          </a:p>
        </p:txBody>
      </p:sp>
      <p:sp>
        <p:nvSpPr>
          <p:cNvPr id="184" name="오각형 183"/>
          <p:cNvSpPr/>
          <p:nvPr/>
        </p:nvSpPr>
        <p:spPr>
          <a:xfrm>
            <a:off x="585817" y="2096965"/>
            <a:ext cx="1198832" cy="469930"/>
          </a:xfrm>
          <a:prstGeom prst="homePlate">
            <a:avLst>
              <a:gd name="adj" fmla="val 20272"/>
            </a:avLst>
          </a:prstGeom>
          <a:solidFill>
            <a:srgbClr val="212E5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a:solidFill>
                  <a:schemeClr val="bg1"/>
                </a:solidFill>
                <a:latin typeface="+mj-ea"/>
                <a:ea typeface="+mj-ea"/>
              </a:rPr>
              <a:t>전문가 평가</a:t>
            </a:r>
            <a:endParaRPr lang="en-US" altLang="ko-KR">
              <a:solidFill>
                <a:schemeClr val="bg1"/>
              </a:solidFill>
              <a:latin typeface="+mj-ea"/>
              <a:ea typeface="+mj-ea"/>
            </a:endParaRPr>
          </a:p>
        </p:txBody>
      </p:sp>
      <p:sp>
        <p:nvSpPr>
          <p:cNvPr id="196" name="모서리가 둥근 직사각형 195"/>
          <p:cNvSpPr/>
          <p:nvPr/>
        </p:nvSpPr>
        <p:spPr>
          <a:xfrm rot="5400000">
            <a:off x="4451745" y="2313009"/>
            <a:ext cx="231310" cy="826658"/>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lIns="72000" tIns="72000" rIns="72000" bIns="72000" rtlCol="0" anchor="ctr"/>
          <a:lstStyle/>
          <a:p>
            <a:pPr>
              <a:buNone/>
            </a:pPr>
            <a:r>
              <a:rPr lang="en-US" altLang="ko-KR">
                <a:solidFill>
                  <a:srgbClr val="3061A3"/>
                </a:solidFill>
                <a:effectLst>
                  <a:glow rad="139700">
                    <a:schemeClr val="bg1">
                      <a:alpha val="40000"/>
                    </a:schemeClr>
                  </a:glow>
                </a:effectLst>
                <a:latin typeface="+mj-ea"/>
                <a:ea typeface="+mj-ea"/>
              </a:rPr>
              <a:t>NCS </a:t>
            </a:r>
            <a:r>
              <a:rPr lang="ko-KR" altLang="en-US">
                <a:solidFill>
                  <a:srgbClr val="3061A3"/>
                </a:solidFill>
                <a:effectLst>
                  <a:glow rad="139700">
                    <a:schemeClr val="bg1">
                      <a:alpha val="40000"/>
                    </a:schemeClr>
                  </a:glow>
                </a:effectLst>
                <a:latin typeface="+mj-ea"/>
                <a:ea typeface="+mj-ea"/>
              </a:rPr>
              <a:t>활용</a:t>
            </a:r>
            <a:endParaRPr lang="ko-KR" altLang="en-US" dirty="0" err="1">
              <a:solidFill>
                <a:srgbClr val="3061A3"/>
              </a:solidFill>
              <a:effectLst>
                <a:glow rad="139700">
                  <a:schemeClr val="bg1">
                    <a:alpha val="40000"/>
                  </a:schemeClr>
                </a:glow>
              </a:effectLst>
              <a:latin typeface="+mj-ea"/>
              <a:ea typeface="+mj-ea"/>
            </a:endParaRPr>
          </a:p>
        </p:txBody>
      </p:sp>
      <p:sp>
        <p:nvSpPr>
          <p:cNvPr id="64" name="모서리가 둥근 직사각형 63"/>
          <p:cNvSpPr/>
          <p:nvPr/>
        </p:nvSpPr>
        <p:spPr>
          <a:xfrm rot="5400000">
            <a:off x="6605716" y="2346950"/>
            <a:ext cx="395492" cy="826658"/>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lIns="72000" tIns="72000" rIns="72000" bIns="72000" rtlCol="0" anchor="ctr"/>
          <a:lstStyle/>
          <a:p>
            <a:pPr>
              <a:buNone/>
            </a:pPr>
            <a:r>
              <a:rPr lang="en-US" altLang="ko-KR" dirty="0">
                <a:solidFill>
                  <a:srgbClr val="3061A3"/>
                </a:solidFill>
                <a:effectLst>
                  <a:glow rad="139700">
                    <a:schemeClr val="bg1">
                      <a:alpha val="40000"/>
                    </a:schemeClr>
                  </a:glow>
                </a:effectLst>
                <a:latin typeface="+mj-ea"/>
                <a:ea typeface="+mj-ea"/>
              </a:rPr>
              <a:t>NCS </a:t>
            </a:r>
          </a:p>
          <a:p>
            <a:pPr>
              <a:buNone/>
            </a:pPr>
            <a:r>
              <a:rPr lang="ko-KR" altLang="en-US" dirty="0">
                <a:solidFill>
                  <a:srgbClr val="3061A3"/>
                </a:solidFill>
                <a:effectLst>
                  <a:glow rad="139700">
                    <a:schemeClr val="bg1">
                      <a:alpha val="40000"/>
                    </a:schemeClr>
                  </a:glow>
                </a:effectLst>
                <a:latin typeface="+mj-ea"/>
                <a:ea typeface="+mj-ea"/>
              </a:rPr>
              <a:t>능력단위 활용</a:t>
            </a:r>
          </a:p>
        </p:txBody>
      </p:sp>
    </p:spTree>
    <p:extLst>
      <p:ext uri="{BB962C8B-B14F-4D97-AF65-F5344CB8AC3E}">
        <p14:creationId xmlns:p14="http://schemas.microsoft.com/office/powerpoint/2010/main" val="2521067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8EFFA-EF45-27D3-FEA6-0F9F7F179324}"/>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AB5E5FE-5206-7ADB-8B43-CF0A3DC5785A}"/>
              </a:ext>
            </a:extLst>
          </p:cNvPr>
          <p:cNvSpPr>
            <a:spLocks noGrp="1"/>
          </p:cNvSpPr>
          <p:nvPr>
            <p:ph type="body" sz="quarter" idx="12"/>
          </p:nvPr>
        </p:nvSpPr>
        <p:spPr/>
        <p:txBody>
          <a:bodyPr/>
          <a:lstStyle/>
          <a:p>
            <a:pPr latinLnBrk="0"/>
            <a:r>
              <a:rPr lang="ko-KR" altLang="en-US" dirty="0"/>
              <a:t>남은 연구용역 기간 동안 수요조사 결과 분석</a:t>
            </a:r>
            <a:r>
              <a:rPr lang="en-US" altLang="ko-KR" dirty="0"/>
              <a:t> </a:t>
            </a:r>
            <a:r>
              <a:rPr lang="ko-KR" altLang="en-US" dirty="0"/>
              <a:t>이후 신규 과정 개요서 및 </a:t>
            </a:r>
            <a:r>
              <a:rPr lang="ko-KR" altLang="en-US" dirty="0" err="1"/>
              <a:t>기술교육로드맵을</a:t>
            </a:r>
            <a:r>
              <a:rPr lang="ko-KR" altLang="en-US" dirty="0"/>
              <a:t> 작성하고</a:t>
            </a:r>
            <a:r>
              <a:rPr lang="en-US" altLang="ko-KR" dirty="0"/>
              <a:t>,  </a:t>
            </a:r>
            <a:r>
              <a:rPr lang="ko-KR" altLang="en-US" dirty="0"/>
              <a:t>매뉴얼 개발과 직무능력은행제 연계 관련 제언을 도출하겠음</a:t>
            </a:r>
          </a:p>
        </p:txBody>
      </p:sp>
      <p:sp>
        <p:nvSpPr>
          <p:cNvPr id="5" name="텍스트 개체 틀 4">
            <a:extLst>
              <a:ext uri="{FF2B5EF4-FFF2-40B4-BE49-F238E27FC236}">
                <a16:creationId xmlns:a16="http://schemas.microsoft.com/office/drawing/2014/main" id="{302AE724-EDFB-6701-2846-C721E41E7D8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Ⅳ. </a:t>
            </a:r>
            <a:r>
              <a:rPr lang="ko-KR" altLang="en-US" dirty="0">
                <a:latin typeface="+mn-ea"/>
              </a:rPr>
              <a:t>향후 일정</a:t>
            </a:r>
          </a:p>
        </p:txBody>
      </p:sp>
      <p:sp>
        <p:nvSpPr>
          <p:cNvPr id="7" name="텍스트 개체 틀 87">
            <a:extLst>
              <a:ext uri="{FF2B5EF4-FFF2-40B4-BE49-F238E27FC236}">
                <a16:creationId xmlns:a16="http://schemas.microsoft.com/office/drawing/2014/main" id="{AAB4E72F-307D-FFF9-54F3-A369937FF5EE}"/>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mn-ea"/>
              </a:rPr>
              <a:t>향후 일정</a:t>
            </a:r>
          </a:p>
        </p:txBody>
      </p:sp>
      <p:sp>
        <p:nvSpPr>
          <p:cNvPr id="8" name="직사각형 7">
            <a:extLst>
              <a:ext uri="{FF2B5EF4-FFF2-40B4-BE49-F238E27FC236}">
                <a16:creationId xmlns:a16="http://schemas.microsoft.com/office/drawing/2014/main" id="{E9AE3544-AF7D-DD15-407C-0B1C2D881DDD}"/>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BCE72F3B-970B-7DC3-9CC2-4B8A2F7CFDBF}"/>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grpSp>
        <p:nvGrpSpPr>
          <p:cNvPr id="6" name="그룹 5">
            <a:extLst>
              <a:ext uri="{FF2B5EF4-FFF2-40B4-BE49-F238E27FC236}">
                <a16:creationId xmlns:a16="http://schemas.microsoft.com/office/drawing/2014/main" id="{891B68B7-6ADF-AA47-6D29-309314FC315F}"/>
              </a:ext>
            </a:extLst>
          </p:cNvPr>
          <p:cNvGrpSpPr/>
          <p:nvPr/>
        </p:nvGrpSpPr>
        <p:grpSpPr>
          <a:xfrm>
            <a:off x="596515" y="1681027"/>
            <a:ext cx="8749097" cy="266602"/>
            <a:chOff x="802640" y="2236632"/>
            <a:chExt cx="4130805" cy="266552"/>
          </a:xfrm>
        </p:grpSpPr>
        <p:sp>
          <p:nvSpPr>
            <p:cNvPr id="10" name="ListLeanHorizontalTextTopic0">
              <a:extLst>
                <a:ext uri="{FF2B5EF4-FFF2-40B4-BE49-F238E27FC236}">
                  <a16:creationId xmlns:a16="http://schemas.microsoft.com/office/drawing/2014/main" id="{32765AB4-468E-420D-4EB4-5D5C864CE2F7}"/>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향후 과업 진행 프로세스</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1" name="Horizontal Line">
              <a:extLst>
                <a:ext uri="{FF2B5EF4-FFF2-40B4-BE49-F238E27FC236}">
                  <a16:creationId xmlns:a16="http://schemas.microsoft.com/office/drawing/2014/main" id="{A375917C-ED57-E8C5-6D0E-B89B8DB264AA}"/>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37" name="그룹 36">
            <a:extLst>
              <a:ext uri="{FF2B5EF4-FFF2-40B4-BE49-F238E27FC236}">
                <a16:creationId xmlns:a16="http://schemas.microsoft.com/office/drawing/2014/main" id="{1C195175-4F2B-0E96-351E-DEF582AB9BCC}"/>
              </a:ext>
            </a:extLst>
          </p:cNvPr>
          <p:cNvGrpSpPr/>
          <p:nvPr/>
        </p:nvGrpSpPr>
        <p:grpSpPr>
          <a:xfrm>
            <a:off x="599279" y="3032956"/>
            <a:ext cx="7558076" cy="653278"/>
            <a:chOff x="599279" y="3032956"/>
            <a:chExt cx="7558076" cy="653278"/>
          </a:xfrm>
        </p:grpSpPr>
        <p:sp>
          <p:nvSpPr>
            <p:cNvPr id="12" name="직사각형 11">
              <a:extLst>
                <a:ext uri="{FF2B5EF4-FFF2-40B4-BE49-F238E27FC236}">
                  <a16:creationId xmlns:a16="http://schemas.microsoft.com/office/drawing/2014/main" id="{541CE0C8-7609-BD10-4083-B55C1FD977C3}"/>
                </a:ext>
              </a:extLst>
            </p:cNvPr>
            <p:cNvSpPr/>
            <p:nvPr/>
          </p:nvSpPr>
          <p:spPr>
            <a:xfrm>
              <a:off x="599279" y="3032956"/>
              <a:ext cx="2301495" cy="653278"/>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nSpc>
                  <a:spcPct val="110000"/>
                </a:lnSpc>
                <a:buNone/>
              </a:pPr>
              <a:r>
                <a:rPr lang="ko-KR" altLang="en-US" dirty="0">
                  <a:solidFill>
                    <a:schemeClr val="bg1"/>
                  </a:solidFill>
                  <a:latin typeface="+mj-ea"/>
                  <a:ea typeface="+mj-ea"/>
                </a:rPr>
                <a:t>➊</a:t>
              </a:r>
              <a:r>
                <a:rPr lang="ko-KR" altLang="en-US" dirty="0">
                  <a:solidFill>
                    <a:schemeClr val="bg1"/>
                  </a:solidFill>
                  <a:latin typeface="a고딕14" panose="02020600000000000000" pitchFamily="18" charset="-127"/>
                  <a:ea typeface="a고딕14" panose="02020600000000000000" pitchFamily="18" charset="-127"/>
                </a:rPr>
                <a:t> </a:t>
              </a:r>
              <a:r>
                <a:rPr lang="ko-KR" altLang="en-US" dirty="0">
                  <a:solidFill>
                    <a:schemeClr val="bg1"/>
                  </a:solidFill>
                  <a:latin typeface="+mj-ea"/>
                  <a:ea typeface="+mj-ea"/>
                </a:rPr>
                <a:t>과정개요서 검토 및 작성</a:t>
              </a:r>
            </a:p>
          </p:txBody>
        </p:sp>
        <p:sp>
          <p:nvSpPr>
            <p:cNvPr id="17" name="직사각형 16">
              <a:extLst>
                <a:ext uri="{FF2B5EF4-FFF2-40B4-BE49-F238E27FC236}">
                  <a16:creationId xmlns:a16="http://schemas.microsoft.com/office/drawing/2014/main" id="{88E22661-3849-68BE-BF75-5F41C00916B8}"/>
                </a:ext>
              </a:extLst>
            </p:cNvPr>
            <p:cNvSpPr/>
            <p:nvPr/>
          </p:nvSpPr>
          <p:spPr>
            <a:xfrm>
              <a:off x="3041720" y="3032956"/>
              <a:ext cx="5115635" cy="653278"/>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수요조사 결과 선정된 </a:t>
              </a:r>
              <a:r>
                <a:rPr lang="en-US" altLang="ko-KR" sz="1100" dirty="0">
                  <a:solidFill>
                    <a:schemeClr val="tx1"/>
                  </a:solidFill>
                  <a:latin typeface="a고딕14" panose="02020600000000000000" pitchFamily="18" charset="-127"/>
                  <a:ea typeface="a고딕14" panose="02020600000000000000" pitchFamily="18" charset="-127"/>
                </a:rPr>
                <a:t>354</a:t>
              </a:r>
              <a:r>
                <a:rPr lang="ko-KR" altLang="en-US" sz="1100" dirty="0">
                  <a:solidFill>
                    <a:schemeClr val="tx1"/>
                  </a:solidFill>
                  <a:latin typeface="a고딕14" panose="02020600000000000000" pitchFamily="18" charset="-127"/>
                  <a:ea typeface="a고딕14" panose="02020600000000000000" pitchFamily="18" charset="-127"/>
                </a:rPr>
                <a:t>개 과정에 대해 과정개요서 작성 </a:t>
              </a:r>
              <a:endParaRPr lang="en-US" altLang="ko-KR" sz="1100" dirty="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rial" panose="020B0604020202020204" pitchFamily="34" charset="0"/>
                <a:buChar char="•"/>
              </a:pPr>
              <a:r>
                <a:rPr lang="en-US" altLang="ko-KR" sz="1100" dirty="0">
                  <a:solidFill>
                    <a:schemeClr val="tx1"/>
                  </a:solidFill>
                  <a:latin typeface="a고딕14" panose="02020600000000000000" pitchFamily="18" charset="-127"/>
                  <a:ea typeface="a고딕14" panose="02020600000000000000" pitchFamily="18" charset="-127"/>
                </a:rPr>
                <a:t>AI </a:t>
              </a:r>
              <a:r>
                <a:rPr lang="ko-KR" altLang="en-US" sz="1100" dirty="0" err="1">
                  <a:solidFill>
                    <a:schemeClr val="tx1"/>
                  </a:solidFill>
                  <a:latin typeface="a고딕14" panose="02020600000000000000" pitchFamily="18" charset="-127"/>
                  <a:ea typeface="a고딕14" panose="02020600000000000000" pitchFamily="18" charset="-127"/>
                </a:rPr>
                <a:t>리터러시</a:t>
              </a:r>
              <a:r>
                <a:rPr lang="ko-KR" altLang="en-US" sz="1100" dirty="0">
                  <a:solidFill>
                    <a:schemeClr val="tx1"/>
                  </a:solidFill>
                  <a:latin typeface="a고딕14" panose="02020600000000000000" pitchFamily="18" charset="-127"/>
                  <a:ea typeface="a고딕14" panose="02020600000000000000" pitchFamily="18" charset="-127"/>
                </a:rPr>
                <a:t> 교육과정 </a:t>
              </a:r>
              <a:r>
                <a:rPr lang="en-US" altLang="ko-KR" sz="1100" dirty="0">
                  <a:solidFill>
                    <a:schemeClr val="tx1"/>
                  </a:solidFill>
                  <a:latin typeface="a고딕14" panose="02020600000000000000" pitchFamily="18" charset="-127"/>
                  <a:ea typeface="a고딕14" panose="02020600000000000000" pitchFamily="18" charset="-127"/>
                </a:rPr>
                <a:t>26</a:t>
              </a:r>
              <a:r>
                <a:rPr lang="ko-KR" altLang="en-US" sz="1100" dirty="0">
                  <a:solidFill>
                    <a:schemeClr val="tx1"/>
                  </a:solidFill>
                  <a:latin typeface="a고딕14" panose="02020600000000000000" pitchFamily="18" charset="-127"/>
                  <a:ea typeface="a고딕14" panose="02020600000000000000" pitchFamily="18" charset="-127"/>
                </a:rPr>
                <a:t>개 과정개요서 작성</a:t>
              </a:r>
              <a:endParaRPr lang="en-US" altLang="ko-KR" sz="1100" dirty="0">
                <a:solidFill>
                  <a:schemeClr val="tx1"/>
                </a:solidFill>
                <a:latin typeface="a고딕14" panose="02020600000000000000" pitchFamily="18" charset="-127"/>
                <a:ea typeface="a고딕14" panose="02020600000000000000" pitchFamily="18" charset="-127"/>
              </a:endParaRPr>
            </a:p>
          </p:txBody>
        </p:sp>
      </p:grpSp>
      <p:sp>
        <p:nvSpPr>
          <p:cNvPr id="18" name="설명선: 아래쪽 화살표 17">
            <a:extLst>
              <a:ext uri="{FF2B5EF4-FFF2-40B4-BE49-F238E27FC236}">
                <a16:creationId xmlns:a16="http://schemas.microsoft.com/office/drawing/2014/main" id="{9F9534D7-E794-8B75-C1E9-FE7A1BA3CE82}"/>
              </a:ext>
            </a:extLst>
          </p:cNvPr>
          <p:cNvSpPr/>
          <p:nvPr/>
        </p:nvSpPr>
        <p:spPr>
          <a:xfrm>
            <a:off x="599279" y="2097088"/>
            <a:ext cx="2301495" cy="849583"/>
          </a:xfrm>
          <a:prstGeom prst="downArrowCallout">
            <a:avLst>
              <a:gd name="adj1" fmla="val 25189"/>
              <a:gd name="adj2" fmla="val 25000"/>
              <a:gd name="adj3" fmla="val 8077"/>
              <a:gd name="adj4" fmla="val 84225"/>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nSpc>
                <a:spcPct val="110000"/>
              </a:lnSpc>
              <a:buNone/>
            </a:pPr>
            <a:r>
              <a:rPr lang="ko-KR" altLang="en-US" dirty="0">
                <a:solidFill>
                  <a:schemeClr val="bg1"/>
                </a:solidFill>
                <a:latin typeface="+mj-ea"/>
                <a:ea typeface="+mj-ea"/>
              </a:rPr>
              <a:t>수요조사 결과 분석</a:t>
            </a:r>
          </a:p>
        </p:txBody>
      </p:sp>
      <p:sp>
        <p:nvSpPr>
          <p:cNvPr id="19" name="직사각형 18">
            <a:extLst>
              <a:ext uri="{FF2B5EF4-FFF2-40B4-BE49-F238E27FC236}">
                <a16:creationId xmlns:a16="http://schemas.microsoft.com/office/drawing/2014/main" id="{3C849B2C-F0C7-FF36-CB57-F39E70A143E6}"/>
              </a:ext>
            </a:extLst>
          </p:cNvPr>
          <p:cNvSpPr/>
          <p:nvPr/>
        </p:nvSpPr>
        <p:spPr>
          <a:xfrm>
            <a:off x="3041720" y="2097087"/>
            <a:ext cx="5115635" cy="719841"/>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이러닝 개발 필요성</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수강의향</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가상훈련 개발 필요성 </a:t>
            </a:r>
            <a:r>
              <a:rPr lang="en-US" altLang="ko-KR" sz="1100" dirty="0">
                <a:solidFill>
                  <a:schemeClr val="tx1"/>
                </a:solidFill>
                <a:latin typeface="a고딕14" panose="02020600000000000000" pitchFamily="18" charset="-127"/>
                <a:ea typeface="a고딕14" panose="02020600000000000000" pitchFamily="18" charset="-127"/>
              </a:rPr>
              <a:t>3</a:t>
            </a:r>
            <a:r>
              <a:rPr lang="ko-KR" altLang="en-US" sz="1100" dirty="0">
                <a:solidFill>
                  <a:schemeClr val="tx1"/>
                </a:solidFill>
                <a:latin typeface="a고딕14" panose="02020600000000000000" pitchFamily="18" charset="-127"/>
                <a:ea typeface="a고딕14" panose="02020600000000000000" pitchFamily="18" charset="-127"/>
              </a:rPr>
              <a:t>개 평가항목의 합을 응답자 수로 나눠 평균값 도출</a:t>
            </a:r>
            <a:endParaRPr lang="en-US" altLang="ko-KR" sz="1100" dirty="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과정별 </a:t>
            </a:r>
            <a:r>
              <a:rPr lang="en-US" altLang="ko-KR" sz="1100" dirty="0">
                <a:solidFill>
                  <a:schemeClr val="tx1"/>
                </a:solidFill>
                <a:latin typeface="a고딕14" panose="02020600000000000000" pitchFamily="18" charset="-127"/>
                <a:ea typeface="a고딕14" panose="02020600000000000000" pitchFamily="18" charset="-127"/>
              </a:rPr>
              <a:t>NCS </a:t>
            </a:r>
            <a:r>
              <a:rPr lang="ko-KR" altLang="en-US" sz="1100" dirty="0">
                <a:solidFill>
                  <a:schemeClr val="tx1"/>
                </a:solidFill>
                <a:latin typeface="a고딕14" panose="02020600000000000000" pitchFamily="18" charset="-127"/>
                <a:ea typeface="a고딕14" panose="02020600000000000000" pitchFamily="18" charset="-127"/>
              </a:rPr>
              <a:t>능력단위의 </a:t>
            </a:r>
            <a:r>
              <a:rPr lang="ko-KR" altLang="en-US" sz="1100" dirty="0" err="1">
                <a:solidFill>
                  <a:schemeClr val="tx1"/>
                </a:solidFill>
                <a:latin typeface="a고딕14" panose="02020600000000000000" pitchFamily="18" charset="-127"/>
                <a:ea typeface="a고딕14" panose="02020600000000000000" pitchFamily="18" charset="-127"/>
              </a:rPr>
              <a:t>세분류</a:t>
            </a:r>
            <a:r>
              <a:rPr lang="ko-KR" altLang="en-US" sz="1100" dirty="0">
                <a:solidFill>
                  <a:schemeClr val="tx1"/>
                </a:solidFill>
                <a:latin typeface="a고딕14" panose="02020600000000000000" pitchFamily="18" charset="-127"/>
                <a:ea typeface="a고딕14" panose="02020600000000000000" pitchFamily="18" charset="-127"/>
              </a:rPr>
              <a:t> </a:t>
            </a:r>
            <a:r>
              <a:rPr lang="ko-KR" altLang="en-US" sz="1100" dirty="0" err="1">
                <a:solidFill>
                  <a:schemeClr val="tx1"/>
                </a:solidFill>
                <a:latin typeface="a고딕14" panose="02020600000000000000" pitchFamily="18" charset="-127"/>
                <a:ea typeface="a고딕14" panose="02020600000000000000" pitchFamily="18" charset="-127"/>
              </a:rPr>
              <a:t>평가값과</a:t>
            </a:r>
            <a:r>
              <a:rPr lang="ko-KR" altLang="en-US" sz="1100" dirty="0">
                <a:solidFill>
                  <a:schemeClr val="tx1"/>
                </a:solidFill>
                <a:latin typeface="a고딕14" panose="02020600000000000000" pitchFamily="18" charset="-127"/>
                <a:ea typeface="a고딕14" panose="02020600000000000000" pitchFamily="18" charset="-127"/>
              </a:rPr>
              <a:t> </a:t>
            </a:r>
            <a:r>
              <a:rPr lang="en-US" altLang="ko-KR" sz="1100" dirty="0">
                <a:solidFill>
                  <a:schemeClr val="tx1"/>
                </a:solidFill>
                <a:latin typeface="a고딕14" panose="02020600000000000000" pitchFamily="18" charset="-127"/>
                <a:ea typeface="a고딕14" panose="02020600000000000000" pitchFamily="18" charset="-127"/>
              </a:rPr>
              <a:t>1:1 </a:t>
            </a:r>
            <a:r>
              <a:rPr lang="ko-KR" altLang="en-US" sz="1100" dirty="0">
                <a:solidFill>
                  <a:schemeClr val="tx1"/>
                </a:solidFill>
                <a:latin typeface="a고딕14" panose="02020600000000000000" pitchFamily="18" charset="-127"/>
                <a:ea typeface="a고딕14" panose="02020600000000000000" pitchFamily="18" charset="-127"/>
              </a:rPr>
              <a:t>환산을 통해 총점 산출하여 최종 순위 도출</a:t>
            </a:r>
            <a:endParaRPr lang="en-US" altLang="ko-KR" sz="1100" dirty="0">
              <a:solidFill>
                <a:schemeClr val="tx1"/>
              </a:solidFill>
              <a:latin typeface="a고딕14" panose="02020600000000000000" pitchFamily="18" charset="-127"/>
              <a:ea typeface="a고딕14" panose="02020600000000000000" pitchFamily="18" charset="-127"/>
            </a:endParaRPr>
          </a:p>
        </p:txBody>
      </p:sp>
      <p:grpSp>
        <p:nvGrpSpPr>
          <p:cNvPr id="36" name="그룹 35">
            <a:extLst>
              <a:ext uri="{FF2B5EF4-FFF2-40B4-BE49-F238E27FC236}">
                <a16:creationId xmlns:a16="http://schemas.microsoft.com/office/drawing/2014/main" id="{83FD814E-7F04-3ABD-F48A-8B7471C7D377}"/>
              </a:ext>
            </a:extLst>
          </p:cNvPr>
          <p:cNvGrpSpPr/>
          <p:nvPr/>
        </p:nvGrpSpPr>
        <p:grpSpPr>
          <a:xfrm>
            <a:off x="610382" y="3786561"/>
            <a:ext cx="7546047" cy="1647099"/>
            <a:chOff x="610382" y="3753035"/>
            <a:chExt cx="7546047" cy="1647099"/>
          </a:xfrm>
        </p:grpSpPr>
        <p:sp>
          <p:nvSpPr>
            <p:cNvPr id="13" name="직사각형 12">
              <a:extLst>
                <a:ext uri="{FF2B5EF4-FFF2-40B4-BE49-F238E27FC236}">
                  <a16:creationId xmlns:a16="http://schemas.microsoft.com/office/drawing/2014/main" id="{63E6F82B-8A40-01EC-9130-B16695A0EE3C}"/>
                </a:ext>
              </a:extLst>
            </p:cNvPr>
            <p:cNvSpPr/>
            <p:nvPr/>
          </p:nvSpPr>
          <p:spPr>
            <a:xfrm>
              <a:off x="610382" y="3753037"/>
              <a:ext cx="2290392" cy="164709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nSpc>
                  <a:spcPct val="110000"/>
                </a:lnSpc>
                <a:buNone/>
              </a:pPr>
              <a:r>
                <a:rPr lang="ko-KR" altLang="en-US" dirty="0">
                  <a:solidFill>
                    <a:schemeClr val="bg1"/>
                  </a:solidFill>
                  <a:latin typeface="a고딕14" panose="02020600000000000000" pitchFamily="18" charset="-127"/>
                  <a:ea typeface="a고딕14" panose="02020600000000000000" pitchFamily="18" charset="-127"/>
                </a:rPr>
                <a:t>➋ </a:t>
              </a:r>
              <a:r>
                <a:rPr lang="ko-KR" altLang="en-US" dirty="0" err="1">
                  <a:solidFill>
                    <a:schemeClr val="bg1"/>
                  </a:solidFill>
                  <a:latin typeface="+mj-ea"/>
                  <a:ea typeface="+mj-ea"/>
                </a:rPr>
                <a:t>기술교육로드맵</a:t>
              </a:r>
              <a:r>
                <a:rPr lang="en-US" altLang="ko-KR" dirty="0">
                  <a:solidFill>
                    <a:schemeClr val="bg1"/>
                  </a:solidFill>
                  <a:latin typeface="+mj-ea"/>
                  <a:ea typeface="+mj-ea"/>
                </a:rPr>
                <a:t>(TTR) </a:t>
              </a:r>
              <a:br>
                <a:rPr lang="en-US" altLang="ko-KR" dirty="0">
                  <a:solidFill>
                    <a:schemeClr val="bg1"/>
                  </a:solidFill>
                  <a:latin typeface="+mj-ea"/>
                  <a:ea typeface="+mj-ea"/>
                </a:rPr>
              </a:br>
              <a:r>
                <a:rPr lang="ko-KR" altLang="en-US" dirty="0">
                  <a:solidFill>
                    <a:schemeClr val="bg1"/>
                  </a:solidFill>
                  <a:latin typeface="+mj-ea"/>
                  <a:ea typeface="+mj-ea"/>
                </a:rPr>
                <a:t>직무체계 최신화 및 작성</a:t>
              </a:r>
            </a:p>
          </p:txBody>
        </p:sp>
        <p:sp>
          <p:nvSpPr>
            <p:cNvPr id="20" name="직사각형 19">
              <a:extLst>
                <a:ext uri="{FF2B5EF4-FFF2-40B4-BE49-F238E27FC236}">
                  <a16:creationId xmlns:a16="http://schemas.microsoft.com/office/drawing/2014/main" id="{C40656C7-1ABD-6432-3635-47DCB6B7B8F9}"/>
                </a:ext>
              </a:extLst>
            </p:cNvPr>
            <p:cNvSpPr/>
            <p:nvPr/>
          </p:nvSpPr>
          <p:spPr>
            <a:xfrm>
              <a:off x="3040794" y="3753035"/>
              <a:ext cx="5115635" cy="1647097"/>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6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과정개요서 작성 후 </a:t>
              </a:r>
              <a:r>
                <a:rPr lang="en-US" altLang="ko-KR" sz="1100" dirty="0">
                  <a:solidFill>
                    <a:schemeClr val="tx1"/>
                  </a:solidFill>
                  <a:latin typeface="a고딕14" panose="02020600000000000000" pitchFamily="18" charset="-127"/>
                  <a:ea typeface="a고딕14" panose="02020600000000000000" pitchFamily="18" charset="-127"/>
                </a:rPr>
                <a:t>SQF </a:t>
              </a:r>
              <a:r>
                <a:rPr lang="ko-KR" altLang="en-US" sz="1100" dirty="0">
                  <a:solidFill>
                    <a:schemeClr val="tx1"/>
                  </a:solidFill>
                  <a:latin typeface="a고딕14" panose="02020600000000000000" pitchFamily="18" charset="-127"/>
                  <a:ea typeface="a고딕14" panose="02020600000000000000" pitchFamily="18" charset="-127"/>
                </a:rPr>
                <a:t>기반 훈련과정설계가이드</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과정평가형 자격 편성기준을 참고해 학습흐름 도출</a:t>
              </a:r>
              <a:br>
                <a:rPr lang="en-US" altLang="ko-KR" sz="1100" dirty="0">
                  <a:solidFill>
                    <a:schemeClr val="tx1"/>
                  </a:solidFill>
                  <a:latin typeface="a고딕14" panose="02020600000000000000" pitchFamily="18" charset="-127"/>
                  <a:ea typeface="a고딕14" panose="02020600000000000000" pitchFamily="18" charset="-127"/>
                </a:rPr>
              </a:b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학습흐름의 결과물은 現패키지 과정의 운영 형태를 고려해 별도의 과정목록과 학습흐름도 제출 예정</a:t>
              </a:r>
              <a:r>
                <a:rPr lang="en-US" altLang="ko-KR" sz="1100" dirty="0">
                  <a:solidFill>
                    <a:schemeClr val="tx1"/>
                  </a:solidFill>
                  <a:latin typeface="a고딕14" panose="02020600000000000000" pitchFamily="18" charset="-127"/>
                  <a:ea typeface="a고딕14" panose="02020600000000000000" pitchFamily="18" charset="-127"/>
                </a:rPr>
                <a:t>)</a:t>
              </a:r>
            </a:p>
            <a:p>
              <a:pPr marL="108000" indent="-108000" algn="l" latinLnBrk="0">
                <a:lnSpc>
                  <a:spcPct val="120000"/>
                </a:lnSpc>
                <a:spcAft>
                  <a:spcPts val="6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훈련과정별 </a:t>
              </a:r>
              <a:r>
                <a:rPr lang="en-US" altLang="ko-KR" sz="1100" dirty="0">
                  <a:solidFill>
                    <a:schemeClr val="tx1"/>
                  </a:solidFill>
                  <a:latin typeface="a고딕14" panose="02020600000000000000" pitchFamily="18" charset="-127"/>
                  <a:ea typeface="a고딕14" panose="02020600000000000000" pitchFamily="18" charset="-127"/>
                </a:rPr>
                <a:t>NCS </a:t>
              </a:r>
              <a:r>
                <a:rPr lang="ko-KR" altLang="en-US" sz="1100" dirty="0">
                  <a:solidFill>
                    <a:schemeClr val="tx1"/>
                  </a:solidFill>
                  <a:latin typeface="a고딕14" panose="02020600000000000000" pitchFamily="18" charset="-127"/>
                  <a:ea typeface="a고딕14" panose="02020600000000000000" pitchFamily="18" charset="-127"/>
                </a:rPr>
                <a:t>세분류를 기준으로 </a:t>
              </a:r>
              <a:r>
                <a:rPr lang="en-US" altLang="ko-KR" sz="1100" dirty="0">
                  <a:solidFill>
                    <a:schemeClr val="tx1"/>
                  </a:solidFill>
                  <a:latin typeface="a고딕14" panose="02020600000000000000" pitchFamily="18" charset="-127"/>
                  <a:ea typeface="a고딕14" panose="02020600000000000000" pitchFamily="18" charset="-127"/>
                </a:rPr>
                <a:t>SQF </a:t>
              </a:r>
              <a:r>
                <a:rPr lang="ko-KR" altLang="en-US" sz="1100" dirty="0">
                  <a:solidFill>
                    <a:schemeClr val="tx1"/>
                  </a:solidFill>
                  <a:latin typeface="a고딕14" panose="02020600000000000000" pitchFamily="18" charset="-127"/>
                  <a:ea typeface="a고딕14" panose="02020600000000000000" pitchFamily="18" charset="-127"/>
                </a:rPr>
                <a:t>직무</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순위</a:t>
              </a:r>
              <a:r>
                <a:rPr lang="en-US" altLang="ko-KR" sz="1100" dirty="0">
                  <a:solidFill>
                    <a:schemeClr val="tx1"/>
                  </a:solidFill>
                  <a:latin typeface="a고딕14" panose="02020600000000000000" pitchFamily="18" charset="-127"/>
                  <a:ea typeface="a고딕14" panose="02020600000000000000" pitchFamily="18" charset="-127"/>
                </a:rPr>
                <a:t>), NCS</a:t>
              </a:r>
              <a:r>
                <a:rPr lang="ko-KR" altLang="en-US" sz="1100" dirty="0">
                  <a:solidFill>
                    <a:schemeClr val="tx1"/>
                  </a:solidFill>
                  <a:latin typeface="a고딕14" panose="02020600000000000000" pitchFamily="18" charset="-127"/>
                  <a:ea typeface="a고딕14" panose="02020600000000000000" pitchFamily="18" charset="-127"/>
                </a:rPr>
                <a:t> 경력개발모형 직무</a:t>
              </a:r>
              <a:r>
                <a:rPr lang="en-US" altLang="ko-KR" sz="1100" dirty="0">
                  <a:solidFill>
                    <a:schemeClr val="tx1"/>
                  </a:solidFill>
                  <a:latin typeface="a고딕14" panose="02020600000000000000" pitchFamily="18" charset="-127"/>
                  <a:ea typeface="a고딕14" panose="02020600000000000000" pitchFamily="18" charset="-127"/>
                </a:rPr>
                <a:t>(2</a:t>
              </a:r>
              <a:r>
                <a:rPr lang="ko-KR" altLang="en-US" sz="1100" dirty="0">
                  <a:solidFill>
                    <a:schemeClr val="tx1"/>
                  </a:solidFill>
                  <a:latin typeface="a고딕14" panose="02020600000000000000" pitchFamily="18" charset="-127"/>
                  <a:ea typeface="a고딕14" panose="02020600000000000000" pitchFamily="18" charset="-127"/>
                </a:rPr>
                <a:t>순위</a:t>
              </a:r>
              <a:r>
                <a:rPr lang="en-US" altLang="ko-KR" sz="1100" dirty="0">
                  <a:solidFill>
                    <a:schemeClr val="tx1"/>
                  </a:solidFill>
                  <a:latin typeface="a고딕14" panose="02020600000000000000" pitchFamily="18" charset="-127"/>
                  <a:ea typeface="a고딕14" panose="02020600000000000000" pitchFamily="18" charset="-127"/>
                </a:rPr>
                <a:t>), NCS </a:t>
              </a:r>
              <a:r>
                <a:rPr lang="ko-KR" altLang="en-US" sz="1100" dirty="0" err="1">
                  <a:solidFill>
                    <a:schemeClr val="tx1"/>
                  </a:solidFill>
                  <a:latin typeface="a고딕14" panose="02020600000000000000" pitchFamily="18" charset="-127"/>
                  <a:ea typeface="a고딕14" panose="02020600000000000000" pitchFamily="18" charset="-127"/>
                </a:rPr>
                <a:t>세분류</a:t>
              </a:r>
              <a:r>
                <a:rPr lang="en-US" altLang="ko-KR" sz="1100" dirty="0">
                  <a:solidFill>
                    <a:schemeClr val="tx1"/>
                  </a:solidFill>
                  <a:latin typeface="a고딕14" panose="02020600000000000000" pitchFamily="18" charset="-127"/>
                  <a:ea typeface="a고딕14" panose="02020600000000000000" pitchFamily="18" charset="-127"/>
                </a:rPr>
                <a:t>(3</a:t>
              </a:r>
              <a:r>
                <a:rPr lang="ko-KR" altLang="en-US" sz="1100" dirty="0">
                  <a:solidFill>
                    <a:schemeClr val="tx1"/>
                  </a:solidFill>
                  <a:latin typeface="a고딕14" panose="02020600000000000000" pitchFamily="18" charset="-127"/>
                  <a:ea typeface="a고딕14" panose="02020600000000000000" pitchFamily="18" charset="-127"/>
                </a:rPr>
                <a:t>순위</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와 매칭하여 직무체계 최신화</a:t>
              </a:r>
              <a:endParaRPr lang="en-US" altLang="ko-KR" sz="1100" dirty="0">
                <a:solidFill>
                  <a:schemeClr val="tx1"/>
                </a:solidFill>
                <a:latin typeface="a고딕14" panose="02020600000000000000" pitchFamily="18" charset="-127"/>
                <a:ea typeface="a고딕14" panose="02020600000000000000" pitchFamily="18" charset="-127"/>
              </a:endParaRPr>
            </a:p>
            <a:p>
              <a:pPr marL="108000" indent="-108000" algn="l" latinLnBrk="0">
                <a:lnSpc>
                  <a:spcPct val="120000"/>
                </a:lnSpc>
                <a:spcAft>
                  <a:spcPts val="6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직무체계 최신화 후 대분류별 </a:t>
              </a:r>
              <a:r>
                <a:rPr lang="ko-KR" altLang="en-US" sz="1100" dirty="0" err="1">
                  <a:solidFill>
                    <a:schemeClr val="tx1"/>
                  </a:solidFill>
                  <a:latin typeface="a고딕14" panose="02020600000000000000" pitchFamily="18" charset="-127"/>
                  <a:ea typeface="a고딕14" panose="02020600000000000000" pitchFamily="18" charset="-127"/>
                </a:rPr>
                <a:t>기술교육로드맵</a:t>
              </a:r>
              <a:r>
                <a:rPr lang="en-US" altLang="ko-KR" sz="1100" dirty="0">
                  <a:solidFill>
                    <a:schemeClr val="tx1"/>
                  </a:solidFill>
                  <a:latin typeface="a고딕14" panose="02020600000000000000" pitchFamily="18" charset="-127"/>
                  <a:ea typeface="a고딕14" panose="02020600000000000000" pitchFamily="18" charset="-127"/>
                </a:rPr>
                <a:t>(TTR)</a:t>
              </a:r>
              <a:r>
                <a:rPr lang="ko-KR" altLang="en-US" sz="1100" dirty="0">
                  <a:solidFill>
                    <a:schemeClr val="tx1"/>
                  </a:solidFill>
                  <a:latin typeface="a고딕14" panose="02020600000000000000" pitchFamily="18" charset="-127"/>
                  <a:ea typeface="a고딕14" panose="02020600000000000000" pitchFamily="18" charset="-127"/>
                </a:rPr>
                <a:t> 작성</a:t>
              </a:r>
              <a:endParaRPr lang="en-US" altLang="ko-KR" sz="1100" dirty="0">
                <a:solidFill>
                  <a:schemeClr val="tx1"/>
                </a:solidFill>
                <a:latin typeface="a고딕14" panose="02020600000000000000" pitchFamily="18" charset="-127"/>
                <a:ea typeface="a고딕14" panose="02020600000000000000" pitchFamily="18" charset="-127"/>
              </a:endParaRPr>
            </a:p>
          </p:txBody>
        </p:sp>
      </p:grpSp>
      <p:grpSp>
        <p:nvGrpSpPr>
          <p:cNvPr id="38" name="그룹 37">
            <a:extLst>
              <a:ext uri="{FF2B5EF4-FFF2-40B4-BE49-F238E27FC236}">
                <a16:creationId xmlns:a16="http://schemas.microsoft.com/office/drawing/2014/main" id="{C3AE461B-5C5D-3852-3B6A-6ECA3774AA32}"/>
              </a:ext>
            </a:extLst>
          </p:cNvPr>
          <p:cNvGrpSpPr/>
          <p:nvPr/>
        </p:nvGrpSpPr>
        <p:grpSpPr>
          <a:xfrm>
            <a:off x="610382" y="5533987"/>
            <a:ext cx="7546974" cy="531674"/>
            <a:chOff x="610382" y="5517232"/>
            <a:chExt cx="7546974" cy="531674"/>
          </a:xfrm>
        </p:grpSpPr>
        <p:sp>
          <p:nvSpPr>
            <p:cNvPr id="14" name="직사각형 13">
              <a:extLst>
                <a:ext uri="{FF2B5EF4-FFF2-40B4-BE49-F238E27FC236}">
                  <a16:creationId xmlns:a16="http://schemas.microsoft.com/office/drawing/2014/main" id="{0E8D9470-9737-B6B2-4F6D-74068BBB66E5}"/>
                </a:ext>
              </a:extLst>
            </p:cNvPr>
            <p:cNvSpPr/>
            <p:nvPr/>
          </p:nvSpPr>
          <p:spPr>
            <a:xfrm>
              <a:off x="610382" y="5517234"/>
              <a:ext cx="2290392" cy="531672"/>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nSpc>
                  <a:spcPct val="110000"/>
                </a:lnSpc>
                <a:buNone/>
              </a:pPr>
              <a:r>
                <a:rPr lang="ko-KR" altLang="en-US" dirty="0">
                  <a:solidFill>
                    <a:schemeClr val="bg1"/>
                  </a:solidFill>
                  <a:latin typeface="a고딕14" panose="02020600000000000000" pitchFamily="18" charset="-127"/>
                  <a:ea typeface="a고딕14" panose="02020600000000000000" pitchFamily="18" charset="-127"/>
                </a:rPr>
                <a:t>➌ </a:t>
              </a:r>
              <a:r>
                <a:rPr lang="ko-KR" altLang="en-US" dirty="0" err="1">
                  <a:solidFill>
                    <a:schemeClr val="bg1"/>
                  </a:solidFill>
                  <a:latin typeface="a고딕14" panose="02020600000000000000" pitchFamily="18" charset="-127"/>
                  <a:ea typeface="a고딕14" panose="02020600000000000000" pitchFamily="18" charset="-127"/>
                </a:rPr>
                <a:t>기술교육로드맵</a:t>
              </a:r>
              <a:r>
                <a:rPr lang="en-US" altLang="ko-KR" dirty="0">
                  <a:solidFill>
                    <a:schemeClr val="bg1"/>
                  </a:solidFill>
                  <a:latin typeface="a고딕14" panose="02020600000000000000" pitchFamily="18" charset="-127"/>
                  <a:ea typeface="a고딕14" panose="02020600000000000000" pitchFamily="18" charset="-127"/>
                </a:rPr>
                <a:t>(TTR) </a:t>
              </a:r>
              <a:br>
                <a:rPr lang="en-US" altLang="ko-KR" dirty="0">
                  <a:solidFill>
                    <a:schemeClr val="bg1"/>
                  </a:solidFill>
                  <a:latin typeface="a고딕14" panose="02020600000000000000" pitchFamily="18" charset="-127"/>
                  <a:ea typeface="a고딕14" panose="02020600000000000000" pitchFamily="18" charset="-127"/>
                </a:rPr>
              </a:br>
              <a:r>
                <a:rPr lang="ko-KR" altLang="en-US" dirty="0">
                  <a:solidFill>
                    <a:schemeClr val="bg1"/>
                  </a:solidFill>
                  <a:latin typeface="a고딕14" panose="02020600000000000000" pitchFamily="18" charset="-127"/>
                  <a:ea typeface="a고딕14" panose="02020600000000000000" pitchFamily="18" charset="-127"/>
                </a:rPr>
                <a:t>매뉴얼 개발</a:t>
              </a:r>
            </a:p>
          </p:txBody>
        </p:sp>
        <p:sp>
          <p:nvSpPr>
            <p:cNvPr id="21" name="직사각형 20">
              <a:extLst>
                <a:ext uri="{FF2B5EF4-FFF2-40B4-BE49-F238E27FC236}">
                  <a16:creationId xmlns:a16="http://schemas.microsoft.com/office/drawing/2014/main" id="{2D49396E-A50E-8D30-E4F2-19C7308397AB}"/>
                </a:ext>
              </a:extLst>
            </p:cNvPr>
            <p:cNvSpPr/>
            <p:nvPr/>
          </p:nvSpPr>
          <p:spPr>
            <a:xfrm>
              <a:off x="3041721" y="5517232"/>
              <a:ext cx="5115635" cy="531673"/>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수요평가부터 </a:t>
              </a:r>
              <a:r>
                <a:rPr lang="ko-KR" altLang="en-US" sz="1100" dirty="0" err="1">
                  <a:solidFill>
                    <a:schemeClr val="tx1"/>
                  </a:solidFill>
                  <a:latin typeface="a고딕14" panose="02020600000000000000" pitchFamily="18" charset="-127"/>
                  <a:ea typeface="a고딕14" panose="02020600000000000000" pitchFamily="18" charset="-127"/>
                </a:rPr>
                <a:t>기술교육로드맵</a:t>
              </a:r>
              <a:r>
                <a:rPr lang="ko-KR" altLang="en-US" sz="1100" dirty="0">
                  <a:solidFill>
                    <a:schemeClr val="tx1"/>
                  </a:solidFill>
                  <a:latin typeface="a고딕14" panose="02020600000000000000" pitchFamily="18" charset="-127"/>
                  <a:ea typeface="a고딕14" panose="02020600000000000000" pitchFamily="18" charset="-127"/>
                </a:rPr>
                <a:t> 작성방법까지 전체 프로세스를 이해</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및 실행할 수 있도록 매뉴얼 개발</a:t>
              </a:r>
              <a:endParaRPr lang="en-US" altLang="ko-KR" sz="1100" dirty="0">
                <a:solidFill>
                  <a:schemeClr val="tx1"/>
                </a:solidFill>
                <a:latin typeface="a고딕14" panose="02020600000000000000" pitchFamily="18" charset="-127"/>
                <a:ea typeface="a고딕14" panose="02020600000000000000" pitchFamily="18" charset="-127"/>
              </a:endParaRPr>
            </a:p>
          </p:txBody>
        </p:sp>
      </p:grpSp>
      <p:grpSp>
        <p:nvGrpSpPr>
          <p:cNvPr id="39" name="그룹 38">
            <a:extLst>
              <a:ext uri="{FF2B5EF4-FFF2-40B4-BE49-F238E27FC236}">
                <a16:creationId xmlns:a16="http://schemas.microsoft.com/office/drawing/2014/main" id="{DC06BFFC-CB1C-39F1-CC28-B32990653451}"/>
              </a:ext>
            </a:extLst>
          </p:cNvPr>
          <p:cNvGrpSpPr/>
          <p:nvPr/>
        </p:nvGrpSpPr>
        <p:grpSpPr>
          <a:xfrm>
            <a:off x="610382" y="6165988"/>
            <a:ext cx="7546974" cy="323352"/>
            <a:chOff x="610382" y="6165988"/>
            <a:chExt cx="7546974" cy="323352"/>
          </a:xfrm>
        </p:grpSpPr>
        <p:sp>
          <p:nvSpPr>
            <p:cNvPr id="16" name="직사각형 15">
              <a:extLst>
                <a:ext uri="{FF2B5EF4-FFF2-40B4-BE49-F238E27FC236}">
                  <a16:creationId xmlns:a16="http://schemas.microsoft.com/office/drawing/2014/main" id="{42253375-29FA-5812-3F91-A557D04347F1}"/>
                </a:ext>
              </a:extLst>
            </p:cNvPr>
            <p:cNvSpPr/>
            <p:nvPr/>
          </p:nvSpPr>
          <p:spPr>
            <a:xfrm>
              <a:off x="610382" y="6165991"/>
              <a:ext cx="2290392" cy="323349"/>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nSpc>
                  <a:spcPct val="110000"/>
                </a:lnSpc>
                <a:buNone/>
              </a:pPr>
              <a:r>
                <a:rPr lang="ko-KR" altLang="en-US" dirty="0">
                  <a:solidFill>
                    <a:schemeClr val="bg1"/>
                  </a:solidFill>
                  <a:latin typeface="a고딕14" panose="02020600000000000000" pitchFamily="18" charset="-127"/>
                  <a:ea typeface="a고딕14" panose="02020600000000000000" pitchFamily="18" charset="-127"/>
                </a:rPr>
                <a:t>➍ 직무능력은행제 연계 제언</a:t>
              </a:r>
            </a:p>
          </p:txBody>
        </p:sp>
        <p:sp>
          <p:nvSpPr>
            <p:cNvPr id="26" name="직사각형 25">
              <a:extLst>
                <a:ext uri="{FF2B5EF4-FFF2-40B4-BE49-F238E27FC236}">
                  <a16:creationId xmlns:a16="http://schemas.microsoft.com/office/drawing/2014/main" id="{1BC5B9AC-369B-8E70-008E-B994FA68E4DA}"/>
                </a:ext>
              </a:extLst>
            </p:cNvPr>
            <p:cNvSpPr/>
            <p:nvPr/>
          </p:nvSpPr>
          <p:spPr>
            <a:xfrm>
              <a:off x="3041721" y="6165988"/>
              <a:ext cx="5115635" cy="323349"/>
            </a:xfrm>
            <a:prstGeom prst="rect">
              <a:avLst/>
            </a:prstGeom>
            <a:solidFill>
              <a:schemeClr val="bg1"/>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oAutofit/>
            </a:bodyPr>
            <a:lstStyle/>
            <a:p>
              <a:pPr marL="108000" indent="-108000" algn="l" latinLnBrk="0">
                <a:lnSpc>
                  <a:spcPct val="120000"/>
                </a:lnSpc>
                <a:spcAft>
                  <a:spcPts val="200"/>
                </a:spcAft>
                <a:buFont typeface="Arial" panose="020B0604020202020204" pitchFamily="34" charset="0"/>
                <a:buChar char="•"/>
              </a:pPr>
              <a:r>
                <a:rPr lang="ko-KR" altLang="en-US" sz="1100" dirty="0">
                  <a:solidFill>
                    <a:schemeClr val="tx1"/>
                  </a:solidFill>
                  <a:latin typeface="a고딕14" panose="02020600000000000000" pitchFamily="18" charset="-127"/>
                  <a:ea typeface="a고딕14" panose="02020600000000000000" pitchFamily="18" charset="-127"/>
                </a:rPr>
                <a:t>해외사례 조사를 통해 </a:t>
              </a:r>
              <a:r>
                <a:rPr lang="ko-KR" altLang="en-US" sz="1100" dirty="0" err="1">
                  <a:solidFill>
                    <a:schemeClr val="tx1"/>
                  </a:solidFill>
                  <a:latin typeface="a고딕14" panose="02020600000000000000" pitchFamily="18" charset="-127"/>
                  <a:ea typeface="a고딕14" panose="02020600000000000000" pitchFamily="18" charset="-127"/>
                </a:rPr>
                <a:t>온평원</a:t>
              </a:r>
              <a:r>
                <a:rPr lang="ko-KR" altLang="en-US" sz="1100" dirty="0">
                  <a:solidFill>
                    <a:schemeClr val="tx1"/>
                  </a:solidFill>
                  <a:latin typeface="a고딕14" panose="02020600000000000000" pitchFamily="18" charset="-127"/>
                  <a:ea typeface="a고딕14" panose="02020600000000000000" pitchFamily="18" charset="-127"/>
                </a:rPr>
                <a:t> 콘텐츠의 직무능력은행제와의 연계 방안에 대한 제언 도출</a:t>
              </a:r>
              <a:endParaRPr lang="en-US" altLang="ko-KR" sz="1100" dirty="0">
                <a:solidFill>
                  <a:schemeClr val="tx1"/>
                </a:solidFill>
                <a:latin typeface="a고딕14" panose="02020600000000000000" pitchFamily="18" charset="-127"/>
                <a:ea typeface="a고딕14" panose="02020600000000000000" pitchFamily="18" charset="-127"/>
              </a:endParaRPr>
            </a:p>
          </p:txBody>
        </p:sp>
      </p:grpSp>
      <p:sp>
        <p:nvSpPr>
          <p:cNvPr id="35" name="직사각형 56">
            <a:extLst>
              <a:ext uri="{FF2B5EF4-FFF2-40B4-BE49-F238E27FC236}">
                <a16:creationId xmlns:a16="http://schemas.microsoft.com/office/drawing/2014/main" id="{2F37EB9A-5226-64E5-1F59-A2BD069644CB}"/>
              </a:ext>
            </a:extLst>
          </p:cNvPr>
          <p:cNvSpPr/>
          <p:nvPr/>
        </p:nvSpPr>
        <p:spPr bwMode="auto">
          <a:xfrm>
            <a:off x="8306325" y="2097088"/>
            <a:ext cx="1026177" cy="719840"/>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능력단위 수요평가 결과 </a:t>
            </a:r>
            <a:r>
              <a:rPr lang="en-US" altLang="ko-KR" sz="1000" kern="0" dirty="0">
                <a:solidFill>
                  <a:srgbClr val="000000"/>
                </a:solidFill>
                <a:latin typeface="a고딕14"/>
                <a:ea typeface="a고딕14"/>
              </a:rPr>
              <a:t>(</a:t>
            </a:r>
            <a:r>
              <a:rPr lang="ko-KR" altLang="en-US" sz="1000" kern="0" dirty="0">
                <a:solidFill>
                  <a:srgbClr val="000000"/>
                </a:solidFill>
                <a:latin typeface="a고딕14"/>
                <a:ea typeface="a고딕14"/>
              </a:rPr>
              <a:t>순위</a:t>
            </a:r>
            <a:r>
              <a:rPr lang="en-US" altLang="ko-KR" sz="1000" kern="0" dirty="0">
                <a:solidFill>
                  <a:srgbClr val="000000"/>
                </a:solidFill>
                <a:latin typeface="a고딕14"/>
                <a:ea typeface="a고딕14"/>
              </a:rPr>
              <a:t>)</a:t>
            </a:r>
            <a:endParaRPr lang="ko-KR" altLang="en-US" sz="1000" kern="0" dirty="0">
              <a:solidFill>
                <a:srgbClr val="000000"/>
              </a:solidFill>
              <a:latin typeface="a고딕14"/>
              <a:ea typeface="a고딕14"/>
            </a:endParaRPr>
          </a:p>
        </p:txBody>
      </p:sp>
      <p:sp>
        <p:nvSpPr>
          <p:cNvPr id="40" name="직사각형 56">
            <a:extLst>
              <a:ext uri="{FF2B5EF4-FFF2-40B4-BE49-F238E27FC236}">
                <a16:creationId xmlns:a16="http://schemas.microsoft.com/office/drawing/2014/main" id="{4EC0959C-3D55-A539-7845-95FE38363076}"/>
              </a:ext>
            </a:extLst>
          </p:cNvPr>
          <p:cNvSpPr/>
          <p:nvPr/>
        </p:nvSpPr>
        <p:spPr bwMode="auto">
          <a:xfrm>
            <a:off x="8306325" y="3053680"/>
            <a:ext cx="1026177" cy="632554"/>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총 </a:t>
            </a:r>
            <a:r>
              <a:rPr lang="en-US" altLang="ko-KR" sz="1000" kern="0" dirty="0">
                <a:solidFill>
                  <a:srgbClr val="000000"/>
                </a:solidFill>
                <a:latin typeface="a고딕14"/>
                <a:ea typeface="a고딕14"/>
              </a:rPr>
              <a:t>380</a:t>
            </a:r>
            <a:r>
              <a:rPr lang="ko-KR" altLang="en-US" sz="1000" kern="0" dirty="0">
                <a:solidFill>
                  <a:srgbClr val="000000"/>
                </a:solidFill>
                <a:latin typeface="a고딕14"/>
                <a:ea typeface="a고딕14"/>
              </a:rPr>
              <a:t>개</a:t>
            </a:r>
            <a:br>
              <a:rPr lang="en-US" altLang="ko-KR" sz="1000" kern="0" dirty="0">
                <a:solidFill>
                  <a:srgbClr val="000000"/>
                </a:solidFill>
                <a:latin typeface="a고딕14"/>
                <a:ea typeface="a고딕14"/>
              </a:rPr>
            </a:br>
            <a:r>
              <a:rPr lang="ko-KR" altLang="en-US" sz="1000" kern="0" dirty="0">
                <a:solidFill>
                  <a:srgbClr val="000000"/>
                </a:solidFill>
                <a:latin typeface="a고딕14"/>
                <a:ea typeface="a고딕14"/>
              </a:rPr>
              <a:t>신규과정 개요서 </a:t>
            </a:r>
          </a:p>
        </p:txBody>
      </p:sp>
      <p:sp>
        <p:nvSpPr>
          <p:cNvPr id="41" name="직사각형 53">
            <a:extLst>
              <a:ext uri="{FF2B5EF4-FFF2-40B4-BE49-F238E27FC236}">
                <a16:creationId xmlns:a16="http://schemas.microsoft.com/office/drawing/2014/main" id="{396E069A-A467-2F38-FDF3-8C3EF601823E}"/>
              </a:ext>
            </a:extLst>
          </p:cNvPr>
          <p:cNvSpPr/>
          <p:nvPr/>
        </p:nvSpPr>
        <p:spPr bwMode="auto">
          <a:xfrm>
            <a:off x="8306325" y="1994004"/>
            <a:ext cx="1025250" cy="169348"/>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42" name="직사각형 56">
            <a:extLst>
              <a:ext uri="{FF2B5EF4-FFF2-40B4-BE49-F238E27FC236}">
                <a16:creationId xmlns:a16="http://schemas.microsoft.com/office/drawing/2014/main" id="{A29F1B5B-E2FF-8BA5-19A3-19093FCB5FC6}"/>
              </a:ext>
            </a:extLst>
          </p:cNvPr>
          <p:cNvSpPr/>
          <p:nvPr/>
        </p:nvSpPr>
        <p:spPr bwMode="auto">
          <a:xfrm>
            <a:off x="8306325" y="3786562"/>
            <a:ext cx="1026177" cy="1647095"/>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72000" tIns="0" rIns="72000" bIns="0" rtlCol="0" anchor="ctr"/>
          <a:lstStyle/>
          <a:p>
            <a:pPr marL="144000" indent="-144000" algn="l" eaLnBrk="1" fontAlgn="auto" latinLnBrk="0" hangingPunct="1">
              <a:spcBef>
                <a:spcPts val="0"/>
              </a:spcBef>
              <a:spcAft>
                <a:spcPts val="600"/>
              </a:spcAft>
              <a:buFont typeface="Wingdings" panose="05000000000000000000" pitchFamily="2" charset="2"/>
              <a:buChar char="ü"/>
              <a:defRPr/>
            </a:pPr>
            <a:r>
              <a:rPr lang="en-US" altLang="ko-KR" sz="1000" kern="0" dirty="0">
                <a:solidFill>
                  <a:srgbClr val="000000"/>
                </a:solidFill>
                <a:latin typeface="a고딕14"/>
                <a:ea typeface="a고딕14"/>
              </a:rPr>
              <a:t>10</a:t>
            </a:r>
            <a:r>
              <a:rPr lang="ko-KR" altLang="en-US" sz="1000" kern="0" dirty="0">
                <a:solidFill>
                  <a:srgbClr val="000000"/>
                </a:solidFill>
                <a:latin typeface="a고딕14"/>
                <a:ea typeface="a고딕14"/>
              </a:rPr>
              <a:t>대 대분류별 기술교육</a:t>
            </a:r>
            <a:br>
              <a:rPr lang="en-US" altLang="ko-KR" sz="1000" kern="0" dirty="0">
                <a:solidFill>
                  <a:srgbClr val="000000"/>
                </a:solidFill>
                <a:latin typeface="a고딕14"/>
                <a:ea typeface="a고딕14"/>
              </a:rPr>
            </a:br>
            <a:r>
              <a:rPr lang="ko-KR" altLang="en-US" sz="1000" kern="0" dirty="0">
                <a:solidFill>
                  <a:srgbClr val="000000"/>
                </a:solidFill>
                <a:latin typeface="a고딕14"/>
                <a:ea typeface="a고딕14"/>
              </a:rPr>
              <a:t>로드맵 도식</a:t>
            </a:r>
            <a:endParaRPr lang="en-US" altLang="ko-KR" sz="1000" kern="0" dirty="0">
              <a:solidFill>
                <a:srgbClr val="000000"/>
              </a:solidFill>
              <a:latin typeface="a고딕14"/>
              <a:ea typeface="a고딕14"/>
            </a:endParaRPr>
          </a:p>
          <a:p>
            <a:pPr marL="144000" indent="-144000" algn="l" eaLnBrk="1" fontAlgn="auto" latinLnBrk="0" hangingPunct="1">
              <a:spcBef>
                <a:spcPts val="0"/>
              </a:spcBef>
              <a:spcAft>
                <a:spcPts val="600"/>
              </a:spcAft>
              <a:buFont typeface="Wingdings" panose="05000000000000000000" pitchFamily="2" charset="2"/>
              <a:buChar char="ü"/>
              <a:defRPr/>
            </a:pPr>
            <a:r>
              <a:rPr lang="ko-KR" altLang="en-US" sz="1000" kern="0" dirty="0">
                <a:solidFill>
                  <a:srgbClr val="000000"/>
                </a:solidFill>
                <a:latin typeface="a고딕14"/>
                <a:ea typeface="a고딕14"/>
              </a:rPr>
              <a:t>기술교육 로드맵 관리 위한 </a:t>
            </a:r>
            <a:r>
              <a:rPr lang="en-US" altLang="ko-KR" sz="1000" kern="0" dirty="0">
                <a:solidFill>
                  <a:srgbClr val="000000"/>
                </a:solidFill>
                <a:latin typeface="a고딕14"/>
                <a:ea typeface="a고딕14"/>
              </a:rPr>
              <a:t>DB</a:t>
            </a:r>
          </a:p>
          <a:p>
            <a:pPr marL="144000" indent="-144000" algn="l" eaLnBrk="1" fontAlgn="auto" latinLnBrk="0" hangingPunct="1">
              <a:spcBef>
                <a:spcPts val="0"/>
              </a:spcBef>
              <a:spcAft>
                <a:spcPts val="600"/>
              </a:spcAft>
              <a:buFont typeface="Wingdings" panose="05000000000000000000" pitchFamily="2" charset="2"/>
              <a:buChar char="ü"/>
              <a:defRPr/>
            </a:pPr>
            <a:r>
              <a:rPr lang="ko-KR" altLang="en-US" sz="1000" kern="0" dirty="0">
                <a:solidFill>
                  <a:srgbClr val="000000"/>
                </a:solidFill>
                <a:latin typeface="a고딕14"/>
                <a:ea typeface="a고딕14"/>
              </a:rPr>
              <a:t>학습흐름도 및 과정목록</a:t>
            </a:r>
          </a:p>
        </p:txBody>
      </p:sp>
      <p:sp>
        <p:nvSpPr>
          <p:cNvPr id="44" name="직사각형 56">
            <a:extLst>
              <a:ext uri="{FF2B5EF4-FFF2-40B4-BE49-F238E27FC236}">
                <a16:creationId xmlns:a16="http://schemas.microsoft.com/office/drawing/2014/main" id="{D614C1FB-B816-572F-E0D0-5CB36A4DF32C}"/>
              </a:ext>
            </a:extLst>
          </p:cNvPr>
          <p:cNvSpPr/>
          <p:nvPr/>
        </p:nvSpPr>
        <p:spPr bwMode="auto">
          <a:xfrm>
            <a:off x="8306325" y="5533989"/>
            <a:ext cx="1026177" cy="53167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매뉴얼</a:t>
            </a:r>
          </a:p>
        </p:txBody>
      </p:sp>
      <p:sp>
        <p:nvSpPr>
          <p:cNvPr id="45" name="직사각형 56">
            <a:extLst>
              <a:ext uri="{FF2B5EF4-FFF2-40B4-BE49-F238E27FC236}">
                <a16:creationId xmlns:a16="http://schemas.microsoft.com/office/drawing/2014/main" id="{1D42F402-E132-6CF4-367A-FE24D2E4B1CC}"/>
              </a:ext>
            </a:extLst>
          </p:cNvPr>
          <p:cNvSpPr/>
          <p:nvPr/>
        </p:nvSpPr>
        <p:spPr bwMode="auto">
          <a:xfrm>
            <a:off x="8306325" y="6165988"/>
            <a:ext cx="1026177" cy="323352"/>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연계 방안 제언</a:t>
            </a:r>
          </a:p>
        </p:txBody>
      </p:sp>
    </p:spTree>
    <p:extLst>
      <p:ext uri="{BB962C8B-B14F-4D97-AF65-F5344CB8AC3E}">
        <p14:creationId xmlns:p14="http://schemas.microsoft.com/office/powerpoint/2010/main" val="3840462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D2A3-1D1E-7CC8-A837-D1055FA8A9C6}"/>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EA9AAD05-F834-C7B6-BE5E-E13F4E27FA05}"/>
              </a:ext>
            </a:extLst>
          </p:cNvPr>
          <p:cNvSpPr>
            <a:spLocks noGrp="1"/>
          </p:cNvSpPr>
          <p:nvPr>
            <p:ph type="body" sz="quarter" idx="12"/>
          </p:nvPr>
        </p:nvSpPr>
        <p:spPr/>
        <p:txBody>
          <a:bodyPr/>
          <a:lstStyle/>
          <a:p>
            <a:pPr latinLnBrk="0"/>
            <a:r>
              <a:rPr lang="ko-KR" altLang="en-US" dirty="0"/>
              <a:t>과정개요서는 능력단위를 기준으로 분야별 전문가와 협력하여 작성 및 검토하겠음</a:t>
            </a:r>
            <a:endParaRPr lang="ko-KR" altLang="en-US" dirty="0">
              <a:solidFill>
                <a:srgbClr val="FF0000"/>
              </a:solidFill>
            </a:endParaRPr>
          </a:p>
        </p:txBody>
      </p:sp>
      <p:sp>
        <p:nvSpPr>
          <p:cNvPr id="5" name="텍스트 개체 틀 4">
            <a:extLst>
              <a:ext uri="{FF2B5EF4-FFF2-40B4-BE49-F238E27FC236}">
                <a16:creationId xmlns:a16="http://schemas.microsoft.com/office/drawing/2014/main" id="{58F6384C-3381-B824-DE9A-745164B9198A}"/>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Ⅳ. </a:t>
            </a:r>
            <a:r>
              <a:rPr lang="ko-KR" altLang="en-US" dirty="0">
                <a:latin typeface="+mn-ea"/>
              </a:rPr>
              <a:t>향후 일정</a:t>
            </a:r>
          </a:p>
        </p:txBody>
      </p:sp>
      <p:sp>
        <p:nvSpPr>
          <p:cNvPr id="7" name="텍스트 개체 틀 87">
            <a:extLst>
              <a:ext uri="{FF2B5EF4-FFF2-40B4-BE49-F238E27FC236}">
                <a16:creationId xmlns:a16="http://schemas.microsoft.com/office/drawing/2014/main" id="{4A1526CB-72A6-4D5F-7161-72F24EA9C5EF}"/>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a고딕14" panose="02020600000000000000" pitchFamily="18" charset="-127"/>
              </a:rPr>
              <a:t>➊ </a:t>
            </a:r>
            <a:r>
              <a:rPr lang="ko-KR" altLang="en-US" dirty="0">
                <a:latin typeface="+mn-ea"/>
              </a:rPr>
              <a:t>과정개요서 검토 및 작성</a:t>
            </a:r>
          </a:p>
        </p:txBody>
      </p:sp>
      <p:sp>
        <p:nvSpPr>
          <p:cNvPr id="8" name="직사각형 7">
            <a:extLst>
              <a:ext uri="{FF2B5EF4-FFF2-40B4-BE49-F238E27FC236}">
                <a16:creationId xmlns:a16="http://schemas.microsoft.com/office/drawing/2014/main" id="{827B27EB-D940-1A7D-586A-7F22BCFD7D29}"/>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718B39FC-0742-56B2-2206-A5E14841F5D7}"/>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3" name="TextBox 2">
            <a:extLst>
              <a:ext uri="{FF2B5EF4-FFF2-40B4-BE49-F238E27FC236}">
                <a16:creationId xmlns:a16="http://schemas.microsoft.com/office/drawing/2014/main" id="{996B6034-640E-4A43-1C46-FC1457D9A807}"/>
              </a:ext>
            </a:extLst>
          </p:cNvPr>
          <p:cNvSpPr txBox="1"/>
          <p:nvPr/>
        </p:nvSpPr>
        <p:spPr>
          <a:xfrm>
            <a:off x="6033120" y="1853498"/>
            <a:ext cx="3600350" cy="647673"/>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자격증 명</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과정평가형 및 일학습병행 자격과 능력단위를 매칭하여 작성</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자격증이 있는 경우 자격연계 가능</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없는 경우 불가능 체크</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4" name="TextBox 3">
            <a:extLst>
              <a:ext uri="{FF2B5EF4-FFF2-40B4-BE49-F238E27FC236}">
                <a16:creationId xmlns:a16="http://schemas.microsoft.com/office/drawing/2014/main" id="{E69D2054-D797-265F-3ECC-41010767C05B}"/>
              </a:ext>
            </a:extLst>
          </p:cNvPr>
          <p:cNvSpPr txBox="1"/>
          <p:nvPr/>
        </p:nvSpPr>
        <p:spPr>
          <a:xfrm>
            <a:off x="6033120" y="3603007"/>
            <a:ext cx="3435951" cy="93890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활용도구</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첫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NCS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학습 모듈을 참고하여 작성</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두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전문가가 과정 개요서를 작성하며 필요하다고 생각하는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SW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및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HW</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를 작성</a:t>
            </a:r>
          </a:p>
        </p:txBody>
      </p:sp>
      <p:sp>
        <p:nvSpPr>
          <p:cNvPr id="15" name="TextBox 14">
            <a:extLst>
              <a:ext uri="{FF2B5EF4-FFF2-40B4-BE49-F238E27FC236}">
                <a16:creationId xmlns:a16="http://schemas.microsoft.com/office/drawing/2014/main" id="{067B9C60-CBFC-8A80-6B49-D33C4B8A222B}"/>
              </a:ext>
            </a:extLst>
          </p:cNvPr>
          <p:cNvSpPr txBox="1"/>
          <p:nvPr/>
        </p:nvSpPr>
        <p:spPr>
          <a:xfrm>
            <a:off x="6033120" y="2946484"/>
            <a:ext cx="3490738"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과정수준</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과정 개요서에 활용된 능력단위 수준 확인 후 작성 </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 1~3</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초급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4~6</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중급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7~8</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고급으로 체크</a:t>
            </a:r>
            <a:endPar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graphicFrame>
        <p:nvGraphicFramePr>
          <p:cNvPr id="16" name="표 15">
            <a:extLst>
              <a:ext uri="{FF2B5EF4-FFF2-40B4-BE49-F238E27FC236}">
                <a16:creationId xmlns:a16="http://schemas.microsoft.com/office/drawing/2014/main" id="{6139313C-AC56-CA44-795A-032609F5CFF6}"/>
              </a:ext>
            </a:extLst>
          </p:cNvPr>
          <p:cNvGraphicFramePr>
            <a:graphicFrameLocks noGrp="1"/>
          </p:cNvGraphicFramePr>
          <p:nvPr>
            <p:extLst>
              <p:ext uri="{D42A27DB-BD31-4B8C-83A1-F6EECF244321}">
                <p14:modId xmlns:p14="http://schemas.microsoft.com/office/powerpoint/2010/main" val="1495976552"/>
              </p:ext>
            </p:extLst>
          </p:nvPr>
        </p:nvGraphicFramePr>
        <p:xfrm>
          <a:off x="596900" y="1196975"/>
          <a:ext cx="5328460" cy="5296203"/>
        </p:xfrm>
        <a:graphic>
          <a:graphicData uri="http://schemas.openxmlformats.org/drawingml/2006/table">
            <a:tbl>
              <a:tblPr/>
              <a:tblGrid>
                <a:gridCol w="1079736">
                  <a:extLst>
                    <a:ext uri="{9D8B030D-6E8A-4147-A177-3AD203B41FA5}">
                      <a16:colId xmlns:a16="http://schemas.microsoft.com/office/drawing/2014/main" val="2468389198"/>
                    </a:ext>
                  </a:extLst>
                </a:gridCol>
                <a:gridCol w="468052">
                  <a:extLst>
                    <a:ext uri="{9D8B030D-6E8A-4147-A177-3AD203B41FA5}">
                      <a16:colId xmlns:a16="http://schemas.microsoft.com/office/drawing/2014/main" val="1151610060"/>
                    </a:ext>
                  </a:extLst>
                </a:gridCol>
                <a:gridCol w="144016">
                  <a:extLst>
                    <a:ext uri="{9D8B030D-6E8A-4147-A177-3AD203B41FA5}">
                      <a16:colId xmlns:a16="http://schemas.microsoft.com/office/drawing/2014/main" val="2798674245"/>
                    </a:ext>
                  </a:extLst>
                </a:gridCol>
                <a:gridCol w="225361">
                  <a:extLst>
                    <a:ext uri="{9D8B030D-6E8A-4147-A177-3AD203B41FA5}">
                      <a16:colId xmlns:a16="http://schemas.microsoft.com/office/drawing/2014/main" val="1201742399"/>
                    </a:ext>
                  </a:extLst>
                </a:gridCol>
                <a:gridCol w="242691">
                  <a:extLst>
                    <a:ext uri="{9D8B030D-6E8A-4147-A177-3AD203B41FA5}">
                      <a16:colId xmlns:a16="http://schemas.microsoft.com/office/drawing/2014/main" val="3835800896"/>
                    </a:ext>
                  </a:extLst>
                </a:gridCol>
                <a:gridCol w="396044">
                  <a:extLst>
                    <a:ext uri="{9D8B030D-6E8A-4147-A177-3AD203B41FA5}">
                      <a16:colId xmlns:a16="http://schemas.microsoft.com/office/drawing/2014/main" val="3292686089"/>
                    </a:ext>
                  </a:extLst>
                </a:gridCol>
                <a:gridCol w="448887">
                  <a:extLst>
                    <a:ext uri="{9D8B030D-6E8A-4147-A177-3AD203B41FA5}">
                      <a16:colId xmlns:a16="http://schemas.microsoft.com/office/drawing/2014/main" val="2594785630"/>
                    </a:ext>
                  </a:extLst>
                </a:gridCol>
                <a:gridCol w="307197">
                  <a:extLst>
                    <a:ext uri="{9D8B030D-6E8A-4147-A177-3AD203B41FA5}">
                      <a16:colId xmlns:a16="http://schemas.microsoft.com/office/drawing/2014/main" val="1701691995"/>
                    </a:ext>
                  </a:extLst>
                </a:gridCol>
                <a:gridCol w="194983">
                  <a:extLst>
                    <a:ext uri="{9D8B030D-6E8A-4147-A177-3AD203B41FA5}">
                      <a16:colId xmlns:a16="http://schemas.microsoft.com/office/drawing/2014/main" val="1926901461"/>
                    </a:ext>
                  </a:extLst>
                </a:gridCol>
                <a:gridCol w="273069">
                  <a:extLst>
                    <a:ext uri="{9D8B030D-6E8A-4147-A177-3AD203B41FA5}">
                      <a16:colId xmlns:a16="http://schemas.microsoft.com/office/drawing/2014/main" val="797755131"/>
                    </a:ext>
                  </a:extLst>
                </a:gridCol>
                <a:gridCol w="158883">
                  <a:extLst>
                    <a:ext uri="{9D8B030D-6E8A-4147-A177-3AD203B41FA5}">
                      <a16:colId xmlns:a16="http://schemas.microsoft.com/office/drawing/2014/main" val="2244871114"/>
                    </a:ext>
                  </a:extLst>
                </a:gridCol>
                <a:gridCol w="366693">
                  <a:extLst>
                    <a:ext uri="{9D8B030D-6E8A-4147-A177-3AD203B41FA5}">
                      <a16:colId xmlns:a16="http://schemas.microsoft.com/office/drawing/2014/main" val="2478085267"/>
                    </a:ext>
                  </a:extLst>
                </a:gridCol>
                <a:gridCol w="97400">
                  <a:extLst>
                    <a:ext uri="{9D8B030D-6E8A-4147-A177-3AD203B41FA5}">
                      <a16:colId xmlns:a16="http://schemas.microsoft.com/office/drawing/2014/main" val="853848392"/>
                    </a:ext>
                  </a:extLst>
                </a:gridCol>
                <a:gridCol w="97400">
                  <a:extLst>
                    <a:ext uri="{9D8B030D-6E8A-4147-A177-3AD203B41FA5}">
                      <a16:colId xmlns:a16="http://schemas.microsoft.com/office/drawing/2014/main" val="1212860725"/>
                    </a:ext>
                  </a:extLst>
                </a:gridCol>
                <a:gridCol w="360048">
                  <a:extLst>
                    <a:ext uri="{9D8B030D-6E8A-4147-A177-3AD203B41FA5}">
                      <a16:colId xmlns:a16="http://schemas.microsoft.com/office/drawing/2014/main" val="3153792975"/>
                    </a:ext>
                  </a:extLst>
                </a:gridCol>
                <a:gridCol w="468000">
                  <a:extLst>
                    <a:ext uri="{9D8B030D-6E8A-4147-A177-3AD203B41FA5}">
                      <a16:colId xmlns:a16="http://schemas.microsoft.com/office/drawing/2014/main" val="918562014"/>
                    </a:ext>
                  </a:extLst>
                </a:gridCol>
              </a:tblGrid>
              <a:tr h="234960">
                <a:tc gridSpan="16">
                  <a:txBody>
                    <a:bodyPr/>
                    <a:lstStyle/>
                    <a:p>
                      <a:pPr algn="ctr" fontAlgn="ctr"/>
                      <a:r>
                        <a:rPr lang="ko-KR" altLang="en-US" sz="1400" b="1" i="0" u="none" strike="noStrike" dirty="0">
                          <a:solidFill>
                            <a:schemeClr val="bg1"/>
                          </a:solidFill>
                          <a:effectLst/>
                          <a:latin typeface="+mj-ea"/>
                          <a:ea typeface="+mj-ea"/>
                        </a:rPr>
                        <a:t>과정 개요서</a:t>
                      </a:r>
                    </a:p>
                  </a:txBody>
                  <a:tcPr marL="72000" marR="72000" marT="10800" marB="10800" anchor="ctr">
                    <a:lnL w="3175" cap="flat" cmpd="sng" algn="ctr">
                      <a:noFill/>
                      <a:prstDash val="solid"/>
                      <a:round/>
                      <a:headEnd type="none" w="med" len="med"/>
                      <a:tailEnd type="none" w="med" len="med"/>
                    </a:lnL>
                    <a:lnR w="12700" cmpd="sng">
                      <a:noFill/>
                      <a:prstDash val="soli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3064321093"/>
                  </a:ext>
                </a:extLst>
              </a:tr>
              <a:tr h="174000">
                <a:tc rowSpan="2">
                  <a:txBody>
                    <a:bodyPr/>
                    <a:lstStyle/>
                    <a:p>
                      <a:pPr algn="ctr" fontAlgn="ctr"/>
                      <a:r>
                        <a:rPr lang="ko-KR" altLang="en-US" sz="1000" b="0" i="0" u="none" strike="noStrike" dirty="0">
                          <a:solidFill>
                            <a:srgbClr val="000000"/>
                          </a:solidFill>
                          <a:effectLst/>
                          <a:latin typeface="+mj-ea"/>
                          <a:ea typeface="+mj-ea"/>
                        </a:rPr>
                        <a:t>분야 구분</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디지털 신기술</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gridSpan="4">
                  <a:txBody>
                    <a:bodyPr/>
                    <a:lstStyle/>
                    <a:p>
                      <a:pPr algn="ctr"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❶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활용 여부</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algn="ctr" fontAlgn="ct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활용 여부</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gridSpan="3">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620525137"/>
                  </a:ext>
                </a:extLst>
              </a:tr>
              <a:tr h="174000">
                <a:tc vMerge="1">
                  <a:txBody>
                    <a:bodyPr/>
                    <a:lstStyle/>
                    <a:p>
                      <a:pPr latinLnBrk="1"/>
                      <a:endParaRPr lang="ko-KR" altLang="en-US"/>
                    </a:p>
                  </a:txBody>
                  <a:tcPr/>
                </a:tc>
                <a:tc>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spc="-150" dirty="0">
                          <a:solidFill>
                            <a:srgbClr val="000000"/>
                          </a:solidFill>
                          <a:effectLst/>
                          <a:latin typeface="+mj-ea"/>
                          <a:ea typeface="+mj-ea"/>
                        </a:rPr>
                        <a:t>평생직업능력개발</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평생직업능력개발</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평생직업능력개발</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3">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미 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미활용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1647760639"/>
                  </a:ext>
                </a:extLst>
              </a:tr>
              <a:tr h="174000">
                <a:tc rowSpan="2">
                  <a:txBody>
                    <a:bodyPr/>
                    <a:lstStyle/>
                    <a:p>
                      <a:pPr algn="ctr" fontAlgn="ctr"/>
                      <a:r>
                        <a:rPr lang="ko-KR" altLang="en-US" sz="1000" b="0" i="0" u="none" strike="noStrike" dirty="0">
                          <a:solidFill>
                            <a:srgbClr val="000000"/>
                          </a:solidFill>
                          <a:effectLst/>
                          <a:latin typeface="+mj-ea"/>
                          <a:ea typeface="+mj-ea"/>
                        </a:rPr>
                        <a:t>자격연계 가능</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a:r>
                        <a:rPr lang="ko-KR" altLang="en-US" sz="1000" b="0" i="0" u="none" strike="noStrike" kern="1200" spc="-150" dirty="0">
                          <a:solidFill>
                            <a:srgbClr val="000000"/>
                          </a:solidFill>
                          <a:effectLst/>
                          <a:latin typeface="+mj-ea"/>
                          <a:ea typeface="+mn-ea"/>
                          <a:cs typeface="+mn-cs"/>
                        </a:rPr>
                        <a:t>❷</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mj-ea"/>
                          <a:ea typeface="+mj-ea"/>
                        </a:rPr>
                        <a:t>자격증 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❶ </a:t>
                      </a:r>
                      <a:r>
                        <a:rPr lang="ko-KR" altLang="en-US" sz="1000" b="0" i="0" u="none" strike="noStrike">
                          <a:solidFill>
                            <a:srgbClr val="000000"/>
                          </a:solidFill>
                          <a:effectLst/>
                          <a:latin typeface="+mj-ea"/>
                          <a:ea typeface="+mj-ea"/>
                        </a:rPr>
                        <a:t>자격증 명</a:t>
                      </a:r>
                      <a:endParaRPr lang="ko-KR" altLang="en-US" sz="12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43697204"/>
                  </a:ext>
                </a:extLst>
              </a:tr>
              <a:tr h="174000">
                <a:tc vMerge="1">
                  <a:txBody>
                    <a:bodyPr/>
                    <a:lstStyle/>
                    <a:p>
                      <a:pPr latinLnBrk="1"/>
                      <a:endParaRPr lang="ko-KR" altLang="en-US"/>
                    </a:p>
                  </a:txBody>
                  <a:tcPr/>
                </a:tc>
                <a:tc>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dirty="0">
                          <a:solidFill>
                            <a:srgbClr val="000000"/>
                          </a:solidFill>
                          <a:effectLst/>
                          <a:latin typeface="+mj-ea"/>
                          <a:ea typeface="+mj-ea"/>
                        </a:rPr>
                        <a:t>불가능</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latinLnBrk="1"/>
                      <a:r>
                        <a:rPr lang="ko-KR" altLang="en-US" sz="1000" b="1" kern="0" spc="-50" baseline="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000" b="0" i="0" u="none" strike="noStrike" spc="-50" baseline="0" dirty="0">
                          <a:solidFill>
                            <a:srgbClr val="000000"/>
                          </a:solidFill>
                          <a:effectLst/>
                          <a:latin typeface="+mj-ea"/>
                          <a:ea typeface="+mj-ea"/>
                        </a:rPr>
                        <a:t>과정개정 검토주기</a:t>
                      </a:r>
                      <a:endParaRPr lang="ko-KR" altLang="en-US" spc="-50" baseline="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spc="-150" dirty="0">
                          <a:solidFill>
                            <a:srgbClr val="000000"/>
                          </a:solidFill>
                          <a:effectLst/>
                          <a:latin typeface="+mj-ea"/>
                          <a:ea typeface="+mj-ea"/>
                        </a:rPr>
                        <a:t>❷ 과정개정 검토주기</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0846400"/>
                  </a:ext>
                </a:extLst>
              </a:tr>
              <a:tr h="189241">
                <a:tc gridSpan="16">
                  <a:txBody>
                    <a:bodyPr/>
                    <a:lstStyle/>
                    <a:p>
                      <a:pPr algn="l" fontAlgn="ctr"/>
                      <a:r>
                        <a:rPr lang="en-US" altLang="ko-KR" sz="1100" b="0" i="0" u="none" strike="noStrike" dirty="0">
                          <a:solidFill>
                            <a:schemeClr val="bg1"/>
                          </a:solidFill>
                          <a:effectLst/>
                          <a:latin typeface="+mj-ea"/>
                          <a:ea typeface="+mj-ea"/>
                        </a:rPr>
                        <a:t>1. </a:t>
                      </a:r>
                      <a:r>
                        <a:rPr lang="ko-KR" altLang="en-US" sz="1100" b="0" i="0" u="none" strike="noStrike" dirty="0">
                          <a:solidFill>
                            <a:schemeClr val="bg1"/>
                          </a:solidFill>
                          <a:effectLst/>
                          <a:latin typeface="+mj-ea"/>
                          <a:ea typeface="+mj-ea"/>
                        </a:rPr>
                        <a:t>과정개요</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97190291"/>
                  </a:ext>
                </a:extLst>
              </a:tr>
              <a:tr h="174000">
                <a:tc>
                  <a:txBody>
                    <a:bodyPr/>
                    <a:lstStyle/>
                    <a:p>
                      <a:pPr algn="ctr" fontAlgn="ctr"/>
                      <a:r>
                        <a:rPr lang="ko-KR" altLang="en-US" sz="1000" b="0" i="0" u="none" strike="noStrike" dirty="0" err="1">
                          <a:solidFill>
                            <a:srgbClr val="000000"/>
                          </a:solidFill>
                          <a:effectLst/>
                          <a:latin typeface="+mj-ea"/>
                          <a:ea typeface="+mj-ea"/>
                        </a:rPr>
                        <a:t>과정명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577316796"/>
                  </a:ext>
                </a:extLst>
              </a:tr>
              <a:tr h="174000">
                <a:tc>
                  <a:txBody>
                    <a:bodyPr/>
                    <a:lstStyle/>
                    <a:p>
                      <a:pPr algn="ctr" fontAlgn="ctr"/>
                      <a:r>
                        <a:rPr lang="en-US" altLang="ko-KR" sz="1000" b="0" i="0" u="none" strike="noStrike" spc="-100" baseline="0" dirty="0">
                          <a:solidFill>
                            <a:srgbClr val="000000"/>
                          </a:solidFill>
                          <a:effectLst/>
                          <a:latin typeface="+mj-ea"/>
                          <a:ea typeface="+mj-ea"/>
                        </a:rPr>
                        <a:t>NCS </a:t>
                      </a:r>
                      <a:r>
                        <a:rPr lang="ko-KR" altLang="en-US" sz="1000" b="0" i="0" u="none" strike="noStrike" spc="-100" baseline="0" dirty="0">
                          <a:solidFill>
                            <a:srgbClr val="000000"/>
                          </a:solidFill>
                          <a:effectLst/>
                          <a:latin typeface="+mj-ea"/>
                          <a:ea typeface="+mj-ea"/>
                        </a:rPr>
                        <a:t>능력단위 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356028320"/>
                  </a:ext>
                </a:extLst>
              </a:tr>
              <a:tr h="174000">
                <a:tc>
                  <a:txBody>
                    <a:bodyPr/>
                    <a:lstStyle/>
                    <a:p>
                      <a:pPr algn="ctr" fontAlgn="ctr"/>
                      <a:r>
                        <a:rPr lang="ko-KR" altLang="en-US" sz="1000" b="0" i="0" u="none" strike="noStrike" dirty="0">
                          <a:solidFill>
                            <a:srgbClr val="000000"/>
                          </a:solidFill>
                          <a:effectLst/>
                          <a:latin typeface="+mj-ea"/>
                          <a:ea typeface="+mj-ea"/>
                        </a:rPr>
                        <a:t>과정설명</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49997002"/>
                  </a:ext>
                </a:extLst>
              </a:tr>
              <a:tr h="174000">
                <a:tc>
                  <a:txBody>
                    <a:bodyPr/>
                    <a:lstStyle/>
                    <a:p>
                      <a:pPr algn="ctr" fontAlgn="ctr"/>
                      <a:r>
                        <a:rPr lang="ko-KR" altLang="en-US" sz="1000" b="0" i="0" u="none" strike="noStrike" dirty="0">
                          <a:solidFill>
                            <a:srgbClr val="000000"/>
                          </a:solidFill>
                          <a:effectLst/>
                          <a:latin typeface="+mj-ea"/>
                          <a:ea typeface="+mj-ea"/>
                        </a:rPr>
                        <a:t>학습목표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552846"/>
                  </a:ext>
                </a:extLst>
              </a:tr>
              <a:tr h="174000">
                <a:tc>
                  <a:txBody>
                    <a:bodyPr/>
                    <a:lstStyle/>
                    <a:p>
                      <a:pPr algn="ctr" fontAlgn="ctr"/>
                      <a:r>
                        <a:rPr lang="ko-KR" altLang="en-US" sz="1000" b="0" i="0" u="none" strike="noStrike" dirty="0">
                          <a:solidFill>
                            <a:srgbClr val="000000"/>
                          </a:solidFill>
                          <a:effectLst/>
                          <a:latin typeface="+mj-ea"/>
                          <a:ea typeface="+mj-ea"/>
                        </a:rPr>
                        <a:t>학습대상</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09575344"/>
                  </a:ext>
                </a:extLst>
              </a:tr>
              <a:tr h="174000">
                <a:tc rowSpan="2">
                  <a:txBody>
                    <a:bodyPr/>
                    <a:lstStyle/>
                    <a:p>
                      <a:pPr algn="ctr" fontAlgn="ctr"/>
                      <a:r>
                        <a:rPr lang="ko-KR" altLang="en-US" sz="1000" b="0" i="0" u="none" strike="noStrike" kern="1200" dirty="0">
                          <a:solidFill>
                            <a:srgbClr val="000000"/>
                          </a:solidFill>
                          <a:effectLst/>
                          <a:latin typeface="+mj-ea"/>
                          <a:ea typeface="+mn-ea"/>
                          <a:cs typeface="+mn-cs"/>
                        </a:rPr>
                        <a:t>❹ </a:t>
                      </a:r>
                      <a:r>
                        <a:rPr lang="ko-KR" altLang="en-US" sz="1000" b="0" i="0" u="none" strike="noStrike" dirty="0">
                          <a:solidFill>
                            <a:srgbClr val="000000"/>
                          </a:solidFill>
                          <a:effectLst/>
                          <a:latin typeface="+mj-ea"/>
                          <a:ea typeface="+mj-ea"/>
                        </a:rPr>
                        <a:t>과정수준</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chemeClr val="tx1"/>
                          </a:solidFill>
                          <a:effectLst/>
                          <a:latin typeface="+mj-ea"/>
                          <a:ea typeface="+mj-ea"/>
                        </a:rPr>
                        <a:t>난이도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chemeClr val="tx1"/>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en-US" sz="1000" b="0" i="0" u="none" strike="noStrike" dirty="0">
                          <a:solidFill>
                            <a:schemeClr val="tx1"/>
                          </a:solidFill>
                          <a:effectLst/>
                          <a:latin typeface="+mj-ea"/>
                          <a:ea typeface="+mj-ea"/>
                        </a:rPr>
                        <a:t>NCS Level (1~8)</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21477508"/>
                  </a:ext>
                </a:extLst>
              </a:tr>
              <a:tr h="174000">
                <a:tc vMerge="1">
                  <a:txBody>
                    <a:bodyPr/>
                    <a:lstStyle/>
                    <a:p>
                      <a:pPr latinLnBrk="1"/>
                      <a:endParaRPr lang="ko-KR" altLang="en-US"/>
                    </a:p>
                  </a:txBody>
                  <a:tcPr/>
                </a:tc>
                <a:tc gridSpan="6">
                  <a:txBody>
                    <a:bodyPr/>
                    <a:lstStyle/>
                    <a:p>
                      <a:pPr algn="ctr" latinLnBrk="1"/>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초급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중급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고급</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①  ②  ③  ④  ⑤  ⑥  ⑦  ⑧</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899481179"/>
                  </a:ext>
                </a:extLst>
              </a:tr>
              <a:tr h="174000">
                <a:tc rowSpan="2">
                  <a:txBody>
                    <a:bodyPr/>
                    <a:lstStyle/>
                    <a:p>
                      <a:pPr algn="ctr" fontAlgn="ctr"/>
                      <a:r>
                        <a:rPr lang="ko-KR" altLang="en-US" sz="1000" b="0" i="0" u="none" strike="noStrike" kern="1200" spc="0" dirty="0">
                          <a:solidFill>
                            <a:schemeClr val="tx1"/>
                          </a:solidFill>
                          <a:effectLst/>
                          <a:latin typeface="+mj-ea"/>
                          <a:ea typeface="+mn-ea"/>
                          <a:cs typeface="+mn-cs"/>
                        </a:rPr>
                        <a:t>❺ </a:t>
                      </a:r>
                      <a:r>
                        <a:rPr lang="ko-KR" altLang="en-US" sz="1000" b="0" i="0" u="none" strike="noStrike" spc="0" dirty="0">
                          <a:solidFill>
                            <a:srgbClr val="000000"/>
                          </a:solidFill>
                          <a:effectLst/>
                          <a:latin typeface="+mj-ea"/>
                          <a:ea typeface="+mj-ea"/>
                        </a:rPr>
                        <a:t>활용도구</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4">
                  <a:txBody>
                    <a:bodyPr/>
                    <a:lstStyle/>
                    <a:p>
                      <a:pPr algn="ctr" fontAlgn="ctr"/>
                      <a:r>
                        <a:rPr lang="en-US"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버전</a:t>
                      </a:r>
                    </a:p>
                  </a:txBody>
                  <a:tcPr marL="1772" marR="1772" marT="1772" marB="0" anchor="ctr">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en-US" sz="1000" b="0" i="0" u="none" strike="noStrike">
                          <a:solidFill>
                            <a:srgbClr val="000000"/>
                          </a:solidFill>
                          <a:effectLst/>
                          <a:latin typeface="+mj-ea"/>
                          <a:ea typeface="+mj-ea"/>
                        </a:rPr>
                        <a:t>HW</a:t>
                      </a:r>
                      <a:r>
                        <a:rPr lang="ko-KR" altLang="en-US" sz="1000" b="0" i="0" u="none" strike="noStrike">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l" fontAlgn="ctr"/>
                      <a:r>
                        <a:rPr lang="ko-KR" altLang="en-US" sz="1200" b="0" i="0" u="none" strike="noStrike">
                          <a:solidFill>
                            <a:srgbClr val="000000"/>
                          </a:solidFill>
                          <a:effectLst/>
                          <a:latin typeface="+mj-ea"/>
                          <a:ea typeface="+mj-ea"/>
                        </a:rPr>
                        <a:t>버전</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2157529761"/>
                  </a:ext>
                </a:extLst>
              </a:tr>
              <a:tr h="174000">
                <a:tc vMerge="1">
                  <a:txBody>
                    <a:bodyPr/>
                    <a:lstStyle/>
                    <a:p>
                      <a:pPr latinLnBrk="1"/>
                      <a:endParaRPr lang="ko-KR" altLang="en-US"/>
                    </a:p>
                  </a:txBody>
                  <a:tcPr/>
                </a:tc>
                <a:tc gridSpan="4">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1371144467"/>
                  </a:ext>
                </a:extLst>
              </a:tr>
              <a:tr h="174000">
                <a:tc>
                  <a:txBody>
                    <a:bodyPr/>
                    <a:lstStyle/>
                    <a:p>
                      <a:pPr algn="ctr" fontAlgn="ctr"/>
                      <a:r>
                        <a:rPr lang="ko-KR" altLang="en-US" sz="1000" b="0" i="0" u="none" strike="noStrike" dirty="0">
                          <a:solidFill>
                            <a:srgbClr val="000000"/>
                          </a:solidFill>
                          <a:effectLst/>
                          <a:latin typeface="+mj-ea"/>
                          <a:ea typeface="+mj-ea"/>
                        </a:rPr>
                        <a:t>키워드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71168455"/>
                  </a:ext>
                </a:extLst>
              </a:tr>
              <a:tr h="189241">
                <a:tc gridSpan="16">
                  <a:txBody>
                    <a:bodyPr/>
                    <a:lstStyle/>
                    <a:p>
                      <a:pPr algn="l" fontAlgn="ctr"/>
                      <a:r>
                        <a:rPr lang="en-US" altLang="ko-KR" sz="1100" b="0" i="0" u="none" strike="noStrike" dirty="0">
                          <a:solidFill>
                            <a:schemeClr val="bg1"/>
                          </a:solidFill>
                          <a:effectLst/>
                          <a:latin typeface="+mj-ea"/>
                          <a:ea typeface="+mj-ea"/>
                        </a:rPr>
                        <a:t>2. </a:t>
                      </a:r>
                      <a:r>
                        <a:rPr lang="ko-KR" altLang="en-US" sz="1100" b="0" i="0" u="none" strike="noStrike" dirty="0">
                          <a:solidFill>
                            <a:schemeClr val="bg1"/>
                          </a:solidFill>
                          <a:effectLst/>
                          <a:latin typeface="+mj-ea"/>
                          <a:ea typeface="+mj-ea"/>
                        </a:rPr>
                        <a:t>과정내용</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477418870"/>
                  </a:ext>
                </a:extLst>
              </a:tr>
              <a:tr h="174000">
                <a:tc>
                  <a:txBody>
                    <a:bodyPr/>
                    <a:lstStyle/>
                    <a:p>
                      <a:pPr algn="ctr" fontAlgn="ctr"/>
                      <a:r>
                        <a:rPr lang="ko-KR" altLang="en-US" sz="1000" b="0" i="0" u="none" strike="noStrike" dirty="0">
                          <a:solidFill>
                            <a:srgbClr val="000000"/>
                          </a:solidFill>
                          <a:effectLst/>
                          <a:latin typeface="+mj-ea"/>
                          <a:ea typeface="+mj-ea"/>
                        </a:rPr>
                        <a:t>차시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3">
                  <a:txBody>
                    <a:bodyPr/>
                    <a:lstStyle/>
                    <a:p>
                      <a:pPr algn="ctr" fontAlgn="ctr"/>
                      <a:r>
                        <a:rPr lang="ko-KR" altLang="en-US" sz="1000" b="0" i="0" u="none" strike="noStrike" dirty="0" err="1">
                          <a:solidFill>
                            <a:srgbClr val="000000"/>
                          </a:solidFill>
                          <a:effectLst/>
                          <a:latin typeface="+mj-ea"/>
                          <a:ea typeface="+mj-ea"/>
                        </a:rPr>
                        <a:t>차시명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차시내용</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r>
                        <a:rPr lang="en-US" altLang="ko-KR" sz="1000" b="0" i="0" u="none" strike="noStrike" dirty="0">
                          <a:solidFill>
                            <a:srgbClr val="000000"/>
                          </a:solidFill>
                          <a:effectLst/>
                          <a:latin typeface="+mj-ea"/>
                          <a:ea typeface="+mj-ea"/>
                        </a:rPr>
                        <a:t>NSC </a:t>
                      </a:r>
                      <a:r>
                        <a:rPr lang="ko-KR" altLang="en-US" sz="1000" b="0" i="0" u="none" strike="noStrike" dirty="0">
                          <a:solidFill>
                            <a:srgbClr val="000000"/>
                          </a:solidFill>
                          <a:effectLst/>
                          <a:latin typeface="+mj-ea"/>
                          <a:ea typeface="+mj-ea"/>
                        </a:rPr>
                        <a:t>능력단위요소명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1000" b="0" i="0" u="none" strike="noStrike" spc="-150" dirty="0">
                          <a:solidFill>
                            <a:srgbClr val="000000"/>
                          </a:solidFill>
                          <a:effectLst/>
                          <a:latin typeface="+mj-ea"/>
                          <a:ea typeface="+mj-ea"/>
                        </a:rPr>
                        <a:t>NSC </a:t>
                      </a:r>
                      <a:r>
                        <a:rPr lang="ko-KR" altLang="en-US" sz="1000" b="0" i="0" u="none" strike="noStrike" spc="-150" dirty="0">
                          <a:solidFill>
                            <a:srgbClr val="000000"/>
                          </a:solidFill>
                          <a:effectLst/>
                          <a:latin typeface="+mj-ea"/>
                          <a:ea typeface="+mj-ea"/>
                        </a:rPr>
                        <a:t>능력단위요소명</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en-US" sz="1000" b="0" i="0" u="none" strike="noStrike" dirty="0">
                          <a:solidFill>
                            <a:srgbClr val="000000"/>
                          </a:solidFill>
                          <a:effectLst/>
                          <a:latin typeface="+mj-ea"/>
                          <a:ea typeface="+mj-ea"/>
                        </a:rPr>
                        <a:t>NCS Level</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extLst>
                  <a:ext uri="{0D108BD9-81ED-4DB2-BD59-A6C34878D82A}">
                    <a16:rowId xmlns:a16="http://schemas.microsoft.com/office/drawing/2014/main" val="2848433269"/>
                  </a:ext>
                </a:extLst>
              </a:tr>
              <a:tr h="143520">
                <a:tc>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endParaRPr lang="ko-KR" altLang="en-US" sz="80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2360229889"/>
                  </a:ext>
                </a:extLst>
              </a:tr>
              <a:tr h="189241">
                <a:tc gridSpan="16">
                  <a:txBody>
                    <a:bodyPr/>
                    <a:lstStyle/>
                    <a:p>
                      <a:pPr algn="l" fontAlgn="ctr"/>
                      <a:r>
                        <a:rPr lang="en-US" altLang="ko-KR" sz="1100" b="0" i="0" u="none" strike="noStrike" dirty="0">
                          <a:solidFill>
                            <a:schemeClr val="bg1"/>
                          </a:solidFill>
                          <a:effectLst/>
                          <a:latin typeface="+mj-ea"/>
                          <a:ea typeface="+mj-ea"/>
                        </a:rPr>
                        <a:t>3. </a:t>
                      </a:r>
                      <a:r>
                        <a:rPr lang="ko-KR" altLang="en-US" sz="1100" b="0" i="0" u="none" strike="noStrike" dirty="0">
                          <a:solidFill>
                            <a:schemeClr val="bg1"/>
                          </a:solidFill>
                          <a:effectLst/>
                          <a:latin typeface="+mj-ea"/>
                          <a:ea typeface="+mj-ea"/>
                        </a:rPr>
                        <a:t>부가정보</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63074883"/>
                  </a:ext>
                </a:extLst>
              </a:tr>
              <a:tr h="174000">
                <a:tc rowSpan="2">
                  <a:txBody>
                    <a:bodyPr/>
                    <a:lstStyle/>
                    <a:p>
                      <a:pPr algn="ctr" fontAlgn="ctr"/>
                      <a:r>
                        <a:rPr lang="ko-KR" altLang="en-US" sz="1000" b="0" i="0" u="none" strike="noStrike" spc="-150" dirty="0">
                          <a:solidFill>
                            <a:srgbClr val="000000"/>
                          </a:solidFill>
                          <a:effectLst/>
                          <a:latin typeface="+mj-ea"/>
                          <a:ea typeface="+mj-ea"/>
                        </a:rPr>
                        <a:t>❻ 선</a:t>
                      </a:r>
                      <a:r>
                        <a:rPr lang="en-US" altLang="ko-KR" sz="1000" b="0" i="0" u="none" strike="noStrike" spc="-150" dirty="0">
                          <a:solidFill>
                            <a:srgbClr val="000000"/>
                          </a:solidFill>
                          <a:effectLst/>
                          <a:latin typeface="+mj-ea"/>
                          <a:ea typeface="+mj-ea"/>
                        </a:rPr>
                        <a:t>·</a:t>
                      </a:r>
                      <a:r>
                        <a:rPr lang="ko-KR" altLang="en-US" sz="1000" b="0" i="0" u="none" strike="noStrike" spc="-150" dirty="0">
                          <a:solidFill>
                            <a:srgbClr val="000000"/>
                          </a:solidFill>
                          <a:effectLst/>
                          <a:latin typeface="+mj-ea"/>
                          <a:ea typeface="+mj-ea"/>
                        </a:rPr>
                        <a:t>후수 과정정보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rgbClr val="000000"/>
                          </a:solidFill>
                          <a:effectLst/>
                          <a:latin typeface="+mj-ea"/>
                          <a:ea typeface="+mj-ea"/>
                        </a:rPr>
                        <a:t>선수과정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a:solidFill>
                            <a:srgbClr val="000000"/>
                          </a:solidFill>
                          <a:effectLst/>
                          <a:latin typeface="+mj-ea"/>
                          <a:ea typeface="+mj-ea"/>
                        </a:rPr>
                        <a:t>후수과정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78456327"/>
                  </a:ext>
                </a:extLst>
              </a:tr>
              <a:tr h="174000">
                <a:tc v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60332294"/>
                  </a:ext>
                </a:extLst>
              </a:tr>
              <a:tr h="174000">
                <a:tc rowSpan="6">
                  <a:txBody>
                    <a:bodyPr/>
                    <a:lstStyle/>
                    <a:p>
                      <a:pPr algn="ctr" fontAlgn="ctr"/>
                      <a:r>
                        <a:rPr lang="ko-KR" altLang="en-US" sz="1000" b="0" i="0" u="none" strike="noStrike" spc="0" dirty="0">
                          <a:solidFill>
                            <a:srgbClr val="000000"/>
                          </a:solidFill>
                          <a:effectLst/>
                          <a:latin typeface="+mj-ea"/>
                          <a:ea typeface="+mj-ea"/>
                        </a:rPr>
                        <a:t>❼과정개발 필요성</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gridSpan="6">
                  <a:txBody>
                    <a:bodyPr/>
                    <a:lstStyle/>
                    <a:p>
                      <a:pPr algn="ctr" fontAlgn="ctr"/>
                      <a:r>
                        <a:rPr lang="ko-KR" altLang="en-US" sz="1000" b="0" i="0" u="none" strike="noStrike" dirty="0">
                          <a:solidFill>
                            <a:srgbClr val="000000"/>
                          </a:solidFill>
                          <a:effectLst/>
                          <a:latin typeface="+mj-ea"/>
                          <a:ea typeface="+mj-ea"/>
                        </a:rPr>
                        <a:t>구분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rowSpan="2"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err="1">
                          <a:solidFill>
                            <a:srgbClr val="000000"/>
                          </a:solidFill>
                          <a:effectLst/>
                          <a:latin typeface="+mj-ea"/>
                          <a:ea typeface="+mj-ea"/>
                        </a:rPr>
                        <a:t>개발필요성</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53713709"/>
                  </a:ext>
                </a:extLst>
              </a:tr>
              <a:tr h="174000">
                <a:tc vMerge="1">
                  <a:txBody>
                    <a:bodyPr/>
                    <a:lstStyle/>
                    <a:p>
                      <a:pPr latinLnBrk="1"/>
                      <a:endParaRPr lang="ko-KR" altLang="en-US"/>
                    </a:p>
                  </a:txBody>
                  <a:tcPr/>
                </a:tc>
                <a:tc gridSpan="6" v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algn="ctr" fontAlgn="ctr"/>
                      <a:r>
                        <a:rPr lang="ko-KR" altLang="en-US" sz="1000" b="0" i="0" u="none" strike="noStrike" spc="-250" baseline="0" dirty="0" err="1">
                          <a:solidFill>
                            <a:srgbClr val="000000"/>
                          </a:solidFill>
                          <a:effectLst/>
                          <a:latin typeface="+mj-ea"/>
                          <a:ea typeface="+mj-ea"/>
                        </a:rPr>
                        <a:t>매우낮음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ko-KR" altLang="en-US" sz="1000" b="0" i="0" u="none" strike="noStrike" dirty="0">
                          <a:solidFill>
                            <a:srgbClr val="000000"/>
                          </a:solidFill>
                          <a:effectLst/>
                          <a:latin typeface="+mj-ea"/>
                          <a:ea typeface="+mj-ea"/>
                        </a:rPr>
                        <a:t>낮음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2">
                  <a:txBody>
                    <a:bodyPr/>
                    <a:lstStyle/>
                    <a:p>
                      <a:pPr algn="ctr" fontAlgn="ctr"/>
                      <a:r>
                        <a:rPr lang="ko-KR" altLang="en-US" sz="1000" b="0" i="0" u="none" strike="noStrike" dirty="0">
                          <a:solidFill>
                            <a:srgbClr val="000000"/>
                          </a:solidFill>
                          <a:effectLst/>
                          <a:latin typeface="+mj-ea"/>
                          <a:ea typeface="+mj-ea"/>
                        </a:rPr>
                        <a:t>보통</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gridSpan="2">
                  <a:txBody>
                    <a:bodyPr/>
                    <a:lstStyle/>
                    <a:p>
                      <a:pPr algn="ctr" fontAlgn="ctr"/>
                      <a:r>
                        <a:rPr lang="ko-KR" altLang="en-US" sz="1000" b="0" i="0" u="none" strike="noStrike" dirty="0">
                          <a:solidFill>
                            <a:srgbClr val="000000"/>
                          </a:solidFill>
                          <a:effectLst/>
                          <a:latin typeface="+mj-ea"/>
                          <a:ea typeface="+mj-ea"/>
                        </a:rPr>
                        <a:t>높음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a:txBody>
                    <a:bodyPr/>
                    <a:lstStyle/>
                    <a:p>
                      <a:pPr algn="ctr" fontAlgn="ctr"/>
                      <a:r>
                        <a:rPr lang="ko-KR" altLang="en-US" sz="1000" b="0" i="0" u="none" strike="noStrike" spc="-250" baseline="0" dirty="0" err="1">
                          <a:solidFill>
                            <a:srgbClr val="000000"/>
                          </a:solidFill>
                          <a:effectLst/>
                          <a:latin typeface="+mj-ea"/>
                          <a:ea typeface="+mj-ea"/>
                        </a:rPr>
                        <a:t>매우높음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1467472307"/>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05005"/>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52981"/>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966370"/>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445672"/>
                  </a:ext>
                </a:extLst>
              </a:tr>
              <a:tr h="174000">
                <a:tc>
                  <a:txBody>
                    <a:bodyPr/>
                    <a:lstStyle/>
                    <a:p>
                      <a:pPr algn="ctr" fontAlgn="ctr"/>
                      <a:r>
                        <a:rPr lang="ko-KR" altLang="en-US" sz="1000" b="0" i="0" u="none" strike="noStrike" dirty="0">
                          <a:solidFill>
                            <a:srgbClr val="000000"/>
                          </a:solidFill>
                          <a:effectLst/>
                          <a:latin typeface="+mj-ea"/>
                          <a:ea typeface="+mj-ea"/>
                        </a:rPr>
                        <a:t>수요기관 </a:t>
                      </a:r>
                      <a:r>
                        <a:rPr lang="ko-KR" altLang="en-US" sz="1000" b="0" i="0" u="none" strike="noStrike" dirty="0" err="1">
                          <a:solidFill>
                            <a:srgbClr val="000000"/>
                          </a:solidFill>
                          <a:effectLst/>
                          <a:latin typeface="+mj-ea"/>
                          <a:ea typeface="+mj-ea"/>
                        </a:rPr>
                        <a:t>활용처</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74609764"/>
                  </a:ext>
                </a:extLst>
              </a:tr>
              <a:tr h="174000">
                <a:tc>
                  <a:txBody>
                    <a:bodyPr/>
                    <a:lstStyle/>
                    <a:p>
                      <a:pPr algn="ctr" fontAlgn="ctr"/>
                      <a:r>
                        <a:rPr lang="ko-KR" altLang="en-US" sz="1000" b="0" i="0" u="none" strike="noStrike" dirty="0">
                          <a:solidFill>
                            <a:srgbClr val="000000"/>
                          </a:solidFill>
                          <a:effectLst/>
                          <a:latin typeface="+mj-ea"/>
                          <a:ea typeface="+mj-ea"/>
                        </a:rPr>
                        <a:t>참고 자료</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64409060"/>
                  </a:ext>
                </a:extLst>
              </a:tr>
            </a:tbl>
          </a:graphicData>
        </a:graphic>
      </p:graphicFrame>
      <p:sp>
        <p:nvSpPr>
          <p:cNvPr id="26" name="TextBox 25">
            <a:extLst>
              <a:ext uri="{FF2B5EF4-FFF2-40B4-BE49-F238E27FC236}">
                <a16:creationId xmlns:a16="http://schemas.microsoft.com/office/drawing/2014/main" id="{C0D5751C-DB5B-C348-BA61-33C2AC79DC96}"/>
              </a:ext>
            </a:extLst>
          </p:cNvPr>
          <p:cNvSpPr txBox="1"/>
          <p:nvPr/>
        </p:nvSpPr>
        <p:spPr>
          <a:xfrm>
            <a:off x="6033120" y="2510021"/>
            <a:ext cx="349073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과정개정 검토주기</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본 과정 개요서를 검토하고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수정이 필요한 주기를 체크</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27" name="TextBox 26">
            <a:extLst>
              <a:ext uri="{FF2B5EF4-FFF2-40B4-BE49-F238E27FC236}">
                <a16:creationId xmlns:a16="http://schemas.microsoft.com/office/drawing/2014/main" id="{D295E457-7474-CACA-F3DC-65326D246476}"/>
              </a:ext>
            </a:extLst>
          </p:cNvPr>
          <p:cNvSpPr txBox="1"/>
          <p:nvPr/>
        </p:nvSpPr>
        <p:spPr>
          <a:xfrm>
            <a:off x="6033120" y="4550763"/>
            <a:ext cx="3490738" cy="70499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선</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후수</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과정정보</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같은 직무의 전 수준 교육과정과 후 수준 교육과정을 참고하여 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후수 과정 작성</a:t>
            </a:r>
          </a:p>
        </p:txBody>
      </p:sp>
      <p:sp>
        <p:nvSpPr>
          <p:cNvPr id="28" name="TextBox 27">
            <a:extLst>
              <a:ext uri="{FF2B5EF4-FFF2-40B4-BE49-F238E27FC236}">
                <a16:creationId xmlns:a16="http://schemas.microsoft.com/office/drawing/2014/main" id="{06401B13-6905-0C0B-77B5-58ACB08E4BEC}"/>
              </a:ext>
            </a:extLst>
          </p:cNvPr>
          <p:cNvSpPr txBox="1"/>
          <p:nvPr/>
        </p:nvSpPr>
        <p:spPr>
          <a:xfrm>
            <a:off x="6033120" y="1196975"/>
            <a:ext cx="3600350"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NCS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활용 여부</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활용하여 제작한 과정 개요서는 활용에 체크</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협약 기업</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기관 교육과정 개발인 경우에는 미 활용에 체크</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29" name="TextBox 28">
            <a:extLst>
              <a:ext uri="{FF2B5EF4-FFF2-40B4-BE49-F238E27FC236}">
                <a16:creationId xmlns:a16="http://schemas.microsoft.com/office/drawing/2014/main" id="{22BFF677-0367-BCEB-8EFA-414C5DFEB926}"/>
              </a:ext>
            </a:extLst>
          </p:cNvPr>
          <p:cNvSpPr txBox="1"/>
          <p:nvPr/>
        </p:nvSpPr>
        <p:spPr>
          <a:xfrm>
            <a:off x="6033120" y="5264607"/>
            <a:ext cx="3435952" cy="1166661"/>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과정개발 필요성</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집체교육</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설문조사 결과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~60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매우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61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보통으로 체크</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가상훈련</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수요조사 결과 가상훈련 개발 필요성이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4</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점 이상인 교육과정 중</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 검토를 통해 필요한 경우 체크</a:t>
            </a:r>
          </a:p>
        </p:txBody>
      </p:sp>
    </p:spTree>
    <p:extLst>
      <p:ext uri="{BB962C8B-B14F-4D97-AF65-F5344CB8AC3E}">
        <p14:creationId xmlns:p14="http://schemas.microsoft.com/office/powerpoint/2010/main" val="3030760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0FF97-4509-6C9F-96C3-460D1E2DDE8B}"/>
            </a:ext>
          </a:extLst>
        </p:cNvPr>
        <p:cNvGrpSpPr/>
        <p:nvPr/>
      </p:nvGrpSpPr>
      <p:grpSpPr>
        <a:xfrm>
          <a:off x="0" y="0"/>
          <a:ext cx="0" cy="0"/>
          <a:chOff x="0" y="0"/>
          <a:chExt cx="0" cy="0"/>
        </a:xfrm>
      </p:grpSpPr>
      <p:sp>
        <p:nvSpPr>
          <p:cNvPr id="45" name="직사각형 44">
            <a:extLst>
              <a:ext uri="{FF2B5EF4-FFF2-40B4-BE49-F238E27FC236}">
                <a16:creationId xmlns:a16="http://schemas.microsoft.com/office/drawing/2014/main" id="{D141E656-A354-9B8B-8A9C-20AB78B50451}"/>
              </a:ext>
            </a:extLst>
          </p:cNvPr>
          <p:cNvSpPr/>
          <p:nvPr/>
        </p:nvSpPr>
        <p:spPr>
          <a:xfrm>
            <a:off x="585373" y="2510543"/>
            <a:ext cx="4151728" cy="138650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marL="171450" indent="-171450" algn="l" latinLnBrk="0">
              <a:lnSpc>
                <a:spcPct val="110000"/>
              </a:lnSpc>
              <a:spcAft>
                <a:spcPts val="600"/>
              </a:spcAft>
            </a:pPr>
            <a:r>
              <a:rPr lang="en-US" altLang="ko-KR" dirty="0">
                <a:solidFill>
                  <a:schemeClr val="tx1"/>
                </a:solidFill>
                <a:latin typeface="Arial Narrow" panose="020B0606020202030204" pitchFamily="34" charset="0"/>
                <a:ea typeface="a고딕14" panose="02020600000000000000" pitchFamily="18" charset="-127"/>
              </a:rPr>
              <a:t>SQF</a:t>
            </a:r>
            <a:r>
              <a:rPr lang="ko-KR" altLang="en-US" dirty="0">
                <a:solidFill>
                  <a:schemeClr val="tx1"/>
                </a:solidFill>
                <a:latin typeface="Arial Narrow" panose="020B0606020202030204" pitchFamily="34" charset="0"/>
                <a:ea typeface="a고딕14" panose="02020600000000000000" pitchFamily="18" charset="-127"/>
              </a:rPr>
              <a:t>의 산업분야</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하위산업분야</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직무를 </a:t>
            </a:r>
            <a:r>
              <a:rPr lang="en-US" altLang="ko-KR" dirty="0">
                <a:solidFill>
                  <a:schemeClr val="tx1"/>
                </a:solidFill>
                <a:latin typeface="Arial Narrow" panose="020B0606020202030204" pitchFamily="34" charset="0"/>
                <a:ea typeface="a고딕14" panose="02020600000000000000" pitchFamily="18" charset="-127"/>
              </a:rPr>
              <a:t>TTR  </a:t>
            </a:r>
            <a:r>
              <a:rPr lang="ko-KR" altLang="en-US" dirty="0">
                <a:solidFill>
                  <a:schemeClr val="tx1"/>
                </a:solidFill>
                <a:latin typeface="Arial Narrow" panose="020B0606020202030204" pitchFamily="34" charset="0"/>
                <a:ea typeface="a고딕14" panose="02020600000000000000" pitchFamily="18" charset="-127"/>
              </a:rPr>
              <a:t>직무체계에 적용함</a:t>
            </a:r>
          </a:p>
          <a:p>
            <a:pPr marL="171450" indent="-171450" algn="l" latinLnBrk="0">
              <a:lnSpc>
                <a:spcPct val="110000"/>
              </a:lnSpc>
              <a:spcAft>
                <a:spcPts val="600"/>
              </a:spcAft>
            </a:pPr>
            <a:r>
              <a:rPr lang="en-US" altLang="ko-KR" dirty="0">
                <a:solidFill>
                  <a:schemeClr val="tx1"/>
                </a:solidFill>
                <a:latin typeface="Arial Narrow" panose="020B0606020202030204" pitchFamily="34" charset="0"/>
                <a:ea typeface="a고딕14" panose="02020600000000000000" pitchFamily="18" charset="-127"/>
              </a:rPr>
              <a:t>SQF </a:t>
            </a:r>
            <a:r>
              <a:rPr lang="ko-KR" altLang="en-US" dirty="0">
                <a:solidFill>
                  <a:schemeClr val="tx1"/>
                </a:solidFill>
                <a:latin typeface="Arial Narrow" panose="020B0606020202030204" pitchFamily="34" charset="0"/>
                <a:ea typeface="a고딕14" panose="02020600000000000000" pitchFamily="18" charset="-127"/>
              </a:rPr>
              <a:t>직무기술서 상의 직무에서 정의된 능력단위를 기준으로 기존 및 신규 교육과정과 매칭함</a:t>
            </a:r>
          </a:p>
        </p:txBody>
      </p:sp>
      <p:sp>
        <p:nvSpPr>
          <p:cNvPr id="2" name="텍스트 개체 틀 1">
            <a:extLst>
              <a:ext uri="{FF2B5EF4-FFF2-40B4-BE49-F238E27FC236}">
                <a16:creationId xmlns:a16="http://schemas.microsoft.com/office/drawing/2014/main" id="{C61D1597-48D3-A65B-8501-386723CF3CD0}"/>
              </a:ext>
            </a:extLst>
          </p:cNvPr>
          <p:cNvSpPr>
            <a:spLocks noGrp="1"/>
          </p:cNvSpPr>
          <p:nvPr>
            <p:ph type="body" sz="quarter" idx="12"/>
          </p:nvPr>
        </p:nvSpPr>
        <p:spPr/>
        <p:txBody>
          <a:bodyPr/>
          <a:lstStyle/>
          <a:p>
            <a:pPr latinLnBrk="0"/>
            <a:r>
              <a:rPr lang="en-US" altLang="ko-KR" dirty="0"/>
              <a:t>10</a:t>
            </a:r>
            <a:r>
              <a:rPr lang="ko-KR" altLang="en-US" dirty="0"/>
              <a:t>대 분야의 기 개발 과정 및 신규 과정의 </a:t>
            </a:r>
            <a:r>
              <a:rPr lang="en-US" altLang="ko-KR" dirty="0"/>
              <a:t>NCS </a:t>
            </a:r>
            <a:r>
              <a:rPr lang="ko-KR" altLang="en-US" dirty="0"/>
              <a:t>세분류를 기준으로 </a:t>
            </a:r>
            <a:r>
              <a:rPr lang="en-US" altLang="ko-KR" dirty="0"/>
              <a:t>SQF</a:t>
            </a:r>
            <a:r>
              <a:rPr lang="ko-KR" altLang="en-US" dirty="0"/>
              <a:t>와 </a:t>
            </a:r>
            <a:r>
              <a:rPr lang="ko-KR" altLang="en-US" dirty="0" err="1"/>
              <a:t>맵핑하는</a:t>
            </a:r>
            <a:r>
              <a:rPr lang="ko-KR" altLang="en-US" dirty="0"/>
              <a:t> 직무체계 최신화 작업을 진행할 계획임</a:t>
            </a:r>
            <a:endParaRPr lang="ko-KR" altLang="en-US" dirty="0">
              <a:solidFill>
                <a:srgbClr val="FF0000"/>
              </a:solidFill>
            </a:endParaRPr>
          </a:p>
        </p:txBody>
      </p:sp>
      <p:sp>
        <p:nvSpPr>
          <p:cNvPr id="5" name="텍스트 개체 틀 4">
            <a:extLst>
              <a:ext uri="{FF2B5EF4-FFF2-40B4-BE49-F238E27FC236}">
                <a16:creationId xmlns:a16="http://schemas.microsoft.com/office/drawing/2014/main" id="{4CDD681A-6745-301A-C334-AA8F7219F84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Ⅳ. </a:t>
            </a:r>
            <a:r>
              <a:rPr lang="ko-KR" altLang="en-US" dirty="0">
                <a:latin typeface="+mn-ea"/>
              </a:rPr>
              <a:t>향후 일정</a:t>
            </a:r>
          </a:p>
        </p:txBody>
      </p:sp>
      <p:sp>
        <p:nvSpPr>
          <p:cNvPr id="7" name="텍스트 개체 틀 87">
            <a:extLst>
              <a:ext uri="{FF2B5EF4-FFF2-40B4-BE49-F238E27FC236}">
                <a16:creationId xmlns:a16="http://schemas.microsoft.com/office/drawing/2014/main" id="{CF39514E-25B8-EC3C-342B-93825F2D615A}"/>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a고딕14" panose="02020600000000000000" pitchFamily="18" charset="-127"/>
              </a:rPr>
              <a:t>➋ </a:t>
            </a:r>
            <a:r>
              <a:rPr lang="ko-KR" altLang="en-US" dirty="0" err="1">
                <a:latin typeface="a고딕14" panose="02020600000000000000" pitchFamily="18" charset="-127"/>
              </a:rPr>
              <a:t>기술교육로드맵</a:t>
            </a:r>
            <a:r>
              <a:rPr lang="en-US" altLang="ko-KR" dirty="0">
                <a:latin typeface="a고딕14" panose="02020600000000000000" pitchFamily="18" charset="-127"/>
              </a:rPr>
              <a:t>(TTR) </a:t>
            </a:r>
            <a:r>
              <a:rPr lang="ko-KR" altLang="en-US" dirty="0">
                <a:latin typeface="a고딕14" panose="02020600000000000000" pitchFamily="18" charset="-127"/>
              </a:rPr>
              <a:t>직무체계 최신화 및 작성</a:t>
            </a:r>
          </a:p>
        </p:txBody>
      </p:sp>
      <p:sp>
        <p:nvSpPr>
          <p:cNvPr id="8" name="직사각형 7">
            <a:extLst>
              <a:ext uri="{FF2B5EF4-FFF2-40B4-BE49-F238E27FC236}">
                <a16:creationId xmlns:a16="http://schemas.microsoft.com/office/drawing/2014/main" id="{8C389643-2107-7C3E-FA74-A2F5D6DA852D}"/>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59F8B6FB-D8B5-C27B-73EE-5C5BA8A4082A}"/>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pic>
        <p:nvPicPr>
          <p:cNvPr id="26" name="그림 25">
            <a:extLst>
              <a:ext uri="{FF2B5EF4-FFF2-40B4-BE49-F238E27FC236}">
                <a16:creationId xmlns:a16="http://schemas.microsoft.com/office/drawing/2014/main" id="{1122DC0A-1871-323F-441B-FA7A587EFA96}"/>
              </a:ext>
            </a:extLst>
          </p:cNvPr>
          <p:cNvPicPr>
            <a:picLocks noChangeAspect="1"/>
          </p:cNvPicPr>
          <p:nvPr/>
        </p:nvPicPr>
        <p:blipFill rotWithShape="1">
          <a:blip r:embed="rId2"/>
          <a:srcRect t="3858" b="9278"/>
          <a:stretch/>
        </p:blipFill>
        <p:spPr>
          <a:xfrm>
            <a:off x="950469" y="3989410"/>
            <a:ext cx="3421533" cy="2136605"/>
          </a:xfrm>
          <a:prstGeom prst="rect">
            <a:avLst/>
          </a:prstGeom>
        </p:spPr>
      </p:pic>
      <p:pic>
        <p:nvPicPr>
          <p:cNvPr id="33" name="그림 32">
            <a:extLst>
              <a:ext uri="{FF2B5EF4-FFF2-40B4-BE49-F238E27FC236}">
                <a16:creationId xmlns:a16="http://schemas.microsoft.com/office/drawing/2014/main" id="{05914064-1890-AB58-3861-C7CDC14F98AB}"/>
              </a:ext>
            </a:extLst>
          </p:cNvPr>
          <p:cNvPicPr>
            <a:picLocks noChangeAspect="1"/>
          </p:cNvPicPr>
          <p:nvPr/>
        </p:nvPicPr>
        <p:blipFill>
          <a:blip r:embed="rId3"/>
          <a:stretch>
            <a:fillRect/>
          </a:stretch>
        </p:blipFill>
        <p:spPr>
          <a:xfrm>
            <a:off x="5169024" y="4130142"/>
            <a:ext cx="1220759" cy="1855142"/>
          </a:xfrm>
          <a:prstGeom prst="rect">
            <a:avLst/>
          </a:prstGeom>
        </p:spPr>
      </p:pic>
      <p:pic>
        <p:nvPicPr>
          <p:cNvPr id="34" name="그림 33">
            <a:extLst>
              <a:ext uri="{FF2B5EF4-FFF2-40B4-BE49-F238E27FC236}">
                <a16:creationId xmlns:a16="http://schemas.microsoft.com/office/drawing/2014/main" id="{9F09C470-9E67-8438-7DD8-4317B56267DB}"/>
              </a:ext>
            </a:extLst>
          </p:cNvPr>
          <p:cNvPicPr>
            <a:picLocks noChangeAspect="1"/>
          </p:cNvPicPr>
          <p:nvPr/>
        </p:nvPicPr>
        <p:blipFill>
          <a:blip r:embed="rId4"/>
          <a:stretch>
            <a:fillRect/>
          </a:stretch>
        </p:blipFill>
        <p:spPr>
          <a:xfrm>
            <a:off x="6176209" y="4323545"/>
            <a:ext cx="3168477" cy="1219262"/>
          </a:xfrm>
          <a:prstGeom prst="rect">
            <a:avLst/>
          </a:prstGeom>
          <a:ln>
            <a:solidFill>
              <a:schemeClr val="tx1">
                <a:lumMod val="65000"/>
                <a:lumOff val="35000"/>
              </a:schemeClr>
            </a:solidFill>
          </a:ln>
        </p:spPr>
      </p:pic>
      <p:grpSp>
        <p:nvGrpSpPr>
          <p:cNvPr id="40" name="그룹 39">
            <a:extLst>
              <a:ext uri="{FF2B5EF4-FFF2-40B4-BE49-F238E27FC236}">
                <a16:creationId xmlns:a16="http://schemas.microsoft.com/office/drawing/2014/main" id="{9E1B5C3C-3CBA-90F2-6ABE-26A330B6F7A9}"/>
              </a:ext>
            </a:extLst>
          </p:cNvPr>
          <p:cNvGrpSpPr/>
          <p:nvPr/>
        </p:nvGrpSpPr>
        <p:grpSpPr>
          <a:xfrm>
            <a:off x="596515" y="1681027"/>
            <a:ext cx="8749097" cy="266602"/>
            <a:chOff x="802640" y="2236632"/>
            <a:chExt cx="4130805" cy="266552"/>
          </a:xfrm>
        </p:grpSpPr>
        <p:sp>
          <p:nvSpPr>
            <p:cNvPr id="41" name="ListLeanHorizontalTextTopic0">
              <a:extLst>
                <a:ext uri="{FF2B5EF4-FFF2-40B4-BE49-F238E27FC236}">
                  <a16:creationId xmlns:a16="http://schemas.microsoft.com/office/drawing/2014/main" id="{09C8D070-7CFF-6725-5FAD-ECA8B0996CB4}"/>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직무체계 최신화 방안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전년도 진행 사항</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t>
              </a:r>
            </a:p>
          </p:txBody>
        </p:sp>
        <p:cxnSp>
          <p:nvCxnSpPr>
            <p:cNvPr id="42" name="Horizontal Line">
              <a:extLst>
                <a:ext uri="{FF2B5EF4-FFF2-40B4-BE49-F238E27FC236}">
                  <a16:creationId xmlns:a16="http://schemas.microsoft.com/office/drawing/2014/main" id="{A301DA15-B4DE-B4B2-6D97-D430D695B127}"/>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43" name="직사각형 42">
            <a:extLst>
              <a:ext uri="{FF2B5EF4-FFF2-40B4-BE49-F238E27FC236}">
                <a16:creationId xmlns:a16="http://schemas.microsoft.com/office/drawing/2014/main" id="{29719FF1-537B-9E75-E84A-6C76A34C2A20}"/>
              </a:ext>
            </a:extLst>
          </p:cNvPr>
          <p:cNvSpPr/>
          <p:nvPr/>
        </p:nvSpPr>
        <p:spPr>
          <a:xfrm>
            <a:off x="585372" y="2087609"/>
            <a:ext cx="4151728"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➊ </a:t>
            </a:r>
            <a:r>
              <a:rPr lang="ko-KR" altLang="en-US" dirty="0">
                <a:solidFill>
                  <a:schemeClr val="bg1"/>
                </a:solidFill>
                <a:latin typeface="Arial Narrow" panose="020B0606020202030204" pitchFamily="34" charset="0"/>
                <a:ea typeface="a고딕14" panose="02020600000000000000" pitchFamily="18" charset="-127"/>
              </a:rPr>
              <a:t>기 구축된 </a:t>
            </a:r>
            <a:r>
              <a:rPr lang="en-US" altLang="ko-KR" dirty="0">
                <a:solidFill>
                  <a:schemeClr val="bg1"/>
                </a:solidFill>
                <a:latin typeface="Arial Narrow" panose="020B0606020202030204" pitchFamily="34" charset="0"/>
                <a:ea typeface="a고딕14" panose="02020600000000000000" pitchFamily="18" charset="-127"/>
              </a:rPr>
              <a:t>SQF </a:t>
            </a:r>
            <a:r>
              <a:rPr lang="ko-KR" altLang="en-US" dirty="0">
                <a:solidFill>
                  <a:schemeClr val="bg1"/>
                </a:solidFill>
                <a:latin typeface="Arial Narrow" panose="020B0606020202030204" pitchFamily="34" charset="0"/>
                <a:ea typeface="a고딕14" panose="02020600000000000000" pitchFamily="18" charset="-127"/>
              </a:rPr>
              <a:t>체계를 활용하는 경우</a:t>
            </a:r>
          </a:p>
        </p:txBody>
      </p:sp>
      <p:sp>
        <p:nvSpPr>
          <p:cNvPr id="44" name="직사각형 43">
            <a:extLst>
              <a:ext uri="{FF2B5EF4-FFF2-40B4-BE49-F238E27FC236}">
                <a16:creationId xmlns:a16="http://schemas.microsoft.com/office/drawing/2014/main" id="{6826C08A-DE20-E48B-8209-FA2403506F76}"/>
              </a:ext>
            </a:extLst>
          </p:cNvPr>
          <p:cNvSpPr/>
          <p:nvPr/>
        </p:nvSpPr>
        <p:spPr>
          <a:xfrm>
            <a:off x="5168899" y="2087609"/>
            <a:ext cx="4176713" cy="332345"/>
          </a:xfrm>
          <a:prstGeom prst="rect">
            <a:avLst/>
          </a:prstGeom>
          <a:solidFill>
            <a:srgbClr val="212E5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➋ </a:t>
            </a:r>
            <a:r>
              <a:rPr lang="ko-KR" altLang="en-US" dirty="0">
                <a:solidFill>
                  <a:schemeClr val="bg1"/>
                </a:solidFill>
                <a:latin typeface="Arial Narrow" panose="020B0606020202030204" pitchFamily="34" charset="0"/>
                <a:ea typeface="a고딕14" panose="02020600000000000000" pitchFamily="18" charset="-127"/>
              </a:rPr>
              <a:t>기 구축된 </a:t>
            </a:r>
            <a:r>
              <a:rPr lang="en-US" altLang="ko-KR" dirty="0">
                <a:solidFill>
                  <a:schemeClr val="bg1"/>
                </a:solidFill>
                <a:latin typeface="Arial Narrow" panose="020B0606020202030204" pitchFamily="34" charset="0"/>
                <a:ea typeface="a고딕14" panose="02020600000000000000" pitchFamily="18" charset="-127"/>
              </a:rPr>
              <a:t>SQF </a:t>
            </a:r>
            <a:r>
              <a:rPr lang="ko-KR" altLang="en-US" dirty="0">
                <a:solidFill>
                  <a:schemeClr val="bg1"/>
                </a:solidFill>
                <a:latin typeface="Arial Narrow" panose="020B0606020202030204" pitchFamily="34" charset="0"/>
                <a:ea typeface="a고딕14" panose="02020600000000000000" pitchFamily="18" charset="-127"/>
              </a:rPr>
              <a:t>체계를 활용하지 못하는 경우</a:t>
            </a:r>
          </a:p>
        </p:txBody>
      </p:sp>
      <p:sp>
        <p:nvSpPr>
          <p:cNvPr id="46" name="직사각형 45">
            <a:extLst>
              <a:ext uri="{FF2B5EF4-FFF2-40B4-BE49-F238E27FC236}">
                <a16:creationId xmlns:a16="http://schemas.microsoft.com/office/drawing/2014/main" id="{EBAD682F-D863-7356-1B7C-8DABC9927B68}"/>
              </a:ext>
            </a:extLst>
          </p:cNvPr>
          <p:cNvSpPr/>
          <p:nvPr/>
        </p:nvSpPr>
        <p:spPr>
          <a:xfrm>
            <a:off x="5168899" y="2510543"/>
            <a:ext cx="4151728" cy="138650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marL="171450" marR="0" lvl="0" indent="-171450" algn="l" defTabSz="914400" rtl="0" eaLnBrk="0" fontAlgn="base" latinLnBrk="0" hangingPunct="0">
              <a:lnSpc>
                <a:spcPct val="110000"/>
              </a:lnSpc>
              <a:spcBef>
                <a:spcPct val="0"/>
              </a:spcBef>
              <a:spcAft>
                <a:spcPts val="600"/>
              </a:spcAft>
              <a:buClrTx/>
              <a:buSzTx/>
              <a:buFont typeface="Wingdings"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SQF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체계와 매칭되지 않는 능력단위의 경우</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해당하는 세분류의 </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경력개발경로</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모형의 직무별 능력단위와 매칭하고</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해당 직무를 </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TTR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직무로 차용함</a:t>
            </a:r>
            <a:endPar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a:p>
            <a:pPr marL="171450" marR="0" lvl="0" indent="-171450" algn="l" defTabSz="914400" rtl="0" eaLnBrk="0" fontAlgn="base" latinLnBrk="0" hangingPunct="0">
              <a:lnSpc>
                <a:spcPct val="110000"/>
              </a:lnSpc>
              <a:spcBef>
                <a:spcPct val="0"/>
              </a:spcBef>
              <a:spcAft>
                <a:spcPts val="600"/>
              </a:spcAft>
              <a:buClrTx/>
              <a:buSzTx/>
              <a:buFont typeface="Wingdings" pitchFamily="2" charset="2"/>
              <a:buChar char="§"/>
              <a:tabLst/>
              <a:defRPr/>
            </a:pP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경력개발경로 모형에도 능력단위가 매칭되지 않는 경우 기존 체계처럼 </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NCS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세분류를 </a:t>
            </a:r>
            <a:r>
              <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TTR </a:t>
            </a:r>
            <a:r>
              <a:rPr kumimoji="0"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rPr>
              <a:t>직무로 차용함</a:t>
            </a:r>
            <a:endParaRPr kumimoji="0"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Tree>
    <p:extLst>
      <p:ext uri="{BB962C8B-B14F-4D97-AF65-F5344CB8AC3E}">
        <p14:creationId xmlns:p14="http://schemas.microsoft.com/office/powerpoint/2010/main" val="3406327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556EA-F65E-8B92-9E6E-1DC6A47A1323}"/>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B3712F5-ABD7-F9F8-F5C0-0B52242EA60E}"/>
              </a:ext>
            </a:extLst>
          </p:cNvPr>
          <p:cNvSpPr>
            <a:spLocks noGrp="1"/>
          </p:cNvSpPr>
          <p:nvPr>
            <p:ph type="body" sz="quarter" idx="12"/>
          </p:nvPr>
        </p:nvSpPr>
        <p:spPr/>
        <p:txBody>
          <a:bodyPr/>
          <a:lstStyle/>
          <a:p>
            <a:pPr latinLnBrk="0"/>
            <a:r>
              <a:rPr lang="ko-KR" altLang="en-US" dirty="0" err="1"/>
              <a:t>기술교육로드맵</a:t>
            </a:r>
            <a:r>
              <a:rPr lang="ko-KR" altLang="en-US" dirty="0"/>
              <a:t> 도식은 작년과 동일한 구성으로 작성할 계획임</a:t>
            </a:r>
            <a:endParaRPr lang="ko-KR" altLang="en-US" dirty="0">
              <a:solidFill>
                <a:srgbClr val="FF0000"/>
              </a:solidFill>
            </a:endParaRPr>
          </a:p>
        </p:txBody>
      </p:sp>
      <p:sp>
        <p:nvSpPr>
          <p:cNvPr id="5" name="텍스트 개체 틀 4">
            <a:extLst>
              <a:ext uri="{FF2B5EF4-FFF2-40B4-BE49-F238E27FC236}">
                <a16:creationId xmlns:a16="http://schemas.microsoft.com/office/drawing/2014/main" id="{715B1CDF-E2CD-3294-0A51-161E7ECA131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Ⅳ. </a:t>
            </a:r>
            <a:r>
              <a:rPr lang="ko-KR" altLang="en-US" dirty="0">
                <a:latin typeface="+mn-ea"/>
              </a:rPr>
              <a:t>향후 일정</a:t>
            </a:r>
          </a:p>
        </p:txBody>
      </p:sp>
      <p:sp>
        <p:nvSpPr>
          <p:cNvPr id="7" name="텍스트 개체 틀 87">
            <a:extLst>
              <a:ext uri="{FF2B5EF4-FFF2-40B4-BE49-F238E27FC236}">
                <a16:creationId xmlns:a16="http://schemas.microsoft.com/office/drawing/2014/main" id="{CDC16693-AF8B-D17C-A01B-3234B2728942}"/>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a고딕14" panose="02020600000000000000" pitchFamily="18" charset="-127"/>
              </a:rPr>
              <a:t>➋ </a:t>
            </a:r>
            <a:r>
              <a:rPr lang="ko-KR" altLang="en-US" dirty="0" err="1">
                <a:latin typeface="a고딕14" panose="02020600000000000000" pitchFamily="18" charset="-127"/>
              </a:rPr>
              <a:t>기술교육로드맵</a:t>
            </a:r>
            <a:r>
              <a:rPr lang="en-US" altLang="ko-KR" dirty="0">
                <a:latin typeface="a고딕14" panose="02020600000000000000" pitchFamily="18" charset="-127"/>
              </a:rPr>
              <a:t>(TTR) </a:t>
            </a:r>
            <a:r>
              <a:rPr lang="ko-KR" altLang="en-US" dirty="0">
                <a:latin typeface="a고딕14" panose="02020600000000000000" pitchFamily="18" charset="-127"/>
              </a:rPr>
              <a:t>직무체계 최신화 및 작성</a:t>
            </a:r>
          </a:p>
        </p:txBody>
      </p:sp>
      <p:sp>
        <p:nvSpPr>
          <p:cNvPr id="8" name="직사각형 7">
            <a:extLst>
              <a:ext uri="{FF2B5EF4-FFF2-40B4-BE49-F238E27FC236}">
                <a16:creationId xmlns:a16="http://schemas.microsoft.com/office/drawing/2014/main" id="{35C2025F-A361-C5D8-CCE5-B0219868A088}"/>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99AB6CB8-7CAC-262C-CE6F-89BD83CA297D}"/>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pic>
        <p:nvPicPr>
          <p:cNvPr id="6" name="그림 5">
            <a:extLst>
              <a:ext uri="{FF2B5EF4-FFF2-40B4-BE49-F238E27FC236}">
                <a16:creationId xmlns:a16="http://schemas.microsoft.com/office/drawing/2014/main" id="{638719D6-DA59-FC8C-1CF3-1DFDA1C883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96515" y="2488417"/>
            <a:ext cx="5277880" cy="3650669"/>
          </a:xfrm>
          <a:prstGeom prst="rect">
            <a:avLst/>
          </a:prstGeom>
          <a:ln>
            <a:solidFill>
              <a:srgbClr val="A4A3A4"/>
            </a:solidFill>
          </a:ln>
        </p:spPr>
      </p:pic>
      <p:sp>
        <p:nvSpPr>
          <p:cNvPr id="10" name="TextBox 9">
            <a:extLst>
              <a:ext uri="{FF2B5EF4-FFF2-40B4-BE49-F238E27FC236}">
                <a16:creationId xmlns:a16="http://schemas.microsoft.com/office/drawing/2014/main" id="{664F3F6B-A8D7-2C8C-528D-BF4074E17D9E}"/>
              </a:ext>
            </a:extLst>
          </p:cNvPr>
          <p:cNvSpPr txBox="1"/>
          <p:nvPr/>
        </p:nvSpPr>
        <p:spPr>
          <a:xfrm>
            <a:off x="6018184" y="1996093"/>
            <a:ext cx="3579331" cy="994691"/>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수준</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 내 능력단위와 매칭된 과정의 수준을 표기함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 내 능력단위 중 다수를 차지하는 능력단위 값을 차용하였으며</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동일한 비율인 경우 그 중 가장 낮은 능력단위 값을 적용함</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1" name="TextBox 10">
            <a:extLst>
              <a:ext uri="{FF2B5EF4-FFF2-40B4-BE49-F238E27FC236}">
                <a16:creationId xmlns:a16="http://schemas.microsoft.com/office/drawing/2014/main" id="{5CDD76AD-D1F5-2455-1D69-4BF2F454CB41}"/>
              </a:ext>
            </a:extLst>
          </p:cNvPr>
          <p:cNvSpPr txBox="1"/>
          <p:nvPr/>
        </p:nvSpPr>
        <p:spPr>
          <a:xfrm>
            <a:off x="6018184" y="3002472"/>
            <a:ext cx="3218211" cy="228712"/>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직무</a:t>
            </a:r>
            <a:endPar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12" name="TextBox 11">
            <a:extLst>
              <a:ext uri="{FF2B5EF4-FFF2-40B4-BE49-F238E27FC236}">
                <a16:creationId xmlns:a16="http://schemas.microsoft.com/office/drawing/2014/main" id="{158FC1FD-552B-2B98-2811-BE7E877DFBB5}"/>
              </a:ext>
            </a:extLst>
          </p:cNvPr>
          <p:cNvSpPr txBox="1"/>
          <p:nvPr/>
        </p:nvSpPr>
        <p:spPr>
          <a:xfrm>
            <a:off x="6018184" y="1556792"/>
            <a:ext cx="3579331"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분류</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하위 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표기</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3" name="TextBox 12">
            <a:extLst>
              <a:ext uri="{FF2B5EF4-FFF2-40B4-BE49-F238E27FC236}">
                <a16:creationId xmlns:a16="http://schemas.microsoft.com/office/drawing/2014/main" id="{5B66ABF3-D8F9-21E5-714B-47C8C862D5BB}"/>
              </a:ext>
            </a:extLst>
          </p:cNvPr>
          <p:cNvSpPr txBox="1"/>
          <p:nvPr/>
        </p:nvSpPr>
        <p:spPr>
          <a:xfrm>
            <a:off x="6018184" y="3242872"/>
            <a:ext cx="3579331" cy="588426"/>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직무의 능력단위 정보와 교육과정의 수준 간의 매칭 이후 교육과정 수준에 따라 배치</a:t>
            </a:r>
          </a:p>
        </p:txBody>
      </p:sp>
      <p:sp>
        <p:nvSpPr>
          <p:cNvPr id="14" name="TextBox 13">
            <a:extLst>
              <a:ext uri="{FF2B5EF4-FFF2-40B4-BE49-F238E27FC236}">
                <a16:creationId xmlns:a16="http://schemas.microsoft.com/office/drawing/2014/main" id="{D893F356-37D6-68B6-BD36-8711CA5973C2}"/>
              </a:ext>
            </a:extLst>
          </p:cNvPr>
          <p:cNvSpPr txBox="1"/>
          <p:nvPr/>
        </p:nvSpPr>
        <p:spPr>
          <a:xfrm>
            <a:off x="6018184" y="3842986"/>
            <a:ext cx="3579331" cy="1371717"/>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콘텐츠 개발여부</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기개발</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콘텐츠</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개발되어 온라인평생교육원에서 보유하고 있는 과정</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이전 과정개요서 개발 과정</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개발되지 않고 온라인평생교육원에서 과정개요서 형태로 보유하고 있는 과정</a:t>
            </a:r>
          </a:p>
          <a:p>
            <a:pPr marL="268288" indent="-88900" algn="l" latinLnBrk="0">
              <a:lnSpc>
                <a:spcPct val="11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이후 과정개요서 개발 과정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본 용역을 통해 </a:t>
            </a: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과정개요서를</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개발한 과정</a:t>
            </a:r>
          </a:p>
        </p:txBody>
      </p:sp>
      <p:sp>
        <p:nvSpPr>
          <p:cNvPr id="17" name="TextBox 16">
            <a:extLst>
              <a:ext uri="{FF2B5EF4-FFF2-40B4-BE49-F238E27FC236}">
                <a16:creationId xmlns:a16="http://schemas.microsoft.com/office/drawing/2014/main" id="{3CDC3A9F-9328-08D2-0C06-89DB982A845C}"/>
              </a:ext>
            </a:extLst>
          </p:cNvPr>
          <p:cNvSpPr txBox="1"/>
          <p:nvPr/>
        </p:nvSpPr>
        <p:spPr>
          <a:xfrm>
            <a:off x="6018184" y="5226391"/>
            <a:ext cx="3579332" cy="813103"/>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콘텐츠 특징</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훈련 방법에 따라 가상훈련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(V),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(E)</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로 표기</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해당 과정 개발 시 활용한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능력단위가 과정평가형  일학습병행 자격의 편성 기준에 해당하는 경우 자격연계</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(L)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표기</a:t>
            </a:r>
          </a:p>
        </p:txBody>
      </p:sp>
      <p:sp>
        <p:nvSpPr>
          <p:cNvPr id="18" name="TextBox 17">
            <a:extLst>
              <a:ext uri="{FF2B5EF4-FFF2-40B4-BE49-F238E27FC236}">
                <a16:creationId xmlns:a16="http://schemas.microsoft.com/office/drawing/2014/main" id="{A6AF66A3-8A57-14F2-608D-911E4CD17F02}"/>
              </a:ext>
            </a:extLst>
          </p:cNvPr>
          <p:cNvSpPr txBox="1"/>
          <p:nvPr/>
        </p:nvSpPr>
        <p:spPr>
          <a:xfrm>
            <a:off x="6018184" y="6051180"/>
            <a:ext cx="3579331" cy="474164"/>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디지털</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첨단 직종 여부</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직무가 디지털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첨단 직종과 매칭된 경우 표기</a:t>
            </a:r>
          </a:p>
        </p:txBody>
      </p:sp>
      <p:pic>
        <p:nvPicPr>
          <p:cNvPr id="19" name="그림 18">
            <a:extLst>
              <a:ext uri="{FF2B5EF4-FFF2-40B4-BE49-F238E27FC236}">
                <a16:creationId xmlns:a16="http://schemas.microsoft.com/office/drawing/2014/main" id="{0A2808E8-49F5-C416-324C-A61A75D33CC5}"/>
              </a:ext>
            </a:extLst>
          </p:cNvPr>
          <p:cNvPicPr>
            <a:picLocks noChangeAspect="1"/>
          </p:cNvPicPr>
          <p:nvPr/>
        </p:nvPicPr>
        <p:blipFill>
          <a:blip r:embed="rId3"/>
          <a:stretch>
            <a:fillRect/>
          </a:stretch>
        </p:blipFill>
        <p:spPr>
          <a:xfrm>
            <a:off x="3417326" y="1693816"/>
            <a:ext cx="2742550" cy="995979"/>
          </a:xfrm>
          <a:prstGeom prst="rect">
            <a:avLst/>
          </a:prstGeom>
        </p:spPr>
      </p:pic>
      <p:sp>
        <p:nvSpPr>
          <p:cNvPr id="20" name="사다리꼴 19">
            <a:extLst>
              <a:ext uri="{FF2B5EF4-FFF2-40B4-BE49-F238E27FC236}">
                <a16:creationId xmlns:a16="http://schemas.microsoft.com/office/drawing/2014/main" id="{708F3508-FBCD-E1E2-67CA-0D5DDA0ACA66}"/>
              </a:ext>
            </a:extLst>
          </p:cNvPr>
          <p:cNvSpPr/>
          <p:nvPr/>
        </p:nvSpPr>
        <p:spPr>
          <a:xfrm flipV="1">
            <a:off x="3440832" y="2689795"/>
            <a:ext cx="2577352" cy="137024"/>
          </a:xfrm>
          <a:prstGeom prst="trapezoid">
            <a:avLst>
              <a:gd name="adj" fmla="val 848866"/>
            </a:avLst>
          </a:prstGeom>
          <a:gradFill flip="none" rotWithShape="1">
            <a:gsLst>
              <a:gs pos="0">
                <a:srgbClr val="A4A3A4"/>
              </a:gs>
              <a:gs pos="50000">
                <a:schemeClr val="bg1">
                  <a:lumMod val="85000"/>
                </a:schemeClr>
              </a:gs>
              <a:gs pos="100000">
                <a:schemeClr val="bg1">
                  <a:lumMod val="95000"/>
                </a:scheme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1" name="TextBox 20">
            <a:extLst>
              <a:ext uri="{FF2B5EF4-FFF2-40B4-BE49-F238E27FC236}">
                <a16:creationId xmlns:a16="http://schemas.microsoft.com/office/drawing/2014/main" id="{4677EF8F-494B-EA6A-0CBF-B8CEDF1AEC17}"/>
              </a:ext>
            </a:extLst>
          </p:cNvPr>
          <p:cNvSpPr txBox="1"/>
          <p:nvPr/>
        </p:nvSpPr>
        <p:spPr>
          <a:xfrm>
            <a:off x="384791" y="2689795"/>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a:t>
            </a:r>
            <a:endParaRPr lang="ko-KR" altLang="en-US" sz="1800" dirty="0"/>
          </a:p>
        </p:txBody>
      </p:sp>
      <p:sp>
        <p:nvSpPr>
          <p:cNvPr id="22" name="TextBox 21">
            <a:extLst>
              <a:ext uri="{FF2B5EF4-FFF2-40B4-BE49-F238E27FC236}">
                <a16:creationId xmlns:a16="http://schemas.microsoft.com/office/drawing/2014/main" id="{E34663FE-C656-9BDB-58DC-FE9FEDFB1E70}"/>
              </a:ext>
            </a:extLst>
          </p:cNvPr>
          <p:cNvSpPr txBox="1"/>
          <p:nvPr/>
        </p:nvSpPr>
        <p:spPr>
          <a:xfrm>
            <a:off x="325467" y="5670162"/>
            <a:ext cx="423447" cy="369332"/>
          </a:xfrm>
          <a:prstGeom prst="rect">
            <a:avLst/>
          </a:prstGeom>
          <a:noFill/>
        </p:spPr>
        <p:txBody>
          <a:bodyPr wrap="square">
            <a:spAutoFit/>
          </a:bodyPr>
          <a:lstStyle/>
          <a:p>
            <a:pPr>
              <a:buNone/>
            </a:pPr>
            <a:r>
              <a:rPr lang="ko-KR" altLang="ko-KR" sz="180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endParaRPr lang="ko-KR" altLang="en-US" sz="1800" dirty="0"/>
          </a:p>
        </p:txBody>
      </p:sp>
      <p:sp>
        <p:nvSpPr>
          <p:cNvPr id="23" name="TextBox 22">
            <a:extLst>
              <a:ext uri="{FF2B5EF4-FFF2-40B4-BE49-F238E27FC236}">
                <a16:creationId xmlns:a16="http://schemas.microsoft.com/office/drawing/2014/main" id="{93278A0B-C877-7AFA-1E8C-6D4B001A0DDE}"/>
              </a:ext>
            </a:extLst>
          </p:cNvPr>
          <p:cNvSpPr txBox="1"/>
          <p:nvPr/>
        </p:nvSpPr>
        <p:spPr>
          <a:xfrm>
            <a:off x="866554" y="5915458"/>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a:t>
            </a:r>
            <a:endParaRPr lang="ko-KR" altLang="en-US" sz="1800" dirty="0"/>
          </a:p>
        </p:txBody>
      </p:sp>
      <p:sp>
        <p:nvSpPr>
          <p:cNvPr id="24" name="TextBox 23">
            <a:extLst>
              <a:ext uri="{FF2B5EF4-FFF2-40B4-BE49-F238E27FC236}">
                <a16:creationId xmlns:a16="http://schemas.microsoft.com/office/drawing/2014/main" id="{0B42D845-43A5-E4F3-DEE9-AE7E3A2B4613}"/>
              </a:ext>
            </a:extLst>
          </p:cNvPr>
          <p:cNvSpPr txBox="1"/>
          <p:nvPr/>
        </p:nvSpPr>
        <p:spPr>
          <a:xfrm>
            <a:off x="4052900" y="5137972"/>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a:t>
            </a:r>
            <a:endParaRPr lang="ko-KR" altLang="en-US" sz="1800" dirty="0"/>
          </a:p>
        </p:txBody>
      </p:sp>
      <p:sp>
        <p:nvSpPr>
          <p:cNvPr id="25" name="TextBox 24">
            <a:extLst>
              <a:ext uri="{FF2B5EF4-FFF2-40B4-BE49-F238E27FC236}">
                <a16:creationId xmlns:a16="http://schemas.microsoft.com/office/drawing/2014/main" id="{F7974901-3996-AF82-627D-8941067F1177}"/>
              </a:ext>
            </a:extLst>
          </p:cNvPr>
          <p:cNvSpPr txBox="1"/>
          <p:nvPr/>
        </p:nvSpPr>
        <p:spPr>
          <a:xfrm>
            <a:off x="3197405" y="238331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a:t>
            </a:r>
            <a:endParaRPr lang="ko-KR" altLang="en-US" sz="1800" dirty="0"/>
          </a:p>
        </p:txBody>
      </p:sp>
      <p:sp>
        <p:nvSpPr>
          <p:cNvPr id="30" name="TextBox 29">
            <a:extLst>
              <a:ext uri="{FF2B5EF4-FFF2-40B4-BE49-F238E27FC236}">
                <a16:creationId xmlns:a16="http://schemas.microsoft.com/office/drawing/2014/main" id="{776F7EE7-CB3E-D9C9-7E98-2BC5D70678F1}"/>
              </a:ext>
            </a:extLst>
          </p:cNvPr>
          <p:cNvSpPr txBox="1"/>
          <p:nvPr/>
        </p:nvSpPr>
        <p:spPr>
          <a:xfrm>
            <a:off x="3197405" y="213694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a:t>
            </a:r>
            <a:endParaRPr lang="ko-KR" altLang="en-US" sz="1800" dirty="0"/>
          </a:p>
        </p:txBody>
      </p:sp>
      <p:sp>
        <p:nvSpPr>
          <p:cNvPr id="31" name="TextBox 30">
            <a:extLst>
              <a:ext uri="{FF2B5EF4-FFF2-40B4-BE49-F238E27FC236}">
                <a16:creationId xmlns:a16="http://schemas.microsoft.com/office/drawing/2014/main" id="{C82C5239-95F9-51AD-74BE-8C4B1BCACC71}"/>
              </a:ext>
            </a:extLst>
          </p:cNvPr>
          <p:cNvSpPr txBox="1"/>
          <p:nvPr/>
        </p:nvSpPr>
        <p:spPr>
          <a:xfrm>
            <a:off x="3197405" y="189057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a:t>
            </a:r>
            <a:endParaRPr lang="ko-KR" altLang="en-US" sz="1800" dirty="0"/>
          </a:p>
        </p:txBody>
      </p:sp>
    </p:spTree>
    <p:extLst>
      <p:ext uri="{BB962C8B-B14F-4D97-AF65-F5344CB8AC3E}">
        <p14:creationId xmlns:p14="http://schemas.microsoft.com/office/powerpoint/2010/main" val="512636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A8A-847F-A9D4-D453-121AD46A6FE3}"/>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A8FA30B-651D-A78D-4A25-20CB5570C0A6}"/>
              </a:ext>
            </a:extLst>
          </p:cNvPr>
          <p:cNvSpPr>
            <a:spLocks noGrp="1"/>
          </p:cNvSpPr>
          <p:nvPr>
            <p:ph type="body" sz="quarter" idx="12"/>
          </p:nvPr>
        </p:nvSpPr>
        <p:spPr/>
        <p:txBody>
          <a:bodyPr/>
          <a:lstStyle/>
          <a:p>
            <a:pPr latinLnBrk="0"/>
            <a:r>
              <a:rPr lang="ko-KR" altLang="en-US" dirty="0" err="1"/>
              <a:t>기술교육로드맵</a:t>
            </a:r>
            <a:r>
              <a:rPr lang="ko-KR" altLang="en-US" dirty="0"/>
              <a:t> 매뉴얼</a:t>
            </a:r>
            <a:r>
              <a:rPr lang="en-US" altLang="ko-KR" dirty="0"/>
              <a:t>(</a:t>
            </a:r>
            <a:r>
              <a:rPr lang="ko-KR" altLang="en-US" dirty="0"/>
              <a:t>가칭</a:t>
            </a:r>
            <a:r>
              <a:rPr lang="en-US" altLang="ko-KR" dirty="0"/>
              <a:t>)</a:t>
            </a:r>
            <a:r>
              <a:rPr lang="ko-KR" altLang="en-US" dirty="0"/>
              <a:t>은 개발절차와 </a:t>
            </a:r>
            <a:r>
              <a:rPr lang="en-US" altLang="ko-KR" dirty="0"/>
              <a:t>TTR Master DB </a:t>
            </a:r>
            <a:r>
              <a:rPr lang="ko-KR" altLang="en-US" dirty="0"/>
              <a:t>관리</a:t>
            </a:r>
            <a:r>
              <a:rPr lang="en-US" altLang="ko-KR" dirty="0"/>
              <a:t>, TTR </a:t>
            </a:r>
            <a:r>
              <a:rPr lang="ko-KR" altLang="en-US" dirty="0"/>
              <a:t>도식 설명을 중심으로 내용을 구성할 계획임</a:t>
            </a:r>
          </a:p>
        </p:txBody>
      </p:sp>
      <p:sp>
        <p:nvSpPr>
          <p:cNvPr id="5" name="텍스트 개체 틀 4">
            <a:extLst>
              <a:ext uri="{FF2B5EF4-FFF2-40B4-BE49-F238E27FC236}">
                <a16:creationId xmlns:a16="http://schemas.microsoft.com/office/drawing/2014/main" id="{E8CDF466-0446-97B6-9AEA-FDEA50C4257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mn-ea"/>
              </a:rPr>
              <a:t>Ⅳ. </a:t>
            </a:r>
            <a:r>
              <a:rPr lang="ko-KR" altLang="en-US" dirty="0">
                <a:latin typeface="+mn-ea"/>
              </a:rPr>
              <a:t>향후 일정</a:t>
            </a:r>
          </a:p>
        </p:txBody>
      </p:sp>
      <p:sp>
        <p:nvSpPr>
          <p:cNvPr id="7" name="텍스트 개체 틀 87">
            <a:extLst>
              <a:ext uri="{FF2B5EF4-FFF2-40B4-BE49-F238E27FC236}">
                <a16:creationId xmlns:a16="http://schemas.microsoft.com/office/drawing/2014/main" id="{A44D1BC6-78A0-BB18-8117-4E09947D1C62}"/>
              </a:ext>
            </a:extLst>
          </p:cNvPr>
          <p:cNvSpPr txBox="1">
            <a:spLocks/>
          </p:cNvSpPr>
          <p:nvPr/>
        </p:nvSpPr>
        <p:spPr>
          <a:xfrm>
            <a:off x="704528" y="252749"/>
            <a:ext cx="6156684" cy="331935"/>
          </a:xfrm>
          <a:prstGeom prst="rect">
            <a:avLst/>
          </a:prstGeom>
          <a:no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pPr>
            <a:r>
              <a:rPr lang="ko-KR" altLang="en-US" dirty="0">
                <a:latin typeface="a고딕14" panose="02020600000000000000" pitchFamily="18" charset="-127"/>
              </a:rPr>
              <a:t>➌ </a:t>
            </a:r>
            <a:r>
              <a:rPr lang="ko-KR" altLang="en-US" dirty="0" err="1">
                <a:latin typeface="a고딕14" panose="02020600000000000000" pitchFamily="18" charset="-127"/>
              </a:rPr>
              <a:t>기술교육로드맵</a:t>
            </a:r>
            <a:r>
              <a:rPr lang="en-US" altLang="ko-KR" dirty="0">
                <a:latin typeface="a고딕14" panose="02020600000000000000" pitchFamily="18" charset="-127"/>
              </a:rPr>
              <a:t>(TTR) </a:t>
            </a:r>
            <a:r>
              <a:rPr lang="ko-KR" altLang="en-US" dirty="0">
                <a:latin typeface="a고딕14" panose="02020600000000000000" pitchFamily="18" charset="-127"/>
              </a:rPr>
              <a:t>매뉴얼 개발</a:t>
            </a:r>
          </a:p>
        </p:txBody>
      </p:sp>
      <p:sp>
        <p:nvSpPr>
          <p:cNvPr id="8" name="직사각형 7">
            <a:extLst>
              <a:ext uri="{FF2B5EF4-FFF2-40B4-BE49-F238E27FC236}">
                <a16:creationId xmlns:a16="http://schemas.microsoft.com/office/drawing/2014/main" id="{4901DA72-D0D0-D86B-9FA6-AEF2D4888E49}"/>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9185E4AB-893A-FCD9-0E92-7644B9BCEAC0}"/>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고딕14" panose="02020600000000000000" pitchFamily="18" charset="-127"/>
              <a:ea typeface="a고딕14" panose="02020600000000000000" pitchFamily="18" charset="-127"/>
            </a:endParaRPr>
          </a:p>
        </p:txBody>
      </p:sp>
      <p:pic>
        <p:nvPicPr>
          <p:cNvPr id="10" name="그림 9">
            <a:extLst>
              <a:ext uri="{FF2B5EF4-FFF2-40B4-BE49-F238E27FC236}">
                <a16:creationId xmlns:a16="http://schemas.microsoft.com/office/drawing/2014/main" id="{A9543C0D-08EB-3D06-4691-48677B4320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1" y="1844824"/>
            <a:ext cx="4159999" cy="2880000"/>
          </a:xfrm>
          <a:prstGeom prst="rect">
            <a:avLst/>
          </a:prstGeom>
          <a:ln>
            <a:solidFill>
              <a:schemeClr val="tx1">
                <a:lumMod val="65000"/>
                <a:lumOff val="35000"/>
              </a:schemeClr>
            </a:solidFill>
          </a:ln>
        </p:spPr>
      </p:pic>
      <p:pic>
        <p:nvPicPr>
          <p:cNvPr id="18" name="그림 17">
            <a:extLst>
              <a:ext uri="{FF2B5EF4-FFF2-40B4-BE49-F238E27FC236}">
                <a16:creationId xmlns:a16="http://schemas.microsoft.com/office/drawing/2014/main" id="{562F640F-743C-D23A-2840-0532B0F0A0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2793" y="2386202"/>
            <a:ext cx="4159999" cy="2880000"/>
          </a:xfrm>
          <a:prstGeom prst="rect">
            <a:avLst/>
          </a:prstGeom>
          <a:ln>
            <a:solidFill>
              <a:schemeClr val="tx1">
                <a:lumMod val="65000"/>
                <a:lumOff val="35000"/>
              </a:schemeClr>
            </a:solidFill>
          </a:ln>
        </p:spPr>
      </p:pic>
      <p:pic>
        <p:nvPicPr>
          <p:cNvPr id="14" name="그림 13">
            <a:extLst>
              <a:ext uri="{FF2B5EF4-FFF2-40B4-BE49-F238E27FC236}">
                <a16:creationId xmlns:a16="http://schemas.microsoft.com/office/drawing/2014/main" id="{BC9082E2-3679-A08D-39FE-8A9C65B1C1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08684" y="3278746"/>
            <a:ext cx="4160000" cy="2880000"/>
          </a:xfrm>
          <a:prstGeom prst="rect">
            <a:avLst/>
          </a:prstGeom>
          <a:ln>
            <a:solidFill>
              <a:schemeClr val="tx1">
                <a:lumMod val="65000"/>
                <a:lumOff val="35000"/>
              </a:schemeClr>
            </a:solidFill>
          </a:ln>
        </p:spPr>
      </p:pic>
      <p:sp>
        <p:nvSpPr>
          <p:cNvPr id="24" name="Freeform 61">
            <a:extLst>
              <a:ext uri="{FF2B5EF4-FFF2-40B4-BE49-F238E27FC236}">
                <a16:creationId xmlns:a16="http://schemas.microsoft.com/office/drawing/2014/main" id="{7CCE4E2E-488A-5716-790C-B8827396B015}"/>
              </a:ext>
            </a:extLst>
          </p:cNvPr>
          <p:cNvSpPr>
            <a:spLocks/>
          </p:cNvSpPr>
          <p:nvPr/>
        </p:nvSpPr>
        <p:spPr bwMode="auto">
          <a:xfrm rot="10800000">
            <a:off x="6374647" y="1681111"/>
            <a:ext cx="323850" cy="4287866"/>
          </a:xfrm>
          <a:custGeom>
            <a:avLst/>
            <a:gdLst>
              <a:gd name="T0" fmla="*/ 0 w 275"/>
              <a:gd name="T1" fmla="*/ 0 h 4562"/>
              <a:gd name="T2" fmla="*/ 0 w 275"/>
              <a:gd name="T3" fmla="*/ 2147483646 h 4562"/>
              <a:gd name="T4" fmla="*/ 2147483646 w 275"/>
              <a:gd name="T5" fmla="*/ 2147483646 h 4562"/>
              <a:gd name="T6" fmla="*/ 2147483646 w 275"/>
              <a:gd name="T7" fmla="*/ 2147483646 h 4562"/>
              <a:gd name="T8" fmla="*/ 0 w 275"/>
              <a:gd name="T9" fmla="*/ 0 h 4562"/>
              <a:gd name="T10" fmla="*/ 0 60000 65536"/>
              <a:gd name="T11" fmla="*/ 0 60000 65536"/>
              <a:gd name="T12" fmla="*/ 0 60000 65536"/>
              <a:gd name="T13" fmla="*/ 0 60000 65536"/>
              <a:gd name="T14" fmla="*/ 0 60000 65536"/>
              <a:gd name="T15" fmla="*/ 0 w 275"/>
              <a:gd name="T16" fmla="*/ 0 h 4562"/>
              <a:gd name="T17" fmla="*/ 275 w 275"/>
              <a:gd name="T18" fmla="*/ 4562 h 4562"/>
            </a:gdLst>
            <a:ahLst/>
            <a:cxnLst>
              <a:cxn ang="T10">
                <a:pos x="T0" y="T1"/>
              </a:cxn>
              <a:cxn ang="T11">
                <a:pos x="T2" y="T3"/>
              </a:cxn>
              <a:cxn ang="T12">
                <a:pos x="T4" y="T5"/>
              </a:cxn>
              <a:cxn ang="T13">
                <a:pos x="T6" y="T7"/>
              </a:cxn>
              <a:cxn ang="T14">
                <a:pos x="T8" y="T9"/>
              </a:cxn>
            </a:cxnLst>
            <a:rect l="T15" t="T16" r="T17" b="T18"/>
            <a:pathLst>
              <a:path w="275" h="4562">
                <a:moveTo>
                  <a:pt x="0" y="0"/>
                </a:moveTo>
                <a:lnTo>
                  <a:pt x="0" y="4562"/>
                </a:lnTo>
                <a:cubicBezTo>
                  <a:pt x="0" y="4562"/>
                  <a:pt x="64" y="4260"/>
                  <a:pt x="275" y="4096"/>
                </a:cubicBezTo>
                <a:cubicBezTo>
                  <a:pt x="275" y="4096"/>
                  <a:pt x="275" y="2281"/>
                  <a:pt x="275" y="466"/>
                </a:cubicBezTo>
                <a:cubicBezTo>
                  <a:pt x="55" y="310"/>
                  <a:pt x="0" y="0"/>
                  <a:pt x="0" y="0"/>
                </a:cubicBezTo>
                <a:close/>
              </a:path>
            </a:pathLst>
          </a:custGeom>
          <a:gradFill rotWithShape="1">
            <a:gsLst>
              <a:gs pos="7000">
                <a:srgbClr val="DDDDDD">
                  <a:alpha val="76000"/>
                </a:srgbClr>
              </a:gs>
              <a:gs pos="100000">
                <a:srgbClr val="FFFFFF"/>
              </a:gs>
            </a:gsLst>
            <a:lin ang="0" scaled="1"/>
          </a:gradFill>
          <a:ln>
            <a:noFill/>
          </a:ln>
        </p:spPr>
        <p:txBody>
          <a:bodyPr wrap="none" anchor="ct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25" name="직사각형 24">
            <a:extLst>
              <a:ext uri="{FF2B5EF4-FFF2-40B4-BE49-F238E27FC236}">
                <a16:creationId xmlns:a16="http://schemas.microsoft.com/office/drawing/2014/main" id="{A9707261-7E17-E444-AE7A-8E8A33004345}"/>
              </a:ext>
            </a:extLst>
          </p:cNvPr>
          <p:cNvSpPr/>
          <p:nvPr/>
        </p:nvSpPr>
        <p:spPr>
          <a:xfrm>
            <a:off x="6717816" y="1664804"/>
            <a:ext cx="2627672" cy="4428492"/>
          </a:xfrm>
          <a:prstGeom prst="rect">
            <a:avLst/>
          </a:prstGeom>
          <a:noFill/>
          <a:ln w="3175">
            <a:solidFill>
              <a:srgbClr val="191D88"/>
            </a:solidFill>
          </a:ln>
        </p:spPr>
        <p:style>
          <a:lnRef idx="2">
            <a:schemeClr val="accent1">
              <a:shade val="50000"/>
            </a:schemeClr>
          </a:lnRef>
          <a:fillRef idx="1">
            <a:schemeClr val="accent1"/>
          </a:fillRef>
          <a:effectRef idx="0">
            <a:schemeClr val="accent1"/>
          </a:effectRef>
          <a:fontRef idx="minor">
            <a:schemeClr val="lt1"/>
          </a:fontRef>
        </p:style>
        <p:txBody>
          <a:bodyPr lIns="180000" tIns="576000" rIns="180000" rtlCol="0" anchor="t"/>
          <a:lstStyle/>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 </a:t>
            </a:r>
            <a:r>
              <a:rPr lang="ko-KR" altLang="en-US" dirty="0">
                <a:solidFill>
                  <a:schemeClr val="tx1"/>
                </a:solidFill>
                <a:latin typeface="Arial Narrow" panose="020B0606020202030204" pitchFamily="34" charset="0"/>
                <a:ea typeface="a고딕14" panose="02020600000000000000" pitchFamily="18" charset="-127"/>
              </a:rPr>
              <a:t>개념 및 필요성</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a:t>
            </a:r>
            <a:r>
              <a:rPr lang="ko-KR" altLang="en-US" dirty="0">
                <a:solidFill>
                  <a:schemeClr val="tx1"/>
                </a:solidFill>
                <a:latin typeface="Arial Narrow" panose="020B0606020202030204" pitchFamily="34" charset="0"/>
                <a:ea typeface="a고딕14" panose="02020600000000000000" pitchFamily="18" charset="-127"/>
              </a:rPr>
              <a:t> 개발 방향성</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a:t>
            </a:r>
            <a:r>
              <a:rPr lang="ko-KR" altLang="en-US" dirty="0">
                <a:solidFill>
                  <a:schemeClr val="tx1"/>
                </a:solidFill>
                <a:latin typeface="Arial Narrow" panose="020B0606020202030204" pitchFamily="34" charset="0"/>
                <a:ea typeface="a고딕14" panose="02020600000000000000" pitchFamily="18" charset="-127"/>
              </a:rPr>
              <a:t> 구성 요소</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 </a:t>
            </a:r>
            <a:r>
              <a:rPr lang="ko-KR" altLang="en-US" dirty="0">
                <a:solidFill>
                  <a:schemeClr val="tx1"/>
                </a:solidFill>
                <a:latin typeface="Arial Narrow" panose="020B0606020202030204" pitchFamily="34" charset="0"/>
                <a:ea typeface="a고딕14" panose="02020600000000000000" pitchFamily="18" charset="-127"/>
              </a:rPr>
              <a:t>과정 선정 절차 및 관리방안</a:t>
            </a:r>
            <a:br>
              <a:rPr lang="en-US" altLang="ko-KR" dirty="0">
                <a:solidFill>
                  <a:schemeClr val="tx1"/>
                </a:solidFill>
                <a:latin typeface="Arial Narrow" panose="020B0606020202030204" pitchFamily="34" charset="0"/>
                <a:ea typeface="a고딕14" panose="02020600000000000000" pitchFamily="18" charset="-127"/>
              </a:rPr>
            </a:br>
            <a:r>
              <a:rPr lang="en-US" altLang="ko-KR" dirty="0">
                <a:solidFill>
                  <a:schemeClr val="tx1"/>
                </a:solidFill>
                <a:latin typeface="Arial Narrow" panose="020B0606020202030204" pitchFamily="34" charset="0"/>
                <a:ea typeface="a고딕14" panose="02020600000000000000" pitchFamily="18" charset="-127"/>
              </a:rPr>
              <a:t>- NCS </a:t>
            </a:r>
            <a:r>
              <a:rPr lang="ko-KR" altLang="en-US" dirty="0" err="1">
                <a:solidFill>
                  <a:schemeClr val="tx1"/>
                </a:solidFill>
                <a:latin typeface="Arial Narrow" panose="020B0606020202030204" pitchFamily="34" charset="0"/>
                <a:ea typeface="a고딕14" panose="02020600000000000000" pitchFamily="18" charset="-127"/>
              </a:rPr>
              <a:t>세분류</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능력단위 평가 절차 및 방법</a:t>
            </a: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 최신화 주기 등</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a:t>
            </a:r>
            <a:r>
              <a:rPr lang="ko-KR" altLang="en-US" dirty="0">
                <a:solidFill>
                  <a:schemeClr val="tx1"/>
                </a:solidFill>
                <a:latin typeface="Arial Narrow" panose="020B0606020202030204" pitchFamily="34" charset="0"/>
                <a:ea typeface="a고딕14" panose="02020600000000000000" pitchFamily="18" charset="-127"/>
              </a:rPr>
              <a:t> </a:t>
            </a:r>
            <a:r>
              <a:rPr lang="en-US" altLang="ko-KR" dirty="0">
                <a:solidFill>
                  <a:schemeClr val="tx1"/>
                </a:solidFill>
                <a:latin typeface="Arial Narrow" panose="020B0606020202030204" pitchFamily="34" charset="0"/>
                <a:ea typeface="a고딕14" panose="02020600000000000000" pitchFamily="18" charset="-127"/>
              </a:rPr>
              <a:t>Master</a:t>
            </a:r>
            <a:r>
              <a:rPr lang="ko-KR" altLang="en-US" dirty="0">
                <a:solidFill>
                  <a:schemeClr val="tx1"/>
                </a:solidFill>
                <a:latin typeface="Arial Narrow" panose="020B0606020202030204" pitchFamily="34" charset="0"/>
                <a:ea typeface="a고딕14" panose="02020600000000000000" pitchFamily="18" charset="-127"/>
              </a:rPr>
              <a:t> </a:t>
            </a:r>
            <a:r>
              <a:rPr lang="en-US" altLang="ko-KR" dirty="0">
                <a:solidFill>
                  <a:schemeClr val="tx1"/>
                </a:solidFill>
                <a:latin typeface="Arial Narrow" panose="020B0606020202030204" pitchFamily="34" charset="0"/>
                <a:ea typeface="a고딕14" panose="02020600000000000000" pitchFamily="18" charset="-127"/>
              </a:rPr>
              <a:t>DB</a:t>
            </a:r>
            <a:r>
              <a:rPr lang="ko-KR" altLang="en-US" dirty="0">
                <a:solidFill>
                  <a:schemeClr val="tx1"/>
                </a:solidFill>
                <a:latin typeface="Arial Narrow" panose="020B0606020202030204" pitchFamily="34" charset="0"/>
                <a:ea typeface="a고딕14" panose="02020600000000000000" pitchFamily="18" charset="-127"/>
              </a:rPr>
              <a:t> 역할 및 구성요소</a:t>
            </a:r>
            <a:br>
              <a:rPr lang="en-US" altLang="ko-KR" dirty="0">
                <a:solidFill>
                  <a:schemeClr val="tx1"/>
                </a:solidFill>
                <a:latin typeface="Arial Narrow" panose="020B0606020202030204" pitchFamily="34" charset="0"/>
                <a:ea typeface="a고딕14" panose="02020600000000000000" pitchFamily="18" charset="-127"/>
              </a:rPr>
            </a:b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메타데이터</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과정정보데이터</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직무체계 데이터</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등 항목별 형태</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설명</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 Master DB </a:t>
            </a:r>
            <a:r>
              <a:rPr lang="ko-KR" altLang="en-US" dirty="0">
                <a:solidFill>
                  <a:schemeClr val="tx1"/>
                </a:solidFill>
                <a:latin typeface="Arial Narrow" panose="020B0606020202030204" pitchFamily="34" charset="0"/>
                <a:ea typeface="a고딕14" panose="02020600000000000000" pitchFamily="18" charset="-127"/>
              </a:rPr>
              <a:t>관리방안</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a:lnSpc>
                <a:spcPct val="120000"/>
              </a:lnSpc>
              <a:spcAft>
                <a:spcPts val="1200"/>
              </a:spcAft>
            </a:pPr>
            <a:r>
              <a:rPr lang="en-US" altLang="ko-KR" dirty="0">
                <a:solidFill>
                  <a:schemeClr val="tx1"/>
                </a:solidFill>
                <a:latin typeface="Arial Narrow" panose="020B0606020202030204" pitchFamily="34" charset="0"/>
                <a:ea typeface="a고딕14" panose="02020600000000000000" pitchFamily="18" charset="-127"/>
              </a:rPr>
              <a:t>TTR</a:t>
            </a:r>
            <a:r>
              <a:rPr lang="ko-KR" altLang="en-US" dirty="0">
                <a:solidFill>
                  <a:schemeClr val="tx1"/>
                </a:solidFill>
                <a:latin typeface="Arial Narrow" panose="020B0606020202030204" pitchFamily="34" charset="0"/>
                <a:ea typeface="a고딕14" panose="02020600000000000000" pitchFamily="18" charset="-127"/>
              </a:rPr>
              <a:t> 도식 작성방법 및 구성요소</a:t>
            </a:r>
            <a:br>
              <a:rPr lang="en-US" altLang="ko-KR" dirty="0">
                <a:solidFill>
                  <a:schemeClr val="tx1"/>
                </a:solidFill>
                <a:latin typeface="Arial Narrow" panose="020B0606020202030204" pitchFamily="34" charset="0"/>
                <a:ea typeface="a고딕14" panose="02020600000000000000" pitchFamily="18" charset="-127"/>
              </a:rPr>
            </a:br>
            <a:r>
              <a:rPr lang="en-US" altLang="ko-KR" dirty="0">
                <a:solidFill>
                  <a:schemeClr val="tx1"/>
                </a:solidFill>
                <a:latin typeface="Arial Narrow" panose="020B0606020202030204" pitchFamily="34" charset="0"/>
                <a:ea typeface="a고딕14" panose="02020600000000000000" pitchFamily="18" charset="-127"/>
              </a:rPr>
              <a:t>- TTR</a:t>
            </a:r>
            <a:r>
              <a:rPr lang="ko-KR" altLang="en-US" dirty="0">
                <a:solidFill>
                  <a:schemeClr val="tx1"/>
                </a:solidFill>
                <a:latin typeface="Arial Narrow" panose="020B0606020202030204" pitchFamily="34" charset="0"/>
                <a:ea typeface="a고딕14" panose="02020600000000000000" pitchFamily="18" charset="-127"/>
              </a:rPr>
              <a:t> 도식 작성법 및 요소별 의미</a:t>
            </a:r>
            <a:r>
              <a:rPr lang="en-US" altLang="ko-KR" dirty="0">
                <a:solidFill>
                  <a:schemeClr val="tx1"/>
                </a:solidFill>
                <a:latin typeface="Arial Narrow" panose="020B0606020202030204" pitchFamily="34" charset="0"/>
                <a:ea typeface="a고딕14" panose="02020600000000000000" pitchFamily="18" charset="-127"/>
              </a:rPr>
              <a:t> </a:t>
            </a:r>
          </a:p>
        </p:txBody>
      </p:sp>
      <p:sp>
        <p:nvSpPr>
          <p:cNvPr id="26" name="사각형: 둥근 모서리 25">
            <a:extLst>
              <a:ext uri="{FF2B5EF4-FFF2-40B4-BE49-F238E27FC236}">
                <a16:creationId xmlns:a16="http://schemas.microsoft.com/office/drawing/2014/main" id="{FB7EDA1C-9B5B-8FAE-6EDA-7EC0698F6A85}"/>
              </a:ext>
            </a:extLst>
          </p:cNvPr>
          <p:cNvSpPr/>
          <p:nvPr/>
        </p:nvSpPr>
        <p:spPr>
          <a:xfrm>
            <a:off x="6934398" y="1774995"/>
            <a:ext cx="2267636" cy="299378"/>
          </a:xfrm>
          <a:prstGeom prst="roundRect">
            <a:avLst>
              <a:gd name="adj" fmla="val 50000"/>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pc="-80" dirty="0" err="1">
                <a:solidFill>
                  <a:schemeClr val="bg1"/>
                </a:solidFill>
                <a:latin typeface="Arial Narrow" panose="020B0606020202030204" pitchFamily="34" charset="0"/>
                <a:ea typeface="a고딕14" panose="02020600000000000000" pitchFamily="18" charset="-127"/>
              </a:rPr>
              <a:t>기술교육로드맵</a:t>
            </a:r>
            <a:r>
              <a:rPr lang="ko-KR" altLang="en-US" spc="-80" dirty="0">
                <a:solidFill>
                  <a:schemeClr val="bg1"/>
                </a:solidFill>
                <a:latin typeface="Arial Narrow" panose="020B0606020202030204" pitchFamily="34" charset="0"/>
                <a:ea typeface="a고딕14" panose="02020600000000000000" pitchFamily="18" charset="-127"/>
              </a:rPr>
              <a:t> 매뉴얼 주요내용</a:t>
            </a:r>
            <a:r>
              <a:rPr lang="en-US" altLang="ko-KR" spc="-80" dirty="0">
                <a:solidFill>
                  <a:schemeClr val="bg1"/>
                </a:solidFill>
                <a:latin typeface="Arial Narrow" panose="020B0606020202030204" pitchFamily="34" charset="0"/>
                <a:ea typeface="a고딕14" panose="02020600000000000000" pitchFamily="18" charset="-127"/>
              </a:rPr>
              <a:t>(</a:t>
            </a:r>
            <a:r>
              <a:rPr lang="ko-KR" altLang="en-US" spc="-80" dirty="0">
                <a:solidFill>
                  <a:schemeClr val="bg1"/>
                </a:solidFill>
                <a:latin typeface="Arial Narrow" panose="020B0606020202030204" pitchFamily="34" charset="0"/>
                <a:ea typeface="a고딕14" panose="02020600000000000000" pitchFamily="18" charset="-127"/>
              </a:rPr>
              <a:t>안</a:t>
            </a:r>
            <a:r>
              <a:rPr lang="en-US" altLang="ko-KR" spc="-80" dirty="0">
                <a:solidFill>
                  <a:schemeClr val="bg1"/>
                </a:solidFill>
                <a:latin typeface="Arial Narrow" panose="020B0606020202030204" pitchFamily="34" charset="0"/>
                <a:ea typeface="a고딕14" panose="02020600000000000000" pitchFamily="18" charset="-127"/>
              </a:rPr>
              <a:t>)</a:t>
            </a:r>
            <a:endParaRPr lang="ko-KR" altLang="en-US" spc="-80" dirty="0">
              <a:solidFill>
                <a:schemeClr val="bg1"/>
              </a:solidFill>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3687055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TITLE" val="2"/>
  <p:tag name="ROADMAP" val="1"/>
  <p:tag name="THINKCELLPRESENTATIONDONOTDELETE" val="&lt;?xml version=&quot;1.0&quot; encoding=&quot;UTF-16&quot; standalone=&quot;yes&quot;?&gt;&#10;&lt;root reqver=&quot;21047&quot;&gt;&lt;version val=&quot;23248&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Y-%m-%d&lt;/m_strFormatTime&gt;&lt;/m_precDefaultDate&gt;&lt;m_precDefaultYear/&gt;&lt;m_precDefaultQuarter/&gt;&lt;m_precDefaultMonth/&gt;&lt;m_precDefaultWeek/&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ftmelsgBUePgy_NUQgn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rT58Q_ruEyJMXah4bw0I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QpXX8FrQIE6NP2xhy7sA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iHQ5HaSq0KpPbr8Pt1lf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VftmelsgBUePgy_NUQgnr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OrT58Q_ruEyJMXah4bw0I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QpXX8FrQIE6NP2xhy7sAp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IiHQ5HaSq0KpPbr8Pt1lfg"/>
</p:tagLst>
</file>

<file path=ppt/theme/theme1.xml><?xml version="1.0" encoding="utf-8"?>
<a:theme xmlns:a="http://schemas.openxmlformats.org/drawingml/2006/main" name="KSA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Arial Narrow"/>
        <a:ea typeface="a고딕14"/>
        <a:cs typeface=""/>
      </a:majorFont>
      <a:minorFont>
        <a:latin typeface="Arial Narrow"/>
        <a:ea typeface="a고딕1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3175">
          <a:solidFill>
            <a:schemeClr val="tx1">
              <a:lumMod val="50000"/>
              <a:lumOff val="50000"/>
            </a:schemeClr>
          </a:solidFill>
        </a:ln>
      </a:spPr>
      <a:bodyPr lIns="0" rIns="0" rtlCol="0" anchor="ctr"/>
      <a:lstStyle>
        <a:defPPr marL="171450" indent="-171450" algn="l">
          <a:buFont typeface="Arial" panose="020B0604020202020204" pitchFamily="34" charset="0"/>
          <a:buChar char="•"/>
          <a:defRPr dirty="0" err="1">
            <a:solidFill>
              <a:schemeClr val="tx1"/>
            </a:solidFill>
            <a:latin typeface="Arial Narrow" panose="020B0606020202030204" pitchFamily="34" charset="0"/>
            <a:ea typeface="a고딕14" panose="02020600000000000000" pitchFamily="18"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buNone/>
          <a:defRPr dirty="0">
            <a:latin typeface="Arial Narrow" panose="020B0606020202030204" pitchFamily="34" charset="0"/>
            <a:ea typeface="a고딕14" panose="02020600000000000000" pitchFamily="18" charset="-127"/>
          </a:defRPr>
        </a:defPPr>
      </a:lstStyle>
    </a:txDef>
  </a:objectDefaults>
  <a:extraClrSchemeLst/>
</a:theme>
</file>

<file path=ppt/theme/theme2.xml><?xml version="1.0" encoding="utf-8"?>
<a:theme xmlns:a="http://schemas.openxmlformats.org/drawingml/2006/main" name="1_KSA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Arial Narrow"/>
        <a:ea typeface="a고딕14"/>
        <a:cs typeface=""/>
      </a:majorFont>
      <a:minorFont>
        <a:latin typeface="Arial Narrow"/>
        <a:ea typeface="a고딕1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tx1">
              <a:lumMod val="50000"/>
              <a:lumOff val="50000"/>
            </a:schemeClr>
          </a:solidFill>
        </a:ln>
      </a:spPr>
      <a:bodyPr lIns="0" rIns="0" rtlCol="0" anchor="ctr"/>
      <a:lstStyle>
        <a:defPPr marL="171450" indent="-171450" algn="l">
          <a:buFont typeface="Arial" panose="020B0604020202020204" pitchFamily="34" charset="0"/>
          <a:buChar char="•"/>
          <a:defRPr dirty="0" err="1" smtClean="0">
            <a:solidFill>
              <a:schemeClr val="tx1"/>
            </a:solidFill>
            <a:latin typeface="Arial Narrow" panose="020B0606020202030204" pitchFamily="34" charset="0"/>
            <a:ea typeface="a고딕14" panose="02020600000000000000" pitchFamily="18"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buNone/>
          <a:defRPr dirty="0">
            <a:latin typeface="Arial Narrow" panose="020B0606020202030204" pitchFamily="34" charset="0"/>
            <a:ea typeface="a고딕14" panose="02020600000000000000" pitchFamily="18" charset="-127"/>
          </a:defRPr>
        </a:defPPr>
      </a:lstStyle>
    </a:txDef>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269834</TotalTime>
  <Words>9560</Words>
  <Application>Microsoft Office PowerPoint</Application>
  <PresentationFormat>A4 용지(210x297mm)</PresentationFormat>
  <Paragraphs>2487</Paragraphs>
  <Slides>34</Slides>
  <Notes>0</Notes>
  <HiddenSlides>0</HiddenSlides>
  <MMClips>0</MMClips>
  <ScaleCrop>false</ScaleCrop>
  <HeadingPairs>
    <vt:vector size="6" baseType="variant">
      <vt:variant>
        <vt:lpstr>사용한 글꼴</vt:lpstr>
      </vt:variant>
      <vt:variant>
        <vt:i4>11</vt:i4>
      </vt:variant>
      <vt:variant>
        <vt:lpstr>테마</vt:lpstr>
      </vt:variant>
      <vt:variant>
        <vt:i4>2</vt:i4>
      </vt:variant>
      <vt:variant>
        <vt:lpstr>슬라이드 제목</vt:lpstr>
      </vt:variant>
      <vt:variant>
        <vt:i4>34</vt:i4>
      </vt:variant>
    </vt:vector>
  </HeadingPairs>
  <TitlesOfParts>
    <vt:vector size="47" baseType="lpstr">
      <vt:lpstr>a고딕12</vt:lpstr>
      <vt:lpstr>A고딕14</vt:lpstr>
      <vt:lpstr>A고딕14</vt:lpstr>
      <vt:lpstr>a고딕15</vt:lpstr>
      <vt:lpstr>a고딕16</vt:lpstr>
      <vt:lpstr>맑은 고딕</vt:lpstr>
      <vt:lpstr>Arial</vt:lpstr>
      <vt:lpstr>Arial Narrow</vt:lpstr>
      <vt:lpstr>Calibri</vt:lpstr>
      <vt:lpstr>Cambria</vt:lpstr>
      <vt:lpstr>Wingdings</vt:lpstr>
      <vt:lpstr>KSA Master</vt:lpstr>
      <vt:lpstr>1_KSA Master</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시앤피컨설팅</dc:creator>
  <dc:description>.</dc:description>
  <cp:lastModifiedBy>haelim song</cp:lastModifiedBy>
  <cp:revision>16158</cp:revision>
  <cp:lastPrinted>2024-06-27T01:11:14Z</cp:lastPrinted>
  <dcterms:created xsi:type="dcterms:W3CDTF">2002-03-21T10:45:59Z</dcterms:created>
  <dcterms:modified xsi:type="dcterms:W3CDTF">2025-11-12T06:36:04Z</dcterms:modified>
</cp:coreProperties>
</file>