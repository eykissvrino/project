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93400" cy="7562850"/>
  <p:notesSz cx="756285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3A3F45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178"/>
                    </a:solidFill>
                    <a:latin typeface="Paperlogy 4 Regula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080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44.5</c:v>
                </c:pt>
                <c:pt idx="1">
                  <c:v>59.9</c:v>
                </c:pt>
                <c:pt idx="2">
                  <c:v>52.4</c:v>
                </c:pt>
                <c:pt idx="3">
                  <c:v>77.6</c:v>
                </c:pt>
                <c:pt idx="4">
                  <c:v>78.3</c:v>
                </c:pt>
                <c:pt idx="5">
                  <c:v>85.9</c:v>
                </c:pt>
                <c:pt idx="6">
                  <c:v>89.8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6B7178"/>
                  </a:solidFill>
                  <a:latin typeface="Paperlogy 4 Regula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영업이익률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0392B"/>
                    </a:solidFill>
                    <a:latin typeface="Paperlogy 4 Regular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18.1</c:v>
                </c:pt>
                <c:pt idx="1">
                  <c:v>3.5</c:v>
                </c:pt>
                <c:pt idx="2">
                  <c:v>-3.1</c:v>
                </c:pt>
                <c:pt idx="3">
                  <c:v>6.5</c:v>
                </c:pt>
                <c:pt idx="4">
                  <c:v>4.2</c:v>
                </c:pt>
                <c:pt idx="5">
                  <c:v>3.8</c:v>
                </c:pt>
                <c:pt idx="6">
                  <c:v>2.6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C0392B"/>
                  </a:solidFill>
                  <a:latin typeface="Paperlogy 4 Regular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693301" cy="888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PC/OneDrive/vrin_AI_hub/projects/P2026-009_MBA_Study/outputs/ppt_design/logo_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520601"/>
            <a:ext cx="2539901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0350" y="2504926"/>
            <a:ext cx="9560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2026-1 인적자원관리 · 기말 프로젝트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0350" y="2889052"/>
            <a:ext cx="736550" cy="507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0350" y="3219152"/>
            <a:ext cx="9560052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26282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전문가가 머무는 회사로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60350" y="4092922"/>
            <a:ext cx="9560052" cy="625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시앤피컨설팅 HR시스템 진단 및 개선과제 도출</a:t>
            </a:r>
            <a:endParaRPr lang="en-US" sz="1700" dirty="0"/>
          </a:p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전략적 HRM 관점의 정합성 분석과 동기 사슬의 복원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60350" y="6475512"/>
            <a:ext cx="937260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0350" y="6657975"/>
            <a:ext cx="25794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이석주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350" y="6915150"/>
            <a:ext cx="2579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KUMBA · 인적자원관리 9512-01 · 정혜정 교수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82996" y="665797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2026. 06. 12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2 · 진단 — ② 외적 정합성 EXTERNAL 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전략은 '차별화'를 요구하지만, 성과관리·보상·의사결정은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원가우위형 관행에 머물러 있다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5957739"/>
            <a:ext cx="6250632" cy="835075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77751" y="5957739"/>
            <a:ext cx="0" cy="835075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4502" y="6084689"/>
            <a:ext cx="597427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i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"솔직히 말해, 메인 사업모델이랑 현재 조직 운영구조가 맞지를 않습니다… 구성원들은 겁나 갈려나가는 것 같아요"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4502" y="6509445"/>
            <a:ext cx="5974273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spcBef>
                <a:spcPts val="300"/>
              </a:spcBef>
              <a:buNone/>
            </a:pPr>
            <a:r>
              <a:rPr lang="en-US" sz="8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— 잡플래닛 현직자 리뷰 (2026.4) · 평점 3.0/5.0, 97건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61733" y="5957739"/>
            <a:ext cx="3172867" cy="835075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164884" y="6173986"/>
            <a:ext cx="28218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외적 정합성 진단: 부정합 (Misfit)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64884" y="6416427"/>
            <a:ext cx="28218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2A55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6개 영역 중 명백한 부정합 3개(✗) · 부분 부정합 3개(△)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8701" y="7215188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8701" y="7296150"/>
            <a:ext cx="4706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강의자료 Session 3·4 외적·내적 적합성 비교표(Noe), 본인 자가진단(Session 4), 잡플래닛(2026.6 열람)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848874" y="7296150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7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14339"/>
          <a:ext cx="9575750" cy="41910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3931920"/>
                <a:gridCol w="1024128"/>
              </a:tblGrid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HR 영역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차별화 전략이 요구하는 관행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시앤피 현행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정합성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직무분석·설계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다양한 직무 · 복잡한 업무 · 일반적 직무기술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적은 직무 분류, 프로젝트별 유동적 업무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채용·선발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집중적인 사회화 · 일반적 스킬 평가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수시·결원 채용 중심, 온보딩 체계 미흡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훈련·개발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미래 직무스킬 · 그룹 지향 · 전 직원 훈련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방향은 부합하나 체계 없는 도제식 — 인당 교육비 연 69만 원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성과관리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결과+장기 기준 · 개발적 목적 · 그룹 중심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본부별 자체 평가, 당해 영업익 중심(20~40%) · 역량 비중 10~20%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보상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장기 인센티브 · 외적 형평성 · 그룹 인센티브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주임·선임(48%) 평가 무관 자동 인상 · 변동급 미미 · 페이밴드 비공개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노사/직원관계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참여식 의사결정 · 직원=자산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하향식 의사결정 관행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3 · 이슈 분석 — 데이터로 보는 악순환의 결과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매출은 13년간 26배 성장했지만,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이익은 남지 않는 구조가 굳어지고 있다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1665238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매출액 추이 (억 원, 2019–2025)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22702" y="1665238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영업이익률 추이 (%, 2019–2025)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8701" y="5306913"/>
            <a:ext cx="3073598" cy="10240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58701" y="5321201"/>
            <a:ext cx="3073598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1851" y="5487888"/>
            <a:ext cx="29278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08000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0.98억 원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1851" y="5852964"/>
            <a:ext cx="2927857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인당 매출 (2025, 92명) — 컨설팅업 기준 낮은 수준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10000" y="5306913"/>
            <a:ext cx="3073450" cy="10240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810000" y="5321201"/>
            <a:ext cx="3073450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13150" y="5487888"/>
            <a:ext cx="2927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0392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56.1%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013150" y="5852964"/>
            <a:ext cx="292770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매출 대비 급여 비중 — 급여 증가율(10.5%)이 매출 증가율(8.4%) 상회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61150" y="5306913"/>
            <a:ext cx="3073450" cy="10240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061150" y="5321201"/>
            <a:ext cx="3073450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4301" y="5487888"/>
            <a:ext cx="2927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0392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69만 원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264301" y="5852964"/>
            <a:ext cx="292770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1인당 연간 교육훈련비 (매출의 0.07%) — "학습과 연구" 철학과의 괴리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8701" y="7215188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8701" y="7296150"/>
            <a:ext cx="4667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시앤피컨설팅 손익계산서 2012–2024(내부), 2025년 손익계산서(표준재무제표증명), 인원현황(2025.1)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781157" y="7296150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11</a:t>
            </a:r>
            <a:endParaRPr lang="en-US" sz="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58701" y="1903363"/>
          <a:ext cx="4711601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422702" y="1903363"/>
          <a:ext cx="4711601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4 · 개선과제 — 실행 로드맵 (중장기)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안에 평가를 바꾸고, 3년에 걸쳐 보상과 육성을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방향으로 정렬한다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6249739"/>
            <a:ext cx="139601" cy="139601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4502" y="6237089"/>
            <a:ext cx="160123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노력→성과 복원 (육성·경력)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598241" y="6249739"/>
            <a:ext cx="139601" cy="139601"/>
          </a:xfrm>
          <a:prstGeom prst="rect">
            <a:avLst/>
          </a:prstGeom>
          <a:solidFill>
            <a:srgbClr val="3A3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814042" y="6237089"/>
            <a:ext cx="155615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성과→보상 복원 (평가·보상)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93580" y="6249739"/>
            <a:ext cx="139601" cy="139601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09381" y="6237089"/>
            <a:ext cx="171584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보상→가치 복원 (총보상·유지)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45486" y="6249739"/>
            <a:ext cx="139601" cy="139601"/>
          </a:xfrm>
          <a:prstGeom prst="rect">
            <a:avLst/>
          </a:prstGeom>
          <a:solidFill>
            <a:srgbClr val="B8BF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61287" y="6237089"/>
            <a:ext cx="100069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기반 (HR 전담·진단)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8701" y="7215188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8701" y="7296150"/>
            <a:ext cx="4855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설계 원리: 기대이론(Vroom, 1964)의 동기 사슬(E→I→V) 복원 · 점진적 변화(Session 12) · Kotter 8단계 변화관리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781157" y="7296150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19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39788"/>
          <a:ext cx="9575750" cy="4470350"/>
        </p:xfrm>
        <a:graphic>
          <a:graphicData uri="http://schemas.openxmlformats.org/drawingml/2006/table">
            <a:tbl>
              <a:tblPr/>
              <a:tblGrid>
                <a:gridCol w="3657600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</a:tblGrid>
              <a:tr h="4470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'28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'29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C1 HR 전담 기능 신설 — "자사를 0호 고객사로"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C2 구성원 경험 진단 (eNPS·이직원인 분석)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B1 컨설턴트 역량모델 구축 (BEI·행동지표)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A1 평가 단순화·전사 표준화 (프로젝트 단위 리뷰)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A2 상시 성과관리 OKR+CFR — 보상과 분리 운영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B2 경력경로 CDP·전문가 트랙(Dual Ladder) 설계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A3 보상체계 4P 재설계 (변동급·페이밴드 공개)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B3 CNP 컨설턴트 아카데미 (70:20:10 체계화)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A4·C5 총보상 체계 + 핵심인재 리텐션 프로그램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4 · 개선과제 — 단기 액션플랜 (2026.7 ~ 2027.6)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차에는 '진단 → 기준 → 제도'의 순서로,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분기마다 눈에 보이는 산출물을 만든다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6630739"/>
            <a:ext cx="97674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※ 모든 제도 설계에 구성원 의견수렴 절차를 포함 — 절차공정성(Procedural Justice) 확보가 수용성의 전제 (Session 7)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58701" y="7186613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8701" y="7267575"/>
            <a:ext cx="4588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담당 약어: TF = HR 전담 TF(경영지원팀+내부 컨설턴트 겸직) · 본부 = 각 본부장 · 보상硏 = 넥스트보상연구본부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781157" y="7267575"/>
            <a:ext cx="1380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18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14339"/>
          <a:ext cx="9575750" cy="4902101"/>
        </p:xfrm>
        <a:graphic>
          <a:graphicData uri="http://schemas.openxmlformats.org/drawingml/2006/table">
            <a:tbl>
              <a:tblPr/>
              <a:tblGrid>
                <a:gridCol w="566928"/>
                <a:gridCol w="1207008"/>
                <a:gridCol w="3657600"/>
                <a:gridCol w="1481328"/>
                <a:gridCol w="777240"/>
                <a:gridCol w="1883664"/>
              </a:tblGrid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핵심 실행 내용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산출물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담당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성공지표 (KPI)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C1 HR 전담 신설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HR파트 지정(전담 1명+겸직 TF 4명), 사내 컨설팅 프로젝트로 공식 발족 — 킥오프 전사 공유(Kotter ①위기감·②연합체)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 발족문, 추진 로드맵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대표이사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 발족, 전사 설명회 1회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C2 구성원 경험 진단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 직원 조직진단 서베이(자사 HR진단 솔루션), 최근 2년 퇴직자 이직원인 분석, 직위·본부별 보상 데이터 분석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진단 보고서, 이직원인 Top5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응답률 80%+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3~4Q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B1 역량모델 구축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우수성과자 BEI 인터뷰(8~10명), 전문가 패널 워크숍 → 역량군-역량-행동지표 도출 → 타당성 검증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컨설턴트 역량모델 1식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TF+본부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행동지표 커버리지 100%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A1 평가 재설계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프로젝트 단위 간이 리뷰(5문항) + 연 1회 종합 리뷰(3단계) 설계, 구성원 의견수렴 2회, 평가자 교육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신평가제 운영안, 평가자 가이드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'27.1Q 시행, 수용도 60%+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A2 상시 성과관리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분기 OKR 체크인+원온원(CFR) 도입 — 보상 산정과 분리 원칙 공표, 우수 본부 1on1 관행 전사 확산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OKR 가이드, 원온원 툴킷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본부장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분기 체크인 실시율 90%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1~2Q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B2 경력경로 공표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기준(PL→PM→수주)을 행동지표로 구체화, 직위별 육성 로드맵 연결, 전문가 트랙(Dual Ladder) 설계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CDP 가이드북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 직위 커버, 설명회 1회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A3 보상 설계 착수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시장 임금 조사(외부 형평성)+직무·역량 가치 분석(내부 형평성) → Pay Band 재설계안, 변동급 시뮬레이션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보상 개편안 1식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TF+보상硏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'27.3Q 이사회 보고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시앤피컨설팅 HR시스템 진단 및 개선과제 — 디자인 샘플 v2</dc:title>
  <dc:subject>PptxGenJS Presentation</dc:subject>
  <dc:creator>이석주</dc:creator>
  <cp:lastModifiedBy>이석주</cp:lastModifiedBy>
  <cp:revision>1</cp:revision>
  <dcterms:created xsi:type="dcterms:W3CDTF">2026-06-12T12:19:57Z</dcterms:created>
  <dcterms:modified xsi:type="dcterms:W3CDTF">2026-06-12T12:19:57Z</dcterms:modified>
</cp:coreProperties>
</file>