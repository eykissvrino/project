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</c:v>
                </c:pt>
              </c:strCache>
            </c:strRef>
          </c:tx>
          <c:spPr>
            <a:solidFill>
              <a:srgbClr val="1632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0404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44.5</c:v>
                </c:pt>
                <c:pt idx="1">
                  <c:v>59.9</c:v>
                </c:pt>
                <c:pt idx="2">
                  <c:v>52.4</c:v>
                </c:pt>
                <c:pt idx="3">
                  <c:v>77.6</c:v>
                </c:pt>
                <c:pt idx="4">
                  <c:v>78.3</c:v>
                </c:pt>
                <c:pt idx="5">
                  <c:v>85.9</c:v>
                </c:pt>
                <c:pt idx="6">
                  <c:v>89.8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404040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CE3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영업이익률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C0392B"/>
                    </a:solidFill>
                    <a:latin typeface="Malgun Gothic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18.1</c:v>
                </c:pt>
                <c:pt idx="1">
                  <c:v>3.5</c:v>
                </c:pt>
                <c:pt idx="2">
                  <c:v>-3.1</c:v>
                </c:pt>
                <c:pt idx="3">
                  <c:v>6.5</c:v>
                </c:pt>
                <c:pt idx="4">
                  <c:v>4.2</c:v>
                </c:pt>
                <c:pt idx="5">
                  <c:v>3.8</c:v>
                </c:pt>
                <c:pt idx="6">
                  <c:v>2.6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C0392B"/>
                  </a:solidFill>
                  <a:latin typeface="Malgun Gothic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CE3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-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09600"/>
            <a:ext cx="79278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FA7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 인적자원관리 · 기말 프로젝트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612850"/>
            <a:ext cx="558701" cy="38100"/>
          </a:xfrm>
          <a:prstGeom prst="rect">
            <a:avLst/>
          </a:prstGeom>
          <a:solidFill>
            <a:srgbClr val="D9A4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879550"/>
            <a:ext cx="7927848" cy="6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0"/>
              </a:lnSpc>
              <a:spcAft>
                <a:spcPts val="14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전문가가 머무는 회사로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2660452"/>
            <a:ext cx="7927848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A8C3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시앤피컨설팅 HR시스템 진단 및 개선과제 도출</a:t>
            </a:r>
            <a:endParaRPr lang="en-US" sz="1650" dirty="0"/>
          </a:p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A8C3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전략적 HRM 관점의 정합성 분석과 동기 사슬의 복원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4187875"/>
            <a:ext cx="26825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8E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이석주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4426000"/>
            <a:ext cx="26825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7FA7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KUMBA · 인적자원관리 9512-01 · 정혜정 교수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03731" y="4187875"/>
            <a:ext cx="7544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7FA7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2026. 06. 12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9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E7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진단 — ② 외적 정합성 (EXTERNAL FIT)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95151"/>
            <a:ext cx="8394192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6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전략은 '차별화'를 요구하지만, 성과관리·보상·의사결정은 원가우위형 관행에 머물러 있다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1154162"/>
            <a:ext cx="8229600" cy="18901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195465"/>
            <a:ext cx="5378797" cy="697260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4195465"/>
            <a:ext cx="0" cy="697260"/>
          </a:xfrm>
          <a:prstGeom prst="line">
            <a:avLst/>
          </a:prstGeom>
          <a:noFill/>
          <a:ln w="381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700" y="4284315"/>
            <a:ext cx="5136615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i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"솔직히 말해, 메인 사업모델이랑 현재 조직 운영구조가 맞지를 않습니다… 구성원들은 겁나 갈려나가는 것 같아요"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7700" y="4647456"/>
            <a:ext cx="513661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7A8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잡플래닛 현직자 리뷰 (2026.4) · 평점 3.0/5.0, 97건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62948" y="4195465"/>
            <a:ext cx="2723852" cy="697260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15348" y="4284315"/>
            <a:ext cx="2467433" cy="519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외적 정합성: 부정합 (Misfit)
</a:t>
            </a:r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A8C3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영역 중 3개 명백한 부정합(✗), 3개 부분 부정합(△)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92725"/>
            <a:ext cx="46682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AA5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자료: 강의자료 Session 3·4 외적·내적 적합성 비교표(Noe), 본인 자가진단(Session 4), 잡플래닛(2026.6 열람)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34264" y="4892725"/>
            <a:ext cx="535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AA5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12664"/>
          <a:ext cx="8229600" cy="2768501"/>
        </p:xfrm>
        <a:graphic>
          <a:graphicData uri="http://schemas.openxmlformats.org/drawingml/2006/table">
            <a:tbl>
              <a:tblPr/>
              <a:tblGrid>
                <a:gridCol w="1143000"/>
                <a:gridCol w="2788920"/>
                <a:gridCol w="3383280"/>
                <a:gridCol w="914400"/>
              </a:tblGrid>
              <a:tr h="395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HR 영역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차별화 전략이 요구하는 관행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시앤피 현행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정합성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395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직무분석·설계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다양한 직무 · 복잡한 업무 · 일반적 직무기술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적은 직무 분류, 프로젝트별 유동적 업무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5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채용·선발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집중적인 사회화 · 일반적 스킬 평가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수시·결원 채용 중심, 온보딩 체계 미흡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5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훈련·개발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미래 직무스킬 · 그룹 지향 · 전 직원 훈련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방향은 부합하나 체계 없는 도제식 — 인당 교육비 연 69만 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5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결과+장기 기준 · 개발적 목적 · 그룹 중심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본부별 자체 평가, 당해 영업익 중심(20~40%) · 역량 비중 10~20%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5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보상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장기 인센티브 · 외적 형평성 · 그룹 인센티브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주임·선임(48%) 평가 무관 자동 인상 · 변동급 미미 · 페이밴드 비공개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5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노사/직원관계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참여식 의사결정 · 직원=자산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하향식 의사결정 관행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9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E7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이슈 분석 — 데이터로 보는 악순환의 결과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95151"/>
            <a:ext cx="8394192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6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매출은 13년간 26배 성장했지만, 이익은 남지 않는 구조가 굳어지고 있다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881807"/>
            <a:ext cx="8229600" cy="19050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053257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매출액 추이 (억 원, 2019–2025)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48200" y="1053257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영업이익률 추이 (%, 2019–2025)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599408"/>
            <a:ext cx="2650182" cy="775395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3700909"/>
            <a:ext cx="25219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0.98억 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4901" y="3992910"/>
            <a:ext cx="2521931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spcBef>
                <a:spcPts val="200"/>
              </a:spcBef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인당 매출 (2025, 92명) — 컨설팅업 기준 낮은 수준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46983" y="3599408"/>
            <a:ext cx="2650034" cy="775395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24684" y="3700909"/>
            <a:ext cx="25217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56.1%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4684" y="3992910"/>
            <a:ext cx="252177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spcBef>
                <a:spcPts val="200"/>
              </a:spcBef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대비 급여 비중 — 급여 증가율(10.5%)이 매출 증가율(8.4%) 상회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036618" y="3599408"/>
            <a:ext cx="2650182" cy="775395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4318" y="3700909"/>
            <a:ext cx="25219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69만 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4318" y="3992910"/>
            <a:ext cx="2521931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spcBef>
                <a:spcPts val="200"/>
              </a:spcBef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1인당 연간 교육훈련비 — "학습과 연구" 철학과의 괴리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4892725"/>
            <a:ext cx="46332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AA5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자료: 시앤피컨설팅 손익계산서 2012–2024(내부), 2025년 손익계산서(표준재무제표증명), 인원현황(2025.1)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581876" y="4892725"/>
            <a:ext cx="1070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AA5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1275457"/>
          <a:ext cx="4038600" cy="21843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9" name="Chart 1" descr=""/>
          <p:cNvGraphicFramePr/>
          <p:nvPr/>
        </p:nvGraphicFramePr>
        <p:xfrm>
          <a:off x="4648200" y="1275457"/>
          <a:ext cx="4038600" cy="21843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9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E7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개선과제 — 실행 로드맵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95151"/>
            <a:ext cx="8394192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6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안에 평가를 바꾸고, 3년에 걸쳐 보상과 육성을 같은 방향으로 정렬한다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881807"/>
            <a:ext cx="8229600" cy="19050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100959"/>
            <a:ext cx="126950" cy="126950"/>
          </a:xfrm>
          <a:prstGeom prst="rect">
            <a:avLst/>
          </a:prstGeom>
          <a:solidFill>
            <a:srgbClr val="2E74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7551" y="4088309"/>
            <a:ext cx="1623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pPr algn="l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노력→성과 복원 (육성·경력)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468017" y="4100959"/>
            <a:ext cx="126950" cy="126950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58368" y="4088309"/>
            <a:ext cx="15985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성과→보상 복원 (평가·보상)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454128" y="4100959"/>
            <a:ext cx="126950" cy="12695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44479" y="4088309"/>
            <a:ext cx="17483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보상→가치 복원 (총보상·유지)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7133" y="4100959"/>
            <a:ext cx="126950" cy="126950"/>
          </a:xfrm>
          <a:prstGeom prst="rect">
            <a:avLst/>
          </a:prstGeom>
          <a:solidFill>
            <a:srgbClr val="9AA5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77484" y="4088309"/>
            <a:ext cx="9759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(HR 전담·진단)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4892725"/>
            <a:ext cx="48507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AA5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원리: 기대이론(Vroom, 1964)의 동기 사슬(E→I→V) 복원 · 점진적 변화(Session 12) · Kotter 8단계 변화관리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581876" y="4892725"/>
            <a:ext cx="1070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AA5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7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40457"/>
          <a:ext cx="8229600" cy="2946350"/>
        </p:xfrm>
        <a:graphic>
          <a:graphicData uri="http://schemas.openxmlformats.org/drawingml/2006/table">
            <a:tbl>
              <a:tblPr/>
              <a:tblGrid>
                <a:gridCol w="3063240"/>
                <a:gridCol w="630936"/>
                <a:gridCol w="630936"/>
                <a:gridCol w="630936"/>
                <a:gridCol w="630936"/>
                <a:gridCol w="630936"/>
                <a:gridCol w="630936"/>
                <a:gridCol w="630936"/>
                <a:gridCol w="630936"/>
              </a:tblGrid>
              <a:tr h="2946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'26 3Q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4Q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'27 1Q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2Q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3Q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4Q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'28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'29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2946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C1 HR 전담 기능 신설 — "자사를 0호 고객사로"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5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46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C2 구성원 경험 진단 (eNPS·이직원인)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5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5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46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 컨설턴트 역량모델 (BEI·행동지표)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46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A1 평가 단순화·전사 표준화 (프로젝트 리뷰)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46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A2 상시 성과관리 OKR+CFR — 보상과 분리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2946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B2 경력경로 CDP·전문가 트랙(Dual Ladder)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46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A3 보상 4P 재설계 (변동급·페이밴드 공개)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46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B3 CNP 컨설턴트 아카데미 (70:20:10)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</a:tr>
              <a:tr h="2946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A4·C5 총보상 체계 + 핵심인재 리텐션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시앤피컨설팅 HR시스템 진단 및 개선과제 — 디자인 샘플</dc:title>
  <dc:subject>PptxGenJS Presentation</dc:subject>
  <dc:creator>이석주</dc:creator>
  <cp:lastModifiedBy>이석주</cp:lastModifiedBy>
  <cp:revision>1</cp:revision>
  <dcterms:created xsi:type="dcterms:W3CDTF">2026-06-12T11:56:40Z</dcterms:created>
  <dcterms:modified xsi:type="dcterms:W3CDTF">2026-06-12T11:56:40Z</dcterms:modified>
</cp:coreProperties>
</file>