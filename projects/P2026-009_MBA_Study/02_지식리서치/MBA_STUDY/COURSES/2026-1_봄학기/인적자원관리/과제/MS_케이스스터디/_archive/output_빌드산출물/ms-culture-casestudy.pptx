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2743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Malgun Gothic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865815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4000" b="1" i="0">
                <a:solidFill>
                  <a:srgbClr val="1A1A1A"/>
                </a:solidFill>
                <a:latin typeface="Malgun Gothic"/>
              </a:rPr>
              <a:t>Microsoft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1086581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000" b="0" i="0">
                <a:solidFill>
                  <a:srgbClr val="BFBFBF"/>
                </a:solidFill>
                <a:latin typeface="Malgun Gothic"/>
              </a:rPr>
              <a:t>Satya Nadella at Microsoft:
Instilling a Growth Mindset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5760720"/>
            <a:ext cx="5943600" cy="0"/>
          </a:xfrm>
          <a:prstGeom prst="line">
            <a:avLst/>
          </a:prstGeom>
          <a:ln w="12700">
            <a:solidFill>
              <a:srgbClr val="0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MBA HRM | LBS128 (2018)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904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888888"/>
                </a:solidFill>
                <a:latin typeface="Malgun Gothic"/>
              </a:rPr>
              <a:t>2026. 5. 16.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2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887582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8758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10442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Malgun Gothic"/>
              </a:rPr>
              <a:t>Executive Summary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2449285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68680" y="2508068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080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53092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Malgun Gothic"/>
              </a:rPr>
              <a:t>PART 1 — 케이스 배경: 잃어버린 10년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3069771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68680" y="3128554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855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151414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Malgun Gothic"/>
              </a:rPr>
              <a:t>PART 2 — As-Is 진단: 7S 조직 병리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3690257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68680" y="3749039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4903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77190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Malgun Gothic"/>
              </a:rPr>
              <a:t>PART 3 — 변화의 동인: Nadella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4310742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68680" y="4369525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369525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392385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Malgun Gothic"/>
              </a:rPr>
              <a:t>PART 4 — To-Be: Growth Mindset 조직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" y="4931228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68680" y="4990011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990011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012871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Malgun Gothic"/>
              </a:rPr>
              <a:t>PART 5 — 실행 메커니즘: Kotter + Schein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8680" y="5551714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68680" y="5610497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610497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633357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Malgun Gothic"/>
              </a:rPr>
              <a:t>PART 6 — 성과 · 시사점 · 토론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40080"/>
            <a:ext cx="11368735" cy="0"/>
          </a:xfrm>
          <a:prstGeom prst="line">
            <a:avLst/>
          </a:prstGeom>
          <a:ln w="50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274320"/>
            <a:ext cx="113687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Malgun Gothic"/>
              </a:rPr>
              <a:t>Microsoft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447" y="1417320"/>
            <a:ext cx="868680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[Core Thesis]:</a:t>
            </a:r>
            <a:r>
              <a:rPr sz="2600" b="1">
                <a:solidFill>
                  <a:srgbClr val="FFFFFF"/>
                </a:solidFill>
                <a:latin typeface="Malgun Gothic"/>
              </a:rPr>
              <a:t> Nadella는 전략이 아닌 "인간 시스템"을 변혁의 출발점으로 삼았다 — "CEO의 C는 Culture의 약자다"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9815" y="64922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BFBFBF"/>
                </a:solidFill>
                <a:latin typeface="Malgun Gothic"/>
              </a:rPr>
              <a:t>McKinsey &amp; Company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핵심 인사이트 요약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1368735" cy="5074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성과관리 시스템은 문화의 DNA다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Stack Ranking이 내부 경쟁·정치·위험회피 행동을 설계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폐지 후 상시 피드백으로 전환 → 협업 회복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문화 변혁 = 말 + 제도 + 행동 + 환경의 정합성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새 미션(말) + Stack Ranking 폐지(제도) + CEO 솔선수범(행동) + 넣지(환경)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7S 요소를 Cloud·Empowerment 축으로 동시 재정렬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공감(Empathy)은 전략적 역량이다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Nadella의 개인 경험(장남 Zain) → 조직 전체의 공감 문화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취약성(Vulnerability) 공개로 Growth Mindset 전파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최대 리스크: '새로운 언어, 오래된 행동'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Missing Middle — 중간관리자 층의 변화 저항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문화 언어가 정치 행동을 포장하는 도구로 전락 위험</a:t>
            </a:r>
          </a:p>
          <a:p>
            <a:pPr algn="l">
              <a:spcBef>
                <a:spcPts val="1400"/>
              </a:spcBef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전략·구조·문화·제도의 정합성이 조직 효과성을 결정한다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574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8000" b="1" i="0">
                <a:solidFill>
                  <a:srgbClr val="2E9BD6"/>
                </a:solidFill>
                <a:latin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14600"/>
            <a:ext cx="7116775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3200" b="1" i="0">
                <a:solidFill>
                  <a:srgbClr val="1A1A1A"/>
                </a:solidFill>
                <a:latin typeface="Malgun Gothic"/>
              </a:rPr>
              <a:t>케이스 배경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3794760"/>
            <a:ext cx="1463039" cy="0"/>
          </a:xfrm>
          <a:prstGeom prst="line">
            <a:avLst/>
          </a:prstGeom>
          <a:ln w="3175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63440" y="3931920"/>
            <a:ext cx="711677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888888"/>
                </a:solidFill>
                <a:latin typeface="Malgun Gothic"/>
              </a:rPr>
              <a:t>잃어버린 10년의 역설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잃어버린 10년: 재무는 멀쩡한데 시장은 불신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매출 성장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8600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3배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2900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Malgun Gothic"/>
              </a:rPr>
              <a:t>▲ </a:t>
            </a:r>
            <a:r>
              <a:rPr sz="1200" b="1">
                <a:solidFill>
                  <a:srgbClr val="4CAF50"/>
                </a:solidFill>
                <a:latin typeface="Malgun Gothic"/>
              </a:rPr>
              <a:t>2000→14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85031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Ballmer 재임기 매출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018" y="178308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62018" y="178308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4898" y="196596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이익 성장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4898" y="228600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2배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4898" y="342900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Malgun Gothic"/>
              </a:rPr>
              <a:t>▲ </a:t>
            </a:r>
            <a:r>
              <a:rPr sz="1200" b="1">
                <a:solidFill>
                  <a:srgbClr val="4CAF50"/>
                </a:solidFill>
                <a:latin typeface="Malgun Gothic"/>
              </a:rPr>
              <a:t>2000→14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4898" y="3685031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영업이익 기준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2556" y="178308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2556" y="178308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5436" y="196596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주가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5436" y="228600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정체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5436" y="342900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04E5E"/>
                </a:solidFill>
                <a:latin typeface="Malgun Gothic"/>
              </a:rPr>
              <a:t>▼ </a:t>
            </a:r>
            <a:r>
              <a:rPr sz="1200" b="1">
                <a:solidFill>
                  <a:srgbClr val="E04E5E"/>
                </a:solidFill>
                <a:latin typeface="Malgun Gothic"/>
              </a:rPr>
              <a:t>10년간 횟보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5436" y="3685031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시장은 미래 성장을 불신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11480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11480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29768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CEO 지지율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61772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29%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76072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04E5E"/>
                </a:solidFill>
                <a:latin typeface="Malgun Gothic"/>
              </a:rPr>
              <a:t>▼ </a:t>
            </a:r>
            <a:r>
              <a:rPr sz="1200" b="1">
                <a:solidFill>
                  <a:srgbClr val="E04E5E"/>
                </a:solidFill>
                <a:latin typeface="Malgun Gothic"/>
              </a:rPr>
              <a:t>Ballmer (2011)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016752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Larry Page 94%, Zuckerberg 99%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62018" y="411480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62018" y="411480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4898" y="429768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핵심 인재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4898" y="461772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유출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4898" y="576072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04E5E"/>
                </a:solidFill>
                <a:latin typeface="Malgun Gothic"/>
              </a:rPr>
              <a:t>▼ </a:t>
            </a:r>
            <a:r>
              <a:rPr sz="1200" b="1">
                <a:solidFill>
                  <a:srgbClr val="E04E5E"/>
                </a:solidFill>
                <a:latin typeface="Malgun Gothic"/>
              </a:rPr>
              <a:t>2004년부터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4898" y="6016752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Google 등으로 이탈 가속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12556" y="411480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12556" y="411480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95436" y="429768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시장 선점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5436" y="461772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실패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5436" y="576072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04E5E"/>
                </a:solidFill>
                <a:latin typeface="Malgun Gothic"/>
              </a:rPr>
              <a:t>▼ </a:t>
            </a:r>
            <a:r>
              <a:rPr sz="1200" b="1">
                <a:solidFill>
                  <a:srgbClr val="E04E5E"/>
                </a:solidFill>
                <a:latin typeface="Malgun Gothic"/>
              </a:rPr>
              <a:t>e-book, 스마트폰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5436" y="6016752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bickering과 power plays로 상실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잃어버린 영혼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8400" b="1" i="0">
                <a:solidFill>
                  <a:srgbClr val="2E9BD6"/>
                </a:solidFill>
                <a:latin typeface="Malgun Gothic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9494215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0" i="0">
                <a:solidFill>
                  <a:srgbClr val="1A1A1A"/>
                </a:solidFill>
                <a:latin typeface="Malgun Gothic"/>
              </a:rPr>
              <a:t>관료주의가 혁신을 대체했고, 사내 정치가 팀워크를 대신했다. 우리는 낙오했다.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5440680"/>
            <a:ext cx="548640" cy="0"/>
          </a:xfrm>
          <a:prstGeom prst="line">
            <a:avLst/>
          </a:prstGeom>
          <a:ln w="2540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28800" y="5532120"/>
            <a:ext cx="949421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Satya Nadella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852160"/>
            <a:ext cx="949421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888888"/>
                </a:solidFill>
                <a:latin typeface="Malgun Gothic"/>
              </a:rPr>
              <a:t>Hit Refresh (2018), p.19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574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8000" b="1" i="0">
                <a:solidFill>
                  <a:srgbClr val="2E9BD6"/>
                </a:solidFill>
                <a:latin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14600"/>
            <a:ext cx="7116775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3200" b="1" i="0">
                <a:solidFill>
                  <a:srgbClr val="1A1A1A"/>
                </a:solidFill>
                <a:latin typeface="Malgun Gothic"/>
              </a:rPr>
              <a:t>As-Is 진단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3794760"/>
            <a:ext cx="1463039" cy="0"/>
          </a:xfrm>
          <a:prstGeom prst="line">
            <a:avLst/>
          </a:prstGeom>
          <a:ln w="3175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63440" y="3931920"/>
            <a:ext cx="711677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888888"/>
                </a:solidFill>
                <a:latin typeface="Malgun Gothic"/>
              </a:rPr>
              <a:t>Ballmer 시대의 7S 조직 병리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7S 모델 As-Is 진단: 7요소 부정합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McKinsey 7S Framework / LBS128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Malgun Gothic"/>
              </a:rPr>
              <a:t>[Insert subtitle]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1170432"/>
            <a:ext cx="11405311" cy="329184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Strategy</a:t>
            </a:r>
          </a:p>
        </p:txBody>
      </p:sp>
      <p:sp>
        <p:nvSpPr>
          <p:cNvPr id="15" name="Oval 14"/>
          <p:cNvSpPr/>
          <p:nvPr/>
        </p:nvSpPr>
        <p:spPr>
          <a:xfrm>
            <a:off x="984482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4482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Windows 방어 중심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모바일·클라우드 전환 실패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1260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51260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2700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Structure</a:t>
            </a:r>
          </a:p>
        </p:txBody>
      </p:sp>
      <p:sp>
        <p:nvSpPr>
          <p:cNvPr id="21" name="Oval 20"/>
          <p:cNvSpPr/>
          <p:nvPr/>
        </p:nvSpPr>
        <p:spPr>
          <a:xfrm>
            <a:off x="2624262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4262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2700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제품별 사일로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봉건 영주국의 연합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91040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91040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82480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Systems</a:t>
            </a:r>
          </a:p>
        </p:txBody>
      </p:sp>
      <p:sp>
        <p:nvSpPr>
          <p:cNvPr id="27" name="Oval 26"/>
          <p:cNvSpPr/>
          <p:nvPr/>
        </p:nvSpPr>
        <p:spPr>
          <a:xfrm>
            <a:off x="4264043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4043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2480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Stack Ranking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6개월 강제 서열화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30821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30821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22261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Style</a:t>
            </a:r>
          </a:p>
        </p:txBody>
      </p:sp>
      <p:sp>
        <p:nvSpPr>
          <p:cNvPr id="33" name="Oval 32"/>
          <p:cNvSpPr/>
          <p:nvPr/>
        </p:nvSpPr>
        <p:spPr>
          <a:xfrm>
            <a:off x="5903823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03823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22261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공격적 검증 문화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위계적·형식적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70601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70601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62041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Staff</a:t>
            </a:r>
          </a:p>
        </p:txBody>
      </p:sp>
      <p:sp>
        <p:nvSpPr>
          <p:cNvPr id="39" name="Oval 38"/>
          <p:cNvSpPr/>
          <p:nvPr/>
        </p:nvSpPr>
        <p:spPr>
          <a:xfrm>
            <a:off x="7543604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604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2041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정치적 생존자 위주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인재 유출 지속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10382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10382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01822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Skills</a:t>
            </a:r>
          </a:p>
        </p:txBody>
      </p:sp>
      <p:sp>
        <p:nvSpPr>
          <p:cNvPr id="45" name="Oval 44"/>
          <p:cNvSpPr/>
          <p:nvPr/>
        </p:nvSpPr>
        <p:spPr>
          <a:xfrm>
            <a:off x="9183384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3384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1822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PC SW 역량 고착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클라우드·오픈소스 부재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50162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50162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41602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Shared Values</a:t>
            </a:r>
          </a:p>
        </p:txBody>
      </p:sp>
      <p:sp>
        <p:nvSpPr>
          <p:cNvPr id="51" name="Oval 50"/>
          <p:cNvSpPr/>
          <p:nvPr/>
        </p:nvSpPr>
        <p:spPr>
          <a:xfrm>
            <a:off x="10823164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23164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41602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Know-it-all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가장 똑똑함을 증명하라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5486399"/>
            <a:ext cx="2194560" cy="6400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486399"/>
            <a:ext cx="2011679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PC 시대의 방어로 정렬된 악순환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Stack Ranking → 상시 피드백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272887" cy="50292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0900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As-Is: Stack Ranking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52728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11679"/>
            <a:ext cx="4907127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6개월 강제 서열화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상대평가 (10명 중 1명 必 poor)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알고리즘 등급 연동 보상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목적: 분류와 도태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327" y="1371600"/>
            <a:ext cx="5272887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0207" y="1371600"/>
            <a:ext cx="50900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To-Be: Continuous Feedback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7327" y="1874519"/>
            <a:ext cx="52728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2011679"/>
            <a:ext cx="4907127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상시 피드백·코칭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절대적 기여도 + 성장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매니저 재량 보상 예산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목적: 성장과 개발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75807" y="3451860"/>
            <a:ext cx="640080" cy="731520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Stack Ranking의 3대 파괴 메커니즘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Vanity Fair (2012) / LBS128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Malgun Gothic"/>
              </a:rPr>
              <a:t>[Insert subtitle]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1170432"/>
            <a:ext cx="11405311" cy="329184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" y="2141220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412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Malgun Gothic"/>
              </a:rPr>
              <a:t>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828800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협업 파괴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148840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동료의 실패 = 나의 상대적 성공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제로섬 게임으로 협업 불가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3634739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634739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Malgun Gothic"/>
              </a:rPr>
              <a:t>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22319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정치 제도화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42359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정치 안 하면 character assassination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경력 개발의 핵심이 정치 게임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" y="5128259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128259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Malgun Gothic"/>
              </a:rPr>
              <a:t>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815839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혁신 억압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135880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designing software by committee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의사결정의 관료화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574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8000" b="1" i="0">
                <a:solidFill>
                  <a:srgbClr val="2E9BD6"/>
                </a:solidFill>
                <a:latin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14600"/>
            <a:ext cx="7116775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3200" b="1" i="0">
                <a:solidFill>
                  <a:srgbClr val="1A1A1A"/>
                </a:solidFill>
                <a:latin typeface="Malgun Gothic"/>
              </a:rPr>
              <a:t>변화의 동인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3794760"/>
            <a:ext cx="1463039" cy="0"/>
          </a:xfrm>
          <a:prstGeom prst="line">
            <a:avLst/>
          </a:prstGeom>
          <a:ln w="3175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63440" y="3931920"/>
            <a:ext cx="711677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888888"/>
                </a:solidFill>
                <a:latin typeface="Malgun Gothic"/>
              </a:rPr>
              <a:t>Satya Nadella — 내부자의 외부 시선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Nadella가 변혁을 이끌 수 있었던 5가지 요인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Malgun Gothic"/>
              </a:rPr>
              <a:t>[Insert subtitle]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1170432"/>
            <a:ext cx="11405311" cy="329184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69164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734537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Description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1560" y="1984248"/>
            <a:ext cx="1072865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1480" y="2057400"/>
            <a:ext cx="11368735" cy="84124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272284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7228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340864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22년 내부자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703320" y="2350008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313432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1992년 입사, Cloud &amp; Enterprise EVP 출신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113532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1135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82112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학습 지향 경력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703320" y="3191256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154679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Bing 등 리스크 보직 자발 수행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39896"/>
            <a:ext cx="11368735" cy="84124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2920" y="3954780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547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023359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공감의 체화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703320" y="4032504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995928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장남 Zain의 뇌성마비 → Empathy 리더십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4796028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7960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864607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Growth Mindset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703320" y="4873752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837176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Carol Dweck Mindset — 아내 Anu의 추천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422392"/>
            <a:ext cx="11368735" cy="84124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2920" y="5637276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63727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705855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경청의 1년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703320" y="5715000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5678424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모든 레벨 수백 명 인터뷰, '왜 MS가 존재하는가?'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574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8000" b="1" i="0">
                <a:solidFill>
                  <a:srgbClr val="2E9BD6"/>
                </a:solidFill>
                <a:latin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14600"/>
            <a:ext cx="7116775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3200" b="1" i="0">
                <a:solidFill>
                  <a:srgbClr val="1A1A1A"/>
                </a:solidFill>
                <a:latin typeface="Malgun Gothic"/>
              </a:rPr>
              <a:t>To-Be 재설계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3794760"/>
            <a:ext cx="1463039" cy="0"/>
          </a:xfrm>
          <a:prstGeom prst="line">
            <a:avLst/>
          </a:prstGeom>
          <a:ln w="3175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63440" y="3931920"/>
            <a:ext cx="711677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888888"/>
                </a:solidFill>
                <a:latin typeface="Malgun Gothic"/>
              </a:rPr>
              <a:t>Growth Mindset 조직으로의 전환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Fixed Mindset vs Growth Mindset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71600"/>
            <a:ext cx="113687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Malgun Gothic"/>
              </a:rPr>
              <a:t>Carol Dweck (2006) → Microsoft 조직 적용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37360"/>
            <a:ext cx="219456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201167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Criteria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737360"/>
            <a:ext cx="4587087" cy="50292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737360"/>
            <a:ext cx="44042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Fixed (As-Is)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3127" y="1737360"/>
            <a:ext cx="4587087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4567" y="1737360"/>
            <a:ext cx="44042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Growth (To-Be)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240280"/>
            <a:ext cx="9174175" cy="7863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40280"/>
            <a:ext cx="2011679" cy="7863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핵심 신념</a:t>
            </a:r>
          </a:p>
        </p:txBody>
      </p:sp>
      <p:sp>
        <p:nvSpPr>
          <p:cNvPr id="19" name="Oval 18"/>
          <p:cNvSpPr/>
          <p:nvPr/>
        </p:nvSpPr>
        <p:spPr>
          <a:xfrm>
            <a:off x="4693843" y="2290572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93843" y="2290572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99583" y="2286000"/>
            <a:ext cx="21031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9271" y="2496312"/>
            <a:ext cx="210312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93843" y="2290572"/>
            <a:ext cx="411480" cy="411480"/>
          </a:xfrm>
          <a:prstGeom prst="ellipse">
            <a:avLst/>
          </a:prstGeom>
          <a:noFill/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697480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능력은 고정적</a:t>
            </a:r>
          </a:p>
        </p:txBody>
      </p:sp>
      <p:sp>
        <p:nvSpPr>
          <p:cNvPr id="25" name="Oval 24"/>
          <p:cNvSpPr/>
          <p:nvPr/>
        </p:nvSpPr>
        <p:spPr>
          <a:xfrm>
            <a:off x="9280931" y="2290572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80931" y="2290572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4567" y="2697480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능력은 성장 가능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" y="3026664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3026664"/>
            <a:ext cx="2011679" cy="7863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실패 대응</a:t>
            </a:r>
          </a:p>
        </p:txBody>
      </p:sp>
      <p:sp>
        <p:nvSpPr>
          <p:cNvPr id="30" name="Oval 29"/>
          <p:cNvSpPr/>
          <p:nvPr/>
        </p:nvSpPr>
        <p:spPr>
          <a:xfrm>
            <a:off x="4693843" y="3076956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93843" y="3076956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99583" y="3072384"/>
            <a:ext cx="21031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89271" y="3282696"/>
            <a:ext cx="210312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93843" y="3076956"/>
            <a:ext cx="411480" cy="411480"/>
          </a:xfrm>
          <a:prstGeom prst="ellipse">
            <a:avLst/>
          </a:prstGeom>
          <a:noFill/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80" y="3483864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회피·은폐·남 탓</a:t>
            </a:r>
          </a:p>
        </p:txBody>
      </p:sp>
      <p:sp>
        <p:nvSpPr>
          <p:cNvPr id="36" name="Oval 35"/>
          <p:cNvSpPr/>
          <p:nvPr/>
        </p:nvSpPr>
        <p:spPr>
          <a:xfrm>
            <a:off x="9280931" y="3076956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80931" y="3076956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84567" y="3483864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학습 기회로 활용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1480" y="3813048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606040" y="3813048"/>
            <a:ext cx="9174175" cy="7863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813048"/>
            <a:ext cx="2011679" cy="7863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도전 태도</a:t>
            </a:r>
          </a:p>
        </p:txBody>
      </p:sp>
      <p:sp>
        <p:nvSpPr>
          <p:cNvPr id="42" name="Oval 41"/>
          <p:cNvSpPr/>
          <p:nvPr/>
        </p:nvSpPr>
        <p:spPr>
          <a:xfrm>
            <a:off x="4693843" y="386334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93843" y="386334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99583" y="3858768"/>
            <a:ext cx="21031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89271" y="4069080"/>
            <a:ext cx="210312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3843" y="3863340"/>
            <a:ext cx="411480" cy="411480"/>
          </a:xfrm>
          <a:prstGeom prst="ellipse">
            <a:avLst/>
          </a:prstGeom>
          <a:noFill/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4270248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익숙한 것만 고수</a:t>
            </a:r>
          </a:p>
        </p:txBody>
      </p:sp>
      <p:sp>
        <p:nvSpPr>
          <p:cNvPr id="48" name="Oval 47"/>
          <p:cNvSpPr/>
          <p:nvPr/>
        </p:nvSpPr>
        <p:spPr>
          <a:xfrm>
            <a:off x="9280931" y="386334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280931" y="386334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84567" y="4270248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새로운 도전 추구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11480" y="4599432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02920" y="4599432"/>
            <a:ext cx="2011679" cy="7863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타인의 성공</a:t>
            </a:r>
          </a:p>
        </p:txBody>
      </p:sp>
      <p:sp>
        <p:nvSpPr>
          <p:cNvPr id="53" name="Oval 52"/>
          <p:cNvSpPr/>
          <p:nvPr/>
        </p:nvSpPr>
        <p:spPr>
          <a:xfrm>
            <a:off x="4693843" y="4649724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693843" y="4649724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99583" y="4645152"/>
            <a:ext cx="21031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89271" y="4855464"/>
            <a:ext cx="210312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693843" y="4649724"/>
            <a:ext cx="411480" cy="411480"/>
          </a:xfrm>
          <a:prstGeom prst="ellipse">
            <a:avLst/>
          </a:prstGeom>
          <a:noFill/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97480" y="5056632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위협으로 인식</a:t>
            </a:r>
          </a:p>
        </p:txBody>
      </p:sp>
      <p:sp>
        <p:nvSpPr>
          <p:cNvPr id="59" name="Oval 58"/>
          <p:cNvSpPr/>
          <p:nvPr/>
        </p:nvSpPr>
        <p:spPr>
          <a:xfrm>
            <a:off x="9280931" y="4649724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280931" y="4649724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84567" y="5056632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영감의 원천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11480" y="5385816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2606040" y="5385816"/>
            <a:ext cx="9174175" cy="7863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385816"/>
            <a:ext cx="2011679" cy="7863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조직 적용</a:t>
            </a:r>
          </a:p>
        </p:txBody>
      </p:sp>
      <p:sp>
        <p:nvSpPr>
          <p:cNvPr id="65" name="Oval 64"/>
          <p:cNvSpPr/>
          <p:nvPr/>
        </p:nvSpPr>
        <p:spPr>
          <a:xfrm>
            <a:off x="4693843" y="5436108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693843" y="5436108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899583" y="5431536"/>
            <a:ext cx="21031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689271" y="5641848"/>
            <a:ext cx="210312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693843" y="5436108"/>
            <a:ext cx="411480" cy="411480"/>
          </a:xfrm>
          <a:prstGeom prst="ellipse">
            <a:avLst/>
          </a:prstGeom>
          <a:noFill/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97480" y="5843016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Know-it-all</a:t>
            </a:r>
          </a:p>
        </p:txBody>
      </p:sp>
      <p:sp>
        <p:nvSpPr>
          <p:cNvPr id="71" name="Oval 70"/>
          <p:cNvSpPr/>
          <p:nvPr/>
        </p:nvSpPr>
        <p:spPr>
          <a:xfrm>
            <a:off x="9280931" y="5436108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80931" y="5436108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84567" y="5843016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Learn-it-all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11480" y="6172200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193127" y="6217920"/>
            <a:ext cx="458708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1" i="0">
                <a:solidFill>
                  <a:srgbClr val="2E9BD6"/>
                </a:solidFill>
                <a:latin typeface="Malgun Gothic"/>
              </a:rPr>
              <a:t>★ Recommended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Growth Mindset 3대 Pillar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Kathleen Hogan CPO 주도, Culture Cabinet, Carol Dweck 자문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141220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412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28800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Customer Obsession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148840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고객의 미충족 니즈에 호기심과 경청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오스트리아 GM: 경찰서·병원 현장 관찰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634739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634739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Malgun Gothic"/>
              </a:rPr>
              <a:t>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322319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Diversity &amp; Inclusion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642359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지구를 섬기려면 지구를 반영하라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다양성 목표 수치화, 보너스 연계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5128259"/>
            <a:ext cx="777240" cy="77724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128259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800" b="0" i="0">
                <a:solidFill>
                  <a:srgbClr val="FFFFFF"/>
                </a:solidFill>
                <a:latin typeface="Malgun Gothic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815839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One Microsoft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135880"/>
            <a:ext cx="10362895" cy="11277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봉건 영주국 → 하나의 회사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OneWeek 해커톤: 부서 횡단 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경쟁가치모형: 문화 유형 전환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Cameron &amp; Quinn 경쟁가치모형 (CVF)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[Description]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1371600"/>
            <a:ext cx="256032" cy="256032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13533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= [Insert status/group]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0" y="1371600"/>
            <a:ext cx="256032" cy="256032"/>
          </a:xfrm>
          <a:prstGeom prst="ellipse">
            <a:avLst/>
          </a:prstGeom>
          <a:solidFill>
            <a:srgbClr val="F4C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2944" y="13533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= [Insert status/group]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0" y="1371600"/>
            <a:ext cx="256032" cy="256032"/>
          </a:xfrm>
          <a:prstGeom prst="ellipse">
            <a:avLst/>
          </a:prstGeom>
          <a:solidFill>
            <a:srgbClr val="E0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8944" y="13533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= [Insert status/group]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05800" y="1874519"/>
            <a:ext cx="3444240" cy="13411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61560" y="3215640"/>
            <a:ext cx="6888480" cy="1341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861560" y="1874519"/>
            <a:ext cx="0" cy="4023361"/>
          </a:xfrm>
          <a:prstGeom prst="line">
            <a:avLst/>
          </a:prstGeom>
          <a:ln w="6350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17320" y="3215640"/>
            <a:ext cx="10332720" cy="0"/>
          </a:xfrm>
          <a:prstGeom prst="line">
            <a:avLst/>
          </a:prstGeom>
          <a:ln w="6350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05800" y="1874519"/>
            <a:ext cx="0" cy="4023361"/>
          </a:xfrm>
          <a:prstGeom prst="line">
            <a:avLst/>
          </a:prstGeom>
          <a:ln w="6350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17320" y="4556760"/>
            <a:ext cx="10332720" cy="0"/>
          </a:xfrm>
          <a:prstGeom prst="line">
            <a:avLst/>
          </a:prstGeom>
          <a:ln w="6350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1920239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Malgun Gothic"/>
              </a:rPr>
              <a:t>Short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61360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Malgun Gothic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02480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Malgun Gothic"/>
              </a:rPr>
              <a:t>Long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2240" y="595274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95274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0720" y="595274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777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1A1A1A"/>
                </a:solidFill>
                <a:latin typeface="Malgun Gothic"/>
              </a:rPr>
              <a:t>TIME TO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6172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LEVEL OF IMPACT</a:t>
            </a:r>
          </a:p>
        </p:txBody>
      </p:sp>
      <p:sp>
        <p:nvSpPr>
          <p:cNvPr id="31" name="Oval 30"/>
          <p:cNvSpPr/>
          <p:nvPr/>
        </p:nvSpPr>
        <p:spPr>
          <a:xfrm>
            <a:off x="2750820" y="4838700"/>
            <a:ext cx="777240" cy="777240"/>
          </a:xfrm>
          <a:prstGeom prst="ellipse">
            <a:avLst/>
          </a:prstGeom>
          <a:solidFill>
            <a:srgbClr val="E0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50820" y="48387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FFFFFF"/>
                </a:solidFill>
                <a:latin typeface="Malgun Gothic"/>
              </a:rPr>
              <a:t>Hierarchy
(위계)</a:t>
            </a:r>
          </a:p>
        </p:txBody>
      </p:sp>
      <p:sp>
        <p:nvSpPr>
          <p:cNvPr id="33" name="Oval 32"/>
          <p:cNvSpPr/>
          <p:nvPr/>
        </p:nvSpPr>
        <p:spPr>
          <a:xfrm>
            <a:off x="9639300" y="4838700"/>
            <a:ext cx="777240" cy="777240"/>
          </a:xfrm>
          <a:prstGeom prst="ellipse">
            <a:avLst/>
          </a:prstGeom>
          <a:solidFill>
            <a:srgbClr val="E0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39300" y="48387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FFFFFF"/>
                </a:solidFill>
                <a:latin typeface="Malgun Gothic"/>
              </a:rPr>
              <a:t>Market
(경쟁)</a:t>
            </a:r>
          </a:p>
        </p:txBody>
      </p:sp>
      <p:sp>
        <p:nvSpPr>
          <p:cNvPr id="35" name="Oval 34"/>
          <p:cNvSpPr/>
          <p:nvPr/>
        </p:nvSpPr>
        <p:spPr>
          <a:xfrm>
            <a:off x="2750820" y="2156460"/>
            <a:ext cx="777240" cy="77724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50820" y="21564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FFFFFF"/>
                </a:solidFill>
                <a:latin typeface="Malgun Gothic"/>
              </a:rPr>
              <a:t>Clan
(협력)</a:t>
            </a:r>
          </a:p>
        </p:txBody>
      </p:sp>
      <p:sp>
        <p:nvSpPr>
          <p:cNvPr id="37" name="Oval 36"/>
          <p:cNvSpPr/>
          <p:nvPr/>
        </p:nvSpPr>
        <p:spPr>
          <a:xfrm>
            <a:off x="9639300" y="2156460"/>
            <a:ext cx="777240" cy="77724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39300" y="21564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FFFFFF"/>
                </a:solidFill>
                <a:latin typeface="Malgun Gothic"/>
              </a:rPr>
              <a:t>Adhocracy
(혁신)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574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8000" b="1" i="0">
                <a:solidFill>
                  <a:srgbClr val="2E9BD6"/>
                </a:solidFill>
                <a:latin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14600"/>
            <a:ext cx="7116775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3200" b="1" i="0">
                <a:solidFill>
                  <a:srgbClr val="1A1A1A"/>
                </a:solidFill>
                <a:latin typeface="Malgun Gothic"/>
              </a:rPr>
              <a:t>실행 메커니즘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3794760"/>
            <a:ext cx="1463039" cy="0"/>
          </a:xfrm>
          <a:prstGeom prst="line">
            <a:avLst/>
          </a:prstGeom>
          <a:ln w="3175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63440" y="3931920"/>
            <a:ext cx="711677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888888"/>
                </a:solidFill>
                <a:latin typeface="Malgun Gothic"/>
              </a:rPr>
              <a:t>12.5만 명을 어떻게 움직였는가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Kotter 8단계 × Nadella 행보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Kotter (1996) 8-Step Change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19</a:t>
            </a:r>
          </a:p>
        </p:txBody>
      </p:sp>
      <p:sp>
        <p:nvSpPr>
          <p:cNvPr id="10" name="Chevron 9"/>
          <p:cNvSpPr/>
          <p:nvPr/>
        </p:nvSpPr>
        <p:spPr>
          <a:xfrm>
            <a:off x="411480" y="1828800"/>
            <a:ext cx="2123389" cy="777240"/>
          </a:xfrm>
          <a:prstGeom prst="chevron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0A1F3D"/>
                </a:solidFill>
                <a:latin typeface="Malgun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28800"/>
            <a:ext cx="123642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위기감 조성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88920"/>
            <a:ext cx="1757629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잃어버린 10년 직시</a:t>
            </a:r>
          </a:p>
        </p:txBody>
      </p:sp>
      <p:sp>
        <p:nvSpPr>
          <p:cNvPr id="15" name="Chevron 14"/>
          <p:cNvSpPr/>
          <p:nvPr/>
        </p:nvSpPr>
        <p:spPr>
          <a:xfrm>
            <a:off x="2260549" y="1828800"/>
            <a:ext cx="2123389" cy="777240"/>
          </a:xfrm>
          <a:prstGeom prst="chevron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25141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5141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2E9BD6"/>
                </a:solidFill>
                <a:latin typeface="Malgun Gothi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0629" y="1828800"/>
            <a:ext cx="123642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추진 연합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1989" y="2788920"/>
            <a:ext cx="1757629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SLT + Culture Cabinet</a:t>
            </a:r>
          </a:p>
        </p:txBody>
      </p:sp>
      <p:sp>
        <p:nvSpPr>
          <p:cNvPr id="20" name="Chevron 19"/>
          <p:cNvSpPr/>
          <p:nvPr/>
        </p:nvSpPr>
        <p:spPr>
          <a:xfrm>
            <a:off x="4109618" y="1828800"/>
            <a:ext cx="2123389" cy="777240"/>
          </a:xfrm>
          <a:prstGeom prst="chevron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74210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4210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0A1F3D"/>
                </a:solidFill>
                <a:latin typeface="Malgun 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9698" y="1828800"/>
            <a:ext cx="123642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비전 수립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1058" y="2788920"/>
            <a:ext cx="1757629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새 미션 + 3 Pillar</a:t>
            </a:r>
          </a:p>
        </p:txBody>
      </p:sp>
      <p:sp>
        <p:nvSpPr>
          <p:cNvPr id="25" name="Chevron 24"/>
          <p:cNvSpPr/>
          <p:nvPr/>
        </p:nvSpPr>
        <p:spPr>
          <a:xfrm>
            <a:off x="5958687" y="1828800"/>
            <a:ext cx="2123389" cy="777240"/>
          </a:xfrm>
          <a:prstGeom prst="chevron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3279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3279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2E9BD6"/>
                </a:solidFill>
                <a:latin typeface="Malgun Gothi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8767" y="1828800"/>
            <a:ext cx="123642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비전 전파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0127" y="2788920"/>
            <a:ext cx="1757629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월간 영상 + Hit Refresh</a:t>
            </a:r>
          </a:p>
        </p:txBody>
      </p:sp>
      <p:sp>
        <p:nvSpPr>
          <p:cNvPr id="30" name="Chevron 29"/>
          <p:cNvSpPr/>
          <p:nvPr/>
        </p:nvSpPr>
        <p:spPr>
          <a:xfrm>
            <a:off x="7807756" y="1828800"/>
            <a:ext cx="2123389" cy="777240"/>
          </a:xfrm>
          <a:prstGeom prst="chevron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72348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2348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0A1F3D"/>
                </a:solidFill>
                <a:latin typeface="Malgun Gothi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7836" y="1828800"/>
            <a:ext cx="123642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장애 제거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9196" y="2788920"/>
            <a:ext cx="1757629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Stack Ranking 폐지</a:t>
            </a:r>
          </a:p>
        </p:txBody>
      </p:sp>
      <p:sp>
        <p:nvSpPr>
          <p:cNvPr id="35" name="Chevron 34"/>
          <p:cNvSpPr/>
          <p:nvPr/>
        </p:nvSpPr>
        <p:spPr>
          <a:xfrm>
            <a:off x="9656826" y="1828800"/>
            <a:ext cx="2123389" cy="777240"/>
          </a:xfrm>
          <a:prstGeom prst="chevron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21418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1418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2E9BD6"/>
                </a:solidFill>
                <a:latin typeface="Malgun Gothic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96906" y="1828800"/>
            <a:ext cx="123642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단기 성과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8266" y="2788920"/>
            <a:ext cx="1757629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Office on iOS, Linux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Schein 문화 3수준 변혁 매핑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Edgar Schein, Organizational Culture &amp;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7160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371600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371600"/>
            <a:ext cx="350489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Examples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1664208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1480" y="1828800"/>
            <a:ext cx="1554480" cy="1219199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828800"/>
            <a:ext cx="1554480" cy="12191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783080"/>
            <a:ext cx="5943600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As-Is: Stack Ranking 양식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As-Is: 공격적 회의 문화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83080"/>
            <a:ext cx="3504895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상시 피드백 도입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해커톤·넣지 도입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" y="323088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11480" y="3322319"/>
            <a:ext cx="1554480" cy="1219199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22319"/>
            <a:ext cx="1554480" cy="12191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Espoused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276599"/>
            <a:ext cx="5943600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As-Is: 똑똑한 자가 이긴다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To-Be: Growth Mindset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276599"/>
            <a:ext cx="3504895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새 미션 선언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Hit Refresh 전 직원 배포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" y="4724399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" y="4815839"/>
            <a:ext cx="1554480" cy="1219199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815839"/>
            <a:ext cx="1554480" cy="12191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Basic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770119"/>
            <a:ext cx="5943600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As-Is: 능력은 고정, 경쟁=성과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To-Be: 성장 가능, 학습=성과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770119"/>
            <a:ext cx="3504895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CEO Role Modeling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취약성 공개로 신뢰 구축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574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8000" b="1" i="0">
                <a:solidFill>
                  <a:srgbClr val="2E9BD6"/>
                </a:solidFill>
                <a:latin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14600"/>
            <a:ext cx="7116775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3200" b="1" i="0">
                <a:solidFill>
                  <a:srgbClr val="1A1A1A"/>
                </a:solidFill>
                <a:latin typeface="Malgun Gothic"/>
              </a:rPr>
              <a:t>성과 · 시사점 · 토론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3794760"/>
            <a:ext cx="1463039" cy="0"/>
          </a:xfrm>
          <a:prstGeom prst="line">
            <a:avLst/>
          </a:prstGeom>
          <a:ln w="3175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63440" y="3931920"/>
            <a:ext cx="711677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888888"/>
                </a:solidFill>
                <a:latin typeface="Malgun Gothic"/>
              </a:rPr>
              <a:t>4년의 성과와 미해결 과제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Nadella 4년차 성과 (2018)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시가총액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8600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$700B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2900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Malgun Gothic"/>
              </a:rPr>
              <a:t>▲ </a:t>
            </a:r>
            <a:r>
              <a:rPr sz="1200" b="1">
                <a:solidFill>
                  <a:srgbClr val="4CAF50"/>
                </a:solidFill>
                <a:latin typeface="Malgun Gothic"/>
              </a:rPr>
              <a:t>사상 최고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85031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주가 정체 → 급등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018" y="178308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62018" y="178308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4898" y="196596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Azure 점유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4898" y="228600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95%+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4898" y="342900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Malgun Gothic"/>
              </a:rPr>
              <a:t>▲ </a:t>
            </a:r>
            <a:r>
              <a:rPr sz="1200" b="1">
                <a:solidFill>
                  <a:srgbClr val="4CAF50"/>
                </a:solidFill>
                <a:latin typeface="Malgun Gothic"/>
              </a:rPr>
              <a:t>Fortune 500 사용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4898" y="3685031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글로벌 50개 리전 발표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2556" y="178308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2556" y="178308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5436" y="196596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CEO 지지율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5436" y="228600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5436" y="342900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Malgun Gothic"/>
              </a:rPr>
              <a:t>▲ </a:t>
            </a:r>
            <a:r>
              <a:rPr sz="1200" b="1">
                <a:solidFill>
                  <a:srgbClr val="4CAF50"/>
                </a:solidFill>
                <a:latin typeface="Malgun Gothic"/>
              </a:rPr>
              <a:t>29% → 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5436" y="3685031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Glassdoor 기준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11480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11480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29768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인재 흐름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61772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Top 5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76072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Malgun Gothic"/>
              </a:rPr>
              <a:t>▲ </a:t>
            </a:r>
            <a:r>
              <a:rPr sz="1200" b="1">
                <a:solidFill>
                  <a:srgbClr val="4CAF50"/>
                </a:solidFill>
                <a:latin typeface="Malgun Gothic"/>
              </a:rPr>
              <a:t>유출 → 유입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016752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최고 엔지니어 인재의 자석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62018" y="411480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62018" y="411480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4898" y="429768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외부 관계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4898" y="461772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4898" y="576072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Malgun Gothic"/>
              </a:rPr>
              <a:t>▲ </a:t>
            </a:r>
            <a:r>
              <a:rPr sz="1200" b="1">
                <a:solidFill>
                  <a:srgbClr val="4CAF50"/>
                </a:solidFill>
                <a:latin typeface="Malgun Gothic"/>
              </a:rPr>
              <a:t>Linux 포용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4898" y="6016752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cancer → 파트너십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12556" y="411480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12556" y="411480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95436" y="429768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M&amp;A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5436" y="461772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$26B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5436" y="576072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Malgun Gothic"/>
              </a:rPr>
              <a:t>▲ </a:t>
            </a:r>
            <a:r>
              <a:rPr sz="1200" b="1">
                <a:solidFill>
                  <a:srgbClr val="4CAF50"/>
                </a:solidFill>
                <a:latin typeface="Malgun Gothic"/>
              </a:rPr>
              <a:t>LinkedIn 인수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5436" y="6016752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생태계 확장 전략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핵심 인사이트 5 + 토론 주제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토론: Stack Ranking 맥락 | Growth Mindset 구호화 | CEO 의존성 | 한국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MBA HRM  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Malgun Gothic"/>
              </a:rPr>
              <a:t>[Insert subtitle]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1170432"/>
            <a:ext cx="11405311" cy="329184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69164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734537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Description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1560" y="1984248"/>
            <a:ext cx="1072865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1480" y="2057400"/>
            <a:ext cx="11368735" cy="84124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272284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7228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340864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성과관리 = 문화 DNA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703320" y="2350008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313432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Stack Ranking이 행동을 설계했다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113532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1135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82112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정합성이 핵심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703320" y="3191256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154679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말+제도+행동+환경의 동시 작동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39896"/>
            <a:ext cx="11368735" cy="84124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2920" y="3954780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547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023359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공감 = 전략적 역량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703320" y="4032504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995928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Empathy는 소프트 스킬이 아니다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4796028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7960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864607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취약성이 신뢰를 구축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703320" y="4873752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837176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Grace Hopper + Tay 사건의 교훈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422392"/>
            <a:ext cx="11368735" cy="84124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2920" y="5637276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63727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705855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새 언어, 오래된 행동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703320" y="5715000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5678424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문화 언어가 정치 도구로 전락 위험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