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2743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Malgun Gothic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865815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1A1A1A"/>
                </a:solidFill>
                <a:latin typeface="Malgun Gothic"/>
              </a:rPr>
              <a:t>Microsoft 문화 변혁 케이스 스터디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1086581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BFBFBF"/>
                </a:solidFill>
                <a:latin typeface="Malgun Gothic"/>
              </a:rPr>
              <a:t>Satya Nadella at Microsoft:
Instilling a Growth Mindset (LBS128, 2018)
인적자원관리(HRM) + 조직설계 프레임 통합 분석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760720"/>
            <a:ext cx="5943600" cy="0"/>
          </a:xfrm>
          <a:prstGeom prst="line">
            <a:avLst/>
          </a:prstGeom>
          <a:ln w="12700">
            <a:solidFill>
              <a:srgbClr val="0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건국대 MBA 32기 | 인적자원관리 (MBA9512)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904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88888"/>
                </a:solidFill>
                <a:latin typeface="Malgun Gothic"/>
              </a:rPr>
              <a:t>2026. 5. 16. (토)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2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887582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8758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10442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Executive Summary — 핵심 인사이트 4가지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2449285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68680" y="2508068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080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53092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PART 1 — 케이스 배경: '잃어버린 10년'의 역설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3069771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68680" y="3128554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855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151414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PART 2 — As-Is 진단: 7S 모델로 본 조직 병리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3690257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68680" y="3749039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4903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77190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PART 3 — 변화의 동인: Satya Nadella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4310742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68680" y="4369525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369525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392385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PART 4 — To-Be 재설계: Growth Mindset 조직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" y="4931228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68680" y="4990011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990011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012871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PART 5 — 실행 메커니즘: Kotter 8단계 × Schein 3수준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8680" y="5551714"/>
            <a:ext cx="104543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68680" y="5610497"/>
            <a:ext cx="502920" cy="502920"/>
          </a:xfrm>
          <a:prstGeom prst="ellipse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610497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633357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0" i="0">
                <a:solidFill>
                  <a:srgbClr val="1A1A1A"/>
                </a:solidFill>
                <a:latin typeface="Malgun Gothic"/>
              </a:rPr>
              <a:t>PART 6 — 성과, 미해결 과제, 시사점 &amp; 토론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40080"/>
            <a:ext cx="11368735" cy="0"/>
          </a:xfrm>
          <a:prstGeom prst="line">
            <a:avLst/>
          </a:prstGeom>
          <a:ln w="50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27432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Malgun Gothic"/>
              </a:rPr>
              <a:t>Microsoft Culture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447" y="1417320"/>
            <a:ext cx="868680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[Core Thesis]:</a:t>
            </a:r>
            <a:r>
              <a:rPr sz="2600" b="1">
                <a:solidFill>
                  <a:srgbClr val="FFFFFF"/>
                </a:solidFill>
                <a:latin typeface="Malgun Gothic"/>
              </a:rPr>
              <a:t> Nadella는 전략이나 구조가 아니라 "인간 시스템(human system)"을 변혁의 출발점으로 삼았다.
"CEO의 C는 Culture(문화)의 약자다.
CEO는 조직 문화를 담당하는 큐레이터다."
— Satya Nadella, 『히트 리프레시』 p.150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9815" y="64922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BFBFBF"/>
                </a:solidFill>
                <a:latin typeface="Malgun Gothic"/>
              </a:rPr>
              <a:t>McKinsey &amp; Company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Executive Summary — 핵심 인사이트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LBS128 Case + 히트 리프레시 + McKinsey 7S / Kotter / Schein 프레임워크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11368735" cy="5074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① 성과관리 시스템은 '문화의 DNA'다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Stack Ranking이 내부 경쟁·정치·위험회피 행동을 직접 설계했다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폐지 후 상시 피드백으로 전환 → 협업 문화 복원의 필수 선행조건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"staffers were rewarded not just for doing well but for making sure their colleagues failed" (케이스 p.2)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② 문화 변혁 = '말 + 제도 + 행동 + 환경'의 동시 정합성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새 미션(말) + Stack Ranking 폐지(제도) + CEO 솔선수범(행동) + 넛지(환경)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7S 7요소를 'Cloud·Empowerment'라는 새 축으로 동시에 재정렬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③ 변혁적 리더는 취약성(Vulnerability)으로 신뢰를 구축한다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Grace Hopper 실수 공개 인정 → Hogan: "나는 Satya에 대한 신뢰가 늘었다"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Tay 챗봇 사건 → 처벌이 아닌 "Keep pushing, I am with you"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④ 최대 리스크: '새로운 언어, 오래된 행동'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Missing Middle — 중간관리자의 변화 저항이 가장 큰 공백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Growth Mindset이 남을 비판하는 새 도구로 전락할 위험</a:t>
            </a:r>
          </a:p>
          <a:p>
            <a:pPr algn="l">
              <a:spcBef>
                <a:spcPts val="1400"/>
              </a:spcBef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전략·구조·문화·제도의 정합성(Alignment)이 조직 효과성을 결정한다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8000" b="1" i="0">
                <a:solidFill>
                  <a:srgbClr val="2E9BD6"/>
                </a:solidFill>
                <a:latin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14600"/>
            <a:ext cx="711677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1A1A1A"/>
                </a:solidFill>
                <a:latin typeface="Malgun Gothic"/>
              </a:rPr>
              <a:t>케이스 배경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3794760"/>
            <a:ext cx="1463039" cy="0"/>
          </a:xfrm>
          <a:prstGeom prst="line">
            <a:avLst/>
          </a:prstGeom>
          <a:ln w="3175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3440" y="3931920"/>
            <a:ext cx="71167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888888"/>
                </a:solidFill>
                <a:latin typeface="Malgun Gothic"/>
              </a:rPr>
              <a:t>'잃어버린 10년'의 역설:
재무는 멀쩡한데 시장은 불신했다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잃어버린 10년의 역설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LBS128 Case, p.2-3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11368735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400" b="1" i="0">
                <a:solidFill>
                  <a:srgbClr val="0A1F3D"/>
                </a:solidFill>
                <a:latin typeface="Malgun Gothic"/>
              </a:rPr>
              <a:t>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617720"/>
            <a:ext cx="1136873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2400" b="1" i="0">
                <a:solidFill>
                  <a:srgbClr val="2E9BD6"/>
                </a:solidFill>
                <a:latin typeface="Malgun Gothic"/>
              </a:rPr>
              <a:t>Steve Ballmer CEO 지지율 (Glassdoor, 2011)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349240"/>
            <a:ext cx="8534095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1A1A1A"/>
                </a:solidFill>
                <a:latin typeface="Malgun Gothic"/>
              </a:rPr>
              <a:t>같은 시기 Larry Page 94%, Mark Zuckerberg 99%.
매출은 3배, 이익은 2배 성장했지만 주가는 10년간 정체.
"It was an enormously profitable company... it was just a question of whether they'd go into permanent decline." — Jan Dawson, 산업 분석가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잃어버린 10년: 5대 증상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LBS128 Case / Vanity Fair (2012)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핵심 인재 유출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가속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2900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04E5E"/>
                </a:solidFill>
                <a:latin typeface="Malgun Gothic"/>
              </a:rPr>
              <a:t>▼ </a:t>
            </a:r>
            <a:r>
              <a:rPr sz="1200" b="1">
                <a:solidFill>
                  <a:srgbClr val="E04E5E"/>
                </a:solidFill>
                <a:latin typeface="Malgun Gothic"/>
              </a:rPr>
              <a:t>2004년~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85031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Google이 업계 평균 대비 +23% 보상 제공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018" y="178308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62018" y="178308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4898" y="196596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시장 선점 상실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4898" y="228600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e-book·폰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4898" y="342900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04E5E"/>
                </a:solidFill>
                <a:latin typeface="Malgun Gothic"/>
              </a:rPr>
              <a:t>▼ </a:t>
            </a:r>
            <a:r>
              <a:rPr sz="1200" b="1">
                <a:solidFill>
                  <a:srgbClr val="E04E5E"/>
                </a:solidFill>
                <a:latin typeface="Malgun Gothic"/>
              </a:rPr>
              <a:t>killed or delayed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4898" y="3685031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bickering and power plays로 상실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2556" y="178308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2556" y="178308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5436" y="196596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제품 경쟁 패배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5436" y="228600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Bing·Zune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5436" y="342900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04E5E"/>
                </a:solidFill>
                <a:latin typeface="Malgun Gothic"/>
              </a:rPr>
              <a:t>▼ </a:t>
            </a:r>
            <a:r>
              <a:rPr sz="1200" b="1">
                <a:solidFill>
                  <a:srgbClr val="E04E5E"/>
                </a:solidFill>
                <a:latin typeface="Malgun Gothic"/>
              </a:rPr>
              <a:t>vs Google·Apple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5436" y="3685031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designing software by committee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11480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11480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29768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리더십 신뢰 붕괴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61772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29%→46%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607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04E5E"/>
                </a:solidFill>
                <a:latin typeface="Malgun Gothic"/>
              </a:rPr>
              <a:t>▼ </a:t>
            </a:r>
            <a:r>
              <a:rPr sz="1200" b="1">
                <a:solidFill>
                  <a:srgbClr val="E04E5E"/>
                </a:solidFill>
                <a:latin typeface="Malgun Gothic"/>
              </a:rPr>
              <a:t>Ballmer 지지율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016752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업계 최하위 수준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2018" y="411480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2018" y="411480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4898" y="429768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산업 트렌드 역행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4898" y="461772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PC 고착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4898" y="57607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E04E5E"/>
                </a:solidFill>
                <a:latin typeface="Malgun Gothic"/>
              </a:rPr>
              <a:t>▼ </a:t>
            </a:r>
            <a:r>
              <a:rPr sz="1200" b="1">
                <a:solidFill>
                  <a:srgbClr val="E04E5E"/>
                </a:solidFill>
                <a:latin typeface="Malgun Gothic"/>
              </a:rPr>
              <a:t>모바일 전환 실패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4898" y="6016752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Windows를 안전담요처럼 고수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CEO의 진단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8400" b="1" i="0">
                <a:solidFill>
                  <a:srgbClr val="2E9BD6"/>
                </a:solidFill>
                <a:latin typeface="Malgun Gothic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9494215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0" i="0">
                <a:solidFill>
                  <a:srgbClr val="1A1A1A"/>
                </a:solidFill>
                <a:latin typeface="Malgun Gothic"/>
              </a:rPr>
              <a:t>관료주의가 혁신을 대체했고, 사내 정치가 팀워크를 대신했다. 우리는 낙오했다.
무엇보다 슬픈 사실은 회사가 영혼을 잃었다고 생각하는 직원이 많다는 점이었다.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5440680"/>
            <a:ext cx="548640" cy="0"/>
          </a:xfrm>
          <a:prstGeom prst="line">
            <a:avLst/>
          </a:prstGeom>
          <a:ln w="2540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0" y="5532120"/>
            <a:ext cx="949421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Satya Nadella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852160"/>
            <a:ext cx="949421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88888"/>
                </a:solidFill>
                <a:latin typeface="Malgun Gothic"/>
              </a:rPr>
              <a:t>『히트 리프레시』 p.19, p.107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8000" b="1" i="0">
                <a:solidFill>
                  <a:srgbClr val="2E9BD6"/>
                </a:solidFill>
                <a:latin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14600"/>
            <a:ext cx="711677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1A1A1A"/>
                </a:solidFill>
                <a:latin typeface="Malgun Gothic"/>
              </a:rPr>
              <a:t>As-Is 진단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3794760"/>
            <a:ext cx="1463039" cy="0"/>
          </a:xfrm>
          <a:prstGeom prst="line">
            <a:avLst/>
          </a:prstGeom>
          <a:ln w="3175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3440" y="3931920"/>
            <a:ext cx="71167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888888"/>
                </a:solidFill>
                <a:latin typeface="Malgun Gothic"/>
              </a:rPr>
              <a:t>McKinsey 7S 모델로 본
Ballmer 시대의 조직 병리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McKinsey 7S 모델 — As-Is 진단: 7요소 부정합(Misalignment)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McKinsey 7S Framework / LBS128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Malgun Gothic"/>
              </a:rPr>
              <a:t>[Insert subtitle]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Strategy</a:t>
            </a:r>
          </a:p>
        </p:txBody>
      </p:sp>
      <p:sp>
        <p:nvSpPr>
          <p:cNvPr id="15" name="Oval 14"/>
          <p:cNvSpPr/>
          <p:nvPr/>
        </p:nvSpPr>
        <p:spPr>
          <a:xfrm>
            <a:off x="984482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4482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Windows 방어 중심, PC 시대 성공공식 고착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모바일·클라우드 전환 실패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1260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51260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2700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Structure</a:t>
            </a:r>
          </a:p>
        </p:txBody>
      </p:sp>
      <p:sp>
        <p:nvSpPr>
          <p:cNvPr id="21" name="Oval 20"/>
          <p:cNvSpPr/>
          <p:nvPr/>
        </p:nvSpPr>
        <p:spPr>
          <a:xfrm>
            <a:off x="2624262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4262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2700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제품별 사일로 — "봉건 영주국의 연합"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부서들이 서로 총을 겨눔 (Exhibit 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91040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91040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82480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Systems</a:t>
            </a:r>
          </a:p>
        </p:txBody>
      </p:sp>
      <p:sp>
        <p:nvSpPr>
          <p:cNvPr id="27" name="Oval 26"/>
          <p:cNvSpPr/>
          <p:nvPr/>
        </p:nvSpPr>
        <p:spPr>
          <a:xfrm>
            <a:off x="4264043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4043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2480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Stack Ranking: 6개월 강제 서열화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10명 중 1명 必 poor — 알고리즘 보상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0821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30821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22261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Style</a:t>
            </a:r>
          </a:p>
        </p:txBody>
      </p:sp>
      <p:sp>
        <p:nvSpPr>
          <p:cNvPr id="33" name="Oval 32"/>
          <p:cNvSpPr/>
          <p:nvPr/>
        </p:nvSpPr>
        <p:spPr>
          <a:xfrm>
            <a:off x="5903823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03823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22261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Precision Questioning: 아이디어 허점 찌르기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위계·서열이 지배, 창의성 억압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70601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70601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62041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Staff</a:t>
            </a:r>
          </a:p>
        </p:txBody>
      </p:sp>
      <p:sp>
        <p:nvSpPr>
          <p:cNvPr id="39" name="Oval 38"/>
          <p:cNvSpPr/>
          <p:nvPr/>
        </p:nvSpPr>
        <p:spPr>
          <a:xfrm>
            <a:off x="7543604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604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2041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"정치 게임이 경력 개발의 핵심"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Google 등으로 핵심 인재 유출 가속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10382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10382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01822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Skills</a:t>
            </a:r>
          </a:p>
        </p:txBody>
      </p:sp>
      <p:sp>
        <p:nvSpPr>
          <p:cNvPr id="45" name="Oval 44"/>
          <p:cNvSpPr/>
          <p:nvPr/>
        </p:nvSpPr>
        <p:spPr>
          <a:xfrm>
            <a:off x="9183384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3384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1822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PC 소프트웨어 역량에 고착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클라우드·오픈소스·모바일 역량 부재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50162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50162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41602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Shared Values</a:t>
            </a:r>
          </a:p>
        </p:txBody>
      </p:sp>
      <p:sp>
        <p:nvSpPr>
          <p:cNvPr id="51" name="Oval 50"/>
          <p:cNvSpPr/>
          <p:nvPr/>
        </p:nvSpPr>
        <p:spPr>
          <a:xfrm>
            <a:off x="10823164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23164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41602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Know-it-all: 가장 똑똑함을 증명하라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내부 경쟁이 곧 성과라는 믿음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5486399"/>
            <a:ext cx="2194560" cy="6400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486399"/>
            <a:ext cx="2011679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7요소가 'PC 시대의 방어'라는 잘못된 축으로 정렬 → 악순환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핵심 병리: Stack Ranking이 문화를 파괴한 메커니즘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HRM 핵심 명제: 성과관리 시스템은 단순 평가 도구가 아니라 '문화의 DNA'다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LBS128 Case p.2 / Vanity Fair (2012)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Malgun Gothic"/>
              </a:rPr>
              <a:t>[Insert subtitle]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314699"/>
            <a:ext cx="1280160" cy="146304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14699"/>
            <a:ext cx="1188719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Stack Ranking
(강제 서열화)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79" y="2217420"/>
            <a:ext cx="1463040" cy="6400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399" y="22174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협업 파괴
(제로섬)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91639" y="4046220"/>
            <a:ext cx="160021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51660" y="2537460"/>
            <a:ext cx="0" cy="150876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51660" y="2537460"/>
            <a:ext cx="160019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794759" y="2263139"/>
            <a:ext cx="182880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79" y="2263139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동료의 실패 = 나의 성공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74720" y="2537460"/>
            <a:ext cx="160019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634739" y="2537459"/>
            <a:ext cx="0" cy="1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34739" y="2537459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943599" y="1783080"/>
            <a:ext cx="201168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19" y="17830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"rewarded for making sure colleagues failed"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537459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783579" y="2034540"/>
            <a:ext cx="0" cy="502919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83579" y="2034540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943599" y="2537460"/>
            <a:ext cx="201168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19" y="25374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최고의 아이디어도 공유하면 불리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3559" y="2537459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783579" y="2537459"/>
            <a:ext cx="0" cy="251461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783579" y="2788920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011679" y="3726179"/>
            <a:ext cx="1463040" cy="6400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399" y="3726179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정치의
제도화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691639" y="4046220"/>
            <a:ext cx="160021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51660" y="4046219"/>
            <a:ext cx="0" cy="1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851660" y="4046219"/>
            <a:ext cx="160019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794759" y="3771900"/>
            <a:ext cx="182880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79" y="377190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정치가 경력개발의 핵심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474720" y="4046219"/>
            <a:ext cx="160019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634739" y="4046219"/>
            <a:ext cx="0" cy="1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634739" y="4046220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943599" y="3291839"/>
            <a:ext cx="201168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89319" y="3291839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"management by character assassination"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23559" y="4046220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783579" y="3543299"/>
            <a:ext cx="0" cy="502921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783579" y="3543299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943599" y="4046220"/>
            <a:ext cx="201168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9319" y="40462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"kiss enough ass so they'll approve"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23559" y="4046220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783579" y="4046220"/>
            <a:ext cx="0" cy="25146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783579" y="4297680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011679" y="5234940"/>
            <a:ext cx="1463040" cy="6400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399" y="52349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혁신 억압 +
인재 유출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691639" y="4046220"/>
            <a:ext cx="160021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851660" y="4046220"/>
            <a:ext cx="0" cy="1508759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851660" y="5554979"/>
            <a:ext cx="160019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3794759" y="5280660"/>
            <a:ext cx="182880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40479" y="52806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관료적 의사결정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474720" y="5554979"/>
            <a:ext cx="160019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634739" y="5554979"/>
            <a:ext cx="0" cy="1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634739" y="5554980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5943599" y="4800600"/>
            <a:ext cx="201168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89319" y="48006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"designing software by committee"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623559" y="5554980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783579" y="5052060"/>
            <a:ext cx="0" cy="50292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83579" y="5052060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5943599" y="5554980"/>
            <a:ext cx="201168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89319" y="55549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Google 등으로 핵심 인재 이탈 가속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623559" y="5554980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783579" y="5554980"/>
            <a:ext cx="0" cy="25146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783579" y="5806440"/>
            <a:ext cx="160020" cy="0"/>
          </a:xfrm>
          <a:prstGeom prst="line">
            <a:avLst/>
          </a:prstGeom>
          <a:ln w="762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8000" b="1" i="0">
                <a:solidFill>
                  <a:srgbClr val="2E9BD6"/>
                </a:solidFill>
                <a:latin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14600"/>
            <a:ext cx="711677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1A1A1A"/>
                </a:solidFill>
                <a:latin typeface="Malgun Gothic"/>
              </a:rPr>
              <a:t>변화의 동인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3794760"/>
            <a:ext cx="1463039" cy="0"/>
          </a:xfrm>
          <a:prstGeom prst="line">
            <a:avLst/>
          </a:prstGeom>
          <a:ln w="3175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3440" y="3931920"/>
            <a:ext cx="71167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888888"/>
                </a:solidFill>
                <a:latin typeface="Malgun Gothic"/>
              </a:rPr>
              <a:t>Satya Nadella — 내부자의 외부 시선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왜 Nadella인가 — 변혁을 이끈 5가지 자원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LBS128 Case p.3-5 / 히트 리프레시 p.28-29, p.118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Malgun Gothic"/>
              </a:rPr>
              <a:t>[Insert subtitle]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69164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734537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Description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1560" y="1984248"/>
            <a:ext cx="1072865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1480" y="2057400"/>
            <a:ext cx="11368735" cy="84124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272284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7228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340864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22년 내부자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703320" y="2350008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313432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1992년 입사, Cloud &amp; Enterprise EVP. 맥락을 깊이 이해하되 고착되지 않은 리더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113532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1135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82112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학습 지향 경력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703320" y="3191256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154679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Bing 등 리스크 큰 보직 자발 수행 — "거절하기 어려운 학습 기회" (Case p.3)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39896"/>
            <a:ext cx="11368735" cy="84124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2920" y="3954780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547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023359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공감(Empathy)의 체화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703320" y="4032504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3995928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장남 Zain의 뇌성마비 → "삶의 부침을 통해서만 공감 능력을 발전시킬 수 있다" (p.28)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4796028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7960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864607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Growth Mindset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703320" y="4873752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837176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아내 Anu가 추천한 Carol Dweck 『Mindset』 → Microsoft 변혁의 이론적 기반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422392"/>
            <a:ext cx="11368735" cy="84124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2920" y="5637276"/>
            <a:ext cx="411480" cy="411480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63727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705855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경청의 첫 1년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703320" y="5715000"/>
            <a:ext cx="411480" cy="256032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5678424"/>
            <a:ext cx="734537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모든 레벨 수백 명 인터뷰 + 익명 포커스 그룹. "Why does Microsoft exist?"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경청의 리더십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8400" b="1" i="0">
                <a:solidFill>
                  <a:srgbClr val="2E9BD6"/>
                </a:solidFill>
                <a:latin typeface="Malgun Gothic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9494215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0" i="0">
                <a:solidFill>
                  <a:srgbClr val="1A1A1A"/>
                </a:solidFill>
                <a:latin typeface="Malgun Gothic"/>
              </a:rPr>
              <a:t>경청은 내가 매일 실천한 가장 중요한 과제였다. 앞으로 몇 년간 내 리더십의 기초를 다질 요소였기 때문이다.
직원들은 다시 선도(lead)하는 회사를 원했다. 따라가는 것이 아니라.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5440680"/>
            <a:ext cx="548640" cy="0"/>
          </a:xfrm>
          <a:prstGeom prst="line">
            <a:avLst/>
          </a:prstGeom>
          <a:ln w="2540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0" y="5532120"/>
            <a:ext cx="949421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Satya Nadella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852160"/>
            <a:ext cx="9494215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88888"/>
                </a:solidFill>
                <a:latin typeface="Malgun Gothic"/>
              </a:rPr>
              <a:t>히트 리프레시 p.118 / LBS128 Case p.4-5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8000" b="1" i="0">
                <a:solidFill>
                  <a:srgbClr val="2E9BD6"/>
                </a:solidFill>
                <a:latin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14600"/>
            <a:ext cx="711677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1A1A1A"/>
                </a:solidFill>
                <a:latin typeface="Malgun Gothic"/>
              </a:rPr>
              <a:t>To-Be 재설계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3794760"/>
            <a:ext cx="1463039" cy="0"/>
          </a:xfrm>
          <a:prstGeom prst="line">
            <a:avLst/>
          </a:prstGeom>
          <a:ln w="3175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3440" y="3931920"/>
            <a:ext cx="71167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888888"/>
                </a:solidFill>
                <a:latin typeface="Malgun Gothic"/>
              </a:rPr>
              <a:t>Growth Mindset 조직으로의 전환:
Know-it-all → Learn-it-all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Carol Dweck의 Mindset → Microsoft 조직 적용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Carol Dweck, Mindset (2006) / LBS128 Case p.6-7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7160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Malgun Gothic"/>
              </a:rPr>
              <a:t>"a fixed mindset will limit you and a growth mindset can move you forward" (Case p.7)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37360"/>
            <a:ext cx="219456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201167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Criteria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737360"/>
            <a:ext cx="4587087" cy="50292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737360"/>
            <a:ext cx="44042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Fixed Mindset (As-Is)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3127" y="1737360"/>
            <a:ext cx="4587087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4567" y="1737360"/>
            <a:ext cx="44042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Growth Mindset (To-Be)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240280"/>
            <a:ext cx="9174175" cy="7863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40280"/>
            <a:ext cx="2011679" cy="7863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핵심 신념</a:t>
            </a:r>
          </a:p>
        </p:txBody>
      </p:sp>
      <p:sp>
        <p:nvSpPr>
          <p:cNvPr id="19" name="Oval 18"/>
          <p:cNvSpPr/>
          <p:nvPr/>
        </p:nvSpPr>
        <p:spPr>
          <a:xfrm>
            <a:off x="4693843" y="229057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2697480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능력은 타고난 것, 고정적</a:t>
            </a:r>
          </a:p>
        </p:txBody>
      </p:sp>
      <p:sp>
        <p:nvSpPr>
          <p:cNvPr id="21" name="Oval 20"/>
          <p:cNvSpPr/>
          <p:nvPr/>
        </p:nvSpPr>
        <p:spPr>
          <a:xfrm>
            <a:off x="9280931" y="229057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290572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4567" y="2697480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능력은 노력으로 성장 가능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3026664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3026664"/>
            <a:ext cx="2011679" cy="7863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실패 대응</a:t>
            </a:r>
          </a:p>
        </p:txBody>
      </p:sp>
      <p:sp>
        <p:nvSpPr>
          <p:cNvPr id="26" name="Oval 25"/>
          <p:cNvSpPr/>
          <p:nvPr/>
        </p:nvSpPr>
        <p:spPr>
          <a:xfrm>
            <a:off x="4693843" y="3076956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3483864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회피·은폐·남 탓</a:t>
            </a:r>
          </a:p>
        </p:txBody>
      </p:sp>
      <p:sp>
        <p:nvSpPr>
          <p:cNvPr id="28" name="Oval 27"/>
          <p:cNvSpPr/>
          <p:nvPr/>
        </p:nvSpPr>
        <p:spPr>
          <a:xfrm>
            <a:off x="9280931" y="3076956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80931" y="3076956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84567" y="3483864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학습 기회로 활용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80" y="3813048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606040" y="3813048"/>
            <a:ext cx="9174175" cy="7863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813048"/>
            <a:ext cx="2011679" cy="7863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도전 태도</a:t>
            </a:r>
          </a:p>
        </p:txBody>
      </p:sp>
      <p:sp>
        <p:nvSpPr>
          <p:cNvPr id="34" name="Oval 33"/>
          <p:cNvSpPr/>
          <p:nvPr/>
        </p:nvSpPr>
        <p:spPr>
          <a:xfrm>
            <a:off x="4693843" y="386334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93843" y="386334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99583" y="3858768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89271" y="4069080"/>
            <a:ext cx="210312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693843" y="3863340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4270248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익숙한 것만 고수</a:t>
            </a:r>
          </a:p>
        </p:txBody>
      </p:sp>
      <p:sp>
        <p:nvSpPr>
          <p:cNvPr id="40" name="Oval 39"/>
          <p:cNvSpPr/>
          <p:nvPr/>
        </p:nvSpPr>
        <p:spPr>
          <a:xfrm>
            <a:off x="9280931" y="386334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80931" y="386334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84567" y="4270248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새로운 도전 추구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11480" y="4599432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4599432"/>
            <a:ext cx="2011679" cy="7863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타인의 성공</a:t>
            </a:r>
          </a:p>
        </p:txBody>
      </p:sp>
      <p:sp>
        <p:nvSpPr>
          <p:cNvPr id="45" name="Oval 44"/>
          <p:cNvSpPr/>
          <p:nvPr/>
        </p:nvSpPr>
        <p:spPr>
          <a:xfrm>
            <a:off x="4693843" y="4649724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7480" y="5056632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위협으로 인식 → 내부 경쟁</a:t>
            </a:r>
          </a:p>
        </p:txBody>
      </p:sp>
      <p:sp>
        <p:nvSpPr>
          <p:cNvPr id="47" name="Oval 46"/>
          <p:cNvSpPr/>
          <p:nvPr/>
        </p:nvSpPr>
        <p:spPr>
          <a:xfrm>
            <a:off x="9280931" y="4649724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80931" y="4649724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84567" y="5056632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영감의 원천 → 협업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11480" y="5385816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606040" y="5385816"/>
            <a:ext cx="9174175" cy="7863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385816"/>
            <a:ext cx="2011679" cy="7863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조직 문화</a:t>
            </a:r>
          </a:p>
        </p:txBody>
      </p:sp>
      <p:sp>
        <p:nvSpPr>
          <p:cNvPr id="53" name="Oval 52"/>
          <p:cNvSpPr/>
          <p:nvPr/>
        </p:nvSpPr>
        <p:spPr>
          <a:xfrm>
            <a:off x="4693843" y="5436108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97480" y="5843016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Know-it-all (증명하라)</a:t>
            </a:r>
          </a:p>
        </p:txBody>
      </p:sp>
      <p:sp>
        <p:nvSpPr>
          <p:cNvPr id="55" name="Oval 54"/>
          <p:cNvSpPr/>
          <p:nvPr/>
        </p:nvSpPr>
        <p:spPr>
          <a:xfrm>
            <a:off x="9280931" y="5436108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80931" y="5436108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84567" y="5843016"/>
            <a:ext cx="440420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Learn-it-all (배워라)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11480" y="6172200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193127" y="6217920"/>
            <a:ext cx="458708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1" i="0">
                <a:solidFill>
                  <a:srgbClr val="2E9BD6"/>
                </a:solidFill>
                <a:latin typeface="Malgun Gothic"/>
              </a:rPr>
              <a:t>★ Recommended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새 미션 + Growth Mindset 3대 Pillar — "To empower every person and every organisation on the planet to achieve more"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Culture Cabinet: Hogan CPO 주도, 180명 임원 → 17개 팀, Dweck 자문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LBS128 Case p.7-9 / 히트 리프레시 p.152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7160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371600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371600"/>
            <a:ext cx="350489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Examples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1664208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1480" y="1828800"/>
            <a:ext cx="1554480" cy="1219199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828800"/>
            <a:ext cx="1554480" cy="12191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Customer
Obsession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783080"/>
            <a:ext cx="5943600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고객의 미충족·비명시적 니즈에 대한 호기심과 경청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책상에서 일어나 현장으로 — 고객의 문제를 직접 체험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83080"/>
            <a:ext cx="3504895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오스트리아 GM Ritz: 경찰서 1주일, 병원 2일 현장 관찰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2015 임원 리트릿에서 고객 방문 의무화 → 전환점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" y="323088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1480" y="3322319"/>
            <a:ext cx="1554480" cy="1219199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22319"/>
            <a:ext cx="1554480" cy="12191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Diversity &amp;
Inclusion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276599"/>
            <a:ext cx="5943600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"지구를 섬기려면 지구를 반영하라"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포용은 훈련이 아니라 시니어 리더의 행동 모델링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276599"/>
            <a:ext cx="3504895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다양성 목표 수치화, 시니어 매니저 보너스에 연계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10가지 포용 행동 리스트 배포 — 하나를 골라 토론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" y="4724399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4815839"/>
            <a:ext cx="1554480" cy="1219199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815839"/>
            <a:ext cx="1554480" cy="12191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One
Microsoft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770119"/>
            <a:ext cx="5943600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"봉건 영주국의 연합이 아닌 하나의 회사"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혁신과 경쟁은 사일로를 존중하지 않는다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770119"/>
            <a:ext cx="3504895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OneWeek 해커톤: 부서 횡단 팀, 우수작 실제 프로젝트화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SLT를 '나의 First Team'으로 인식하라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제도 재설계: Stack Ranking → 상시 피드백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"We never believed one thing would change the company. It would be a lot of things, big and small" — Nichols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LBS128 Case p.8-9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272887" cy="50292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0900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As-Is: Stack Ranking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2728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11679"/>
            <a:ext cx="49071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6개월마다 강제 서열화 (top ~ poor)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강제 분포: 10명 중 1명 必 poor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알고리즘이 등급 → 보상 자동 결정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목적: 분류와 도태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결과: 제로섬 경쟁, 협업 파괴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327" y="1371600"/>
            <a:ext cx="5272887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0207" y="1371600"/>
            <a:ext cx="50900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To-Be: Continuous Feedback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07327" y="1874519"/>
            <a:ext cx="52728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0207" y="2011679"/>
            <a:ext cx="49071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상시 피드백과 코칭 중심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절대적 기여도 + 성장 가능성 평가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매니저 재량 보상 예산 배분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목적: 성장과 개발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결과: 심리적 안전감, 협업 촉진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75807" y="3451860"/>
            <a:ext cx="640080" cy="731520"/>
          </a:xfrm>
          <a:prstGeom prst="rightArrow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경쟁가치모형(CVF): 문화 유형 전환 — Cameron &amp; Quinn 4유형 가중치 변화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Market 성과를 버린 게 아니라 Clan·Adhocracy 축을 보강해 균형 재편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Cameron &amp; Quinn 경쟁가치모형 (CVF) / 분석자 매핑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BFBFBF"/>
                </a:solidFill>
                <a:latin typeface="Malgun Gothic"/>
              </a:rPr>
              <a:t>[Description]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600200"/>
            <a:ext cx="777239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783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Malgun Gothic"/>
              </a:rPr>
              <a:t>[Data], </a:t>
            </a:r>
            <a:r>
              <a:rPr sz="1400">
                <a:solidFill>
                  <a:srgbClr val="BFBFBF"/>
                </a:solidFill>
                <a:latin typeface="Malgun Gothic"/>
              </a:rPr>
              <a:t>[Unit]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3" y="1783080"/>
            <a:ext cx="95097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Nadella To-Be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0295" y="1828800"/>
            <a:ext cx="201168" cy="13716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59" y="1783080"/>
            <a:ext cx="95097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Ballmer As-Is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05271" y="1828800"/>
            <a:ext cx="201168" cy="13716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14400" y="5715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5623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53721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52806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10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50292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49377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20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46863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" y="45948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30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3434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42519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40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40005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1480" y="39090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50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6576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35661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60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33147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" y="32232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70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29718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28803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80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26289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" y="25374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90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4400" y="2286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194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72360" y="2800350"/>
            <a:ext cx="605647" cy="291465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5200" y="2544318"/>
            <a:ext cx="8799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85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45302" y="4686300"/>
            <a:ext cx="605647" cy="102870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08142" y="4430268"/>
            <a:ext cx="8799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788152"/>
            <a:ext cx="18859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Hierarchy
(위계·통제)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66870" y="2628900"/>
            <a:ext cx="605647" cy="30861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29710" y="2372868"/>
            <a:ext cx="8799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90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39812" y="4000500"/>
            <a:ext cx="605647" cy="171450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2652" y="3744468"/>
            <a:ext cx="8799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63190" y="5788152"/>
            <a:ext cx="18859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Market
(경쟁·성과)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61380" y="5029200"/>
            <a:ext cx="605647" cy="6858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24220" y="4773168"/>
            <a:ext cx="8799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34322" y="2971800"/>
            <a:ext cx="605647" cy="274320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97162" y="2715768"/>
            <a:ext cx="8799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80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57700" y="5788152"/>
            <a:ext cx="18859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Clan
(협력·팀워크)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55890" y="5200650"/>
            <a:ext cx="605647" cy="51435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18730" y="4944618"/>
            <a:ext cx="8799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28832" y="2800350"/>
            <a:ext cx="605647" cy="291465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91672" y="2544318"/>
            <a:ext cx="87996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85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52209" y="5788152"/>
            <a:ext cx="18859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Adhocracy
(혁신·모험)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503920" y="1783080"/>
            <a:ext cx="0" cy="443484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641080" y="17373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BFBFBF"/>
                </a:solidFill>
                <a:latin typeface="Malgun Gothic"/>
              </a:rPr>
              <a:t>[Key takeaways/main conclusion]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641080" y="2057400"/>
            <a:ext cx="315467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641080" y="2286000"/>
            <a:ext cx="3154680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8000" b="1" i="0">
                <a:solidFill>
                  <a:srgbClr val="2E9BD6"/>
                </a:solidFill>
                <a:latin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14600"/>
            <a:ext cx="711677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1A1A1A"/>
                </a:solidFill>
                <a:latin typeface="Malgun Gothic"/>
              </a:rPr>
              <a:t>실행 메커니즘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3794760"/>
            <a:ext cx="1463039" cy="0"/>
          </a:xfrm>
          <a:prstGeom prst="line">
            <a:avLst/>
          </a:prstGeom>
          <a:ln w="3175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3440" y="3931920"/>
            <a:ext cx="71167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888888"/>
                </a:solidFill>
                <a:latin typeface="Malgun Gothic"/>
              </a:rPr>
              <a:t>12.5만 명을 어떻게 움직였는가:
Kotter 변화관리 + Schein 문화 리더십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Kotter 변화관리 8단계 × Nadella 행보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Kotter 8-Step Change Model (1996) / LBS128 Case p.4-10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Malgun Gothic"/>
              </a:rPr>
              <a:t>[Insert subtitle]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74519"/>
            <a:ext cx="2670733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BFBFBF"/>
                </a:solidFill>
                <a:latin typeface="Malgun Gothic"/>
              </a:rPr>
              <a:t>[TIMELINE]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03120"/>
            <a:ext cx="2670733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E9BD6"/>
                </a:solidFill>
                <a:latin typeface="Malgun Gothic"/>
              </a:rPr>
              <a:t>Phase 1
위기감+연합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00501" y="2240279"/>
            <a:ext cx="164592" cy="164592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514600"/>
            <a:ext cx="2670733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Kotter ①②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657600"/>
            <a:ext cx="26707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Key 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31920"/>
            <a:ext cx="2670733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① '잃어버린 10년' 직시 — Exhibit 3 조직도 공유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② SLT 재구성: Nichols(비서실장), Hogan(CPO), Johnson(사업개발), DelBene(CSO)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Culture Cabinet: 180명 임원 → 17개 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440680"/>
            <a:ext cx="26707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715000"/>
            <a:ext cx="2670733" cy="548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"SLT를 나의 First Team으로 인식하라"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"공통 세계관을 공유하는 응집력 있는 팀"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813" y="1874519"/>
            <a:ext cx="2670733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BFBFBF"/>
                </a:solidFill>
                <a:latin typeface="Malgun Gothic"/>
              </a:rPr>
              <a:t>[TIMELINE]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813" y="2103120"/>
            <a:ext cx="2670733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E9BD6"/>
                </a:solidFill>
                <a:latin typeface="Malgun Gothic"/>
              </a:rPr>
              <a:t>Phase 2
비전 수립·전파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99835" y="2240279"/>
            <a:ext cx="164592" cy="164592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813" y="2514600"/>
            <a:ext cx="2670733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Kotter ③④ 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813" y="3657600"/>
            <a:ext cx="26707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Key activities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813" y="3931920"/>
            <a:ext cx="2670733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③ 새 미션: "To empower every person...to achieve more"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③ Growth Mindset 3 Pillar 정의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④ 월간 CEO Top Learnings 영상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④ 『히트 리프레시』 전 직원 배포 + 편지 동봉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813" y="5440680"/>
            <a:ext cx="26707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Outcomes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813" y="5715000"/>
            <a:ext cx="2670733" cy="548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Know-it-all → Learn-it-all 언어 확산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"Writing it was more for employees" — Nichols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0147" y="1874519"/>
            <a:ext cx="2670733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BFBFBF"/>
                </a:solidFill>
                <a:latin typeface="Malgun Gothic"/>
              </a:rPr>
              <a:t>[TIMELINE]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0147" y="2103120"/>
            <a:ext cx="2670733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E9BD6"/>
                </a:solidFill>
                <a:latin typeface="Malgun Gothic"/>
              </a:rPr>
              <a:t>Phase 3
장애제거·성과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899169" y="2240279"/>
            <a:ext cx="164592" cy="164592"/>
          </a:xfrm>
          <a:prstGeom prst="right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0147" y="2514600"/>
            <a:ext cx="2670733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Kotter ⑤⑥ 단계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0147" y="3657600"/>
            <a:ext cx="26707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Key activities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0147" y="3931920"/>
            <a:ext cx="2670733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⑤ Stack Ranking 폐지 → 상시 피드백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⑤ 사일로 해체, 매니저 재량 보상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⑥ Office on iOS 출시 — 즉각적 문화 시그널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⑥ Linux 포용 — "cancer" → 파트너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0147" y="5440680"/>
            <a:ext cx="26707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Outcomes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0147" y="5715000"/>
            <a:ext cx="2670733" cy="548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"행동이 말을 증명한다" — 구체적 의사결정으로 비전 실현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Windows 10 글로벌 론칭: 케냐 작은 마을에서 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09481" y="1874519"/>
            <a:ext cx="2670733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BFBFBF"/>
                </a:solidFill>
                <a:latin typeface="Malgun Gothic"/>
              </a:rPr>
              <a:t>[TIMELINE]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9481" y="2103120"/>
            <a:ext cx="2670733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E9BD6"/>
                </a:solidFill>
                <a:latin typeface="Malgun Gothic"/>
              </a:rPr>
              <a:t>Phase 4
확산·정착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9481" y="2514600"/>
            <a:ext cx="2670733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Kotter ⑦⑧ 단계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9481" y="3657600"/>
            <a:ext cx="26707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Key activities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9481" y="3931920"/>
            <a:ext cx="2670733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⑦ OneWeek 해커톤 정례화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⑦ 고객 현장 방문 임원 의무화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⑧ 넛지: 엘리베이터 '聽', 냅킨 '평생 학습자'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⑧ 회의 마무리 리플렉션: Growth인가 Fixed인가?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09481" y="5440680"/>
            <a:ext cx="267073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Outcomes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09481" y="5715000"/>
            <a:ext cx="2670733" cy="548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"존재의 방식"으로 내재화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"변혁은 하나의 큰 조치가 아니라 수많은 것들이 강화" — Nichols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Schein 문화 3수준 변혁 매핑 + CEO Role Modeling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"진정 훌륭한 리더의 가장 중요한 역할은 문화를 창조하고 관리하는 것" — Schein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Edgar Schein, Organizational Culture &amp; Leadership / LBS128 Case p.9-10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7160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371600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371600"/>
            <a:ext cx="350489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Malgun Gothic"/>
              </a:rPr>
              <a:t>Examples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1664208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1480" y="1828800"/>
            <a:ext cx="1554480" cy="1219199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828800"/>
            <a:ext cx="1554480" cy="12191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Artifacts
(가시적 산물)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783080"/>
            <a:ext cx="5943600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As-Is: Stack Ranking 양식, 공격적 Precision Questioning 회의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To-Be: 상시 피드백, OneWeek 해커톤, 넛지(聽·냅킨)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83080"/>
            <a:ext cx="3504895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제도 + 물리적 환경 재설계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"We made big intentional changes that would grab people's attention" — Hogan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1480" y="3230880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1480" y="3322319"/>
            <a:ext cx="1554480" cy="1219199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22319"/>
            <a:ext cx="1554480" cy="12191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Espoused Values
(표방 가치)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276599"/>
            <a:ext cx="5943600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As-Is: "가장 똑똑한 자가 이긴다"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To-Be: Growth Mindset 3 Pillar + 새 미션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276599"/>
            <a:ext cx="3504895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Grace Hopper 사건: 실수를 공개 인정 → 자기 편향 탐구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Tay 챗봇: "Keep pushing, I am with you" → 처벌 아닌 학습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" y="4724399"/>
            <a:ext cx="11368735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11480" y="4815839"/>
            <a:ext cx="1554480" cy="1219199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815839"/>
            <a:ext cx="1554480" cy="12191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Basic Assumptions
(기본 가정)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770119"/>
            <a:ext cx="5943600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As-Is: 능력은 고정, 경쟁이 성과를 만듦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To-Be: 누구나 성장 가능, 학습이 성과를 만듦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770119"/>
            <a:ext cx="3504895" cy="14020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CEO Role Modeling — 취약성 공개가 가장 깊은 수준의 변혁 수단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Hogan: "신뢰가 줄지 않고 오히려 늘었다 — 누구도 비난하지 않았기에"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574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8000" b="1" i="0">
                <a:solidFill>
                  <a:srgbClr val="2E9BD6"/>
                </a:solidFill>
                <a:latin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14600"/>
            <a:ext cx="7116775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1A1A1A"/>
                </a:solidFill>
                <a:latin typeface="Malgun Gothic"/>
              </a:rPr>
              <a:t>성과·시사점·토론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63440" y="3794760"/>
            <a:ext cx="1463039" cy="0"/>
          </a:xfrm>
          <a:prstGeom prst="line">
            <a:avLst/>
          </a:prstGeom>
          <a:ln w="31750">
            <a:solidFill>
              <a:srgbClr val="2E9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3440" y="3931920"/>
            <a:ext cx="711677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888888"/>
                </a:solidFill>
                <a:latin typeface="Malgun Gothic"/>
              </a:rPr>
              <a:t>4년의 성과, 미해결 과제,
그리고 우리에게 던지는 질문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7S 재정렬 종합: As-Is → To-Be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McKinsey 7S Framework / LBS128 Case 종합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Malgun Gothic"/>
              </a:rPr>
              <a:t>[Insert subtitle]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1170432"/>
            <a:ext cx="11405311" cy="329184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Strategy</a:t>
            </a:r>
          </a:p>
        </p:txBody>
      </p:sp>
      <p:sp>
        <p:nvSpPr>
          <p:cNvPr id="15" name="Oval 14"/>
          <p:cNvSpPr/>
          <p:nvPr/>
        </p:nvSpPr>
        <p:spPr>
          <a:xfrm>
            <a:off x="984482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4482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Windows 방어 → Cloud-first, Mobile-first,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1260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51260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2700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Structure</a:t>
            </a:r>
          </a:p>
        </p:txBody>
      </p:sp>
      <p:sp>
        <p:nvSpPr>
          <p:cNvPr id="21" name="Oval 20"/>
          <p:cNvSpPr/>
          <p:nvPr/>
        </p:nvSpPr>
        <p:spPr>
          <a:xfrm>
            <a:off x="2624262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4262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2700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제품별 사일로 → One Microsoft (횡단 협업)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91040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91040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82480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Systems</a:t>
            </a:r>
          </a:p>
        </p:txBody>
      </p:sp>
      <p:sp>
        <p:nvSpPr>
          <p:cNvPr id="27" name="Oval 26"/>
          <p:cNvSpPr/>
          <p:nvPr/>
        </p:nvSpPr>
        <p:spPr>
          <a:xfrm>
            <a:off x="4264043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4043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2480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Stack Ranking → 상시 피드백, 매니저 재량 보상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0821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30821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22261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Style</a:t>
            </a:r>
          </a:p>
        </p:txBody>
      </p:sp>
      <p:sp>
        <p:nvSpPr>
          <p:cNvPr id="33" name="Oval 32"/>
          <p:cNvSpPr/>
          <p:nvPr/>
        </p:nvSpPr>
        <p:spPr>
          <a:xfrm>
            <a:off x="5903823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03823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22261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Precision Questioning → 경청·호기심·포용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70601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70601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62041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Staff</a:t>
            </a:r>
          </a:p>
        </p:txBody>
      </p:sp>
      <p:sp>
        <p:nvSpPr>
          <p:cNvPr id="39" name="Oval 38"/>
          <p:cNvSpPr/>
          <p:nvPr/>
        </p:nvSpPr>
        <p:spPr>
          <a:xfrm>
            <a:off x="7543604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604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2041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정치적 생존자 → 다양성 + 학습 지향 인재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10382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10382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01822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Skills</a:t>
            </a:r>
          </a:p>
        </p:txBody>
      </p:sp>
      <p:sp>
        <p:nvSpPr>
          <p:cNvPr id="45" name="Oval 44"/>
          <p:cNvSpPr/>
          <p:nvPr/>
        </p:nvSpPr>
        <p:spPr>
          <a:xfrm>
            <a:off x="9183384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3384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1822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PC 소프트웨어 → Cloud·AI·파트너십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50162" y="2331720"/>
            <a:ext cx="1530052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50162" y="2331720"/>
            <a:ext cx="1530052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41602" y="2331720"/>
            <a:ext cx="134717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Shared Values</a:t>
            </a:r>
          </a:p>
        </p:txBody>
      </p:sp>
      <p:sp>
        <p:nvSpPr>
          <p:cNvPr id="51" name="Oval 50"/>
          <p:cNvSpPr/>
          <p:nvPr/>
        </p:nvSpPr>
        <p:spPr>
          <a:xfrm>
            <a:off x="10823164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823164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Malgun Gothic"/>
              </a:rPr>
              <a:t>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41602" y="2834639"/>
            <a:ext cx="1347172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Malgun Gothic"/>
              </a:rPr>
              <a:t>Know-it-all → Growth Mindset (Learn-it-all)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5486399"/>
            <a:ext cx="2194560" cy="6400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486399"/>
            <a:ext cx="2011679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FFFFFF"/>
                </a:solidFill>
                <a:latin typeface="Malgun Gothic"/>
              </a:rPr>
              <a:t>7요소를 'Cloud·Empowerment' 축으로 동시 재정렬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Nadella 4년차 성과 (2018 케이스 시점)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LBS128 Case p.10-11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시가총액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$700B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2900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주가 사상 최고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85031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10년 정체 → 급등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018" y="178308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62018" y="178308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4898" y="196596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Azure 점유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4898" y="228600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95%+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4898" y="342900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Fortune 500 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4898" y="3685031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글로벌 50개 리전 발표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2556" y="178308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12556" y="178308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5436" y="196596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CEO 지지율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5436" y="228600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5436" y="342900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29% → 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5436" y="3685031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Glassdoor 기준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11480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11480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29768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인재 흐름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61772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Top 5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607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유출 → 유입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016752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최고 엔지니어 인재의 자석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2018" y="411480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2018" y="411480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4898" y="429768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외부 관계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4898" y="461772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4898" y="57607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Linux 포용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4898" y="6016752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"cancer" → 파트너십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2556" y="4114800"/>
            <a:ext cx="3667658" cy="214883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12556" y="4114800"/>
            <a:ext cx="3667658" cy="914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95436" y="4297680"/>
            <a:ext cx="330189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Malgun Gothic"/>
              </a:rPr>
              <a:t>M&amp;A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5436" y="4617720"/>
            <a:ext cx="3301898" cy="10515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0A1F3D"/>
                </a:solidFill>
                <a:latin typeface="Malgun Gothic"/>
              </a:rPr>
              <a:t>$26B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5436" y="57607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Malgun Gothic"/>
              </a:rPr>
              <a:t>▲ </a:t>
            </a:r>
            <a:r>
              <a:rPr sz="1200" b="1">
                <a:solidFill>
                  <a:srgbClr val="4CAF50"/>
                </a:solidFill>
                <a:latin typeface="Malgun Gothic"/>
              </a:rPr>
              <a:t>LinkedIn 인수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5436" y="6016752"/>
            <a:ext cx="33018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5억 전문가 + Office 365 통합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미해결 과제: Missing Middle + Growth Mindset 오용 위험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Malgun Gothic"/>
              </a:rPr>
              <a:t>Source: LBS128 Case p.11 / 히트 리프레시 p.173-174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501487" cy="5029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긍정적 성과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320040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Malgun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57400"/>
            <a:ext cx="4769967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직원들은 회사가 올바른 방향으로 가고 있다고 응답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63239"/>
            <a:ext cx="320040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Malgun Gothic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63239"/>
            <a:ext cx="4769967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부서 간 협업이 늘었다는 인식 확산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69079"/>
            <a:ext cx="320040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Malgun Gothic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69079"/>
            <a:ext cx="4769967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CEO 지지율 95%, 인재 유입 반전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74919"/>
            <a:ext cx="320040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Malgun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74919"/>
            <a:ext cx="4769967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"문화 쇄신을 위한 에너지는 우리 내부에 존재했다. 둑을 무너뜨려 변화가 흐르게 했다" (p.162)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1371600"/>
            <a:ext cx="5501487" cy="502920"/>
          </a:xfrm>
          <a:prstGeom prst="rect">
            <a:avLst/>
          </a:prstGeom>
          <a:solidFill>
            <a:srgbClr val="E0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미해결 과제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727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1607" y="2057400"/>
            <a:ext cx="320040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Malgun Gothic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7367" y="2057400"/>
            <a:ext cx="4769967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Missing Middle: 중간관리자(VP/그룹 리더) 인재 이동·개발 지표 오히려 악화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3063239"/>
            <a:ext cx="320040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Malgun Gothic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7367" y="3063239"/>
            <a:ext cx="4769967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"Employees and senior leaders were on board, but we had a missing link — middle management" (Case p.11)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4069079"/>
            <a:ext cx="320040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Malgun Gothic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7367" y="4069079"/>
            <a:ext cx="4769967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Growth Mindset 오용: 한 매니저가 "팀원 5명이 GM이 없다"고 보고 → Nadella 일갈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1607" y="5074919"/>
            <a:ext cx="320040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Malgun Gothic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7367" y="5074919"/>
            <a:ext cx="4769967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"쓰레기통에서 보석을 찾아야 합니다" — 새 언어가 오래된 정치 행동을 포장할 위험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Malgun Gothic"/>
              </a:rPr>
              <a:t>MS Culture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Malgun Gothic"/>
              </a:rPr>
              <a:t>토론 주제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Malgun Gothic"/>
              </a:rPr>
              <a:t>ⓒ 2026 Konkuk MBA 32기 이석주  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5074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Q1. 제도의 보편적 선악 vs 맥락 적합성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Stack Ranking은 GE(Case #6)에서는 'A급 인재 육성 엔진'으로 작동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같은 제도의 상반된 결과 — 제도 자체의 문제인가, 적용 맥락의 문제인가?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Q2. Growth Mindset의 구호화(Lip-service) 위험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좋은 문화 언어가 남을 비판하는 도구로 변질될 수 있다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'말장난'으로 끝나지 않으려면 어떤 HRM 장치가 필요한가?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Q3. CEO 카리스마 의존 변혁의 지속가능성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12.5만 명 조직에서 리더 1인 모델링은 얼마나 확장 가능한가?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Nadella 이후에도 문화가 유지될 수 있는가? 제도 vs 리더 개인?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Q4. 한국 기업에의 적용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한국 기업에 Growth Mindset을 이식한다면, 가장 먼저 바꿔야 할 HRM 제도는?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위계적·통제 중심 문화에서 가장 큰 현실적 장벽은 무엇인가?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40080"/>
            <a:ext cx="11368735" cy="0"/>
          </a:xfrm>
          <a:prstGeom prst="line">
            <a:avLst/>
          </a:prstGeom>
          <a:ln w="50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27432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Malgun Gothic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447" y="1417320"/>
            <a:ext cx="868680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[핵심 결론]:</a:t>
            </a:r>
            <a:r>
              <a:rPr sz="2600" b="1">
                <a:solidFill>
                  <a:srgbClr val="FFFFFF"/>
                </a:solidFill>
                <a:latin typeface="Malgun Gothic"/>
              </a:rPr>
              <a:t> 전략·구조·문화·제도의 정합성(Alignment)이 조직 효과성을 결정한다.
Nadella는 미션(말) + 성과관리 개편(제도) + 솔선수범(행동) + 넛지(환경)를
동시에 작동시켜 정합성을 확보했다.
"문화는 아침 식사로 전략을 먹는다." — Peter Drucker
(히트 리프레시 p.138)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9815" y="64922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BFBFBF"/>
                </a:solidFill>
                <a:latin typeface="Malgun Gothic"/>
              </a:rPr>
              <a:t>McKinsey &amp; Company   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