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1417" r:id="rId2"/>
    <p:sldId id="1653" r:id="rId3"/>
    <p:sldId id="1701" r:id="rId4"/>
    <p:sldId id="1698" r:id="rId5"/>
    <p:sldId id="1700" r:id="rId6"/>
    <p:sldId id="1699" r:id="rId7"/>
    <p:sldId id="1702" r:id="rId8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6EE7724-ADEF-4FBC-9EEA-21099F802DBE}">
          <p14:sldIdLst>
            <p14:sldId id="1417"/>
          </p14:sldIdLst>
        </p14:section>
        <p14:section name="Ⅰ. 제안 개요" id="{F454681E-F2E3-4E93-AC11-F974EB3CAB50}">
          <p14:sldIdLst>
            <p14:sldId id="1653"/>
            <p14:sldId id="1701"/>
            <p14:sldId id="1698"/>
            <p14:sldId id="1700"/>
            <p14:sldId id="1699"/>
            <p14:sldId id="1702"/>
          </p14:sldIdLst>
        </p14:section>
        <p14:section name="Ⅱ. 제안 내용" id="{AC1B2239-00C3-463D-86D1-FC367F0FF1F2}">
          <p14:sldIdLst/>
        </p14:section>
        <p14:section name="Ⅲ. 사업 관리 방안" id="{28689D06-61F8-4E8C-9DE9-486C563E1A4D}">
          <p14:sldIdLst/>
        </p14:section>
        <p14:section name="END" id="{6124B909-B8F3-4534-A23A-2DCF574D6A2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orient="horz" pos="4042" userDrawn="1">
          <p15:clr>
            <a:srgbClr val="A4A3A4"/>
          </p15:clr>
        </p15:guide>
        <p15:guide id="4" orient="horz" pos="1185" userDrawn="1">
          <p15:clr>
            <a:srgbClr val="A4A3A4"/>
          </p15:clr>
        </p15:guide>
        <p15:guide id="5" pos="217" userDrawn="1">
          <p15:clr>
            <a:srgbClr val="A4A3A4"/>
          </p15:clr>
        </p15:guide>
        <p15:guide id="6" pos="6046" userDrawn="1">
          <p15:clr>
            <a:srgbClr val="A4A3A4"/>
          </p15:clr>
        </p15:guide>
        <p15:guide id="7" pos="3188" userDrawn="1">
          <p15:clr>
            <a:srgbClr val="A4A3A4"/>
          </p15:clr>
        </p15:guide>
        <p15:guide id="8" pos="3052" userDrawn="1">
          <p15:clr>
            <a:srgbClr val="A4A3A4"/>
          </p15:clr>
        </p15:guide>
        <p15:guide id="9" orient="horz" pos="12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3F3"/>
    <a:srgbClr val="00338D"/>
    <a:srgbClr val="1E49E2"/>
    <a:srgbClr val="5F7DEB"/>
    <a:srgbClr val="AABAF4"/>
    <a:srgbClr val="EAF2FA"/>
    <a:srgbClr val="FFE9E5"/>
    <a:srgbClr val="FFE5E5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327A99-735A-41B6-A00E-64F7C5B4F3AC}" v="19" dt="2026-01-23T22:07:41.2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38" autoAdjust="0"/>
    <p:restoredTop sz="97046" autoAdjust="0"/>
  </p:normalViewPr>
  <p:slideViewPr>
    <p:cSldViewPr snapToGrid="0" showGuides="1">
      <p:cViewPr>
        <p:scale>
          <a:sx n="100" d="100"/>
          <a:sy n="100" d="100"/>
        </p:scale>
        <p:origin x="1218" y="1308"/>
      </p:cViewPr>
      <p:guideLst>
        <p:guide orient="horz" pos="2160"/>
        <p:guide pos="3120"/>
        <p:guide orient="horz" pos="4042"/>
        <p:guide orient="horz" pos="1185"/>
        <p:guide pos="217"/>
        <p:guide pos="6046"/>
        <p:guide pos="3188"/>
        <p:guide pos="3052"/>
        <p:guide orient="horz" pos="12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석주 이" userId="b6553f64e91d015d" providerId="LiveId" clId="{0BC1CC68-5FB1-45E5-A6E2-A4614C9CFE72}"/>
    <pc:docChg chg="undo custSel addSld modSld modSection">
      <pc:chgData name="석주 이" userId="b6553f64e91d015d" providerId="LiveId" clId="{0BC1CC68-5FB1-45E5-A6E2-A4614C9CFE72}" dt="2026-01-23T22:07:58.652" v="147" actId="167"/>
      <pc:docMkLst>
        <pc:docMk/>
      </pc:docMkLst>
      <pc:sldChg chg="add">
        <pc:chgData name="석주 이" userId="b6553f64e91d015d" providerId="LiveId" clId="{0BC1CC68-5FB1-45E5-A6E2-A4614C9CFE72}" dt="2026-01-23T20:44:36.911" v="0"/>
        <pc:sldMkLst>
          <pc:docMk/>
          <pc:sldMk cId="2136318000" sldId="1701"/>
        </pc:sldMkLst>
      </pc:sldChg>
      <pc:sldChg chg="addSp delSp modSp new mod">
        <pc:chgData name="석주 이" userId="b6553f64e91d015d" providerId="LiveId" clId="{0BC1CC68-5FB1-45E5-A6E2-A4614C9CFE72}" dt="2026-01-23T22:07:58.652" v="147" actId="167"/>
        <pc:sldMkLst>
          <pc:docMk/>
          <pc:sldMk cId="475302978" sldId="1702"/>
        </pc:sldMkLst>
        <pc:spChg chg="add mod">
          <ac:chgData name="석주 이" userId="b6553f64e91d015d" providerId="LiveId" clId="{0BC1CC68-5FB1-45E5-A6E2-A4614C9CFE72}" dt="2026-01-23T22:07:41.257" v="141" actId="571"/>
          <ac:spMkLst>
            <pc:docMk/>
            <pc:sldMk cId="475302978" sldId="1702"/>
            <ac:spMk id="2" creationId="{315BBF0F-7F33-F781-09C2-50A7B314A2AD}"/>
          </ac:spMkLst>
        </pc:spChg>
        <pc:spChg chg="add mod">
          <ac:chgData name="석주 이" userId="b6553f64e91d015d" providerId="LiveId" clId="{0BC1CC68-5FB1-45E5-A6E2-A4614C9CFE72}" dt="2026-01-23T22:07:41.257" v="141" actId="571"/>
          <ac:spMkLst>
            <pc:docMk/>
            <pc:sldMk cId="475302978" sldId="1702"/>
            <ac:spMk id="3" creationId="{9D499A11-5EC2-6E37-1771-6AF8826861A2}"/>
          </ac:spMkLst>
        </pc:spChg>
        <pc:spChg chg="add mod">
          <ac:chgData name="석주 이" userId="b6553f64e91d015d" providerId="LiveId" clId="{0BC1CC68-5FB1-45E5-A6E2-A4614C9CFE72}" dt="2026-01-23T22:07:41.257" v="141" actId="571"/>
          <ac:spMkLst>
            <pc:docMk/>
            <pc:sldMk cId="475302978" sldId="1702"/>
            <ac:spMk id="4" creationId="{2B0BE069-CF13-A770-1F88-4A358E1D2C5C}"/>
          </ac:spMkLst>
        </pc:spChg>
        <pc:spChg chg="add mod">
          <ac:chgData name="석주 이" userId="b6553f64e91d015d" providerId="LiveId" clId="{0BC1CC68-5FB1-45E5-A6E2-A4614C9CFE72}" dt="2026-01-23T22:07:41.257" v="141" actId="571"/>
          <ac:spMkLst>
            <pc:docMk/>
            <pc:sldMk cId="475302978" sldId="1702"/>
            <ac:spMk id="5" creationId="{421CAAE9-B73D-0152-BEF7-3C92BB5A1047}"/>
          </ac:spMkLst>
        </pc:spChg>
        <pc:spChg chg="add mod">
          <ac:chgData name="석주 이" userId="b6553f64e91d015d" providerId="LiveId" clId="{0BC1CC68-5FB1-45E5-A6E2-A4614C9CFE72}" dt="2026-01-23T22:07:41.257" v="141" actId="571"/>
          <ac:spMkLst>
            <pc:docMk/>
            <pc:sldMk cId="475302978" sldId="1702"/>
            <ac:spMk id="6" creationId="{12C2B865-73F0-4403-5537-B7B0A49E97EE}"/>
          </ac:spMkLst>
        </pc:spChg>
        <pc:spChg chg="mod">
          <ac:chgData name="석주 이" userId="b6553f64e91d015d" providerId="LiveId" clId="{0BC1CC68-5FB1-45E5-A6E2-A4614C9CFE72}" dt="2026-01-23T22:04:40.331" v="77" actId="571"/>
          <ac:spMkLst>
            <pc:docMk/>
            <pc:sldMk cId="475302978" sldId="1702"/>
            <ac:spMk id="9" creationId="{2C3C5137-E120-47C6-3DEE-DEDD65352968}"/>
          </ac:spMkLst>
        </pc:spChg>
        <pc:spChg chg="mod">
          <ac:chgData name="석주 이" userId="b6553f64e91d015d" providerId="LiveId" clId="{0BC1CC68-5FB1-45E5-A6E2-A4614C9CFE72}" dt="2026-01-23T22:04:40.331" v="77" actId="571"/>
          <ac:spMkLst>
            <pc:docMk/>
            <pc:sldMk cId="475302978" sldId="1702"/>
            <ac:spMk id="10" creationId="{31DB2947-08AA-BDEE-3B5C-1E1619F30DB1}"/>
          </ac:spMkLst>
        </pc:spChg>
        <pc:spChg chg="mod">
          <ac:chgData name="석주 이" userId="b6553f64e91d015d" providerId="LiveId" clId="{0BC1CC68-5FB1-45E5-A6E2-A4614C9CFE72}" dt="2026-01-23T22:04:40.331" v="77" actId="571"/>
          <ac:spMkLst>
            <pc:docMk/>
            <pc:sldMk cId="475302978" sldId="1702"/>
            <ac:spMk id="11" creationId="{AD984C3A-2088-08A3-2EA2-D74963533445}"/>
          </ac:spMkLst>
        </pc:spChg>
        <pc:spChg chg="mod">
          <ac:chgData name="석주 이" userId="b6553f64e91d015d" providerId="LiveId" clId="{0BC1CC68-5FB1-45E5-A6E2-A4614C9CFE72}" dt="2026-01-23T22:04:40.331" v="77" actId="571"/>
          <ac:spMkLst>
            <pc:docMk/>
            <pc:sldMk cId="475302978" sldId="1702"/>
            <ac:spMk id="12" creationId="{B2D3507B-7744-C172-F3EA-5534C4FFAA09}"/>
          </ac:spMkLst>
        </pc:spChg>
        <pc:spChg chg="mod">
          <ac:chgData name="석주 이" userId="b6553f64e91d015d" providerId="LiveId" clId="{0BC1CC68-5FB1-45E5-A6E2-A4614C9CFE72}" dt="2026-01-23T22:04:40.331" v="77" actId="571"/>
          <ac:spMkLst>
            <pc:docMk/>
            <pc:sldMk cId="475302978" sldId="1702"/>
            <ac:spMk id="13" creationId="{0B26E6EA-BF83-015E-0DB3-5961B4A71EC4}"/>
          </ac:spMkLst>
        </pc:spChg>
        <pc:spChg chg="mod">
          <ac:chgData name="석주 이" userId="b6553f64e91d015d" providerId="LiveId" clId="{0BC1CC68-5FB1-45E5-A6E2-A4614C9CFE72}" dt="2026-01-23T22:06:44.951" v="80" actId="571"/>
          <ac:spMkLst>
            <pc:docMk/>
            <pc:sldMk cId="475302978" sldId="1702"/>
            <ac:spMk id="15" creationId="{1C2E735E-1BD1-3DE6-D5E5-768FD74E14CD}"/>
          </ac:spMkLst>
        </pc:spChg>
        <pc:spChg chg="mod">
          <ac:chgData name="석주 이" userId="b6553f64e91d015d" providerId="LiveId" clId="{0BC1CC68-5FB1-45E5-A6E2-A4614C9CFE72}" dt="2026-01-23T22:06:44.951" v="80" actId="571"/>
          <ac:spMkLst>
            <pc:docMk/>
            <pc:sldMk cId="475302978" sldId="1702"/>
            <ac:spMk id="16" creationId="{A9332951-0DBA-3616-9457-22357D1BA623}"/>
          </ac:spMkLst>
        </pc:spChg>
        <pc:spChg chg="mod">
          <ac:chgData name="석주 이" userId="b6553f64e91d015d" providerId="LiveId" clId="{0BC1CC68-5FB1-45E5-A6E2-A4614C9CFE72}" dt="2026-01-23T22:06:44.951" v="80" actId="571"/>
          <ac:spMkLst>
            <pc:docMk/>
            <pc:sldMk cId="475302978" sldId="1702"/>
            <ac:spMk id="17" creationId="{1194E972-DEC7-1C41-B325-8AF81149612E}"/>
          </ac:spMkLst>
        </pc:spChg>
        <pc:spChg chg="mod">
          <ac:chgData name="석주 이" userId="b6553f64e91d015d" providerId="LiveId" clId="{0BC1CC68-5FB1-45E5-A6E2-A4614C9CFE72}" dt="2026-01-23T22:06:44.951" v="80" actId="571"/>
          <ac:spMkLst>
            <pc:docMk/>
            <pc:sldMk cId="475302978" sldId="1702"/>
            <ac:spMk id="18" creationId="{7CAA3C82-81CB-1647-E100-18BFC67300E3}"/>
          </ac:spMkLst>
        </pc:spChg>
        <pc:spChg chg="mod">
          <ac:chgData name="석주 이" userId="b6553f64e91d015d" providerId="LiveId" clId="{0BC1CC68-5FB1-45E5-A6E2-A4614C9CFE72}" dt="2026-01-23T22:06:44.951" v="80" actId="571"/>
          <ac:spMkLst>
            <pc:docMk/>
            <pc:sldMk cId="475302978" sldId="1702"/>
            <ac:spMk id="19" creationId="{5C7E689D-3FA3-8809-6147-4AB6CD5597B3}"/>
          </ac:spMkLst>
        </pc:spChg>
        <pc:spChg chg="add mod">
          <ac:chgData name="석주 이" userId="b6553f64e91d015d" providerId="LiveId" clId="{0BC1CC68-5FB1-45E5-A6E2-A4614C9CFE72}" dt="2026-01-23T22:07:41.257" v="141" actId="571"/>
          <ac:spMkLst>
            <pc:docMk/>
            <pc:sldMk cId="475302978" sldId="1702"/>
            <ac:spMk id="20" creationId="{9A7C2490-78DC-3E1D-77F0-025144737346}"/>
          </ac:spMkLst>
        </pc:spChg>
        <pc:spChg chg="add mod ord">
          <ac:chgData name="석주 이" userId="b6553f64e91d015d" providerId="LiveId" clId="{0BC1CC68-5FB1-45E5-A6E2-A4614C9CFE72}" dt="2026-01-23T22:07:41.257" v="141" actId="571"/>
          <ac:spMkLst>
            <pc:docMk/>
            <pc:sldMk cId="475302978" sldId="1702"/>
            <ac:spMk id="21" creationId="{3649F176-25B9-B1A6-7B7A-50E30AA2B12C}"/>
          </ac:spMkLst>
        </pc:spChg>
        <pc:spChg chg="mod">
          <ac:chgData name="석주 이" userId="b6553f64e91d015d" providerId="LiveId" clId="{0BC1CC68-5FB1-45E5-A6E2-A4614C9CFE72}" dt="2026-01-23T22:07:23.175" v="133" actId="571"/>
          <ac:spMkLst>
            <pc:docMk/>
            <pc:sldMk cId="475302978" sldId="1702"/>
            <ac:spMk id="23" creationId="{83B0EDF0-6BC0-0FCB-36BD-F33250D4ACC2}"/>
          </ac:spMkLst>
        </pc:spChg>
        <pc:spChg chg="mod">
          <ac:chgData name="석주 이" userId="b6553f64e91d015d" providerId="LiveId" clId="{0BC1CC68-5FB1-45E5-A6E2-A4614C9CFE72}" dt="2026-01-23T22:07:23.175" v="133" actId="571"/>
          <ac:spMkLst>
            <pc:docMk/>
            <pc:sldMk cId="475302978" sldId="1702"/>
            <ac:spMk id="24" creationId="{32C9155F-191B-6312-EDBE-36073A05DC4B}"/>
          </ac:spMkLst>
        </pc:spChg>
        <pc:spChg chg="mod">
          <ac:chgData name="석주 이" userId="b6553f64e91d015d" providerId="LiveId" clId="{0BC1CC68-5FB1-45E5-A6E2-A4614C9CFE72}" dt="2026-01-23T22:07:23.175" v="133" actId="571"/>
          <ac:spMkLst>
            <pc:docMk/>
            <pc:sldMk cId="475302978" sldId="1702"/>
            <ac:spMk id="25" creationId="{40FEDCAD-59B9-C2E1-5072-077155E9152E}"/>
          </ac:spMkLst>
        </pc:spChg>
        <pc:spChg chg="mod">
          <ac:chgData name="석주 이" userId="b6553f64e91d015d" providerId="LiveId" clId="{0BC1CC68-5FB1-45E5-A6E2-A4614C9CFE72}" dt="2026-01-23T22:07:23.175" v="133" actId="571"/>
          <ac:spMkLst>
            <pc:docMk/>
            <pc:sldMk cId="475302978" sldId="1702"/>
            <ac:spMk id="26" creationId="{658D4728-68B9-2145-B55F-F4F9E4418E0C}"/>
          </ac:spMkLst>
        </pc:spChg>
        <pc:spChg chg="mod">
          <ac:chgData name="석주 이" userId="b6553f64e91d015d" providerId="LiveId" clId="{0BC1CC68-5FB1-45E5-A6E2-A4614C9CFE72}" dt="2026-01-23T22:07:23.175" v="133" actId="571"/>
          <ac:spMkLst>
            <pc:docMk/>
            <pc:sldMk cId="475302978" sldId="1702"/>
            <ac:spMk id="27" creationId="{0769F87E-B45A-97DE-8F42-C0A08778F314}"/>
          </ac:spMkLst>
        </pc:spChg>
        <pc:spChg chg="mod">
          <ac:chgData name="석주 이" userId="b6553f64e91d015d" providerId="LiveId" clId="{0BC1CC68-5FB1-45E5-A6E2-A4614C9CFE72}" dt="2026-01-23T22:07:23.175" v="133" actId="571"/>
          <ac:spMkLst>
            <pc:docMk/>
            <pc:sldMk cId="475302978" sldId="1702"/>
            <ac:spMk id="28" creationId="{B85D9DCF-A5C4-3529-041A-AD671201EFF9}"/>
          </ac:spMkLst>
        </pc:spChg>
        <pc:spChg chg="mod">
          <ac:chgData name="석주 이" userId="b6553f64e91d015d" providerId="LiveId" clId="{0BC1CC68-5FB1-45E5-A6E2-A4614C9CFE72}" dt="2026-01-23T22:07:23.175" v="133" actId="571"/>
          <ac:spMkLst>
            <pc:docMk/>
            <pc:sldMk cId="475302978" sldId="1702"/>
            <ac:spMk id="29" creationId="{A3BC1B7D-A922-FC23-322A-91BD8D384D9E}"/>
          </ac:spMkLst>
        </pc:spChg>
        <pc:spChg chg="add mod ord">
          <ac:chgData name="석주 이" userId="b6553f64e91d015d" providerId="LiveId" clId="{0BC1CC68-5FB1-45E5-A6E2-A4614C9CFE72}" dt="2026-01-23T22:07:58.652" v="147" actId="167"/>
          <ac:spMkLst>
            <pc:docMk/>
            <pc:sldMk cId="475302978" sldId="1702"/>
            <ac:spMk id="30" creationId="{570A057F-1628-D2CC-DFF2-49EDD548F5EC}"/>
          </ac:spMkLst>
        </pc:spChg>
        <pc:spChg chg="add mod ord">
          <ac:chgData name="석주 이" userId="b6553f64e91d015d" providerId="LiveId" clId="{0BC1CC68-5FB1-45E5-A6E2-A4614C9CFE72}" dt="2026-01-23T22:07:58.652" v="147" actId="167"/>
          <ac:spMkLst>
            <pc:docMk/>
            <pc:sldMk cId="475302978" sldId="1702"/>
            <ac:spMk id="31" creationId="{F5B8E8DC-BFA7-8823-B5CB-195F66A7F04A}"/>
          </ac:spMkLst>
        </pc:spChg>
        <pc:spChg chg="add mod ord">
          <ac:chgData name="석주 이" userId="b6553f64e91d015d" providerId="LiveId" clId="{0BC1CC68-5FB1-45E5-A6E2-A4614C9CFE72}" dt="2026-01-23T22:07:58.652" v="147" actId="167"/>
          <ac:spMkLst>
            <pc:docMk/>
            <pc:sldMk cId="475302978" sldId="1702"/>
            <ac:spMk id="32" creationId="{C22E8576-8360-5324-0F5C-4A1B7E8B28E5}"/>
          </ac:spMkLst>
        </pc:spChg>
        <pc:spChg chg="mod ord">
          <ac:chgData name="석주 이" userId="b6553f64e91d015d" providerId="LiveId" clId="{0BC1CC68-5FB1-45E5-A6E2-A4614C9CFE72}" dt="2026-01-23T22:07:58.652" v="147" actId="167"/>
          <ac:spMkLst>
            <pc:docMk/>
            <pc:sldMk cId="475302978" sldId="1702"/>
            <ac:spMk id="33" creationId="{697870FD-D804-7D71-589D-96CAA7A87778}"/>
          </ac:spMkLst>
        </pc:spChg>
        <pc:spChg chg="add mod ord">
          <ac:chgData name="석주 이" userId="b6553f64e91d015d" providerId="LiveId" clId="{0BC1CC68-5FB1-45E5-A6E2-A4614C9CFE72}" dt="2026-01-23T22:07:58.652" v="147" actId="167"/>
          <ac:spMkLst>
            <pc:docMk/>
            <pc:sldMk cId="475302978" sldId="1702"/>
            <ac:spMk id="34" creationId="{CE5FE6B3-DA48-9021-879B-9B1F06C7CE24}"/>
          </ac:spMkLst>
        </pc:spChg>
        <pc:grpChg chg="add mod">
          <ac:chgData name="석주 이" userId="b6553f64e91d015d" providerId="LiveId" clId="{0BC1CC68-5FB1-45E5-A6E2-A4614C9CFE72}" dt="2026-01-23T22:07:33.257" v="138" actId="571"/>
          <ac:grpSpMkLst>
            <pc:docMk/>
            <pc:sldMk cId="475302978" sldId="1702"/>
            <ac:grpSpMk id="7" creationId="{9D1AF81F-B232-8F2C-0E9B-BF42BCB6AC0E}"/>
          </ac:grpSpMkLst>
        </pc:grpChg>
        <pc:grpChg chg="add del mod">
          <ac:chgData name="석주 이" userId="b6553f64e91d015d" providerId="LiveId" clId="{0BC1CC68-5FB1-45E5-A6E2-A4614C9CFE72}" dt="2026-01-23T22:04:41.748" v="78" actId="478"/>
          <ac:grpSpMkLst>
            <pc:docMk/>
            <pc:sldMk cId="475302978" sldId="1702"/>
            <ac:grpSpMk id="8" creationId="{5636FAF5-763B-C4E7-E02B-98C4A4A515C4}"/>
          </ac:grpSpMkLst>
        </pc:grpChg>
        <pc:grpChg chg="add mod">
          <ac:chgData name="석주 이" userId="b6553f64e91d015d" providerId="LiveId" clId="{0BC1CC68-5FB1-45E5-A6E2-A4614C9CFE72}" dt="2026-01-23T22:06:44.951" v="80" actId="571"/>
          <ac:grpSpMkLst>
            <pc:docMk/>
            <pc:sldMk cId="475302978" sldId="1702"/>
            <ac:grpSpMk id="14" creationId="{719E8CC0-F1B2-C85D-4DC5-2E964B4A02C3}"/>
          </ac:grpSpMkLst>
        </pc:grpChg>
        <pc:grpChg chg="add mod">
          <ac:chgData name="석주 이" userId="b6553f64e91d015d" providerId="LiveId" clId="{0BC1CC68-5FB1-45E5-A6E2-A4614C9CFE72}" dt="2026-01-23T22:07:23.175" v="133" actId="571"/>
          <ac:grpSpMkLst>
            <pc:docMk/>
            <pc:sldMk cId="475302978" sldId="1702"/>
            <ac:grpSpMk id="22" creationId="{F48ED6FB-0ACF-437C-B0A7-04C675FD688B}"/>
          </ac:grpSpMkLst>
        </pc:grpChg>
      </pc:sldChg>
    </pc:docChg>
  </pc:docChgLst>
  <pc:docChgLst>
    <pc:chgData name="석주 이" userId="b6553f64e91d015d" providerId="LiveId" clId="{7E74A06A-B2AA-4EEC-A19D-AA52293F645A}"/>
    <pc:docChg chg="undo custSel modSld">
      <pc:chgData name="석주 이" userId="b6553f64e91d015d" providerId="LiveId" clId="{7E74A06A-B2AA-4EEC-A19D-AA52293F645A}" dt="2026-01-17T04:10:37.478" v="11" actId="14100"/>
      <pc:docMkLst>
        <pc:docMk/>
      </pc:docMkLst>
      <pc:sldChg chg="modSp mod">
        <pc:chgData name="석주 이" userId="b6553f64e91d015d" providerId="LiveId" clId="{7E74A06A-B2AA-4EEC-A19D-AA52293F645A}" dt="2026-01-17T04:10:37.478" v="11" actId="14100"/>
        <pc:sldMkLst>
          <pc:docMk/>
          <pc:sldMk cId="475785776" sldId="1417"/>
        </pc:sldMkLst>
        <pc:spChg chg="mod">
          <ac:chgData name="석주 이" userId="b6553f64e91d015d" providerId="LiveId" clId="{7E74A06A-B2AA-4EEC-A19D-AA52293F645A}" dt="2026-01-17T04:09:29.953" v="8" actId="20577"/>
          <ac:spMkLst>
            <pc:docMk/>
            <pc:sldMk cId="475785776" sldId="1417"/>
            <ac:spMk id="11" creationId="{FA030FDC-8527-45CB-80D8-D1568AF2151D}"/>
          </ac:spMkLst>
        </pc:spChg>
        <pc:spChg chg="mod">
          <ac:chgData name="석주 이" userId="b6553f64e91d015d" providerId="LiveId" clId="{7E74A06A-B2AA-4EEC-A19D-AA52293F645A}" dt="2026-01-17T04:10:37.478" v="11" actId="14100"/>
          <ac:spMkLst>
            <pc:docMk/>
            <pc:sldMk cId="475785776" sldId="1417"/>
            <ac:spMk id="15" creationId="{6B0D7678-64EC-456F-9E89-970DD045ADC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04D8E-7892-426C-B6A5-8317F9C6A4E9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6B67A-88B5-4830-973C-BEAA840FEA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925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kern="12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AB538-D59A-4EEA-A623-683E23FFA106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5252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0E3EC-B33B-C026-E3A4-6E770AB0D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23E78B-6F4B-2E9B-6416-FCFFC7B8B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592DD3-10E0-48D9-C12A-7CE839A9A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kern="12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EAEE53-62E5-93A7-FF57-43A30B6E93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AB538-D59A-4EEA-A623-683E23FFA106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535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9107F-BBD9-4282-9351-5033EB3E35FC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EF97F-C799-4589-9120-264202AEF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933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9107F-BBD9-4282-9351-5033EB3E35FC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EF97F-C799-4589-9120-264202AEF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431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9107F-BBD9-4282-9351-5033EB3E35FC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EF97F-C799-4589-9120-264202AEF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67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9107F-BBD9-4282-9351-5033EB3E35FC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EF97F-C799-4589-9120-264202AEF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55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9107F-BBD9-4282-9351-5033EB3E35FC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EF97F-C799-4589-9120-264202AEF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365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9107F-BBD9-4282-9351-5033EB3E35FC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EF97F-C799-4589-9120-264202AEF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218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9107F-BBD9-4282-9351-5033EB3E35FC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EF97F-C799-4589-9120-264202AEF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148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9107F-BBD9-4282-9351-5033EB3E35FC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EF97F-C799-4589-9120-264202AEF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941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9107F-BBD9-4282-9351-5033EB3E35FC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EF97F-C799-4589-9120-264202AEF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2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9107F-BBD9-4282-9351-5033EB3E35FC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EF97F-C799-4589-9120-264202AEF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175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9107F-BBD9-4282-9351-5033EB3E35FC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EF97F-C799-4589-9120-264202AEF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413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_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32518" y="6492878"/>
            <a:ext cx="440967" cy="365125"/>
          </a:xfrm>
        </p:spPr>
        <p:txBody>
          <a:bodyPr/>
          <a:lstStyle>
            <a:lvl1pPr algn="ctr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</a:lstStyle>
          <a:p>
            <a:r>
              <a:rPr lang="en-US" altLang="ko-KR" dirty="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‹#›</a:t>
            </a:fld>
            <a:r>
              <a:rPr lang="ko-KR" altLang="en-US" dirty="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dirty="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5300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39107F-BBD9-4282-9351-5033EB3E35FC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EF97F-C799-4589-9120-264202AEF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74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A030FDC-8527-45CB-80D8-D1568AF2151D}"/>
              </a:ext>
            </a:extLst>
          </p:cNvPr>
          <p:cNvSpPr txBox="1"/>
          <p:nvPr/>
        </p:nvSpPr>
        <p:spPr>
          <a:xfrm>
            <a:off x="344488" y="1607888"/>
            <a:ext cx="9416115" cy="1821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 latinLnBrk="0"/>
            <a:r>
              <a:rPr lang="ko-KR" altLang="en-US" sz="4000" dirty="0" err="1">
                <a:solidFill>
                  <a:srgbClr val="00338D"/>
                </a:solidFill>
                <a:latin typeface="페이퍼로지 8 ExtraBold" pitchFamily="2" charset="-127"/>
                <a:ea typeface="페이퍼로지 8 ExtraBold" pitchFamily="2" charset="-127"/>
              </a:rPr>
              <a:t>시앤피컨설팅</a:t>
            </a:r>
            <a:r>
              <a:rPr lang="ko-KR" altLang="en-US" sz="4000" dirty="0">
                <a:solidFill>
                  <a:srgbClr val="00338D"/>
                </a:solidFill>
                <a:latin typeface="페이퍼로지 8 ExtraBold" pitchFamily="2" charset="-127"/>
                <a:ea typeface="페이퍼로지 8 ExtraBold" pitchFamily="2" charset="-127"/>
              </a:rPr>
              <a:t> </a:t>
            </a:r>
            <a:r>
              <a:rPr lang="ko-KR" altLang="en-US" sz="4000" dirty="0" err="1">
                <a:solidFill>
                  <a:srgbClr val="00338D"/>
                </a:solidFill>
                <a:latin typeface="페이퍼로지 8 ExtraBold" pitchFamily="2" charset="-127"/>
                <a:ea typeface="페이퍼로지 8 ExtraBold" pitchFamily="2" charset="-127"/>
              </a:rPr>
              <a:t>조직재설계</a:t>
            </a:r>
            <a:endParaRPr lang="en-US" altLang="ko-KR" sz="4000" dirty="0">
              <a:solidFill>
                <a:srgbClr val="00338D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16" name="평행 사변형 15">
            <a:extLst>
              <a:ext uri="{FF2B5EF4-FFF2-40B4-BE49-F238E27FC236}">
                <a16:creationId xmlns:a16="http://schemas.microsoft.com/office/drawing/2014/main" id="{A266CF76-4E81-4DED-8199-C47952099E29}"/>
              </a:ext>
            </a:extLst>
          </p:cNvPr>
          <p:cNvSpPr/>
          <p:nvPr/>
        </p:nvSpPr>
        <p:spPr>
          <a:xfrm flipV="1">
            <a:off x="0" y="6116631"/>
            <a:ext cx="3609921" cy="738273"/>
          </a:xfrm>
          <a:custGeom>
            <a:avLst/>
            <a:gdLst>
              <a:gd name="connsiteX0" fmla="*/ 0 w 4772030"/>
              <a:gd name="connsiteY0" fmla="*/ 610220 h 610220"/>
              <a:gd name="connsiteX1" fmla="*/ 291331 w 4772030"/>
              <a:gd name="connsiteY1" fmla="*/ 0 h 610220"/>
              <a:gd name="connsiteX2" fmla="*/ 4772030 w 4772030"/>
              <a:gd name="connsiteY2" fmla="*/ 0 h 610220"/>
              <a:gd name="connsiteX3" fmla="*/ 4480699 w 4772030"/>
              <a:gd name="connsiteY3" fmla="*/ 610220 h 610220"/>
              <a:gd name="connsiteX4" fmla="*/ 0 w 4772030"/>
              <a:gd name="connsiteY4" fmla="*/ 610220 h 610220"/>
              <a:gd name="connsiteX0" fmla="*/ 3944 w 4480699"/>
              <a:gd name="connsiteY0" fmla="*/ 605458 h 610220"/>
              <a:gd name="connsiteX1" fmla="*/ 0 w 4480699"/>
              <a:gd name="connsiteY1" fmla="*/ 0 h 610220"/>
              <a:gd name="connsiteX2" fmla="*/ 4480699 w 4480699"/>
              <a:gd name="connsiteY2" fmla="*/ 0 h 610220"/>
              <a:gd name="connsiteX3" fmla="*/ 4189368 w 4480699"/>
              <a:gd name="connsiteY3" fmla="*/ 610220 h 610220"/>
              <a:gd name="connsiteX4" fmla="*/ 3944 w 4480699"/>
              <a:gd name="connsiteY4" fmla="*/ 605458 h 610220"/>
              <a:gd name="connsiteX0" fmla="*/ 301 w 4481859"/>
              <a:gd name="connsiteY0" fmla="*/ 605458 h 610220"/>
              <a:gd name="connsiteX1" fmla="*/ 1160 w 4481859"/>
              <a:gd name="connsiteY1" fmla="*/ 0 h 610220"/>
              <a:gd name="connsiteX2" fmla="*/ 4481859 w 4481859"/>
              <a:gd name="connsiteY2" fmla="*/ 0 h 610220"/>
              <a:gd name="connsiteX3" fmla="*/ 4190528 w 4481859"/>
              <a:gd name="connsiteY3" fmla="*/ 610220 h 610220"/>
              <a:gd name="connsiteX4" fmla="*/ 301 w 4481859"/>
              <a:gd name="connsiteY4" fmla="*/ 605458 h 61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81859" h="610220">
                <a:moveTo>
                  <a:pt x="301" y="605458"/>
                </a:moveTo>
                <a:cubicBezTo>
                  <a:pt x="-1014" y="403639"/>
                  <a:pt x="2475" y="201819"/>
                  <a:pt x="1160" y="0"/>
                </a:cubicBezTo>
                <a:lnTo>
                  <a:pt x="4481859" y="0"/>
                </a:lnTo>
                <a:lnTo>
                  <a:pt x="4190528" y="610220"/>
                </a:lnTo>
                <a:lnTo>
                  <a:pt x="301" y="605458"/>
                </a:lnTo>
                <a:close/>
              </a:path>
            </a:pathLst>
          </a:custGeom>
          <a:solidFill>
            <a:srgbClr val="AAB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 dirty="0">
              <a:ea typeface="a고딕12" panose="02020600000000000000" pitchFamily="18" charset="-127"/>
            </a:endParaRPr>
          </a:p>
        </p:txBody>
      </p:sp>
      <p:sp>
        <p:nvSpPr>
          <p:cNvPr id="15" name="평행 사변형 14">
            <a:extLst>
              <a:ext uri="{FF2B5EF4-FFF2-40B4-BE49-F238E27FC236}">
                <a16:creationId xmlns:a16="http://schemas.microsoft.com/office/drawing/2014/main" id="{6B0D7678-64EC-456F-9E89-970DD045ADC2}"/>
              </a:ext>
            </a:extLst>
          </p:cNvPr>
          <p:cNvSpPr/>
          <p:nvPr/>
        </p:nvSpPr>
        <p:spPr>
          <a:xfrm flipV="1">
            <a:off x="197362" y="6116626"/>
            <a:ext cx="9716123" cy="738273"/>
          </a:xfrm>
          <a:custGeom>
            <a:avLst/>
            <a:gdLst>
              <a:gd name="connsiteX0" fmla="*/ 0 w 10517886"/>
              <a:gd name="connsiteY0" fmla="*/ 1179457 h 1179457"/>
              <a:gd name="connsiteX1" fmla="*/ 538552 w 10517886"/>
              <a:gd name="connsiteY1" fmla="*/ 0 h 1179457"/>
              <a:gd name="connsiteX2" fmla="*/ 10517886 w 10517886"/>
              <a:gd name="connsiteY2" fmla="*/ 0 h 1179457"/>
              <a:gd name="connsiteX3" fmla="*/ 9979334 w 10517886"/>
              <a:gd name="connsiteY3" fmla="*/ 1179457 h 1179457"/>
              <a:gd name="connsiteX4" fmla="*/ 0 w 10517886"/>
              <a:gd name="connsiteY4" fmla="*/ 1179457 h 1179457"/>
              <a:gd name="connsiteX0" fmla="*/ 0 w 9979723"/>
              <a:gd name="connsiteY0" fmla="*/ 1179457 h 1179457"/>
              <a:gd name="connsiteX1" fmla="*/ 538552 w 9979723"/>
              <a:gd name="connsiteY1" fmla="*/ 0 h 1179457"/>
              <a:gd name="connsiteX2" fmla="*/ 9979723 w 9979723"/>
              <a:gd name="connsiteY2" fmla="*/ 4762 h 1179457"/>
              <a:gd name="connsiteX3" fmla="*/ 9979334 w 9979723"/>
              <a:gd name="connsiteY3" fmla="*/ 1179457 h 1179457"/>
              <a:gd name="connsiteX4" fmla="*/ 0 w 9979723"/>
              <a:gd name="connsiteY4" fmla="*/ 1179457 h 1179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79723" h="1179457">
                <a:moveTo>
                  <a:pt x="0" y="1179457"/>
                </a:moveTo>
                <a:lnTo>
                  <a:pt x="538552" y="0"/>
                </a:lnTo>
                <a:lnTo>
                  <a:pt x="9979723" y="4762"/>
                </a:lnTo>
                <a:cubicBezTo>
                  <a:pt x="9979593" y="396327"/>
                  <a:pt x="9979464" y="787892"/>
                  <a:pt x="9979334" y="1179457"/>
                </a:cubicBezTo>
                <a:lnTo>
                  <a:pt x="0" y="117945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>
              <a:ea typeface="a고딕12" panose="02020600000000000000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C239EE-F40F-4C48-BC0C-FFE36FFFC4ED}"/>
              </a:ext>
            </a:extLst>
          </p:cNvPr>
          <p:cNvSpPr/>
          <p:nvPr/>
        </p:nvSpPr>
        <p:spPr>
          <a:xfrm rot="5400000">
            <a:off x="-3343603" y="3343603"/>
            <a:ext cx="6853239" cy="16603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>
              <a:ea typeface="a고딕12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57687-20AA-F2AA-AC7E-CA95C91BDEB6}"/>
              </a:ext>
            </a:extLst>
          </p:cNvPr>
          <p:cNvSpPr txBox="1"/>
          <p:nvPr/>
        </p:nvSpPr>
        <p:spPr>
          <a:xfrm>
            <a:off x="344488" y="4228609"/>
            <a:ext cx="9416115" cy="1821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 latinLnBrk="0"/>
            <a:r>
              <a:rPr lang="en-US" altLang="ko-KR" sz="2400" dirty="0">
                <a:solidFill>
                  <a:srgbClr val="00338D"/>
                </a:solidFill>
                <a:latin typeface="페이퍼로지 8 ExtraBold" pitchFamily="2" charset="-127"/>
                <a:ea typeface="페이퍼로지 8 ExtraBold" pitchFamily="2" charset="-127"/>
              </a:rPr>
              <a:t>KUMBA 32</a:t>
            </a:r>
            <a:r>
              <a:rPr lang="ko-KR" altLang="en-US" sz="2400" dirty="0">
                <a:solidFill>
                  <a:srgbClr val="00338D"/>
                </a:solidFill>
                <a:latin typeface="페이퍼로지 8 ExtraBold" pitchFamily="2" charset="-127"/>
                <a:ea typeface="페이퍼로지 8 ExtraBold" pitchFamily="2" charset="-127"/>
              </a:rPr>
              <a:t>기 이석주</a:t>
            </a:r>
            <a:endParaRPr lang="en-US" altLang="ko-KR" sz="2400" dirty="0">
              <a:solidFill>
                <a:srgbClr val="00338D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5785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15D94AE-CA3E-70AC-714D-BDE3186E0048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3F153D-896B-5BFA-1466-B4983163CDE5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일반현황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3037F3-ABA6-F00D-1D9C-055151F800B0}"/>
              </a:ext>
            </a:extLst>
          </p:cNvPr>
          <p:cNvSpPr/>
          <p:nvPr/>
        </p:nvSpPr>
        <p:spPr>
          <a:xfrm>
            <a:off x="1724627" y="262250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제안사 일반현황 및 주요 연혁</a:t>
            </a:r>
            <a:endParaRPr lang="en-US" altLang="ko-KR" sz="140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0" name="텍스트 개체 틀 1">
            <a:extLst>
              <a:ext uri="{FF2B5EF4-FFF2-40B4-BE49-F238E27FC236}">
                <a16:creationId xmlns:a16="http://schemas.microsoft.com/office/drawing/2014/main" id="{1CCEBF00-9EDE-94D9-3903-90854B3B7F72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 err="1">
                <a:latin typeface="페이퍼로지 5 Medium" pitchFamily="2" charset="-127"/>
                <a:ea typeface="페이퍼로지 5 Medium" pitchFamily="2" charset="-127"/>
              </a:rPr>
              <a:t>시앤피컨설팅</a:t>
            </a:r>
            <a:r>
              <a:rPr lang="ko-KR" altLang="en-US" sz="1700" spc="-50" dirty="0">
                <a:latin typeface="페이퍼로지 5 Medium" pitchFamily="2" charset="-127"/>
                <a:ea typeface="페이퍼로지 5 Medium" pitchFamily="2" charset="-127"/>
              </a:rPr>
              <a:t> 일반 현황 및 주요 연혁</a:t>
            </a:r>
          </a:p>
        </p:txBody>
      </p:sp>
      <p:sp>
        <p:nvSpPr>
          <p:cNvPr id="40" name="슬라이드 번호 개체 틀 1">
            <a:extLst>
              <a:ext uri="{FF2B5EF4-FFF2-40B4-BE49-F238E27FC236}">
                <a16:creationId xmlns:a16="http://schemas.microsoft.com/office/drawing/2014/main" id="{727884EB-233E-FADC-343A-C8A5CBEA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2518" y="6492878"/>
            <a:ext cx="440967" cy="365125"/>
          </a:xfrm>
        </p:spPr>
        <p:txBody>
          <a:bodyPr vert="horz" lIns="91440" tIns="45720" rIns="91440" bIns="45720" rtlCol="0" anchor="ctr"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2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355F3B1-D2EA-294C-4F68-231B808F51DB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490F081-B872-3373-766A-6ACB9B8B3145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B767527-C610-94F7-C2F9-124F6476CE67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C65090E-D3D9-A9E7-4650-8F944FADECB2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7391CF6-4570-389A-B8B8-FF0F87682D0E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5400DA9-B4F6-3610-6B2D-12679E173671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509A933-C493-D69E-1692-699EEE17D44E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A2CAB6B-FC8E-6E42-2355-9EC3A7437ECD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E5FABFF-A5C5-86F4-F6F6-53942E35D42C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66888F06-5D46-A024-BBA4-4618E7E5B254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004B49A-1DCB-02B5-4017-0428E8A8B3E4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10E661B-7DBF-0D17-29DA-745072BA6F9F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DC121D3-6B5B-30DA-5088-55C873F5B6F7}"/>
              </a:ext>
            </a:extLst>
          </p:cNvPr>
          <p:cNvCxnSpPr>
            <a:cxnSpLocks/>
          </p:cNvCxnSpPr>
          <p:nvPr/>
        </p:nvCxnSpPr>
        <p:spPr>
          <a:xfrm>
            <a:off x="344488" y="1881743"/>
            <a:ext cx="3174623" cy="5795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D0D2F9B-229A-DE87-8C3F-1846DDE3DB07}"/>
              </a:ext>
            </a:extLst>
          </p:cNvPr>
          <p:cNvCxnSpPr>
            <a:cxnSpLocks/>
          </p:cNvCxnSpPr>
          <p:nvPr/>
        </p:nvCxnSpPr>
        <p:spPr>
          <a:xfrm flipV="1">
            <a:off x="3595000" y="1885951"/>
            <a:ext cx="5989834" cy="8542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1">
            <a:extLst>
              <a:ext uri="{FF2B5EF4-FFF2-40B4-BE49-F238E27FC236}">
                <a16:creationId xmlns:a16="http://schemas.microsoft.com/office/drawing/2014/main" id="{FA7A06EC-3047-3462-B50B-F66707E47E91}"/>
              </a:ext>
            </a:extLst>
          </p:cNvPr>
          <p:cNvSpPr txBox="1">
            <a:spLocks/>
          </p:cNvSpPr>
          <p:nvPr/>
        </p:nvSpPr>
        <p:spPr>
          <a:xfrm>
            <a:off x="344487" y="1544556"/>
            <a:ext cx="3141279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일반현황</a:t>
            </a:r>
          </a:p>
        </p:txBody>
      </p:sp>
      <p:sp>
        <p:nvSpPr>
          <p:cNvPr id="54" name="텍스트 개체 틀 1">
            <a:extLst>
              <a:ext uri="{FF2B5EF4-FFF2-40B4-BE49-F238E27FC236}">
                <a16:creationId xmlns:a16="http://schemas.microsoft.com/office/drawing/2014/main" id="{B95DBC0C-20DA-1420-189D-1714A81684B0}"/>
              </a:ext>
            </a:extLst>
          </p:cNvPr>
          <p:cNvSpPr txBox="1">
            <a:spLocks/>
          </p:cNvSpPr>
          <p:nvPr/>
        </p:nvSpPr>
        <p:spPr>
          <a:xfrm>
            <a:off x="3571679" y="1532089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주요 연혁</a:t>
            </a:r>
          </a:p>
        </p:txBody>
      </p:sp>
      <p:pic>
        <p:nvPicPr>
          <p:cNvPr id="73" name="Picture 4" descr="https://2.bp.blogspot.com/-s9eodOE_4Ks/VgzKsDNeDyI/AAAAAAAAD4Y/T8UrABDnUQ0/s1600/%25E1%2584%2589%25E1%2585%25B3%25E1%2584%258F%25E1%2585%25B3%25E1%2584%2585%25E1%2585%25B5%25E1%2586%25AB%25E1%2584%2589%25E1%2585%25A3%25E1%2586%25BA%2B2015-10-01%2B%25E1%2584%258B%25E1%2585%25A9%25E1%2584%2592%25E1%2585%25AE%2B2.50.33.png">
            <a:extLst>
              <a:ext uri="{FF2B5EF4-FFF2-40B4-BE49-F238E27FC236}">
                <a16:creationId xmlns:a16="http://schemas.microsoft.com/office/drawing/2014/main" id="{BD76F0EF-5C84-8993-B5B1-3BFB66A8E9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20" b="35547"/>
          <a:stretch/>
        </p:blipFill>
        <p:spPr bwMode="auto">
          <a:xfrm>
            <a:off x="372531" y="4799608"/>
            <a:ext cx="3131640" cy="162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직사각형 75">
            <a:extLst>
              <a:ext uri="{FF2B5EF4-FFF2-40B4-BE49-F238E27FC236}">
                <a16:creationId xmlns:a16="http://schemas.microsoft.com/office/drawing/2014/main" id="{73CA37AA-4A75-37D7-E920-B93433EC9232}"/>
              </a:ext>
            </a:extLst>
          </p:cNvPr>
          <p:cNvSpPr/>
          <p:nvPr/>
        </p:nvSpPr>
        <p:spPr>
          <a:xfrm>
            <a:off x="368915" y="4798020"/>
            <a:ext cx="3113236" cy="1625005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a고딕12" panose="02020600000000000000" pitchFamily="18" charset="-127"/>
            </a:endParaRPr>
          </a:p>
        </p:txBody>
      </p: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08644C02-13EE-AA06-4BFF-632F9828A117}"/>
              </a:ext>
            </a:extLst>
          </p:cNvPr>
          <p:cNvGraphicFramePr>
            <a:graphicFrameLocks noGrp="1"/>
          </p:cNvGraphicFramePr>
          <p:nvPr/>
        </p:nvGraphicFramePr>
        <p:xfrm>
          <a:off x="353072" y="2078476"/>
          <a:ext cx="3166040" cy="2309557"/>
        </p:xfrm>
        <a:graphic>
          <a:graphicData uri="http://schemas.openxmlformats.org/drawingml/2006/table">
            <a:tbl>
              <a:tblPr firstRow="1" bandRow="1"/>
              <a:tblGrid>
                <a:gridCol w="771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4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45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50" b="1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회 사 명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시앤피컨설팅㈜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07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1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사업분야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전문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과학 및 기술서비스업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endParaRPr lang="ko-KR" altLang="en-US" sz="1050" b="0" kern="120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algn="ctr" defTabSz="909375" rtl="0" eaLnBrk="1" latinLnBrk="1" hangingPunct="1"/>
                      <a:r>
                        <a:rPr lang="ko-KR" altLang="en-US" sz="1050" b="0" kern="1200" spc="-1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경영 컨설팅업</a:t>
                      </a:r>
                      <a:endParaRPr lang="en-US" altLang="ko-KR" sz="1050" b="0" kern="1200" spc="-10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402820"/>
                  </a:ext>
                </a:extLst>
              </a:tr>
              <a:tr h="3638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1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       소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서울특별시 금천구 가산디지털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로 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131, </a:t>
                      </a:r>
                      <a:b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</a:b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B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동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12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층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(BYC</a:t>
                      </a:r>
                      <a:r>
                        <a:rPr lang="ko-KR" altLang="en-US" sz="1050" b="0" kern="1200" baseline="0" dirty="0" err="1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하이시티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0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1" kern="12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설립연도</a:t>
                      </a:r>
                      <a:r>
                        <a:rPr lang="ko-KR" altLang="en-US" sz="1050" b="1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2012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6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1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해당부문 </a:t>
                      </a:r>
                      <a:endParaRPr lang="en-US" altLang="ko-KR" sz="1050" b="1" kern="12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3F56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algn="ctr" defTabSz="909375" rtl="0" eaLnBrk="1" latinLnBrk="1" hangingPunct="1"/>
                      <a:r>
                        <a:rPr lang="ko-KR" altLang="en-US" sz="1050" b="1" kern="12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종사기간</a:t>
                      </a:r>
                      <a:endParaRPr lang="ko-KR" altLang="en-US" sz="1050" b="1" kern="12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3F56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2012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6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 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~ 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현재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9" name="직사각형 78">
            <a:extLst>
              <a:ext uri="{FF2B5EF4-FFF2-40B4-BE49-F238E27FC236}">
                <a16:creationId xmlns:a16="http://schemas.microsoft.com/office/drawing/2014/main" id="{37B1DD2A-4C41-B76C-010A-0BE7A99FC023}"/>
              </a:ext>
            </a:extLst>
          </p:cNvPr>
          <p:cNvSpPr/>
          <p:nvPr/>
        </p:nvSpPr>
        <p:spPr>
          <a:xfrm>
            <a:off x="4322814" y="1943891"/>
            <a:ext cx="2154674" cy="591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본사 설립</a:t>
            </a: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국가직무능력 표준 연구 평가사업 수행기관 지정</a:t>
            </a: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한국기술교육대학교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C5854B3-956B-DA95-5D66-2D6BC7F51CBD}"/>
              </a:ext>
            </a:extLst>
          </p:cNvPr>
          <p:cNvSpPr/>
          <p:nvPr/>
        </p:nvSpPr>
        <p:spPr>
          <a:xfrm>
            <a:off x="3994290" y="1943891"/>
            <a:ext cx="307400" cy="587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09375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06 </a:t>
            </a:r>
          </a:p>
          <a:p>
            <a:pPr algn="ctr" defTabSz="909375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11</a:t>
            </a:r>
          </a:p>
          <a:p>
            <a:pPr algn="ctr" defTabSz="909375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9A921AE-B1EA-FC9F-914A-C0342363C777}"/>
              </a:ext>
            </a:extLst>
          </p:cNvPr>
          <p:cNvSpPr txBox="1"/>
          <p:nvPr/>
        </p:nvSpPr>
        <p:spPr>
          <a:xfrm>
            <a:off x="3521268" y="1971804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2012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EF248CB-C4B1-B8FC-7246-CB7A2927EB3A}"/>
              </a:ext>
            </a:extLst>
          </p:cNvPr>
          <p:cNvSpPr txBox="1"/>
          <p:nvPr/>
        </p:nvSpPr>
        <p:spPr>
          <a:xfrm>
            <a:off x="3521268" y="2572847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2013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04CF0786-537A-9896-B571-56894C67DFA3}"/>
              </a:ext>
            </a:extLst>
          </p:cNvPr>
          <p:cNvSpPr/>
          <p:nvPr/>
        </p:nvSpPr>
        <p:spPr>
          <a:xfrm>
            <a:off x="4322814" y="2524948"/>
            <a:ext cx="2299968" cy="565796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내일 희망 일터혁신 컨설팅기관 지정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노사발전재단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중소기업 학습조직화 및 체계적 현장훈련 지원사업 위탁 교육기관 지정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4B72846F-173D-E9E1-EA71-104BF195B17F}"/>
              </a:ext>
            </a:extLst>
          </p:cNvPr>
          <p:cNvSpPr/>
          <p:nvPr/>
        </p:nvSpPr>
        <p:spPr>
          <a:xfrm>
            <a:off x="3994290" y="2532399"/>
            <a:ext cx="307400" cy="585288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02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03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ko-KR" sz="6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6E35CCC-CB2B-C015-72CC-1F85D0B75EA0}"/>
              </a:ext>
            </a:extLst>
          </p:cNvPr>
          <p:cNvSpPr txBox="1"/>
          <p:nvPr/>
        </p:nvSpPr>
        <p:spPr>
          <a:xfrm>
            <a:off x="3521268" y="3150056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2014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FA8AFBE8-BFD1-DF6F-3D5E-69AEEF03F3BD}"/>
              </a:ext>
            </a:extLst>
          </p:cNvPr>
          <p:cNvSpPr/>
          <p:nvPr/>
        </p:nvSpPr>
        <p:spPr>
          <a:xfrm>
            <a:off x="4322814" y="3104874"/>
            <a:ext cx="2329849" cy="565796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체계적 현장훈련 프로그램 개발 및 보급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한국기술교육대학교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’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국가인적자원개발 컨소시엄 사업관계자 역량강화 과정 개발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한국기술교육대학교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 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320FC33B-B169-D9BE-C99D-5DB43569C7B5}"/>
              </a:ext>
            </a:extLst>
          </p:cNvPr>
          <p:cNvSpPr/>
          <p:nvPr/>
        </p:nvSpPr>
        <p:spPr>
          <a:xfrm>
            <a:off x="3994290" y="3104874"/>
            <a:ext cx="307400" cy="411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07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0A65BF4-7AB9-1EFC-C3C6-FD8FD927941F}"/>
              </a:ext>
            </a:extLst>
          </p:cNvPr>
          <p:cNvSpPr txBox="1"/>
          <p:nvPr/>
        </p:nvSpPr>
        <p:spPr>
          <a:xfrm>
            <a:off x="3521268" y="3699965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2015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F68935C-413F-8957-6C52-85F351BE59B9}"/>
              </a:ext>
            </a:extLst>
          </p:cNvPr>
          <p:cNvSpPr/>
          <p:nvPr/>
        </p:nvSpPr>
        <p:spPr>
          <a:xfrm>
            <a:off x="4322814" y="3655988"/>
            <a:ext cx="2154675" cy="411908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고용노동부 직업능력개발훈련 훈련기관 인증 획득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NCS 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기업활용 컨설팅 운영기관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800" spc="-60" dirty="0">
              <a:ln>
                <a:solidFill>
                  <a:srgbClr val="4F81BD">
                    <a:alpha val="0"/>
                  </a:srgbClr>
                </a:solidFill>
              </a:ln>
              <a:highlight>
                <a:srgbClr val="F8CBAD"/>
              </a:highlight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2D6E1AF9-8D12-DE08-4DD6-AF66D0CD1D1C}"/>
              </a:ext>
            </a:extLst>
          </p:cNvPr>
          <p:cNvSpPr/>
          <p:nvPr/>
        </p:nvSpPr>
        <p:spPr>
          <a:xfrm>
            <a:off x="3994290" y="3655988"/>
            <a:ext cx="307400" cy="411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04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06 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A0CC3A2-89F7-4CF6-1431-1FE64D93AD53}"/>
              </a:ext>
            </a:extLst>
          </p:cNvPr>
          <p:cNvSpPr txBox="1"/>
          <p:nvPr/>
        </p:nvSpPr>
        <p:spPr>
          <a:xfrm>
            <a:off x="3521268" y="4196938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2016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4FBAB641-F656-47E6-9CB5-5DC494621E5E}"/>
              </a:ext>
            </a:extLst>
          </p:cNvPr>
          <p:cNvSpPr/>
          <p:nvPr/>
        </p:nvSpPr>
        <p:spPr>
          <a:xfrm>
            <a:off x="4322814" y="4154088"/>
            <a:ext cx="2329850" cy="565796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NCS 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개발 참여전문가 역량향상과정 수행기관 지정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일터혁신 컨설팅 지원사업 수행기관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고용노동부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703B1122-1EA7-B647-6655-D5826EB2AAA1}"/>
              </a:ext>
            </a:extLst>
          </p:cNvPr>
          <p:cNvSpPr/>
          <p:nvPr/>
        </p:nvSpPr>
        <p:spPr>
          <a:xfrm>
            <a:off x="3994290" y="4154088"/>
            <a:ext cx="307400" cy="591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06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ko-KR" sz="6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C908F5E-4705-DA5C-B4B4-2B8B8F97B6BC}"/>
              </a:ext>
            </a:extLst>
          </p:cNvPr>
          <p:cNvSpPr txBox="1"/>
          <p:nvPr/>
        </p:nvSpPr>
        <p:spPr>
          <a:xfrm>
            <a:off x="3521268" y="4768261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2017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B88C1618-E512-3B76-FF0F-30F8DFC25E7B}"/>
              </a:ext>
            </a:extLst>
          </p:cNvPr>
          <p:cNvSpPr/>
          <p:nvPr/>
        </p:nvSpPr>
        <p:spPr>
          <a:xfrm>
            <a:off x="4322814" y="4758260"/>
            <a:ext cx="2290483" cy="565796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일터혁신 컨설팅 지원사업 수행기관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고용노동부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NCS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개발 개선의견 전문가 검토 지원사업 수행기관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E8385D5-5F76-15D0-CFAC-C9088A8BC75F}"/>
              </a:ext>
            </a:extLst>
          </p:cNvPr>
          <p:cNvSpPr/>
          <p:nvPr/>
        </p:nvSpPr>
        <p:spPr>
          <a:xfrm>
            <a:off x="3994290" y="4758260"/>
            <a:ext cx="307400" cy="411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03</a:t>
            </a:r>
            <a:endParaRPr lang="en-US" altLang="ko-KR" sz="6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12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A443B86-58D0-1A38-F8C0-A653FCF11721}"/>
              </a:ext>
            </a:extLst>
          </p:cNvPr>
          <p:cNvSpPr txBox="1"/>
          <p:nvPr/>
        </p:nvSpPr>
        <p:spPr>
          <a:xfrm>
            <a:off x="3521268" y="5274989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2018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A9D3077D-0CF0-4D59-428D-F56F2BDDC0A9}"/>
              </a:ext>
            </a:extLst>
          </p:cNvPr>
          <p:cNvSpPr/>
          <p:nvPr/>
        </p:nvSpPr>
        <p:spPr>
          <a:xfrm>
            <a:off x="4322814" y="5261600"/>
            <a:ext cx="2290483" cy="565796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일터혁신 컨설팅 지원사업 수행기관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고용노동부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NCS</a:t>
            </a:r>
            <a:r>
              <a:rPr lang="ko-KR" altLang="en-US" sz="800" spc="-60" dirty="0" err="1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개발∙개선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 참여인력 역량향상과정 수행기관 지정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CE38DB8C-4834-CFC7-6ED2-33D1C7B0B391}"/>
              </a:ext>
            </a:extLst>
          </p:cNvPr>
          <p:cNvSpPr/>
          <p:nvPr/>
        </p:nvSpPr>
        <p:spPr>
          <a:xfrm>
            <a:off x="3994290" y="5278259"/>
            <a:ext cx="307400" cy="222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1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0CD848A-46D8-808C-234E-F4C86F782588}"/>
              </a:ext>
            </a:extLst>
          </p:cNvPr>
          <p:cNvSpPr txBox="1"/>
          <p:nvPr/>
        </p:nvSpPr>
        <p:spPr>
          <a:xfrm>
            <a:off x="3521268" y="5793153"/>
            <a:ext cx="634789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2019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6D7E7936-8CCF-C68A-9AAD-BAE5F225AAE2}"/>
              </a:ext>
            </a:extLst>
          </p:cNvPr>
          <p:cNvSpPr/>
          <p:nvPr/>
        </p:nvSpPr>
        <p:spPr>
          <a:xfrm>
            <a:off x="3994290" y="5758081"/>
            <a:ext cx="307400" cy="77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03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04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4992AA0A-8365-EAA4-5EF6-A98165739CB9}"/>
              </a:ext>
            </a:extLst>
          </p:cNvPr>
          <p:cNvSpPr/>
          <p:nvPr/>
        </p:nvSpPr>
        <p:spPr>
          <a:xfrm>
            <a:off x="4322814" y="5786652"/>
            <a:ext cx="2328851" cy="745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일터혁신 컨설팅 지원사업 수행기관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고용노동부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’19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 중소기업 훈련지원센터 운영기관 지정</a:t>
            </a:r>
            <a:b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</a:b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 err="1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경기경영자총협회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 컨소시엄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’19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NCS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기업활용컨설팅 운영기관 지정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15B28D2-767B-26E0-7F34-DAD5DFBB23B0}"/>
              </a:ext>
            </a:extLst>
          </p:cNvPr>
          <p:cNvSpPr txBox="1"/>
          <p:nvPr/>
        </p:nvSpPr>
        <p:spPr>
          <a:xfrm>
            <a:off x="6437327" y="2398196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2021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ED0D578D-5EAF-B3D3-E50B-570A3FDB2A44}"/>
              </a:ext>
            </a:extLst>
          </p:cNvPr>
          <p:cNvSpPr/>
          <p:nvPr/>
        </p:nvSpPr>
        <p:spPr>
          <a:xfrm>
            <a:off x="6930623" y="2360501"/>
            <a:ext cx="307400" cy="232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03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21F125E1-5D9F-858B-4470-EC75819CAFF0}"/>
              </a:ext>
            </a:extLst>
          </p:cNvPr>
          <p:cNvSpPr/>
          <p:nvPr/>
        </p:nvSpPr>
        <p:spPr>
          <a:xfrm>
            <a:off x="7238023" y="2370711"/>
            <a:ext cx="2328851" cy="71936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기업수요맞춤형 훈련사업 직무분석 및 훈련과정 개발 컨설팅사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 err="1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국가임상시험지원재단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기업수요맞춤형 훈련사업 직무분석 및 훈련과정 개발 컨설팅사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한국전자기술연구원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7DED8E2-3BC9-E015-6CA4-AE2865C478B0}"/>
              </a:ext>
            </a:extLst>
          </p:cNvPr>
          <p:cNvSpPr txBox="1"/>
          <p:nvPr/>
        </p:nvSpPr>
        <p:spPr>
          <a:xfrm>
            <a:off x="6437328" y="3924182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2023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4359C9CD-3859-989D-D3CC-D628A0017157}"/>
              </a:ext>
            </a:extLst>
          </p:cNvPr>
          <p:cNvSpPr/>
          <p:nvPr/>
        </p:nvSpPr>
        <p:spPr>
          <a:xfrm>
            <a:off x="6930623" y="3871846"/>
            <a:ext cx="307400" cy="950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01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02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07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09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CA988498-9A46-F5D6-4787-AABE2C489591}"/>
              </a:ext>
            </a:extLst>
          </p:cNvPr>
          <p:cNvSpPr/>
          <p:nvPr/>
        </p:nvSpPr>
        <p:spPr>
          <a:xfrm>
            <a:off x="7238023" y="3871846"/>
            <a:ext cx="2328851" cy="130785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NCS 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기업활용 컨설팅 운영기관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일터혁신 컨설팅 지원사업 수행기관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고용노동부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산업전환 공동훈련센터 협약기업 직무전환 컨설팅사 지정</a:t>
            </a: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highlight>
                <a:srgbClr val="F8CBAD"/>
              </a:highlight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(SK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이노베이션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산업전환 기업 맞춤형 진단 및 훈련과정 개발 컨설팅사 지정</a:t>
            </a: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highlight>
                <a:srgbClr val="F8CBAD"/>
              </a:highlight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대한상공회의소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 </a:t>
            </a: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ts val="1200"/>
              </a:lnSpc>
              <a:spcBef>
                <a:spcPts val="200"/>
              </a:spcBef>
            </a:pP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C7D7559-EE74-1C29-3F91-B6F0081C4C15}"/>
              </a:ext>
            </a:extLst>
          </p:cNvPr>
          <p:cNvSpPr txBox="1"/>
          <p:nvPr/>
        </p:nvSpPr>
        <p:spPr>
          <a:xfrm>
            <a:off x="6437328" y="1978623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2020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20C62AA1-5C5B-0601-5CA6-B613973D2C4E}"/>
              </a:ext>
            </a:extLst>
          </p:cNvPr>
          <p:cNvSpPr/>
          <p:nvPr/>
        </p:nvSpPr>
        <p:spPr>
          <a:xfrm>
            <a:off x="6930623" y="1940928"/>
            <a:ext cx="307400" cy="411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03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04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E7E18F62-5BE0-4E8C-440B-FA3B17298A43}"/>
              </a:ext>
            </a:extLst>
          </p:cNvPr>
          <p:cNvSpPr/>
          <p:nvPr/>
        </p:nvSpPr>
        <p:spPr>
          <a:xfrm>
            <a:off x="7238023" y="1951138"/>
            <a:ext cx="2328851" cy="4119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일터혁신 컨설팅 지원사업 수행기관 선정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고용노동부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2020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년도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NCS 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기업활용컨설팅 운영기관 선정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AB2ADCC-E798-4830-45D2-61B730E85F6B}"/>
              </a:ext>
            </a:extLst>
          </p:cNvPr>
          <p:cNvSpPr txBox="1"/>
          <p:nvPr/>
        </p:nvSpPr>
        <p:spPr>
          <a:xfrm>
            <a:off x="6437328" y="3126807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2022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71333A76-DB7F-7859-B4DA-24BDF500E7BA}"/>
              </a:ext>
            </a:extLst>
          </p:cNvPr>
          <p:cNvSpPr/>
          <p:nvPr/>
        </p:nvSpPr>
        <p:spPr>
          <a:xfrm>
            <a:off x="6930623" y="3088993"/>
            <a:ext cx="307400" cy="565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05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b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</a:b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09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5BE6E9C7-7ED6-6B4F-D8D4-4401583A6910}"/>
              </a:ext>
            </a:extLst>
          </p:cNvPr>
          <p:cNvSpPr/>
          <p:nvPr/>
        </p:nvSpPr>
        <p:spPr>
          <a:xfrm>
            <a:off x="7238023" y="3095057"/>
            <a:ext cx="2328851" cy="74501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2022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년도 사업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디지털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노동전환 컨설팅 수행기관 선정</a:t>
            </a:r>
            <a:b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</a:b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 err="1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중소벤처기업진흥공단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’22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년도 재택근무 종합컨설팅 수행기관 선정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고용노동부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대한민국 인적자원개발 대상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HRD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협회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1A9B50E-F9B7-8805-D5D5-1320BAA31980}"/>
              </a:ext>
            </a:extLst>
          </p:cNvPr>
          <p:cNvSpPr txBox="1"/>
          <p:nvPr/>
        </p:nvSpPr>
        <p:spPr>
          <a:xfrm>
            <a:off x="6437328" y="5021911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2024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89ADF21E-CBC8-6D06-C4B9-C88827C066C9}"/>
              </a:ext>
            </a:extLst>
          </p:cNvPr>
          <p:cNvSpPr/>
          <p:nvPr/>
        </p:nvSpPr>
        <p:spPr>
          <a:xfrm>
            <a:off x="6930623" y="4969575"/>
            <a:ext cx="307400" cy="1489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01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02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04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04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05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ABB95610-1BA2-C9D2-4800-7415DA79FBB3}"/>
              </a:ext>
            </a:extLst>
          </p:cNvPr>
          <p:cNvSpPr/>
          <p:nvPr/>
        </p:nvSpPr>
        <p:spPr>
          <a:xfrm>
            <a:off x="7238023" y="4969575"/>
            <a:ext cx="2328851" cy="164301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산업체 맞춤형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DX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작업전환 요구분석 과정개발 컨설팅사 지정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NCS 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기업활용 컨설팅 운영기관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협약기업 직무분석 및 맞춤형 훈련과정 개발 컨설팅사 지정</a:t>
            </a: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highlight>
                <a:srgbClr val="F8CBAD"/>
              </a:highlight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 err="1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국가임상시험재단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산업전환 기업 맞춤형 진단 및 훈련과정 개발 컨설팅사 지정</a:t>
            </a: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highlight>
                <a:srgbClr val="F8CBAD"/>
              </a:highlight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 err="1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한국화학융합시험연구원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 </a:t>
            </a: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협약기업 직무분석 및 맞춤형 훈련과정 개발 컨설팅사 지정</a:t>
            </a: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highlight>
                <a:srgbClr val="F8CBAD"/>
              </a:highlight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한국전자기술연구원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4492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49A72-0E03-7149-FB7A-CC513E323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88C0CCE-6847-C82F-5759-DC4CBA9E8A99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FCD951-52AE-BC61-4964-30F75A4BCF8D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일반현황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34C238-DBC0-10FF-FBF8-819F929BEE70}"/>
              </a:ext>
            </a:extLst>
          </p:cNvPr>
          <p:cNvSpPr/>
          <p:nvPr/>
        </p:nvSpPr>
        <p:spPr>
          <a:xfrm>
            <a:off x="1724627" y="262250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제안사 일반현황 및 주요 연혁</a:t>
            </a:r>
            <a:endParaRPr lang="en-US" altLang="ko-KR" sz="140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0" name="텍스트 개체 틀 1">
            <a:extLst>
              <a:ext uri="{FF2B5EF4-FFF2-40B4-BE49-F238E27FC236}">
                <a16:creationId xmlns:a16="http://schemas.microsoft.com/office/drawing/2014/main" id="{5DBB03C0-62B0-88EE-D6E1-2E88C670D164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 err="1">
                <a:latin typeface="페이퍼로지 5 Medium" pitchFamily="2" charset="-127"/>
                <a:ea typeface="페이퍼로지 5 Medium" pitchFamily="2" charset="-127"/>
              </a:rPr>
              <a:t>시앤피컨설팅</a:t>
            </a:r>
            <a:r>
              <a:rPr lang="ko-KR" altLang="en-US" sz="1700" spc="-50" dirty="0">
                <a:latin typeface="페이퍼로지 5 Medium" pitchFamily="2" charset="-127"/>
                <a:ea typeface="페이퍼로지 5 Medium" pitchFamily="2" charset="-127"/>
              </a:rPr>
              <a:t> 일반 현황 및 주요 연혁</a:t>
            </a:r>
          </a:p>
        </p:txBody>
      </p:sp>
      <p:sp>
        <p:nvSpPr>
          <p:cNvPr id="40" name="슬라이드 번호 개체 틀 1">
            <a:extLst>
              <a:ext uri="{FF2B5EF4-FFF2-40B4-BE49-F238E27FC236}">
                <a16:creationId xmlns:a16="http://schemas.microsoft.com/office/drawing/2014/main" id="{0409A0F3-9EE6-7628-2AFA-FF9BB4BE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2518" y="6492878"/>
            <a:ext cx="440967" cy="365125"/>
          </a:xfrm>
        </p:spPr>
        <p:txBody>
          <a:bodyPr vert="horz" lIns="91440" tIns="45720" rIns="91440" bIns="45720" rtlCol="0" anchor="ctr"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3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C599EB7-F1BD-DD63-9067-9B830EE6C7F8}"/>
              </a:ext>
            </a:extLst>
          </p:cNvPr>
          <p:cNvGrpSpPr/>
          <p:nvPr/>
        </p:nvGrpSpPr>
        <p:grpSpPr>
          <a:xfrm>
            <a:off x="0" y="-762844"/>
            <a:ext cx="4375346" cy="626015"/>
            <a:chOff x="0" y="-762844"/>
            <a:chExt cx="4375346" cy="62601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730D97D-6EF5-2508-64D7-5C22C40929D2}"/>
                </a:ext>
              </a:extLst>
            </p:cNvPr>
            <p:cNvSpPr txBox="1"/>
            <p:nvPr/>
          </p:nvSpPr>
          <p:spPr>
            <a:xfrm>
              <a:off x="1229274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67A4D9-ED54-0EB4-828F-5ECB59105E48}"/>
                </a:ext>
              </a:extLst>
            </p:cNvPr>
            <p:cNvSpPr txBox="1"/>
            <p:nvPr/>
          </p:nvSpPr>
          <p:spPr>
            <a:xfrm>
              <a:off x="2316075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4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5017BE5-C88D-BF35-D1FB-2EAE36963389}"/>
                </a:ext>
              </a:extLst>
            </p:cNvPr>
            <p:cNvSpPr/>
            <p:nvPr/>
          </p:nvSpPr>
          <p:spPr>
            <a:xfrm>
              <a:off x="2288686" y="-311024"/>
              <a:ext cx="289451" cy="16213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dirty="0">
                <a:ea typeface="a고딕12" panose="02020600000000000000" pitchFamily="18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9054AFA-44D4-1552-D48E-162CD37267DF}"/>
                </a:ext>
              </a:extLst>
            </p:cNvPr>
            <p:cNvSpPr txBox="1"/>
            <p:nvPr/>
          </p:nvSpPr>
          <p:spPr>
            <a:xfrm>
              <a:off x="142473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페이퍼</a:t>
              </a:r>
              <a:r>
                <a:rPr lang="en-US" altLang="ko-KR" sz="162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6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5F319DE-FFAF-BC2E-7228-45838F9CCD02}"/>
                </a:ext>
              </a:extLst>
            </p:cNvPr>
            <p:cNvSpPr txBox="1"/>
            <p:nvPr/>
          </p:nvSpPr>
          <p:spPr>
            <a:xfrm>
              <a:off x="3383439" y="-762844"/>
              <a:ext cx="991907" cy="3289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페이퍼</a:t>
              </a:r>
              <a:r>
                <a:rPr lang="en-US" altLang="ko-KR" sz="1463" spc="-4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3 Light" pitchFamily="2" charset="-127"/>
                  <a:ea typeface="페이퍼로지 3 Light" pitchFamily="2" charset="-127"/>
                </a:rPr>
                <a:t>3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C4FD268-CF72-499C-A6D1-01C559ADAB45}"/>
                </a:ext>
              </a:extLst>
            </p:cNvPr>
            <p:cNvSpPr/>
            <p:nvPr/>
          </p:nvSpPr>
          <p:spPr>
            <a:xfrm>
              <a:off x="1907239" y="-305540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108C558-05AD-891C-E9A9-F473813CDDD3}"/>
                </a:ext>
              </a:extLst>
            </p:cNvPr>
            <p:cNvSpPr/>
            <p:nvPr/>
          </p:nvSpPr>
          <p:spPr>
            <a:xfrm>
              <a:off x="1525792" y="-298967"/>
              <a:ext cx="289451" cy="162138"/>
            </a:xfrm>
            <a:prstGeom prst="rect">
              <a:avLst/>
            </a:prstGeom>
            <a:solidFill>
              <a:srgbClr val="AAB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BECD7F9-F9C1-687D-00FF-39D022BAD5F4}"/>
                </a:ext>
              </a:extLst>
            </p:cNvPr>
            <p:cNvSpPr/>
            <p:nvPr/>
          </p:nvSpPr>
          <p:spPr>
            <a:xfrm>
              <a:off x="381448" y="-298967"/>
              <a:ext cx="289451" cy="162138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0E5D3839-EA65-1284-E155-BB9403D29F0F}"/>
                </a:ext>
              </a:extLst>
            </p:cNvPr>
            <p:cNvSpPr/>
            <p:nvPr/>
          </p:nvSpPr>
          <p:spPr>
            <a:xfrm>
              <a:off x="762896" y="-298967"/>
              <a:ext cx="289451" cy="162138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198BA27-4A55-60DD-38C3-E7F59B246C15}"/>
                </a:ext>
              </a:extLst>
            </p:cNvPr>
            <p:cNvSpPr/>
            <p:nvPr/>
          </p:nvSpPr>
          <p:spPr>
            <a:xfrm>
              <a:off x="1144344" y="-298967"/>
              <a:ext cx="289451" cy="162138"/>
            </a:xfrm>
            <a:prstGeom prst="rect">
              <a:avLst/>
            </a:prstGeom>
            <a:solidFill>
              <a:srgbClr val="5F7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A9FF532-E50D-8224-FE4D-B872CBE02B98}"/>
                </a:ext>
              </a:extLst>
            </p:cNvPr>
            <p:cNvSpPr/>
            <p:nvPr/>
          </p:nvSpPr>
          <p:spPr>
            <a:xfrm>
              <a:off x="0" y="-305540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B8D712F-6CFC-EED5-29A2-554320187C3A}"/>
              </a:ext>
            </a:extLst>
          </p:cNvPr>
          <p:cNvCxnSpPr>
            <a:cxnSpLocks/>
          </p:cNvCxnSpPr>
          <p:nvPr/>
        </p:nvCxnSpPr>
        <p:spPr>
          <a:xfrm>
            <a:off x="344488" y="1881743"/>
            <a:ext cx="3174623" cy="5795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64DC51F-6E80-0904-EB90-93F8452464C2}"/>
              </a:ext>
            </a:extLst>
          </p:cNvPr>
          <p:cNvCxnSpPr>
            <a:cxnSpLocks/>
          </p:cNvCxnSpPr>
          <p:nvPr/>
        </p:nvCxnSpPr>
        <p:spPr>
          <a:xfrm flipV="1">
            <a:off x="3595000" y="1885951"/>
            <a:ext cx="5989834" cy="8542"/>
          </a:xfrm>
          <a:prstGeom prst="line">
            <a:avLst/>
          </a:prstGeom>
          <a:ln w="28575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1">
            <a:extLst>
              <a:ext uri="{FF2B5EF4-FFF2-40B4-BE49-F238E27FC236}">
                <a16:creationId xmlns:a16="http://schemas.microsoft.com/office/drawing/2014/main" id="{336C8916-870A-1F93-DB68-841354211427}"/>
              </a:ext>
            </a:extLst>
          </p:cNvPr>
          <p:cNvSpPr txBox="1">
            <a:spLocks/>
          </p:cNvSpPr>
          <p:nvPr/>
        </p:nvSpPr>
        <p:spPr>
          <a:xfrm>
            <a:off x="344487" y="1544556"/>
            <a:ext cx="3141279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일반현황</a:t>
            </a:r>
          </a:p>
        </p:txBody>
      </p:sp>
      <p:sp>
        <p:nvSpPr>
          <p:cNvPr id="54" name="텍스트 개체 틀 1">
            <a:extLst>
              <a:ext uri="{FF2B5EF4-FFF2-40B4-BE49-F238E27FC236}">
                <a16:creationId xmlns:a16="http://schemas.microsoft.com/office/drawing/2014/main" id="{F3675B99-A2C9-440A-B2D5-45664759EBDF}"/>
              </a:ext>
            </a:extLst>
          </p:cNvPr>
          <p:cNvSpPr txBox="1">
            <a:spLocks/>
          </p:cNvSpPr>
          <p:nvPr/>
        </p:nvSpPr>
        <p:spPr>
          <a:xfrm>
            <a:off x="3571679" y="1532089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5 Medium" pitchFamily="2" charset="-127"/>
                <a:ea typeface="페이퍼로지 5 Medium" pitchFamily="2" charset="-127"/>
              </a:rPr>
              <a:t>주요 연혁</a:t>
            </a:r>
          </a:p>
        </p:txBody>
      </p:sp>
      <p:pic>
        <p:nvPicPr>
          <p:cNvPr id="73" name="Picture 4" descr="https://2.bp.blogspot.com/-s9eodOE_4Ks/VgzKsDNeDyI/AAAAAAAAD4Y/T8UrABDnUQ0/s1600/%25E1%2584%2589%25E1%2585%25B3%25E1%2584%258F%25E1%2585%25B3%25E1%2584%2585%25E1%2585%25B5%25E1%2586%25AB%25E1%2584%2589%25E1%2585%25A3%25E1%2586%25BA%2B2015-10-01%2B%25E1%2584%258B%25E1%2585%25A9%25E1%2584%2592%25E1%2585%25AE%2B2.50.33.png">
            <a:extLst>
              <a:ext uri="{FF2B5EF4-FFF2-40B4-BE49-F238E27FC236}">
                <a16:creationId xmlns:a16="http://schemas.microsoft.com/office/drawing/2014/main" id="{57757EC6-7DBF-51AE-6321-07CB8C448A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20" b="35547"/>
          <a:stretch/>
        </p:blipFill>
        <p:spPr bwMode="auto">
          <a:xfrm>
            <a:off x="372531" y="4799608"/>
            <a:ext cx="3131640" cy="162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직사각형 75">
            <a:extLst>
              <a:ext uri="{FF2B5EF4-FFF2-40B4-BE49-F238E27FC236}">
                <a16:creationId xmlns:a16="http://schemas.microsoft.com/office/drawing/2014/main" id="{06F95FF8-CBB3-F935-381A-3305CC78334D}"/>
              </a:ext>
            </a:extLst>
          </p:cNvPr>
          <p:cNvSpPr/>
          <p:nvPr/>
        </p:nvSpPr>
        <p:spPr>
          <a:xfrm>
            <a:off x="368915" y="4798020"/>
            <a:ext cx="3113236" cy="1625005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a고딕12" panose="02020600000000000000" pitchFamily="18" charset="-127"/>
            </a:endParaRPr>
          </a:p>
        </p:txBody>
      </p: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DDF3C19B-9165-C3B0-F17C-0034457A97DD}"/>
              </a:ext>
            </a:extLst>
          </p:cNvPr>
          <p:cNvGraphicFramePr>
            <a:graphicFrameLocks noGrp="1"/>
          </p:cNvGraphicFramePr>
          <p:nvPr/>
        </p:nvGraphicFramePr>
        <p:xfrm>
          <a:off x="353072" y="2078476"/>
          <a:ext cx="3166040" cy="2309557"/>
        </p:xfrm>
        <a:graphic>
          <a:graphicData uri="http://schemas.openxmlformats.org/drawingml/2006/table">
            <a:tbl>
              <a:tblPr firstRow="1" bandRow="1"/>
              <a:tblGrid>
                <a:gridCol w="771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4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45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50" b="1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회 사 명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시앤피컨설팅㈜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07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1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사업분야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전문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과학 및 기술서비스업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endParaRPr lang="ko-KR" altLang="en-US" sz="1050" b="0" kern="120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algn="ctr" defTabSz="909375" rtl="0" eaLnBrk="1" latinLnBrk="1" hangingPunct="1"/>
                      <a:r>
                        <a:rPr lang="ko-KR" altLang="en-US" sz="1050" b="0" kern="1200" spc="-1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경영 컨설팅업</a:t>
                      </a:r>
                      <a:endParaRPr lang="en-US" altLang="ko-KR" sz="1050" b="0" kern="1200" spc="-10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402820"/>
                  </a:ext>
                </a:extLst>
              </a:tr>
              <a:tr h="3638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1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       소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서울특별시 금천구 가산디지털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로 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131, </a:t>
                      </a:r>
                      <a:b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</a:b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B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동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12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층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(BYC</a:t>
                      </a:r>
                      <a:r>
                        <a:rPr lang="ko-KR" altLang="en-US" sz="1050" b="0" kern="1200" baseline="0" dirty="0" err="1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하이시티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0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1" kern="12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설립연도</a:t>
                      </a:r>
                      <a:r>
                        <a:rPr lang="ko-KR" altLang="en-US" sz="1050" b="1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2012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6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1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해당부문 </a:t>
                      </a:r>
                      <a:endParaRPr lang="en-US" altLang="ko-KR" sz="1050" b="1" kern="12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3F56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algn="ctr" defTabSz="909375" rtl="0" eaLnBrk="1" latinLnBrk="1" hangingPunct="1"/>
                      <a:r>
                        <a:rPr lang="ko-KR" altLang="en-US" sz="1050" b="1" kern="12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종사기간</a:t>
                      </a:r>
                      <a:endParaRPr lang="ko-KR" altLang="en-US" sz="1050" b="1" kern="12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3F56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2012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6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 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~ 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현재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9" name="직사각형 78">
            <a:extLst>
              <a:ext uri="{FF2B5EF4-FFF2-40B4-BE49-F238E27FC236}">
                <a16:creationId xmlns:a16="http://schemas.microsoft.com/office/drawing/2014/main" id="{F4D6B578-CB7A-A1D8-ADFC-71304432D47B}"/>
              </a:ext>
            </a:extLst>
          </p:cNvPr>
          <p:cNvSpPr/>
          <p:nvPr/>
        </p:nvSpPr>
        <p:spPr>
          <a:xfrm>
            <a:off x="4322814" y="1943891"/>
            <a:ext cx="2154674" cy="591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본사 설립</a:t>
            </a: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국가직무능력 표준 연구 평가사업 수행기관 지정</a:t>
            </a: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한국기술교육대학교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6AC6721E-EBA1-B627-DD16-11EA4D453A10}"/>
              </a:ext>
            </a:extLst>
          </p:cNvPr>
          <p:cNvSpPr/>
          <p:nvPr/>
        </p:nvSpPr>
        <p:spPr>
          <a:xfrm>
            <a:off x="3994290" y="1943891"/>
            <a:ext cx="307400" cy="587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09375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06 </a:t>
            </a:r>
          </a:p>
          <a:p>
            <a:pPr algn="ctr" defTabSz="909375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11</a:t>
            </a:r>
          </a:p>
          <a:p>
            <a:pPr algn="ctr" defTabSz="909375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069D2F5-60E4-AA9E-4EA7-BDDE5340D58E}"/>
              </a:ext>
            </a:extLst>
          </p:cNvPr>
          <p:cNvSpPr txBox="1"/>
          <p:nvPr/>
        </p:nvSpPr>
        <p:spPr>
          <a:xfrm>
            <a:off x="3521268" y="1971804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2012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B734F1F-E4EA-EF7D-814F-5D9F7176E7CF}"/>
              </a:ext>
            </a:extLst>
          </p:cNvPr>
          <p:cNvSpPr txBox="1"/>
          <p:nvPr/>
        </p:nvSpPr>
        <p:spPr>
          <a:xfrm>
            <a:off x="3521268" y="2572847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2013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668FDC9B-8E5D-87FB-BDD6-B422E9EF9766}"/>
              </a:ext>
            </a:extLst>
          </p:cNvPr>
          <p:cNvSpPr/>
          <p:nvPr/>
        </p:nvSpPr>
        <p:spPr>
          <a:xfrm>
            <a:off x="4322814" y="2524948"/>
            <a:ext cx="2299968" cy="565796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내일 희망 일터혁신 컨설팅기관 지정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노사발전재단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중소기업 학습조직화 및 체계적 현장훈련 지원사업 위탁 교육기관 지정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2E7C515-1EF3-012B-2447-AF84B4A91256}"/>
              </a:ext>
            </a:extLst>
          </p:cNvPr>
          <p:cNvSpPr/>
          <p:nvPr/>
        </p:nvSpPr>
        <p:spPr>
          <a:xfrm>
            <a:off x="3994290" y="2532399"/>
            <a:ext cx="307400" cy="585288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02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03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ko-KR" sz="6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71FE4D3-3497-A545-C5C1-8A58D809B806}"/>
              </a:ext>
            </a:extLst>
          </p:cNvPr>
          <p:cNvSpPr txBox="1"/>
          <p:nvPr/>
        </p:nvSpPr>
        <p:spPr>
          <a:xfrm>
            <a:off x="3521268" y="3150056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2014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0E6BB16-BE86-C54E-605B-A9F9B1BF5781}"/>
              </a:ext>
            </a:extLst>
          </p:cNvPr>
          <p:cNvSpPr/>
          <p:nvPr/>
        </p:nvSpPr>
        <p:spPr>
          <a:xfrm>
            <a:off x="4322814" y="3104874"/>
            <a:ext cx="2329849" cy="565796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체계적 현장훈련 프로그램 개발 및 보급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한국기술교육대학교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’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국가인적자원개발 컨소시엄 사업관계자 역량강화 과정 개발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한국기술교육대학교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 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6CE9B678-9118-8B60-6771-2FDE64335883}"/>
              </a:ext>
            </a:extLst>
          </p:cNvPr>
          <p:cNvSpPr/>
          <p:nvPr/>
        </p:nvSpPr>
        <p:spPr>
          <a:xfrm>
            <a:off x="3994290" y="3104874"/>
            <a:ext cx="307400" cy="411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07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2ED5B33-4618-BCD9-5217-C8021BC350F8}"/>
              </a:ext>
            </a:extLst>
          </p:cNvPr>
          <p:cNvSpPr txBox="1"/>
          <p:nvPr/>
        </p:nvSpPr>
        <p:spPr>
          <a:xfrm>
            <a:off x="3521268" y="3699965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2015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E334A62-24C2-D39F-340E-03C8374A9FE3}"/>
              </a:ext>
            </a:extLst>
          </p:cNvPr>
          <p:cNvSpPr/>
          <p:nvPr/>
        </p:nvSpPr>
        <p:spPr>
          <a:xfrm>
            <a:off x="4322814" y="3655988"/>
            <a:ext cx="2154675" cy="411908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고용노동부 직업능력개발훈련 훈련기관 인증 획득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NCS 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기업활용 컨설팅 운영기관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800" spc="-60" dirty="0">
              <a:ln>
                <a:solidFill>
                  <a:srgbClr val="4F81BD">
                    <a:alpha val="0"/>
                  </a:srgbClr>
                </a:solidFill>
              </a:ln>
              <a:highlight>
                <a:srgbClr val="F8CBAD"/>
              </a:highlight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3CDBF906-B8BA-5208-E066-5216A0471534}"/>
              </a:ext>
            </a:extLst>
          </p:cNvPr>
          <p:cNvSpPr/>
          <p:nvPr/>
        </p:nvSpPr>
        <p:spPr>
          <a:xfrm>
            <a:off x="3994290" y="3655988"/>
            <a:ext cx="307400" cy="411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04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06 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00B9D4C-79EB-A997-691B-091F3EEB68C8}"/>
              </a:ext>
            </a:extLst>
          </p:cNvPr>
          <p:cNvSpPr txBox="1"/>
          <p:nvPr/>
        </p:nvSpPr>
        <p:spPr>
          <a:xfrm>
            <a:off x="3521268" y="4196938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2016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BC115C96-8011-E552-45C6-5491C98916CB}"/>
              </a:ext>
            </a:extLst>
          </p:cNvPr>
          <p:cNvSpPr/>
          <p:nvPr/>
        </p:nvSpPr>
        <p:spPr>
          <a:xfrm>
            <a:off x="4322814" y="4154088"/>
            <a:ext cx="2329850" cy="565796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NCS 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개발 참여전문가 역량향상과정 수행기관 지정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일터혁신 컨설팅 지원사업 수행기관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고용노동부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7E9F3EE3-06DA-8C19-0878-A5B8D81A1303}"/>
              </a:ext>
            </a:extLst>
          </p:cNvPr>
          <p:cNvSpPr/>
          <p:nvPr/>
        </p:nvSpPr>
        <p:spPr>
          <a:xfrm>
            <a:off x="3994290" y="4154088"/>
            <a:ext cx="307400" cy="591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06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ko-KR" sz="6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CC20723-0D14-BF8E-A13E-9F5367254229}"/>
              </a:ext>
            </a:extLst>
          </p:cNvPr>
          <p:cNvSpPr txBox="1"/>
          <p:nvPr/>
        </p:nvSpPr>
        <p:spPr>
          <a:xfrm>
            <a:off x="3521268" y="4768261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2017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8CD7DD6-0BC8-CD2B-8A51-C7D3AE192540}"/>
              </a:ext>
            </a:extLst>
          </p:cNvPr>
          <p:cNvSpPr/>
          <p:nvPr/>
        </p:nvSpPr>
        <p:spPr>
          <a:xfrm>
            <a:off x="4322814" y="4758260"/>
            <a:ext cx="2290483" cy="565796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일터혁신 컨설팅 지원사업 수행기관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고용노동부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NCS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개발 개선의견 전문가 검토 지원사업 수행기관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D3E1BAAD-34EA-4619-B059-DBDF6432D958}"/>
              </a:ext>
            </a:extLst>
          </p:cNvPr>
          <p:cNvSpPr/>
          <p:nvPr/>
        </p:nvSpPr>
        <p:spPr>
          <a:xfrm>
            <a:off x="3994290" y="4758260"/>
            <a:ext cx="307400" cy="411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03</a:t>
            </a:r>
            <a:endParaRPr lang="en-US" altLang="ko-KR" sz="6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12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BF73BA1-BD9C-9953-1CC7-DAA1018A5CC2}"/>
              </a:ext>
            </a:extLst>
          </p:cNvPr>
          <p:cNvSpPr txBox="1"/>
          <p:nvPr/>
        </p:nvSpPr>
        <p:spPr>
          <a:xfrm>
            <a:off x="3521268" y="5274989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2018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84559BF9-FF75-34C8-9E18-ED60A543460E}"/>
              </a:ext>
            </a:extLst>
          </p:cNvPr>
          <p:cNvSpPr/>
          <p:nvPr/>
        </p:nvSpPr>
        <p:spPr>
          <a:xfrm>
            <a:off x="4322814" y="5261600"/>
            <a:ext cx="2290483" cy="565796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일터혁신 컨설팅 지원사업 수행기관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고용노동부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NCS</a:t>
            </a:r>
            <a:r>
              <a:rPr lang="ko-KR" altLang="en-US" sz="800" spc="-60" dirty="0" err="1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개발∙개선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 참여인력 역량향상과정 수행기관 지정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1D2A1EAF-94D9-B87E-466D-4CCC639819BF}"/>
              </a:ext>
            </a:extLst>
          </p:cNvPr>
          <p:cNvSpPr/>
          <p:nvPr/>
        </p:nvSpPr>
        <p:spPr>
          <a:xfrm>
            <a:off x="3994290" y="5278259"/>
            <a:ext cx="307400" cy="222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1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12FC6DC-1F8F-F55A-2F94-2A38BC496ED0}"/>
              </a:ext>
            </a:extLst>
          </p:cNvPr>
          <p:cNvSpPr txBox="1"/>
          <p:nvPr/>
        </p:nvSpPr>
        <p:spPr>
          <a:xfrm>
            <a:off x="3521268" y="5793153"/>
            <a:ext cx="634789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2019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5D268056-1139-C557-C7EB-7C2F640243E9}"/>
              </a:ext>
            </a:extLst>
          </p:cNvPr>
          <p:cNvSpPr/>
          <p:nvPr/>
        </p:nvSpPr>
        <p:spPr>
          <a:xfrm>
            <a:off x="3994290" y="5758081"/>
            <a:ext cx="307400" cy="77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03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04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344E7F1-E1F5-08B7-2C5F-6BF01C4E7FC4}"/>
              </a:ext>
            </a:extLst>
          </p:cNvPr>
          <p:cNvSpPr/>
          <p:nvPr/>
        </p:nvSpPr>
        <p:spPr>
          <a:xfrm>
            <a:off x="4322814" y="5786652"/>
            <a:ext cx="2328851" cy="745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일터혁신 컨설팅 지원사업 수행기관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고용노동부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’19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 중소기업 훈련지원센터 운영기관 지정</a:t>
            </a:r>
            <a:b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</a:b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 err="1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경기경영자총협회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 컨소시엄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’19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NCS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기업활용컨설팅 운영기관 지정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387057A-FFD3-8681-F3AA-F1E11DD0D9DD}"/>
              </a:ext>
            </a:extLst>
          </p:cNvPr>
          <p:cNvSpPr txBox="1"/>
          <p:nvPr/>
        </p:nvSpPr>
        <p:spPr>
          <a:xfrm>
            <a:off x="6437327" y="2398196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2021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36F8D619-C7EE-308E-F8F2-0A77078B0AA4}"/>
              </a:ext>
            </a:extLst>
          </p:cNvPr>
          <p:cNvSpPr/>
          <p:nvPr/>
        </p:nvSpPr>
        <p:spPr>
          <a:xfrm>
            <a:off x="6930623" y="2360501"/>
            <a:ext cx="307400" cy="232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03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E46CDEF-CFB6-42BF-DD6E-8C63B6BEAC99}"/>
              </a:ext>
            </a:extLst>
          </p:cNvPr>
          <p:cNvSpPr/>
          <p:nvPr/>
        </p:nvSpPr>
        <p:spPr>
          <a:xfrm>
            <a:off x="7238023" y="2370711"/>
            <a:ext cx="2328851" cy="71936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기업수요맞춤형 훈련사업 직무분석 및 훈련과정 개발 컨설팅사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 err="1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국가임상시험지원재단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기업수요맞춤형 훈련사업 직무분석 및 훈련과정 개발 컨설팅사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한국전자기술연구원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9876D4F-5F36-5790-4DE7-DADEA8AD01D7}"/>
              </a:ext>
            </a:extLst>
          </p:cNvPr>
          <p:cNvSpPr txBox="1"/>
          <p:nvPr/>
        </p:nvSpPr>
        <p:spPr>
          <a:xfrm>
            <a:off x="6437328" y="3924182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2023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F74803A2-C578-C868-6F15-CCE127DA6534}"/>
              </a:ext>
            </a:extLst>
          </p:cNvPr>
          <p:cNvSpPr/>
          <p:nvPr/>
        </p:nvSpPr>
        <p:spPr>
          <a:xfrm>
            <a:off x="6930623" y="3871846"/>
            <a:ext cx="307400" cy="950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01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02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07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09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D6271CBE-E12B-816B-66BA-E6858AAFDDCC}"/>
              </a:ext>
            </a:extLst>
          </p:cNvPr>
          <p:cNvSpPr/>
          <p:nvPr/>
        </p:nvSpPr>
        <p:spPr>
          <a:xfrm>
            <a:off x="7238023" y="3871846"/>
            <a:ext cx="2328851" cy="130785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NCS 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기업활용 컨설팅 운영기관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일터혁신 컨설팅 지원사업 수행기관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고용노동부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산업전환 공동훈련센터 협약기업 직무전환 컨설팅사 지정</a:t>
            </a: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highlight>
                <a:srgbClr val="F8CBAD"/>
              </a:highlight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(SK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이노베이션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산업전환 기업 맞춤형 진단 및 훈련과정 개발 컨설팅사 지정</a:t>
            </a: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highlight>
                <a:srgbClr val="F8CBAD"/>
              </a:highlight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대한상공회의소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 </a:t>
            </a: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ts val="1200"/>
              </a:lnSpc>
              <a:spcBef>
                <a:spcPts val="200"/>
              </a:spcBef>
            </a:pP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6C4E45B-32B4-2571-8599-C4AC3C614BDE}"/>
              </a:ext>
            </a:extLst>
          </p:cNvPr>
          <p:cNvSpPr txBox="1"/>
          <p:nvPr/>
        </p:nvSpPr>
        <p:spPr>
          <a:xfrm>
            <a:off x="6437328" y="1978623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2020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B9262E8-B609-CF65-8EDD-60DC60C6C455}"/>
              </a:ext>
            </a:extLst>
          </p:cNvPr>
          <p:cNvSpPr/>
          <p:nvPr/>
        </p:nvSpPr>
        <p:spPr>
          <a:xfrm>
            <a:off x="6930623" y="1940928"/>
            <a:ext cx="307400" cy="411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03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04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48179E62-D440-74B4-9689-347B298143EE}"/>
              </a:ext>
            </a:extLst>
          </p:cNvPr>
          <p:cNvSpPr/>
          <p:nvPr/>
        </p:nvSpPr>
        <p:spPr>
          <a:xfrm>
            <a:off x="7238023" y="1951138"/>
            <a:ext cx="2328851" cy="4119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일터혁신 컨설팅 지원사업 수행기관 선정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고용노동부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2020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년도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NCS 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기업활용컨설팅 운영기관 선정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7A5D4BB-CD2A-30AB-5DF5-543F9DF48D40}"/>
              </a:ext>
            </a:extLst>
          </p:cNvPr>
          <p:cNvSpPr txBox="1"/>
          <p:nvPr/>
        </p:nvSpPr>
        <p:spPr>
          <a:xfrm>
            <a:off x="6437328" y="3126807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2022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A44F6DE2-9605-6122-86EF-6DD77B88169F}"/>
              </a:ext>
            </a:extLst>
          </p:cNvPr>
          <p:cNvSpPr/>
          <p:nvPr/>
        </p:nvSpPr>
        <p:spPr>
          <a:xfrm>
            <a:off x="6930623" y="3088993"/>
            <a:ext cx="307400" cy="565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05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b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</a:b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09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341D04AA-2C6F-0F7D-2FDE-A34D2683B39A}"/>
              </a:ext>
            </a:extLst>
          </p:cNvPr>
          <p:cNvSpPr/>
          <p:nvPr/>
        </p:nvSpPr>
        <p:spPr>
          <a:xfrm>
            <a:off x="7238023" y="3095057"/>
            <a:ext cx="2328851" cy="74501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2022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년도 사업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디지털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노동전환 컨설팅 수행기관 선정</a:t>
            </a:r>
            <a:b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</a:b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 err="1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중소벤처기업진흥공단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’22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년도 재택근무 종합컨설팅 수행기관 선정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고용노동부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대한민국 인적자원개발 대상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HRD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협회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3A0A5B2-9AFB-CD29-7F4A-A52D35544779}"/>
              </a:ext>
            </a:extLst>
          </p:cNvPr>
          <p:cNvSpPr txBox="1"/>
          <p:nvPr/>
        </p:nvSpPr>
        <p:spPr>
          <a:xfrm>
            <a:off x="6437328" y="5021911"/>
            <a:ext cx="634789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  <a:buFont typeface="Wingdings" pitchFamily="2" charset="2"/>
              <a:buNone/>
              <a:defRPr/>
            </a:pPr>
            <a:r>
              <a:rPr lang="en-US" altLang="ko-KR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2024</a:t>
            </a:r>
            <a:endParaRPr lang="ko-KR" altLang="en-US" sz="14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B484373-E909-54A2-9D69-0DB2CDABBEF4}"/>
              </a:ext>
            </a:extLst>
          </p:cNvPr>
          <p:cNvSpPr/>
          <p:nvPr/>
        </p:nvSpPr>
        <p:spPr>
          <a:xfrm>
            <a:off x="6930623" y="4969575"/>
            <a:ext cx="307400" cy="1489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01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02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04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04</a:t>
            </a: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  <a:cs typeface="KoPubWorld바탕체 Bold" panose="00000800000000000000" pitchFamily="2" charset="-127"/>
            </a:endParaRPr>
          </a:p>
          <a:p>
            <a:pPr algn="ctr" latinLnBrk="0">
              <a:lnSpc>
                <a:spcPts val="1200"/>
              </a:lnSpc>
              <a:spcBef>
                <a:spcPts val="200"/>
              </a:spcBef>
              <a:buFont typeface="Wingdings" pitchFamily="2" charset="2"/>
              <a:buNone/>
              <a:defRPr/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rPr>
              <a:t>05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E8462378-57C1-63EE-1685-D75EEC793BA1}"/>
              </a:ext>
            </a:extLst>
          </p:cNvPr>
          <p:cNvSpPr/>
          <p:nvPr/>
        </p:nvSpPr>
        <p:spPr>
          <a:xfrm>
            <a:off x="7238023" y="4969575"/>
            <a:ext cx="2328851" cy="164301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산업체 맞춤형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DX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작업전환 요구분석 과정개발 컨설팅사 지정 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NCS 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기업활용 컨설팅 운영기관 지정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한국산업인력공단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협약기업 직무분석 및 맞춤형 훈련과정 개발 컨설팅사 지정</a:t>
            </a: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highlight>
                <a:srgbClr val="F8CBAD"/>
              </a:highlight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 err="1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국가임상시험재단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산업전환 기업 맞춤형 진단 및 훈련과정 개발 컨설팅사 지정</a:t>
            </a: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highlight>
                <a:srgbClr val="F8CBAD"/>
              </a:highlight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 err="1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한국화학융합시험연구원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 </a:t>
            </a: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F8CBAD"/>
                </a:highlight>
                <a:latin typeface="페이퍼로지 4 Regular" pitchFamily="2" charset="-127"/>
                <a:ea typeface="페이퍼로지 4 Regular" pitchFamily="2" charset="-127"/>
              </a:rPr>
              <a:t>협약기업 직무분석 및 맞춤형 훈련과정 개발 컨설팅사 지정</a:t>
            </a:r>
            <a:endParaRPr lang="en-US" altLang="ko-KR" sz="800" spc="-60" dirty="0">
              <a:ln>
                <a:solidFill>
                  <a:srgbClr val="4F81BD">
                    <a:alpha val="0"/>
                  </a:srgbClr>
                </a:solidFill>
              </a:ln>
              <a:highlight>
                <a:srgbClr val="F8CBAD"/>
              </a:highlight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한국전자기술연구원</a:t>
            </a:r>
            <a:r>
              <a: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36318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9E2AD5-E03E-A504-F3D3-10F2993C485C}"/>
              </a:ext>
            </a:extLst>
          </p:cNvPr>
          <p:cNvSpPr/>
          <p:nvPr/>
        </p:nvSpPr>
        <p:spPr>
          <a:xfrm>
            <a:off x="351905" y="1906217"/>
            <a:ext cx="9217026" cy="1995801"/>
          </a:xfrm>
          <a:prstGeom prst="rect">
            <a:avLst/>
          </a:prstGeom>
          <a:noFill/>
          <a:ln w="19050" cap="flat" cmpd="sng" algn="ctr">
            <a:solidFill>
              <a:sysClr val="window" lastClr="FFFFFF">
                <a:lumMod val="50000"/>
              </a:sysClr>
            </a:solidFill>
            <a:prstDash val="sysDash"/>
            <a:miter lim="800000"/>
          </a:ln>
          <a:effectLst/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50" normalizeH="0" baseline="0" noProof="0" dirty="0">
              <a:ln>
                <a:solidFill>
                  <a:prstClr val="white">
                    <a:lumMod val="50000"/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  <a:cs typeface="+mn-cs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2B63185-D01A-387C-4CE7-A65CF89B0289}"/>
              </a:ext>
            </a:extLst>
          </p:cNvPr>
          <p:cNvCxnSpPr>
            <a:cxnSpLocks/>
          </p:cNvCxnSpPr>
          <p:nvPr/>
        </p:nvCxnSpPr>
        <p:spPr>
          <a:xfrm>
            <a:off x="4928334" y="2236749"/>
            <a:ext cx="0" cy="976120"/>
          </a:xfrm>
          <a:prstGeom prst="line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20" name="모서리가 둥근 직사각형 185">
            <a:extLst>
              <a:ext uri="{FF2B5EF4-FFF2-40B4-BE49-F238E27FC236}">
                <a16:creationId xmlns:a16="http://schemas.microsoft.com/office/drawing/2014/main" id="{3B4AFB7A-CAF0-D4EA-C6B4-9BF68B0ECEFE}"/>
              </a:ext>
            </a:extLst>
          </p:cNvPr>
          <p:cNvSpPr/>
          <p:nvPr/>
        </p:nvSpPr>
        <p:spPr>
          <a:xfrm>
            <a:off x="2556678" y="2602665"/>
            <a:ext cx="1738208" cy="305953"/>
          </a:xfrm>
          <a:prstGeom prst="roundRect">
            <a:avLst>
              <a:gd name="adj" fmla="val 5000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i="0" u="none" strike="noStrike" kern="0" cap="none" spc="-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자문위원</a:t>
            </a:r>
          </a:p>
        </p:txBody>
      </p:sp>
      <p:sp>
        <p:nvSpPr>
          <p:cNvPr id="21" name="모서리가 둥근 직사각형 186">
            <a:extLst>
              <a:ext uri="{FF2B5EF4-FFF2-40B4-BE49-F238E27FC236}">
                <a16:creationId xmlns:a16="http://schemas.microsoft.com/office/drawing/2014/main" id="{B800EA8D-0A52-3FF5-47E2-EC9A5AB239A0}"/>
              </a:ext>
            </a:extLst>
          </p:cNvPr>
          <p:cNvSpPr/>
          <p:nvPr/>
        </p:nvSpPr>
        <p:spPr>
          <a:xfrm>
            <a:off x="5561783" y="2602664"/>
            <a:ext cx="1738208" cy="305953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i="0" u="none" strike="noStrike" kern="0" cap="none" spc="-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경영지원팀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DB1DE57-A918-CC4F-382C-1CB61DB85B8B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4294886" y="2755641"/>
            <a:ext cx="1266898" cy="1"/>
          </a:xfrm>
          <a:prstGeom prst="line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miter lim="800000"/>
          </a:ln>
          <a:effectLst/>
        </p:spPr>
      </p:cxnSp>
      <p:sp>
        <p:nvSpPr>
          <p:cNvPr id="23" name="모서리가 둥근 직사각형 170">
            <a:extLst>
              <a:ext uri="{FF2B5EF4-FFF2-40B4-BE49-F238E27FC236}">
                <a16:creationId xmlns:a16="http://schemas.microsoft.com/office/drawing/2014/main" id="{4A4A3DEC-19CB-5EFD-EB34-01F26E46B20C}"/>
              </a:ext>
            </a:extLst>
          </p:cNvPr>
          <p:cNvSpPr/>
          <p:nvPr/>
        </p:nvSpPr>
        <p:spPr>
          <a:xfrm>
            <a:off x="3776368" y="2009515"/>
            <a:ext cx="2220788" cy="305953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i="0" u="none" strike="noStrike" kern="0" cap="none" spc="-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대표이사</a:t>
            </a:r>
          </a:p>
        </p:txBody>
      </p:sp>
      <p:cxnSp>
        <p:nvCxnSpPr>
          <p:cNvPr id="24" name="꺾인 연결선 171">
            <a:extLst>
              <a:ext uri="{FF2B5EF4-FFF2-40B4-BE49-F238E27FC236}">
                <a16:creationId xmlns:a16="http://schemas.microsoft.com/office/drawing/2014/main" id="{8263C22C-DC95-98CF-7A1D-7AFBCB294C8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937617" y="-237665"/>
            <a:ext cx="9919" cy="7261673"/>
          </a:xfrm>
          <a:prstGeom prst="bentConnector3">
            <a:avLst>
              <a:gd name="adj1" fmla="val 180000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25" name="모서리가 둥근 직사각형 180">
            <a:extLst>
              <a:ext uri="{FF2B5EF4-FFF2-40B4-BE49-F238E27FC236}">
                <a16:creationId xmlns:a16="http://schemas.microsoft.com/office/drawing/2014/main" id="{D7C92E45-0018-5510-823B-794FE9638AF6}"/>
              </a:ext>
            </a:extLst>
          </p:cNvPr>
          <p:cNvSpPr/>
          <p:nvPr/>
        </p:nvSpPr>
        <p:spPr>
          <a:xfrm>
            <a:off x="394191" y="3374389"/>
            <a:ext cx="1851856" cy="321085"/>
          </a:xfrm>
          <a:prstGeom prst="roundRect">
            <a:avLst>
              <a:gd name="adj" fmla="val 50000"/>
            </a:avLst>
          </a:prstGeom>
          <a:solidFill>
            <a:schemeClr val="tx2">
              <a:lumMod val="25000"/>
              <a:lumOff val="75000"/>
            </a:schemeClr>
          </a:solidFill>
          <a:ln w="5715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i="0" u="none" strike="noStrike" kern="0" cap="none" spc="-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직업능력개발연구 본부</a:t>
            </a:r>
          </a:p>
        </p:txBody>
      </p:sp>
      <p:sp>
        <p:nvSpPr>
          <p:cNvPr id="26" name="모서리가 둥근 직사각형 181">
            <a:extLst>
              <a:ext uri="{FF2B5EF4-FFF2-40B4-BE49-F238E27FC236}">
                <a16:creationId xmlns:a16="http://schemas.microsoft.com/office/drawing/2014/main" id="{1101A7AF-DA72-DC6A-83F5-7B73BF7AA95C}"/>
              </a:ext>
            </a:extLst>
          </p:cNvPr>
          <p:cNvSpPr/>
          <p:nvPr/>
        </p:nvSpPr>
        <p:spPr>
          <a:xfrm>
            <a:off x="5235307" y="3374389"/>
            <a:ext cx="1851856" cy="321085"/>
          </a:xfrm>
          <a:prstGeom prst="roundRect">
            <a:avLst>
              <a:gd name="adj" fmla="val 50000"/>
            </a:avLst>
          </a:prstGeom>
          <a:solidFill>
            <a:schemeClr val="tx2">
              <a:lumMod val="25000"/>
              <a:lumOff val="75000"/>
            </a:schemeClr>
          </a:solidFill>
          <a:ln w="5715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i="0" u="none" strike="noStrike" kern="0" cap="none" spc="-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경영혁신컨설팅 본부</a:t>
            </a:r>
          </a:p>
        </p:txBody>
      </p:sp>
      <p:sp>
        <p:nvSpPr>
          <p:cNvPr id="27" name="모서리가 둥근 직사각형 182">
            <a:extLst>
              <a:ext uri="{FF2B5EF4-FFF2-40B4-BE49-F238E27FC236}">
                <a16:creationId xmlns:a16="http://schemas.microsoft.com/office/drawing/2014/main" id="{C529B4C2-E6F2-5E41-EFB4-30393BD02720}"/>
              </a:ext>
            </a:extLst>
          </p:cNvPr>
          <p:cNvSpPr/>
          <p:nvPr/>
        </p:nvSpPr>
        <p:spPr>
          <a:xfrm>
            <a:off x="7655864" y="3374390"/>
            <a:ext cx="1851856" cy="321085"/>
          </a:xfrm>
          <a:prstGeom prst="roundRect">
            <a:avLst>
              <a:gd name="adj" fmla="val 50000"/>
            </a:avLst>
          </a:prstGeom>
          <a:solidFill>
            <a:schemeClr val="tx2">
              <a:lumMod val="25000"/>
              <a:lumOff val="75000"/>
            </a:schemeClr>
          </a:solidFill>
          <a:ln w="5715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0" cap="none" spc="-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AI</a:t>
            </a:r>
            <a:r>
              <a:rPr kumimoji="1" lang="ko-KR" altLang="en-US" sz="1050" b="0" i="0" u="none" strike="noStrike" kern="0" cap="none" spc="-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컨설팅연구소</a:t>
            </a:r>
          </a:p>
        </p:txBody>
      </p:sp>
      <p:sp>
        <p:nvSpPr>
          <p:cNvPr id="28" name="모서리가 둥근 직사각형 184">
            <a:extLst>
              <a:ext uri="{FF2B5EF4-FFF2-40B4-BE49-F238E27FC236}">
                <a16:creationId xmlns:a16="http://schemas.microsoft.com/office/drawing/2014/main" id="{AC43E599-A3DF-84FA-8501-752CDE4BDB06}"/>
              </a:ext>
            </a:extLst>
          </p:cNvPr>
          <p:cNvSpPr/>
          <p:nvPr/>
        </p:nvSpPr>
        <p:spPr>
          <a:xfrm>
            <a:off x="2814749" y="3374389"/>
            <a:ext cx="1851856" cy="321085"/>
          </a:xfrm>
          <a:prstGeom prst="roundRect">
            <a:avLst>
              <a:gd name="adj" fmla="val 50000"/>
            </a:avLst>
          </a:prstGeom>
          <a:solidFill>
            <a:schemeClr val="tx2">
              <a:lumMod val="25000"/>
              <a:lumOff val="75000"/>
            </a:schemeClr>
          </a:solidFill>
          <a:ln w="5715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i="0" u="none" strike="noStrike" kern="0" cap="none" spc="-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일터혁신 본부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58D80FF-9EB7-A940-8964-BE52603C52C3}"/>
              </a:ext>
            </a:extLst>
          </p:cNvPr>
          <p:cNvSpPr/>
          <p:nvPr/>
        </p:nvSpPr>
        <p:spPr>
          <a:xfrm>
            <a:off x="2996616" y="3845929"/>
            <a:ext cx="263549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 latinLnBrk="1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ko-KR" altLang="en-US" sz="1000" spc="-5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5E933417-049F-98FA-3DD9-00BC8404BC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546241"/>
              </p:ext>
            </p:extLst>
          </p:nvPr>
        </p:nvGraphicFramePr>
        <p:xfrm>
          <a:off x="351907" y="4168475"/>
          <a:ext cx="9217024" cy="2248203"/>
        </p:xfrm>
        <a:graphic>
          <a:graphicData uri="http://schemas.openxmlformats.org/drawingml/2006/table">
            <a:tbl>
              <a:tblPr/>
              <a:tblGrid>
                <a:gridCol w="21253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2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3159">
                  <a:extLst>
                    <a:ext uri="{9D8B030D-6E8A-4147-A177-3AD203B41FA5}">
                      <a16:colId xmlns:a16="http://schemas.microsoft.com/office/drawing/2014/main" val="414689094"/>
                    </a:ext>
                  </a:extLst>
                </a:gridCol>
                <a:gridCol w="743160">
                  <a:extLst>
                    <a:ext uri="{9D8B030D-6E8A-4147-A177-3AD203B41FA5}">
                      <a16:colId xmlns:a16="http://schemas.microsoft.com/office/drawing/2014/main" val="3965796537"/>
                    </a:ext>
                  </a:extLst>
                </a:gridCol>
              </a:tblGrid>
              <a:tr h="258721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주요 사업 내용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인원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명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1050" b="1" kern="1200" spc="-5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0" kern="120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0" kern="120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정규직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비정규직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소계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102168"/>
                  </a:ext>
                </a:extLst>
              </a:tr>
              <a:tr h="29440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직업능력개발연구 본부</a:t>
                      </a:r>
                      <a:endParaRPr lang="en-US" altLang="ko-KR" sz="1050" kern="1200" spc="-5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8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HRD </a:t>
                      </a:r>
                      <a:r>
                        <a:rPr lang="ko-KR" altLang="en-US" sz="1050" kern="0" spc="-8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컨설팅</a:t>
                      </a:r>
                      <a:r>
                        <a:rPr lang="en-US" altLang="ko-KR" sz="1050" kern="0" spc="-8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50" kern="0" spc="-8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직무분석</a:t>
                      </a:r>
                      <a:r>
                        <a:rPr lang="en-US" altLang="ko-KR" sz="1050" kern="0" spc="-8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</a:t>
                      </a:r>
                      <a:r>
                        <a:rPr lang="ko-KR" altLang="en-US" sz="1050" kern="0" spc="-8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훈련과정 개발</a:t>
                      </a:r>
                      <a:r>
                        <a:rPr lang="en-US" altLang="ko-KR" sz="1050" kern="0" spc="-8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r>
                        <a:rPr lang="ko-KR" altLang="en-US" sz="1050" kern="0" spc="-8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50" kern="0" spc="-8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NCS </a:t>
                      </a:r>
                      <a:r>
                        <a:rPr lang="ko-KR" altLang="en-US" sz="1050" kern="0" spc="-8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개발·개선</a:t>
                      </a:r>
                      <a:r>
                        <a:rPr lang="ko-KR" altLang="en-US" sz="1050" kern="0" spc="-8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50" kern="0" spc="-8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50" kern="0" spc="-8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직업능력개발정책 연구</a:t>
                      </a:r>
                      <a:r>
                        <a:rPr lang="en-US" altLang="ko-KR" sz="1050" kern="0" spc="-8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0" spc="-8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컨설팅</a:t>
                      </a:r>
                      <a:r>
                        <a:rPr lang="en-US" altLang="ko-KR" sz="1050" kern="0" spc="-8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0" spc="-8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교육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40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일터혁신 본부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임금</a:t>
                      </a:r>
                      <a:r>
                        <a:rPr lang="en-US" altLang="ko-KR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평가체계 개선</a:t>
                      </a:r>
                      <a:r>
                        <a:rPr lang="en-US" altLang="ko-KR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장시간근로개선</a:t>
                      </a:r>
                      <a:r>
                        <a:rPr lang="en-US" altLang="ko-KR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ESG</a:t>
                      </a:r>
                      <a:r>
                        <a:rPr lang="ko-KR" alt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컨설팅 등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231832"/>
                  </a:ext>
                </a:extLst>
              </a:tr>
              <a:tr h="29440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경영혁신컨설팅 본부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경영진단</a:t>
                      </a:r>
                      <a:r>
                        <a:rPr lang="en-US" altLang="ko-KR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중장기전략수립</a:t>
                      </a:r>
                      <a:r>
                        <a:rPr lang="en-US" altLang="ko-KR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신규사업개발</a:t>
                      </a:r>
                      <a:r>
                        <a:rPr lang="en-US" altLang="ko-KR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직무분석 기반 적정인력 산정 등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29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~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29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40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spc="-5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경영지원팀</a:t>
                      </a:r>
                      <a:endParaRPr lang="ko-KR" altLang="en-US" sz="1050" kern="1200" spc="-5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인사 및 </a:t>
                      </a:r>
                      <a:r>
                        <a:rPr lang="ko-KR" altLang="en-US" sz="1050" kern="1200" spc="-5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행정서류</a:t>
                      </a:r>
                      <a:r>
                        <a:rPr lang="ko-KR" alt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지원 및 관리</a:t>
                      </a:r>
                      <a:endParaRPr lang="en-US" sz="1050" kern="1200" spc="-5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40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AI</a:t>
                      </a:r>
                      <a:r>
                        <a:rPr lang="ko-KR" alt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컨설팅연구소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HR IT </a:t>
                      </a:r>
                      <a:r>
                        <a:rPr lang="ko-KR" alt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솔루션</a:t>
                      </a:r>
                      <a:r>
                        <a:rPr lang="en-US" altLang="ko-KR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관련 시스템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721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합 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86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86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31" name="꺾인 연결선 171">
            <a:extLst>
              <a:ext uri="{FF2B5EF4-FFF2-40B4-BE49-F238E27FC236}">
                <a16:creationId xmlns:a16="http://schemas.microsoft.com/office/drawing/2014/main" id="{3B998248-3306-288B-B190-45F50A233F9F}"/>
              </a:ext>
            </a:extLst>
          </p:cNvPr>
          <p:cNvCxnSpPr>
            <a:cxnSpLocks/>
            <a:stCxn id="28" idx="0"/>
            <a:endCxn id="26" idx="0"/>
          </p:cNvCxnSpPr>
          <p:nvPr/>
        </p:nvCxnSpPr>
        <p:spPr>
          <a:xfrm rot="5400000" flipH="1" flipV="1">
            <a:off x="4950956" y="2164110"/>
            <a:ext cx="12700" cy="2420558"/>
          </a:xfrm>
          <a:prstGeom prst="bentConnector3">
            <a:avLst>
              <a:gd name="adj1" fmla="val 126000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23C8567-A2C2-7300-C22D-A0C3E860847D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858E1BD-A8B9-49D0-CD3C-415DFEC373A6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조직 및 인원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3539AF4-71FA-A8CD-F314-810399275428}"/>
              </a:ext>
            </a:extLst>
          </p:cNvPr>
          <p:cNvSpPr/>
          <p:nvPr/>
        </p:nvSpPr>
        <p:spPr>
          <a:xfrm>
            <a:off x="1724627" y="262250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현재 조직구조</a:t>
            </a:r>
            <a:endParaRPr lang="en-US" altLang="ko-KR" sz="140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5" name="텍스트 개체 틀 1">
            <a:extLst>
              <a:ext uri="{FF2B5EF4-FFF2-40B4-BE49-F238E27FC236}">
                <a16:creationId xmlns:a16="http://schemas.microsoft.com/office/drawing/2014/main" id="{672A50A5-2C00-D071-53AB-83B4AB455A2A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 err="1">
                <a:latin typeface="페이퍼로지 5 Medium" pitchFamily="2" charset="-127"/>
                <a:ea typeface="페이퍼로지 5 Medium" pitchFamily="2" charset="-127"/>
              </a:rPr>
              <a:t>시앤피컨설팅</a:t>
            </a:r>
            <a:r>
              <a:rPr lang="ko-KR" altLang="en-US" sz="1700" spc="-50" dirty="0">
                <a:latin typeface="페이퍼로지 5 Medium" pitchFamily="2" charset="-127"/>
                <a:ea typeface="페이퍼로지 5 Medium" pitchFamily="2" charset="-127"/>
              </a:rPr>
              <a:t> 조직 구조 및 인원 현황</a:t>
            </a:r>
          </a:p>
        </p:txBody>
      </p:sp>
    </p:spTree>
    <p:extLst>
      <p:ext uri="{BB962C8B-B14F-4D97-AF65-F5344CB8AC3E}">
        <p14:creationId xmlns:p14="http://schemas.microsoft.com/office/powerpoint/2010/main" val="2727330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3C711-B2DB-EA41-9912-5D5664CC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714DF79F-F2C7-5A48-1F3D-1C6589CCB2E2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0CEDE917-D52B-6208-9FB9-A02385DBA8B7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전략방향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0A783E6D-7909-C2C0-A761-C5548AAA7B4F}"/>
              </a:ext>
            </a:extLst>
          </p:cNvPr>
          <p:cNvSpPr/>
          <p:nvPr/>
        </p:nvSpPr>
        <p:spPr>
          <a:xfrm>
            <a:off x="1724627" y="262250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4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시앤피컨설팅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현재 조직 구조 문제점 및 전략 방향</a:t>
            </a:r>
            <a:endParaRPr lang="en-US" altLang="ko-KR" sz="140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11" name="텍스트 개체 틀 1">
            <a:extLst>
              <a:ext uri="{FF2B5EF4-FFF2-40B4-BE49-F238E27FC236}">
                <a16:creationId xmlns:a16="http://schemas.microsoft.com/office/drawing/2014/main" id="{F765A28F-5859-61A4-C4C4-A68DC7FC0C3F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 err="1">
                <a:latin typeface="페이퍼로지 5 Medium" pitchFamily="2" charset="-127"/>
                <a:ea typeface="페이퍼로지 5 Medium" pitchFamily="2" charset="-127"/>
              </a:rPr>
              <a:t>시앤피컨설팅</a:t>
            </a:r>
            <a:r>
              <a:rPr lang="ko-KR" altLang="en-US" sz="1700" spc="-50" dirty="0">
                <a:latin typeface="페이퍼로지 5 Medium" pitchFamily="2" charset="-127"/>
                <a:ea typeface="페이퍼로지 5 Medium" pitchFamily="2" charset="-127"/>
              </a:rPr>
              <a:t> 현재 조직 구조 진단 결과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CE5163D-C856-BEDF-1E5F-F202446FAD08}"/>
              </a:ext>
            </a:extLst>
          </p:cNvPr>
          <p:cNvGrpSpPr/>
          <p:nvPr/>
        </p:nvGrpSpPr>
        <p:grpSpPr>
          <a:xfrm>
            <a:off x="344373" y="1412876"/>
            <a:ext cx="9355256" cy="5182876"/>
            <a:chOff x="344373" y="2031680"/>
            <a:chExt cx="9355256" cy="4564071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07FD2BE-6B20-DA14-2806-85DC1DAB9DB6}"/>
                </a:ext>
              </a:extLst>
            </p:cNvPr>
            <p:cNvSpPr/>
            <p:nvPr/>
          </p:nvSpPr>
          <p:spPr>
            <a:xfrm>
              <a:off x="344373" y="2031680"/>
              <a:ext cx="4482808" cy="246698"/>
            </a:xfrm>
            <a:prstGeom prst="rect">
              <a:avLst/>
            </a:prstGeom>
            <a:solidFill>
              <a:srgbClr val="25234D"/>
            </a:solidFill>
            <a:ln w="3175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100" b="0" i="0" u="non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페이퍼로지 5 Medium" pitchFamily="2" charset="-127"/>
                  <a:ea typeface="페이퍼로지 5 Medium" pitchFamily="2" charset="-127"/>
                </a:rPr>
                <a:t>상황배경적 차원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804951EF-A01B-DD52-79EA-61941FD844EF}"/>
                </a:ext>
              </a:extLst>
            </p:cNvPr>
            <p:cNvSpPr/>
            <p:nvPr/>
          </p:nvSpPr>
          <p:spPr>
            <a:xfrm>
              <a:off x="5216821" y="2031680"/>
              <a:ext cx="4482808" cy="246698"/>
            </a:xfrm>
            <a:prstGeom prst="rect">
              <a:avLst/>
            </a:prstGeom>
            <a:solidFill>
              <a:srgbClr val="25234D"/>
            </a:solidFill>
            <a:ln w="3175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100" b="0" i="0" u="none" kern="0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페이퍼로지 5 Medium" pitchFamily="2" charset="-127"/>
                  <a:ea typeface="페이퍼로지 5 Medium" pitchFamily="2" charset="-127"/>
                </a:rPr>
                <a:t>구조적 차원</a:t>
              </a: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1888BB1C-92A8-F804-60FA-5AC1C65956ED}"/>
                </a:ext>
              </a:extLst>
            </p:cNvPr>
            <p:cNvGrpSpPr/>
            <p:nvPr/>
          </p:nvGrpSpPr>
          <p:grpSpPr>
            <a:xfrm>
              <a:off x="344505" y="2336325"/>
              <a:ext cx="4482676" cy="4259426"/>
              <a:chOff x="344505" y="2336324"/>
              <a:chExt cx="4482676" cy="5532013"/>
            </a:xfrm>
          </p:grpSpPr>
          <p:sp>
            <p:nvSpPr>
              <p:cNvPr id="14" name="모서리가 둥근 직사각형 7">
                <a:extLst>
                  <a:ext uri="{FF2B5EF4-FFF2-40B4-BE49-F238E27FC236}">
                    <a16:creationId xmlns:a16="http://schemas.microsoft.com/office/drawing/2014/main" id="{083AD488-8BAD-AD52-BAB0-AC08D6059645}"/>
                  </a:ext>
                </a:extLst>
              </p:cNvPr>
              <p:cNvSpPr/>
              <p:nvPr/>
            </p:nvSpPr>
            <p:spPr>
              <a:xfrm>
                <a:off x="344505" y="2336324"/>
                <a:ext cx="577845" cy="1298467"/>
              </a:xfrm>
              <a:prstGeom prst="rect">
                <a:avLst/>
              </a:prstGeom>
              <a:solidFill>
                <a:srgbClr val="1E49E2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1000" kern="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환경</a:t>
                </a:r>
              </a:p>
            </p:txBody>
          </p:sp>
          <p:sp>
            <p:nvSpPr>
              <p:cNvPr id="73" name="모서리가 둥근 직사각형 7">
                <a:extLst>
                  <a:ext uri="{FF2B5EF4-FFF2-40B4-BE49-F238E27FC236}">
                    <a16:creationId xmlns:a16="http://schemas.microsoft.com/office/drawing/2014/main" id="{2302BEDF-2064-A105-7881-166BE0EC9400}"/>
                  </a:ext>
                </a:extLst>
              </p:cNvPr>
              <p:cNvSpPr/>
              <p:nvPr/>
            </p:nvSpPr>
            <p:spPr>
              <a:xfrm>
                <a:off x="344505" y="3716576"/>
                <a:ext cx="577845" cy="1324950"/>
              </a:xfrm>
              <a:prstGeom prst="rect">
                <a:avLst/>
              </a:prstGeom>
              <a:solidFill>
                <a:srgbClr val="1E49E2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1000" kern="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조직 목적 및 전략</a:t>
                </a:r>
              </a:p>
            </p:txBody>
          </p:sp>
          <p:sp>
            <p:nvSpPr>
              <p:cNvPr id="74" name="모서리가 둥근 직사각형 7">
                <a:extLst>
                  <a:ext uri="{FF2B5EF4-FFF2-40B4-BE49-F238E27FC236}">
                    <a16:creationId xmlns:a16="http://schemas.microsoft.com/office/drawing/2014/main" id="{EE373C7D-B181-E951-F0B2-C11C6EEF6A77}"/>
                  </a:ext>
                </a:extLst>
              </p:cNvPr>
              <p:cNvSpPr/>
              <p:nvPr/>
            </p:nvSpPr>
            <p:spPr>
              <a:xfrm>
                <a:off x="344505" y="5128238"/>
                <a:ext cx="577845" cy="1324950"/>
              </a:xfrm>
              <a:prstGeom prst="rect">
                <a:avLst/>
              </a:prstGeom>
              <a:solidFill>
                <a:srgbClr val="1E49E2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1000" kern="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조직 문화</a:t>
                </a:r>
              </a:p>
            </p:txBody>
          </p:sp>
          <p:sp>
            <p:nvSpPr>
              <p:cNvPr id="20" name="모서리가 둥근 직사각형 7">
                <a:extLst>
                  <a:ext uri="{FF2B5EF4-FFF2-40B4-BE49-F238E27FC236}">
                    <a16:creationId xmlns:a16="http://schemas.microsoft.com/office/drawing/2014/main" id="{A33F7E6B-8EA6-0B6D-5FBB-D6CECAFE55FB}"/>
                  </a:ext>
                </a:extLst>
              </p:cNvPr>
              <p:cNvSpPr/>
              <p:nvPr/>
            </p:nvSpPr>
            <p:spPr>
              <a:xfrm>
                <a:off x="1026225" y="3713088"/>
                <a:ext cx="3800956" cy="374095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‘전문 컨설팅 </a:t>
                </a:r>
                <a:r>
                  <a:rPr lang="ko-KR" altLang="en-US" sz="900" dirty="0" err="1">
                    <a:latin typeface="페이퍼로지 5 Medium" pitchFamily="2" charset="-127"/>
                    <a:ea typeface="페이퍼로지 5 Medium" pitchFamily="2" charset="-127"/>
                  </a:rPr>
                  <a:t>기관’이라는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 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지향점은 있으나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,</a:t>
                </a:r>
                <a:b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</a:b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이를 조직구조</a:t>
                </a:r>
                <a:r>
                  <a:rPr lang="en-US" altLang="ko-KR" sz="900">
                    <a:latin typeface="페이퍼로지 5 Medium" pitchFamily="2" charset="-127"/>
                    <a:ea typeface="페이퍼로지 5 Medium" pitchFamily="2" charset="-127"/>
                  </a:rPr>
                  <a:t>·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역할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·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운영 방식으로 구체화한 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설계는 미흡</a:t>
                </a:r>
                <a:endParaRPr lang="en-US" altLang="ko-KR" sz="900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21" name="모서리가 둥근 직사각형 7">
                <a:extLst>
                  <a:ext uri="{FF2B5EF4-FFF2-40B4-BE49-F238E27FC236}">
                    <a16:creationId xmlns:a16="http://schemas.microsoft.com/office/drawing/2014/main" id="{39BCA1EA-D4D1-AAEB-3065-20A4B20E8CE6}"/>
                  </a:ext>
                </a:extLst>
              </p:cNvPr>
              <p:cNvSpPr/>
              <p:nvPr/>
            </p:nvSpPr>
            <p:spPr>
              <a:xfrm>
                <a:off x="1026225" y="4188516"/>
                <a:ext cx="3800956" cy="374095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전략 목표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(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전문성 강화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, 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지속 성장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)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가</a:t>
                </a:r>
                <a:b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</a:b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조직 단위의 책임과 역할로 연결되지 않음</a:t>
                </a:r>
              </a:p>
            </p:txBody>
          </p:sp>
          <p:sp>
            <p:nvSpPr>
              <p:cNvPr id="22" name="모서리가 둥근 직사각형 7">
                <a:extLst>
                  <a:ext uri="{FF2B5EF4-FFF2-40B4-BE49-F238E27FC236}">
                    <a16:creationId xmlns:a16="http://schemas.microsoft.com/office/drawing/2014/main" id="{6BCF3646-05BD-C043-720C-DA453616F9F7}"/>
                  </a:ext>
                </a:extLst>
              </p:cNvPr>
              <p:cNvSpPr/>
              <p:nvPr/>
            </p:nvSpPr>
            <p:spPr>
              <a:xfrm>
                <a:off x="1026225" y="4663943"/>
                <a:ext cx="3800956" cy="374095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전략 실행을 지원하는 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중앙 관리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·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조정 기능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(</a:t>
                </a:r>
                <a:r>
                  <a:rPr lang="en-US" altLang="ko-KR" sz="900">
                    <a:latin typeface="페이퍼로지 5 Medium" pitchFamily="2" charset="-127"/>
                    <a:ea typeface="페이퍼로지 5 Medium" pitchFamily="2" charset="-127"/>
                  </a:rPr>
                  <a:t>Corporate Center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) 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이 약함</a:t>
                </a:r>
              </a:p>
            </p:txBody>
          </p:sp>
          <p:sp>
            <p:nvSpPr>
              <p:cNvPr id="18" name="모서리가 둥근 직사각형 7">
                <a:extLst>
                  <a:ext uri="{FF2B5EF4-FFF2-40B4-BE49-F238E27FC236}">
                    <a16:creationId xmlns:a16="http://schemas.microsoft.com/office/drawing/2014/main" id="{756984D2-3FE5-63CF-8B6C-206B90CBA62F}"/>
                  </a:ext>
                </a:extLst>
              </p:cNvPr>
              <p:cNvSpPr/>
              <p:nvPr/>
            </p:nvSpPr>
            <p:spPr>
              <a:xfrm>
                <a:off x="1026225" y="2779101"/>
                <a:ext cx="3800956" cy="376811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프로젝트 수주 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방식이 단기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·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과제 중심으로 이루어져</a:t>
                </a:r>
                <a:b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</a:b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성과 변동성과 인력 부담이 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지속적으로 확대</a:t>
                </a:r>
                <a:endParaRPr lang="en-US" altLang="ko-KR" sz="900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19" name="모서리가 둥근 직사각형 7">
                <a:extLst>
                  <a:ext uri="{FF2B5EF4-FFF2-40B4-BE49-F238E27FC236}">
                    <a16:creationId xmlns:a16="http://schemas.microsoft.com/office/drawing/2014/main" id="{C8CDB059-ADF9-483D-5DEC-F29320DFB881}"/>
                  </a:ext>
                </a:extLst>
              </p:cNvPr>
              <p:cNvSpPr/>
              <p:nvPr/>
            </p:nvSpPr>
            <p:spPr>
              <a:xfrm>
                <a:off x="1026225" y="3257980"/>
                <a:ext cx="3800956" cy="376811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AI·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신사업 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등 기술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·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환경 변화에 대한 조직 차원의 대응 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구조 미흡</a:t>
                </a:r>
                <a:endParaRPr lang="en-US" altLang="ko-KR" sz="900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25" name="모서리가 둥근 직사각형 7">
                <a:extLst>
                  <a:ext uri="{FF2B5EF4-FFF2-40B4-BE49-F238E27FC236}">
                    <a16:creationId xmlns:a16="http://schemas.microsoft.com/office/drawing/2014/main" id="{3ABA0C69-6242-6785-F14E-B5130CCE9F20}"/>
                  </a:ext>
                </a:extLst>
              </p:cNvPr>
              <p:cNvSpPr/>
              <p:nvPr/>
            </p:nvSpPr>
            <p:spPr>
              <a:xfrm>
                <a:off x="1026225" y="2336324"/>
                <a:ext cx="3800956" cy="376811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컨설팅 시장의 전문화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·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고도화가 빠르게 진행되고 있음에도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,</a:t>
                </a:r>
                <a:b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</a:b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조직은 여전히 범용 컨설턴트 중심 구조에 머물러 있음</a:t>
                </a:r>
                <a:endParaRPr lang="en-US" altLang="ko-KR" sz="900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69" name="모서리가 둥근 직사각형 7">
                <a:extLst>
                  <a:ext uri="{FF2B5EF4-FFF2-40B4-BE49-F238E27FC236}">
                    <a16:creationId xmlns:a16="http://schemas.microsoft.com/office/drawing/2014/main" id="{40EA4079-CA81-B9C4-5720-70572E5180BE}"/>
                  </a:ext>
                </a:extLst>
              </p:cNvPr>
              <p:cNvSpPr/>
              <p:nvPr/>
            </p:nvSpPr>
            <p:spPr>
              <a:xfrm>
                <a:off x="1026225" y="5124751"/>
                <a:ext cx="3800956" cy="374095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개인 헌신과 책임감에 의존하는 ‘사람 중심 </a:t>
                </a:r>
                <a:r>
                  <a:rPr lang="ko-KR" altLang="en-US" sz="900" dirty="0" err="1">
                    <a:latin typeface="페이퍼로지 5 Medium" pitchFamily="2" charset="-127"/>
                    <a:ea typeface="페이퍼로지 5 Medium" pitchFamily="2" charset="-127"/>
                  </a:rPr>
                  <a:t>문화’</a:t>
                </a:r>
                <a:r>
                  <a:rPr lang="ko-KR" altLang="en-US" sz="900" err="1">
                    <a:latin typeface="페이퍼로지 5 Medium" pitchFamily="2" charset="-127"/>
                    <a:ea typeface="페이퍼로지 5 Medium" pitchFamily="2" charset="-127"/>
                  </a:rPr>
                  <a:t>가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 강함</a:t>
                </a:r>
                <a:endParaRPr lang="en-US" altLang="ko-KR" sz="900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70" name="모서리가 둥근 직사각형 7">
                <a:extLst>
                  <a:ext uri="{FF2B5EF4-FFF2-40B4-BE49-F238E27FC236}">
                    <a16:creationId xmlns:a16="http://schemas.microsoft.com/office/drawing/2014/main" id="{3F9D975C-9EA4-5746-3FAD-363B16E95C11}"/>
                  </a:ext>
                </a:extLst>
              </p:cNvPr>
              <p:cNvSpPr/>
              <p:nvPr/>
            </p:nvSpPr>
            <p:spPr>
              <a:xfrm>
                <a:off x="1026225" y="5600180"/>
                <a:ext cx="3800956" cy="374095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“다 잘 해야 </a:t>
                </a:r>
                <a:r>
                  <a:rPr lang="ko-KR" altLang="en-US" sz="900" dirty="0" err="1">
                    <a:latin typeface="페이퍼로지 5 Medium" pitchFamily="2" charset="-127"/>
                    <a:ea typeface="페이퍼로지 5 Medium" pitchFamily="2" charset="-127"/>
                  </a:rPr>
                  <a:t>한다”는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 암묵적 기대가 존재하여</a:t>
                </a:r>
                <a:b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</a:b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역할 경계가 모호하고 업무 과부하가 상시화</a:t>
                </a:r>
              </a:p>
            </p:txBody>
          </p:sp>
          <p:sp>
            <p:nvSpPr>
              <p:cNvPr id="71" name="모서리가 둥근 직사각형 7">
                <a:extLst>
                  <a:ext uri="{FF2B5EF4-FFF2-40B4-BE49-F238E27FC236}">
                    <a16:creationId xmlns:a16="http://schemas.microsoft.com/office/drawing/2014/main" id="{15DE50D3-8522-55A7-8C07-45C1C5DBA2D1}"/>
                  </a:ext>
                </a:extLst>
              </p:cNvPr>
              <p:cNvSpPr/>
              <p:nvPr/>
            </p:nvSpPr>
            <p:spPr>
              <a:xfrm>
                <a:off x="1026225" y="6075606"/>
                <a:ext cx="3800956" cy="374095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성과에 대한 명확한 기준이 없어</a:t>
                </a:r>
                <a:b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</a:b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공정성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·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보상에 대한 불만이 누적</a:t>
                </a:r>
              </a:p>
            </p:txBody>
          </p:sp>
          <p:sp>
            <p:nvSpPr>
              <p:cNvPr id="2" name="모서리가 둥근 직사각형 7">
                <a:extLst>
                  <a:ext uri="{FF2B5EF4-FFF2-40B4-BE49-F238E27FC236}">
                    <a16:creationId xmlns:a16="http://schemas.microsoft.com/office/drawing/2014/main" id="{17BCA601-E302-25EE-52B0-B8CF1917ACE4}"/>
                  </a:ext>
                </a:extLst>
              </p:cNvPr>
              <p:cNvSpPr/>
              <p:nvPr/>
            </p:nvSpPr>
            <p:spPr>
              <a:xfrm>
                <a:off x="1026225" y="6539900"/>
                <a:ext cx="3800956" cy="374095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인원 규모는 중견 컨설팅사 수준으로 성장했으나</a:t>
                </a:r>
                <a:b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</a:b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조직 운영 방식은 소규모 조직의 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관행을 유지</a:t>
                </a:r>
                <a:endParaRPr lang="en-US" altLang="ko-KR" sz="900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9" name="모서리가 둥근 직사각형 7">
                <a:extLst>
                  <a:ext uri="{FF2B5EF4-FFF2-40B4-BE49-F238E27FC236}">
                    <a16:creationId xmlns:a16="http://schemas.microsoft.com/office/drawing/2014/main" id="{5D063F5D-5E55-DCFB-443F-76F6B3204005}"/>
                  </a:ext>
                </a:extLst>
              </p:cNvPr>
              <p:cNvSpPr/>
              <p:nvPr/>
            </p:nvSpPr>
            <p:spPr>
              <a:xfrm>
                <a:off x="1026225" y="7015329"/>
                <a:ext cx="3800956" cy="374095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규모 확장에 비해 관리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·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지원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·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통제 체계의 성숙도가 낮음</a:t>
                </a:r>
              </a:p>
            </p:txBody>
          </p:sp>
          <p:sp>
            <p:nvSpPr>
              <p:cNvPr id="10" name="모서리가 둥근 직사각형 7">
                <a:extLst>
                  <a:ext uri="{FF2B5EF4-FFF2-40B4-BE49-F238E27FC236}">
                    <a16:creationId xmlns:a16="http://schemas.microsoft.com/office/drawing/2014/main" id="{8697E8A9-6AC9-0F9F-4193-684CA4C40849}"/>
                  </a:ext>
                </a:extLst>
              </p:cNvPr>
              <p:cNvSpPr/>
              <p:nvPr/>
            </p:nvSpPr>
            <p:spPr>
              <a:xfrm>
                <a:off x="1026225" y="7490755"/>
                <a:ext cx="3800956" cy="374095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인원 증가가 오히려 컨설턴트 성과 및 행정 부담 증가로 연결</a:t>
                </a:r>
              </a:p>
            </p:txBody>
          </p:sp>
          <p:sp>
            <p:nvSpPr>
              <p:cNvPr id="11" name="모서리가 둥근 직사각형 7">
                <a:extLst>
                  <a:ext uri="{FF2B5EF4-FFF2-40B4-BE49-F238E27FC236}">
                    <a16:creationId xmlns:a16="http://schemas.microsoft.com/office/drawing/2014/main" id="{14DD236A-2331-72F8-268D-DAE07FC1063F}"/>
                  </a:ext>
                </a:extLst>
              </p:cNvPr>
              <p:cNvSpPr/>
              <p:nvPr/>
            </p:nvSpPr>
            <p:spPr>
              <a:xfrm>
                <a:off x="344505" y="6543387"/>
                <a:ext cx="577845" cy="1324950"/>
              </a:xfrm>
              <a:prstGeom prst="rect">
                <a:avLst/>
              </a:prstGeom>
              <a:solidFill>
                <a:srgbClr val="1E49E2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1000" kern="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조직 문화</a:t>
                </a:r>
              </a:p>
            </p:txBody>
          </p:sp>
        </p:grpSp>
        <p:sp>
          <p:nvSpPr>
            <p:cNvPr id="29" name="모서리가 둥근 직사각형 7">
              <a:extLst>
                <a:ext uri="{FF2B5EF4-FFF2-40B4-BE49-F238E27FC236}">
                  <a16:creationId xmlns:a16="http://schemas.microsoft.com/office/drawing/2014/main" id="{E1DAA216-42A1-1639-27A6-8C1D622EC7B4}"/>
                </a:ext>
              </a:extLst>
            </p:cNvPr>
            <p:cNvSpPr/>
            <p:nvPr/>
          </p:nvSpPr>
          <p:spPr>
            <a:xfrm>
              <a:off x="5216953" y="2336325"/>
              <a:ext cx="577845" cy="999767"/>
            </a:xfrm>
            <a:prstGeom prst="rect">
              <a:avLst/>
            </a:prstGeom>
            <a:solidFill>
              <a:srgbClr val="1E49E2"/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lIns="0" tIns="0" rIns="0" bIns="36000" rtlCol="0" anchor="ctr"/>
            <a:lstStyle/>
            <a:p>
              <a:pPr algn="ctr" defTabSz="914400"/>
              <a:r>
                <a:rPr lang="ko-KR" altLang="en-US" sz="1000" kern="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공식화</a:t>
              </a:r>
            </a:p>
          </p:txBody>
        </p:sp>
        <p:sp>
          <p:nvSpPr>
            <p:cNvPr id="35" name="모서리가 둥근 직사각형 7">
              <a:extLst>
                <a:ext uri="{FF2B5EF4-FFF2-40B4-BE49-F238E27FC236}">
                  <a16:creationId xmlns:a16="http://schemas.microsoft.com/office/drawing/2014/main" id="{2BE675D9-5224-6C0E-0A16-66C6CE1ADBED}"/>
                </a:ext>
              </a:extLst>
            </p:cNvPr>
            <p:cNvSpPr/>
            <p:nvPr/>
          </p:nvSpPr>
          <p:spPr>
            <a:xfrm>
              <a:off x="5898673" y="2677245"/>
              <a:ext cx="3800956" cy="290129"/>
            </a:xfrm>
            <a:prstGeom prst="snip1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lIns="0" tIns="0" rIns="0" bIns="36000" rtlCol="0" anchor="ctr"/>
            <a:lstStyle/>
            <a:p>
              <a:pPr algn="ctr" defTabSz="914400"/>
              <a:r>
                <a:rPr lang="ko-KR" altLang="en-US" sz="900" dirty="0">
                  <a:latin typeface="페이퍼로지 5 Medium" pitchFamily="2" charset="-127"/>
                  <a:ea typeface="페이퍼로지 5 Medium" pitchFamily="2" charset="-127"/>
                </a:rPr>
                <a:t>개인 경험에 의존한 </a:t>
              </a:r>
              <a:r>
                <a:rPr lang="ko-KR" altLang="en-US" sz="900" dirty="0" err="1">
                  <a:latin typeface="페이퍼로지 5 Medium" pitchFamily="2" charset="-127"/>
                  <a:ea typeface="페이퍼로지 5 Medium" pitchFamily="2" charset="-127"/>
                </a:rPr>
                <a:t>암묵지</a:t>
              </a:r>
              <a:r>
                <a:rPr lang="ko-KR" altLang="en-US" sz="900" dirty="0">
                  <a:latin typeface="페이퍼로지 5 Medium" pitchFamily="2" charset="-127"/>
                  <a:ea typeface="페이퍼로지 5 Medium" pitchFamily="2" charset="-127"/>
                </a:rPr>
                <a:t> 중심 운영 → 업무 재작업 및 품질 편차 발생</a:t>
              </a:r>
              <a:endParaRPr lang="en-US" altLang="ko-KR" sz="9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36" name="모서리가 둥근 직사각형 7">
              <a:extLst>
                <a:ext uri="{FF2B5EF4-FFF2-40B4-BE49-F238E27FC236}">
                  <a16:creationId xmlns:a16="http://schemas.microsoft.com/office/drawing/2014/main" id="{059D182D-A87B-8976-BC85-F14E7196E5A1}"/>
                </a:ext>
              </a:extLst>
            </p:cNvPr>
            <p:cNvSpPr/>
            <p:nvPr/>
          </p:nvSpPr>
          <p:spPr>
            <a:xfrm>
              <a:off x="5898673" y="3045963"/>
              <a:ext cx="3800956" cy="290129"/>
            </a:xfrm>
            <a:prstGeom prst="snip1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lIns="0" tIns="0" rIns="0" bIns="36000" rtlCol="0" anchor="ctr"/>
            <a:lstStyle/>
            <a:p>
              <a:pPr algn="ctr" defTabSz="914400"/>
              <a:r>
                <a:rPr lang="ko-KR" altLang="en-US" sz="900" dirty="0">
                  <a:latin typeface="페이퍼로지 5 Medium" pitchFamily="2" charset="-127"/>
                  <a:ea typeface="페이퍼로지 5 Medium" pitchFamily="2" charset="-127"/>
                </a:rPr>
                <a:t>일부 프로젝트는 매뉴얼화 되어 있으나</a:t>
              </a:r>
              <a:r>
                <a:rPr lang="en-US" altLang="ko-KR" sz="900" dirty="0">
                  <a:latin typeface="페이퍼로지 5 Medium" pitchFamily="2" charset="-127"/>
                  <a:ea typeface="페이퍼로지 5 Medium" pitchFamily="2" charset="-127"/>
                </a:rPr>
                <a:t>, </a:t>
              </a:r>
              <a:r>
                <a:rPr lang="ko-KR" altLang="en-US" sz="900" dirty="0">
                  <a:latin typeface="페이퍼로지 5 Medium" pitchFamily="2" charset="-127"/>
                  <a:ea typeface="페이퍼로지 5 Medium" pitchFamily="2" charset="-127"/>
                </a:rPr>
                <a:t>컨설팅 이론 및 방법론 중심으로 구성되어 있으며</a:t>
              </a:r>
              <a:r>
                <a:rPr lang="en-US" altLang="ko-KR" sz="900" dirty="0">
                  <a:latin typeface="페이퍼로지 5 Medium" pitchFamily="2" charset="-127"/>
                  <a:ea typeface="페이퍼로지 5 Medium" pitchFamily="2" charset="-127"/>
                </a:rPr>
                <a:t>, </a:t>
              </a:r>
              <a:r>
                <a:rPr lang="ko-KR" altLang="en-US" sz="900" dirty="0">
                  <a:latin typeface="페이퍼로지 5 Medium" pitchFamily="2" charset="-127"/>
                  <a:ea typeface="페이퍼로지 5 Medium" pitchFamily="2" charset="-127"/>
                </a:rPr>
                <a:t>매뉴얼 수준의 결과에 만족하는 경향이 나타남</a:t>
              </a:r>
              <a:r>
                <a:rPr lang="en-US" altLang="ko-KR" sz="900" dirty="0">
                  <a:latin typeface="페이퍼로지 5 Medium" pitchFamily="2" charset="-127"/>
                  <a:ea typeface="페이퍼로지 5 Medium" pitchFamily="2" charset="-127"/>
                </a:rPr>
                <a:t>.</a:t>
              </a:r>
            </a:p>
          </p:txBody>
        </p:sp>
        <p:sp>
          <p:nvSpPr>
            <p:cNvPr id="37" name="모서리가 둥근 직사각형 7">
              <a:extLst>
                <a:ext uri="{FF2B5EF4-FFF2-40B4-BE49-F238E27FC236}">
                  <a16:creationId xmlns:a16="http://schemas.microsoft.com/office/drawing/2014/main" id="{4FE3E536-CB8B-F117-B797-286E6987D41A}"/>
                </a:ext>
              </a:extLst>
            </p:cNvPr>
            <p:cNvSpPr/>
            <p:nvPr/>
          </p:nvSpPr>
          <p:spPr>
            <a:xfrm>
              <a:off x="5898673" y="2336325"/>
              <a:ext cx="3800956" cy="290129"/>
            </a:xfrm>
            <a:prstGeom prst="snip1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lIns="0" tIns="0" rIns="0" bIns="36000" rtlCol="0" anchor="ctr"/>
            <a:lstStyle/>
            <a:p>
              <a:pPr algn="ctr" defTabSz="914400"/>
              <a:r>
                <a:rPr lang="ko-KR" altLang="en-US" sz="900" dirty="0">
                  <a:latin typeface="페이퍼로지 5 Medium" pitchFamily="2" charset="-127"/>
                  <a:ea typeface="페이퍼로지 5 Medium" pitchFamily="2" charset="-127"/>
                </a:rPr>
                <a:t>프로젝트 운영 방식</a:t>
              </a:r>
              <a:r>
                <a:rPr lang="en-US" altLang="ko-KR" sz="900" dirty="0">
                  <a:latin typeface="페이퍼로지 5 Medium" pitchFamily="2" charset="-127"/>
                  <a:ea typeface="페이퍼로지 5 Medium" pitchFamily="2" charset="-127"/>
                </a:rPr>
                <a:t>, </a:t>
              </a:r>
              <a:r>
                <a:rPr lang="ko-KR" altLang="en-US" sz="900" dirty="0">
                  <a:latin typeface="페이퍼로지 5 Medium" pitchFamily="2" charset="-127"/>
                  <a:ea typeface="페이퍼로지 5 Medium" pitchFamily="2" charset="-127"/>
                </a:rPr>
                <a:t>산출물 기준</a:t>
              </a:r>
              <a:r>
                <a:rPr lang="en-US" altLang="ko-KR" sz="900" dirty="0">
                  <a:latin typeface="페이퍼로지 5 Medium" pitchFamily="2" charset="-127"/>
                  <a:ea typeface="페이퍼로지 5 Medium" pitchFamily="2" charset="-127"/>
                </a:rPr>
                <a:t>, </a:t>
              </a:r>
              <a:r>
                <a:rPr lang="ko-KR" altLang="en-US" sz="900" dirty="0">
                  <a:latin typeface="페이퍼로지 5 Medium" pitchFamily="2" charset="-127"/>
                  <a:ea typeface="페이퍼로지 5 Medium" pitchFamily="2" charset="-127"/>
                </a:rPr>
                <a:t>역할 정의가 문서화</a:t>
              </a:r>
              <a:r>
                <a:rPr lang="en-US" altLang="ko-KR" sz="900" dirty="0"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900" dirty="0">
                  <a:latin typeface="페이퍼로지 5 Medium" pitchFamily="2" charset="-127"/>
                  <a:ea typeface="페이퍼로지 5 Medium" pitchFamily="2" charset="-127"/>
                </a:rPr>
                <a:t>표준화되어 있지 않음</a:t>
              </a:r>
              <a:endParaRPr lang="en-US" altLang="ko-KR" sz="9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3C73AFB3-D8A8-83DD-BA8E-CA9FB0EA3425}"/>
                </a:ext>
              </a:extLst>
            </p:cNvPr>
            <p:cNvGrpSpPr/>
            <p:nvPr/>
          </p:nvGrpSpPr>
          <p:grpSpPr>
            <a:xfrm>
              <a:off x="5216953" y="3396378"/>
              <a:ext cx="4482676" cy="3196687"/>
              <a:chOff x="5216953" y="3396379"/>
              <a:chExt cx="4482676" cy="2830628"/>
            </a:xfrm>
          </p:grpSpPr>
          <p:sp>
            <p:nvSpPr>
              <p:cNvPr id="30" name="모서리가 둥근 직사각형 7">
                <a:extLst>
                  <a:ext uri="{FF2B5EF4-FFF2-40B4-BE49-F238E27FC236}">
                    <a16:creationId xmlns:a16="http://schemas.microsoft.com/office/drawing/2014/main" id="{E48194B2-83F5-4514-EB91-7F34F3D55E23}"/>
                  </a:ext>
                </a:extLst>
              </p:cNvPr>
              <p:cNvSpPr/>
              <p:nvPr/>
            </p:nvSpPr>
            <p:spPr>
              <a:xfrm>
                <a:off x="5216953" y="3398147"/>
                <a:ext cx="577845" cy="671867"/>
              </a:xfrm>
              <a:prstGeom prst="rect">
                <a:avLst/>
              </a:prstGeom>
              <a:solidFill>
                <a:srgbClr val="1E49E2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1000" kern="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전문화</a:t>
                </a:r>
              </a:p>
            </p:txBody>
          </p:sp>
          <p:sp>
            <p:nvSpPr>
              <p:cNvPr id="31" name="모서리가 둥근 직사각형 7">
                <a:extLst>
                  <a:ext uri="{FF2B5EF4-FFF2-40B4-BE49-F238E27FC236}">
                    <a16:creationId xmlns:a16="http://schemas.microsoft.com/office/drawing/2014/main" id="{6DC7D8F9-D079-9988-0219-D0D877EE1720}"/>
                  </a:ext>
                </a:extLst>
              </p:cNvPr>
              <p:cNvSpPr/>
              <p:nvPr/>
            </p:nvSpPr>
            <p:spPr>
              <a:xfrm>
                <a:off x="5216953" y="4113986"/>
                <a:ext cx="577845" cy="671867"/>
              </a:xfrm>
              <a:prstGeom prst="rect">
                <a:avLst/>
              </a:prstGeom>
              <a:solidFill>
                <a:srgbClr val="1E49E2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1000" kern="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권한계층 및 보고체계</a:t>
                </a:r>
              </a:p>
            </p:txBody>
          </p:sp>
          <p:sp>
            <p:nvSpPr>
              <p:cNvPr id="32" name="모서리가 둥근 직사각형 7">
                <a:extLst>
                  <a:ext uri="{FF2B5EF4-FFF2-40B4-BE49-F238E27FC236}">
                    <a16:creationId xmlns:a16="http://schemas.microsoft.com/office/drawing/2014/main" id="{54243D31-77FF-E663-A559-C12D4D55CBB2}"/>
                  </a:ext>
                </a:extLst>
              </p:cNvPr>
              <p:cNvSpPr/>
              <p:nvPr/>
            </p:nvSpPr>
            <p:spPr>
              <a:xfrm>
                <a:off x="5898673" y="3396379"/>
                <a:ext cx="3800956" cy="189699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컨설턴트가 기획</a:t>
                </a:r>
                <a:r>
                  <a:rPr lang="en-US" altLang="ko-KR" sz="900">
                    <a:latin typeface="페이퍼로지 5 Medium" pitchFamily="2" charset="-127"/>
                    <a:ea typeface="페이퍼로지 5 Medium" pitchFamily="2" charset="-127"/>
                  </a:rPr>
                  <a:t>·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분석</a:t>
                </a:r>
                <a:r>
                  <a:rPr lang="en-US" altLang="ko-KR" sz="900">
                    <a:latin typeface="페이퍼로지 5 Medium" pitchFamily="2" charset="-127"/>
                    <a:ea typeface="페이퍼로지 5 Medium" pitchFamily="2" charset="-127"/>
                  </a:rPr>
                  <a:t>·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제안</a:t>
                </a:r>
                <a:r>
                  <a:rPr lang="en-US" altLang="ko-KR" sz="900">
                    <a:latin typeface="페이퍼로지 5 Medium" pitchFamily="2" charset="-127"/>
                    <a:ea typeface="페이퍼로지 5 Medium" pitchFamily="2" charset="-127"/>
                  </a:rPr>
                  <a:t>·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행정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·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정산까지 다기능을 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동시에 수행</a:t>
                </a:r>
                <a:endParaRPr lang="en-US" altLang="ko-KR" sz="900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33" name="모서리가 둥근 직사각형 7">
                <a:extLst>
                  <a:ext uri="{FF2B5EF4-FFF2-40B4-BE49-F238E27FC236}">
                    <a16:creationId xmlns:a16="http://schemas.microsoft.com/office/drawing/2014/main" id="{230EA046-5721-8CE0-C35B-05684B75CC33}"/>
                  </a:ext>
                </a:extLst>
              </p:cNvPr>
              <p:cNvSpPr/>
              <p:nvPr/>
            </p:nvSpPr>
            <p:spPr>
              <a:xfrm>
                <a:off x="5898673" y="3637463"/>
                <a:ext cx="3800956" cy="189699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전문 트랙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(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연구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/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컨설팅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/PM/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지원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)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이 명확히 구분되지 않음</a:t>
                </a:r>
              </a:p>
            </p:txBody>
          </p:sp>
          <p:sp>
            <p:nvSpPr>
              <p:cNvPr id="34" name="모서리가 둥근 직사각형 7">
                <a:extLst>
                  <a:ext uri="{FF2B5EF4-FFF2-40B4-BE49-F238E27FC236}">
                    <a16:creationId xmlns:a16="http://schemas.microsoft.com/office/drawing/2014/main" id="{391CEA89-D43E-52BB-FFC6-CC91C4A57D3D}"/>
                  </a:ext>
                </a:extLst>
              </p:cNvPr>
              <p:cNvSpPr/>
              <p:nvPr/>
            </p:nvSpPr>
            <p:spPr>
              <a:xfrm>
                <a:off x="5898673" y="3878546"/>
                <a:ext cx="3800956" cy="189699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전문성 축적보다 업무 소진 가능성 증가</a:t>
                </a:r>
              </a:p>
            </p:txBody>
          </p:sp>
          <p:sp>
            <p:nvSpPr>
              <p:cNvPr id="38" name="모서리가 둥근 직사각형 7">
                <a:extLst>
                  <a:ext uri="{FF2B5EF4-FFF2-40B4-BE49-F238E27FC236}">
                    <a16:creationId xmlns:a16="http://schemas.microsoft.com/office/drawing/2014/main" id="{715A5654-8B4A-145B-FE4A-0D8203B4EE03}"/>
                  </a:ext>
                </a:extLst>
              </p:cNvPr>
              <p:cNvSpPr/>
              <p:nvPr/>
            </p:nvSpPr>
            <p:spPr>
              <a:xfrm>
                <a:off x="5898673" y="4112217"/>
                <a:ext cx="3800956" cy="189699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프로젝트</a:t>
                </a:r>
                <a:r>
                  <a:rPr lang="en-US" altLang="ko-KR" sz="900">
                    <a:latin typeface="페이퍼로지 5 Medium" pitchFamily="2" charset="-127"/>
                    <a:ea typeface="페이퍼로지 5 Medium" pitchFamily="2" charset="-127"/>
                  </a:rPr>
                  <a:t>·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본부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·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대표 간 의사결정 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권한이 불명확</a:t>
                </a:r>
                <a:endParaRPr lang="en-US" altLang="ko-KR" sz="900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39" name="모서리가 둥근 직사각형 7">
                <a:extLst>
                  <a:ext uri="{FF2B5EF4-FFF2-40B4-BE49-F238E27FC236}">
                    <a16:creationId xmlns:a16="http://schemas.microsoft.com/office/drawing/2014/main" id="{CF92F39D-C82C-67BD-A1E2-D0BE1AF43D1E}"/>
                  </a:ext>
                </a:extLst>
              </p:cNvPr>
              <p:cNvSpPr/>
              <p:nvPr/>
            </p:nvSpPr>
            <p:spPr>
              <a:xfrm>
                <a:off x="5898673" y="4353302"/>
                <a:ext cx="3800956" cy="189699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실질적 의사결정이 상위에 집중되거나 반대로 책임 없이 현업에 전가되는 경우 혼재</a:t>
                </a:r>
              </a:p>
            </p:txBody>
          </p:sp>
          <p:sp>
            <p:nvSpPr>
              <p:cNvPr id="40" name="모서리가 둥근 직사각형 7">
                <a:extLst>
                  <a:ext uri="{FF2B5EF4-FFF2-40B4-BE49-F238E27FC236}">
                    <a16:creationId xmlns:a16="http://schemas.microsoft.com/office/drawing/2014/main" id="{32F45360-70E7-DB7C-C31F-635A2E59C126}"/>
                  </a:ext>
                </a:extLst>
              </p:cNvPr>
              <p:cNvSpPr/>
              <p:nvPr/>
            </p:nvSpPr>
            <p:spPr>
              <a:xfrm>
                <a:off x="5898673" y="4594385"/>
                <a:ext cx="3800956" cy="189699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보고 체계가 명확하지 않아 의사결정 지연 및 혼선 발생</a:t>
                </a:r>
              </a:p>
            </p:txBody>
          </p:sp>
          <p:sp>
            <p:nvSpPr>
              <p:cNvPr id="41" name="모서리가 둥근 직사각형 7">
                <a:extLst>
                  <a:ext uri="{FF2B5EF4-FFF2-40B4-BE49-F238E27FC236}">
                    <a16:creationId xmlns:a16="http://schemas.microsoft.com/office/drawing/2014/main" id="{CF76C07D-7D92-2DCD-AC7F-4384BAB59B81}"/>
                  </a:ext>
                </a:extLst>
              </p:cNvPr>
              <p:cNvSpPr/>
              <p:nvPr/>
            </p:nvSpPr>
            <p:spPr>
              <a:xfrm>
                <a:off x="5898673" y="4829823"/>
                <a:ext cx="3800956" cy="189699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프로젝트 운영 관련 주요 판단이 개인 또는 상위 관리자 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경험에 의존</a:t>
                </a:r>
                <a:endParaRPr lang="en-US" altLang="ko-KR" sz="900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42" name="모서리가 둥근 직사각형 7">
                <a:extLst>
                  <a:ext uri="{FF2B5EF4-FFF2-40B4-BE49-F238E27FC236}">
                    <a16:creationId xmlns:a16="http://schemas.microsoft.com/office/drawing/2014/main" id="{1FB9608D-3207-3640-1F44-068F4D1C75FE}"/>
                  </a:ext>
                </a:extLst>
              </p:cNvPr>
              <p:cNvSpPr/>
              <p:nvPr/>
            </p:nvSpPr>
            <p:spPr>
              <a:xfrm>
                <a:off x="5898673" y="5070908"/>
                <a:ext cx="3800956" cy="189699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표준 기준 부재로 인해 유사 사안에 대한 의사결정 일관성 부족</a:t>
                </a:r>
              </a:p>
            </p:txBody>
          </p:sp>
          <p:sp>
            <p:nvSpPr>
              <p:cNvPr id="44" name="모서리가 둥근 직사각형 7">
                <a:extLst>
                  <a:ext uri="{FF2B5EF4-FFF2-40B4-BE49-F238E27FC236}">
                    <a16:creationId xmlns:a16="http://schemas.microsoft.com/office/drawing/2014/main" id="{520D7F4B-FF2B-9CC9-F2DD-B8B4CE28498D}"/>
                  </a:ext>
                </a:extLst>
              </p:cNvPr>
              <p:cNvSpPr/>
              <p:nvPr/>
            </p:nvSpPr>
            <p:spPr>
              <a:xfrm>
                <a:off x="5898673" y="5311991"/>
                <a:ext cx="3800956" cy="189699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조직 차원의 학습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·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개선으로 연결되지 않음</a:t>
                </a:r>
              </a:p>
            </p:txBody>
          </p:sp>
          <p:sp>
            <p:nvSpPr>
              <p:cNvPr id="45" name="모서리가 둥근 직사각형 7">
                <a:extLst>
                  <a:ext uri="{FF2B5EF4-FFF2-40B4-BE49-F238E27FC236}">
                    <a16:creationId xmlns:a16="http://schemas.microsoft.com/office/drawing/2014/main" id="{2C28AEDD-94E4-58C1-4F31-0E424F5AC6EE}"/>
                  </a:ext>
                </a:extLst>
              </p:cNvPr>
              <p:cNvSpPr/>
              <p:nvPr/>
            </p:nvSpPr>
            <p:spPr>
              <a:xfrm>
                <a:off x="5216953" y="4831592"/>
                <a:ext cx="577845" cy="671867"/>
              </a:xfrm>
              <a:prstGeom prst="rect">
                <a:avLst/>
              </a:prstGeom>
              <a:solidFill>
                <a:srgbClr val="1E49E2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1000" kern="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집권화</a:t>
                </a:r>
              </a:p>
            </p:txBody>
          </p:sp>
          <p:sp>
            <p:nvSpPr>
              <p:cNvPr id="47" name="모서리가 둥근 직사각형 7">
                <a:extLst>
                  <a:ext uri="{FF2B5EF4-FFF2-40B4-BE49-F238E27FC236}">
                    <a16:creationId xmlns:a16="http://schemas.microsoft.com/office/drawing/2014/main" id="{E685491C-0F39-0BA8-3288-CCDE7FE3730D}"/>
                  </a:ext>
                </a:extLst>
              </p:cNvPr>
              <p:cNvSpPr/>
              <p:nvPr/>
            </p:nvSpPr>
            <p:spPr>
              <a:xfrm>
                <a:off x="5898673" y="5553371"/>
                <a:ext cx="3800956" cy="189699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리드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·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관리자의 관리 범위가 </a:t>
                </a:r>
                <a:r>
                  <a:rPr lang="ko-KR" altLang="en-US" sz="900">
                    <a:latin typeface="페이퍼로지 5 Medium" pitchFamily="2" charset="-127"/>
                    <a:ea typeface="페이퍼로지 5 Medium" pitchFamily="2" charset="-127"/>
                  </a:rPr>
                  <a:t>명확하지 않음</a:t>
                </a:r>
                <a:endParaRPr lang="en-US" altLang="ko-KR" sz="900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48" name="모서리가 둥근 직사각형 7">
                <a:extLst>
                  <a:ext uri="{FF2B5EF4-FFF2-40B4-BE49-F238E27FC236}">
                    <a16:creationId xmlns:a16="http://schemas.microsoft.com/office/drawing/2014/main" id="{BD929B9D-3228-45FC-1438-D4EB34B6654A}"/>
                  </a:ext>
                </a:extLst>
              </p:cNvPr>
              <p:cNvSpPr/>
              <p:nvPr/>
            </p:nvSpPr>
            <p:spPr>
              <a:xfrm>
                <a:off x="5898673" y="5794456"/>
                <a:ext cx="3800956" cy="432551"/>
              </a:xfrm>
              <a:prstGeom prst="snip1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프로젝트 관리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, 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인력 관리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, 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품질 관리가 실무 리드 컨설턴트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(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팀장</a:t>
                </a:r>
                <a:r>
                  <a:rPr lang="en-US" altLang="ko-KR" sz="900" dirty="0">
                    <a:latin typeface="페이퍼로지 5 Medium" pitchFamily="2" charset="-127"/>
                    <a:ea typeface="페이퍼로지 5 Medium" pitchFamily="2" charset="-127"/>
                  </a:rPr>
                  <a:t>)</a:t>
                </a:r>
                <a:r>
                  <a:rPr lang="ko-KR" altLang="en-US" sz="900" dirty="0">
                    <a:latin typeface="페이퍼로지 5 Medium" pitchFamily="2" charset="-127"/>
                    <a:ea typeface="페이퍼로지 5 Medium" pitchFamily="2" charset="-127"/>
                  </a:rPr>
                  <a:t>에게 집중되어 있어 관리자의 부담 과중</a:t>
                </a:r>
              </a:p>
            </p:txBody>
          </p:sp>
          <p:sp>
            <p:nvSpPr>
              <p:cNvPr id="50" name="모서리가 둥근 직사각형 7">
                <a:extLst>
                  <a:ext uri="{FF2B5EF4-FFF2-40B4-BE49-F238E27FC236}">
                    <a16:creationId xmlns:a16="http://schemas.microsoft.com/office/drawing/2014/main" id="{2E8C7CD2-E9B2-D22B-94A0-E2B51A1294A4}"/>
                  </a:ext>
                </a:extLst>
              </p:cNvPr>
              <p:cNvSpPr/>
              <p:nvPr/>
            </p:nvSpPr>
            <p:spPr>
              <a:xfrm>
                <a:off x="5216953" y="5555140"/>
                <a:ext cx="577845" cy="671867"/>
              </a:xfrm>
              <a:prstGeom prst="rect">
                <a:avLst/>
              </a:prstGeom>
              <a:solidFill>
                <a:srgbClr val="1E49E2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lIns="0" tIns="0" rIns="0" bIns="36000" rtlCol="0" anchor="ctr"/>
              <a:lstStyle/>
              <a:p>
                <a:pPr algn="ctr" defTabSz="914400"/>
                <a:r>
                  <a:rPr lang="ko-KR" altLang="en-US" sz="1000" kern="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관리통제 범위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01951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0492BF3-84B3-DDEB-8B8F-506BBA62D197}"/>
              </a:ext>
            </a:extLst>
          </p:cNvPr>
          <p:cNvGrpSpPr/>
          <p:nvPr/>
        </p:nvGrpSpPr>
        <p:grpSpPr>
          <a:xfrm>
            <a:off x="344373" y="1412875"/>
            <a:ext cx="9355257" cy="5040313"/>
            <a:chOff x="344373" y="2031680"/>
            <a:chExt cx="9355257" cy="4421508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D34B894D-C5C8-4BBF-4484-D8FDE526278F}"/>
                </a:ext>
              </a:extLst>
            </p:cNvPr>
            <p:cNvGrpSpPr/>
            <p:nvPr/>
          </p:nvGrpSpPr>
          <p:grpSpPr>
            <a:xfrm>
              <a:off x="5613405" y="2336324"/>
              <a:ext cx="4086225" cy="4072719"/>
              <a:chOff x="344373" y="2343956"/>
              <a:chExt cx="2276385" cy="3070630"/>
            </a:xfrm>
          </p:grpSpPr>
          <p:sp>
            <p:nvSpPr>
              <p:cNvPr id="3" name="사각형: 둥근 모서리 2">
                <a:extLst>
                  <a:ext uri="{FF2B5EF4-FFF2-40B4-BE49-F238E27FC236}">
                    <a16:creationId xmlns:a16="http://schemas.microsoft.com/office/drawing/2014/main" id="{F315F901-433E-C195-A2E5-F99B7C685127}"/>
                  </a:ext>
                </a:extLst>
              </p:cNvPr>
              <p:cNvSpPr/>
              <p:nvPr/>
            </p:nvSpPr>
            <p:spPr>
              <a:xfrm>
                <a:off x="344373" y="4474179"/>
                <a:ext cx="2276385" cy="210724"/>
              </a:xfrm>
              <a:prstGeom prst="roundRect">
                <a:avLst>
                  <a:gd name="adj" fmla="val 0"/>
                </a:avLst>
              </a:prstGeom>
              <a:solidFill>
                <a:srgbClr val="002060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/>
            </p:spPr>
            <p:txBody>
              <a:bodyPr lIns="36000" tIns="18000" rIns="36000" bIns="18000"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lang="ko-KR" altLang="en-US" sz="1200" kern="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성과 중심 보상체계 확립</a:t>
                </a:r>
              </a:p>
            </p:txBody>
          </p:sp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A5716892-8C1B-6289-027F-369D112E2994}"/>
                  </a:ext>
                </a:extLst>
              </p:cNvPr>
              <p:cNvSpPr/>
              <p:nvPr/>
            </p:nvSpPr>
            <p:spPr>
              <a:xfrm>
                <a:off x="344373" y="4684903"/>
                <a:ext cx="2276385" cy="729683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36000" tIns="18000" rIns="36000" bIns="18000" rtlCol="0" anchor="ctr"/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ko-KR" altLang="ko-KR" sz="1100" dirty="0" err="1">
                    <a:latin typeface="페이퍼로지 5 Medium" pitchFamily="2" charset="-127"/>
                    <a:ea typeface="페이퍼로지 5 Medium" pitchFamily="2" charset="-127"/>
                  </a:rPr>
                  <a:t>개인·프로젝트·조직</a:t>
                </a:r>
                <a:r>
                  <a:rPr lang="ko-KR" altLang="ko-KR" sz="1100" dirty="0">
                    <a:latin typeface="페이퍼로지 5 Medium" pitchFamily="2" charset="-127"/>
                    <a:ea typeface="페이퍼로지 5 Medium" pitchFamily="2" charset="-127"/>
                  </a:rPr>
                  <a:t> 단위의 </a:t>
                </a:r>
                <a:r>
                  <a:rPr lang="ko-KR" altLang="ko-KR" sz="1100" b="1" dirty="0">
                    <a:latin typeface="페이퍼로지 5 Medium" pitchFamily="2" charset="-127"/>
                    <a:ea typeface="페이퍼로지 5 Medium" pitchFamily="2" charset="-127"/>
                  </a:rPr>
                  <a:t>성과 책임 구조 명확화</a:t>
                </a:r>
                <a:endParaRPr lang="ko-KR" altLang="ko-KR" sz="1100" dirty="0">
                  <a:latin typeface="페이퍼로지 5 Medium" pitchFamily="2" charset="-127"/>
                  <a:ea typeface="페이퍼로지 5 Medium" pitchFamily="2" charset="-127"/>
                </a:endParaRP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ko-KR" altLang="ko-KR" sz="1100" dirty="0">
                    <a:latin typeface="페이퍼로지 5 Medium" pitchFamily="2" charset="-127"/>
                    <a:ea typeface="페이퍼로지 5 Medium" pitchFamily="2" charset="-127"/>
                  </a:rPr>
                  <a:t>성과 </a:t>
                </a:r>
                <a:r>
                  <a:rPr lang="ko-KR" altLang="ko-KR" sz="1100" dirty="0" err="1">
                    <a:latin typeface="페이퍼로지 5 Medium" pitchFamily="2" charset="-127"/>
                    <a:ea typeface="페이퍼로지 5 Medium" pitchFamily="2" charset="-127"/>
                  </a:rPr>
                  <a:t>기준·평가</a:t>
                </a:r>
                <a:r>
                  <a:rPr lang="ko-KR" altLang="ko-KR" sz="1100" dirty="0">
                    <a:latin typeface="페이퍼로지 5 Medium" pitchFamily="2" charset="-127"/>
                    <a:ea typeface="페이퍼로지 5 Medium" pitchFamily="2" charset="-127"/>
                  </a:rPr>
                  <a:t> 방식 체계화를 통한 공정성 및 수용성 강화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ko-KR" altLang="ko-KR" sz="1100" dirty="0">
                    <a:latin typeface="페이퍼로지 5 Medium" pitchFamily="2" charset="-127"/>
                    <a:ea typeface="페이퍼로지 5 Medium" pitchFamily="2" charset="-127"/>
                  </a:rPr>
                  <a:t>성과와 보상이 연계되는 보상체계 구축을 통한 동기부여 강화</a:t>
                </a:r>
              </a:p>
            </p:txBody>
          </p:sp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4FE25966-6461-5998-E5C1-A98056F5E84B}"/>
                  </a:ext>
                </a:extLst>
              </p:cNvPr>
              <p:cNvSpPr/>
              <p:nvPr/>
            </p:nvSpPr>
            <p:spPr>
              <a:xfrm>
                <a:off x="344373" y="3409601"/>
                <a:ext cx="2276385" cy="210724"/>
              </a:xfrm>
              <a:prstGeom prst="roundRect">
                <a:avLst>
                  <a:gd name="adj" fmla="val 0"/>
                </a:avLst>
              </a:prstGeom>
              <a:solidFill>
                <a:srgbClr val="1E49E2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/>
            </p:spPr>
            <p:txBody>
              <a:bodyPr lIns="36000" tIns="18000" rIns="36000" bIns="18000"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lang="ko-KR" altLang="en-US" sz="1200" kern="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일하는 방식 효율화</a:t>
                </a:r>
              </a:p>
            </p:txBody>
          </p:sp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64DBF474-03BE-2AB9-7550-52486465C87E}"/>
                  </a:ext>
                </a:extLst>
              </p:cNvPr>
              <p:cNvSpPr/>
              <p:nvPr/>
            </p:nvSpPr>
            <p:spPr>
              <a:xfrm>
                <a:off x="344373" y="3619258"/>
                <a:ext cx="2276385" cy="729683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36000" tIns="18000" rIns="36000" bIns="18000" rtlCol="0" anchor="ctr"/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ko-KR" altLang="ko-KR" sz="1100" dirty="0">
                    <a:latin typeface="페이퍼로지 5 Medium" pitchFamily="2" charset="-127"/>
                    <a:ea typeface="페이퍼로지 5 Medium" pitchFamily="2" charset="-127"/>
                  </a:rPr>
                  <a:t>컨설턴트와 </a:t>
                </a:r>
                <a:r>
                  <a:rPr lang="ko-KR" altLang="ko-KR" sz="1100" dirty="0" err="1">
                    <a:latin typeface="페이퍼로지 5 Medium" pitchFamily="2" charset="-127"/>
                    <a:ea typeface="페이퍼로지 5 Medium" pitchFamily="2" charset="-127"/>
                  </a:rPr>
                  <a:t>Staff</a:t>
                </a:r>
                <a:r>
                  <a:rPr lang="ko-KR" altLang="ko-KR" sz="1100" dirty="0">
                    <a:latin typeface="페이퍼로지 5 Medium" pitchFamily="2" charset="-127"/>
                    <a:ea typeface="페이퍼로지 5 Medium" pitchFamily="2" charset="-127"/>
                  </a:rPr>
                  <a:t> 기능 간 </a:t>
                </a:r>
                <a:r>
                  <a:rPr lang="ko-KR" altLang="ko-KR" sz="1100" b="1" dirty="0" err="1">
                    <a:latin typeface="페이퍼로지 5 Medium" pitchFamily="2" charset="-127"/>
                    <a:ea typeface="페이퍼로지 5 Medium" pitchFamily="2" charset="-127"/>
                  </a:rPr>
                  <a:t>역할·책임</a:t>
                </a:r>
                <a:r>
                  <a:rPr lang="ko-KR" altLang="ko-KR" sz="1100" b="1" dirty="0">
                    <a:latin typeface="페이퍼로지 5 Medium" pitchFamily="2" charset="-127"/>
                    <a:ea typeface="페이퍼로지 5 Medium" pitchFamily="2" charset="-127"/>
                  </a:rPr>
                  <a:t> 명확 분리</a:t>
                </a:r>
                <a:endParaRPr lang="ko-KR" altLang="ko-KR" sz="1100" dirty="0">
                  <a:latin typeface="페이퍼로지 5 Medium" pitchFamily="2" charset="-127"/>
                  <a:ea typeface="페이퍼로지 5 Medium" pitchFamily="2" charset="-127"/>
                </a:endParaRP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ko-KR" altLang="ko-KR" sz="1100" dirty="0">
                    <a:latin typeface="페이퍼로지 5 Medium" pitchFamily="2" charset="-127"/>
                    <a:ea typeface="페이퍼로지 5 Medium" pitchFamily="2" charset="-127"/>
                  </a:rPr>
                  <a:t>프로젝트 수행 중심의 </a:t>
                </a:r>
                <a:r>
                  <a:rPr lang="ko-KR" altLang="ko-KR" sz="1100" b="1" dirty="0">
                    <a:latin typeface="페이퍼로지 5 Medium" pitchFamily="2" charset="-127"/>
                    <a:ea typeface="페이퍼로지 5 Medium" pitchFamily="2" charset="-127"/>
                  </a:rPr>
                  <a:t>표준 운영 프로세스 및 산출물 체계 정립</a:t>
                </a:r>
                <a:endParaRPr lang="ko-KR" altLang="ko-KR" sz="1100" dirty="0">
                  <a:latin typeface="페이퍼로지 5 Medium" pitchFamily="2" charset="-127"/>
                  <a:ea typeface="페이퍼로지 5 Medium" pitchFamily="2" charset="-127"/>
                </a:endParaRP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ko-KR" altLang="ko-KR" sz="1100" dirty="0">
                    <a:latin typeface="페이퍼로지 5 Medium" pitchFamily="2" charset="-127"/>
                    <a:ea typeface="페이퍼로지 5 Medium" pitchFamily="2" charset="-127"/>
                  </a:rPr>
                  <a:t>불필요한 </a:t>
                </a:r>
                <a:r>
                  <a:rPr lang="ko-KR" altLang="ko-KR" sz="1100" dirty="0" err="1">
                    <a:latin typeface="페이퍼로지 5 Medium" pitchFamily="2" charset="-127"/>
                    <a:ea typeface="페이퍼로지 5 Medium" pitchFamily="2" charset="-127"/>
                  </a:rPr>
                  <a:t>행정·관리</a:t>
                </a:r>
                <a:r>
                  <a:rPr lang="ko-KR" altLang="ko-KR" sz="1100" dirty="0">
                    <a:latin typeface="페이퍼로지 5 Medium" pitchFamily="2" charset="-127"/>
                    <a:ea typeface="페이퍼로지 5 Medium" pitchFamily="2" charset="-127"/>
                  </a:rPr>
                  <a:t> 업무 최소화를 통한 </a:t>
                </a:r>
                <a:r>
                  <a:rPr lang="ko-KR" altLang="ko-KR" sz="1100" b="1" dirty="0">
                    <a:latin typeface="페이퍼로지 5 Medium" pitchFamily="2" charset="-127"/>
                    <a:ea typeface="페이퍼로지 5 Medium" pitchFamily="2" charset="-127"/>
                  </a:rPr>
                  <a:t>업무 집중도 제고</a:t>
                </a:r>
                <a:endParaRPr lang="ko-KR" altLang="ko-KR" sz="1100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D4090186-891C-F499-F848-8B6679DEB1FC}"/>
                  </a:ext>
                </a:extLst>
              </p:cNvPr>
              <p:cNvSpPr/>
              <p:nvPr/>
            </p:nvSpPr>
            <p:spPr>
              <a:xfrm>
                <a:off x="344373" y="2343956"/>
                <a:ext cx="2276385" cy="210724"/>
              </a:xfrm>
              <a:prstGeom prst="roundRect">
                <a:avLst>
                  <a:gd name="adj" fmla="val 0"/>
                </a:avLst>
              </a:prstGeom>
              <a:solidFill>
                <a:srgbClr val="5F7DEB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/>
            </p:spPr>
            <p:txBody>
              <a:bodyPr lIns="36000" tIns="18000" rIns="36000" bIns="18000"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lang="ko-KR" altLang="en-US" sz="1200" kern="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조직 역량 강화</a:t>
                </a:r>
              </a:p>
            </p:txBody>
          </p:sp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5EF0427A-AE43-D54A-74A6-E4CA17025C52}"/>
                  </a:ext>
                </a:extLst>
              </p:cNvPr>
              <p:cNvSpPr/>
              <p:nvPr/>
            </p:nvSpPr>
            <p:spPr>
              <a:xfrm>
                <a:off x="344373" y="2554680"/>
                <a:ext cx="2276385" cy="729683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36000" tIns="18000" rIns="36000" bIns="18000" rtlCol="0" anchor="ctr"/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ko-KR" altLang="ko-KR" sz="1100" dirty="0">
                    <a:latin typeface="페이퍼로지 5 Medium" pitchFamily="2" charset="-127"/>
                    <a:ea typeface="페이퍼로지 5 Medium" pitchFamily="2" charset="-127"/>
                  </a:rPr>
                  <a:t>컨설턴트 개인의 경험과 노하우를 </a:t>
                </a:r>
                <a:r>
                  <a:rPr lang="ko-KR" altLang="ko-KR" sz="1100" b="1" dirty="0">
                    <a:latin typeface="페이퍼로지 5 Medium" pitchFamily="2" charset="-127"/>
                    <a:ea typeface="페이퍼로지 5 Medium" pitchFamily="2" charset="-127"/>
                  </a:rPr>
                  <a:t>조직 차원의 전문역량으로 축적</a:t>
                </a:r>
                <a:endParaRPr lang="ko-KR" altLang="ko-KR" sz="1100" dirty="0">
                  <a:latin typeface="페이퍼로지 5 Medium" pitchFamily="2" charset="-127"/>
                  <a:ea typeface="페이퍼로지 5 Medium" pitchFamily="2" charset="-127"/>
                </a:endParaRP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ko-KR" altLang="ko-KR" sz="1100" dirty="0" err="1">
                    <a:latin typeface="페이퍼로지 5 Medium" pitchFamily="2" charset="-127"/>
                    <a:ea typeface="페이퍼로지 5 Medium" pitchFamily="2" charset="-127"/>
                  </a:rPr>
                  <a:t>전문분야·직무</a:t>
                </a:r>
                <a:r>
                  <a:rPr lang="ko-KR" altLang="ko-KR" sz="1100" dirty="0">
                    <a:latin typeface="페이퍼로지 5 Medium" pitchFamily="2" charset="-127"/>
                    <a:ea typeface="페이퍼로지 5 Medium" pitchFamily="2" charset="-127"/>
                  </a:rPr>
                  <a:t> 중심의 역량 체계 및 성장 경로 명확화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ko-KR" altLang="ko-KR" sz="1100" dirty="0">
                    <a:latin typeface="페이퍼로지 5 Medium" pitchFamily="2" charset="-127"/>
                    <a:ea typeface="페이퍼로지 5 Medium" pitchFamily="2" charset="-127"/>
                  </a:rPr>
                  <a:t>프로젝트 산출물과 노하우의 </a:t>
                </a:r>
                <a:r>
                  <a:rPr lang="ko-KR" altLang="ko-KR" sz="1100" b="1" dirty="0">
                    <a:latin typeface="페이퍼로지 5 Medium" pitchFamily="2" charset="-127"/>
                    <a:ea typeface="페이퍼로지 5 Medium" pitchFamily="2" charset="-127"/>
                  </a:rPr>
                  <a:t>지식자산화(</a:t>
                </a:r>
                <a:r>
                  <a:rPr lang="ko-KR" altLang="ko-KR" sz="1100" b="1" dirty="0" err="1">
                    <a:latin typeface="페이퍼로지 5 Medium" pitchFamily="2" charset="-127"/>
                    <a:ea typeface="페이퍼로지 5 Medium" pitchFamily="2" charset="-127"/>
                  </a:rPr>
                  <a:t>Knowledge</a:t>
                </a:r>
                <a:r>
                  <a:rPr lang="ko-KR" altLang="ko-KR" sz="1100" b="1" dirty="0">
                    <a:latin typeface="페이퍼로지 5 Medium" pitchFamily="2" charset="-127"/>
                    <a:ea typeface="페이퍼로지 5 Medium" pitchFamily="2" charset="-127"/>
                  </a:rPr>
                  <a:t> </a:t>
                </a:r>
                <a:r>
                  <a:rPr lang="ko-KR" altLang="ko-KR" sz="1100" b="1" dirty="0" err="1">
                    <a:latin typeface="페이퍼로지 5 Medium" pitchFamily="2" charset="-127"/>
                    <a:ea typeface="페이퍼로지 5 Medium" pitchFamily="2" charset="-127"/>
                  </a:rPr>
                  <a:t>Hub</a:t>
                </a:r>
                <a:r>
                  <a:rPr lang="ko-KR" altLang="ko-KR" sz="1100" b="1" dirty="0">
                    <a:latin typeface="페이퍼로지 5 Medium" pitchFamily="2" charset="-127"/>
                    <a:ea typeface="페이퍼로지 5 Medium" pitchFamily="2" charset="-127"/>
                  </a:rPr>
                  <a:t>)</a:t>
                </a:r>
                <a:r>
                  <a:rPr lang="ko-KR" altLang="ko-KR" sz="1100" dirty="0">
                    <a:latin typeface="페이퍼로지 5 Medium" pitchFamily="2" charset="-127"/>
                    <a:ea typeface="페이퍼로지 5 Medium" pitchFamily="2" charset="-127"/>
                  </a:rPr>
                  <a:t> 추진</a:t>
                </a:r>
              </a:p>
            </p:txBody>
          </p:sp>
        </p:grp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172BBD6-618B-02DA-75C9-AB0A6983A1F0}"/>
                </a:ext>
              </a:extLst>
            </p:cNvPr>
            <p:cNvSpPr/>
            <p:nvPr/>
          </p:nvSpPr>
          <p:spPr>
            <a:xfrm>
              <a:off x="344373" y="2031680"/>
              <a:ext cx="4482808" cy="246698"/>
            </a:xfrm>
            <a:prstGeom prst="rect">
              <a:avLst/>
            </a:prstGeom>
            <a:solidFill>
              <a:srgbClr val="25234D"/>
            </a:solidFill>
            <a:ln w="3175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1100" b="0" i="0" u="non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페이퍼로지 5 Medium" pitchFamily="2" charset="-127"/>
                  <a:ea typeface="페이퍼로지 5 Medium" pitchFamily="2" charset="-127"/>
                </a:rPr>
                <a:t>As-Is</a:t>
              </a:r>
              <a:endParaRPr kumimoji="0" lang="ko-KR" altLang="en-US" sz="1100" b="0" i="0" u="non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EFA93009-6E87-8C0A-6C46-3C2F3A224267}"/>
                </a:ext>
              </a:extLst>
            </p:cNvPr>
            <p:cNvSpPr/>
            <p:nvPr/>
          </p:nvSpPr>
          <p:spPr>
            <a:xfrm>
              <a:off x="5613405" y="2031680"/>
              <a:ext cx="4086224" cy="246698"/>
            </a:xfrm>
            <a:prstGeom prst="rect">
              <a:avLst/>
            </a:prstGeom>
            <a:solidFill>
              <a:srgbClr val="25234D"/>
            </a:solidFill>
            <a:ln w="3175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100" b="0" i="0" u="none" kern="0" cap="none" spc="-50" normalizeH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페이퍼로지 5 Medium" pitchFamily="2" charset="-127"/>
                  <a:ea typeface="페이퍼로지 5 Medium" pitchFamily="2" charset="-127"/>
                </a:rPr>
                <a:t>조직재설계</a:t>
              </a:r>
              <a:r>
                <a:rPr kumimoji="0" lang="ko-KR" altLang="en-US" sz="1100" b="0" i="0" u="none" kern="0" cap="none" spc="-5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페이퍼로지 5 Medium" pitchFamily="2" charset="-127"/>
                  <a:ea typeface="페이퍼로지 5 Medium" pitchFamily="2" charset="-127"/>
                </a:rPr>
                <a:t> 방향</a:t>
              </a:r>
            </a:p>
          </p:txBody>
        </p:sp>
        <p:sp>
          <p:nvSpPr>
            <p:cNvPr id="14" name="모서리가 둥근 직사각형 7">
              <a:extLst>
                <a:ext uri="{FF2B5EF4-FFF2-40B4-BE49-F238E27FC236}">
                  <a16:creationId xmlns:a16="http://schemas.microsoft.com/office/drawing/2014/main" id="{763D25AA-E3C7-5550-3CCC-B6236BD93466}"/>
                </a:ext>
              </a:extLst>
            </p:cNvPr>
            <p:cNvSpPr/>
            <p:nvPr/>
          </p:nvSpPr>
          <p:spPr>
            <a:xfrm>
              <a:off x="344505" y="2336324"/>
              <a:ext cx="577845" cy="1298467"/>
            </a:xfrm>
            <a:prstGeom prst="rect">
              <a:avLst/>
            </a:prstGeom>
            <a:solidFill>
              <a:srgbClr val="1E49E2"/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lIns="0" tIns="0" rIns="0" bIns="36000" rtlCol="0" anchor="ctr"/>
            <a:lstStyle/>
            <a:p>
              <a:pPr algn="ctr" defTabSz="914400"/>
              <a:r>
                <a:rPr lang="ko-KR" altLang="en-US" sz="1050" kern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조직 역량</a:t>
              </a:r>
              <a:endParaRPr lang="ko-KR" altLang="en-US" sz="1050" kern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8" name="모서리가 둥근 직사각형 7">
              <a:extLst>
                <a:ext uri="{FF2B5EF4-FFF2-40B4-BE49-F238E27FC236}">
                  <a16:creationId xmlns:a16="http://schemas.microsoft.com/office/drawing/2014/main" id="{E1AB7ED6-A1DF-A614-58FD-313EF5C4337D}"/>
                </a:ext>
              </a:extLst>
            </p:cNvPr>
            <p:cNvSpPr/>
            <p:nvPr/>
          </p:nvSpPr>
          <p:spPr>
            <a:xfrm>
              <a:off x="1026225" y="2660679"/>
              <a:ext cx="3800956" cy="276032"/>
            </a:xfrm>
            <a:prstGeom prst="snip1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lIns="0" tIns="0" rIns="0" bIns="36000" rtlCol="0" anchor="ctr"/>
            <a:lstStyle/>
            <a:p>
              <a:pPr algn="ctr" defTabSz="914400"/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직무</a:t>
              </a:r>
              <a:r>
                <a:rPr lang="en-US" altLang="ko-KR" sz="1000" dirty="0"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전문분야</a:t>
              </a:r>
              <a:r>
                <a:rPr lang="en-US" altLang="ko-KR" sz="1000" dirty="0"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레벨에 대한 </a:t>
              </a:r>
              <a:r>
                <a:rPr lang="ko-KR" altLang="en-US" sz="1000" b="1" dirty="0">
                  <a:latin typeface="페이퍼로지 5 Medium" pitchFamily="2" charset="-127"/>
                  <a:ea typeface="페이퍼로지 5 Medium" pitchFamily="2" charset="-127"/>
                </a:rPr>
                <a:t>공식적인 역량 기준 부재</a:t>
              </a:r>
              <a:endParaRPr lang="en-US" altLang="ko-KR" sz="1000" kern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9" name="모서리가 둥근 직사각형 7">
              <a:extLst>
                <a:ext uri="{FF2B5EF4-FFF2-40B4-BE49-F238E27FC236}">
                  <a16:creationId xmlns:a16="http://schemas.microsoft.com/office/drawing/2014/main" id="{FA2E062C-9DF4-2E0C-8661-125016730740}"/>
                </a:ext>
              </a:extLst>
            </p:cNvPr>
            <p:cNvSpPr/>
            <p:nvPr/>
          </p:nvSpPr>
          <p:spPr>
            <a:xfrm>
              <a:off x="1026225" y="3011481"/>
              <a:ext cx="3800956" cy="276032"/>
            </a:xfrm>
            <a:prstGeom prst="snip1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lIns="0" tIns="0" rIns="0" bIns="36000" rtlCol="0" anchor="ctr"/>
            <a:lstStyle/>
            <a:p>
              <a:pPr algn="ctr" defTabSz="914400"/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프로젝트 종료 후 산출물</a:t>
              </a:r>
              <a:r>
                <a:rPr lang="en-US" altLang="ko-KR" sz="1000" dirty="0"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노하우가 </a:t>
              </a:r>
              <a:r>
                <a:rPr lang="ko-KR" altLang="en-US" sz="1000" b="1" dirty="0">
                  <a:latin typeface="페이퍼로지 5 Medium" pitchFamily="2" charset="-127"/>
                  <a:ea typeface="페이퍼로지 5 Medium" pitchFamily="2" charset="-127"/>
                </a:rPr>
                <a:t>조직 자산으로 체계화되지 않음</a:t>
              </a:r>
              <a:endParaRPr lang="en-US" altLang="ko-KR" sz="1000" kern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0" name="모서리가 둥근 직사각형 7">
              <a:extLst>
                <a:ext uri="{FF2B5EF4-FFF2-40B4-BE49-F238E27FC236}">
                  <a16:creationId xmlns:a16="http://schemas.microsoft.com/office/drawing/2014/main" id="{F9D78660-917F-1F8D-472C-925ED361EF39}"/>
                </a:ext>
              </a:extLst>
            </p:cNvPr>
            <p:cNvSpPr/>
            <p:nvPr/>
          </p:nvSpPr>
          <p:spPr>
            <a:xfrm>
              <a:off x="1026225" y="3713088"/>
              <a:ext cx="3800956" cy="276032"/>
            </a:xfrm>
            <a:prstGeom prst="snip1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lIns="0" tIns="0" rIns="0" bIns="36000" rtlCol="0" anchor="ctr"/>
            <a:lstStyle/>
            <a:p>
              <a:pPr algn="ctr" defTabSz="914400"/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컨설턴트가 컨설팅 외 </a:t>
              </a:r>
              <a:r>
                <a:rPr lang="ko-KR" altLang="en-US" sz="1000" b="1" dirty="0">
                  <a:latin typeface="페이퍼로지 5 Medium" pitchFamily="2" charset="-127"/>
                  <a:ea typeface="페이퍼로지 5 Medium" pitchFamily="2" charset="-127"/>
                </a:rPr>
                <a:t>행정</a:t>
              </a:r>
              <a:r>
                <a:rPr lang="en-US" altLang="ko-KR" sz="1000" b="1" dirty="0"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000" b="1" dirty="0">
                  <a:latin typeface="페이퍼로지 5 Medium" pitchFamily="2" charset="-127"/>
                  <a:ea typeface="페이퍼로지 5 Medium" pitchFamily="2" charset="-127"/>
                </a:rPr>
                <a:t>정산</a:t>
              </a:r>
              <a:r>
                <a:rPr lang="en-US" altLang="ko-KR" sz="1000" b="1" dirty="0"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000" b="1" dirty="0">
                  <a:latin typeface="페이퍼로지 5 Medium" pitchFamily="2" charset="-127"/>
                  <a:ea typeface="페이퍼로지 5 Medium" pitchFamily="2" charset="-127"/>
                </a:rPr>
                <a:t>관리 업무까지 과도하게 수행</a:t>
              </a:r>
              <a:endParaRPr lang="en-US" altLang="ko-KR" sz="1000" kern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1" name="모서리가 둥근 직사각형 7">
              <a:extLst>
                <a:ext uri="{FF2B5EF4-FFF2-40B4-BE49-F238E27FC236}">
                  <a16:creationId xmlns:a16="http://schemas.microsoft.com/office/drawing/2014/main" id="{0F154DDB-3889-19BC-48FF-1D424B2844D1}"/>
                </a:ext>
              </a:extLst>
            </p:cNvPr>
            <p:cNvSpPr/>
            <p:nvPr/>
          </p:nvSpPr>
          <p:spPr>
            <a:xfrm>
              <a:off x="1026225" y="4063890"/>
              <a:ext cx="3800956" cy="276032"/>
            </a:xfrm>
            <a:prstGeom prst="snip1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lIns="0" tIns="0" rIns="0" bIns="36000" rtlCol="0" anchor="ctr"/>
            <a:lstStyle/>
            <a:p>
              <a:pPr algn="ctr" fontAlgn="base"/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프로젝트별 운영 방식</a:t>
              </a:r>
              <a:r>
                <a:rPr lang="en-US" altLang="ko-KR" sz="1000" dirty="0"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산출물 형식이 달라 </a:t>
              </a:r>
              <a:r>
                <a:rPr lang="ko-KR" altLang="en-US" sz="1000" b="1" dirty="0">
                  <a:latin typeface="페이퍼로지 5 Medium" pitchFamily="2" charset="-127"/>
                  <a:ea typeface="페이퍼로지 5 Medium" pitchFamily="2" charset="-127"/>
                </a:rPr>
                <a:t>비효율 및 재작업 발생</a:t>
              </a:r>
              <a:endPara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2" name="모서리가 둥근 직사각형 7">
              <a:extLst>
                <a:ext uri="{FF2B5EF4-FFF2-40B4-BE49-F238E27FC236}">
                  <a16:creationId xmlns:a16="http://schemas.microsoft.com/office/drawing/2014/main" id="{59AA3045-A522-905A-3185-D013C3F7F451}"/>
                </a:ext>
              </a:extLst>
            </p:cNvPr>
            <p:cNvSpPr/>
            <p:nvPr/>
          </p:nvSpPr>
          <p:spPr>
            <a:xfrm>
              <a:off x="1026225" y="4414691"/>
              <a:ext cx="3800956" cy="276032"/>
            </a:xfrm>
            <a:prstGeom prst="snip1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lIns="0" tIns="0" rIns="0" bIns="36000" rtlCol="0" anchor="ctr"/>
            <a:lstStyle/>
            <a:p>
              <a:pPr algn="ctr" fontAlgn="base"/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역할</a:t>
              </a:r>
              <a:r>
                <a:rPr lang="en-US" altLang="ko-KR" sz="1000" dirty="0"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책임</a:t>
              </a:r>
              <a:r>
                <a:rPr lang="en-US" altLang="ko-KR" sz="1000" dirty="0">
                  <a:latin typeface="페이퍼로지 5 Medium" pitchFamily="2" charset="-127"/>
                  <a:ea typeface="페이퍼로지 5 Medium" pitchFamily="2" charset="-127"/>
                </a:rPr>
                <a:t>(R&amp;R)</a:t>
              </a:r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이 명확하지 않아 </a:t>
              </a:r>
              <a:r>
                <a:rPr lang="ko-KR" altLang="en-US" sz="1000" b="1" dirty="0">
                  <a:latin typeface="페이퍼로지 5 Medium" pitchFamily="2" charset="-127"/>
                  <a:ea typeface="페이퍼로지 5 Medium" pitchFamily="2" charset="-127"/>
                </a:rPr>
                <a:t>업무 중복과 책임 공백 존재</a:t>
              </a:r>
              <a:endPara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3" name="모서리가 둥근 직사각형 7">
              <a:extLst>
                <a:ext uri="{FF2B5EF4-FFF2-40B4-BE49-F238E27FC236}">
                  <a16:creationId xmlns:a16="http://schemas.microsoft.com/office/drawing/2014/main" id="{ABEF4A71-B18D-3C44-8E6D-444A6EFF2EC0}"/>
                </a:ext>
              </a:extLst>
            </p:cNvPr>
            <p:cNvSpPr/>
            <p:nvPr/>
          </p:nvSpPr>
          <p:spPr>
            <a:xfrm>
              <a:off x="1026225" y="4765493"/>
              <a:ext cx="3800956" cy="276032"/>
            </a:xfrm>
            <a:prstGeom prst="snip1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lIns="0" tIns="0" rIns="0" bIns="36000" rtlCol="0" anchor="ctr"/>
            <a:lstStyle/>
            <a:p>
              <a:pPr algn="ctr" fontAlgn="base"/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지원</a:t>
              </a:r>
              <a:r>
                <a:rPr lang="en-US" altLang="ko-KR" sz="1000" dirty="0">
                  <a:latin typeface="페이퍼로지 5 Medium" pitchFamily="2" charset="-127"/>
                  <a:ea typeface="페이퍼로지 5 Medium" pitchFamily="2" charset="-127"/>
                </a:rPr>
                <a:t>(Staff) </a:t>
              </a:r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기능이 약해 </a:t>
              </a:r>
              <a:r>
                <a:rPr lang="ko-KR" altLang="en-US" sz="1000" b="1" dirty="0">
                  <a:latin typeface="페이퍼로지 5 Medium" pitchFamily="2" charset="-127"/>
                  <a:ea typeface="페이퍼로지 5 Medium" pitchFamily="2" charset="-127"/>
                </a:rPr>
                <a:t>현업 컨설턴트 부담 증가</a:t>
              </a:r>
              <a:endPara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5" name="모서리가 둥근 직사각형 7">
              <a:extLst>
                <a:ext uri="{FF2B5EF4-FFF2-40B4-BE49-F238E27FC236}">
                  <a16:creationId xmlns:a16="http://schemas.microsoft.com/office/drawing/2014/main" id="{E3B01CF1-643B-5F3E-83AD-9D28A8C5C091}"/>
                </a:ext>
              </a:extLst>
            </p:cNvPr>
            <p:cNvSpPr/>
            <p:nvPr/>
          </p:nvSpPr>
          <p:spPr>
            <a:xfrm>
              <a:off x="1026225" y="2336324"/>
              <a:ext cx="3800956" cy="276032"/>
            </a:xfrm>
            <a:prstGeom prst="snip1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lIns="0" tIns="0" rIns="0" bIns="36000" rtlCol="0" anchor="ctr"/>
            <a:lstStyle/>
            <a:p>
              <a:pPr algn="ctr" defTabSz="914400"/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컨설턴트의 전문성이 </a:t>
              </a:r>
              <a:r>
                <a:rPr lang="ko-KR" altLang="en-US" sz="1000" b="1" dirty="0">
                  <a:latin typeface="페이퍼로지 5 Medium" pitchFamily="2" charset="-127"/>
                  <a:ea typeface="페이퍼로지 5 Medium" pitchFamily="2" charset="-127"/>
                </a:rPr>
                <a:t>개인 경험과 역량에 의존</a:t>
              </a:r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하여 축적됨</a:t>
              </a:r>
              <a:endParaRPr lang="en-US" altLang="ko-KR" sz="1000" kern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6" name="모서리가 둥근 직사각형 7">
              <a:extLst>
                <a:ext uri="{FF2B5EF4-FFF2-40B4-BE49-F238E27FC236}">
                  <a16:creationId xmlns:a16="http://schemas.microsoft.com/office/drawing/2014/main" id="{B880E439-0BF3-2C3A-759E-2D9862CDE9D1}"/>
                </a:ext>
              </a:extLst>
            </p:cNvPr>
            <p:cNvSpPr/>
            <p:nvPr/>
          </p:nvSpPr>
          <p:spPr>
            <a:xfrm>
              <a:off x="1026225" y="3358758"/>
              <a:ext cx="3800956" cy="276032"/>
            </a:xfrm>
            <a:prstGeom prst="snip1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lIns="0" tIns="0" rIns="0" bIns="36000" rtlCol="0" anchor="ctr"/>
            <a:lstStyle/>
            <a:p>
              <a:pPr algn="ctr" defTabSz="914400"/>
              <a:r>
                <a:rPr lang="ko-KR" altLang="en-US" sz="1000" dirty="0" err="1">
                  <a:latin typeface="페이퍼로지 5 Medium" pitchFamily="2" charset="-127"/>
                  <a:ea typeface="페이퍼로지 5 Medium" pitchFamily="2" charset="-127"/>
                </a:rPr>
                <a:t>리드급</a:t>
              </a:r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 컨설턴트 역량 차이가 </a:t>
              </a:r>
              <a:r>
                <a:rPr lang="ko-KR" altLang="en-US" sz="1000" b="1" dirty="0">
                  <a:latin typeface="페이퍼로지 5 Medium" pitchFamily="2" charset="-127"/>
                  <a:ea typeface="페이퍼로지 5 Medium" pitchFamily="2" charset="-127"/>
                </a:rPr>
                <a:t>프로젝트 품질 편차로 직결</a:t>
              </a:r>
              <a:endParaRPr lang="en-US" altLang="ko-KR" sz="1000" kern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69" name="모서리가 둥근 직사각형 7">
              <a:extLst>
                <a:ext uri="{FF2B5EF4-FFF2-40B4-BE49-F238E27FC236}">
                  <a16:creationId xmlns:a16="http://schemas.microsoft.com/office/drawing/2014/main" id="{2244A915-7D3F-5492-50AC-24BB0231E3BB}"/>
                </a:ext>
              </a:extLst>
            </p:cNvPr>
            <p:cNvSpPr/>
            <p:nvPr/>
          </p:nvSpPr>
          <p:spPr>
            <a:xfrm>
              <a:off x="1026225" y="5124751"/>
              <a:ext cx="3800956" cy="276032"/>
            </a:xfrm>
            <a:prstGeom prst="snip1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lIns="0" tIns="0" rIns="0" bIns="36000" rtlCol="0" anchor="ctr"/>
            <a:lstStyle/>
            <a:p>
              <a:pPr algn="ctr" defTabSz="914400"/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개인</a:t>
              </a:r>
              <a:r>
                <a:rPr lang="en-US" altLang="ko-KR" sz="1000" dirty="0"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프로젝트</a:t>
              </a:r>
              <a:r>
                <a:rPr lang="en-US" altLang="ko-KR" sz="1000" dirty="0"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조직 단위의 </a:t>
              </a:r>
              <a:r>
                <a:rPr lang="ko-KR" altLang="en-US" sz="1000" b="1" dirty="0">
                  <a:latin typeface="페이퍼로지 5 Medium" pitchFamily="2" charset="-127"/>
                  <a:ea typeface="페이퍼로지 5 Medium" pitchFamily="2" charset="-127"/>
                </a:rPr>
                <a:t>성과 책임 구조가 불명확</a:t>
              </a:r>
              <a:endParaRPr lang="en-US" altLang="ko-KR" sz="1000" kern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70" name="모서리가 둥근 직사각형 7">
              <a:extLst>
                <a:ext uri="{FF2B5EF4-FFF2-40B4-BE49-F238E27FC236}">
                  <a16:creationId xmlns:a16="http://schemas.microsoft.com/office/drawing/2014/main" id="{65AB34D8-C20C-9258-F055-B99EF3E71AFA}"/>
                </a:ext>
              </a:extLst>
            </p:cNvPr>
            <p:cNvSpPr/>
            <p:nvPr/>
          </p:nvSpPr>
          <p:spPr>
            <a:xfrm>
              <a:off x="1026225" y="5475554"/>
              <a:ext cx="3800956" cy="276032"/>
            </a:xfrm>
            <a:prstGeom prst="snip1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lIns="0" tIns="0" rIns="0" bIns="36000" rtlCol="0" anchor="ctr"/>
            <a:lstStyle/>
            <a:p>
              <a:pPr algn="ctr" fontAlgn="base"/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성과 평가 기준이 모호하여 </a:t>
              </a:r>
              <a:r>
                <a:rPr lang="ko-KR" altLang="en-US" sz="1000" b="1" dirty="0">
                  <a:latin typeface="페이퍼로지 5 Medium" pitchFamily="2" charset="-127"/>
                  <a:ea typeface="페이퍼로지 5 Medium" pitchFamily="2" charset="-127"/>
                </a:rPr>
                <a:t>공정성</a:t>
              </a:r>
              <a:r>
                <a:rPr lang="en-US" altLang="ko-KR" sz="1000" b="1" dirty="0"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000" b="1" dirty="0">
                  <a:latin typeface="페이퍼로지 5 Medium" pitchFamily="2" charset="-127"/>
                  <a:ea typeface="페이퍼로지 5 Medium" pitchFamily="2" charset="-127"/>
                </a:rPr>
                <a:t>수용성에 대한 불신 존재</a:t>
              </a:r>
              <a:endPara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71" name="모서리가 둥근 직사각형 7">
              <a:extLst>
                <a:ext uri="{FF2B5EF4-FFF2-40B4-BE49-F238E27FC236}">
                  <a16:creationId xmlns:a16="http://schemas.microsoft.com/office/drawing/2014/main" id="{D4CA33D9-0FD0-B320-DFF7-1D7E49FB3AB7}"/>
                </a:ext>
              </a:extLst>
            </p:cNvPr>
            <p:cNvSpPr/>
            <p:nvPr/>
          </p:nvSpPr>
          <p:spPr>
            <a:xfrm>
              <a:off x="1026225" y="5826354"/>
              <a:ext cx="3800956" cy="276032"/>
            </a:xfrm>
            <a:prstGeom prst="snip1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lIns="0" tIns="0" rIns="0" bIns="36000" rtlCol="0" anchor="ctr"/>
            <a:lstStyle/>
            <a:p>
              <a:pPr algn="ctr" fontAlgn="base"/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성과와 보상 간 연계가 약해 </a:t>
              </a:r>
              <a:r>
                <a:rPr lang="ko-KR" altLang="en-US" sz="1000" b="1" dirty="0">
                  <a:latin typeface="페이퍼로지 5 Medium" pitchFamily="2" charset="-127"/>
                  <a:ea typeface="페이퍼로지 5 Medium" pitchFamily="2" charset="-127"/>
                </a:rPr>
                <a:t>동기부여 효과 제한적</a:t>
              </a:r>
              <a:endPara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72" name="모서리가 둥근 직사각형 7">
              <a:extLst>
                <a:ext uri="{FF2B5EF4-FFF2-40B4-BE49-F238E27FC236}">
                  <a16:creationId xmlns:a16="http://schemas.microsoft.com/office/drawing/2014/main" id="{995B0AC5-5405-63A5-973A-27CF334641C2}"/>
                </a:ext>
              </a:extLst>
            </p:cNvPr>
            <p:cNvSpPr/>
            <p:nvPr/>
          </p:nvSpPr>
          <p:spPr>
            <a:xfrm>
              <a:off x="1026225" y="6177156"/>
              <a:ext cx="3800956" cy="276032"/>
            </a:xfrm>
            <a:prstGeom prst="snip1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lIns="0" tIns="0" rIns="0" bIns="36000" rtlCol="0" anchor="ctr"/>
            <a:lstStyle/>
            <a:p>
              <a:pPr algn="ctr" fontAlgn="base"/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프로젝트 기여도 차이가 보상에 충분히 반영되지 않음</a:t>
              </a:r>
              <a:endPara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73" name="모서리가 둥근 직사각형 7">
              <a:extLst>
                <a:ext uri="{FF2B5EF4-FFF2-40B4-BE49-F238E27FC236}">
                  <a16:creationId xmlns:a16="http://schemas.microsoft.com/office/drawing/2014/main" id="{B12C631B-A92F-ACDD-1D37-D8E149132DD3}"/>
                </a:ext>
              </a:extLst>
            </p:cNvPr>
            <p:cNvSpPr/>
            <p:nvPr/>
          </p:nvSpPr>
          <p:spPr>
            <a:xfrm>
              <a:off x="344505" y="3716576"/>
              <a:ext cx="577845" cy="1324950"/>
            </a:xfrm>
            <a:prstGeom prst="rect">
              <a:avLst/>
            </a:prstGeom>
            <a:solidFill>
              <a:srgbClr val="1E49E2"/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lIns="0" tIns="0" rIns="0" bIns="36000" rtlCol="0" anchor="ctr"/>
            <a:lstStyle/>
            <a:p>
              <a:pPr algn="ctr" defTabSz="914400"/>
              <a:r>
                <a:rPr lang="ko-KR" altLang="en-US" sz="1050" kern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운영 시스템</a:t>
              </a:r>
              <a:endParaRPr lang="ko-KR" altLang="en-US" sz="1050" kern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74" name="모서리가 둥근 직사각형 7">
              <a:extLst>
                <a:ext uri="{FF2B5EF4-FFF2-40B4-BE49-F238E27FC236}">
                  <a16:creationId xmlns:a16="http://schemas.microsoft.com/office/drawing/2014/main" id="{770EBE17-6D84-4981-FFD8-802D6340806C}"/>
                </a:ext>
              </a:extLst>
            </p:cNvPr>
            <p:cNvSpPr/>
            <p:nvPr/>
          </p:nvSpPr>
          <p:spPr>
            <a:xfrm>
              <a:off x="344505" y="5128238"/>
              <a:ext cx="577845" cy="1324950"/>
            </a:xfrm>
            <a:prstGeom prst="rect">
              <a:avLst/>
            </a:prstGeom>
            <a:solidFill>
              <a:srgbClr val="1E49E2"/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lIns="0" tIns="0" rIns="0" bIns="36000" rtlCol="0" anchor="ctr"/>
            <a:lstStyle/>
            <a:p>
              <a:pPr algn="ctr" defTabSz="914400"/>
              <a:r>
                <a:rPr lang="ko-KR" altLang="en-US" sz="1050" kern="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성과 보상 시스템</a:t>
              </a:r>
            </a:p>
          </p:txBody>
        </p:sp>
        <p:cxnSp>
          <p:nvCxnSpPr>
            <p:cNvPr id="80" name="직선 화살표 연결선 79">
              <a:extLst>
                <a:ext uri="{FF2B5EF4-FFF2-40B4-BE49-F238E27FC236}">
                  <a16:creationId xmlns:a16="http://schemas.microsoft.com/office/drawing/2014/main" id="{E8A536A0-0909-9579-3AB4-D228915C3DF0}"/>
                </a:ext>
              </a:extLst>
            </p:cNvPr>
            <p:cNvCxnSpPr>
              <a:cxnSpLocks/>
              <a:stCxn id="25" idx="0"/>
              <a:endCxn id="8" idx="1"/>
            </p:cNvCxnSpPr>
            <p:nvPr/>
          </p:nvCxnSpPr>
          <p:spPr>
            <a:xfrm>
              <a:off x="4827181" y="2474340"/>
              <a:ext cx="786224" cy="6253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D306F4B4-FC1F-2427-4920-2A44D37F892E}"/>
                </a:ext>
              </a:extLst>
            </p:cNvPr>
            <p:cNvCxnSpPr>
              <a:cxnSpLocks/>
              <a:stCxn id="18" idx="0"/>
              <a:endCxn id="8" idx="1"/>
            </p:cNvCxnSpPr>
            <p:nvPr/>
          </p:nvCxnSpPr>
          <p:spPr>
            <a:xfrm>
              <a:off x="4827181" y="2798695"/>
              <a:ext cx="786224" cy="3010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7AAB3C67-26D4-3EAB-8497-5BB7F97E8E4E}"/>
                </a:ext>
              </a:extLst>
            </p:cNvPr>
            <p:cNvCxnSpPr>
              <a:cxnSpLocks/>
              <a:stCxn id="19" idx="0"/>
              <a:endCxn id="8" idx="1"/>
            </p:cNvCxnSpPr>
            <p:nvPr/>
          </p:nvCxnSpPr>
          <p:spPr>
            <a:xfrm flipV="1">
              <a:off x="4827181" y="3099723"/>
              <a:ext cx="786224" cy="497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화살표 연결선 86">
              <a:extLst>
                <a:ext uri="{FF2B5EF4-FFF2-40B4-BE49-F238E27FC236}">
                  <a16:creationId xmlns:a16="http://schemas.microsoft.com/office/drawing/2014/main" id="{6F7B3A82-07DF-8BFD-7A4F-051A167FDBD9}"/>
                </a:ext>
              </a:extLst>
            </p:cNvPr>
            <p:cNvCxnSpPr>
              <a:cxnSpLocks/>
              <a:stCxn id="26" idx="0"/>
              <a:endCxn id="8" idx="1"/>
            </p:cNvCxnSpPr>
            <p:nvPr/>
          </p:nvCxnSpPr>
          <p:spPr>
            <a:xfrm flipV="1">
              <a:off x="4827181" y="3099723"/>
              <a:ext cx="786224" cy="3970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화살표 연결선 91">
              <a:extLst>
                <a:ext uri="{FF2B5EF4-FFF2-40B4-BE49-F238E27FC236}">
                  <a16:creationId xmlns:a16="http://schemas.microsoft.com/office/drawing/2014/main" id="{75CD1980-6982-F33C-7F9F-875FED6BAC80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4827181" y="3870195"/>
              <a:ext cx="786224" cy="6415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FEC539FE-C76D-5341-A749-5B4BA3CC1DFF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4827181" y="4194550"/>
              <a:ext cx="786224" cy="3171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화살표 연결선 93">
              <a:extLst>
                <a:ext uri="{FF2B5EF4-FFF2-40B4-BE49-F238E27FC236}">
                  <a16:creationId xmlns:a16="http://schemas.microsoft.com/office/drawing/2014/main" id="{9E385D8D-11EC-FB89-0C8C-4669E761DA73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 flipV="1">
              <a:off x="4827181" y="4511722"/>
              <a:ext cx="786224" cy="336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화살표 연결선 94">
              <a:extLst>
                <a:ext uri="{FF2B5EF4-FFF2-40B4-BE49-F238E27FC236}">
                  <a16:creationId xmlns:a16="http://schemas.microsoft.com/office/drawing/2014/main" id="{718D0BC4-D55F-ABC3-DD0E-126865FB451A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 flipV="1">
              <a:off x="4827181" y="4511722"/>
              <a:ext cx="786224" cy="3809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화살표 연결선 95">
              <a:extLst>
                <a:ext uri="{FF2B5EF4-FFF2-40B4-BE49-F238E27FC236}">
                  <a16:creationId xmlns:a16="http://schemas.microsoft.com/office/drawing/2014/main" id="{F6CCE1DC-444E-CD99-73B4-8EB3139F0D47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4827181" y="5278477"/>
              <a:ext cx="786224" cy="6466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화살표 연결선 96">
              <a:extLst>
                <a:ext uri="{FF2B5EF4-FFF2-40B4-BE49-F238E27FC236}">
                  <a16:creationId xmlns:a16="http://schemas.microsoft.com/office/drawing/2014/main" id="{8162495B-4BB4-654F-30C3-CDB843B8ADC8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4827181" y="5602832"/>
              <a:ext cx="786224" cy="3223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화살표 연결선 97">
              <a:extLst>
                <a:ext uri="{FF2B5EF4-FFF2-40B4-BE49-F238E27FC236}">
                  <a16:creationId xmlns:a16="http://schemas.microsoft.com/office/drawing/2014/main" id="{C162FA85-E9D9-8338-393B-D39E85694393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 flipV="1">
              <a:off x="4827181" y="5925137"/>
              <a:ext cx="786224" cy="284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화살표 연결선 98">
              <a:extLst>
                <a:ext uri="{FF2B5EF4-FFF2-40B4-BE49-F238E27FC236}">
                  <a16:creationId xmlns:a16="http://schemas.microsoft.com/office/drawing/2014/main" id="{F9507E48-2C5D-4EDF-D7FD-345A1A896B96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 flipV="1">
              <a:off x="4827181" y="5925137"/>
              <a:ext cx="786224" cy="3757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2314D610-BBFC-681C-B246-ECE4EB965ACE}"/>
              </a:ext>
            </a:extLst>
          </p:cNvPr>
          <p:cNvSpPr/>
          <p:nvPr/>
        </p:nvSpPr>
        <p:spPr>
          <a:xfrm>
            <a:off x="344488" y="262250"/>
            <a:ext cx="115827" cy="46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ko-KR" altLang="en-US" sz="1400" b="0" i="0" u="none" strike="noStrike" kern="120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6F02E863-872A-773F-156F-8B08911F73D5}"/>
              </a:ext>
            </a:extLst>
          </p:cNvPr>
          <p:cNvSpPr/>
          <p:nvPr/>
        </p:nvSpPr>
        <p:spPr>
          <a:xfrm>
            <a:off x="498248" y="262250"/>
            <a:ext cx="1124475" cy="46800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buNone/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전략방향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92F2E37D-D898-EE15-291B-90CDAF5ACD33}"/>
              </a:ext>
            </a:extLst>
          </p:cNvPr>
          <p:cNvSpPr/>
          <p:nvPr/>
        </p:nvSpPr>
        <p:spPr>
          <a:xfrm>
            <a:off x="1724627" y="262250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4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시앤피컨설팅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현재 조직 구조 문제점 및 전략 방향</a:t>
            </a:r>
            <a:endParaRPr lang="en-US" altLang="ko-KR" sz="140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11" name="텍스트 개체 틀 1">
            <a:extLst>
              <a:ext uri="{FF2B5EF4-FFF2-40B4-BE49-F238E27FC236}">
                <a16:creationId xmlns:a16="http://schemas.microsoft.com/office/drawing/2014/main" id="{E1E78512-5CB7-C412-5B61-3BE5A8417086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 err="1">
                <a:latin typeface="페이퍼로지 5 Medium" pitchFamily="2" charset="-127"/>
                <a:ea typeface="페이퍼로지 5 Medium" pitchFamily="2" charset="-127"/>
              </a:rPr>
              <a:t>시앤피컨설팅</a:t>
            </a:r>
            <a:r>
              <a:rPr lang="ko-KR" altLang="en-US" sz="1700" spc="-50" dirty="0">
                <a:latin typeface="페이퍼로지 5 Medium" pitchFamily="2" charset="-127"/>
                <a:ea typeface="페이퍼로지 5 Medium" pitchFamily="2" charset="-127"/>
              </a:rPr>
              <a:t> 현재 조직 구조 문제점 및 전략 방향</a:t>
            </a:r>
          </a:p>
        </p:txBody>
      </p:sp>
    </p:spTree>
    <p:extLst>
      <p:ext uri="{BB962C8B-B14F-4D97-AF65-F5344CB8AC3E}">
        <p14:creationId xmlns:p14="http://schemas.microsoft.com/office/powerpoint/2010/main" val="632079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9D1AF81F-B232-8F2C-0E9B-BF42BCB6AC0E}"/>
              </a:ext>
            </a:extLst>
          </p:cNvPr>
          <p:cNvGrpSpPr/>
          <p:nvPr/>
        </p:nvGrpSpPr>
        <p:grpSpPr>
          <a:xfrm>
            <a:off x="620715" y="2703129"/>
            <a:ext cx="8664570" cy="3221421"/>
            <a:chOff x="527055" y="1779204"/>
            <a:chExt cx="11112495" cy="3221421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570A057F-1628-D2CC-DFF2-49EDD548F5EC}"/>
                </a:ext>
              </a:extLst>
            </p:cNvPr>
            <p:cNvSpPr/>
            <p:nvPr/>
          </p:nvSpPr>
          <p:spPr>
            <a:xfrm rot="5400000">
              <a:off x="410907" y="3209823"/>
              <a:ext cx="2048392" cy="465473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10000"/>
                <a:lumOff val="90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36000" tIns="18000" rIns="36000" bIns="18000"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lang="ko-KR" altLang="en-US" sz="1200" kern="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F5B8E8DC-BFA7-8823-B5CB-195F66A7F04A}"/>
                </a:ext>
              </a:extLst>
            </p:cNvPr>
            <p:cNvSpPr/>
            <p:nvPr/>
          </p:nvSpPr>
          <p:spPr>
            <a:xfrm rot="5400000">
              <a:off x="2751340" y="3209823"/>
              <a:ext cx="2048392" cy="465473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10000"/>
                <a:lumOff val="90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36000" tIns="18000" rIns="36000" bIns="18000"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lang="ko-KR" altLang="en-US" sz="1200" kern="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C22E8576-8360-5324-0F5C-4A1B7E8B28E5}"/>
                </a:ext>
              </a:extLst>
            </p:cNvPr>
            <p:cNvSpPr/>
            <p:nvPr/>
          </p:nvSpPr>
          <p:spPr>
            <a:xfrm rot="5400000">
              <a:off x="5091774" y="3209823"/>
              <a:ext cx="2048392" cy="465473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10000"/>
                <a:lumOff val="90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36000" tIns="18000" rIns="36000" bIns="18000"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lang="ko-KR" altLang="en-US" sz="1200" kern="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697870FD-D804-7D71-589D-96CAA7A87778}"/>
                </a:ext>
              </a:extLst>
            </p:cNvPr>
            <p:cNvSpPr/>
            <p:nvPr/>
          </p:nvSpPr>
          <p:spPr>
            <a:xfrm rot="5400000">
              <a:off x="7432207" y="3209823"/>
              <a:ext cx="2048392" cy="465473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10000"/>
                <a:lumOff val="90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36000" tIns="18000" rIns="36000" bIns="18000"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lang="ko-KR" altLang="en-US" sz="1200" kern="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CE5FE6B3-DA48-9021-879B-9B1F06C7CE24}"/>
                </a:ext>
              </a:extLst>
            </p:cNvPr>
            <p:cNvSpPr/>
            <p:nvPr/>
          </p:nvSpPr>
          <p:spPr>
            <a:xfrm rot="5400000">
              <a:off x="9772639" y="3209823"/>
              <a:ext cx="2048392" cy="465473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10000"/>
                <a:lumOff val="90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36000" tIns="18000" rIns="36000" bIns="18000"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lang="ko-KR" altLang="en-US" sz="1200" kern="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3649F176-25B9-B1A6-7B7A-50E30AA2B12C}"/>
                </a:ext>
              </a:extLst>
            </p:cNvPr>
            <p:cNvSpPr/>
            <p:nvPr/>
          </p:nvSpPr>
          <p:spPr>
            <a:xfrm>
              <a:off x="1809738" y="2236896"/>
              <a:ext cx="8683546" cy="36293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10000"/>
                <a:lumOff val="90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36000" tIns="18000" rIns="36000" bIns="18000"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lang="ko-KR" altLang="en-US" sz="1200" kern="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315BBF0F-7F33-F781-09C2-50A7B314A2AD}"/>
                </a:ext>
              </a:extLst>
            </p:cNvPr>
            <p:cNvSpPr/>
            <p:nvPr/>
          </p:nvSpPr>
          <p:spPr>
            <a:xfrm>
              <a:off x="527056" y="1779204"/>
              <a:ext cx="1816094" cy="1278321"/>
            </a:xfrm>
            <a:prstGeom prst="roundRect">
              <a:avLst>
                <a:gd name="adj" fmla="val 0"/>
              </a:avLst>
            </a:prstGeom>
            <a:solidFill>
              <a:srgbClr val="5F7DEB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36000" tIns="18000" rIns="36000" bIns="18000"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lang="ko-KR" altLang="en-US" sz="1200" kern="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전략</a:t>
              </a:r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9D499A11-5EC2-6E37-1771-6AF8826861A2}"/>
                </a:ext>
              </a:extLst>
            </p:cNvPr>
            <p:cNvSpPr/>
            <p:nvPr/>
          </p:nvSpPr>
          <p:spPr>
            <a:xfrm>
              <a:off x="2851156" y="1779204"/>
              <a:ext cx="1816094" cy="1278321"/>
            </a:xfrm>
            <a:prstGeom prst="roundRect">
              <a:avLst>
                <a:gd name="adj" fmla="val 0"/>
              </a:avLst>
            </a:prstGeom>
            <a:solidFill>
              <a:srgbClr val="5F7DEB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36000" tIns="18000" rIns="36000" bIns="18000"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lang="ko-KR" altLang="en-US" sz="1200" kern="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환경</a:t>
              </a: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2B0BE069-CF13-A770-1F88-4A358E1D2C5C}"/>
                </a:ext>
              </a:extLst>
            </p:cNvPr>
            <p:cNvSpPr/>
            <p:nvPr/>
          </p:nvSpPr>
          <p:spPr>
            <a:xfrm>
              <a:off x="5175256" y="1779204"/>
              <a:ext cx="1816094" cy="1278321"/>
            </a:xfrm>
            <a:prstGeom prst="roundRect">
              <a:avLst>
                <a:gd name="adj" fmla="val 0"/>
              </a:avLst>
            </a:prstGeom>
            <a:solidFill>
              <a:srgbClr val="5F7DEB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36000" tIns="18000" rIns="36000" bIns="18000"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lang="ko-KR" altLang="en-US" sz="1200" kern="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기술</a:t>
              </a: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421CAAE9-B73D-0152-BEF7-3C92BB5A1047}"/>
                </a:ext>
              </a:extLst>
            </p:cNvPr>
            <p:cNvSpPr/>
            <p:nvPr/>
          </p:nvSpPr>
          <p:spPr>
            <a:xfrm>
              <a:off x="7499356" y="1779204"/>
              <a:ext cx="1816094" cy="1278321"/>
            </a:xfrm>
            <a:prstGeom prst="roundRect">
              <a:avLst>
                <a:gd name="adj" fmla="val 0"/>
              </a:avLst>
            </a:prstGeom>
            <a:solidFill>
              <a:srgbClr val="5F7DEB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36000" tIns="18000" rIns="36000" bIns="18000"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lang="ko-KR" altLang="en-US" sz="1200" kern="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규모</a:t>
              </a:r>
              <a:r>
                <a:rPr lang="en-US" altLang="ko-KR" sz="1200" kern="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/</a:t>
              </a:r>
              <a:r>
                <a:rPr lang="ko-KR" altLang="en-US" sz="1200" kern="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수명주기</a:t>
              </a: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12C2B865-73F0-4403-5537-B7B0A49E97EE}"/>
                </a:ext>
              </a:extLst>
            </p:cNvPr>
            <p:cNvSpPr/>
            <p:nvPr/>
          </p:nvSpPr>
          <p:spPr>
            <a:xfrm>
              <a:off x="9823456" y="1779204"/>
              <a:ext cx="1816094" cy="1278321"/>
            </a:xfrm>
            <a:prstGeom prst="roundRect">
              <a:avLst>
                <a:gd name="adj" fmla="val 0"/>
              </a:avLst>
            </a:prstGeom>
            <a:solidFill>
              <a:srgbClr val="5F7DEB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36000" tIns="18000" rIns="36000" bIns="18000"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lang="ko-KR" altLang="en-US" sz="1200" kern="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조직 문화</a:t>
              </a: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9A7C2490-78DC-3E1D-77F0-025144737346}"/>
                </a:ext>
              </a:extLst>
            </p:cNvPr>
            <p:cNvSpPr/>
            <p:nvPr/>
          </p:nvSpPr>
          <p:spPr>
            <a:xfrm>
              <a:off x="527055" y="3722304"/>
              <a:ext cx="11112494" cy="1278321"/>
            </a:xfrm>
            <a:prstGeom prst="roundRect">
              <a:avLst>
                <a:gd name="adj" fmla="val 0"/>
              </a:avLst>
            </a:prstGeom>
            <a:solidFill>
              <a:srgbClr val="5F7DEB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36000" tIns="18000" rIns="36000" bIns="18000"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lang="ko-KR" altLang="en-US" sz="1200" kern="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조직구조 및 조직설계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5302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1211</TotalTime>
  <Words>1592</Words>
  <Application>Microsoft Office PowerPoint</Application>
  <PresentationFormat>A4 용지(210x297mm)</PresentationFormat>
  <Paragraphs>347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22" baseType="lpstr">
      <vt:lpstr>a고딕12</vt:lpstr>
      <vt:lpstr>a고딕16</vt:lpstr>
      <vt:lpstr>a고딕18</vt:lpstr>
      <vt:lpstr>SpoqaHanSans-Bold</vt:lpstr>
      <vt:lpstr>맑은 고딕</vt:lpstr>
      <vt:lpstr>페이퍼로지 3 Light</vt:lpstr>
      <vt:lpstr>페이퍼로지 4 Regular</vt:lpstr>
      <vt:lpstr>페이퍼로지 5 Medium</vt:lpstr>
      <vt:lpstr>페이퍼로지 6 SemiBold</vt:lpstr>
      <vt:lpstr>페이퍼로지 8 ExtraBold</vt:lpstr>
      <vt:lpstr>Aptos</vt:lpstr>
      <vt:lpstr>Aptos Display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다원 황</dc:creator>
  <cp:lastModifiedBy>석주 이</cp:lastModifiedBy>
  <cp:revision>98</cp:revision>
  <dcterms:created xsi:type="dcterms:W3CDTF">2025-12-14T07:00:53Z</dcterms:created>
  <dcterms:modified xsi:type="dcterms:W3CDTF">2026-01-23T22:07:59Z</dcterms:modified>
</cp:coreProperties>
</file>