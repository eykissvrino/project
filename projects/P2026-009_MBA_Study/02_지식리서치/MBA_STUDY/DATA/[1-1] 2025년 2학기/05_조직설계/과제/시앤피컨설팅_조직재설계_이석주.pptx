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77" r:id="rId2"/>
    <p:sldId id="257" r:id="rId3"/>
    <p:sldId id="259" r:id="rId4"/>
    <p:sldId id="278" r:id="rId5"/>
    <p:sldId id="260" r:id="rId6"/>
    <p:sldId id="258" r:id="rId7"/>
    <p:sldId id="262" r:id="rId8"/>
    <p:sldId id="263" r:id="rId9"/>
    <p:sldId id="264" r:id="rId10"/>
    <p:sldId id="265" r:id="rId11"/>
    <p:sldId id="266" r:id="rId12"/>
    <p:sldId id="267" r:id="rId13"/>
    <p:sldId id="261" r:id="rId14"/>
    <p:sldId id="268" r:id="rId15"/>
    <p:sldId id="269" r:id="rId16"/>
    <p:sldId id="274" r:id="rId17"/>
    <p:sldId id="270" r:id="rId18"/>
    <p:sldId id="272" r:id="rId19"/>
    <p:sldId id="276" r:id="rId2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F2B81E1-5F8F-4E54-8FA3-99EA707558EA}" v="8" dt="2026-01-24T01:53:08.94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43" d="100"/>
          <a:sy n="43" d="100"/>
        </p:scale>
        <p:origin x="57" y="95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석주 이" userId="b6553f64e91d015d" providerId="LiveId" clId="{7E74A06A-B2AA-4EEC-A19D-AA52293F645A}"/>
    <pc:docChg chg="undo custSel modSld">
      <pc:chgData name="석주 이" userId="b6553f64e91d015d" providerId="LiveId" clId="{7E74A06A-B2AA-4EEC-A19D-AA52293F645A}" dt="2026-01-24T01:56:18.356" v="105" actId="20577"/>
      <pc:docMkLst>
        <pc:docMk/>
      </pc:docMkLst>
      <pc:sldChg chg="modSp mod">
        <pc:chgData name="석주 이" userId="b6553f64e91d015d" providerId="LiveId" clId="{7E74A06A-B2AA-4EEC-A19D-AA52293F645A}" dt="2026-01-24T01:53:20.099" v="96" actId="20577"/>
        <pc:sldMkLst>
          <pc:docMk/>
          <pc:sldMk cId="0" sldId="258"/>
        </pc:sldMkLst>
        <pc:spChg chg="mod">
          <ac:chgData name="석주 이" userId="b6553f64e91d015d" providerId="LiveId" clId="{7E74A06A-B2AA-4EEC-A19D-AA52293F645A}" dt="2026-01-24T01:53:15.282" v="93" actId="20577"/>
          <ac:spMkLst>
            <pc:docMk/>
            <pc:sldMk cId="0" sldId="258"/>
            <ac:spMk id="44" creationId="{00000000-0000-0000-0000-000000000000}"/>
          </ac:spMkLst>
        </pc:spChg>
        <pc:spChg chg="mod">
          <ac:chgData name="석주 이" userId="b6553f64e91d015d" providerId="LiveId" clId="{7E74A06A-B2AA-4EEC-A19D-AA52293F645A}" dt="2026-01-24T01:53:20.099" v="96" actId="20577"/>
          <ac:spMkLst>
            <pc:docMk/>
            <pc:sldMk cId="0" sldId="258"/>
            <ac:spMk id="45" creationId="{00000000-0000-0000-0000-000000000000}"/>
          </ac:spMkLst>
        </pc:spChg>
      </pc:sldChg>
      <pc:sldChg chg="addSp delSp modSp mod">
        <pc:chgData name="석주 이" userId="b6553f64e91d015d" providerId="LiveId" clId="{7E74A06A-B2AA-4EEC-A19D-AA52293F645A}" dt="2026-01-24T00:50:48.160" v="40" actId="14100"/>
        <pc:sldMkLst>
          <pc:docMk/>
          <pc:sldMk cId="0" sldId="259"/>
        </pc:sldMkLst>
        <pc:spChg chg="mod">
          <ac:chgData name="석주 이" userId="b6553f64e91d015d" providerId="LiveId" clId="{7E74A06A-B2AA-4EEC-A19D-AA52293F645A}" dt="2026-01-24T00:39:13.562" v="32" actId="404"/>
          <ac:spMkLst>
            <pc:docMk/>
            <pc:sldMk cId="0" sldId="259"/>
            <ac:spMk id="18" creationId="{05CECAC4-47D6-763F-C72A-839F9D30F4A8}"/>
          </ac:spMkLst>
        </pc:spChg>
        <pc:spChg chg="mod">
          <ac:chgData name="석주 이" userId="b6553f64e91d015d" providerId="LiveId" clId="{7E74A06A-B2AA-4EEC-A19D-AA52293F645A}" dt="2026-01-24T00:39:13.562" v="32" actId="404"/>
          <ac:spMkLst>
            <pc:docMk/>
            <pc:sldMk cId="0" sldId="259"/>
            <ac:spMk id="27" creationId="{3FE221AB-0146-DFF9-B372-BEC1C935B9B8}"/>
          </ac:spMkLst>
        </pc:spChg>
        <pc:spChg chg="mod">
          <ac:chgData name="석주 이" userId="b6553f64e91d015d" providerId="LiveId" clId="{7E74A06A-B2AA-4EEC-A19D-AA52293F645A}" dt="2026-01-24T00:39:13.562" v="32" actId="404"/>
          <ac:spMkLst>
            <pc:docMk/>
            <pc:sldMk cId="0" sldId="259"/>
            <ac:spMk id="32" creationId="{779A10E4-2F0A-E062-181C-B125E7090D70}"/>
          </ac:spMkLst>
        </pc:spChg>
        <pc:spChg chg="mod">
          <ac:chgData name="석주 이" userId="b6553f64e91d015d" providerId="LiveId" clId="{7E74A06A-B2AA-4EEC-A19D-AA52293F645A}" dt="2026-01-24T00:39:13.562" v="32" actId="404"/>
          <ac:spMkLst>
            <pc:docMk/>
            <pc:sldMk cId="0" sldId="259"/>
            <ac:spMk id="33" creationId="{F3775FC4-B2A6-5C99-3573-C82B3D959DDB}"/>
          </ac:spMkLst>
        </pc:spChg>
        <pc:spChg chg="mod">
          <ac:chgData name="석주 이" userId="b6553f64e91d015d" providerId="LiveId" clId="{7E74A06A-B2AA-4EEC-A19D-AA52293F645A}" dt="2026-01-24T00:38:53.939" v="30" actId="20577"/>
          <ac:spMkLst>
            <pc:docMk/>
            <pc:sldMk cId="0" sldId="259"/>
            <ac:spMk id="36" creationId="{B58AE3BE-A97A-64F7-321F-792E362E8A29}"/>
          </ac:spMkLst>
        </pc:spChg>
        <pc:spChg chg="mod">
          <ac:chgData name="석주 이" userId="b6553f64e91d015d" providerId="LiveId" clId="{7E74A06A-B2AA-4EEC-A19D-AA52293F645A}" dt="2026-01-24T00:39:13.562" v="32" actId="404"/>
          <ac:spMkLst>
            <pc:docMk/>
            <pc:sldMk cId="0" sldId="259"/>
            <ac:spMk id="54" creationId="{E54B301D-AB63-2250-6B77-295B4C3235FA}"/>
          </ac:spMkLst>
        </pc:spChg>
        <pc:spChg chg="mod">
          <ac:chgData name="석주 이" userId="b6553f64e91d015d" providerId="LiveId" clId="{7E74A06A-B2AA-4EEC-A19D-AA52293F645A}" dt="2026-01-24T00:39:13.562" v="32" actId="404"/>
          <ac:spMkLst>
            <pc:docMk/>
            <pc:sldMk cId="0" sldId="259"/>
            <ac:spMk id="66" creationId="{7C4505F0-810F-8595-95D5-3A283C793F30}"/>
          </ac:spMkLst>
        </pc:spChg>
        <pc:spChg chg="mod">
          <ac:chgData name="석주 이" userId="b6553f64e91d015d" providerId="LiveId" clId="{7E74A06A-B2AA-4EEC-A19D-AA52293F645A}" dt="2026-01-24T00:39:13.562" v="32" actId="404"/>
          <ac:spMkLst>
            <pc:docMk/>
            <pc:sldMk cId="0" sldId="259"/>
            <ac:spMk id="78" creationId="{855779C6-AD0D-7018-8B52-4752FDABF435}"/>
          </ac:spMkLst>
        </pc:spChg>
        <pc:spChg chg="mod">
          <ac:chgData name="석주 이" userId="b6553f64e91d015d" providerId="LiveId" clId="{7E74A06A-B2AA-4EEC-A19D-AA52293F645A}" dt="2026-01-24T00:39:13.562" v="32" actId="404"/>
          <ac:spMkLst>
            <pc:docMk/>
            <pc:sldMk cId="0" sldId="259"/>
            <ac:spMk id="79" creationId="{AF551561-F5DE-79F7-F3C9-C0869294EF14}"/>
          </ac:spMkLst>
        </pc:spChg>
        <pc:spChg chg="mod">
          <ac:chgData name="석주 이" userId="b6553f64e91d015d" providerId="LiveId" clId="{7E74A06A-B2AA-4EEC-A19D-AA52293F645A}" dt="2026-01-24T00:39:13.562" v="32" actId="404"/>
          <ac:spMkLst>
            <pc:docMk/>
            <pc:sldMk cId="0" sldId="259"/>
            <ac:spMk id="84" creationId="{AB9012AC-1DCF-726A-33D7-21B7EB0C7DE9}"/>
          </ac:spMkLst>
        </pc:spChg>
        <pc:spChg chg="mod">
          <ac:chgData name="석주 이" userId="b6553f64e91d015d" providerId="LiveId" clId="{7E74A06A-B2AA-4EEC-A19D-AA52293F645A}" dt="2026-01-24T00:39:13.562" v="32" actId="404"/>
          <ac:spMkLst>
            <pc:docMk/>
            <pc:sldMk cId="0" sldId="259"/>
            <ac:spMk id="87" creationId="{02BD8AE0-18EC-C6D3-9124-8F2D1155D3B4}"/>
          </ac:spMkLst>
        </pc:spChg>
        <pc:grpChg chg="del mod">
          <ac:chgData name="석주 이" userId="b6553f64e91d015d" providerId="LiveId" clId="{7E74A06A-B2AA-4EEC-A19D-AA52293F645A}" dt="2026-01-24T00:50:41.819" v="38" actId="478"/>
          <ac:grpSpMkLst>
            <pc:docMk/>
            <pc:sldMk cId="0" sldId="259"/>
            <ac:grpSpMk id="5" creationId="{DC776797-B74A-7E75-019C-CCA6E5592F94}"/>
          </ac:grpSpMkLst>
        </pc:grpChg>
        <pc:grpChg chg="del">
          <ac:chgData name="석주 이" userId="b6553f64e91d015d" providerId="LiveId" clId="{7E74A06A-B2AA-4EEC-A19D-AA52293F645A}" dt="2026-01-24T00:38:30.400" v="20" actId="478"/>
          <ac:grpSpMkLst>
            <pc:docMk/>
            <pc:sldMk cId="0" sldId="259"/>
            <ac:grpSpMk id="94" creationId="{117E3D15-FFB6-0A9D-A22B-99850E558A9B}"/>
          </ac:grpSpMkLst>
        </pc:grpChg>
        <pc:picChg chg="add mod">
          <ac:chgData name="석주 이" userId="b6553f64e91d015d" providerId="LiveId" clId="{7E74A06A-B2AA-4EEC-A19D-AA52293F645A}" dt="2026-01-24T00:50:48.160" v="40" actId="14100"/>
          <ac:picMkLst>
            <pc:docMk/>
            <pc:sldMk cId="0" sldId="259"/>
            <ac:picMk id="91" creationId="{CD872EF9-D401-0EF7-4888-2BA53E2FC24F}"/>
          </ac:picMkLst>
        </pc:picChg>
        <pc:cxnChg chg="mod">
          <ac:chgData name="석주 이" userId="b6553f64e91d015d" providerId="LiveId" clId="{7E74A06A-B2AA-4EEC-A19D-AA52293F645A}" dt="2026-01-24T00:50:41.819" v="38" actId="478"/>
          <ac:cxnSpMkLst>
            <pc:docMk/>
            <pc:sldMk cId="0" sldId="259"/>
            <ac:cxnSpMk id="14" creationId="{DC50A738-F131-62DA-3AD2-24795D954D64}"/>
          </ac:cxnSpMkLst>
        </pc:cxnChg>
        <pc:cxnChg chg="mod">
          <ac:chgData name="석주 이" userId="b6553f64e91d015d" providerId="LiveId" clId="{7E74A06A-B2AA-4EEC-A19D-AA52293F645A}" dt="2026-01-24T00:50:41.819" v="38" actId="478"/>
          <ac:cxnSpMkLst>
            <pc:docMk/>
            <pc:sldMk cId="0" sldId="259"/>
            <ac:cxnSpMk id="41" creationId="{A1489BD9-5E55-6A83-B82E-944D19B0AD9A}"/>
          </ac:cxnSpMkLst>
        </pc:cxnChg>
        <pc:cxnChg chg="mod">
          <ac:chgData name="석주 이" userId="b6553f64e91d015d" providerId="LiveId" clId="{7E74A06A-B2AA-4EEC-A19D-AA52293F645A}" dt="2026-01-24T00:50:41.819" v="38" actId="478"/>
          <ac:cxnSpMkLst>
            <pc:docMk/>
            <pc:sldMk cId="0" sldId="259"/>
            <ac:cxnSpMk id="44" creationId="{76B11F4F-BC99-EC21-5C85-439D02378DBC}"/>
          </ac:cxnSpMkLst>
        </pc:cxnChg>
        <pc:cxnChg chg="mod">
          <ac:chgData name="석주 이" userId="b6553f64e91d015d" providerId="LiveId" clId="{7E74A06A-B2AA-4EEC-A19D-AA52293F645A}" dt="2026-01-24T00:50:41.819" v="38" actId="478"/>
          <ac:cxnSpMkLst>
            <pc:docMk/>
            <pc:sldMk cId="0" sldId="259"/>
            <ac:cxnSpMk id="50" creationId="{FF395A11-A938-BE83-FBFA-8185DE052605}"/>
          </ac:cxnSpMkLst>
        </pc:cxnChg>
        <pc:cxnChg chg="mod">
          <ac:chgData name="석주 이" userId="b6553f64e91d015d" providerId="LiveId" clId="{7E74A06A-B2AA-4EEC-A19D-AA52293F645A}" dt="2026-01-24T00:50:41.819" v="38" actId="478"/>
          <ac:cxnSpMkLst>
            <pc:docMk/>
            <pc:sldMk cId="0" sldId="259"/>
            <ac:cxnSpMk id="52" creationId="{0F092792-301E-6480-240C-A5B587A4C1EA}"/>
          </ac:cxnSpMkLst>
        </pc:cxnChg>
        <pc:cxnChg chg="mod">
          <ac:chgData name="석주 이" userId="b6553f64e91d015d" providerId="LiveId" clId="{7E74A06A-B2AA-4EEC-A19D-AA52293F645A}" dt="2026-01-24T00:50:41.819" v="38" actId="478"/>
          <ac:cxnSpMkLst>
            <pc:docMk/>
            <pc:sldMk cId="0" sldId="259"/>
            <ac:cxnSpMk id="60" creationId="{9121D035-947E-F5CB-A06E-A10559F1D3A4}"/>
          </ac:cxnSpMkLst>
        </pc:cxnChg>
        <pc:cxnChg chg="mod">
          <ac:chgData name="석주 이" userId="b6553f64e91d015d" providerId="LiveId" clId="{7E74A06A-B2AA-4EEC-A19D-AA52293F645A}" dt="2026-01-24T00:50:41.819" v="38" actId="478"/>
          <ac:cxnSpMkLst>
            <pc:docMk/>
            <pc:sldMk cId="0" sldId="259"/>
            <ac:cxnSpMk id="62" creationId="{2C48BA2C-BFC4-7EDC-DBA5-36E9A954DAD9}"/>
          </ac:cxnSpMkLst>
        </pc:cxnChg>
        <pc:cxnChg chg="mod">
          <ac:chgData name="석주 이" userId="b6553f64e91d015d" providerId="LiveId" clId="{7E74A06A-B2AA-4EEC-A19D-AA52293F645A}" dt="2026-01-24T00:50:41.819" v="38" actId="478"/>
          <ac:cxnSpMkLst>
            <pc:docMk/>
            <pc:sldMk cId="0" sldId="259"/>
            <ac:cxnSpMk id="72" creationId="{3C707F71-3EF4-2812-AFC2-EF5062B85410}"/>
          </ac:cxnSpMkLst>
        </pc:cxnChg>
        <pc:cxnChg chg="mod">
          <ac:chgData name="석주 이" userId="b6553f64e91d015d" providerId="LiveId" clId="{7E74A06A-B2AA-4EEC-A19D-AA52293F645A}" dt="2026-01-24T00:50:41.819" v="38" actId="478"/>
          <ac:cxnSpMkLst>
            <pc:docMk/>
            <pc:sldMk cId="0" sldId="259"/>
            <ac:cxnSpMk id="73" creationId="{B2AE1350-1969-F4A2-B029-0585BE6E241A}"/>
          </ac:cxnSpMkLst>
        </pc:cxnChg>
        <pc:cxnChg chg="mod">
          <ac:chgData name="석주 이" userId="b6553f64e91d015d" providerId="LiveId" clId="{7E74A06A-B2AA-4EEC-A19D-AA52293F645A}" dt="2026-01-24T00:38:30.400" v="20" actId="478"/>
          <ac:cxnSpMkLst>
            <pc:docMk/>
            <pc:sldMk cId="0" sldId="259"/>
            <ac:cxnSpMk id="128" creationId="{3D91D8BB-476B-D35F-F018-43382ACAA81D}"/>
          </ac:cxnSpMkLst>
        </pc:cxnChg>
        <pc:cxnChg chg="mod">
          <ac:chgData name="석주 이" userId="b6553f64e91d015d" providerId="LiveId" clId="{7E74A06A-B2AA-4EEC-A19D-AA52293F645A}" dt="2026-01-24T00:38:30.400" v="20" actId="478"/>
          <ac:cxnSpMkLst>
            <pc:docMk/>
            <pc:sldMk cId="0" sldId="259"/>
            <ac:cxnSpMk id="129" creationId="{08CA0B8F-CB6B-65E5-FCB3-B835FAF8F9B8}"/>
          </ac:cxnSpMkLst>
        </pc:cxnChg>
        <pc:cxnChg chg="mod">
          <ac:chgData name="석주 이" userId="b6553f64e91d015d" providerId="LiveId" clId="{7E74A06A-B2AA-4EEC-A19D-AA52293F645A}" dt="2026-01-24T00:38:30.400" v="20" actId="478"/>
          <ac:cxnSpMkLst>
            <pc:docMk/>
            <pc:sldMk cId="0" sldId="259"/>
            <ac:cxnSpMk id="139" creationId="{8F638E32-9B82-177F-4903-214005E990FA}"/>
          </ac:cxnSpMkLst>
        </pc:cxnChg>
        <pc:cxnChg chg="mod">
          <ac:chgData name="석주 이" userId="b6553f64e91d015d" providerId="LiveId" clId="{7E74A06A-B2AA-4EEC-A19D-AA52293F645A}" dt="2026-01-24T00:38:30.400" v="20" actId="478"/>
          <ac:cxnSpMkLst>
            <pc:docMk/>
            <pc:sldMk cId="0" sldId="259"/>
            <ac:cxnSpMk id="141" creationId="{A15FC5AB-A889-861E-774C-08D56B731464}"/>
          </ac:cxnSpMkLst>
        </pc:cxnChg>
        <pc:cxnChg chg="mod">
          <ac:chgData name="석주 이" userId="b6553f64e91d015d" providerId="LiveId" clId="{7E74A06A-B2AA-4EEC-A19D-AA52293F645A}" dt="2026-01-24T00:38:30.400" v="20" actId="478"/>
          <ac:cxnSpMkLst>
            <pc:docMk/>
            <pc:sldMk cId="0" sldId="259"/>
            <ac:cxnSpMk id="144" creationId="{D3E4669B-4D50-4D10-A836-34AED7191B31}"/>
          </ac:cxnSpMkLst>
        </pc:cxnChg>
        <pc:cxnChg chg="mod">
          <ac:chgData name="석주 이" userId="b6553f64e91d015d" providerId="LiveId" clId="{7E74A06A-B2AA-4EEC-A19D-AA52293F645A}" dt="2026-01-24T00:38:30.400" v="20" actId="478"/>
          <ac:cxnSpMkLst>
            <pc:docMk/>
            <pc:sldMk cId="0" sldId="259"/>
            <ac:cxnSpMk id="152" creationId="{DEC43EEF-79D4-22E2-089F-C692FBC9B16F}"/>
          </ac:cxnSpMkLst>
        </pc:cxnChg>
        <pc:cxnChg chg="mod">
          <ac:chgData name="석주 이" userId="b6553f64e91d015d" providerId="LiveId" clId="{7E74A06A-B2AA-4EEC-A19D-AA52293F645A}" dt="2026-01-24T00:38:30.400" v="20" actId="478"/>
          <ac:cxnSpMkLst>
            <pc:docMk/>
            <pc:sldMk cId="0" sldId="259"/>
            <ac:cxnSpMk id="158" creationId="{84C12FCE-660F-1260-6A35-5AAD5AE6281E}"/>
          </ac:cxnSpMkLst>
        </pc:cxnChg>
        <pc:cxnChg chg="mod">
          <ac:chgData name="석주 이" userId="b6553f64e91d015d" providerId="LiveId" clId="{7E74A06A-B2AA-4EEC-A19D-AA52293F645A}" dt="2026-01-24T00:38:30.400" v="20" actId="478"/>
          <ac:cxnSpMkLst>
            <pc:docMk/>
            <pc:sldMk cId="0" sldId="259"/>
            <ac:cxnSpMk id="161" creationId="{E67F3857-499C-8DD4-7DF8-393CAB1158BD}"/>
          </ac:cxnSpMkLst>
        </pc:cxnChg>
        <pc:cxnChg chg="mod">
          <ac:chgData name="석주 이" userId="b6553f64e91d015d" providerId="LiveId" clId="{7E74A06A-B2AA-4EEC-A19D-AA52293F645A}" dt="2026-01-24T00:38:30.400" v="20" actId="478"/>
          <ac:cxnSpMkLst>
            <pc:docMk/>
            <pc:sldMk cId="0" sldId="259"/>
            <ac:cxnSpMk id="164" creationId="{10EBC97B-6DE5-6C68-A5C9-DFBD28FA6F84}"/>
          </ac:cxnSpMkLst>
        </pc:cxnChg>
      </pc:sldChg>
      <pc:sldChg chg="addSp delSp modSp mod">
        <pc:chgData name="석주 이" userId="b6553f64e91d015d" providerId="LiveId" clId="{7E74A06A-B2AA-4EEC-A19D-AA52293F645A}" dt="2026-01-24T01:56:18.356" v="105" actId="20577"/>
        <pc:sldMkLst>
          <pc:docMk/>
          <pc:sldMk cId="0" sldId="268"/>
        </pc:sldMkLst>
        <pc:spChg chg="mod ord topLvl">
          <ac:chgData name="석주 이" userId="b6553f64e91d015d" providerId="LiveId" clId="{7E74A06A-B2AA-4EEC-A19D-AA52293F645A}" dt="2026-01-24T00:33:36.453" v="10" actId="167"/>
          <ac:spMkLst>
            <pc:docMk/>
            <pc:sldMk cId="0" sldId="268"/>
            <ac:spMk id="8" creationId="{00000000-0000-0000-0000-000000000000}"/>
          </ac:spMkLst>
        </pc:spChg>
        <pc:spChg chg="mod topLvl">
          <ac:chgData name="석주 이" userId="b6553f64e91d015d" providerId="LiveId" clId="{7E74A06A-B2AA-4EEC-A19D-AA52293F645A}" dt="2026-01-24T00:33:33.865" v="9" actId="165"/>
          <ac:spMkLst>
            <pc:docMk/>
            <pc:sldMk cId="0" sldId="268"/>
            <ac:spMk id="10" creationId="{00000000-0000-0000-0000-000000000000}"/>
          </ac:spMkLst>
        </pc:spChg>
        <pc:spChg chg="mod ord topLvl">
          <ac:chgData name="석주 이" userId="b6553f64e91d015d" providerId="LiveId" clId="{7E74A06A-B2AA-4EEC-A19D-AA52293F645A}" dt="2026-01-24T00:33:36.453" v="10" actId="167"/>
          <ac:spMkLst>
            <pc:docMk/>
            <pc:sldMk cId="0" sldId="268"/>
            <ac:spMk id="24" creationId="{00000000-0000-0000-0000-000000000000}"/>
          </ac:spMkLst>
        </pc:spChg>
        <pc:spChg chg="ord">
          <ac:chgData name="석주 이" userId="b6553f64e91d015d" providerId="LiveId" clId="{7E74A06A-B2AA-4EEC-A19D-AA52293F645A}" dt="2026-01-24T00:33:36.453" v="10" actId="167"/>
          <ac:spMkLst>
            <pc:docMk/>
            <pc:sldMk cId="0" sldId="268"/>
            <ac:spMk id="26" creationId="{00000000-0000-0000-0000-000000000000}"/>
          </ac:spMkLst>
        </pc:spChg>
        <pc:spChg chg="mod ord topLvl">
          <ac:chgData name="석주 이" userId="b6553f64e91d015d" providerId="LiveId" clId="{7E74A06A-B2AA-4EEC-A19D-AA52293F645A}" dt="2026-01-24T00:33:36.453" v="10" actId="167"/>
          <ac:spMkLst>
            <pc:docMk/>
            <pc:sldMk cId="0" sldId="268"/>
            <ac:spMk id="27" creationId="{00000000-0000-0000-0000-000000000000}"/>
          </ac:spMkLst>
        </pc:spChg>
        <pc:spChg chg="mod ord topLvl">
          <ac:chgData name="석주 이" userId="b6553f64e91d015d" providerId="LiveId" clId="{7E74A06A-B2AA-4EEC-A19D-AA52293F645A}" dt="2026-01-24T00:33:36.453" v="10" actId="167"/>
          <ac:spMkLst>
            <pc:docMk/>
            <pc:sldMk cId="0" sldId="268"/>
            <ac:spMk id="30" creationId="{00000000-0000-0000-0000-000000000000}"/>
          </ac:spMkLst>
        </pc:spChg>
        <pc:spChg chg="mod ord topLvl">
          <ac:chgData name="석주 이" userId="b6553f64e91d015d" providerId="LiveId" clId="{7E74A06A-B2AA-4EEC-A19D-AA52293F645A}" dt="2026-01-24T00:33:36.453" v="10" actId="167"/>
          <ac:spMkLst>
            <pc:docMk/>
            <pc:sldMk cId="0" sldId="268"/>
            <ac:spMk id="31" creationId="{00000000-0000-0000-0000-000000000000}"/>
          </ac:spMkLst>
        </pc:spChg>
        <pc:spChg chg="mod ord topLvl">
          <ac:chgData name="석주 이" userId="b6553f64e91d015d" providerId="LiveId" clId="{7E74A06A-B2AA-4EEC-A19D-AA52293F645A}" dt="2026-01-24T00:33:36.453" v="10" actId="167"/>
          <ac:spMkLst>
            <pc:docMk/>
            <pc:sldMk cId="0" sldId="268"/>
            <ac:spMk id="37" creationId="{00000000-0000-0000-0000-000000000000}"/>
          </ac:spMkLst>
        </pc:spChg>
        <pc:spChg chg="mod ord topLvl">
          <ac:chgData name="석주 이" userId="b6553f64e91d015d" providerId="LiveId" clId="{7E74A06A-B2AA-4EEC-A19D-AA52293F645A}" dt="2026-01-24T01:56:18.356" v="105" actId="20577"/>
          <ac:spMkLst>
            <pc:docMk/>
            <pc:sldMk cId="0" sldId="268"/>
            <ac:spMk id="41" creationId="{00000000-0000-0000-0000-000000000000}"/>
          </ac:spMkLst>
        </pc:spChg>
        <pc:spChg chg="mod ord topLvl">
          <ac:chgData name="석주 이" userId="b6553f64e91d015d" providerId="LiveId" clId="{7E74A06A-B2AA-4EEC-A19D-AA52293F645A}" dt="2026-01-24T00:33:36.453" v="10" actId="167"/>
          <ac:spMkLst>
            <pc:docMk/>
            <pc:sldMk cId="0" sldId="268"/>
            <ac:spMk id="44" creationId="{00000000-0000-0000-0000-000000000000}"/>
          </ac:spMkLst>
        </pc:spChg>
        <pc:spChg chg="mod ord topLvl">
          <ac:chgData name="석주 이" userId="b6553f64e91d015d" providerId="LiveId" clId="{7E74A06A-B2AA-4EEC-A19D-AA52293F645A}" dt="2026-01-24T00:33:36.453" v="10" actId="167"/>
          <ac:spMkLst>
            <pc:docMk/>
            <pc:sldMk cId="0" sldId="268"/>
            <ac:spMk id="45" creationId="{00000000-0000-0000-0000-000000000000}"/>
          </ac:spMkLst>
        </pc:spChg>
        <pc:cxnChg chg="add mod">
          <ac:chgData name="석주 이" userId="b6553f64e91d015d" providerId="LiveId" clId="{7E74A06A-B2AA-4EEC-A19D-AA52293F645A}" dt="2026-01-24T00:34:03.988" v="13"/>
          <ac:cxnSpMkLst>
            <pc:docMk/>
            <pc:sldMk cId="0" sldId="268"/>
            <ac:cxnSpMk id="51" creationId="{23C39A74-AD15-751A-9F4A-32B451802F2B}"/>
          </ac:cxnSpMkLst>
        </pc:cxnChg>
        <pc:cxnChg chg="add mod">
          <ac:chgData name="석주 이" userId="b6553f64e91d015d" providerId="LiveId" clId="{7E74A06A-B2AA-4EEC-A19D-AA52293F645A}" dt="2026-01-24T00:34:09.863" v="16" actId="14100"/>
          <ac:cxnSpMkLst>
            <pc:docMk/>
            <pc:sldMk cId="0" sldId="268"/>
            <ac:cxnSpMk id="53" creationId="{B0E8F142-D8DC-FBEB-A29D-99A4975C6751}"/>
          </ac:cxnSpMkLst>
        </pc:cxnChg>
        <pc:cxnChg chg="add mod">
          <ac:chgData name="석주 이" userId="b6553f64e91d015d" providerId="LiveId" clId="{7E74A06A-B2AA-4EEC-A19D-AA52293F645A}" dt="2026-01-24T00:34:17.029" v="19" actId="14100"/>
          <ac:cxnSpMkLst>
            <pc:docMk/>
            <pc:sldMk cId="0" sldId="268"/>
            <ac:cxnSpMk id="56" creationId="{B9A16830-B4BB-3C87-494E-1660C7C36B2C}"/>
          </ac:cxnSpMkLst>
        </pc:cxnChg>
      </pc:sldChg>
      <pc:sldChg chg="modSp mod">
        <pc:chgData name="석주 이" userId="b6553f64e91d015d" providerId="LiveId" clId="{7E74A06A-B2AA-4EEC-A19D-AA52293F645A}" dt="2026-01-24T01:07:47.065" v="42" actId="20577"/>
        <pc:sldMkLst>
          <pc:docMk/>
          <pc:sldMk cId="0" sldId="276"/>
        </pc:sldMkLst>
        <pc:spChg chg="mod">
          <ac:chgData name="석주 이" userId="b6553f64e91d015d" providerId="LiveId" clId="{7E74A06A-B2AA-4EEC-A19D-AA52293F645A}" dt="2026-01-24T01:07:47.065" v="42" actId="20577"/>
          <ac:spMkLst>
            <pc:docMk/>
            <pc:sldMk cId="0" sldId="276"/>
            <ac:spMk id="77" creationId="{00000000-0000-0000-0000-000000000000}"/>
          </ac:spMkLst>
        </pc:spChg>
      </pc:sldChg>
      <pc:sldChg chg="modSp mod">
        <pc:chgData name="석주 이" userId="b6553f64e91d015d" providerId="LiveId" clId="{7E74A06A-B2AA-4EEC-A19D-AA52293F645A}" dt="2026-01-24T00:33:10.969" v="8" actId="404"/>
        <pc:sldMkLst>
          <pc:docMk/>
          <pc:sldMk cId="489637365" sldId="278"/>
        </pc:sldMkLst>
        <pc:spChg chg="mod">
          <ac:chgData name="석주 이" userId="b6553f64e91d015d" providerId="LiveId" clId="{7E74A06A-B2AA-4EEC-A19D-AA52293F645A}" dt="2026-01-24T00:33:10.969" v="8" actId="404"/>
          <ac:spMkLst>
            <pc:docMk/>
            <pc:sldMk cId="489637365" sldId="278"/>
            <ac:spMk id="8" creationId="{9908E3EB-14D5-3201-05A7-B8443C0F7372}"/>
          </ac:spMkLst>
        </pc:spChg>
        <pc:spChg chg="mod">
          <ac:chgData name="석주 이" userId="b6553f64e91d015d" providerId="LiveId" clId="{7E74A06A-B2AA-4EEC-A19D-AA52293F645A}" dt="2026-01-24T00:33:05.543" v="3" actId="403"/>
          <ac:spMkLst>
            <pc:docMk/>
            <pc:sldMk cId="489637365" sldId="278"/>
            <ac:spMk id="16" creationId="{E8A06B05-9AA6-E48C-0907-0E9F33230DAB}"/>
          </ac:spMkLst>
        </pc:spChg>
        <pc:spChg chg="mod">
          <ac:chgData name="석주 이" userId="b6553f64e91d015d" providerId="LiveId" clId="{7E74A06A-B2AA-4EEC-A19D-AA52293F645A}" dt="2026-01-24T00:33:10.969" v="8" actId="404"/>
          <ac:spMkLst>
            <pc:docMk/>
            <pc:sldMk cId="489637365" sldId="278"/>
            <ac:spMk id="18" creationId="{C767D574-F33E-54EA-5AF7-1D2474041CEA}"/>
          </ac:spMkLst>
        </pc:spChg>
        <pc:spChg chg="mod">
          <ac:chgData name="석주 이" userId="b6553f64e91d015d" providerId="LiveId" clId="{7E74A06A-B2AA-4EEC-A19D-AA52293F645A}" dt="2026-01-24T00:33:10.969" v="8" actId="404"/>
          <ac:spMkLst>
            <pc:docMk/>
            <pc:sldMk cId="489637365" sldId="278"/>
            <ac:spMk id="20" creationId="{3BAA7F7A-CD69-2594-04BD-33B6F609533B}"/>
          </ac:spMkLst>
        </pc:spChg>
        <pc:spChg chg="mod">
          <ac:chgData name="석주 이" userId="b6553f64e91d015d" providerId="LiveId" clId="{7E74A06A-B2AA-4EEC-A19D-AA52293F645A}" dt="2026-01-24T00:33:10.969" v="8" actId="404"/>
          <ac:spMkLst>
            <pc:docMk/>
            <pc:sldMk cId="489637365" sldId="278"/>
            <ac:spMk id="23" creationId="{57682CB4-DE6D-FDBE-63FA-294D91C6BACD}"/>
          </ac:spMkLst>
        </pc:spChg>
        <pc:spChg chg="mod">
          <ac:chgData name="석주 이" userId="b6553f64e91d015d" providerId="LiveId" clId="{7E74A06A-B2AA-4EEC-A19D-AA52293F645A}" dt="2026-01-24T00:33:05.543" v="3" actId="403"/>
          <ac:spMkLst>
            <pc:docMk/>
            <pc:sldMk cId="489637365" sldId="278"/>
            <ac:spMk id="31" creationId="{8E2566BF-3CAC-E6E9-74FA-69611E1A01C8}"/>
          </ac:spMkLst>
        </pc:spChg>
        <pc:spChg chg="mod">
          <ac:chgData name="석주 이" userId="b6553f64e91d015d" providerId="LiveId" clId="{7E74A06A-B2AA-4EEC-A19D-AA52293F645A}" dt="2026-01-24T00:33:10.969" v="8" actId="404"/>
          <ac:spMkLst>
            <pc:docMk/>
            <pc:sldMk cId="489637365" sldId="278"/>
            <ac:spMk id="33" creationId="{B6699ADA-07E5-B7A8-DD74-1A56F92FD837}"/>
          </ac:spMkLst>
        </pc:spChg>
        <pc:spChg chg="mod">
          <ac:chgData name="석주 이" userId="b6553f64e91d015d" providerId="LiveId" clId="{7E74A06A-B2AA-4EEC-A19D-AA52293F645A}" dt="2026-01-24T00:33:10.969" v="8" actId="404"/>
          <ac:spMkLst>
            <pc:docMk/>
            <pc:sldMk cId="489637365" sldId="278"/>
            <ac:spMk id="35" creationId="{D3052392-9409-4997-8F4F-36BE891C7583}"/>
          </ac:spMkLst>
        </pc:spChg>
        <pc:spChg chg="mod">
          <ac:chgData name="석주 이" userId="b6553f64e91d015d" providerId="LiveId" clId="{7E74A06A-B2AA-4EEC-A19D-AA52293F645A}" dt="2026-01-24T00:33:10.969" v="8" actId="404"/>
          <ac:spMkLst>
            <pc:docMk/>
            <pc:sldMk cId="489637365" sldId="278"/>
            <ac:spMk id="38" creationId="{F1206013-C4C0-494A-C7E3-314CE067692C}"/>
          </ac:spMkLst>
        </pc:spChg>
        <pc:spChg chg="mod">
          <ac:chgData name="석주 이" userId="b6553f64e91d015d" providerId="LiveId" clId="{7E74A06A-B2AA-4EEC-A19D-AA52293F645A}" dt="2026-01-24T00:33:10.969" v="8" actId="404"/>
          <ac:spMkLst>
            <pc:docMk/>
            <pc:sldMk cId="489637365" sldId="278"/>
            <ac:spMk id="46" creationId="{66B5D71C-A3F7-A662-762F-F2BA7653D349}"/>
          </ac:spMkLst>
        </pc:spChg>
        <pc:spChg chg="mod">
          <ac:chgData name="석주 이" userId="b6553f64e91d015d" providerId="LiveId" clId="{7E74A06A-B2AA-4EEC-A19D-AA52293F645A}" dt="2026-01-24T00:33:10.969" v="8" actId="404"/>
          <ac:spMkLst>
            <pc:docMk/>
            <pc:sldMk cId="489637365" sldId="278"/>
            <ac:spMk id="48" creationId="{B34291E3-6D69-BCC5-800C-E66310A09709}"/>
          </ac:spMkLst>
        </pc:spChg>
        <pc:spChg chg="mod">
          <ac:chgData name="석주 이" userId="b6553f64e91d015d" providerId="LiveId" clId="{7E74A06A-B2AA-4EEC-A19D-AA52293F645A}" dt="2026-01-24T00:33:10.969" v="8" actId="404"/>
          <ac:spMkLst>
            <pc:docMk/>
            <pc:sldMk cId="489637365" sldId="278"/>
            <ac:spMk id="50" creationId="{A5EEAB95-2716-21EB-160C-338D751CEC26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814407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F67B2C-5874-FBE7-8A06-DD070B7CA3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C211C75-50EE-6035-4418-F6B4216B652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CFD5B3E-1AC0-65A2-4B4E-B921523113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986E59-66B1-4CBA-8B9E-8D74C71CA60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307826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JP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19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12" Type="http://schemas.openxmlformats.org/officeDocument/2006/relationships/image" Target="../media/image1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5" Type="http://schemas.openxmlformats.org/officeDocument/2006/relationships/image" Target="../media/image11.png"/><Relationship Id="rId15" Type="http://schemas.openxmlformats.org/officeDocument/2006/relationships/image" Target="../media/image21.png"/><Relationship Id="rId10" Type="http://schemas.openxmlformats.org/officeDocument/2006/relationships/image" Target="../media/image16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Relationship Id="rId14" Type="http://schemas.openxmlformats.org/officeDocument/2006/relationships/image" Target="../media/image2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29.png"/><Relationship Id="rId7" Type="http://schemas.openxmlformats.org/officeDocument/2006/relationships/image" Target="../media/image3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8.png"/><Relationship Id="rId5" Type="http://schemas.openxmlformats.org/officeDocument/2006/relationships/image" Target="../media/image40.png"/><Relationship Id="rId4" Type="http://schemas.openxmlformats.org/officeDocument/2006/relationships/image" Target="../media/image3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7" Type="http://schemas.openxmlformats.org/officeDocument/2006/relationships/image" Target="../media/image4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png"/><Relationship Id="rId13" Type="http://schemas.openxmlformats.org/officeDocument/2006/relationships/image" Target="../media/image56.png"/><Relationship Id="rId18" Type="http://schemas.openxmlformats.org/officeDocument/2006/relationships/image" Target="../media/image61.png"/><Relationship Id="rId3" Type="http://schemas.openxmlformats.org/officeDocument/2006/relationships/image" Target="../media/image46.png"/><Relationship Id="rId7" Type="http://schemas.openxmlformats.org/officeDocument/2006/relationships/image" Target="../media/image50.png"/><Relationship Id="rId12" Type="http://schemas.openxmlformats.org/officeDocument/2006/relationships/image" Target="../media/image55.png"/><Relationship Id="rId17" Type="http://schemas.openxmlformats.org/officeDocument/2006/relationships/image" Target="../media/image60.png"/><Relationship Id="rId2" Type="http://schemas.openxmlformats.org/officeDocument/2006/relationships/notesSlide" Target="../notesSlides/notesSlide11.xml"/><Relationship Id="rId16" Type="http://schemas.openxmlformats.org/officeDocument/2006/relationships/image" Target="../media/image5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9.png"/><Relationship Id="rId11" Type="http://schemas.openxmlformats.org/officeDocument/2006/relationships/image" Target="../media/image54.png"/><Relationship Id="rId5" Type="http://schemas.openxmlformats.org/officeDocument/2006/relationships/image" Target="../media/image48.png"/><Relationship Id="rId15" Type="http://schemas.openxmlformats.org/officeDocument/2006/relationships/image" Target="../media/image58.png"/><Relationship Id="rId10" Type="http://schemas.openxmlformats.org/officeDocument/2006/relationships/image" Target="../media/image53.png"/><Relationship Id="rId19" Type="http://schemas.openxmlformats.org/officeDocument/2006/relationships/image" Target="../media/image62.png"/><Relationship Id="rId4" Type="http://schemas.openxmlformats.org/officeDocument/2006/relationships/image" Target="../media/image47.png"/><Relationship Id="rId9" Type="http://schemas.openxmlformats.org/officeDocument/2006/relationships/image" Target="../media/image52.png"/><Relationship Id="rId14" Type="http://schemas.openxmlformats.org/officeDocument/2006/relationships/image" Target="../media/image57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8.png"/><Relationship Id="rId3" Type="http://schemas.openxmlformats.org/officeDocument/2006/relationships/image" Target="../media/image63.png"/><Relationship Id="rId7" Type="http://schemas.openxmlformats.org/officeDocument/2006/relationships/image" Target="../media/image6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6.png"/><Relationship Id="rId5" Type="http://schemas.openxmlformats.org/officeDocument/2006/relationships/image" Target="../media/image65.png"/><Relationship Id="rId4" Type="http://schemas.openxmlformats.org/officeDocument/2006/relationships/image" Target="../media/image6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1.png"/><Relationship Id="rId4" Type="http://schemas.openxmlformats.org/officeDocument/2006/relationships/image" Target="../media/image70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7.png"/><Relationship Id="rId3" Type="http://schemas.openxmlformats.org/officeDocument/2006/relationships/image" Target="../media/image72.png"/><Relationship Id="rId7" Type="http://schemas.openxmlformats.org/officeDocument/2006/relationships/image" Target="../media/image7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5.png"/><Relationship Id="rId11" Type="http://schemas.openxmlformats.org/officeDocument/2006/relationships/image" Target="../media/image80.png"/><Relationship Id="rId5" Type="http://schemas.openxmlformats.org/officeDocument/2006/relationships/image" Target="../media/image74.png"/><Relationship Id="rId10" Type="http://schemas.openxmlformats.org/officeDocument/2006/relationships/image" Target="../media/image79.png"/><Relationship Id="rId4" Type="http://schemas.openxmlformats.org/officeDocument/2006/relationships/image" Target="../media/image73.png"/><Relationship Id="rId9" Type="http://schemas.openxmlformats.org/officeDocument/2006/relationships/image" Target="../media/image78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6.png"/><Relationship Id="rId3" Type="http://schemas.openxmlformats.org/officeDocument/2006/relationships/image" Target="../media/image81.png"/><Relationship Id="rId7" Type="http://schemas.openxmlformats.org/officeDocument/2006/relationships/image" Target="../media/image8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4.png"/><Relationship Id="rId11" Type="http://schemas.openxmlformats.org/officeDocument/2006/relationships/image" Target="../media/image89.png"/><Relationship Id="rId5" Type="http://schemas.openxmlformats.org/officeDocument/2006/relationships/image" Target="../media/image83.png"/><Relationship Id="rId10" Type="http://schemas.openxmlformats.org/officeDocument/2006/relationships/image" Target="../media/image88.png"/><Relationship Id="rId4" Type="http://schemas.openxmlformats.org/officeDocument/2006/relationships/image" Target="../media/image82.png"/><Relationship Id="rId9" Type="http://schemas.openxmlformats.org/officeDocument/2006/relationships/image" Target="../media/image8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3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9.png"/><Relationship Id="rId3" Type="http://schemas.openxmlformats.org/officeDocument/2006/relationships/image" Target="../media/image94.png"/><Relationship Id="rId7" Type="http://schemas.openxmlformats.org/officeDocument/2006/relationships/image" Target="../media/image9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7.png"/><Relationship Id="rId5" Type="http://schemas.openxmlformats.org/officeDocument/2006/relationships/image" Target="../media/image96.png"/><Relationship Id="rId4" Type="http://schemas.openxmlformats.org/officeDocument/2006/relationships/image" Target="../media/image95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5.png"/><Relationship Id="rId3" Type="http://schemas.openxmlformats.org/officeDocument/2006/relationships/image" Target="../media/image100.png"/><Relationship Id="rId7" Type="http://schemas.openxmlformats.org/officeDocument/2006/relationships/image" Target="../media/image10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3.png"/><Relationship Id="rId5" Type="http://schemas.openxmlformats.org/officeDocument/2006/relationships/image" Target="../media/image102.png"/><Relationship Id="rId4" Type="http://schemas.openxmlformats.org/officeDocument/2006/relationships/image" Target="../media/image101.png"/><Relationship Id="rId9" Type="http://schemas.openxmlformats.org/officeDocument/2006/relationships/image" Target="../media/image10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D5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3"/>
          <p:cNvSpPr txBox="1"/>
          <p:nvPr/>
        </p:nvSpPr>
        <p:spPr>
          <a:xfrm>
            <a:off x="914400" y="2038198"/>
            <a:ext cx="9115654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400" b="1" dirty="0">
                <a:solidFill>
                  <a:srgbClr val="FFFFFF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시앤피컨설팅</a:t>
            </a:r>
            <a:endParaRPr lang="en-US" sz="5400" dirty="0"/>
          </a:p>
          <a:p>
            <a:pPr marL="0" indent="0" algn="l">
              <a:buNone/>
            </a:pPr>
            <a:r>
              <a:rPr lang="en-US" sz="5400" b="1" dirty="0">
                <a:solidFill>
                  <a:srgbClr val="FFFFFF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조직 재설계 전략</a:t>
            </a:r>
            <a:endParaRPr lang="en-US" sz="5400" dirty="0"/>
          </a:p>
        </p:txBody>
      </p:sp>
      <p:sp>
        <p:nvSpPr>
          <p:cNvPr id="7" name="Shape 4"/>
          <p:cNvSpPr/>
          <p:nvPr/>
        </p:nvSpPr>
        <p:spPr>
          <a:xfrm>
            <a:off x="914400" y="4058107"/>
            <a:ext cx="1218895" cy="75895"/>
          </a:xfrm>
          <a:prstGeom prst="rect">
            <a:avLst/>
          </a:prstGeom>
          <a:solidFill>
            <a:srgbClr val="00A8A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609905" y="5667451"/>
            <a:ext cx="10972800" cy="9144"/>
          </a:xfrm>
          <a:prstGeom prst="rect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8"/>
          <p:cNvSpPr txBox="1"/>
          <p:nvPr/>
        </p:nvSpPr>
        <p:spPr>
          <a:xfrm>
            <a:off x="609905" y="5905195"/>
            <a:ext cx="204094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kern="0" spc="52" dirty="0">
                <a:solidFill>
                  <a:srgbClr val="9CA3AF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Subject</a:t>
            </a:r>
            <a:endParaRPr lang="en-US" sz="1000" dirty="0"/>
          </a:p>
        </p:txBody>
      </p:sp>
      <p:sp>
        <p:nvSpPr>
          <p:cNvPr id="12" name="Text 9"/>
          <p:cNvSpPr txBox="1"/>
          <p:nvPr/>
        </p:nvSpPr>
        <p:spPr>
          <a:xfrm>
            <a:off x="609905" y="6133795"/>
            <a:ext cx="2250338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ko-KR" altLang="en-US" sz="1500" dirty="0">
                <a:solidFill>
                  <a:srgbClr val="FFFFFF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조직설계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5815584" y="5905195"/>
            <a:ext cx="117226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kern="0" spc="52" dirty="0">
                <a:solidFill>
                  <a:srgbClr val="9CA3AF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Date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5815584" y="6133795"/>
            <a:ext cx="1303934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rgbClr val="FFFFFF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2026. 01. 24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10077602" y="5905195"/>
            <a:ext cx="150510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kern="0" spc="52" dirty="0">
                <a:solidFill>
                  <a:srgbClr val="9CA3AF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Presenter</a:t>
            </a:r>
            <a:endParaRPr lang="en-US" sz="1000" dirty="0"/>
          </a:p>
        </p:txBody>
      </p:sp>
      <p:sp>
        <p:nvSpPr>
          <p:cNvPr id="16" name="Text 13"/>
          <p:cNvSpPr txBox="1"/>
          <p:nvPr/>
        </p:nvSpPr>
        <p:spPr>
          <a:xfrm>
            <a:off x="9027460" y="6133795"/>
            <a:ext cx="2555246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500" dirty="0">
                <a:solidFill>
                  <a:srgbClr val="FFFFFF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KUMBA 32기 </a:t>
            </a:r>
            <a:r>
              <a:rPr lang="ko-KR" altLang="en-US" sz="1500" dirty="0">
                <a:solidFill>
                  <a:srgbClr val="FFFFFF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이석주</a:t>
            </a:r>
            <a:endParaRPr lang="en-US" sz="1500" dirty="0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3">
            <a:alphaModFix amt="10000"/>
          </a:blip>
          <a:srcRect t="-4167" b="-4167"/>
          <a:stretch/>
        </p:blipFill>
        <p:spPr>
          <a:xfrm>
            <a:off x="8128102" y="9144"/>
            <a:ext cx="219456" cy="19019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0F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0" y="880567"/>
            <a:ext cx="12191695" cy="5572354"/>
          </a:xfrm>
          <a:prstGeom prst="rect">
            <a:avLst/>
          </a:prstGeom>
          <a:solidFill>
            <a:srgbClr val="F5F7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761695" y="1260958"/>
            <a:ext cx="10668305" cy="809244"/>
          </a:xfrm>
          <a:prstGeom prst="roundRect">
            <a:avLst>
              <a:gd name="adj" fmla="val 10635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761695" y="1260958"/>
            <a:ext cx="114300" cy="809244"/>
          </a:xfrm>
          <a:prstGeom prst="rect">
            <a:avLst/>
          </a:prstGeom>
          <a:solidFill>
            <a:srgbClr val="71809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 txBox="1"/>
          <p:nvPr/>
        </p:nvSpPr>
        <p:spPr>
          <a:xfrm>
            <a:off x="1162202" y="1356970"/>
            <a:ext cx="44577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kern="0" spc="75" dirty="0">
                <a:solidFill>
                  <a:srgbClr val="718096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Part 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162202" y="1594714"/>
            <a:ext cx="381305" cy="381305"/>
          </a:xfrm>
          <a:prstGeom prst="ellipse">
            <a:avLst/>
          </a:prstGeom>
          <a:solidFill>
            <a:srgbClr val="71809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rcRect t="-842" b="-842"/>
          <a:stretch/>
        </p:blipFill>
        <p:spPr>
          <a:xfrm>
            <a:off x="1257300" y="1699870"/>
            <a:ext cx="190195" cy="171907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828800" y="1613916"/>
            <a:ext cx="255117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A202C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도입 (Introduction)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4299509" y="1677924"/>
            <a:ext cx="19202" cy="21945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9"/>
          <p:cNvSpPr txBox="1"/>
          <p:nvPr/>
        </p:nvSpPr>
        <p:spPr>
          <a:xfrm>
            <a:off x="4461358" y="1677924"/>
            <a:ext cx="1153058" cy="21945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718096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연구 배경 및 목적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761695" y="2261311"/>
            <a:ext cx="10668305" cy="809244"/>
          </a:xfrm>
          <a:prstGeom prst="roundRect">
            <a:avLst>
              <a:gd name="adj" fmla="val 10635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3"/>
          <p:cNvSpPr/>
          <p:nvPr/>
        </p:nvSpPr>
        <p:spPr>
          <a:xfrm>
            <a:off x="761695" y="2261311"/>
            <a:ext cx="114300" cy="809244"/>
          </a:xfrm>
          <a:prstGeom prst="rect">
            <a:avLst/>
          </a:prstGeom>
          <a:solidFill>
            <a:srgbClr val="E6394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4"/>
          <p:cNvSpPr txBox="1"/>
          <p:nvPr/>
        </p:nvSpPr>
        <p:spPr>
          <a:xfrm>
            <a:off x="1162202" y="2356409"/>
            <a:ext cx="658185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kern="0" spc="75" dirty="0">
                <a:solidFill>
                  <a:srgbClr val="E63946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Part 1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1162202" y="2595067"/>
            <a:ext cx="381305" cy="381305"/>
          </a:xfrm>
          <a:prstGeom prst="ellipse">
            <a:avLst/>
          </a:prstGeom>
          <a:solidFill>
            <a:srgbClr val="E6394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266444" y="2699309"/>
            <a:ext cx="171907" cy="171907"/>
          </a:xfrm>
          <a:prstGeom prst="rect">
            <a:avLst/>
          </a:prstGeom>
        </p:spPr>
      </p:pic>
      <p:sp>
        <p:nvSpPr>
          <p:cNvPr id="20" name="Text 16"/>
          <p:cNvSpPr txBox="1"/>
          <p:nvPr/>
        </p:nvSpPr>
        <p:spPr>
          <a:xfrm>
            <a:off x="1828800" y="2614270"/>
            <a:ext cx="399227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A202C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문제 정의 (Problem Definition)</a:t>
            </a:r>
            <a:endParaRPr lang="en-US" sz="1800" dirty="0"/>
          </a:p>
        </p:txBody>
      </p:sp>
      <p:sp>
        <p:nvSpPr>
          <p:cNvPr id="21" name="Shape 17"/>
          <p:cNvSpPr/>
          <p:nvPr/>
        </p:nvSpPr>
        <p:spPr>
          <a:xfrm>
            <a:off x="5530291" y="2678278"/>
            <a:ext cx="19202" cy="21945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18"/>
          <p:cNvSpPr txBox="1"/>
          <p:nvPr/>
        </p:nvSpPr>
        <p:spPr>
          <a:xfrm>
            <a:off x="5692140" y="2678278"/>
            <a:ext cx="2218334" cy="21945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718096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왜 지금 조직 재설계가 시급한가?</a:t>
            </a:r>
            <a:endParaRPr lang="en-US" sz="1100" dirty="0"/>
          </a:p>
        </p:txBody>
      </p:sp>
      <p:sp>
        <p:nvSpPr>
          <p:cNvPr id="25" name="Shape 21"/>
          <p:cNvSpPr/>
          <p:nvPr/>
        </p:nvSpPr>
        <p:spPr>
          <a:xfrm>
            <a:off x="761695" y="3261665"/>
            <a:ext cx="10668305" cy="809244"/>
          </a:xfrm>
          <a:prstGeom prst="roundRect">
            <a:avLst>
              <a:gd name="adj" fmla="val 10635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2"/>
          <p:cNvSpPr/>
          <p:nvPr/>
        </p:nvSpPr>
        <p:spPr>
          <a:xfrm>
            <a:off x="761695" y="3261665"/>
            <a:ext cx="114300" cy="809244"/>
          </a:xfrm>
          <a:prstGeom prst="rect">
            <a:avLst/>
          </a:prstGeom>
          <a:solidFill>
            <a:srgbClr val="FF6B3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3"/>
          <p:cNvSpPr txBox="1"/>
          <p:nvPr/>
        </p:nvSpPr>
        <p:spPr>
          <a:xfrm>
            <a:off x="1162202" y="3356762"/>
            <a:ext cx="627735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kern="0" spc="75" dirty="0">
                <a:solidFill>
                  <a:srgbClr val="FF6B35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Part 2</a:t>
            </a:r>
            <a:endParaRPr lang="en-US" sz="1000" dirty="0"/>
          </a:p>
        </p:txBody>
      </p:sp>
      <p:sp>
        <p:nvSpPr>
          <p:cNvPr id="28" name="Shape 24"/>
          <p:cNvSpPr/>
          <p:nvPr/>
        </p:nvSpPr>
        <p:spPr>
          <a:xfrm>
            <a:off x="1162202" y="3594506"/>
            <a:ext cx="381305" cy="381305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9" name="Image 2" descr="preencoded.png"/>
          <p:cNvPicPr>
            <a:picLocks noChangeAspect="1"/>
          </p:cNvPicPr>
          <p:nvPr/>
        </p:nvPicPr>
        <p:blipFill>
          <a:blip r:embed="rId5"/>
          <a:srcRect t="-842" b="-842"/>
          <a:stretch/>
        </p:blipFill>
        <p:spPr>
          <a:xfrm>
            <a:off x="1257300" y="3699662"/>
            <a:ext cx="190195" cy="171907"/>
          </a:xfrm>
          <a:prstGeom prst="rect">
            <a:avLst/>
          </a:prstGeom>
        </p:spPr>
      </p:pic>
      <p:sp>
        <p:nvSpPr>
          <p:cNvPr id="30" name="Text 25"/>
          <p:cNvSpPr txBox="1"/>
          <p:nvPr/>
        </p:nvSpPr>
        <p:spPr>
          <a:xfrm>
            <a:off x="1828800" y="3613709"/>
            <a:ext cx="270936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A202C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조직 진단 (Diagnosis)</a:t>
            </a:r>
            <a:endParaRPr lang="en-US" sz="1800" dirty="0"/>
          </a:p>
        </p:txBody>
      </p:sp>
      <p:sp>
        <p:nvSpPr>
          <p:cNvPr id="31" name="Shape 26"/>
          <p:cNvSpPr/>
          <p:nvPr/>
        </p:nvSpPr>
        <p:spPr>
          <a:xfrm>
            <a:off x="4433926" y="3678631"/>
            <a:ext cx="19202" cy="21945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 27"/>
          <p:cNvSpPr txBox="1"/>
          <p:nvPr/>
        </p:nvSpPr>
        <p:spPr>
          <a:xfrm>
            <a:off x="4595774" y="3678631"/>
            <a:ext cx="3064154" cy="21945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718096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상황요인과 현 조직구조의 불일치는 무엇인가?</a:t>
            </a:r>
            <a:endParaRPr lang="en-US" sz="1100" dirty="0"/>
          </a:p>
        </p:txBody>
      </p:sp>
      <p:sp>
        <p:nvSpPr>
          <p:cNvPr id="35" name="Shape 30"/>
          <p:cNvSpPr/>
          <p:nvPr/>
        </p:nvSpPr>
        <p:spPr>
          <a:xfrm>
            <a:off x="761695" y="4262018"/>
            <a:ext cx="10668305" cy="809244"/>
          </a:xfrm>
          <a:prstGeom prst="roundRect">
            <a:avLst>
              <a:gd name="adj" fmla="val 10635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6" name="Shape 31"/>
          <p:cNvSpPr/>
          <p:nvPr/>
        </p:nvSpPr>
        <p:spPr>
          <a:xfrm>
            <a:off x="761695" y="4262018"/>
            <a:ext cx="114300" cy="809244"/>
          </a:xfrm>
          <a:prstGeom prst="rect">
            <a:avLst/>
          </a:prstGeom>
          <a:solidFill>
            <a:srgbClr val="00A8A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Text 32"/>
          <p:cNvSpPr txBox="1"/>
          <p:nvPr/>
        </p:nvSpPr>
        <p:spPr>
          <a:xfrm>
            <a:off x="1162202" y="4357116"/>
            <a:ext cx="77724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kern="0" spc="75" dirty="0">
                <a:solidFill>
                  <a:srgbClr val="00A8A8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Part 3</a:t>
            </a:r>
            <a:endParaRPr lang="en-US" sz="1000" dirty="0"/>
          </a:p>
        </p:txBody>
      </p:sp>
      <p:sp>
        <p:nvSpPr>
          <p:cNvPr id="38" name="Shape 33"/>
          <p:cNvSpPr/>
          <p:nvPr/>
        </p:nvSpPr>
        <p:spPr>
          <a:xfrm>
            <a:off x="1162202" y="4594860"/>
            <a:ext cx="381305" cy="381305"/>
          </a:xfrm>
          <a:prstGeom prst="ellipse">
            <a:avLst/>
          </a:prstGeom>
          <a:solidFill>
            <a:srgbClr val="00A8A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9" name="Image 3" descr="preencoded.png"/>
          <p:cNvPicPr>
            <a:picLocks noChangeAspect="1"/>
          </p:cNvPicPr>
          <p:nvPr/>
        </p:nvPicPr>
        <p:blipFill>
          <a:blip r:embed="rId6"/>
          <a:srcRect t="-842" b="-842"/>
          <a:stretch/>
        </p:blipFill>
        <p:spPr>
          <a:xfrm>
            <a:off x="1257300" y="4700016"/>
            <a:ext cx="190195" cy="171907"/>
          </a:xfrm>
          <a:prstGeom prst="rect">
            <a:avLst/>
          </a:prstGeom>
        </p:spPr>
      </p:pic>
      <p:sp>
        <p:nvSpPr>
          <p:cNvPr id="40" name="Text 34"/>
          <p:cNvSpPr txBox="1"/>
          <p:nvPr/>
        </p:nvSpPr>
        <p:spPr>
          <a:xfrm>
            <a:off x="1828800" y="4614062"/>
            <a:ext cx="410199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A202C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재설계 방향 (Redesign Strategy)</a:t>
            </a:r>
            <a:endParaRPr lang="en-US" sz="1800" dirty="0"/>
          </a:p>
        </p:txBody>
      </p:sp>
      <p:sp>
        <p:nvSpPr>
          <p:cNvPr id="41" name="Shape 35"/>
          <p:cNvSpPr/>
          <p:nvPr/>
        </p:nvSpPr>
        <p:spPr>
          <a:xfrm>
            <a:off x="5623560" y="4678070"/>
            <a:ext cx="19202" cy="21945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Text 36"/>
          <p:cNvSpPr txBox="1"/>
          <p:nvPr/>
        </p:nvSpPr>
        <p:spPr>
          <a:xfrm>
            <a:off x="5785409" y="4678070"/>
            <a:ext cx="3423514" cy="21945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718096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어떤 구조가 유연성과 전문성을 동시에 확보하는가?</a:t>
            </a:r>
            <a:endParaRPr lang="en-US" sz="1100" dirty="0"/>
          </a:p>
        </p:txBody>
      </p:sp>
      <p:sp>
        <p:nvSpPr>
          <p:cNvPr id="45" name="Shape 39"/>
          <p:cNvSpPr/>
          <p:nvPr/>
        </p:nvSpPr>
        <p:spPr>
          <a:xfrm>
            <a:off x="761695" y="5261458"/>
            <a:ext cx="10668305" cy="809244"/>
          </a:xfrm>
          <a:prstGeom prst="roundRect">
            <a:avLst>
              <a:gd name="adj" fmla="val 10635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6" name="Shape 40"/>
          <p:cNvSpPr/>
          <p:nvPr/>
        </p:nvSpPr>
        <p:spPr>
          <a:xfrm>
            <a:off x="761695" y="5261458"/>
            <a:ext cx="114300" cy="809244"/>
          </a:xfrm>
          <a:prstGeom prst="rect">
            <a:avLst/>
          </a:prstGeom>
          <a:solidFill>
            <a:srgbClr val="003D5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7" name="Text 41"/>
          <p:cNvSpPr txBox="1"/>
          <p:nvPr/>
        </p:nvSpPr>
        <p:spPr>
          <a:xfrm>
            <a:off x="1162202" y="5357470"/>
            <a:ext cx="776325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kern="0" spc="75" dirty="0">
                <a:solidFill>
                  <a:srgbClr val="003D5B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Part 4</a:t>
            </a:r>
            <a:endParaRPr lang="en-US" sz="1000" dirty="0"/>
          </a:p>
        </p:txBody>
      </p:sp>
      <p:sp>
        <p:nvSpPr>
          <p:cNvPr id="48" name="Shape 42"/>
          <p:cNvSpPr/>
          <p:nvPr/>
        </p:nvSpPr>
        <p:spPr>
          <a:xfrm>
            <a:off x="1162202" y="5595214"/>
            <a:ext cx="381305" cy="381305"/>
          </a:xfrm>
          <a:prstGeom prst="ellipse">
            <a:avLst/>
          </a:prstGeom>
          <a:solidFill>
            <a:srgbClr val="003D5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49" name="Image 4" descr="preencoded.png"/>
          <p:cNvPicPr>
            <a:picLocks noChangeAspect="1"/>
          </p:cNvPicPr>
          <p:nvPr/>
        </p:nvPicPr>
        <p:blipFill>
          <a:blip r:embed="rId7"/>
          <a:srcRect l="-760" r="-760"/>
          <a:stretch/>
        </p:blipFill>
        <p:spPr>
          <a:xfrm>
            <a:off x="1276502" y="5700370"/>
            <a:ext cx="152705" cy="171907"/>
          </a:xfrm>
          <a:prstGeom prst="rect">
            <a:avLst/>
          </a:prstGeom>
        </p:spPr>
      </p:pic>
      <p:sp>
        <p:nvSpPr>
          <p:cNvPr id="50" name="Text 43"/>
          <p:cNvSpPr txBox="1"/>
          <p:nvPr/>
        </p:nvSpPr>
        <p:spPr>
          <a:xfrm>
            <a:off x="1828800" y="5614416"/>
            <a:ext cx="483900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 err="1">
                <a:solidFill>
                  <a:srgbClr val="1A202C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결론</a:t>
            </a:r>
            <a:r>
              <a:rPr lang="en-US" sz="1800" b="1" dirty="0">
                <a:solidFill>
                  <a:srgbClr val="1A202C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 (Conclusion)</a:t>
            </a:r>
            <a:endParaRPr lang="en-US" sz="1800" dirty="0"/>
          </a:p>
        </p:txBody>
      </p:sp>
      <p:sp>
        <p:nvSpPr>
          <p:cNvPr id="51" name="Shape 44"/>
          <p:cNvSpPr/>
          <p:nvPr/>
        </p:nvSpPr>
        <p:spPr>
          <a:xfrm>
            <a:off x="3853282" y="5678424"/>
            <a:ext cx="19202" cy="21945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2" name="Text 45"/>
          <p:cNvSpPr txBox="1"/>
          <p:nvPr/>
        </p:nvSpPr>
        <p:spPr>
          <a:xfrm>
            <a:off x="4015131" y="5678424"/>
            <a:ext cx="2652674" cy="21945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718096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변화 관리와 기대되는 성과는 무엇인가?</a:t>
            </a:r>
            <a:endParaRPr lang="en-US" sz="1100" dirty="0"/>
          </a:p>
        </p:txBody>
      </p:sp>
      <p:sp>
        <p:nvSpPr>
          <p:cNvPr id="55" name="Shape 48"/>
          <p:cNvSpPr/>
          <p:nvPr/>
        </p:nvSpPr>
        <p:spPr>
          <a:xfrm>
            <a:off x="0" y="0"/>
            <a:ext cx="12191695" cy="886054"/>
          </a:xfrm>
          <a:prstGeom prst="rect">
            <a:avLst/>
          </a:prstGeom>
          <a:solidFill>
            <a:srgbClr val="003D5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6" name="Shape 49"/>
          <p:cNvSpPr/>
          <p:nvPr/>
        </p:nvSpPr>
        <p:spPr>
          <a:xfrm>
            <a:off x="476402" y="469087"/>
            <a:ext cx="476402" cy="38405"/>
          </a:xfrm>
          <a:prstGeom prst="rect">
            <a:avLst/>
          </a:prstGeom>
          <a:solidFill>
            <a:srgbClr val="00A8A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7" name="Text 50"/>
          <p:cNvSpPr txBox="1"/>
          <p:nvPr/>
        </p:nvSpPr>
        <p:spPr>
          <a:xfrm>
            <a:off x="1143000" y="304495"/>
            <a:ext cx="2585009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b="1" kern="0" spc="-37" dirty="0">
                <a:solidFill>
                  <a:srgbClr val="FFFFFF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목차 (Contents)</a:t>
            </a:r>
            <a:endParaRPr lang="en-US" sz="2400" dirty="0"/>
          </a:p>
        </p:txBody>
      </p:sp>
      <p:sp>
        <p:nvSpPr>
          <p:cNvPr id="59" name="Shape 52"/>
          <p:cNvSpPr/>
          <p:nvPr/>
        </p:nvSpPr>
        <p:spPr>
          <a:xfrm>
            <a:off x="0" y="6452006"/>
            <a:ext cx="12191695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0" name="Text 53"/>
          <p:cNvSpPr txBox="1"/>
          <p:nvPr/>
        </p:nvSpPr>
        <p:spPr>
          <a:xfrm>
            <a:off x="476402" y="6574536"/>
            <a:ext cx="175016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718096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시앤피컨설팅 조직 재설계 전략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0F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0" y="842162"/>
            <a:ext cx="12191695" cy="5705856"/>
          </a:xfrm>
          <a:prstGeom prst="rect">
            <a:avLst/>
          </a:prstGeom>
          <a:solidFill>
            <a:srgbClr val="F5F7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1" name="Shape 55"/>
          <p:cNvSpPr/>
          <p:nvPr/>
        </p:nvSpPr>
        <p:spPr>
          <a:xfrm>
            <a:off x="0" y="0"/>
            <a:ext cx="12191695" cy="847649"/>
          </a:xfrm>
          <a:prstGeom prst="rect">
            <a:avLst/>
          </a:prstGeom>
          <a:solidFill>
            <a:srgbClr val="003D5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2" name="Shape 56"/>
          <p:cNvSpPr/>
          <p:nvPr/>
        </p:nvSpPr>
        <p:spPr>
          <a:xfrm>
            <a:off x="476402" y="449885"/>
            <a:ext cx="476402" cy="38405"/>
          </a:xfrm>
          <a:prstGeom prst="rect">
            <a:avLst/>
          </a:prstGeom>
          <a:solidFill>
            <a:srgbClr val="00A8A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3" name="Text 57"/>
          <p:cNvSpPr txBox="1"/>
          <p:nvPr/>
        </p:nvSpPr>
        <p:spPr>
          <a:xfrm>
            <a:off x="1143000" y="286207"/>
            <a:ext cx="6657746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ko-KR" altLang="en-US" sz="2400" b="1" kern="0" spc="-37" dirty="0" err="1">
                <a:solidFill>
                  <a:srgbClr val="FFFFFF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시앤피컨설팅</a:t>
            </a:r>
            <a:r>
              <a:rPr lang="ko-KR" altLang="en-US" sz="2400" b="1" kern="0" spc="-37" dirty="0">
                <a:solidFill>
                  <a:srgbClr val="FFFFFF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 소개</a:t>
            </a:r>
            <a:endParaRPr lang="en-US" sz="2400" dirty="0"/>
          </a:p>
        </p:txBody>
      </p:sp>
      <p:sp>
        <p:nvSpPr>
          <p:cNvPr id="85" name="Shape 59"/>
          <p:cNvSpPr/>
          <p:nvPr/>
        </p:nvSpPr>
        <p:spPr>
          <a:xfrm>
            <a:off x="0" y="6539789"/>
            <a:ext cx="12191695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6" name="Text 60"/>
          <p:cNvSpPr txBox="1"/>
          <p:nvPr/>
        </p:nvSpPr>
        <p:spPr>
          <a:xfrm>
            <a:off x="476402" y="6617513"/>
            <a:ext cx="175016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718096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시앤피컨설팅 조직 재설계 전략</a:t>
            </a:r>
            <a:endParaRPr lang="en-US" sz="900" dirty="0"/>
          </a:p>
        </p:txBody>
      </p:sp>
      <p:pic>
        <p:nvPicPr>
          <p:cNvPr id="89" name="그림 88">
            <a:extLst>
              <a:ext uri="{FF2B5EF4-FFF2-40B4-BE49-F238E27FC236}">
                <a16:creationId xmlns:a16="http://schemas.microsoft.com/office/drawing/2014/main" id="{D19CA4A8-7661-F246-4C3D-C40A94B2B98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6168" y="1519004"/>
            <a:ext cx="2822867" cy="507220"/>
          </a:xfrm>
          <a:prstGeom prst="rect">
            <a:avLst/>
          </a:prstGeom>
        </p:spPr>
      </p:pic>
      <p:graphicFrame>
        <p:nvGraphicFramePr>
          <p:cNvPr id="90" name="표 89">
            <a:extLst>
              <a:ext uri="{FF2B5EF4-FFF2-40B4-BE49-F238E27FC236}">
                <a16:creationId xmlns:a16="http://schemas.microsoft.com/office/drawing/2014/main" id="{3FA13E83-2B66-8B6D-92D3-BFEF06C649F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22842913"/>
              </p:ext>
            </p:extLst>
          </p:nvPr>
        </p:nvGraphicFramePr>
        <p:xfrm>
          <a:off x="294480" y="3606008"/>
          <a:ext cx="3567208" cy="24929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32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639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934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b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F68500"/>
                          </a:solidFill>
                          <a:latin typeface="a고딕14" pitchFamily="18" charset="-127"/>
                          <a:ea typeface="a고딕14" pitchFamily="18" charset="-127"/>
                        </a:rPr>
                        <a:t>법 인 명</a:t>
                      </a:r>
                      <a:endParaRPr lang="ko-KR" altLang="en-US" sz="1050" b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rgbClr val="F68500"/>
                        </a:solidFill>
                        <a:latin typeface="a고딕14" pitchFamily="18" charset="-127"/>
                        <a:ea typeface="a고딕14" pitchFamily="18" charset="-127"/>
                      </a:endParaRPr>
                    </a:p>
                  </a:txBody>
                  <a:tcPr marL="92536" marR="92536" marT="44408" marB="44408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09375" rtl="0" eaLnBrk="1" latinLnBrk="1" hangingPunct="1"/>
                      <a:r>
                        <a:rPr lang="ko-KR" altLang="en-US" sz="1050" b="0" kern="12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itchFamily="18" charset="-127"/>
                          <a:ea typeface="a고딕14" pitchFamily="18" charset="-127"/>
                          <a:cs typeface="+mn-cs"/>
                        </a:rPr>
                        <a:t>시앤피컨설팅 주식회사</a:t>
                      </a:r>
                    </a:p>
                  </a:txBody>
                  <a:tcPr marL="92536" marR="92536" marT="44408" marB="44408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9342">
                <a:tc>
                  <a:txBody>
                    <a:bodyPr/>
                    <a:lstStyle/>
                    <a:p>
                      <a:pPr marL="0" algn="ctr" defTabSz="909375" rtl="0" eaLnBrk="1" latinLnBrk="1" hangingPunct="1"/>
                      <a:r>
                        <a:rPr lang="ko-KR" altLang="en-US" sz="1050" b="0" kern="120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F68500"/>
                          </a:solidFill>
                          <a:latin typeface="a고딕14" pitchFamily="18" charset="-127"/>
                          <a:ea typeface="a고딕14" pitchFamily="18" charset="-127"/>
                          <a:cs typeface="+mn-cs"/>
                        </a:rPr>
                        <a:t>대 표 자 </a:t>
                      </a:r>
                    </a:p>
                  </a:txBody>
                  <a:tcPr marL="92536" marR="92536" marT="44408" marB="44408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09375" rtl="0" eaLnBrk="1" latinLnBrk="1" hangingPunct="1"/>
                      <a:r>
                        <a:rPr lang="ko-KR" altLang="en-US" sz="1050" b="0" kern="12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itchFamily="18" charset="-127"/>
                          <a:ea typeface="a고딕14" pitchFamily="18" charset="-127"/>
                          <a:cs typeface="+mn-cs"/>
                        </a:rPr>
                        <a:t>조세형</a:t>
                      </a:r>
                    </a:p>
                  </a:txBody>
                  <a:tcPr marL="92536" marR="92536" marT="44408" marB="44408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9342">
                <a:tc>
                  <a:txBody>
                    <a:bodyPr/>
                    <a:lstStyle/>
                    <a:p>
                      <a:pPr marL="0" algn="ctr" defTabSz="909375" rtl="0" eaLnBrk="1" latinLnBrk="1" hangingPunct="1"/>
                      <a:r>
                        <a:rPr lang="ko-KR" altLang="en-US" sz="1050" b="0" kern="120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F68500"/>
                          </a:solidFill>
                          <a:latin typeface="a고딕14" pitchFamily="18" charset="-127"/>
                          <a:ea typeface="a고딕14" pitchFamily="18" charset="-127"/>
                          <a:cs typeface="+mn-cs"/>
                        </a:rPr>
                        <a:t>주     소 </a:t>
                      </a:r>
                    </a:p>
                  </a:txBody>
                  <a:tcPr marL="92536" marR="92536" marT="44408" marB="44408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09375" rtl="0" eaLnBrk="1" latinLnBrk="1" hangingPunct="1"/>
                      <a:r>
                        <a:rPr lang="ko-KR" altLang="en-US" sz="1050" b="0" kern="12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itchFamily="18" charset="-127"/>
                          <a:ea typeface="a고딕14" pitchFamily="18" charset="-127"/>
                          <a:cs typeface="+mn-cs"/>
                        </a:rPr>
                        <a:t>서울특별시 금천구</a:t>
                      </a:r>
                      <a:r>
                        <a:rPr lang="en-US" altLang="ko-KR" sz="1050" b="0" kern="12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itchFamily="18" charset="-127"/>
                          <a:ea typeface="a고딕14" pitchFamily="18" charset="-127"/>
                          <a:cs typeface="+mn-cs"/>
                        </a:rPr>
                        <a:t> </a:t>
                      </a:r>
                      <a:r>
                        <a:rPr lang="ko-KR" altLang="en-US" sz="1050" b="0" kern="12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itchFamily="18" charset="-127"/>
                          <a:ea typeface="a고딕14" pitchFamily="18" charset="-127"/>
                          <a:cs typeface="+mn-cs"/>
                        </a:rPr>
                        <a:t>가산디지털</a:t>
                      </a:r>
                      <a:r>
                        <a:rPr lang="en-US" altLang="ko-KR" sz="1050" b="0" kern="12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itchFamily="18" charset="-127"/>
                          <a:ea typeface="a고딕14" pitchFamily="18" charset="-127"/>
                          <a:cs typeface="+mn-cs"/>
                        </a:rPr>
                        <a:t>1</a:t>
                      </a:r>
                      <a:r>
                        <a:rPr lang="ko-KR" altLang="en-US" sz="1050" b="0" kern="12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itchFamily="18" charset="-127"/>
                          <a:ea typeface="a고딕14" pitchFamily="18" charset="-127"/>
                          <a:cs typeface="+mn-cs"/>
                        </a:rPr>
                        <a:t>로 </a:t>
                      </a:r>
                      <a:r>
                        <a:rPr lang="en-US" altLang="ko-KR" sz="1050" b="0" kern="12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itchFamily="18" charset="-127"/>
                          <a:ea typeface="a고딕14" pitchFamily="18" charset="-127"/>
                          <a:cs typeface="+mn-cs"/>
                        </a:rPr>
                        <a:t>131(1202</a:t>
                      </a:r>
                      <a:r>
                        <a:rPr lang="ko-KR" altLang="en-US" sz="1050" b="0" kern="12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itchFamily="18" charset="-127"/>
                          <a:ea typeface="a고딕14" pitchFamily="18" charset="-127"/>
                          <a:cs typeface="+mn-cs"/>
                        </a:rPr>
                        <a:t>호</a:t>
                      </a:r>
                      <a:r>
                        <a:rPr lang="en-US" altLang="ko-KR" sz="1050" b="0" kern="12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itchFamily="18" charset="-127"/>
                          <a:ea typeface="a고딕14" pitchFamily="18" charset="-127"/>
                          <a:cs typeface="+mn-cs"/>
                        </a:rPr>
                        <a:t>)</a:t>
                      </a:r>
                      <a:endParaRPr lang="ko-KR" altLang="en-US" sz="1050" b="0" kern="12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a고딕14" pitchFamily="18" charset="-127"/>
                        <a:ea typeface="a고딕14" pitchFamily="18" charset="-127"/>
                        <a:cs typeface="+mn-cs"/>
                      </a:endParaRPr>
                    </a:p>
                  </a:txBody>
                  <a:tcPr marL="92536" marR="92536" marT="44408" marB="44408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9342">
                <a:tc>
                  <a:txBody>
                    <a:bodyPr/>
                    <a:lstStyle/>
                    <a:p>
                      <a:pPr marL="0" algn="ctr" defTabSz="909375" rtl="0" eaLnBrk="1" latinLnBrk="1" hangingPunct="1"/>
                      <a:r>
                        <a:rPr lang="ko-KR" altLang="en-US" sz="1050" b="0" kern="120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F68500"/>
                          </a:solidFill>
                          <a:latin typeface="a고딕14" pitchFamily="18" charset="-127"/>
                          <a:ea typeface="a고딕14" pitchFamily="18" charset="-127"/>
                          <a:cs typeface="+mn-cs"/>
                        </a:rPr>
                        <a:t>설립연도 </a:t>
                      </a:r>
                    </a:p>
                  </a:txBody>
                  <a:tcPr marL="92536" marR="92536" marT="44408" marB="44408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09375" rtl="0" eaLnBrk="1" latinLnBrk="1" hangingPunct="1"/>
                      <a:r>
                        <a:rPr lang="en-US" altLang="ko-KR" sz="1050" b="0" kern="12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itchFamily="18" charset="-127"/>
                          <a:ea typeface="a고딕14" pitchFamily="18" charset="-127"/>
                          <a:cs typeface="+mn-cs"/>
                        </a:rPr>
                        <a:t>2012</a:t>
                      </a:r>
                      <a:r>
                        <a:rPr lang="ko-KR" altLang="en-US" sz="1050" b="0" kern="12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itchFamily="18" charset="-127"/>
                          <a:ea typeface="a고딕14" pitchFamily="18" charset="-127"/>
                          <a:cs typeface="+mn-cs"/>
                        </a:rPr>
                        <a:t>년 </a:t>
                      </a:r>
                      <a:r>
                        <a:rPr lang="en-US" altLang="ko-KR" sz="1050" b="0" kern="12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itchFamily="18" charset="-127"/>
                          <a:ea typeface="a고딕14" pitchFamily="18" charset="-127"/>
                          <a:cs typeface="+mn-cs"/>
                        </a:rPr>
                        <a:t>6</a:t>
                      </a:r>
                      <a:r>
                        <a:rPr lang="ko-KR" altLang="en-US" sz="1050" b="0" kern="12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itchFamily="18" charset="-127"/>
                          <a:ea typeface="a고딕14" pitchFamily="18" charset="-127"/>
                          <a:cs typeface="+mn-cs"/>
                        </a:rPr>
                        <a:t>월 </a:t>
                      </a:r>
                      <a:r>
                        <a:rPr lang="en-US" altLang="ko-KR" sz="1050" b="0" kern="12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itchFamily="18" charset="-127"/>
                          <a:ea typeface="a고딕14" pitchFamily="18" charset="-127"/>
                          <a:cs typeface="+mn-cs"/>
                        </a:rPr>
                        <a:t>11</a:t>
                      </a:r>
                      <a:r>
                        <a:rPr lang="ko-KR" altLang="en-US" sz="1050" b="0" kern="12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itchFamily="18" charset="-127"/>
                          <a:ea typeface="a고딕14" pitchFamily="18" charset="-127"/>
                          <a:cs typeface="+mn-cs"/>
                        </a:rPr>
                        <a:t>일 </a:t>
                      </a:r>
                    </a:p>
                  </a:txBody>
                  <a:tcPr marL="92536" marR="92536" marT="44408" marB="44408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9342">
                <a:tc>
                  <a:txBody>
                    <a:bodyPr/>
                    <a:lstStyle/>
                    <a:p>
                      <a:pPr marL="0" algn="ctr" defTabSz="909375" rtl="0" eaLnBrk="1" latinLnBrk="1" hangingPunct="1"/>
                      <a:r>
                        <a:rPr lang="ko-KR" altLang="en-US" sz="1050" b="0" kern="120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F68500"/>
                          </a:solidFill>
                          <a:latin typeface="a고딕14" pitchFamily="18" charset="-127"/>
                          <a:ea typeface="a고딕14" pitchFamily="18" charset="-127"/>
                          <a:cs typeface="+mn-cs"/>
                        </a:rPr>
                        <a:t>임직원수</a:t>
                      </a:r>
                    </a:p>
                  </a:txBody>
                  <a:tcPr marL="92536" marR="92536" marT="44408" marB="44408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09375" rtl="0" eaLnBrk="1" latinLnBrk="1" hangingPunct="1"/>
                      <a:r>
                        <a:rPr lang="en-US" altLang="ko-KR" sz="1050" b="0" kern="12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itchFamily="18" charset="-127"/>
                          <a:ea typeface="a고딕14" pitchFamily="18" charset="-127"/>
                          <a:cs typeface="+mn-cs"/>
                        </a:rPr>
                        <a:t>83</a:t>
                      </a:r>
                      <a:r>
                        <a:rPr lang="ko-KR" altLang="en-US" sz="1050" b="0" kern="12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itchFamily="18" charset="-127"/>
                          <a:ea typeface="a고딕14" pitchFamily="18" charset="-127"/>
                          <a:cs typeface="+mn-cs"/>
                        </a:rPr>
                        <a:t>명</a:t>
                      </a:r>
                    </a:p>
                  </a:txBody>
                  <a:tcPr marL="92536" marR="92536" marT="44408" marB="44408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6237">
                <a:tc>
                  <a:txBody>
                    <a:bodyPr/>
                    <a:lstStyle/>
                    <a:p>
                      <a:pPr marL="0" algn="ctr" defTabSz="909375" rtl="0" eaLnBrk="1" latinLnBrk="1" hangingPunct="1"/>
                      <a:r>
                        <a:rPr lang="ko-KR" altLang="en-US" sz="1050" b="0" kern="120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F68500"/>
                          </a:solidFill>
                          <a:latin typeface="a고딕14" pitchFamily="18" charset="-127"/>
                          <a:ea typeface="a고딕14" pitchFamily="18" charset="-127"/>
                          <a:cs typeface="+mn-cs"/>
                        </a:rPr>
                        <a:t>사업내용</a:t>
                      </a:r>
                    </a:p>
                  </a:txBody>
                  <a:tcPr marL="92536" marR="92536" marT="44408" marB="44408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09375" rtl="0" eaLnBrk="1" latinLnBrk="1" hangingPunct="1"/>
                      <a:r>
                        <a:rPr lang="ko-KR" altLang="en-US" sz="1050" b="0" kern="12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itchFamily="18" charset="-127"/>
                          <a:ea typeface="a고딕14" pitchFamily="18" charset="-127"/>
                          <a:cs typeface="+mn-cs"/>
                        </a:rPr>
                        <a:t>경영전략</a:t>
                      </a:r>
                      <a:r>
                        <a:rPr lang="en-US" altLang="ko-KR" sz="1050" b="0" kern="12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itchFamily="18" charset="-127"/>
                          <a:ea typeface="a고딕14" pitchFamily="18" charset="-127"/>
                          <a:cs typeface="+mn-cs"/>
                        </a:rPr>
                        <a:t>/R&amp;D</a:t>
                      </a:r>
                      <a:r>
                        <a:rPr lang="ko-KR" altLang="en-US" sz="1050" b="0" kern="12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itchFamily="18" charset="-127"/>
                          <a:ea typeface="a고딕14" pitchFamily="18" charset="-127"/>
                          <a:cs typeface="+mn-cs"/>
                        </a:rPr>
                        <a:t>전략</a:t>
                      </a:r>
                      <a:r>
                        <a:rPr lang="en-US" altLang="ko-KR" sz="1050" b="0" kern="12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itchFamily="18" charset="-127"/>
                          <a:ea typeface="a고딕14" pitchFamily="18" charset="-127"/>
                          <a:cs typeface="+mn-cs"/>
                        </a:rPr>
                        <a:t>/</a:t>
                      </a:r>
                      <a:r>
                        <a:rPr lang="ko-KR" altLang="en-US" sz="1050" b="0" kern="12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itchFamily="18" charset="-127"/>
                          <a:ea typeface="a고딕14" pitchFamily="18" charset="-127"/>
                          <a:cs typeface="+mn-cs"/>
                        </a:rPr>
                        <a:t>인사</a:t>
                      </a:r>
                      <a:r>
                        <a:rPr lang="en-US" altLang="ko-KR" sz="1050" b="0" kern="12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itchFamily="18" charset="-127"/>
                          <a:ea typeface="a고딕14" pitchFamily="18" charset="-127"/>
                          <a:cs typeface="+mn-cs"/>
                        </a:rPr>
                        <a:t>.</a:t>
                      </a:r>
                      <a:r>
                        <a:rPr lang="ko-KR" altLang="en-US" sz="1050" b="0" kern="1200" dirty="0" err="1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itchFamily="18" charset="-127"/>
                          <a:ea typeface="a고딕14" pitchFamily="18" charset="-127"/>
                          <a:cs typeface="+mn-cs"/>
                        </a:rPr>
                        <a:t>노무컨설팅</a:t>
                      </a:r>
                      <a:r>
                        <a:rPr lang="en-US" altLang="ko-KR" sz="1050" b="0" kern="12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itchFamily="18" charset="-127"/>
                          <a:ea typeface="a고딕14" pitchFamily="18" charset="-127"/>
                          <a:cs typeface="+mn-cs"/>
                        </a:rPr>
                        <a:t>/</a:t>
                      </a:r>
                      <a:r>
                        <a:rPr lang="ko-KR" altLang="en-US" sz="1050" b="0" kern="12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itchFamily="18" charset="-127"/>
                          <a:ea typeface="a고딕14" pitchFamily="18" charset="-127"/>
                          <a:cs typeface="+mn-cs"/>
                        </a:rPr>
                        <a:t>조사</a:t>
                      </a:r>
                      <a:r>
                        <a:rPr lang="en-US" altLang="ko-KR" sz="1050" b="0" kern="12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itchFamily="18" charset="-127"/>
                          <a:ea typeface="a고딕14" pitchFamily="18" charset="-127"/>
                          <a:cs typeface="+mn-cs"/>
                        </a:rPr>
                        <a:t>.</a:t>
                      </a:r>
                      <a:r>
                        <a:rPr lang="ko-KR" altLang="en-US" sz="1050" b="0" kern="12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itchFamily="18" charset="-127"/>
                          <a:ea typeface="a고딕14" pitchFamily="18" charset="-127"/>
                          <a:cs typeface="+mn-cs"/>
                        </a:rPr>
                        <a:t>연구</a:t>
                      </a:r>
                      <a:r>
                        <a:rPr lang="en-US" altLang="ko-KR" sz="1050" b="0" kern="12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itchFamily="18" charset="-127"/>
                          <a:ea typeface="a고딕14" pitchFamily="18" charset="-127"/>
                          <a:cs typeface="+mn-cs"/>
                        </a:rPr>
                        <a:t>/</a:t>
                      </a:r>
                    </a:p>
                    <a:p>
                      <a:pPr marL="0" algn="l" defTabSz="909375" rtl="0" eaLnBrk="1" latinLnBrk="1" hangingPunct="1"/>
                      <a:r>
                        <a:rPr lang="ko-KR" altLang="en-US" sz="1050" b="0" kern="12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itchFamily="18" charset="-127"/>
                          <a:ea typeface="a고딕14" pitchFamily="18" charset="-127"/>
                          <a:cs typeface="+mn-cs"/>
                        </a:rPr>
                        <a:t>노동법률자문</a:t>
                      </a:r>
                    </a:p>
                  </a:txBody>
                  <a:tcPr marL="92536" marR="92536" marT="44408" marB="44408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2" name="TextBox 91">
            <a:extLst>
              <a:ext uri="{FF2B5EF4-FFF2-40B4-BE49-F238E27FC236}">
                <a16:creationId xmlns:a16="http://schemas.microsoft.com/office/drawing/2014/main" id="{109486B9-FA4A-F31A-824D-980B3B52DB82}"/>
              </a:ext>
            </a:extLst>
          </p:cNvPr>
          <p:cNvSpPr txBox="1"/>
          <p:nvPr/>
        </p:nvSpPr>
        <p:spPr>
          <a:xfrm>
            <a:off x="346168" y="2337099"/>
            <a:ext cx="3424918" cy="461156"/>
          </a:xfrm>
          <a:prstGeom prst="rect">
            <a:avLst/>
          </a:prstGeom>
          <a:noFill/>
        </p:spPr>
        <p:txBody>
          <a:bodyPr wrap="square" lIns="90937" tIns="45468" rIns="90937" bIns="45468" rtlCol="0">
            <a:spAutoFit/>
          </a:bodyPr>
          <a:lstStyle/>
          <a:p>
            <a:r>
              <a:rPr lang="ko-KR" altLang="en-US" sz="12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4" pitchFamily="18" charset="-127"/>
                <a:ea typeface="a고딕14" pitchFamily="18" charset="-127"/>
              </a:rPr>
              <a:t>전문지식으로</a:t>
            </a:r>
          </a:p>
          <a:p>
            <a:r>
              <a:rPr lang="ko-KR" altLang="en-US" sz="12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4" pitchFamily="18" charset="-127"/>
                <a:ea typeface="a고딕14" pitchFamily="18" charset="-127"/>
              </a:rPr>
              <a:t>기업과 개인의 경쟁력을 키우는 기업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9D312017-2620-4656-DB17-10E2446513FC}"/>
              </a:ext>
            </a:extLst>
          </p:cNvPr>
          <p:cNvSpPr txBox="1"/>
          <p:nvPr/>
        </p:nvSpPr>
        <p:spPr>
          <a:xfrm>
            <a:off x="346168" y="2765762"/>
            <a:ext cx="3424918" cy="461156"/>
          </a:xfrm>
          <a:prstGeom prst="rect">
            <a:avLst/>
          </a:prstGeom>
          <a:noFill/>
        </p:spPr>
        <p:txBody>
          <a:bodyPr wrap="square" lIns="90937" tIns="45468" rIns="90937" bIns="45468" rtlCol="0">
            <a:spAutoFit/>
          </a:bodyPr>
          <a:lstStyle/>
          <a:p>
            <a:r>
              <a:rPr lang="ko-KR" altLang="en-US" sz="2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4" pitchFamily="18" charset="-127"/>
                <a:ea typeface="a고딕14" pitchFamily="18" charset="-127"/>
              </a:rPr>
              <a:t>시 앤 피</a:t>
            </a:r>
            <a:r>
              <a:rPr lang="en-US" altLang="ko-KR" sz="2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4" pitchFamily="18" charset="-127"/>
                <a:ea typeface="a고딕14" pitchFamily="18" charset="-127"/>
              </a:rPr>
              <a:t>(CNP) </a:t>
            </a:r>
            <a:r>
              <a:rPr lang="ko-KR" altLang="en-US" sz="2400" dirty="0" err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4" pitchFamily="18" charset="-127"/>
                <a:ea typeface="a고딕14" pitchFamily="18" charset="-127"/>
              </a:rPr>
              <a:t>컨</a:t>
            </a:r>
            <a:r>
              <a:rPr lang="ko-KR" altLang="en-US" sz="2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4" pitchFamily="18" charset="-127"/>
                <a:ea typeface="a고딕14" pitchFamily="18" charset="-127"/>
              </a:rPr>
              <a:t> 설 </a:t>
            </a:r>
            <a:r>
              <a:rPr lang="ko-KR" altLang="en-US" sz="2400" dirty="0" err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4" pitchFamily="18" charset="-127"/>
                <a:ea typeface="a고딕14" pitchFamily="18" charset="-127"/>
              </a:rPr>
              <a:t>팅</a:t>
            </a:r>
            <a:endParaRPr lang="ko-KR" altLang="en-US" sz="24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a고딕14" pitchFamily="18" charset="-127"/>
              <a:ea typeface="a고딕14" pitchFamily="18" charset="-127"/>
            </a:endParaRPr>
          </a:p>
        </p:txBody>
      </p:sp>
      <p:pic>
        <p:nvPicPr>
          <p:cNvPr id="91" name="그림 90" descr="텍스트, 스크린샷, 번호, 평행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D872EF9-D401-0EF7-4888-2BA53E2FC24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70781" y="944576"/>
            <a:ext cx="8293249" cy="552663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928BBE-109C-CD6D-701A-BE8517A130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52E189C-7AFA-BD2D-C483-A3E8D35A72E2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0F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1BBF8848-C219-75EA-954E-BFC37A7AC0AD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963E341E-375A-888D-97B6-00FAD848549A}"/>
              </a:ext>
            </a:extLst>
          </p:cNvPr>
          <p:cNvSpPr/>
          <p:nvPr/>
        </p:nvSpPr>
        <p:spPr>
          <a:xfrm>
            <a:off x="0" y="842162"/>
            <a:ext cx="12191695" cy="5705856"/>
          </a:xfrm>
          <a:prstGeom prst="rect">
            <a:avLst/>
          </a:prstGeom>
          <a:solidFill>
            <a:srgbClr val="F5F7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5" name="Image 0" descr="preencoded.png">
            <a:extLst>
              <a:ext uri="{FF2B5EF4-FFF2-40B4-BE49-F238E27FC236}">
                <a16:creationId xmlns:a16="http://schemas.microsoft.com/office/drawing/2014/main" id="{15FEBA46-ED16-7D2C-AC48-81C03973C97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842162"/>
            <a:ext cx="12191695" cy="5705856"/>
          </a:xfrm>
          <a:prstGeom prst="rect">
            <a:avLst/>
          </a:prstGeom>
        </p:spPr>
      </p:pic>
      <p:sp>
        <p:nvSpPr>
          <p:cNvPr id="6" name="Shape 3">
            <a:extLst>
              <a:ext uri="{FF2B5EF4-FFF2-40B4-BE49-F238E27FC236}">
                <a16:creationId xmlns:a16="http://schemas.microsoft.com/office/drawing/2014/main" id="{D4816518-4180-A8E4-B969-0F1FD6A2E2D6}"/>
              </a:ext>
            </a:extLst>
          </p:cNvPr>
          <p:cNvSpPr/>
          <p:nvPr/>
        </p:nvSpPr>
        <p:spPr>
          <a:xfrm>
            <a:off x="476402" y="1032358"/>
            <a:ext cx="3295498" cy="1828800"/>
          </a:xfrm>
          <a:prstGeom prst="roundRect">
            <a:avLst>
              <a:gd name="adj" fmla="val 2083"/>
            </a:avLst>
          </a:prstGeom>
          <a:solidFill>
            <a:srgbClr val="002847"/>
          </a:solidFill>
          <a:ln/>
          <a:effectLst>
            <a:outerShdw blurRad="152400" dist="76200" dir="162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2A4A6551-3D0D-99EC-DB5C-320F2E5CCCAC}"/>
              </a:ext>
            </a:extLst>
          </p:cNvPr>
          <p:cNvSpPr/>
          <p:nvPr/>
        </p:nvSpPr>
        <p:spPr>
          <a:xfrm>
            <a:off x="476402" y="2813609"/>
            <a:ext cx="3295498" cy="47549"/>
          </a:xfrm>
          <a:prstGeom prst="rect">
            <a:avLst/>
          </a:prstGeom>
          <a:solidFill>
            <a:srgbClr val="000000">
              <a:alpha val="2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5">
            <a:extLst>
              <a:ext uri="{FF2B5EF4-FFF2-40B4-BE49-F238E27FC236}">
                <a16:creationId xmlns:a16="http://schemas.microsoft.com/office/drawing/2014/main" id="{9908E3EB-14D5-3201-05A7-B8443C0F7372}"/>
              </a:ext>
            </a:extLst>
          </p:cNvPr>
          <p:cNvSpPr/>
          <p:nvPr/>
        </p:nvSpPr>
        <p:spPr>
          <a:xfrm>
            <a:off x="666598" y="1604772"/>
            <a:ext cx="2915107" cy="9144"/>
          </a:xfrm>
          <a:prstGeom prst="rect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800"/>
          </a:p>
        </p:txBody>
      </p:sp>
      <p:pic>
        <p:nvPicPr>
          <p:cNvPr id="9" name="Image 1" descr="preencoded.png">
            <a:extLst>
              <a:ext uri="{FF2B5EF4-FFF2-40B4-BE49-F238E27FC236}">
                <a16:creationId xmlns:a16="http://schemas.microsoft.com/office/drawing/2014/main" id="{2EFB9C15-4EFE-2FFE-122B-FB71E089C59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66598" y="1271016"/>
            <a:ext cx="190195" cy="190195"/>
          </a:xfrm>
          <a:prstGeom prst="rect">
            <a:avLst/>
          </a:prstGeom>
        </p:spPr>
      </p:pic>
      <p:sp>
        <p:nvSpPr>
          <p:cNvPr id="10" name="Text 6">
            <a:extLst>
              <a:ext uri="{FF2B5EF4-FFF2-40B4-BE49-F238E27FC236}">
                <a16:creationId xmlns:a16="http://schemas.microsoft.com/office/drawing/2014/main" id="{4C060EED-A048-A92F-FADB-78AF1FE1D556}"/>
              </a:ext>
            </a:extLst>
          </p:cNvPr>
          <p:cNvSpPr txBox="1"/>
          <p:nvPr/>
        </p:nvSpPr>
        <p:spPr>
          <a:xfrm>
            <a:off x="952805" y="1223467"/>
            <a:ext cx="1463954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시장 경쟁 심화</a:t>
            </a:r>
            <a:endParaRPr lang="en-US" sz="1500" dirty="0"/>
          </a:p>
        </p:txBody>
      </p:sp>
      <p:sp>
        <p:nvSpPr>
          <p:cNvPr id="11" name="Shape 7">
            <a:extLst>
              <a:ext uri="{FF2B5EF4-FFF2-40B4-BE49-F238E27FC236}">
                <a16:creationId xmlns:a16="http://schemas.microsoft.com/office/drawing/2014/main" id="{15B9D5BB-A406-B684-3E98-59D320822EE7}"/>
              </a:ext>
            </a:extLst>
          </p:cNvPr>
          <p:cNvSpPr/>
          <p:nvPr/>
        </p:nvSpPr>
        <p:spPr>
          <a:xfrm>
            <a:off x="2509114" y="1241755"/>
            <a:ext cx="1076249" cy="247802"/>
          </a:xfrm>
          <a:prstGeom prst="roundRect">
            <a:avLst>
              <a:gd name="adj" fmla="val 56770"/>
            </a:avLst>
          </a:prstGeom>
          <a:solidFill>
            <a:srgbClr val="000000">
              <a:alpha val="3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8">
            <a:extLst>
              <a:ext uri="{FF2B5EF4-FFF2-40B4-BE49-F238E27FC236}">
                <a16:creationId xmlns:a16="http://schemas.microsoft.com/office/drawing/2014/main" id="{6A0AEF52-51AD-1AC8-C1CC-0ED67937DE3F}"/>
              </a:ext>
            </a:extLst>
          </p:cNvPr>
          <p:cNvSpPr txBox="1"/>
          <p:nvPr/>
        </p:nvSpPr>
        <p:spPr>
          <a:xfrm>
            <a:off x="2585923" y="1280160"/>
            <a:ext cx="58704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Pressure</a:t>
            </a:r>
            <a:endParaRPr lang="en-US" sz="900" dirty="0"/>
          </a:p>
        </p:txBody>
      </p:sp>
      <p:sp>
        <p:nvSpPr>
          <p:cNvPr id="13" name="Shape 9">
            <a:extLst>
              <a:ext uri="{FF2B5EF4-FFF2-40B4-BE49-F238E27FC236}">
                <a16:creationId xmlns:a16="http://schemas.microsoft.com/office/drawing/2014/main" id="{C94B105A-AA0D-FCC7-4DF1-09EB66F1487D}"/>
              </a:ext>
            </a:extLst>
          </p:cNvPr>
          <p:cNvSpPr/>
          <p:nvPr/>
        </p:nvSpPr>
        <p:spPr>
          <a:xfrm>
            <a:off x="3124505" y="1337767"/>
            <a:ext cx="381305" cy="57607"/>
          </a:xfrm>
          <a:prstGeom prst="roundRect">
            <a:avLst>
              <a:gd name="adj" fmla="val 793654"/>
            </a:avLst>
          </a:prstGeom>
          <a:solidFill>
            <a:srgbClr val="33333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0">
            <a:extLst>
              <a:ext uri="{FF2B5EF4-FFF2-40B4-BE49-F238E27FC236}">
                <a16:creationId xmlns:a16="http://schemas.microsoft.com/office/drawing/2014/main" id="{6B283EF2-4A3E-73B4-FAE6-85ABAA9D057F}"/>
              </a:ext>
            </a:extLst>
          </p:cNvPr>
          <p:cNvSpPr/>
          <p:nvPr/>
        </p:nvSpPr>
        <p:spPr>
          <a:xfrm>
            <a:off x="3124505" y="1337767"/>
            <a:ext cx="342900" cy="57607"/>
          </a:xfrm>
          <a:prstGeom prst="rect">
            <a:avLst/>
          </a:prstGeom>
          <a:solidFill>
            <a:srgbClr val="E6394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5" name="Image 2" descr="preencoded.png">
            <a:extLst>
              <a:ext uri="{FF2B5EF4-FFF2-40B4-BE49-F238E27FC236}">
                <a16:creationId xmlns:a16="http://schemas.microsoft.com/office/drawing/2014/main" id="{946DC1D9-F455-F253-4646-2A6C8795E508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-400" r="-400"/>
          <a:stretch/>
        </p:blipFill>
        <p:spPr>
          <a:xfrm>
            <a:off x="666598" y="1794967"/>
            <a:ext cx="57607" cy="114300"/>
          </a:xfrm>
          <a:prstGeom prst="rect">
            <a:avLst/>
          </a:prstGeom>
        </p:spPr>
      </p:pic>
      <p:sp>
        <p:nvSpPr>
          <p:cNvPr id="16" name="Text 11">
            <a:extLst>
              <a:ext uri="{FF2B5EF4-FFF2-40B4-BE49-F238E27FC236}">
                <a16:creationId xmlns:a16="http://schemas.microsoft.com/office/drawing/2014/main" id="{E8A06B05-9AA6-E48C-0907-0E9F33230DAB}"/>
              </a:ext>
            </a:extLst>
          </p:cNvPr>
          <p:cNvSpPr txBox="1"/>
          <p:nvPr/>
        </p:nvSpPr>
        <p:spPr>
          <a:xfrm>
            <a:off x="800100" y="1756562"/>
            <a:ext cx="241127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ko-KR" altLang="en-US" sz="1200" dirty="0">
                <a:solidFill>
                  <a:srgbClr val="FFFFFF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대형 </a:t>
            </a:r>
            <a:r>
              <a:rPr lang="ko-KR" altLang="en-US" sz="1200" dirty="0" err="1">
                <a:solidFill>
                  <a:srgbClr val="FFFFFF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컨설팅펌의</a:t>
            </a:r>
            <a:r>
              <a:rPr lang="ko-KR" altLang="en-US" sz="1200" dirty="0">
                <a:solidFill>
                  <a:srgbClr val="FFFFFF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 공공컨설팅 시장</a:t>
            </a:r>
            <a:r>
              <a:rPr lang="en-US" sz="1200" dirty="0" err="1">
                <a:solidFill>
                  <a:srgbClr val="FFFFFF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진출</a:t>
            </a:r>
            <a:endParaRPr lang="en-US" sz="1200" dirty="0"/>
          </a:p>
        </p:txBody>
      </p:sp>
      <p:pic>
        <p:nvPicPr>
          <p:cNvPr id="17" name="Image 3" descr="preencoded.png">
            <a:extLst>
              <a:ext uri="{FF2B5EF4-FFF2-40B4-BE49-F238E27FC236}">
                <a16:creationId xmlns:a16="http://schemas.microsoft.com/office/drawing/2014/main" id="{DD57E71E-E990-CE21-2802-9990DD6264C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-400" r="-400"/>
          <a:stretch/>
        </p:blipFill>
        <p:spPr>
          <a:xfrm>
            <a:off x="666598" y="2057400"/>
            <a:ext cx="57607" cy="114300"/>
          </a:xfrm>
          <a:prstGeom prst="rect">
            <a:avLst/>
          </a:prstGeom>
        </p:spPr>
      </p:pic>
      <p:sp>
        <p:nvSpPr>
          <p:cNvPr id="18" name="Text 12">
            <a:extLst>
              <a:ext uri="{FF2B5EF4-FFF2-40B4-BE49-F238E27FC236}">
                <a16:creationId xmlns:a16="http://schemas.microsoft.com/office/drawing/2014/main" id="{C767D574-F33E-54EA-5AF7-1D2474041CEA}"/>
              </a:ext>
            </a:extLst>
          </p:cNvPr>
          <p:cNvSpPr txBox="1"/>
          <p:nvPr/>
        </p:nvSpPr>
        <p:spPr>
          <a:xfrm>
            <a:off x="800100" y="2018995"/>
            <a:ext cx="220827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중소형 컨설팅 펌 생존 위협 증대</a:t>
            </a:r>
            <a:endParaRPr lang="en-US" sz="1200" dirty="0"/>
          </a:p>
        </p:txBody>
      </p:sp>
      <p:pic>
        <p:nvPicPr>
          <p:cNvPr id="19" name="Image 4" descr="preencoded.png">
            <a:extLst>
              <a:ext uri="{FF2B5EF4-FFF2-40B4-BE49-F238E27FC236}">
                <a16:creationId xmlns:a16="http://schemas.microsoft.com/office/drawing/2014/main" id="{CD661F2F-FD11-3C27-05FB-75F5B7AB91A7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-400" r="-400"/>
          <a:stretch/>
        </p:blipFill>
        <p:spPr>
          <a:xfrm>
            <a:off x="666598" y="2319833"/>
            <a:ext cx="57607" cy="114300"/>
          </a:xfrm>
          <a:prstGeom prst="rect">
            <a:avLst/>
          </a:prstGeom>
        </p:spPr>
      </p:pic>
      <p:sp>
        <p:nvSpPr>
          <p:cNvPr id="20" name="Text 13">
            <a:extLst>
              <a:ext uri="{FF2B5EF4-FFF2-40B4-BE49-F238E27FC236}">
                <a16:creationId xmlns:a16="http://schemas.microsoft.com/office/drawing/2014/main" id="{3BAA7F7A-CD69-2594-04BD-33B6F609533B}"/>
              </a:ext>
            </a:extLst>
          </p:cNvPr>
          <p:cNvSpPr txBox="1"/>
          <p:nvPr/>
        </p:nvSpPr>
        <p:spPr>
          <a:xfrm>
            <a:off x="800100" y="2282342"/>
            <a:ext cx="207020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저가 수주 경쟁 및 수익성 악화</a:t>
            </a:r>
            <a:endParaRPr lang="en-US" sz="1200" dirty="0"/>
          </a:p>
        </p:txBody>
      </p:sp>
      <p:sp>
        <p:nvSpPr>
          <p:cNvPr id="21" name="Shape 14">
            <a:extLst>
              <a:ext uri="{FF2B5EF4-FFF2-40B4-BE49-F238E27FC236}">
                <a16:creationId xmlns:a16="http://schemas.microsoft.com/office/drawing/2014/main" id="{EC161932-8EEB-9916-18B0-5F06B59196CD}"/>
              </a:ext>
            </a:extLst>
          </p:cNvPr>
          <p:cNvSpPr/>
          <p:nvPr/>
        </p:nvSpPr>
        <p:spPr>
          <a:xfrm>
            <a:off x="3962095" y="1032358"/>
            <a:ext cx="4267505" cy="1828800"/>
          </a:xfrm>
          <a:prstGeom prst="roundRect">
            <a:avLst>
              <a:gd name="adj" fmla="val 2083"/>
            </a:avLst>
          </a:prstGeom>
          <a:solidFill>
            <a:srgbClr val="003D5B"/>
          </a:solidFill>
          <a:ln/>
          <a:effectLst>
            <a:outerShdw blurRad="152400" dist="76200" dir="162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15">
            <a:extLst>
              <a:ext uri="{FF2B5EF4-FFF2-40B4-BE49-F238E27FC236}">
                <a16:creationId xmlns:a16="http://schemas.microsoft.com/office/drawing/2014/main" id="{90FC36B2-56F4-1323-F631-8FEB6299C19E}"/>
              </a:ext>
            </a:extLst>
          </p:cNvPr>
          <p:cNvSpPr/>
          <p:nvPr/>
        </p:nvSpPr>
        <p:spPr>
          <a:xfrm>
            <a:off x="3962095" y="2813609"/>
            <a:ext cx="4267505" cy="47549"/>
          </a:xfrm>
          <a:prstGeom prst="rect">
            <a:avLst/>
          </a:prstGeom>
          <a:solidFill>
            <a:srgbClr val="000000">
              <a:alpha val="2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16">
            <a:extLst>
              <a:ext uri="{FF2B5EF4-FFF2-40B4-BE49-F238E27FC236}">
                <a16:creationId xmlns:a16="http://schemas.microsoft.com/office/drawing/2014/main" id="{57682CB4-DE6D-FDBE-63FA-294D91C6BACD}"/>
              </a:ext>
            </a:extLst>
          </p:cNvPr>
          <p:cNvSpPr/>
          <p:nvPr/>
        </p:nvSpPr>
        <p:spPr>
          <a:xfrm>
            <a:off x="4153205" y="1604772"/>
            <a:ext cx="3886200" cy="9144"/>
          </a:xfrm>
          <a:prstGeom prst="rect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800"/>
          </a:p>
        </p:txBody>
      </p:sp>
      <p:pic>
        <p:nvPicPr>
          <p:cNvPr id="24" name="Image 5" descr="preencoded.png">
            <a:extLst>
              <a:ext uri="{FF2B5EF4-FFF2-40B4-BE49-F238E27FC236}">
                <a16:creationId xmlns:a16="http://schemas.microsoft.com/office/drawing/2014/main" id="{DE1ADD9C-08B4-C660-541A-7DE6458CB536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-1648" r="-1648"/>
          <a:stretch/>
        </p:blipFill>
        <p:spPr>
          <a:xfrm>
            <a:off x="4153205" y="1271016"/>
            <a:ext cx="171907" cy="190195"/>
          </a:xfrm>
          <a:prstGeom prst="rect">
            <a:avLst/>
          </a:prstGeom>
        </p:spPr>
      </p:pic>
      <p:sp>
        <p:nvSpPr>
          <p:cNvPr id="25" name="Text 17">
            <a:extLst>
              <a:ext uri="{FF2B5EF4-FFF2-40B4-BE49-F238E27FC236}">
                <a16:creationId xmlns:a16="http://schemas.microsoft.com/office/drawing/2014/main" id="{15395C10-96AC-B6D5-2A00-5359066B605B}"/>
              </a:ext>
            </a:extLst>
          </p:cNvPr>
          <p:cNvSpPr txBox="1"/>
          <p:nvPr/>
        </p:nvSpPr>
        <p:spPr>
          <a:xfrm>
            <a:off x="4419295" y="1223467"/>
            <a:ext cx="1846174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디지털 대전환(DX)</a:t>
            </a:r>
            <a:endParaRPr lang="en-US" sz="1500" dirty="0"/>
          </a:p>
        </p:txBody>
      </p:sp>
      <p:sp>
        <p:nvSpPr>
          <p:cNvPr id="26" name="Shape 18">
            <a:extLst>
              <a:ext uri="{FF2B5EF4-FFF2-40B4-BE49-F238E27FC236}">
                <a16:creationId xmlns:a16="http://schemas.microsoft.com/office/drawing/2014/main" id="{A1648E41-0F77-E647-1E36-4B4DD6470FA0}"/>
              </a:ext>
            </a:extLst>
          </p:cNvPr>
          <p:cNvSpPr/>
          <p:nvPr/>
        </p:nvSpPr>
        <p:spPr>
          <a:xfrm>
            <a:off x="6966814" y="1241755"/>
            <a:ext cx="1076249" cy="247802"/>
          </a:xfrm>
          <a:prstGeom prst="roundRect">
            <a:avLst>
              <a:gd name="adj" fmla="val 56770"/>
            </a:avLst>
          </a:prstGeom>
          <a:solidFill>
            <a:srgbClr val="000000">
              <a:alpha val="3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19">
            <a:extLst>
              <a:ext uri="{FF2B5EF4-FFF2-40B4-BE49-F238E27FC236}">
                <a16:creationId xmlns:a16="http://schemas.microsoft.com/office/drawing/2014/main" id="{CDDF0203-5246-AC24-F106-3ADE7BAF33AA}"/>
              </a:ext>
            </a:extLst>
          </p:cNvPr>
          <p:cNvSpPr txBox="1"/>
          <p:nvPr/>
        </p:nvSpPr>
        <p:spPr>
          <a:xfrm>
            <a:off x="7043623" y="1280160"/>
            <a:ext cx="58704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Pressure</a:t>
            </a:r>
            <a:endParaRPr lang="en-US" sz="900" dirty="0"/>
          </a:p>
        </p:txBody>
      </p:sp>
      <p:sp>
        <p:nvSpPr>
          <p:cNvPr id="28" name="Shape 20">
            <a:extLst>
              <a:ext uri="{FF2B5EF4-FFF2-40B4-BE49-F238E27FC236}">
                <a16:creationId xmlns:a16="http://schemas.microsoft.com/office/drawing/2014/main" id="{F4DFF8C7-9FEB-06EC-CAEB-047D1F4615FF}"/>
              </a:ext>
            </a:extLst>
          </p:cNvPr>
          <p:cNvSpPr/>
          <p:nvPr/>
        </p:nvSpPr>
        <p:spPr>
          <a:xfrm>
            <a:off x="7582205" y="1337767"/>
            <a:ext cx="381305" cy="57607"/>
          </a:xfrm>
          <a:prstGeom prst="roundRect">
            <a:avLst>
              <a:gd name="adj" fmla="val 793654"/>
            </a:avLst>
          </a:prstGeom>
          <a:solidFill>
            <a:srgbClr val="33333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21">
            <a:extLst>
              <a:ext uri="{FF2B5EF4-FFF2-40B4-BE49-F238E27FC236}">
                <a16:creationId xmlns:a16="http://schemas.microsoft.com/office/drawing/2014/main" id="{D6255C81-A5B0-0E10-DBBC-5D0EA47BDD8B}"/>
              </a:ext>
            </a:extLst>
          </p:cNvPr>
          <p:cNvSpPr/>
          <p:nvPr/>
        </p:nvSpPr>
        <p:spPr>
          <a:xfrm>
            <a:off x="7582205" y="1337767"/>
            <a:ext cx="342900" cy="57607"/>
          </a:xfrm>
          <a:prstGeom prst="rect">
            <a:avLst/>
          </a:prstGeom>
          <a:solidFill>
            <a:srgbClr val="E6394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0" name="Image 6" descr="preencoded.png">
            <a:extLst>
              <a:ext uri="{FF2B5EF4-FFF2-40B4-BE49-F238E27FC236}">
                <a16:creationId xmlns:a16="http://schemas.microsoft.com/office/drawing/2014/main" id="{84E46FFB-B7EF-6D3E-86A7-A80F4D41DC94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-400" r="-400"/>
          <a:stretch/>
        </p:blipFill>
        <p:spPr>
          <a:xfrm>
            <a:off x="4153205" y="1794967"/>
            <a:ext cx="57607" cy="114300"/>
          </a:xfrm>
          <a:prstGeom prst="rect">
            <a:avLst/>
          </a:prstGeom>
        </p:spPr>
      </p:pic>
      <p:sp>
        <p:nvSpPr>
          <p:cNvPr id="31" name="Text 22">
            <a:extLst>
              <a:ext uri="{FF2B5EF4-FFF2-40B4-BE49-F238E27FC236}">
                <a16:creationId xmlns:a16="http://schemas.microsoft.com/office/drawing/2014/main" id="{8E2566BF-3CAC-E6E9-74FA-69611E1A01C8}"/>
              </a:ext>
            </a:extLst>
          </p:cNvPr>
          <p:cNvSpPr txBox="1"/>
          <p:nvPr/>
        </p:nvSpPr>
        <p:spPr>
          <a:xfrm>
            <a:off x="4286707" y="1756562"/>
            <a:ext cx="273679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AI/데이터 기반 컨설팅 수요 폭발적 증가</a:t>
            </a:r>
            <a:endParaRPr lang="en-US" sz="1200" dirty="0"/>
          </a:p>
        </p:txBody>
      </p:sp>
      <p:pic>
        <p:nvPicPr>
          <p:cNvPr id="32" name="Image 7" descr="preencoded.png">
            <a:extLst>
              <a:ext uri="{FF2B5EF4-FFF2-40B4-BE49-F238E27FC236}">
                <a16:creationId xmlns:a16="http://schemas.microsoft.com/office/drawing/2014/main" id="{109E8A5A-7A56-1461-AA3E-33E31CDBCB85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-400" r="-400"/>
          <a:stretch/>
        </p:blipFill>
        <p:spPr>
          <a:xfrm>
            <a:off x="4153205" y="2057400"/>
            <a:ext cx="57607" cy="114300"/>
          </a:xfrm>
          <a:prstGeom prst="rect">
            <a:avLst/>
          </a:prstGeom>
        </p:spPr>
      </p:pic>
      <p:sp>
        <p:nvSpPr>
          <p:cNvPr id="33" name="Text 23">
            <a:extLst>
              <a:ext uri="{FF2B5EF4-FFF2-40B4-BE49-F238E27FC236}">
                <a16:creationId xmlns:a16="http://schemas.microsoft.com/office/drawing/2014/main" id="{B6699ADA-07E5-B7A8-DD74-1A56F92FD837}"/>
              </a:ext>
            </a:extLst>
          </p:cNvPr>
          <p:cNvSpPr txBox="1"/>
          <p:nvPr/>
        </p:nvSpPr>
        <p:spPr>
          <a:xfrm>
            <a:off x="4286707" y="2018995"/>
            <a:ext cx="24835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전통적 인력 중심 방법론의 한계 노출</a:t>
            </a:r>
            <a:endParaRPr lang="en-US" sz="1200" dirty="0"/>
          </a:p>
        </p:txBody>
      </p:sp>
      <p:pic>
        <p:nvPicPr>
          <p:cNvPr id="34" name="Image 8" descr="preencoded.png">
            <a:extLst>
              <a:ext uri="{FF2B5EF4-FFF2-40B4-BE49-F238E27FC236}">
                <a16:creationId xmlns:a16="http://schemas.microsoft.com/office/drawing/2014/main" id="{68F674D8-3A54-CB57-4DB0-F8B622BE5591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-400" r="-400"/>
          <a:stretch/>
        </p:blipFill>
        <p:spPr>
          <a:xfrm>
            <a:off x="4153205" y="2319833"/>
            <a:ext cx="57607" cy="114300"/>
          </a:xfrm>
          <a:prstGeom prst="rect">
            <a:avLst/>
          </a:prstGeom>
        </p:spPr>
      </p:pic>
      <p:sp>
        <p:nvSpPr>
          <p:cNvPr id="35" name="Text 24">
            <a:extLst>
              <a:ext uri="{FF2B5EF4-FFF2-40B4-BE49-F238E27FC236}">
                <a16:creationId xmlns:a16="http://schemas.microsoft.com/office/drawing/2014/main" id="{D3052392-9409-4997-8F4F-36BE891C7583}"/>
              </a:ext>
            </a:extLst>
          </p:cNvPr>
          <p:cNvSpPr txBox="1"/>
          <p:nvPr/>
        </p:nvSpPr>
        <p:spPr>
          <a:xfrm>
            <a:off x="4286707" y="2282342"/>
            <a:ext cx="24835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고객사의 높은 디지털 역량 기대 수준</a:t>
            </a:r>
            <a:endParaRPr lang="en-US" sz="1200" dirty="0"/>
          </a:p>
        </p:txBody>
      </p:sp>
      <p:sp>
        <p:nvSpPr>
          <p:cNvPr id="36" name="Shape 25">
            <a:extLst>
              <a:ext uri="{FF2B5EF4-FFF2-40B4-BE49-F238E27FC236}">
                <a16:creationId xmlns:a16="http://schemas.microsoft.com/office/drawing/2014/main" id="{D99B815D-F119-9655-7E48-982B76665125}"/>
              </a:ext>
            </a:extLst>
          </p:cNvPr>
          <p:cNvSpPr/>
          <p:nvPr/>
        </p:nvSpPr>
        <p:spPr>
          <a:xfrm>
            <a:off x="8419795" y="1032358"/>
            <a:ext cx="3295498" cy="1828800"/>
          </a:xfrm>
          <a:prstGeom prst="roundRect">
            <a:avLst>
              <a:gd name="adj" fmla="val 2083"/>
            </a:avLst>
          </a:prstGeom>
          <a:solidFill>
            <a:srgbClr val="004D6B"/>
          </a:solidFill>
          <a:ln/>
          <a:effectLst>
            <a:outerShdw blurRad="152400" dist="76200" dir="162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7" name="Shape 26">
            <a:extLst>
              <a:ext uri="{FF2B5EF4-FFF2-40B4-BE49-F238E27FC236}">
                <a16:creationId xmlns:a16="http://schemas.microsoft.com/office/drawing/2014/main" id="{85E01D12-850D-316E-A57F-223279720FD1}"/>
              </a:ext>
            </a:extLst>
          </p:cNvPr>
          <p:cNvSpPr/>
          <p:nvPr/>
        </p:nvSpPr>
        <p:spPr>
          <a:xfrm>
            <a:off x="8419795" y="2813609"/>
            <a:ext cx="3295498" cy="47549"/>
          </a:xfrm>
          <a:prstGeom prst="rect">
            <a:avLst/>
          </a:prstGeom>
          <a:solidFill>
            <a:srgbClr val="000000">
              <a:alpha val="2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Shape 27">
            <a:extLst>
              <a:ext uri="{FF2B5EF4-FFF2-40B4-BE49-F238E27FC236}">
                <a16:creationId xmlns:a16="http://schemas.microsoft.com/office/drawing/2014/main" id="{F1206013-C4C0-494A-C7E3-314CE067692C}"/>
              </a:ext>
            </a:extLst>
          </p:cNvPr>
          <p:cNvSpPr/>
          <p:nvPr/>
        </p:nvSpPr>
        <p:spPr>
          <a:xfrm>
            <a:off x="8610905" y="1604772"/>
            <a:ext cx="2915107" cy="9144"/>
          </a:xfrm>
          <a:prstGeom prst="rect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800"/>
          </a:p>
        </p:txBody>
      </p:sp>
      <p:pic>
        <p:nvPicPr>
          <p:cNvPr id="39" name="Image 9" descr="preencoded.png">
            <a:extLst>
              <a:ext uri="{FF2B5EF4-FFF2-40B4-BE49-F238E27FC236}">
                <a16:creationId xmlns:a16="http://schemas.microsoft.com/office/drawing/2014/main" id="{5EFF1F88-614D-82E4-CD7E-94399356EB16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8610905" y="1271016"/>
            <a:ext cx="190195" cy="190195"/>
          </a:xfrm>
          <a:prstGeom prst="rect">
            <a:avLst/>
          </a:prstGeom>
        </p:spPr>
      </p:pic>
      <p:sp>
        <p:nvSpPr>
          <p:cNvPr id="40" name="Text 28">
            <a:extLst>
              <a:ext uri="{FF2B5EF4-FFF2-40B4-BE49-F238E27FC236}">
                <a16:creationId xmlns:a16="http://schemas.microsoft.com/office/drawing/2014/main" id="{EC3C5E68-6505-1917-6886-74A3FFF77C04}"/>
              </a:ext>
            </a:extLst>
          </p:cNvPr>
          <p:cNvSpPr txBox="1"/>
          <p:nvPr/>
        </p:nvSpPr>
        <p:spPr>
          <a:xfrm>
            <a:off x="8896198" y="1223467"/>
            <a:ext cx="1666037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고객 요구 고도화</a:t>
            </a:r>
            <a:endParaRPr lang="en-US" sz="1500" dirty="0"/>
          </a:p>
        </p:txBody>
      </p:sp>
      <p:sp>
        <p:nvSpPr>
          <p:cNvPr id="41" name="Shape 29">
            <a:extLst>
              <a:ext uri="{FF2B5EF4-FFF2-40B4-BE49-F238E27FC236}">
                <a16:creationId xmlns:a16="http://schemas.microsoft.com/office/drawing/2014/main" id="{A81B80B1-6F56-66C6-044A-24EA0966FEC2}"/>
              </a:ext>
            </a:extLst>
          </p:cNvPr>
          <p:cNvSpPr/>
          <p:nvPr/>
        </p:nvSpPr>
        <p:spPr>
          <a:xfrm>
            <a:off x="10453421" y="1241755"/>
            <a:ext cx="1076249" cy="247802"/>
          </a:xfrm>
          <a:prstGeom prst="roundRect">
            <a:avLst>
              <a:gd name="adj" fmla="val 56770"/>
            </a:avLst>
          </a:prstGeom>
          <a:solidFill>
            <a:srgbClr val="000000">
              <a:alpha val="3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Text 30">
            <a:extLst>
              <a:ext uri="{FF2B5EF4-FFF2-40B4-BE49-F238E27FC236}">
                <a16:creationId xmlns:a16="http://schemas.microsoft.com/office/drawing/2014/main" id="{E74E03A8-D136-B274-4946-4423C321020B}"/>
              </a:ext>
            </a:extLst>
          </p:cNvPr>
          <p:cNvSpPr txBox="1"/>
          <p:nvPr/>
        </p:nvSpPr>
        <p:spPr>
          <a:xfrm>
            <a:off x="10529316" y="1280160"/>
            <a:ext cx="58704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Pressure</a:t>
            </a:r>
            <a:endParaRPr lang="en-US" sz="900" dirty="0"/>
          </a:p>
        </p:txBody>
      </p:sp>
      <p:sp>
        <p:nvSpPr>
          <p:cNvPr id="43" name="Shape 31">
            <a:extLst>
              <a:ext uri="{FF2B5EF4-FFF2-40B4-BE49-F238E27FC236}">
                <a16:creationId xmlns:a16="http://schemas.microsoft.com/office/drawing/2014/main" id="{3FB3EAF0-18AA-0444-BEC7-D686C13E4FE1}"/>
              </a:ext>
            </a:extLst>
          </p:cNvPr>
          <p:cNvSpPr/>
          <p:nvPr/>
        </p:nvSpPr>
        <p:spPr>
          <a:xfrm>
            <a:off x="11067898" y="1337767"/>
            <a:ext cx="381305" cy="57607"/>
          </a:xfrm>
          <a:prstGeom prst="roundRect">
            <a:avLst>
              <a:gd name="adj" fmla="val 793654"/>
            </a:avLst>
          </a:prstGeom>
          <a:solidFill>
            <a:srgbClr val="33333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Shape 32">
            <a:extLst>
              <a:ext uri="{FF2B5EF4-FFF2-40B4-BE49-F238E27FC236}">
                <a16:creationId xmlns:a16="http://schemas.microsoft.com/office/drawing/2014/main" id="{A3D2EE8A-AB6A-866D-F7E3-73DF535EA530}"/>
              </a:ext>
            </a:extLst>
          </p:cNvPr>
          <p:cNvSpPr/>
          <p:nvPr/>
        </p:nvSpPr>
        <p:spPr>
          <a:xfrm>
            <a:off x="11067898" y="1337767"/>
            <a:ext cx="304495" cy="57607"/>
          </a:xfrm>
          <a:prstGeom prst="rect">
            <a:avLst/>
          </a:prstGeom>
          <a:solidFill>
            <a:srgbClr val="E6394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45" name="Image 10" descr="preencoded.png">
            <a:extLst>
              <a:ext uri="{FF2B5EF4-FFF2-40B4-BE49-F238E27FC236}">
                <a16:creationId xmlns:a16="http://schemas.microsoft.com/office/drawing/2014/main" id="{B1FE6DA6-660C-4413-DCCA-6AA7DD522991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-400" r="-400"/>
          <a:stretch/>
        </p:blipFill>
        <p:spPr>
          <a:xfrm>
            <a:off x="8610905" y="1794967"/>
            <a:ext cx="57607" cy="114300"/>
          </a:xfrm>
          <a:prstGeom prst="rect">
            <a:avLst/>
          </a:prstGeom>
        </p:spPr>
      </p:pic>
      <p:sp>
        <p:nvSpPr>
          <p:cNvPr id="46" name="Text 33">
            <a:extLst>
              <a:ext uri="{FF2B5EF4-FFF2-40B4-BE49-F238E27FC236}">
                <a16:creationId xmlns:a16="http://schemas.microsoft.com/office/drawing/2014/main" id="{66B5D71C-A3F7-A662-762F-F2BA7653D349}"/>
              </a:ext>
            </a:extLst>
          </p:cNvPr>
          <p:cNvSpPr txBox="1"/>
          <p:nvPr/>
        </p:nvSpPr>
        <p:spPr>
          <a:xfrm>
            <a:off x="8744407" y="1756562"/>
            <a:ext cx="256214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전문성(Deep)과 속도(Agile) 동시 요구</a:t>
            </a:r>
            <a:endParaRPr lang="en-US" sz="1200" dirty="0"/>
          </a:p>
        </p:txBody>
      </p:sp>
      <p:pic>
        <p:nvPicPr>
          <p:cNvPr id="47" name="Image 11" descr="preencoded.png">
            <a:extLst>
              <a:ext uri="{FF2B5EF4-FFF2-40B4-BE49-F238E27FC236}">
                <a16:creationId xmlns:a16="http://schemas.microsoft.com/office/drawing/2014/main" id="{F024599F-6ECA-F0C7-636B-748A4DE56849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-400" r="-400"/>
          <a:stretch/>
        </p:blipFill>
        <p:spPr>
          <a:xfrm>
            <a:off x="8610905" y="2057400"/>
            <a:ext cx="57607" cy="114300"/>
          </a:xfrm>
          <a:prstGeom prst="rect">
            <a:avLst/>
          </a:prstGeom>
        </p:spPr>
      </p:pic>
      <p:sp>
        <p:nvSpPr>
          <p:cNvPr id="48" name="Text 34">
            <a:extLst>
              <a:ext uri="{FF2B5EF4-FFF2-40B4-BE49-F238E27FC236}">
                <a16:creationId xmlns:a16="http://schemas.microsoft.com/office/drawing/2014/main" id="{B34291E3-6D69-BCC5-800C-E66310A09709}"/>
              </a:ext>
            </a:extLst>
          </p:cNvPr>
          <p:cNvSpPr txBox="1"/>
          <p:nvPr/>
        </p:nvSpPr>
        <p:spPr>
          <a:xfrm>
            <a:off x="8744407" y="2018995"/>
            <a:ext cx="24835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민첩한 프로젝트 대응 및 유연성 필요</a:t>
            </a:r>
            <a:endParaRPr lang="en-US" sz="1200" dirty="0"/>
          </a:p>
        </p:txBody>
      </p:sp>
      <p:pic>
        <p:nvPicPr>
          <p:cNvPr id="49" name="Image 12" descr="preencoded.png">
            <a:extLst>
              <a:ext uri="{FF2B5EF4-FFF2-40B4-BE49-F238E27FC236}">
                <a16:creationId xmlns:a16="http://schemas.microsoft.com/office/drawing/2014/main" id="{B99EF2F5-07AA-DCB2-F277-8EA4DCF14BB5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-400" r="-400"/>
          <a:stretch/>
        </p:blipFill>
        <p:spPr>
          <a:xfrm>
            <a:off x="8610905" y="2319833"/>
            <a:ext cx="57607" cy="114300"/>
          </a:xfrm>
          <a:prstGeom prst="rect">
            <a:avLst/>
          </a:prstGeom>
        </p:spPr>
      </p:pic>
      <p:sp>
        <p:nvSpPr>
          <p:cNvPr id="50" name="Text 35">
            <a:extLst>
              <a:ext uri="{FF2B5EF4-FFF2-40B4-BE49-F238E27FC236}">
                <a16:creationId xmlns:a16="http://schemas.microsoft.com/office/drawing/2014/main" id="{A5EEAB95-2716-21EB-160C-338D751CEC26}"/>
              </a:ext>
            </a:extLst>
          </p:cNvPr>
          <p:cNvSpPr txBox="1"/>
          <p:nvPr/>
        </p:nvSpPr>
        <p:spPr>
          <a:xfrm>
            <a:off x="8744407" y="2282342"/>
            <a:ext cx="220827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결과물 중심 성과 기반 보상 체계</a:t>
            </a:r>
            <a:endParaRPr lang="en-US" sz="1200" dirty="0"/>
          </a:p>
        </p:txBody>
      </p:sp>
      <p:sp>
        <p:nvSpPr>
          <p:cNvPr id="51" name="Shape 36">
            <a:extLst>
              <a:ext uri="{FF2B5EF4-FFF2-40B4-BE49-F238E27FC236}">
                <a16:creationId xmlns:a16="http://schemas.microsoft.com/office/drawing/2014/main" id="{BAA18553-A2A6-AD42-C6DD-6AAD447C4613}"/>
              </a:ext>
            </a:extLst>
          </p:cNvPr>
          <p:cNvSpPr/>
          <p:nvPr/>
        </p:nvSpPr>
        <p:spPr>
          <a:xfrm>
            <a:off x="2162556" y="3120847"/>
            <a:ext cx="7867498" cy="1809598"/>
          </a:xfrm>
          <a:prstGeom prst="roundRect">
            <a:avLst>
              <a:gd name="adj" fmla="val 3191"/>
            </a:avLst>
          </a:prstGeom>
          <a:solidFill>
            <a:srgbClr val="FFF1F2"/>
          </a:solidFill>
          <a:ln w="50800">
            <a:solidFill>
              <a:srgbClr val="E63946"/>
            </a:solidFill>
            <a:prstDash val="solid"/>
          </a:ln>
          <a:effectLst>
            <a:outerShdw blurRad="190500" dist="12700" dir="16200000" algn="bl" rotWithShape="0">
              <a:srgbClr val="E63946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52" name="Image 13" descr="preencoded.png">
            <a:extLst>
              <a:ext uri="{FF2B5EF4-FFF2-40B4-BE49-F238E27FC236}">
                <a16:creationId xmlns:a16="http://schemas.microsoft.com/office/drawing/2014/main" id="{9733E531-048D-323F-943C-7ED10AA04ED3}"/>
              </a:ext>
            </a:extLst>
          </p:cNvPr>
          <p:cNvPicPr>
            <a:picLocks noChangeAspect="1"/>
          </p:cNvPicPr>
          <p:nvPr/>
        </p:nvPicPr>
        <p:blipFill>
          <a:blip r:embed="rId8">
            <a:alphaModFix amt="81000"/>
          </a:blip>
          <a:srcRect/>
          <a:stretch/>
        </p:blipFill>
        <p:spPr>
          <a:xfrm>
            <a:off x="6074359" y="3063240"/>
            <a:ext cx="276149" cy="276149"/>
          </a:xfrm>
          <a:prstGeom prst="rect">
            <a:avLst/>
          </a:prstGeom>
        </p:spPr>
      </p:pic>
      <p:pic>
        <p:nvPicPr>
          <p:cNvPr id="53" name="Image 14" descr="preencoded.png">
            <a:extLst>
              <a:ext uri="{FF2B5EF4-FFF2-40B4-BE49-F238E27FC236}">
                <a16:creationId xmlns:a16="http://schemas.microsoft.com/office/drawing/2014/main" id="{BB1A1B2E-04C0-9953-2959-C299DE75BD44}"/>
              </a:ext>
            </a:extLst>
          </p:cNvPr>
          <p:cNvPicPr>
            <a:picLocks noChangeAspect="1"/>
          </p:cNvPicPr>
          <p:nvPr/>
        </p:nvPicPr>
        <p:blipFill>
          <a:blip r:embed="rId8">
            <a:alphaModFix amt="81000"/>
          </a:blip>
          <a:srcRect/>
          <a:stretch/>
        </p:blipFill>
        <p:spPr>
          <a:xfrm>
            <a:off x="2035454" y="4069994"/>
            <a:ext cx="276149" cy="276149"/>
          </a:xfrm>
          <a:prstGeom prst="rect">
            <a:avLst/>
          </a:prstGeom>
        </p:spPr>
      </p:pic>
      <p:pic>
        <p:nvPicPr>
          <p:cNvPr id="54" name="Image 15" descr="preencoded.png">
            <a:extLst>
              <a:ext uri="{FF2B5EF4-FFF2-40B4-BE49-F238E27FC236}">
                <a16:creationId xmlns:a16="http://schemas.microsoft.com/office/drawing/2014/main" id="{A73FE344-BA8F-7B58-A71A-EF0F4F5B96F6}"/>
              </a:ext>
            </a:extLst>
          </p:cNvPr>
          <p:cNvPicPr>
            <a:picLocks noChangeAspect="1"/>
          </p:cNvPicPr>
          <p:nvPr/>
        </p:nvPicPr>
        <p:blipFill>
          <a:blip r:embed="rId8">
            <a:alphaModFix amt="81000"/>
          </a:blip>
          <a:srcRect/>
          <a:stretch/>
        </p:blipFill>
        <p:spPr>
          <a:xfrm>
            <a:off x="9884664" y="4069994"/>
            <a:ext cx="276149" cy="276149"/>
          </a:xfrm>
          <a:prstGeom prst="rect">
            <a:avLst/>
          </a:prstGeom>
        </p:spPr>
      </p:pic>
      <p:sp>
        <p:nvSpPr>
          <p:cNvPr id="55" name="Shape 37">
            <a:extLst>
              <a:ext uri="{FF2B5EF4-FFF2-40B4-BE49-F238E27FC236}">
                <a16:creationId xmlns:a16="http://schemas.microsoft.com/office/drawing/2014/main" id="{17526375-8BE9-905C-7BB3-920396566931}"/>
              </a:ext>
            </a:extLst>
          </p:cNvPr>
          <p:cNvSpPr/>
          <p:nvPr/>
        </p:nvSpPr>
        <p:spPr>
          <a:xfrm>
            <a:off x="4472330" y="3035808"/>
            <a:ext cx="3247949" cy="437998"/>
          </a:xfrm>
          <a:prstGeom prst="roundRect">
            <a:avLst>
              <a:gd name="adj" fmla="val 90769"/>
            </a:avLst>
          </a:prstGeom>
          <a:solidFill>
            <a:srgbClr val="E63946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56" name="Image 16" descr="preencoded.png">
            <a:extLst>
              <a:ext uri="{FF2B5EF4-FFF2-40B4-BE49-F238E27FC236}">
                <a16:creationId xmlns:a16="http://schemas.microsoft.com/office/drawing/2014/main" id="{6097B7B4-3C72-8E49-0684-F483F8ABE43D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4710074" y="3159252"/>
            <a:ext cx="190195" cy="190195"/>
          </a:xfrm>
          <a:prstGeom prst="rect">
            <a:avLst/>
          </a:prstGeom>
        </p:spPr>
      </p:pic>
      <p:sp>
        <p:nvSpPr>
          <p:cNvPr id="57" name="Text 38">
            <a:extLst>
              <a:ext uri="{FF2B5EF4-FFF2-40B4-BE49-F238E27FC236}">
                <a16:creationId xmlns:a16="http://schemas.microsoft.com/office/drawing/2014/main" id="{5F5D730D-BA38-14DA-EDDD-6D63E9EA1A16}"/>
              </a:ext>
            </a:extLst>
          </p:cNvPr>
          <p:cNvSpPr txBox="1"/>
          <p:nvPr/>
        </p:nvSpPr>
        <p:spPr>
          <a:xfrm>
            <a:off x="5043830" y="3111703"/>
            <a:ext cx="3001975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시앤피컨설팅 현재 구조의 한계</a:t>
            </a:r>
            <a:endParaRPr lang="en-US" sz="1500" dirty="0"/>
          </a:p>
        </p:txBody>
      </p:sp>
      <p:sp>
        <p:nvSpPr>
          <p:cNvPr id="58" name="Shape 39">
            <a:extLst>
              <a:ext uri="{FF2B5EF4-FFF2-40B4-BE49-F238E27FC236}">
                <a16:creationId xmlns:a16="http://schemas.microsoft.com/office/drawing/2014/main" id="{C196B987-4635-7636-14F0-D2E6056736FF}"/>
              </a:ext>
            </a:extLst>
          </p:cNvPr>
          <p:cNvSpPr/>
          <p:nvPr/>
        </p:nvSpPr>
        <p:spPr>
          <a:xfrm>
            <a:off x="2486254" y="3788359"/>
            <a:ext cx="2314346" cy="91440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9" name="Shape 40">
            <a:extLst>
              <a:ext uri="{FF2B5EF4-FFF2-40B4-BE49-F238E27FC236}">
                <a16:creationId xmlns:a16="http://schemas.microsoft.com/office/drawing/2014/main" id="{64AA9D8F-C361-17BB-ACF3-BFEDEA9B219D}"/>
              </a:ext>
            </a:extLst>
          </p:cNvPr>
          <p:cNvSpPr/>
          <p:nvPr/>
        </p:nvSpPr>
        <p:spPr>
          <a:xfrm>
            <a:off x="2486254" y="4674413"/>
            <a:ext cx="2314346" cy="28346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60" name="Image 17" descr="preencoded.png">
            <a:extLst>
              <a:ext uri="{FF2B5EF4-FFF2-40B4-BE49-F238E27FC236}">
                <a16:creationId xmlns:a16="http://schemas.microsoft.com/office/drawing/2014/main" id="{8E4C8F29-217D-AA3F-2814-CF2EAA3EF735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t="-45" b="-45"/>
          <a:stretch/>
        </p:blipFill>
        <p:spPr>
          <a:xfrm>
            <a:off x="3513125" y="3902659"/>
            <a:ext cx="256946" cy="228600"/>
          </a:xfrm>
          <a:prstGeom prst="rect">
            <a:avLst/>
          </a:prstGeom>
        </p:spPr>
      </p:pic>
      <p:sp>
        <p:nvSpPr>
          <p:cNvPr id="61" name="Text 41">
            <a:extLst>
              <a:ext uri="{FF2B5EF4-FFF2-40B4-BE49-F238E27FC236}">
                <a16:creationId xmlns:a16="http://schemas.microsoft.com/office/drawing/2014/main" id="{29AC4DB7-E33D-03AC-8EDC-BD332D060B95}"/>
              </a:ext>
            </a:extLst>
          </p:cNvPr>
          <p:cNvSpPr txBox="1"/>
          <p:nvPr/>
        </p:nvSpPr>
        <p:spPr>
          <a:xfrm>
            <a:off x="3125419" y="4207154"/>
            <a:ext cx="1038758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33333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4계층의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333333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경직된 구조</a:t>
            </a:r>
            <a:endParaRPr lang="en-US" sz="1000" dirty="0"/>
          </a:p>
        </p:txBody>
      </p:sp>
      <p:sp>
        <p:nvSpPr>
          <p:cNvPr id="62" name="Shape 42">
            <a:extLst>
              <a:ext uri="{FF2B5EF4-FFF2-40B4-BE49-F238E27FC236}">
                <a16:creationId xmlns:a16="http://schemas.microsoft.com/office/drawing/2014/main" id="{E841B2EF-B05B-A7E7-78E5-E01A113BA339}"/>
              </a:ext>
            </a:extLst>
          </p:cNvPr>
          <p:cNvSpPr/>
          <p:nvPr/>
        </p:nvSpPr>
        <p:spPr>
          <a:xfrm>
            <a:off x="4940503" y="3788359"/>
            <a:ext cx="2314346" cy="91440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3" name="Shape 43">
            <a:extLst>
              <a:ext uri="{FF2B5EF4-FFF2-40B4-BE49-F238E27FC236}">
                <a16:creationId xmlns:a16="http://schemas.microsoft.com/office/drawing/2014/main" id="{D39A40BA-DC36-20F9-C2B4-E6FA9A7BA16E}"/>
              </a:ext>
            </a:extLst>
          </p:cNvPr>
          <p:cNvSpPr/>
          <p:nvPr/>
        </p:nvSpPr>
        <p:spPr>
          <a:xfrm>
            <a:off x="4940503" y="4674413"/>
            <a:ext cx="2314346" cy="28346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64" name="Image 18" descr="preencoded.png">
            <a:extLst>
              <a:ext uri="{FF2B5EF4-FFF2-40B4-BE49-F238E27FC236}">
                <a16:creationId xmlns:a16="http://schemas.microsoft.com/office/drawing/2014/main" id="{ADB8C3B6-32DA-0F44-D9E6-AB9E411EB146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 l="-80" r="-80"/>
          <a:stretch/>
        </p:blipFill>
        <p:spPr>
          <a:xfrm>
            <a:off x="5952744" y="3902659"/>
            <a:ext cx="286207" cy="228600"/>
          </a:xfrm>
          <a:prstGeom prst="rect">
            <a:avLst/>
          </a:prstGeom>
        </p:spPr>
      </p:pic>
      <p:sp>
        <p:nvSpPr>
          <p:cNvPr id="65" name="Text 44">
            <a:extLst>
              <a:ext uri="{FF2B5EF4-FFF2-40B4-BE49-F238E27FC236}">
                <a16:creationId xmlns:a16="http://schemas.microsoft.com/office/drawing/2014/main" id="{FC9BA3B7-6AA1-C1C8-AA39-B9A3818C9117}"/>
              </a:ext>
            </a:extLst>
          </p:cNvPr>
          <p:cNvSpPr txBox="1"/>
          <p:nvPr/>
        </p:nvSpPr>
        <p:spPr>
          <a:xfrm>
            <a:off x="5576926" y="4207154"/>
            <a:ext cx="1038758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33333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본부장 중심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333333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집권화·병목</a:t>
            </a:r>
            <a:endParaRPr lang="en-US" sz="1000" dirty="0"/>
          </a:p>
        </p:txBody>
      </p:sp>
      <p:sp>
        <p:nvSpPr>
          <p:cNvPr id="66" name="Shape 45">
            <a:extLst>
              <a:ext uri="{FF2B5EF4-FFF2-40B4-BE49-F238E27FC236}">
                <a16:creationId xmlns:a16="http://schemas.microsoft.com/office/drawing/2014/main" id="{408E17D4-5D48-B158-9BD8-15C8F3101CD6}"/>
              </a:ext>
            </a:extLst>
          </p:cNvPr>
          <p:cNvSpPr/>
          <p:nvPr/>
        </p:nvSpPr>
        <p:spPr>
          <a:xfrm>
            <a:off x="7394753" y="3788359"/>
            <a:ext cx="2314346" cy="91440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7" name="Shape 46">
            <a:extLst>
              <a:ext uri="{FF2B5EF4-FFF2-40B4-BE49-F238E27FC236}">
                <a16:creationId xmlns:a16="http://schemas.microsoft.com/office/drawing/2014/main" id="{04E83B6A-AF91-FE5B-BF5B-62B8A8503964}"/>
              </a:ext>
            </a:extLst>
          </p:cNvPr>
          <p:cNvSpPr/>
          <p:nvPr/>
        </p:nvSpPr>
        <p:spPr>
          <a:xfrm>
            <a:off x="7394753" y="4674413"/>
            <a:ext cx="2314346" cy="28346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68" name="Image 19" descr="preencoded.png">
            <a:extLst>
              <a:ext uri="{FF2B5EF4-FFF2-40B4-BE49-F238E27FC236}">
                <a16:creationId xmlns:a16="http://schemas.microsoft.com/office/drawing/2014/main" id="{8718D7B4-DE90-13CF-3B2B-46A1B4700C3C}"/>
              </a:ext>
            </a:extLst>
          </p:cNvPr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8436254" y="3902659"/>
            <a:ext cx="228600" cy="228600"/>
          </a:xfrm>
          <a:prstGeom prst="rect">
            <a:avLst/>
          </a:prstGeom>
        </p:spPr>
      </p:pic>
      <p:sp>
        <p:nvSpPr>
          <p:cNvPr id="69" name="Text 47">
            <a:extLst>
              <a:ext uri="{FF2B5EF4-FFF2-40B4-BE49-F238E27FC236}">
                <a16:creationId xmlns:a16="http://schemas.microsoft.com/office/drawing/2014/main" id="{1895B751-5074-F49D-06CD-0FE7C9882FEE}"/>
              </a:ext>
            </a:extLst>
          </p:cNvPr>
          <p:cNvSpPr txBox="1"/>
          <p:nvPr/>
        </p:nvSpPr>
        <p:spPr>
          <a:xfrm>
            <a:off x="7919618" y="4207154"/>
            <a:ext cx="1264615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33333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지식관리(KM)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333333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시스템 부재</a:t>
            </a:r>
            <a:endParaRPr lang="en-US" sz="1000" dirty="0"/>
          </a:p>
        </p:txBody>
      </p:sp>
      <p:sp>
        <p:nvSpPr>
          <p:cNvPr id="70" name="Shape 48">
            <a:extLst>
              <a:ext uri="{FF2B5EF4-FFF2-40B4-BE49-F238E27FC236}">
                <a16:creationId xmlns:a16="http://schemas.microsoft.com/office/drawing/2014/main" id="{B1E2F011-5DC5-947C-D92C-07F01FB218EB}"/>
              </a:ext>
            </a:extLst>
          </p:cNvPr>
          <p:cNvSpPr/>
          <p:nvPr/>
        </p:nvSpPr>
        <p:spPr>
          <a:xfrm>
            <a:off x="476402" y="5111496"/>
            <a:ext cx="11239805" cy="1047902"/>
          </a:xfrm>
          <a:prstGeom prst="roundRect">
            <a:avLst>
              <a:gd name="adj" fmla="val 6346"/>
            </a:avLst>
          </a:prstGeom>
          <a:solidFill>
            <a:srgbClr val="00A8A8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14300" dist="63500" dir="16200000" algn="bl" rotWithShape="0">
              <a:srgbClr val="00A8A8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1" name="Shape 49">
            <a:extLst>
              <a:ext uri="{FF2B5EF4-FFF2-40B4-BE49-F238E27FC236}">
                <a16:creationId xmlns:a16="http://schemas.microsoft.com/office/drawing/2014/main" id="{04255CE2-FB5E-F369-D759-AD62C945F15A}"/>
              </a:ext>
            </a:extLst>
          </p:cNvPr>
          <p:cNvSpPr/>
          <p:nvPr/>
        </p:nvSpPr>
        <p:spPr>
          <a:xfrm>
            <a:off x="857707" y="5301691"/>
            <a:ext cx="666598" cy="666598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72" name="Image 20" descr="preencoded.png">
            <a:extLst>
              <a:ext uri="{FF2B5EF4-FFF2-40B4-BE49-F238E27FC236}">
                <a16:creationId xmlns:a16="http://schemas.microsoft.com/office/drawing/2014/main" id="{C48B1DEC-CA63-EF7C-67AE-0BC269E47008}"/>
              </a:ext>
            </a:extLst>
          </p:cNvPr>
          <p:cNvPicPr>
            <a:picLocks noChangeAspect="1"/>
          </p:cNvPicPr>
          <p:nvPr/>
        </p:nvPicPr>
        <p:blipFill>
          <a:blip r:embed="rId13"/>
          <a:srcRect l="-17" r="-17"/>
          <a:stretch/>
        </p:blipFill>
        <p:spPr>
          <a:xfrm>
            <a:off x="1024128" y="5444338"/>
            <a:ext cx="333756" cy="381305"/>
          </a:xfrm>
          <a:prstGeom prst="rect">
            <a:avLst/>
          </a:prstGeom>
        </p:spPr>
      </p:pic>
      <p:sp>
        <p:nvSpPr>
          <p:cNvPr id="73" name="Text 50">
            <a:extLst>
              <a:ext uri="{FF2B5EF4-FFF2-40B4-BE49-F238E27FC236}">
                <a16:creationId xmlns:a16="http://schemas.microsoft.com/office/drawing/2014/main" id="{535C272A-79E1-013F-5FE8-3C8FED00A4E6}"/>
              </a:ext>
            </a:extLst>
          </p:cNvPr>
          <p:cNvSpPr txBox="1"/>
          <p:nvPr/>
        </p:nvSpPr>
        <p:spPr>
          <a:xfrm>
            <a:off x="1762049" y="5340096"/>
            <a:ext cx="238201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kern="0" spc="75" dirty="0">
                <a:solidFill>
                  <a:srgbClr val="FFFFFF">
                    <a:alpha val="90000"/>
                  </a:srgbClr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KEY STRATEGIC IMPLICATION</a:t>
            </a:r>
            <a:endParaRPr lang="en-US" sz="1000" dirty="0"/>
          </a:p>
        </p:txBody>
      </p:sp>
      <p:sp>
        <p:nvSpPr>
          <p:cNvPr id="74" name="Text 51">
            <a:extLst>
              <a:ext uri="{FF2B5EF4-FFF2-40B4-BE49-F238E27FC236}">
                <a16:creationId xmlns:a16="http://schemas.microsoft.com/office/drawing/2014/main" id="{AC399C3A-CFD2-3030-7408-65334DF26662}"/>
              </a:ext>
            </a:extLst>
          </p:cNvPr>
          <p:cNvSpPr txBox="1"/>
          <p:nvPr/>
        </p:nvSpPr>
        <p:spPr>
          <a:xfrm>
            <a:off x="1762049" y="5586984"/>
            <a:ext cx="160934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외부환경 급변</a:t>
            </a:r>
            <a:endParaRPr lang="en-US" sz="1800" dirty="0"/>
          </a:p>
        </p:txBody>
      </p:sp>
      <p:pic>
        <p:nvPicPr>
          <p:cNvPr id="75" name="Image 21" descr="preencoded.png">
            <a:extLst>
              <a:ext uri="{FF2B5EF4-FFF2-40B4-BE49-F238E27FC236}">
                <a16:creationId xmlns:a16="http://schemas.microsoft.com/office/drawing/2014/main" id="{05644FBB-8AD1-6E5D-875D-A011F11B5D0E}"/>
              </a:ext>
            </a:extLst>
          </p:cNvPr>
          <p:cNvPicPr>
            <a:picLocks noChangeAspect="1"/>
          </p:cNvPicPr>
          <p:nvPr/>
        </p:nvPicPr>
        <p:blipFill>
          <a:blip r:embed="rId14"/>
          <a:srcRect l="-760" r="-760"/>
          <a:stretch/>
        </p:blipFill>
        <p:spPr>
          <a:xfrm>
            <a:off x="3230575" y="5672938"/>
            <a:ext cx="152705" cy="171907"/>
          </a:xfrm>
          <a:prstGeom prst="rect">
            <a:avLst/>
          </a:prstGeom>
        </p:spPr>
      </p:pic>
      <p:sp>
        <p:nvSpPr>
          <p:cNvPr id="76" name="Text 52">
            <a:extLst>
              <a:ext uri="{FF2B5EF4-FFF2-40B4-BE49-F238E27FC236}">
                <a16:creationId xmlns:a16="http://schemas.microsoft.com/office/drawing/2014/main" id="{451429A4-6468-A4A4-42DA-27F5D54661BE}"/>
              </a:ext>
            </a:extLst>
          </p:cNvPr>
          <p:cNvSpPr txBox="1"/>
          <p:nvPr/>
        </p:nvSpPr>
        <p:spPr>
          <a:xfrm>
            <a:off x="3525926" y="5586984"/>
            <a:ext cx="199887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내부 구조 부적합</a:t>
            </a:r>
            <a:endParaRPr lang="en-US" sz="1800" dirty="0"/>
          </a:p>
        </p:txBody>
      </p:sp>
      <p:pic>
        <p:nvPicPr>
          <p:cNvPr id="77" name="Image 22" descr="preencoded.png">
            <a:extLst>
              <a:ext uri="{FF2B5EF4-FFF2-40B4-BE49-F238E27FC236}">
                <a16:creationId xmlns:a16="http://schemas.microsoft.com/office/drawing/2014/main" id="{C510B3F1-8413-4C38-B24A-A6EFA5C1E557}"/>
              </a:ext>
            </a:extLst>
          </p:cNvPr>
          <p:cNvPicPr>
            <a:picLocks noChangeAspect="1"/>
          </p:cNvPicPr>
          <p:nvPr/>
        </p:nvPicPr>
        <p:blipFill>
          <a:blip r:embed="rId14"/>
          <a:srcRect l="-760" r="-760"/>
          <a:stretch/>
        </p:blipFill>
        <p:spPr>
          <a:xfrm>
            <a:off x="5269687" y="5672938"/>
            <a:ext cx="152705" cy="171907"/>
          </a:xfrm>
          <a:prstGeom prst="rect">
            <a:avLst/>
          </a:prstGeom>
        </p:spPr>
      </p:pic>
      <p:sp>
        <p:nvSpPr>
          <p:cNvPr id="78" name="Text 53">
            <a:extLst>
              <a:ext uri="{FF2B5EF4-FFF2-40B4-BE49-F238E27FC236}">
                <a16:creationId xmlns:a16="http://schemas.microsoft.com/office/drawing/2014/main" id="{6E030F08-6E85-80A7-5439-2EC9127E55AB}"/>
              </a:ext>
            </a:extLst>
          </p:cNvPr>
          <p:cNvSpPr txBox="1"/>
          <p:nvPr/>
        </p:nvSpPr>
        <p:spPr>
          <a:xfrm>
            <a:off x="5564124" y="5586984"/>
            <a:ext cx="262981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Matrix 조직 전환 시급</a:t>
            </a:r>
            <a:endParaRPr lang="en-US" sz="1800" dirty="0"/>
          </a:p>
        </p:txBody>
      </p:sp>
      <p:sp>
        <p:nvSpPr>
          <p:cNvPr id="79" name="Shape 54">
            <a:extLst>
              <a:ext uri="{FF2B5EF4-FFF2-40B4-BE49-F238E27FC236}">
                <a16:creationId xmlns:a16="http://schemas.microsoft.com/office/drawing/2014/main" id="{9593038A-9110-ACEB-CDFB-FCD26D2E2FF0}"/>
              </a:ext>
            </a:extLst>
          </p:cNvPr>
          <p:cNvSpPr/>
          <p:nvPr/>
        </p:nvSpPr>
        <p:spPr>
          <a:xfrm>
            <a:off x="10858500" y="5396789"/>
            <a:ext cx="476402" cy="47640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80" name="Image 23" descr="preencoded.png">
            <a:extLst>
              <a:ext uri="{FF2B5EF4-FFF2-40B4-BE49-F238E27FC236}">
                <a16:creationId xmlns:a16="http://schemas.microsoft.com/office/drawing/2014/main" id="{D726255B-743F-7064-59A5-EBA320C0B681}"/>
              </a:ext>
            </a:extLst>
          </p:cNvPr>
          <p:cNvPicPr>
            <a:picLocks noChangeAspect="1"/>
          </p:cNvPicPr>
          <p:nvPr/>
        </p:nvPicPr>
        <p:blipFill>
          <a:blip r:embed="rId15"/>
          <a:srcRect l="-57" r="-57"/>
          <a:stretch/>
        </p:blipFill>
        <p:spPr>
          <a:xfrm>
            <a:off x="10996574" y="5520233"/>
            <a:ext cx="200254" cy="228600"/>
          </a:xfrm>
          <a:prstGeom prst="rect">
            <a:avLst/>
          </a:prstGeom>
        </p:spPr>
      </p:pic>
      <p:sp>
        <p:nvSpPr>
          <p:cNvPr id="81" name="Shape 55">
            <a:extLst>
              <a:ext uri="{FF2B5EF4-FFF2-40B4-BE49-F238E27FC236}">
                <a16:creationId xmlns:a16="http://schemas.microsoft.com/office/drawing/2014/main" id="{029C078E-9081-C48A-7391-F56C1B908AC2}"/>
              </a:ext>
            </a:extLst>
          </p:cNvPr>
          <p:cNvSpPr/>
          <p:nvPr/>
        </p:nvSpPr>
        <p:spPr>
          <a:xfrm>
            <a:off x="0" y="0"/>
            <a:ext cx="12191695" cy="847649"/>
          </a:xfrm>
          <a:prstGeom prst="rect">
            <a:avLst/>
          </a:prstGeom>
          <a:solidFill>
            <a:srgbClr val="003D5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2" name="Shape 56">
            <a:extLst>
              <a:ext uri="{FF2B5EF4-FFF2-40B4-BE49-F238E27FC236}">
                <a16:creationId xmlns:a16="http://schemas.microsoft.com/office/drawing/2014/main" id="{93685030-E53F-16E4-EC64-E332CA7CBD3C}"/>
              </a:ext>
            </a:extLst>
          </p:cNvPr>
          <p:cNvSpPr/>
          <p:nvPr/>
        </p:nvSpPr>
        <p:spPr>
          <a:xfrm>
            <a:off x="476402" y="449885"/>
            <a:ext cx="476402" cy="38405"/>
          </a:xfrm>
          <a:prstGeom prst="rect">
            <a:avLst/>
          </a:prstGeom>
          <a:solidFill>
            <a:srgbClr val="00A8A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3" name="Text 57">
            <a:extLst>
              <a:ext uri="{FF2B5EF4-FFF2-40B4-BE49-F238E27FC236}">
                <a16:creationId xmlns:a16="http://schemas.microsoft.com/office/drawing/2014/main" id="{5647BBE3-9985-31A5-BE76-1AFD83A12261}"/>
              </a:ext>
            </a:extLst>
          </p:cNvPr>
          <p:cNvSpPr txBox="1"/>
          <p:nvPr/>
        </p:nvSpPr>
        <p:spPr>
          <a:xfrm>
            <a:off x="1143000" y="286207"/>
            <a:ext cx="6657746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b="1" kern="0" spc="-37" dirty="0">
                <a:solidFill>
                  <a:srgbClr val="FFFFFF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컨설팅 산업 환경 변화가 조직 재설계를 요구</a:t>
            </a:r>
            <a:endParaRPr lang="en-US" sz="2400" dirty="0"/>
          </a:p>
        </p:txBody>
      </p:sp>
      <p:sp>
        <p:nvSpPr>
          <p:cNvPr id="85" name="Shape 59">
            <a:extLst>
              <a:ext uri="{FF2B5EF4-FFF2-40B4-BE49-F238E27FC236}">
                <a16:creationId xmlns:a16="http://schemas.microsoft.com/office/drawing/2014/main" id="{83CA174C-C617-F347-AE4F-CF9F1DABC58F}"/>
              </a:ext>
            </a:extLst>
          </p:cNvPr>
          <p:cNvSpPr/>
          <p:nvPr/>
        </p:nvSpPr>
        <p:spPr>
          <a:xfrm>
            <a:off x="0" y="6539789"/>
            <a:ext cx="12191695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6" name="Text 60">
            <a:extLst>
              <a:ext uri="{FF2B5EF4-FFF2-40B4-BE49-F238E27FC236}">
                <a16:creationId xmlns:a16="http://schemas.microsoft.com/office/drawing/2014/main" id="{B48020B0-3CAB-0707-1956-E12E32E75D51}"/>
              </a:ext>
            </a:extLst>
          </p:cNvPr>
          <p:cNvSpPr txBox="1"/>
          <p:nvPr/>
        </p:nvSpPr>
        <p:spPr>
          <a:xfrm>
            <a:off x="476402" y="6617513"/>
            <a:ext cx="175016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718096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시앤피컨설팅 조직 재설계 전략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4896373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0F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1695" cy="847649"/>
          </a:xfrm>
          <a:prstGeom prst="rect">
            <a:avLst/>
          </a:prstGeom>
          <a:solidFill>
            <a:srgbClr val="003D5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476402" y="449885"/>
            <a:ext cx="476402" cy="38405"/>
          </a:xfrm>
          <a:prstGeom prst="rect">
            <a:avLst/>
          </a:prstGeom>
          <a:solidFill>
            <a:srgbClr val="00A8A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 txBox="1"/>
          <p:nvPr/>
        </p:nvSpPr>
        <p:spPr>
          <a:xfrm>
            <a:off x="1143000" y="286207"/>
            <a:ext cx="5651906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b="1" kern="0" spc="-37" dirty="0">
                <a:solidFill>
                  <a:srgbClr val="FFFFFF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12년간 급성장, 그러나 수익성은 위기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305" y="842163"/>
            <a:ext cx="12191695" cy="5880513"/>
          </a:xfrm>
          <a:prstGeom prst="rect">
            <a:avLst/>
          </a:prstGeom>
          <a:solidFill>
            <a:srgbClr val="F5F7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476402" y="1127167"/>
            <a:ext cx="6743700" cy="5311188"/>
          </a:xfrm>
          <a:prstGeom prst="roundRect">
            <a:avLst>
              <a:gd name="adj" fmla="val 77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61695" y="1379365"/>
            <a:ext cx="190195" cy="14216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028700" y="1340407"/>
            <a:ext cx="3253435" cy="2070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03D5B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장기 재무 성과 추이 (2012-2024)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5639105" y="1375948"/>
            <a:ext cx="1541678" cy="1428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(단위: 백만 원, 단일 축)</a:t>
            </a:r>
            <a:endParaRPr lang="en-US" sz="1000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761695" y="1696491"/>
            <a:ext cx="6172200" cy="452794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7601407" y="1127167"/>
            <a:ext cx="4114800" cy="1174873"/>
          </a:xfrm>
          <a:prstGeom prst="roundRect">
            <a:avLst>
              <a:gd name="adj" fmla="val 1410"/>
            </a:avLst>
          </a:prstGeom>
          <a:solidFill>
            <a:srgbClr val="FFFFFF"/>
          </a:solidFill>
          <a:ln/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0"/>
          <p:cNvSpPr/>
          <p:nvPr/>
        </p:nvSpPr>
        <p:spPr>
          <a:xfrm>
            <a:off x="7601407" y="1127167"/>
            <a:ext cx="4114800" cy="28706"/>
          </a:xfrm>
          <a:prstGeom prst="rect">
            <a:avLst/>
          </a:prstGeom>
          <a:solidFill>
            <a:srgbClr val="00A8A8"/>
          </a:solidFill>
          <a:ln w="12700">
            <a:solidFill>
              <a:srgbClr val="00A8A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1"/>
          <p:cNvSpPr txBox="1"/>
          <p:nvPr/>
        </p:nvSpPr>
        <p:spPr>
          <a:xfrm>
            <a:off x="7839151" y="1333573"/>
            <a:ext cx="3753612" cy="1708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kern="0" spc="38" dirty="0">
                <a:solidFill>
                  <a:srgbClr val="718096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매출 성장 (2012 vs 2024)</a:t>
            </a:r>
            <a:endParaRPr lang="en-US" sz="1200" dirty="0"/>
          </a:p>
        </p:txBody>
      </p:sp>
      <p:sp>
        <p:nvSpPr>
          <p:cNvPr id="16" name="Text 12"/>
          <p:cNvSpPr txBox="1"/>
          <p:nvPr/>
        </p:nvSpPr>
        <p:spPr>
          <a:xfrm>
            <a:off x="7839151" y="1539979"/>
            <a:ext cx="1625803" cy="3847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003D5B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+2,349%</a:t>
            </a:r>
            <a:endParaRPr lang="en-US" sz="2700" dirty="0"/>
          </a:p>
        </p:txBody>
      </p:sp>
      <p:sp>
        <p:nvSpPr>
          <p:cNvPr id="17" name="Shape 13"/>
          <p:cNvSpPr/>
          <p:nvPr/>
        </p:nvSpPr>
        <p:spPr>
          <a:xfrm>
            <a:off x="9513418" y="1682139"/>
            <a:ext cx="685800" cy="220758"/>
          </a:xfrm>
          <a:prstGeom prst="roundRect">
            <a:avLst>
              <a:gd name="adj" fmla="val 39948"/>
            </a:avLst>
          </a:prstGeom>
          <a:solidFill>
            <a:srgbClr val="C6F6D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9590227" y="1734082"/>
            <a:ext cx="171907" cy="128491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9799625" y="1696491"/>
            <a:ext cx="400507" cy="1852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2543D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급증</a:t>
            </a:r>
            <a:endParaRPr lang="en-US" sz="1300" dirty="0"/>
          </a:p>
        </p:txBody>
      </p:sp>
      <p:sp>
        <p:nvSpPr>
          <p:cNvPr id="20" name="Text 15"/>
          <p:cNvSpPr txBox="1"/>
          <p:nvPr/>
        </p:nvSpPr>
        <p:spPr>
          <a:xfrm>
            <a:off x="7839151" y="1981495"/>
            <a:ext cx="3753612" cy="1428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3.5억 → 85.9억 원으로 외형 확대</a:t>
            </a:r>
            <a:endParaRPr lang="en-US" sz="1000" dirty="0"/>
          </a:p>
        </p:txBody>
      </p:sp>
      <p:sp>
        <p:nvSpPr>
          <p:cNvPr id="21" name="Shape 16"/>
          <p:cNvSpPr/>
          <p:nvPr/>
        </p:nvSpPr>
        <p:spPr>
          <a:xfrm>
            <a:off x="7601407" y="2444200"/>
            <a:ext cx="4114800" cy="1174873"/>
          </a:xfrm>
          <a:prstGeom prst="roundRect">
            <a:avLst>
              <a:gd name="adj" fmla="val 1410"/>
            </a:avLst>
          </a:prstGeom>
          <a:solidFill>
            <a:srgbClr val="FFFFFF"/>
          </a:solidFill>
          <a:ln/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17"/>
          <p:cNvSpPr/>
          <p:nvPr/>
        </p:nvSpPr>
        <p:spPr>
          <a:xfrm>
            <a:off x="7601407" y="2444200"/>
            <a:ext cx="4114800" cy="28706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18"/>
          <p:cNvSpPr txBox="1"/>
          <p:nvPr/>
        </p:nvSpPr>
        <p:spPr>
          <a:xfrm>
            <a:off x="7839151" y="2650605"/>
            <a:ext cx="3829507" cy="1708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kern="0" spc="38" dirty="0">
                <a:solidFill>
                  <a:srgbClr val="718096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순이익률 악화</a:t>
            </a:r>
            <a:endParaRPr lang="en-US" sz="1200" dirty="0"/>
          </a:p>
        </p:txBody>
      </p:sp>
      <p:sp>
        <p:nvSpPr>
          <p:cNvPr id="24" name="Text 19"/>
          <p:cNvSpPr txBox="1"/>
          <p:nvPr/>
        </p:nvSpPr>
        <p:spPr>
          <a:xfrm>
            <a:off x="7839151" y="2857011"/>
            <a:ext cx="1604772" cy="3847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003D5B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-12.5%p</a:t>
            </a:r>
            <a:endParaRPr lang="en-US" sz="2700" dirty="0"/>
          </a:p>
        </p:txBody>
      </p:sp>
      <p:sp>
        <p:nvSpPr>
          <p:cNvPr id="25" name="Shape 20"/>
          <p:cNvSpPr/>
          <p:nvPr/>
        </p:nvSpPr>
        <p:spPr>
          <a:xfrm>
            <a:off x="9453982" y="2999171"/>
            <a:ext cx="647395" cy="220758"/>
          </a:xfrm>
          <a:prstGeom prst="roundRect">
            <a:avLst>
              <a:gd name="adj" fmla="val 39948"/>
            </a:avLst>
          </a:prstGeom>
          <a:solidFill>
            <a:srgbClr val="FED7D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6"/>
          <a:srcRect l="-1773" r="-1773"/>
          <a:stretch/>
        </p:blipFill>
        <p:spPr>
          <a:xfrm>
            <a:off x="9529877" y="3051114"/>
            <a:ext cx="133502" cy="128491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9700870" y="3013524"/>
            <a:ext cx="400507" cy="1852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9B2C2C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하락</a:t>
            </a:r>
            <a:endParaRPr lang="en-US" sz="1300" dirty="0"/>
          </a:p>
        </p:txBody>
      </p:sp>
      <p:sp>
        <p:nvSpPr>
          <p:cNvPr id="28" name="Text 22"/>
          <p:cNvSpPr txBox="1"/>
          <p:nvPr/>
        </p:nvSpPr>
        <p:spPr>
          <a:xfrm>
            <a:off x="7839151" y="3298528"/>
            <a:ext cx="3753612" cy="1428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16.1% → 3.6% (수익성 구조 취약)</a:t>
            </a:r>
            <a:endParaRPr lang="en-US" sz="1000" dirty="0"/>
          </a:p>
        </p:txBody>
      </p:sp>
      <p:sp>
        <p:nvSpPr>
          <p:cNvPr id="30" name="Shape 23"/>
          <p:cNvSpPr/>
          <p:nvPr/>
        </p:nvSpPr>
        <p:spPr>
          <a:xfrm>
            <a:off x="7601407" y="5647588"/>
            <a:ext cx="4114800" cy="726521"/>
          </a:xfrm>
          <a:prstGeom prst="rect">
            <a:avLst/>
          </a:prstGeom>
          <a:solidFill>
            <a:srgbClr val="E6F6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1" name="Shape 24"/>
          <p:cNvSpPr/>
          <p:nvPr/>
        </p:nvSpPr>
        <p:spPr>
          <a:xfrm>
            <a:off x="7601407" y="5647246"/>
            <a:ext cx="38405" cy="726521"/>
          </a:xfrm>
          <a:prstGeom prst="rect">
            <a:avLst/>
          </a:prstGeom>
          <a:solidFill>
            <a:srgbClr val="00A8A8"/>
          </a:solidFill>
          <a:ln w="12700">
            <a:solidFill>
              <a:srgbClr val="00A8A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 25"/>
          <p:cNvSpPr txBox="1"/>
          <p:nvPr/>
        </p:nvSpPr>
        <p:spPr>
          <a:xfrm>
            <a:off x="7781544" y="5754209"/>
            <a:ext cx="3867912" cy="5125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6060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Insight:</a:t>
            </a:r>
            <a:r>
              <a:rPr lang="en-US" sz="1200" dirty="0">
                <a:solidFill>
                  <a:srgbClr val="006060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지난 12년간 매출은 24배 이상 폭발적으로 성장했으나, 잦은 적자 전환과 최근의 이익률 급락(3.6%)은 현재의 4계층 수직 구조가 한계에 봉착했음을 시사함.</a:t>
            </a:r>
            <a:endParaRPr lang="en-US" sz="1200" dirty="0"/>
          </a:p>
        </p:txBody>
      </p:sp>
      <p:sp>
        <p:nvSpPr>
          <p:cNvPr id="33" name="Shape 26"/>
          <p:cNvSpPr/>
          <p:nvPr/>
        </p:nvSpPr>
        <p:spPr>
          <a:xfrm>
            <a:off x="0" y="6722676"/>
            <a:ext cx="12191695" cy="13532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4" name="Shape 27"/>
          <p:cNvSpPr/>
          <p:nvPr/>
        </p:nvSpPr>
        <p:spPr>
          <a:xfrm>
            <a:off x="0" y="6722676"/>
            <a:ext cx="12191695" cy="6835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Text 28"/>
          <p:cNvSpPr txBox="1"/>
          <p:nvPr/>
        </p:nvSpPr>
        <p:spPr>
          <a:xfrm>
            <a:off x="476402" y="6729510"/>
            <a:ext cx="1750162" cy="121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718096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시앤피컨설팅 조직 재설계 전략</a:t>
            </a:r>
            <a:endParaRPr lang="en-US" sz="900" dirty="0"/>
          </a:p>
        </p:txBody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624611"/>
              </p:ext>
            </p:extLst>
          </p:nvPr>
        </p:nvGraphicFramePr>
        <p:xfrm>
          <a:off x="7601407" y="3710596"/>
          <a:ext cx="4114800" cy="1781252"/>
        </p:xfrm>
        <a:graphic>
          <a:graphicData uri="http://schemas.openxmlformats.org/drawingml/2006/table">
            <a:tbl>
              <a:tblPr/>
              <a:tblGrid>
                <a:gridCol w="6976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876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2946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4531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Noto Sans KR" pitchFamily="34" charset="-120"/>
                        </a:rPr>
                        <a:t>구분</a:t>
                      </a:r>
                      <a:endParaRPr lang="en-US" sz="1050" dirty="0">
                        <a:latin typeface="페이퍼로지 5 Medium" pitchFamily="2" charset="-127"/>
                        <a:ea typeface="페이퍼로지 5 Medium" pitchFamily="2" charset="-127"/>
                        <a:cs typeface="Noto Sans KR" charset="0"/>
                      </a:endParaRPr>
                    </a:p>
                  </a:txBody>
                  <a:tcPr marL="142646" marR="142646" marT="114300" marB="114300" anchor="ctr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D5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Noto Sans KR" pitchFamily="34" charset="-120"/>
                        </a:rPr>
                        <a:t>분석 내용</a:t>
                      </a:r>
                      <a:endParaRPr lang="en-US" sz="1050" dirty="0">
                        <a:latin typeface="페이퍼로지 5 Medium" pitchFamily="2" charset="-127"/>
                        <a:ea typeface="페이퍼로지 5 Medium" pitchFamily="2" charset="-127"/>
                        <a:cs typeface="Noto Sans KR" charset="0"/>
                      </a:endParaRPr>
                    </a:p>
                  </a:txBody>
                  <a:tcPr marL="142646" marR="142646" marT="114300" marB="114300" anchor="ctr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D5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Noto Sans KR" pitchFamily="34" charset="-120"/>
                        </a:rPr>
                        <a:t>시사점</a:t>
                      </a:r>
                      <a:endParaRPr lang="en-US" sz="1050" dirty="0">
                        <a:latin typeface="페이퍼로지 5 Medium" pitchFamily="2" charset="-127"/>
                        <a:ea typeface="페이퍼로지 5 Medium" pitchFamily="2" charset="-127"/>
                        <a:cs typeface="Noto Sans KR" charset="0"/>
                      </a:endParaRPr>
                    </a:p>
                  </a:txBody>
                  <a:tcPr marL="142646" marR="142646" marT="114300" marB="114300" anchor="ctr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D5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531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25" dirty="0">
                          <a:solidFill>
                            <a:srgbClr val="2D3748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Noto Sans KR" pitchFamily="34" charset="-120"/>
                        </a:rPr>
                        <a:t>성장성</a:t>
                      </a:r>
                      <a:endParaRPr lang="en-US" sz="1125" dirty="0">
                        <a:latin typeface="페이퍼로지 5 Medium" pitchFamily="2" charset="-127"/>
                        <a:ea typeface="페이퍼로지 5 Medium" pitchFamily="2" charset="-127"/>
                        <a:cs typeface="Noto Sans KR" charset="0"/>
                      </a:endParaRPr>
                    </a:p>
                  </a:txBody>
                  <a:tcPr marL="142646" marR="142646" marT="114300" marB="114300" anchor="ctr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25" dirty="0">
                          <a:solidFill>
                            <a:srgbClr val="2D3748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Noto Sans KR" pitchFamily="34" charset="-120"/>
                        </a:rPr>
                        <a:t>연평균 30%대 성장</a:t>
                      </a:r>
                      <a:endParaRPr lang="en-US" sz="1125" dirty="0">
                        <a:latin typeface="페이퍼로지 5 Medium" pitchFamily="2" charset="-127"/>
                        <a:ea typeface="페이퍼로지 5 Medium" pitchFamily="2" charset="-127"/>
                        <a:cs typeface="Noto Sans KR" charset="0"/>
                      </a:endParaRPr>
                    </a:p>
                  </a:txBody>
                  <a:tcPr marL="142646" marR="142646" marT="114300" marB="114300" anchor="ctr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25" dirty="0">
                          <a:solidFill>
                            <a:srgbClr val="2D3748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Noto Sans KR" pitchFamily="34" charset="-120"/>
                        </a:rPr>
                        <a:t>공격적 시장 확장 성공</a:t>
                      </a:r>
                      <a:endParaRPr lang="en-US" sz="1125" dirty="0">
                        <a:latin typeface="페이퍼로지 5 Medium" pitchFamily="2" charset="-127"/>
                        <a:ea typeface="페이퍼로지 5 Medium" pitchFamily="2" charset="-127"/>
                        <a:cs typeface="Noto Sans KR" charset="0"/>
                      </a:endParaRPr>
                    </a:p>
                  </a:txBody>
                  <a:tcPr marL="142646" marR="142646" marT="114300" marB="114300" anchor="ctr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531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25" dirty="0">
                          <a:solidFill>
                            <a:srgbClr val="2D3748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Noto Sans KR" pitchFamily="34" charset="-120"/>
                        </a:rPr>
                        <a:t>수익성</a:t>
                      </a:r>
                      <a:endParaRPr lang="en-US" sz="1125" dirty="0">
                        <a:latin typeface="페이퍼로지 5 Medium" pitchFamily="2" charset="-127"/>
                        <a:ea typeface="페이퍼로지 5 Medium" pitchFamily="2" charset="-127"/>
                        <a:cs typeface="Noto Sans KR" charset="0"/>
                      </a:endParaRPr>
                    </a:p>
                  </a:txBody>
                  <a:tcPr marL="142646" marR="142646" marT="114300" marB="114300" anchor="ctr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25" dirty="0">
                          <a:solidFill>
                            <a:srgbClr val="2D3748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Noto Sans KR" pitchFamily="34" charset="-120"/>
                        </a:rPr>
                        <a:t>3차례 적자 ('13,'16,'17)</a:t>
                      </a:r>
                      <a:endParaRPr lang="en-US" sz="1125" dirty="0">
                        <a:latin typeface="페이퍼로지 5 Medium" pitchFamily="2" charset="-127"/>
                        <a:ea typeface="페이퍼로지 5 Medium" pitchFamily="2" charset="-127"/>
                        <a:cs typeface="Noto Sans KR" charset="0"/>
                      </a:endParaRPr>
                    </a:p>
                  </a:txBody>
                  <a:tcPr marL="142646" marR="142646" marT="114300" marB="114300" anchor="ctr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25" dirty="0">
                          <a:solidFill>
                            <a:srgbClr val="2D3748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Noto Sans KR" pitchFamily="34" charset="-120"/>
                        </a:rPr>
                        <a:t>이익 변동성 매우 높음</a:t>
                      </a:r>
                      <a:endParaRPr lang="en-US" sz="1125" dirty="0">
                        <a:latin typeface="페이퍼로지 5 Medium" pitchFamily="2" charset="-127"/>
                        <a:ea typeface="페이퍼로지 5 Medium" pitchFamily="2" charset="-127"/>
                        <a:cs typeface="Noto Sans KR" charset="0"/>
                      </a:endParaRPr>
                    </a:p>
                  </a:txBody>
                  <a:tcPr marL="142646" marR="142646" marT="114300" marB="114300" anchor="ctr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531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25" dirty="0">
                          <a:solidFill>
                            <a:srgbClr val="2D3748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Noto Sans KR" pitchFamily="34" charset="-120"/>
                        </a:rPr>
                        <a:t>효율성</a:t>
                      </a:r>
                      <a:endParaRPr lang="en-US" sz="1125" dirty="0">
                        <a:latin typeface="페이퍼로지 5 Medium" pitchFamily="2" charset="-127"/>
                        <a:ea typeface="페이퍼로지 5 Medium" pitchFamily="2" charset="-127"/>
                        <a:cs typeface="Noto Sans KR" charset="0"/>
                      </a:endParaRPr>
                    </a:p>
                  </a:txBody>
                  <a:tcPr marL="142646" marR="142646" marT="114300" marB="114300" anchor="ctr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25" b="1" dirty="0">
                          <a:solidFill>
                            <a:srgbClr val="E63946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Noto Sans KR" pitchFamily="34" charset="-120"/>
                        </a:rPr>
                        <a:t>최근 이익률 저조</a:t>
                      </a:r>
                      <a:endParaRPr lang="en-US" sz="1125" dirty="0">
                        <a:latin typeface="페이퍼로지 5 Medium" pitchFamily="2" charset="-127"/>
                        <a:ea typeface="페이퍼로지 5 Medium" pitchFamily="2" charset="-127"/>
                        <a:cs typeface="Noto Sans KR" charset="0"/>
                      </a:endParaRPr>
                    </a:p>
                  </a:txBody>
                  <a:tcPr marL="142646" marR="142646" marT="114300" marB="114300" anchor="ctr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25" dirty="0">
                          <a:solidFill>
                            <a:srgbClr val="2D3748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Noto Sans KR" pitchFamily="34" charset="-120"/>
                        </a:rPr>
                        <a:t>규모의 비경제 발생</a:t>
                      </a:r>
                      <a:endParaRPr lang="en-US" sz="1125" dirty="0">
                        <a:latin typeface="페이퍼로지 5 Medium" pitchFamily="2" charset="-127"/>
                        <a:ea typeface="페이퍼로지 5 Medium" pitchFamily="2" charset="-127"/>
                        <a:cs typeface="Noto Sans KR" charset="0"/>
                      </a:endParaRPr>
                    </a:p>
                  </a:txBody>
                  <a:tcPr marL="142646" marR="142646" marT="114300" marB="114300" anchor="ctr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952805"/>
          </a:xfrm>
          <a:prstGeom prst="rect">
            <a:avLst/>
          </a:prstGeom>
          <a:solidFill>
            <a:srgbClr val="003D5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476402" y="504749"/>
            <a:ext cx="476402" cy="38405"/>
          </a:xfrm>
          <a:prstGeom prst="rect">
            <a:avLst/>
          </a:prstGeom>
          <a:solidFill>
            <a:srgbClr val="00A8A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1143000" y="341071"/>
            <a:ext cx="7436815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b="1" kern="0" spc="-37" dirty="0">
                <a:solidFill>
                  <a:srgbClr val="FFFFFF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성장 정체의 핵심 원인: 상황요인-조직설계 부적합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0" y="952805"/>
            <a:ext cx="12191695" cy="5429707"/>
          </a:xfrm>
          <a:prstGeom prst="rect">
            <a:avLst/>
          </a:prstGeom>
          <a:solidFill>
            <a:srgbClr val="F5F7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476402" y="1333195"/>
            <a:ext cx="3562502" cy="4667098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476402" y="1333195"/>
            <a:ext cx="3562502" cy="57607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714146" y="2162556"/>
            <a:ext cx="3086100" cy="9144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 txBox="1"/>
          <p:nvPr/>
        </p:nvSpPr>
        <p:spPr>
          <a:xfrm>
            <a:off x="714146" y="1676095"/>
            <a:ext cx="121981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E63946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PROBLEM</a:t>
            </a:r>
            <a:endParaRPr lang="en-US" sz="1800" dirty="0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>
            <a:alphaModFix amt="80000"/>
          </a:blip>
          <a:srcRect/>
          <a:stretch/>
        </p:blipFill>
        <p:spPr>
          <a:xfrm>
            <a:off x="3565246" y="1733702"/>
            <a:ext cx="228600" cy="228600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714146" y="2505456"/>
            <a:ext cx="75895" cy="75895"/>
          </a:xfrm>
          <a:prstGeom prst="ellipse">
            <a:avLst/>
          </a:prstGeom>
          <a:solidFill>
            <a:srgbClr val="E6394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0"/>
          <p:cNvSpPr txBox="1"/>
          <p:nvPr/>
        </p:nvSpPr>
        <p:spPr>
          <a:xfrm>
            <a:off x="905256" y="2409444"/>
            <a:ext cx="1655064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4A5568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매출 급성장(93%↑)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905256" y="2643073"/>
            <a:ext cx="2775204" cy="5056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4A5568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대비 수익성은 14.6%p 대폭 하락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714146" y="3191256"/>
            <a:ext cx="75895" cy="75895"/>
          </a:xfrm>
          <a:prstGeom prst="ellipse">
            <a:avLst/>
          </a:prstGeom>
          <a:solidFill>
            <a:srgbClr val="E6394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3"/>
          <p:cNvSpPr txBox="1"/>
          <p:nvPr/>
        </p:nvSpPr>
        <p:spPr>
          <a:xfrm>
            <a:off x="905256" y="3095244"/>
            <a:ext cx="3086100" cy="5056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4A5568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순이익률 급락: 18.2%(2019) → 3.6%(2024)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714146" y="3877056"/>
            <a:ext cx="75895" cy="75895"/>
          </a:xfrm>
          <a:prstGeom prst="ellipse">
            <a:avLst/>
          </a:prstGeom>
          <a:solidFill>
            <a:srgbClr val="E6394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5"/>
          <p:cNvSpPr txBox="1"/>
          <p:nvPr/>
        </p:nvSpPr>
        <p:spPr>
          <a:xfrm>
            <a:off x="905256" y="3781044"/>
            <a:ext cx="3935578" cy="5056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4A5568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경직된 4계층 수직구조가 성장의 병목으로 작용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714146" y="4562856"/>
            <a:ext cx="75895" cy="75895"/>
          </a:xfrm>
          <a:prstGeom prst="ellipse">
            <a:avLst/>
          </a:prstGeom>
          <a:solidFill>
            <a:srgbClr val="E6394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7"/>
          <p:cNvSpPr txBox="1"/>
          <p:nvPr/>
        </p:nvSpPr>
        <p:spPr>
          <a:xfrm>
            <a:off x="905256" y="4466844"/>
            <a:ext cx="4059022" cy="5056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4A5568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부서 간 사일로(Silo) 현상으로 자원 낭비 심화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4317797" y="1333195"/>
            <a:ext cx="3562502" cy="4667098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19"/>
          <p:cNvSpPr/>
          <p:nvPr/>
        </p:nvSpPr>
        <p:spPr>
          <a:xfrm>
            <a:off x="4317797" y="1333195"/>
            <a:ext cx="3562502" cy="57607"/>
          </a:xfrm>
          <a:prstGeom prst="rect">
            <a:avLst/>
          </a:prstGeom>
          <a:solidFill>
            <a:srgbClr val="003D5B"/>
          </a:solidFill>
          <a:ln w="12700">
            <a:solidFill>
              <a:srgbClr val="003D5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0"/>
          <p:cNvSpPr/>
          <p:nvPr/>
        </p:nvSpPr>
        <p:spPr>
          <a:xfrm>
            <a:off x="4556455" y="2162556"/>
            <a:ext cx="3086100" cy="9144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1"/>
          <p:cNvSpPr txBox="1"/>
          <p:nvPr/>
        </p:nvSpPr>
        <p:spPr>
          <a:xfrm>
            <a:off x="4556455" y="1676095"/>
            <a:ext cx="1047902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3D5B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INSIGHT</a:t>
            </a:r>
            <a:endParaRPr lang="en-US" sz="1800" dirty="0"/>
          </a:p>
        </p:txBody>
      </p:sp>
      <p:pic>
        <p:nvPicPr>
          <p:cNvPr id="25" name="Image 1" descr="preencoded.png"/>
          <p:cNvPicPr>
            <a:picLocks noChangeAspect="1"/>
          </p:cNvPicPr>
          <p:nvPr/>
        </p:nvPicPr>
        <p:blipFill>
          <a:blip r:embed="rId4">
            <a:alphaModFix amt="80000"/>
          </a:blip>
          <a:srcRect l="-133" r="-133"/>
          <a:stretch/>
        </p:blipFill>
        <p:spPr>
          <a:xfrm>
            <a:off x="7464247" y="1733702"/>
            <a:ext cx="171907" cy="228600"/>
          </a:xfrm>
          <a:prstGeom prst="rect">
            <a:avLst/>
          </a:prstGeom>
        </p:spPr>
      </p:pic>
      <p:sp>
        <p:nvSpPr>
          <p:cNvPr id="26" name="Shape 22"/>
          <p:cNvSpPr/>
          <p:nvPr/>
        </p:nvSpPr>
        <p:spPr>
          <a:xfrm>
            <a:off x="4556455" y="2505456"/>
            <a:ext cx="75895" cy="75895"/>
          </a:xfrm>
          <a:prstGeom prst="ellipse">
            <a:avLst/>
          </a:prstGeom>
          <a:solidFill>
            <a:srgbClr val="003D5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3"/>
          <p:cNvSpPr txBox="1"/>
          <p:nvPr/>
        </p:nvSpPr>
        <p:spPr>
          <a:xfrm>
            <a:off x="4746650" y="2409444"/>
            <a:ext cx="2944369" cy="5056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4A5568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수직적 계층 구조가 급변하는 외부 환경에 미적응</a:t>
            </a:r>
            <a:endParaRPr lang="en-US" sz="1300" dirty="0"/>
          </a:p>
        </p:txBody>
      </p:sp>
      <p:sp>
        <p:nvSpPr>
          <p:cNvPr id="28" name="Shape 24"/>
          <p:cNvSpPr/>
          <p:nvPr/>
        </p:nvSpPr>
        <p:spPr>
          <a:xfrm>
            <a:off x="4556455" y="3191256"/>
            <a:ext cx="75895" cy="75895"/>
          </a:xfrm>
          <a:prstGeom prst="ellipse">
            <a:avLst/>
          </a:prstGeom>
          <a:solidFill>
            <a:srgbClr val="003D5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5"/>
          <p:cNvSpPr txBox="1"/>
          <p:nvPr/>
        </p:nvSpPr>
        <p:spPr>
          <a:xfrm>
            <a:off x="4746650" y="3095244"/>
            <a:ext cx="2393449" cy="5056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4A5568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권한 집중(Centralization)으로 인한 의사결정 지연 발생</a:t>
            </a:r>
            <a:endParaRPr lang="en-US" sz="1300" dirty="0"/>
          </a:p>
        </p:txBody>
      </p:sp>
      <p:sp>
        <p:nvSpPr>
          <p:cNvPr id="30" name="Shape 26"/>
          <p:cNvSpPr/>
          <p:nvPr/>
        </p:nvSpPr>
        <p:spPr>
          <a:xfrm>
            <a:off x="4556455" y="3877056"/>
            <a:ext cx="75895" cy="75895"/>
          </a:xfrm>
          <a:prstGeom prst="ellipse">
            <a:avLst/>
          </a:prstGeom>
          <a:solidFill>
            <a:srgbClr val="003D5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7"/>
          <p:cNvSpPr txBox="1"/>
          <p:nvPr/>
        </p:nvSpPr>
        <p:spPr>
          <a:xfrm>
            <a:off x="4746650" y="3781044"/>
            <a:ext cx="3873398" cy="5056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4A5568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전문가 역량 관리 및 지식 자산화 시스템 부재</a:t>
            </a:r>
            <a:endParaRPr lang="en-US" sz="1300" dirty="0"/>
          </a:p>
        </p:txBody>
      </p:sp>
      <p:sp>
        <p:nvSpPr>
          <p:cNvPr id="32" name="Shape 28"/>
          <p:cNvSpPr/>
          <p:nvPr/>
        </p:nvSpPr>
        <p:spPr>
          <a:xfrm>
            <a:off x="4556455" y="4562856"/>
            <a:ext cx="75895" cy="75895"/>
          </a:xfrm>
          <a:prstGeom prst="ellipse">
            <a:avLst/>
          </a:prstGeom>
          <a:solidFill>
            <a:srgbClr val="003D5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Text 29"/>
          <p:cNvSpPr txBox="1"/>
          <p:nvPr/>
        </p:nvSpPr>
        <p:spPr>
          <a:xfrm>
            <a:off x="4746650" y="4466844"/>
            <a:ext cx="3719779" cy="5056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4A5568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상황요인(규모/기술)과 조직구조 간 불일치</a:t>
            </a:r>
            <a:endParaRPr lang="en-US" sz="1300" dirty="0"/>
          </a:p>
        </p:txBody>
      </p:sp>
      <p:sp>
        <p:nvSpPr>
          <p:cNvPr id="34" name="Text 30"/>
          <p:cNvSpPr txBox="1"/>
          <p:nvPr/>
        </p:nvSpPr>
        <p:spPr>
          <a:xfrm>
            <a:off x="4903927" y="4724705"/>
            <a:ext cx="400507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4A5568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심화</a:t>
            </a:r>
            <a:endParaRPr lang="en-US" sz="1300" dirty="0"/>
          </a:p>
        </p:txBody>
      </p:sp>
      <p:sp>
        <p:nvSpPr>
          <p:cNvPr id="35" name="Shape 31"/>
          <p:cNvSpPr/>
          <p:nvPr/>
        </p:nvSpPr>
        <p:spPr>
          <a:xfrm>
            <a:off x="8160106" y="1333195"/>
            <a:ext cx="3562502" cy="4667098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6" name="Shape 32"/>
          <p:cNvSpPr/>
          <p:nvPr/>
        </p:nvSpPr>
        <p:spPr>
          <a:xfrm>
            <a:off x="8160106" y="1333195"/>
            <a:ext cx="3562502" cy="57607"/>
          </a:xfrm>
          <a:prstGeom prst="rect">
            <a:avLst/>
          </a:prstGeom>
          <a:solidFill>
            <a:srgbClr val="00A8A8"/>
          </a:solidFill>
          <a:ln w="12700">
            <a:solidFill>
              <a:srgbClr val="00A8A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Shape 33"/>
          <p:cNvSpPr/>
          <p:nvPr/>
        </p:nvSpPr>
        <p:spPr>
          <a:xfrm>
            <a:off x="8397850" y="2162556"/>
            <a:ext cx="3086100" cy="9144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Text 34"/>
          <p:cNvSpPr txBox="1"/>
          <p:nvPr/>
        </p:nvSpPr>
        <p:spPr>
          <a:xfrm>
            <a:off x="8397850" y="1676095"/>
            <a:ext cx="1286561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A8A8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SOLUTION</a:t>
            </a:r>
            <a:endParaRPr lang="en-US" sz="1800" dirty="0"/>
          </a:p>
        </p:txBody>
      </p:sp>
      <p:pic>
        <p:nvPicPr>
          <p:cNvPr id="39" name="Image 2" descr="preencoded.png"/>
          <p:cNvPicPr>
            <a:picLocks noChangeAspect="1"/>
          </p:cNvPicPr>
          <p:nvPr/>
        </p:nvPicPr>
        <p:blipFill>
          <a:blip r:embed="rId5">
            <a:alphaModFix amt="80000"/>
          </a:blip>
          <a:srcRect/>
          <a:stretch/>
        </p:blipFill>
        <p:spPr>
          <a:xfrm>
            <a:off x="11248949" y="1733702"/>
            <a:ext cx="228600" cy="228600"/>
          </a:xfrm>
          <a:prstGeom prst="rect">
            <a:avLst/>
          </a:prstGeom>
        </p:spPr>
      </p:pic>
      <p:sp>
        <p:nvSpPr>
          <p:cNvPr id="40" name="Shape 35"/>
          <p:cNvSpPr/>
          <p:nvPr/>
        </p:nvSpPr>
        <p:spPr>
          <a:xfrm>
            <a:off x="8397850" y="2505456"/>
            <a:ext cx="75895" cy="75895"/>
          </a:xfrm>
          <a:prstGeom prst="ellipse">
            <a:avLst/>
          </a:prstGeom>
          <a:solidFill>
            <a:srgbClr val="00A8A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Text 36"/>
          <p:cNvSpPr txBox="1"/>
          <p:nvPr/>
        </p:nvSpPr>
        <p:spPr>
          <a:xfrm>
            <a:off x="8588045" y="2409444"/>
            <a:ext cx="163311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4A5568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3계층 Matrix 조직</a:t>
            </a:r>
            <a:endParaRPr lang="en-US" sz="1300" dirty="0"/>
          </a:p>
        </p:txBody>
      </p:sp>
      <p:sp>
        <p:nvSpPr>
          <p:cNvPr id="42" name="Text 37"/>
          <p:cNvSpPr txBox="1"/>
          <p:nvPr/>
        </p:nvSpPr>
        <p:spPr>
          <a:xfrm>
            <a:off x="8588045" y="2643073"/>
            <a:ext cx="2924251" cy="5056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4A5568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도입으로 유연성 및 전문성 확보</a:t>
            </a:r>
            <a:endParaRPr lang="en-US" sz="1300" dirty="0"/>
          </a:p>
        </p:txBody>
      </p:sp>
      <p:sp>
        <p:nvSpPr>
          <p:cNvPr id="43" name="Shape 38"/>
          <p:cNvSpPr/>
          <p:nvPr/>
        </p:nvSpPr>
        <p:spPr>
          <a:xfrm>
            <a:off x="8397850" y="3191256"/>
            <a:ext cx="75895" cy="75895"/>
          </a:xfrm>
          <a:prstGeom prst="ellipse">
            <a:avLst/>
          </a:prstGeom>
          <a:solidFill>
            <a:srgbClr val="00A8A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Text 39"/>
          <p:cNvSpPr txBox="1"/>
          <p:nvPr/>
        </p:nvSpPr>
        <p:spPr>
          <a:xfrm>
            <a:off x="8588045" y="3095244"/>
            <a:ext cx="1963217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4A5568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PM (</a:t>
            </a:r>
            <a:r>
              <a:rPr lang="en-US" sz="1300" b="1" dirty="0" err="1">
                <a:solidFill>
                  <a:srgbClr val="4A5568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사업관리</a:t>
            </a:r>
            <a:r>
              <a:rPr lang="en-US" sz="1300" b="1" dirty="0">
                <a:solidFill>
                  <a:srgbClr val="4A5568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) </a:t>
            </a:r>
            <a:r>
              <a:rPr lang="ko-KR" altLang="en-US" sz="1300" b="1" dirty="0">
                <a:solidFill>
                  <a:srgbClr val="4A5568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기능 신설</a:t>
            </a:r>
            <a:endParaRPr lang="en-US" sz="1300" dirty="0"/>
          </a:p>
        </p:txBody>
      </p:sp>
      <p:sp>
        <p:nvSpPr>
          <p:cNvPr id="45" name="Text 40"/>
          <p:cNvSpPr txBox="1"/>
          <p:nvPr/>
        </p:nvSpPr>
        <p:spPr>
          <a:xfrm>
            <a:off x="8588045" y="3328873"/>
            <a:ext cx="2962656" cy="5056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 err="1">
                <a:solidFill>
                  <a:srgbClr val="4A5568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프로젝트</a:t>
            </a:r>
            <a:r>
              <a:rPr lang="en-US" sz="1300" dirty="0">
                <a:solidFill>
                  <a:srgbClr val="4A5568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 통합 관리</a:t>
            </a:r>
            <a:endParaRPr lang="en-US" sz="1300" dirty="0"/>
          </a:p>
        </p:txBody>
      </p:sp>
      <p:sp>
        <p:nvSpPr>
          <p:cNvPr id="46" name="Shape 41"/>
          <p:cNvSpPr/>
          <p:nvPr/>
        </p:nvSpPr>
        <p:spPr>
          <a:xfrm>
            <a:off x="8397850" y="3877056"/>
            <a:ext cx="75895" cy="75895"/>
          </a:xfrm>
          <a:prstGeom prst="ellipse">
            <a:avLst/>
          </a:prstGeom>
          <a:solidFill>
            <a:srgbClr val="00A8A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7" name="Text 42"/>
          <p:cNvSpPr txBox="1"/>
          <p:nvPr/>
        </p:nvSpPr>
        <p:spPr>
          <a:xfrm>
            <a:off x="8588045" y="3781044"/>
            <a:ext cx="55321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4A5568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과감한</a:t>
            </a:r>
            <a:endParaRPr lang="en-US" sz="1300" dirty="0"/>
          </a:p>
        </p:txBody>
      </p:sp>
      <p:sp>
        <p:nvSpPr>
          <p:cNvPr id="48" name="Text 43"/>
          <p:cNvSpPr txBox="1"/>
          <p:nvPr/>
        </p:nvSpPr>
        <p:spPr>
          <a:xfrm>
            <a:off x="9061704" y="3781044"/>
            <a:ext cx="236921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4A5568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분권화(Decentralization)</a:t>
            </a:r>
            <a:endParaRPr lang="en-US" sz="1300" dirty="0"/>
          </a:p>
        </p:txBody>
      </p:sp>
      <p:sp>
        <p:nvSpPr>
          <p:cNvPr id="49" name="Text 44"/>
          <p:cNvSpPr txBox="1"/>
          <p:nvPr/>
        </p:nvSpPr>
        <p:spPr>
          <a:xfrm>
            <a:off x="8588045" y="4014673"/>
            <a:ext cx="3020263" cy="5056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4A5568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및 수평적 문화 구축</a:t>
            </a:r>
            <a:endParaRPr lang="en-US" sz="1300" dirty="0"/>
          </a:p>
        </p:txBody>
      </p:sp>
      <p:sp>
        <p:nvSpPr>
          <p:cNvPr id="50" name="Shape 45"/>
          <p:cNvSpPr/>
          <p:nvPr/>
        </p:nvSpPr>
        <p:spPr>
          <a:xfrm>
            <a:off x="8397850" y="4562856"/>
            <a:ext cx="75895" cy="75895"/>
          </a:xfrm>
          <a:prstGeom prst="ellipse">
            <a:avLst/>
          </a:prstGeom>
          <a:solidFill>
            <a:srgbClr val="00A8A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1" name="Text 46"/>
          <p:cNvSpPr txBox="1"/>
          <p:nvPr/>
        </p:nvSpPr>
        <p:spPr>
          <a:xfrm>
            <a:off x="8588045" y="4466844"/>
            <a:ext cx="2698699" cy="5056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4A5568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지식경영 체계(Knowledge Center) 도입으로 수익성 개선</a:t>
            </a:r>
            <a:endParaRPr lang="en-US" sz="1300" dirty="0"/>
          </a:p>
        </p:txBody>
      </p:sp>
      <p:sp>
        <p:nvSpPr>
          <p:cNvPr id="52" name="Shape 47"/>
          <p:cNvSpPr/>
          <p:nvPr/>
        </p:nvSpPr>
        <p:spPr>
          <a:xfrm>
            <a:off x="0" y="6381598"/>
            <a:ext cx="12191695" cy="47640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3" name="Shape 48"/>
          <p:cNvSpPr/>
          <p:nvPr/>
        </p:nvSpPr>
        <p:spPr>
          <a:xfrm>
            <a:off x="0" y="6381598"/>
            <a:ext cx="12191695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4" name="Text 49"/>
          <p:cNvSpPr txBox="1"/>
          <p:nvPr/>
        </p:nvSpPr>
        <p:spPr>
          <a:xfrm>
            <a:off x="476402" y="6538874"/>
            <a:ext cx="175016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718096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시앤피컨설팅 조직 재설계 전략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0F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1695" cy="857707"/>
          </a:xfrm>
          <a:prstGeom prst="rect">
            <a:avLst/>
          </a:prstGeom>
          <a:solidFill>
            <a:srgbClr val="003D5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476402" y="454457"/>
            <a:ext cx="476402" cy="38405"/>
          </a:xfrm>
          <a:prstGeom prst="rect">
            <a:avLst/>
          </a:prstGeom>
          <a:solidFill>
            <a:srgbClr val="00A8A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 txBox="1"/>
          <p:nvPr/>
        </p:nvSpPr>
        <p:spPr>
          <a:xfrm>
            <a:off x="1143000" y="290779"/>
            <a:ext cx="4730191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b="1" kern="0" spc="-37" dirty="0">
                <a:solidFill>
                  <a:srgbClr val="FFFFFF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상황요인이 조직설계를 결정한다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0" y="851306"/>
            <a:ext cx="12191695" cy="5629046"/>
          </a:xfrm>
          <a:prstGeom prst="rect">
            <a:avLst/>
          </a:prstGeom>
          <a:solidFill>
            <a:srgbClr val="F5F7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 txBox="1"/>
          <p:nvPr/>
        </p:nvSpPr>
        <p:spPr>
          <a:xfrm>
            <a:off x="4867351" y="1137514"/>
            <a:ext cx="268467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kern="0" spc="75" dirty="0">
                <a:solidFill>
                  <a:srgbClr val="718096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CONTINGENCY FACTORS (상황요인)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077102" y="3051353"/>
            <a:ext cx="38405" cy="761695"/>
          </a:xfrm>
          <a:prstGeom prst="rect">
            <a:avLst/>
          </a:prstGeom>
          <a:solidFill>
            <a:srgbClr val="CBD5E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 txBox="1"/>
          <p:nvPr/>
        </p:nvSpPr>
        <p:spPr>
          <a:xfrm>
            <a:off x="5607101" y="3285439"/>
            <a:ext cx="1057961" cy="295351"/>
          </a:xfrm>
          <a:prstGeom prst="rect">
            <a:avLst/>
          </a:prstGeom>
          <a:solidFill>
            <a:srgbClr val="F5F7FA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718096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Determinants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600200" y="3909060"/>
            <a:ext cx="8991295" cy="1457554"/>
          </a:xfrm>
          <a:prstGeom prst="roundRect">
            <a:avLst>
              <a:gd name="adj" fmla="val 4920"/>
            </a:avLst>
          </a:prstGeom>
          <a:solidFill>
            <a:srgbClr val="FFFFFF"/>
          </a:solidFill>
          <a:ln w="50800">
            <a:solidFill>
              <a:srgbClr val="003D5B"/>
            </a:solidFill>
            <a:prstDash val="solid"/>
          </a:ln>
          <a:effectLst>
            <a:outerShdw blurRad="139700" dist="1016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3145536" y="3794760"/>
            <a:ext cx="5905195" cy="3429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 txBox="1"/>
          <p:nvPr/>
        </p:nvSpPr>
        <p:spPr>
          <a:xfrm>
            <a:off x="3335731" y="3794760"/>
            <a:ext cx="6013094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kern="0" spc="75" dirty="0">
                <a:solidFill>
                  <a:srgbClr val="003D5B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조직구조와 조직설계 (ORGANIZATIONAL DESIGN)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2132381" y="4232758"/>
            <a:ext cx="3762756" cy="809244"/>
          </a:xfrm>
          <a:prstGeom prst="roundRect">
            <a:avLst>
              <a:gd name="adj" fmla="val 10635"/>
            </a:avLst>
          </a:prstGeom>
          <a:solidFill>
            <a:srgbClr val="F7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 txBox="1"/>
          <p:nvPr/>
        </p:nvSpPr>
        <p:spPr>
          <a:xfrm>
            <a:off x="3023921" y="4385462"/>
            <a:ext cx="197236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D3748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구조적 차원 (Structural)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2285086" y="4689958"/>
            <a:ext cx="345826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18096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공식화, 전문화, 계층, 통제범위, 집권화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304788" y="4232758"/>
            <a:ext cx="3762756" cy="809244"/>
          </a:xfrm>
          <a:prstGeom prst="roundRect">
            <a:avLst>
              <a:gd name="adj" fmla="val 10635"/>
            </a:avLst>
          </a:prstGeom>
          <a:solidFill>
            <a:srgbClr val="F7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 txBox="1"/>
          <p:nvPr/>
        </p:nvSpPr>
        <p:spPr>
          <a:xfrm>
            <a:off x="7157923" y="4385462"/>
            <a:ext cx="205191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D3748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맥락적 차원 (Contextual)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6457493" y="4689958"/>
            <a:ext cx="345826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18096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조직의 목표, 효율성 vs 학습, 혁신성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1037844" y="5651906"/>
            <a:ext cx="10116007" cy="543154"/>
          </a:xfrm>
          <a:prstGeom prst="rect">
            <a:avLst/>
          </a:prstGeom>
          <a:solidFill>
            <a:srgbClr val="E6F6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9"/>
          <p:cNvSpPr/>
          <p:nvPr/>
        </p:nvSpPr>
        <p:spPr>
          <a:xfrm>
            <a:off x="1037844" y="5651906"/>
            <a:ext cx="57607" cy="543154"/>
          </a:xfrm>
          <a:prstGeom prst="rect">
            <a:avLst/>
          </a:prstGeom>
          <a:solidFill>
            <a:srgbClr val="00A8A8"/>
          </a:solidFill>
          <a:ln w="12700">
            <a:solidFill>
              <a:srgbClr val="00A8A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 txBox="1"/>
          <p:nvPr/>
        </p:nvSpPr>
        <p:spPr>
          <a:xfrm>
            <a:off x="2405786" y="5651906"/>
            <a:ext cx="4782312" cy="5431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6060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상황요인에 적합하도록 조직설계의 특성을 올바르게 결합하여 구성</a:t>
            </a:r>
            <a:endParaRPr lang="en-US" sz="1300" dirty="0"/>
          </a:p>
        </p:txBody>
      </p:sp>
      <p:pic>
        <p:nvPicPr>
          <p:cNvPr id="23" name="Image 0" descr="preencoded.png"/>
          <p:cNvPicPr>
            <a:picLocks noChangeAspect="1"/>
          </p:cNvPicPr>
          <p:nvPr/>
        </p:nvPicPr>
        <p:blipFill>
          <a:blip r:embed="rId3"/>
          <a:srcRect t="-43" b="-43"/>
          <a:stretch/>
        </p:blipFill>
        <p:spPr>
          <a:xfrm>
            <a:off x="7291426" y="5847588"/>
            <a:ext cx="133502" cy="152705"/>
          </a:xfrm>
          <a:prstGeom prst="rect">
            <a:avLst/>
          </a:prstGeom>
        </p:spPr>
      </p:pic>
      <p:sp>
        <p:nvSpPr>
          <p:cNvPr id="24" name="Text 21"/>
          <p:cNvSpPr txBox="1"/>
          <p:nvPr/>
        </p:nvSpPr>
        <p:spPr>
          <a:xfrm>
            <a:off x="7529170" y="5651906"/>
            <a:ext cx="2315261" cy="5431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6060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조직 성과(Performance) 향상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0" y="6480353"/>
            <a:ext cx="12191695" cy="38130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3"/>
          <p:cNvSpPr/>
          <p:nvPr/>
        </p:nvSpPr>
        <p:spPr>
          <a:xfrm>
            <a:off x="0" y="6480353"/>
            <a:ext cx="12191695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4"/>
          <p:cNvSpPr txBox="1"/>
          <p:nvPr/>
        </p:nvSpPr>
        <p:spPr>
          <a:xfrm>
            <a:off x="476402" y="6588252"/>
            <a:ext cx="175016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718096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시앤피컨설팅 조직 재설계 전략</a:t>
            </a:r>
            <a:endParaRPr lang="en-US" sz="900" dirty="0"/>
          </a:p>
        </p:txBody>
      </p:sp>
      <p:sp>
        <p:nvSpPr>
          <p:cNvPr id="29" name="Shape 26"/>
          <p:cNvSpPr/>
          <p:nvPr/>
        </p:nvSpPr>
        <p:spPr>
          <a:xfrm>
            <a:off x="1429207" y="1432865"/>
            <a:ext cx="1714500" cy="1333195"/>
          </a:xfrm>
          <a:prstGeom prst="roundRect">
            <a:avLst>
              <a:gd name="adj" fmla="val 5879"/>
            </a:avLst>
          </a:prstGeom>
          <a:solidFill>
            <a:srgbClr val="003D5B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01600" dist="635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7"/>
          <p:cNvSpPr txBox="1"/>
          <p:nvPr/>
        </p:nvSpPr>
        <p:spPr>
          <a:xfrm>
            <a:off x="1789481" y="2041855"/>
            <a:ext cx="997610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전략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(Strategy)</a:t>
            </a:r>
            <a:endParaRPr lang="en-US" sz="1300" dirty="0"/>
          </a:p>
        </p:txBody>
      </p:sp>
      <p:pic>
        <p:nvPicPr>
          <p:cNvPr id="31" name="Image 1" descr="preencoded.png"/>
          <p:cNvPicPr>
            <a:picLocks noChangeAspect="1"/>
          </p:cNvPicPr>
          <p:nvPr/>
        </p:nvPicPr>
        <p:blipFill>
          <a:blip r:embed="rId4">
            <a:alphaModFix amt="90000"/>
          </a:blip>
          <a:srcRect l="-107" r="-107"/>
          <a:stretch/>
        </p:blipFill>
        <p:spPr>
          <a:xfrm>
            <a:off x="2152498" y="1642262"/>
            <a:ext cx="267005" cy="304495"/>
          </a:xfrm>
          <a:prstGeom prst="rect">
            <a:avLst/>
          </a:prstGeom>
        </p:spPr>
      </p:pic>
      <p:sp>
        <p:nvSpPr>
          <p:cNvPr id="32" name="Shape 28"/>
          <p:cNvSpPr/>
          <p:nvPr/>
        </p:nvSpPr>
        <p:spPr>
          <a:xfrm>
            <a:off x="3047695" y="2004365"/>
            <a:ext cx="190195" cy="190195"/>
          </a:xfrm>
          <a:prstGeom prst="ellipse">
            <a:avLst/>
          </a:prstGeom>
          <a:solidFill>
            <a:srgbClr val="003D5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Shape 29"/>
          <p:cNvSpPr/>
          <p:nvPr/>
        </p:nvSpPr>
        <p:spPr>
          <a:xfrm>
            <a:off x="3333902" y="1432865"/>
            <a:ext cx="1714500" cy="1333195"/>
          </a:xfrm>
          <a:prstGeom prst="roundRect">
            <a:avLst>
              <a:gd name="adj" fmla="val 5879"/>
            </a:avLst>
          </a:prstGeom>
          <a:solidFill>
            <a:srgbClr val="00A8A8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01600" dist="635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4" name="Text 30"/>
          <p:cNvSpPr txBox="1"/>
          <p:nvPr/>
        </p:nvSpPr>
        <p:spPr>
          <a:xfrm>
            <a:off x="3457346" y="2041855"/>
            <a:ext cx="1474013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환경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(Environment)</a:t>
            </a:r>
            <a:endParaRPr lang="en-US" sz="1300" dirty="0"/>
          </a:p>
        </p:txBody>
      </p:sp>
      <p:pic>
        <p:nvPicPr>
          <p:cNvPr id="35" name="Image 2" descr="preencoded.png"/>
          <p:cNvPicPr>
            <a:picLocks noChangeAspect="1"/>
          </p:cNvPicPr>
          <p:nvPr/>
        </p:nvPicPr>
        <p:blipFill>
          <a:blip r:embed="rId5">
            <a:alphaModFix amt="90000"/>
          </a:blip>
          <a:srcRect/>
          <a:stretch/>
        </p:blipFill>
        <p:spPr>
          <a:xfrm>
            <a:off x="4038905" y="1642262"/>
            <a:ext cx="304495" cy="304495"/>
          </a:xfrm>
          <a:prstGeom prst="rect">
            <a:avLst/>
          </a:prstGeom>
        </p:spPr>
      </p:pic>
      <p:sp>
        <p:nvSpPr>
          <p:cNvPr id="36" name="Shape 31"/>
          <p:cNvSpPr/>
          <p:nvPr/>
        </p:nvSpPr>
        <p:spPr>
          <a:xfrm>
            <a:off x="3238805" y="2004365"/>
            <a:ext cx="190195" cy="190195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Shape 32"/>
          <p:cNvSpPr/>
          <p:nvPr/>
        </p:nvSpPr>
        <p:spPr>
          <a:xfrm>
            <a:off x="4953305" y="2004365"/>
            <a:ext cx="190195" cy="190195"/>
          </a:xfrm>
          <a:prstGeom prst="ellipse">
            <a:avLst/>
          </a:prstGeom>
          <a:solidFill>
            <a:srgbClr val="00A8A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Shape 33"/>
          <p:cNvSpPr/>
          <p:nvPr/>
        </p:nvSpPr>
        <p:spPr>
          <a:xfrm>
            <a:off x="5238598" y="1432865"/>
            <a:ext cx="1714500" cy="1333195"/>
          </a:xfrm>
          <a:prstGeom prst="roundRect">
            <a:avLst>
              <a:gd name="adj" fmla="val 5879"/>
            </a:avLst>
          </a:prstGeom>
          <a:solidFill>
            <a:srgbClr val="718096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01600" dist="635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9" name="Text 34"/>
          <p:cNvSpPr txBox="1"/>
          <p:nvPr/>
        </p:nvSpPr>
        <p:spPr>
          <a:xfrm>
            <a:off x="5440680" y="2041855"/>
            <a:ext cx="1314907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기술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(Technology)</a:t>
            </a:r>
            <a:endParaRPr lang="en-US" sz="1300" dirty="0"/>
          </a:p>
        </p:txBody>
      </p:sp>
      <p:pic>
        <p:nvPicPr>
          <p:cNvPr id="40" name="Image 3" descr="preencoded.png"/>
          <p:cNvPicPr>
            <a:picLocks noChangeAspect="1"/>
          </p:cNvPicPr>
          <p:nvPr/>
        </p:nvPicPr>
        <p:blipFill>
          <a:blip r:embed="rId6">
            <a:alphaModFix amt="90000"/>
          </a:blip>
          <a:srcRect/>
          <a:stretch/>
        </p:blipFill>
        <p:spPr>
          <a:xfrm>
            <a:off x="5943600" y="1642262"/>
            <a:ext cx="304495" cy="304495"/>
          </a:xfrm>
          <a:prstGeom prst="rect">
            <a:avLst/>
          </a:prstGeom>
        </p:spPr>
      </p:pic>
      <p:sp>
        <p:nvSpPr>
          <p:cNvPr id="41" name="Shape 35"/>
          <p:cNvSpPr/>
          <p:nvPr/>
        </p:nvSpPr>
        <p:spPr>
          <a:xfrm>
            <a:off x="5143500" y="2004365"/>
            <a:ext cx="190195" cy="190195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Shape 36"/>
          <p:cNvSpPr/>
          <p:nvPr/>
        </p:nvSpPr>
        <p:spPr>
          <a:xfrm>
            <a:off x="6858000" y="2004365"/>
            <a:ext cx="190195" cy="190195"/>
          </a:xfrm>
          <a:prstGeom prst="ellipse">
            <a:avLst/>
          </a:prstGeom>
          <a:solidFill>
            <a:srgbClr val="71809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" name="Shape 37"/>
          <p:cNvSpPr/>
          <p:nvPr/>
        </p:nvSpPr>
        <p:spPr>
          <a:xfrm>
            <a:off x="7144207" y="1432865"/>
            <a:ext cx="1714500" cy="1333195"/>
          </a:xfrm>
          <a:prstGeom prst="roundRect">
            <a:avLst>
              <a:gd name="adj" fmla="val 5879"/>
            </a:avLst>
          </a:prstGeom>
          <a:solidFill>
            <a:srgbClr val="4FD1C5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01600" dist="635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4" name="Text 38"/>
          <p:cNvSpPr txBox="1"/>
          <p:nvPr/>
        </p:nvSpPr>
        <p:spPr>
          <a:xfrm>
            <a:off x="7397496" y="2041855"/>
            <a:ext cx="1213409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규모/수명주기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(Size/Cycle)</a:t>
            </a:r>
            <a:endParaRPr lang="en-US" sz="1300" dirty="0"/>
          </a:p>
        </p:txBody>
      </p:sp>
      <p:pic>
        <p:nvPicPr>
          <p:cNvPr id="45" name="Image 4" descr="preencoded.png"/>
          <p:cNvPicPr>
            <a:picLocks noChangeAspect="1"/>
          </p:cNvPicPr>
          <p:nvPr/>
        </p:nvPicPr>
        <p:blipFill>
          <a:blip r:embed="rId7">
            <a:alphaModFix amt="90000"/>
          </a:blip>
          <a:srcRect/>
          <a:stretch/>
        </p:blipFill>
        <p:spPr>
          <a:xfrm>
            <a:off x="7848295" y="1642262"/>
            <a:ext cx="304495" cy="304495"/>
          </a:xfrm>
          <a:prstGeom prst="rect">
            <a:avLst/>
          </a:prstGeom>
        </p:spPr>
      </p:pic>
      <p:sp>
        <p:nvSpPr>
          <p:cNvPr id="46" name="Shape 39"/>
          <p:cNvSpPr/>
          <p:nvPr/>
        </p:nvSpPr>
        <p:spPr>
          <a:xfrm>
            <a:off x="7048195" y="2004365"/>
            <a:ext cx="190195" cy="190195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7" name="Shape 40"/>
          <p:cNvSpPr/>
          <p:nvPr/>
        </p:nvSpPr>
        <p:spPr>
          <a:xfrm>
            <a:off x="8762695" y="2004365"/>
            <a:ext cx="190195" cy="190195"/>
          </a:xfrm>
          <a:prstGeom prst="ellipse">
            <a:avLst/>
          </a:prstGeom>
          <a:solidFill>
            <a:srgbClr val="4FD1C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8" name="Shape 41"/>
          <p:cNvSpPr/>
          <p:nvPr/>
        </p:nvSpPr>
        <p:spPr>
          <a:xfrm>
            <a:off x="9048902" y="1432865"/>
            <a:ext cx="1714500" cy="1333195"/>
          </a:xfrm>
          <a:prstGeom prst="roundRect">
            <a:avLst>
              <a:gd name="adj" fmla="val 5879"/>
            </a:avLst>
          </a:prstGeom>
          <a:solidFill>
            <a:srgbClr val="2D3748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01600" dist="635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9" name="Text 42"/>
          <p:cNvSpPr txBox="1"/>
          <p:nvPr/>
        </p:nvSpPr>
        <p:spPr>
          <a:xfrm>
            <a:off x="9455810" y="2041855"/>
            <a:ext cx="907085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조직문화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(Culture)</a:t>
            </a:r>
            <a:endParaRPr lang="en-US" sz="1300" dirty="0"/>
          </a:p>
        </p:txBody>
      </p:sp>
      <p:pic>
        <p:nvPicPr>
          <p:cNvPr id="50" name="Image 5" descr="preencoded.png"/>
          <p:cNvPicPr>
            <a:picLocks noChangeAspect="1"/>
          </p:cNvPicPr>
          <p:nvPr/>
        </p:nvPicPr>
        <p:blipFill>
          <a:blip r:embed="rId8">
            <a:alphaModFix amt="90000"/>
          </a:blip>
          <a:srcRect l="-90" r="-90"/>
          <a:stretch/>
        </p:blipFill>
        <p:spPr>
          <a:xfrm>
            <a:off x="9715500" y="1642262"/>
            <a:ext cx="381305" cy="304495"/>
          </a:xfrm>
          <a:prstGeom prst="rect">
            <a:avLst/>
          </a:prstGeom>
        </p:spPr>
      </p:pic>
      <p:sp>
        <p:nvSpPr>
          <p:cNvPr id="51" name="Shape 43"/>
          <p:cNvSpPr/>
          <p:nvPr/>
        </p:nvSpPr>
        <p:spPr>
          <a:xfrm>
            <a:off x="8953805" y="2004365"/>
            <a:ext cx="190195" cy="190195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0F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1695" cy="847649"/>
          </a:xfrm>
          <a:prstGeom prst="rect">
            <a:avLst/>
          </a:prstGeom>
          <a:solidFill>
            <a:srgbClr val="003D5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476402" y="449885"/>
            <a:ext cx="476402" cy="38405"/>
          </a:xfrm>
          <a:prstGeom prst="rect">
            <a:avLst/>
          </a:prstGeom>
          <a:solidFill>
            <a:srgbClr val="00A8A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 txBox="1"/>
          <p:nvPr/>
        </p:nvSpPr>
        <p:spPr>
          <a:xfrm>
            <a:off x="1143000" y="286207"/>
            <a:ext cx="6247181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b="1" kern="0" spc="-37" dirty="0">
                <a:solidFill>
                  <a:srgbClr val="FFFFFF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전략 진단: 전략 전환에 현 구조가 부적합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0" y="842162"/>
            <a:ext cx="12191695" cy="5648249"/>
          </a:xfrm>
          <a:prstGeom prst="rect">
            <a:avLst/>
          </a:prstGeom>
          <a:solidFill>
            <a:srgbClr val="F5F7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476402" y="1223467"/>
            <a:ext cx="3114446" cy="4886554"/>
          </a:xfrm>
          <a:prstGeom prst="roundRect">
            <a:avLst>
              <a:gd name="adj" fmla="val 718"/>
            </a:avLst>
          </a:prstGeom>
          <a:solidFill>
            <a:srgbClr val="FFFFFF"/>
          </a:solidFill>
          <a:ln/>
          <a:effectLst>
            <a:outerShdw blurRad="1016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476402" y="1223467"/>
            <a:ext cx="3114446" cy="57607"/>
          </a:xfrm>
          <a:prstGeom prst="rect">
            <a:avLst/>
          </a:prstGeom>
          <a:solidFill>
            <a:srgbClr val="718096"/>
          </a:solidFill>
          <a:ln w="12700">
            <a:solidFill>
              <a:srgbClr val="71809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476402" y="1280160"/>
            <a:ext cx="3114446" cy="1619402"/>
          </a:xfrm>
          <a:prstGeom prst="rect">
            <a:avLst/>
          </a:prstGeom>
          <a:solidFill>
            <a:srgbClr val="F7FA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476402" y="2890418"/>
            <a:ext cx="3114446" cy="9144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rcRect l="-427220" r="-427220"/>
          <a:stretch/>
        </p:blipFill>
        <p:spPr>
          <a:xfrm>
            <a:off x="761695" y="1517904"/>
            <a:ext cx="2542946" cy="304495"/>
          </a:xfrm>
          <a:prstGeom prst="rect">
            <a:avLst/>
          </a:prstGeom>
        </p:spPr>
      </p:pic>
      <p:sp>
        <p:nvSpPr>
          <p:cNvPr id="13" name="Text 10"/>
          <p:cNvSpPr txBox="1"/>
          <p:nvPr/>
        </p:nvSpPr>
        <p:spPr>
          <a:xfrm>
            <a:off x="761695" y="2013509"/>
            <a:ext cx="1077163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kern="0" spc="75" dirty="0">
                <a:solidFill>
                  <a:srgbClr val="2D3748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THEORY</a:t>
            </a:r>
            <a:endParaRPr lang="en-US" sz="1800" dirty="0"/>
          </a:p>
        </p:txBody>
      </p:sp>
      <p:sp>
        <p:nvSpPr>
          <p:cNvPr id="14" name="Text 11"/>
          <p:cNvSpPr txBox="1"/>
          <p:nvPr/>
        </p:nvSpPr>
        <p:spPr>
          <a:xfrm>
            <a:off x="761695" y="2451506"/>
            <a:ext cx="204094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333333">
                    <a:alpha val="80000"/>
                  </a:srgbClr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이론적 배경 (Daft, Chandler)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476402" y="2899562"/>
            <a:ext cx="3114446" cy="320954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3"/>
          <p:cNvSpPr/>
          <p:nvPr/>
        </p:nvSpPr>
        <p:spPr>
          <a:xfrm>
            <a:off x="761695" y="3280867"/>
            <a:ext cx="75895" cy="75895"/>
          </a:xfrm>
          <a:prstGeom prst="ellipse">
            <a:avLst/>
          </a:prstGeom>
          <a:solidFill>
            <a:srgbClr val="71809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4"/>
          <p:cNvSpPr txBox="1"/>
          <p:nvPr/>
        </p:nvSpPr>
        <p:spPr>
          <a:xfrm>
            <a:off x="981150" y="3184855"/>
            <a:ext cx="2478939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4A5568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"전략이 구조를 결정한다"</a:t>
            </a:r>
            <a:r>
              <a:rPr lang="en-US" sz="1300" dirty="0">
                <a:solidFill>
                  <a:srgbClr val="4A5568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(Chandler)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4A5568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: 새로운 전략은 새로운 구조를 요구함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761695" y="4499762"/>
            <a:ext cx="75895" cy="75895"/>
          </a:xfrm>
          <a:prstGeom prst="ellipse">
            <a:avLst/>
          </a:prstGeom>
          <a:solidFill>
            <a:srgbClr val="71809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6"/>
          <p:cNvSpPr txBox="1"/>
          <p:nvPr/>
        </p:nvSpPr>
        <p:spPr>
          <a:xfrm>
            <a:off x="981151" y="4404665"/>
            <a:ext cx="3371393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4A5568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사업 다각화 및 복잡성 증가 시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4A5568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기능식 구조의 한계 봉착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761695" y="5204765"/>
            <a:ext cx="75895" cy="75895"/>
          </a:xfrm>
          <a:prstGeom prst="ellipse">
            <a:avLst/>
          </a:prstGeom>
          <a:solidFill>
            <a:srgbClr val="71809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8"/>
          <p:cNvSpPr txBox="1"/>
          <p:nvPr/>
        </p:nvSpPr>
        <p:spPr>
          <a:xfrm>
            <a:off x="981151" y="5109667"/>
            <a:ext cx="3296412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4A5568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효율성과 적응성 동시 추구 시</a:t>
            </a:r>
            <a:endParaRPr lang="en-US" sz="1300" dirty="0"/>
          </a:p>
          <a:p>
            <a:pPr marL="0" indent="0" algn="l">
              <a:buNone/>
            </a:pPr>
            <a:r>
              <a:rPr lang="en-US" sz="1300" b="1" dirty="0">
                <a:solidFill>
                  <a:srgbClr val="4A5568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Matrix 조직</a:t>
            </a:r>
            <a:r>
              <a:rPr lang="en-US" sz="1300" dirty="0">
                <a:solidFill>
                  <a:srgbClr val="4A5568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이 효과적 대안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3778301" y="3380537"/>
            <a:ext cx="571500" cy="5715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23" name="Image 1" descr="preencoded.png"/>
          <p:cNvPicPr>
            <a:picLocks noChangeAspect="1"/>
          </p:cNvPicPr>
          <p:nvPr/>
        </p:nvPicPr>
        <p:blipFill>
          <a:blip r:embed="rId4"/>
          <a:srcRect l="-17" r="-17"/>
          <a:stretch/>
        </p:blipFill>
        <p:spPr>
          <a:xfrm>
            <a:off x="3897173" y="3475634"/>
            <a:ext cx="333756" cy="381305"/>
          </a:xfrm>
          <a:prstGeom prst="rect">
            <a:avLst/>
          </a:prstGeom>
        </p:spPr>
      </p:pic>
      <p:sp>
        <p:nvSpPr>
          <p:cNvPr id="24" name="Shape 20"/>
          <p:cNvSpPr/>
          <p:nvPr/>
        </p:nvSpPr>
        <p:spPr>
          <a:xfrm>
            <a:off x="4539996" y="1223467"/>
            <a:ext cx="3114446" cy="4886554"/>
          </a:xfrm>
          <a:prstGeom prst="roundRect">
            <a:avLst>
              <a:gd name="adj" fmla="val 718"/>
            </a:avLst>
          </a:prstGeom>
          <a:solidFill>
            <a:srgbClr val="FFFFFF"/>
          </a:solidFill>
          <a:ln/>
          <a:effectLst>
            <a:outerShdw blurRad="1016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1"/>
          <p:cNvSpPr/>
          <p:nvPr/>
        </p:nvSpPr>
        <p:spPr>
          <a:xfrm>
            <a:off x="4539996" y="1223467"/>
            <a:ext cx="3114446" cy="57607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2"/>
          <p:cNvSpPr/>
          <p:nvPr/>
        </p:nvSpPr>
        <p:spPr>
          <a:xfrm>
            <a:off x="4539996" y="1280160"/>
            <a:ext cx="3114446" cy="1619402"/>
          </a:xfrm>
          <a:prstGeom prst="rect">
            <a:avLst/>
          </a:prstGeom>
          <a:solidFill>
            <a:srgbClr val="FFF5F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3"/>
          <p:cNvSpPr/>
          <p:nvPr/>
        </p:nvSpPr>
        <p:spPr>
          <a:xfrm>
            <a:off x="4539996" y="2890418"/>
            <a:ext cx="3114446" cy="9144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8" name="Image 2" descr="preencoded.png"/>
          <p:cNvPicPr>
            <a:picLocks noChangeAspect="1"/>
          </p:cNvPicPr>
          <p:nvPr/>
        </p:nvPicPr>
        <p:blipFill>
          <a:blip r:embed="rId5"/>
          <a:srcRect l="-321171" r="-321171"/>
          <a:stretch/>
        </p:blipFill>
        <p:spPr>
          <a:xfrm>
            <a:off x="4826203" y="1517904"/>
            <a:ext cx="2542946" cy="304495"/>
          </a:xfrm>
          <a:prstGeom prst="rect">
            <a:avLst/>
          </a:prstGeom>
        </p:spPr>
      </p:pic>
      <p:sp>
        <p:nvSpPr>
          <p:cNvPr id="29" name="Text 24"/>
          <p:cNvSpPr txBox="1"/>
          <p:nvPr/>
        </p:nvSpPr>
        <p:spPr>
          <a:xfrm>
            <a:off x="4826203" y="2013509"/>
            <a:ext cx="1457554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kern="0" spc="75" dirty="0">
                <a:solidFill>
                  <a:srgbClr val="C53030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DIAGNOSIS</a:t>
            </a:r>
            <a:endParaRPr lang="en-US" sz="1800" dirty="0"/>
          </a:p>
        </p:txBody>
      </p:sp>
      <p:sp>
        <p:nvSpPr>
          <p:cNvPr id="30" name="Text 25"/>
          <p:cNvSpPr txBox="1"/>
          <p:nvPr/>
        </p:nvSpPr>
        <p:spPr>
          <a:xfrm>
            <a:off x="4826203" y="2451506"/>
            <a:ext cx="154533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333333">
                    <a:alpha val="80000"/>
                  </a:srgbClr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시앤피컨설팅 현황 진단</a:t>
            </a:r>
            <a:endParaRPr lang="en-US" sz="1000" dirty="0"/>
          </a:p>
        </p:txBody>
      </p:sp>
      <p:sp>
        <p:nvSpPr>
          <p:cNvPr id="31" name="Shape 26"/>
          <p:cNvSpPr/>
          <p:nvPr/>
        </p:nvSpPr>
        <p:spPr>
          <a:xfrm>
            <a:off x="4539996" y="2899562"/>
            <a:ext cx="3114446" cy="320954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Shape 27"/>
          <p:cNvSpPr/>
          <p:nvPr/>
        </p:nvSpPr>
        <p:spPr>
          <a:xfrm>
            <a:off x="4826203" y="3280867"/>
            <a:ext cx="75895" cy="75895"/>
          </a:xfrm>
          <a:prstGeom prst="ellipse">
            <a:avLst/>
          </a:prstGeom>
          <a:solidFill>
            <a:srgbClr val="E6394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Text 28"/>
          <p:cNvSpPr txBox="1"/>
          <p:nvPr/>
        </p:nvSpPr>
        <p:spPr>
          <a:xfrm>
            <a:off x="5044745" y="3184855"/>
            <a:ext cx="240030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4A5568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전략 전환: 공공(안정) →</a:t>
            </a:r>
            <a:r>
              <a:rPr lang="en-US" sz="1300" b="1" dirty="0">
                <a:solidFill>
                  <a:srgbClr val="4A5568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민간(성장)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4A5568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사업 영역 급격한 확대 추진 중</a:t>
            </a:r>
            <a:endParaRPr lang="en-US" sz="1300" dirty="0"/>
          </a:p>
        </p:txBody>
      </p:sp>
      <p:sp>
        <p:nvSpPr>
          <p:cNvPr id="34" name="Shape 29"/>
          <p:cNvSpPr/>
          <p:nvPr/>
        </p:nvSpPr>
        <p:spPr>
          <a:xfrm>
            <a:off x="4826203" y="4242816"/>
            <a:ext cx="75895" cy="75895"/>
          </a:xfrm>
          <a:prstGeom prst="ellipse">
            <a:avLst/>
          </a:prstGeom>
          <a:solidFill>
            <a:srgbClr val="E6394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0"/>
          <p:cNvSpPr txBox="1"/>
          <p:nvPr/>
        </p:nvSpPr>
        <p:spPr>
          <a:xfrm>
            <a:off x="5044745" y="4146804"/>
            <a:ext cx="3552444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4A5568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현 4계층 수직구조는 과거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4A5568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정부 용역 사업 수행에만 최적화</a:t>
            </a:r>
            <a:endParaRPr lang="en-US" sz="1300" dirty="0"/>
          </a:p>
        </p:txBody>
      </p:sp>
      <p:sp>
        <p:nvSpPr>
          <p:cNvPr id="36" name="Shape 31"/>
          <p:cNvSpPr/>
          <p:nvPr/>
        </p:nvSpPr>
        <p:spPr>
          <a:xfrm>
            <a:off x="4826203" y="4946904"/>
            <a:ext cx="75895" cy="75895"/>
          </a:xfrm>
          <a:prstGeom prst="ellipse">
            <a:avLst/>
          </a:prstGeom>
          <a:solidFill>
            <a:srgbClr val="E6394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Text 32"/>
          <p:cNvSpPr txBox="1"/>
          <p:nvPr/>
        </p:nvSpPr>
        <p:spPr>
          <a:xfrm>
            <a:off x="5044745" y="4851806"/>
            <a:ext cx="3476549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4A5568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민간 프로젝트의 다양성 대응에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4A5568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조직 유연성이 현저히 부족함</a:t>
            </a:r>
            <a:endParaRPr lang="en-US" sz="1300" dirty="0"/>
          </a:p>
        </p:txBody>
      </p:sp>
      <p:sp>
        <p:nvSpPr>
          <p:cNvPr id="38" name="Shape 33"/>
          <p:cNvSpPr/>
          <p:nvPr/>
        </p:nvSpPr>
        <p:spPr>
          <a:xfrm>
            <a:off x="7841894" y="3380537"/>
            <a:ext cx="571500" cy="5715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39" name="Image 3" descr="preencoded.png"/>
          <p:cNvPicPr>
            <a:picLocks noChangeAspect="1"/>
          </p:cNvPicPr>
          <p:nvPr/>
        </p:nvPicPr>
        <p:blipFill>
          <a:blip r:embed="rId4"/>
          <a:srcRect l="-17" r="-17"/>
          <a:stretch/>
        </p:blipFill>
        <p:spPr>
          <a:xfrm>
            <a:off x="7961681" y="3475634"/>
            <a:ext cx="333756" cy="381305"/>
          </a:xfrm>
          <a:prstGeom prst="rect">
            <a:avLst/>
          </a:prstGeom>
        </p:spPr>
      </p:pic>
      <p:sp>
        <p:nvSpPr>
          <p:cNvPr id="40" name="Shape 34"/>
          <p:cNvSpPr/>
          <p:nvPr/>
        </p:nvSpPr>
        <p:spPr>
          <a:xfrm>
            <a:off x="8604504" y="1223467"/>
            <a:ext cx="3114446" cy="4886554"/>
          </a:xfrm>
          <a:prstGeom prst="roundRect">
            <a:avLst>
              <a:gd name="adj" fmla="val 718"/>
            </a:avLst>
          </a:prstGeom>
          <a:solidFill>
            <a:srgbClr val="FFFFFF"/>
          </a:solidFill>
          <a:ln/>
          <a:effectLst>
            <a:outerShdw blurRad="139700" dist="76200" dir="16200000" algn="bl" rotWithShape="0">
              <a:srgbClr val="00A8A8">
                <a:alpha val="1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1" name="Shape 35"/>
          <p:cNvSpPr/>
          <p:nvPr/>
        </p:nvSpPr>
        <p:spPr>
          <a:xfrm>
            <a:off x="8604504" y="1223467"/>
            <a:ext cx="3114446" cy="57607"/>
          </a:xfrm>
          <a:prstGeom prst="rect">
            <a:avLst/>
          </a:prstGeom>
          <a:solidFill>
            <a:srgbClr val="00A8A8"/>
          </a:solidFill>
          <a:ln w="12700">
            <a:solidFill>
              <a:srgbClr val="00A8A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Shape 36"/>
          <p:cNvSpPr/>
          <p:nvPr/>
        </p:nvSpPr>
        <p:spPr>
          <a:xfrm>
            <a:off x="8573414" y="1232611"/>
            <a:ext cx="3181198" cy="1666951"/>
          </a:xfrm>
          <a:prstGeom prst="rect">
            <a:avLst/>
          </a:prstGeom>
          <a:solidFill>
            <a:srgbClr val="E6F6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3" name="Shape 37"/>
          <p:cNvSpPr/>
          <p:nvPr/>
        </p:nvSpPr>
        <p:spPr>
          <a:xfrm>
            <a:off x="8573414" y="2890418"/>
            <a:ext cx="3181198" cy="9144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44" name="Image 4" descr="preencoded.png"/>
          <p:cNvPicPr>
            <a:picLocks noChangeAspect="1"/>
          </p:cNvPicPr>
          <p:nvPr/>
        </p:nvPicPr>
        <p:blipFill>
          <a:blip r:embed="rId6"/>
          <a:srcRect l="-495385" r="-495385"/>
          <a:stretch/>
        </p:blipFill>
        <p:spPr>
          <a:xfrm>
            <a:off x="8865108" y="1475842"/>
            <a:ext cx="2648102" cy="323698"/>
          </a:xfrm>
          <a:prstGeom prst="rect">
            <a:avLst/>
          </a:prstGeom>
        </p:spPr>
      </p:pic>
      <p:sp>
        <p:nvSpPr>
          <p:cNvPr id="45" name="Shape 38"/>
          <p:cNvSpPr/>
          <p:nvPr/>
        </p:nvSpPr>
        <p:spPr>
          <a:xfrm>
            <a:off x="8573414" y="2894076"/>
            <a:ext cx="3181198" cy="3267151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6" name="Shape 39"/>
          <p:cNvSpPr/>
          <p:nvPr/>
        </p:nvSpPr>
        <p:spPr>
          <a:xfrm>
            <a:off x="8865108" y="3282696"/>
            <a:ext cx="85954" cy="85954"/>
          </a:xfrm>
          <a:prstGeom prst="ellipse">
            <a:avLst/>
          </a:prstGeom>
          <a:solidFill>
            <a:srgbClr val="00A8A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7" name="Text 40"/>
          <p:cNvSpPr txBox="1"/>
          <p:nvPr/>
        </p:nvSpPr>
        <p:spPr>
          <a:xfrm>
            <a:off x="9088222" y="3185770"/>
            <a:ext cx="2448763" cy="1057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4A5568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사업조직 × 기능조직 Matrix</a:t>
            </a:r>
            <a:r>
              <a:rPr lang="en-US" sz="1300" dirty="0">
                <a:solidFill>
                  <a:srgbClr val="4A5568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도입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4A5568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: 전략 실행력과 전문성 동시 확보</a:t>
            </a:r>
            <a:endParaRPr lang="en-US" sz="1300" dirty="0"/>
          </a:p>
        </p:txBody>
      </p:sp>
      <p:sp>
        <p:nvSpPr>
          <p:cNvPr id="48" name="Shape 41"/>
          <p:cNvSpPr/>
          <p:nvPr/>
        </p:nvSpPr>
        <p:spPr>
          <a:xfrm>
            <a:off x="8865108" y="4526280"/>
            <a:ext cx="85954" cy="85954"/>
          </a:xfrm>
          <a:prstGeom prst="ellipse">
            <a:avLst/>
          </a:prstGeom>
          <a:solidFill>
            <a:srgbClr val="00A8A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9" name="Text 42"/>
          <p:cNvSpPr txBox="1"/>
          <p:nvPr/>
        </p:nvSpPr>
        <p:spPr>
          <a:xfrm>
            <a:off x="9088222" y="4429354"/>
            <a:ext cx="2352751" cy="534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4A5568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프로젝트별 유연한 인력 배분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4A5568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(Resource Pooling) 체계 구축</a:t>
            </a:r>
            <a:endParaRPr lang="en-US" sz="1300" dirty="0"/>
          </a:p>
        </p:txBody>
      </p:sp>
      <p:sp>
        <p:nvSpPr>
          <p:cNvPr id="50" name="Shape 43"/>
          <p:cNvSpPr/>
          <p:nvPr/>
        </p:nvSpPr>
        <p:spPr>
          <a:xfrm>
            <a:off x="8865108" y="5244998"/>
            <a:ext cx="85954" cy="85954"/>
          </a:xfrm>
          <a:prstGeom prst="ellipse">
            <a:avLst/>
          </a:prstGeom>
          <a:solidFill>
            <a:srgbClr val="00A8A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1" name="Text 44"/>
          <p:cNvSpPr txBox="1"/>
          <p:nvPr/>
        </p:nvSpPr>
        <p:spPr>
          <a:xfrm>
            <a:off x="9088222" y="5148072"/>
            <a:ext cx="2371954" cy="534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4A5568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민간 시장 대응을 위한 신속한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4A5568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Cross-functional 팀 구성 지원</a:t>
            </a:r>
            <a:endParaRPr lang="en-US" sz="1300" dirty="0"/>
          </a:p>
        </p:txBody>
      </p:sp>
      <p:sp>
        <p:nvSpPr>
          <p:cNvPr id="52" name="Text 45"/>
          <p:cNvSpPr txBox="1"/>
          <p:nvPr/>
        </p:nvSpPr>
        <p:spPr>
          <a:xfrm>
            <a:off x="8865108" y="1990649"/>
            <a:ext cx="17337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kern="0" spc="75" dirty="0">
                <a:solidFill>
                  <a:srgbClr val="008080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IMPLICATION</a:t>
            </a:r>
            <a:endParaRPr lang="en-US" sz="1800" dirty="0"/>
          </a:p>
        </p:txBody>
      </p:sp>
      <p:sp>
        <p:nvSpPr>
          <p:cNvPr id="53" name="Text 46"/>
          <p:cNvSpPr txBox="1"/>
          <p:nvPr/>
        </p:nvSpPr>
        <p:spPr>
          <a:xfrm>
            <a:off x="8865108" y="2436876"/>
            <a:ext cx="127101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333333">
                    <a:alpha val="80000"/>
                  </a:srgbClr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조직 재설계 시사점</a:t>
            </a:r>
            <a:endParaRPr lang="en-US" sz="1000" dirty="0"/>
          </a:p>
        </p:txBody>
      </p:sp>
      <p:sp>
        <p:nvSpPr>
          <p:cNvPr id="54" name="Shape 47"/>
          <p:cNvSpPr/>
          <p:nvPr/>
        </p:nvSpPr>
        <p:spPr>
          <a:xfrm>
            <a:off x="0" y="6490411"/>
            <a:ext cx="12191695" cy="37124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5" name="Shape 48"/>
          <p:cNvSpPr/>
          <p:nvPr/>
        </p:nvSpPr>
        <p:spPr>
          <a:xfrm>
            <a:off x="0" y="6490411"/>
            <a:ext cx="12191695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6" name="Text 49"/>
          <p:cNvSpPr txBox="1"/>
          <p:nvPr/>
        </p:nvSpPr>
        <p:spPr>
          <a:xfrm>
            <a:off x="476402" y="6592824"/>
            <a:ext cx="175016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718096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시앤피컨설팅 조직 재설계 전략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0F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1695" cy="847649"/>
          </a:xfrm>
          <a:prstGeom prst="rect">
            <a:avLst/>
          </a:prstGeom>
          <a:solidFill>
            <a:srgbClr val="003D5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476402" y="449885"/>
            <a:ext cx="476402" cy="38405"/>
          </a:xfrm>
          <a:prstGeom prst="rect">
            <a:avLst/>
          </a:prstGeom>
          <a:solidFill>
            <a:srgbClr val="00A8A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 txBox="1"/>
          <p:nvPr/>
        </p:nvSpPr>
        <p:spPr>
          <a:xfrm>
            <a:off x="1143000" y="286207"/>
            <a:ext cx="6062472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b="1" kern="0" spc="-37" dirty="0">
                <a:solidFill>
                  <a:srgbClr val="FFFFFF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환경 진단: 불확실한 환경에 적응력 부족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0" y="842162"/>
            <a:ext cx="12191695" cy="6152998"/>
          </a:xfrm>
          <a:prstGeom prst="rect">
            <a:avLst/>
          </a:prstGeom>
          <a:solidFill>
            <a:srgbClr val="F5F7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476402" y="1223467"/>
            <a:ext cx="3114446" cy="5391302"/>
          </a:xfrm>
          <a:prstGeom prst="roundRect">
            <a:avLst>
              <a:gd name="adj" fmla="val 718"/>
            </a:avLst>
          </a:prstGeom>
          <a:solidFill>
            <a:srgbClr val="FFFFFF"/>
          </a:solidFill>
          <a:ln/>
          <a:effectLst>
            <a:outerShdw blurRad="1016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476402" y="1223467"/>
            <a:ext cx="3114446" cy="57607"/>
          </a:xfrm>
          <a:prstGeom prst="rect">
            <a:avLst/>
          </a:prstGeom>
          <a:solidFill>
            <a:srgbClr val="718096"/>
          </a:solidFill>
          <a:ln w="12700">
            <a:solidFill>
              <a:srgbClr val="71809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476402" y="1280160"/>
            <a:ext cx="3114446" cy="1619402"/>
          </a:xfrm>
          <a:prstGeom prst="rect">
            <a:avLst/>
          </a:prstGeom>
          <a:solidFill>
            <a:srgbClr val="F7FA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476402" y="2890418"/>
            <a:ext cx="3114446" cy="9144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rcRect l="-367568" r="-367568"/>
          <a:stretch/>
        </p:blipFill>
        <p:spPr>
          <a:xfrm>
            <a:off x="761695" y="1517904"/>
            <a:ext cx="2542946" cy="304495"/>
          </a:xfrm>
          <a:prstGeom prst="rect">
            <a:avLst/>
          </a:prstGeom>
        </p:spPr>
      </p:pic>
      <p:sp>
        <p:nvSpPr>
          <p:cNvPr id="13" name="Text 10"/>
          <p:cNvSpPr txBox="1"/>
          <p:nvPr/>
        </p:nvSpPr>
        <p:spPr>
          <a:xfrm>
            <a:off x="761695" y="2013509"/>
            <a:ext cx="1077163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kern="0" spc="75" dirty="0">
                <a:solidFill>
                  <a:srgbClr val="2D3748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THEORY</a:t>
            </a:r>
            <a:endParaRPr lang="en-US" sz="1800" dirty="0"/>
          </a:p>
        </p:txBody>
      </p:sp>
      <p:sp>
        <p:nvSpPr>
          <p:cNvPr id="14" name="Text 11"/>
          <p:cNvSpPr txBox="1"/>
          <p:nvPr/>
        </p:nvSpPr>
        <p:spPr>
          <a:xfrm>
            <a:off x="761695" y="2451506"/>
            <a:ext cx="210860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333333">
                    <a:alpha val="80000"/>
                  </a:srgbClr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이론적 배경 (Burns &amp; Stalker)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476402" y="2899562"/>
            <a:ext cx="3114446" cy="3715207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3"/>
          <p:cNvSpPr/>
          <p:nvPr/>
        </p:nvSpPr>
        <p:spPr>
          <a:xfrm>
            <a:off x="761695" y="3280867"/>
            <a:ext cx="75895" cy="75895"/>
          </a:xfrm>
          <a:prstGeom prst="ellipse">
            <a:avLst/>
          </a:prstGeom>
          <a:solidFill>
            <a:srgbClr val="71809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4"/>
          <p:cNvSpPr txBox="1"/>
          <p:nvPr/>
        </p:nvSpPr>
        <p:spPr>
          <a:xfrm>
            <a:off x="981151" y="3184855"/>
            <a:ext cx="240030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4A5568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"환경 불확실성↑ → 유기적 구조"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4A5568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: 변화가 잦은 환경에는 유연한 구조 필요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761695" y="4499762"/>
            <a:ext cx="75895" cy="75895"/>
          </a:xfrm>
          <a:prstGeom prst="ellipse">
            <a:avLst/>
          </a:prstGeom>
          <a:solidFill>
            <a:srgbClr val="71809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6"/>
          <p:cNvSpPr txBox="1"/>
          <p:nvPr/>
        </p:nvSpPr>
        <p:spPr>
          <a:xfrm>
            <a:off x="981151" y="4404665"/>
            <a:ext cx="240030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4A5568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동적(Dynamic) 환경은 </a:t>
            </a:r>
            <a:r>
              <a:rPr lang="en-US" sz="1300" dirty="0" err="1">
                <a:solidFill>
                  <a:srgbClr val="4A5568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수평적</a:t>
            </a:r>
            <a:r>
              <a:rPr lang="en-US" sz="1300" dirty="0">
                <a:solidFill>
                  <a:srgbClr val="4A5568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 </a:t>
            </a:r>
            <a:r>
              <a:rPr lang="en-US" sz="1300" dirty="0" err="1">
                <a:solidFill>
                  <a:srgbClr val="4A5568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소통과</a:t>
            </a:r>
            <a:r>
              <a:rPr lang="en-US" sz="1300" dirty="0">
                <a:solidFill>
                  <a:srgbClr val="4A5568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 </a:t>
            </a:r>
            <a:r>
              <a:rPr lang="en-US" sz="1300" dirty="0" err="1">
                <a:solidFill>
                  <a:srgbClr val="4A5568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높은</a:t>
            </a:r>
            <a:r>
              <a:rPr lang="en-US" sz="1300" dirty="0">
                <a:solidFill>
                  <a:srgbClr val="4A5568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 수준의 분권화를 요구함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761695" y="5461711"/>
            <a:ext cx="75895" cy="75895"/>
          </a:xfrm>
          <a:prstGeom prst="ellipse">
            <a:avLst/>
          </a:prstGeom>
          <a:solidFill>
            <a:srgbClr val="71809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8"/>
          <p:cNvSpPr txBox="1"/>
          <p:nvPr/>
        </p:nvSpPr>
        <p:spPr>
          <a:xfrm>
            <a:off x="981151" y="5366614"/>
            <a:ext cx="240030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4A5568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기계적 구조는 안정적 환경에만 적합하며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4A5568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불확실성 하에서는 성과 저하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3778301" y="3632911"/>
            <a:ext cx="571500" cy="5715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23" name="Image 1" descr="preencoded.png"/>
          <p:cNvPicPr>
            <a:picLocks noChangeAspect="1"/>
          </p:cNvPicPr>
          <p:nvPr/>
        </p:nvPicPr>
        <p:blipFill>
          <a:blip r:embed="rId4"/>
          <a:srcRect l="-17" r="-17"/>
          <a:stretch/>
        </p:blipFill>
        <p:spPr>
          <a:xfrm>
            <a:off x="3897173" y="3728009"/>
            <a:ext cx="333756" cy="381305"/>
          </a:xfrm>
          <a:prstGeom prst="rect">
            <a:avLst/>
          </a:prstGeom>
        </p:spPr>
      </p:pic>
      <p:sp>
        <p:nvSpPr>
          <p:cNvPr id="24" name="Shape 20"/>
          <p:cNvSpPr/>
          <p:nvPr/>
        </p:nvSpPr>
        <p:spPr>
          <a:xfrm>
            <a:off x="4539996" y="1223467"/>
            <a:ext cx="3114446" cy="5391302"/>
          </a:xfrm>
          <a:prstGeom prst="roundRect">
            <a:avLst>
              <a:gd name="adj" fmla="val 718"/>
            </a:avLst>
          </a:prstGeom>
          <a:solidFill>
            <a:srgbClr val="FFFFFF"/>
          </a:solidFill>
          <a:ln/>
          <a:effectLst>
            <a:outerShdw blurRad="1016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1"/>
          <p:cNvSpPr/>
          <p:nvPr/>
        </p:nvSpPr>
        <p:spPr>
          <a:xfrm>
            <a:off x="4539996" y="1223467"/>
            <a:ext cx="3114446" cy="57607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2"/>
          <p:cNvSpPr/>
          <p:nvPr/>
        </p:nvSpPr>
        <p:spPr>
          <a:xfrm>
            <a:off x="4539996" y="1280160"/>
            <a:ext cx="3114446" cy="1619402"/>
          </a:xfrm>
          <a:prstGeom prst="rect">
            <a:avLst/>
          </a:prstGeom>
          <a:solidFill>
            <a:srgbClr val="FFF5F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3"/>
          <p:cNvSpPr/>
          <p:nvPr/>
        </p:nvSpPr>
        <p:spPr>
          <a:xfrm>
            <a:off x="4539996" y="2890418"/>
            <a:ext cx="3114446" cy="9144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8" name="Image 2" descr="preencoded.png"/>
          <p:cNvPicPr>
            <a:picLocks noChangeAspect="1"/>
          </p:cNvPicPr>
          <p:nvPr/>
        </p:nvPicPr>
        <p:blipFill>
          <a:blip r:embed="rId5"/>
          <a:srcRect l="-367568" r="-367568"/>
          <a:stretch/>
        </p:blipFill>
        <p:spPr>
          <a:xfrm>
            <a:off x="4826203" y="1517904"/>
            <a:ext cx="2542946" cy="304495"/>
          </a:xfrm>
          <a:prstGeom prst="rect">
            <a:avLst/>
          </a:prstGeom>
        </p:spPr>
      </p:pic>
      <p:sp>
        <p:nvSpPr>
          <p:cNvPr id="29" name="Text 24"/>
          <p:cNvSpPr txBox="1"/>
          <p:nvPr/>
        </p:nvSpPr>
        <p:spPr>
          <a:xfrm>
            <a:off x="4826203" y="2013509"/>
            <a:ext cx="1457554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kern="0" spc="75" dirty="0">
                <a:solidFill>
                  <a:srgbClr val="C53030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DIAGNOSIS</a:t>
            </a:r>
            <a:endParaRPr lang="en-US" sz="1800" dirty="0"/>
          </a:p>
        </p:txBody>
      </p:sp>
      <p:sp>
        <p:nvSpPr>
          <p:cNvPr id="30" name="Text 25"/>
          <p:cNvSpPr txBox="1"/>
          <p:nvPr/>
        </p:nvSpPr>
        <p:spPr>
          <a:xfrm>
            <a:off x="4826203" y="2451506"/>
            <a:ext cx="154533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333333">
                    <a:alpha val="80000"/>
                  </a:srgbClr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시앤피컨설팅 현황 진단</a:t>
            </a:r>
            <a:endParaRPr lang="en-US" sz="1000" dirty="0"/>
          </a:p>
        </p:txBody>
      </p:sp>
      <p:sp>
        <p:nvSpPr>
          <p:cNvPr id="31" name="Shape 26"/>
          <p:cNvSpPr/>
          <p:nvPr/>
        </p:nvSpPr>
        <p:spPr>
          <a:xfrm>
            <a:off x="4539996" y="2899562"/>
            <a:ext cx="3114446" cy="3715207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Shape 27"/>
          <p:cNvSpPr/>
          <p:nvPr/>
        </p:nvSpPr>
        <p:spPr>
          <a:xfrm>
            <a:off x="4826203" y="3280867"/>
            <a:ext cx="75895" cy="75895"/>
          </a:xfrm>
          <a:prstGeom prst="ellipse">
            <a:avLst/>
          </a:prstGeom>
          <a:solidFill>
            <a:srgbClr val="E6394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Text 28"/>
          <p:cNvSpPr txBox="1"/>
          <p:nvPr/>
        </p:nvSpPr>
        <p:spPr>
          <a:xfrm>
            <a:off x="5044745" y="3184855"/>
            <a:ext cx="3205886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4A5568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컨설팅 시장 경쟁 심화 및</a:t>
            </a:r>
            <a:endParaRPr lang="en-US" sz="1300" dirty="0"/>
          </a:p>
          <a:p>
            <a:pPr marL="0" indent="0" algn="l">
              <a:buNone/>
            </a:pPr>
            <a:r>
              <a:rPr lang="en-US" sz="1300" b="1" dirty="0">
                <a:solidFill>
                  <a:srgbClr val="4A5568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디지털 전환(DX) 가속화</a:t>
            </a:r>
            <a:r>
              <a:rPr lang="en-US" sz="1300" dirty="0">
                <a:solidFill>
                  <a:srgbClr val="4A5568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직면</a:t>
            </a:r>
            <a:endParaRPr lang="en-US" sz="1300" dirty="0"/>
          </a:p>
        </p:txBody>
      </p:sp>
      <p:sp>
        <p:nvSpPr>
          <p:cNvPr id="34" name="Shape 29"/>
          <p:cNvSpPr/>
          <p:nvPr/>
        </p:nvSpPr>
        <p:spPr>
          <a:xfrm>
            <a:off x="4826203" y="3984955"/>
            <a:ext cx="75895" cy="75895"/>
          </a:xfrm>
          <a:prstGeom prst="ellipse">
            <a:avLst/>
          </a:prstGeom>
          <a:solidFill>
            <a:srgbClr val="E6394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0"/>
          <p:cNvSpPr txBox="1"/>
          <p:nvPr/>
        </p:nvSpPr>
        <p:spPr>
          <a:xfrm>
            <a:off x="5044745" y="3889858"/>
            <a:ext cx="240030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4A5568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경직된 4계층 구조로 인해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4A5568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급변하는 시장 대응이 지연되고 있음</a:t>
            </a:r>
            <a:endParaRPr lang="en-US" sz="1300" dirty="0"/>
          </a:p>
        </p:txBody>
      </p:sp>
      <p:sp>
        <p:nvSpPr>
          <p:cNvPr id="36" name="Shape 31"/>
          <p:cNvSpPr/>
          <p:nvPr/>
        </p:nvSpPr>
        <p:spPr>
          <a:xfrm>
            <a:off x="4826203" y="4946904"/>
            <a:ext cx="75895" cy="75895"/>
          </a:xfrm>
          <a:prstGeom prst="ellipse">
            <a:avLst/>
          </a:prstGeom>
          <a:solidFill>
            <a:srgbClr val="E6394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Text 32"/>
          <p:cNvSpPr txBox="1"/>
          <p:nvPr/>
        </p:nvSpPr>
        <p:spPr>
          <a:xfrm>
            <a:off x="5044745" y="4851806"/>
            <a:ext cx="3627425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4A5568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의사결정 프로세스가 느려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4A5568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고객 요구에 대한 적시 대응 미흡</a:t>
            </a:r>
            <a:endParaRPr lang="en-US" sz="1300" dirty="0"/>
          </a:p>
        </p:txBody>
      </p:sp>
      <p:sp>
        <p:nvSpPr>
          <p:cNvPr id="38" name="Shape 33"/>
          <p:cNvSpPr/>
          <p:nvPr/>
        </p:nvSpPr>
        <p:spPr>
          <a:xfrm>
            <a:off x="7841894" y="3632911"/>
            <a:ext cx="571500" cy="5715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39" name="Image 3" descr="preencoded.png"/>
          <p:cNvPicPr>
            <a:picLocks noChangeAspect="1"/>
          </p:cNvPicPr>
          <p:nvPr/>
        </p:nvPicPr>
        <p:blipFill>
          <a:blip r:embed="rId4"/>
          <a:srcRect l="-17" r="-17"/>
          <a:stretch/>
        </p:blipFill>
        <p:spPr>
          <a:xfrm>
            <a:off x="7961681" y="3728009"/>
            <a:ext cx="333756" cy="381305"/>
          </a:xfrm>
          <a:prstGeom prst="rect">
            <a:avLst/>
          </a:prstGeom>
        </p:spPr>
      </p:pic>
      <p:sp>
        <p:nvSpPr>
          <p:cNvPr id="40" name="Shape 34"/>
          <p:cNvSpPr/>
          <p:nvPr/>
        </p:nvSpPr>
        <p:spPr>
          <a:xfrm>
            <a:off x="8604504" y="1223467"/>
            <a:ext cx="3114446" cy="5391302"/>
          </a:xfrm>
          <a:prstGeom prst="roundRect">
            <a:avLst>
              <a:gd name="adj" fmla="val 718"/>
            </a:avLst>
          </a:prstGeom>
          <a:solidFill>
            <a:srgbClr val="FFFFFF"/>
          </a:solidFill>
          <a:ln/>
          <a:effectLst>
            <a:outerShdw blurRad="139700" dist="76200" dir="16200000" algn="bl" rotWithShape="0">
              <a:srgbClr val="00A8A8">
                <a:alpha val="1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1" name="Shape 35"/>
          <p:cNvSpPr/>
          <p:nvPr/>
        </p:nvSpPr>
        <p:spPr>
          <a:xfrm>
            <a:off x="8604504" y="1223467"/>
            <a:ext cx="3114446" cy="57607"/>
          </a:xfrm>
          <a:prstGeom prst="rect">
            <a:avLst/>
          </a:prstGeom>
          <a:solidFill>
            <a:srgbClr val="00A8A8"/>
          </a:solidFill>
          <a:ln w="12700">
            <a:solidFill>
              <a:srgbClr val="00A8A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Shape 36"/>
          <p:cNvSpPr/>
          <p:nvPr/>
        </p:nvSpPr>
        <p:spPr>
          <a:xfrm>
            <a:off x="8573414" y="1227125"/>
            <a:ext cx="3181198" cy="1666951"/>
          </a:xfrm>
          <a:prstGeom prst="rect">
            <a:avLst/>
          </a:prstGeom>
          <a:solidFill>
            <a:srgbClr val="E6F6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3" name="Shape 37"/>
          <p:cNvSpPr/>
          <p:nvPr/>
        </p:nvSpPr>
        <p:spPr>
          <a:xfrm>
            <a:off x="8573414" y="2884932"/>
            <a:ext cx="3181198" cy="9144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44" name="Image 4" descr="preencoded.png"/>
          <p:cNvPicPr>
            <a:picLocks noChangeAspect="1"/>
          </p:cNvPicPr>
          <p:nvPr/>
        </p:nvPicPr>
        <p:blipFill>
          <a:blip r:embed="rId6"/>
          <a:srcRect l="-495385" r="-495385"/>
          <a:stretch/>
        </p:blipFill>
        <p:spPr>
          <a:xfrm>
            <a:off x="8865108" y="1470355"/>
            <a:ext cx="2648102" cy="323698"/>
          </a:xfrm>
          <a:prstGeom prst="rect">
            <a:avLst/>
          </a:prstGeom>
        </p:spPr>
      </p:pic>
      <p:sp>
        <p:nvSpPr>
          <p:cNvPr id="45" name="Shape 38"/>
          <p:cNvSpPr/>
          <p:nvPr/>
        </p:nvSpPr>
        <p:spPr>
          <a:xfrm>
            <a:off x="8573414" y="2888590"/>
            <a:ext cx="3181198" cy="378104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6" name="Shape 39"/>
          <p:cNvSpPr/>
          <p:nvPr/>
        </p:nvSpPr>
        <p:spPr>
          <a:xfrm>
            <a:off x="8865108" y="3277210"/>
            <a:ext cx="85954" cy="85954"/>
          </a:xfrm>
          <a:prstGeom prst="ellipse">
            <a:avLst/>
          </a:prstGeom>
          <a:solidFill>
            <a:srgbClr val="00A8A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7" name="Text 40"/>
          <p:cNvSpPr txBox="1"/>
          <p:nvPr/>
        </p:nvSpPr>
        <p:spPr>
          <a:xfrm>
            <a:off x="9088222" y="3180283"/>
            <a:ext cx="2352751" cy="534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4A5568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외부지향적·적응적 구조</a:t>
            </a:r>
            <a:r>
              <a:rPr lang="en-US" sz="1300" dirty="0">
                <a:solidFill>
                  <a:srgbClr val="4A5568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로 전환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4A5568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: 환경 변화 감지 및 대응력 강화</a:t>
            </a:r>
            <a:endParaRPr lang="en-US" sz="1300" dirty="0"/>
          </a:p>
        </p:txBody>
      </p:sp>
      <p:sp>
        <p:nvSpPr>
          <p:cNvPr id="48" name="Shape 41"/>
          <p:cNvSpPr/>
          <p:nvPr/>
        </p:nvSpPr>
        <p:spPr>
          <a:xfrm>
            <a:off x="8865108" y="3995928"/>
            <a:ext cx="85954" cy="85954"/>
          </a:xfrm>
          <a:prstGeom prst="ellipse">
            <a:avLst/>
          </a:prstGeom>
          <a:solidFill>
            <a:srgbClr val="00A8A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9" name="Text 42"/>
          <p:cNvSpPr txBox="1"/>
          <p:nvPr/>
        </p:nvSpPr>
        <p:spPr>
          <a:xfrm>
            <a:off x="9088222" y="3899002"/>
            <a:ext cx="2627376" cy="7909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4A5568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빠른 의사결정 체계(Fast-Track) </a:t>
            </a:r>
            <a:r>
              <a:rPr lang="en-US" sz="1300" dirty="0" err="1">
                <a:solidFill>
                  <a:srgbClr val="4A5568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도입</a:t>
            </a:r>
            <a:r>
              <a:rPr lang="en-US" sz="1300" dirty="0">
                <a:solidFill>
                  <a:srgbClr val="4A5568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 및 현장 중심 권한 위임</a:t>
            </a:r>
            <a:endParaRPr lang="en-US" sz="1300" dirty="0"/>
          </a:p>
        </p:txBody>
      </p:sp>
      <p:sp>
        <p:nvSpPr>
          <p:cNvPr id="50" name="Shape 43"/>
          <p:cNvSpPr/>
          <p:nvPr/>
        </p:nvSpPr>
        <p:spPr>
          <a:xfrm>
            <a:off x="8865108" y="4977994"/>
            <a:ext cx="85954" cy="85954"/>
          </a:xfrm>
          <a:prstGeom prst="ellipse">
            <a:avLst/>
          </a:prstGeom>
          <a:solidFill>
            <a:srgbClr val="00A8A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1" name="Text 44"/>
          <p:cNvSpPr txBox="1"/>
          <p:nvPr/>
        </p:nvSpPr>
        <p:spPr>
          <a:xfrm>
            <a:off x="9088222" y="4880153"/>
            <a:ext cx="2448763" cy="7909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4A5568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민첩한(Agile) 프로젝트 수행을 위한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4A5568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유연한 팀 구성 체계 마련</a:t>
            </a:r>
            <a:endParaRPr lang="en-US" sz="1300" dirty="0"/>
          </a:p>
        </p:txBody>
      </p:sp>
      <p:sp>
        <p:nvSpPr>
          <p:cNvPr id="52" name="Text 45"/>
          <p:cNvSpPr txBox="1"/>
          <p:nvPr/>
        </p:nvSpPr>
        <p:spPr>
          <a:xfrm>
            <a:off x="8865108" y="1985162"/>
            <a:ext cx="17337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kern="0" spc="75" dirty="0">
                <a:solidFill>
                  <a:srgbClr val="008080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IMPLICATION</a:t>
            </a:r>
            <a:endParaRPr lang="en-US" sz="1800" dirty="0"/>
          </a:p>
        </p:txBody>
      </p:sp>
      <p:sp>
        <p:nvSpPr>
          <p:cNvPr id="53" name="Text 46"/>
          <p:cNvSpPr txBox="1"/>
          <p:nvPr/>
        </p:nvSpPr>
        <p:spPr>
          <a:xfrm>
            <a:off x="8865108" y="2432304"/>
            <a:ext cx="127101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333333">
                    <a:alpha val="80000"/>
                  </a:srgbClr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조직 재설계 시사점</a:t>
            </a:r>
            <a:endParaRPr lang="en-US" sz="1000" dirty="0"/>
          </a:p>
        </p:txBody>
      </p:sp>
      <p:sp>
        <p:nvSpPr>
          <p:cNvPr id="54" name="Shape 47"/>
          <p:cNvSpPr/>
          <p:nvPr/>
        </p:nvSpPr>
        <p:spPr>
          <a:xfrm>
            <a:off x="0" y="6995160"/>
            <a:ext cx="12191695" cy="181051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5" name="Shape 48"/>
          <p:cNvSpPr/>
          <p:nvPr/>
        </p:nvSpPr>
        <p:spPr>
          <a:xfrm>
            <a:off x="0" y="6995160"/>
            <a:ext cx="12191695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6" name="Text 49"/>
          <p:cNvSpPr txBox="1"/>
          <p:nvPr/>
        </p:nvSpPr>
        <p:spPr>
          <a:xfrm>
            <a:off x="476402" y="7004304"/>
            <a:ext cx="175016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718096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시앤피컨설팅 조직 재설계 전략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0F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1695" cy="952805"/>
          </a:xfrm>
          <a:prstGeom prst="rect">
            <a:avLst/>
          </a:prstGeom>
          <a:solidFill>
            <a:srgbClr val="003D5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476402" y="504749"/>
            <a:ext cx="476402" cy="38405"/>
          </a:xfrm>
          <a:prstGeom prst="rect">
            <a:avLst/>
          </a:prstGeom>
          <a:solidFill>
            <a:srgbClr val="00A8A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 txBox="1"/>
          <p:nvPr/>
        </p:nvSpPr>
        <p:spPr>
          <a:xfrm>
            <a:off x="1143000" y="341071"/>
            <a:ext cx="7918704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b="1" kern="0" spc="-37" dirty="0">
                <a:solidFill>
                  <a:srgbClr val="FFFFFF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기술·규모 진단: 지식집약형에 전문가 중심 구조 필요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0" y="952805"/>
            <a:ext cx="12191695" cy="5429707"/>
          </a:xfrm>
          <a:prstGeom prst="rect">
            <a:avLst/>
          </a:prstGeom>
          <a:solidFill>
            <a:srgbClr val="F5F7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476402" y="1238098"/>
            <a:ext cx="3619195" cy="2572207"/>
          </a:xfrm>
          <a:prstGeom prst="roundRect">
            <a:avLst>
              <a:gd name="adj" fmla="val 790"/>
            </a:avLst>
          </a:prstGeom>
          <a:solidFill>
            <a:srgbClr val="FFFFFF"/>
          </a:solidFill>
          <a:ln/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476402" y="1238098"/>
            <a:ext cx="3619195" cy="47549"/>
          </a:xfrm>
          <a:prstGeom prst="rect">
            <a:avLst/>
          </a:prstGeom>
          <a:solidFill>
            <a:srgbClr val="718096"/>
          </a:solidFill>
          <a:ln w="12700">
            <a:solidFill>
              <a:srgbClr val="71809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666598" y="1829714"/>
            <a:ext cx="3238805" cy="9144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rcRect l="-1648" r="-1648"/>
          <a:stretch/>
        </p:blipFill>
        <p:spPr>
          <a:xfrm>
            <a:off x="666598" y="1509674"/>
            <a:ext cx="171907" cy="190195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933602" y="1476756"/>
            <a:ext cx="1345997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74151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THEORY (이론)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666598" y="2057400"/>
            <a:ext cx="57607" cy="57607"/>
          </a:xfrm>
          <a:prstGeom prst="ellipse">
            <a:avLst/>
          </a:prstGeom>
          <a:solidFill>
            <a:srgbClr val="71809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1"/>
          <p:cNvSpPr txBox="1"/>
          <p:nvPr/>
        </p:nvSpPr>
        <p:spPr>
          <a:xfrm>
            <a:off x="819303" y="1981505"/>
            <a:ext cx="3053181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4A5568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비일상적 기술</a:t>
            </a:r>
            <a:r>
              <a:rPr lang="en-US" sz="1100" dirty="0">
                <a:solidFill>
                  <a:srgbClr val="4A5568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(Perrow): 문제 해결형 업무는 낮은 공식화와 자율성 요구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666598" y="2600554"/>
            <a:ext cx="57607" cy="57607"/>
          </a:xfrm>
          <a:prstGeom prst="ellipse">
            <a:avLst/>
          </a:prstGeom>
          <a:solidFill>
            <a:srgbClr val="71809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3"/>
          <p:cNvSpPr txBox="1"/>
          <p:nvPr/>
        </p:nvSpPr>
        <p:spPr>
          <a:xfrm>
            <a:off x="819303" y="2523744"/>
            <a:ext cx="3053181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4A5568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규모 성장 단계: 초기 단순구조에서 기능식 </a:t>
            </a:r>
            <a:r>
              <a:rPr lang="en-US" sz="1100" dirty="0" err="1">
                <a:solidFill>
                  <a:srgbClr val="4A5568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구조를</a:t>
            </a:r>
            <a:r>
              <a:rPr lang="en-US" sz="1100" dirty="0">
                <a:solidFill>
                  <a:srgbClr val="4A5568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 </a:t>
            </a:r>
            <a:r>
              <a:rPr lang="en-US" sz="1100" dirty="0" err="1">
                <a:solidFill>
                  <a:srgbClr val="4A5568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거쳐</a:t>
            </a:r>
            <a:r>
              <a:rPr lang="en-US" sz="1100" dirty="0">
                <a:solidFill>
                  <a:srgbClr val="4A5568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 </a:t>
            </a:r>
            <a:r>
              <a:rPr lang="en-US" sz="1100" b="1" dirty="0" err="1">
                <a:solidFill>
                  <a:srgbClr val="4A5568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수평적</a:t>
            </a:r>
            <a:r>
              <a:rPr lang="en-US" sz="1100" b="1" dirty="0">
                <a:solidFill>
                  <a:srgbClr val="4A5568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 협업</a:t>
            </a:r>
            <a:r>
              <a:rPr lang="en-US" sz="1100" dirty="0">
                <a:solidFill>
                  <a:srgbClr val="4A5568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으로 진화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666598" y="3143707"/>
            <a:ext cx="57607" cy="57607"/>
          </a:xfrm>
          <a:prstGeom prst="ellipse">
            <a:avLst/>
          </a:prstGeom>
          <a:solidFill>
            <a:srgbClr val="71809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5"/>
          <p:cNvSpPr txBox="1"/>
          <p:nvPr/>
        </p:nvSpPr>
        <p:spPr>
          <a:xfrm>
            <a:off x="819302" y="3066898"/>
            <a:ext cx="24825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4A5568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지식집약조직은 전문성 공유가 핵심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286707" y="1238098"/>
            <a:ext cx="3619195" cy="2572207"/>
          </a:xfrm>
          <a:prstGeom prst="roundRect">
            <a:avLst>
              <a:gd name="adj" fmla="val 790"/>
            </a:avLst>
          </a:prstGeom>
          <a:solidFill>
            <a:srgbClr val="FFFFFF"/>
          </a:solidFill>
          <a:ln/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7"/>
          <p:cNvSpPr/>
          <p:nvPr/>
        </p:nvSpPr>
        <p:spPr>
          <a:xfrm>
            <a:off x="4286707" y="1238098"/>
            <a:ext cx="3619195" cy="47549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8"/>
          <p:cNvSpPr/>
          <p:nvPr/>
        </p:nvSpPr>
        <p:spPr>
          <a:xfrm>
            <a:off x="4476902" y="1829714"/>
            <a:ext cx="3238805" cy="9144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2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476902" y="1509674"/>
            <a:ext cx="190195" cy="190195"/>
          </a:xfrm>
          <a:prstGeom prst="rect">
            <a:avLst/>
          </a:prstGeom>
        </p:spPr>
      </p:pic>
      <p:sp>
        <p:nvSpPr>
          <p:cNvPr id="23" name="Text 19"/>
          <p:cNvSpPr txBox="1"/>
          <p:nvPr/>
        </p:nvSpPr>
        <p:spPr>
          <a:xfrm>
            <a:off x="4762195" y="1476756"/>
            <a:ext cx="1675181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DC2626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DIAGNOSIS (진단)</a:t>
            </a:r>
            <a:endParaRPr lang="en-US" sz="1300" dirty="0"/>
          </a:p>
        </p:txBody>
      </p:sp>
      <p:sp>
        <p:nvSpPr>
          <p:cNvPr id="24" name="Shape 20"/>
          <p:cNvSpPr/>
          <p:nvPr/>
        </p:nvSpPr>
        <p:spPr>
          <a:xfrm>
            <a:off x="4476902" y="2057400"/>
            <a:ext cx="57607" cy="57607"/>
          </a:xfrm>
          <a:prstGeom prst="ellipse">
            <a:avLst/>
          </a:prstGeom>
          <a:solidFill>
            <a:srgbClr val="E6394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1"/>
          <p:cNvSpPr txBox="1"/>
          <p:nvPr/>
        </p:nvSpPr>
        <p:spPr>
          <a:xfrm>
            <a:off x="4629607" y="1981505"/>
            <a:ext cx="3190039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4A5568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컨설팅 업무는 고도의 전문성을 요하나, 현재</a:t>
            </a:r>
            <a:r>
              <a:rPr lang="en-US" sz="1100" b="1" dirty="0">
                <a:solidFill>
                  <a:srgbClr val="4A5568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관료적 통제</a:t>
            </a:r>
            <a:r>
              <a:rPr lang="en-US" sz="1100" dirty="0">
                <a:solidFill>
                  <a:srgbClr val="4A5568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가 강함</a:t>
            </a:r>
            <a:endParaRPr lang="en-US" sz="1100" dirty="0"/>
          </a:p>
        </p:txBody>
      </p:sp>
      <p:sp>
        <p:nvSpPr>
          <p:cNvPr id="26" name="Shape 22"/>
          <p:cNvSpPr/>
          <p:nvPr/>
        </p:nvSpPr>
        <p:spPr>
          <a:xfrm>
            <a:off x="4476902" y="2600554"/>
            <a:ext cx="57607" cy="57607"/>
          </a:xfrm>
          <a:prstGeom prst="ellipse">
            <a:avLst/>
          </a:prstGeom>
          <a:solidFill>
            <a:srgbClr val="E6394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3"/>
          <p:cNvSpPr txBox="1"/>
          <p:nvPr/>
        </p:nvSpPr>
        <p:spPr>
          <a:xfrm>
            <a:off x="4629608" y="2523744"/>
            <a:ext cx="2533192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4A5568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인원 90명 규모로 성장했으나, 본부 간</a:t>
            </a:r>
            <a:r>
              <a:rPr lang="en-US" sz="1100" b="1" dirty="0">
                <a:solidFill>
                  <a:srgbClr val="4A5568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지식 공유(Knowledge Sharing) 미흡</a:t>
            </a:r>
            <a:endParaRPr lang="en-US" sz="1100" dirty="0"/>
          </a:p>
        </p:txBody>
      </p:sp>
      <p:sp>
        <p:nvSpPr>
          <p:cNvPr id="28" name="Shape 24"/>
          <p:cNvSpPr/>
          <p:nvPr/>
        </p:nvSpPr>
        <p:spPr>
          <a:xfrm>
            <a:off x="4476902" y="3143707"/>
            <a:ext cx="57607" cy="57607"/>
          </a:xfrm>
          <a:prstGeom prst="ellipse">
            <a:avLst/>
          </a:prstGeom>
          <a:solidFill>
            <a:srgbClr val="E6394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5"/>
          <p:cNvSpPr txBox="1"/>
          <p:nvPr/>
        </p:nvSpPr>
        <p:spPr>
          <a:xfrm>
            <a:off x="4629607" y="3066898"/>
            <a:ext cx="242407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4A5568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프로젝트 실패 경험의 자산화 부족</a:t>
            </a:r>
            <a:endParaRPr lang="en-US" sz="1100" dirty="0"/>
          </a:p>
        </p:txBody>
      </p:sp>
      <p:sp>
        <p:nvSpPr>
          <p:cNvPr id="30" name="Shape 26"/>
          <p:cNvSpPr/>
          <p:nvPr/>
        </p:nvSpPr>
        <p:spPr>
          <a:xfrm>
            <a:off x="8096098" y="1238098"/>
            <a:ext cx="3619195" cy="2572207"/>
          </a:xfrm>
          <a:prstGeom prst="roundRect">
            <a:avLst>
              <a:gd name="adj" fmla="val 790"/>
            </a:avLst>
          </a:prstGeom>
          <a:solidFill>
            <a:srgbClr val="F0FDFA"/>
          </a:solidFill>
          <a:ln/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1" name="Shape 27"/>
          <p:cNvSpPr/>
          <p:nvPr/>
        </p:nvSpPr>
        <p:spPr>
          <a:xfrm>
            <a:off x="8096098" y="1238098"/>
            <a:ext cx="3619195" cy="47549"/>
          </a:xfrm>
          <a:prstGeom prst="rect">
            <a:avLst/>
          </a:prstGeom>
          <a:solidFill>
            <a:srgbClr val="00A8A8"/>
          </a:solidFill>
          <a:ln w="12700">
            <a:solidFill>
              <a:srgbClr val="00A8A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Shape 28"/>
          <p:cNvSpPr/>
          <p:nvPr/>
        </p:nvSpPr>
        <p:spPr>
          <a:xfrm>
            <a:off x="8287207" y="1829714"/>
            <a:ext cx="3238805" cy="9144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3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287207" y="1509674"/>
            <a:ext cx="142646" cy="190195"/>
          </a:xfrm>
          <a:prstGeom prst="rect">
            <a:avLst/>
          </a:prstGeom>
        </p:spPr>
      </p:pic>
      <p:sp>
        <p:nvSpPr>
          <p:cNvPr id="34" name="Text 29"/>
          <p:cNvSpPr txBox="1"/>
          <p:nvPr/>
        </p:nvSpPr>
        <p:spPr>
          <a:xfrm>
            <a:off x="8524951" y="1476756"/>
            <a:ext cx="2071116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33333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IMPLICATION (시사점)</a:t>
            </a:r>
            <a:endParaRPr lang="en-US" sz="1300" dirty="0"/>
          </a:p>
        </p:txBody>
      </p:sp>
      <p:sp>
        <p:nvSpPr>
          <p:cNvPr id="35" name="Shape 30"/>
          <p:cNvSpPr/>
          <p:nvPr/>
        </p:nvSpPr>
        <p:spPr>
          <a:xfrm>
            <a:off x="8287207" y="2057400"/>
            <a:ext cx="57607" cy="57607"/>
          </a:xfrm>
          <a:prstGeom prst="ellipse">
            <a:avLst/>
          </a:prstGeom>
          <a:solidFill>
            <a:srgbClr val="00A8A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Text 31"/>
          <p:cNvSpPr txBox="1"/>
          <p:nvPr/>
        </p:nvSpPr>
        <p:spPr>
          <a:xfrm>
            <a:off x="8438998" y="1981505"/>
            <a:ext cx="3664001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4A5568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전문가 풀(Expert Pool)</a:t>
            </a:r>
            <a:r>
              <a:rPr lang="en-US" sz="1100" dirty="0">
                <a:solidFill>
                  <a:srgbClr val="4A5568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운영을 통한 유연한 인력 배치</a:t>
            </a:r>
            <a:endParaRPr lang="en-US" sz="1100" dirty="0"/>
          </a:p>
        </p:txBody>
      </p:sp>
      <p:sp>
        <p:nvSpPr>
          <p:cNvPr id="37" name="Shape 32"/>
          <p:cNvSpPr/>
          <p:nvPr/>
        </p:nvSpPr>
        <p:spPr>
          <a:xfrm>
            <a:off x="8287207" y="2600554"/>
            <a:ext cx="57607" cy="57607"/>
          </a:xfrm>
          <a:prstGeom prst="ellipse">
            <a:avLst/>
          </a:prstGeom>
          <a:solidFill>
            <a:srgbClr val="00A8A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Text 33"/>
          <p:cNvSpPr txBox="1"/>
          <p:nvPr/>
        </p:nvSpPr>
        <p:spPr>
          <a:xfrm>
            <a:off x="8438998" y="2523744"/>
            <a:ext cx="3825850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4A5568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PMO 신설</a:t>
            </a:r>
            <a:r>
              <a:rPr lang="en-US" sz="1100" dirty="0">
                <a:solidFill>
                  <a:srgbClr val="4A5568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로 전사 프로젝트 통합 관리 및 품질 표준화</a:t>
            </a:r>
            <a:endParaRPr lang="en-US" sz="1100" dirty="0"/>
          </a:p>
        </p:txBody>
      </p:sp>
      <p:sp>
        <p:nvSpPr>
          <p:cNvPr id="39" name="Shape 34"/>
          <p:cNvSpPr/>
          <p:nvPr/>
        </p:nvSpPr>
        <p:spPr>
          <a:xfrm>
            <a:off x="8287207" y="3143707"/>
            <a:ext cx="57607" cy="57607"/>
          </a:xfrm>
          <a:prstGeom prst="ellipse">
            <a:avLst/>
          </a:prstGeom>
          <a:solidFill>
            <a:srgbClr val="00A8A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Text 35"/>
          <p:cNvSpPr txBox="1"/>
          <p:nvPr/>
        </p:nvSpPr>
        <p:spPr>
          <a:xfrm>
            <a:off x="8438998" y="3066898"/>
            <a:ext cx="3664001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4A5568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Knowledge Center</a:t>
            </a:r>
            <a:r>
              <a:rPr lang="en-US" sz="1100" dirty="0">
                <a:solidFill>
                  <a:srgbClr val="4A5568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설립으로 지식 자산화 체계 구축</a:t>
            </a:r>
            <a:endParaRPr lang="en-US" sz="1100" dirty="0"/>
          </a:p>
        </p:txBody>
      </p:sp>
      <p:sp>
        <p:nvSpPr>
          <p:cNvPr id="41" name="Shape 36"/>
          <p:cNvSpPr/>
          <p:nvPr/>
        </p:nvSpPr>
        <p:spPr>
          <a:xfrm>
            <a:off x="476402" y="4000500"/>
            <a:ext cx="11239805" cy="2095805"/>
          </a:xfrm>
          <a:prstGeom prst="roundRect">
            <a:avLst>
              <a:gd name="adj" fmla="val 119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2" name="Text 37"/>
          <p:cNvSpPr txBox="1"/>
          <p:nvPr/>
        </p:nvSpPr>
        <p:spPr>
          <a:xfrm>
            <a:off x="761695" y="4267505"/>
            <a:ext cx="47457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kern="0" spc="38" dirty="0">
                <a:solidFill>
                  <a:srgbClr val="003D5B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조직 생애주기 (ORGANIZATIONAL LIFE CYCLE) 위치 진단</a:t>
            </a:r>
            <a:endParaRPr lang="en-US" sz="1200" dirty="0"/>
          </a:p>
        </p:txBody>
      </p:sp>
      <p:sp>
        <p:nvSpPr>
          <p:cNvPr id="43" name="Shape 38"/>
          <p:cNvSpPr/>
          <p:nvPr/>
        </p:nvSpPr>
        <p:spPr>
          <a:xfrm>
            <a:off x="0" y="6381598"/>
            <a:ext cx="12191695" cy="47640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4" name="Shape 39"/>
          <p:cNvSpPr/>
          <p:nvPr/>
        </p:nvSpPr>
        <p:spPr>
          <a:xfrm>
            <a:off x="0" y="6381598"/>
            <a:ext cx="12191695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5" name="Text 40"/>
          <p:cNvSpPr txBox="1"/>
          <p:nvPr/>
        </p:nvSpPr>
        <p:spPr>
          <a:xfrm>
            <a:off x="476402" y="6538874"/>
            <a:ext cx="175016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718096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시앤피컨설팅 조직 재설계 전략</a:t>
            </a:r>
            <a:endParaRPr lang="en-US" sz="900" dirty="0"/>
          </a:p>
        </p:txBody>
      </p:sp>
      <p:sp>
        <p:nvSpPr>
          <p:cNvPr id="47" name="Shape 42"/>
          <p:cNvSpPr/>
          <p:nvPr/>
        </p:nvSpPr>
        <p:spPr>
          <a:xfrm>
            <a:off x="1143000" y="5257800"/>
            <a:ext cx="9905695" cy="38405"/>
          </a:xfrm>
          <a:prstGeom prst="rect">
            <a:avLst/>
          </a:prstGeom>
          <a:solidFill>
            <a:srgbClr val="E2E8F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48" name="Image 3" descr="preencoded.png"/>
          <p:cNvPicPr>
            <a:picLocks noChangeAspect="1"/>
          </p:cNvPicPr>
          <p:nvPr/>
        </p:nvPicPr>
        <p:blipFill>
          <a:blip r:embed="rId6"/>
          <a:srcRect l="-1923" r="-1923"/>
          <a:stretch/>
        </p:blipFill>
        <p:spPr>
          <a:xfrm>
            <a:off x="3749040" y="5167274"/>
            <a:ext cx="123444" cy="190195"/>
          </a:xfrm>
          <a:prstGeom prst="rect">
            <a:avLst/>
          </a:prstGeom>
        </p:spPr>
      </p:pic>
      <p:pic>
        <p:nvPicPr>
          <p:cNvPr id="49" name="Image 4" descr="preencoded.png"/>
          <p:cNvPicPr>
            <a:picLocks noChangeAspect="1"/>
          </p:cNvPicPr>
          <p:nvPr/>
        </p:nvPicPr>
        <p:blipFill>
          <a:blip r:embed="rId6"/>
          <a:srcRect l="-1923" r="-1923"/>
          <a:stretch/>
        </p:blipFill>
        <p:spPr>
          <a:xfrm>
            <a:off x="8016545" y="5167274"/>
            <a:ext cx="123444" cy="190195"/>
          </a:xfrm>
          <a:prstGeom prst="rect">
            <a:avLst/>
          </a:prstGeom>
        </p:spPr>
      </p:pic>
      <p:sp>
        <p:nvSpPr>
          <p:cNvPr id="50" name="Shape 43"/>
          <p:cNvSpPr/>
          <p:nvPr/>
        </p:nvSpPr>
        <p:spPr>
          <a:xfrm>
            <a:off x="1886407" y="4773168"/>
            <a:ext cx="228600" cy="2286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1" name="Text 44"/>
          <p:cNvSpPr txBox="1"/>
          <p:nvPr/>
        </p:nvSpPr>
        <p:spPr>
          <a:xfrm>
            <a:off x="1385316" y="5144414"/>
            <a:ext cx="147401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D3748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도입기 (Start-up)</a:t>
            </a:r>
            <a:endParaRPr lang="en-US" sz="1200" dirty="0"/>
          </a:p>
        </p:txBody>
      </p:sp>
      <p:sp>
        <p:nvSpPr>
          <p:cNvPr id="52" name="Text 45"/>
          <p:cNvSpPr txBox="1"/>
          <p:nvPr/>
        </p:nvSpPr>
        <p:spPr>
          <a:xfrm>
            <a:off x="1347826" y="5401361"/>
            <a:ext cx="130667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718096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창업자 중심 의사결정</a:t>
            </a:r>
            <a:endParaRPr lang="en-US" sz="900" dirty="0"/>
          </a:p>
        </p:txBody>
      </p:sp>
      <p:sp>
        <p:nvSpPr>
          <p:cNvPr id="53" name="Text 46"/>
          <p:cNvSpPr txBox="1"/>
          <p:nvPr/>
        </p:nvSpPr>
        <p:spPr>
          <a:xfrm>
            <a:off x="1580083" y="5562295"/>
            <a:ext cx="84582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718096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비공식적 구조</a:t>
            </a:r>
            <a:endParaRPr lang="en-US" sz="900" dirty="0"/>
          </a:p>
        </p:txBody>
      </p:sp>
      <p:sp>
        <p:nvSpPr>
          <p:cNvPr id="54" name="Shape 47"/>
          <p:cNvSpPr/>
          <p:nvPr/>
        </p:nvSpPr>
        <p:spPr>
          <a:xfrm>
            <a:off x="5982005" y="4773168"/>
            <a:ext cx="228600" cy="228600"/>
          </a:xfrm>
          <a:prstGeom prst="ellipse">
            <a:avLst/>
          </a:prstGeom>
          <a:solidFill>
            <a:srgbClr val="003D5B"/>
          </a:solidFill>
          <a:ln w="50800">
            <a:solidFill>
              <a:srgbClr val="003D5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5" name="Text 48"/>
          <p:cNvSpPr txBox="1"/>
          <p:nvPr/>
        </p:nvSpPr>
        <p:spPr>
          <a:xfrm>
            <a:off x="5513832" y="5144414"/>
            <a:ext cx="135148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D3748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성장기 (Growth)</a:t>
            </a:r>
            <a:endParaRPr lang="en-US" sz="1200" dirty="0"/>
          </a:p>
        </p:txBody>
      </p:sp>
      <p:sp>
        <p:nvSpPr>
          <p:cNvPr id="56" name="Text 49"/>
          <p:cNvSpPr txBox="1"/>
          <p:nvPr/>
        </p:nvSpPr>
        <p:spPr>
          <a:xfrm>
            <a:off x="5469941" y="5401361"/>
            <a:ext cx="1255471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718096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조직 확장 및 다각화</a:t>
            </a:r>
            <a:endParaRPr lang="en-US" sz="900" dirty="0"/>
          </a:p>
        </p:txBody>
      </p:sp>
      <p:sp>
        <p:nvSpPr>
          <p:cNvPr id="57" name="Text 50"/>
          <p:cNvSpPr txBox="1"/>
          <p:nvPr/>
        </p:nvSpPr>
        <p:spPr>
          <a:xfrm>
            <a:off x="5575097" y="5562295"/>
            <a:ext cx="105156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718096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규칙과 절차 도입</a:t>
            </a:r>
            <a:endParaRPr lang="en-US" sz="900" dirty="0"/>
          </a:p>
        </p:txBody>
      </p:sp>
      <p:sp>
        <p:nvSpPr>
          <p:cNvPr id="58" name="Shape 51"/>
          <p:cNvSpPr/>
          <p:nvPr/>
        </p:nvSpPr>
        <p:spPr>
          <a:xfrm>
            <a:off x="10077602" y="4773168"/>
            <a:ext cx="228600" cy="2286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9" name="Text 52"/>
          <p:cNvSpPr txBox="1"/>
          <p:nvPr/>
        </p:nvSpPr>
        <p:spPr>
          <a:xfrm>
            <a:off x="9564624" y="5144414"/>
            <a:ext cx="149687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D3748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성숙기 (Maturity)</a:t>
            </a:r>
            <a:endParaRPr lang="en-US" sz="1200" dirty="0"/>
          </a:p>
        </p:txBody>
      </p:sp>
      <p:sp>
        <p:nvSpPr>
          <p:cNvPr id="60" name="Text 53"/>
          <p:cNvSpPr txBox="1"/>
          <p:nvPr/>
        </p:nvSpPr>
        <p:spPr>
          <a:xfrm>
            <a:off x="9539021" y="5401361"/>
            <a:ext cx="130667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718096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안정성과 효율성 추구</a:t>
            </a:r>
            <a:endParaRPr lang="en-US" sz="900" dirty="0"/>
          </a:p>
        </p:txBody>
      </p:sp>
      <p:sp>
        <p:nvSpPr>
          <p:cNvPr id="61" name="Text 54"/>
          <p:cNvSpPr txBox="1"/>
          <p:nvPr/>
        </p:nvSpPr>
        <p:spPr>
          <a:xfrm>
            <a:off x="9835286" y="5562295"/>
            <a:ext cx="717804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718096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관료화 위험</a:t>
            </a:r>
            <a:endParaRPr lang="en-US" sz="900" dirty="0"/>
          </a:p>
        </p:txBody>
      </p:sp>
      <p:grpSp>
        <p:nvGrpSpPr>
          <p:cNvPr id="65" name="그룹 64">
            <a:extLst>
              <a:ext uri="{FF2B5EF4-FFF2-40B4-BE49-F238E27FC236}">
                <a16:creationId xmlns:a16="http://schemas.microsoft.com/office/drawing/2014/main" id="{0377DC27-801E-C404-3E1F-B41EF8564D2B}"/>
              </a:ext>
            </a:extLst>
          </p:cNvPr>
          <p:cNvGrpSpPr/>
          <p:nvPr/>
        </p:nvGrpSpPr>
        <p:grpSpPr>
          <a:xfrm>
            <a:off x="6273241" y="4695673"/>
            <a:ext cx="1174929" cy="352044"/>
            <a:chOff x="6534303" y="4209898"/>
            <a:chExt cx="1174929" cy="352044"/>
          </a:xfrm>
        </p:grpSpPr>
        <p:sp>
          <p:nvSpPr>
            <p:cNvPr id="62" name="Shape 55"/>
            <p:cNvSpPr/>
            <p:nvPr/>
          </p:nvSpPr>
          <p:spPr>
            <a:xfrm>
              <a:off x="6534303" y="4209898"/>
              <a:ext cx="1099110" cy="352044"/>
            </a:xfrm>
            <a:prstGeom prst="roundRect">
              <a:avLst>
                <a:gd name="adj" fmla="val 140400"/>
              </a:avLst>
            </a:prstGeom>
            <a:solidFill>
              <a:srgbClr val="ED8936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  <a:effectLst>
              <a:outerShdw blurRad="63500" dist="38100" dir="16200000" algn="bl" rotWithShape="0">
                <a:srgbClr val="ED8936">
                  <a:alpha val="30000"/>
                </a:srgb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pic>
          <p:nvPicPr>
            <p:cNvPr id="63" name="Image 5" descr="preencoded.png"/>
            <p:cNvPicPr>
              <a:picLocks noChangeAspect="1"/>
            </p:cNvPicPr>
            <p:nvPr/>
          </p:nvPicPr>
          <p:blipFill>
            <a:blip r:embed="rId7"/>
            <a:srcRect l="-2512" r="-2512"/>
            <a:stretch/>
          </p:blipFill>
          <p:spPr>
            <a:xfrm>
              <a:off x="6676949" y="4322369"/>
              <a:ext cx="105156" cy="133502"/>
            </a:xfrm>
            <a:prstGeom prst="rect">
              <a:avLst/>
            </a:prstGeom>
          </p:spPr>
        </p:pic>
        <p:sp>
          <p:nvSpPr>
            <p:cNvPr id="64" name="Text 56"/>
            <p:cNvSpPr txBox="1"/>
            <p:nvPr/>
          </p:nvSpPr>
          <p:spPr>
            <a:xfrm>
              <a:off x="6819595" y="4286707"/>
              <a:ext cx="889637" cy="22928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ko-KR" altLang="en-US" sz="1000" b="1" dirty="0" err="1">
                  <a:solidFill>
                    <a:srgbClr val="FFFFFF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시앤피컨설팅</a:t>
              </a:r>
              <a:endParaRPr lang="en-US" sz="1000" dirty="0"/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6" name="그룹 85">
            <a:extLst>
              <a:ext uri="{FF2B5EF4-FFF2-40B4-BE49-F238E27FC236}">
                <a16:creationId xmlns:a16="http://schemas.microsoft.com/office/drawing/2014/main" id="{66FC2E5E-7879-FBEB-BE89-DCBAD5C0E2A3}"/>
              </a:ext>
            </a:extLst>
          </p:cNvPr>
          <p:cNvGrpSpPr/>
          <p:nvPr/>
        </p:nvGrpSpPr>
        <p:grpSpPr>
          <a:xfrm>
            <a:off x="0" y="0"/>
            <a:ext cx="12192610" cy="6858915"/>
            <a:chOff x="0" y="0"/>
            <a:chExt cx="12192610" cy="6858915"/>
          </a:xfrm>
        </p:grpSpPr>
        <p:sp>
          <p:nvSpPr>
            <p:cNvPr id="2" name="Shape 0"/>
            <p:cNvSpPr/>
            <p:nvPr/>
          </p:nvSpPr>
          <p:spPr>
            <a:xfrm>
              <a:off x="0" y="0"/>
              <a:ext cx="12191695" cy="6858000"/>
            </a:xfrm>
            <a:prstGeom prst="rect">
              <a:avLst/>
            </a:prstGeom>
            <a:solidFill>
              <a:srgbClr val="F0F0F0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" name="Shape 1"/>
            <p:cNvSpPr/>
            <p:nvPr/>
          </p:nvSpPr>
          <p:spPr>
            <a:xfrm>
              <a:off x="0" y="0"/>
              <a:ext cx="12191695" cy="68580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" name="Shape 2"/>
            <p:cNvSpPr/>
            <p:nvPr/>
          </p:nvSpPr>
          <p:spPr>
            <a:xfrm>
              <a:off x="0" y="782726"/>
              <a:ext cx="3657600" cy="4895698"/>
            </a:xfrm>
            <a:prstGeom prst="rect">
              <a:avLst/>
            </a:prstGeom>
            <a:solidFill>
              <a:srgbClr val="F8FAFC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" name="Shape 3"/>
            <p:cNvSpPr/>
            <p:nvPr/>
          </p:nvSpPr>
          <p:spPr>
            <a:xfrm>
              <a:off x="3638398" y="782726"/>
              <a:ext cx="19202" cy="4895698"/>
            </a:xfrm>
            <a:prstGeom prst="rect">
              <a:avLst/>
            </a:prstGeom>
            <a:solidFill>
              <a:srgbClr val="E2E8F0"/>
            </a:solidFill>
            <a:ln w="12700">
              <a:solidFill>
                <a:srgbClr val="E2E8F0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6" name="Shape 4"/>
            <p:cNvSpPr/>
            <p:nvPr/>
          </p:nvSpPr>
          <p:spPr>
            <a:xfrm>
              <a:off x="0" y="782726"/>
              <a:ext cx="3638398" cy="57607"/>
            </a:xfrm>
            <a:prstGeom prst="rect">
              <a:avLst/>
            </a:prstGeom>
            <a:solidFill>
              <a:srgbClr val="003D5B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7" name="Shape 5"/>
            <p:cNvSpPr/>
            <p:nvPr/>
          </p:nvSpPr>
          <p:spPr>
            <a:xfrm>
              <a:off x="190195" y="1354226"/>
              <a:ext cx="3258007" cy="9144"/>
            </a:xfrm>
            <a:prstGeom prst="rect">
              <a:avLst/>
            </a:prstGeom>
            <a:solidFill>
              <a:srgbClr val="000000">
                <a:alpha val="10000"/>
              </a:srgbClr>
            </a:solidFill>
            <a:ln w="12700">
              <a:solidFill>
                <a:srgbClr val="000000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pic>
          <p:nvPicPr>
            <p:cNvPr id="8" name="Image 0" descr="preencoded.png"/>
            <p:cNvPicPr>
              <a:picLocks noChangeAspect="1"/>
            </p:cNvPicPr>
            <p:nvPr/>
          </p:nvPicPr>
          <p:blipFill>
            <a:blip r:embed="rId3"/>
            <a:srcRect/>
            <a:stretch/>
          </p:blipFill>
          <p:spPr>
            <a:xfrm>
              <a:off x="950976" y="1025042"/>
              <a:ext cx="190195" cy="190195"/>
            </a:xfrm>
            <a:prstGeom prst="rect">
              <a:avLst/>
            </a:prstGeom>
          </p:spPr>
        </p:pic>
        <p:sp>
          <p:nvSpPr>
            <p:cNvPr id="9" name="Text 6"/>
            <p:cNvSpPr txBox="1"/>
            <p:nvPr/>
          </p:nvSpPr>
          <p:spPr>
            <a:xfrm>
              <a:off x="1077163" y="972922"/>
              <a:ext cx="1757477" cy="2770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en-US" sz="1500" b="1" dirty="0">
                  <a:solidFill>
                    <a:srgbClr val="003D5B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현재 문화 (AS-IS)</a:t>
              </a:r>
              <a:endParaRPr lang="en-US" sz="1500" dirty="0"/>
            </a:p>
          </p:txBody>
        </p:sp>
        <p:pic>
          <p:nvPicPr>
            <p:cNvPr id="10" name="Image 1" descr="preencoded.png"/>
            <p:cNvPicPr>
              <a:picLocks noChangeAspect="1"/>
            </p:cNvPicPr>
            <p:nvPr/>
          </p:nvPicPr>
          <p:blipFill>
            <a:blip r:embed="rId4"/>
            <a:srcRect l="-10" r="-10"/>
            <a:stretch/>
          </p:blipFill>
          <p:spPr>
            <a:xfrm>
              <a:off x="190195" y="1553566"/>
              <a:ext cx="3258007" cy="2381098"/>
            </a:xfrm>
            <a:prstGeom prst="rect">
              <a:avLst/>
            </a:prstGeom>
          </p:spPr>
        </p:pic>
        <p:sp>
          <p:nvSpPr>
            <p:cNvPr id="11" name="Shape 7"/>
            <p:cNvSpPr/>
            <p:nvPr/>
          </p:nvSpPr>
          <p:spPr>
            <a:xfrm>
              <a:off x="190195" y="4125773"/>
              <a:ext cx="3258007" cy="390449"/>
            </a:xfrm>
            <a:prstGeom prst="roundRect">
              <a:avLst>
                <a:gd name="adj" fmla="val 34272"/>
              </a:avLst>
            </a:prstGeom>
            <a:solidFill>
              <a:srgbClr val="FFFFFF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2" name="Shape 8"/>
            <p:cNvSpPr/>
            <p:nvPr/>
          </p:nvSpPr>
          <p:spPr>
            <a:xfrm>
              <a:off x="190195" y="4125773"/>
              <a:ext cx="38405" cy="390449"/>
            </a:xfrm>
            <a:prstGeom prst="rect">
              <a:avLst/>
            </a:prstGeom>
            <a:solidFill>
              <a:srgbClr val="003D5B"/>
            </a:solidFill>
            <a:ln w="12700">
              <a:solidFill>
                <a:srgbClr val="003D5B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pic>
          <p:nvPicPr>
            <p:cNvPr id="13" name="Image 2" descr="preencoded.png"/>
            <p:cNvPicPr>
              <a:picLocks noChangeAspect="1"/>
            </p:cNvPicPr>
            <p:nvPr/>
          </p:nvPicPr>
          <p:blipFill>
            <a:blip r:embed="rId5"/>
            <a:srcRect l="-26104" r="-26104"/>
            <a:stretch/>
          </p:blipFill>
          <p:spPr>
            <a:xfrm>
              <a:off x="371246" y="4254703"/>
              <a:ext cx="228600" cy="133502"/>
            </a:xfrm>
            <a:prstGeom prst="rect">
              <a:avLst/>
            </a:prstGeom>
          </p:spPr>
        </p:pic>
        <p:sp>
          <p:nvSpPr>
            <p:cNvPr id="14" name="Text 9"/>
            <p:cNvSpPr txBox="1"/>
            <p:nvPr/>
          </p:nvSpPr>
          <p:spPr>
            <a:xfrm>
              <a:off x="694944" y="4125773"/>
              <a:ext cx="1986991" cy="3913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dirty="0">
                  <a:solidFill>
                    <a:srgbClr val="2D3748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높은 위계질서 및 수직적 구조</a:t>
              </a:r>
              <a:endParaRPr lang="en-US" sz="1000" dirty="0"/>
            </a:p>
          </p:txBody>
        </p:sp>
        <p:sp>
          <p:nvSpPr>
            <p:cNvPr id="15" name="Shape 10"/>
            <p:cNvSpPr/>
            <p:nvPr/>
          </p:nvSpPr>
          <p:spPr>
            <a:xfrm>
              <a:off x="190195" y="4611319"/>
              <a:ext cx="3258007" cy="390449"/>
            </a:xfrm>
            <a:prstGeom prst="roundRect">
              <a:avLst>
                <a:gd name="adj" fmla="val 34272"/>
              </a:avLst>
            </a:prstGeom>
            <a:solidFill>
              <a:srgbClr val="FFFFFF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6" name="Shape 11"/>
            <p:cNvSpPr/>
            <p:nvPr/>
          </p:nvSpPr>
          <p:spPr>
            <a:xfrm>
              <a:off x="190195" y="4611319"/>
              <a:ext cx="38405" cy="390449"/>
            </a:xfrm>
            <a:prstGeom prst="rect">
              <a:avLst/>
            </a:prstGeom>
            <a:solidFill>
              <a:srgbClr val="003D5B"/>
            </a:solidFill>
            <a:ln w="12700">
              <a:solidFill>
                <a:srgbClr val="003D5B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pic>
          <p:nvPicPr>
            <p:cNvPr id="17" name="Image 3" descr="preencoded.png"/>
            <p:cNvPicPr>
              <a:picLocks noChangeAspect="1"/>
            </p:cNvPicPr>
            <p:nvPr/>
          </p:nvPicPr>
          <p:blipFill>
            <a:blip r:embed="rId6"/>
            <a:srcRect l="-47848" r="-47848"/>
            <a:stretch/>
          </p:blipFill>
          <p:spPr>
            <a:xfrm>
              <a:off x="371246" y="4740250"/>
              <a:ext cx="228600" cy="133502"/>
            </a:xfrm>
            <a:prstGeom prst="rect">
              <a:avLst/>
            </a:prstGeom>
          </p:spPr>
        </p:pic>
        <p:sp>
          <p:nvSpPr>
            <p:cNvPr id="18" name="Text 12"/>
            <p:cNvSpPr txBox="1"/>
            <p:nvPr/>
          </p:nvSpPr>
          <p:spPr>
            <a:xfrm>
              <a:off x="694944" y="4611319"/>
              <a:ext cx="1765706" cy="3913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dirty="0">
                  <a:solidFill>
                    <a:srgbClr val="2D3748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안정성 중심의 통제형 관리</a:t>
              </a:r>
              <a:endParaRPr lang="en-US" sz="1000" dirty="0"/>
            </a:p>
          </p:txBody>
        </p:sp>
        <p:sp>
          <p:nvSpPr>
            <p:cNvPr id="19" name="Shape 13"/>
            <p:cNvSpPr/>
            <p:nvPr/>
          </p:nvSpPr>
          <p:spPr>
            <a:xfrm>
              <a:off x="190195" y="5096866"/>
              <a:ext cx="3258007" cy="390449"/>
            </a:xfrm>
            <a:prstGeom prst="roundRect">
              <a:avLst>
                <a:gd name="adj" fmla="val 34272"/>
              </a:avLst>
            </a:prstGeom>
            <a:solidFill>
              <a:srgbClr val="FFFFFF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0" name="Shape 14"/>
            <p:cNvSpPr/>
            <p:nvPr/>
          </p:nvSpPr>
          <p:spPr>
            <a:xfrm>
              <a:off x="190195" y="5096866"/>
              <a:ext cx="38405" cy="390449"/>
            </a:xfrm>
            <a:prstGeom prst="rect">
              <a:avLst/>
            </a:prstGeom>
            <a:solidFill>
              <a:srgbClr val="003D5B"/>
            </a:solidFill>
            <a:ln w="12700">
              <a:solidFill>
                <a:srgbClr val="003D5B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pic>
          <p:nvPicPr>
            <p:cNvPr id="21" name="Image 4" descr="preencoded.png"/>
            <p:cNvPicPr>
              <a:picLocks noChangeAspect="1"/>
            </p:cNvPicPr>
            <p:nvPr/>
          </p:nvPicPr>
          <p:blipFill>
            <a:blip r:embed="rId7"/>
            <a:srcRect l="-18493" r="-18493"/>
            <a:stretch/>
          </p:blipFill>
          <p:spPr>
            <a:xfrm>
              <a:off x="371246" y="5225796"/>
              <a:ext cx="228600" cy="133502"/>
            </a:xfrm>
            <a:prstGeom prst="rect">
              <a:avLst/>
            </a:prstGeom>
          </p:spPr>
        </p:pic>
        <p:sp>
          <p:nvSpPr>
            <p:cNvPr id="22" name="Text 15"/>
            <p:cNvSpPr txBox="1"/>
            <p:nvPr/>
          </p:nvSpPr>
          <p:spPr>
            <a:xfrm>
              <a:off x="694944" y="5096866"/>
              <a:ext cx="1903781" cy="3913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dirty="0">
                  <a:solidFill>
                    <a:srgbClr val="2D3748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내부 지향적이며 변화 저항적</a:t>
              </a:r>
              <a:endParaRPr lang="en-US" sz="1000" dirty="0"/>
            </a:p>
          </p:txBody>
        </p:sp>
        <p:sp>
          <p:nvSpPr>
            <p:cNvPr id="23" name="Shape 16"/>
            <p:cNvSpPr/>
            <p:nvPr/>
          </p:nvSpPr>
          <p:spPr>
            <a:xfrm>
              <a:off x="3657600" y="782726"/>
              <a:ext cx="4267505" cy="4895698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4" name="Text 17"/>
            <p:cNvSpPr txBox="1"/>
            <p:nvPr/>
          </p:nvSpPr>
          <p:spPr>
            <a:xfrm>
              <a:off x="4581144" y="972922"/>
              <a:ext cx="2424074" cy="3054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E63946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Transformation Gap</a:t>
              </a:r>
              <a:endParaRPr lang="en-US" sz="1600" dirty="0"/>
            </a:p>
          </p:txBody>
        </p:sp>
        <p:sp>
          <p:nvSpPr>
            <p:cNvPr id="25" name="Shape 18"/>
            <p:cNvSpPr/>
            <p:nvPr/>
          </p:nvSpPr>
          <p:spPr>
            <a:xfrm>
              <a:off x="7925105" y="782726"/>
              <a:ext cx="4267505" cy="4895698"/>
            </a:xfrm>
            <a:prstGeom prst="rect">
              <a:avLst/>
            </a:prstGeom>
            <a:solidFill>
              <a:srgbClr val="F0FDFA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6" name="Shape 19"/>
            <p:cNvSpPr/>
            <p:nvPr/>
          </p:nvSpPr>
          <p:spPr>
            <a:xfrm>
              <a:off x="7925105" y="782726"/>
              <a:ext cx="4267505" cy="57607"/>
            </a:xfrm>
            <a:prstGeom prst="rect">
              <a:avLst/>
            </a:prstGeom>
            <a:solidFill>
              <a:srgbClr val="00A8A8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7" name="Shape 20"/>
            <p:cNvSpPr/>
            <p:nvPr/>
          </p:nvSpPr>
          <p:spPr>
            <a:xfrm>
              <a:off x="8115300" y="1354226"/>
              <a:ext cx="3886200" cy="9144"/>
            </a:xfrm>
            <a:prstGeom prst="rect">
              <a:avLst/>
            </a:prstGeom>
            <a:solidFill>
              <a:srgbClr val="000000">
                <a:alpha val="10000"/>
              </a:srgbClr>
            </a:solidFill>
            <a:ln w="12700">
              <a:solidFill>
                <a:srgbClr val="000000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pic>
          <p:nvPicPr>
            <p:cNvPr id="28" name="Image 5" descr="preencoded.png"/>
            <p:cNvPicPr>
              <a:picLocks noChangeAspect="1"/>
            </p:cNvPicPr>
            <p:nvPr/>
          </p:nvPicPr>
          <p:blipFill>
            <a:blip r:embed="rId8"/>
            <a:srcRect l="-1648" r="-1648"/>
            <a:stretch/>
          </p:blipFill>
          <p:spPr>
            <a:xfrm>
              <a:off x="9159545" y="1025042"/>
              <a:ext cx="171907" cy="190195"/>
            </a:xfrm>
            <a:prstGeom prst="rect">
              <a:avLst/>
            </a:prstGeom>
          </p:spPr>
        </p:pic>
        <p:sp>
          <p:nvSpPr>
            <p:cNvPr id="29" name="Text 21"/>
            <p:cNvSpPr txBox="1"/>
            <p:nvPr/>
          </p:nvSpPr>
          <p:spPr>
            <a:xfrm>
              <a:off x="9259214" y="972922"/>
              <a:ext cx="1848002" cy="2770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en-US" sz="1500" b="1" dirty="0">
                  <a:solidFill>
                    <a:srgbClr val="00A8A8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목표 문화 (TO-BE)</a:t>
              </a:r>
              <a:endParaRPr lang="en-US" sz="1500" dirty="0"/>
            </a:p>
          </p:txBody>
        </p:sp>
        <p:pic>
          <p:nvPicPr>
            <p:cNvPr id="30" name="Image 6" descr="preencoded.png"/>
            <p:cNvPicPr>
              <a:picLocks noChangeAspect="1"/>
            </p:cNvPicPr>
            <p:nvPr/>
          </p:nvPicPr>
          <p:blipFill>
            <a:blip r:embed="rId9"/>
            <a:srcRect l="-3" r="-3"/>
            <a:stretch/>
          </p:blipFill>
          <p:spPr>
            <a:xfrm>
              <a:off x="8115300" y="1553566"/>
              <a:ext cx="3886200" cy="2381098"/>
            </a:xfrm>
            <a:prstGeom prst="rect">
              <a:avLst/>
            </a:prstGeom>
          </p:spPr>
        </p:pic>
        <p:sp>
          <p:nvSpPr>
            <p:cNvPr id="31" name="Shape 22"/>
            <p:cNvSpPr/>
            <p:nvPr/>
          </p:nvSpPr>
          <p:spPr>
            <a:xfrm>
              <a:off x="8115300" y="4125773"/>
              <a:ext cx="3886200" cy="390449"/>
            </a:xfrm>
            <a:prstGeom prst="roundRect">
              <a:avLst>
                <a:gd name="adj" fmla="val 34272"/>
              </a:avLst>
            </a:prstGeom>
            <a:solidFill>
              <a:srgbClr val="FFFFFF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2" name="Shape 23"/>
            <p:cNvSpPr/>
            <p:nvPr/>
          </p:nvSpPr>
          <p:spPr>
            <a:xfrm>
              <a:off x="8115300" y="4125773"/>
              <a:ext cx="38405" cy="390449"/>
            </a:xfrm>
            <a:prstGeom prst="rect">
              <a:avLst/>
            </a:prstGeom>
            <a:solidFill>
              <a:srgbClr val="00A8A8"/>
            </a:solidFill>
            <a:ln w="12700">
              <a:solidFill>
                <a:srgbClr val="00A8A8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pic>
          <p:nvPicPr>
            <p:cNvPr id="33" name="Image 7" descr="preencoded.png"/>
            <p:cNvPicPr>
              <a:picLocks noChangeAspect="1"/>
            </p:cNvPicPr>
            <p:nvPr/>
          </p:nvPicPr>
          <p:blipFill>
            <a:blip r:embed="rId10"/>
            <a:srcRect l="-35617" r="-35617"/>
            <a:stretch/>
          </p:blipFill>
          <p:spPr>
            <a:xfrm>
              <a:off x="8296351" y="4254703"/>
              <a:ext cx="228600" cy="133502"/>
            </a:xfrm>
            <a:prstGeom prst="rect">
              <a:avLst/>
            </a:prstGeom>
          </p:spPr>
        </p:pic>
        <p:sp>
          <p:nvSpPr>
            <p:cNvPr id="34" name="Text 24"/>
            <p:cNvSpPr txBox="1"/>
            <p:nvPr/>
          </p:nvSpPr>
          <p:spPr>
            <a:xfrm>
              <a:off x="8620049" y="4125773"/>
              <a:ext cx="2070202" cy="3913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dirty="0">
                  <a:solidFill>
                    <a:srgbClr val="2D3748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혁신 역량 강화 및 자율성 확대</a:t>
              </a:r>
              <a:endParaRPr lang="en-US" sz="1000" dirty="0"/>
            </a:p>
          </p:txBody>
        </p:sp>
        <p:sp>
          <p:nvSpPr>
            <p:cNvPr id="35" name="Shape 25"/>
            <p:cNvSpPr/>
            <p:nvPr/>
          </p:nvSpPr>
          <p:spPr>
            <a:xfrm>
              <a:off x="8115300" y="4611319"/>
              <a:ext cx="3886200" cy="390449"/>
            </a:xfrm>
            <a:prstGeom prst="roundRect">
              <a:avLst>
                <a:gd name="adj" fmla="val 34272"/>
              </a:avLst>
            </a:prstGeom>
            <a:solidFill>
              <a:srgbClr val="FFFFFF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6" name="Shape 26"/>
            <p:cNvSpPr/>
            <p:nvPr/>
          </p:nvSpPr>
          <p:spPr>
            <a:xfrm>
              <a:off x="8115300" y="4611319"/>
              <a:ext cx="38405" cy="390449"/>
            </a:xfrm>
            <a:prstGeom prst="rect">
              <a:avLst/>
            </a:prstGeom>
            <a:solidFill>
              <a:srgbClr val="00A8A8"/>
            </a:solidFill>
            <a:ln w="12700">
              <a:solidFill>
                <a:srgbClr val="00A8A8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pic>
          <p:nvPicPr>
            <p:cNvPr id="37" name="Image 8" descr="preencoded.png"/>
            <p:cNvPicPr>
              <a:picLocks noChangeAspect="1"/>
            </p:cNvPicPr>
            <p:nvPr/>
          </p:nvPicPr>
          <p:blipFill>
            <a:blip r:embed="rId11"/>
            <a:srcRect l="-35617" r="-35617"/>
            <a:stretch/>
          </p:blipFill>
          <p:spPr>
            <a:xfrm>
              <a:off x="8296351" y="4740250"/>
              <a:ext cx="228600" cy="133502"/>
            </a:xfrm>
            <a:prstGeom prst="rect">
              <a:avLst/>
            </a:prstGeom>
          </p:spPr>
        </p:pic>
        <p:sp>
          <p:nvSpPr>
            <p:cNvPr id="38" name="Text 27"/>
            <p:cNvSpPr txBox="1"/>
            <p:nvPr/>
          </p:nvSpPr>
          <p:spPr>
            <a:xfrm>
              <a:off x="8620049" y="4611319"/>
              <a:ext cx="1986991" cy="3913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dirty="0">
                  <a:solidFill>
                    <a:srgbClr val="2D3748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시장 변화에 대한 민첩한 대응</a:t>
              </a:r>
              <a:endParaRPr lang="en-US" sz="1000" dirty="0"/>
            </a:p>
          </p:txBody>
        </p:sp>
        <p:sp>
          <p:nvSpPr>
            <p:cNvPr id="39" name="Shape 28"/>
            <p:cNvSpPr/>
            <p:nvPr/>
          </p:nvSpPr>
          <p:spPr>
            <a:xfrm>
              <a:off x="8115300" y="5096866"/>
              <a:ext cx="3886200" cy="390449"/>
            </a:xfrm>
            <a:prstGeom prst="roundRect">
              <a:avLst>
                <a:gd name="adj" fmla="val 34272"/>
              </a:avLst>
            </a:prstGeom>
            <a:solidFill>
              <a:srgbClr val="FFFFFF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0" name="Shape 29"/>
            <p:cNvSpPr/>
            <p:nvPr/>
          </p:nvSpPr>
          <p:spPr>
            <a:xfrm>
              <a:off x="8115300" y="5096866"/>
              <a:ext cx="38405" cy="390449"/>
            </a:xfrm>
            <a:prstGeom prst="rect">
              <a:avLst/>
            </a:prstGeom>
            <a:solidFill>
              <a:srgbClr val="00A8A8"/>
            </a:solidFill>
            <a:ln w="12700">
              <a:solidFill>
                <a:srgbClr val="00A8A8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pic>
          <p:nvPicPr>
            <p:cNvPr id="41" name="Image 9" descr="preencoded.png"/>
            <p:cNvPicPr>
              <a:picLocks noChangeAspect="1"/>
            </p:cNvPicPr>
            <p:nvPr/>
          </p:nvPicPr>
          <p:blipFill>
            <a:blip r:embed="rId12"/>
            <a:srcRect l="-35617" r="-35617"/>
            <a:stretch/>
          </p:blipFill>
          <p:spPr>
            <a:xfrm>
              <a:off x="8296351" y="5225796"/>
              <a:ext cx="228600" cy="133502"/>
            </a:xfrm>
            <a:prstGeom prst="rect">
              <a:avLst/>
            </a:prstGeom>
          </p:spPr>
        </p:pic>
        <p:sp>
          <p:nvSpPr>
            <p:cNvPr id="42" name="Text 30"/>
            <p:cNvSpPr txBox="1"/>
            <p:nvPr/>
          </p:nvSpPr>
          <p:spPr>
            <a:xfrm>
              <a:off x="8620049" y="5096866"/>
              <a:ext cx="2070202" cy="3913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dirty="0">
                  <a:solidFill>
                    <a:srgbClr val="2D3748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지속적 학습 및 성장 문화 구현</a:t>
              </a:r>
              <a:endParaRPr lang="en-US" sz="1000" dirty="0"/>
            </a:p>
          </p:txBody>
        </p:sp>
        <p:sp>
          <p:nvSpPr>
            <p:cNvPr id="43" name="Shape 31"/>
            <p:cNvSpPr/>
            <p:nvPr/>
          </p:nvSpPr>
          <p:spPr>
            <a:xfrm>
              <a:off x="0" y="5678424"/>
              <a:ext cx="12191695" cy="857707"/>
            </a:xfrm>
            <a:prstGeom prst="rect">
              <a:avLst/>
            </a:prstGeom>
            <a:solidFill>
              <a:srgbClr val="003D5B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4" name="Text 32"/>
            <p:cNvSpPr txBox="1"/>
            <p:nvPr/>
          </p:nvSpPr>
          <p:spPr>
            <a:xfrm>
              <a:off x="381305" y="5978347"/>
              <a:ext cx="1766621" cy="2478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1300" b="1" dirty="0">
                  <a:solidFill>
                    <a:srgbClr val="00A8A8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KEY IMPLICATIONS</a:t>
              </a:r>
              <a:endParaRPr lang="en-US" sz="1300" dirty="0"/>
            </a:p>
          </p:txBody>
        </p:sp>
        <p:pic>
          <p:nvPicPr>
            <p:cNvPr id="45" name="Image 10" descr="preencoded.png"/>
            <p:cNvPicPr>
              <a:picLocks noChangeAspect="1"/>
            </p:cNvPicPr>
            <p:nvPr/>
          </p:nvPicPr>
          <p:blipFill>
            <a:blip r:embed="rId13"/>
            <a:srcRect/>
            <a:stretch/>
          </p:blipFill>
          <p:spPr>
            <a:xfrm>
              <a:off x="2296058" y="6035040"/>
              <a:ext cx="142646" cy="142646"/>
            </a:xfrm>
            <a:prstGeom prst="rect">
              <a:avLst/>
            </a:prstGeom>
          </p:spPr>
        </p:pic>
        <p:sp>
          <p:nvSpPr>
            <p:cNvPr id="46" name="Text 33"/>
            <p:cNvSpPr txBox="1"/>
            <p:nvPr/>
          </p:nvSpPr>
          <p:spPr>
            <a:xfrm>
              <a:off x="2533802" y="5999378"/>
              <a:ext cx="2188159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100" dirty="0">
                  <a:solidFill>
                    <a:srgbClr val="FFFFFF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수평적 커뮤니케이션 체계 구축</a:t>
              </a:r>
              <a:endParaRPr lang="en-US" sz="1100" dirty="0"/>
            </a:p>
          </p:txBody>
        </p:sp>
        <p:pic>
          <p:nvPicPr>
            <p:cNvPr id="47" name="Image 11" descr="preencoded.png"/>
            <p:cNvPicPr>
              <a:picLocks noChangeAspect="1"/>
            </p:cNvPicPr>
            <p:nvPr/>
          </p:nvPicPr>
          <p:blipFill>
            <a:blip r:embed="rId13"/>
            <a:srcRect/>
            <a:stretch/>
          </p:blipFill>
          <p:spPr>
            <a:xfrm>
              <a:off x="4648810" y="6035040"/>
              <a:ext cx="142646" cy="142646"/>
            </a:xfrm>
            <a:prstGeom prst="rect">
              <a:avLst/>
            </a:prstGeom>
          </p:spPr>
        </p:pic>
        <p:sp>
          <p:nvSpPr>
            <p:cNvPr id="48" name="Text 34"/>
            <p:cNvSpPr txBox="1"/>
            <p:nvPr/>
          </p:nvSpPr>
          <p:spPr>
            <a:xfrm>
              <a:off x="4886554" y="5999378"/>
              <a:ext cx="2454250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100" dirty="0">
                  <a:solidFill>
                    <a:srgbClr val="FFFFFF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실패 허용 및 학습 촉진 문화 정착</a:t>
              </a:r>
              <a:endParaRPr lang="en-US" sz="1100" dirty="0"/>
            </a:p>
          </p:txBody>
        </p:sp>
        <p:pic>
          <p:nvPicPr>
            <p:cNvPr id="49" name="Image 12" descr="preencoded.png"/>
            <p:cNvPicPr>
              <a:picLocks noChangeAspect="1"/>
            </p:cNvPicPr>
            <p:nvPr/>
          </p:nvPicPr>
          <p:blipFill>
            <a:blip r:embed="rId13"/>
            <a:srcRect/>
            <a:stretch/>
          </p:blipFill>
          <p:spPr>
            <a:xfrm>
              <a:off x="7121347" y="6035040"/>
              <a:ext cx="142646" cy="142646"/>
            </a:xfrm>
            <a:prstGeom prst="rect">
              <a:avLst/>
            </a:prstGeom>
          </p:spPr>
        </p:pic>
        <p:sp>
          <p:nvSpPr>
            <p:cNvPr id="50" name="Text 35"/>
            <p:cNvSpPr txBox="1"/>
            <p:nvPr/>
          </p:nvSpPr>
          <p:spPr>
            <a:xfrm>
              <a:off x="7360006" y="5999378"/>
              <a:ext cx="2063801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100" dirty="0">
                  <a:solidFill>
                    <a:srgbClr val="FFFFFF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Cross-functional 협업 강화</a:t>
              </a:r>
              <a:endParaRPr lang="en-US" sz="1100" dirty="0"/>
            </a:p>
          </p:txBody>
        </p:sp>
        <p:sp>
          <p:nvSpPr>
            <p:cNvPr id="51" name="Shape 36"/>
            <p:cNvSpPr/>
            <p:nvPr/>
          </p:nvSpPr>
          <p:spPr>
            <a:xfrm>
              <a:off x="0" y="6535217"/>
              <a:ext cx="12191695" cy="323698"/>
            </a:xfrm>
            <a:prstGeom prst="rect">
              <a:avLst/>
            </a:prstGeom>
            <a:solidFill>
              <a:srgbClr val="FFFFFF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2" name="Shape 37"/>
            <p:cNvSpPr/>
            <p:nvPr/>
          </p:nvSpPr>
          <p:spPr>
            <a:xfrm>
              <a:off x="0" y="6535217"/>
              <a:ext cx="12191695" cy="9144"/>
            </a:xfrm>
            <a:prstGeom prst="rect">
              <a:avLst/>
            </a:prstGeom>
            <a:solidFill>
              <a:srgbClr val="E2E8F0"/>
            </a:solidFill>
            <a:ln w="12700">
              <a:solidFill>
                <a:srgbClr val="E2E8F0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3" name="Text 38"/>
            <p:cNvSpPr txBox="1"/>
            <p:nvPr/>
          </p:nvSpPr>
          <p:spPr>
            <a:xfrm>
              <a:off x="476402" y="6615684"/>
              <a:ext cx="1750162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718096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시앤피컨설팅 조직 재설계 전략</a:t>
              </a:r>
              <a:endParaRPr lang="en-US" sz="900" dirty="0"/>
            </a:p>
          </p:txBody>
        </p:sp>
        <p:pic>
          <p:nvPicPr>
            <p:cNvPr id="55" name="Image 13" descr="preencoded.png"/>
            <p:cNvPicPr>
              <a:picLocks noChangeAspect="1"/>
            </p:cNvPicPr>
            <p:nvPr/>
          </p:nvPicPr>
          <p:blipFill>
            <a:blip r:embed="rId14"/>
            <a:srcRect l="-11328" r="-11328"/>
            <a:stretch/>
          </p:blipFill>
          <p:spPr>
            <a:xfrm>
              <a:off x="4134002" y="2029968"/>
              <a:ext cx="3504895" cy="571500"/>
            </a:xfrm>
            <a:prstGeom prst="rect">
              <a:avLst/>
            </a:prstGeom>
          </p:spPr>
        </p:pic>
        <p:pic>
          <p:nvPicPr>
            <p:cNvPr id="56" name="Image 14" descr="preencoded.png"/>
            <p:cNvPicPr>
              <a:picLocks noChangeAspect="1"/>
            </p:cNvPicPr>
            <p:nvPr/>
          </p:nvPicPr>
          <p:blipFill>
            <a:blip r:embed="rId14"/>
            <a:srcRect l="-11328" r="-11328"/>
            <a:stretch/>
          </p:blipFill>
          <p:spPr>
            <a:xfrm>
              <a:off x="4134002" y="2840126"/>
              <a:ext cx="3504895" cy="571500"/>
            </a:xfrm>
            <a:prstGeom prst="rect">
              <a:avLst/>
            </a:prstGeom>
          </p:spPr>
        </p:pic>
        <p:pic>
          <p:nvPicPr>
            <p:cNvPr id="57" name="Image 15" descr="preencoded.png"/>
            <p:cNvPicPr>
              <a:picLocks noChangeAspect="1"/>
            </p:cNvPicPr>
            <p:nvPr/>
          </p:nvPicPr>
          <p:blipFill>
            <a:blip r:embed="rId14"/>
            <a:srcRect l="-11328" r="-11328"/>
            <a:stretch/>
          </p:blipFill>
          <p:spPr>
            <a:xfrm>
              <a:off x="4134002" y="3649370"/>
              <a:ext cx="3504895" cy="571500"/>
            </a:xfrm>
            <a:prstGeom prst="rect">
              <a:avLst/>
            </a:prstGeom>
          </p:spPr>
        </p:pic>
        <p:pic>
          <p:nvPicPr>
            <p:cNvPr id="58" name="Image 16" descr="preencoded.png"/>
            <p:cNvPicPr>
              <a:picLocks noChangeAspect="1"/>
            </p:cNvPicPr>
            <p:nvPr/>
          </p:nvPicPr>
          <p:blipFill>
            <a:blip r:embed="rId14"/>
            <a:srcRect l="-11328" r="-11328"/>
            <a:stretch/>
          </p:blipFill>
          <p:spPr>
            <a:xfrm>
              <a:off x="4134002" y="4458614"/>
              <a:ext cx="3504895" cy="571500"/>
            </a:xfrm>
            <a:prstGeom prst="rect">
              <a:avLst/>
            </a:prstGeom>
          </p:spPr>
        </p:pic>
        <p:pic>
          <p:nvPicPr>
            <p:cNvPr id="59" name="Image 17" descr="preencoded.png"/>
            <p:cNvPicPr>
              <a:picLocks noChangeAspect="1"/>
            </p:cNvPicPr>
            <p:nvPr/>
          </p:nvPicPr>
          <p:blipFill>
            <a:blip r:embed="rId15"/>
            <a:srcRect t="-556" b="-556"/>
            <a:stretch/>
          </p:blipFill>
          <p:spPr>
            <a:xfrm>
              <a:off x="5571439" y="2332634"/>
              <a:ext cx="123444" cy="142646"/>
            </a:xfrm>
            <a:prstGeom prst="rect">
              <a:avLst/>
            </a:prstGeom>
          </p:spPr>
        </p:pic>
        <p:sp>
          <p:nvSpPr>
            <p:cNvPr id="60" name="Text 40"/>
            <p:cNvSpPr txBox="1"/>
            <p:nvPr/>
          </p:nvSpPr>
          <p:spPr>
            <a:xfrm>
              <a:off x="4419295" y="2120494"/>
              <a:ext cx="1268273" cy="1527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800" kern="0" spc="75" dirty="0">
                  <a:solidFill>
                    <a:srgbClr val="718096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ORIENTATION SHIFT</a:t>
              </a:r>
              <a:endParaRPr lang="en-US" sz="800" dirty="0"/>
            </a:p>
          </p:txBody>
        </p:sp>
        <p:sp>
          <p:nvSpPr>
            <p:cNvPr id="61" name="Text 41"/>
            <p:cNvSpPr txBox="1"/>
            <p:nvPr/>
          </p:nvSpPr>
          <p:spPr>
            <a:xfrm>
              <a:off x="4419295" y="2296973"/>
              <a:ext cx="609905" cy="20025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1100" b="1" dirty="0">
                  <a:solidFill>
                    <a:srgbClr val="2D3748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내부지향</a:t>
              </a:r>
              <a:endParaRPr lang="en-US" sz="1100" dirty="0"/>
            </a:p>
          </p:txBody>
        </p:sp>
        <p:sp>
          <p:nvSpPr>
            <p:cNvPr id="62" name="Text 42"/>
            <p:cNvSpPr txBox="1"/>
            <p:nvPr/>
          </p:nvSpPr>
          <p:spPr>
            <a:xfrm>
              <a:off x="6321247" y="2296973"/>
              <a:ext cx="1192378" cy="20025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1100" b="1" dirty="0">
                  <a:solidFill>
                    <a:srgbClr val="2D3748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외부지향 (시장)</a:t>
              </a:r>
              <a:endParaRPr lang="en-US" sz="1100" dirty="0"/>
            </a:p>
          </p:txBody>
        </p:sp>
        <p:pic>
          <p:nvPicPr>
            <p:cNvPr id="63" name="Image 18" descr="preencoded.png"/>
            <p:cNvPicPr>
              <a:picLocks noChangeAspect="1"/>
            </p:cNvPicPr>
            <p:nvPr/>
          </p:nvPicPr>
          <p:blipFill>
            <a:blip r:embed="rId15"/>
            <a:srcRect t="-556" b="-556"/>
            <a:stretch/>
          </p:blipFill>
          <p:spPr>
            <a:xfrm>
              <a:off x="5645506" y="3141878"/>
              <a:ext cx="123444" cy="142646"/>
            </a:xfrm>
            <a:prstGeom prst="rect">
              <a:avLst/>
            </a:prstGeom>
          </p:spPr>
        </p:pic>
        <p:sp>
          <p:nvSpPr>
            <p:cNvPr id="64" name="Text 43"/>
            <p:cNvSpPr txBox="1"/>
            <p:nvPr/>
          </p:nvSpPr>
          <p:spPr>
            <a:xfrm>
              <a:off x="4419295" y="2930652"/>
              <a:ext cx="1000354" cy="1527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800" kern="0" spc="75" dirty="0">
                  <a:solidFill>
                    <a:srgbClr val="718096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CONTROL SHIFT</a:t>
              </a:r>
              <a:endParaRPr lang="en-US" sz="800" dirty="0"/>
            </a:p>
          </p:txBody>
        </p:sp>
        <p:sp>
          <p:nvSpPr>
            <p:cNvPr id="65" name="Text 44"/>
            <p:cNvSpPr txBox="1"/>
            <p:nvPr/>
          </p:nvSpPr>
          <p:spPr>
            <a:xfrm>
              <a:off x="4419295" y="3106217"/>
              <a:ext cx="702259" cy="20025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1100" b="1" dirty="0">
                  <a:solidFill>
                    <a:srgbClr val="2D3748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안정·통제</a:t>
              </a:r>
              <a:endParaRPr lang="en-US" sz="1100" dirty="0"/>
            </a:p>
          </p:txBody>
        </p:sp>
        <p:sp>
          <p:nvSpPr>
            <p:cNvPr id="66" name="Text 45"/>
            <p:cNvSpPr txBox="1"/>
            <p:nvPr/>
          </p:nvSpPr>
          <p:spPr>
            <a:xfrm>
              <a:off x="6422746" y="3106217"/>
              <a:ext cx="1006754" cy="20025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1100" b="1" dirty="0">
                  <a:solidFill>
                    <a:srgbClr val="2D3748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유연성·재량권</a:t>
              </a:r>
              <a:endParaRPr lang="en-US" sz="1100" dirty="0"/>
            </a:p>
          </p:txBody>
        </p:sp>
        <p:pic>
          <p:nvPicPr>
            <p:cNvPr id="67" name="Image 19" descr="preencoded.png"/>
            <p:cNvPicPr>
              <a:picLocks noChangeAspect="1"/>
            </p:cNvPicPr>
            <p:nvPr/>
          </p:nvPicPr>
          <p:blipFill>
            <a:blip r:embed="rId15"/>
            <a:srcRect t="-556" b="-556"/>
            <a:stretch/>
          </p:blipFill>
          <p:spPr>
            <a:xfrm>
              <a:off x="5555894" y="3952037"/>
              <a:ext cx="123444" cy="142646"/>
            </a:xfrm>
            <a:prstGeom prst="rect">
              <a:avLst/>
            </a:prstGeom>
          </p:spPr>
        </p:pic>
        <p:sp>
          <p:nvSpPr>
            <p:cNvPr id="68" name="Text 46"/>
            <p:cNvSpPr txBox="1"/>
            <p:nvPr/>
          </p:nvSpPr>
          <p:spPr>
            <a:xfrm>
              <a:off x="4419295" y="3739896"/>
              <a:ext cx="1143000" cy="1527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800" kern="0" spc="75" dirty="0">
                  <a:solidFill>
                    <a:srgbClr val="718096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STRUCTURE SHIFT</a:t>
              </a:r>
              <a:endParaRPr lang="en-US" sz="800" dirty="0"/>
            </a:p>
          </p:txBody>
        </p:sp>
        <p:sp>
          <p:nvSpPr>
            <p:cNvPr id="69" name="Text 47"/>
            <p:cNvSpPr txBox="1"/>
            <p:nvPr/>
          </p:nvSpPr>
          <p:spPr>
            <a:xfrm>
              <a:off x="4419295" y="3916375"/>
              <a:ext cx="476402" cy="20025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1100" b="1" dirty="0">
                  <a:solidFill>
                    <a:srgbClr val="2D3748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위계형</a:t>
              </a:r>
              <a:endParaRPr lang="en-US" sz="1100" dirty="0"/>
            </a:p>
          </p:txBody>
        </p:sp>
        <p:sp>
          <p:nvSpPr>
            <p:cNvPr id="70" name="Text 48"/>
            <p:cNvSpPr txBox="1"/>
            <p:nvPr/>
          </p:nvSpPr>
          <p:spPr>
            <a:xfrm>
              <a:off x="6422746" y="3916375"/>
              <a:ext cx="1006754" cy="20025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1100" b="1" dirty="0">
                  <a:solidFill>
                    <a:srgbClr val="2D3748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혁신형·협력형</a:t>
              </a:r>
              <a:endParaRPr lang="en-US" sz="1100" dirty="0"/>
            </a:p>
          </p:txBody>
        </p:sp>
        <p:pic>
          <p:nvPicPr>
            <p:cNvPr id="71" name="Image 20" descr="preencoded.png"/>
            <p:cNvPicPr>
              <a:picLocks noChangeAspect="1"/>
            </p:cNvPicPr>
            <p:nvPr/>
          </p:nvPicPr>
          <p:blipFill>
            <a:blip r:embed="rId15"/>
            <a:srcRect t="-556" b="-556"/>
            <a:stretch/>
          </p:blipFill>
          <p:spPr>
            <a:xfrm>
              <a:off x="5687568" y="4761281"/>
              <a:ext cx="123444" cy="142646"/>
            </a:xfrm>
            <a:prstGeom prst="rect">
              <a:avLst/>
            </a:prstGeom>
          </p:spPr>
        </p:pic>
        <p:sp>
          <p:nvSpPr>
            <p:cNvPr id="72" name="Text 49"/>
            <p:cNvSpPr txBox="1"/>
            <p:nvPr/>
          </p:nvSpPr>
          <p:spPr>
            <a:xfrm>
              <a:off x="4419295" y="4549140"/>
              <a:ext cx="1042416" cy="1527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800" kern="0" spc="75" dirty="0">
                  <a:solidFill>
                    <a:srgbClr val="718096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LEARNING SHIFT</a:t>
              </a:r>
              <a:endParaRPr lang="en-US" sz="800" dirty="0"/>
            </a:p>
          </p:txBody>
        </p:sp>
        <p:sp>
          <p:nvSpPr>
            <p:cNvPr id="73" name="Text 50"/>
            <p:cNvSpPr txBox="1"/>
            <p:nvPr/>
          </p:nvSpPr>
          <p:spPr>
            <a:xfrm>
              <a:off x="4419295" y="4725619"/>
              <a:ext cx="701345" cy="20025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1100" b="1" dirty="0">
                  <a:solidFill>
                    <a:srgbClr val="2D3748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개인 중심</a:t>
              </a:r>
              <a:endParaRPr lang="en-US" sz="1100" dirty="0"/>
            </a:p>
          </p:txBody>
        </p:sp>
        <p:sp>
          <p:nvSpPr>
            <p:cNvPr id="74" name="Text 51"/>
            <p:cNvSpPr txBox="1"/>
            <p:nvPr/>
          </p:nvSpPr>
          <p:spPr>
            <a:xfrm>
              <a:off x="6514186" y="4725619"/>
              <a:ext cx="946404" cy="20025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1100" b="1" dirty="0">
                  <a:solidFill>
                    <a:srgbClr val="2D3748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팀 학습·공유</a:t>
              </a:r>
              <a:endParaRPr lang="en-US" sz="1100" dirty="0"/>
            </a:p>
          </p:txBody>
        </p:sp>
        <p:sp>
          <p:nvSpPr>
            <p:cNvPr id="75" name="Shape 52"/>
            <p:cNvSpPr/>
            <p:nvPr/>
          </p:nvSpPr>
          <p:spPr>
            <a:xfrm>
              <a:off x="3943807" y="2125066"/>
              <a:ext cx="381305" cy="381305"/>
            </a:xfrm>
            <a:prstGeom prst="ellipse">
              <a:avLst/>
            </a:prstGeom>
            <a:solidFill>
              <a:srgbClr val="FFF5F5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  <a:effectLst>
              <a:outerShdw blurRad="38100" dist="25400" dir="16200000" algn="bl" rotWithShape="0">
                <a:srgbClr val="E63946">
                  <a:alpha val="20000"/>
                </a:srgb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pic>
          <p:nvPicPr>
            <p:cNvPr id="76" name="Image 21" descr="preencoded.png"/>
            <p:cNvPicPr>
              <a:picLocks noChangeAspect="1"/>
            </p:cNvPicPr>
            <p:nvPr/>
          </p:nvPicPr>
          <p:blipFill>
            <a:blip r:embed="rId16"/>
            <a:srcRect/>
            <a:stretch/>
          </p:blipFill>
          <p:spPr>
            <a:xfrm>
              <a:off x="4048049" y="2230222"/>
              <a:ext cx="171907" cy="171907"/>
            </a:xfrm>
            <a:prstGeom prst="rect">
              <a:avLst/>
            </a:prstGeom>
          </p:spPr>
        </p:pic>
        <p:sp>
          <p:nvSpPr>
            <p:cNvPr id="77" name="Shape 53"/>
            <p:cNvSpPr/>
            <p:nvPr/>
          </p:nvSpPr>
          <p:spPr>
            <a:xfrm>
              <a:off x="3943807" y="2935224"/>
              <a:ext cx="381305" cy="381305"/>
            </a:xfrm>
            <a:prstGeom prst="ellipse">
              <a:avLst/>
            </a:prstGeom>
            <a:solidFill>
              <a:srgbClr val="FFF5F5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  <a:effectLst>
              <a:outerShdw blurRad="38100" dist="25400" dir="16200000" algn="bl" rotWithShape="0">
                <a:srgbClr val="E63946">
                  <a:alpha val="20000"/>
                </a:srgb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pic>
          <p:nvPicPr>
            <p:cNvPr id="78" name="Image 22" descr="preencoded.png"/>
            <p:cNvPicPr>
              <a:picLocks noChangeAspect="1"/>
            </p:cNvPicPr>
            <p:nvPr/>
          </p:nvPicPr>
          <p:blipFill>
            <a:blip r:embed="rId17"/>
            <a:srcRect/>
            <a:stretch/>
          </p:blipFill>
          <p:spPr>
            <a:xfrm>
              <a:off x="4048049" y="3039466"/>
              <a:ext cx="171907" cy="171907"/>
            </a:xfrm>
            <a:prstGeom prst="rect">
              <a:avLst/>
            </a:prstGeom>
          </p:spPr>
        </p:pic>
        <p:sp>
          <p:nvSpPr>
            <p:cNvPr id="79" name="Shape 54"/>
            <p:cNvSpPr/>
            <p:nvPr/>
          </p:nvSpPr>
          <p:spPr>
            <a:xfrm>
              <a:off x="3943807" y="3744468"/>
              <a:ext cx="381305" cy="381305"/>
            </a:xfrm>
            <a:prstGeom prst="ellipse">
              <a:avLst/>
            </a:prstGeom>
            <a:solidFill>
              <a:srgbClr val="FFF5F5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  <a:effectLst>
              <a:outerShdw blurRad="38100" dist="25400" dir="16200000" algn="bl" rotWithShape="0">
                <a:srgbClr val="E63946">
                  <a:alpha val="20000"/>
                </a:srgb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pic>
          <p:nvPicPr>
            <p:cNvPr id="80" name="Image 23" descr="preencoded.png"/>
            <p:cNvPicPr>
              <a:picLocks noChangeAspect="1"/>
            </p:cNvPicPr>
            <p:nvPr/>
          </p:nvPicPr>
          <p:blipFill>
            <a:blip r:embed="rId18"/>
            <a:srcRect t="-842" b="-842"/>
            <a:stretch/>
          </p:blipFill>
          <p:spPr>
            <a:xfrm>
              <a:off x="4038905" y="3849624"/>
              <a:ext cx="190195" cy="171907"/>
            </a:xfrm>
            <a:prstGeom prst="rect">
              <a:avLst/>
            </a:prstGeom>
          </p:spPr>
        </p:pic>
        <p:sp>
          <p:nvSpPr>
            <p:cNvPr id="81" name="Shape 55"/>
            <p:cNvSpPr/>
            <p:nvPr/>
          </p:nvSpPr>
          <p:spPr>
            <a:xfrm>
              <a:off x="3943807" y="4554626"/>
              <a:ext cx="381305" cy="381305"/>
            </a:xfrm>
            <a:prstGeom prst="ellipse">
              <a:avLst/>
            </a:prstGeom>
            <a:solidFill>
              <a:srgbClr val="FFF5F5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  <a:effectLst>
              <a:outerShdw blurRad="38100" dist="25400" dir="16200000" algn="bl" rotWithShape="0">
                <a:srgbClr val="E63946">
                  <a:alpha val="20000"/>
                </a:srgb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pic>
          <p:nvPicPr>
            <p:cNvPr id="82" name="Image 24" descr="preencoded.png"/>
            <p:cNvPicPr>
              <a:picLocks noChangeAspect="1"/>
            </p:cNvPicPr>
            <p:nvPr/>
          </p:nvPicPr>
          <p:blipFill>
            <a:blip r:embed="rId19"/>
            <a:srcRect l="-1064" r="-1064"/>
            <a:stretch/>
          </p:blipFill>
          <p:spPr>
            <a:xfrm>
              <a:off x="4024274" y="4658868"/>
              <a:ext cx="219456" cy="171907"/>
            </a:xfrm>
            <a:prstGeom prst="rect">
              <a:avLst/>
            </a:prstGeom>
          </p:spPr>
        </p:pic>
        <p:sp>
          <p:nvSpPr>
            <p:cNvPr id="83" name="Shape 56"/>
            <p:cNvSpPr/>
            <p:nvPr/>
          </p:nvSpPr>
          <p:spPr>
            <a:xfrm>
              <a:off x="0" y="0"/>
              <a:ext cx="12191695" cy="790956"/>
            </a:xfrm>
            <a:prstGeom prst="rect">
              <a:avLst/>
            </a:prstGeom>
            <a:solidFill>
              <a:srgbClr val="003D5B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84" name="Shape 57"/>
            <p:cNvSpPr/>
            <p:nvPr/>
          </p:nvSpPr>
          <p:spPr>
            <a:xfrm>
              <a:off x="476402" y="419710"/>
              <a:ext cx="476402" cy="38405"/>
            </a:xfrm>
            <a:prstGeom prst="rect">
              <a:avLst/>
            </a:prstGeom>
            <a:solidFill>
              <a:srgbClr val="00A8A8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85" name="Text 58"/>
            <p:cNvSpPr txBox="1"/>
            <p:nvPr/>
          </p:nvSpPr>
          <p:spPr>
            <a:xfrm>
              <a:off x="1143000" y="256032"/>
              <a:ext cx="9109253" cy="37216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2400" b="1" kern="0" spc="-37" dirty="0">
                  <a:solidFill>
                    <a:srgbClr val="FFFFFF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조직문화 진단: 위계형 문화에서 혁신형·협력형으로 전환 필요</a:t>
              </a:r>
              <a:endParaRPr lang="en-US" sz="2400" dirty="0"/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3" name="그룹 72">
            <a:extLst>
              <a:ext uri="{FF2B5EF4-FFF2-40B4-BE49-F238E27FC236}">
                <a16:creationId xmlns:a16="http://schemas.microsoft.com/office/drawing/2014/main" id="{9290F196-B413-B947-D655-733C5C2A1BAE}"/>
              </a:ext>
            </a:extLst>
          </p:cNvPr>
          <p:cNvGrpSpPr/>
          <p:nvPr/>
        </p:nvGrpSpPr>
        <p:grpSpPr>
          <a:xfrm>
            <a:off x="0" y="0"/>
            <a:ext cx="12191695" cy="6858000"/>
            <a:chOff x="0" y="0"/>
            <a:chExt cx="12191695" cy="6885432"/>
          </a:xfrm>
        </p:grpSpPr>
        <p:sp>
          <p:nvSpPr>
            <p:cNvPr id="2" name="Shape 0"/>
            <p:cNvSpPr/>
            <p:nvPr/>
          </p:nvSpPr>
          <p:spPr>
            <a:xfrm>
              <a:off x="0" y="0"/>
              <a:ext cx="12191695" cy="6858000"/>
            </a:xfrm>
            <a:prstGeom prst="rect">
              <a:avLst/>
            </a:prstGeom>
            <a:solidFill>
              <a:srgbClr val="F0F0F0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" name="Shape 1"/>
            <p:cNvSpPr/>
            <p:nvPr/>
          </p:nvSpPr>
          <p:spPr>
            <a:xfrm>
              <a:off x="0" y="0"/>
              <a:ext cx="12191695" cy="68580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" name="Shape 2"/>
            <p:cNvSpPr/>
            <p:nvPr/>
          </p:nvSpPr>
          <p:spPr>
            <a:xfrm>
              <a:off x="0" y="0"/>
              <a:ext cx="12191695" cy="847649"/>
            </a:xfrm>
            <a:prstGeom prst="rect">
              <a:avLst/>
            </a:prstGeom>
            <a:solidFill>
              <a:srgbClr val="003D5B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" name="Shape 3"/>
            <p:cNvSpPr/>
            <p:nvPr/>
          </p:nvSpPr>
          <p:spPr>
            <a:xfrm>
              <a:off x="476402" y="449885"/>
              <a:ext cx="476402" cy="38405"/>
            </a:xfrm>
            <a:prstGeom prst="rect">
              <a:avLst/>
            </a:prstGeom>
            <a:solidFill>
              <a:srgbClr val="00A8A8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6" name="Text 4"/>
            <p:cNvSpPr txBox="1"/>
            <p:nvPr/>
          </p:nvSpPr>
          <p:spPr>
            <a:xfrm>
              <a:off x="1143000" y="286207"/>
              <a:ext cx="8513978" cy="37216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2400" b="1" kern="0" spc="-37" dirty="0">
                  <a:solidFill>
                    <a:srgbClr val="FFFFFF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구조적 차원 진단: 과도한 계층과 집권화가 의사결정 지연</a:t>
              </a:r>
              <a:endParaRPr lang="en-US" sz="2400" dirty="0"/>
            </a:p>
          </p:txBody>
        </p:sp>
        <p:sp>
          <p:nvSpPr>
            <p:cNvPr id="7" name="Shape 5"/>
            <p:cNvSpPr/>
            <p:nvPr/>
          </p:nvSpPr>
          <p:spPr>
            <a:xfrm>
              <a:off x="0" y="842162"/>
              <a:ext cx="12191695" cy="5867705"/>
            </a:xfrm>
            <a:prstGeom prst="rect">
              <a:avLst/>
            </a:prstGeom>
            <a:solidFill>
              <a:srgbClr val="F5F7FA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8" name="Shape 6"/>
            <p:cNvSpPr/>
            <p:nvPr/>
          </p:nvSpPr>
          <p:spPr>
            <a:xfrm>
              <a:off x="476402" y="1127455"/>
              <a:ext cx="11239805" cy="4343400"/>
            </a:xfrm>
            <a:prstGeom prst="roundRect">
              <a:avLst>
                <a:gd name="adj" fmla="val 369"/>
              </a:avLst>
            </a:prstGeom>
            <a:solidFill>
              <a:srgbClr val="FFFFFF"/>
            </a:solidFill>
            <a:ln/>
            <a:effectLst>
              <a:outerShdw blurRad="101600" dist="38100" dir="16200000" algn="bl" rotWithShape="0">
                <a:srgbClr val="000000">
                  <a:alpha val="5000"/>
                </a:srgb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9" name="Shape 7"/>
            <p:cNvSpPr/>
            <p:nvPr/>
          </p:nvSpPr>
          <p:spPr>
            <a:xfrm>
              <a:off x="476402" y="1127455"/>
              <a:ext cx="11239805" cy="38405"/>
            </a:xfrm>
            <a:prstGeom prst="rect">
              <a:avLst/>
            </a:prstGeom>
            <a:solidFill>
              <a:srgbClr val="003D5B"/>
            </a:solidFill>
            <a:ln w="12700">
              <a:solidFill>
                <a:srgbClr val="003D5B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0" name="Shape 8"/>
            <p:cNvSpPr/>
            <p:nvPr/>
          </p:nvSpPr>
          <p:spPr>
            <a:xfrm>
              <a:off x="476402" y="1165860"/>
              <a:ext cx="2247595" cy="800100"/>
            </a:xfrm>
            <a:prstGeom prst="rect">
              <a:avLst/>
            </a:prstGeom>
            <a:solidFill>
              <a:srgbClr val="003D5B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1" name="Shape 9"/>
            <p:cNvSpPr/>
            <p:nvPr/>
          </p:nvSpPr>
          <p:spPr>
            <a:xfrm>
              <a:off x="2714854" y="1165860"/>
              <a:ext cx="9144" cy="800100"/>
            </a:xfrm>
            <a:prstGeom prst="rect">
              <a:avLst/>
            </a:prstGeom>
            <a:solidFill>
              <a:srgbClr val="FFFFFF">
                <a:alpha val="20000"/>
              </a:srgbClr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2" name="Text 10"/>
            <p:cNvSpPr txBox="1"/>
            <p:nvPr/>
          </p:nvSpPr>
          <p:spPr>
            <a:xfrm>
              <a:off x="714146" y="1337767"/>
              <a:ext cx="174559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1200" b="1" dirty="0">
                  <a:solidFill>
                    <a:srgbClr val="FFFFFF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구조 요소 (Structural Dimension)</a:t>
              </a:r>
              <a:endParaRPr lang="en-US" sz="1200" dirty="0"/>
            </a:p>
          </p:txBody>
        </p:sp>
        <p:sp>
          <p:nvSpPr>
            <p:cNvPr id="13" name="Shape 11"/>
            <p:cNvSpPr/>
            <p:nvPr/>
          </p:nvSpPr>
          <p:spPr>
            <a:xfrm>
              <a:off x="2723998" y="1165860"/>
              <a:ext cx="5057546" cy="800100"/>
            </a:xfrm>
            <a:prstGeom prst="rect">
              <a:avLst/>
            </a:prstGeom>
            <a:solidFill>
              <a:srgbClr val="003D5B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4" name="Shape 12"/>
            <p:cNvSpPr/>
            <p:nvPr/>
          </p:nvSpPr>
          <p:spPr>
            <a:xfrm>
              <a:off x="7772400" y="1165860"/>
              <a:ext cx="9144" cy="800100"/>
            </a:xfrm>
            <a:prstGeom prst="rect">
              <a:avLst/>
            </a:prstGeom>
            <a:solidFill>
              <a:srgbClr val="FFFFFF">
                <a:alpha val="20000"/>
              </a:srgbClr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5" name="Text 13"/>
            <p:cNvSpPr txBox="1"/>
            <p:nvPr/>
          </p:nvSpPr>
          <p:spPr>
            <a:xfrm>
              <a:off x="2967228" y="1452067"/>
              <a:ext cx="1780337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1200" b="1" dirty="0">
                  <a:solidFill>
                    <a:srgbClr val="FFFFFF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현재 진단 (Diagnosis)</a:t>
              </a:r>
              <a:endParaRPr lang="en-US" sz="1200" dirty="0"/>
            </a:p>
          </p:txBody>
        </p:sp>
        <p:sp>
          <p:nvSpPr>
            <p:cNvPr id="16" name="Shape 14"/>
            <p:cNvSpPr/>
            <p:nvPr/>
          </p:nvSpPr>
          <p:spPr>
            <a:xfrm>
              <a:off x="7781544" y="1165860"/>
              <a:ext cx="3933749" cy="800100"/>
            </a:xfrm>
            <a:prstGeom prst="rect">
              <a:avLst/>
            </a:prstGeom>
            <a:solidFill>
              <a:srgbClr val="00A8A8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7" name="Text 15"/>
            <p:cNvSpPr txBox="1"/>
            <p:nvPr/>
          </p:nvSpPr>
          <p:spPr>
            <a:xfrm>
              <a:off x="8024774" y="1452067"/>
              <a:ext cx="1711757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1200" b="1" dirty="0">
                  <a:solidFill>
                    <a:srgbClr val="FFFFFF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시사점 (Implication)</a:t>
              </a:r>
              <a:endParaRPr lang="en-US" sz="1200" dirty="0"/>
            </a:p>
          </p:txBody>
        </p:sp>
        <p:sp>
          <p:nvSpPr>
            <p:cNvPr id="18" name="Shape 16"/>
            <p:cNvSpPr/>
            <p:nvPr/>
          </p:nvSpPr>
          <p:spPr>
            <a:xfrm>
              <a:off x="476402" y="2700223"/>
              <a:ext cx="2247595" cy="9144"/>
            </a:xfrm>
            <a:prstGeom prst="rect">
              <a:avLst/>
            </a:prstGeom>
            <a:solidFill>
              <a:srgbClr val="E2E8F0"/>
            </a:solidFill>
            <a:ln w="12700">
              <a:solidFill>
                <a:srgbClr val="E2E8F0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pic>
          <p:nvPicPr>
            <p:cNvPr id="19" name="Image 0" descr="preencoded.png"/>
            <p:cNvPicPr>
              <a:picLocks noChangeAspect="1"/>
            </p:cNvPicPr>
            <p:nvPr/>
          </p:nvPicPr>
          <p:blipFill>
            <a:blip r:embed="rId3"/>
            <a:srcRect l="-56838" r="-56838"/>
            <a:stretch/>
          </p:blipFill>
          <p:spPr>
            <a:xfrm>
              <a:off x="714146" y="2155241"/>
              <a:ext cx="228600" cy="142646"/>
            </a:xfrm>
            <a:prstGeom prst="rect">
              <a:avLst/>
            </a:prstGeom>
          </p:spPr>
        </p:pic>
        <p:sp>
          <p:nvSpPr>
            <p:cNvPr id="20" name="Text 17"/>
            <p:cNvSpPr txBox="1"/>
            <p:nvPr/>
          </p:nvSpPr>
          <p:spPr>
            <a:xfrm>
              <a:off x="714146" y="2118665"/>
              <a:ext cx="1292962" cy="4197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1100" b="1" dirty="0">
                  <a:solidFill>
                    <a:srgbClr val="2D3748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공식화 (Formalization)</a:t>
              </a:r>
              <a:endParaRPr lang="en-US" sz="1100" dirty="0"/>
            </a:p>
          </p:txBody>
        </p:sp>
        <p:sp>
          <p:nvSpPr>
            <p:cNvPr id="21" name="Shape 18"/>
            <p:cNvSpPr/>
            <p:nvPr/>
          </p:nvSpPr>
          <p:spPr>
            <a:xfrm>
              <a:off x="2723998" y="2700223"/>
              <a:ext cx="5057546" cy="9144"/>
            </a:xfrm>
            <a:prstGeom prst="rect">
              <a:avLst/>
            </a:prstGeom>
            <a:solidFill>
              <a:srgbClr val="E2E8F0"/>
            </a:solidFill>
            <a:ln w="12700">
              <a:solidFill>
                <a:srgbClr val="E2E8F0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2" name="Text 19"/>
            <p:cNvSpPr txBox="1"/>
            <p:nvPr/>
          </p:nvSpPr>
          <p:spPr>
            <a:xfrm>
              <a:off x="2962656" y="2225650"/>
              <a:ext cx="3396996" cy="20025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1100" dirty="0">
                  <a:solidFill>
                    <a:srgbClr val="2D3748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중간 수준 유지, 표준화는 적절하나 유연성 부족</a:t>
              </a:r>
              <a:endParaRPr lang="en-US" sz="1100" dirty="0"/>
            </a:p>
          </p:txBody>
        </p:sp>
        <p:sp>
          <p:nvSpPr>
            <p:cNvPr id="23" name="Shape 20"/>
            <p:cNvSpPr/>
            <p:nvPr/>
          </p:nvSpPr>
          <p:spPr>
            <a:xfrm>
              <a:off x="7781544" y="1965960"/>
              <a:ext cx="3933749" cy="743407"/>
            </a:xfrm>
            <a:prstGeom prst="rect">
              <a:avLst/>
            </a:prstGeom>
            <a:solidFill>
              <a:srgbClr val="F0FDFA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pic>
          <p:nvPicPr>
            <p:cNvPr id="24" name="Image 1" descr="preencoded.png"/>
            <p:cNvPicPr>
              <a:picLocks noChangeAspect="1"/>
            </p:cNvPicPr>
            <p:nvPr/>
          </p:nvPicPr>
          <p:blipFill>
            <a:blip r:embed="rId4"/>
            <a:srcRect t="-556" b="-556"/>
            <a:stretch/>
          </p:blipFill>
          <p:spPr>
            <a:xfrm>
              <a:off x="8029346" y="2262226"/>
              <a:ext cx="123444" cy="142646"/>
            </a:xfrm>
            <a:prstGeom prst="rect">
              <a:avLst/>
            </a:prstGeom>
          </p:spPr>
        </p:pic>
        <p:sp>
          <p:nvSpPr>
            <p:cNvPr id="25" name="Text 21"/>
            <p:cNvSpPr txBox="1"/>
            <p:nvPr/>
          </p:nvSpPr>
          <p:spPr>
            <a:xfrm>
              <a:off x="8229600" y="2225650"/>
              <a:ext cx="2042770" cy="20025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1100" b="1" dirty="0">
                  <a:solidFill>
                    <a:srgbClr val="2D3748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표준 최소화 및 자율성 확대</a:t>
              </a:r>
              <a:endParaRPr lang="en-US" sz="1100" dirty="0"/>
            </a:p>
          </p:txBody>
        </p:sp>
        <p:sp>
          <p:nvSpPr>
            <p:cNvPr id="26" name="Shape 22"/>
            <p:cNvSpPr/>
            <p:nvPr/>
          </p:nvSpPr>
          <p:spPr>
            <a:xfrm>
              <a:off x="476402" y="2703881"/>
              <a:ext cx="11239805" cy="743407"/>
            </a:xfrm>
            <a:prstGeom prst="rect">
              <a:avLst/>
            </a:prstGeom>
            <a:solidFill>
              <a:srgbClr val="F7FAFC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7" name="Shape 23"/>
            <p:cNvSpPr/>
            <p:nvPr/>
          </p:nvSpPr>
          <p:spPr>
            <a:xfrm>
              <a:off x="476402" y="3438144"/>
              <a:ext cx="2247595" cy="9144"/>
            </a:xfrm>
            <a:prstGeom prst="rect">
              <a:avLst/>
            </a:prstGeom>
            <a:solidFill>
              <a:srgbClr val="E2E8F0"/>
            </a:solidFill>
            <a:ln w="12700">
              <a:solidFill>
                <a:srgbClr val="E2E8F0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pic>
          <p:nvPicPr>
            <p:cNvPr id="28" name="Image 2" descr="preencoded.png"/>
            <p:cNvPicPr>
              <a:picLocks noChangeAspect="1"/>
            </p:cNvPicPr>
            <p:nvPr/>
          </p:nvPicPr>
          <p:blipFill>
            <a:blip r:embed="rId5"/>
            <a:srcRect l="-30128" r="-30128"/>
            <a:stretch/>
          </p:blipFill>
          <p:spPr>
            <a:xfrm>
              <a:off x="714146" y="2898648"/>
              <a:ext cx="228600" cy="142646"/>
            </a:xfrm>
            <a:prstGeom prst="rect">
              <a:avLst/>
            </a:prstGeom>
          </p:spPr>
        </p:pic>
        <p:sp>
          <p:nvSpPr>
            <p:cNvPr id="29" name="Text 24"/>
            <p:cNvSpPr txBox="1"/>
            <p:nvPr/>
          </p:nvSpPr>
          <p:spPr>
            <a:xfrm>
              <a:off x="714146" y="2861158"/>
              <a:ext cx="1314907" cy="4197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1100" b="1" dirty="0">
                  <a:solidFill>
                    <a:srgbClr val="2D3748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전문화 (Specialization)</a:t>
              </a:r>
              <a:endParaRPr lang="en-US" sz="1100" dirty="0"/>
            </a:p>
          </p:txBody>
        </p:sp>
        <p:sp>
          <p:nvSpPr>
            <p:cNvPr id="30" name="Shape 25"/>
            <p:cNvSpPr/>
            <p:nvPr/>
          </p:nvSpPr>
          <p:spPr>
            <a:xfrm>
              <a:off x="2723998" y="3438144"/>
              <a:ext cx="5057546" cy="9144"/>
            </a:xfrm>
            <a:prstGeom prst="rect">
              <a:avLst/>
            </a:prstGeom>
            <a:solidFill>
              <a:srgbClr val="E2E8F0"/>
            </a:solidFill>
            <a:ln w="12700">
              <a:solidFill>
                <a:srgbClr val="E2E8F0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1" name="Text 26"/>
            <p:cNvSpPr txBox="1"/>
            <p:nvPr/>
          </p:nvSpPr>
          <p:spPr>
            <a:xfrm>
              <a:off x="2962656" y="2968142"/>
              <a:ext cx="1791310" cy="20025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1100" b="1" dirty="0">
                  <a:solidFill>
                    <a:srgbClr val="E63946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본부별 사일로(Silo) 심화</a:t>
              </a:r>
              <a:endParaRPr lang="en-US" sz="1100" dirty="0"/>
            </a:p>
          </p:txBody>
        </p:sp>
        <p:sp>
          <p:nvSpPr>
            <p:cNvPr id="32" name="Text 27"/>
            <p:cNvSpPr txBox="1"/>
            <p:nvPr/>
          </p:nvSpPr>
          <p:spPr>
            <a:xfrm>
              <a:off x="4461358" y="2968142"/>
              <a:ext cx="1242670" cy="20025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1100" dirty="0">
                  <a:solidFill>
                    <a:srgbClr val="2D3748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, 지식 단절 발생</a:t>
              </a:r>
              <a:endParaRPr lang="en-US" sz="1100" dirty="0"/>
            </a:p>
          </p:txBody>
        </p:sp>
        <p:sp>
          <p:nvSpPr>
            <p:cNvPr id="33" name="Shape 28"/>
            <p:cNvSpPr/>
            <p:nvPr/>
          </p:nvSpPr>
          <p:spPr>
            <a:xfrm>
              <a:off x="7781544" y="2703881"/>
              <a:ext cx="3933749" cy="743407"/>
            </a:xfrm>
            <a:prstGeom prst="rect">
              <a:avLst/>
            </a:prstGeom>
            <a:solidFill>
              <a:srgbClr val="E6F6F6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pic>
          <p:nvPicPr>
            <p:cNvPr id="34" name="Image 3" descr="preencoded.png"/>
            <p:cNvPicPr>
              <a:picLocks noChangeAspect="1"/>
            </p:cNvPicPr>
            <p:nvPr/>
          </p:nvPicPr>
          <p:blipFill>
            <a:blip r:embed="rId4"/>
            <a:srcRect t="-556" b="-556"/>
            <a:stretch/>
          </p:blipFill>
          <p:spPr>
            <a:xfrm>
              <a:off x="8029346" y="3005633"/>
              <a:ext cx="123444" cy="142646"/>
            </a:xfrm>
            <a:prstGeom prst="rect">
              <a:avLst/>
            </a:prstGeom>
          </p:spPr>
        </p:pic>
        <p:sp>
          <p:nvSpPr>
            <p:cNvPr id="35" name="Text 29"/>
            <p:cNvSpPr txBox="1"/>
            <p:nvPr/>
          </p:nvSpPr>
          <p:spPr>
            <a:xfrm>
              <a:off x="8229600" y="2968142"/>
              <a:ext cx="2652674" cy="20025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1100" b="1" dirty="0">
                  <a:solidFill>
                    <a:srgbClr val="2D3748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Cross-functional 협업 및 전문가 풀</a:t>
              </a:r>
              <a:endParaRPr lang="en-US" sz="1100" dirty="0"/>
            </a:p>
          </p:txBody>
        </p:sp>
        <p:sp>
          <p:nvSpPr>
            <p:cNvPr id="36" name="Shape 30"/>
            <p:cNvSpPr/>
            <p:nvPr/>
          </p:nvSpPr>
          <p:spPr>
            <a:xfrm>
              <a:off x="476402" y="3971239"/>
              <a:ext cx="2247595" cy="9144"/>
            </a:xfrm>
            <a:prstGeom prst="rect">
              <a:avLst/>
            </a:prstGeom>
            <a:solidFill>
              <a:srgbClr val="E2E8F0"/>
            </a:solidFill>
            <a:ln w="12700">
              <a:solidFill>
                <a:srgbClr val="E2E8F0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pic>
          <p:nvPicPr>
            <p:cNvPr id="37" name="Image 4" descr="preencoded.png"/>
            <p:cNvPicPr>
              <a:picLocks noChangeAspect="1"/>
            </p:cNvPicPr>
            <p:nvPr/>
          </p:nvPicPr>
          <p:blipFill>
            <a:blip r:embed="rId6"/>
            <a:srcRect l="-21225" r="-21225"/>
            <a:stretch/>
          </p:blipFill>
          <p:spPr>
            <a:xfrm>
              <a:off x="714146" y="3641141"/>
              <a:ext cx="228600" cy="142646"/>
            </a:xfrm>
            <a:prstGeom prst="rect">
              <a:avLst/>
            </a:prstGeom>
          </p:spPr>
        </p:pic>
        <p:sp>
          <p:nvSpPr>
            <p:cNvPr id="38" name="Text 31"/>
            <p:cNvSpPr txBox="1"/>
            <p:nvPr/>
          </p:nvSpPr>
          <p:spPr>
            <a:xfrm>
              <a:off x="1037844" y="3604565"/>
              <a:ext cx="1314907" cy="20025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1100" b="1" dirty="0">
                  <a:solidFill>
                    <a:srgbClr val="2D3748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계층 (Hierarchy)</a:t>
              </a:r>
              <a:endParaRPr lang="en-US" sz="1100" dirty="0"/>
            </a:p>
          </p:txBody>
        </p:sp>
        <p:sp>
          <p:nvSpPr>
            <p:cNvPr id="39" name="Shape 32"/>
            <p:cNvSpPr/>
            <p:nvPr/>
          </p:nvSpPr>
          <p:spPr>
            <a:xfrm>
              <a:off x="2723998" y="3971239"/>
              <a:ext cx="5057546" cy="9144"/>
            </a:xfrm>
            <a:prstGeom prst="rect">
              <a:avLst/>
            </a:prstGeom>
            <a:solidFill>
              <a:srgbClr val="E2E8F0"/>
            </a:solidFill>
            <a:ln w="12700">
              <a:solidFill>
                <a:srgbClr val="E2E8F0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0" name="Text 33"/>
            <p:cNvSpPr txBox="1"/>
            <p:nvPr/>
          </p:nvSpPr>
          <p:spPr>
            <a:xfrm>
              <a:off x="2962656" y="3604565"/>
              <a:ext cx="1192378" cy="20025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1100" b="1" dirty="0">
                  <a:solidFill>
                    <a:srgbClr val="E63946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4단계 수직 구조</a:t>
              </a:r>
              <a:endParaRPr lang="en-US" sz="1100" dirty="0"/>
            </a:p>
          </p:txBody>
        </p:sp>
        <p:sp>
          <p:nvSpPr>
            <p:cNvPr id="41" name="Text 34"/>
            <p:cNvSpPr txBox="1"/>
            <p:nvPr/>
          </p:nvSpPr>
          <p:spPr>
            <a:xfrm>
              <a:off x="3913632" y="3604565"/>
              <a:ext cx="1596542" cy="20025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1100" dirty="0">
                  <a:solidFill>
                    <a:srgbClr val="2D3748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로 인한 의사결정 지연</a:t>
              </a:r>
              <a:endParaRPr lang="en-US" sz="1100" dirty="0"/>
            </a:p>
          </p:txBody>
        </p:sp>
        <p:sp>
          <p:nvSpPr>
            <p:cNvPr id="42" name="Shape 35"/>
            <p:cNvSpPr/>
            <p:nvPr/>
          </p:nvSpPr>
          <p:spPr>
            <a:xfrm>
              <a:off x="7781544" y="3447288"/>
              <a:ext cx="3933749" cy="533095"/>
            </a:xfrm>
            <a:prstGeom prst="rect">
              <a:avLst/>
            </a:prstGeom>
            <a:solidFill>
              <a:srgbClr val="F0FDFA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pic>
          <p:nvPicPr>
            <p:cNvPr id="43" name="Image 5" descr="preencoded.png"/>
            <p:cNvPicPr>
              <a:picLocks noChangeAspect="1"/>
            </p:cNvPicPr>
            <p:nvPr/>
          </p:nvPicPr>
          <p:blipFill>
            <a:blip r:embed="rId4"/>
            <a:srcRect t="-556" b="-556"/>
            <a:stretch/>
          </p:blipFill>
          <p:spPr>
            <a:xfrm>
              <a:off x="8029346" y="3641141"/>
              <a:ext cx="123444" cy="142646"/>
            </a:xfrm>
            <a:prstGeom prst="rect">
              <a:avLst/>
            </a:prstGeom>
          </p:spPr>
        </p:pic>
        <p:sp>
          <p:nvSpPr>
            <p:cNvPr id="44" name="Text 36"/>
            <p:cNvSpPr txBox="1"/>
            <p:nvPr/>
          </p:nvSpPr>
          <p:spPr>
            <a:xfrm>
              <a:off x="8229600" y="3604565"/>
              <a:ext cx="2414930" cy="20025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1100" b="1" dirty="0">
                  <a:solidFill>
                    <a:srgbClr val="2D3748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3단계로 계층 축소 (De-layering)</a:t>
              </a:r>
              <a:endParaRPr lang="en-US" sz="1100" dirty="0"/>
            </a:p>
          </p:txBody>
        </p:sp>
        <p:sp>
          <p:nvSpPr>
            <p:cNvPr id="45" name="Shape 37"/>
            <p:cNvSpPr/>
            <p:nvPr/>
          </p:nvSpPr>
          <p:spPr>
            <a:xfrm>
              <a:off x="476402" y="3975811"/>
              <a:ext cx="11239805" cy="743407"/>
            </a:xfrm>
            <a:prstGeom prst="rect">
              <a:avLst/>
            </a:prstGeom>
            <a:solidFill>
              <a:srgbClr val="F7FAFC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6" name="Shape 38"/>
            <p:cNvSpPr/>
            <p:nvPr/>
          </p:nvSpPr>
          <p:spPr>
            <a:xfrm>
              <a:off x="476402" y="4710074"/>
              <a:ext cx="2247595" cy="9144"/>
            </a:xfrm>
            <a:prstGeom prst="rect">
              <a:avLst/>
            </a:prstGeom>
            <a:solidFill>
              <a:srgbClr val="E2E8F0"/>
            </a:solidFill>
            <a:ln w="12700">
              <a:solidFill>
                <a:srgbClr val="E2E8F0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pic>
          <p:nvPicPr>
            <p:cNvPr id="47" name="Image 6" descr="preencoded.png"/>
            <p:cNvPicPr>
              <a:picLocks noChangeAspect="1"/>
            </p:cNvPicPr>
            <p:nvPr/>
          </p:nvPicPr>
          <p:blipFill>
            <a:blip r:embed="rId7"/>
            <a:srcRect l="-30128" r="-30128"/>
            <a:stretch/>
          </p:blipFill>
          <p:spPr>
            <a:xfrm>
              <a:off x="714146" y="4169664"/>
              <a:ext cx="228600" cy="142646"/>
            </a:xfrm>
            <a:prstGeom prst="rect">
              <a:avLst/>
            </a:prstGeom>
          </p:spPr>
        </p:pic>
        <p:sp>
          <p:nvSpPr>
            <p:cNvPr id="48" name="Text 39"/>
            <p:cNvSpPr txBox="1"/>
            <p:nvPr/>
          </p:nvSpPr>
          <p:spPr>
            <a:xfrm>
              <a:off x="714146" y="4133088"/>
              <a:ext cx="1768450" cy="4197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1100" b="1" dirty="0">
                  <a:solidFill>
                    <a:srgbClr val="2D3748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통제범위 (Span of Control)</a:t>
              </a:r>
              <a:endParaRPr lang="en-US" sz="1100" dirty="0"/>
            </a:p>
          </p:txBody>
        </p:sp>
        <p:sp>
          <p:nvSpPr>
            <p:cNvPr id="49" name="Shape 40"/>
            <p:cNvSpPr/>
            <p:nvPr/>
          </p:nvSpPr>
          <p:spPr>
            <a:xfrm>
              <a:off x="2723998" y="4710074"/>
              <a:ext cx="5057546" cy="9144"/>
            </a:xfrm>
            <a:prstGeom prst="rect">
              <a:avLst/>
            </a:prstGeom>
            <a:solidFill>
              <a:srgbClr val="E2E8F0"/>
            </a:solidFill>
            <a:ln w="12700">
              <a:solidFill>
                <a:srgbClr val="E2E8F0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0" name="Text 41"/>
            <p:cNvSpPr txBox="1"/>
            <p:nvPr/>
          </p:nvSpPr>
          <p:spPr>
            <a:xfrm>
              <a:off x="2962656" y="4240073"/>
              <a:ext cx="3226003" cy="20025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1100" dirty="0">
                  <a:solidFill>
                    <a:srgbClr val="2D3748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좁은 통제범위로 본부장에게 업무 과부하 집중</a:t>
              </a:r>
              <a:endParaRPr lang="en-US" sz="1100" dirty="0"/>
            </a:p>
          </p:txBody>
        </p:sp>
        <p:sp>
          <p:nvSpPr>
            <p:cNvPr id="51" name="Shape 42"/>
            <p:cNvSpPr/>
            <p:nvPr/>
          </p:nvSpPr>
          <p:spPr>
            <a:xfrm>
              <a:off x="7781544" y="3975811"/>
              <a:ext cx="3933749" cy="743407"/>
            </a:xfrm>
            <a:prstGeom prst="rect">
              <a:avLst/>
            </a:prstGeom>
            <a:solidFill>
              <a:srgbClr val="E6F6F6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pic>
          <p:nvPicPr>
            <p:cNvPr id="52" name="Image 7" descr="preencoded.png"/>
            <p:cNvPicPr>
              <a:picLocks noChangeAspect="1"/>
            </p:cNvPicPr>
            <p:nvPr/>
          </p:nvPicPr>
          <p:blipFill>
            <a:blip r:embed="rId4"/>
            <a:srcRect t="-556" b="-556"/>
            <a:stretch/>
          </p:blipFill>
          <p:spPr>
            <a:xfrm>
              <a:off x="8029346" y="4276649"/>
              <a:ext cx="123444" cy="142646"/>
            </a:xfrm>
            <a:prstGeom prst="rect">
              <a:avLst/>
            </a:prstGeom>
          </p:spPr>
        </p:pic>
        <p:sp>
          <p:nvSpPr>
            <p:cNvPr id="53" name="Text 43"/>
            <p:cNvSpPr txBox="1"/>
            <p:nvPr/>
          </p:nvSpPr>
          <p:spPr>
            <a:xfrm>
              <a:off x="8229600" y="4240073"/>
              <a:ext cx="2042770" cy="20025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1100" b="1" dirty="0">
                  <a:solidFill>
                    <a:srgbClr val="2D3748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통제범위 확대 및 권한 위임</a:t>
              </a:r>
              <a:endParaRPr lang="en-US" sz="1100" dirty="0"/>
            </a:p>
          </p:txBody>
        </p:sp>
        <p:sp>
          <p:nvSpPr>
            <p:cNvPr id="54" name="Shape 44"/>
            <p:cNvSpPr/>
            <p:nvPr/>
          </p:nvSpPr>
          <p:spPr>
            <a:xfrm>
              <a:off x="476402" y="5452567"/>
              <a:ext cx="2247595" cy="9144"/>
            </a:xfrm>
            <a:prstGeom prst="rect">
              <a:avLst/>
            </a:prstGeom>
            <a:solidFill>
              <a:srgbClr val="E2E8F0"/>
            </a:solidFill>
            <a:ln w="12700">
              <a:solidFill>
                <a:srgbClr val="E2E8F0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pic>
          <p:nvPicPr>
            <p:cNvPr id="55" name="Image 8" descr="preencoded.png"/>
            <p:cNvPicPr>
              <a:picLocks noChangeAspect="1"/>
            </p:cNvPicPr>
            <p:nvPr/>
          </p:nvPicPr>
          <p:blipFill>
            <a:blip r:embed="rId8"/>
            <a:srcRect l="-30128" r="-30128"/>
            <a:stretch/>
          </p:blipFill>
          <p:spPr>
            <a:xfrm>
              <a:off x="714146" y="4913071"/>
              <a:ext cx="228600" cy="142646"/>
            </a:xfrm>
            <a:prstGeom prst="rect">
              <a:avLst/>
            </a:prstGeom>
          </p:spPr>
        </p:pic>
        <p:sp>
          <p:nvSpPr>
            <p:cNvPr id="56" name="Text 45"/>
            <p:cNvSpPr txBox="1"/>
            <p:nvPr/>
          </p:nvSpPr>
          <p:spPr>
            <a:xfrm>
              <a:off x="714146" y="4875581"/>
              <a:ext cx="1314907" cy="4197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1100" b="1" dirty="0">
                  <a:solidFill>
                    <a:srgbClr val="2D3748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집권화 (Centralization)</a:t>
              </a:r>
              <a:endParaRPr lang="en-US" sz="1100" dirty="0"/>
            </a:p>
          </p:txBody>
        </p:sp>
        <p:sp>
          <p:nvSpPr>
            <p:cNvPr id="57" name="Shape 46"/>
            <p:cNvSpPr/>
            <p:nvPr/>
          </p:nvSpPr>
          <p:spPr>
            <a:xfrm>
              <a:off x="2723998" y="5452567"/>
              <a:ext cx="5057546" cy="9144"/>
            </a:xfrm>
            <a:prstGeom prst="rect">
              <a:avLst/>
            </a:prstGeom>
            <a:solidFill>
              <a:srgbClr val="E2E8F0"/>
            </a:solidFill>
            <a:ln w="12700">
              <a:solidFill>
                <a:srgbClr val="E2E8F0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8" name="Text 47"/>
            <p:cNvSpPr txBox="1"/>
            <p:nvPr/>
          </p:nvSpPr>
          <p:spPr>
            <a:xfrm>
              <a:off x="2962656" y="4983480"/>
              <a:ext cx="854050" cy="20025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1100" b="1" dirty="0">
                  <a:solidFill>
                    <a:srgbClr val="E63946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높은 집권화</a:t>
              </a:r>
              <a:endParaRPr lang="en-US" sz="1100" dirty="0"/>
            </a:p>
          </p:txBody>
        </p:sp>
        <p:sp>
          <p:nvSpPr>
            <p:cNvPr id="59" name="Text 48"/>
            <p:cNvSpPr txBox="1"/>
            <p:nvPr/>
          </p:nvSpPr>
          <p:spPr>
            <a:xfrm>
              <a:off x="3659429" y="4983480"/>
              <a:ext cx="1626718" cy="20025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1100" dirty="0">
                  <a:solidFill>
                    <a:srgbClr val="2D3748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, 상위 레벨 권한 집중</a:t>
              </a:r>
              <a:endParaRPr lang="en-US" sz="1100" dirty="0"/>
            </a:p>
          </p:txBody>
        </p:sp>
        <p:sp>
          <p:nvSpPr>
            <p:cNvPr id="60" name="Shape 49"/>
            <p:cNvSpPr/>
            <p:nvPr/>
          </p:nvSpPr>
          <p:spPr>
            <a:xfrm>
              <a:off x="7781544" y="4718304"/>
              <a:ext cx="3933749" cy="743407"/>
            </a:xfrm>
            <a:prstGeom prst="rect">
              <a:avLst/>
            </a:prstGeom>
            <a:solidFill>
              <a:srgbClr val="F0FDFA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pic>
          <p:nvPicPr>
            <p:cNvPr id="61" name="Image 9" descr="preencoded.png"/>
            <p:cNvPicPr>
              <a:picLocks noChangeAspect="1"/>
            </p:cNvPicPr>
            <p:nvPr/>
          </p:nvPicPr>
          <p:blipFill>
            <a:blip r:embed="rId4"/>
            <a:srcRect t="-556" b="-556"/>
            <a:stretch/>
          </p:blipFill>
          <p:spPr>
            <a:xfrm>
              <a:off x="8029346" y="5020056"/>
              <a:ext cx="123444" cy="142646"/>
            </a:xfrm>
            <a:prstGeom prst="rect">
              <a:avLst/>
            </a:prstGeom>
          </p:spPr>
        </p:pic>
        <p:sp>
          <p:nvSpPr>
            <p:cNvPr id="62" name="Text 50"/>
            <p:cNvSpPr txBox="1"/>
            <p:nvPr/>
          </p:nvSpPr>
          <p:spPr>
            <a:xfrm>
              <a:off x="8229600" y="4983480"/>
              <a:ext cx="2438705" cy="20025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1100" b="1" dirty="0">
                  <a:solidFill>
                    <a:srgbClr val="2D3748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과감한 분권화 및 현장 자율 결정</a:t>
              </a:r>
              <a:endParaRPr lang="en-US" sz="1100" dirty="0"/>
            </a:p>
          </p:txBody>
        </p:sp>
        <p:sp>
          <p:nvSpPr>
            <p:cNvPr id="63" name="Shape 51"/>
            <p:cNvSpPr/>
            <p:nvPr/>
          </p:nvSpPr>
          <p:spPr>
            <a:xfrm>
              <a:off x="476402" y="5752490"/>
              <a:ext cx="11239805" cy="666598"/>
            </a:xfrm>
            <a:prstGeom prst="roundRect">
              <a:avLst>
                <a:gd name="adj" fmla="val 15677"/>
              </a:avLst>
            </a:prstGeom>
            <a:solidFill>
              <a:srgbClr val="003D5B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  <a:effectLst>
              <a:outerShdw blurRad="114300" dist="63500" dir="16200000" algn="bl" rotWithShape="0">
                <a:srgbClr val="003D5B">
                  <a:alpha val="20000"/>
                </a:srgb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64" name="Text 52"/>
            <p:cNvSpPr txBox="1"/>
            <p:nvPr/>
          </p:nvSpPr>
          <p:spPr>
            <a:xfrm>
              <a:off x="2221078" y="5942686"/>
              <a:ext cx="2381098" cy="2770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1500" b="1" kern="0" spc="38" dirty="0">
                  <a:solidFill>
                    <a:srgbClr val="FFFFFF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3계층 Matrix 조직 전환</a:t>
              </a:r>
              <a:endParaRPr lang="en-US" sz="1500" dirty="0"/>
            </a:p>
          </p:txBody>
        </p:sp>
        <p:sp>
          <p:nvSpPr>
            <p:cNvPr id="65" name="Shape 53"/>
            <p:cNvSpPr/>
            <p:nvPr/>
          </p:nvSpPr>
          <p:spPr>
            <a:xfrm>
              <a:off x="4457700" y="5990234"/>
              <a:ext cx="19202" cy="190195"/>
            </a:xfrm>
            <a:prstGeom prst="rect">
              <a:avLst/>
            </a:prstGeom>
            <a:solidFill>
              <a:srgbClr val="00A8A8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66" name="Text 54"/>
            <p:cNvSpPr txBox="1"/>
            <p:nvPr/>
          </p:nvSpPr>
          <p:spPr>
            <a:xfrm>
              <a:off x="4714646" y="5942686"/>
              <a:ext cx="3532327" cy="2770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1500" b="1" kern="0" spc="38" dirty="0">
                  <a:solidFill>
                    <a:srgbClr val="FFFFFF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과감한 분권화 (Decentralization)</a:t>
              </a:r>
              <a:endParaRPr lang="en-US" sz="1500" dirty="0"/>
            </a:p>
          </p:txBody>
        </p:sp>
        <p:sp>
          <p:nvSpPr>
            <p:cNvPr id="67" name="Shape 55"/>
            <p:cNvSpPr/>
            <p:nvPr/>
          </p:nvSpPr>
          <p:spPr>
            <a:xfrm>
              <a:off x="7919618" y="5990234"/>
              <a:ext cx="19202" cy="190195"/>
            </a:xfrm>
            <a:prstGeom prst="rect">
              <a:avLst/>
            </a:prstGeom>
            <a:solidFill>
              <a:srgbClr val="00A8A8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68" name="Text 56"/>
            <p:cNvSpPr txBox="1"/>
            <p:nvPr/>
          </p:nvSpPr>
          <p:spPr>
            <a:xfrm>
              <a:off x="8176565" y="5942686"/>
              <a:ext cx="2252167" cy="2770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1500" b="1" kern="0" spc="38" dirty="0">
                  <a:solidFill>
                    <a:srgbClr val="FFFFFF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수평적 협업 체계 구축</a:t>
              </a:r>
              <a:endParaRPr lang="en-US" sz="1500" dirty="0"/>
            </a:p>
          </p:txBody>
        </p:sp>
        <p:sp>
          <p:nvSpPr>
            <p:cNvPr id="69" name="Shape 57"/>
            <p:cNvSpPr/>
            <p:nvPr/>
          </p:nvSpPr>
          <p:spPr>
            <a:xfrm>
              <a:off x="0" y="6704381"/>
              <a:ext cx="12191695" cy="181051"/>
            </a:xfrm>
            <a:prstGeom prst="rect">
              <a:avLst/>
            </a:prstGeom>
            <a:solidFill>
              <a:srgbClr val="FFFFFF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70" name="Shape 58"/>
            <p:cNvSpPr/>
            <p:nvPr/>
          </p:nvSpPr>
          <p:spPr>
            <a:xfrm>
              <a:off x="0" y="6704381"/>
              <a:ext cx="12191695" cy="9144"/>
            </a:xfrm>
            <a:prstGeom prst="rect">
              <a:avLst/>
            </a:prstGeom>
            <a:solidFill>
              <a:srgbClr val="E2E8F0"/>
            </a:solidFill>
            <a:ln w="12700">
              <a:solidFill>
                <a:srgbClr val="E2E8F0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71" name="Text 59"/>
            <p:cNvSpPr txBox="1"/>
            <p:nvPr/>
          </p:nvSpPr>
          <p:spPr>
            <a:xfrm>
              <a:off x="476402" y="6714439"/>
              <a:ext cx="1750162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718096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시앤피컨설팅 조직 재설계 전략</a:t>
              </a:r>
              <a:endParaRPr lang="en-US" sz="900" dirty="0"/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2" name="그룹 61">
            <a:extLst>
              <a:ext uri="{FF2B5EF4-FFF2-40B4-BE49-F238E27FC236}">
                <a16:creationId xmlns:a16="http://schemas.microsoft.com/office/drawing/2014/main" id="{62735A14-C276-5AE2-DEEF-3EB8BE084616}"/>
              </a:ext>
            </a:extLst>
          </p:cNvPr>
          <p:cNvGrpSpPr/>
          <p:nvPr/>
        </p:nvGrpSpPr>
        <p:grpSpPr>
          <a:xfrm>
            <a:off x="0" y="0"/>
            <a:ext cx="12191695" cy="6858000"/>
            <a:chOff x="0" y="0"/>
            <a:chExt cx="12191695" cy="6858000"/>
          </a:xfrm>
        </p:grpSpPr>
        <p:sp>
          <p:nvSpPr>
            <p:cNvPr id="2" name="Shape 0"/>
            <p:cNvSpPr/>
            <p:nvPr/>
          </p:nvSpPr>
          <p:spPr>
            <a:xfrm>
              <a:off x="0" y="0"/>
              <a:ext cx="12191695" cy="68580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" name="Shape 1"/>
            <p:cNvSpPr/>
            <p:nvPr/>
          </p:nvSpPr>
          <p:spPr>
            <a:xfrm>
              <a:off x="0" y="0"/>
              <a:ext cx="12191695" cy="952805"/>
            </a:xfrm>
            <a:prstGeom prst="rect">
              <a:avLst/>
            </a:prstGeom>
            <a:solidFill>
              <a:srgbClr val="003D5B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" name="Shape 2"/>
            <p:cNvSpPr/>
            <p:nvPr/>
          </p:nvSpPr>
          <p:spPr>
            <a:xfrm>
              <a:off x="476402" y="504749"/>
              <a:ext cx="476402" cy="38405"/>
            </a:xfrm>
            <a:prstGeom prst="rect">
              <a:avLst/>
            </a:prstGeom>
            <a:solidFill>
              <a:srgbClr val="00A8A8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" name="Text 3"/>
            <p:cNvSpPr txBox="1"/>
            <p:nvPr/>
          </p:nvSpPr>
          <p:spPr>
            <a:xfrm>
              <a:off x="1143000" y="341071"/>
              <a:ext cx="6544361" cy="37216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2400" b="1" kern="0" spc="-37" dirty="0">
                  <a:solidFill>
                    <a:srgbClr val="FFFFFF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핵심 문제: 4계층 수직구조와 본부별 사일로</a:t>
              </a:r>
              <a:endParaRPr lang="en-US" sz="2400" dirty="0"/>
            </a:p>
          </p:txBody>
        </p:sp>
        <p:sp>
          <p:nvSpPr>
            <p:cNvPr id="6" name="Shape 4"/>
            <p:cNvSpPr/>
            <p:nvPr/>
          </p:nvSpPr>
          <p:spPr>
            <a:xfrm>
              <a:off x="0" y="952805"/>
              <a:ext cx="12191695" cy="5429707"/>
            </a:xfrm>
            <a:prstGeom prst="rect">
              <a:avLst/>
            </a:prstGeom>
            <a:solidFill>
              <a:srgbClr val="F5F7FA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7" name="Shape 5"/>
            <p:cNvSpPr/>
            <p:nvPr/>
          </p:nvSpPr>
          <p:spPr>
            <a:xfrm>
              <a:off x="476402" y="1333195"/>
              <a:ext cx="3562502" cy="4667098"/>
            </a:xfrm>
            <a:prstGeom prst="rect">
              <a:avLst/>
            </a:prstGeom>
            <a:solidFill>
              <a:srgbClr val="FFFFFF"/>
            </a:solidFill>
            <a:ln/>
            <a:effectLst>
              <a:outerShdw blurRad="63500" dist="38100" dir="16200000" algn="bl" rotWithShape="0">
                <a:srgbClr val="000000">
                  <a:alpha val="5000"/>
                </a:srgb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8" name="Shape 6"/>
            <p:cNvSpPr/>
            <p:nvPr/>
          </p:nvSpPr>
          <p:spPr>
            <a:xfrm>
              <a:off x="476402" y="1333195"/>
              <a:ext cx="3562502" cy="57607"/>
            </a:xfrm>
            <a:prstGeom prst="rect">
              <a:avLst/>
            </a:prstGeom>
            <a:solidFill>
              <a:srgbClr val="003D5B"/>
            </a:solidFill>
            <a:ln w="12700">
              <a:solidFill>
                <a:srgbClr val="003D5B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9" name="Shape 7"/>
            <p:cNvSpPr/>
            <p:nvPr/>
          </p:nvSpPr>
          <p:spPr>
            <a:xfrm>
              <a:off x="714146" y="2162556"/>
              <a:ext cx="3086100" cy="9144"/>
            </a:xfrm>
            <a:prstGeom prst="rect">
              <a:avLst/>
            </a:prstGeom>
            <a:solidFill>
              <a:srgbClr val="EEEEEE"/>
            </a:solidFill>
            <a:ln w="12700">
              <a:solidFill>
                <a:srgbClr val="EEEEEE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0" name="Text 8"/>
            <p:cNvSpPr txBox="1"/>
            <p:nvPr/>
          </p:nvSpPr>
          <p:spPr>
            <a:xfrm>
              <a:off x="714146" y="1676095"/>
              <a:ext cx="1476756" cy="3337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1800" b="1" dirty="0">
                  <a:solidFill>
                    <a:srgbClr val="003D5B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STRUCTURE</a:t>
              </a:r>
              <a:endParaRPr lang="en-US" sz="1800" dirty="0"/>
            </a:p>
          </p:txBody>
        </p:sp>
        <p:pic>
          <p:nvPicPr>
            <p:cNvPr id="11" name="Image 0" descr="preencoded.png"/>
            <p:cNvPicPr>
              <a:picLocks noChangeAspect="1"/>
            </p:cNvPicPr>
            <p:nvPr/>
          </p:nvPicPr>
          <p:blipFill>
            <a:blip r:embed="rId3">
              <a:alphaModFix amt="80000"/>
            </a:blip>
            <a:srcRect t="-45" b="-45"/>
            <a:stretch/>
          </p:blipFill>
          <p:spPr>
            <a:xfrm>
              <a:off x="3536899" y="1733702"/>
              <a:ext cx="256946" cy="228600"/>
            </a:xfrm>
            <a:prstGeom prst="rect">
              <a:avLst/>
            </a:prstGeom>
          </p:spPr>
        </p:pic>
        <p:sp>
          <p:nvSpPr>
            <p:cNvPr id="12" name="Shape 9"/>
            <p:cNvSpPr/>
            <p:nvPr/>
          </p:nvSpPr>
          <p:spPr>
            <a:xfrm>
              <a:off x="714146" y="2505456"/>
              <a:ext cx="75895" cy="75895"/>
            </a:xfrm>
            <a:prstGeom prst="ellipse">
              <a:avLst/>
            </a:prstGeom>
            <a:solidFill>
              <a:srgbClr val="003D5B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3" name="Text 10"/>
            <p:cNvSpPr txBox="1"/>
            <p:nvPr/>
          </p:nvSpPr>
          <p:spPr>
            <a:xfrm>
              <a:off x="933602" y="2409444"/>
              <a:ext cx="1510589" cy="25786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4A5568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4단계 계층 구조</a:t>
              </a:r>
              <a:endParaRPr lang="en-US" sz="1400" dirty="0"/>
            </a:p>
          </p:txBody>
        </p:sp>
        <p:sp>
          <p:nvSpPr>
            <p:cNvPr id="14" name="Text 11"/>
            <p:cNvSpPr txBox="1"/>
            <p:nvPr/>
          </p:nvSpPr>
          <p:spPr>
            <a:xfrm>
              <a:off x="933602" y="2620442"/>
              <a:ext cx="2934310" cy="5340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1400" dirty="0">
                  <a:solidFill>
                    <a:srgbClr val="4A5568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의 과도한 중첩 및 비효율</a:t>
              </a:r>
              <a:endParaRPr lang="en-US" sz="1400" dirty="0"/>
            </a:p>
          </p:txBody>
        </p:sp>
        <p:sp>
          <p:nvSpPr>
            <p:cNvPr id="15" name="Shape 12"/>
            <p:cNvSpPr/>
            <p:nvPr/>
          </p:nvSpPr>
          <p:spPr>
            <a:xfrm>
              <a:off x="714146" y="3238805"/>
              <a:ext cx="75895" cy="75895"/>
            </a:xfrm>
            <a:prstGeom prst="ellipse">
              <a:avLst/>
            </a:prstGeom>
            <a:solidFill>
              <a:srgbClr val="003D5B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6" name="Text 13"/>
            <p:cNvSpPr txBox="1"/>
            <p:nvPr/>
          </p:nvSpPr>
          <p:spPr>
            <a:xfrm>
              <a:off x="933602" y="3143707"/>
              <a:ext cx="1236269" cy="25786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1400" dirty="0">
                  <a:solidFill>
                    <a:srgbClr val="4A5568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본부장 중심의</a:t>
              </a:r>
              <a:endParaRPr lang="en-US" sz="1400" dirty="0"/>
            </a:p>
          </p:txBody>
        </p:sp>
        <p:sp>
          <p:nvSpPr>
            <p:cNvPr id="17" name="Text 14"/>
            <p:cNvSpPr txBox="1"/>
            <p:nvPr/>
          </p:nvSpPr>
          <p:spPr>
            <a:xfrm>
              <a:off x="933601" y="3354705"/>
              <a:ext cx="2675535" cy="5340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r>
                <a:rPr lang="en-US" sz="1400" b="1" dirty="0">
                  <a:solidFill>
                    <a:srgbClr val="4A5568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권한 집중(Centralization) </a:t>
              </a:r>
              <a:r>
                <a:rPr lang="en-US" altLang="ko-KR" sz="1400" dirty="0" err="1">
                  <a:solidFill>
                    <a:srgbClr val="4A5568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심화</a:t>
              </a:r>
              <a:endParaRPr lang="en-US" altLang="ko-KR" sz="1400" dirty="0"/>
            </a:p>
            <a:p>
              <a:pPr marL="0" indent="0" algn="l">
                <a:buNone/>
              </a:pPr>
              <a:endParaRPr lang="en-US" sz="1400" dirty="0"/>
            </a:p>
          </p:txBody>
        </p:sp>
        <p:sp>
          <p:nvSpPr>
            <p:cNvPr id="18" name="Text 15"/>
            <p:cNvSpPr txBox="1"/>
            <p:nvPr/>
          </p:nvSpPr>
          <p:spPr>
            <a:xfrm>
              <a:off x="2328977" y="3414370"/>
              <a:ext cx="409651" cy="25786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endParaRPr lang="en-US" sz="1400" dirty="0"/>
            </a:p>
          </p:txBody>
        </p:sp>
        <p:sp>
          <p:nvSpPr>
            <p:cNvPr id="19" name="Shape 16"/>
            <p:cNvSpPr/>
            <p:nvPr/>
          </p:nvSpPr>
          <p:spPr>
            <a:xfrm>
              <a:off x="714146" y="3972154"/>
              <a:ext cx="75895" cy="75895"/>
            </a:xfrm>
            <a:prstGeom prst="ellipse">
              <a:avLst/>
            </a:prstGeom>
            <a:solidFill>
              <a:srgbClr val="003D5B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0" name="Text 17"/>
            <p:cNvSpPr txBox="1"/>
            <p:nvPr/>
          </p:nvSpPr>
          <p:spPr>
            <a:xfrm>
              <a:off x="933602" y="3877056"/>
              <a:ext cx="674827" cy="25786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1400" dirty="0">
                  <a:solidFill>
                    <a:srgbClr val="4A5568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본부 간</a:t>
              </a:r>
              <a:endParaRPr lang="en-US" sz="1400" dirty="0"/>
            </a:p>
          </p:txBody>
        </p:sp>
        <p:sp>
          <p:nvSpPr>
            <p:cNvPr id="21" name="Text 18"/>
            <p:cNvSpPr txBox="1"/>
            <p:nvPr/>
          </p:nvSpPr>
          <p:spPr>
            <a:xfrm>
              <a:off x="1484071" y="3877056"/>
              <a:ext cx="1621231" cy="25786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4A5568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사일로(Silo) 현상</a:t>
              </a:r>
              <a:endParaRPr lang="en-US" sz="1400" dirty="0"/>
            </a:p>
          </p:txBody>
        </p:sp>
        <p:sp>
          <p:nvSpPr>
            <p:cNvPr id="22" name="Text 19"/>
            <p:cNvSpPr txBox="1"/>
            <p:nvPr/>
          </p:nvSpPr>
          <p:spPr>
            <a:xfrm>
              <a:off x="933602" y="4088054"/>
              <a:ext cx="3038551" cy="5340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1400" dirty="0">
                  <a:solidFill>
                    <a:srgbClr val="4A5568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으로 협업 단절</a:t>
              </a:r>
              <a:endParaRPr lang="en-US" sz="1400" dirty="0"/>
            </a:p>
          </p:txBody>
        </p:sp>
        <p:sp>
          <p:nvSpPr>
            <p:cNvPr id="23" name="Shape 20"/>
            <p:cNvSpPr/>
            <p:nvPr/>
          </p:nvSpPr>
          <p:spPr>
            <a:xfrm>
              <a:off x="714146" y="4705502"/>
              <a:ext cx="75895" cy="75895"/>
            </a:xfrm>
            <a:prstGeom prst="ellipse">
              <a:avLst/>
            </a:prstGeom>
            <a:solidFill>
              <a:srgbClr val="003D5B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4" name="Text 21"/>
            <p:cNvSpPr txBox="1"/>
            <p:nvPr/>
          </p:nvSpPr>
          <p:spPr>
            <a:xfrm>
              <a:off x="933602" y="4610405"/>
              <a:ext cx="3057754" cy="25786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1400" dirty="0">
                  <a:solidFill>
                    <a:srgbClr val="4A5568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유연성이 결여된 경직된 조직 운영</a:t>
              </a:r>
              <a:endParaRPr lang="en-US" sz="1400" dirty="0"/>
            </a:p>
          </p:txBody>
        </p:sp>
        <p:sp>
          <p:nvSpPr>
            <p:cNvPr id="25" name="Shape 22"/>
            <p:cNvSpPr/>
            <p:nvPr/>
          </p:nvSpPr>
          <p:spPr>
            <a:xfrm>
              <a:off x="4317797" y="1333195"/>
              <a:ext cx="3562502" cy="4667098"/>
            </a:xfrm>
            <a:prstGeom prst="rect">
              <a:avLst/>
            </a:prstGeom>
            <a:solidFill>
              <a:srgbClr val="FFFFFF"/>
            </a:solidFill>
            <a:ln/>
            <a:effectLst>
              <a:outerShdw blurRad="63500" dist="38100" dir="16200000" algn="bl" rotWithShape="0">
                <a:srgbClr val="000000">
                  <a:alpha val="5000"/>
                </a:srgb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6" name="Shape 23"/>
            <p:cNvSpPr/>
            <p:nvPr/>
          </p:nvSpPr>
          <p:spPr>
            <a:xfrm>
              <a:off x="4317797" y="1333195"/>
              <a:ext cx="3562502" cy="57607"/>
            </a:xfrm>
            <a:prstGeom prst="rect">
              <a:avLst/>
            </a:prstGeom>
            <a:solidFill>
              <a:srgbClr val="007EA7"/>
            </a:solidFill>
            <a:ln w="12700">
              <a:solidFill>
                <a:srgbClr val="007EA7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7" name="Shape 24"/>
            <p:cNvSpPr/>
            <p:nvPr/>
          </p:nvSpPr>
          <p:spPr>
            <a:xfrm>
              <a:off x="4556455" y="2162556"/>
              <a:ext cx="3086100" cy="9144"/>
            </a:xfrm>
            <a:prstGeom prst="rect">
              <a:avLst/>
            </a:prstGeom>
            <a:solidFill>
              <a:srgbClr val="EEEEEE"/>
            </a:solidFill>
            <a:ln w="12700">
              <a:solidFill>
                <a:srgbClr val="EEEEEE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8" name="Text 25"/>
            <p:cNvSpPr txBox="1"/>
            <p:nvPr/>
          </p:nvSpPr>
          <p:spPr>
            <a:xfrm>
              <a:off x="4556455" y="1676095"/>
              <a:ext cx="1162202" cy="3337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1800" b="1" dirty="0">
                  <a:solidFill>
                    <a:srgbClr val="007EA7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PROCESS</a:t>
              </a:r>
              <a:endParaRPr lang="en-US" sz="1800" dirty="0"/>
            </a:p>
          </p:txBody>
        </p:sp>
        <p:pic>
          <p:nvPicPr>
            <p:cNvPr id="29" name="Image 1" descr="preencoded.png"/>
            <p:cNvPicPr>
              <a:picLocks noChangeAspect="1"/>
            </p:cNvPicPr>
            <p:nvPr/>
          </p:nvPicPr>
          <p:blipFill>
            <a:blip r:embed="rId4">
              <a:alphaModFix amt="80000"/>
            </a:blip>
            <a:srcRect l="-80" r="-80"/>
            <a:stretch/>
          </p:blipFill>
          <p:spPr>
            <a:xfrm>
              <a:off x="7349947" y="1733702"/>
              <a:ext cx="286207" cy="228600"/>
            </a:xfrm>
            <a:prstGeom prst="rect">
              <a:avLst/>
            </a:prstGeom>
          </p:spPr>
        </p:pic>
        <p:sp>
          <p:nvSpPr>
            <p:cNvPr id="30" name="Shape 26"/>
            <p:cNvSpPr/>
            <p:nvPr/>
          </p:nvSpPr>
          <p:spPr>
            <a:xfrm>
              <a:off x="4556455" y="2505456"/>
              <a:ext cx="75895" cy="75895"/>
            </a:xfrm>
            <a:prstGeom prst="ellipse">
              <a:avLst/>
            </a:prstGeom>
            <a:solidFill>
              <a:srgbClr val="007EA7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1" name="Text 27"/>
            <p:cNvSpPr txBox="1"/>
            <p:nvPr/>
          </p:nvSpPr>
          <p:spPr>
            <a:xfrm>
              <a:off x="4774997" y="2409444"/>
              <a:ext cx="876910" cy="25786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4A5568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PMO 부재</a:t>
              </a:r>
              <a:endParaRPr lang="en-US" sz="1400" dirty="0"/>
            </a:p>
          </p:txBody>
        </p:sp>
        <p:sp>
          <p:nvSpPr>
            <p:cNvPr id="32" name="Text 28"/>
            <p:cNvSpPr txBox="1"/>
            <p:nvPr/>
          </p:nvSpPr>
          <p:spPr>
            <a:xfrm>
              <a:off x="4774997" y="2620442"/>
              <a:ext cx="2915107" cy="5340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1400" dirty="0">
                  <a:solidFill>
                    <a:srgbClr val="4A5568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로 인한 전사 통합 관리 미흡</a:t>
              </a:r>
              <a:endParaRPr lang="en-US" sz="1400" dirty="0"/>
            </a:p>
          </p:txBody>
        </p:sp>
        <p:sp>
          <p:nvSpPr>
            <p:cNvPr id="33" name="Shape 29"/>
            <p:cNvSpPr/>
            <p:nvPr/>
          </p:nvSpPr>
          <p:spPr>
            <a:xfrm>
              <a:off x="4556455" y="3238805"/>
              <a:ext cx="75895" cy="75895"/>
            </a:xfrm>
            <a:prstGeom prst="ellipse">
              <a:avLst/>
            </a:prstGeom>
            <a:solidFill>
              <a:srgbClr val="007EA7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4" name="Text 30"/>
            <p:cNvSpPr txBox="1"/>
            <p:nvPr/>
          </p:nvSpPr>
          <p:spPr>
            <a:xfrm>
              <a:off x="4774997" y="3143707"/>
              <a:ext cx="2209190" cy="25786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1400" dirty="0">
                  <a:solidFill>
                    <a:srgbClr val="4A5568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체계적 지식관리 부족 및</a:t>
              </a:r>
              <a:endParaRPr lang="en-US" sz="1400" dirty="0"/>
            </a:p>
          </p:txBody>
        </p:sp>
        <p:sp>
          <p:nvSpPr>
            <p:cNvPr id="35" name="Text 31"/>
            <p:cNvSpPr txBox="1"/>
            <p:nvPr/>
          </p:nvSpPr>
          <p:spPr>
            <a:xfrm>
              <a:off x="4774997" y="3354705"/>
              <a:ext cx="2943454" cy="5340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4A5568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개인 역량 의존</a:t>
              </a:r>
              <a:endParaRPr lang="en-US" sz="1400" dirty="0"/>
            </a:p>
          </p:txBody>
        </p:sp>
        <p:sp>
          <p:nvSpPr>
            <p:cNvPr id="36" name="Shape 32"/>
            <p:cNvSpPr/>
            <p:nvPr/>
          </p:nvSpPr>
          <p:spPr>
            <a:xfrm>
              <a:off x="4556455" y="3972154"/>
              <a:ext cx="75895" cy="75895"/>
            </a:xfrm>
            <a:prstGeom prst="ellipse">
              <a:avLst/>
            </a:prstGeom>
            <a:solidFill>
              <a:srgbClr val="007EA7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7" name="Text 33"/>
            <p:cNvSpPr txBox="1"/>
            <p:nvPr/>
          </p:nvSpPr>
          <p:spPr>
            <a:xfrm>
              <a:off x="4774997" y="3877056"/>
              <a:ext cx="2396642" cy="25786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1400" dirty="0">
                  <a:solidFill>
                    <a:srgbClr val="4A5568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복잡한 보고 라인으로 인한</a:t>
              </a:r>
              <a:endParaRPr lang="en-US" sz="1400" dirty="0"/>
            </a:p>
          </p:txBody>
        </p:sp>
        <p:sp>
          <p:nvSpPr>
            <p:cNvPr id="38" name="Text 34"/>
            <p:cNvSpPr txBox="1"/>
            <p:nvPr/>
          </p:nvSpPr>
          <p:spPr>
            <a:xfrm>
              <a:off x="4774997" y="4088054"/>
              <a:ext cx="2848356" cy="5340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4A5568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의사결정 지연</a:t>
              </a:r>
              <a:endParaRPr lang="en-US" sz="1400" dirty="0"/>
            </a:p>
          </p:txBody>
        </p:sp>
        <p:sp>
          <p:nvSpPr>
            <p:cNvPr id="39" name="Shape 35"/>
            <p:cNvSpPr/>
            <p:nvPr/>
          </p:nvSpPr>
          <p:spPr>
            <a:xfrm>
              <a:off x="4556455" y="4705502"/>
              <a:ext cx="75895" cy="75895"/>
            </a:xfrm>
            <a:prstGeom prst="ellipse">
              <a:avLst/>
            </a:prstGeom>
            <a:solidFill>
              <a:srgbClr val="007EA7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0" name="Text 36"/>
            <p:cNvSpPr txBox="1"/>
            <p:nvPr/>
          </p:nvSpPr>
          <p:spPr>
            <a:xfrm>
              <a:off x="4774997" y="4610405"/>
              <a:ext cx="3492094" cy="5340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1400" dirty="0">
                  <a:solidFill>
                    <a:srgbClr val="4A5568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프로젝트 품질 관리(QA) 프로세스 취약</a:t>
              </a:r>
              <a:endParaRPr lang="en-US" sz="1400" dirty="0"/>
            </a:p>
          </p:txBody>
        </p:sp>
        <p:sp>
          <p:nvSpPr>
            <p:cNvPr id="41" name="Shape 37"/>
            <p:cNvSpPr/>
            <p:nvPr/>
          </p:nvSpPr>
          <p:spPr>
            <a:xfrm>
              <a:off x="8160106" y="1333195"/>
              <a:ext cx="3562502" cy="4667098"/>
            </a:xfrm>
            <a:prstGeom prst="rect">
              <a:avLst/>
            </a:prstGeom>
            <a:solidFill>
              <a:srgbClr val="FFFFFF"/>
            </a:solidFill>
            <a:ln/>
            <a:effectLst>
              <a:outerShdw blurRad="63500" dist="38100" dir="16200000" algn="bl" rotWithShape="0">
                <a:srgbClr val="000000">
                  <a:alpha val="5000"/>
                </a:srgb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2" name="Shape 38"/>
            <p:cNvSpPr/>
            <p:nvPr/>
          </p:nvSpPr>
          <p:spPr>
            <a:xfrm>
              <a:off x="8160106" y="1333195"/>
              <a:ext cx="3562502" cy="57607"/>
            </a:xfrm>
            <a:prstGeom prst="rect">
              <a:avLst/>
            </a:prstGeom>
            <a:solidFill>
              <a:srgbClr val="00A8A8"/>
            </a:solidFill>
            <a:ln w="12700">
              <a:solidFill>
                <a:srgbClr val="00A8A8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3" name="Shape 39"/>
            <p:cNvSpPr/>
            <p:nvPr/>
          </p:nvSpPr>
          <p:spPr>
            <a:xfrm>
              <a:off x="8397850" y="2162556"/>
              <a:ext cx="3086100" cy="9144"/>
            </a:xfrm>
            <a:prstGeom prst="rect">
              <a:avLst/>
            </a:prstGeom>
            <a:solidFill>
              <a:srgbClr val="EEEEEE"/>
            </a:solidFill>
            <a:ln w="12700">
              <a:solidFill>
                <a:srgbClr val="EEEEEE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4" name="Text 40"/>
            <p:cNvSpPr txBox="1"/>
            <p:nvPr/>
          </p:nvSpPr>
          <p:spPr>
            <a:xfrm>
              <a:off x="8397850" y="1676095"/>
              <a:ext cx="1133856" cy="3337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1800" b="1" dirty="0">
                  <a:solidFill>
                    <a:srgbClr val="00A8A8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CULTURE</a:t>
              </a:r>
              <a:endParaRPr lang="en-US" sz="1800" dirty="0"/>
            </a:p>
          </p:txBody>
        </p:sp>
        <p:pic>
          <p:nvPicPr>
            <p:cNvPr id="45" name="Image 2" descr="preencoded.png"/>
            <p:cNvPicPr>
              <a:picLocks noChangeAspect="1"/>
            </p:cNvPicPr>
            <p:nvPr/>
          </p:nvPicPr>
          <p:blipFill>
            <a:blip r:embed="rId5">
              <a:alphaModFix amt="80000"/>
            </a:blip>
            <a:srcRect l="-80" r="-80"/>
            <a:stretch/>
          </p:blipFill>
          <p:spPr>
            <a:xfrm>
              <a:off x="11191342" y="1733702"/>
              <a:ext cx="286207" cy="228600"/>
            </a:xfrm>
            <a:prstGeom prst="rect">
              <a:avLst/>
            </a:prstGeom>
          </p:spPr>
        </p:pic>
        <p:sp>
          <p:nvSpPr>
            <p:cNvPr id="46" name="Shape 41"/>
            <p:cNvSpPr/>
            <p:nvPr/>
          </p:nvSpPr>
          <p:spPr>
            <a:xfrm>
              <a:off x="8397850" y="2505456"/>
              <a:ext cx="75895" cy="75895"/>
            </a:xfrm>
            <a:prstGeom prst="ellipse">
              <a:avLst/>
            </a:prstGeom>
            <a:solidFill>
              <a:srgbClr val="00A8A8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7" name="Text 42"/>
            <p:cNvSpPr txBox="1"/>
            <p:nvPr/>
          </p:nvSpPr>
          <p:spPr>
            <a:xfrm>
              <a:off x="8617306" y="2409444"/>
              <a:ext cx="1122883" cy="25786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1400" dirty="0">
                  <a:solidFill>
                    <a:srgbClr val="4A5568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상명하복식의</a:t>
              </a:r>
              <a:endParaRPr lang="en-US" sz="1400" dirty="0"/>
            </a:p>
          </p:txBody>
        </p:sp>
        <p:sp>
          <p:nvSpPr>
            <p:cNvPr id="48" name="Text 43"/>
            <p:cNvSpPr txBox="1"/>
            <p:nvPr/>
          </p:nvSpPr>
          <p:spPr>
            <a:xfrm>
              <a:off x="9615830" y="2409444"/>
              <a:ext cx="1852574" cy="25786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4A5568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수직적 커뮤니케이션</a:t>
              </a:r>
              <a:endParaRPr lang="en-US" sz="1400" dirty="0"/>
            </a:p>
          </p:txBody>
        </p:sp>
        <p:sp>
          <p:nvSpPr>
            <p:cNvPr id="49" name="Text 44"/>
            <p:cNvSpPr txBox="1"/>
            <p:nvPr/>
          </p:nvSpPr>
          <p:spPr>
            <a:xfrm>
              <a:off x="8617306" y="2620442"/>
              <a:ext cx="2915107" cy="5340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1400" dirty="0">
                  <a:solidFill>
                    <a:srgbClr val="4A5568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관행</a:t>
              </a:r>
              <a:endParaRPr lang="en-US" sz="1400" dirty="0"/>
            </a:p>
          </p:txBody>
        </p:sp>
        <p:sp>
          <p:nvSpPr>
            <p:cNvPr id="50" name="Shape 45"/>
            <p:cNvSpPr/>
            <p:nvPr/>
          </p:nvSpPr>
          <p:spPr>
            <a:xfrm>
              <a:off x="8397850" y="3238805"/>
              <a:ext cx="75895" cy="75895"/>
            </a:xfrm>
            <a:prstGeom prst="ellipse">
              <a:avLst/>
            </a:prstGeom>
            <a:solidFill>
              <a:srgbClr val="00A8A8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1" name="Text 46"/>
            <p:cNvSpPr txBox="1"/>
            <p:nvPr/>
          </p:nvSpPr>
          <p:spPr>
            <a:xfrm>
              <a:off x="8617306" y="3143707"/>
              <a:ext cx="1968703" cy="25786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4A5568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실패를 용인하지 않는</a:t>
              </a:r>
              <a:endParaRPr lang="en-US" sz="1400" dirty="0"/>
            </a:p>
          </p:txBody>
        </p:sp>
        <p:sp>
          <p:nvSpPr>
            <p:cNvPr id="52" name="Text 47"/>
            <p:cNvSpPr txBox="1"/>
            <p:nvPr/>
          </p:nvSpPr>
          <p:spPr>
            <a:xfrm>
              <a:off x="8617306" y="3354705"/>
              <a:ext cx="2895905" cy="5340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1400" dirty="0">
                  <a:solidFill>
                    <a:srgbClr val="4A5568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회피적 조직 문화</a:t>
              </a:r>
              <a:endParaRPr lang="en-US" sz="1400" dirty="0"/>
            </a:p>
          </p:txBody>
        </p:sp>
        <p:sp>
          <p:nvSpPr>
            <p:cNvPr id="53" name="Shape 48"/>
            <p:cNvSpPr/>
            <p:nvPr/>
          </p:nvSpPr>
          <p:spPr>
            <a:xfrm>
              <a:off x="8397850" y="3972154"/>
              <a:ext cx="75895" cy="75895"/>
            </a:xfrm>
            <a:prstGeom prst="ellipse">
              <a:avLst/>
            </a:prstGeom>
            <a:solidFill>
              <a:srgbClr val="00A8A8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4" name="Text 49"/>
            <p:cNvSpPr txBox="1"/>
            <p:nvPr/>
          </p:nvSpPr>
          <p:spPr>
            <a:xfrm>
              <a:off x="8617306" y="3877056"/>
              <a:ext cx="2135124" cy="25786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1400" dirty="0">
                  <a:solidFill>
                    <a:srgbClr val="4A5568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구성원 간 학습 및 지식</a:t>
              </a:r>
              <a:endParaRPr lang="en-US" sz="1400" dirty="0"/>
            </a:p>
          </p:txBody>
        </p:sp>
        <p:sp>
          <p:nvSpPr>
            <p:cNvPr id="55" name="Text 50"/>
            <p:cNvSpPr txBox="1"/>
            <p:nvPr/>
          </p:nvSpPr>
          <p:spPr>
            <a:xfrm>
              <a:off x="8617306" y="4088054"/>
              <a:ext cx="3001061" cy="5340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4A5568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공유 마인드 부족</a:t>
              </a:r>
              <a:endParaRPr lang="en-US" sz="1400" dirty="0"/>
            </a:p>
          </p:txBody>
        </p:sp>
        <p:sp>
          <p:nvSpPr>
            <p:cNvPr id="56" name="Shape 51"/>
            <p:cNvSpPr/>
            <p:nvPr/>
          </p:nvSpPr>
          <p:spPr>
            <a:xfrm>
              <a:off x="8397850" y="4705502"/>
              <a:ext cx="75895" cy="75895"/>
            </a:xfrm>
            <a:prstGeom prst="ellipse">
              <a:avLst/>
            </a:prstGeom>
            <a:solidFill>
              <a:srgbClr val="00A8A8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7" name="Text 52"/>
            <p:cNvSpPr txBox="1"/>
            <p:nvPr/>
          </p:nvSpPr>
          <p:spPr>
            <a:xfrm>
              <a:off x="8617306" y="4610405"/>
              <a:ext cx="3405226" cy="5340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1400" dirty="0">
                  <a:solidFill>
                    <a:srgbClr val="4A5568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도전적 목표보다 안정을 추구하는 성향</a:t>
              </a:r>
              <a:endParaRPr lang="en-US" sz="1400" dirty="0"/>
            </a:p>
          </p:txBody>
        </p:sp>
        <p:sp>
          <p:nvSpPr>
            <p:cNvPr id="58" name="Shape 53"/>
            <p:cNvSpPr/>
            <p:nvPr/>
          </p:nvSpPr>
          <p:spPr>
            <a:xfrm>
              <a:off x="0" y="6381598"/>
              <a:ext cx="12191695" cy="476402"/>
            </a:xfrm>
            <a:prstGeom prst="rect">
              <a:avLst/>
            </a:prstGeom>
            <a:solidFill>
              <a:srgbClr val="FFFFFF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9" name="Shape 54"/>
            <p:cNvSpPr/>
            <p:nvPr/>
          </p:nvSpPr>
          <p:spPr>
            <a:xfrm>
              <a:off x="0" y="6381598"/>
              <a:ext cx="12191695" cy="9144"/>
            </a:xfrm>
            <a:prstGeom prst="rect">
              <a:avLst/>
            </a:prstGeom>
            <a:solidFill>
              <a:srgbClr val="E2E8F0"/>
            </a:solidFill>
            <a:ln w="12700">
              <a:solidFill>
                <a:srgbClr val="E2E8F0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60" name="Text 55"/>
            <p:cNvSpPr txBox="1"/>
            <p:nvPr/>
          </p:nvSpPr>
          <p:spPr>
            <a:xfrm>
              <a:off x="476402" y="6538874"/>
              <a:ext cx="1750162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718096"/>
                  </a:solidFill>
                  <a:latin typeface="페이퍼로지 5 Medium" pitchFamily="2" charset="-127"/>
                  <a:ea typeface="페이퍼로지 5 Medium" pitchFamily="2" charset="-127"/>
                  <a:cs typeface="Noto Sans KR" pitchFamily="34" charset="-120"/>
                </a:rPr>
                <a:t>시앤피컨설팅 조직 재설계 전략</a:t>
              </a:r>
              <a:endParaRPr lang="en-US" sz="900" dirty="0"/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"/>
            <a:ext cx="12191695" cy="6553899"/>
          </a:xfrm>
          <a:prstGeom prst="rect">
            <a:avLst/>
          </a:prstGeom>
          <a:solidFill>
            <a:srgbClr val="F0F0F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1"/>
            <a:ext cx="12191695" cy="6553899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0" y="1"/>
            <a:ext cx="12191695" cy="810062"/>
          </a:xfrm>
          <a:prstGeom prst="rect">
            <a:avLst/>
          </a:prstGeom>
          <a:solidFill>
            <a:srgbClr val="003D5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476402" y="429937"/>
            <a:ext cx="476402" cy="36702"/>
          </a:xfrm>
          <a:prstGeom prst="rect">
            <a:avLst/>
          </a:prstGeom>
          <a:solidFill>
            <a:srgbClr val="00A8A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 txBox="1"/>
          <p:nvPr/>
        </p:nvSpPr>
        <p:spPr>
          <a:xfrm>
            <a:off x="1143000" y="273517"/>
            <a:ext cx="8103413" cy="3556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b="1" kern="0" spc="-37" dirty="0">
                <a:solidFill>
                  <a:srgbClr val="FFFFFF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시사점 통합: 상황요인 진단을 3대 설계 원칙으로 통합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0" y="804819"/>
            <a:ext cx="12191695" cy="5880159"/>
          </a:xfrm>
          <a:prstGeom prst="rect">
            <a:avLst/>
          </a:prstGeom>
          <a:solidFill>
            <a:srgbClr val="F5F7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571500" y="1169216"/>
            <a:ext cx="11048695" cy="519069"/>
          </a:xfrm>
          <a:prstGeom prst="roundRect">
            <a:avLst>
              <a:gd name="adj" fmla="val 23628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571500" y="1169216"/>
            <a:ext cx="47549" cy="519069"/>
          </a:xfrm>
          <a:prstGeom prst="rect">
            <a:avLst/>
          </a:prstGeom>
          <a:solidFill>
            <a:srgbClr val="003D5B"/>
          </a:solidFill>
          <a:ln w="12700">
            <a:solidFill>
              <a:srgbClr val="003D5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 txBox="1"/>
          <p:nvPr/>
        </p:nvSpPr>
        <p:spPr>
          <a:xfrm>
            <a:off x="857707" y="1305538"/>
            <a:ext cx="10715854" cy="2464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4A5568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이론적 진단과 조직 상황 분석을 통해 도출된 핵심 시사점을 3가지 조직 재설계 원칙(Design Principles)으로 통합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676095" y="5784036"/>
            <a:ext cx="8839505" cy="537420"/>
          </a:xfrm>
          <a:prstGeom prst="roundRect">
            <a:avLst>
              <a:gd name="adj" fmla="val 137798"/>
            </a:avLst>
          </a:prstGeom>
          <a:solidFill>
            <a:srgbClr val="E6F0F5"/>
          </a:solidFill>
          <a:ln w="1270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 txBox="1"/>
          <p:nvPr/>
        </p:nvSpPr>
        <p:spPr>
          <a:xfrm>
            <a:off x="1772107" y="5929095"/>
            <a:ext cx="8649310" cy="2464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3D5B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3대 원칙의 통합 실행으로 상황적합 조직(Contingency Fit) 구현</a:t>
            </a:r>
            <a:endParaRPr lang="en-US" sz="1300" dirty="0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rcRect l="-760" r="-760"/>
          <a:stretch/>
        </p:blipFill>
        <p:spPr>
          <a:xfrm>
            <a:off x="3522269" y="5977157"/>
            <a:ext cx="152705" cy="164284"/>
          </a:xfrm>
          <a:prstGeom prst="rect">
            <a:avLst/>
          </a:prstGeom>
        </p:spPr>
      </p:pic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rcRect l="-760" r="-760"/>
          <a:stretch/>
        </p:blipFill>
        <p:spPr>
          <a:xfrm>
            <a:off x="8517636" y="5977157"/>
            <a:ext cx="152705" cy="164284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0" y="6684978"/>
            <a:ext cx="12191695" cy="173023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2"/>
          <p:cNvSpPr/>
          <p:nvPr/>
        </p:nvSpPr>
        <p:spPr>
          <a:xfrm>
            <a:off x="0" y="6684978"/>
            <a:ext cx="12191695" cy="8739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3"/>
          <p:cNvSpPr txBox="1"/>
          <p:nvPr/>
        </p:nvSpPr>
        <p:spPr>
          <a:xfrm>
            <a:off x="476402" y="6693717"/>
            <a:ext cx="1750162" cy="1555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718096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시앤피컨설팅 조직 재설계 전략</a:t>
            </a:r>
            <a:endParaRPr lang="en-US" sz="900" dirty="0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571500" y="1960928"/>
            <a:ext cx="11048695" cy="3641347"/>
          </a:xfrm>
          <a:prstGeom prst="rect">
            <a:avLst/>
          </a:prstGeom>
        </p:spPr>
      </p:pic>
      <p:sp>
        <p:nvSpPr>
          <p:cNvPr id="20" name="Shape 15"/>
          <p:cNvSpPr/>
          <p:nvPr/>
        </p:nvSpPr>
        <p:spPr>
          <a:xfrm>
            <a:off x="571500" y="1960928"/>
            <a:ext cx="3866998" cy="1001435"/>
          </a:xfrm>
          <a:prstGeom prst="roundRect">
            <a:avLst>
              <a:gd name="adj" fmla="val 6346"/>
            </a:avLst>
          </a:prstGeom>
          <a:solidFill>
            <a:srgbClr val="003D5B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rcRect l="-461" r="-461"/>
          <a:stretch/>
        </p:blipFill>
        <p:spPr>
          <a:xfrm>
            <a:off x="857707" y="2243182"/>
            <a:ext cx="237744" cy="200113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1209751" y="2192499"/>
            <a:ext cx="1476756" cy="3006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분권화·수평화</a:t>
            </a:r>
            <a:endParaRPr lang="en-US" sz="1600" dirty="0"/>
          </a:p>
        </p:txBody>
      </p:sp>
      <p:sp>
        <p:nvSpPr>
          <p:cNvPr id="23" name="Text 17"/>
          <p:cNvSpPr txBox="1"/>
          <p:nvPr/>
        </p:nvSpPr>
        <p:spPr>
          <a:xfrm>
            <a:off x="857707" y="2538545"/>
            <a:ext cx="1390802" cy="182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kern="0" spc="75" dirty="0">
                <a:solidFill>
                  <a:srgbClr val="FFFFFF">
                    <a:alpha val="80000"/>
                  </a:srgbClr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STRATEGY DRIVEN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571500" y="3280446"/>
            <a:ext cx="3866998" cy="1001435"/>
          </a:xfrm>
          <a:prstGeom prst="roundRect">
            <a:avLst>
              <a:gd name="adj" fmla="val 6346"/>
            </a:avLst>
          </a:prstGeom>
          <a:solidFill>
            <a:srgbClr val="00A8A8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857707" y="3562701"/>
            <a:ext cx="209398" cy="200113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1181405" y="3512891"/>
            <a:ext cx="1474927" cy="3006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프로세스 통합</a:t>
            </a:r>
            <a:endParaRPr lang="en-US" sz="1600" dirty="0"/>
          </a:p>
        </p:txBody>
      </p:sp>
      <p:sp>
        <p:nvSpPr>
          <p:cNvPr id="27" name="Text 20"/>
          <p:cNvSpPr txBox="1"/>
          <p:nvPr/>
        </p:nvSpPr>
        <p:spPr>
          <a:xfrm>
            <a:off x="857707" y="3858937"/>
            <a:ext cx="1591056" cy="182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kern="0" spc="75" dirty="0">
                <a:solidFill>
                  <a:srgbClr val="FFFFFF">
                    <a:alpha val="80000"/>
                  </a:srgbClr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CUSTOMER FOCUSED</a:t>
            </a:r>
            <a:endParaRPr lang="en-US" sz="1000" dirty="0"/>
          </a:p>
        </p:txBody>
      </p:sp>
      <p:sp>
        <p:nvSpPr>
          <p:cNvPr id="28" name="Shape 21"/>
          <p:cNvSpPr/>
          <p:nvPr/>
        </p:nvSpPr>
        <p:spPr>
          <a:xfrm>
            <a:off x="571500" y="4600838"/>
            <a:ext cx="3866998" cy="1001435"/>
          </a:xfrm>
          <a:prstGeom prst="roundRect">
            <a:avLst>
              <a:gd name="adj" fmla="val 6346"/>
            </a:avLst>
          </a:prstGeom>
          <a:solidFill>
            <a:srgbClr val="718096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29" name="Image 5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857707" y="4883093"/>
            <a:ext cx="209398" cy="200113"/>
          </a:xfrm>
          <a:prstGeom prst="rect">
            <a:avLst/>
          </a:prstGeom>
        </p:spPr>
      </p:pic>
      <p:sp>
        <p:nvSpPr>
          <p:cNvPr id="30" name="Text 22"/>
          <p:cNvSpPr txBox="1"/>
          <p:nvPr/>
        </p:nvSpPr>
        <p:spPr>
          <a:xfrm>
            <a:off x="1181405" y="4832409"/>
            <a:ext cx="1117397" cy="3006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학습조직화</a:t>
            </a:r>
            <a:endParaRPr lang="en-US" sz="1600" dirty="0"/>
          </a:p>
        </p:txBody>
      </p:sp>
      <p:sp>
        <p:nvSpPr>
          <p:cNvPr id="31" name="Text 23"/>
          <p:cNvSpPr txBox="1"/>
          <p:nvPr/>
        </p:nvSpPr>
        <p:spPr>
          <a:xfrm>
            <a:off x="857707" y="5178455"/>
            <a:ext cx="1400861" cy="182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kern="0" spc="75" dirty="0">
                <a:solidFill>
                  <a:srgbClr val="FFFFFF">
                    <a:alpha val="80000"/>
                  </a:srgbClr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SIMPLE &amp; STRONG</a:t>
            </a:r>
            <a:endParaRPr lang="en-US" sz="1000" dirty="0"/>
          </a:p>
        </p:txBody>
      </p:sp>
      <p:sp>
        <p:nvSpPr>
          <p:cNvPr id="32" name="Shape 24"/>
          <p:cNvSpPr/>
          <p:nvPr/>
        </p:nvSpPr>
        <p:spPr>
          <a:xfrm>
            <a:off x="6648602" y="1960928"/>
            <a:ext cx="4972507" cy="1001435"/>
          </a:xfrm>
          <a:prstGeom prst="roundRect">
            <a:avLst>
              <a:gd name="adj" fmla="val 634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3" name="Shape 25"/>
          <p:cNvSpPr/>
          <p:nvPr/>
        </p:nvSpPr>
        <p:spPr>
          <a:xfrm>
            <a:off x="6648602" y="1960928"/>
            <a:ext cx="57607" cy="983085"/>
          </a:xfrm>
          <a:prstGeom prst="roundRect">
            <a:avLst>
              <a:gd name="adj" fmla="val 1587307"/>
            </a:avLst>
          </a:prstGeom>
          <a:solidFill>
            <a:srgbClr val="003D5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4" name="Image 6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6896405" y="2251921"/>
            <a:ext cx="133502" cy="127582"/>
          </a:xfrm>
          <a:prstGeom prst="rect">
            <a:avLst/>
          </a:prstGeom>
        </p:spPr>
      </p:pic>
      <p:sp>
        <p:nvSpPr>
          <p:cNvPr id="35" name="Text 26"/>
          <p:cNvSpPr txBox="1"/>
          <p:nvPr/>
        </p:nvSpPr>
        <p:spPr>
          <a:xfrm>
            <a:off x="7029907" y="2206480"/>
            <a:ext cx="1780337" cy="2184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D3748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3계층 Matrix 조직 전환</a:t>
            </a:r>
            <a:endParaRPr lang="en-US" sz="1200" dirty="0"/>
          </a:p>
        </p:txBody>
      </p:sp>
      <p:pic>
        <p:nvPicPr>
          <p:cNvPr id="36" name="Image 7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6896405" y="2542914"/>
            <a:ext cx="133502" cy="127582"/>
          </a:xfrm>
          <a:prstGeom prst="rect">
            <a:avLst/>
          </a:prstGeom>
        </p:spPr>
      </p:pic>
      <p:sp>
        <p:nvSpPr>
          <p:cNvPr id="37" name="Text 27"/>
          <p:cNvSpPr txBox="1"/>
          <p:nvPr/>
        </p:nvSpPr>
        <p:spPr>
          <a:xfrm>
            <a:off x="7029907" y="2497473"/>
            <a:ext cx="2573122" cy="2184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D3748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권한 위임 체계 (Delegation) 확립</a:t>
            </a:r>
            <a:endParaRPr lang="en-US" sz="1200" dirty="0"/>
          </a:p>
        </p:txBody>
      </p:sp>
      <p:sp>
        <p:nvSpPr>
          <p:cNvPr id="38" name="Shape 28"/>
          <p:cNvSpPr/>
          <p:nvPr/>
        </p:nvSpPr>
        <p:spPr>
          <a:xfrm>
            <a:off x="6648602" y="3280446"/>
            <a:ext cx="4972507" cy="1001435"/>
          </a:xfrm>
          <a:prstGeom prst="roundRect">
            <a:avLst>
              <a:gd name="adj" fmla="val 634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9" name="Shape 29"/>
          <p:cNvSpPr/>
          <p:nvPr/>
        </p:nvSpPr>
        <p:spPr>
          <a:xfrm>
            <a:off x="6648602" y="3280446"/>
            <a:ext cx="57607" cy="983085"/>
          </a:xfrm>
          <a:prstGeom prst="roundRect">
            <a:avLst>
              <a:gd name="adj" fmla="val 1587307"/>
            </a:avLst>
          </a:prstGeom>
          <a:solidFill>
            <a:srgbClr val="00A8A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40" name="Image 8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6896405" y="3572313"/>
            <a:ext cx="133502" cy="127582"/>
          </a:xfrm>
          <a:prstGeom prst="rect">
            <a:avLst/>
          </a:prstGeom>
        </p:spPr>
      </p:pic>
      <p:sp>
        <p:nvSpPr>
          <p:cNvPr id="41" name="Text 30"/>
          <p:cNvSpPr txBox="1"/>
          <p:nvPr/>
        </p:nvSpPr>
        <p:spPr>
          <a:xfrm>
            <a:off x="7029907" y="3525999"/>
            <a:ext cx="2857500" cy="2184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D3748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PM </a:t>
            </a:r>
            <a:r>
              <a:rPr lang="ko-KR" altLang="en-US" sz="1200" dirty="0">
                <a:solidFill>
                  <a:srgbClr val="2D3748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기능</a:t>
            </a:r>
            <a:r>
              <a:rPr lang="en-US" sz="1200" dirty="0">
                <a:solidFill>
                  <a:srgbClr val="2D3748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 신설 (전사 프로젝트 통합 관리)</a:t>
            </a:r>
            <a:endParaRPr lang="en-US" sz="1200" dirty="0"/>
          </a:p>
        </p:txBody>
      </p:sp>
      <p:pic>
        <p:nvPicPr>
          <p:cNvPr id="42" name="Image 9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6896405" y="3863306"/>
            <a:ext cx="133502" cy="127582"/>
          </a:xfrm>
          <a:prstGeom prst="rect">
            <a:avLst/>
          </a:prstGeom>
        </p:spPr>
      </p:pic>
      <p:sp>
        <p:nvSpPr>
          <p:cNvPr id="43" name="Text 31"/>
          <p:cNvSpPr txBox="1"/>
          <p:nvPr/>
        </p:nvSpPr>
        <p:spPr>
          <a:xfrm>
            <a:off x="7029907" y="3817866"/>
            <a:ext cx="2408530" cy="2184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D3748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품질 관리(QA) 프로세스 표준화</a:t>
            </a:r>
            <a:endParaRPr lang="en-US" sz="1200" dirty="0"/>
          </a:p>
        </p:txBody>
      </p:sp>
      <p:sp>
        <p:nvSpPr>
          <p:cNvPr id="44" name="Shape 32"/>
          <p:cNvSpPr/>
          <p:nvPr/>
        </p:nvSpPr>
        <p:spPr>
          <a:xfrm>
            <a:off x="6648602" y="4600838"/>
            <a:ext cx="4972507" cy="1001435"/>
          </a:xfrm>
          <a:prstGeom prst="roundRect">
            <a:avLst>
              <a:gd name="adj" fmla="val 634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5" name="Shape 33"/>
          <p:cNvSpPr/>
          <p:nvPr/>
        </p:nvSpPr>
        <p:spPr>
          <a:xfrm>
            <a:off x="6648602" y="4600838"/>
            <a:ext cx="57607" cy="983085"/>
          </a:xfrm>
          <a:prstGeom prst="roundRect">
            <a:avLst>
              <a:gd name="adj" fmla="val 1587307"/>
            </a:avLst>
          </a:prstGeom>
          <a:solidFill>
            <a:srgbClr val="71809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46" name="Image 10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6896405" y="4891831"/>
            <a:ext cx="133502" cy="127582"/>
          </a:xfrm>
          <a:prstGeom prst="rect">
            <a:avLst/>
          </a:prstGeom>
        </p:spPr>
      </p:pic>
      <p:sp>
        <p:nvSpPr>
          <p:cNvPr id="47" name="Text 34"/>
          <p:cNvSpPr txBox="1"/>
          <p:nvPr/>
        </p:nvSpPr>
        <p:spPr>
          <a:xfrm>
            <a:off x="7029907" y="4846391"/>
            <a:ext cx="2788920" cy="2184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D3748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Knowledge Center (지식센터) 구축</a:t>
            </a:r>
            <a:endParaRPr lang="en-US" sz="1200" dirty="0"/>
          </a:p>
        </p:txBody>
      </p:sp>
      <p:pic>
        <p:nvPicPr>
          <p:cNvPr id="48" name="Image 11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6896405" y="5182824"/>
            <a:ext cx="133502" cy="127582"/>
          </a:xfrm>
          <a:prstGeom prst="rect">
            <a:avLst/>
          </a:prstGeom>
        </p:spPr>
      </p:pic>
      <p:sp>
        <p:nvSpPr>
          <p:cNvPr id="49" name="Text 35"/>
          <p:cNvSpPr txBox="1"/>
          <p:nvPr/>
        </p:nvSpPr>
        <p:spPr>
          <a:xfrm>
            <a:off x="7029907" y="5137385"/>
            <a:ext cx="2617927" cy="2184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D3748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전문가 풀 운영 및 실패 허용 문화</a:t>
            </a:r>
            <a:endParaRPr lang="en-US" sz="1200" dirty="0"/>
          </a:p>
        </p:txBody>
      </p:sp>
      <p:cxnSp>
        <p:nvCxnSpPr>
          <p:cNvPr id="51" name="직선 화살표 연결선 50">
            <a:extLst>
              <a:ext uri="{FF2B5EF4-FFF2-40B4-BE49-F238E27FC236}">
                <a16:creationId xmlns:a16="http://schemas.microsoft.com/office/drawing/2014/main" id="{23C39A74-AD15-751A-9F4A-32B451802F2B}"/>
              </a:ext>
            </a:extLst>
          </p:cNvPr>
          <p:cNvCxnSpPr>
            <a:cxnSpLocks/>
            <a:stCxn id="20" idx="3"/>
            <a:endCxn id="33" idx="3"/>
          </p:cNvCxnSpPr>
          <p:nvPr/>
        </p:nvCxnSpPr>
        <p:spPr>
          <a:xfrm flipV="1">
            <a:off x="4438498" y="2452471"/>
            <a:ext cx="2267711" cy="9175"/>
          </a:xfrm>
          <a:prstGeom prst="straightConnector1">
            <a:avLst/>
          </a:prstGeom>
          <a:ln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직선 화살표 연결선 52">
            <a:extLst>
              <a:ext uri="{FF2B5EF4-FFF2-40B4-BE49-F238E27FC236}">
                <a16:creationId xmlns:a16="http://schemas.microsoft.com/office/drawing/2014/main" id="{B0E8F142-D8DC-FBEB-A29D-99A4975C6751}"/>
              </a:ext>
            </a:extLst>
          </p:cNvPr>
          <p:cNvCxnSpPr>
            <a:cxnSpLocks/>
            <a:stCxn id="24" idx="3"/>
            <a:endCxn id="39" idx="1"/>
          </p:cNvCxnSpPr>
          <p:nvPr/>
        </p:nvCxnSpPr>
        <p:spPr>
          <a:xfrm flipV="1">
            <a:off x="4438498" y="3771989"/>
            <a:ext cx="2210104" cy="9175"/>
          </a:xfrm>
          <a:prstGeom prst="straightConnector1">
            <a:avLst/>
          </a:prstGeom>
          <a:ln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직선 화살표 연결선 55">
            <a:extLst>
              <a:ext uri="{FF2B5EF4-FFF2-40B4-BE49-F238E27FC236}">
                <a16:creationId xmlns:a16="http://schemas.microsoft.com/office/drawing/2014/main" id="{B9A16830-B4BB-3C87-494E-1660C7C36B2C}"/>
              </a:ext>
            </a:extLst>
          </p:cNvPr>
          <p:cNvCxnSpPr>
            <a:cxnSpLocks/>
            <a:stCxn id="28" idx="3"/>
            <a:endCxn id="44" idx="1"/>
          </p:cNvCxnSpPr>
          <p:nvPr/>
        </p:nvCxnSpPr>
        <p:spPr>
          <a:xfrm>
            <a:off x="4438498" y="5101556"/>
            <a:ext cx="2210104" cy="0"/>
          </a:xfrm>
          <a:prstGeom prst="straightConnector1">
            <a:avLst/>
          </a:prstGeom>
          <a:ln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0F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0" y="952805"/>
            <a:ext cx="12191695" cy="5429707"/>
          </a:xfrm>
          <a:prstGeom prst="rect">
            <a:avLst/>
          </a:prstGeom>
          <a:solidFill>
            <a:srgbClr val="F5F7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952805"/>
            <a:ext cx="12191695" cy="5429707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76402" y="1314907"/>
            <a:ext cx="3600907" cy="1143000"/>
          </a:xfrm>
          <a:prstGeom prst="roundRect">
            <a:avLst>
              <a:gd name="adj" fmla="val 5333"/>
            </a:avLst>
          </a:prstGeom>
          <a:solidFill>
            <a:srgbClr val="E63946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>
            <a:alphaModFix amt="90000"/>
          </a:blip>
          <a:srcRect l="-7143" r="-7143"/>
          <a:stretch/>
        </p:blipFill>
        <p:spPr>
          <a:xfrm>
            <a:off x="666598" y="1356970"/>
            <a:ext cx="114300" cy="11430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857707" y="1328623"/>
            <a:ext cx="2301048" cy="1572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75" dirty="0">
                <a:solidFill>
                  <a:srgbClr val="FFFFFF">
                    <a:alpha val="90000"/>
                  </a:srgbClr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EXTERNAL PRESSURE</a:t>
            </a:r>
            <a:endParaRPr lang="en-US" sz="900" dirty="0"/>
          </a:p>
        </p:txBody>
      </p:sp>
      <p:sp>
        <p:nvSpPr>
          <p:cNvPr id="9" name="Text 5"/>
          <p:cNvSpPr txBox="1"/>
          <p:nvPr/>
        </p:nvSpPr>
        <p:spPr>
          <a:xfrm>
            <a:off x="666598" y="1518818"/>
            <a:ext cx="120700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외부환경 급변</a:t>
            </a:r>
            <a:endParaRPr lang="en-US" sz="1300" dirty="0"/>
          </a:p>
        </p:txBody>
      </p:sp>
      <p:sp>
        <p:nvSpPr>
          <p:cNvPr id="10" name="Text 6"/>
          <p:cNvSpPr txBox="1"/>
          <p:nvPr/>
        </p:nvSpPr>
        <p:spPr>
          <a:xfrm>
            <a:off x="756209" y="1828800"/>
            <a:ext cx="2593426" cy="2093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FFFFFF">
                    <a:alpha val="95000"/>
                  </a:srgbClr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시장 경쟁 심화 (Global Big4)</a:t>
            </a:r>
            <a:endParaRPr lang="en-US" sz="1400" dirty="0"/>
          </a:p>
        </p:txBody>
      </p:sp>
      <p:sp>
        <p:nvSpPr>
          <p:cNvPr id="11" name="Text 7"/>
          <p:cNvSpPr txBox="1"/>
          <p:nvPr/>
        </p:nvSpPr>
        <p:spPr>
          <a:xfrm>
            <a:off x="756209" y="2033626"/>
            <a:ext cx="2110628" cy="2093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FFFFFF">
                    <a:alpha val="95000"/>
                  </a:srgbClr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디지털 전환(DX) 가속화</a:t>
            </a:r>
            <a:endParaRPr lang="en-US" sz="1400" dirty="0"/>
          </a:p>
        </p:txBody>
      </p:sp>
      <p:sp>
        <p:nvSpPr>
          <p:cNvPr id="12" name="Text 8"/>
          <p:cNvSpPr txBox="1"/>
          <p:nvPr/>
        </p:nvSpPr>
        <p:spPr>
          <a:xfrm>
            <a:off x="756209" y="2238451"/>
            <a:ext cx="1953137" cy="2093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FFFFFF">
                    <a:alpha val="95000"/>
                  </a:srgbClr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고객 요구 전문성 증대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4297680" y="1314907"/>
            <a:ext cx="3600907" cy="1143000"/>
          </a:xfrm>
          <a:prstGeom prst="roundRect">
            <a:avLst>
              <a:gd name="adj" fmla="val 5333"/>
            </a:avLst>
          </a:prstGeom>
          <a:solidFill>
            <a:srgbClr val="FF6B35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>
            <a:alphaModFix amt="90000"/>
          </a:blip>
          <a:srcRect l="-4000" r="-4000"/>
          <a:stretch/>
        </p:blipFill>
        <p:spPr>
          <a:xfrm>
            <a:off x="4487875" y="1356970"/>
            <a:ext cx="123444" cy="11430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4688129" y="1328623"/>
            <a:ext cx="2316068" cy="1572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75" dirty="0">
                <a:solidFill>
                  <a:srgbClr val="FFFFFF">
                    <a:alpha val="90000"/>
                  </a:srgbClr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INTERNAL WEAKNESS</a:t>
            </a:r>
            <a:endParaRPr lang="en-US" sz="900" dirty="0"/>
          </a:p>
        </p:txBody>
      </p:sp>
      <p:sp>
        <p:nvSpPr>
          <p:cNvPr id="16" name="Text 11"/>
          <p:cNvSpPr txBox="1"/>
          <p:nvPr/>
        </p:nvSpPr>
        <p:spPr>
          <a:xfrm>
            <a:off x="4487875" y="1518818"/>
            <a:ext cx="1499616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조직 구조적 한계</a:t>
            </a:r>
            <a:endParaRPr lang="en-US" sz="1300" dirty="0"/>
          </a:p>
        </p:txBody>
      </p:sp>
      <p:sp>
        <p:nvSpPr>
          <p:cNvPr id="17" name="Text 12"/>
          <p:cNvSpPr txBox="1"/>
          <p:nvPr/>
        </p:nvSpPr>
        <p:spPr>
          <a:xfrm>
            <a:off x="4578401" y="1828800"/>
            <a:ext cx="1958301" cy="2093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FFFFFF">
                    <a:alpha val="95000"/>
                  </a:srgbClr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4계층 수직구조 경직성</a:t>
            </a:r>
            <a:endParaRPr lang="en-US" sz="1400" dirty="0"/>
          </a:p>
        </p:txBody>
      </p:sp>
      <p:sp>
        <p:nvSpPr>
          <p:cNvPr id="18" name="Text 13"/>
          <p:cNvSpPr txBox="1"/>
          <p:nvPr/>
        </p:nvSpPr>
        <p:spPr>
          <a:xfrm>
            <a:off x="4578400" y="2033626"/>
            <a:ext cx="2160973" cy="2093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FFFFFF">
                    <a:alpha val="95000"/>
                  </a:srgbClr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본부별 사일로(Silo) 현상</a:t>
            </a:r>
            <a:endParaRPr lang="en-US" sz="1400" dirty="0"/>
          </a:p>
        </p:txBody>
      </p:sp>
      <p:sp>
        <p:nvSpPr>
          <p:cNvPr id="19" name="Text 14"/>
          <p:cNvSpPr txBox="1"/>
          <p:nvPr/>
        </p:nvSpPr>
        <p:spPr>
          <a:xfrm>
            <a:off x="4578401" y="2238451"/>
            <a:ext cx="1953137" cy="2093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FFFFFF">
                    <a:alpha val="95000"/>
                  </a:srgbClr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의사결정 병목 및 지연</a:t>
            </a:r>
            <a:endParaRPr lang="en-US" sz="1400" dirty="0"/>
          </a:p>
        </p:txBody>
      </p:sp>
      <p:sp>
        <p:nvSpPr>
          <p:cNvPr id="20" name="Shape 15"/>
          <p:cNvSpPr/>
          <p:nvPr/>
        </p:nvSpPr>
        <p:spPr>
          <a:xfrm>
            <a:off x="8118958" y="1314907"/>
            <a:ext cx="3600907" cy="1143000"/>
          </a:xfrm>
          <a:prstGeom prst="roundRect">
            <a:avLst>
              <a:gd name="adj" fmla="val 5333"/>
            </a:avLst>
          </a:prstGeom>
          <a:solidFill>
            <a:srgbClr val="003D5B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>
            <a:alphaModFix amt="90000"/>
          </a:blip>
          <a:srcRect l="-3440" r="-3440"/>
          <a:stretch/>
        </p:blipFill>
        <p:spPr>
          <a:xfrm>
            <a:off x="8310067" y="1356970"/>
            <a:ext cx="152705" cy="11430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8538666" y="1328623"/>
            <a:ext cx="1643177" cy="1572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75" dirty="0">
                <a:solidFill>
                  <a:srgbClr val="FFFFFF">
                    <a:alpha val="90000"/>
                  </a:srgbClr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CULTURAL GAP</a:t>
            </a:r>
            <a:endParaRPr lang="en-US" sz="900" dirty="0"/>
          </a:p>
        </p:txBody>
      </p:sp>
      <p:sp>
        <p:nvSpPr>
          <p:cNvPr id="23" name="Text 17"/>
          <p:cNvSpPr txBox="1"/>
          <p:nvPr/>
        </p:nvSpPr>
        <p:spPr>
          <a:xfrm>
            <a:off x="8310067" y="1518818"/>
            <a:ext cx="102412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문화적 지체</a:t>
            </a:r>
            <a:endParaRPr lang="en-US" sz="1300" dirty="0"/>
          </a:p>
        </p:txBody>
      </p:sp>
      <p:sp>
        <p:nvSpPr>
          <p:cNvPr id="24" name="Text 18"/>
          <p:cNvSpPr txBox="1"/>
          <p:nvPr/>
        </p:nvSpPr>
        <p:spPr>
          <a:xfrm>
            <a:off x="8399678" y="1828800"/>
            <a:ext cx="2515972" cy="2093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FFFFFF">
                    <a:alpha val="95000"/>
                  </a:srgbClr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위계형·내부지향 문화 (80%)</a:t>
            </a:r>
            <a:endParaRPr lang="en-US" sz="1400" dirty="0"/>
          </a:p>
        </p:txBody>
      </p:sp>
      <p:sp>
        <p:nvSpPr>
          <p:cNvPr id="25" name="Text 19"/>
          <p:cNvSpPr txBox="1"/>
          <p:nvPr/>
        </p:nvSpPr>
        <p:spPr>
          <a:xfrm>
            <a:off x="8399678" y="2033626"/>
            <a:ext cx="2062864" cy="2093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FFFFFF">
                    <a:alpha val="95000"/>
                  </a:srgbClr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지식 공유 및 학습 부재</a:t>
            </a:r>
            <a:endParaRPr lang="en-US" sz="1400" dirty="0"/>
          </a:p>
        </p:txBody>
      </p:sp>
      <p:sp>
        <p:nvSpPr>
          <p:cNvPr id="26" name="Text 20"/>
          <p:cNvSpPr txBox="1"/>
          <p:nvPr/>
        </p:nvSpPr>
        <p:spPr>
          <a:xfrm>
            <a:off x="8399678" y="2238451"/>
            <a:ext cx="1663976" cy="2093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FFFFFF">
                    <a:alpha val="95000"/>
                  </a:srgbClr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변화에 대한 저항감</a:t>
            </a:r>
            <a:endParaRPr lang="en-US" sz="1400" dirty="0"/>
          </a:p>
        </p:txBody>
      </p:sp>
      <p:sp>
        <p:nvSpPr>
          <p:cNvPr id="27" name="Shape 21"/>
          <p:cNvSpPr/>
          <p:nvPr/>
        </p:nvSpPr>
        <p:spPr>
          <a:xfrm>
            <a:off x="2723998" y="2857500"/>
            <a:ext cx="6743700" cy="1524305"/>
          </a:xfrm>
          <a:prstGeom prst="roundRect">
            <a:avLst>
              <a:gd name="adj" fmla="val 4499"/>
            </a:avLst>
          </a:prstGeom>
          <a:solidFill>
            <a:srgbClr val="FFFFFF"/>
          </a:solidFill>
          <a:ln w="50800">
            <a:solidFill>
              <a:srgbClr val="00A8A8"/>
            </a:solidFill>
            <a:prstDash val="solid"/>
          </a:ln>
          <a:effectLst>
            <a:outerShdw blurRad="241300" dist="101600" dir="16200000" algn="bl" rotWithShape="0">
              <a:srgbClr val="00A8A8">
                <a:alpha val="1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22"/>
          <p:cNvSpPr/>
          <p:nvPr/>
        </p:nvSpPr>
        <p:spPr>
          <a:xfrm>
            <a:off x="3047695" y="3143707"/>
            <a:ext cx="952805" cy="952805"/>
          </a:xfrm>
          <a:prstGeom prst="ellipse">
            <a:avLst/>
          </a:prstGeom>
          <a:solidFill>
            <a:srgbClr val="E6F6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9" name="Image 4" descr="preencoded.png"/>
          <p:cNvPicPr>
            <a:picLocks noChangeAspect="1"/>
          </p:cNvPicPr>
          <p:nvPr/>
        </p:nvPicPr>
        <p:blipFill>
          <a:blip r:embed="rId7"/>
          <a:srcRect l="-44" r="-44"/>
          <a:stretch/>
        </p:blipFill>
        <p:spPr>
          <a:xfrm>
            <a:off x="3267151" y="3390595"/>
            <a:ext cx="514807" cy="457200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4286707" y="3076956"/>
            <a:ext cx="3355848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00A8A8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Matrix 조직 중심 재설계</a:t>
            </a:r>
            <a:endParaRPr lang="en-US" sz="2100" dirty="0"/>
          </a:p>
        </p:txBody>
      </p:sp>
      <p:sp>
        <p:nvSpPr>
          <p:cNvPr id="31" name="Shape 24"/>
          <p:cNvSpPr/>
          <p:nvPr/>
        </p:nvSpPr>
        <p:spPr>
          <a:xfrm>
            <a:off x="4286707" y="3562502"/>
            <a:ext cx="1533449" cy="609905"/>
          </a:xfrm>
          <a:prstGeom prst="roundRect">
            <a:avLst>
              <a:gd name="adj" fmla="val 14055"/>
            </a:avLst>
          </a:prstGeom>
          <a:solidFill>
            <a:srgbClr val="F7FA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2" name="Shape 25"/>
          <p:cNvSpPr/>
          <p:nvPr/>
        </p:nvSpPr>
        <p:spPr>
          <a:xfrm>
            <a:off x="4286707" y="3562502"/>
            <a:ext cx="28346" cy="609905"/>
          </a:xfrm>
          <a:prstGeom prst="rect">
            <a:avLst/>
          </a:prstGeom>
          <a:solidFill>
            <a:srgbClr val="00A8A8"/>
          </a:solidFill>
          <a:ln w="12700">
            <a:solidFill>
              <a:srgbClr val="00A8A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3" name="Image 5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4457700" y="3791102"/>
            <a:ext cx="152705" cy="152705"/>
          </a:xfrm>
          <a:prstGeom prst="rect">
            <a:avLst/>
          </a:prstGeom>
        </p:spPr>
      </p:pic>
      <p:sp>
        <p:nvSpPr>
          <p:cNvPr id="34" name="Text 26"/>
          <p:cNvSpPr txBox="1"/>
          <p:nvPr/>
        </p:nvSpPr>
        <p:spPr>
          <a:xfrm>
            <a:off x="4686300" y="3562502"/>
            <a:ext cx="1067105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4A5568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유연성 확보 (Agility)</a:t>
            </a:r>
            <a:endParaRPr lang="en-US" sz="1200" dirty="0"/>
          </a:p>
        </p:txBody>
      </p:sp>
      <p:sp>
        <p:nvSpPr>
          <p:cNvPr id="35" name="Shape 27"/>
          <p:cNvSpPr/>
          <p:nvPr/>
        </p:nvSpPr>
        <p:spPr>
          <a:xfrm>
            <a:off x="5817413" y="3562502"/>
            <a:ext cx="1705356" cy="609905"/>
          </a:xfrm>
          <a:prstGeom prst="roundRect">
            <a:avLst>
              <a:gd name="adj" fmla="val 14055"/>
            </a:avLst>
          </a:prstGeom>
          <a:solidFill>
            <a:srgbClr val="F7FA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6" name="Shape 28"/>
          <p:cNvSpPr/>
          <p:nvPr/>
        </p:nvSpPr>
        <p:spPr>
          <a:xfrm>
            <a:off x="5817413" y="3562502"/>
            <a:ext cx="28346" cy="609905"/>
          </a:xfrm>
          <a:prstGeom prst="rect">
            <a:avLst/>
          </a:prstGeom>
          <a:solidFill>
            <a:srgbClr val="00A8A8"/>
          </a:solidFill>
          <a:ln w="12700">
            <a:solidFill>
              <a:srgbClr val="00A8A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7" name="Image 6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5989320" y="3791102"/>
            <a:ext cx="152705" cy="152705"/>
          </a:xfrm>
          <a:prstGeom prst="rect">
            <a:avLst/>
          </a:prstGeom>
        </p:spPr>
      </p:pic>
      <p:sp>
        <p:nvSpPr>
          <p:cNvPr id="38" name="Text 29"/>
          <p:cNvSpPr txBox="1"/>
          <p:nvPr/>
        </p:nvSpPr>
        <p:spPr>
          <a:xfrm>
            <a:off x="6217920" y="3562502"/>
            <a:ext cx="1239012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4A5568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전문성 강화 (Expertise)</a:t>
            </a:r>
            <a:endParaRPr lang="en-US" sz="1200" dirty="0"/>
          </a:p>
        </p:txBody>
      </p:sp>
      <p:sp>
        <p:nvSpPr>
          <p:cNvPr id="39" name="Shape 30"/>
          <p:cNvSpPr/>
          <p:nvPr/>
        </p:nvSpPr>
        <p:spPr>
          <a:xfrm>
            <a:off x="7513625" y="3562502"/>
            <a:ext cx="1638605" cy="609905"/>
          </a:xfrm>
          <a:prstGeom prst="roundRect">
            <a:avLst>
              <a:gd name="adj" fmla="val 14055"/>
            </a:avLst>
          </a:prstGeom>
          <a:solidFill>
            <a:srgbClr val="F7FA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0" name="Shape 31"/>
          <p:cNvSpPr/>
          <p:nvPr/>
        </p:nvSpPr>
        <p:spPr>
          <a:xfrm>
            <a:off x="7513625" y="3562502"/>
            <a:ext cx="28346" cy="609905"/>
          </a:xfrm>
          <a:prstGeom prst="rect">
            <a:avLst/>
          </a:prstGeom>
          <a:solidFill>
            <a:srgbClr val="00A8A8"/>
          </a:solidFill>
          <a:ln w="12700">
            <a:solidFill>
              <a:srgbClr val="00A8A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41" name="Image 7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7684618" y="3791102"/>
            <a:ext cx="152705" cy="152705"/>
          </a:xfrm>
          <a:prstGeom prst="rect">
            <a:avLst/>
          </a:prstGeom>
        </p:spPr>
      </p:pic>
      <p:sp>
        <p:nvSpPr>
          <p:cNvPr id="42" name="Text 32"/>
          <p:cNvSpPr txBox="1"/>
          <p:nvPr/>
        </p:nvSpPr>
        <p:spPr>
          <a:xfrm>
            <a:off x="7913218" y="3562502"/>
            <a:ext cx="1172261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4A5568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통합 시너지 (Synergy)</a:t>
            </a:r>
            <a:endParaRPr lang="en-US" sz="1200" dirty="0"/>
          </a:p>
        </p:txBody>
      </p:sp>
      <p:sp>
        <p:nvSpPr>
          <p:cNvPr id="43" name="Shape 33"/>
          <p:cNvSpPr/>
          <p:nvPr/>
        </p:nvSpPr>
        <p:spPr>
          <a:xfrm>
            <a:off x="476402" y="4876494"/>
            <a:ext cx="3600907" cy="1356971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4" name="Shape 34"/>
          <p:cNvSpPr/>
          <p:nvPr/>
        </p:nvSpPr>
        <p:spPr>
          <a:xfrm>
            <a:off x="476402" y="4876495"/>
            <a:ext cx="3600907" cy="38405"/>
          </a:xfrm>
          <a:prstGeom prst="rect">
            <a:avLst/>
          </a:prstGeom>
          <a:solidFill>
            <a:srgbClr val="003D5B"/>
          </a:solidFill>
          <a:ln w="12700">
            <a:solidFill>
              <a:srgbClr val="003D5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5" name="Shape 35"/>
          <p:cNvSpPr/>
          <p:nvPr/>
        </p:nvSpPr>
        <p:spPr>
          <a:xfrm>
            <a:off x="619049" y="5362956"/>
            <a:ext cx="3314700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46" name="Image 8" descr="preencoded.png"/>
          <p:cNvPicPr>
            <a:picLocks noChangeAspect="1"/>
          </p:cNvPicPr>
          <p:nvPr/>
        </p:nvPicPr>
        <p:blipFill>
          <a:blip r:embed="rId9"/>
          <a:srcRect l="-1064" r="-1064"/>
          <a:stretch/>
        </p:blipFill>
        <p:spPr>
          <a:xfrm>
            <a:off x="619049" y="5086807"/>
            <a:ext cx="219456" cy="171907"/>
          </a:xfrm>
          <a:prstGeom prst="rect">
            <a:avLst/>
          </a:prstGeom>
        </p:spPr>
      </p:pic>
      <p:sp>
        <p:nvSpPr>
          <p:cNvPr id="47" name="Text 36"/>
          <p:cNvSpPr txBox="1"/>
          <p:nvPr/>
        </p:nvSpPr>
        <p:spPr>
          <a:xfrm>
            <a:off x="619049" y="5467198"/>
            <a:ext cx="34290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4A5568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Matrix 구조 전환 (4계층→3계층)</a:t>
            </a:r>
            <a:endParaRPr lang="en-US" sz="900" dirty="0"/>
          </a:p>
        </p:txBody>
      </p:sp>
      <p:sp>
        <p:nvSpPr>
          <p:cNvPr id="48" name="Text 37"/>
          <p:cNvSpPr txBox="1"/>
          <p:nvPr/>
        </p:nvSpPr>
        <p:spPr>
          <a:xfrm>
            <a:off x="619049" y="5691226"/>
            <a:ext cx="34290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4A5568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PMO 신설 및 권한 강화</a:t>
            </a:r>
            <a:endParaRPr lang="en-US" sz="900" dirty="0"/>
          </a:p>
        </p:txBody>
      </p:sp>
      <p:sp>
        <p:nvSpPr>
          <p:cNvPr id="49" name="Text 38"/>
          <p:cNvSpPr txBox="1"/>
          <p:nvPr/>
        </p:nvSpPr>
        <p:spPr>
          <a:xfrm>
            <a:off x="619049" y="5915254"/>
            <a:ext cx="34290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4A5568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전문가 풀(Expert Pool) 운영</a:t>
            </a:r>
            <a:endParaRPr lang="en-US" sz="900" dirty="0"/>
          </a:p>
        </p:txBody>
      </p:sp>
      <p:sp>
        <p:nvSpPr>
          <p:cNvPr id="50" name="Shape 39"/>
          <p:cNvSpPr/>
          <p:nvPr/>
        </p:nvSpPr>
        <p:spPr>
          <a:xfrm>
            <a:off x="4297680" y="4876494"/>
            <a:ext cx="3600907" cy="1356971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1" name="Shape 40"/>
          <p:cNvSpPr/>
          <p:nvPr/>
        </p:nvSpPr>
        <p:spPr>
          <a:xfrm>
            <a:off x="4297680" y="4876495"/>
            <a:ext cx="3600907" cy="38405"/>
          </a:xfrm>
          <a:prstGeom prst="rect">
            <a:avLst/>
          </a:prstGeom>
          <a:solidFill>
            <a:srgbClr val="718096"/>
          </a:solidFill>
          <a:ln w="12700">
            <a:solidFill>
              <a:srgbClr val="71809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2" name="Shape 41"/>
          <p:cNvSpPr/>
          <p:nvPr/>
        </p:nvSpPr>
        <p:spPr>
          <a:xfrm>
            <a:off x="4440326" y="5362956"/>
            <a:ext cx="3314700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53" name="Image 9" descr="preencoded.png"/>
          <p:cNvPicPr>
            <a:picLocks noChangeAspect="1"/>
          </p:cNvPicPr>
          <p:nvPr/>
        </p:nvPicPr>
        <p:blipFill>
          <a:blip r:embed="rId10"/>
          <a:srcRect l="-1773" r="-1773"/>
          <a:stretch/>
        </p:blipFill>
        <p:spPr>
          <a:xfrm>
            <a:off x="4440326" y="5086807"/>
            <a:ext cx="133502" cy="171907"/>
          </a:xfrm>
          <a:prstGeom prst="rect">
            <a:avLst/>
          </a:prstGeom>
        </p:spPr>
      </p:pic>
      <p:sp>
        <p:nvSpPr>
          <p:cNvPr id="54" name="Text 42"/>
          <p:cNvSpPr txBox="1"/>
          <p:nvPr/>
        </p:nvSpPr>
        <p:spPr>
          <a:xfrm>
            <a:off x="4440326" y="5467198"/>
            <a:ext cx="34290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4A5568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1단계: 진단 및 설계 (As-Is)</a:t>
            </a:r>
            <a:endParaRPr lang="en-US" sz="900" dirty="0"/>
          </a:p>
        </p:txBody>
      </p:sp>
      <p:sp>
        <p:nvSpPr>
          <p:cNvPr id="55" name="Text 43"/>
          <p:cNvSpPr txBox="1"/>
          <p:nvPr/>
        </p:nvSpPr>
        <p:spPr>
          <a:xfrm>
            <a:off x="4440326" y="5691226"/>
            <a:ext cx="35058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4A5568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2단계: 시스템 구축 (6개월)</a:t>
            </a:r>
            <a:endParaRPr lang="en-US" sz="900" dirty="0"/>
          </a:p>
        </p:txBody>
      </p:sp>
      <p:sp>
        <p:nvSpPr>
          <p:cNvPr id="56" name="Text 44"/>
          <p:cNvSpPr txBox="1"/>
          <p:nvPr/>
        </p:nvSpPr>
        <p:spPr>
          <a:xfrm>
            <a:off x="4440326" y="5915254"/>
            <a:ext cx="34290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4A5568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3단계: 안정화 (1년 내)</a:t>
            </a:r>
            <a:endParaRPr lang="en-US" sz="900" dirty="0"/>
          </a:p>
        </p:txBody>
      </p:sp>
      <p:sp>
        <p:nvSpPr>
          <p:cNvPr id="57" name="Shape 45"/>
          <p:cNvSpPr/>
          <p:nvPr/>
        </p:nvSpPr>
        <p:spPr>
          <a:xfrm>
            <a:off x="8118958" y="4876494"/>
            <a:ext cx="3600907" cy="1356971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8" name="Shape 46"/>
          <p:cNvSpPr/>
          <p:nvPr/>
        </p:nvSpPr>
        <p:spPr>
          <a:xfrm>
            <a:off x="8118958" y="4876495"/>
            <a:ext cx="3600907" cy="38405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9" name="Shape 47"/>
          <p:cNvSpPr/>
          <p:nvPr/>
        </p:nvSpPr>
        <p:spPr>
          <a:xfrm>
            <a:off x="8261604" y="5362956"/>
            <a:ext cx="3314700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60" name="Image 10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8261604" y="5086807"/>
            <a:ext cx="171907" cy="171907"/>
          </a:xfrm>
          <a:prstGeom prst="rect">
            <a:avLst/>
          </a:prstGeom>
        </p:spPr>
      </p:pic>
      <p:sp>
        <p:nvSpPr>
          <p:cNvPr id="61" name="Text 48"/>
          <p:cNvSpPr txBox="1"/>
          <p:nvPr/>
        </p:nvSpPr>
        <p:spPr>
          <a:xfrm>
            <a:off x="8261604" y="5467198"/>
            <a:ext cx="35058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4A5568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의사결정 속도</a:t>
            </a:r>
            <a:r>
              <a:rPr lang="en-US" sz="900" b="1" dirty="0">
                <a:solidFill>
                  <a:srgbClr val="E63946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50% 향상</a:t>
            </a:r>
            <a:endParaRPr lang="en-US" sz="900" dirty="0"/>
          </a:p>
        </p:txBody>
      </p:sp>
      <p:sp>
        <p:nvSpPr>
          <p:cNvPr id="62" name="Text 49"/>
          <p:cNvSpPr txBox="1"/>
          <p:nvPr/>
        </p:nvSpPr>
        <p:spPr>
          <a:xfrm>
            <a:off x="8261604" y="5691226"/>
            <a:ext cx="35058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 err="1">
                <a:solidFill>
                  <a:srgbClr val="4A5568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순이익률</a:t>
            </a:r>
            <a:r>
              <a:rPr lang="en-US" sz="900" dirty="0">
                <a:solidFill>
                  <a:srgbClr val="4A5568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 목표</a:t>
            </a:r>
            <a:r>
              <a:rPr lang="en-US" sz="900" b="1" dirty="0">
                <a:solidFill>
                  <a:srgbClr val="E63946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10% 달성</a:t>
            </a:r>
            <a:endParaRPr lang="en-US" sz="900" dirty="0"/>
          </a:p>
        </p:txBody>
      </p:sp>
      <p:sp>
        <p:nvSpPr>
          <p:cNvPr id="63" name="Text 50"/>
          <p:cNvSpPr txBox="1"/>
          <p:nvPr/>
        </p:nvSpPr>
        <p:spPr>
          <a:xfrm>
            <a:off x="8261604" y="5915254"/>
            <a:ext cx="35058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4A5568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인력 가동률 30% 증가</a:t>
            </a:r>
            <a:endParaRPr lang="en-US" sz="900" dirty="0"/>
          </a:p>
        </p:txBody>
      </p:sp>
      <p:sp>
        <p:nvSpPr>
          <p:cNvPr id="64" name="Text 51"/>
          <p:cNvSpPr txBox="1"/>
          <p:nvPr/>
        </p:nvSpPr>
        <p:spPr>
          <a:xfrm>
            <a:off x="933602" y="5057546"/>
            <a:ext cx="179953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D3748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VEHICLES (실행 수단)</a:t>
            </a:r>
            <a:endParaRPr lang="en-US" sz="1200" dirty="0"/>
          </a:p>
        </p:txBody>
      </p:sp>
      <p:sp>
        <p:nvSpPr>
          <p:cNvPr id="65" name="Text 52"/>
          <p:cNvSpPr txBox="1"/>
          <p:nvPr/>
        </p:nvSpPr>
        <p:spPr>
          <a:xfrm>
            <a:off x="4668926" y="5057546"/>
            <a:ext cx="20162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D3748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STAGING (단계별 로드맵)</a:t>
            </a:r>
            <a:endParaRPr lang="en-US" sz="1200" dirty="0"/>
          </a:p>
        </p:txBody>
      </p:sp>
      <p:sp>
        <p:nvSpPr>
          <p:cNvPr id="66" name="Text 53"/>
          <p:cNvSpPr txBox="1"/>
          <p:nvPr/>
        </p:nvSpPr>
        <p:spPr>
          <a:xfrm>
            <a:off x="8528609" y="5057546"/>
            <a:ext cx="19815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D3748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ECONOMIC LOGIC (성과)</a:t>
            </a:r>
            <a:endParaRPr lang="en-US" sz="1200" dirty="0"/>
          </a:p>
        </p:txBody>
      </p:sp>
      <p:sp>
        <p:nvSpPr>
          <p:cNvPr id="67" name="Shape 54"/>
          <p:cNvSpPr/>
          <p:nvPr/>
        </p:nvSpPr>
        <p:spPr>
          <a:xfrm>
            <a:off x="0" y="0"/>
            <a:ext cx="12191695" cy="952805"/>
          </a:xfrm>
          <a:prstGeom prst="rect">
            <a:avLst/>
          </a:prstGeom>
          <a:solidFill>
            <a:srgbClr val="003D5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8" name="Shape 55"/>
          <p:cNvSpPr/>
          <p:nvPr/>
        </p:nvSpPr>
        <p:spPr>
          <a:xfrm>
            <a:off x="476402" y="504749"/>
            <a:ext cx="476402" cy="38405"/>
          </a:xfrm>
          <a:prstGeom prst="rect">
            <a:avLst/>
          </a:prstGeom>
          <a:solidFill>
            <a:srgbClr val="00A8A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9" name="Text 56"/>
          <p:cNvSpPr txBox="1"/>
          <p:nvPr/>
        </p:nvSpPr>
        <p:spPr>
          <a:xfrm>
            <a:off x="1143000" y="341071"/>
            <a:ext cx="9115654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b="1" kern="0" spc="-37" dirty="0">
                <a:solidFill>
                  <a:srgbClr val="FFFFFF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재설계 전략: 진단 기반 전략 플로우 (Diagnosis-Driven Strategy)</a:t>
            </a:r>
            <a:endParaRPr lang="en-US" sz="2400" dirty="0"/>
          </a:p>
        </p:txBody>
      </p:sp>
      <p:sp>
        <p:nvSpPr>
          <p:cNvPr id="70" name="Shape 57"/>
          <p:cNvSpPr/>
          <p:nvPr/>
        </p:nvSpPr>
        <p:spPr>
          <a:xfrm>
            <a:off x="0" y="6381598"/>
            <a:ext cx="12191695" cy="47640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1" name="Shape 58"/>
          <p:cNvSpPr/>
          <p:nvPr/>
        </p:nvSpPr>
        <p:spPr>
          <a:xfrm>
            <a:off x="0" y="6381598"/>
            <a:ext cx="12191695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2" name="Text 59"/>
          <p:cNvSpPr txBox="1"/>
          <p:nvPr/>
        </p:nvSpPr>
        <p:spPr>
          <a:xfrm>
            <a:off x="476402" y="6538874"/>
            <a:ext cx="175016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718096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시앤피컨설팅 조직 재설계 전략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0F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1695" cy="847649"/>
          </a:xfrm>
          <a:prstGeom prst="rect">
            <a:avLst/>
          </a:prstGeom>
          <a:solidFill>
            <a:srgbClr val="003D5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476402" y="449885"/>
            <a:ext cx="476402" cy="38405"/>
          </a:xfrm>
          <a:prstGeom prst="rect">
            <a:avLst/>
          </a:prstGeom>
          <a:solidFill>
            <a:srgbClr val="00A8A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 txBox="1"/>
          <p:nvPr/>
        </p:nvSpPr>
        <p:spPr>
          <a:xfrm>
            <a:off x="1143000" y="286207"/>
            <a:ext cx="5877763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b="1" kern="0" spc="-37" dirty="0">
                <a:solidFill>
                  <a:srgbClr val="FFFFFF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최종 조직도: 3계층 Matrix 구조로 재설계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0" y="842162"/>
            <a:ext cx="12191695" cy="5905195"/>
          </a:xfrm>
          <a:prstGeom prst="rect">
            <a:avLst/>
          </a:prstGeom>
          <a:solidFill>
            <a:srgbClr val="F5F7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476402" y="1032358"/>
            <a:ext cx="11239805" cy="4762195"/>
          </a:xfrm>
          <a:prstGeom prst="roundRect">
            <a:avLst>
              <a:gd name="adj" fmla="val 307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016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476402" y="5985662"/>
            <a:ext cx="11239805" cy="571500"/>
          </a:xfrm>
          <a:prstGeom prst="roundRect">
            <a:avLst>
              <a:gd name="adj" fmla="val 21333"/>
            </a:avLst>
          </a:prstGeom>
          <a:solidFill>
            <a:srgbClr val="003D5B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01600" dist="38100" dir="16200000" algn="bl" rotWithShape="0">
              <a:srgbClr val="003D5B">
                <a:alpha val="2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Text 8"/>
          <p:cNvSpPr txBox="1"/>
          <p:nvPr/>
        </p:nvSpPr>
        <p:spPr>
          <a:xfrm>
            <a:off x="2052828" y="6156655"/>
            <a:ext cx="214518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상황적합이론 기반 조직설계</a:t>
            </a:r>
            <a:endParaRPr lang="en-US" sz="1200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963010" y="6195060"/>
            <a:ext cx="152705" cy="152705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258361" y="6156655"/>
            <a:ext cx="235823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3계층 구조 (CEO-본부장-실무)</a:t>
            </a:r>
            <a:endParaRPr lang="en-US" sz="1200" dirty="0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377940" y="6195060"/>
            <a:ext cx="152705" cy="152705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6673291" y="6156655"/>
            <a:ext cx="216529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Matrix 이원축 (사업×기능)</a:t>
            </a:r>
            <a:endParaRPr lang="en-US" sz="1200" dirty="0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630107" y="6195060"/>
            <a:ext cx="152705" cy="152705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8925458" y="6156655"/>
            <a:ext cx="149687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A8A8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유연성·전문성 확보</a:t>
            </a:r>
            <a:endParaRPr lang="en-US" sz="1200" dirty="0"/>
          </a:p>
        </p:txBody>
      </p:sp>
      <p:sp>
        <p:nvSpPr>
          <p:cNvPr id="18" name="Shape 12"/>
          <p:cNvSpPr/>
          <p:nvPr/>
        </p:nvSpPr>
        <p:spPr>
          <a:xfrm>
            <a:off x="0" y="6747358"/>
            <a:ext cx="12191695" cy="181051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3"/>
          <p:cNvSpPr/>
          <p:nvPr/>
        </p:nvSpPr>
        <p:spPr>
          <a:xfrm>
            <a:off x="0" y="6747358"/>
            <a:ext cx="12191695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4"/>
          <p:cNvSpPr txBox="1"/>
          <p:nvPr/>
        </p:nvSpPr>
        <p:spPr>
          <a:xfrm>
            <a:off x="476402" y="6757416"/>
            <a:ext cx="175016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718096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시앤피컨설팅 조직 재설계 전략</a:t>
            </a:r>
            <a:endParaRPr lang="en-US" sz="900" dirty="0"/>
          </a:p>
        </p:txBody>
      </p:sp>
      <p:pic>
        <p:nvPicPr>
          <p:cNvPr id="23" name="그림 22" descr="텍스트, 스크린샷, 번호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384A22D-8160-CD51-CFDB-45ACAC47445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217" t="3668" r="4786" b="15892"/>
          <a:stretch>
            <a:fillRect/>
          </a:stretch>
        </p:blipFill>
        <p:spPr>
          <a:xfrm>
            <a:off x="477162" y="1038758"/>
            <a:ext cx="11057613" cy="4797646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0F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1695" cy="952805"/>
          </a:xfrm>
          <a:prstGeom prst="rect">
            <a:avLst/>
          </a:prstGeom>
          <a:solidFill>
            <a:srgbClr val="003D5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476402" y="504749"/>
            <a:ext cx="476402" cy="38405"/>
          </a:xfrm>
          <a:prstGeom prst="rect">
            <a:avLst/>
          </a:prstGeom>
          <a:solidFill>
            <a:srgbClr val="00A8A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 txBox="1"/>
          <p:nvPr/>
        </p:nvSpPr>
        <p:spPr>
          <a:xfrm>
            <a:off x="1143000" y="341071"/>
            <a:ext cx="9803282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b="1" kern="0" spc="-37" dirty="0">
                <a:solidFill>
                  <a:srgbClr val="FFFFFF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Matrix 조직 모델: 사업축과 기능축의 이원적 구조로 유연성 확보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0" y="952805"/>
            <a:ext cx="12191695" cy="5429707"/>
          </a:xfrm>
          <a:prstGeom prst="rect">
            <a:avLst/>
          </a:prstGeom>
          <a:solidFill>
            <a:srgbClr val="F5F7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 txBox="1"/>
          <p:nvPr/>
        </p:nvSpPr>
        <p:spPr>
          <a:xfrm>
            <a:off x="779069" y="1670685"/>
            <a:ext cx="1236269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718096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사업본부 (Business)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6318733" y="1056818"/>
            <a:ext cx="111099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718096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기능팀 (Function)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152498" y="1314907"/>
            <a:ext cx="1952244" cy="476402"/>
          </a:xfrm>
          <a:prstGeom prst="roundRect">
            <a:avLst>
              <a:gd name="adj" fmla="val 30710"/>
            </a:avLst>
          </a:prstGeom>
          <a:solidFill>
            <a:srgbClr val="003D5B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 txBox="1"/>
          <p:nvPr/>
        </p:nvSpPr>
        <p:spPr>
          <a:xfrm>
            <a:off x="2460650" y="1438351"/>
            <a:ext cx="133776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 err="1">
                <a:solidFill>
                  <a:srgbClr val="FFFFFF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영업</a:t>
            </a:r>
            <a:r>
              <a:rPr lang="en-US" sz="1200" b="1" dirty="0">
                <a:solidFill>
                  <a:srgbClr val="FFFFFF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 (Sales)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174236" y="1314907"/>
            <a:ext cx="2409444" cy="476402"/>
          </a:xfrm>
          <a:prstGeom prst="roundRect">
            <a:avLst>
              <a:gd name="adj" fmla="val 30710"/>
            </a:avLst>
          </a:prstGeom>
          <a:solidFill>
            <a:srgbClr val="003D5B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 txBox="1"/>
          <p:nvPr/>
        </p:nvSpPr>
        <p:spPr>
          <a:xfrm>
            <a:off x="4550054" y="1438351"/>
            <a:ext cx="166329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PM (Project Mgmt)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656832" y="1314907"/>
            <a:ext cx="1990649" cy="476402"/>
          </a:xfrm>
          <a:prstGeom prst="roundRect">
            <a:avLst>
              <a:gd name="adj" fmla="val 30710"/>
            </a:avLst>
          </a:prstGeom>
          <a:solidFill>
            <a:srgbClr val="003D5B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 txBox="1"/>
          <p:nvPr/>
        </p:nvSpPr>
        <p:spPr>
          <a:xfrm>
            <a:off x="6970471" y="1438351"/>
            <a:ext cx="136062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전문가 (Experts)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717890" y="1314907"/>
            <a:ext cx="2924251" cy="476402"/>
          </a:xfrm>
          <a:prstGeom prst="roundRect">
            <a:avLst>
              <a:gd name="adj" fmla="val 30710"/>
            </a:avLst>
          </a:prstGeom>
          <a:solidFill>
            <a:srgbClr val="003D5B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 txBox="1"/>
          <p:nvPr/>
        </p:nvSpPr>
        <p:spPr>
          <a:xfrm>
            <a:off x="9153144" y="1438351"/>
            <a:ext cx="205191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QA (Quality Assurance)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52298" y="1867205"/>
            <a:ext cx="1524305" cy="933602"/>
          </a:xfrm>
          <a:prstGeom prst="roundRect">
            <a:avLst>
              <a:gd name="adj" fmla="val 7995"/>
            </a:avLst>
          </a:prstGeom>
          <a:solidFill>
            <a:srgbClr val="003D5B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 txBox="1"/>
          <p:nvPr/>
        </p:nvSpPr>
        <p:spPr>
          <a:xfrm>
            <a:off x="699516" y="2219249"/>
            <a:ext cx="12353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전략컨설팅 본부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152498" y="1867205"/>
            <a:ext cx="1952244" cy="933602"/>
          </a:xfrm>
          <a:prstGeom prst="roundRect">
            <a:avLst>
              <a:gd name="adj" fmla="val 7995"/>
            </a:avLst>
          </a:prstGeom>
          <a:solidFill>
            <a:srgbClr val="FFFFFF"/>
          </a:solidFill>
          <a:ln w="25400">
            <a:solidFill>
              <a:srgbClr val="00A8A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2" name="Image 0" descr="preencoded.png"/>
          <p:cNvPicPr>
            <a:picLocks noChangeAspect="1"/>
          </p:cNvPicPr>
          <p:nvPr/>
        </p:nvPicPr>
        <p:blipFill>
          <a:blip r:embed="rId3"/>
          <a:srcRect t="-180" b="-180"/>
          <a:stretch/>
        </p:blipFill>
        <p:spPr>
          <a:xfrm>
            <a:off x="3030322" y="2133295"/>
            <a:ext cx="190195" cy="152705"/>
          </a:xfrm>
          <a:prstGeom prst="rect">
            <a:avLst/>
          </a:prstGeom>
        </p:spPr>
      </p:pic>
      <p:sp>
        <p:nvSpPr>
          <p:cNvPr id="23" name="Text 20"/>
          <p:cNvSpPr txBox="1"/>
          <p:nvPr/>
        </p:nvSpPr>
        <p:spPr>
          <a:xfrm>
            <a:off x="2547518" y="2333549"/>
            <a:ext cx="115671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D3748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Project Team A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4174236" y="1867205"/>
            <a:ext cx="2409444" cy="933602"/>
          </a:xfrm>
          <a:prstGeom prst="roundRect">
            <a:avLst>
              <a:gd name="adj" fmla="val 7995"/>
            </a:avLst>
          </a:prstGeom>
          <a:solidFill>
            <a:srgbClr val="FFFFFF"/>
          </a:solidFill>
          <a:ln w="25400">
            <a:solidFill>
              <a:srgbClr val="00A8A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5" name="Image 1" descr="preencoded.png"/>
          <p:cNvPicPr>
            <a:picLocks noChangeAspect="1"/>
          </p:cNvPicPr>
          <p:nvPr/>
        </p:nvPicPr>
        <p:blipFill>
          <a:blip r:embed="rId3"/>
          <a:srcRect t="-180" b="-180"/>
          <a:stretch/>
        </p:blipFill>
        <p:spPr>
          <a:xfrm>
            <a:off x="5282489" y="2133295"/>
            <a:ext cx="190195" cy="152705"/>
          </a:xfrm>
          <a:prstGeom prst="rect">
            <a:avLst/>
          </a:prstGeom>
        </p:spPr>
      </p:pic>
      <p:sp>
        <p:nvSpPr>
          <p:cNvPr id="26" name="Text 22"/>
          <p:cNvSpPr txBox="1"/>
          <p:nvPr/>
        </p:nvSpPr>
        <p:spPr>
          <a:xfrm>
            <a:off x="4799686" y="2333549"/>
            <a:ext cx="115671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D3748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Project Team A</a:t>
            </a:r>
            <a:endParaRPr lang="en-US" sz="1000" dirty="0"/>
          </a:p>
        </p:txBody>
      </p:sp>
      <p:sp>
        <p:nvSpPr>
          <p:cNvPr id="27" name="Shape 23"/>
          <p:cNvSpPr/>
          <p:nvPr/>
        </p:nvSpPr>
        <p:spPr>
          <a:xfrm>
            <a:off x="6656832" y="1867205"/>
            <a:ext cx="1990649" cy="933602"/>
          </a:xfrm>
          <a:prstGeom prst="roundRect">
            <a:avLst>
              <a:gd name="adj" fmla="val 7995"/>
            </a:avLst>
          </a:prstGeom>
          <a:solidFill>
            <a:srgbClr val="FFFFFF"/>
          </a:solidFill>
          <a:ln w="25400">
            <a:solidFill>
              <a:srgbClr val="00A8A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8" name="Image 2" descr="preencoded.png"/>
          <p:cNvPicPr>
            <a:picLocks noChangeAspect="1"/>
          </p:cNvPicPr>
          <p:nvPr/>
        </p:nvPicPr>
        <p:blipFill>
          <a:blip r:embed="rId3"/>
          <a:srcRect t="-180" b="-180"/>
          <a:stretch/>
        </p:blipFill>
        <p:spPr>
          <a:xfrm>
            <a:off x="7553858" y="2133295"/>
            <a:ext cx="190195" cy="152705"/>
          </a:xfrm>
          <a:prstGeom prst="rect">
            <a:avLst/>
          </a:prstGeom>
        </p:spPr>
      </p:pic>
      <p:sp>
        <p:nvSpPr>
          <p:cNvPr id="29" name="Text 24"/>
          <p:cNvSpPr txBox="1"/>
          <p:nvPr/>
        </p:nvSpPr>
        <p:spPr>
          <a:xfrm>
            <a:off x="7071055" y="2333549"/>
            <a:ext cx="115671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D3748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Project Team A</a:t>
            </a:r>
            <a:endParaRPr lang="en-US" sz="1000" dirty="0"/>
          </a:p>
        </p:txBody>
      </p:sp>
      <p:sp>
        <p:nvSpPr>
          <p:cNvPr id="30" name="Shape 25"/>
          <p:cNvSpPr/>
          <p:nvPr/>
        </p:nvSpPr>
        <p:spPr>
          <a:xfrm>
            <a:off x="8717890" y="1867205"/>
            <a:ext cx="2924251" cy="933602"/>
          </a:xfrm>
          <a:prstGeom prst="roundRect">
            <a:avLst>
              <a:gd name="adj" fmla="val 7995"/>
            </a:avLst>
          </a:prstGeom>
          <a:solidFill>
            <a:srgbClr val="FFFFFF"/>
          </a:solidFill>
          <a:ln w="25400">
            <a:solidFill>
              <a:srgbClr val="00A8A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1" name="Image 3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0102291" y="2133295"/>
            <a:ext cx="152705" cy="152705"/>
          </a:xfrm>
          <a:prstGeom prst="rect">
            <a:avLst/>
          </a:prstGeom>
        </p:spPr>
      </p:pic>
      <p:sp>
        <p:nvSpPr>
          <p:cNvPr id="32" name="Text 26"/>
          <p:cNvSpPr txBox="1"/>
          <p:nvPr/>
        </p:nvSpPr>
        <p:spPr>
          <a:xfrm>
            <a:off x="9796882" y="2333549"/>
            <a:ext cx="77266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D3748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QA Review</a:t>
            </a:r>
            <a:endParaRPr lang="en-US" sz="1000" dirty="0"/>
          </a:p>
        </p:txBody>
      </p:sp>
      <p:sp>
        <p:nvSpPr>
          <p:cNvPr id="33" name="Shape 27"/>
          <p:cNvSpPr/>
          <p:nvPr/>
        </p:nvSpPr>
        <p:spPr>
          <a:xfrm>
            <a:off x="552298" y="2876702"/>
            <a:ext cx="1524305" cy="933602"/>
          </a:xfrm>
          <a:prstGeom prst="roundRect">
            <a:avLst>
              <a:gd name="adj" fmla="val 7995"/>
            </a:avLst>
          </a:prstGeom>
          <a:solidFill>
            <a:srgbClr val="003D5B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4" name="Text 28"/>
          <p:cNvSpPr txBox="1"/>
          <p:nvPr/>
        </p:nvSpPr>
        <p:spPr>
          <a:xfrm>
            <a:off x="779069" y="3228746"/>
            <a:ext cx="107259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 err="1">
                <a:solidFill>
                  <a:srgbClr val="FFFFFF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인사조직</a:t>
            </a:r>
            <a:r>
              <a:rPr lang="en-US" sz="1200" b="1" dirty="0">
                <a:solidFill>
                  <a:srgbClr val="FFFFFF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 </a:t>
            </a:r>
            <a:r>
              <a:rPr lang="ko-KR" altLang="en-US" sz="1200" b="1" dirty="0">
                <a:solidFill>
                  <a:srgbClr val="FFFFFF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컨설팅 </a:t>
            </a:r>
            <a:r>
              <a:rPr lang="en-US" sz="1200" b="1" dirty="0" err="1">
                <a:solidFill>
                  <a:srgbClr val="FFFFFF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본부</a:t>
            </a:r>
            <a:endParaRPr lang="en-US" sz="1200" dirty="0"/>
          </a:p>
        </p:txBody>
      </p:sp>
      <p:sp>
        <p:nvSpPr>
          <p:cNvPr id="35" name="Shape 29"/>
          <p:cNvSpPr/>
          <p:nvPr/>
        </p:nvSpPr>
        <p:spPr>
          <a:xfrm>
            <a:off x="2152498" y="2876702"/>
            <a:ext cx="1952244" cy="933602"/>
          </a:xfrm>
          <a:prstGeom prst="roundRect">
            <a:avLst>
              <a:gd name="adj" fmla="val 7995"/>
            </a:avLst>
          </a:prstGeom>
          <a:solidFill>
            <a:srgbClr val="FFFFFF"/>
          </a:solidFill>
          <a:ln w="25400">
            <a:solidFill>
              <a:srgbClr val="00A8A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6" name="Image 4" descr="preencoded.png"/>
          <p:cNvPicPr>
            <a:picLocks noChangeAspect="1"/>
          </p:cNvPicPr>
          <p:nvPr/>
        </p:nvPicPr>
        <p:blipFill>
          <a:blip r:embed="rId3"/>
          <a:srcRect t="-180" b="-180"/>
          <a:stretch/>
        </p:blipFill>
        <p:spPr>
          <a:xfrm>
            <a:off x="3030322" y="3143707"/>
            <a:ext cx="190195" cy="152705"/>
          </a:xfrm>
          <a:prstGeom prst="rect">
            <a:avLst/>
          </a:prstGeom>
        </p:spPr>
      </p:pic>
      <p:sp>
        <p:nvSpPr>
          <p:cNvPr id="37" name="Text 30"/>
          <p:cNvSpPr txBox="1"/>
          <p:nvPr/>
        </p:nvSpPr>
        <p:spPr>
          <a:xfrm>
            <a:off x="2543861" y="3343046"/>
            <a:ext cx="116768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D3748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Project Team B</a:t>
            </a:r>
            <a:endParaRPr lang="en-US" sz="1000" dirty="0"/>
          </a:p>
        </p:txBody>
      </p:sp>
      <p:sp>
        <p:nvSpPr>
          <p:cNvPr id="38" name="Shape 31"/>
          <p:cNvSpPr/>
          <p:nvPr/>
        </p:nvSpPr>
        <p:spPr>
          <a:xfrm>
            <a:off x="4174236" y="2876702"/>
            <a:ext cx="2409444" cy="933602"/>
          </a:xfrm>
          <a:prstGeom prst="roundRect">
            <a:avLst>
              <a:gd name="adj" fmla="val 7995"/>
            </a:avLst>
          </a:prstGeom>
          <a:solidFill>
            <a:srgbClr val="FFFFFF"/>
          </a:solidFill>
          <a:ln w="25400">
            <a:solidFill>
              <a:srgbClr val="00A8A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9" name="Image 5" descr="preencoded.png"/>
          <p:cNvPicPr>
            <a:picLocks noChangeAspect="1"/>
          </p:cNvPicPr>
          <p:nvPr/>
        </p:nvPicPr>
        <p:blipFill>
          <a:blip r:embed="rId3"/>
          <a:srcRect t="-180" b="-180"/>
          <a:stretch/>
        </p:blipFill>
        <p:spPr>
          <a:xfrm>
            <a:off x="5282489" y="3143707"/>
            <a:ext cx="190195" cy="152705"/>
          </a:xfrm>
          <a:prstGeom prst="rect">
            <a:avLst/>
          </a:prstGeom>
        </p:spPr>
      </p:pic>
      <p:sp>
        <p:nvSpPr>
          <p:cNvPr id="40" name="Text 32"/>
          <p:cNvSpPr txBox="1"/>
          <p:nvPr/>
        </p:nvSpPr>
        <p:spPr>
          <a:xfrm>
            <a:off x="4796028" y="3343046"/>
            <a:ext cx="116768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D3748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Project Team B</a:t>
            </a:r>
            <a:endParaRPr lang="en-US" sz="1000" dirty="0"/>
          </a:p>
        </p:txBody>
      </p:sp>
      <p:sp>
        <p:nvSpPr>
          <p:cNvPr id="41" name="Shape 33"/>
          <p:cNvSpPr/>
          <p:nvPr/>
        </p:nvSpPr>
        <p:spPr>
          <a:xfrm>
            <a:off x="6656832" y="2876702"/>
            <a:ext cx="1990649" cy="933602"/>
          </a:xfrm>
          <a:prstGeom prst="roundRect">
            <a:avLst>
              <a:gd name="adj" fmla="val 7995"/>
            </a:avLst>
          </a:prstGeom>
          <a:solidFill>
            <a:srgbClr val="FFFFFF"/>
          </a:solidFill>
          <a:ln w="25400">
            <a:solidFill>
              <a:srgbClr val="00A8A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42" name="Image 6" descr="preencoded.png"/>
          <p:cNvPicPr>
            <a:picLocks noChangeAspect="1"/>
          </p:cNvPicPr>
          <p:nvPr/>
        </p:nvPicPr>
        <p:blipFill>
          <a:blip r:embed="rId3"/>
          <a:srcRect t="-180" b="-180"/>
          <a:stretch/>
        </p:blipFill>
        <p:spPr>
          <a:xfrm>
            <a:off x="7553858" y="3143707"/>
            <a:ext cx="190195" cy="152705"/>
          </a:xfrm>
          <a:prstGeom prst="rect">
            <a:avLst/>
          </a:prstGeom>
        </p:spPr>
      </p:pic>
      <p:sp>
        <p:nvSpPr>
          <p:cNvPr id="43" name="Text 34"/>
          <p:cNvSpPr txBox="1"/>
          <p:nvPr/>
        </p:nvSpPr>
        <p:spPr>
          <a:xfrm>
            <a:off x="7067398" y="3343046"/>
            <a:ext cx="116768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D3748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Project Team B</a:t>
            </a:r>
            <a:endParaRPr lang="en-US" sz="1000" dirty="0"/>
          </a:p>
        </p:txBody>
      </p:sp>
      <p:sp>
        <p:nvSpPr>
          <p:cNvPr id="44" name="Shape 35"/>
          <p:cNvSpPr/>
          <p:nvPr/>
        </p:nvSpPr>
        <p:spPr>
          <a:xfrm>
            <a:off x="8717890" y="2876702"/>
            <a:ext cx="2924251" cy="933602"/>
          </a:xfrm>
          <a:prstGeom prst="roundRect">
            <a:avLst>
              <a:gd name="adj" fmla="val 7995"/>
            </a:avLst>
          </a:prstGeom>
          <a:solidFill>
            <a:srgbClr val="FFFFFF"/>
          </a:solidFill>
          <a:ln w="25400">
            <a:solidFill>
              <a:srgbClr val="00A8A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45" name="Image 7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0102291" y="3143707"/>
            <a:ext cx="152705" cy="152705"/>
          </a:xfrm>
          <a:prstGeom prst="rect">
            <a:avLst/>
          </a:prstGeom>
        </p:spPr>
      </p:pic>
      <p:sp>
        <p:nvSpPr>
          <p:cNvPr id="46" name="Text 36"/>
          <p:cNvSpPr txBox="1"/>
          <p:nvPr/>
        </p:nvSpPr>
        <p:spPr>
          <a:xfrm>
            <a:off x="9796882" y="3343046"/>
            <a:ext cx="77266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D3748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QA Review</a:t>
            </a:r>
            <a:endParaRPr lang="en-US" sz="1000" dirty="0"/>
          </a:p>
        </p:txBody>
      </p:sp>
      <p:sp>
        <p:nvSpPr>
          <p:cNvPr id="47" name="Shape 37"/>
          <p:cNvSpPr/>
          <p:nvPr/>
        </p:nvSpPr>
        <p:spPr>
          <a:xfrm>
            <a:off x="552298" y="3886200"/>
            <a:ext cx="1524305" cy="933602"/>
          </a:xfrm>
          <a:prstGeom prst="roundRect">
            <a:avLst>
              <a:gd name="adj" fmla="val 7995"/>
            </a:avLst>
          </a:prstGeom>
          <a:solidFill>
            <a:srgbClr val="003D5B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8" name="Text 38"/>
          <p:cNvSpPr txBox="1"/>
          <p:nvPr/>
        </p:nvSpPr>
        <p:spPr>
          <a:xfrm>
            <a:off x="779069" y="4238244"/>
            <a:ext cx="107259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 err="1">
                <a:solidFill>
                  <a:srgbClr val="FFFFFF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교육훈련</a:t>
            </a:r>
            <a:r>
              <a:rPr lang="en-US" sz="1200" b="1" dirty="0">
                <a:solidFill>
                  <a:srgbClr val="FFFFFF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 </a:t>
            </a:r>
            <a:r>
              <a:rPr lang="ko-KR" altLang="en-US" sz="1200" b="1" dirty="0">
                <a:solidFill>
                  <a:srgbClr val="FFFFFF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컨설팅 </a:t>
            </a:r>
            <a:r>
              <a:rPr lang="en-US" sz="1200" b="1" dirty="0" err="1">
                <a:solidFill>
                  <a:srgbClr val="FFFFFF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본부</a:t>
            </a:r>
            <a:endParaRPr lang="en-US" sz="1200" dirty="0"/>
          </a:p>
        </p:txBody>
      </p:sp>
      <p:sp>
        <p:nvSpPr>
          <p:cNvPr id="49" name="Shape 39"/>
          <p:cNvSpPr/>
          <p:nvPr/>
        </p:nvSpPr>
        <p:spPr>
          <a:xfrm>
            <a:off x="2152498" y="3886200"/>
            <a:ext cx="1952244" cy="933602"/>
          </a:xfrm>
          <a:prstGeom prst="roundRect">
            <a:avLst>
              <a:gd name="adj" fmla="val 7995"/>
            </a:avLst>
          </a:prstGeom>
          <a:solidFill>
            <a:srgbClr val="FFFFFF"/>
          </a:solidFill>
          <a:ln w="25400">
            <a:solidFill>
              <a:srgbClr val="00A8A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50" name="Image 8" descr="preencoded.png"/>
          <p:cNvPicPr>
            <a:picLocks noChangeAspect="1"/>
          </p:cNvPicPr>
          <p:nvPr/>
        </p:nvPicPr>
        <p:blipFill>
          <a:blip r:embed="rId3"/>
          <a:srcRect t="-180" b="-180"/>
          <a:stretch/>
        </p:blipFill>
        <p:spPr>
          <a:xfrm>
            <a:off x="3030322" y="4153205"/>
            <a:ext cx="190195" cy="152705"/>
          </a:xfrm>
          <a:prstGeom prst="rect">
            <a:avLst/>
          </a:prstGeom>
        </p:spPr>
      </p:pic>
      <p:sp>
        <p:nvSpPr>
          <p:cNvPr id="51" name="Text 40"/>
          <p:cNvSpPr txBox="1"/>
          <p:nvPr/>
        </p:nvSpPr>
        <p:spPr>
          <a:xfrm>
            <a:off x="2545690" y="4352544"/>
            <a:ext cx="116768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D3748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Project Team C</a:t>
            </a:r>
            <a:endParaRPr lang="en-US" sz="1000" dirty="0"/>
          </a:p>
        </p:txBody>
      </p:sp>
      <p:sp>
        <p:nvSpPr>
          <p:cNvPr id="52" name="Shape 41"/>
          <p:cNvSpPr/>
          <p:nvPr/>
        </p:nvSpPr>
        <p:spPr>
          <a:xfrm>
            <a:off x="4174236" y="3886200"/>
            <a:ext cx="2409444" cy="933602"/>
          </a:xfrm>
          <a:prstGeom prst="roundRect">
            <a:avLst>
              <a:gd name="adj" fmla="val 7995"/>
            </a:avLst>
          </a:prstGeom>
          <a:solidFill>
            <a:srgbClr val="FFFFFF"/>
          </a:solidFill>
          <a:ln w="25400">
            <a:solidFill>
              <a:srgbClr val="00A8A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53" name="Image 9" descr="preencoded.png"/>
          <p:cNvPicPr>
            <a:picLocks noChangeAspect="1"/>
          </p:cNvPicPr>
          <p:nvPr/>
        </p:nvPicPr>
        <p:blipFill>
          <a:blip r:embed="rId3"/>
          <a:srcRect t="-180" b="-180"/>
          <a:stretch/>
        </p:blipFill>
        <p:spPr>
          <a:xfrm>
            <a:off x="5282489" y="4153205"/>
            <a:ext cx="190195" cy="152705"/>
          </a:xfrm>
          <a:prstGeom prst="rect">
            <a:avLst/>
          </a:prstGeom>
        </p:spPr>
      </p:pic>
      <p:sp>
        <p:nvSpPr>
          <p:cNvPr id="54" name="Text 42"/>
          <p:cNvSpPr txBox="1"/>
          <p:nvPr/>
        </p:nvSpPr>
        <p:spPr>
          <a:xfrm>
            <a:off x="4796942" y="4352544"/>
            <a:ext cx="116768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D3748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Project Team C</a:t>
            </a:r>
            <a:endParaRPr lang="en-US" sz="1000" dirty="0"/>
          </a:p>
        </p:txBody>
      </p:sp>
      <p:sp>
        <p:nvSpPr>
          <p:cNvPr id="55" name="Shape 43"/>
          <p:cNvSpPr/>
          <p:nvPr/>
        </p:nvSpPr>
        <p:spPr>
          <a:xfrm>
            <a:off x="6656832" y="3886200"/>
            <a:ext cx="1990649" cy="933602"/>
          </a:xfrm>
          <a:prstGeom prst="roundRect">
            <a:avLst>
              <a:gd name="adj" fmla="val 7995"/>
            </a:avLst>
          </a:prstGeom>
          <a:solidFill>
            <a:srgbClr val="FFFFFF"/>
          </a:solidFill>
          <a:ln w="25400">
            <a:solidFill>
              <a:srgbClr val="00A8A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56" name="Image 10" descr="preencoded.png"/>
          <p:cNvPicPr>
            <a:picLocks noChangeAspect="1"/>
          </p:cNvPicPr>
          <p:nvPr/>
        </p:nvPicPr>
        <p:blipFill>
          <a:blip r:embed="rId3"/>
          <a:srcRect t="-180" b="-180"/>
          <a:stretch/>
        </p:blipFill>
        <p:spPr>
          <a:xfrm>
            <a:off x="7553858" y="4153205"/>
            <a:ext cx="190195" cy="152705"/>
          </a:xfrm>
          <a:prstGeom prst="rect">
            <a:avLst/>
          </a:prstGeom>
        </p:spPr>
      </p:pic>
      <p:sp>
        <p:nvSpPr>
          <p:cNvPr id="57" name="Text 44"/>
          <p:cNvSpPr txBox="1"/>
          <p:nvPr/>
        </p:nvSpPr>
        <p:spPr>
          <a:xfrm>
            <a:off x="7069226" y="4352544"/>
            <a:ext cx="116768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D3748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Project Team C</a:t>
            </a:r>
            <a:endParaRPr lang="en-US" sz="1000" dirty="0"/>
          </a:p>
        </p:txBody>
      </p:sp>
      <p:sp>
        <p:nvSpPr>
          <p:cNvPr id="58" name="Shape 45"/>
          <p:cNvSpPr/>
          <p:nvPr/>
        </p:nvSpPr>
        <p:spPr>
          <a:xfrm>
            <a:off x="8717890" y="3886200"/>
            <a:ext cx="2924251" cy="933602"/>
          </a:xfrm>
          <a:prstGeom prst="roundRect">
            <a:avLst>
              <a:gd name="adj" fmla="val 7995"/>
            </a:avLst>
          </a:prstGeom>
          <a:solidFill>
            <a:srgbClr val="FFFFFF"/>
          </a:solidFill>
          <a:ln w="25400">
            <a:solidFill>
              <a:srgbClr val="00A8A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59" name="Image 1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0102291" y="4153205"/>
            <a:ext cx="152705" cy="152705"/>
          </a:xfrm>
          <a:prstGeom prst="rect">
            <a:avLst/>
          </a:prstGeom>
        </p:spPr>
      </p:pic>
      <p:sp>
        <p:nvSpPr>
          <p:cNvPr id="60" name="Text 46"/>
          <p:cNvSpPr txBox="1"/>
          <p:nvPr/>
        </p:nvSpPr>
        <p:spPr>
          <a:xfrm>
            <a:off x="9796882" y="4352544"/>
            <a:ext cx="77266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D3748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QA Review</a:t>
            </a:r>
            <a:endParaRPr lang="en-US" sz="1000" dirty="0"/>
          </a:p>
        </p:txBody>
      </p:sp>
      <p:sp>
        <p:nvSpPr>
          <p:cNvPr id="61" name="Shape 47"/>
          <p:cNvSpPr/>
          <p:nvPr/>
        </p:nvSpPr>
        <p:spPr>
          <a:xfrm>
            <a:off x="552298" y="4895698"/>
            <a:ext cx="1524305" cy="933602"/>
          </a:xfrm>
          <a:prstGeom prst="roundRect">
            <a:avLst>
              <a:gd name="adj" fmla="val 7995"/>
            </a:avLst>
          </a:prstGeom>
          <a:solidFill>
            <a:srgbClr val="003D5B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2" name="Text 48"/>
          <p:cNvSpPr txBox="1"/>
          <p:nvPr/>
        </p:nvSpPr>
        <p:spPr>
          <a:xfrm>
            <a:off x="779069" y="5248656"/>
            <a:ext cx="107259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 err="1">
                <a:solidFill>
                  <a:srgbClr val="FFFFFF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공공정책</a:t>
            </a:r>
            <a:r>
              <a:rPr lang="en-US" sz="1200" b="1" dirty="0">
                <a:solidFill>
                  <a:srgbClr val="FFFFFF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 </a:t>
            </a:r>
          </a:p>
          <a:p>
            <a:pPr marL="0" indent="0" algn="ctr">
              <a:buNone/>
            </a:pPr>
            <a:r>
              <a:rPr lang="ko-KR" altLang="en-US" sz="1200" b="1" dirty="0">
                <a:solidFill>
                  <a:srgbClr val="FFFFFF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연구 </a:t>
            </a:r>
            <a:r>
              <a:rPr lang="en-US" sz="1200" b="1" dirty="0" err="1">
                <a:solidFill>
                  <a:srgbClr val="FFFFFF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본부</a:t>
            </a:r>
            <a:endParaRPr lang="en-US" sz="1200" dirty="0"/>
          </a:p>
        </p:txBody>
      </p:sp>
      <p:sp>
        <p:nvSpPr>
          <p:cNvPr id="63" name="Shape 49"/>
          <p:cNvSpPr/>
          <p:nvPr/>
        </p:nvSpPr>
        <p:spPr>
          <a:xfrm>
            <a:off x="2152498" y="4895698"/>
            <a:ext cx="1952244" cy="933602"/>
          </a:xfrm>
          <a:prstGeom prst="roundRect">
            <a:avLst>
              <a:gd name="adj" fmla="val 7995"/>
            </a:avLst>
          </a:prstGeom>
          <a:solidFill>
            <a:srgbClr val="FFFFFF"/>
          </a:solidFill>
          <a:ln w="25400">
            <a:solidFill>
              <a:srgbClr val="00A8A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64" name="Image 12" descr="preencoded.png"/>
          <p:cNvPicPr>
            <a:picLocks noChangeAspect="1"/>
          </p:cNvPicPr>
          <p:nvPr/>
        </p:nvPicPr>
        <p:blipFill>
          <a:blip r:embed="rId3"/>
          <a:srcRect t="-180" b="-180"/>
          <a:stretch/>
        </p:blipFill>
        <p:spPr>
          <a:xfrm>
            <a:off x="3030322" y="5162702"/>
            <a:ext cx="190195" cy="152705"/>
          </a:xfrm>
          <a:prstGeom prst="rect">
            <a:avLst/>
          </a:prstGeom>
        </p:spPr>
      </p:pic>
      <p:sp>
        <p:nvSpPr>
          <p:cNvPr id="65" name="Text 50"/>
          <p:cNvSpPr txBox="1"/>
          <p:nvPr/>
        </p:nvSpPr>
        <p:spPr>
          <a:xfrm>
            <a:off x="2542032" y="5362956"/>
            <a:ext cx="116768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D3748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Project Team D</a:t>
            </a:r>
            <a:endParaRPr lang="en-US" sz="1000" dirty="0"/>
          </a:p>
        </p:txBody>
      </p:sp>
      <p:sp>
        <p:nvSpPr>
          <p:cNvPr id="66" name="Shape 51"/>
          <p:cNvSpPr/>
          <p:nvPr/>
        </p:nvSpPr>
        <p:spPr>
          <a:xfrm>
            <a:off x="4174236" y="4895698"/>
            <a:ext cx="2409444" cy="933602"/>
          </a:xfrm>
          <a:prstGeom prst="roundRect">
            <a:avLst>
              <a:gd name="adj" fmla="val 7995"/>
            </a:avLst>
          </a:prstGeom>
          <a:solidFill>
            <a:srgbClr val="FFFFFF"/>
          </a:solidFill>
          <a:ln w="25400">
            <a:solidFill>
              <a:srgbClr val="00A8A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67" name="Image 13" descr="preencoded.png"/>
          <p:cNvPicPr>
            <a:picLocks noChangeAspect="1"/>
          </p:cNvPicPr>
          <p:nvPr/>
        </p:nvPicPr>
        <p:blipFill>
          <a:blip r:embed="rId3"/>
          <a:srcRect t="-180" b="-180"/>
          <a:stretch/>
        </p:blipFill>
        <p:spPr>
          <a:xfrm>
            <a:off x="5282489" y="5162702"/>
            <a:ext cx="190195" cy="152705"/>
          </a:xfrm>
          <a:prstGeom prst="rect">
            <a:avLst/>
          </a:prstGeom>
        </p:spPr>
      </p:pic>
      <p:sp>
        <p:nvSpPr>
          <p:cNvPr id="68" name="Text 52"/>
          <p:cNvSpPr txBox="1"/>
          <p:nvPr/>
        </p:nvSpPr>
        <p:spPr>
          <a:xfrm>
            <a:off x="4793285" y="5362956"/>
            <a:ext cx="116768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D3748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Project Team D</a:t>
            </a:r>
            <a:endParaRPr lang="en-US" sz="1000" dirty="0"/>
          </a:p>
        </p:txBody>
      </p:sp>
      <p:sp>
        <p:nvSpPr>
          <p:cNvPr id="69" name="Shape 53"/>
          <p:cNvSpPr/>
          <p:nvPr/>
        </p:nvSpPr>
        <p:spPr>
          <a:xfrm>
            <a:off x="6656832" y="4895698"/>
            <a:ext cx="1990649" cy="933602"/>
          </a:xfrm>
          <a:prstGeom prst="roundRect">
            <a:avLst>
              <a:gd name="adj" fmla="val 7995"/>
            </a:avLst>
          </a:prstGeom>
          <a:solidFill>
            <a:srgbClr val="FFFFFF"/>
          </a:solidFill>
          <a:ln w="25400">
            <a:solidFill>
              <a:srgbClr val="00A8A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70" name="Image 14" descr="preencoded.png"/>
          <p:cNvPicPr>
            <a:picLocks noChangeAspect="1"/>
          </p:cNvPicPr>
          <p:nvPr/>
        </p:nvPicPr>
        <p:blipFill>
          <a:blip r:embed="rId3"/>
          <a:srcRect t="-180" b="-180"/>
          <a:stretch/>
        </p:blipFill>
        <p:spPr>
          <a:xfrm>
            <a:off x="7553858" y="5162702"/>
            <a:ext cx="190195" cy="152705"/>
          </a:xfrm>
          <a:prstGeom prst="rect">
            <a:avLst/>
          </a:prstGeom>
        </p:spPr>
      </p:pic>
      <p:sp>
        <p:nvSpPr>
          <p:cNvPr id="71" name="Text 54"/>
          <p:cNvSpPr txBox="1"/>
          <p:nvPr/>
        </p:nvSpPr>
        <p:spPr>
          <a:xfrm>
            <a:off x="7065569" y="5362956"/>
            <a:ext cx="116768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D3748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Project Team D</a:t>
            </a:r>
            <a:endParaRPr lang="en-US" sz="1000" dirty="0"/>
          </a:p>
        </p:txBody>
      </p:sp>
      <p:sp>
        <p:nvSpPr>
          <p:cNvPr id="72" name="Shape 55"/>
          <p:cNvSpPr/>
          <p:nvPr/>
        </p:nvSpPr>
        <p:spPr>
          <a:xfrm>
            <a:off x="8717890" y="4895698"/>
            <a:ext cx="2924251" cy="933602"/>
          </a:xfrm>
          <a:prstGeom prst="roundRect">
            <a:avLst>
              <a:gd name="adj" fmla="val 7995"/>
            </a:avLst>
          </a:prstGeom>
          <a:solidFill>
            <a:srgbClr val="FFFFFF"/>
          </a:solidFill>
          <a:ln w="25400">
            <a:solidFill>
              <a:srgbClr val="00A8A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73" name="Image 15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0102291" y="5162702"/>
            <a:ext cx="152705" cy="152705"/>
          </a:xfrm>
          <a:prstGeom prst="rect">
            <a:avLst/>
          </a:prstGeom>
        </p:spPr>
      </p:pic>
      <p:sp>
        <p:nvSpPr>
          <p:cNvPr id="74" name="Text 56"/>
          <p:cNvSpPr txBox="1"/>
          <p:nvPr/>
        </p:nvSpPr>
        <p:spPr>
          <a:xfrm>
            <a:off x="9796882" y="5362956"/>
            <a:ext cx="77266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D3748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QA Review</a:t>
            </a:r>
            <a:endParaRPr lang="en-US" sz="1000" dirty="0"/>
          </a:p>
        </p:txBody>
      </p:sp>
      <p:sp>
        <p:nvSpPr>
          <p:cNvPr id="75" name="Shape 57"/>
          <p:cNvSpPr/>
          <p:nvPr/>
        </p:nvSpPr>
        <p:spPr>
          <a:xfrm>
            <a:off x="0" y="6381598"/>
            <a:ext cx="12191695" cy="47640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6" name="Shape 58"/>
          <p:cNvSpPr/>
          <p:nvPr/>
        </p:nvSpPr>
        <p:spPr>
          <a:xfrm>
            <a:off x="0" y="6381598"/>
            <a:ext cx="12191695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7" name="Text 59"/>
          <p:cNvSpPr txBox="1"/>
          <p:nvPr/>
        </p:nvSpPr>
        <p:spPr>
          <a:xfrm>
            <a:off x="476402" y="6538874"/>
            <a:ext cx="175016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718096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시앤피컨설팅 조직 재설계 전략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732330"/>
          </a:xfrm>
          <a:prstGeom prst="rect">
            <a:avLst/>
          </a:prstGeom>
          <a:solidFill>
            <a:srgbClr val="F0F0F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73233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1695" cy="832116"/>
          </a:xfrm>
          <a:prstGeom prst="rect">
            <a:avLst/>
          </a:prstGeom>
          <a:solidFill>
            <a:srgbClr val="003D5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476402" y="441641"/>
            <a:ext cx="476402" cy="37701"/>
          </a:xfrm>
          <a:prstGeom prst="rect">
            <a:avLst/>
          </a:prstGeom>
          <a:solidFill>
            <a:srgbClr val="00A8A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 txBox="1"/>
          <p:nvPr/>
        </p:nvSpPr>
        <p:spPr>
          <a:xfrm>
            <a:off x="1143000" y="280962"/>
            <a:ext cx="6799478" cy="3653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b="1" kern="0" spc="-37" dirty="0">
                <a:solidFill>
                  <a:srgbClr val="FFFFFF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권한 위임: 분권화로 의사결정 속도 50% 개선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0" y="826730"/>
            <a:ext cx="12191695" cy="5853536"/>
          </a:xfrm>
          <a:prstGeom prst="rect">
            <a:avLst/>
          </a:prstGeom>
          <a:solidFill>
            <a:srgbClr val="F5F7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476402" y="1106795"/>
            <a:ext cx="5400446" cy="3740483"/>
          </a:xfrm>
          <a:prstGeom prst="roundRect">
            <a:avLst>
              <a:gd name="adj" fmla="val 48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666598" y="1668721"/>
            <a:ext cx="5020056" cy="1885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 txBox="1"/>
          <p:nvPr/>
        </p:nvSpPr>
        <p:spPr>
          <a:xfrm>
            <a:off x="666598" y="1294403"/>
            <a:ext cx="1869948" cy="2719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D3748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현재 의사결정 구조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2270455" y="1298891"/>
            <a:ext cx="724205" cy="271089"/>
          </a:xfrm>
          <a:prstGeom prst="roundRect">
            <a:avLst>
              <a:gd name="adj" fmla="val 45672"/>
            </a:avLst>
          </a:prstGeom>
          <a:solidFill>
            <a:srgbClr val="71809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 txBox="1"/>
          <p:nvPr/>
        </p:nvSpPr>
        <p:spPr>
          <a:xfrm>
            <a:off x="2366467" y="1336592"/>
            <a:ext cx="609905" cy="187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BEFORE</a:t>
            </a:r>
            <a:endParaRPr lang="en-US" sz="1000" dirty="0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rcRect t="-3" b="-3"/>
          <a:stretch/>
        </p:blipFill>
        <p:spPr>
          <a:xfrm>
            <a:off x="666598" y="1826705"/>
            <a:ext cx="4762195" cy="2805137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6321247" y="1106795"/>
            <a:ext cx="5400446" cy="3740483"/>
          </a:xfrm>
          <a:prstGeom prst="roundRect">
            <a:avLst>
              <a:gd name="adj" fmla="val 48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2"/>
          <p:cNvSpPr/>
          <p:nvPr/>
        </p:nvSpPr>
        <p:spPr>
          <a:xfrm>
            <a:off x="6511442" y="1668721"/>
            <a:ext cx="5020056" cy="1885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3"/>
          <p:cNvSpPr txBox="1"/>
          <p:nvPr/>
        </p:nvSpPr>
        <p:spPr>
          <a:xfrm>
            <a:off x="6511442" y="1294403"/>
            <a:ext cx="2194560" cy="2719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D3748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개선된 권한 위임 체계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8343900" y="1298891"/>
            <a:ext cx="619049" cy="271089"/>
          </a:xfrm>
          <a:prstGeom prst="roundRect">
            <a:avLst>
              <a:gd name="adj" fmla="val 45672"/>
            </a:avLst>
          </a:prstGeom>
          <a:solidFill>
            <a:srgbClr val="00A8A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5"/>
          <p:cNvSpPr txBox="1"/>
          <p:nvPr/>
        </p:nvSpPr>
        <p:spPr>
          <a:xfrm>
            <a:off x="8438998" y="1336592"/>
            <a:ext cx="505663" cy="187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AFTER</a:t>
            </a:r>
            <a:endParaRPr lang="en-US" sz="1000" dirty="0"/>
          </a:p>
        </p:txBody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4"/>
          <a:srcRect t="-3" b="-3"/>
          <a:stretch/>
        </p:blipFill>
        <p:spPr>
          <a:xfrm>
            <a:off x="6511442" y="1826705"/>
            <a:ext cx="4762195" cy="2805137"/>
          </a:xfrm>
          <a:prstGeom prst="rect">
            <a:avLst/>
          </a:prstGeom>
        </p:spPr>
      </p:pic>
      <p:sp>
        <p:nvSpPr>
          <p:cNvPr id="20" name="Shape 16"/>
          <p:cNvSpPr/>
          <p:nvPr/>
        </p:nvSpPr>
        <p:spPr>
          <a:xfrm>
            <a:off x="476402" y="5128240"/>
            <a:ext cx="11239805" cy="1271962"/>
          </a:xfrm>
          <a:prstGeom prst="roundRect">
            <a:avLst>
              <a:gd name="adj" fmla="val 4151"/>
            </a:avLst>
          </a:prstGeom>
          <a:solidFill>
            <a:srgbClr val="003D5B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01600" dist="38100" dir="16200000" algn="bl" rotWithShape="0">
              <a:srgbClr val="003D5B">
                <a:alpha val="2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761695" y="5357139"/>
            <a:ext cx="171907" cy="168757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1009498" y="5314950"/>
            <a:ext cx="4178808" cy="253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0A8A8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권한 위임 가이드라인 (Delegation Guardrails)</a:t>
            </a:r>
            <a:endParaRPr lang="en-US" sz="1300" dirty="0"/>
          </a:p>
        </p:txBody>
      </p:sp>
      <p:sp>
        <p:nvSpPr>
          <p:cNvPr id="23" name="Shape 18"/>
          <p:cNvSpPr/>
          <p:nvPr/>
        </p:nvSpPr>
        <p:spPr>
          <a:xfrm>
            <a:off x="761695" y="5707220"/>
            <a:ext cx="3429000" cy="505373"/>
          </a:xfrm>
          <a:prstGeom prst="roundRect">
            <a:avLst>
              <a:gd name="adj" fmla="val 19736"/>
            </a:avLst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19"/>
          <p:cNvSpPr/>
          <p:nvPr/>
        </p:nvSpPr>
        <p:spPr>
          <a:xfrm>
            <a:off x="761695" y="5707220"/>
            <a:ext cx="38405" cy="505373"/>
          </a:xfrm>
          <a:prstGeom prst="rect">
            <a:avLst/>
          </a:prstGeom>
          <a:solidFill>
            <a:srgbClr val="00A8A8"/>
          </a:solidFill>
          <a:ln w="12700">
            <a:solidFill>
              <a:srgbClr val="00A8A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942746" y="5848151"/>
            <a:ext cx="228600" cy="224411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1314907" y="5707220"/>
            <a:ext cx="2171700" cy="5053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금액 기준선:</a:t>
            </a:r>
            <a:r>
              <a:rPr lang="en-US" sz="1200" b="1" dirty="0">
                <a:solidFill>
                  <a:srgbClr val="FFD166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1억 이상</a:t>
            </a:r>
            <a:r>
              <a:rPr lang="en-US" sz="1200" dirty="0">
                <a:solidFill>
                  <a:srgbClr val="FFFFFF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본부장 결재</a:t>
            </a:r>
            <a:endParaRPr lang="en-US" sz="1200" dirty="0"/>
          </a:p>
        </p:txBody>
      </p:sp>
      <p:sp>
        <p:nvSpPr>
          <p:cNvPr id="27" name="Shape 21"/>
          <p:cNvSpPr/>
          <p:nvPr/>
        </p:nvSpPr>
        <p:spPr>
          <a:xfrm>
            <a:off x="4381805" y="5707220"/>
            <a:ext cx="3429000" cy="505373"/>
          </a:xfrm>
          <a:prstGeom prst="roundRect">
            <a:avLst>
              <a:gd name="adj" fmla="val 19736"/>
            </a:avLst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22"/>
          <p:cNvSpPr/>
          <p:nvPr/>
        </p:nvSpPr>
        <p:spPr>
          <a:xfrm>
            <a:off x="4381805" y="5707220"/>
            <a:ext cx="38405" cy="505373"/>
          </a:xfrm>
          <a:prstGeom prst="rect">
            <a:avLst/>
          </a:prstGeom>
          <a:solidFill>
            <a:srgbClr val="00A8A8"/>
          </a:solidFill>
          <a:ln w="12700">
            <a:solidFill>
              <a:srgbClr val="00A8A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9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4562856" y="5848151"/>
            <a:ext cx="228600" cy="224411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4934102" y="5707220"/>
            <a:ext cx="2533802" cy="5053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리스크 수준:</a:t>
            </a:r>
            <a:r>
              <a:rPr lang="en-US" sz="1200" b="1" dirty="0">
                <a:solidFill>
                  <a:srgbClr val="FFD166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High Risk</a:t>
            </a:r>
            <a:r>
              <a:rPr lang="en-US" sz="1200" dirty="0">
                <a:solidFill>
                  <a:srgbClr val="FFFFFF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는 본부장 승인</a:t>
            </a:r>
            <a:endParaRPr lang="en-US" sz="1200" dirty="0"/>
          </a:p>
        </p:txBody>
      </p:sp>
      <p:sp>
        <p:nvSpPr>
          <p:cNvPr id="31" name="Shape 24"/>
          <p:cNvSpPr/>
          <p:nvPr/>
        </p:nvSpPr>
        <p:spPr>
          <a:xfrm>
            <a:off x="8001000" y="5707220"/>
            <a:ext cx="3429000" cy="505373"/>
          </a:xfrm>
          <a:prstGeom prst="roundRect">
            <a:avLst>
              <a:gd name="adj" fmla="val 19736"/>
            </a:avLst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2" name="Shape 25"/>
          <p:cNvSpPr/>
          <p:nvPr/>
        </p:nvSpPr>
        <p:spPr>
          <a:xfrm>
            <a:off x="8001000" y="5707220"/>
            <a:ext cx="38405" cy="505373"/>
          </a:xfrm>
          <a:prstGeom prst="rect">
            <a:avLst/>
          </a:prstGeom>
          <a:solidFill>
            <a:srgbClr val="00A8A8"/>
          </a:solidFill>
          <a:ln w="12700">
            <a:solidFill>
              <a:srgbClr val="00A8A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3" name="Image 5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8182051" y="5848151"/>
            <a:ext cx="228600" cy="224411"/>
          </a:xfrm>
          <a:prstGeom prst="rect">
            <a:avLst/>
          </a:prstGeom>
        </p:spPr>
      </p:pic>
      <p:sp>
        <p:nvSpPr>
          <p:cNvPr id="34" name="Text 26"/>
          <p:cNvSpPr txBox="1"/>
          <p:nvPr/>
        </p:nvSpPr>
        <p:spPr>
          <a:xfrm>
            <a:off x="8553298" y="5707220"/>
            <a:ext cx="2352751" cy="5053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일상 운영:</a:t>
            </a:r>
            <a:r>
              <a:rPr lang="en-US" sz="1200" b="1" dirty="0">
                <a:solidFill>
                  <a:srgbClr val="FFD166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현장 자율 (PM/팀장)</a:t>
            </a:r>
            <a:r>
              <a:rPr lang="en-US" sz="1200" dirty="0">
                <a:solidFill>
                  <a:srgbClr val="FFFFFF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결정</a:t>
            </a:r>
            <a:endParaRPr lang="en-US" sz="1200" dirty="0"/>
          </a:p>
        </p:txBody>
      </p:sp>
      <p:sp>
        <p:nvSpPr>
          <p:cNvPr id="35" name="Shape 27"/>
          <p:cNvSpPr/>
          <p:nvPr/>
        </p:nvSpPr>
        <p:spPr>
          <a:xfrm>
            <a:off x="0" y="6680267"/>
            <a:ext cx="12191695" cy="177733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6" name="Shape 28"/>
          <p:cNvSpPr/>
          <p:nvPr/>
        </p:nvSpPr>
        <p:spPr>
          <a:xfrm>
            <a:off x="0" y="6680267"/>
            <a:ext cx="12191695" cy="897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Text 29"/>
          <p:cNvSpPr txBox="1"/>
          <p:nvPr/>
        </p:nvSpPr>
        <p:spPr>
          <a:xfrm>
            <a:off x="476402" y="6689243"/>
            <a:ext cx="1750162" cy="159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718096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시앤피컨설팅 조직 재설계 전략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0F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1695" cy="952805"/>
          </a:xfrm>
          <a:prstGeom prst="rect">
            <a:avLst/>
          </a:prstGeom>
          <a:solidFill>
            <a:srgbClr val="003D5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476402" y="504749"/>
            <a:ext cx="476402" cy="38405"/>
          </a:xfrm>
          <a:prstGeom prst="rect">
            <a:avLst/>
          </a:prstGeom>
          <a:solidFill>
            <a:srgbClr val="00A8A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 txBox="1"/>
          <p:nvPr/>
        </p:nvSpPr>
        <p:spPr>
          <a:xfrm>
            <a:off x="1143000" y="341071"/>
            <a:ext cx="9109253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b="1" kern="0" spc="-37" dirty="0">
                <a:solidFill>
                  <a:srgbClr val="FFFFFF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기대효과 및 결론: 상황적합이론 기반 재설계로 지속성장 실현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0" y="952805"/>
            <a:ext cx="12191695" cy="5429707"/>
          </a:xfrm>
          <a:prstGeom prst="rect">
            <a:avLst/>
          </a:prstGeom>
          <a:solidFill>
            <a:srgbClr val="F5F7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476402" y="1238098"/>
            <a:ext cx="5667451" cy="3619195"/>
          </a:xfrm>
          <a:prstGeom prst="roundRect">
            <a:avLst>
              <a:gd name="adj" fmla="val 532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666598" y="1810512"/>
            <a:ext cx="5286146" cy="1920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66598" y="1481328"/>
            <a:ext cx="190195" cy="190195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933602" y="1429207"/>
            <a:ext cx="212049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D3748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Before &amp; After 비교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666598" y="1971446"/>
            <a:ext cx="1057046" cy="409651"/>
          </a:xfrm>
          <a:prstGeom prst="rect">
            <a:avLst/>
          </a:prstGeom>
          <a:solidFill>
            <a:srgbClr val="F7FA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0"/>
          <p:cNvSpPr/>
          <p:nvPr/>
        </p:nvSpPr>
        <p:spPr>
          <a:xfrm>
            <a:off x="666598" y="2361895"/>
            <a:ext cx="1057046" cy="19202"/>
          </a:xfrm>
          <a:prstGeom prst="rect">
            <a:avLst/>
          </a:prstGeom>
          <a:solidFill>
            <a:srgbClr val="CBD5E0"/>
          </a:solidFill>
          <a:ln w="12700">
            <a:solidFill>
              <a:srgbClr val="CBD5E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1"/>
          <p:cNvSpPr txBox="1"/>
          <p:nvPr/>
        </p:nvSpPr>
        <p:spPr>
          <a:xfrm>
            <a:off x="1034186" y="2066544"/>
            <a:ext cx="32461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A5568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구분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1723644" y="1971446"/>
            <a:ext cx="1809598" cy="409651"/>
          </a:xfrm>
          <a:prstGeom prst="rect">
            <a:avLst/>
          </a:prstGeom>
          <a:solidFill>
            <a:srgbClr val="FFF5F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3"/>
          <p:cNvSpPr/>
          <p:nvPr/>
        </p:nvSpPr>
        <p:spPr>
          <a:xfrm>
            <a:off x="1723644" y="2361895"/>
            <a:ext cx="1809598" cy="19202"/>
          </a:xfrm>
          <a:prstGeom prst="rect">
            <a:avLst/>
          </a:prstGeom>
          <a:solidFill>
            <a:srgbClr val="CBD5E0"/>
          </a:solidFill>
          <a:ln w="12700">
            <a:solidFill>
              <a:srgbClr val="CBD5E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4"/>
          <p:cNvSpPr txBox="1"/>
          <p:nvPr/>
        </p:nvSpPr>
        <p:spPr>
          <a:xfrm>
            <a:off x="2139696" y="2066544"/>
            <a:ext cx="97566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53E3E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Before (현재)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3525926" y="1971446"/>
            <a:ext cx="2428646" cy="409651"/>
          </a:xfrm>
          <a:prstGeom prst="rect">
            <a:avLst/>
          </a:prstGeom>
          <a:solidFill>
            <a:srgbClr val="E6FF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6"/>
          <p:cNvSpPr/>
          <p:nvPr/>
        </p:nvSpPr>
        <p:spPr>
          <a:xfrm>
            <a:off x="3525926" y="2361895"/>
            <a:ext cx="2428646" cy="19202"/>
          </a:xfrm>
          <a:prstGeom prst="rect">
            <a:avLst/>
          </a:prstGeom>
          <a:solidFill>
            <a:srgbClr val="CBD5E0"/>
          </a:solidFill>
          <a:ln w="12700">
            <a:solidFill>
              <a:srgbClr val="CBD5E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7"/>
          <p:cNvSpPr txBox="1"/>
          <p:nvPr/>
        </p:nvSpPr>
        <p:spPr>
          <a:xfrm>
            <a:off x="4224528" y="2066544"/>
            <a:ext cx="103235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A8A8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After (개선 후)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666598" y="2381098"/>
            <a:ext cx="1057046" cy="457200"/>
          </a:xfrm>
          <a:prstGeom prst="rect">
            <a:avLst/>
          </a:prstGeom>
          <a:solidFill>
            <a:srgbClr val="F7FA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19"/>
          <p:cNvSpPr/>
          <p:nvPr/>
        </p:nvSpPr>
        <p:spPr>
          <a:xfrm>
            <a:off x="666598" y="2829154"/>
            <a:ext cx="1057046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0"/>
          <p:cNvSpPr txBox="1"/>
          <p:nvPr/>
        </p:nvSpPr>
        <p:spPr>
          <a:xfrm>
            <a:off x="761695" y="2511857"/>
            <a:ext cx="60807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D3748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조직 구조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1723644" y="2381098"/>
            <a:ext cx="1809598" cy="457200"/>
          </a:xfrm>
          <a:prstGeom prst="rect">
            <a:avLst/>
          </a:prstGeom>
          <a:solidFill>
            <a:srgbClr val="FFF5F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2"/>
          <p:cNvSpPr/>
          <p:nvPr/>
        </p:nvSpPr>
        <p:spPr>
          <a:xfrm>
            <a:off x="1723644" y="2829154"/>
            <a:ext cx="1809598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3"/>
          <p:cNvSpPr txBox="1"/>
          <p:nvPr/>
        </p:nvSpPr>
        <p:spPr>
          <a:xfrm>
            <a:off x="1819656" y="2511857"/>
            <a:ext cx="1003097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718096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4계층 수직 구조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3525926" y="2381098"/>
            <a:ext cx="2428646" cy="457200"/>
          </a:xfrm>
          <a:prstGeom prst="rect">
            <a:avLst/>
          </a:prstGeom>
          <a:solidFill>
            <a:srgbClr val="E6FF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25"/>
          <p:cNvSpPr/>
          <p:nvPr/>
        </p:nvSpPr>
        <p:spPr>
          <a:xfrm>
            <a:off x="3525926" y="2829154"/>
            <a:ext cx="2428646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6"/>
          <p:cNvSpPr txBox="1"/>
          <p:nvPr/>
        </p:nvSpPr>
        <p:spPr>
          <a:xfrm>
            <a:off x="3621938" y="2511857"/>
            <a:ext cx="1167689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D3748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3계층 Matrix 구조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666598" y="2838298"/>
            <a:ext cx="1057046" cy="457200"/>
          </a:xfrm>
          <a:prstGeom prst="rect">
            <a:avLst/>
          </a:prstGeom>
          <a:solidFill>
            <a:srgbClr val="F7FA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1" name="Shape 28"/>
          <p:cNvSpPr/>
          <p:nvPr/>
        </p:nvSpPr>
        <p:spPr>
          <a:xfrm>
            <a:off x="666598" y="3286354"/>
            <a:ext cx="1057046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 29"/>
          <p:cNvSpPr txBox="1"/>
          <p:nvPr/>
        </p:nvSpPr>
        <p:spPr>
          <a:xfrm>
            <a:off x="761695" y="2969057"/>
            <a:ext cx="53401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D3748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의사결정</a:t>
            </a:r>
            <a:endParaRPr lang="en-US" sz="900" dirty="0"/>
          </a:p>
        </p:txBody>
      </p:sp>
      <p:sp>
        <p:nvSpPr>
          <p:cNvPr id="33" name="Shape 30"/>
          <p:cNvSpPr/>
          <p:nvPr/>
        </p:nvSpPr>
        <p:spPr>
          <a:xfrm>
            <a:off x="1723644" y="2838298"/>
            <a:ext cx="1809598" cy="457200"/>
          </a:xfrm>
          <a:prstGeom prst="rect">
            <a:avLst/>
          </a:prstGeom>
          <a:solidFill>
            <a:srgbClr val="FFF5F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4" name="Shape 31"/>
          <p:cNvSpPr/>
          <p:nvPr/>
        </p:nvSpPr>
        <p:spPr>
          <a:xfrm>
            <a:off x="1723644" y="3286354"/>
            <a:ext cx="1809598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2"/>
          <p:cNvSpPr txBox="1"/>
          <p:nvPr/>
        </p:nvSpPr>
        <p:spPr>
          <a:xfrm>
            <a:off x="1819656" y="2969057"/>
            <a:ext cx="105064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718096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본부장 집중·지연</a:t>
            </a:r>
            <a:endParaRPr lang="en-US" sz="900" dirty="0"/>
          </a:p>
        </p:txBody>
      </p:sp>
      <p:sp>
        <p:nvSpPr>
          <p:cNvPr id="36" name="Shape 33"/>
          <p:cNvSpPr/>
          <p:nvPr/>
        </p:nvSpPr>
        <p:spPr>
          <a:xfrm>
            <a:off x="3525926" y="2838298"/>
            <a:ext cx="2428646" cy="457200"/>
          </a:xfrm>
          <a:prstGeom prst="rect">
            <a:avLst/>
          </a:prstGeom>
          <a:solidFill>
            <a:srgbClr val="E6FF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7" name="Shape 34"/>
          <p:cNvSpPr/>
          <p:nvPr/>
        </p:nvSpPr>
        <p:spPr>
          <a:xfrm>
            <a:off x="3525926" y="3286354"/>
            <a:ext cx="2428646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Text 35"/>
          <p:cNvSpPr txBox="1"/>
          <p:nvPr/>
        </p:nvSpPr>
        <p:spPr>
          <a:xfrm>
            <a:off x="3621938" y="2969057"/>
            <a:ext cx="1400861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D3748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분권화·신속화 (50%↑)</a:t>
            </a:r>
            <a:endParaRPr lang="en-US" sz="900" dirty="0"/>
          </a:p>
        </p:txBody>
      </p:sp>
      <p:sp>
        <p:nvSpPr>
          <p:cNvPr id="39" name="Shape 36"/>
          <p:cNvSpPr/>
          <p:nvPr/>
        </p:nvSpPr>
        <p:spPr>
          <a:xfrm>
            <a:off x="666598" y="3295498"/>
            <a:ext cx="1057046" cy="457200"/>
          </a:xfrm>
          <a:prstGeom prst="rect">
            <a:avLst/>
          </a:prstGeom>
          <a:solidFill>
            <a:srgbClr val="F7FA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0" name="Shape 37"/>
          <p:cNvSpPr/>
          <p:nvPr/>
        </p:nvSpPr>
        <p:spPr>
          <a:xfrm>
            <a:off x="666598" y="3743554"/>
            <a:ext cx="1057046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Text 38"/>
          <p:cNvSpPr txBox="1"/>
          <p:nvPr/>
        </p:nvSpPr>
        <p:spPr>
          <a:xfrm>
            <a:off x="761695" y="3426257"/>
            <a:ext cx="60807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D3748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자원 관리</a:t>
            </a:r>
            <a:endParaRPr lang="en-US" sz="900" dirty="0"/>
          </a:p>
        </p:txBody>
      </p:sp>
      <p:sp>
        <p:nvSpPr>
          <p:cNvPr id="42" name="Shape 39"/>
          <p:cNvSpPr/>
          <p:nvPr/>
        </p:nvSpPr>
        <p:spPr>
          <a:xfrm>
            <a:off x="1723644" y="3295498"/>
            <a:ext cx="1809598" cy="457200"/>
          </a:xfrm>
          <a:prstGeom prst="rect">
            <a:avLst/>
          </a:prstGeom>
          <a:solidFill>
            <a:srgbClr val="FFF5F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3" name="Shape 40"/>
          <p:cNvSpPr/>
          <p:nvPr/>
        </p:nvSpPr>
        <p:spPr>
          <a:xfrm>
            <a:off x="1723644" y="3743554"/>
            <a:ext cx="1809598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Text 41"/>
          <p:cNvSpPr txBox="1"/>
          <p:nvPr/>
        </p:nvSpPr>
        <p:spPr>
          <a:xfrm>
            <a:off x="1819656" y="3426257"/>
            <a:ext cx="84582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718096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본부별 사일로</a:t>
            </a:r>
            <a:endParaRPr lang="en-US" sz="900" dirty="0"/>
          </a:p>
        </p:txBody>
      </p:sp>
      <p:sp>
        <p:nvSpPr>
          <p:cNvPr id="45" name="Shape 42"/>
          <p:cNvSpPr/>
          <p:nvPr/>
        </p:nvSpPr>
        <p:spPr>
          <a:xfrm>
            <a:off x="3525926" y="3295498"/>
            <a:ext cx="2428646" cy="457200"/>
          </a:xfrm>
          <a:prstGeom prst="rect">
            <a:avLst/>
          </a:prstGeom>
          <a:solidFill>
            <a:srgbClr val="E6FF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6" name="Shape 43"/>
          <p:cNvSpPr/>
          <p:nvPr/>
        </p:nvSpPr>
        <p:spPr>
          <a:xfrm>
            <a:off x="3525926" y="3743554"/>
            <a:ext cx="2428646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7" name="Text 44"/>
          <p:cNvSpPr txBox="1"/>
          <p:nvPr/>
        </p:nvSpPr>
        <p:spPr>
          <a:xfrm>
            <a:off x="3621938" y="3426257"/>
            <a:ext cx="907999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D3748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PMO 통합 관리</a:t>
            </a:r>
            <a:endParaRPr lang="en-US" sz="900" dirty="0"/>
          </a:p>
        </p:txBody>
      </p:sp>
      <p:sp>
        <p:nvSpPr>
          <p:cNvPr id="48" name="Shape 45"/>
          <p:cNvSpPr/>
          <p:nvPr/>
        </p:nvSpPr>
        <p:spPr>
          <a:xfrm>
            <a:off x="666598" y="3752698"/>
            <a:ext cx="1057046" cy="457200"/>
          </a:xfrm>
          <a:prstGeom prst="rect">
            <a:avLst/>
          </a:prstGeom>
          <a:solidFill>
            <a:srgbClr val="F7FA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9" name="Shape 46"/>
          <p:cNvSpPr/>
          <p:nvPr/>
        </p:nvSpPr>
        <p:spPr>
          <a:xfrm>
            <a:off x="666598" y="4200754"/>
            <a:ext cx="1057046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0" name="Text 47"/>
          <p:cNvSpPr txBox="1"/>
          <p:nvPr/>
        </p:nvSpPr>
        <p:spPr>
          <a:xfrm>
            <a:off x="761695" y="3883457"/>
            <a:ext cx="60807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D3748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지식 관리</a:t>
            </a:r>
            <a:endParaRPr lang="en-US" sz="900" dirty="0"/>
          </a:p>
        </p:txBody>
      </p:sp>
      <p:sp>
        <p:nvSpPr>
          <p:cNvPr id="51" name="Shape 48"/>
          <p:cNvSpPr/>
          <p:nvPr/>
        </p:nvSpPr>
        <p:spPr>
          <a:xfrm>
            <a:off x="1723644" y="3752698"/>
            <a:ext cx="1809598" cy="457200"/>
          </a:xfrm>
          <a:prstGeom prst="rect">
            <a:avLst/>
          </a:prstGeom>
          <a:solidFill>
            <a:srgbClr val="FFF5F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2" name="Shape 49"/>
          <p:cNvSpPr/>
          <p:nvPr/>
        </p:nvSpPr>
        <p:spPr>
          <a:xfrm>
            <a:off x="1723644" y="4200754"/>
            <a:ext cx="1809598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3" name="Text 50"/>
          <p:cNvSpPr txBox="1"/>
          <p:nvPr/>
        </p:nvSpPr>
        <p:spPr>
          <a:xfrm>
            <a:off x="1819656" y="3883457"/>
            <a:ext cx="105156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718096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개인 암묵지 의존</a:t>
            </a:r>
            <a:endParaRPr lang="en-US" sz="900" dirty="0"/>
          </a:p>
        </p:txBody>
      </p:sp>
      <p:sp>
        <p:nvSpPr>
          <p:cNvPr id="54" name="Shape 51"/>
          <p:cNvSpPr/>
          <p:nvPr/>
        </p:nvSpPr>
        <p:spPr>
          <a:xfrm>
            <a:off x="3525926" y="3752698"/>
            <a:ext cx="2428646" cy="457200"/>
          </a:xfrm>
          <a:prstGeom prst="rect">
            <a:avLst/>
          </a:prstGeom>
          <a:solidFill>
            <a:srgbClr val="E6FF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5" name="Shape 52"/>
          <p:cNvSpPr/>
          <p:nvPr/>
        </p:nvSpPr>
        <p:spPr>
          <a:xfrm>
            <a:off x="3525926" y="4200754"/>
            <a:ext cx="2428646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6" name="Text 53"/>
          <p:cNvSpPr txBox="1"/>
          <p:nvPr/>
        </p:nvSpPr>
        <p:spPr>
          <a:xfrm>
            <a:off x="3621938" y="3883457"/>
            <a:ext cx="103875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D3748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KC·재활용 30%↑</a:t>
            </a:r>
            <a:endParaRPr lang="en-US" sz="900" dirty="0"/>
          </a:p>
        </p:txBody>
      </p:sp>
      <p:sp>
        <p:nvSpPr>
          <p:cNvPr id="57" name="Shape 54"/>
          <p:cNvSpPr/>
          <p:nvPr/>
        </p:nvSpPr>
        <p:spPr>
          <a:xfrm>
            <a:off x="666598" y="4209898"/>
            <a:ext cx="1057046" cy="457200"/>
          </a:xfrm>
          <a:prstGeom prst="rect">
            <a:avLst/>
          </a:prstGeom>
          <a:solidFill>
            <a:srgbClr val="F7FA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8" name="Shape 55"/>
          <p:cNvSpPr/>
          <p:nvPr/>
        </p:nvSpPr>
        <p:spPr>
          <a:xfrm>
            <a:off x="666598" y="4657954"/>
            <a:ext cx="1057046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9" name="Text 56"/>
          <p:cNvSpPr txBox="1"/>
          <p:nvPr/>
        </p:nvSpPr>
        <p:spPr>
          <a:xfrm>
            <a:off x="761695" y="4340657"/>
            <a:ext cx="60807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D3748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조직 문화</a:t>
            </a:r>
            <a:endParaRPr lang="en-US" sz="900" dirty="0"/>
          </a:p>
        </p:txBody>
      </p:sp>
      <p:sp>
        <p:nvSpPr>
          <p:cNvPr id="60" name="Shape 57"/>
          <p:cNvSpPr/>
          <p:nvPr/>
        </p:nvSpPr>
        <p:spPr>
          <a:xfrm>
            <a:off x="1723644" y="4209898"/>
            <a:ext cx="1809598" cy="457200"/>
          </a:xfrm>
          <a:prstGeom prst="rect">
            <a:avLst/>
          </a:prstGeom>
          <a:solidFill>
            <a:srgbClr val="FFF5F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1" name="Shape 58"/>
          <p:cNvSpPr/>
          <p:nvPr/>
        </p:nvSpPr>
        <p:spPr>
          <a:xfrm>
            <a:off x="1723644" y="4657954"/>
            <a:ext cx="1809598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2" name="Text 59"/>
          <p:cNvSpPr txBox="1"/>
          <p:nvPr/>
        </p:nvSpPr>
        <p:spPr>
          <a:xfrm>
            <a:off x="1819656" y="4340657"/>
            <a:ext cx="923544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718096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수직·통제 중심</a:t>
            </a:r>
            <a:endParaRPr lang="en-US" sz="900" dirty="0"/>
          </a:p>
        </p:txBody>
      </p:sp>
      <p:sp>
        <p:nvSpPr>
          <p:cNvPr id="63" name="Shape 60"/>
          <p:cNvSpPr/>
          <p:nvPr/>
        </p:nvSpPr>
        <p:spPr>
          <a:xfrm>
            <a:off x="3525926" y="4209898"/>
            <a:ext cx="2428646" cy="457200"/>
          </a:xfrm>
          <a:prstGeom prst="rect">
            <a:avLst/>
          </a:prstGeom>
          <a:solidFill>
            <a:srgbClr val="E6FF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4" name="Shape 61"/>
          <p:cNvSpPr/>
          <p:nvPr/>
        </p:nvSpPr>
        <p:spPr>
          <a:xfrm>
            <a:off x="3525926" y="4657954"/>
            <a:ext cx="2428646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5" name="Text 62"/>
          <p:cNvSpPr txBox="1"/>
          <p:nvPr/>
        </p:nvSpPr>
        <p:spPr>
          <a:xfrm>
            <a:off x="3621938" y="4340657"/>
            <a:ext cx="95189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D3748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수평·학습 조직</a:t>
            </a:r>
            <a:endParaRPr lang="en-US" sz="900" dirty="0"/>
          </a:p>
        </p:txBody>
      </p:sp>
      <p:sp>
        <p:nvSpPr>
          <p:cNvPr id="66" name="Shape 63"/>
          <p:cNvSpPr/>
          <p:nvPr/>
        </p:nvSpPr>
        <p:spPr>
          <a:xfrm>
            <a:off x="6429146" y="1238098"/>
            <a:ext cx="5286146" cy="800100"/>
          </a:xfrm>
          <a:prstGeom prst="roundRect">
            <a:avLst>
              <a:gd name="adj" fmla="val 10884"/>
            </a:avLst>
          </a:prstGeom>
          <a:solidFill>
            <a:srgbClr val="00A8A8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67" name="Image 1" descr="preencoded.png"/>
          <p:cNvPicPr>
            <a:picLocks noChangeAspect="1"/>
          </p:cNvPicPr>
          <p:nvPr/>
        </p:nvPicPr>
        <p:blipFill>
          <a:blip r:embed="rId4">
            <a:alphaModFix amt="80000"/>
          </a:blip>
          <a:srcRect l="-28228" r="-28228"/>
          <a:stretch/>
        </p:blipFill>
        <p:spPr>
          <a:xfrm>
            <a:off x="6667805" y="1484986"/>
            <a:ext cx="476402" cy="304495"/>
          </a:xfrm>
          <a:prstGeom prst="rect">
            <a:avLst/>
          </a:prstGeom>
        </p:spPr>
      </p:pic>
      <p:sp>
        <p:nvSpPr>
          <p:cNvPr id="68" name="Text 64"/>
          <p:cNvSpPr txBox="1"/>
          <p:nvPr/>
        </p:nvSpPr>
        <p:spPr>
          <a:xfrm>
            <a:off x="6953098" y="1356055"/>
            <a:ext cx="452445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>
                    <a:alpha val="90000"/>
                  </a:srgbClr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의사결정 속도</a:t>
            </a:r>
            <a:endParaRPr lang="en-US" sz="1000" dirty="0"/>
          </a:p>
        </p:txBody>
      </p:sp>
      <p:sp>
        <p:nvSpPr>
          <p:cNvPr id="69" name="Text 65"/>
          <p:cNvSpPr txBox="1"/>
          <p:nvPr/>
        </p:nvSpPr>
        <p:spPr>
          <a:xfrm>
            <a:off x="7029907" y="1575511"/>
            <a:ext cx="444855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FFFFFF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50% 향상</a:t>
            </a:r>
            <a:endParaRPr lang="en-US" sz="1800" dirty="0"/>
          </a:p>
        </p:txBody>
      </p:sp>
      <p:sp>
        <p:nvSpPr>
          <p:cNvPr id="70" name="Shape 66"/>
          <p:cNvSpPr/>
          <p:nvPr/>
        </p:nvSpPr>
        <p:spPr>
          <a:xfrm>
            <a:off x="6429146" y="2179015"/>
            <a:ext cx="5286146" cy="800100"/>
          </a:xfrm>
          <a:prstGeom prst="roundRect">
            <a:avLst>
              <a:gd name="adj" fmla="val 10884"/>
            </a:avLst>
          </a:prstGeom>
          <a:solidFill>
            <a:srgbClr val="003D5B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71" name="Image 2" descr="preencoded.png"/>
          <p:cNvPicPr>
            <a:picLocks noChangeAspect="1"/>
          </p:cNvPicPr>
          <p:nvPr/>
        </p:nvPicPr>
        <p:blipFill>
          <a:blip r:embed="rId5">
            <a:alphaModFix amt="80000"/>
          </a:blip>
          <a:srcRect l="-28228" r="-28228"/>
          <a:stretch/>
        </p:blipFill>
        <p:spPr>
          <a:xfrm>
            <a:off x="6667805" y="2424989"/>
            <a:ext cx="476402" cy="304495"/>
          </a:xfrm>
          <a:prstGeom prst="rect">
            <a:avLst/>
          </a:prstGeom>
        </p:spPr>
      </p:pic>
      <p:sp>
        <p:nvSpPr>
          <p:cNvPr id="72" name="Text 67"/>
          <p:cNvSpPr txBox="1"/>
          <p:nvPr/>
        </p:nvSpPr>
        <p:spPr>
          <a:xfrm>
            <a:off x="6953098" y="2296973"/>
            <a:ext cx="452445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>
                    <a:alpha val="90000"/>
                  </a:srgbClr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인력 가동률</a:t>
            </a:r>
            <a:endParaRPr lang="en-US" sz="1000" dirty="0"/>
          </a:p>
        </p:txBody>
      </p:sp>
      <p:sp>
        <p:nvSpPr>
          <p:cNvPr id="73" name="Text 68"/>
          <p:cNvSpPr txBox="1"/>
          <p:nvPr/>
        </p:nvSpPr>
        <p:spPr>
          <a:xfrm>
            <a:off x="7029907" y="2515514"/>
            <a:ext cx="444855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FFFFFF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30% 증가</a:t>
            </a:r>
            <a:endParaRPr lang="en-US" sz="1800" dirty="0"/>
          </a:p>
        </p:txBody>
      </p:sp>
      <p:sp>
        <p:nvSpPr>
          <p:cNvPr id="74" name="Shape 69"/>
          <p:cNvSpPr/>
          <p:nvPr/>
        </p:nvSpPr>
        <p:spPr>
          <a:xfrm>
            <a:off x="6429146" y="3119018"/>
            <a:ext cx="5286146" cy="800100"/>
          </a:xfrm>
          <a:prstGeom prst="roundRect">
            <a:avLst>
              <a:gd name="adj" fmla="val 10884"/>
            </a:avLst>
          </a:prstGeom>
          <a:solidFill>
            <a:srgbClr val="00A8A8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75" name="Image 3" descr="preencoded.png"/>
          <p:cNvPicPr>
            <a:picLocks noChangeAspect="1"/>
          </p:cNvPicPr>
          <p:nvPr/>
        </p:nvPicPr>
        <p:blipFill>
          <a:blip r:embed="rId6">
            <a:alphaModFix amt="80000"/>
          </a:blip>
          <a:srcRect l="-28228" r="-28228"/>
          <a:stretch/>
        </p:blipFill>
        <p:spPr>
          <a:xfrm>
            <a:off x="6667805" y="3365906"/>
            <a:ext cx="476402" cy="304495"/>
          </a:xfrm>
          <a:prstGeom prst="rect">
            <a:avLst/>
          </a:prstGeom>
        </p:spPr>
      </p:pic>
      <p:sp>
        <p:nvSpPr>
          <p:cNvPr id="76" name="Text 70"/>
          <p:cNvSpPr txBox="1"/>
          <p:nvPr/>
        </p:nvSpPr>
        <p:spPr>
          <a:xfrm>
            <a:off x="6953098" y="3236976"/>
            <a:ext cx="452445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>
                    <a:alpha val="90000"/>
                  </a:srgbClr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순이익률 목표</a:t>
            </a:r>
            <a:endParaRPr lang="en-US" sz="1000" dirty="0"/>
          </a:p>
        </p:txBody>
      </p:sp>
      <p:sp>
        <p:nvSpPr>
          <p:cNvPr id="77" name="Text 71"/>
          <p:cNvSpPr txBox="1"/>
          <p:nvPr/>
        </p:nvSpPr>
        <p:spPr>
          <a:xfrm>
            <a:off x="7029907" y="3456432"/>
            <a:ext cx="444855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FFFFFF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10% 달성</a:t>
            </a:r>
            <a:endParaRPr lang="en-US" sz="1800" dirty="0"/>
          </a:p>
        </p:txBody>
      </p:sp>
      <p:sp>
        <p:nvSpPr>
          <p:cNvPr id="78" name="Shape 72"/>
          <p:cNvSpPr/>
          <p:nvPr/>
        </p:nvSpPr>
        <p:spPr>
          <a:xfrm>
            <a:off x="6429146" y="4059936"/>
            <a:ext cx="5286146" cy="800100"/>
          </a:xfrm>
          <a:prstGeom prst="roundRect">
            <a:avLst>
              <a:gd name="adj" fmla="val 10884"/>
            </a:avLst>
          </a:prstGeom>
          <a:solidFill>
            <a:srgbClr val="003D5B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79" name="Image 4" descr="preencoded.png"/>
          <p:cNvPicPr>
            <a:picLocks noChangeAspect="1"/>
          </p:cNvPicPr>
          <p:nvPr/>
        </p:nvPicPr>
        <p:blipFill>
          <a:blip r:embed="rId7">
            <a:alphaModFix amt="80000"/>
          </a:blip>
          <a:srcRect l="-28228" r="-28228"/>
          <a:stretch/>
        </p:blipFill>
        <p:spPr>
          <a:xfrm>
            <a:off x="6667805" y="4306824"/>
            <a:ext cx="476402" cy="304495"/>
          </a:xfrm>
          <a:prstGeom prst="rect">
            <a:avLst/>
          </a:prstGeom>
        </p:spPr>
      </p:pic>
      <p:sp>
        <p:nvSpPr>
          <p:cNvPr id="80" name="Text 73"/>
          <p:cNvSpPr txBox="1"/>
          <p:nvPr/>
        </p:nvSpPr>
        <p:spPr>
          <a:xfrm>
            <a:off x="6953098" y="4177894"/>
            <a:ext cx="452445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>
                    <a:alpha val="90000"/>
                  </a:srgbClr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직원 만족도</a:t>
            </a:r>
            <a:endParaRPr lang="en-US" sz="1000" dirty="0"/>
          </a:p>
        </p:txBody>
      </p:sp>
      <p:sp>
        <p:nvSpPr>
          <p:cNvPr id="81" name="Text 74"/>
          <p:cNvSpPr txBox="1"/>
          <p:nvPr/>
        </p:nvSpPr>
        <p:spPr>
          <a:xfrm>
            <a:off x="7029907" y="4397350"/>
            <a:ext cx="444855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FFFFFF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20%p 향상</a:t>
            </a:r>
            <a:endParaRPr lang="en-US" sz="1800" dirty="0"/>
          </a:p>
        </p:txBody>
      </p:sp>
      <p:sp>
        <p:nvSpPr>
          <p:cNvPr id="82" name="Shape 75"/>
          <p:cNvSpPr/>
          <p:nvPr/>
        </p:nvSpPr>
        <p:spPr>
          <a:xfrm>
            <a:off x="476402" y="5143500"/>
            <a:ext cx="11239805" cy="952805"/>
          </a:xfrm>
          <a:prstGeom prst="roundRect">
            <a:avLst>
              <a:gd name="adj" fmla="val 7678"/>
            </a:avLst>
          </a:prstGeom>
          <a:solidFill>
            <a:srgbClr val="003D5B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01600" dist="38100" dir="16200000" algn="bl" rotWithShape="0">
              <a:srgbClr val="003D5B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3" name="Text 76"/>
          <p:cNvSpPr txBox="1"/>
          <p:nvPr/>
        </p:nvSpPr>
        <p:spPr>
          <a:xfrm>
            <a:off x="2549347" y="5447995"/>
            <a:ext cx="356433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상황요인-조직설계 적합성 확보</a:t>
            </a:r>
            <a:endParaRPr lang="en-US" sz="1800" dirty="0"/>
          </a:p>
        </p:txBody>
      </p:sp>
      <p:pic>
        <p:nvPicPr>
          <p:cNvPr id="84" name="Image 5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5687568" y="5505602"/>
            <a:ext cx="228600" cy="228600"/>
          </a:xfrm>
          <a:prstGeom prst="rect">
            <a:avLst/>
          </a:prstGeom>
        </p:spPr>
      </p:pic>
      <p:sp>
        <p:nvSpPr>
          <p:cNvPr id="85" name="Text 77"/>
          <p:cNvSpPr txBox="1"/>
          <p:nvPr/>
        </p:nvSpPr>
        <p:spPr>
          <a:xfrm>
            <a:off x="6106363" y="5447995"/>
            <a:ext cx="136611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경쟁력 강화</a:t>
            </a:r>
            <a:endParaRPr lang="en-US" sz="1800" dirty="0"/>
          </a:p>
        </p:txBody>
      </p:sp>
      <p:pic>
        <p:nvPicPr>
          <p:cNvPr id="86" name="Image 6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7412126" y="5505602"/>
            <a:ext cx="228600" cy="228600"/>
          </a:xfrm>
          <a:prstGeom prst="rect">
            <a:avLst/>
          </a:prstGeom>
        </p:spPr>
      </p:pic>
      <p:sp>
        <p:nvSpPr>
          <p:cNvPr id="87" name="Text 78"/>
          <p:cNvSpPr txBox="1"/>
          <p:nvPr/>
        </p:nvSpPr>
        <p:spPr>
          <a:xfrm>
            <a:off x="7831836" y="5447995"/>
            <a:ext cx="224393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A8A8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지속가능 성장 실현</a:t>
            </a:r>
            <a:endParaRPr lang="en-US" sz="1800" dirty="0"/>
          </a:p>
        </p:txBody>
      </p:sp>
      <p:sp>
        <p:nvSpPr>
          <p:cNvPr id="88" name="Shape 79"/>
          <p:cNvSpPr/>
          <p:nvPr/>
        </p:nvSpPr>
        <p:spPr>
          <a:xfrm>
            <a:off x="0" y="6381598"/>
            <a:ext cx="12191695" cy="47640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9" name="Shape 80"/>
          <p:cNvSpPr/>
          <p:nvPr/>
        </p:nvSpPr>
        <p:spPr>
          <a:xfrm>
            <a:off x="0" y="6381598"/>
            <a:ext cx="12191695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0" name="Text 81"/>
          <p:cNvSpPr txBox="1"/>
          <p:nvPr/>
        </p:nvSpPr>
        <p:spPr>
          <a:xfrm>
            <a:off x="476402" y="6538874"/>
            <a:ext cx="175016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718096"/>
                </a:solidFill>
                <a:latin typeface="페이퍼로지 5 Medium" pitchFamily="2" charset="-127"/>
                <a:ea typeface="페이퍼로지 5 Medium" pitchFamily="2" charset="-127"/>
                <a:cs typeface="Noto Sans KR" pitchFamily="34" charset="-120"/>
              </a:rPr>
              <a:t>시앤피컨설팅 조직 재설계 전략</a:t>
            </a:r>
            <a:endParaRPr lang="en-US" sz="900" dirty="0"/>
          </a:p>
        </p:txBody>
      </p:sp>
      <p:pic>
        <p:nvPicPr>
          <p:cNvPr id="92" name="Image 7" descr="preencoded.png"/>
          <p:cNvPicPr>
            <a:picLocks noChangeAspect="1"/>
          </p:cNvPicPr>
          <p:nvPr/>
        </p:nvPicPr>
        <p:blipFill>
          <a:blip r:embed="rId9"/>
          <a:srcRect l="-4074" r="-4074"/>
          <a:stretch/>
        </p:blipFill>
        <p:spPr>
          <a:xfrm>
            <a:off x="3535985" y="2542946"/>
            <a:ext cx="66751" cy="123444"/>
          </a:xfrm>
          <a:prstGeom prst="rect">
            <a:avLst/>
          </a:prstGeom>
        </p:spPr>
      </p:pic>
      <p:pic>
        <p:nvPicPr>
          <p:cNvPr id="93" name="Image 8" descr="preencoded.png"/>
          <p:cNvPicPr>
            <a:picLocks noChangeAspect="1"/>
          </p:cNvPicPr>
          <p:nvPr/>
        </p:nvPicPr>
        <p:blipFill>
          <a:blip r:embed="rId9"/>
          <a:srcRect l="-4074" r="-4074"/>
          <a:stretch/>
        </p:blipFill>
        <p:spPr>
          <a:xfrm>
            <a:off x="3535985" y="3000146"/>
            <a:ext cx="66751" cy="123444"/>
          </a:xfrm>
          <a:prstGeom prst="rect">
            <a:avLst/>
          </a:prstGeom>
        </p:spPr>
      </p:pic>
      <p:pic>
        <p:nvPicPr>
          <p:cNvPr id="94" name="Image 9" descr="preencoded.png"/>
          <p:cNvPicPr>
            <a:picLocks noChangeAspect="1"/>
          </p:cNvPicPr>
          <p:nvPr/>
        </p:nvPicPr>
        <p:blipFill>
          <a:blip r:embed="rId9"/>
          <a:srcRect l="-4074" r="-4074"/>
          <a:stretch/>
        </p:blipFill>
        <p:spPr>
          <a:xfrm>
            <a:off x="3535985" y="3457346"/>
            <a:ext cx="66751" cy="123444"/>
          </a:xfrm>
          <a:prstGeom prst="rect">
            <a:avLst/>
          </a:prstGeom>
        </p:spPr>
      </p:pic>
      <p:pic>
        <p:nvPicPr>
          <p:cNvPr id="95" name="Image 10" descr="preencoded.png"/>
          <p:cNvPicPr>
            <a:picLocks noChangeAspect="1"/>
          </p:cNvPicPr>
          <p:nvPr/>
        </p:nvPicPr>
        <p:blipFill>
          <a:blip r:embed="rId9"/>
          <a:srcRect l="-4074" r="-4074"/>
          <a:stretch/>
        </p:blipFill>
        <p:spPr>
          <a:xfrm>
            <a:off x="3535985" y="3914546"/>
            <a:ext cx="66751" cy="123444"/>
          </a:xfrm>
          <a:prstGeom prst="rect">
            <a:avLst/>
          </a:prstGeom>
        </p:spPr>
      </p:pic>
      <p:pic>
        <p:nvPicPr>
          <p:cNvPr id="96" name="Image 11" descr="preencoded.png"/>
          <p:cNvPicPr>
            <a:picLocks noChangeAspect="1"/>
          </p:cNvPicPr>
          <p:nvPr/>
        </p:nvPicPr>
        <p:blipFill>
          <a:blip r:embed="rId9"/>
          <a:srcRect l="-4074" r="-4074"/>
          <a:stretch/>
        </p:blipFill>
        <p:spPr>
          <a:xfrm>
            <a:off x="3535985" y="4371746"/>
            <a:ext cx="66751" cy="12344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91</TotalTime>
  <Words>1934</Words>
  <Application>Microsoft Office PowerPoint</Application>
  <PresentationFormat>와이드스크린</PresentationFormat>
  <Paragraphs>441</Paragraphs>
  <Slides>19</Slides>
  <Notes>19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19</vt:i4>
      </vt:variant>
    </vt:vector>
  </HeadingPairs>
  <TitlesOfParts>
    <vt:vector size="23" baseType="lpstr">
      <vt:lpstr>a고딕14</vt:lpstr>
      <vt:lpstr>페이퍼로지 5 Medium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석주 이</cp:lastModifiedBy>
  <cp:revision>4</cp:revision>
  <dcterms:created xsi:type="dcterms:W3CDTF">2026-01-23T23:12:22Z</dcterms:created>
  <dcterms:modified xsi:type="dcterms:W3CDTF">2026-01-24T01:56:19Z</dcterms:modified>
</cp:coreProperties>
</file>