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353" r:id="rId2"/>
    <p:sldId id="368" r:id="rId3"/>
    <p:sldId id="321" r:id="rId4"/>
    <p:sldId id="361" r:id="rId5"/>
    <p:sldId id="362" r:id="rId6"/>
    <p:sldId id="325" r:id="rId7"/>
    <p:sldId id="364" r:id="rId8"/>
    <p:sldId id="369" r:id="rId9"/>
    <p:sldId id="370" r:id="rId10"/>
    <p:sldId id="371" r:id="rId11"/>
    <p:sldId id="372" r:id="rId12"/>
    <p:sldId id="373" r:id="rId13"/>
    <p:sldId id="374" r:id="rId14"/>
    <p:sldId id="354" r:id="rId15"/>
  </p:sldIdLst>
  <p:sldSz cx="12192000" cy="6858000"/>
  <p:notesSz cx="6858000" cy="9144000"/>
  <p:embeddedFontLst>
    <p:embeddedFont>
      <p:font typeface="맑은 고딕" panose="020B0503020000020004" pitchFamily="50" charset="-127"/>
      <p:regular r:id="rId17"/>
      <p:bold r:id="rId18"/>
    </p:embeddedFont>
    <p:embeddedFont>
      <p:font typeface="Montserrat" panose="020B0600000101010101" charset="0"/>
      <p:regular r:id="rId19"/>
      <p:bold r:id="rId20"/>
      <p:italic r:id="rId21"/>
      <p:boldItalic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.YOON" initials="YBR" lastIdx="1" clrIdx="0">
    <p:extLst>
      <p:ext uri="{19B8F6BF-5375-455C-9EA6-DF929625EA0E}">
        <p15:presenceInfo xmlns:p15="http://schemas.microsoft.com/office/powerpoint/2012/main" userId="BR.YO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AEA"/>
    <a:srgbClr val="996600"/>
    <a:srgbClr val="00FFFF"/>
    <a:srgbClr val="FADFE8"/>
    <a:srgbClr val="6E5930"/>
    <a:srgbClr val="866D3A"/>
    <a:srgbClr val="CC9900"/>
    <a:srgbClr val="FFFFFF"/>
    <a:srgbClr val="FD6150"/>
    <a:srgbClr val="A89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830" autoAdjust="0"/>
  </p:normalViewPr>
  <p:slideViewPr>
    <p:cSldViewPr snapToGrid="0">
      <p:cViewPr varScale="1">
        <p:scale>
          <a:sx n="57" d="100"/>
          <a:sy n="57" d="100"/>
        </p:scale>
        <p:origin x="82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23313-25CD-4691-B43B-840051D32891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CC8A6-5F69-445B-ADF9-426CD330DD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545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5CC8A6-5F69-445B-ADF9-426CD330DD0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065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5CC8A6-5F69-445B-ADF9-426CD330DD0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210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5CC8A6-5F69-445B-ADF9-426CD330DD0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624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5CC8A6-5F69-445B-ADF9-426CD330DD0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429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5CC8A6-5F69-445B-ADF9-426CD330DD0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289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5CC8A6-5F69-445B-ADF9-426CD330DD0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721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5CC8A6-5F69-445B-ADF9-426CD330DD0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74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11554-CD49-463A-BA7B-10FEA76D6E53}" type="datetime1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21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1B85B8-CFDF-A7FD-2805-57A71EAD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886-34DF-472E-8436-C74E40CF7FCE}" type="datetime1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E8F957-73FA-0E1E-4DF3-EF9CFFD4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80D052-015E-6C13-B91D-0DBA7A08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16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1B85B8-CFDF-A7FD-2805-57A71EAD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886-34DF-472E-8436-C74E40CF7FCE}" type="datetime1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E8F957-73FA-0E1E-4DF3-EF9CFFD4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80D052-015E-6C13-B91D-0DBA7A08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2C94B068-F089-96D9-626F-6FB5FACF82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3130" y="790024"/>
            <a:ext cx="8363568" cy="2994578"/>
          </a:xfrm>
          <a:custGeom>
            <a:avLst/>
            <a:gdLst>
              <a:gd name="connsiteX0" fmla="*/ 1497290 w 8363568"/>
              <a:gd name="connsiteY0" fmla="*/ 0 h 2994578"/>
              <a:gd name="connsiteX1" fmla="*/ 6866280 w 8363568"/>
              <a:gd name="connsiteY1" fmla="*/ 0 h 2994578"/>
              <a:gd name="connsiteX2" fmla="*/ 8363568 w 8363568"/>
              <a:gd name="connsiteY2" fmla="*/ 1497289 h 2994578"/>
              <a:gd name="connsiteX3" fmla="*/ 6866280 w 8363568"/>
              <a:gd name="connsiteY3" fmla="*/ 2994578 h 2994578"/>
              <a:gd name="connsiteX4" fmla="*/ 1497289 w 8363568"/>
              <a:gd name="connsiteY4" fmla="*/ 2994577 h 2994578"/>
              <a:gd name="connsiteX5" fmla="*/ 0 w 8363568"/>
              <a:gd name="connsiteY5" fmla="*/ 1497288 h 2994578"/>
              <a:gd name="connsiteX6" fmla="*/ 1 w 8363568"/>
              <a:gd name="connsiteY6" fmla="*/ 1497289 h 2994578"/>
              <a:gd name="connsiteX7" fmla="*/ 1497290 w 8363568"/>
              <a:gd name="connsiteY7" fmla="*/ 0 h 2994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63568" h="2994578">
                <a:moveTo>
                  <a:pt x="1497290" y="0"/>
                </a:moveTo>
                <a:lnTo>
                  <a:pt x="6866280" y="0"/>
                </a:lnTo>
                <a:cubicBezTo>
                  <a:pt x="7693210" y="0"/>
                  <a:pt x="8363568" y="670359"/>
                  <a:pt x="8363568" y="1497289"/>
                </a:cubicBezTo>
                <a:cubicBezTo>
                  <a:pt x="8363568" y="2324219"/>
                  <a:pt x="7693210" y="2994578"/>
                  <a:pt x="6866280" y="2994578"/>
                </a:cubicBezTo>
                <a:cubicBezTo>
                  <a:pt x="5076616" y="2994578"/>
                  <a:pt x="3286953" y="2994577"/>
                  <a:pt x="1497289" y="2994577"/>
                </a:cubicBezTo>
                <a:cubicBezTo>
                  <a:pt x="670359" y="2994577"/>
                  <a:pt x="0" y="2324218"/>
                  <a:pt x="0" y="1497288"/>
                </a:cubicBezTo>
                <a:lnTo>
                  <a:pt x="1" y="1497289"/>
                </a:lnTo>
                <a:cubicBezTo>
                  <a:pt x="1" y="670359"/>
                  <a:pt x="670360" y="0"/>
                  <a:pt x="149729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658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1B85B8-CFDF-A7FD-2805-57A71EAD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886-34DF-472E-8436-C74E40CF7FCE}" type="datetime1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E8F957-73FA-0E1E-4DF3-EF9CFFD4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80D052-015E-6C13-B91D-0DBA7A08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075B30E4-F61D-C50C-67C5-98C4BC6B1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7650" y="960439"/>
            <a:ext cx="4044950" cy="4937125"/>
          </a:xfrm>
          <a:custGeom>
            <a:avLst/>
            <a:gdLst>
              <a:gd name="connsiteX0" fmla="*/ 2022475 w 4044950"/>
              <a:gd name="connsiteY0" fmla="*/ 0 h 4937125"/>
              <a:gd name="connsiteX1" fmla="*/ 4044950 w 4044950"/>
              <a:gd name="connsiteY1" fmla="*/ 2022475 h 4937125"/>
              <a:gd name="connsiteX2" fmla="*/ 4044950 w 4044950"/>
              <a:gd name="connsiteY2" fmla="*/ 2914650 h 4937125"/>
              <a:gd name="connsiteX3" fmla="*/ 2022475 w 4044950"/>
              <a:gd name="connsiteY3" fmla="*/ 4937125 h 4937125"/>
              <a:gd name="connsiteX4" fmla="*/ 0 w 4044950"/>
              <a:gd name="connsiteY4" fmla="*/ 2914650 h 4937125"/>
              <a:gd name="connsiteX5" fmla="*/ 0 w 4044950"/>
              <a:gd name="connsiteY5" fmla="*/ 2022475 h 4937125"/>
              <a:gd name="connsiteX6" fmla="*/ 2022475 w 4044950"/>
              <a:gd name="connsiteY6" fmla="*/ 0 h 493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44950" h="4937125">
                <a:moveTo>
                  <a:pt x="2022475" y="0"/>
                </a:moveTo>
                <a:cubicBezTo>
                  <a:pt x="3139457" y="0"/>
                  <a:pt x="4044950" y="905493"/>
                  <a:pt x="4044950" y="2022475"/>
                </a:cubicBezTo>
                <a:lnTo>
                  <a:pt x="4044950" y="2914650"/>
                </a:lnTo>
                <a:cubicBezTo>
                  <a:pt x="4044950" y="4031632"/>
                  <a:pt x="3139457" y="4937125"/>
                  <a:pt x="2022475" y="4937125"/>
                </a:cubicBezTo>
                <a:cubicBezTo>
                  <a:pt x="905493" y="4937125"/>
                  <a:pt x="0" y="4031632"/>
                  <a:pt x="0" y="2914650"/>
                </a:cubicBezTo>
                <a:lnTo>
                  <a:pt x="0" y="2022475"/>
                </a:lnTo>
                <a:cubicBezTo>
                  <a:pt x="0" y="905493"/>
                  <a:pt x="905493" y="0"/>
                  <a:pt x="20224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948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12DC9EC2-736B-36F3-EB1D-B3CDA2AA8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2450" y="960436"/>
            <a:ext cx="2814559" cy="3579815"/>
          </a:xfrm>
          <a:custGeom>
            <a:avLst/>
            <a:gdLst>
              <a:gd name="connsiteX0" fmla="*/ 469103 w 2814559"/>
              <a:gd name="connsiteY0" fmla="*/ 0 h 3579815"/>
              <a:gd name="connsiteX1" fmla="*/ 2345456 w 2814559"/>
              <a:gd name="connsiteY1" fmla="*/ 0 h 3579815"/>
              <a:gd name="connsiteX2" fmla="*/ 2814559 w 2814559"/>
              <a:gd name="connsiteY2" fmla="*/ 469103 h 3579815"/>
              <a:gd name="connsiteX3" fmla="*/ 2814559 w 2814559"/>
              <a:gd name="connsiteY3" fmla="*/ 3110712 h 3579815"/>
              <a:gd name="connsiteX4" fmla="*/ 2345456 w 2814559"/>
              <a:gd name="connsiteY4" fmla="*/ 3579815 h 3579815"/>
              <a:gd name="connsiteX5" fmla="*/ 469103 w 2814559"/>
              <a:gd name="connsiteY5" fmla="*/ 3579815 h 3579815"/>
              <a:gd name="connsiteX6" fmla="*/ 0 w 2814559"/>
              <a:gd name="connsiteY6" fmla="*/ 3110712 h 3579815"/>
              <a:gd name="connsiteX7" fmla="*/ 0 w 2814559"/>
              <a:gd name="connsiteY7" fmla="*/ 469103 h 3579815"/>
              <a:gd name="connsiteX8" fmla="*/ 469103 w 2814559"/>
              <a:gd name="connsiteY8" fmla="*/ 0 h 3579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14559" h="3579815">
                <a:moveTo>
                  <a:pt x="469103" y="0"/>
                </a:moveTo>
                <a:lnTo>
                  <a:pt x="2345456" y="0"/>
                </a:lnTo>
                <a:cubicBezTo>
                  <a:pt x="2604534" y="0"/>
                  <a:pt x="2814559" y="210025"/>
                  <a:pt x="2814559" y="469103"/>
                </a:cubicBezTo>
                <a:lnTo>
                  <a:pt x="2814559" y="3110712"/>
                </a:lnTo>
                <a:cubicBezTo>
                  <a:pt x="2814559" y="3369790"/>
                  <a:pt x="2604534" y="3579815"/>
                  <a:pt x="2345456" y="3579815"/>
                </a:cubicBezTo>
                <a:lnTo>
                  <a:pt x="469103" y="3579815"/>
                </a:lnTo>
                <a:cubicBezTo>
                  <a:pt x="210025" y="3579815"/>
                  <a:pt x="0" y="3369790"/>
                  <a:pt x="0" y="3110712"/>
                </a:cubicBezTo>
                <a:lnTo>
                  <a:pt x="0" y="469103"/>
                </a:lnTo>
                <a:cubicBezTo>
                  <a:pt x="0" y="210025"/>
                  <a:pt x="210025" y="0"/>
                  <a:pt x="4691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55C027D0-6DAF-9F00-37E5-2996C65D146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39241" y="960436"/>
            <a:ext cx="2814559" cy="3579815"/>
          </a:xfrm>
          <a:custGeom>
            <a:avLst/>
            <a:gdLst>
              <a:gd name="connsiteX0" fmla="*/ 469103 w 2814559"/>
              <a:gd name="connsiteY0" fmla="*/ 0 h 3579815"/>
              <a:gd name="connsiteX1" fmla="*/ 2345456 w 2814559"/>
              <a:gd name="connsiteY1" fmla="*/ 0 h 3579815"/>
              <a:gd name="connsiteX2" fmla="*/ 2814559 w 2814559"/>
              <a:gd name="connsiteY2" fmla="*/ 469103 h 3579815"/>
              <a:gd name="connsiteX3" fmla="*/ 2814559 w 2814559"/>
              <a:gd name="connsiteY3" fmla="*/ 3110712 h 3579815"/>
              <a:gd name="connsiteX4" fmla="*/ 2345456 w 2814559"/>
              <a:gd name="connsiteY4" fmla="*/ 3579815 h 3579815"/>
              <a:gd name="connsiteX5" fmla="*/ 469103 w 2814559"/>
              <a:gd name="connsiteY5" fmla="*/ 3579815 h 3579815"/>
              <a:gd name="connsiteX6" fmla="*/ 0 w 2814559"/>
              <a:gd name="connsiteY6" fmla="*/ 3110712 h 3579815"/>
              <a:gd name="connsiteX7" fmla="*/ 0 w 2814559"/>
              <a:gd name="connsiteY7" fmla="*/ 469103 h 3579815"/>
              <a:gd name="connsiteX8" fmla="*/ 469103 w 2814559"/>
              <a:gd name="connsiteY8" fmla="*/ 0 h 3579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14559" h="3579815">
                <a:moveTo>
                  <a:pt x="469103" y="0"/>
                </a:moveTo>
                <a:lnTo>
                  <a:pt x="2345456" y="0"/>
                </a:lnTo>
                <a:cubicBezTo>
                  <a:pt x="2604534" y="0"/>
                  <a:pt x="2814559" y="210025"/>
                  <a:pt x="2814559" y="469103"/>
                </a:cubicBezTo>
                <a:lnTo>
                  <a:pt x="2814559" y="3110712"/>
                </a:lnTo>
                <a:cubicBezTo>
                  <a:pt x="2814559" y="3369790"/>
                  <a:pt x="2604534" y="3579815"/>
                  <a:pt x="2345456" y="3579815"/>
                </a:cubicBezTo>
                <a:lnTo>
                  <a:pt x="469103" y="3579815"/>
                </a:lnTo>
                <a:cubicBezTo>
                  <a:pt x="210025" y="3579815"/>
                  <a:pt x="0" y="3369790"/>
                  <a:pt x="0" y="3110712"/>
                </a:cubicBezTo>
                <a:lnTo>
                  <a:pt x="0" y="469103"/>
                </a:lnTo>
                <a:cubicBezTo>
                  <a:pt x="0" y="210025"/>
                  <a:pt x="210025" y="0"/>
                  <a:pt x="4691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1B85B8-CFDF-A7FD-2805-57A71EAD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886-34DF-472E-8436-C74E40CF7FCE}" type="datetime1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E8F957-73FA-0E1E-4DF3-EF9CFFD4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80D052-015E-6C13-B91D-0DBA7A08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60B96332-EFDB-5EFC-1A10-6E33040A8B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20152" y="960436"/>
            <a:ext cx="2814559" cy="3579815"/>
          </a:xfrm>
          <a:custGeom>
            <a:avLst/>
            <a:gdLst>
              <a:gd name="connsiteX0" fmla="*/ 469103 w 2814559"/>
              <a:gd name="connsiteY0" fmla="*/ 0 h 3579815"/>
              <a:gd name="connsiteX1" fmla="*/ 2345456 w 2814559"/>
              <a:gd name="connsiteY1" fmla="*/ 0 h 3579815"/>
              <a:gd name="connsiteX2" fmla="*/ 2814559 w 2814559"/>
              <a:gd name="connsiteY2" fmla="*/ 469103 h 3579815"/>
              <a:gd name="connsiteX3" fmla="*/ 2814559 w 2814559"/>
              <a:gd name="connsiteY3" fmla="*/ 3110712 h 3579815"/>
              <a:gd name="connsiteX4" fmla="*/ 2345456 w 2814559"/>
              <a:gd name="connsiteY4" fmla="*/ 3579815 h 3579815"/>
              <a:gd name="connsiteX5" fmla="*/ 469103 w 2814559"/>
              <a:gd name="connsiteY5" fmla="*/ 3579815 h 3579815"/>
              <a:gd name="connsiteX6" fmla="*/ 0 w 2814559"/>
              <a:gd name="connsiteY6" fmla="*/ 3110712 h 3579815"/>
              <a:gd name="connsiteX7" fmla="*/ 0 w 2814559"/>
              <a:gd name="connsiteY7" fmla="*/ 469103 h 3579815"/>
              <a:gd name="connsiteX8" fmla="*/ 469103 w 2814559"/>
              <a:gd name="connsiteY8" fmla="*/ 0 h 3579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14559" h="3579815">
                <a:moveTo>
                  <a:pt x="469103" y="0"/>
                </a:moveTo>
                <a:lnTo>
                  <a:pt x="2345456" y="0"/>
                </a:lnTo>
                <a:cubicBezTo>
                  <a:pt x="2604534" y="0"/>
                  <a:pt x="2814559" y="210025"/>
                  <a:pt x="2814559" y="469103"/>
                </a:cubicBezTo>
                <a:lnTo>
                  <a:pt x="2814559" y="3110712"/>
                </a:lnTo>
                <a:cubicBezTo>
                  <a:pt x="2814559" y="3369790"/>
                  <a:pt x="2604534" y="3579815"/>
                  <a:pt x="2345456" y="3579815"/>
                </a:cubicBezTo>
                <a:lnTo>
                  <a:pt x="469103" y="3579815"/>
                </a:lnTo>
                <a:cubicBezTo>
                  <a:pt x="210025" y="3579815"/>
                  <a:pt x="0" y="3369790"/>
                  <a:pt x="0" y="3110712"/>
                </a:cubicBezTo>
                <a:lnTo>
                  <a:pt x="0" y="469103"/>
                </a:lnTo>
                <a:cubicBezTo>
                  <a:pt x="0" y="210025"/>
                  <a:pt x="210025" y="0"/>
                  <a:pt x="4691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53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1B85B8-CFDF-A7FD-2805-57A71EAD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886-34DF-472E-8436-C74E40CF7FCE}" type="datetime1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E8F957-73FA-0E1E-4DF3-EF9CFFD4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80D052-015E-6C13-B91D-0DBA7A08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그림 개체 틀 13">
            <a:extLst>
              <a:ext uri="{FF2B5EF4-FFF2-40B4-BE49-F238E27FC236}">
                <a16:creationId xmlns:a16="http://schemas.microsoft.com/office/drawing/2014/main" id="{2DD5DE03-AC25-D86E-7B6F-5C90A23D08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9939" y="212890"/>
            <a:ext cx="6264511" cy="6645110"/>
          </a:xfrm>
          <a:custGeom>
            <a:avLst/>
            <a:gdLst>
              <a:gd name="connsiteX0" fmla="*/ 4495323 w 6264511"/>
              <a:gd name="connsiteY0" fmla="*/ 237 h 6645110"/>
              <a:gd name="connsiteX1" fmla="*/ 5328529 w 6264511"/>
              <a:gd name="connsiteY1" fmla="*/ 198097 h 6645110"/>
              <a:gd name="connsiteX2" fmla="*/ 6066415 w 6264511"/>
              <a:gd name="connsiteY2" fmla="*/ 2548048 h 6645110"/>
              <a:gd name="connsiteX3" fmla="*/ 3927465 w 6264511"/>
              <a:gd name="connsiteY3" fmla="*/ 6645110 h 6645110"/>
              <a:gd name="connsiteX4" fmla="*/ 0 w 6264511"/>
              <a:gd name="connsiteY4" fmla="*/ 6645110 h 6645110"/>
              <a:gd name="connsiteX5" fmla="*/ 14524 w 6264511"/>
              <a:gd name="connsiteY5" fmla="*/ 6613498 h 6645110"/>
              <a:gd name="connsiteX6" fmla="*/ 2978579 w 6264511"/>
              <a:gd name="connsiteY6" fmla="*/ 935984 h 6645110"/>
              <a:gd name="connsiteX7" fmla="*/ 4495323 w 6264511"/>
              <a:gd name="connsiteY7" fmla="*/ 237 h 6645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64511" h="6645110">
                <a:moveTo>
                  <a:pt x="4495323" y="237"/>
                </a:moveTo>
                <a:cubicBezTo>
                  <a:pt x="4776127" y="-4393"/>
                  <a:pt x="5062067" y="58985"/>
                  <a:pt x="5328529" y="198097"/>
                </a:cubicBezTo>
                <a:cubicBezTo>
                  <a:pt x="6181211" y="643256"/>
                  <a:pt x="6511575" y="1695365"/>
                  <a:pt x="6066415" y="2548048"/>
                </a:cubicBezTo>
                <a:lnTo>
                  <a:pt x="3927465" y="6645110"/>
                </a:lnTo>
                <a:lnTo>
                  <a:pt x="0" y="6645110"/>
                </a:lnTo>
                <a:lnTo>
                  <a:pt x="14524" y="6613498"/>
                </a:lnTo>
                <a:lnTo>
                  <a:pt x="2978579" y="935984"/>
                </a:lnTo>
                <a:cubicBezTo>
                  <a:pt x="3284626" y="349764"/>
                  <a:pt x="3877551" y="10423"/>
                  <a:pt x="4495323" y="237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062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1B85B8-CFDF-A7FD-2805-57A71EAD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886-34DF-472E-8436-C74E40CF7FCE}" type="datetime1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E8F957-73FA-0E1E-4DF3-EF9CFFD4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80D052-015E-6C13-B91D-0DBA7A08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075B30E4-F61D-C50C-67C5-98C4BC6B1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800101"/>
            <a:ext cx="4559300" cy="5257798"/>
          </a:xfrm>
          <a:prstGeom prst="roundRect">
            <a:avLst>
              <a:gd name="adj" fmla="val 38022"/>
            </a:avLst>
          </a:pr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005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1B85B8-CFDF-A7FD-2805-57A71EAD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886-34DF-472E-8436-C74E40CF7FCE}" type="datetime1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E8F957-73FA-0E1E-4DF3-EF9CFFD4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80D052-015E-6C13-B91D-0DBA7A08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그림 개체 틀 15">
            <a:extLst>
              <a:ext uri="{FF2B5EF4-FFF2-40B4-BE49-F238E27FC236}">
                <a16:creationId xmlns:a16="http://schemas.microsoft.com/office/drawing/2014/main" id="{314B2CD1-3576-4B11-BA60-17F11C1F20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92287" y="857249"/>
            <a:ext cx="2600326" cy="5376863"/>
          </a:xfrm>
          <a:custGeom>
            <a:avLst/>
            <a:gdLst>
              <a:gd name="connsiteX0" fmla="*/ 285750 w 2600326"/>
              <a:gd name="connsiteY0" fmla="*/ 0 h 5376863"/>
              <a:gd name="connsiteX1" fmla="*/ 624079 w 2600326"/>
              <a:gd name="connsiteY1" fmla="*/ 0 h 5376863"/>
              <a:gd name="connsiteX2" fmla="*/ 653517 w 2600326"/>
              <a:gd name="connsiteY2" fmla="*/ 7230 h 5376863"/>
              <a:gd name="connsiteX3" fmla="*/ 714374 w 2600326"/>
              <a:gd name="connsiteY3" fmla="*/ 73228 h 5376863"/>
              <a:gd name="connsiteX4" fmla="*/ 790726 w 2600326"/>
              <a:gd name="connsiteY4" fmla="*/ 149580 h 5376863"/>
              <a:gd name="connsiteX5" fmla="*/ 1300163 w 2600326"/>
              <a:gd name="connsiteY5" fmla="*/ 149580 h 5376863"/>
              <a:gd name="connsiteX6" fmla="*/ 1809600 w 2600326"/>
              <a:gd name="connsiteY6" fmla="*/ 149580 h 5376863"/>
              <a:gd name="connsiteX7" fmla="*/ 1885952 w 2600326"/>
              <a:gd name="connsiteY7" fmla="*/ 73228 h 5376863"/>
              <a:gd name="connsiteX8" fmla="*/ 1946809 w 2600326"/>
              <a:gd name="connsiteY8" fmla="*/ 7230 h 5376863"/>
              <a:gd name="connsiteX9" fmla="*/ 1976247 w 2600326"/>
              <a:gd name="connsiteY9" fmla="*/ 0 h 5376863"/>
              <a:gd name="connsiteX10" fmla="*/ 2314576 w 2600326"/>
              <a:gd name="connsiteY10" fmla="*/ 0 h 5376863"/>
              <a:gd name="connsiteX11" fmla="*/ 2600326 w 2600326"/>
              <a:gd name="connsiteY11" fmla="*/ 285750 h 5376863"/>
              <a:gd name="connsiteX12" fmla="*/ 2600326 w 2600326"/>
              <a:gd name="connsiteY12" fmla="*/ 5091113 h 5376863"/>
              <a:gd name="connsiteX13" fmla="*/ 2314576 w 2600326"/>
              <a:gd name="connsiteY13" fmla="*/ 5376863 h 5376863"/>
              <a:gd name="connsiteX14" fmla="*/ 285750 w 2600326"/>
              <a:gd name="connsiteY14" fmla="*/ 5376863 h 5376863"/>
              <a:gd name="connsiteX15" fmla="*/ 0 w 2600326"/>
              <a:gd name="connsiteY15" fmla="*/ 5091113 h 5376863"/>
              <a:gd name="connsiteX16" fmla="*/ 0 w 2600326"/>
              <a:gd name="connsiteY16" fmla="*/ 285750 h 5376863"/>
              <a:gd name="connsiteX17" fmla="*/ 285750 w 2600326"/>
              <a:gd name="connsiteY17" fmla="*/ 0 h 537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600326" h="5376863">
                <a:moveTo>
                  <a:pt x="285750" y="0"/>
                </a:moveTo>
                <a:lnTo>
                  <a:pt x="624079" y="0"/>
                </a:lnTo>
                <a:lnTo>
                  <a:pt x="653517" y="7230"/>
                </a:lnTo>
                <a:cubicBezTo>
                  <a:pt x="695895" y="21633"/>
                  <a:pt x="700483" y="45570"/>
                  <a:pt x="714374" y="73228"/>
                </a:cubicBezTo>
                <a:cubicBezTo>
                  <a:pt x="733300" y="110911"/>
                  <a:pt x="748558" y="149580"/>
                  <a:pt x="790726" y="149580"/>
                </a:cubicBezTo>
                <a:lnTo>
                  <a:pt x="1300163" y="149580"/>
                </a:lnTo>
                <a:lnTo>
                  <a:pt x="1809600" y="149580"/>
                </a:lnTo>
                <a:cubicBezTo>
                  <a:pt x="1851768" y="149580"/>
                  <a:pt x="1867026" y="110911"/>
                  <a:pt x="1885952" y="73228"/>
                </a:cubicBezTo>
                <a:cubicBezTo>
                  <a:pt x="1899843" y="45570"/>
                  <a:pt x="1904432" y="21633"/>
                  <a:pt x="1946809" y="7230"/>
                </a:cubicBezTo>
                <a:lnTo>
                  <a:pt x="1976247" y="0"/>
                </a:lnTo>
                <a:lnTo>
                  <a:pt x="2314576" y="0"/>
                </a:lnTo>
                <a:cubicBezTo>
                  <a:pt x="2472391" y="0"/>
                  <a:pt x="2600326" y="127935"/>
                  <a:pt x="2600326" y="285750"/>
                </a:cubicBezTo>
                <a:lnTo>
                  <a:pt x="2600326" y="5091113"/>
                </a:lnTo>
                <a:cubicBezTo>
                  <a:pt x="2600326" y="5248928"/>
                  <a:pt x="2472391" y="5376863"/>
                  <a:pt x="2314576" y="5376863"/>
                </a:cubicBezTo>
                <a:lnTo>
                  <a:pt x="285750" y="5376863"/>
                </a:lnTo>
                <a:cubicBezTo>
                  <a:pt x="127935" y="5376863"/>
                  <a:pt x="0" y="5248928"/>
                  <a:pt x="0" y="5091113"/>
                </a:cubicBezTo>
                <a:lnTo>
                  <a:pt x="0" y="285750"/>
                </a:lnTo>
                <a:cubicBezTo>
                  <a:pt x="0" y="127935"/>
                  <a:pt x="127935" y="0"/>
                  <a:pt x="28575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848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1B85B8-CFDF-A7FD-2805-57A71EAD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886-34DF-472E-8436-C74E40CF7FCE}" type="datetime1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E8F957-73FA-0E1E-4DF3-EF9CFFD4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80D052-015E-6C13-B91D-0DBA7A08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A4ECB843-1695-5982-5566-43153EB062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4778" y="2316382"/>
            <a:ext cx="1360268" cy="1360268"/>
          </a:xfrm>
          <a:prstGeom prst="ellipse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12" name="그림 개체 틀 10">
            <a:extLst>
              <a:ext uri="{FF2B5EF4-FFF2-40B4-BE49-F238E27FC236}">
                <a16:creationId xmlns:a16="http://schemas.microsoft.com/office/drawing/2014/main" id="{AC2401C3-77CA-564D-C941-D8EDAD334F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39816" y="2316382"/>
            <a:ext cx="1360268" cy="1360268"/>
          </a:xfrm>
          <a:prstGeom prst="ellipse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13" name="그림 개체 틀 10">
            <a:extLst>
              <a:ext uri="{FF2B5EF4-FFF2-40B4-BE49-F238E27FC236}">
                <a16:creationId xmlns:a16="http://schemas.microsoft.com/office/drawing/2014/main" id="{6486036B-6FFA-170E-CFCB-6E7A0AAD45B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4778" y="4576982"/>
            <a:ext cx="1360268" cy="1360268"/>
          </a:xfrm>
          <a:prstGeom prst="ellipse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14" name="그림 개체 틀 10">
            <a:extLst>
              <a:ext uri="{FF2B5EF4-FFF2-40B4-BE49-F238E27FC236}">
                <a16:creationId xmlns:a16="http://schemas.microsoft.com/office/drawing/2014/main" id="{17E0B00C-A320-3FE7-8CDD-37DBBFB49FC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39816" y="4576982"/>
            <a:ext cx="1360268" cy="1360268"/>
          </a:xfrm>
          <a:prstGeom prst="ellipse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91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91F2CA-689F-40DC-9D15-C253073AF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CAB2A4-F2D5-42D4-AD86-ED660CFDD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8516E3-4303-42BA-B9D6-3C2E41D771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88F9B-23E7-4089-9870-BCE90AC9BA02}" type="datetime1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BE47DA-9617-4BF1-80F4-7E0176FAE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7BBEA2-71B7-41FB-8C1B-937EF6E1B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58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119B0D0-41C7-4D6B-49F5-92C151E42234}"/>
              </a:ext>
            </a:extLst>
          </p:cNvPr>
          <p:cNvSpPr txBox="1"/>
          <p:nvPr/>
        </p:nvSpPr>
        <p:spPr>
          <a:xfrm>
            <a:off x="2771776" y="1916328"/>
            <a:ext cx="6915150" cy="181588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sz="8000" b="1" dirty="0" smtClean="0">
                <a:solidFill>
                  <a:srgbClr val="6E5930"/>
                </a:solidFill>
                <a:effectLst>
                  <a:outerShdw blurRad="228600" dist="190500" dir="5400000" algn="t" rotWithShape="0">
                    <a:prstClr val="black">
                      <a:alpha val="20000"/>
                    </a:prstClr>
                  </a:outerShdw>
                </a:effectLst>
              </a:rPr>
              <a:t>KCA </a:t>
            </a:r>
            <a:r>
              <a:rPr lang="ko-KR" altLang="en-US" sz="8000" b="1" dirty="0" err="1" smtClean="0">
                <a:solidFill>
                  <a:srgbClr val="6E5930"/>
                </a:solidFill>
                <a:effectLst>
                  <a:outerShdw blurRad="228600" dist="190500" dir="5400000" algn="t" rotWithShape="0">
                    <a:prstClr val="black">
                      <a:alpha val="20000"/>
                    </a:prstClr>
                  </a:outerShdw>
                </a:effectLst>
              </a:rPr>
              <a:t>조직설계</a:t>
            </a:r>
            <a:endParaRPr lang="en-US" altLang="ko-KR" sz="8000" b="1" dirty="0" smtClean="0">
              <a:solidFill>
                <a:srgbClr val="6E5930"/>
              </a:solidFill>
              <a:effectLst>
                <a:outerShdw blurRad="228600" dist="190500" dir="5400000" algn="t" rotWithShape="0">
                  <a:prstClr val="black">
                    <a:alpha val="20000"/>
                  </a:prstClr>
                </a:outerShdw>
              </a:effectLst>
            </a:endParaRPr>
          </a:p>
          <a:p>
            <a:r>
              <a:rPr lang="ko-KR" altLang="en-US" sz="3200" b="1" dirty="0" err="1" smtClean="0">
                <a:solidFill>
                  <a:srgbClr val="6E5930"/>
                </a:solidFill>
                <a:effectLst>
                  <a:outerShdw blurRad="228600" dist="190500" dir="5400000" algn="t" rotWithShape="0">
                    <a:prstClr val="black">
                      <a:alpha val="20000"/>
                    </a:prstClr>
                  </a:outerShdw>
                </a:effectLst>
              </a:rPr>
              <a:t>조직설계</a:t>
            </a:r>
            <a:r>
              <a:rPr lang="ko-KR" altLang="en-US" sz="3200" b="1" dirty="0" smtClean="0">
                <a:solidFill>
                  <a:srgbClr val="6E5930"/>
                </a:solidFill>
                <a:effectLst>
                  <a:outerShdw blurRad="228600" dist="190500" dir="5400000" algn="t" rotWithShape="0">
                    <a:prstClr val="black">
                      <a:alpha val="20000"/>
                    </a:prstClr>
                  </a:outerShdw>
                </a:effectLst>
              </a:rPr>
              <a:t> 영향요인 기반 구조 재설계</a:t>
            </a:r>
            <a:endParaRPr lang="ko-KR" altLang="en-US" sz="3200" b="1" dirty="0">
              <a:solidFill>
                <a:srgbClr val="6E5930"/>
              </a:solidFill>
              <a:effectLst>
                <a:outerShdw blurRad="228600" dist="190500" dir="5400000" algn="t" rotWithShape="0">
                  <a:prstClr val="black">
                    <a:alpha val="20000"/>
                  </a:prstClr>
                </a:outerShdw>
              </a:effectLst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72" y="494665"/>
            <a:ext cx="2839881" cy="61234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1963FC1-DF4B-D24C-6995-65FC03AE6241}"/>
              </a:ext>
            </a:extLst>
          </p:cNvPr>
          <p:cNvSpPr txBox="1"/>
          <p:nvPr/>
        </p:nvSpPr>
        <p:spPr>
          <a:xfrm>
            <a:off x="4925874" y="4845970"/>
            <a:ext cx="26069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 smtClean="0">
                <a:solidFill>
                  <a:srgbClr val="6E5930"/>
                </a:solidFill>
              </a:rPr>
              <a:t>2026. 1. 24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solidFill>
                  <a:srgbClr val="6E5930"/>
                </a:solidFill>
              </a:rPr>
              <a:t>발표자</a:t>
            </a:r>
            <a:r>
              <a:rPr lang="en-US" altLang="ko-KR" sz="2000" dirty="0" smtClean="0">
                <a:solidFill>
                  <a:srgbClr val="6E5930"/>
                </a:solidFill>
              </a:rPr>
              <a:t>: </a:t>
            </a:r>
            <a:r>
              <a:rPr lang="ko-KR" altLang="en-US" sz="2000" dirty="0" smtClean="0">
                <a:solidFill>
                  <a:srgbClr val="6E5930"/>
                </a:solidFill>
              </a:rPr>
              <a:t>심 영 재</a:t>
            </a:r>
            <a:endParaRPr lang="ko-KR" altLang="en-US" sz="2000" dirty="0">
              <a:solidFill>
                <a:srgbClr val="6E5930"/>
              </a:solidFill>
            </a:endParaRPr>
          </a:p>
        </p:txBody>
      </p:sp>
      <p:sp>
        <p:nvSpPr>
          <p:cNvPr id="39" name="자유형: 도형 6">
            <a:extLst>
              <a:ext uri="{FF2B5EF4-FFF2-40B4-BE49-F238E27FC236}">
                <a16:creationId xmlns:a16="http://schemas.microsoft.com/office/drawing/2014/main" id="{614FDBB1-AFF9-3776-0A68-0DA8D808928E}"/>
              </a:ext>
            </a:extLst>
          </p:cNvPr>
          <p:cNvSpPr/>
          <p:nvPr/>
        </p:nvSpPr>
        <p:spPr bwMode="auto">
          <a:xfrm>
            <a:off x="10064752" y="1427550"/>
            <a:ext cx="2127249" cy="5430451"/>
          </a:xfrm>
          <a:custGeom>
            <a:avLst/>
            <a:gdLst>
              <a:gd name="connsiteX0" fmla="*/ 2127249 w 2127249"/>
              <a:gd name="connsiteY0" fmla="*/ 0 h 5430451"/>
              <a:gd name="connsiteX1" fmla="*/ 2127249 w 2127249"/>
              <a:gd name="connsiteY1" fmla="*/ 5430451 h 5430451"/>
              <a:gd name="connsiteX2" fmla="*/ 270650 w 2127249"/>
              <a:gd name="connsiteY2" fmla="*/ 5430451 h 5430451"/>
              <a:gd name="connsiteX3" fmla="*/ 210421 w 2127249"/>
              <a:gd name="connsiteY3" fmla="*/ 5330817 h 5430451"/>
              <a:gd name="connsiteX4" fmla="*/ 198097 w 2127249"/>
              <a:gd name="connsiteY4" fmla="*/ 3695204 h 5430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7249" h="5430451">
                <a:moveTo>
                  <a:pt x="2127249" y="0"/>
                </a:moveTo>
                <a:lnTo>
                  <a:pt x="2127249" y="5430451"/>
                </a:lnTo>
                <a:lnTo>
                  <a:pt x="270650" y="5430451"/>
                </a:lnTo>
                <a:lnTo>
                  <a:pt x="210421" y="5330817"/>
                </a:lnTo>
                <a:cubicBezTo>
                  <a:pt x="-55414" y="4838958"/>
                  <a:pt x="-80128" y="4228130"/>
                  <a:pt x="198097" y="369520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83000">
                <a:schemeClr val="accent2"/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8188989F-5661-74BA-5A97-762CC5C7A020}"/>
              </a:ext>
            </a:extLst>
          </p:cNvPr>
          <p:cNvGrpSpPr/>
          <p:nvPr/>
        </p:nvGrpSpPr>
        <p:grpSpPr>
          <a:xfrm>
            <a:off x="0" y="4541555"/>
            <a:ext cx="1540412" cy="2316446"/>
            <a:chOff x="0" y="4541555"/>
            <a:chExt cx="1540412" cy="2316446"/>
          </a:xfrm>
        </p:grpSpPr>
        <p:sp>
          <p:nvSpPr>
            <p:cNvPr id="46" name="자유형: 도형 63">
              <a:extLst>
                <a:ext uri="{FF2B5EF4-FFF2-40B4-BE49-F238E27FC236}">
                  <a16:creationId xmlns:a16="http://schemas.microsoft.com/office/drawing/2014/main" id="{B6EA3E6A-164E-9622-3329-49B219ED160C}"/>
                </a:ext>
              </a:extLst>
            </p:cNvPr>
            <p:cNvSpPr/>
            <p:nvPr/>
          </p:nvSpPr>
          <p:spPr bwMode="auto">
            <a:xfrm>
              <a:off x="0" y="5557608"/>
              <a:ext cx="1539380" cy="608830"/>
            </a:xfrm>
            <a:custGeom>
              <a:avLst/>
              <a:gdLst>
                <a:gd name="connsiteX0" fmla="*/ 0 w 1539380"/>
                <a:gd name="connsiteY0" fmla="*/ 0 h 608830"/>
                <a:gd name="connsiteX1" fmla="*/ 1234965 w 1539380"/>
                <a:gd name="connsiteY1" fmla="*/ 0 h 608830"/>
                <a:gd name="connsiteX2" fmla="*/ 1539380 w 1539380"/>
                <a:gd name="connsiteY2" fmla="*/ 304415 h 608830"/>
                <a:gd name="connsiteX3" fmla="*/ 1234965 w 1539380"/>
                <a:gd name="connsiteY3" fmla="*/ 608830 h 608830"/>
                <a:gd name="connsiteX4" fmla="*/ 0 w 1539380"/>
                <a:gd name="connsiteY4" fmla="*/ 608830 h 60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9380" h="608830">
                  <a:moveTo>
                    <a:pt x="0" y="0"/>
                  </a:moveTo>
                  <a:lnTo>
                    <a:pt x="1234965" y="0"/>
                  </a:lnTo>
                  <a:cubicBezTo>
                    <a:pt x="1403089" y="0"/>
                    <a:pt x="1539380" y="136291"/>
                    <a:pt x="1539380" y="304415"/>
                  </a:cubicBezTo>
                  <a:cubicBezTo>
                    <a:pt x="1539380" y="472539"/>
                    <a:pt x="1403089" y="608830"/>
                    <a:pt x="1234965" y="608830"/>
                  </a:cubicBezTo>
                  <a:lnTo>
                    <a:pt x="0" y="60883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08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자유형: 도형 58">
              <a:extLst>
                <a:ext uri="{FF2B5EF4-FFF2-40B4-BE49-F238E27FC236}">
                  <a16:creationId xmlns:a16="http://schemas.microsoft.com/office/drawing/2014/main" id="{77E4275C-A17C-AF97-DDDA-3B2BCC548DD6}"/>
                </a:ext>
              </a:extLst>
            </p:cNvPr>
            <p:cNvSpPr/>
            <p:nvPr/>
          </p:nvSpPr>
          <p:spPr bwMode="auto">
            <a:xfrm>
              <a:off x="0" y="4541555"/>
              <a:ext cx="1539380" cy="608830"/>
            </a:xfrm>
            <a:custGeom>
              <a:avLst/>
              <a:gdLst>
                <a:gd name="connsiteX0" fmla="*/ 0 w 1539380"/>
                <a:gd name="connsiteY0" fmla="*/ 0 h 608830"/>
                <a:gd name="connsiteX1" fmla="*/ 1234965 w 1539380"/>
                <a:gd name="connsiteY1" fmla="*/ 0 h 608830"/>
                <a:gd name="connsiteX2" fmla="*/ 1539380 w 1539380"/>
                <a:gd name="connsiteY2" fmla="*/ 304415 h 608830"/>
                <a:gd name="connsiteX3" fmla="*/ 1234965 w 1539380"/>
                <a:gd name="connsiteY3" fmla="*/ 608830 h 608830"/>
                <a:gd name="connsiteX4" fmla="*/ 0 w 1539380"/>
                <a:gd name="connsiteY4" fmla="*/ 608830 h 60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9380" h="608830">
                  <a:moveTo>
                    <a:pt x="0" y="0"/>
                  </a:moveTo>
                  <a:lnTo>
                    <a:pt x="1234965" y="0"/>
                  </a:lnTo>
                  <a:cubicBezTo>
                    <a:pt x="1403089" y="0"/>
                    <a:pt x="1539380" y="136291"/>
                    <a:pt x="1539380" y="304415"/>
                  </a:cubicBezTo>
                  <a:cubicBezTo>
                    <a:pt x="1539380" y="472539"/>
                    <a:pt x="1403089" y="608830"/>
                    <a:pt x="1234965" y="608830"/>
                  </a:cubicBezTo>
                  <a:lnTo>
                    <a:pt x="0" y="60883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83000">
                  <a:schemeClr val="accent2"/>
                </a:gs>
              </a:gsLst>
              <a:lin ang="108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" name="자유형: 도형 66">
              <a:extLst>
                <a:ext uri="{FF2B5EF4-FFF2-40B4-BE49-F238E27FC236}">
                  <a16:creationId xmlns:a16="http://schemas.microsoft.com/office/drawing/2014/main" id="{3E9D8EDE-FCE8-9D56-0787-F66CE1C48E8E}"/>
                </a:ext>
              </a:extLst>
            </p:cNvPr>
            <p:cNvSpPr/>
            <p:nvPr/>
          </p:nvSpPr>
          <p:spPr bwMode="auto">
            <a:xfrm>
              <a:off x="1" y="6576792"/>
              <a:ext cx="1537041" cy="281209"/>
            </a:xfrm>
            <a:custGeom>
              <a:avLst/>
              <a:gdLst>
                <a:gd name="connsiteX0" fmla="*/ 0 w 1537041"/>
                <a:gd name="connsiteY0" fmla="*/ 0 h 281209"/>
                <a:gd name="connsiteX1" fmla="*/ 1234965 w 1537041"/>
                <a:gd name="connsiteY1" fmla="*/ 0 h 281209"/>
                <a:gd name="connsiteX2" fmla="*/ 1533195 w 1537041"/>
                <a:gd name="connsiteY2" fmla="*/ 243065 h 281209"/>
                <a:gd name="connsiteX3" fmla="*/ 1537041 w 1537041"/>
                <a:gd name="connsiteY3" fmla="*/ 281209 h 281209"/>
                <a:gd name="connsiteX4" fmla="*/ 0 w 1537041"/>
                <a:gd name="connsiteY4" fmla="*/ 281209 h 281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7041" h="281209">
                  <a:moveTo>
                    <a:pt x="0" y="0"/>
                  </a:moveTo>
                  <a:lnTo>
                    <a:pt x="1234965" y="0"/>
                  </a:lnTo>
                  <a:cubicBezTo>
                    <a:pt x="1382074" y="0"/>
                    <a:pt x="1504810" y="104348"/>
                    <a:pt x="1533195" y="243065"/>
                  </a:cubicBezTo>
                  <a:lnTo>
                    <a:pt x="1537041" y="281209"/>
                  </a:lnTo>
                  <a:lnTo>
                    <a:pt x="0" y="28120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83000">
                  <a:schemeClr val="accent4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자유형: 도형 61">
              <a:extLst>
                <a:ext uri="{FF2B5EF4-FFF2-40B4-BE49-F238E27FC236}">
                  <a16:creationId xmlns:a16="http://schemas.microsoft.com/office/drawing/2014/main" id="{4004201E-810E-FA50-99FA-2DCB318F0C24}"/>
                </a:ext>
              </a:extLst>
            </p:cNvPr>
            <p:cNvSpPr/>
            <p:nvPr/>
          </p:nvSpPr>
          <p:spPr bwMode="auto">
            <a:xfrm>
              <a:off x="0" y="4879091"/>
              <a:ext cx="1540412" cy="1288322"/>
            </a:xfrm>
            <a:custGeom>
              <a:avLst/>
              <a:gdLst>
                <a:gd name="connsiteX0" fmla="*/ 0 w 1540412"/>
                <a:gd name="connsiteY0" fmla="*/ 0 h 1288322"/>
                <a:gd name="connsiteX1" fmla="*/ 1376076 w 1540412"/>
                <a:gd name="connsiteY1" fmla="*/ 713605 h 1288322"/>
                <a:gd name="connsiteX2" fmla="*/ 1539486 w 1540412"/>
                <a:gd name="connsiteY2" fmla="*/ 1007782 h 1288322"/>
                <a:gd name="connsiteX3" fmla="*/ 1506174 w 1540412"/>
                <a:gd name="connsiteY3" fmla="*/ 1123984 h 1288322"/>
                <a:gd name="connsiteX4" fmla="*/ 1095795 w 1540412"/>
                <a:gd name="connsiteY4" fmla="*/ 1254083 h 1288322"/>
                <a:gd name="connsiteX5" fmla="*/ 0 w 1540412"/>
                <a:gd name="connsiteY5" fmla="*/ 685826 h 1288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0412" h="1288322">
                  <a:moveTo>
                    <a:pt x="0" y="0"/>
                  </a:moveTo>
                  <a:lnTo>
                    <a:pt x="1376076" y="713605"/>
                  </a:lnTo>
                  <a:cubicBezTo>
                    <a:pt x="1488012" y="771653"/>
                    <a:pt x="1548761" y="889515"/>
                    <a:pt x="1539486" y="1007782"/>
                  </a:cubicBezTo>
                  <a:cubicBezTo>
                    <a:pt x="1536395" y="1047204"/>
                    <a:pt x="1525523" y="1086672"/>
                    <a:pt x="1506174" y="1123984"/>
                  </a:cubicBezTo>
                  <a:cubicBezTo>
                    <a:pt x="1428777" y="1273233"/>
                    <a:pt x="1245044" y="1331481"/>
                    <a:pt x="1095795" y="1254083"/>
                  </a:cubicBezTo>
                  <a:lnTo>
                    <a:pt x="0" y="6858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ko-KR" altLang="en-US"/>
            </a:p>
          </p:txBody>
        </p:sp>
        <p:sp>
          <p:nvSpPr>
            <p:cNvPr id="50" name="자유형: 도형 65">
              <a:extLst>
                <a:ext uri="{FF2B5EF4-FFF2-40B4-BE49-F238E27FC236}">
                  <a16:creationId xmlns:a16="http://schemas.microsoft.com/office/drawing/2014/main" id="{1FF4C088-4D23-2F20-B877-47B0CC207636}"/>
                </a:ext>
              </a:extLst>
            </p:cNvPr>
            <p:cNvSpPr/>
            <p:nvPr/>
          </p:nvSpPr>
          <p:spPr bwMode="auto">
            <a:xfrm>
              <a:off x="369" y="5896700"/>
              <a:ext cx="1536014" cy="961301"/>
            </a:xfrm>
            <a:custGeom>
              <a:avLst/>
              <a:gdLst>
                <a:gd name="connsiteX0" fmla="*/ 0 w 1536014"/>
                <a:gd name="connsiteY0" fmla="*/ 0 h 961301"/>
                <a:gd name="connsiteX1" fmla="*/ 1375707 w 1536014"/>
                <a:gd name="connsiteY1" fmla="*/ 713414 h 961301"/>
                <a:gd name="connsiteX2" fmla="*/ 1533238 w 1536014"/>
                <a:gd name="connsiteY2" fmla="*/ 919895 h 961301"/>
                <a:gd name="connsiteX3" fmla="*/ 1536014 w 1536014"/>
                <a:gd name="connsiteY3" fmla="*/ 961301 h 961301"/>
                <a:gd name="connsiteX4" fmla="*/ 531210 w 1536014"/>
                <a:gd name="connsiteY4" fmla="*/ 961301 h 961301"/>
                <a:gd name="connsiteX5" fmla="*/ 0 w 1536014"/>
                <a:gd name="connsiteY5" fmla="*/ 685826 h 96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6014" h="961301">
                  <a:moveTo>
                    <a:pt x="0" y="0"/>
                  </a:moveTo>
                  <a:lnTo>
                    <a:pt x="1375707" y="713414"/>
                  </a:lnTo>
                  <a:cubicBezTo>
                    <a:pt x="1459659" y="756950"/>
                    <a:pt x="1514818" y="834131"/>
                    <a:pt x="1533238" y="919895"/>
                  </a:cubicBezTo>
                  <a:lnTo>
                    <a:pt x="1536014" y="961301"/>
                  </a:lnTo>
                  <a:lnTo>
                    <a:pt x="531210" y="961301"/>
                  </a:lnTo>
                  <a:lnTo>
                    <a:pt x="0" y="6858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928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-1" y="0"/>
            <a:ext cx="12192001" cy="971550"/>
            <a:chOff x="1173938" y="605136"/>
            <a:chExt cx="10651388" cy="646331"/>
          </a:xfrm>
        </p:grpSpPr>
        <p:sp>
          <p:nvSpPr>
            <p:cNvPr id="19" name="사각형: 둥근 모서리 1">
              <a:extLst>
                <a:ext uri="{FF2B5EF4-FFF2-40B4-BE49-F238E27FC236}">
                  <a16:creationId xmlns:a16="http://schemas.microsoft.com/office/drawing/2014/main" id="{1CFD7E2A-EB9D-AE56-E575-5F614B441EF2}"/>
                </a:ext>
              </a:extLst>
            </p:cNvPr>
            <p:cNvSpPr/>
            <p:nvPr/>
          </p:nvSpPr>
          <p:spPr bwMode="auto">
            <a:xfrm>
              <a:off x="1173938" y="605136"/>
              <a:ext cx="10651388" cy="64633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l"/>
              <a:r>
                <a:rPr lang="ko-KR" altLang="en-US" sz="3200" b="1" dirty="0" smtClean="0"/>
                <a:t>   </a:t>
              </a:r>
              <a:r>
                <a:rPr lang="en-US" altLang="ko-KR" sz="3200" b="1" dirty="0" smtClean="0"/>
                <a:t>01. </a:t>
              </a:r>
              <a:r>
                <a:rPr lang="ko-KR" altLang="en-US" sz="3200" b="1" dirty="0" smtClean="0"/>
                <a:t>일반 현황</a:t>
              </a:r>
              <a:endParaRPr lang="ko-KR" altLang="en-US" sz="3200" b="1" dirty="0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ACC15DB2-67EC-B0CE-190E-8AC80F5458D8}"/>
                </a:ext>
              </a:extLst>
            </p:cNvPr>
            <p:cNvSpPr/>
            <p:nvPr/>
          </p:nvSpPr>
          <p:spPr bwMode="auto">
            <a:xfrm>
              <a:off x="1281081" y="660442"/>
              <a:ext cx="126895" cy="53557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pic>
        <p:nvPicPr>
          <p:cNvPr id="31" name="그림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890" y="3447824"/>
            <a:ext cx="3146599" cy="1989465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530726"/>
              </p:ext>
            </p:extLst>
          </p:nvPr>
        </p:nvGraphicFramePr>
        <p:xfrm>
          <a:off x="1666006" y="1210234"/>
          <a:ext cx="9250082" cy="1947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533">
                  <a:extLst>
                    <a:ext uri="{9D8B030D-6E8A-4147-A177-3AD203B41FA5}">
                      <a16:colId xmlns:a16="http://schemas.microsoft.com/office/drawing/2014/main" val="526866512"/>
                    </a:ext>
                  </a:extLst>
                </a:gridCol>
                <a:gridCol w="7323549">
                  <a:extLst>
                    <a:ext uri="{9D8B030D-6E8A-4147-A177-3AD203B41FA5}">
                      <a16:colId xmlns:a16="http://schemas.microsoft.com/office/drawing/2014/main" val="1725813736"/>
                    </a:ext>
                  </a:extLst>
                </a:gridCol>
              </a:tblGrid>
              <a:tr h="6091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</a:rPr>
                        <a:t>단  체  명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한국소비자협회</a:t>
                      </a:r>
                      <a:endParaRPr lang="en-US" altLang="ko-KR" sz="1800" b="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algn="l" latinLnBrk="1"/>
                      <a:r>
                        <a:rPr lang="en-US" altLang="ko-KR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소비자단체 서울시 제 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2014-3</a:t>
                      </a:r>
                      <a:r>
                        <a:rPr lang="ko-KR" altLang="en-US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호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)</a:t>
                      </a:r>
                      <a:endParaRPr lang="ko-KR" altLang="en-US" sz="1800" b="0" dirty="0">
                        <a:solidFill>
                          <a:schemeClr val="tx2">
                            <a:lumMod val="7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819888"/>
                  </a:ext>
                </a:extLst>
              </a:tr>
              <a:tr h="435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</a:rPr>
                        <a:t>사업분야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소비자후견인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보상청구지원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,</a:t>
                      </a:r>
                      <a:r>
                        <a:rPr lang="en-US" altLang="ko-KR" sz="1800" b="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800" b="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방송출판뉴스레터</a:t>
                      </a:r>
                      <a:r>
                        <a:rPr lang="en-US" altLang="ko-KR" sz="1800" b="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800" b="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소사정친선교류</a:t>
                      </a:r>
                      <a:endParaRPr lang="ko-KR" altLang="en-US" sz="1800" b="0" dirty="0">
                        <a:solidFill>
                          <a:schemeClr val="tx2">
                            <a:lumMod val="7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782480"/>
                  </a:ext>
                </a:extLst>
              </a:tr>
              <a:tr h="435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</a:rPr>
                        <a:t>주         소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서울특별시 서초구 </a:t>
                      </a:r>
                      <a:r>
                        <a:rPr lang="ko-KR" altLang="en-US" sz="1800" b="0" dirty="0" err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마방로</a:t>
                      </a:r>
                      <a:r>
                        <a:rPr lang="ko-KR" altLang="en-US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10</a:t>
                      </a:r>
                      <a:r>
                        <a:rPr lang="ko-KR" altLang="en-US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길 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12</a:t>
                      </a:r>
                      <a:endParaRPr lang="ko-KR" altLang="en-US" sz="1800" b="0" dirty="0">
                        <a:solidFill>
                          <a:schemeClr val="tx2">
                            <a:lumMod val="7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489030"/>
                  </a:ext>
                </a:extLst>
              </a:tr>
              <a:tr h="435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</a:rPr>
                        <a:t>설립 연도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j-ea"/>
                          <a:ea typeface="+mj-ea"/>
                        </a:rPr>
                        <a:t>2011.01</a:t>
                      </a:r>
                      <a:endParaRPr lang="ko-KR" altLang="en-US" sz="1800" b="0" dirty="0">
                        <a:solidFill>
                          <a:schemeClr val="tx2">
                            <a:lumMod val="7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09834"/>
                  </a:ext>
                </a:extLst>
              </a:tr>
            </a:tbl>
          </a:graphicData>
        </a:graphic>
      </p:graphicFrame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716" y="3447824"/>
            <a:ext cx="1376256" cy="1778438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902" y="3447824"/>
            <a:ext cx="1416013" cy="1778438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041" y="4085238"/>
            <a:ext cx="1524061" cy="5036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flipH="1">
            <a:off x="1264608" y="5838946"/>
            <a:ext cx="10052878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chemeClr val="bg1"/>
                </a:solidFill>
                <a:latin typeface="+mj-ea"/>
                <a:ea typeface="+mj-ea"/>
              </a:rPr>
              <a:t>KCA</a:t>
            </a:r>
            <a:r>
              <a:rPr lang="ko-KR" altLang="en-US" sz="2000" b="1" dirty="0" smtClean="0">
                <a:solidFill>
                  <a:schemeClr val="bg1"/>
                </a:solidFill>
                <a:latin typeface="+mj-ea"/>
                <a:ea typeface="+mj-ea"/>
              </a:rPr>
              <a:t>는 초기 공익 중심 단일 기능 조직에서</a:t>
            </a:r>
            <a:r>
              <a:rPr lang="en-US" altLang="ko-KR" sz="2000" b="1" dirty="0" smtClean="0">
                <a:solidFill>
                  <a:schemeClr val="bg1"/>
                </a:solidFill>
                <a:latin typeface="+mj-ea"/>
                <a:ea typeface="+mj-ea"/>
              </a:rPr>
              <a:t>,</a:t>
            </a:r>
            <a:r>
              <a:rPr lang="ko-KR" altLang="en-US" sz="2000" b="1" dirty="0" smtClean="0">
                <a:solidFill>
                  <a:schemeClr val="bg1"/>
                </a:solidFill>
                <a:latin typeface="+mj-ea"/>
                <a:ea typeface="+mj-ea"/>
              </a:rPr>
              <a:t> 사업</a:t>
            </a:r>
            <a:r>
              <a:rPr lang="en-US" altLang="ko-KR" sz="2000" b="1" dirty="0" smtClean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 smtClean="0">
                <a:solidFill>
                  <a:schemeClr val="bg1"/>
                </a:solidFill>
                <a:latin typeface="+mj-ea"/>
                <a:ea typeface="+mj-ea"/>
              </a:rPr>
              <a:t>협업</a:t>
            </a:r>
            <a:r>
              <a:rPr lang="en-US" altLang="ko-KR" sz="2000" b="1" dirty="0" smtClean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 smtClean="0">
                <a:solidFill>
                  <a:schemeClr val="bg1"/>
                </a:solidFill>
                <a:latin typeface="+mj-ea"/>
                <a:ea typeface="+mj-ea"/>
              </a:rPr>
              <a:t>대외 역할을 확대하였음</a:t>
            </a:r>
            <a:endParaRPr lang="en-US" altLang="ko-KR" sz="2000" b="1" dirty="0" smtClean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2000" b="1" dirty="0" smtClean="0">
                <a:solidFill>
                  <a:schemeClr val="bg1"/>
                </a:solidFill>
                <a:latin typeface="+mj-ea"/>
                <a:ea typeface="+mj-ea"/>
              </a:rPr>
              <a:t>현재</a:t>
            </a:r>
            <a:r>
              <a:rPr lang="en-US" altLang="ko-KR" sz="2000" b="1" dirty="0" smtClean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 smtClean="0">
                <a:solidFill>
                  <a:schemeClr val="bg1"/>
                </a:solidFill>
                <a:latin typeface="+mj-ea"/>
                <a:ea typeface="+mj-ea"/>
              </a:rPr>
              <a:t>전략과 환경 변화로 조직구조는 과거에 머무름</a:t>
            </a:r>
            <a:r>
              <a:rPr lang="en-US" altLang="ko-KR" sz="2000" b="1" dirty="0" smtClean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 smtClean="0">
                <a:solidFill>
                  <a:schemeClr val="bg1"/>
                </a:solidFill>
                <a:latin typeface="+mj-ea"/>
                <a:ea typeface="+mj-ea"/>
              </a:rPr>
              <a:t>새로운 </a:t>
            </a:r>
            <a:r>
              <a:rPr lang="ko-KR" altLang="en-US" sz="2000" b="1" dirty="0" err="1" smtClean="0">
                <a:solidFill>
                  <a:schemeClr val="bg1"/>
                </a:solidFill>
                <a:latin typeface="+mj-ea"/>
                <a:ea typeface="+mj-ea"/>
              </a:rPr>
              <a:t>조직재설계</a:t>
            </a:r>
            <a:r>
              <a:rPr lang="ko-KR" altLang="en-US" sz="2000" b="1" dirty="0" smtClean="0">
                <a:solidFill>
                  <a:schemeClr val="bg1"/>
                </a:solidFill>
                <a:latin typeface="+mj-ea"/>
                <a:ea typeface="+mj-ea"/>
              </a:rPr>
              <a:t> 필요성 인식</a:t>
            </a:r>
            <a:r>
              <a:rPr lang="en-US" altLang="ko-KR" sz="2000" b="1" dirty="0" smtClean="0">
                <a:solidFill>
                  <a:schemeClr val="bg1"/>
                </a:solidFill>
                <a:latin typeface="+mj-ea"/>
                <a:ea typeface="+mj-ea"/>
              </a:rPr>
              <a:t>.</a:t>
            </a:r>
            <a:endParaRPr lang="ko-KR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0024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-1" y="0"/>
            <a:ext cx="12192001" cy="971550"/>
            <a:chOff x="1173938" y="605136"/>
            <a:chExt cx="10651388" cy="646331"/>
          </a:xfrm>
        </p:grpSpPr>
        <p:sp>
          <p:nvSpPr>
            <p:cNvPr id="19" name="사각형: 둥근 모서리 1">
              <a:extLst>
                <a:ext uri="{FF2B5EF4-FFF2-40B4-BE49-F238E27FC236}">
                  <a16:creationId xmlns:a16="http://schemas.microsoft.com/office/drawing/2014/main" id="{1CFD7E2A-EB9D-AE56-E575-5F614B441EF2}"/>
                </a:ext>
              </a:extLst>
            </p:cNvPr>
            <p:cNvSpPr/>
            <p:nvPr/>
          </p:nvSpPr>
          <p:spPr bwMode="auto">
            <a:xfrm>
              <a:off x="1173938" y="605136"/>
              <a:ext cx="10651388" cy="64633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l"/>
              <a:r>
                <a:rPr lang="ko-KR" altLang="en-US" sz="3200" b="1" dirty="0" smtClean="0"/>
                <a:t>   </a:t>
              </a:r>
              <a:r>
                <a:rPr lang="en-US" altLang="ko-KR" sz="3200" b="1" dirty="0" smtClean="0"/>
                <a:t>02. </a:t>
              </a:r>
              <a:r>
                <a:rPr lang="ko-KR" altLang="en-US" sz="3200" b="1" dirty="0" err="1" smtClean="0"/>
                <a:t>주요연혁</a:t>
              </a:r>
              <a:endParaRPr lang="ko-KR" altLang="en-US" sz="3200" b="1" dirty="0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ACC15DB2-67EC-B0CE-190E-8AC80F5458D8}"/>
                </a:ext>
              </a:extLst>
            </p:cNvPr>
            <p:cNvSpPr/>
            <p:nvPr/>
          </p:nvSpPr>
          <p:spPr bwMode="auto">
            <a:xfrm>
              <a:off x="1281081" y="660442"/>
              <a:ext cx="126895" cy="53557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657611" y="1517381"/>
            <a:ext cx="10991050" cy="5143519"/>
            <a:chOff x="363380" y="1808922"/>
            <a:chExt cx="9310701" cy="4288592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2880" y="1808922"/>
              <a:ext cx="4191201" cy="4278440"/>
            </a:xfrm>
            <a:prstGeom prst="rect">
              <a:avLst/>
            </a:prstGeom>
          </p:spPr>
        </p:pic>
        <p:grpSp>
          <p:nvGrpSpPr>
            <p:cNvPr id="7" name="그룹 6"/>
            <p:cNvGrpSpPr/>
            <p:nvPr/>
          </p:nvGrpSpPr>
          <p:grpSpPr>
            <a:xfrm>
              <a:off x="363380" y="1905104"/>
              <a:ext cx="4859107" cy="4192410"/>
              <a:chOff x="423015" y="1968794"/>
              <a:chExt cx="4859107" cy="4770540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3037" y="3240023"/>
                <a:ext cx="4839085" cy="3499311"/>
              </a:xfrm>
              <a:prstGeom prst="rect">
                <a:avLst/>
              </a:prstGeom>
            </p:spPr>
          </p:pic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015" y="1968794"/>
                <a:ext cx="4566428" cy="1271229"/>
              </a:xfrm>
              <a:prstGeom prst="rect">
                <a:avLst/>
              </a:prstGeom>
            </p:spPr>
          </p:pic>
        </p:grpSp>
      </p:grpSp>
      <p:sp>
        <p:nvSpPr>
          <p:cNvPr id="26" name="TextBox 25"/>
          <p:cNvSpPr txBox="1"/>
          <p:nvPr/>
        </p:nvSpPr>
        <p:spPr>
          <a:xfrm>
            <a:off x="588037" y="1059800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주요 연혁</a:t>
            </a:r>
            <a:endParaRPr lang="ko-KR" altLang="en-US" dirty="0"/>
          </a:p>
        </p:txBody>
      </p:sp>
      <p:sp>
        <p:nvSpPr>
          <p:cNvPr id="28" name="한쪽 모서리가 둥근 사각형 27"/>
          <p:cNvSpPr/>
          <p:nvPr/>
        </p:nvSpPr>
        <p:spPr bwMode="auto">
          <a:xfrm flipV="1">
            <a:off x="657611" y="1405162"/>
            <a:ext cx="10991050" cy="45719"/>
          </a:xfrm>
          <a:prstGeom prst="round1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82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그룹 157"/>
          <p:cNvGrpSpPr/>
          <p:nvPr/>
        </p:nvGrpSpPr>
        <p:grpSpPr>
          <a:xfrm>
            <a:off x="-1" y="0"/>
            <a:ext cx="12192001" cy="971550"/>
            <a:chOff x="1173938" y="605136"/>
            <a:chExt cx="10651388" cy="646331"/>
          </a:xfrm>
        </p:grpSpPr>
        <p:sp>
          <p:nvSpPr>
            <p:cNvPr id="159" name="사각형: 둥근 모서리 1">
              <a:extLst>
                <a:ext uri="{FF2B5EF4-FFF2-40B4-BE49-F238E27FC236}">
                  <a16:creationId xmlns:a16="http://schemas.microsoft.com/office/drawing/2014/main" id="{1CFD7E2A-EB9D-AE56-E575-5F614B441EF2}"/>
                </a:ext>
              </a:extLst>
            </p:cNvPr>
            <p:cNvSpPr/>
            <p:nvPr/>
          </p:nvSpPr>
          <p:spPr bwMode="auto">
            <a:xfrm>
              <a:off x="1173938" y="605136"/>
              <a:ext cx="10651388" cy="64633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3200" b="1" dirty="0" smtClean="0"/>
                <a:t>   </a:t>
              </a:r>
              <a:r>
                <a:rPr lang="en-US" altLang="ko-KR" sz="3200" b="1" dirty="0" smtClean="0"/>
                <a:t>03. </a:t>
              </a:r>
              <a:r>
                <a:rPr lang="ko-KR" altLang="en-US" sz="3200" b="1" dirty="0" smtClean="0"/>
                <a:t>현 조직구조 진단</a:t>
              </a:r>
              <a:r>
                <a:rPr lang="en-US" altLang="ko-KR" sz="3200" b="1" dirty="0" smtClean="0"/>
                <a:t>(As-Is)</a:t>
              </a:r>
              <a:endParaRPr lang="ko-KR" altLang="en-US" sz="3200" b="1" dirty="0"/>
            </a:p>
          </p:txBody>
        </p:sp>
        <p:sp>
          <p:nvSpPr>
            <p:cNvPr id="160" name="사각형: 둥근 모서리 13">
              <a:extLst>
                <a:ext uri="{FF2B5EF4-FFF2-40B4-BE49-F238E27FC236}">
                  <a16:creationId xmlns:a16="http://schemas.microsoft.com/office/drawing/2014/main" id="{ACC15DB2-67EC-B0CE-190E-8AC80F5458D8}"/>
                </a:ext>
              </a:extLst>
            </p:cNvPr>
            <p:cNvSpPr/>
            <p:nvPr/>
          </p:nvSpPr>
          <p:spPr bwMode="auto">
            <a:xfrm>
              <a:off x="1281081" y="660442"/>
              <a:ext cx="126895" cy="53557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38" y="1839853"/>
            <a:ext cx="7044643" cy="40230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2367" y="2081900"/>
            <a:ext cx="4509568" cy="1508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2000" b="1" dirty="0" smtClean="0"/>
              <a:t>현 조직구조의 특징과 구조적 한계</a:t>
            </a:r>
            <a:endParaRPr lang="en-US" altLang="ko-KR" sz="2000" b="1" dirty="0" smtClean="0"/>
          </a:p>
          <a:p>
            <a:endParaRPr lang="en-US" altLang="ko-KR" sz="20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구조적으로 집권화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공식화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기능중심의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ko-KR" altLang="en-US" dirty="0" smtClean="0"/>
              <a:t>기계적 조직 특징이 강함</a:t>
            </a:r>
            <a:endParaRPr lang="en-US" altLang="ko-KR" sz="1600" dirty="0"/>
          </a:p>
          <a:p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1671863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그룹 157"/>
          <p:cNvGrpSpPr/>
          <p:nvPr/>
        </p:nvGrpSpPr>
        <p:grpSpPr>
          <a:xfrm>
            <a:off x="-1" y="0"/>
            <a:ext cx="12192001" cy="971550"/>
            <a:chOff x="1173938" y="605136"/>
            <a:chExt cx="10651388" cy="646331"/>
          </a:xfrm>
        </p:grpSpPr>
        <p:sp>
          <p:nvSpPr>
            <p:cNvPr id="159" name="사각형: 둥근 모서리 1">
              <a:extLst>
                <a:ext uri="{FF2B5EF4-FFF2-40B4-BE49-F238E27FC236}">
                  <a16:creationId xmlns:a16="http://schemas.microsoft.com/office/drawing/2014/main" id="{1CFD7E2A-EB9D-AE56-E575-5F614B441EF2}"/>
                </a:ext>
              </a:extLst>
            </p:cNvPr>
            <p:cNvSpPr/>
            <p:nvPr/>
          </p:nvSpPr>
          <p:spPr bwMode="auto">
            <a:xfrm>
              <a:off x="1173938" y="605136"/>
              <a:ext cx="10651388" cy="64633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3200" b="1" dirty="0" smtClean="0"/>
                <a:t>   </a:t>
              </a:r>
              <a:r>
                <a:rPr lang="en-US" altLang="ko-KR" sz="3200" b="1" dirty="0" smtClean="0"/>
                <a:t>04. KCA </a:t>
              </a:r>
              <a:r>
                <a:rPr lang="ko-KR" altLang="en-US" sz="3200" b="1" dirty="0" smtClean="0"/>
                <a:t>조직진단</a:t>
              </a:r>
              <a:endParaRPr lang="ko-KR" altLang="en-US" sz="3200" b="1" dirty="0"/>
            </a:p>
          </p:txBody>
        </p:sp>
        <p:sp>
          <p:nvSpPr>
            <p:cNvPr id="160" name="사각형: 둥근 모서리 13">
              <a:extLst>
                <a:ext uri="{FF2B5EF4-FFF2-40B4-BE49-F238E27FC236}">
                  <a16:creationId xmlns:a16="http://schemas.microsoft.com/office/drawing/2014/main" id="{ACC15DB2-67EC-B0CE-190E-8AC80F5458D8}"/>
                </a:ext>
              </a:extLst>
            </p:cNvPr>
            <p:cNvSpPr/>
            <p:nvPr/>
          </p:nvSpPr>
          <p:spPr bwMode="auto">
            <a:xfrm>
              <a:off x="1281081" y="660442"/>
              <a:ext cx="126895" cy="53557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000085"/>
              </p:ext>
            </p:extLst>
          </p:nvPr>
        </p:nvGraphicFramePr>
        <p:xfrm>
          <a:off x="122638" y="1090864"/>
          <a:ext cx="11933526" cy="5081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481">
                  <a:extLst>
                    <a:ext uri="{9D8B030D-6E8A-4147-A177-3AD203B41FA5}">
                      <a16:colId xmlns:a16="http://schemas.microsoft.com/office/drawing/2014/main" val="671628124"/>
                    </a:ext>
                  </a:extLst>
                </a:gridCol>
                <a:gridCol w="4691966">
                  <a:extLst>
                    <a:ext uri="{9D8B030D-6E8A-4147-A177-3AD203B41FA5}">
                      <a16:colId xmlns:a16="http://schemas.microsoft.com/office/drawing/2014/main" val="1340940719"/>
                    </a:ext>
                  </a:extLst>
                </a:gridCol>
                <a:gridCol w="214658">
                  <a:extLst>
                    <a:ext uri="{9D8B030D-6E8A-4147-A177-3AD203B41FA5}">
                      <a16:colId xmlns:a16="http://schemas.microsoft.com/office/drawing/2014/main" val="4047121398"/>
                    </a:ext>
                  </a:extLst>
                </a:gridCol>
                <a:gridCol w="1116538">
                  <a:extLst>
                    <a:ext uri="{9D8B030D-6E8A-4147-A177-3AD203B41FA5}">
                      <a16:colId xmlns:a16="http://schemas.microsoft.com/office/drawing/2014/main" val="3619129176"/>
                    </a:ext>
                  </a:extLst>
                </a:gridCol>
                <a:gridCol w="4731883">
                  <a:extLst>
                    <a:ext uri="{9D8B030D-6E8A-4147-A177-3AD203B41FA5}">
                      <a16:colId xmlns:a16="http://schemas.microsoft.com/office/drawing/2014/main" val="2596110082"/>
                    </a:ext>
                  </a:extLst>
                </a:gridCol>
              </a:tblGrid>
              <a:tr h="56369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 smtClean="0"/>
                        <a:t>상황배경적</a:t>
                      </a:r>
                      <a:r>
                        <a:rPr lang="ko-KR" altLang="en-US" sz="2000" dirty="0" smtClean="0"/>
                        <a:t> 차원</a:t>
                      </a:r>
                      <a:endParaRPr lang="ko-KR" altLang="en-US" sz="20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/>
                        <a:t>구조적 차원</a:t>
                      </a:r>
                      <a:endParaRPr lang="ko-KR" altLang="en-US" sz="2000" dirty="0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938937"/>
                  </a:ext>
                </a:extLst>
              </a:tr>
              <a:tr h="12256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/>
                        <a:t>환경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/>
                        <a:t>정책변화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소비자 이슈의 사회적 확산으로 인해 불확실한 외부환경에 놓여 있음</a:t>
                      </a:r>
                      <a:endParaRPr lang="en-US" altLang="ko-KR" sz="1200" dirty="0" smtClean="0"/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/>
                        <a:t>외부환경에 대한 신속대응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부서간 협업 필요하고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유연한 </a:t>
                      </a:r>
                      <a:r>
                        <a:rPr lang="ko-KR" altLang="en-US" sz="1200" dirty="0" err="1" smtClean="0"/>
                        <a:t>조직설계</a:t>
                      </a:r>
                      <a:r>
                        <a:rPr lang="ko-KR" altLang="en-US" sz="1200" dirty="0" smtClean="0"/>
                        <a:t> 필요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공식화</a:t>
                      </a:r>
                      <a:endParaRPr lang="ko-KR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소비자 권익 보호와 대외 신뢰 확보를 위해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핵심업무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공식화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신사업 영역에서는 과도한 규칙과 절차보다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팀 단위 권한 위임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308149"/>
                  </a:ext>
                </a:extLst>
              </a:tr>
              <a:tr h="8229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/>
                        <a:t>기술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/>
                        <a:t>주요업무는 서비스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언론 뉴스레터에 의존하고 있다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/>
                        <a:t>특성은 업무 표준화보다 팀간 협업이 중요한 조직구조를 요구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전문화</a:t>
                      </a:r>
                      <a:endParaRPr lang="ko-KR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/>
                        <a:t>기능별 전문성을 유지하되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신사업 추진 시 프로젝트 단위의 역할 중심 전문화 가 요구됨</a:t>
                      </a:r>
                      <a:endParaRPr lang="en-US" altLang="ko-KR" sz="1200" dirty="0" smtClean="0"/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/>
                        <a:t>고정된 직무분업보다 문제 해결 중심의 유연한 전문화 구조 필요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5781"/>
                  </a:ext>
                </a:extLst>
              </a:tr>
              <a:tr h="8229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/>
                        <a:t>전략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/>
                        <a:t>소비자 권익보호라는 공익적요소와 신사업 전략을 동시에 추구</a:t>
                      </a:r>
                      <a:endParaRPr lang="en-US" altLang="ko-KR" sz="1200" dirty="0" smtClean="0"/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aseline="0" dirty="0" err="1" smtClean="0"/>
                        <a:t>이중전략</a:t>
                      </a:r>
                      <a:r>
                        <a:rPr lang="ko-KR" altLang="en-US" sz="1200" baseline="0" dirty="0" smtClean="0"/>
                        <a:t> 필요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전략에 맞는 조직구조 설계 필요함</a:t>
                      </a:r>
                      <a:endParaRPr lang="en-US" altLang="ko-KR" sz="1200" baseline="0" dirty="0" smtClean="0"/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aseline="0" dirty="0" smtClean="0"/>
                        <a:t>안정성과 유연성을 동시에 필요한 조직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집권화</a:t>
                      </a:r>
                      <a:endParaRPr lang="ko-KR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/>
                        <a:t>공익성과 책임성이 중요한 영역에서는 집권적 의사결정 구조 필요</a:t>
                      </a:r>
                      <a:endParaRPr lang="en-US" altLang="ko-KR" sz="1200" dirty="0" smtClean="0"/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/>
                        <a:t>신사업 진행 시에는 권한을 팀 단위로 위임하는 분권화 구조가 적합 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791465"/>
                  </a:ext>
                </a:extLst>
              </a:tr>
              <a:tr h="8229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/>
                        <a:t>규모</a:t>
                      </a:r>
                      <a:r>
                        <a:rPr lang="en-US" altLang="ko-KR" sz="1400" b="1" dirty="0" smtClean="0"/>
                        <a:t>/</a:t>
                      </a:r>
                    </a:p>
                    <a:p>
                      <a:pPr algn="ctr" latinLnBrk="1"/>
                      <a:r>
                        <a:rPr lang="ko-KR" altLang="en-US" sz="1400" b="1" dirty="0" smtClean="0"/>
                        <a:t>수명주기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소규모 조직으로 과도한 계층화는 의사결정 속도를 저하됨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성장이 필요한 조직이므로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확장성과 전문 인재 필요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4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권한계층</a:t>
                      </a:r>
                      <a:endParaRPr lang="ko-KR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/>
                        <a:t>규모를 고려</a:t>
                      </a:r>
                      <a:r>
                        <a:rPr lang="en-US" altLang="ko-KR" sz="1200" dirty="0" smtClean="0"/>
                        <a:t>,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과도한 </a:t>
                      </a:r>
                      <a:r>
                        <a:rPr lang="ko-KR" altLang="en-US" sz="1200" baseline="0" dirty="0" err="1" smtClean="0"/>
                        <a:t>권한계층은</a:t>
                      </a:r>
                      <a:r>
                        <a:rPr lang="ko-KR" altLang="en-US" sz="1200" baseline="0" dirty="0" smtClean="0"/>
                        <a:t> 불필요한 의사결정 지연을 초래</a:t>
                      </a:r>
                      <a:endParaRPr lang="en-US" altLang="ko-KR" sz="1200" baseline="0" dirty="0" smtClean="0"/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aseline="0" dirty="0" smtClean="0"/>
                        <a:t>핵심 관리 계층은 단순화 하고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역할과 책임 중심의 권한 구조로 재설계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103118"/>
                  </a:ext>
                </a:extLst>
              </a:tr>
              <a:tr h="8229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/>
                        <a:t>조직문화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 smtClean="0"/>
                        <a:t>NPO</a:t>
                      </a:r>
                      <a:r>
                        <a:rPr lang="ko-KR" altLang="en-US" sz="1200" dirty="0" smtClean="0"/>
                        <a:t>단체로 안정성</a:t>
                      </a:r>
                      <a:r>
                        <a:rPr lang="en-US" altLang="ko-KR" sz="1200" dirty="0" smtClean="0"/>
                        <a:t>,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책임성 조직문화가 형성되어 있음</a:t>
                      </a:r>
                      <a:r>
                        <a:rPr lang="en-US" altLang="ko-KR" sz="1200" baseline="0" dirty="0" smtClean="0"/>
                        <a:t>.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/>
                        <a:t>변화에 대한 저항 가능성으로 점진적이고 부분적인 </a:t>
                      </a:r>
                      <a:r>
                        <a:rPr lang="ko-KR" altLang="en-US" sz="1200" dirty="0" err="1" smtClean="0"/>
                        <a:t>조직설계</a:t>
                      </a:r>
                      <a:r>
                        <a:rPr lang="ko-KR" altLang="en-US" sz="1200" dirty="0" smtClean="0"/>
                        <a:t> 변화가 적합함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보고체계</a:t>
                      </a:r>
                      <a:endParaRPr lang="ko-KR" alt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/>
                        <a:t>소비자 </a:t>
                      </a:r>
                      <a:r>
                        <a:rPr lang="ko-KR" altLang="en-US" sz="1200" dirty="0" err="1" smtClean="0"/>
                        <a:t>권익보호과</a:t>
                      </a:r>
                      <a:r>
                        <a:rPr lang="ko-KR" altLang="en-US" sz="1200" dirty="0" smtClean="0"/>
                        <a:t> 정책관련 업무는 명확한 수직적 보고체계 </a:t>
                      </a:r>
                      <a:endParaRPr lang="en-US" altLang="ko-KR" sz="1200" dirty="0" smtClean="0"/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/>
                        <a:t>신사업 영역에서는 성과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이슈를 중심으로 수평적 보고 체계</a:t>
                      </a:r>
                      <a:endParaRPr lang="en-US" altLang="ko-KR" sz="1200" dirty="0" smtClean="0"/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/>
                        <a:t>월간 포트폴리오 회의</a:t>
                      </a:r>
                      <a:endParaRPr lang="en-US" altLang="ko-KR" sz="1200" dirty="0" smtClean="0"/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564984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22638" y="6426621"/>
            <a:ext cx="68857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*</a:t>
            </a:r>
            <a:r>
              <a:rPr lang="ko-KR" altLang="en-US" sz="1200" dirty="0" smtClean="0"/>
              <a:t>참고문헌</a:t>
            </a:r>
            <a:r>
              <a:rPr lang="en-US" altLang="ko-KR" sz="1200" dirty="0"/>
              <a:t>: </a:t>
            </a:r>
            <a:r>
              <a:rPr lang="ko-KR" altLang="en-US" sz="1200" dirty="0" smtClean="0"/>
              <a:t>교재</a:t>
            </a:r>
            <a:r>
              <a:rPr lang="en-US" altLang="ko-KR" sz="1200" dirty="0" smtClean="0"/>
              <a:t>-</a:t>
            </a:r>
            <a:r>
              <a:rPr lang="ko-KR" altLang="en-US" sz="1200" dirty="0" err="1" smtClean="0"/>
              <a:t>조직이론과</a:t>
            </a:r>
            <a:r>
              <a:rPr lang="ko-KR" altLang="en-US" sz="1200" dirty="0" smtClean="0"/>
              <a:t> </a:t>
            </a:r>
            <a:r>
              <a:rPr lang="ko-KR" altLang="en-US" sz="1200" dirty="0"/>
              <a:t>설계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조직설계의</a:t>
            </a:r>
            <a:r>
              <a:rPr lang="ko-KR" altLang="en-US" sz="1200" dirty="0"/>
              <a:t> 차원 </a:t>
            </a:r>
            <a:r>
              <a:rPr lang="en-US" altLang="ko-KR" sz="1200" dirty="0"/>
              <a:t>P23, </a:t>
            </a:r>
            <a:r>
              <a:rPr lang="en-US" altLang="ko-KR" sz="1200" dirty="0" smtClean="0"/>
              <a:t>KBS MBA9528-</a:t>
            </a:r>
            <a:r>
              <a:rPr lang="ko-KR" altLang="en-US" sz="1200" dirty="0" err="1" smtClean="0"/>
              <a:t>조직설계</a:t>
            </a:r>
            <a:r>
              <a:rPr lang="en-US" altLang="ko-KR" sz="1200" dirty="0"/>
              <a:t>-</a:t>
            </a:r>
            <a:r>
              <a:rPr lang="en-US" altLang="ko-KR" sz="1200" dirty="0" smtClean="0"/>
              <a:t>2</a:t>
            </a:r>
            <a:r>
              <a:rPr lang="ko-KR" altLang="en-US" sz="1200" dirty="0"/>
              <a:t>월</a:t>
            </a:r>
            <a:r>
              <a:rPr lang="en-US" altLang="ko-KR" sz="1200" dirty="0"/>
              <a:t>24</a:t>
            </a:r>
            <a:r>
              <a:rPr lang="ko-KR" altLang="en-US" sz="1200" dirty="0" smtClean="0"/>
              <a:t>일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강의안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5688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 bwMode="auto">
          <a:xfrm>
            <a:off x="267888" y="3325279"/>
            <a:ext cx="2581275" cy="63977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b="1" dirty="0" smtClean="0">
                <a:solidFill>
                  <a:schemeClr val="bg1"/>
                </a:solidFill>
              </a:rPr>
              <a:t>회장</a:t>
            </a:r>
            <a:r>
              <a:rPr lang="en-US" altLang="ko-KR" b="1" dirty="0" smtClean="0">
                <a:solidFill>
                  <a:schemeClr val="bg1"/>
                </a:solidFill>
              </a:rPr>
              <a:t>(</a:t>
            </a:r>
            <a:r>
              <a:rPr lang="ko-KR" altLang="en-US" b="1" dirty="0" smtClean="0">
                <a:solidFill>
                  <a:schemeClr val="bg1"/>
                </a:solidFill>
              </a:rPr>
              <a:t>이사회</a:t>
            </a:r>
            <a:r>
              <a:rPr lang="en-US" altLang="ko-KR" b="1" dirty="0" smtClean="0">
                <a:solidFill>
                  <a:schemeClr val="bg1"/>
                </a:solidFill>
              </a:rPr>
              <a:t>)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cxnSp>
        <p:nvCxnSpPr>
          <p:cNvPr id="12" name="직선 연결선 11"/>
          <p:cNvCxnSpPr>
            <a:stCxn id="2" idx="3"/>
          </p:cNvCxnSpPr>
          <p:nvPr/>
        </p:nvCxnSpPr>
        <p:spPr>
          <a:xfrm>
            <a:off x="2849163" y="3645168"/>
            <a:ext cx="3538190" cy="22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모서리가 둥근 직사각형 145"/>
          <p:cNvSpPr/>
          <p:nvPr/>
        </p:nvSpPr>
        <p:spPr bwMode="auto">
          <a:xfrm>
            <a:off x="3175505" y="3352994"/>
            <a:ext cx="2581275" cy="63977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b="1" dirty="0" smtClean="0">
                <a:solidFill>
                  <a:schemeClr val="bg1"/>
                </a:solidFill>
              </a:rPr>
              <a:t>사무총장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grpSp>
        <p:nvGrpSpPr>
          <p:cNvPr id="157" name="그룹 156"/>
          <p:cNvGrpSpPr/>
          <p:nvPr/>
        </p:nvGrpSpPr>
        <p:grpSpPr>
          <a:xfrm>
            <a:off x="6387354" y="1755467"/>
            <a:ext cx="3084525" cy="3874146"/>
            <a:chOff x="8145280" y="1761074"/>
            <a:chExt cx="3084525" cy="3874146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EAFABDC0-EE91-3418-6C1B-7252638D3568}"/>
                </a:ext>
              </a:extLst>
            </p:cNvPr>
            <p:cNvSpPr/>
            <p:nvPr/>
          </p:nvSpPr>
          <p:spPr bwMode="auto">
            <a:xfrm>
              <a:off x="8586435" y="1761074"/>
              <a:ext cx="2635250" cy="57536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b="1" dirty="0" smtClean="0">
                  <a:solidFill>
                    <a:schemeClr val="bg1"/>
                  </a:solidFill>
                </a:rPr>
                <a:t>경영지원본부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48" name="사각형: 둥근 모서리 5">
              <a:extLst>
                <a:ext uri="{FF2B5EF4-FFF2-40B4-BE49-F238E27FC236}">
                  <a16:creationId xmlns:a16="http://schemas.microsoft.com/office/drawing/2014/main" id="{EAFABDC0-EE91-3418-6C1B-7252638D3568}"/>
                </a:ext>
              </a:extLst>
            </p:cNvPr>
            <p:cNvSpPr/>
            <p:nvPr/>
          </p:nvSpPr>
          <p:spPr bwMode="auto">
            <a:xfrm>
              <a:off x="8594555" y="2436005"/>
              <a:ext cx="2635250" cy="57536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b="1" dirty="0" smtClean="0">
                  <a:solidFill>
                    <a:schemeClr val="bg1"/>
                  </a:solidFill>
                </a:rPr>
                <a:t>인증</a:t>
              </a:r>
              <a:r>
                <a:rPr lang="en-US" altLang="ko-KR" b="1" dirty="0" smtClean="0">
                  <a:solidFill>
                    <a:schemeClr val="bg1"/>
                  </a:solidFill>
                </a:rPr>
                <a:t>/</a:t>
              </a:r>
              <a:r>
                <a:rPr lang="ko-KR" altLang="en-US" b="1" dirty="0" smtClean="0">
                  <a:solidFill>
                    <a:schemeClr val="bg1"/>
                  </a:solidFill>
                </a:rPr>
                <a:t>데이터사업본부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49" name="사각형: 둥근 모서리 5">
              <a:extLst>
                <a:ext uri="{FF2B5EF4-FFF2-40B4-BE49-F238E27FC236}">
                  <a16:creationId xmlns:a16="http://schemas.microsoft.com/office/drawing/2014/main" id="{EAFABDC0-EE91-3418-6C1B-7252638D3568}"/>
                </a:ext>
              </a:extLst>
            </p:cNvPr>
            <p:cNvSpPr/>
            <p:nvPr/>
          </p:nvSpPr>
          <p:spPr bwMode="auto">
            <a:xfrm>
              <a:off x="8586435" y="3097523"/>
              <a:ext cx="2635250" cy="57536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b="1" smtClean="0">
                  <a:solidFill>
                    <a:schemeClr val="bg1"/>
                  </a:solidFill>
                </a:rPr>
                <a:t>미디어</a:t>
              </a:r>
              <a:r>
                <a:rPr lang="en-US" altLang="ko-KR" b="1" dirty="0" smtClean="0">
                  <a:solidFill>
                    <a:schemeClr val="bg1"/>
                  </a:solidFill>
                </a:rPr>
                <a:t>/</a:t>
              </a:r>
              <a:r>
                <a:rPr lang="ko-KR" altLang="en-US" b="1" dirty="0" err="1" smtClean="0">
                  <a:solidFill>
                    <a:schemeClr val="bg1"/>
                  </a:solidFill>
                </a:rPr>
                <a:t>브랜드본부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50" name="사각형: 둥근 모서리 5">
              <a:extLst>
                <a:ext uri="{FF2B5EF4-FFF2-40B4-BE49-F238E27FC236}">
                  <a16:creationId xmlns:a16="http://schemas.microsoft.com/office/drawing/2014/main" id="{EAFABDC0-EE91-3418-6C1B-7252638D3568}"/>
                </a:ext>
              </a:extLst>
            </p:cNvPr>
            <p:cNvSpPr/>
            <p:nvPr/>
          </p:nvSpPr>
          <p:spPr bwMode="auto">
            <a:xfrm>
              <a:off x="8586435" y="3759041"/>
              <a:ext cx="2635250" cy="57536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b="1" dirty="0" smtClean="0">
                  <a:solidFill>
                    <a:schemeClr val="bg1"/>
                  </a:solidFill>
                </a:rPr>
                <a:t>지역</a:t>
              </a:r>
              <a:r>
                <a:rPr lang="en-US" altLang="ko-KR" b="1" dirty="0" smtClean="0">
                  <a:solidFill>
                    <a:schemeClr val="bg1"/>
                  </a:solidFill>
                </a:rPr>
                <a:t>/</a:t>
              </a:r>
              <a:r>
                <a:rPr lang="ko-KR" altLang="en-US" b="1" dirty="0" smtClean="0">
                  <a:solidFill>
                    <a:schemeClr val="bg1"/>
                  </a:solidFill>
                </a:rPr>
                <a:t>지부운영본부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52" name="사각형: 둥근 모서리 5">
              <a:extLst>
                <a:ext uri="{FF2B5EF4-FFF2-40B4-BE49-F238E27FC236}">
                  <a16:creationId xmlns:a16="http://schemas.microsoft.com/office/drawing/2014/main" id="{EAFABDC0-EE91-3418-6C1B-7252638D3568}"/>
                </a:ext>
              </a:extLst>
            </p:cNvPr>
            <p:cNvSpPr/>
            <p:nvPr/>
          </p:nvSpPr>
          <p:spPr bwMode="auto">
            <a:xfrm>
              <a:off x="8586435" y="5059860"/>
              <a:ext cx="2635250" cy="57536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b="1" dirty="0" err="1" smtClean="0">
                  <a:solidFill>
                    <a:schemeClr val="bg1"/>
                  </a:solidFill>
                </a:rPr>
                <a:t>신사업본부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cxnSp>
          <p:nvCxnSpPr>
            <p:cNvPr id="17" name="직선 연결선 16"/>
            <p:cNvCxnSpPr/>
            <p:nvPr/>
          </p:nvCxnSpPr>
          <p:spPr>
            <a:xfrm>
              <a:off x="8153400" y="2048754"/>
              <a:ext cx="0" cy="32987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>
              <a:endCxn id="6" idx="1"/>
            </p:cNvCxnSpPr>
            <p:nvPr/>
          </p:nvCxnSpPr>
          <p:spPr>
            <a:xfrm>
              <a:off x="8153400" y="2048754"/>
              <a:ext cx="43303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>
              <a:endCxn id="152" idx="1"/>
            </p:cNvCxnSpPr>
            <p:nvPr/>
          </p:nvCxnSpPr>
          <p:spPr>
            <a:xfrm>
              <a:off x="8153400" y="5347540"/>
              <a:ext cx="43303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/>
            <p:cNvCxnSpPr>
              <a:endCxn id="148" idx="1"/>
            </p:cNvCxnSpPr>
            <p:nvPr/>
          </p:nvCxnSpPr>
          <p:spPr>
            <a:xfrm>
              <a:off x="8153400" y="2723685"/>
              <a:ext cx="44115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/>
            <p:cNvCxnSpPr/>
            <p:nvPr/>
          </p:nvCxnSpPr>
          <p:spPr>
            <a:xfrm>
              <a:off x="8153400" y="3385203"/>
              <a:ext cx="44115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/>
            <p:cNvCxnSpPr/>
            <p:nvPr/>
          </p:nvCxnSpPr>
          <p:spPr>
            <a:xfrm>
              <a:off x="8145280" y="4065306"/>
              <a:ext cx="44115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그룹 157"/>
          <p:cNvGrpSpPr/>
          <p:nvPr/>
        </p:nvGrpSpPr>
        <p:grpSpPr>
          <a:xfrm>
            <a:off x="-1" y="0"/>
            <a:ext cx="12192001" cy="971550"/>
            <a:chOff x="1173938" y="605136"/>
            <a:chExt cx="10651388" cy="646331"/>
          </a:xfrm>
        </p:grpSpPr>
        <p:sp>
          <p:nvSpPr>
            <p:cNvPr id="159" name="사각형: 둥근 모서리 1">
              <a:extLst>
                <a:ext uri="{FF2B5EF4-FFF2-40B4-BE49-F238E27FC236}">
                  <a16:creationId xmlns:a16="http://schemas.microsoft.com/office/drawing/2014/main" id="{1CFD7E2A-EB9D-AE56-E575-5F614B441EF2}"/>
                </a:ext>
              </a:extLst>
            </p:cNvPr>
            <p:cNvSpPr/>
            <p:nvPr/>
          </p:nvSpPr>
          <p:spPr bwMode="auto">
            <a:xfrm>
              <a:off x="1173938" y="605136"/>
              <a:ext cx="10651388" cy="64633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3200" b="1" dirty="0" smtClean="0"/>
                <a:t>   </a:t>
              </a:r>
              <a:r>
                <a:rPr lang="en-US" altLang="ko-KR" sz="3200" b="1" dirty="0" smtClean="0"/>
                <a:t>05. </a:t>
              </a:r>
              <a:r>
                <a:rPr lang="ko-KR" altLang="en-US" sz="3200" b="1" dirty="0" smtClean="0"/>
                <a:t>조직구조 제안</a:t>
              </a:r>
              <a:r>
                <a:rPr lang="en-US" altLang="ko-KR" sz="3200" b="1" dirty="0" smtClean="0"/>
                <a:t>(To-Be)</a:t>
              </a:r>
              <a:r>
                <a:rPr lang="en-US" altLang="ko-KR" sz="3200" dirty="0" smtClean="0"/>
                <a:t>-</a:t>
              </a:r>
              <a:r>
                <a:rPr lang="ko-KR" altLang="en-US" sz="2400" b="1" dirty="0"/>
                <a:t>구조적 양손잡이</a:t>
              </a:r>
              <a:r>
                <a:rPr lang="en-US" altLang="ko-KR" sz="2400" b="1" dirty="0"/>
                <a:t>(Structural Ambidexterity)</a:t>
              </a:r>
              <a:endParaRPr lang="ko-KR" altLang="en-US" sz="2400" b="1" dirty="0"/>
            </a:p>
          </p:txBody>
        </p:sp>
        <p:sp>
          <p:nvSpPr>
            <p:cNvPr id="160" name="사각형: 둥근 모서리 13">
              <a:extLst>
                <a:ext uri="{FF2B5EF4-FFF2-40B4-BE49-F238E27FC236}">
                  <a16:creationId xmlns:a16="http://schemas.microsoft.com/office/drawing/2014/main" id="{ACC15DB2-67EC-B0CE-190E-8AC80F5458D8}"/>
                </a:ext>
              </a:extLst>
            </p:cNvPr>
            <p:cNvSpPr/>
            <p:nvPr/>
          </p:nvSpPr>
          <p:spPr bwMode="auto">
            <a:xfrm>
              <a:off x="1281081" y="660442"/>
              <a:ext cx="126895" cy="53557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cxnSp>
        <p:nvCxnSpPr>
          <p:cNvPr id="5" name="직선 연결선 4"/>
          <p:cNvCxnSpPr>
            <a:stCxn id="152" idx="2"/>
          </p:cNvCxnSpPr>
          <p:nvPr/>
        </p:nvCxnSpPr>
        <p:spPr>
          <a:xfrm>
            <a:off x="8146134" y="5629613"/>
            <a:ext cx="0" cy="313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8146134" y="5943600"/>
            <a:ext cx="1641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7"/>
          <p:cNvSpPr/>
          <p:nvPr/>
        </p:nvSpPr>
        <p:spPr bwMode="auto">
          <a:xfrm>
            <a:off x="8310282" y="5708569"/>
            <a:ext cx="3119718" cy="46363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b="1" dirty="0" err="1" smtClean="0">
                <a:solidFill>
                  <a:schemeClr val="bg1"/>
                </a:solidFill>
              </a:rPr>
              <a:t>신중년</a:t>
            </a:r>
            <a:r>
              <a:rPr lang="ko-KR" altLang="en-US" b="1" dirty="0" smtClean="0">
                <a:solidFill>
                  <a:schemeClr val="bg1"/>
                </a:solidFill>
              </a:rPr>
              <a:t> 재취업 프로젝트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83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그룹 157"/>
          <p:cNvGrpSpPr/>
          <p:nvPr/>
        </p:nvGrpSpPr>
        <p:grpSpPr>
          <a:xfrm>
            <a:off x="-1" y="0"/>
            <a:ext cx="12192001" cy="971550"/>
            <a:chOff x="1173938" y="605136"/>
            <a:chExt cx="10651388" cy="646331"/>
          </a:xfrm>
        </p:grpSpPr>
        <p:sp>
          <p:nvSpPr>
            <p:cNvPr id="159" name="사각형: 둥근 모서리 1">
              <a:extLst>
                <a:ext uri="{FF2B5EF4-FFF2-40B4-BE49-F238E27FC236}">
                  <a16:creationId xmlns:a16="http://schemas.microsoft.com/office/drawing/2014/main" id="{1CFD7E2A-EB9D-AE56-E575-5F614B441EF2}"/>
                </a:ext>
              </a:extLst>
            </p:cNvPr>
            <p:cNvSpPr/>
            <p:nvPr/>
          </p:nvSpPr>
          <p:spPr bwMode="auto">
            <a:xfrm>
              <a:off x="1173938" y="605136"/>
              <a:ext cx="10651388" cy="64633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3200" b="1" dirty="0" smtClean="0"/>
                <a:t>   </a:t>
              </a:r>
              <a:r>
                <a:rPr lang="en-US" altLang="ko-KR" sz="3200" b="1" dirty="0" smtClean="0"/>
                <a:t>06.</a:t>
              </a:r>
              <a:r>
                <a:rPr lang="ko-KR" altLang="en-US" sz="3200" dirty="0" smtClean="0">
                  <a:solidFill>
                    <a:schemeClr val="bg1"/>
                  </a:solidFill>
                </a:rPr>
                <a:t> </a:t>
              </a:r>
              <a:r>
                <a:rPr lang="ko-KR" altLang="en-US" sz="3200" b="1" dirty="0" err="1" smtClean="0"/>
                <a:t>신사업본부</a:t>
              </a:r>
              <a:r>
                <a:rPr lang="ko-KR" altLang="en-US" sz="3200" b="1" dirty="0" smtClean="0"/>
                <a:t> 운영관리 설계</a:t>
              </a:r>
              <a:endParaRPr lang="ko-KR" altLang="en-US" sz="3200" b="1" dirty="0"/>
            </a:p>
          </p:txBody>
        </p:sp>
        <p:sp>
          <p:nvSpPr>
            <p:cNvPr id="160" name="사각형: 둥근 모서리 13">
              <a:extLst>
                <a:ext uri="{FF2B5EF4-FFF2-40B4-BE49-F238E27FC236}">
                  <a16:creationId xmlns:a16="http://schemas.microsoft.com/office/drawing/2014/main" id="{ACC15DB2-67EC-B0CE-190E-8AC80F5458D8}"/>
                </a:ext>
              </a:extLst>
            </p:cNvPr>
            <p:cNvSpPr/>
            <p:nvPr/>
          </p:nvSpPr>
          <p:spPr bwMode="auto">
            <a:xfrm>
              <a:off x="1281081" y="660442"/>
              <a:ext cx="126895" cy="53557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608296"/>
              </p:ext>
            </p:extLst>
          </p:nvPr>
        </p:nvGraphicFramePr>
        <p:xfrm>
          <a:off x="956234" y="1096595"/>
          <a:ext cx="10877178" cy="5486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631">
                  <a:extLst>
                    <a:ext uri="{9D8B030D-6E8A-4147-A177-3AD203B41FA5}">
                      <a16:colId xmlns:a16="http://schemas.microsoft.com/office/drawing/2014/main" val="1774511414"/>
                    </a:ext>
                  </a:extLst>
                </a:gridCol>
                <a:gridCol w="8203547">
                  <a:extLst>
                    <a:ext uri="{9D8B030D-6E8A-4147-A177-3AD203B41FA5}">
                      <a16:colId xmlns:a16="http://schemas.microsoft.com/office/drawing/2014/main" val="2443923639"/>
                    </a:ext>
                  </a:extLst>
                </a:gridCol>
              </a:tblGrid>
              <a:tr h="5487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핵심 역할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공익적 정체성</a:t>
                      </a:r>
                      <a:r>
                        <a:rPr lang="ko-KR" altLang="en-US" sz="16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유지</a:t>
                      </a:r>
                      <a:r>
                        <a:rPr lang="en-US" altLang="ko-KR" sz="16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6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지속 가능한 </a:t>
                      </a:r>
                      <a:r>
                        <a:rPr lang="ko-KR" altLang="en-US" sz="1600" baseline="0" dirty="0" err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수익원</a:t>
                      </a:r>
                      <a:r>
                        <a:rPr lang="ko-KR" altLang="en-US" sz="16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창출</a:t>
                      </a:r>
                      <a:endParaRPr lang="ko-KR" altLang="en-US" sz="1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7F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95942"/>
                  </a:ext>
                </a:extLst>
              </a:tr>
              <a:tr h="5487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기능적 역할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신규 사업 발굴 및 사업성 검증</a:t>
                      </a:r>
                      <a:endParaRPr lang="en-US" altLang="ko-KR" sz="1600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외부 파트너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지자체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기업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기관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) 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협업</a:t>
                      </a:r>
                      <a:endParaRPr lang="en-US" altLang="ko-KR" sz="1600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사업성과 관리</a:t>
                      </a:r>
                      <a:endParaRPr lang="ko-KR" altLang="en-US" sz="1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597560"/>
                  </a:ext>
                </a:extLst>
              </a:tr>
              <a:tr h="5487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운영 구조 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조직형태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상설 조직</a:t>
                      </a:r>
                      <a:endParaRPr lang="en-US" altLang="ko-KR" sz="1600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운영 방식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프로젝트 기반</a:t>
                      </a:r>
                      <a:endParaRPr lang="en-US" altLang="ko-KR" sz="1600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권한 단위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: PM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중심</a:t>
                      </a:r>
                      <a:endParaRPr lang="en-US" altLang="ko-KR" sz="1600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err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설계의도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구조적 안정성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+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운영 유연성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책임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권한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성과의 일치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ko-KR" altLang="en-US" sz="1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410913"/>
                  </a:ext>
                </a:extLst>
              </a:tr>
              <a:tr h="5487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의사결정 구조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전략 </a:t>
                      </a:r>
                      <a:r>
                        <a:rPr lang="ko-KR" altLang="en-US" sz="1600" dirty="0" err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리스크관리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사무총장</a:t>
                      </a:r>
                      <a:endParaRPr lang="en-US" altLang="ko-KR" sz="1600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사업 실행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신사업본부장</a:t>
                      </a:r>
                      <a:endParaRPr lang="en-US" altLang="ko-KR" sz="1600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운영 실행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: PM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확장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중단</a:t>
                      </a:r>
                      <a:r>
                        <a:rPr lang="en-US" altLang="ko-KR" sz="16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6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결정</a:t>
                      </a:r>
                      <a:r>
                        <a:rPr lang="en-US" altLang="ko-KR" sz="16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16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포트폴리오 회의</a:t>
                      </a:r>
                      <a:endParaRPr lang="ko-KR" altLang="en-US" sz="1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7493384"/>
                  </a:ext>
                </a:extLst>
              </a:tr>
              <a:tr h="5487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보고체계 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PM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신사업본부장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주간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월간 성과 이슈 보고</a:t>
                      </a:r>
                      <a:endParaRPr lang="en-US" altLang="ko-KR" sz="1600" dirty="0" smtClean="0">
                        <a:solidFill>
                          <a:schemeClr val="tx2">
                            <a:lumMod val="50000"/>
                          </a:schemeClr>
                        </a:solidFill>
                        <a:sym typeface="Wingdings" panose="05000000000000000000" pitchFamily="2" charset="2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err="1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신사업본부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사무총장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성과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(KPI),</a:t>
                      </a:r>
                      <a:r>
                        <a:rPr lang="en-US" altLang="ko-KR" sz="16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6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리스크</a:t>
                      </a:r>
                      <a:r>
                        <a:rPr lang="en-US" altLang="ko-KR" sz="16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6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가능성 중심</a:t>
                      </a:r>
                      <a:endParaRPr lang="ko-KR" altLang="en-US" sz="1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884022"/>
                  </a:ext>
                </a:extLst>
              </a:tr>
              <a:tr h="5487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성과관리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(KPI)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단기 수익보다 검증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. 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확장 가능성 중시</a:t>
                      </a:r>
                      <a:endParaRPr lang="en-US" altLang="ko-KR" sz="1600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실패도 학습 성과로 인정</a:t>
                      </a:r>
                      <a:endParaRPr lang="ko-KR" altLang="en-US" sz="1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3648761"/>
                  </a:ext>
                </a:extLst>
              </a:tr>
              <a:tr h="5487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실패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철수관리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 기준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KPI 2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회 연속 미달</a:t>
                      </a:r>
                      <a:endParaRPr lang="en-US" altLang="ko-KR" sz="1600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외부 파트너 확보 실패</a:t>
                      </a:r>
                      <a:endParaRPr lang="en-US" altLang="ko-KR" sz="1600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확장 가능성 부재</a:t>
                      </a:r>
                      <a:endParaRPr lang="ko-KR" altLang="en-US" sz="1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273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40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그룹 157"/>
          <p:cNvGrpSpPr/>
          <p:nvPr/>
        </p:nvGrpSpPr>
        <p:grpSpPr>
          <a:xfrm>
            <a:off x="-1" y="0"/>
            <a:ext cx="12192001" cy="971550"/>
            <a:chOff x="1173938" y="605136"/>
            <a:chExt cx="10651388" cy="646331"/>
          </a:xfrm>
        </p:grpSpPr>
        <p:sp>
          <p:nvSpPr>
            <p:cNvPr id="159" name="사각형: 둥근 모서리 1">
              <a:extLst>
                <a:ext uri="{FF2B5EF4-FFF2-40B4-BE49-F238E27FC236}">
                  <a16:creationId xmlns:a16="http://schemas.microsoft.com/office/drawing/2014/main" id="{1CFD7E2A-EB9D-AE56-E575-5F614B441EF2}"/>
                </a:ext>
              </a:extLst>
            </p:cNvPr>
            <p:cNvSpPr/>
            <p:nvPr/>
          </p:nvSpPr>
          <p:spPr bwMode="auto">
            <a:xfrm>
              <a:off x="1173938" y="605136"/>
              <a:ext cx="10651388" cy="64633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3200" b="1" dirty="0" smtClean="0"/>
                <a:t>   </a:t>
              </a:r>
              <a:r>
                <a:rPr lang="en-US" altLang="ko-KR" sz="3200" b="1" dirty="0" smtClean="0"/>
                <a:t>07.</a:t>
              </a:r>
              <a:r>
                <a:rPr lang="ko-KR" altLang="en-US" sz="3200" dirty="0" smtClean="0">
                  <a:solidFill>
                    <a:schemeClr val="bg1"/>
                  </a:solidFill>
                </a:rPr>
                <a:t> </a:t>
              </a:r>
              <a:r>
                <a:rPr lang="ko-KR" altLang="en-US" sz="3200" b="1" dirty="0" err="1" smtClean="0"/>
                <a:t>신중년</a:t>
              </a:r>
              <a:r>
                <a:rPr lang="ko-KR" altLang="en-US" sz="3200" b="1" dirty="0" smtClean="0"/>
                <a:t> 재취업 프로젝트의 전략적 포지셔닝</a:t>
              </a:r>
              <a:endParaRPr lang="ko-KR" altLang="en-US" sz="3200" b="1" dirty="0"/>
            </a:p>
          </p:txBody>
        </p:sp>
        <p:sp>
          <p:nvSpPr>
            <p:cNvPr id="160" name="사각형: 둥근 모서리 13">
              <a:extLst>
                <a:ext uri="{FF2B5EF4-FFF2-40B4-BE49-F238E27FC236}">
                  <a16:creationId xmlns:a16="http://schemas.microsoft.com/office/drawing/2014/main" id="{ACC15DB2-67EC-B0CE-190E-8AC80F5458D8}"/>
                </a:ext>
              </a:extLst>
            </p:cNvPr>
            <p:cNvSpPr/>
            <p:nvPr/>
          </p:nvSpPr>
          <p:spPr bwMode="auto">
            <a:xfrm>
              <a:off x="1281081" y="660442"/>
              <a:ext cx="126895" cy="53557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819290" y="1179196"/>
            <a:ext cx="3853940" cy="4616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bg1"/>
                </a:solidFill>
              </a:rPr>
              <a:t>목표 전략이 구조를 규정</a:t>
            </a:r>
            <a:endParaRPr lang="en-US" altLang="ko-KR" sz="2400" b="1" dirty="0" smtClean="0">
              <a:solidFill>
                <a:schemeClr val="bg1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59587"/>
              </p:ext>
            </p:extLst>
          </p:nvPr>
        </p:nvGraphicFramePr>
        <p:xfrm>
          <a:off x="819290" y="1848507"/>
          <a:ext cx="10877178" cy="2512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181">
                  <a:extLst>
                    <a:ext uri="{9D8B030D-6E8A-4147-A177-3AD203B41FA5}">
                      <a16:colId xmlns:a16="http://schemas.microsoft.com/office/drawing/2014/main" val="2373963314"/>
                    </a:ext>
                  </a:extLst>
                </a:gridCol>
                <a:gridCol w="8132997">
                  <a:extLst>
                    <a:ext uri="{9D8B030D-6E8A-4147-A177-3AD203B41FA5}">
                      <a16:colId xmlns:a16="http://schemas.microsoft.com/office/drawing/2014/main" val="2724251242"/>
                    </a:ext>
                  </a:extLst>
                </a:gridCol>
              </a:tblGrid>
              <a:tr h="8667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</a:rPr>
                        <a:t>전략적 의도</a:t>
                      </a:r>
                      <a:endParaRPr lang="en-US" altLang="ko-KR" sz="20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공익 가치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재취업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)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와 지속가능 수익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지자체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600" dirty="0" err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기관위탁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협업</a:t>
                      </a:r>
                      <a:r>
                        <a:rPr lang="en-US" altLang="ko-KR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) </a:t>
                      </a:r>
                      <a:r>
                        <a:rPr lang="ko-KR" altLang="en-US" sz="16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동시 달성</a:t>
                      </a:r>
                      <a:endParaRPr lang="en-US" altLang="ko-KR" sz="1600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7F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617721"/>
                  </a:ext>
                </a:extLst>
              </a:tr>
              <a:tr h="821329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Porter</a:t>
                      </a:r>
                      <a:r>
                        <a:rPr lang="en-US" altLang="ko-KR" sz="20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000" b="1" baseline="0" dirty="0" smtClean="0">
                          <a:solidFill>
                            <a:schemeClr val="bg1"/>
                          </a:solidFill>
                        </a:rPr>
                        <a:t>관점</a:t>
                      </a:r>
                      <a:endParaRPr lang="en-US" altLang="ko-KR" sz="20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집중 차별화</a:t>
                      </a:r>
                      <a:endParaRPr lang="en-US" altLang="ko-KR" sz="1600" b="1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 err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타켓</a:t>
                      </a:r>
                      <a:r>
                        <a:rPr lang="en-US" altLang="ko-KR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1600" b="1" dirty="0" err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신중년</a:t>
                      </a:r>
                      <a:endParaRPr lang="en-US" altLang="ko-KR" sz="1600" b="1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가치</a:t>
                      </a:r>
                      <a:r>
                        <a:rPr lang="en-US" altLang="ko-KR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1600" b="1" dirty="0" err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실행가능한</a:t>
                      </a:r>
                      <a:r>
                        <a:rPr lang="ko-KR" altLang="en-US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전환 설계</a:t>
                      </a:r>
                      <a:r>
                        <a:rPr lang="en-US" altLang="ko-KR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+</a:t>
                      </a:r>
                      <a:r>
                        <a:rPr lang="ko-KR" altLang="en-US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기관 맞춤 운영</a:t>
                      </a:r>
                      <a:r>
                        <a:rPr lang="en-US" altLang="ko-KR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+</a:t>
                      </a:r>
                      <a:r>
                        <a:rPr lang="ko-KR" altLang="en-US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성과 데이터화</a:t>
                      </a:r>
                      <a:endParaRPr lang="ko-KR" altLang="en-US" sz="1600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0368077"/>
                  </a:ext>
                </a:extLst>
              </a:tr>
              <a:tr h="821329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Miles&amp;</a:t>
                      </a:r>
                      <a:r>
                        <a:rPr lang="en-US" altLang="ko-KR" sz="2000" b="1" baseline="0" dirty="0" smtClean="0">
                          <a:solidFill>
                            <a:schemeClr val="bg1"/>
                          </a:solidFill>
                        </a:rPr>
                        <a:t> Snow </a:t>
                      </a:r>
                      <a:r>
                        <a:rPr lang="ko-KR" altLang="en-US" sz="2000" b="1" baseline="0" dirty="0" smtClean="0">
                          <a:solidFill>
                            <a:schemeClr val="bg1"/>
                          </a:solidFill>
                        </a:rPr>
                        <a:t>관점</a:t>
                      </a:r>
                      <a:endParaRPr lang="en-US" altLang="ko-KR" sz="20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초기</a:t>
                      </a:r>
                      <a:r>
                        <a:rPr lang="en-US" altLang="ko-KR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600" b="1" dirty="0" err="1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공격형</a:t>
                      </a:r>
                      <a:r>
                        <a:rPr lang="en-US" altLang="ko-KR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…………</a:t>
                      </a:r>
                      <a:r>
                        <a:rPr lang="ko-KR" altLang="en-US" sz="1600" b="1" dirty="0" err="1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성공시</a:t>
                      </a:r>
                      <a:r>
                        <a:rPr lang="en-US" altLang="ko-KR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600" b="1" dirty="0" err="1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분석형으로</a:t>
                      </a:r>
                      <a:r>
                        <a:rPr lang="ko-KR" altLang="en-US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 진화</a:t>
                      </a:r>
                      <a:endParaRPr lang="en-US" altLang="ko-KR" sz="16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sym typeface="Wingdings" panose="05000000000000000000" pitchFamily="2" charset="2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초기</a:t>
                      </a:r>
                      <a:r>
                        <a:rPr lang="en-US" altLang="ko-KR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학습</a:t>
                      </a:r>
                      <a:r>
                        <a:rPr lang="en-US" altLang="ko-KR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속도</a:t>
                      </a:r>
                      <a:endParaRPr lang="en-US" altLang="ko-KR" sz="16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sym typeface="Wingdings" panose="05000000000000000000" pitchFamily="2" charset="2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확장</a:t>
                      </a:r>
                      <a:r>
                        <a:rPr lang="en-US" altLang="ko-KR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표준화</a:t>
                      </a:r>
                      <a:r>
                        <a:rPr lang="en-US" altLang="ko-KR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600" b="1" dirty="0" err="1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재현성</a:t>
                      </a:r>
                      <a:r>
                        <a:rPr lang="en-US" altLang="ko-KR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6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원가관리</a:t>
                      </a:r>
                      <a:endParaRPr lang="ko-KR" altLang="en-US" sz="1600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568201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758" y="6185648"/>
            <a:ext cx="356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* </a:t>
            </a:r>
            <a:r>
              <a:rPr lang="ko-KR" altLang="en-US" dirty="0" smtClean="0"/>
              <a:t>전략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신사업본부</a:t>
            </a:r>
            <a:r>
              <a:rPr lang="ko-KR" altLang="en-US" dirty="0" smtClean="0"/>
              <a:t> 별도 </a:t>
            </a:r>
            <a:r>
              <a:rPr lang="ko-KR" altLang="en-US" dirty="0" err="1" smtClean="0"/>
              <a:t>구조운영</a:t>
            </a:r>
            <a:endParaRPr lang="en-US" altLang="ko-KR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013791" y="4811743"/>
            <a:ext cx="97209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양손잡이의</a:t>
            </a:r>
            <a:r>
              <a:rPr lang="ko-KR" altLang="en-US" dirty="0" smtClean="0"/>
              <a:t> 성패는 구조가 아니라 연결 메커니즘입니다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거버넌스</a:t>
            </a:r>
            <a:r>
              <a:rPr lang="en-US" altLang="ko-KR" dirty="0" smtClean="0"/>
              <a:t>(</a:t>
            </a:r>
            <a:r>
              <a:rPr lang="ko-KR" altLang="en-US" dirty="0" smtClean="0"/>
              <a:t>의사결정 권한</a:t>
            </a:r>
            <a:r>
              <a:rPr lang="en-US" altLang="ko-KR" dirty="0" smtClean="0"/>
              <a:t>), </a:t>
            </a:r>
            <a:r>
              <a:rPr lang="ko-KR" altLang="en-US" dirty="0" smtClean="0"/>
              <a:t>자원배분</a:t>
            </a:r>
            <a:r>
              <a:rPr lang="en-US" altLang="ko-KR" dirty="0" smtClean="0"/>
              <a:t>(</a:t>
            </a:r>
            <a:r>
              <a:rPr lang="ko-KR" altLang="en-US" dirty="0" smtClean="0"/>
              <a:t>인력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예산</a:t>
            </a:r>
            <a:r>
              <a:rPr lang="en-US" altLang="ko-KR" dirty="0" smtClean="0"/>
              <a:t>), KPI(</a:t>
            </a:r>
            <a:r>
              <a:rPr lang="ko-KR" altLang="en-US" dirty="0" err="1" smtClean="0"/>
              <a:t>이중지표</a:t>
            </a:r>
            <a:r>
              <a:rPr lang="en-US" altLang="ko-KR" dirty="0" smtClean="0"/>
              <a:t>), </a:t>
            </a:r>
            <a:r>
              <a:rPr lang="ko-KR" altLang="en-US" dirty="0" smtClean="0"/>
              <a:t>인사</a:t>
            </a:r>
            <a:r>
              <a:rPr lang="en-US" altLang="ko-KR" dirty="0" smtClean="0"/>
              <a:t>/</a:t>
            </a:r>
            <a:r>
              <a:rPr lang="ko-KR" altLang="en-US" dirty="0" smtClean="0"/>
              <a:t>보상</a:t>
            </a:r>
            <a:r>
              <a:rPr lang="en-US" altLang="ko-KR" dirty="0" smtClean="0"/>
              <a:t>(</a:t>
            </a:r>
            <a:r>
              <a:rPr lang="ko-KR" altLang="en-US" dirty="0" smtClean="0"/>
              <a:t>역량</a:t>
            </a:r>
            <a:r>
              <a:rPr lang="en-US" altLang="ko-KR" dirty="0" smtClean="0"/>
              <a:t>.</a:t>
            </a:r>
            <a:r>
              <a:rPr lang="ko-KR" altLang="en-US" dirty="0" smtClean="0"/>
              <a:t>인센티브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기존과 신사업을 다르게 설계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2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그룹 157"/>
          <p:cNvGrpSpPr/>
          <p:nvPr/>
        </p:nvGrpSpPr>
        <p:grpSpPr>
          <a:xfrm>
            <a:off x="-1" y="0"/>
            <a:ext cx="12192001" cy="971550"/>
            <a:chOff x="1173938" y="605136"/>
            <a:chExt cx="10651388" cy="646331"/>
          </a:xfrm>
        </p:grpSpPr>
        <p:sp>
          <p:nvSpPr>
            <p:cNvPr id="159" name="사각형: 둥근 모서리 1">
              <a:extLst>
                <a:ext uri="{FF2B5EF4-FFF2-40B4-BE49-F238E27FC236}">
                  <a16:creationId xmlns:a16="http://schemas.microsoft.com/office/drawing/2014/main" id="{1CFD7E2A-EB9D-AE56-E575-5F614B441EF2}"/>
                </a:ext>
              </a:extLst>
            </p:cNvPr>
            <p:cNvSpPr/>
            <p:nvPr/>
          </p:nvSpPr>
          <p:spPr bwMode="auto">
            <a:xfrm>
              <a:off x="1173938" y="605136"/>
              <a:ext cx="10651388" cy="64633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3200" b="1" dirty="0" smtClean="0"/>
                <a:t>   </a:t>
              </a:r>
              <a:r>
                <a:rPr lang="en-US" altLang="ko-KR" sz="3200" b="1" dirty="0" smtClean="0"/>
                <a:t>08.</a:t>
              </a:r>
              <a:r>
                <a:rPr lang="ko-KR" altLang="en-US" sz="3200" dirty="0" smtClean="0">
                  <a:solidFill>
                    <a:schemeClr val="bg1"/>
                  </a:solidFill>
                </a:rPr>
                <a:t> </a:t>
              </a:r>
              <a:r>
                <a:rPr lang="ko-KR" altLang="en-US" sz="3200" b="1" dirty="0" err="1" smtClean="0"/>
                <a:t>신사업본부</a:t>
              </a:r>
              <a:r>
                <a:rPr lang="ko-KR" altLang="en-US" sz="3200" b="1" dirty="0" smtClean="0"/>
                <a:t> 초기 조직도</a:t>
              </a:r>
              <a:endParaRPr lang="ko-KR" altLang="en-US" sz="3200" b="1" dirty="0"/>
            </a:p>
          </p:txBody>
        </p:sp>
        <p:sp>
          <p:nvSpPr>
            <p:cNvPr id="160" name="사각형: 둥근 모서리 13">
              <a:extLst>
                <a:ext uri="{FF2B5EF4-FFF2-40B4-BE49-F238E27FC236}">
                  <a16:creationId xmlns:a16="http://schemas.microsoft.com/office/drawing/2014/main" id="{ACC15DB2-67EC-B0CE-190E-8AC80F5458D8}"/>
                </a:ext>
              </a:extLst>
            </p:cNvPr>
            <p:cNvSpPr/>
            <p:nvPr/>
          </p:nvSpPr>
          <p:spPr bwMode="auto">
            <a:xfrm>
              <a:off x="1281081" y="660442"/>
              <a:ext cx="126895" cy="53557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726141" y="1304364"/>
            <a:ext cx="7135904" cy="4875672"/>
            <a:chOff x="2595282" y="1506070"/>
            <a:chExt cx="7135904" cy="4875672"/>
          </a:xfrm>
        </p:grpSpPr>
        <p:sp>
          <p:nvSpPr>
            <p:cNvPr id="2" name="모서리가 둥근 직사각형 1"/>
            <p:cNvSpPr/>
            <p:nvPr/>
          </p:nvSpPr>
          <p:spPr bwMode="auto">
            <a:xfrm>
              <a:off x="4840941" y="1506070"/>
              <a:ext cx="2393576" cy="6454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dirty="0" smtClean="0"/>
                <a:t>회장</a:t>
              </a:r>
              <a:r>
                <a:rPr lang="en-US" altLang="ko-KR" dirty="0" smtClean="0"/>
                <a:t>/ </a:t>
              </a:r>
              <a:r>
                <a:rPr lang="ko-KR" altLang="en-US" dirty="0" smtClean="0"/>
                <a:t>이사회</a:t>
              </a:r>
              <a:endParaRPr lang="ko-KR" altLang="en-US" dirty="0"/>
            </a:p>
          </p:txBody>
        </p:sp>
        <p:sp>
          <p:nvSpPr>
            <p:cNvPr id="6" name="모서리가 둥근 직사각형 5"/>
            <p:cNvSpPr/>
            <p:nvPr/>
          </p:nvSpPr>
          <p:spPr bwMode="auto">
            <a:xfrm>
              <a:off x="4840941" y="2586317"/>
              <a:ext cx="2393576" cy="6454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dirty="0" smtClean="0"/>
                <a:t>사무총장</a:t>
              </a:r>
              <a:endParaRPr lang="ko-KR" altLang="en-US" dirty="0"/>
            </a:p>
          </p:txBody>
        </p:sp>
        <p:sp>
          <p:nvSpPr>
            <p:cNvPr id="10" name="모서리가 둥근 직사각형 9"/>
            <p:cNvSpPr/>
            <p:nvPr/>
          </p:nvSpPr>
          <p:spPr bwMode="auto">
            <a:xfrm>
              <a:off x="7337610" y="4713188"/>
              <a:ext cx="2393576" cy="6454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dirty="0" err="1" smtClean="0"/>
                <a:t>공용지원</a:t>
              </a:r>
              <a:endParaRPr lang="ko-KR" altLang="en-US" dirty="0"/>
            </a:p>
          </p:txBody>
        </p:sp>
        <p:sp>
          <p:nvSpPr>
            <p:cNvPr id="12" name="모서리가 둥근 직사각형 11"/>
            <p:cNvSpPr/>
            <p:nvPr/>
          </p:nvSpPr>
          <p:spPr bwMode="auto">
            <a:xfrm>
              <a:off x="2595282" y="5736283"/>
              <a:ext cx="2944906" cy="6454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dirty="0" smtClean="0"/>
                <a:t>외부 파트너 </a:t>
              </a:r>
              <a:r>
                <a:rPr lang="en-US" altLang="ko-KR" dirty="0" smtClean="0"/>
                <a:t>/  </a:t>
              </a:r>
              <a:r>
                <a:rPr lang="ko-KR" altLang="en-US" dirty="0" smtClean="0"/>
                <a:t>협력기관</a:t>
              </a:r>
              <a:endParaRPr lang="ko-KR" altLang="en-US" dirty="0"/>
            </a:p>
          </p:txBody>
        </p:sp>
        <p:cxnSp>
          <p:nvCxnSpPr>
            <p:cNvPr id="4" name="직선 연결선 3"/>
            <p:cNvCxnSpPr>
              <a:stCxn id="2" idx="2"/>
              <a:endCxn id="9" idx="0"/>
            </p:cNvCxnSpPr>
            <p:nvPr/>
          </p:nvCxnSpPr>
          <p:spPr>
            <a:xfrm>
              <a:off x="6037729" y="2151529"/>
              <a:ext cx="0" cy="1538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3792070" y="4012824"/>
              <a:ext cx="17930" cy="172345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8520951" y="4012824"/>
              <a:ext cx="1" cy="12079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>
              <a:off x="3792070" y="4015059"/>
              <a:ext cx="47243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모서리가 둥근 직사각형 8"/>
            <p:cNvSpPr/>
            <p:nvPr/>
          </p:nvSpPr>
          <p:spPr bwMode="auto">
            <a:xfrm>
              <a:off x="4840941" y="3690095"/>
              <a:ext cx="2393576" cy="6454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dirty="0" smtClean="0"/>
                <a:t>신사업본부장</a:t>
              </a:r>
              <a:endParaRPr lang="ko-KR" altLang="en-US" dirty="0"/>
            </a:p>
          </p:txBody>
        </p:sp>
        <p:sp>
          <p:nvSpPr>
            <p:cNvPr id="11" name="모서리가 둥근 직사각형 10"/>
            <p:cNvSpPr/>
            <p:nvPr/>
          </p:nvSpPr>
          <p:spPr bwMode="auto">
            <a:xfrm>
              <a:off x="2595282" y="4713189"/>
              <a:ext cx="2393576" cy="6454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ko-KR" dirty="0" smtClean="0"/>
                <a:t>PM(</a:t>
              </a:r>
              <a:r>
                <a:rPr lang="ko-KR" altLang="en-US" dirty="0" err="1" smtClean="0"/>
                <a:t>신중년</a:t>
              </a:r>
              <a:r>
                <a:rPr lang="en-US" altLang="ko-KR" dirty="0" smtClean="0"/>
                <a:t>)</a:t>
              </a:r>
              <a:endParaRPr lang="ko-KR" altLang="en-US" dirty="0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8346139" y="2094923"/>
            <a:ext cx="3460375" cy="2475376"/>
            <a:chOff x="8323728" y="1436592"/>
            <a:chExt cx="3460375" cy="2475376"/>
          </a:xfrm>
        </p:grpSpPr>
        <p:sp>
          <p:nvSpPr>
            <p:cNvPr id="20" name="한쪽 모서리가 잘린 사각형 19"/>
            <p:cNvSpPr/>
            <p:nvPr/>
          </p:nvSpPr>
          <p:spPr bwMode="auto">
            <a:xfrm>
              <a:off x="8323729" y="1436592"/>
              <a:ext cx="3442447" cy="578224"/>
            </a:xfrm>
            <a:prstGeom prst="snip1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ko-KR" sz="2400" b="1" dirty="0" smtClean="0">
                  <a:solidFill>
                    <a:schemeClr val="bg1"/>
                  </a:solidFill>
                </a:rPr>
                <a:t>PM</a:t>
              </a:r>
              <a:r>
                <a:rPr lang="ko-KR" altLang="en-US" sz="2400" b="1" dirty="0" smtClean="0">
                  <a:solidFill>
                    <a:schemeClr val="bg1"/>
                  </a:solidFill>
                </a:rPr>
                <a:t>중심 책임 구조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한쪽 모서리가 잘린 사각형 23"/>
            <p:cNvSpPr/>
            <p:nvPr/>
          </p:nvSpPr>
          <p:spPr bwMode="auto">
            <a:xfrm>
              <a:off x="8341656" y="2073086"/>
              <a:ext cx="3442447" cy="578224"/>
            </a:xfrm>
            <a:prstGeom prst="snip1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sz="2400" b="1" dirty="0" smtClean="0">
                  <a:solidFill>
                    <a:schemeClr val="bg1"/>
                  </a:solidFill>
                </a:rPr>
                <a:t>프로젝트 중심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5" name="한쪽 모서리가 잘린 사각형 24"/>
            <p:cNvSpPr/>
            <p:nvPr/>
          </p:nvSpPr>
          <p:spPr bwMode="auto">
            <a:xfrm>
              <a:off x="8323728" y="2709580"/>
              <a:ext cx="3442447" cy="578224"/>
            </a:xfrm>
            <a:prstGeom prst="snip1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sz="2400" b="1" dirty="0" smtClean="0">
                  <a:solidFill>
                    <a:schemeClr val="bg1"/>
                  </a:solidFill>
                </a:rPr>
                <a:t>의사결정 분권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한쪽 모서리가 잘린 사각형 25"/>
            <p:cNvSpPr/>
            <p:nvPr/>
          </p:nvSpPr>
          <p:spPr bwMode="auto">
            <a:xfrm>
              <a:off x="8341656" y="3333744"/>
              <a:ext cx="3442447" cy="578224"/>
            </a:xfrm>
            <a:prstGeom prst="snip1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sz="2400" b="1" dirty="0" smtClean="0">
                  <a:solidFill>
                    <a:schemeClr val="bg1"/>
                  </a:solidFill>
                </a:rPr>
                <a:t>통제 최소화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981635" y="6419833"/>
            <a:ext cx="851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강의안 참조</a:t>
            </a:r>
            <a:r>
              <a:rPr lang="en-US" altLang="ko-KR" dirty="0" smtClean="0"/>
              <a:t>: Miles &amp; Snow: </a:t>
            </a:r>
            <a:r>
              <a:rPr lang="ko-KR" altLang="en-US" dirty="0" err="1" smtClean="0"/>
              <a:t>공격형</a:t>
            </a:r>
            <a:r>
              <a:rPr lang="ko-KR" altLang="en-US" dirty="0" smtClean="0"/>
              <a:t> 전략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유기적 조직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낮은 공식화 낮은 </a:t>
            </a:r>
            <a:r>
              <a:rPr lang="ko-KR" altLang="en-US" dirty="0" err="1" smtClean="0"/>
              <a:t>권한계층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206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그룹 157"/>
          <p:cNvGrpSpPr/>
          <p:nvPr/>
        </p:nvGrpSpPr>
        <p:grpSpPr>
          <a:xfrm>
            <a:off x="-1" y="0"/>
            <a:ext cx="12192001" cy="971550"/>
            <a:chOff x="1173938" y="605136"/>
            <a:chExt cx="10651388" cy="646331"/>
          </a:xfrm>
        </p:grpSpPr>
        <p:sp>
          <p:nvSpPr>
            <p:cNvPr id="159" name="사각형: 둥근 모서리 1">
              <a:extLst>
                <a:ext uri="{FF2B5EF4-FFF2-40B4-BE49-F238E27FC236}">
                  <a16:creationId xmlns:a16="http://schemas.microsoft.com/office/drawing/2014/main" id="{1CFD7E2A-EB9D-AE56-E575-5F614B441EF2}"/>
                </a:ext>
              </a:extLst>
            </p:cNvPr>
            <p:cNvSpPr/>
            <p:nvPr/>
          </p:nvSpPr>
          <p:spPr bwMode="auto">
            <a:xfrm>
              <a:off x="1173938" y="605136"/>
              <a:ext cx="10651388" cy="64633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3200" b="1" dirty="0" smtClean="0"/>
                <a:t>   </a:t>
              </a:r>
              <a:r>
                <a:rPr lang="en-US" altLang="ko-KR" sz="3200" b="1" dirty="0" smtClean="0"/>
                <a:t>09.</a:t>
              </a:r>
              <a:r>
                <a:rPr lang="ko-KR" altLang="en-US" sz="3200" dirty="0" smtClean="0">
                  <a:solidFill>
                    <a:schemeClr val="bg1"/>
                  </a:solidFill>
                </a:rPr>
                <a:t> </a:t>
              </a:r>
              <a:r>
                <a:rPr lang="ko-KR" altLang="en-US" sz="3200" b="1" dirty="0" err="1" smtClean="0"/>
                <a:t>신사업본부</a:t>
              </a:r>
              <a:r>
                <a:rPr lang="ko-KR" altLang="en-US" sz="3200" b="1" dirty="0" smtClean="0"/>
                <a:t> 확장 조직도</a:t>
              </a:r>
              <a:r>
                <a:rPr lang="en-US" altLang="ko-KR" sz="3200" b="1" dirty="0" smtClean="0"/>
                <a:t>(3</a:t>
              </a:r>
              <a:r>
                <a:rPr lang="ko-KR" altLang="en-US" sz="3200" b="1" dirty="0" smtClean="0"/>
                <a:t>년</a:t>
              </a:r>
              <a:r>
                <a:rPr lang="en-US" altLang="ko-KR" sz="3200" b="1" dirty="0" smtClean="0"/>
                <a:t>~5</a:t>
              </a:r>
              <a:r>
                <a:rPr lang="ko-KR" altLang="en-US" sz="3200" b="1" dirty="0" smtClean="0"/>
                <a:t>년</a:t>
              </a:r>
              <a:r>
                <a:rPr lang="en-US" altLang="ko-KR" sz="3200" b="1" dirty="0" smtClean="0"/>
                <a:t>)</a:t>
              </a:r>
              <a:endParaRPr lang="ko-KR" altLang="en-US" sz="3200" b="1" dirty="0"/>
            </a:p>
          </p:txBody>
        </p:sp>
        <p:sp>
          <p:nvSpPr>
            <p:cNvPr id="160" name="사각형: 둥근 모서리 13">
              <a:extLst>
                <a:ext uri="{FF2B5EF4-FFF2-40B4-BE49-F238E27FC236}">
                  <a16:creationId xmlns:a16="http://schemas.microsoft.com/office/drawing/2014/main" id="{ACC15DB2-67EC-B0CE-190E-8AC80F5458D8}"/>
                </a:ext>
              </a:extLst>
            </p:cNvPr>
            <p:cNvSpPr/>
            <p:nvPr/>
          </p:nvSpPr>
          <p:spPr bwMode="auto">
            <a:xfrm>
              <a:off x="1281081" y="660442"/>
              <a:ext cx="126895" cy="53557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129551" y="1067154"/>
            <a:ext cx="3630707" cy="46166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err="1" smtClean="0">
                <a:solidFill>
                  <a:schemeClr val="bg1"/>
                </a:solidFill>
              </a:rPr>
              <a:t>분석형</a:t>
            </a:r>
            <a:r>
              <a:rPr lang="ko-KR" altLang="en-US" sz="2400" b="1" dirty="0" smtClean="0">
                <a:solidFill>
                  <a:schemeClr val="bg1"/>
                </a:solidFill>
              </a:rPr>
              <a:t> </a:t>
            </a:r>
            <a:r>
              <a:rPr lang="ko-KR" altLang="en-US" sz="2400" b="1" dirty="0" err="1" smtClean="0">
                <a:solidFill>
                  <a:schemeClr val="bg1"/>
                </a:solidFill>
              </a:rPr>
              <a:t>전략구조</a:t>
            </a:r>
            <a:endParaRPr lang="en-US" altLang="ko-KR" sz="2400" b="1" dirty="0" smtClean="0">
              <a:solidFill>
                <a:schemeClr val="bg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5060235" y="1767199"/>
            <a:ext cx="2393576" cy="64545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b="1" dirty="0" smtClean="0">
                <a:solidFill>
                  <a:schemeClr val="bg1"/>
                </a:solidFill>
              </a:rPr>
              <a:t>회장</a:t>
            </a:r>
            <a:r>
              <a:rPr lang="en-US" altLang="ko-KR" b="1" dirty="0" smtClean="0">
                <a:solidFill>
                  <a:schemeClr val="bg1"/>
                </a:solidFill>
              </a:rPr>
              <a:t>/ </a:t>
            </a:r>
            <a:r>
              <a:rPr lang="ko-KR" altLang="en-US" b="1" dirty="0" smtClean="0">
                <a:solidFill>
                  <a:schemeClr val="bg1"/>
                </a:solidFill>
              </a:rPr>
              <a:t>이사회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cxnSp>
        <p:nvCxnSpPr>
          <p:cNvPr id="11" name="직선 연결선 10"/>
          <p:cNvCxnSpPr>
            <a:stCxn id="7" idx="2"/>
          </p:cNvCxnSpPr>
          <p:nvPr/>
        </p:nvCxnSpPr>
        <p:spPr>
          <a:xfrm>
            <a:off x="6257023" y="2412658"/>
            <a:ext cx="53788" cy="2289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 flipH="1">
            <a:off x="2342029" y="4656014"/>
            <a:ext cx="4483" cy="350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9854451" y="4642090"/>
            <a:ext cx="1" cy="364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V="1">
            <a:off x="2337546" y="4628166"/>
            <a:ext cx="7516906" cy="278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/>
        </p:nvGrpSpPr>
        <p:grpSpPr>
          <a:xfrm>
            <a:off x="955625" y="5061308"/>
            <a:ext cx="3294492" cy="1529581"/>
            <a:chOff x="903192" y="2804997"/>
            <a:chExt cx="3294492" cy="1529581"/>
          </a:xfrm>
        </p:grpSpPr>
        <p:sp>
          <p:nvSpPr>
            <p:cNvPr id="4" name="양쪽 모서리가 둥근 사각형 3"/>
            <p:cNvSpPr/>
            <p:nvPr/>
          </p:nvSpPr>
          <p:spPr bwMode="auto">
            <a:xfrm>
              <a:off x="903195" y="2804997"/>
              <a:ext cx="3174495" cy="497540"/>
            </a:xfrm>
            <a:prstGeom prst="round2Same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b="1" dirty="0" err="1" smtClean="0">
                  <a:solidFill>
                    <a:schemeClr val="bg1"/>
                  </a:solidFill>
                </a:rPr>
                <a:t>신중년</a:t>
              </a:r>
              <a:r>
                <a:rPr lang="ko-KR" altLang="en-US" b="1" dirty="0" smtClean="0">
                  <a:solidFill>
                    <a:schemeClr val="bg1"/>
                  </a:solidFill>
                </a:rPr>
                <a:t> 재취업 </a:t>
              </a:r>
              <a:r>
                <a:rPr lang="ko-KR" altLang="en-US" b="1" dirty="0" err="1" smtClean="0">
                  <a:solidFill>
                    <a:schemeClr val="bg1"/>
                  </a:solidFill>
                </a:rPr>
                <a:t>사업팀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양쪽 모서리가 둥근 사각형 22"/>
            <p:cNvSpPr/>
            <p:nvPr/>
          </p:nvSpPr>
          <p:spPr bwMode="auto">
            <a:xfrm rot="10800000">
              <a:off x="903193" y="3303037"/>
              <a:ext cx="3174496" cy="1031541"/>
            </a:xfrm>
            <a:prstGeom prst="round2Same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03192" y="3362267"/>
              <a:ext cx="329449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 err="1" smtClean="0"/>
                <a:t>신중년</a:t>
              </a:r>
              <a:r>
                <a:rPr lang="ko-KR" altLang="en-US" dirty="0" smtClean="0"/>
                <a:t> 프로그램 설계 운영</a:t>
              </a:r>
              <a:endParaRPr lang="en-US" altLang="ko-KR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 smtClean="0"/>
                <a:t>진단</a:t>
              </a:r>
              <a:r>
                <a:rPr lang="en-US" altLang="ko-KR" dirty="0" smtClean="0"/>
                <a:t>, </a:t>
              </a:r>
              <a:r>
                <a:rPr lang="ko-KR" altLang="en-US" dirty="0"/>
                <a:t>훈</a:t>
              </a:r>
              <a:r>
                <a:rPr lang="ko-KR" altLang="en-US" dirty="0" smtClean="0"/>
                <a:t>련</a:t>
              </a:r>
              <a:r>
                <a:rPr lang="en-US" altLang="ko-KR" dirty="0" smtClean="0"/>
                <a:t>, </a:t>
              </a:r>
              <a:r>
                <a:rPr lang="ko-KR" altLang="en-US" dirty="0" smtClean="0"/>
                <a:t>코칭</a:t>
              </a:r>
              <a:endParaRPr lang="en-US" altLang="ko-KR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 smtClean="0"/>
                <a:t>커리큘럼 표준화</a:t>
              </a:r>
              <a:endParaRPr lang="ko-KR" altLang="en-US" dirty="0"/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4912658" y="3495420"/>
            <a:ext cx="2781302" cy="995581"/>
            <a:chOff x="903194" y="2804997"/>
            <a:chExt cx="2781302" cy="995581"/>
          </a:xfrm>
        </p:grpSpPr>
        <p:sp>
          <p:nvSpPr>
            <p:cNvPr id="35" name="양쪽 모서리가 둥근 사각형 34"/>
            <p:cNvSpPr/>
            <p:nvPr/>
          </p:nvSpPr>
          <p:spPr bwMode="auto">
            <a:xfrm>
              <a:off x="903195" y="2804997"/>
              <a:ext cx="2781301" cy="497540"/>
            </a:xfrm>
            <a:prstGeom prst="round2Same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b="1" dirty="0" err="1" smtClean="0">
                  <a:solidFill>
                    <a:schemeClr val="bg1"/>
                  </a:solidFill>
                </a:rPr>
                <a:t>신사업본부</a:t>
              </a:r>
              <a:r>
                <a:rPr lang="ko-KR" altLang="en-US" b="1" dirty="0" smtClean="0">
                  <a:solidFill>
                    <a:schemeClr val="bg1"/>
                  </a:solidFill>
                </a:rPr>
                <a:t> 본부장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양쪽 모서리가 둥근 사각형 35"/>
            <p:cNvSpPr/>
            <p:nvPr/>
          </p:nvSpPr>
          <p:spPr bwMode="auto">
            <a:xfrm rot="10800000">
              <a:off x="903194" y="3303038"/>
              <a:ext cx="2781301" cy="497540"/>
            </a:xfrm>
            <a:prstGeom prst="round2Same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24668" y="3361765"/>
              <a:ext cx="1938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/>
                <a:t>전략</a:t>
              </a:r>
              <a:r>
                <a:rPr lang="en-US" altLang="ko-KR" dirty="0" smtClean="0"/>
                <a:t>/ </a:t>
              </a:r>
              <a:r>
                <a:rPr lang="ko-KR" altLang="en-US" dirty="0" smtClean="0"/>
                <a:t>포트폴리오</a:t>
              </a:r>
              <a:endParaRPr lang="ko-KR" altLang="en-US" dirty="0"/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4704341" y="4998329"/>
            <a:ext cx="2792281" cy="1592559"/>
            <a:chOff x="892215" y="2804998"/>
            <a:chExt cx="2792281" cy="995581"/>
          </a:xfrm>
        </p:grpSpPr>
        <p:sp>
          <p:nvSpPr>
            <p:cNvPr id="39" name="양쪽 모서리가 둥근 사각형 38"/>
            <p:cNvSpPr/>
            <p:nvPr/>
          </p:nvSpPr>
          <p:spPr bwMode="auto">
            <a:xfrm>
              <a:off x="903195" y="2804998"/>
              <a:ext cx="2781301" cy="357629"/>
            </a:xfrm>
            <a:prstGeom prst="round2Same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b="1" dirty="0" smtClean="0">
                  <a:solidFill>
                    <a:schemeClr val="bg1"/>
                  </a:solidFill>
                </a:rPr>
                <a:t>지역</a:t>
              </a:r>
              <a:r>
                <a:rPr lang="en-US" altLang="ko-KR" b="1" dirty="0" smtClean="0">
                  <a:solidFill>
                    <a:schemeClr val="bg1"/>
                  </a:solidFill>
                </a:rPr>
                <a:t>/ </a:t>
              </a:r>
              <a:r>
                <a:rPr lang="ko-KR" altLang="en-US" b="1" dirty="0" smtClean="0">
                  <a:solidFill>
                    <a:schemeClr val="bg1"/>
                  </a:solidFill>
                </a:rPr>
                <a:t>파트너 팀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양쪽 모서리가 둥근 사각형 39"/>
            <p:cNvSpPr/>
            <p:nvPr/>
          </p:nvSpPr>
          <p:spPr bwMode="auto">
            <a:xfrm rot="10800000">
              <a:off x="903193" y="3162624"/>
              <a:ext cx="2781301" cy="637955"/>
            </a:xfrm>
            <a:prstGeom prst="round2Same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92215" y="3162626"/>
              <a:ext cx="2749471" cy="577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 smtClean="0"/>
                <a:t>지역</a:t>
              </a:r>
              <a:r>
                <a:rPr lang="en-US" altLang="ko-KR" dirty="0" smtClean="0"/>
                <a:t>/ </a:t>
              </a:r>
              <a:r>
                <a:rPr lang="ko-KR" altLang="en-US" dirty="0" smtClean="0"/>
                <a:t>공공기관 파트너</a:t>
              </a:r>
              <a:endParaRPr lang="en-US" altLang="ko-KR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 smtClean="0"/>
                <a:t>협약</a:t>
              </a:r>
              <a:r>
                <a:rPr lang="en-US" altLang="ko-KR" dirty="0" smtClean="0"/>
                <a:t>, </a:t>
              </a:r>
              <a:r>
                <a:rPr lang="ko-KR" altLang="en-US" dirty="0" err="1" smtClean="0"/>
                <a:t>계약관리</a:t>
              </a:r>
              <a:endParaRPr lang="en-US" altLang="ko-KR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 smtClean="0"/>
                <a:t>기업</a:t>
              </a:r>
              <a:r>
                <a:rPr lang="en-US" altLang="ko-KR" dirty="0" smtClean="0"/>
                <a:t>/</a:t>
              </a:r>
              <a:r>
                <a:rPr lang="ko-KR" altLang="en-US" dirty="0" smtClean="0"/>
                <a:t>교육기관 연계</a:t>
              </a:r>
              <a:endParaRPr lang="en-US" altLang="ko-KR" dirty="0" smtClean="0"/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7961820" y="5006752"/>
            <a:ext cx="3679006" cy="1598561"/>
            <a:chOff x="903192" y="2804997"/>
            <a:chExt cx="3679006" cy="1598561"/>
          </a:xfrm>
        </p:grpSpPr>
        <p:sp>
          <p:nvSpPr>
            <p:cNvPr id="43" name="양쪽 모서리가 둥근 사각형 42"/>
            <p:cNvSpPr/>
            <p:nvPr/>
          </p:nvSpPr>
          <p:spPr bwMode="auto">
            <a:xfrm>
              <a:off x="903195" y="2804997"/>
              <a:ext cx="3630707" cy="497540"/>
            </a:xfrm>
            <a:prstGeom prst="round2Same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b="1" dirty="0" smtClean="0">
                  <a:solidFill>
                    <a:schemeClr val="bg1"/>
                  </a:solidFill>
                </a:rPr>
                <a:t>데이터</a:t>
              </a:r>
              <a:r>
                <a:rPr lang="en-US" altLang="ko-KR" b="1" dirty="0" smtClean="0">
                  <a:solidFill>
                    <a:schemeClr val="bg1"/>
                  </a:solidFill>
                </a:rPr>
                <a:t>/</a:t>
              </a:r>
              <a:r>
                <a:rPr lang="ko-KR" altLang="en-US" b="1" dirty="0" smtClean="0">
                  <a:solidFill>
                    <a:schemeClr val="bg1"/>
                  </a:solidFill>
                </a:rPr>
                <a:t>성과관리 팀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양쪽 모서리가 둥근 사각형 43"/>
            <p:cNvSpPr/>
            <p:nvPr/>
          </p:nvSpPr>
          <p:spPr bwMode="auto">
            <a:xfrm rot="10800000">
              <a:off x="903192" y="3303038"/>
              <a:ext cx="3630710" cy="1100520"/>
            </a:xfrm>
            <a:prstGeom prst="round2Same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44664" y="3357093"/>
              <a:ext cx="363753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dirty="0" smtClean="0"/>
                <a:t>KPI </a:t>
              </a:r>
              <a:r>
                <a:rPr lang="ko-KR" altLang="en-US" dirty="0" smtClean="0"/>
                <a:t>설계 측정</a:t>
              </a:r>
              <a:r>
                <a:rPr lang="en-US" altLang="ko-KR" dirty="0" smtClean="0"/>
                <a:t>(</a:t>
              </a:r>
              <a:r>
                <a:rPr lang="ko-KR" altLang="en-US" dirty="0" err="1" smtClean="0"/>
                <a:t>취업율</a:t>
              </a:r>
              <a:r>
                <a:rPr lang="en-US" altLang="ko-KR" dirty="0" smtClean="0"/>
                <a:t>, </a:t>
              </a:r>
              <a:r>
                <a:rPr lang="ko-KR" altLang="en-US" dirty="0" err="1" smtClean="0"/>
                <a:t>유지율</a:t>
              </a:r>
              <a:r>
                <a:rPr lang="en-US" altLang="ko-KR" dirty="0" smtClean="0"/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 smtClean="0"/>
                <a:t>운영 데이터 품질관리</a:t>
              </a:r>
              <a:endParaRPr lang="en-US" altLang="ko-KR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 smtClean="0"/>
                <a:t>성과 기반 개선</a:t>
              </a:r>
              <a:r>
                <a:rPr lang="en-US" altLang="ko-KR" dirty="0" smtClean="0"/>
                <a:t>(</a:t>
              </a:r>
              <a:r>
                <a:rPr lang="ko-KR" altLang="en-US" dirty="0" smtClean="0"/>
                <a:t>프로그램 개선</a:t>
              </a:r>
              <a:r>
                <a:rPr lang="en-US" altLang="ko-KR" dirty="0" smtClean="0"/>
                <a:t>)</a:t>
              </a:r>
              <a:r>
                <a:rPr lang="ko-KR" altLang="en-US" dirty="0" smtClean="0"/>
                <a:t> </a:t>
              </a:r>
              <a:endParaRPr lang="ko-KR" altLang="en-US" dirty="0"/>
            </a:p>
          </p:txBody>
        </p:sp>
      </p:grpSp>
      <p:sp>
        <p:nvSpPr>
          <p:cNvPr id="8" name="모서리가 둥근 직사각형 7"/>
          <p:cNvSpPr/>
          <p:nvPr/>
        </p:nvSpPr>
        <p:spPr bwMode="auto">
          <a:xfrm>
            <a:off x="5060236" y="2581033"/>
            <a:ext cx="2393576" cy="64545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b="1" dirty="0" smtClean="0">
                <a:solidFill>
                  <a:schemeClr val="bg1"/>
                </a:solidFill>
              </a:rPr>
              <a:t>사무총장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66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그룹 157"/>
          <p:cNvGrpSpPr/>
          <p:nvPr/>
        </p:nvGrpSpPr>
        <p:grpSpPr>
          <a:xfrm>
            <a:off x="-1" y="0"/>
            <a:ext cx="12192001" cy="971550"/>
            <a:chOff x="1173938" y="605136"/>
            <a:chExt cx="10651388" cy="646331"/>
          </a:xfrm>
        </p:grpSpPr>
        <p:sp>
          <p:nvSpPr>
            <p:cNvPr id="159" name="사각형: 둥근 모서리 1">
              <a:extLst>
                <a:ext uri="{FF2B5EF4-FFF2-40B4-BE49-F238E27FC236}">
                  <a16:creationId xmlns:a16="http://schemas.microsoft.com/office/drawing/2014/main" id="{1CFD7E2A-EB9D-AE56-E575-5F614B441EF2}"/>
                </a:ext>
              </a:extLst>
            </p:cNvPr>
            <p:cNvSpPr/>
            <p:nvPr/>
          </p:nvSpPr>
          <p:spPr bwMode="auto">
            <a:xfrm>
              <a:off x="1173938" y="605136"/>
              <a:ext cx="10651388" cy="64633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3200" b="1" dirty="0" smtClean="0"/>
                <a:t>   </a:t>
              </a:r>
              <a:r>
                <a:rPr lang="en-US" altLang="ko-KR" sz="3200" b="1" dirty="0" smtClean="0"/>
                <a:t>10.</a:t>
              </a:r>
              <a:r>
                <a:rPr lang="ko-KR" altLang="en-US" sz="3200" dirty="0" smtClean="0">
                  <a:solidFill>
                    <a:schemeClr val="bg1"/>
                  </a:solidFill>
                </a:rPr>
                <a:t> </a:t>
              </a:r>
              <a:r>
                <a:rPr lang="ko-KR" altLang="en-US" sz="3200" b="1" dirty="0" err="1" smtClean="0"/>
                <a:t>상황요인</a:t>
              </a:r>
              <a:r>
                <a:rPr lang="en-US" altLang="ko-KR" sz="3200" b="1" dirty="0" smtClean="0"/>
                <a:t>(</a:t>
              </a:r>
              <a:r>
                <a:rPr lang="ko-KR" altLang="en-US" sz="3200" b="1" dirty="0" smtClean="0"/>
                <a:t>환경</a:t>
              </a:r>
              <a:r>
                <a:rPr lang="en-US" altLang="ko-KR" sz="3200" b="1" dirty="0" smtClean="0"/>
                <a:t>/</a:t>
              </a:r>
              <a:r>
                <a:rPr lang="ko-KR" altLang="en-US" sz="3200" b="1" dirty="0" smtClean="0"/>
                <a:t>기술</a:t>
              </a:r>
              <a:r>
                <a:rPr lang="en-US" altLang="ko-KR" sz="3200" b="1" dirty="0" smtClean="0"/>
                <a:t>/</a:t>
              </a:r>
              <a:r>
                <a:rPr lang="ko-KR" altLang="en-US" sz="3200" b="1" dirty="0" smtClean="0"/>
                <a:t>규모</a:t>
              </a:r>
              <a:r>
                <a:rPr lang="en-US" altLang="ko-KR" sz="3200" dirty="0">
                  <a:latin typeface="+mj-ea"/>
                </a:rPr>
                <a:t>·</a:t>
              </a:r>
              <a:r>
                <a:rPr lang="ko-KR" altLang="en-US" sz="3200" b="1" dirty="0" smtClean="0"/>
                <a:t>문화</a:t>
              </a:r>
              <a:r>
                <a:rPr lang="en-US" altLang="ko-KR" sz="3200" b="1" dirty="0" smtClean="0"/>
                <a:t>)</a:t>
              </a:r>
              <a:r>
                <a:rPr lang="en-US" altLang="ko-KR" sz="3200" b="1" dirty="0" smtClean="0">
                  <a:sym typeface="Wingdings" panose="05000000000000000000" pitchFamily="2" charset="2"/>
                </a:rPr>
                <a:t></a:t>
              </a:r>
              <a:r>
                <a:rPr lang="ko-KR" altLang="en-US" sz="3200" b="1" dirty="0" smtClean="0">
                  <a:sym typeface="Wingdings" panose="05000000000000000000" pitchFamily="2" charset="2"/>
                </a:rPr>
                <a:t>구조적 차원 설계</a:t>
              </a:r>
              <a:endParaRPr lang="ko-KR" altLang="en-US" sz="3200" b="1" dirty="0"/>
            </a:p>
          </p:txBody>
        </p:sp>
        <p:sp>
          <p:nvSpPr>
            <p:cNvPr id="160" name="사각형: 둥근 모서리 13">
              <a:extLst>
                <a:ext uri="{FF2B5EF4-FFF2-40B4-BE49-F238E27FC236}">
                  <a16:creationId xmlns:a16="http://schemas.microsoft.com/office/drawing/2014/main" id="{ACC15DB2-67EC-B0CE-190E-8AC80F5458D8}"/>
                </a:ext>
              </a:extLst>
            </p:cNvPr>
            <p:cNvSpPr/>
            <p:nvPr/>
          </p:nvSpPr>
          <p:spPr bwMode="auto">
            <a:xfrm>
              <a:off x="1281081" y="660442"/>
              <a:ext cx="126895" cy="53557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940217"/>
              </p:ext>
            </p:extLst>
          </p:nvPr>
        </p:nvGraphicFramePr>
        <p:xfrm>
          <a:off x="122639" y="1054685"/>
          <a:ext cx="11899032" cy="5547360"/>
        </p:xfrm>
        <a:graphic>
          <a:graphicData uri="http://schemas.openxmlformats.org/drawingml/2006/table">
            <a:tbl>
              <a:tblPr/>
              <a:tblGrid>
                <a:gridCol w="980020">
                  <a:extLst>
                    <a:ext uri="{9D8B030D-6E8A-4147-A177-3AD203B41FA5}">
                      <a16:colId xmlns:a16="http://schemas.microsoft.com/office/drawing/2014/main" val="1012036770"/>
                    </a:ext>
                  </a:extLst>
                </a:gridCol>
                <a:gridCol w="2635623">
                  <a:extLst>
                    <a:ext uri="{9D8B030D-6E8A-4147-A177-3AD203B41FA5}">
                      <a16:colId xmlns:a16="http://schemas.microsoft.com/office/drawing/2014/main" val="697734936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329982655"/>
                    </a:ext>
                  </a:extLst>
                </a:gridCol>
                <a:gridCol w="4397189">
                  <a:extLst>
                    <a:ext uri="{9D8B030D-6E8A-4147-A177-3AD203B41FA5}">
                      <a16:colId xmlns:a16="http://schemas.microsoft.com/office/drawing/2014/main" val="3686541801"/>
                    </a:ext>
                  </a:extLst>
                </a:gridCol>
              </a:tblGrid>
              <a:tr h="27435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구분</a:t>
                      </a:r>
                      <a:endParaRPr lang="en-US" altLang="ko-KR" sz="20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상황 배경적 차원</a:t>
                      </a:r>
                      <a:endParaRPr lang="en-US" altLang="ko-KR" sz="2000" b="1" dirty="0" smtClean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진단</a:t>
                      </a:r>
                      <a:r>
                        <a:rPr lang="en-US" altLang="ko-KR" sz="20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2000" b="1" dirty="0" err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신중년</a:t>
                      </a:r>
                      <a:r>
                        <a:rPr lang="ko-KR" altLang="en-US" sz="20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재취업</a:t>
                      </a:r>
                      <a:r>
                        <a:rPr lang="en-US" altLang="ko-KR" sz="20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구조적 차원 </a:t>
                      </a:r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설계</a:t>
                      </a:r>
                      <a:endParaRPr lang="ko-KR" altLang="en-US" sz="20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260192"/>
                  </a:ext>
                </a:extLst>
              </a:tr>
              <a:tr h="80196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환경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dirty="0" smtClean="0"/>
                        <a:t>정책 변화</a:t>
                      </a:r>
                      <a:r>
                        <a:rPr lang="en-US" altLang="ko-KR" sz="1300" dirty="0" smtClean="0"/>
                        <a:t>, </a:t>
                      </a:r>
                      <a:r>
                        <a:rPr lang="ko-KR" altLang="en-US" sz="1300" dirty="0" smtClean="0"/>
                        <a:t>이해관계자 다양성</a:t>
                      </a:r>
                      <a:r>
                        <a:rPr lang="en-US" altLang="ko-KR" sz="1300" dirty="0" smtClean="0"/>
                        <a:t>, </a:t>
                      </a:r>
                      <a:r>
                        <a:rPr lang="ko-KR" altLang="en-US" sz="1300" dirty="0" smtClean="0"/>
                        <a:t>수요 변동</a:t>
                      </a:r>
                      <a:r>
                        <a:rPr lang="en-US" altLang="ko-KR" sz="1300" dirty="0" smtClean="0"/>
                        <a:t>, </a:t>
                      </a:r>
                      <a:r>
                        <a:rPr lang="ko-KR" altLang="en-US" sz="1300" dirty="0" smtClean="0"/>
                        <a:t>경쟁</a:t>
                      </a:r>
                      <a:r>
                        <a:rPr lang="en-US" altLang="ko-KR" sz="1300" dirty="0" smtClean="0"/>
                        <a:t>·</a:t>
                      </a:r>
                      <a:r>
                        <a:rPr lang="ko-KR" altLang="en-US" sz="1300" dirty="0" smtClean="0"/>
                        <a:t>협력 구도</a:t>
                      </a:r>
                      <a:endParaRPr lang="en-US" altLang="ko-KR" sz="1300" b="0" dirty="0" smtClean="0"/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유연한 조정과 빠른 의사결정이 필요</a:t>
                      </a:r>
                      <a:endParaRPr lang="ko-KR" altLang="en-US" sz="13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지자체</a:t>
                      </a:r>
                      <a:r>
                        <a:rPr lang="en-US" altLang="ko-KR" sz="1300" b="0" dirty="0" smtClean="0"/>
                        <a:t>/</a:t>
                      </a:r>
                      <a:r>
                        <a:rPr lang="ko-KR" altLang="en-US" sz="1300" b="0" dirty="0" err="1" smtClean="0"/>
                        <a:t>고용기관</a:t>
                      </a:r>
                      <a:r>
                        <a:rPr lang="en-US" altLang="ko-KR" sz="1300" b="0" dirty="0" smtClean="0"/>
                        <a:t>/</a:t>
                      </a:r>
                      <a:r>
                        <a:rPr lang="ko-KR" altLang="en-US" sz="1300" b="0" dirty="0" smtClean="0"/>
                        <a:t>기업</a:t>
                      </a:r>
                      <a:r>
                        <a:rPr lang="en-US" altLang="ko-KR" sz="1300" b="0" dirty="0" smtClean="0"/>
                        <a:t>/</a:t>
                      </a:r>
                      <a:r>
                        <a:rPr lang="ko-KR" altLang="en-US" sz="1300" b="0" dirty="0" smtClean="0"/>
                        <a:t>교육기관 등 이해관계자가 다층적이고</a:t>
                      </a:r>
                      <a:r>
                        <a:rPr lang="en-US" altLang="ko-KR" sz="1300" b="0" dirty="0" smtClean="0"/>
                        <a:t>, </a:t>
                      </a:r>
                      <a:r>
                        <a:rPr lang="ko-KR" altLang="en-US" sz="1300" b="0" dirty="0" smtClean="0"/>
                        <a:t>지역마다 정책</a:t>
                      </a:r>
                      <a:r>
                        <a:rPr lang="en-US" altLang="ko-KR" sz="1300" b="0" dirty="0" smtClean="0"/>
                        <a:t>·</a:t>
                      </a:r>
                      <a:r>
                        <a:rPr lang="ko-KR" altLang="en-US" sz="1300" b="0" dirty="0" smtClean="0"/>
                        <a:t>예산</a:t>
                      </a:r>
                      <a:r>
                        <a:rPr lang="en-US" altLang="ko-KR" sz="1300" b="0" dirty="0" smtClean="0"/>
                        <a:t>·</a:t>
                      </a:r>
                      <a:r>
                        <a:rPr lang="ko-KR" altLang="en-US" sz="1300" b="0" dirty="0" smtClean="0"/>
                        <a:t>대상자 조건이 달라 복잡함</a:t>
                      </a:r>
                      <a:endParaRPr lang="en-US" altLang="ko-KR" sz="1300" b="0" dirty="0" smtClean="0"/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불확실성이 크고</a:t>
                      </a:r>
                      <a:r>
                        <a:rPr lang="en-US" altLang="ko-KR" sz="1300" b="0" dirty="0" smtClean="0"/>
                        <a:t>, </a:t>
                      </a:r>
                      <a:r>
                        <a:rPr lang="ko-KR" altLang="en-US" sz="1300" b="0" dirty="0" smtClean="0"/>
                        <a:t>파트너십 성패가 성과를 좌우</a:t>
                      </a:r>
                      <a:endParaRPr lang="en-US" altLang="ko-KR" sz="13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err="1" smtClean="0"/>
                        <a:t>수평조정</a:t>
                      </a:r>
                      <a:r>
                        <a:rPr lang="ko-KR" altLang="en-US" sz="1300" b="0" dirty="0" smtClean="0"/>
                        <a:t> 강화</a:t>
                      </a:r>
                      <a:r>
                        <a:rPr lang="en-US" altLang="ko-KR" sz="1300" b="0" dirty="0" smtClean="0"/>
                        <a:t>: </a:t>
                      </a:r>
                      <a:r>
                        <a:rPr lang="ko-KR" altLang="en-US" sz="1300" b="0" dirty="0" err="1" smtClean="0"/>
                        <a:t>조정비용을</a:t>
                      </a:r>
                      <a:r>
                        <a:rPr lang="ko-KR" altLang="en-US" sz="1300" b="0" dirty="0" smtClean="0"/>
                        <a:t> 줄이고 반응속도를 높임</a:t>
                      </a:r>
                      <a:r>
                        <a:rPr lang="en-US" altLang="ko-KR" sz="1300" b="0" dirty="0" smtClean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보고체계</a:t>
                      </a:r>
                      <a:r>
                        <a:rPr lang="en-US" altLang="ko-KR" sz="1300" b="0" dirty="0" smtClean="0"/>
                        <a:t>: </a:t>
                      </a:r>
                      <a:r>
                        <a:rPr lang="ko-KR" altLang="en-US" sz="1300" b="0" dirty="0" smtClean="0"/>
                        <a:t>활동 보고가 아니라 이슈</a:t>
                      </a:r>
                      <a:r>
                        <a:rPr lang="en-US" altLang="ko-KR" sz="1300" b="0" dirty="0" smtClean="0"/>
                        <a:t>·</a:t>
                      </a:r>
                      <a:r>
                        <a:rPr lang="ko-KR" altLang="en-US" sz="1300" b="0" dirty="0" smtClean="0"/>
                        <a:t>리스크</a:t>
                      </a:r>
                      <a:r>
                        <a:rPr lang="en-US" altLang="ko-KR" sz="1300" b="0" dirty="0" smtClean="0"/>
                        <a:t>·</a:t>
                      </a:r>
                      <a:r>
                        <a:rPr lang="ko-KR" altLang="en-US" sz="1300" b="0" dirty="0" smtClean="0"/>
                        <a:t>성과지표 중심의 짧은 주기 보고</a:t>
                      </a:r>
                      <a:r>
                        <a:rPr lang="en-US" altLang="ko-KR" sz="1300" b="0" dirty="0" smtClean="0"/>
                        <a:t>(</a:t>
                      </a:r>
                      <a:r>
                        <a:rPr lang="ko-KR" altLang="en-US" sz="1300" b="0" dirty="0" smtClean="0"/>
                        <a:t>주간</a:t>
                      </a:r>
                      <a:r>
                        <a:rPr lang="en-US" altLang="ko-KR" sz="1300" b="0" dirty="0" smtClean="0"/>
                        <a:t>)</a:t>
                      </a:r>
                      <a:r>
                        <a:rPr lang="ko-KR" altLang="en-US" sz="1300" b="0" dirty="0" smtClean="0"/>
                        <a:t>로 전환</a:t>
                      </a:r>
                      <a:r>
                        <a:rPr lang="en-US" altLang="ko-KR" sz="1300" b="0" dirty="0" smtClean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1300" b="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066989"/>
                  </a:ext>
                </a:extLst>
              </a:tr>
              <a:tr h="94969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업무 수행 방식의 서비스</a:t>
                      </a:r>
                      <a:r>
                        <a:rPr lang="en-US" altLang="ko-KR" sz="1300" b="0" dirty="0" smtClean="0"/>
                        <a:t>/</a:t>
                      </a:r>
                      <a:r>
                        <a:rPr lang="ko-KR" altLang="en-US" sz="1300" b="0" dirty="0" smtClean="0"/>
                        <a:t>지식 기반</a:t>
                      </a:r>
                      <a:r>
                        <a:rPr lang="en-US" altLang="ko-KR" sz="1300" b="0" dirty="0" smtClean="0"/>
                        <a:t>, </a:t>
                      </a:r>
                      <a:r>
                        <a:rPr lang="ko-KR" altLang="en-US" sz="1300" b="0" dirty="0" smtClean="0"/>
                        <a:t>정보 처리량</a:t>
                      </a:r>
                      <a:r>
                        <a:rPr lang="en-US" altLang="ko-KR" sz="1300" b="0" dirty="0" smtClean="0"/>
                        <a:t>, </a:t>
                      </a:r>
                      <a:r>
                        <a:rPr lang="ko-KR" altLang="en-US" sz="1300" b="0" dirty="0" smtClean="0"/>
                        <a:t>표준화 가능성</a:t>
                      </a:r>
                      <a:endParaRPr lang="ko-KR" altLang="en-US" sz="13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상담</a:t>
                      </a:r>
                      <a:r>
                        <a:rPr lang="en-US" altLang="ko-KR" sz="1300" b="0" dirty="0" smtClean="0"/>
                        <a:t>·</a:t>
                      </a:r>
                      <a:r>
                        <a:rPr lang="ko-KR" altLang="en-US" sz="1300" b="0" dirty="0" smtClean="0"/>
                        <a:t>진단</a:t>
                      </a:r>
                      <a:r>
                        <a:rPr lang="en-US" altLang="ko-KR" sz="1300" b="0" dirty="0" smtClean="0"/>
                        <a:t>·</a:t>
                      </a:r>
                      <a:r>
                        <a:rPr lang="ko-KR" altLang="en-US" sz="1300" b="0" dirty="0" smtClean="0"/>
                        <a:t>코칭</a:t>
                      </a:r>
                      <a:r>
                        <a:rPr lang="en-US" altLang="ko-KR" sz="1300" b="0" dirty="0" smtClean="0"/>
                        <a:t>·</a:t>
                      </a:r>
                      <a:r>
                        <a:rPr lang="ko-KR" altLang="en-US" sz="1300" b="0" dirty="0" smtClean="0"/>
                        <a:t>매칭 중심의 서비스로</a:t>
                      </a:r>
                      <a:r>
                        <a:rPr lang="en-US" altLang="ko-KR" sz="1300" b="0" dirty="0" smtClean="0"/>
                        <a:t>, </a:t>
                      </a:r>
                      <a:r>
                        <a:rPr lang="ko-KR" altLang="en-US" sz="1300" b="0" dirty="0" smtClean="0"/>
                        <a:t>케이스 마다 전략적 선택</a:t>
                      </a:r>
                      <a:endParaRPr lang="en-US" altLang="ko-KR" sz="1300" b="0" dirty="0" smtClean="0"/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과도한 절차 제거</a:t>
                      </a:r>
                      <a:endParaRPr lang="ko-KR" altLang="en-US" sz="13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낮은 공식화</a:t>
                      </a:r>
                      <a:r>
                        <a:rPr lang="en-US" altLang="ko-KR" sz="1300" b="0" dirty="0" smtClean="0"/>
                        <a:t>: </a:t>
                      </a:r>
                      <a:r>
                        <a:rPr lang="ko-KR" altLang="en-US" sz="1300" b="0" dirty="0" smtClean="0"/>
                        <a:t>상담</a:t>
                      </a:r>
                      <a:r>
                        <a:rPr lang="en-US" altLang="ko-KR" sz="1300" b="0" dirty="0" smtClean="0"/>
                        <a:t>/</a:t>
                      </a:r>
                      <a:r>
                        <a:rPr lang="ko-KR" altLang="en-US" sz="1300" b="0" dirty="0" smtClean="0"/>
                        <a:t>코칭</a:t>
                      </a:r>
                      <a:r>
                        <a:rPr lang="en-US" altLang="ko-KR" sz="1300" b="0" dirty="0" smtClean="0"/>
                        <a:t>/</a:t>
                      </a:r>
                      <a:r>
                        <a:rPr lang="ko-KR" altLang="en-US" sz="1300" b="0" dirty="0" err="1" smtClean="0"/>
                        <a:t>매칭은</a:t>
                      </a:r>
                      <a:r>
                        <a:rPr lang="ko-KR" altLang="en-US" sz="1300" b="0" dirty="0" smtClean="0"/>
                        <a:t> 현장 판단이 중요하므로 체크리스트 수준의 가이드라인만 두고 재량을 보장</a:t>
                      </a:r>
                      <a:r>
                        <a:rPr lang="en-US" altLang="ko-KR" sz="1300" b="0" dirty="0" smtClean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전문화</a:t>
                      </a:r>
                      <a:r>
                        <a:rPr lang="en-US" altLang="ko-KR" sz="1300" b="0" dirty="0" smtClean="0"/>
                        <a:t>(</a:t>
                      </a:r>
                      <a:r>
                        <a:rPr lang="ko-KR" altLang="en-US" sz="1300" b="0" dirty="0" smtClean="0"/>
                        <a:t>역할 전문화</a:t>
                      </a:r>
                      <a:r>
                        <a:rPr lang="en-US" altLang="ko-KR" sz="1300" b="0" dirty="0" smtClean="0"/>
                        <a:t>): ‘</a:t>
                      </a:r>
                      <a:r>
                        <a:rPr lang="ko-KR" altLang="en-US" sz="1300" b="0" dirty="0" smtClean="0"/>
                        <a:t>운영</a:t>
                      </a:r>
                      <a:r>
                        <a:rPr lang="en-US" altLang="ko-KR" sz="1300" b="0" dirty="0" smtClean="0"/>
                        <a:t>(</a:t>
                      </a:r>
                      <a:r>
                        <a:rPr lang="ko-KR" altLang="en-US" sz="1300" b="0" dirty="0" smtClean="0"/>
                        <a:t>프로그램</a:t>
                      </a:r>
                      <a:r>
                        <a:rPr lang="en-US" altLang="ko-KR" sz="1300" b="0" dirty="0" smtClean="0"/>
                        <a:t>)–</a:t>
                      </a:r>
                      <a:r>
                        <a:rPr lang="ko-KR" altLang="en-US" sz="1300" b="0" dirty="0" smtClean="0"/>
                        <a:t>파트너십</a:t>
                      </a:r>
                      <a:r>
                        <a:rPr lang="en-US" altLang="ko-KR" sz="1300" b="0" dirty="0" smtClean="0"/>
                        <a:t>–</a:t>
                      </a:r>
                      <a:r>
                        <a:rPr lang="ko-KR" altLang="en-US" sz="1300" b="0" dirty="0" smtClean="0"/>
                        <a:t>데이터</a:t>
                      </a:r>
                      <a:r>
                        <a:rPr lang="en-US" altLang="ko-KR" sz="1300" b="0" dirty="0" smtClean="0"/>
                        <a:t>/</a:t>
                      </a:r>
                      <a:r>
                        <a:rPr lang="ko-KR" altLang="en-US" sz="1300" b="0" dirty="0" err="1" smtClean="0"/>
                        <a:t>성과’로</a:t>
                      </a:r>
                      <a:r>
                        <a:rPr lang="ko-KR" altLang="en-US" sz="1300" b="0" dirty="0" smtClean="0"/>
                        <a:t> 역할을 나눠 서비스 품질과 확장성을 동시에 확보</a:t>
                      </a:r>
                      <a:r>
                        <a:rPr lang="en-US" altLang="ko-KR" sz="1300" b="0" dirty="0" smtClean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726498"/>
                  </a:ext>
                </a:extLst>
              </a:tr>
              <a:tr h="65423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규모</a:t>
                      </a:r>
                      <a:r>
                        <a:rPr lang="en-US" altLang="ko-KR" sz="1600" b="1" dirty="0" smtClean="0">
                          <a:latin typeface="+mj-ea"/>
                          <a:ea typeface="+mj-ea"/>
                        </a:rPr>
                        <a:t>/</a:t>
                      </a:r>
                    </a:p>
                    <a:p>
                      <a:pPr algn="ctr"/>
                      <a:r>
                        <a:rPr lang="ko-KR" altLang="en-US" sz="1600" b="1" dirty="0" smtClean="0">
                          <a:latin typeface="+mj-ea"/>
                          <a:ea typeface="+mj-ea"/>
                        </a:rPr>
                        <a:t>수명주기</a:t>
                      </a:r>
                      <a:endParaRPr lang="ko-KR" altLang="en-US" sz="16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초기</a:t>
                      </a:r>
                      <a:r>
                        <a:rPr lang="en-US" altLang="ko-KR" sz="1300" b="0" dirty="0" smtClean="0"/>
                        <a:t>(</a:t>
                      </a:r>
                      <a:r>
                        <a:rPr lang="ko-KR" altLang="en-US" sz="1300" b="0" dirty="0" smtClean="0"/>
                        <a:t>탐색</a:t>
                      </a:r>
                      <a:r>
                        <a:rPr lang="en-US" altLang="ko-KR" sz="1300" b="0" dirty="0" smtClean="0"/>
                        <a:t>)–</a:t>
                      </a:r>
                      <a:r>
                        <a:rPr lang="ko-KR" altLang="en-US" sz="1300" b="0" dirty="0" smtClean="0"/>
                        <a:t>성장</a:t>
                      </a:r>
                      <a:r>
                        <a:rPr lang="en-US" altLang="ko-KR" sz="1300" b="0" dirty="0" smtClean="0"/>
                        <a:t>(</a:t>
                      </a:r>
                      <a:r>
                        <a:rPr lang="ko-KR" altLang="en-US" sz="1300" b="0" dirty="0" smtClean="0"/>
                        <a:t>확장</a:t>
                      </a:r>
                      <a:r>
                        <a:rPr lang="en-US" altLang="ko-KR" sz="1300" b="0" dirty="0" smtClean="0"/>
                        <a:t>)–</a:t>
                      </a:r>
                      <a:r>
                        <a:rPr lang="ko-KR" altLang="en-US" sz="1300" b="0" dirty="0" smtClean="0"/>
                        <a:t>성숙</a:t>
                      </a:r>
                      <a:r>
                        <a:rPr lang="en-US" altLang="ko-KR" sz="1300" b="0" dirty="0" smtClean="0"/>
                        <a:t>(</a:t>
                      </a:r>
                      <a:r>
                        <a:rPr lang="ko-KR" altLang="en-US" sz="1300" b="0" dirty="0" smtClean="0"/>
                        <a:t>표준화</a:t>
                      </a:r>
                      <a:r>
                        <a:rPr lang="en-US" altLang="ko-KR" sz="1300" b="0" dirty="0" smtClean="0"/>
                        <a:t>)</a:t>
                      </a:r>
                      <a:endParaRPr lang="ko-KR" altLang="en-US" sz="13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성과 검증</a:t>
                      </a:r>
                      <a:endParaRPr lang="en-US" altLang="ko-KR" sz="1300" b="0" dirty="0" smtClean="0"/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사업이 확장되면</a:t>
                      </a:r>
                      <a:r>
                        <a:rPr lang="en-US" altLang="ko-KR" sz="1300" b="0" dirty="0" smtClean="0"/>
                        <a:t> </a:t>
                      </a:r>
                      <a:r>
                        <a:rPr lang="ko-KR" altLang="en-US" sz="1300" b="0" dirty="0" smtClean="0"/>
                        <a:t>운영 표준화 </a:t>
                      </a:r>
                      <a:endParaRPr lang="en-US" altLang="ko-KR" sz="1300" b="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err="1" smtClean="0"/>
                        <a:t>권한계층</a:t>
                      </a:r>
                      <a:r>
                        <a:rPr lang="ko-KR" altLang="en-US" sz="1300" b="0" dirty="0" smtClean="0"/>
                        <a:t> 최소</a:t>
                      </a:r>
                      <a:r>
                        <a:rPr lang="en-US" altLang="ko-KR" sz="1300" b="0" dirty="0" smtClean="0"/>
                        <a:t>(</a:t>
                      </a:r>
                      <a:r>
                        <a:rPr lang="ko-KR" altLang="en-US" sz="1300" b="0" dirty="0" smtClean="0"/>
                        <a:t>본부장</a:t>
                      </a:r>
                      <a:r>
                        <a:rPr lang="en-US" altLang="ko-KR" sz="1300" b="0" dirty="0" smtClean="0"/>
                        <a:t>–PM–</a:t>
                      </a:r>
                      <a:r>
                        <a:rPr lang="ko-KR" altLang="en-US" sz="1300" b="0" dirty="0" smtClean="0"/>
                        <a:t>실무</a:t>
                      </a:r>
                      <a:r>
                        <a:rPr lang="en-US" altLang="ko-KR" sz="1300" b="0" dirty="0" smtClean="0"/>
                        <a:t>), </a:t>
                      </a:r>
                      <a:r>
                        <a:rPr lang="ko-KR" altLang="en-US" sz="1300" b="0" dirty="0" smtClean="0"/>
                        <a:t>소규모 인력</a:t>
                      </a:r>
                      <a:r>
                        <a:rPr lang="en-US" altLang="ko-KR" sz="1300" b="0" dirty="0" smtClean="0"/>
                        <a:t>, </a:t>
                      </a:r>
                      <a:r>
                        <a:rPr lang="ko-KR" altLang="en-US" sz="1300" b="0" dirty="0" smtClean="0"/>
                        <a:t>빠른 의사결정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공식화는 최소</a:t>
                      </a:r>
                      <a:r>
                        <a:rPr lang="en-US" altLang="ko-KR" sz="1300" b="0" dirty="0" smtClean="0"/>
                        <a:t>, KPI</a:t>
                      </a:r>
                      <a:r>
                        <a:rPr lang="ko-KR" altLang="en-US" sz="1300" b="0" dirty="0" smtClean="0"/>
                        <a:t>는 학습 중심</a:t>
                      </a:r>
                      <a:r>
                        <a:rPr lang="en-US" altLang="ko-KR" sz="1300" b="0" dirty="0" smtClean="0"/>
                        <a:t>(</a:t>
                      </a:r>
                      <a:r>
                        <a:rPr lang="ko-KR" altLang="en-US" sz="1300" b="0" dirty="0" smtClean="0"/>
                        <a:t>파트너 확보</a:t>
                      </a:r>
                      <a:r>
                        <a:rPr lang="en-US" altLang="ko-KR" sz="1300" b="0" dirty="0" smtClean="0"/>
                        <a:t>/</a:t>
                      </a:r>
                      <a:r>
                        <a:rPr lang="ko-KR" altLang="en-US" sz="1300" b="0" dirty="0" smtClean="0"/>
                        <a:t>리드타임</a:t>
                      </a:r>
                      <a:r>
                        <a:rPr lang="en-US" altLang="ko-KR" sz="1300" b="0" dirty="0" smtClean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193408"/>
                  </a:ext>
                </a:extLst>
              </a:tr>
              <a:tr h="94969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전략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dirty="0" smtClean="0"/>
                        <a:t>외부환경과 상호작용하는 방식</a:t>
                      </a:r>
                      <a:endParaRPr lang="ko-KR" altLang="en-US" sz="1300" b="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수요 확인</a:t>
                      </a:r>
                      <a:r>
                        <a:rPr lang="en-US" altLang="ko-KR" sz="1300" b="0" dirty="0" smtClean="0"/>
                        <a:t>, </a:t>
                      </a:r>
                      <a:r>
                        <a:rPr lang="ko-KR" altLang="en-US" sz="1300" b="0" dirty="0" err="1" smtClean="0"/>
                        <a:t>운영모델</a:t>
                      </a:r>
                      <a:r>
                        <a:rPr lang="ko-KR" altLang="en-US" sz="1300" b="0" dirty="0" smtClean="0"/>
                        <a:t> 설계</a:t>
                      </a:r>
                      <a:r>
                        <a:rPr lang="en-US" altLang="ko-KR" sz="1300" b="0" dirty="0" smtClean="0"/>
                        <a:t>, </a:t>
                      </a:r>
                      <a:r>
                        <a:rPr lang="ko-KR" altLang="en-US" sz="1300" b="0" dirty="0" smtClean="0"/>
                        <a:t>파트너 패키지 구성</a:t>
                      </a:r>
                      <a:r>
                        <a:rPr lang="en-US" altLang="ko-KR" sz="1300" b="0" dirty="0" smtClean="0"/>
                        <a:t>, </a:t>
                      </a:r>
                      <a:r>
                        <a:rPr lang="ko-KR" altLang="en-US" sz="1300" b="0" dirty="0" smtClean="0"/>
                        <a:t>확장 가능성 검증 필요</a:t>
                      </a:r>
                      <a:r>
                        <a:rPr lang="en-US" altLang="ko-KR" sz="1300" b="0" dirty="0" smtClean="0"/>
                        <a:t>.</a:t>
                      </a:r>
                      <a:endParaRPr lang="en-US" altLang="ko-KR" sz="13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성과 인센티브</a:t>
                      </a:r>
                      <a:r>
                        <a:rPr lang="en-US" altLang="ko-KR" sz="1300" b="0" dirty="0" smtClean="0"/>
                        <a:t>: </a:t>
                      </a:r>
                      <a:r>
                        <a:rPr lang="ko-KR" altLang="en-US" sz="1300" b="0" dirty="0" smtClean="0"/>
                        <a:t>결과</a:t>
                      </a:r>
                      <a:r>
                        <a:rPr lang="en-US" altLang="ko-KR" sz="1300" b="0" dirty="0" smtClean="0"/>
                        <a:t>(</a:t>
                      </a:r>
                      <a:r>
                        <a:rPr lang="ko-KR" altLang="en-US" sz="1300" b="0" dirty="0" smtClean="0"/>
                        <a:t>취업</a:t>
                      </a:r>
                      <a:r>
                        <a:rPr lang="en-US" altLang="ko-KR" sz="1300" b="0" dirty="0" smtClean="0"/>
                        <a:t>/</a:t>
                      </a:r>
                      <a:r>
                        <a:rPr lang="ko-KR" altLang="en-US" sz="1300" b="0" dirty="0" smtClean="0"/>
                        <a:t>재계약</a:t>
                      </a:r>
                      <a:r>
                        <a:rPr lang="en-US" altLang="ko-KR" sz="1300" b="0" dirty="0" smtClean="0"/>
                        <a:t>)</a:t>
                      </a:r>
                      <a:r>
                        <a:rPr lang="ko-KR" altLang="en-US" sz="1300" b="0" dirty="0" smtClean="0"/>
                        <a:t>뿐 아니라 과정</a:t>
                      </a:r>
                      <a:r>
                        <a:rPr lang="en-US" altLang="ko-KR" sz="1300" b="0" dirty="0" smtClean="0"/>
                        <a:t>(</a:t>
                      </a:r>
                      <a:r>
                        <a:rPr lang="ko-KR" altLang="en-US" sz="1300" b="0" dirty="0" smtClean="0"/>
                        <a:t>학습</a:t>
                      </a:r>
                      <a:r>
                        <a:rPr lang="en-US" altLang="ko-KR" sz="1300" b="0" dirty="0" smtClean="0"/>
                        <a:t>/</a:t>
                      </a:r>
                      <a:r>
                        <a:rPr lang="ko-KR" altLang="en-US" sz="1300" b="0" dirty="0" smtClean="0"/>
                        <a:t>개선 성과</a:t>
                      </a:r>
                      <a:r>
                        <a:rPr lang="en-US" altLang="ko-KR" sz="1300" b="0" dirty="0" smtClean="0"/>
                        <a:t>)</a:t>
                      </a:r>
                      <a:r>
                        <a:rPr lang="ko-KR" altLang="en-US" sz="1300" b="0" dirty="0" smtClean="0"/>
                        <a:t>을 보상해 탐색 전략에 맞는 행동을 유도</a:t>
                      </a:r>
                      <a:r>
                        <a:rPr lang="en-US" altLang="ko-KR" sz="1300" b="0" dirty="0" smtClean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포트폴리오 관리</a:t>
                      </a:r>
                      <a:r>
                        <a:rPr lang="en-US" altLang="ko-KR" sz="1300" b="0" dirty="0" smtClean="0"/>
                        <a:t>: </a:t>
                      </a:r>
                      <a:r>
                        <a:rPr lang="ko-KR" altLang="en-US" sz="1300" b="0" dirty="0" smtClean="0"/>
                        <a:t>성공 시 여러 지역</a:t>
                      </a:r>
                      <a:r>
                        <a:rPr lang="en-US" altLang="ko-KR" sz="1300" b="0" dirty="0" smtClean="0"/>
                        <a:t>/</a:t>
                      </a:r>
                      <a:r>
                        <a:rPr lang="ko-KR" altLang="en-US" sz="1300" b="0" dirty="0" smtClean="0"/>
                        <a:t>사업이 생기므로 본부 내 ‘전략</a:t>
                      </a:r>
                      <a:r>
                        <a:rPr lang="en-US" altLang="ko-KR" sz="1300" b="0" dirty="0" smtClean="0"/>
                        <a:t>/</a:t>
                      </a:r>
                      <a:r>
                        <a:rPr lang="ko-KR" altLang="en-US" sz="1300" b="0" dirty="0" smtClean="0"/>
                        <a:t>포트폴리오’ 기능으로 우선순위</a:t>
                      </a:r>
                      <a:r>
                        <a:rPr lang="en-US" altLang="ko-KR" sz="1300" b="0" dirty="0" smtClean="0"/>
                        <a:t>·</a:t>
                      </a:r>
                      <a:r>
                        <a:rPr lang="ko-KR" altLang="en-US" sz="1300" b="0" dirty="0" smtClean="0"/>
                        <a:t>자원 배분을 통제</a:t>
                      </a:r>
                      <a:r>
                        <a:rPr lang="en-US" altLang="ko-KR" sz="1300" b="0" dirty="0" smtClean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005552"/>
                  </a:ext>
                </a:extLst>
              </a:tr>
              <a:tr h="94969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+mj-ea"/>
                          <a:ea typeface="+mj-ea"/>
                        </a:rPr>
                        <a:t>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신사업은 기존 조직문화와 충돌방지</a:t>
                      </a:r>
                      <a:endParaRPr lang="ko-KR" altLang="en-US" sz="13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신사업은 속도</a:t>
                      </a:r>
                      <a:r>
                        <a:rPr lang="en-US" altLang="ko-KR" sz="1300" b="0" dirty="0" smtClean="0"/>
                        <a:t>·</a:t>
                      </a:r>
                      <a:r>
                        <a:rPr lang="ko-KR" altLang="en-US" sz="1300" b="0" dirty="0" smtClean="0"/>
                        <a:t>학습이 필요해 문화 충돌 가능성이 높다</a:t>
                      </a:r>
                      <a:r>
                        <a:rPr lang="en-US" altLang="ko-KR" sz="1300" b="0" dirty="0" smtClean="0"/>
                        <a:t>.</a:t>
                      </a:r>
                      <a:endParaRPr lang="ko-KR" altLang="en-US" sz="13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구조적 분리 </a:t>
                      </a:r>
                      <a:r>
                        <a:rPr lang="en-US" altLang="ko-KR" sz="1300" b="0" dirty="0" smtClean="0"/>
                        <a:t>+ </a:t>
                      </a:r>
                      <a:r>
                        <a:rPr lang="ko-KR" altLang="en-US" sz="1300" b="0" dirty="0" smtClean="0"/>
                        <a:t>운영적 연결</a:t>
                      </a:r>
                      <a:r>
                        <a:rPr lang="en-US" altLang="ko-KR" sz="1300" b="0" dirty="0" smtClean="0"/>
                        <a:t>(</a:t>
                      </a:r>
                      <a:r>
                        <a:rPr lang="ko-KR" altLang="en-US" sz="1300" b="0" dirty="0" smtClean="0"/>
                        <a:t>양손잡이</a:t>
                      </a:r>
                      <a:r>
                        <a:rPr lang="en-US" altLang="ko-KR" sz="1300" b="0" dirty="0" smtClean="0"/>
                        <a:t>)</a:t>
                      </a:r>
                      <a:endParaRPr lang="ko-KR" altLang="en-US" sz="1300" b="0" dirty="0" smtClean="0"/>
                    </a:p>
                    <a:p>
                      <a:r>
                        <a:rPr lang="ko-KR" altLang="en-US" sz="1300" b="0" dirty="0" smtClean="0"/>
                        <a:t>    신사업본부는 별도 구조로 두되</a:t>
                      </a:r>
                      <a:r>
                        <a:rPr lang="en-US" altLang="ko-KR" sz="1300" b="0" dirty="0" smtClean="0"/>
                        <a:t>, </a:t>
                      </a:r>
                      <a:r>
                        <a:rPr lang="ko-KR" altLang="en-US" sz="1300" b="0" dirty="0" smtClean="0"/>
                        <a:t>거버넌스</a:t>
                      </a:r>
                      <a:r>
                        <a:rPr lang="en-US" altLang="ko-KR" sz="1300" b="0" dirty="0" smtClean="0"/>
                        <a:t>·</a:t>
                      </a:r>
                      <a:r>
                        <a:rPr lang="ko-KR" altLang="en-US" sz="1300" b="0" dirty="0" smtClean="0"/>
                        <a:t>자원</a:t>
                      </a:r>
                      <a:r>
                        <a:rPr lang="en-US" altLang="ko-KR" sz="1300" b="0" dirty="0" smtClean="0"/>
                        <a:t>·KPI·</a:t>
                      </a:r>
                      <a:r>
                        <a:rPr lang="ko-KR" altLang="en-US" sz="1300" b="0" dirty="0" smtClean="0"/>
                        <a:t>인사에서 연  </a:t>
                      </a:r>
                      <a:endParaRPr lang="en-US" altLang="ko-KR" sz="1300" b="0" dirty="0" smtClean="0"/>
                    </a:p>
                    <a:p>
                      <a:r>
                        <a:rPr lang="en-US" altLang="ko-KR" sz="1300" b="0" baseline="0" dirty="0" smtClean="0"/>
                        <a:t>    </a:t>
                      </a:r>
                      <a:r>
                        <a:rPr lang="ko-KR" altLang="en-US" sz="1300" b="0" dirty="0" smtClean="0"/>
                        <a:t>결 장치를 둔다</a:t>
                      </a:r>
                      <a:r>
                        <a:rPr lang="en-US" altLang="ko-KR" sz="1300" b="0" dirty="0" smtClean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b="0" dirty="0" smtClean="0"/>
                        <a:t>“성과로 </a:t>
                      </a:r>
                      <a:r>
                        <a:rPr lang="ko-KR" altLang="en-US" sz="1300" b="0" dirty="0" err="1" smtClean="0"/>
                        <a:t>증명한다”를</a:t>
                      </a:r>
                      <a:r>
                        <a:rPr lang="ko-KR" altLang="en-US" sz="1300" b="0" dirty="0" smtClean="0"/>
                        <a:t> 슬로건화하여 구성원의 저항을 줄인다</a:t>
                      </a:r>
                      <a:r>
                        <a:rPr lang="en-US" altLang="ko-KR" sz="1300" b="0" dirty="0" smtClean="0"/>
                        <a:t>.</a:t>
                      </a:r>
                      <a:endParaRPr lang="en-US" altLang="ko-KR" sz="13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37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70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그룹 157"/>
          <p:cNvGrpSpPr/>
          <p:nvPr/>
        </p:nvGrpSpPr>
        <p:grpSpPr>
          <a:xfrm>
            <a:off x="-1" y="0"/>
            <a:ext cx="12192001" cy="971550"/>
            <a:chOff x="1173938" y="605136"/>
            <a:chExt cx="10651388" cy="646331"/>
          </a:xfrm>
        </p:grpSpPr>
        <p:sp>
          <p:nvSpPr>
            <p:cNvPr id="159" name="사각형: 둥근 모서리 1">
              <a:extLst>
                <a:ext uri="{FF2B5EF4-FFF2-40B4-BE49-F238E27FC236}">
                  <a16:creationId xmlns:a16="http://schemas.microsoft.com/office/drawing/2014/main" id="{1CFD7E2A-EB9D-AE56-E575-5F614B441EF2}"/>
                </a:ext>
              </a:extLst>
            </p:cNvPr>
            <p:cNvSpPr/>
            <p:nvPr/>
          </p:nvSpPr>
          <p:spPr bwMode="auto">
            <a:xfrm>
              <a:off x="1173938" y="605136"/>
              <a:ext cx="10651388" cy="64633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3200" b="1" dirty="0" smtClean="0"/>
                <a:t>   </a:t>
              </a:r>
              <a:r>
                <a:rPr lang="en-US" altLang="ko-KR" sz="3200" b="1" dirty="0" smtClean="0"/>
                <a:t>11.</a:t>
              </a:r>
              <a:r>
                <a:rPr lang="ko-KR" altLang="en-US" sz="3200" dirty="0" smtClean="0">
                  <a:solidFill>
                    <a:schemeClr val="bg1"/>
                  </a:solidFill>
                </a:rPr>
                <a:t> </a:t>
              </a:r>
              <a:r>
                <a:rPr lang="ko-KR" altLang="en-US" sz="3200" b="1" dirty="0" err="1" smtClean="0"/>
                <a:t>신사업본부</a:t>
              </a:r>
              <a:r>
                <a:rPr lang="ko-KR" altLang="en-US" sz="3200" b="1" dirty="0" smtClean="0"/>
                <a:t> 연결 구조</a:t>
              </a:r>
              <a:r>
                <a:rPr lang="en-US" altLang="ko-KR" sz="3200" b="1" dirty="0" smtClean="0"/>
                <a:t>: </a:t>
              </a:r>
              <a:r>
                <a:rPr lang="ko-KR" altLang="en-US" sz="3200" b="1" dirty="0" smtClean="0"/>
                <a:t>수직</a:t>
              </a:r>
              <a:r>
                <a:rPr lang="en-US" altLang="ko-KR" sz="3200" b="1" dirty="0" smtClean="0"/>
                <a:t>(</a:t>
              </a:r>
              <a:r>
                <a:rPr lang="ko-KR" altLang="en-US" sz="3200" b="1" dirty="0" smtClean="0"/>
                <a:t>통제</a:t>
              </a:r>
              <a:r>
                <a:rPr lang="en-US" altLang="ko-KR" sz="3200" b="1" dirty="0" smtClean="0"/>
                <a:t>)-</a:t>
              </a:r>
              <a:r>
                <a:rPr lang="ko-KR" altLang="en-US" sz="3200" b="1" dirty="0" smtClean="0"/>
                <a:t>수평</a:t>
              </a:r>
              <a:r>
                <a:rPr lang="en-US" altLang="ko-KR" sz="3200" b="1" dirty="0" smtClean="0"/>
                <a:t>(</a:t>
              </a:r>
              <a:r>
                <a:rPr lang="ko-KR" altLang="en-US" sz="3200" b="1" dirty="0" smtClean="0"/>
                <a:t>협업</a:t>
              </a:r>
              <a:r>
                <a:rPr lang="en-US" altLang="ko-KR" sz="3200" b="1" dirty="0" smtClean="0"/>
                <a:t>) </a:t>
              </a:r>
              <a:r>
                <a:rPr lang="ko-KR" altLang="en-US" sz="3200" b="1" dirty="0" smtClean="0"/>
                <a:t>동시 설계</a:t>
              </a:r>
              <a:endParaRPr lang="ko-KR" altLang="en-US" sz="3200" b="1" dirty="0"/>
            </a:p>
          </p:txBody>
        </p:sp>
        <p:sp>
          <p:nvSpPr>
            <p:cNvPr id="160" name="사각형: 둥근 모서리 13">
              <a:extLst>
                <a:ext uri="{FF2B5EF4-FFF2-40B4-BE49-F238E27FC236}">
                  <a16:creationId xmlns:a16="http://schemas.microsoft.com/office/drawing/2014/main" id="{ACC15DB2-67EC-B0CE-190E-8AC80F5458D8}"/>
                </a:ext>
              </a:extLst>
            </p:cNvPr>
            <p:cNvSpPr/>
            <p:nvPr/>
          </p:nvSpPr>
          <p:spPr bwMode="auto">
            <a:xfrm>
              <a:off x="1281081" y="660442"/>
              <a:ext cx="126895" cy="53557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19290" y="1501926"/>
            <a:ext cx="6225990" cy="46166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bg1"/>
                </a:solidFill>
              </a:rPr>
              <a:t>Hybrid + </a:t>
            </a:r>
            <a:r>
              <a:rPr lang="ko-KR" altLang="en-US" sz="2400" dirty="0">
                <a:solidFill>
                  <a:schemeClr val="bg1"/>
                </a:solidFill>
              </a:rPr>
              <a:t>선택적 </a:t>
            </a:r>
            <a:r>
              <a:rPr lang="en-US" altLang="ko-KR" sz="2400" dirty="0">
                <a:solidFill>
                  <a:schemeClr val="bg1"/>
                </a:solidFill>
              </a:rPr>
              <a:t>Matrix + Network </a:t>
            </a:r>
            <a:endParaRPr lang="en-US" altLang="ko-KR" sz="2400" b="1" dirty="0" smtClean="0">
              <a:solidFill>
                <a:schemeClr val="bg1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123954"/>
              </p:ext>
            </p:extLst>
          </p:nvPr>
        </p:nvGraphicFramePr>
        <p:xfrm>
          <a:off x="819290" y="2144342"/>
          <a:ext cx="10877178" cy="2509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6910">
                  <a:extLst>
                    <a:ext uri="{9D8B030D-6E8A-4147-A177-3AD203B41FA5}">
                      <a16:colId xmlns:a16="http://schemas.microsoft.com/office/drawing/2014/main" val="2373963314"/>
                    </a:ext>
                  </a:extLst>
                </a:gridCol>
                <a:gridCol w="7810268">
                  <a:extLst>
                    <a:ext uri="{9D8B030D-6E8A-4147-A177-3AD203B41FA5}">
                      <a16:colId xmlns:a16="http://schemas.microsoft.com/office/drawing/2014/main" val="2724251242"/>
                    </a:ext>
                  </a:extLst>
                </a:gridCol>
              </a:tblGrid>
              <a:tr h="8667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</a:rPr>
                        <a:t>수직적 연결</a:t>
                      </a: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</a:rPr>
                        <a:t>통제</a:t>
                      </a: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</a:rPr>
                        <a:t>연결</a:t>
                      </a: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사무총장 주관 포트폴리오 회의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월 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회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): </a:t>
                      </a:r>
                      <a:r>
                        <a:rPr lang="ko-KR" altLang="en-US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확장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중단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리스크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자원배분 결정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dirty="0" err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신사업본부</a:t>
                      </a:r>
                      <a:r>
                        <a:rPr lang="ko-KR" altLang="en-US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KPI·</a:t>
                      </a:r>
                      <a:r>
                        <a:rPr lang="ko-KR" altLang="en-US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리스크 대시보드로 핵심만 보고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활동 보고 금지</a:t>
                      </a:r>
                      <a:r>
                        <a:rPr lang="en-US" altLang="ko-KR" sz="1800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F7F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617721"/>
                  </a:ext>
                </a:extLst>
              </a:tr>
              <a:tr h="821329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</a:rPr>
                        <a:t>수평적 연결</a:t>
                      </a: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</a:rPr>
                        <a:t>실행</a:t>
                      </a: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</a:rPr>
                        <a:t>협업</a:t>
                      </a: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dirty="0" smtClean="0"/>
                        <a:t>경영지원본부</a:t>
                      </a:r>
                      <a:r>
                        <a:rPr lang="en-US" altLang="ko-KR" sz="1800" b="0" dirty="0" smtClean="0"/>
                        <a:t>: </a:t>
                      </a:r>
                      <a:r>
                        <a:rPr lang="ko-KR" altLang="en-US" sz="1800" b="0" dirty="0" smtClean="0"/>
                        <a:t>계약</a:t>
                      </a:r>
                      <a:r>
                        <a:rPr lang="en-US" altLang="ko-KR" sz="1800" b="0" dirty="0" smtClean="0"/>
                        <a:t>·</a:t>
                      </a:r>
                      <a:r>
                        <a:rPr lang="ko-KR" altLang="en-US" sz="1800" b="0" dirty="0" smtClean="0"/>
                        <a:t>예산</a:t>
                      </a:r>
                      <a:r>
                        <a:rPr lang="en-US" altLang="ko-KR" sz="1800" b="0" dirty="0" smtClean="0"/>
                        <a:t>·</a:t>
                      </a:r>
                      <a:r>
                        <a:rPr lang="ko-KR" altLang="en-US" sz="1800" b="0" dirty="0" smtClean="0"/>
                        <a:t>인사 “공용 서비스” 제공</a:t>
                      </a:r>
                      <a:endParaRPr lang="en-US" altLang="ko-KR" sz="1800" b="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0368077"/>
                  </a:ext>
                </a:extLst>
              </a:tr>
              <a:tr h="821329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2000" b="1" dirty="0" smtClean="0">
                          <a:solidFill>
                            <a:schemeClr val="bg1"/>
                          </a:solidFill>
                        </a:rPr>
                        <a:t>외부 네트워크 연결</a:t>
                      </a:r>
                      <a:endParaRPr lang="en-US" altLang="ko-KR" sz="20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dirty="0" smtClean="0"/>
                        <a:t>지자체</a:t>
                      </a:r>
                      <a:r>
                        <a:rPr lang="en-US" altLang="ko-KR" sz="1800" b="0" dirty="0" smtClean="0"/>
                        <a:t>·</a:t>
                      </a:r>
                      <a:r>
                        <a:rPr lang="ko-KR" altLang="en-US" sz="1800" b="0" dirty="0" smtClean="0"/>
                        <a:t>기관</a:t>
                      </a:r>
                      <a:r>
                        <a:rPr lang="en-US" altLang="ko-KR" sz="1800" b="0" dirty="0" smtClean="0"/>
                        <a:t>·</a:t>
                      </a:r>
                      <a:r>
                        <a:rPr lang="ko-KR" altLang="en-US" sz="1800" b="0" dirty="0" smtClean="0"/>
                        <a:t>기업 파트너를 프로젝트 네트워크로 묶고</a:t>
                      </a:r>
                      <a:r>
                        <a:rPr lang="en-US" altLang="ko-KR" sz="1800" b="0" dirty="0" smtClean="0"/>
                        <a:t>, </a:t>
                      </a:r>
                      <a:r>
                        <a:rPr lang="ko-KR" altLang="en-US" sz="1800" b="0" dirty="0" smtClean="0"/>
                        <a:t>네트워크 </a:t>
                      </a:r>
                      <a:r>
                        <a:rPr lang="en-US" altLang="ko-KR" sz="1800" b="0" dirty="0" smtClean="0"/>
                        <a:t>KPI</a:t>
                      </a:r>
                      <a:r>
                        <a:rPr lang="ko-KR" altLang="en-US" sz="1800" b="0" dirty="0" smtClean="0"/>
                        <a:t>로 관리</a:t>
                      </a:r>
                      <a:r>
                        <a:rPr lang="en-US" altLang="ko-KR" sz="1800" b="0" dirty="0" smtClean="0"/>
                        <a:t>(</a:t>
                      </a:r>
                      <a:r>
                        <a:rPr lang="ko-KR" altLang="en-US" sz="1800" b="0" dirty="0" smtClean="0"/>
                        <a:t>협약 수</a:t>
                      </a:r>
                      <a:r>
                        <a:rPr lang="en-US" altLang="ko-KR" sz="1800" b="0" dirty="0" smtClean="0"/>
                        <a:t>/</a:t>
                      </a:r>
                      <a:r>
                        <a:rPr lang="ko-KR" altLang="en-US" sz="1800" b="0" dirty="0" err="1" smtClean="0"/>
                        <a:t>재계약률</a:t>
                      </a:r>
                      <a:r>
                        <a:rPr lang="en-US" altLang="ko-KR" sz="1800" b="0" dirty="0" smtClean="0"/>
                        <a:t>/</a:t>
                      </a:r>
                      <a:r>
                        <a:rPr lang="ko-KR" altLang="en-US" sz="1800" b="0" dirty="0" err="1" smtClean="0"/>
                        <a:t>확산률</a:t>
                      </a:r>
                      <a:r>
                        <a:rPr lang="en-US" altLang="ko-KR" sz="1800" b="0" dirty="0" smtClean="0"/>
                        <a:t>)</a:t>
                      </a:r>
                      <a:endParaRPr lang="ko-KR" altLang="en-US" sz="1800" b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5682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69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그룹 157"/>
          <p:cNvGrpSpPr/>
          <p:nvPr/>
        </p:nvGrpSpPr>
        <p:grpSpPr>
          <a:xfrm>
            <a:off x="-1" y="0"/>
            <a:ext cx="12192001" cy="971550"/>
            <a:chOff x="1173938" y="605136"/>
            <a:chExt cx="10651388" cy="646331"/>
          </a:xfrm>
        </p:grpSpPr>
        <p:sp>
          <p:nvSpPr>
            <p:cNvPr id="159" name="사각형: 둥근 모서리 1">
              <a:extLst>
                <a:ext uri="{FF2B5EF4-FFF2-40B4-BE49-F238E27FC236}">
                  <a16:creationId xmlns:a16="http://schemas.microsoft.com/office/drawing/2014/main" id="{1CFD7E2A-EB9D-AE56-E575-5F614B441EF2}"/>
                </a:ext>
              </a:extLst>
            </p:cNvPr>
            <p:cNvSpPr/>
            <p:nvPr/>
          </p:nvSpPr>
          <p:spPr bwMode="auto">
            <a:xfrm>
              <a:off x="1173938" y="605136"/>
              <a:ext cx="10651388" cy="64633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3200" b="1" dirty="0" smtClean="0"/>
                <a:t>   </a:t>
              </a:r>
              <a:r>
                <a:rPr lang="en-US" altLang="ko-KR" sz="3200" b="1" dirty="0" smtClean="0"/>
                <a:t>12.</a:t>
              </a:r>
              <a:r>
                <a:rPr lang="ko-KR" altLang="en-US" sz="3200" dirty="0" smtClean="0">
                  <a:solidFill>
                    <a:schemeClr val="bg1"/>
                  </a:solidFill>
                </a:rPr>
                <a:t> </a:t>
              </a:r>
              <a:r>
                <a:rPr lang="en-US" altLang="ko-KR" sz="3200" b="1" dirty="0" smtClean="0">
                  <a:latin typeface="+mj-ea"/>
                  <a:ea typeface="+mj-ea"/>
                </a:rPr>
                <a:t>7S</a:t>
              </a:r>
              <a:r>
                <a:rPr lang="ko-KR" altLang="en-US" sz="3200" b="1" dirty="0" smtClean="0">
                  <a:latin typeface="+mj-ea"/>
                  <a:ea typeface="+mj-ea"/>
                </a:rPr>
                <a:t>기반 정착 설계</a:t>
              </a:r>
              <a:r>
                <a:rPr lang="en-US" altLang="ko-KR" sz="3200" b="1" dirty="0" smtClean="0">
                  <a:latin typeface="+mj-ea"/>
                  <a:ea typeface="+mj-ea"/>
                </a:rPr>
                <a:t>: ‘</a:t>
              </a:r>
              <a:r>
                <a:rPr lang="ko-KR" altLang="en-US" sz="3200" b="1" dirty="0" smtClean="0">
                  <a:latin typeface="+mj-ea"/>
                  <a:ea typeface="+mj-ea"/>
                </a:rPr>
                <a:t>구조</a:t>
              </a:r>
              <a:r>
                <a:rPr lang="en-US" altLang="ko-KR" sz="3200" b="1" dirty="0" smtClean="0">
                  <a:latin typeface="+mj-ea"/>
                  <a:ea typeface="+mj-ea"/>
                </a:rPr>
                <a:t>’</a:t>
              </a:r>
              <a:r>
                <a:rPr lang="ko-KR" altLang="en-US" sz="3200" b="1" dirty="0" smtClean="0">
                  <a:latin typeface="+mj-ea"/>
                  <a:ea typeface="+mj-ea"/>
                </a:rPr>
                <a:t>가 아니라 </a:t>
              </a:r>
              <a:r>
                <a:rPr lang="en-US" altLang="ko-KR" sz="3200" b="1" dirty="0" smtClean="0">
                  <a:latin typeface="+mj-ea"/>
                  <a:ea typeface="+mj-ea"/>
                </a:rPr>
                <a:t>‘</a:t>
              </a:r>
              <a:r>
                <a:rPr lang="ko-KR" altLang="en-US" sz="3200" b="1" dirty="0" smtClean="0">
                  <a:latin typeface="+mj-ea"/>
                  <a:ea typeface="+mj-ea"/>
                </a:rPr>
                <a:t>정렬</a:t>
              </a:r>
              <a:r>
                <a:rPr lang="en-US" altLang="ko-KR" sz="3200" b="1" dirty="0" smtClean="0">
                  <a:latin typeface="+mj-ea"/>
                  <a:ea typeface="+mj-ea"/>
                </a:rPr>
                <a:t>’</a:t>
              </a:r>
              <a:r>
                <a:rPr lang="ko-KR" altLang="en-US" sz="3200" b="1" dirty="0" smtClean="0">
                  <a:latin typeface="+mj-ea"/>
                  <a:ea typeface="+mj-ea"/>
                </a:rPr>
                <a:t>이 성공을 만든다</a:t>
              </a:r>
              <a:endParaRPr lang="ko-KR" altLang="en-US" sz="3200" b="1" dirty="0">
                <a:latin typeface="+mj-ea"/>
                <a:ea typeface="+mj-ea"/>
              </a:endParaRPr>
            </a:p>
          </p:txBody>
        </p:sp>
        <p:sp>
          <p:nvSpPr>
            <p:cNvPr id="160" name="사각형: 둥근 모서리 13">
              <a:extLst>
                <a:ext uri="{FF2B5EF4-FFF2-40B4-BE49-F238E27FC236}">
                  <a16:creationId xmlns:a16="http://schemas.microsoft.com/office/drawing/2014/main" id="{ACC15DB2-67EC-B0CE-190E-8AC80F5458D8}"/>
                </a:ext>
              </a:extLst>
            </p:cNvPr>
            <p:cNvSpPr/>
            <p:nvPr/>
          </p:nvSpPr>
          <p:spPr bwMode="auto">
            <a:xfrm>
              <a:off x="1281081" y="660442"/>
              <a:ext cx="126895" cy="53557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212622"/>
              </p:ext>
            </p:extLst>
          </p:nvPr>
        </p:nvGraphicFramePr>
        <p:xfrm>
          <a:off x="765501" y="1120917"/>
          <a:ext cx="10877178" cy="4190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6910">
                  <a:extLst>
                    <a:ext uri="{9D8B030D-6E8A-4147-A177-3AD203B41FA5}">
                      <a16:colId xmlns:a16="http://schemas.microsoft.com/office/drawing/2014/main" val="2373963314"/>
                    </a:ext>
                  </a:extLst>
                </a:gridCol>
                <a:gridCol w="7810268">
                  <a:extLst>
                    <a:ext uri="{9D8B030D-6E8A-4147-A177-3AD203B41FA5}">
                      <a16:colId xmlns:a16="http://schemas.microsoft.com/office/drawing/2014/main" val="2724251242"/>
                    </a:ext>
                  </a:extLst>
                </a:gridCol>
              </a:tblGrid>
              <a:tr h="6268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Strategy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="0" dirty="0" err="1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신중년</a:t>
                      </a:r>
                      <a:r>
                        <a:rPr lang="ko-KR" altLang="en-US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‘집중 차별화’ </a:t>
                      </a:r>
                      <a:r>
                        <a:rPr lang="en-US" altLang="ko-KR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+ </a:t>
                      </a:r>
                      <a:r>
                        <a:rPr lang="ko-KR" altLang="en-US" b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지역 확산 모델</a:t>
                      </a:r>
                      <a:endParaRPr lang="en-US" altLang="ko-KR" sz="1800" b="0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7F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617721"/>
                  </a:ext>
                </a:extLst>
              </a:tr>
              <a:tr h="593976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Structure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초기 린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프로젝트</a:t>
                      </a:r>
                      <a:r>
                        <a:rPr lang="en-US" altLang="ko-KR" dirty="0" smtClean="0"/>
                        <a:t>) → </a:t>
                      </a:r>
                      <a:r>
                        <a:rPr lang="ko-KR" altLang="en-US" dirty="0" smtClean="0"/>
                        <a:t>성공 시 </a:t>
                      </a:r>
                      <a:r>
                        <a:rPr lang="ko-KR" altLang="en-US" dirty="0" err="1" smtClean="0"/>
                        <a:t>모듈형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팀 분화</a:t>
                      </a:r>
                      <a:r>
                        <a:rPr lang="en-US" altLang="ko-KR" dirty="0" smtClean="0"/>
                        <a:t>)</a:t>
                      </a:r>
                      <a:endParaRPr lang="en-US" altLang="ko-KR" sz="1800" b="0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0368077"/>
                  </a:ext>
                </a:extLst>
              </a:tr>
              <a:tr h="593976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Systems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smtClean="0"/>
                        <a:t>KPI/</a:t>
                      </a:r>
                      <a:r>
                        <a:rPr lang="ko-KR" altLang="en-US" dirty="0" smtClean="0"/>
                        <a:t>게이트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err="1" smtClean="0"/>
                        <a:t>리스크체크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파트너 계약 표준</a:t>
                      </a:r>
                      <a:endParaRPr lang="ko-KR" altLang="en-US" sz="1800" b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5682017"/>
                  </a:ext>
                </a:extLst>
              </a:tr>
              <a:tr h="593976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Staff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smtClean="0"/>
                        <a:t>PM(</a:t>
                      </a:r>
                      <a:r>
                        <a:rPr lang="ko-KR" altLang="en-US" dirty="0" smtClean="0"/>
                        <a:t>사업 책임</a:t>
                      </a:r>
                      <a:r>
                        <a:rPr lang="en-US" altLang="ko-KR" dirty="0" smtClean="0"/>
                        <a:t>) + </a:t>
                      </a:r>
                      <a:r>
                        <a:rPr lang="ko-KR" altLang="en-US" dirty="0" smtClean="0"/>
                        <a:t>파트너십 </a:t>
                      </a:r>
                      <a:r>
                        <a:rPr lang="en-US" altLang="ko-KR" dirty="0" smtClean="0"/>
                        <a:t>+ </a:t>
                      </a:r>
                      <a:r>
                        <a:rPr lang="ko-KR" altLang="en-US" dirty="0" err="1" smtClean="0"/>
                        <a:t>운영최소</a:t>
                      </a:r>
                      <a:r>
                        <a:rPr lang="ko-KR" altLang="en-US" dirty="0" smtClean="0"/>
                        <a:t> 핵심 인력</a:t>
                      </a:r>
                      <a:endParaRPr lang="ko-KR" altLang="en-US" sz="1800" b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7006088"/>
                  </a:ext>
                </a:extLst>
              </a:tr>
              <a:tr h="593976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Skills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제안서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협업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운영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데이터 기반 성과관리 역량</a:t>
                      </a:r>
                      <a:endParaRPr lang="ko-KR" altLang="en-US" sz="1800" b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018136"/>
                  </a:ext>
                </a:extLst>
              </a:tr>
              <a:tr h="593976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Style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="1" dirty="0" err="1" smtClean="0"/>
                        <a:t>통제형</a:t>
                      </a:r>
                      <a:r>
                        <a:rPr lang="ko-KR" altLang="en-US" dirty="0" err="1" smtClean="0"/>
                        <a:t>이</a:t>
                      </a:r>
                      <a:r>
                        <a:rPr lang="ko-KR" altLang="en-US" dirty="0" smtClean="0"/>
                        <a:t> 아니라 </a:t>
                      </a:r>
                      <a:r>
                        <a:rPr lang="ko-KR" altLang="en-US" b="1" dirty="0" err="1" smtClean="0"/>
                        <a:t>코칭형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학습 촉진 리더십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sz="1800" b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122578"/>
                  </a:ext>
                </a:extLst>
              </a:tr>
              <a:tr h="593976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2000" b="1" dirty="0" smtClean="0">
                          <a:solidFill>
                            <a:schemeClr val="bg1"/>
                          </a:solidFill>
                        </a:rPr>
                        <a:t>Shared Values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공익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사명</a:t>
                      </a:r>
                      <a:r>
                        <a:rPr lang="en-US" altLang="ko-KR" dirty="0" smtClean="0"/>
                        <a:t>) + </a:t>
                      </a:r>
                      <a:r>
                        <a:rPr lang="ko-KR" altLang="en-US" dirty="0" smtClean="0"/>
                        <a:t>실행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성과</a:t>
                      </a:r>
                      <a:r>
                        <a:rPr lang="en-US" altLang="ko-KR" dirty="0" smtClean="0"/>
                        <a:t>) </a:t>
                      </a:r>
                      <a:r>
                        <a:rPr lang="ko-KR" altLang="en-US" dirty="0" smtClean="0"/>
                        <a:t>동시 강조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슬로건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스토리 내재화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sz="1800" b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11887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075764" y="5460957"/>
            <a:ext cx="55130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성장 </a:t>
            </a:r>
            <a:r>
              <a:rPr lang="ko-KR" altLang="en-US" dirty="0" err="1" smtClean="0"/>
              <a:t>로드맵</a:t>
            </a:r>
            <a:r>
              <a:rPr lang="en-US" altLang="ko-KR" dirty="0" smtClean="0"/>
              <a:t>(3~5</a:t>
            </a:r>
            <a:r>
              <a:rPr lang="ko-KR" altLang="en-US" dirty="0" smtClean="0"/>
              <a:t>년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1</a:t>
            </a:r>
            <a:r>
              <a:rPr lang="ko-KR" altLang="en-US" dirty="0" smtClean="0"/>
              <a:t>차년</a:t>
            </a:r>
            <a:r>
              <a:rPr lang="en-US" altLang="ko-KR" dirty="0" smtClean="0"/>
              <a:t>: </a:t>
            </a:r>
            <a:r>
              <a:rPr lang="ko-KR" altLang="en-US" dirty="0" smtClean="0"/>
              <a:t>파일럿 </a:t>
            </a:r>
            <a:r>
              <a:rPr lang="en-US" altLang="ko-KR" dirty="0" smtClean="0"/>
              <a:t>1~2</a:t>
            </a:r>
            <a:r>
              <a:rPr lang="ko-KR" altLang="en-US" dirty="0" smtClean="0"/>
              <a:t>개 지역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공격형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2</a:t>
            </a:r>
            <a:r>
              <a:rPr lang="ko-KR" altLang="en-US" dirty="0" err="1" smtClean="0"/>
              <a:t>년차</a:t>
            </a:r>
            <a:r>
              <a:rPr lang="en-US" altLang="ko-KR" dirty="0" smtClean="0"/>
              <a:t>: </a:t>
            </a:r>
            <a:r>
              <a:rPr lang="ko-KR" altLang="en-US" dirty="0" smtClean="0"/>
              <a:t>표준 프로세스 도구화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분석형</a:t>
            </a:r>
            <a:r>
              <a:rPr lang="ko-KR" altLang="en-US" dirty="0" smtClean="0"/>
              <a:t> 전환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3</a:t>
            </a:r>
            <a:r>
              <a:rPr lang="ko-KR" altLang="en-US" dirty="0" err="1" smtClean="0"/>
              <a:t>년차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지역확산</a:t>
            </a:r>
            <a:r>
              <a:rPr lang="en-US" altLang="ko-KR" dirty="0" smtClean="0"/>
              <a:t>/ </a:t>
            </a:r>
            <a:r>
              <a:rPr lang="ko-KR" altLang="en-US" dirty="0" smtClean="0"/>
              <a:t>파트너 네트워크 확대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모듈형</a:t>
            </a:r>
            <a:r>
              <a:rPr lang="ko-KR" altLang="en-US" dirty="0" smtClean="0"/>
              <a:t> 조직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2039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>
            <a:extLst>
              <a:ext uri="{FF2B5EF4-FFF2-40B4-BE49-F238E27FC236}">
                <a16:creationId xmlns:a16="http://schemas.microsoft.com/office/drawing/2014/main" id="{BF2B172E-A917-DDCD-99C6-74328BB3F5E1}"/>
              </a:ext>
            </a:extLst>
          </p:cNvPr>
          <p:cNvGrpSpPr/>
          <p:nvPr/>
        </p:nvGrpSpPr>
        <p:grpSpPr>
          <a:xfrm flipV="1">
            <a:off x="6273640" y="0"/>
            <a:ext cx="5396814" cy="4711699"/>
            <a:chOff x="6273640" y="2146302"/>
            <a:chExt cx="5396814" cy="4711699"/>
          </a:xfrm>
        </p:grpSpPr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A8800E81-CF6B-9C9B-C6A9-663314627CA1}"/>
                </a:ext>
              </a:extLst>
            </p:cNvPr>
            <p:cNvSpPr/>
            <p:nvPr/>
          </p:nvSpPr>
          <p:spPr bwMode="auto">
            <a:xfrm>
              <a:off x="6276299" y="2148411"/>
              <a:ext cx="1242074" cy="4709589"/>
            </a:xfrm>
            <a:custGeom>
              <a:avLst/>
              <a:gdLst>
                <a:gd name="connsiteX0" fmla="*/ 621037 w 1242074"/>
                <a:gd name="connsiteY0" fmla="*/ 0 h 4709589"/>
                <a:gd name="connsiteX1" fmla="*/ 1242074 w 1242074"/>
                <a:gd name="connsiteY1" fmla="*/ 621037 h 4709589"/>
                <a:gd name="connsiteX2" fmla="*/ 1242074 w 1242074"/>
                <a:gd name="connsiteY2" fmla="*/ 4621244 h 4709589"/>
                <a:gd name="connsiteX3" fmla="*/ 1233168 w 1242074"/>
                <a:gd name="connsiteY3" fmla="*/ 4709589 h 4709589"/>
                <a:gd name="connsiteX4" fmla="*/ 8906 w 1242074"/>
                <a:gd name="connsiteY4" fmla="*/ 4709589 h 4709589"/>
                <a:gd name="connsiteX5" fmla="*/ 0 w 1242074"/>
                <a:gd name="connsiteY5" fmla="*/ 4621244 h 4709589"/>
                <a:gd name="connsiteX6" fmla="*/ 0 w 1242074"/>
                <a:gd name="connsiteY6" fmla="*/ 621037 h 4709589"/>
                <a:gd name="connsiteX7" fmla="*/ 621037 w 1242074"/>
                <a:gd name="connsiteY7" fmla="*/ 0 h 470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2074" h="4709589">
                  <a:moveTo>
                    <a:pt x="621037" y="0"/>
                  </a:moveTo>
                  <a:cubicBezTo>
                    <a:pt x="964026" y="0"/>
                    <a:pt x="1242074" y="278048"/>
                    <a:pt x="1242074" y="621037"/>
                  </a:cubicBezTo>
                  <a:lnTo>
                    <a:pt x="1242074" y="4621244"/>
                  </a:lnTo>
                  <a:lnTo>
                    <a:pt x="1233168" y="4709589"/>
                  </a:lnTo>
                  <a:lnTo>
                    <a:pt x="8906" y="4709589"/>
                  </a:lnTo>
                  <a:lnTo>
                    <a:pt x="0" y="4621244"/>
                  </a:lnTo>
                  <a:lnTo>
                    <a:pt x="0" y="621037"/>
                  </a:lnTo>
                  <a:cubicBezTo>
                    <a:pt x="0" y="278048"/>
                    <a:pt x="278048" y="0"/>
                    <a:pt x="62103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83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F86143C6-1A12-C58F-37B0-C9026A540339}"/>
                </a:ext>
              </a:extLst>
            </p:cNvPr>
            <p:cNvSpPr/>
            <p:nvPr/>
          </p:nvSpPr>
          <p:spPr bwMode="auto">
            <a:xfrm>
              <a:off x="8349150" y="2148411"/>
              <a:ext cx="1242074" cy="4709589"/>
            </a:xfrm>
            <a:custGeom>
              <a:avLst/>
              <a:gdLst>
                <a:gd name="connsiteX0" fmla="*/ 621037 w 1242074"/>
                <a:gd name="connsiteY0" fmla="*/ 0 h 4709589"/>
                <a:gd name="connsiteX1" fmla="*/ 1242074 w 1242074"/>
                <a:gd name="connsiteY1" fmla="*/ 621037 h 4709589"/>
                <a:gd name="connsiteX2" fmla="*/ 1242074 w 1242074"/>
                <a:gd name="connsiteY2" fmla="*/ 4621244 h 4709589"/>
                <a:gd name="connsiteX3" fmla="*/ 1233168 w 1242074"/>
                <a:gd name="connsiteY3" fmla="*/ 4709589 h 4709589"/>
                <a:gd name="connsiteX4" fmla="*/ 8906 w 1242074"/>
                <a:gd name="connsiteY4" fmla="*/ 4709589 h 4709589"/>
                <a:gd name="connsiteX5" fmla="*/ 0 w 1242074"/>
                <a:gd name="connsiteY5" fmla="*/ 4621244 h 4709589"/>
                <a:gd name="connsiteX6" fmla="*/ 0 w 1242074"/>
                <a:gd name="connsiteY6" fmla="*/ 621037 h 4709589"/>
                <a:gd name="connsiteX7" fmla="*/ 621037 w 1242074"/>
                <a:gd name="connsiteY7" fmla="*/ 0 h 470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2074" h="4709589">
                  <a:moveTo>
                    <a:pt x="621037" y="0"/>
                  </a:moveTo>
                  <a:cubicBezTo>
                    <a:pt x="964026" y="0"/>
                    <a:pt x="1242074" y="278048"/>
                    <a:pt x="1242074" y="621037"/>
                  </a:cubicBezTo>
                  <a:lnTo>
                    <a:pt x="1242074" y="4621244"/>
                  </a:lnTo>
                  <a:lnTo>
                    <a:pt x="1233168" y="4709589"/>
                  </a:lnTo>
                  <a:lnTo>
                    <a:pt x="8906" y="4709589"/>
                  </a:lnTo>
                  <a:lnTo>
                    <a:pt x="0" y="4621244"/>
                  </a:lnTo>
                  <a:lnTo>
                    <a:pt x="0" y="621037"/>
                  </a:lnTo>
                  <a:cubicBezTo>
                    <a:pt x="0" y="278048"/>
                    <a:pt x="278048" y="0"/>
                    <a:pt x="62103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29D0482B-CC69-AE0D-B8C7-B3F604044219}"/>
                </a:ext>
              </a:extLst>
            </p:cNvPr>
            <p:cNvSpPr/>
            <p:nvPr/>
          </p:nvSpPr>
          <p:spPr bwMode="auto">
            <a:xfrm>
              <a:off x="6273640" y="2146302"/>
              <a:ext cx="3319569" cy="4711699"/>
            </a:xfrm>
            <a:custGeom>
              <a:avLst/>
              <a:gdLst>
                <a:gd name="connsiteX0" fmla="*/ 2657037 w 3319569"/>
                <a:gd name="connsiteY0" fmla="*/ 1418 h 4711699"/>
                <a:gd name="connsiteX1" fmla="*/ 2747240 w 3319569"/>
                <a:gd name="connsiteY1" fmla="*/ 1891 h 4711699"/>
                <a:gd name="connsiteX2" fmla="*/ 2984304 w 3319569"/>
                <a:gd name="connsiteY2" fmla="*/ 69852 h 4711699"/>
                <a:gd name="connsiteX3" fmla="*/ 3249719 w 3319569"/>
                <a:gd name="connsiteY3" fmla="*/ 907066 h 4711699"/>
                <a:gd name="connsiteX4" fmla="*/ 1276713 w 3319569"/>
                <a:gd name="connsiteY4" fmla="*/ 4711699 h 4711699"/>
                <a:gd name="connsiteX5" fmla="*/ 7107 w 3319569"/>
                <a:gd name="connsiteY5" fmla="*/ 4711699 h 4711699"/>
                <a:gd name="connsiteX6" fmla="*/ 4158 w 3319569"/>
                <a:gd name="connsiteY6" fmla="*/ 4697965 h 4711699"/>
                <a:gd name="connsiteX7" fmla="*/ 69853 w 3319569"/>
                <a:gd name="connsiteY7" fmla="*/ 4340892 h 4711699"/>
                <a:gd name="connsiteX8" fmla="*/ 2147089 w 3319569"/>
                <a:gd name="connsiteY8" fmla="*/ 335265 h 4711699"/>
                <a:gd name="connsiteX9" fmla="*/ 2657037 w 3319569"/>
                <a:gd name="connsiteY9" fmla="*/ 1418 h 4711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19569" h="4711699">
                  <a:moveTo>
                    <a:pt x="2657037" y="1418"/>
                  </a:moveTo>
                  <a:cubicBezTo>
                    <a:pt x="2686934" y="-607"/>
                    <a:pt x="2717080" y="-474"/>
                    <a:pt x="2747240" y="1891"/>
                  </a:cubicBezTo>
                  <a:cubicBezTo>
                    <a:pt x="2827666" y="8198"/>
                    <a:pt x="2908183" y="30377"/>
                    <a:pt x="2984304" y="69852"/>
                  </a:cubicBezTo>
                  <a:cubicBezTo>
                    <a:pt x="3288788" y="227750"/>
                    <a:pt x="3407617" y="602583"/>
                    <a:pt x="3249719" y="907066"/>
                  </a:cubicBezTo>
                  <a:lnTo>
                    <a:pt x="1276713" y="4711699"/>
                  </a:lnTo>
                  <a:lnTo>
                    <a:pt x="7107" y="4711699"/>
                  </a:lnTo>
                  <a:lnTo>
                    <a:pt x="4158" y="4697965"/>
                  </a:lnTo>
                  <a:cubicBezTo>
                    <a:pt x="-9657" y="4579148"/>
                    <a:pt x="10641" y="4455074"/>
                    <a:pt x="69853" y="4340892"/>
                  </a:cubicBezTo>
                  <a:lnTo>
                    <a:pt x="2147089" y="335265"/>
                  </a:lnTo>
                  <a:cubicBezTo>
                    <a:pt x="2250711" y="135449"/>
                    <a:pt x="2447757" y="15586"/>
                    <a:pt x="2657037" y="14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60459A61-C2FB-5B30-C337-9EF4533930CC}"/>
                </a:ext>
              </a:extLst>
            </p:cNvPr>
            <p:cNvSpPr/>
            <p:nvPr/>
          </p:nvSpPr>
          <p:spPr bwMode="auto">
            <a:xfrm>
              <a:off x="10428380" y="2148411"/>
              <a:ext cx="1242074" cy="4709589"/>
            </a:xfrm>
            <a:custGeom>
              <a:avLst/>
              <a:gdLst>
                <a:gd name="connsiteX0" fmla="*/ 621037 w 1242074"/>
                <a:gd name="connsiteY0" fmla="*/ 0 h 4709589"/>
                <a:gd name="connsiteX1" fmla="*/ 1242074 w 1242074"/>
                <a:gd name="connsiteY1" fmla="*/ 621037 h 4709589"/>
                <a:gd name="connsiteX2" fmla="*/ 1242074 w 1242074"/>
                <a:gd name="connsiteY2" fmla="*/ 4621244 h 4709589"/>
                <a:gd name="connsiteX3" fmla="*/ 1233168 w 1242074"/>
                <a:gd name="connsiteY3" fmla="*/ 4709589 h 4709589"/>
                <a:gd name="connsiteX4" fmla="*/ 8906 w 1242074"/>
                <a:gd name="connsiteY4" fmla="*/ 4709589 h 4709589"/>
                <a:gd name="connsiteX5" fmla="*/ 0 w 1242074"/>
                <a:gd name="connsiteY5" fmla="*/ 4621244 h 4709589"/>
                <a:gd name="connsiteX6" fmla="*/ 0 w 1242074"/>
                <a:gd name="connsiteY6" fmla="*/ 621037 h 4709589"/>
                <a:gd name="connsiteX7" fmla="*/ 621037 w 1242074"/>
                <a:gd name="connsiteY7" fmla="*/ 0 h 470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2074" h="4709589">
                  <a:moveTo>
                    <a:pt x="621037" y="0"/>
                  </a:moveTo>
                  <a:cubicBezTo>
                    <a:pt x="964026" y="0"/>
                    <a:pt x="1242074" y="278048"/>
                    <a:pt x="1242074" y="621037"/>
                  </a:cubicBezTo>
                  <a:lnTo>
                    <a:pt x="1242074" y="4621244"/>
                  </a:lnTo>
                  <a:lnTo>
                    <a:pt x="1233168" y="4709589"/>
                  </a:lnTo>
                  <a:lnTo>
                    <a:pt x="8906" y="4709589"/>
                  </a:lnTo>
                  <a:lnTo>
                    <a:pt x="0" y="4621244"/>
                  </a:lnTo>
                  <a:lnTo>
                    <a:pt x="0" y="621037"/>
                  </a:lnTo>
                  <a:cubicBezTo>
                    <a:pt x="0" y="278048"/>
                    <a:pt x="278048" y="0"/>
                    <a:pt x="62103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83000">
                  <a:schemeClr val="accent4">
                    <a:lumMod val="7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809101D7-84B1-BA6F-52B4-1F1EED44E8D1}"/>
                </a:ext>
              </a:extLst>
            </p:cNvPr>
            <p:cNvSpPr/>
            <p:nvPr/>
          </p:nvSpPr>
          <p:spPr bwMode="auto">
            <a:xfrm>
              <a:off x="8349271" y="2146302"/>
              <a:ext cx="3319569" cy="4711699"/>
            </a:xfrm>
            <a:custGeom>
              <a:avLst/>
              <a:gdLst>
                <a:gd name="connsiteX0" fmla="*/ 2657037 w 3319569"/>
                <a:gd name="connsiteY0" fmla="*/ 1418 h 4711699"/>
                <a:gd name="connsiteX1" fmla="*/ 2747240 w 3319569"/>
                <a:gd name="connsiteY1" fmla="*/ 1891 h 4711699"/>
                <a:gd name="connsiteX2" fmla="*/ 2984304 w 3319569"/>
                <a:gd name="connsiteY2" fmla="*/ 69852 h 4711699"/>
                <a:gd name="connsiteX3" fmla="*/ 3249719 w 3319569"/>
                <a:gd name="connsiteY3" fmla="*/ 907066 h 4711699"/>
                <a:gd name="connsiteX4" fmla="*/ 1276712 w 3319569"/>
                <a:gd name="connsiteY4" fmla="*/ 4711699 h 4711699"/>
                <a:gd name="connsiteX5" fmla="*/ 7107 w 3319569"/>
                <a:gd name="connsiteY5" fmla="*/ 4711699 h 4711699"/>
                <a:gd name="connsiteX6" fmla="*/ 4158 w 3319569"/>
                <a:gd name="connsiteY6" fmla="*/ 4697965 h 4711699"/>
                <a:gd name="connsiteX7" fmla="*/ 69853 w 3319569"/>
                <a:gd name="connsiteY7" fmla="*/ 4340892 h 4711699"/>
                <a:gd name="connsiteX8" fmla="*/ 2147089 w 3319569"/>
                <a:gd name="connsiteY8" fmla="*/ 335265 h 4711699"/>
                <a:gd name="connsiteX9" fmla="*/ 2657037 w 3319569"/>
                <a:gd name="connsiteY9" fmla="*/ 1418 h 4711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19569" h="4711699">
                  <a:moveTo>
                    <a:pt x="2657037" y="1418"/>
                  </a:moveTo>
                  <a:cubicBezTo>
                    <a:pt x="2686934" y="-607"/>
                    <a:pt x="2717080" y="-474"/>
                    <a:pt x="2747240" y="1891"/>
                  </a:cubicBezTo>
                  <a:cubicBezTo>
                    <a:pt x="2827665" y="8198"/>
                    <a:pt x="2908183" y="30377"/>
                    <a:pt x="2984304" y="69852"/>
                  </a:cubicBezTo>
                  <a:cubicBezTo>
                    <a:pt x="3288787" y="227750"/>
                    <a:pt x="3407617" y="602583"/>
                    <a:pt x="3249719" y="907066"/>
                  </a:cubicBezTo>
                  <a:lnTo>
                    <a:pt x="1276712" y="4711699"/>
                  </a:lnTo>
                  <a:lnTo>
                    <a:pt x="7107" y="4711699"/>
                  </a:lnTo>
                  <a:lnTo>
                    <a:pt x="4158" y="4697965"/>
                  </a:lnTo>
                  <a:cubicBezTo>
                    <a:pt x="-9657" y="4579148"/>
                    <a:pt x="10641" y="4455074"/>
                    <a:pt x="69853" y="4340892"/>
                  </a:cubicBezTo>
                  <a:lnTo>
                    <a:pt x="2147089" y="335265"/>
                  </a:lnTo>
                  <a:cubicBezTo>
                    <a:pt x="2250710" y="135449"/>
                    <a:pt x="2447757" y="15586"/>
                    <a:pt x="2657037" y="1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119B0D0-41C7-4D6B-49F5-92C151E42234}"/>
              </a:ext>
            </a:extLst>
          </p:cNvPr>
          <p:cNvSpPr txBox="1"/>
          <p:nvPr/>
        </p:nvSpPr>
        <p:spPr>
          <a:xfrm>
            <a:off x="986160" y="2220807"/>
            <a:ext cx="9084940" cy="255454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sz="16000" b="1" dirty="0" smtClean="0">
                <a:solidFill>
                  <a:schemeClr val="bg1"/>
                </a:solidFill>
                <a:effectLst>
                  <a:outerShdw blurRad="228600" dist="190500" dir="5400000" algn="t" rotWithShape="0">
                    <a:prstClr val="black">
                      <a:alpha val="20000"/>
                    </a:prstClr>
                  </a:outerShdw>
                </a:effectLst>
              </a:rPr>
              <a:t>Q&amp;A</a:t>
            </a:r>
            <a:endParaRPr lang="ko-KR" altLang="en-US" sz="16000" b="1" dirty="0">
              <a:solidFill>
                <a:schemeClr val="bg1"/>
              </a:solidFill>
              <a:effectLst>
                <a:outerShdw blurRad="228600" dist="190500" dir="5400000" algn="t" rotWithShape="0">
                  <a:prstClr val="black">
                    <a:alpha val="20000"/>
                  </a:prstClr>
                </a:outerShdw>
              </a:effectLst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CD5F2797-5D4F-1534-42AA-6FAC898B080B}"/>
              </a:ext>
            </a:extLst>
          </p:cNvPr>
          <p:cNvGrpSpPr/>
          <p:nvPr/>
        </p:nvGrpSpPr>
        <p:grpSpPr>
          <a:xfrm>
            <a:off x="10910590" y="5975051"/>
            <a:ext cx="511897" cy="198486"/>
            <a:chOff x="10681010" y="5772149"/>
            <a:chExt cx="834760" cy="323675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80967D7F-3A77-DDB5-5190-1F6B3444000E}"/>
                </a:ext>
              </a:extLst>
            </p:cNvPr>
            <p:cNvSpPr/>
            <p:nvPr/>
          </p:nvSpPr>
          <p:spPr bwMode="auto">
            <a:xfrm>
              <a:off x="10681010" y="5772149"/>
              <a:ext cx="221721" cy="3236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2897E814-900B-2451-DD0E-4458B6A6FAA6}"/>
                </a:ext>
              </a:extLst>
            </p:cNvPr>
            <p:cNvSpPr/>
            <p:nvPr/>
          </p:nvSpPr>
          <p:spPr bwMode="auto">
            <a:xfrm>
              <a:off x="10987529" y="5772149"/>
              <a:ext cx="221721" cy="32367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9367175E-0FFB-46EC-072B-F05979F667C7}"/>
                </a:ext>
              </a:extLst>
            </p:cNvPr>
            <p:cNvSpPr/>
            <p:nvPr/>
          </p:nvSpPr>
          <p:spPr bwMode="auto">
            <a:xfrm>
              <a:off x="11294049" y="5772149"/>
              <a:ext cx="221721" cy="32367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1040E57-C721-75BC-3843-F1F2DCC99A05}"/>
              </a:ext>
            </a:extLst>
          </p:cNvPr>
          <p:cNvSpPr/>
          <p:nvPr/>
        </p:nvSpPr>
        <p:spPr bwMode="auto">
          <a:xfrm>
            <a:off x="1232722" y="1144110"/>
            <a:ext cx="274080" cy="6344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23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ck1">
  <a:themeElements>
    <a:clrScheme name="지명원5-1">
      <a:dk1>
        <a:sysClr val="windowText" lastClr="000000"/>
      </a:dk1>
      <a:lt1>
        <a:sysClr val="window" lastClr="FFFFFF"/>
      </a:lt1>
      <a:dk2>
        <a:srgbClr val="242852"/>
      </a:dk2>
      <a:lt2>
        <a:srgbClr val="D8D8D8"/>
      </a:lt2>
      <a:accent1>
        <a:srgbClr val="B7D646"/>
      </a:accent1>
      <a:accent2>
        <a:srgbClr val="72A020"/>
      </a:accent2>
      <a:accent3>
        <a:srgbClr val="3D6F1B"/>
      </a:accent3>
      <a:accent4>
        <a:srgbClr val="87BECB"/>
      </a:accent4>
      <a:accent5>
        <a:srgbClr val="7F7F7F"/>
      </a:accent5>
      <a:accent6>
        <a:srgbClr val="3F3F3F"/>
      </a:accent6>
      <a:hlink>
        <a:srgbClr val="9454C3"/>
      </a:hlink>
      <a:folHlink>
        <a:srgbClr val="3EBBF0"/>
      </a:folHlink>
    </a:clrScheme>
    <a:fontScheme name="사용자 지정 1061">
      <a:majorFont>
        <a:latin typeface="Montserrat"/>
        <a:ea typeface="맑은 고딕"/>
        <a:cs typeface=""/>
      </a:majorFont>
      <a:minorFont>
        <a:latin typeface="Montserra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back1" id="{46DDCD9D-8E7C-4371-96EF-59CCAC256F43}" vid="{A9BEA486-476A-497E-962B-4C68300A479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8431</TotalTime>
  <Words>1360</Words>
  <Application>Microsoft Office PowerPoint</Application>
  <PresentationFormat>와이드스크린</PresentationFormat>
  <Paragraphs>215</Paragraphs>
  <Slides>14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Wingdings</vt:lpstr>
      <vt:lpstr>Montserrat</vt:lpstr>
      <vt:lpstr>back1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예스폼 디자인팀</Manager>
  <Company>(주)예스폼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예스폼 파워포인트</dc:title>
  <dc:subject>파워포인트 템플릿, 파워포인트 배경, PPT 템플릿, 프리젠테이션, 다이어그램, 차트</dc:subject>
  <dc:creator>Slide Members by BR.YOON</dc:creator>
  <cp:keywords>PPT, PPT Templates, Presentation, Diagram, Chart, Yesform, Google slides, Keynote, 예스폼, 배경PPT</cp:keywords>
  <dc:description>본 문서의 저작권은 예스폼(YESFORM)에 있으며 무단 복제 배포시 법적인 제재를 받을 수 있습니다.</dc:description>
  <cp:lastModifiedBy>LG</cp:lastModifiedBy>
  <cp:revision>164</cp:revision>
  <dcterms:created xsi:type="dcterms:W3CDTF">2022-01-10T07:41:14Z</dcterms:created>
  <dcterms:modified xsi:type="dcterms:W3CDTF">2026-01-24T00:48:04Z</dcterms:modified>
  <cp:category>http://powerpoint.yesform.com/</cp:category>
</cp:coreProperties>
</file>