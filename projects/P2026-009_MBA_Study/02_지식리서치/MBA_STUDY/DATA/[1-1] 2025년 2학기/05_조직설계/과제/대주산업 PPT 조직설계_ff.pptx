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haansoftxlsx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73" r:id="rId8"/>
    <p:sldId id="265" r:id="rId9"/>
    <p:sldId id="264" r:id="rId10"/>
    <p:sldId id="270" r:id="rId11"/>
    <p:sldId id="274" r:id="rId12"/>
    <p:sldId id="275" r:id="rId13"/>
    <p:sldId id="272" r:id="rId14"/>
    <p:sldId id="268" r:id="rId15"/>
  </p:sldIdLst>
  <p:sldSz cx="12192000" cy="6858000"/>
  <p:notesSz cx="6858000" cy="9144000"/>
  <p:embeddedFontLst>
    <p:embeddedFont>
      <p:font typeface="KoPubWorld돋움체 Bold" panose="00000800000000000000" pitchFamily="2" charset="-127"/>
      <p:bold r:id="rId17"/>
    </p:embeddedFont>
    <p:embeddedFont>
      <p:font typeface="KoPubWorld돋움체 Medium" panose="00000600000000000000" pitchFamily="2" charset="-127"/>
      <p:regular r:id="rId18"/>
    </p:embeddedFont>
    <p:embeddedFont>
      <p:font typeface="KoPub돋움체 Bold" panose="00000800000000000000" pitchFamily="2" charset="-127"/>
      <p:bold r:id="rId19"/>
    </p:embeddedFont>
    <p:embeddedFont>
      <p:font typeface="KoPub돋움체 Bold" panose="00000800000000000000" pitchFamily="2" charset="-127"/>
      <p:bold r:id="rId19"/>
    </p:embeddedFont>
    <p:embeddedFont>
      <p:font typeface="KoPub돋움체 Medium" panose="00000600000000000000" pitchFamily="2" charset="-127"/>
      <p:regular r:id="rId20"/>
    </p:embeddedFont>
    <p:embeddedFont>
      <p:font typeface="Segoe UI Black" panose="020B0A02040204020203" pitchFamily="34" charset="0"/>
      <p:bold r:id="rId21"/>
      <p:italic r:id="rId22"/>
      <p:boldItalic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BEC"/>
    <a:srgbClr val="EE3342"/>
    <a:srgbClr val="F47A84"/>
    <a:srgbClr val="2767CF"/>
    <a:srgbClr val="FFFFFF"/>
    <a:srgbClr val="F9B8BD"/>
    <a:srgbClr val="E8EEFF"/>
    <a:srgbClr val="C8A45D"/>
    <a:srgbClr val="DFF5F2"/>
    <a:srgbClr val="433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 autoAdjust="0"/>
    <p:restoredTop sz="96121" autoAdjust="0"/>
  </p:normalViewPr>
  <p:slideViewPr>
    <p:cSldViewPr snapToGrid="0" showGuides="1">
      <p:cViewPr varScale="1">
        <p:scale>
          <a:sx n="95" d="100"/>
          <a:sy n="95" d="100"/>
        </p:scale>
        <p:origin x="1164" y="30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EE334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Sheet1!$C$2:$E$2</c:f>
              <c:strCache>
                <c:ptCount val="3"/>
                <c:pt idx="0">
                  <c:v>2022년</c:v>
                </c:pt>
                <c:pt idx="1">
                  <c:v>2023년</c:v>
                </c:pt>
                <c:pt idx="2">
                  <c:v>2024년</c:v>
                </c:pt>
              </c:strCache>
            </c:strRef>
          </c:cat>
          <c:val>
            <c:numRef>
              <c:f>Sheet1!$C$3:$E$3</c:f>
              <c:numCache>
                <c:formatCode>#,##0</c:formatCode>
                <c:ptCount val="3"/>
                <c:pt idx="0">
                  <c:v>99143</c:v>
                </c:pt>
                <c:pt idx="1">
                  <c:v>104924</c:v>
                </c:pt>
                <c:pt idx="2">
                  <c:v>105560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8B-734E-BF1A-A673EE65701E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매출총이익</c:v>
                </c:pt>
              </c:strCache>
            </c:strRef>
          </c:tx>
          <c:spPr>
            <a:solidFill>
              <a:srgbClr val="4338C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Sheet1!$C$2:$E$2</c:f>
              <c:strCache>
                <c:ptCount val="3"/>
                <c:pt idx="0">
                  <c:v>2022년</c:v>
                </c:pt>
                <c:pt idx="1">
                  <c:v>2023년</c:v>
                </c:pt>
                <c:pt idx="2">
                  <c:v>2024년</c:v>
                </c:pt>
              </c:strCache>
            </c:strRef>
          </c:cat>
          <c:val>
            <c:numRef>
              <c:f>Sheet1!$C$4:$E$4</c:f>
              <c:numCache>
                <c:formatCode>#,##0</c:formatCode>
                <c:ptCount val="3"/>
                <c:pt idx="0">
                  <c:v>15904</c:v>
                </c:pt>
                <c:pt idx="1">
                  <c:v>19194</c:v>
                </c:pt>
                <c:pt idx="2">
                  <c:v>24150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8B-734E-BF1A-A673EE6570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40338384"/>
        <c:axId val="1040340784"/>
      </c:barChart>
      <c:lineChart>
        <c:grouping val="standard"/>
        <c:varyColors val="0"/>
        <c:ser>
          <c:idx val="2"/>
          <c:order val="2"/>
          <c:tx>
            <c:strRef>
              <c:f>Sheet1!$B$5</c:f>
              <c:strCache>
                <c:ptCount val="1"/>
                <c:pt idx="0">
                  <c:v>영업이익</c:v>
                </c:pt>
              </c:strCache>
            </c:strRef>
          </c:tx>
          <c:spPr>
            <a:ln w="101600" cap="rnd">
              <a:solidFill>
                <a:srgbClr val="C8A45D"/>
              </a:solidFill>
              <a:prstDash val="sysDot"/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101600" cap="rnd">
                <a:solidFill>
                  <a:srgbClr val="C8A45D"/>
                </a:solidFill>
                <a:prstDash val="sysDot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48B-734E-BF1A-A673EE65701E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101600" cap="rnd">
                <a:solidFill>
                  <a:srgbClr val="C8A45D"/>
                </a:solidFill>
                <a:prstDash val="sysDot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A48B-734E-BF1A-A673EE65701E}"/>
              </c:ext>
            </c:extLst>
          </c:dPt>
          <c:dLbls>
            <c:dLbl>
              <c:idx val="0"/>
              <c:layout>
                <c:manualLayout>
                  <c:x val="3.1982942430703624E-3"/>
                  <c:y val="5.44815465729349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48B-734E-BF1A-A673EE65701E}"/>
                </c:ext>
              </c:extLst>
            </c:dLbl>
            <c:dLbl>
              <c:idx val="1"/>
              <c:layout>
                <c:manualLayout>
                  <c:x val="0"/>
                  <c:y val="2.81195079086115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8B-734E-BF1A-A673EE65701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Sheet1!$C$2:$E$2</c:f>
              <c:strCache>
                <c:ptCount val="3"/>
                <c:pt idx="0">
                  <c:v>2022년</c:v>
                </c:pt>
                <c:pt idx="1">
                  <c:v>2023년</c:v>
                </c:pt>
                <c:pt idx="2">
                  <c:v>2024년</c:v>
                </c:pt>
              </c:strCache>
            </c:strRef>
          </c:cat>
          <c:val>
            <c:numRef>
              <c:f>Sheet1!$C$5:$E$5</c:f>
              <c:numCache>
                <c:formatCode>#,##0</c:formatCode>
                <c:ptCount val="3"/>
                <c:pt idx="0">
                  <c:v>5513</c:v>
                </c:pt>
                <c:pt idx="1">
                  <c:v>7342</c:v>
                </c:pt>
                <c:pt idx="2">
                  <c:v>9588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48B-734E-BF1A-A673EE6570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0328784"/>
        <c:axId val="1040331184"/>
      </c:lineChart>
      <c:catAx>
        <c:axId val="1040338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0340784"/>
        <c:crosses val="autoZero"/>
        <c:auto val="1"/>
        <c:lblAlgn val="ctr"/>
        <c:lblOffset val="100"/>
        <c:noMultiLvlLbl val="0"/>
      </c:catAx>
      <c:valAx>
        <c:axId val="1040340784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0338384"/>
        <c:crosses val="autoZero"/>
        <c:crossBetween val="between"/>
      </c:valAx>
      <c:valAx>
        <c:axId val="1040331184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0328784"/>
        <c:crosses val="max"/>
        <c:crossBetween val="between"/>
      </c:valAx>
      <c:catAx>
        <c:axId val="1040328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03311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E4213-5457-4F5B-9F5A-7508ED8C745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5C7E2-EFD6-4F36-9F1B-994D23295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325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5C7E2-EFD6-4F36-9F1B-994D23295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3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59D32-156C-6DDE-7E84-9E519CE3A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FC2581-DE75-7765-12C2-BAF9C516A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24E8DE-B06D-24FA-EF2A-DCBF6A9F0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44C70B-736E-49E7-B691-2A019EF5A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5C7E2-EFD6-4F36-9F1B-994D23295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509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B837-2444-B566-109F-E944ABD96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4C62A1-D153-398E-6135-099D6233A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2DEE0B-0EC6-04A3-E719-0B403064A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A159B6-D8AD-FFE3-DD31-26716B945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5C7E2-EFD6-4F36-9F1B-994D23295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003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56A9B-605A-C12A-CA8C-814EEBB0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D88FD6-5EFC-A4CE-68CA-3A7D2FC58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E51B6A-7889-183E-9AC2-A1E118E42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7120A2-C471-5F42-2DEF-6B845D674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5C7E2-EFD6-4F36-9F1B-994D232954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752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BF2C9-F1C0-1339-F2CE-A685DADEE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429769-EC14-C471-D8A3-BB3C7EF6C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D88044-5DD7-CC39-86B4-2957C8927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83323F-A28C-76C8-C94A-9EDAC76E6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5C7E2-EFD6-4F36-9F1B-994D232954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366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C4811-CE3C-C612-5E43-0EF35E81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D4793B-5BE2-1011-E8FA-4077637B8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FE877C-24AC-D5CB-8254-822A38668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67723-2113-7DC3-98BE-3D625F042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5C7E2-EFD6-4F36-9F1B-994D232954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54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B8519-B5A1-63A8-5F4B-A4488FC51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6D5E96-9C19-158E-55F6-ECBC2F575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D9A13F-6D9D-F83B-64EC-0F467E45D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D65D2D-FC96-58FB-73B3-C1B5A1FE0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5C7E2-EFD6-4F36-9F1B-994D232954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342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EDC90-CEE8-9AAC-06FA-F6E37494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57B5D7-2E49-65DC-CFF5-80709C058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44F661-08DE-36C3-036B-D01651DC6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8068D6-3305-3DB9-0A7C-5C56C26A7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5C7E2-EFD6-4F36-9F1B-994D232954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589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C3C3E-1198-A534-5A3B-AE14437C5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AA8337-BEC1-F03A-DF14-2116728AE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6DE9AD-15E5-CEDB-B6E1-D9685AC31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9DABC9-0354-4822-6B8B-2670B43B9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5C7E2-EFD6-4F36-9F1B-994D232954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908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D5395-E83D-8371-FBA0-D3B7E1323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D1CAD-6C44-5E5D-7FE7-2F0C5ED8C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CD140D-2449-4400-6D91-D8DE018D0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0AFE2D-0F39-451E-645A-FA11B92FF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5C7E2-EFD6-4F36-9F1B-994D232954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329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D8192-393A-E9BB-2E3A-A9E0BCCB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761623-62FE-D9FB-1646-426762AFC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DDDF4A-FBCF-1038-861D-77B052B63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F209EF-AE2C-71FA-4017-9FF527C4D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5C7E2-EFD6-4F36-9F1B-994D232954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591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7B257-7D8A-1D3A-EC9C-D94C4F405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BD8705-C41A-9CF9-52DA-46EB9B458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268CCC-D670-CEF6-DC77-9F74224E8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FECE89-7B74-57D2-AAC1-A457899D9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5C7E2-EFD6-4F36-9F1B-994D232954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144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77A80-0B7A-F236-D7D6-8CCCD6708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C48E96-70D2-AAF2-2D1F-13C9B6D4D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36F624-F166-0E34-F754-49802E1BF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B027-F7D7-4B68-8C29-7D58A7E0396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27D90C-2073-54F0-ED74-7FC9C49B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46D2F-459D-59F3-F785-FD8E4373C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FC78B-6544-4A7B-BF51-9B718936C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687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6E73A-862A-ABC6-6C92-2D1AB0E19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641AE1-28B4-ED97-4AEC-CE56C09FB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38A81-0209-F547-4D96-B03462430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B027-F7D7-4B68-8C29-7D58A7E0396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DAD0BD-AC9E-9269-40C4-3A39BDBEE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E6E5EB-E5E9-31C0-B04C-5AE032E8F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FC78B-6544-4A7B-BF51-9B718936C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88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257BF-36FD-CDEC-977A-B28A4070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11AB1F-7195-354E-7312-FB9431338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2DA6E8-053B-10E0-813E-A7701620B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B027-F7D7-4B68-8C29-7D58A7E0396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766341-3587-51CE-0869-0BBB68CD0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935659-ED8E-DA8A-3CFD-83926AFEA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FC78B-6544-4A7B-BF51-9B718936C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61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7F3D5-8D09-B48A-2429-71FFC8F2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CEBEB2-DFA9-A214-99C2-B5C0936231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B56C0B-5C89-359F-031E-9A2C37755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CC5C9A-CADD-B671-D97D-8703BA65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B027-F7D7-4B68-8C29-7D58A7E0396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9CEB88-07A9-D91B-B4D1-CE836912D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84DE7B-48D4-F0C4-29C7-24ABE855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FC78B-6544-4A7B-BF51-9B718936C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51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F020E-673A-DD07-11E0-0A176AD46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13CDBE-56FF-5501-1EB8-7AA322CD5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6BEE49-EFA2-3636-66D5-6233A34A5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7B3E9F-453B-6699-9ECE-B619F04E0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192BA8-23F8-C0F0-A620-4AB156AA2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6A9FA1-1B16-7C4B-1CFA-5FBF56BB1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B027-F7D7-4B68-8C29-7D58A7E0396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8CEB72D-E068-E43F-A1AF-D54F8B9DC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68E500-CF93-CECA-052F-93844651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FC78B-6544-4A7B-BF51-9B718936C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76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BC9C7-A91F-BAFB-3FB3-7D9CC666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0C472E-98FF-6E4C-B3BA-D4E47C5AE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B027-F7D7-4B68-8C29-7D58A7E0396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CAD5CD-20C7-BE68-0B4E-6C37F170C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8F7D7E-335B-2834-AF2F-78521173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FC78B-6544-4A7B-BF51-9B718936C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38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72B958-FCFD-1E8C-D344-AF41CEF1E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B027-F7D7-4B68-8C29-7D58A7E0396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240A88-1EB9-517D-C6E3-0BB9DE21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F507E0-703F-D817-ABE5-D694CD178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FC78B-6544-4A7B-BF51-9B718936C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87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7DA35-5547-DADC-A4F8-F00C4A4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1B82DC-19EE-78F1-7C3C-2683F77B6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C6C11A-0954-518D-A85C-D7766DB37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1863F9-7733-EB76-64AC-2C35304F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B027-F7D7-4B68-8C29-7D58A7E0396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718F0A-84A6-82E3-C63A-D504441E9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1563E2-4AB5-47B8-E1A6-C3478561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FC78B-6544-4A7B-BF51-9B718936C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872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8B123-BC7A-9C58-9DE6-2DCA39C9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DBD801-3DE2-C299-ABF6-BDCBC4E57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5E7008-0EAD-CBC5-EE9D-1E981833D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0E4816-E595-AEA5-79E2-F20DC2B4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B027-F7D7-4B68-8C29-7D58A7E0396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0D9A9C-C25B-0ACB-BF9B-BA0CE39CC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2E7C56-130F-A62A-F202-CD0FEC2A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FC78B-6544-4A7B-BF51-9B718936C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978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2BBEEB-55A5-3377-2254-F465A6ED9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238405-BB92-EEF9-E05A-962085202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8F2CB4-842E-55FD-05A9-C5385190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B027-F7D7-4B68-8C29-7D58A7E0396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CC0D82-1FC2-4B16-A195-DAD57AC62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A9B923-FF01-76F4-4E11-E1677BE3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FC78B-6544-4A7B-BF51-9B718936C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85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E0E98E-FC05-3108-17EB-F47F60EDC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3D9D5-CA37-66E1-EAB8-55E83EFA0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670A19-40B3-A112-EA17-31B3BFE9B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B027-F7D7-4B68-8C29-7D58A7E0396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D5FED4-6ED8-143F-05BE-0E6E8967E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E75ABA-6DB0-E1CC-45E5-7E48D658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FC78B-6544-4A7B-BF51-9B718936C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124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D8F984-A031-71C1-2B66-6CD855F04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CAD8C9-8D37-B06C-6AEE-42E9765D7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ECEF11-C5F6-58BD-5AA7-BCD4063A3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CB027-F7D7-4B68-8C29-7D58A7E0396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A9BAA9-9E93-5F56-984A-6564657D8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3AE6FD-50BE-E6C3-B05A-EFFBE5905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FC78B-6544-4A7B-BF51-9B718936CE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28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3063A4-4763-4FC0-84C4-BDDA44346619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747A6D-DCFD-E080-BA4F-98C4786C9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127819" y="0"/>
            <a:ext cx="2172929" cy="6292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A84483-11E8-94BE-84C6-59359C5C9130}"/>
              </a:ext>
            </a:extLst>
          </p:cNvPr>
          <p:cNvSpPr txBox="1"/>
          <p:nvPr/>
        </p:nvSpPr>
        <p:spPr>
          <a:xfrm>
            <a:off x="9891252" y="186664"/>
            <a:ext cx="2172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2026.01.17 1</a:t>
            </a:r>
            <a:r>
              <a:rPr lang="ko-KR" altLang="en-US" sz="14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 </a:t>
            </a:r>
            <a:r>
              <a:rPr lang="en-US" altLang="ko-KR" sz="14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PT</a:t>
            </a:r>
            <a:endParaRPr lang="ko-KR" altLang="en-US" sz="1400" dirty="0">
              <a:solidFill>
                <a:srgbClr val="EE3342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324B77-A3EE-8EFF-8524-BB9040671990}"/>
              </a:ext>
            </a:extLst>
          </p:cNvPr>
          <p:cNvSpPr txBox="1"/>
          <p:nvPr/>
        </p:nvSpPr>
        <p:spPr>
          <a:xfrm>
            <a:off x="3767482" y="2712903"/>
            <a:ext cx="46570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 err="1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대주</a:t>
            </a:r>
            <a:r>
              <a:rPr lang="ko-KR" altLang="en-US" sz="40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산업 성장을 위한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752144-D534-D037-9B8B-D81DBA2C9426}"/>
              </a:ext>
            </a:extLst>
          </p:cNvPr>
          <p:cNvSpPr txBox="1"/>
          <p:nvPr/>
        </p:nvSpPr>
        <p:spPr>
          <a:xfrm>
            <a:off x="5332813" y="3420789"/>
            <a:ext cx="15263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FDEBE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제안서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94468B-80D9-4717-399E-9CF1523AE162}"/>
              </a:ext>
            </a:extLst>
          </p:cNvPr>
          <p:cNvSpPr txBox="1"/>
          <p:nvPr/>
        </p:nvSpPr>
        <p:spPr>
          <a:xfrm>
            <a:off x="5191912" y="4128675"/>
            <a:ext cx="1801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DEBE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Organization Design</a:t>
            </a:r>
            <a:endParaRPr lang="ko-KR" altLang="en-US" sz="1400" dirty="0">
              <a:solidFill>
                <a:srgbClr val="FDEBEC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15C411-04A5-228A-D06D-09DE781998CD}"/>
              </a:ext>
            </a:extLst>
          </p:cNvPr>
          <p:cNvSpPr txBox="1"/>
          <p:nvPr/>
        </p:nvSpPr>
        <p:spPr>
          <a:xfrm>
            <a:off x="4134352" y="6249533"/>
            <a:ext cx="3916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FDEBE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KUMBA 30</a:t>
            </a:r>
            <a:r>
              <a:rPr lang="ko-KR" altLang="en-US" sz="2000" dirty="0">
                <a:solidFill>
                  <a:srgbClr val="FDEBE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 김동현 </a:t>
            </a:r>
            <a:r>
              <a:rPr lang="ko-KR" altLang="en-US" sz="2000" dirty="0" err="1">
                <a:solidFill>
                  <a:srgbClr val="FDEBE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박우철</a:t>
            </a:r>
            <a:r>
              <a:rPr lang="ko-KR" altLang="en-US" sz="2000" dirty="0">
                <a:solidFill>
                  <a:srgbClr val="FDEBE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2000" dirty="0" err="1">
                <a:solidFill>
                  <a:srgbClr val="FDEBE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배수영</a:t>
            </a:r>
            <a:endParaRPr lang="ko-KR" altLang="en-US" sz="2000" dirty="0">
              <a:solidFill>
                <a:srgbClr val="FDEBEC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9975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DFC256-09AD-A766-779F-C92CE91955D8}"/>
              </a:ext>
            </a:extLst>
          </p:cNvPr>
          <p:cNvSpPr/>
          <p:nvPr/>
        </p:nvSpPr>
        <p:spPr>
          <a:xfrm>
            <a:off x="-1" y="0"/>
            <a:ext cx="12192000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870C94-5DEA-833A-718F-300435D1D6B4}"/>
              </a:ext>
            </a:extLst>
          </p:cNvPr>
          <p:cNvSpPr txBox="1"/>
          <p:nvPr/>
        </p:nvSpPr>
        <p:spPr>
          <a:xfrm>
            <a:off x="726526" y="838307"/>
            <a:ext cx="10791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목차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3931C-D169-38CB-8A08-AA3BA1A73612}"/>
              </a:ext>
            </a:extLst>
          </p:cNvPr>
          <p:cNvSpPr txBox="1"/>
          <p:nvPr/>
        </p:nvSpPr>
        <p:spPr>
          <a:xfrm>
            <a:off x="726526" y="1546193"/>
            <a:ext cx="17986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Table of Contents</a:t>
            </a:r>
            <a:endParaRPr lang="ko-KR" altLang="en-US" sz="1600" dirty="0">
              <a:solidFill>
                <a:srgbClr val="EE334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A0A33E-E39B-DDD6-6D45-0CD809D464CF}"/>
              </a:ext>
            </a:extLst>
          </p:cNvPr>
          <p:cNvSpPr/>
          <p:nvPr/>
        </p:nvSpPr>
        <p:spPr>
          <a:xfrm>
            <a:off x="6096000" y="868451"/>
            <a:ext cx="72879" cy="910057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B5D46F2-EFC0-8F82-B6BA-6A5DDE012B89}"/>
              </a:ext>
            </a:extLst>
          </p:cNvPr>
          <p:cNvSpPr/>
          <p:nvPr/>
        </p:nvSpPr>
        <p:spPr>
          <a:xfrm>
            <a:off x="6096000" y="1952545"/>
            <a:ext cx="72879" cy="910057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105914-6D5B-1A06-843F-945FFCCE27CC}"/>
              </a:ext>
            </a:extLst>
          </p:cNvPr>
          <p:cNvSpPr/>
          <p:nvPr/>
        </p:nvSpPr>
        <p:spPr>
          <a:xfrm>
            <a:off x="6096000" y="3036639"/>
            <a:ext cx="72879" cy="910057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BA2F4D-30CA-1376-B78D-0EE598579958}"/>
              </a:ext>
            </a:extLst>
          </p:cNvPr>
          <p:cNvSpPr/>
          <p:nvPr/>
        </p:nvSpPr>
        <p:spPr>
          <a:xfrm>
            <a:off x="6096000" y="4120733"/>
            <a:ext cx="72879" cy="910057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9DB152-A66C-1238-98E0-7AF470DD43AF}"/>
              </a:ext>
            </a:extLst>
          </p:cNvPr>
          <p:cNvSpPr/>
          <p:nvPr/>
        </p:nvSpPr>
        <p:spPr>
          <a:xfrm>
            <a:off x="6096000" y="5204827"/>
            <a:ext cx="72879" cy="910057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55622E-EFFA-33CA-6BDF-1C39452DA5DD}"/>
              </a:ext>
            </a:extLst>
          </p:cNvPr>
          <p:cNvSpPr txBox="1"/>
          <p:nvPr/>
        </p:nvSpPr>
        <p:spPr>
          <a:xfrm>
            <a:off x="6168879" y="838307"/>
            <a:ext cx="1880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대주산업</a:t>
            </a:r>
            <a:r>
              <a:rPr lang="ko-KR" altLang="en-US" sz="24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소개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74B95A-541D-A2C5-C2CF-4458BFFA15D4}"/>
              </a:ext>
            </a:extLst>
          </p:cNvPr>
          <p:cNvSpPr txBox="1"/>
          <p:nvPr/>
        </p:nvSpPr>
        <p:spPr>
          <a:xfrm>
            <a:off x="6168879" y="1922401"/>
            <a:ext cx="1345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환경 분석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DC51B0-4B85-BAD4-18E4-697D21FA2107}"/>
              </a:ext>
            </a:extLst>
          </p:cNvPr>
          <p:cNvSpPr txBox="1"/>
          <p:nvPr/>
        </p:nvSpPr>
        <p:spPr>
          <a:xfrm>
            <a:off x="6168879" y="3006495"/>
            <a:ext cx="1880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전략적 방향성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D5945-9C2D-A246-B0FD-7B9687EF69E8}"/>
              </a:ext>
            </a:extLst>
          </p:cNvPr>
          <p:cNvSpPr txBox="1"/>
          <p:nvPr/>
        </p:nvSpPr>
        <p:spPr>
          <a:xfrm>
            <a:off x="6168879" y="4090589"/>
            <a:ext cx="21483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조직설계 로드맵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C9435A-F881-E336-56E2-30729BF59BF5}"/>
              </a:ext>
            </a:extLst>
          </p:cNvPr>
          <p:cNvSpPr txBox="1"/>
          <p:nvPr/>
        </p:nvSpPr>
        <p:spPr>
          <a:xfrm>
            <a:off x="6168879" y="5174683"/>
            <a:ext cx="987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마무리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7C432D-00BD-F831-CC98-4247AB55C857}"/>
              </a:ext>
            </a:extLst>
          </p:cNvPr>
          <p:cNvSpPr txBox="1"/>
          <p:nvPr/>
        </p:nvSpPr>
        <p:spPr>
          <a:xfrm>
            <a:off x="6168878" y="1401383"/>
            <a:ext cx="2773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65</a:t>
            </a:r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 전통의 사료 제조 기업</a:t>
            </a:r>
            <a:endParaRPr lang="en-US" altLang="ko-KR" sz="1200" dirty="0">
              <a:solidFill>
                <a:srgbClr val="6D6E7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sz="1200" dirty="0" err="1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펫푸드</a:t>
            </a:r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사업 성장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80F119-6B55-E0D4-71DD-48CC1740389D}"/>
              </a:ext>
            </a:extLst>
          </p:cNvPr>
          <p:cNvSpPr txBox="1"/>
          <p:nvPr/>
        </p:nvSpPr>
        <p:spPr>
          <a:xfrm>
            <a:off x="6168878" y="2472293"/>
            <a:ext cx="2773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외부 환경 분석</a:t>
            </a:r>
            <a:endParaRPr lang="en-US" altLang="ko-KR" sz="1200" dirty="0">
              <a:solidFill>
                <a:srgbClr val="6D6E7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내부 환경 분석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A0BE07-D2D3-1666-884F-9459E07F91B3}"/>
              </a:ext>
            </a:extLst>
          </p:cNvPr>
          <p:cNvSpPr txBox="1"/>
          <p:nvPr/>
        </p:nvSpPr>
        <p:spPr>
          <a:xfrm>
            <a:off x="6168878" y="3549750"/>
            <a:ext cx="2773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하이브리드 전략</a:t>
            </a:r>
            <a:endParaRPr lang="en-US" altLang="ko-KR" sz="1200" dirty="0">
              <a:solidFill>
                <a:srgbClr val="6D6E7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양손잡이 조직 구조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D2AD67-98A9-C927-197F-54866715D352}"/>
              </a:ext>
            </a:extLst>
          </p:cNvPr>
          <p:cNvSpPr txBox="1"/>
          <p:nvPr/>
        </p:nvSpPr>
        <p:spPr>
          <a:xfrm>
            <a:off x="6168878" y="4633844"/>
            <a:ext cx="2773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단계 장기 로드맵</a:t>
            </a:r>
            <a:endParaRPr lang="en-US" altLang="ko-KR" sz="1200" dirty="0">
              <a:solidFill>
                <a:srgbClr val="6D6E7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각 기능 전문성 강화</a:t>
            </a:r>
            <a:endParaRPr lang="en-US" altLang="ko-KR" sz="1200" dirty="0">
              <a:solidFill>
                <a:srgbClr val="6D6E7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D0DD7C-4B05-C90B-34ED-44F83680863F}"/>
              </a:ext>
            </a:extLst>
          </p:cNvPr>
          <p:cNvSpPr txBox="1"/>
          <p:nvPr/>
        </p:nvSpPr>
        <p:spPr>
          <a:xfrm>
            <a:off x="6168878" y="5724575"/>
            <a:ext cx="27735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조직설계를 배우며</a:t>
            </a:r>
          </a:p>
        </p:txBody>
      </p:sp>
    </p:spTree>
    <p:extLst>
      <p:ext uri="{BB962C8B-B14F-4D97-AF65-F5344CB8AC3E}">
        <p14:creationId xmlns:p14="http://schemas.microsoft.com/office/powerpoint/2010/main" val="253607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4D5DA1-5042-AE3C-E4EF-1D165337B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9682521" y="276225"/>
            <a:ext cx="2172929" cy="62926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FCB82B0-9527-5A0E-A4FF-E75EF89948AB}"/>
              </a:ext>
            </a:extLst>
          </p:cNvPr>
          <p:cNvSpPr/>
          <p:nvPr/>
        </p:nvSpPr>
        <p:spPr>
          <a:xfrm>
            <a:off x="336550" y="807167"/>
            <a:ext cx="714375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F5303F6-7C56-8E41-6ACD-4FF1EA1440D0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0925" y="861245"/>
            <a:ext cx="10798175" cy="0"/>
          </a:xfrm>
          <a:prstGeom prst="line">
            <a:avLst/>
          </a:prstGeom>
          <a:ln>
            <a:solidFill>
              <a:srgbClr val="E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20E410-1D44-8AD4-682B-95165F32B9C6}"/>
              </a:ext>
            </a:extLst>
          </p:cNvPr>
          <p:cNvSpPr txBox="1"/>
          <p:nvPr/>
        </p:nvSpPr>
        <p:spPr>
          <a:xfrm>
            <a:off x="336550" y="382270"/>
            <a:ext cx="71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01</a:t>
            </a:r>
            <a:endParaRPr lang="ko-KR" altLang="en-US" sz="28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99C8F8-0451-9DF3-C65F-ED089DF17223}"/>
              </a:ext>
            </a:extLst>
          </p:cNvPr>
          <p:cNvSpPr txBox="1"/>
          <p:nvPr/>
        </p:nvSpPr>
        <p:spPr>
          <a:xfrm>
            <a:off x="1050925" y="491912"/>
            <a:ext cx="86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대주산업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소개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9B542-1BA2-7F88-3323-628884DEB094}"/>
              </a:ext>
            </a:extLst>
          </p:cNvPr>
          <p:cNvSpPr txBox="1"/>
          <p:nvPr/>
        </p:nvSpPr>
        <p:spPr>
          <a:xfrm>
            <a:off x="336550" y="189412"/>
            <a:ext cx="399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업력 </a:t>
            </a:r>
            <a:r>
              <a:rPr lang="en-US" altLang="ko-KR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65</a:t>
            </a:r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년의 사료제조 중심 제조기업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12B6CF-B465-1A1B-F12B-5C28BEA4A13F}"/>
              </a:ext>
            </a:extLst>
          </p:cNvPr>
          <p:cNvSpPr txBox="1"/>
          <p:nvPr/>
        </p:nvSpPr>
        <p:spPr>
          <a:xfrm>
            <a:off x="336550" y="1446264"/>
            <a:ext cx="5030173" cy="970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업</a:t>
            </a:r>
            <a:r>
              <a:rPr lang="ko-KR" altLang="ko-KR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력 </a:t>
            </a:r>
            <a:r>
              <a:rPr lang="en-US" altLang="ko-KR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65</a:t>
            </a:r>
            <a:r>
              <a:rPr lang="ko-KR" altLang="ko-KR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 사료제조 기술바탕으로 </a:t>
            </a:r>
            <a:endParaRPr lang="en-US" altLang="ko-KR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축산사료와 </a:t>
            </a:r>
            <a:r>
              <a:rPr lang="ko-KR" altLang="ko-KR" sz="20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펫푸드</a:t>
            </a:r>
            <a:r>
              <a:rPr lang="ko-KR" altLang="ko-KR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0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원가우위 전략 중심</a:t>
            </a:r>
            <a:r>
              <a:rPr lang="ko-KR" altLang="ko-KR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제조기업</a:t>
            </a:r>
            <a:endParaRPr lang="ko-KR" alt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439F74B-CCDE-9D63-A474-9ADC8A14E39C}"/>
              </a:ext>
            </a:extLst>
          </p:cNvPr>
          <p:cNvCxnSpPr>
            <a:cxnSpLocks/>
          </p:cNvCxnSpPr>
          <p:nvPr/>
        </p:nvCxnSpPr>
        <p:spPr>
          <a:xfrm>
            <a:off x="336550" y="2695575"/>
            <a:ext cx="5030173" cy="0"/>
          </a:xfrm>
          <a:prstGeom prst="straightConnector1">
            <a:avLst/>
          </a:prstGeom>
          <a:ln w="12700">
            <a:solidFill>
              <a:srgbClr val="EE3342"/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C73B296-869C-00C3-F668-CB7719B6A1D4}"/>
              </a:ext>
            </a:extLst>
          </p:cNvPr>
          <p:cNvSpPr/>
          <p:nvPr/>
        </p:nvSpPr>
        <p:spPr>
          <a:xfrm>
            <a:off x="2994025" y="3105151"/>
            <a:ext cx="2505075" cy="3171824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A74127B-A1ED-7CB3-EFFD-3A121C49C317}"/>
              </a:ext>
            </a:extLst>
          </p:cNvPr>
          <p:cNvSpPr/>
          <p:nvPr/>
        </p:nvSpPr>
        <p:spPr>
          <a:xfrm>
            <a:off x="336550" y="3105151"/>
            <a:ext cx="2505075" cy="3171824"/>
          </a:xfrm>
          <a:prstGeom prst="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168A8BA-7314-14A6-3AA0-28B9E8F2FCDC}"/>
              </a:ext>
            </a:extLst>
          </p:cNvPr>
          <p:cNvSpPr/>
          <p:nvPr/>
        </p:nvSpPr>
        <p:spPr>
          <a:xfrm>
            <a:off x="6450011" y="2695574"/>
            <a:ext cx="1350963" cy="1350963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BE3B67-4B78-88A3-4441-C80BA5C7C486}"/>
              </a:ext>
            </a:extLst>
          </p:cNvPr>
          <p:cNvSpPr/>
          <p:nvPr/>
        </p:nvSpPr>
        <p:spPr>
          <a:xfrm>
            <a:off x="8134350" y="1446264"/>
            <a:ext cx="3714750" cy="4478282"/>
          </a:xfrm>
          <a:prstGeom prst="rect">
            <a:avLst/>
          </a:prstGeom>
          <a:solidFill>
            <a:srgbClr val="FDEB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9EDD6-13C2-2C4E-6DD7-A1A66C10929B}"/>
              </a:ext>
            </a:extLst>
          </p:cNvPr>
          <p:cNvSpPr txBox="1"/>
          <p:nvPr/>
        </p:nvSpPr>
        <p:spPr>
          <a:xfrm>
            <a:off x="423070" y="3798332"/>
            <a:ext cx="1746931" cy="1163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1962</a:t>
            </a:r>
            <a:r>
              <a:rPr kumimoji="1"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 설립</a:t>
            </a:r>
            <a:endParaRPr kumimoji="1" lang="en-US" altLang="ko-KR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코스닥 상장</a:t>
            </a:r>
            <a:endParaRPr kumimoji="1" lang="en-US" altLang="ko-KR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배합 사료 제조업</a:t>
            </a:r>
            <a:endParaRPr kumimoji="1" lang="en-US" altLang="ko-KR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4B4FA-BC9B-DAD7-5CA5-347D851287A5}"/>
              </a:ext>
            </a:extLst>
          </p:cNvPr>
          <p:cNvSpPr txBox="1"/>
          <p:nvPr/>
        </p:nvSpPr>
        <p:spPr>
          <a:xfrm>
            <a:off x="423070" y="3316073"/>
            <a:ext cx="1449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기본정보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CF337-8687-CE21-BB26-56AC3C5DA88B}"/>
              </a:ext>
            </a:extLst>
          </p:cNvPr>
          <p:cNvSpPr txBox="1"/>
          <p:nvPr/>
        </p:nvSpPr>
        <p:spPr>
          <a:xfrm>
            <a:off x="3120912" y="3798332"/>
            <a:ext cx="22458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인천과 장항 </a:t>
            </a:r>
            <a:r>
              <a:rPr kumimoji="1" lang="en-US" altLang="ko-KR" sz="160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HACCP</a:t>
            </a:r>
            <a:r>
              <a:rPr kumimoji="1" lang="ko-KR" altLang="en-US" sz="160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kumimoji="1" lang="en-US" altLang="ko-KR" sz="1600" dirty="0">
              <a:solidFill>
                <a:srgbClr val="FFFFF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kumimoji="1" lang="ko-KR" altLang="en-US" sz="160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인증 기반 설비 보유</a:t>
            </a:r>
            <a:endParaRPr kumimoji="1" lang="en-US" altLang="ko-KR" sz="1600" dirty="0">
              <a:solidFill>
                <a:srgbClr val="FFFFF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endParaRPr kumimoji="1" lang="en-US" altLang="ko-KR" sz="1600" dirty="0">
              <a:solidFill>
                <a:srgbClr val="FFFFF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kumimoji="1" lang="ko-KR" altLang="en-US" sz="160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이커머스</a:t>
            </a:r>
            <a:r>
              <a:rPr kumimoji="1" lang="ko-KR" altLang="en-US" sz="160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입지 확대와 </a:t>
            </a:r>
            <a:endParaRPr kumimoji="1" lang="en-US" altLang="ko-KR" sz="1600" dirty="0">
              <a:solidFill>
                <a:srgbClr val="FFFFF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kumimoji="1" lang="ko-KR" altLang="en-US" sz="160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유통망 확충으로 </a:t>
            </a:r>
            <a:endParaRPr kumimoji="1" lang="en-US" altLang="ko-KR" sz="1600" dirty="0">
              <a:solidFill>
                <a:srgbClr val="FFFFF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kumimoji="1" lang="ko-KR" altLang="en-US" sz="160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시장 경쟁력 강화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372FA5-1FCB-B582-4D75-F055F0B27FEA}"/>
              </a:ext>
            </a:extLst>
          </p:cNvPr>
          <p:cNvSpPr txBox="1"/>
          <p:nvPr/>
        </p:nvSpPr>
        <p:spPr>
          <a:xfrm>
            <a:off x="3125845" y="3316073"/>
            <a:ext cx="1449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주요 특징</a:t>
            </a: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7E486108-2DD2-52A4-AEB4-39C4B51689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0807168"/>
              </p:ext>
            </p:extLst>
          </p:nvPr>
        </p:nvGraphicFramePr>
        <p:xfrm>
          <a:off x="8134350" y="1446262"/>
          <a:ext cx="3714749" cy="4478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B8ABF5D-7B66-4A19-FAC4-CC58793E8ED5}"/>
              </a:ext>
            </a:extLst>
          </p:cNvPr>
          <p:cNvSpPr txBox="1"/>
          <p:nvPr/>
        </p:nvSpPr>
        <p:spPr>
          <a:xfrm>
            <a:off x="6450011" y="2821544"/>
            <a:ext cx="1350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주요 제품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C5548F-88D7-F1CA-378F-BB52AF92EA94}"/>
              </a:ext>
            </a:extLst>
          </p:cNvPr>
          <p:cNvSpPr txBox="1"/>
          <p:nvPr/>
        </p:nvSpPr>
        <p:spPr>
          <a:xfrm>
            <a:off x="6450011" y="3226830"/>
            <a:ext cx="13509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 err="1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캐츠랑</a:t>
            </a:r>
            <a:endParaRPr kumimoji="1" lang="en-US" altLang="ko-KR" sz="1400" dirty="0">
              <a:solidFill>
                <a:srgbClr val="FFFFFF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kumimoji="1" lang="ko-KR" altLang="en-US" sz="1400" dirty="0" err="1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도그랑</a:t>
            </a:r>
            <a:endParaRPr kumimoji="1" lang="en-US" altLang="ko-KR" sz="1400" dirty="0">
              <a:solidFill>
                <a:srgbClr val="FFFFFF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kumimoji="1" lang="ko-KR" altLang="en-US" sz="1400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올리브</a:t>
            </a:r>
            <a:endParaRPr kumimoji="1" lang="en-US" altLang="ko-KR" sz="1400" dirty="0">
              <a:solidFill>
                <a:srgbClr val="FFFFFF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807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D42CC-00E8-6FBE-108D-1BE68CED6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3348A6-EC38-BCE5-600C-97867D183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9682521" y="276225"/>
            <a:ext cx="2172929" cy="62926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9444866-9DD0-07C9-D94E-10AF717E1CFB}"/>
              </a:ext>
            </a:extLst>
          </p:cNvPr>
          <p:cNvSpPr/>
          <p:nvPr/>
        </p:nvSpPr>
        <p:spPr>
          <a:xfrm>
            <a:off x="336550" y="807167"/>
            <a:ext cx="714375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186C4E2-AE63-763F-87BF-61864FE614CC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0925" y="861245"/>
            <a:ext cx="10798175" cy="0"/>
          </a:xfrm>
          <a:prstGeom prst="line">
            <a:avLst/>
          </a:prstGeom>
          <a:ln>
            <a:solidFill>
              <a:srgbClr val="E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15BB929-337F-FFFD-408A-A9158B13F4A8}"/>
              </a:ext>
            </a:extLst>
          </p:cNvPr>
          <p:cNvSpPr txBox="1"/>
          <p:nvPr/>
        </p:nvSpPr>
        <p:spPr>
          <a:xfrm>
            <a:off x="336550" y="382270"/>
            <a:ext cx="71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02</a:t>
            </a:r>
            <a:endParaRPr lang="ko-KR" altLang="en-US" sz="28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89EE78-CDA4-26A6-0C5C-D5C4DE52D3FA}"/>
              </a:ext>
            </a:extLst>
          </p:cNvPr>
          <p:cNvSpPr txBox="1"/>
          <p:nvPr/>
        </p:nvSpPr>
        <p:spPr>
          <a:xfrm>
            <a:off x="1050925" y="491912"/>
            <a:ext cx="86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외부환경 분석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276729-5B6C-FD0E-DE0C-B9AA6A5A8BE6}"/>
              </a:ext>
            </a:extLst>
          </p:cNvPr>
          <p:cNvSpPr txBox="1"/>
          <p:nvPr/>
        </p:nvSpPr>
        <p:spPr>
          <a:xfrm>
            <a:off x="336550" y="189412"/>
            <a:ext cx="399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PEST </a:t>
            </a:r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중심의 외부환경 분석</a:t>
            </a:r>
          </a:p>
        </p:txBody>
      </p:sp>
      <p:pic>
        <p:nvPicPr>
          <p:cNvPr id="12" name="그림 11" descr="축적 모형, 만화 영화, 집이(가) 표시된 사진&#10;&#10;자동 생성된 설명">
            <a:extLst>
              <a:ext uri="{FF2B5EF4-FFF2-40B4-BE49-F238E27FC236}">
                <a16:creationId xmlns:a16="http://schemas.microsoft.com/office/drawing/2014/main" id="{CE9285F7-6434-B274-511E-1DD5E87441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657" y="1529667"/>
            <a:ext cx="2253343" cy="2253343"/>
          </a:xfrm>
          <a:prstGeom prst="rect">
            <a:avLst/>
          </a:prstGeom>
        </p:spPr>
      </p:pic>
      <p:pic>
        <p:nvPicPr>
          <p:cNvPr id="14" name="그림 13" descr="만화 영화, 그림, 일러스트레이션이(가) 표시된 사진&#10;&#10;자동 생성된 설명">
            <a:extLst>
              <a:ext uri="{FF2B5EF4-FFF2-40B4-BE49-F238E27FC236}">
                <a16:creationId xmlns:a16="http://schemas.microsoft.com/office/drawing/2014/main" id="{B2E86758-FBE6-14B8-733B-66CC5A31C1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9667"/>
            <a:ext cx="2253343" cy="22533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8D6719-C5D3-3C76-F6AB-36B9711BC14D}"/>
              </a:ext>
            </a:extLst>
          </p:cNvPr>
          <p:cNvSpPr txBox="1"/>
          <p:nvPr/>
        </p:nvSpPr>
        <p:spPr>
          <a:xfrm>
            <a:off x="502397" y="1368963"/>
            <a:ext cx="31534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축산사료</a:t>
            </a:r>
            <a:r>
              <a:rPr kumimoji="1"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: </a:t>
            </a:r>
            <a:r>
              <a:rPr kumimoji="1"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원가주심의 성숙 시장</a:t>
            </a:r>
            <a:endParaRPr kumimoji="1"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kumimoji="1"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원재료 수입 의존도가 높아</a:t>
            </a:r>
            <a:endParaRPr kumimoji="1"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kumimoji="1"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국제 곡물가와 환율 변동에 민감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31E8371D-2642-8D6C-31BA-C75353C2E325}"/>
              </a:ext>
            </a:extLst>
          </p:cNvPr>
          <p:cNvSpPr/>
          <p:nvPr/>
        </p:nvSpPr>
        <p:spPr>
          <a:xfrm>
            <a:off x="669112" y="2466181"/>
            <a:ext cx="2820002" cy="333829"/>
          </a:xfrm>
          <a:prstGeom prst="roundRect">
            <a:avLst>
              <a:gd name="adj" fmla="val 50000"/>
            </a:avLst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축산사료 시장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7130B9-50E6-BF29-F5FF-568F9134DF07}"/>
              </a:ext>
            </a:extLst>
          </p:cNvPr>
          <p:cNvSpPr txBox="1"/>
          <p:nvPr/>
        </p:nvSpPr>
        <p:spPr>
          <a:xfrm>
            <a:off x="600611" y="2933765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시장 성격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F06E62-A31E-DBEA-1F0A-1E129D9BB93B}"/>
              </a:ext>
            </a:extLst>
          </p:cNvPr>
          <p:cNvSpPr txBox="1"/>
          <p:nvPr/>
        </p:nvSpPr>
        <p:spPr>
          <a:xfrm>
            <a:off x="1818493" y="2933765"/>
            <a:ext cx="1587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연평균 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2.91%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성장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B94D57-52AC-4BAE-E8A7-D207A36B0FDD}"/>
              </a:ext>
            </a:extLst>
          </p:cNvPr>
          <p:cNvSpPr txBox="1"/>
          <p:nvPr/>
        </p:nvSpPr>
        <p:spPr>
          <a:xfrm>
            <a:off x="600611" y="3338781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경쟁 구조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5AC621-EA5C-374A-EB13-C86B5A3A570C}"/>
              </a:ext>
            </a:extLst>
          </p:cNvPr>
          <p:cNvSpPr txBox="1"/>
          <p:nvPr/>
        </p:nvSpPr>
        <p:spPr>
          <a:xfrm>
            <a:off x="1818493" y="3338781"/>
            <a:ext cx="21723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농협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하림 등 대기업 독과점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F5BCCF-3906-D90F-4C00-B7184B4F0BAC}"/>
              </a:ext>
            </a:extLst>
          </p:cNvPr>
          <p:cNvSpPr txBox="1"/>
          <p:nvPr/>
        </p:nvSpPr>
        <p:spPr>
          <a:xfrm>
            <a:off x="600611" y="3800206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핵심 성공 요인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043581-C5B3-6E51-C833-805702F2129B}"/>
              </a:ext>
            </a:extLst>
          </p:cNvPr>
          <p:cNvSpPr txBox="1"/>
          <p:nvPr/>
        </p:nvSpPr>
        <p:spPr>
          <a:xfrm>
            <a:off x="1818493" y="3800206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SCM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및 원가 관리 효율화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6668F-9894-DD90-80ED-C5770B8D2A9A}"/>
              </a:ext>
            </a:extLst>
          </p:cNvPr>
          <p:cNvSpPr txBox="1"/>
          <p:nvPr/>
        </p:nvSpPr>
        <p:spPr>
          <a:xfrm>
            <a:off x="8513610" y="1368963"/>
            <a:ext cx="31309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펫사료</a:t>
            </a:r>
            <a:r>
              <a:rPr kumimoji="1"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:</a:t>
            </a:r>
            <a:r>
              <a:rPr kumimoji="1"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프리미엄화와 </a:t>
            </a:r>
            <a:r>
              <a:rPr kumimoji="1"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D2C </a:t>
            </a:r>
            <a:r>
              <a:rPr kumimoji="1"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전환</a:t>
            </a:r>
            <a:endParaRPr kumimoji="1"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kumimoji="1"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휴먼그레이드 수요 증가와</a:t>
            </a:r>
            <a:endParaRPr kumimoji="1"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kumimoji="1" lang="ko-KR" altLang="en-US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이커머스</a:t>
            </a:r>
            <a:r>
              <a:rPr kumimoji="1"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중심의 유통구조 재편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915E0E73-E395-EBB6-3479-B992BF047FDB}"/>
              </a:ext>
            </a:extLst>
          </p:cNvPr>
          <p:cNvSpPr/>
          <p:nvPr/>
        </p:nvSpPr>
        <p:spPr>
          <a:xfrm>
            <a:off x="8669100" y="2466181"/>
            <a:ext cx="2820002" cy="333829"/>
          </a:xfrm>
          <a:prstGeom prst="roundRect">
            <a:avLst>
              <a:gd name="adj" fmla="val 50000"/>
            </a:avLst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 err="1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펫사료</a:t>
            </a:r>
            <a:r>
              <a:rPr kumimoji="1" lang="ko-KR" altLang="en-US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시장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434A19-5E34-19E6-B991-B19CD027DC3D}"/>
              </a:ext>
            </a:extLst>
          </p:cNvPr>
          <p:cNvSpPr txBox="1"/>
          <p:nvPr/>
        </p:nvSpPr>
        <p:spPr>
          <a:xfrm>
            <a:off x="8427432" y="2933765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시장 성격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9F8828-2886-BE62-3F18-8ED7FA19E218}"/>
              </a:ext>
            </a:extLst>
          </p:cNvPr>
          <p:cNvSpPr txBox="1"/>
          <p:nvPr/>
        </p:nvSpPr>
        <p:spPr>
          <a:xfrm>
            <a:off x="9698855" y="2933765"/>
            <a:ext cx="2223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고부가가치 제품 라인업 확대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CCA916-8BA8-2C1C-2BA6-39F0414BC199}"/>
              </a:ext>
            </a:extLst>
          </p:cNvPr>
          <p:cNvSpPr txBox="1"/>
          <p:nvPr/>
        </p:nvSpPr>
        <p:spPr>
          <a:xfrm>
            <a:off x="8427432" y="3352431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경쟁 구조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0FFC19-9964-32D5-1D4F-107E3EB3990A}"/>
              </a:ext>
            </a:extLst>
          </p:cNvPr>
          <p:cNvSpPr txBox="1"/>
          <p:nvPr/>
        </p:nvSpPr>
        <p:spPr>
          <a:xfrm>
            <a:off x="9698855" y="3352431"/>
            <a:ext cx="2313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글로벌 브랜드 </a:t>
            </a:r>
            <a:r>
              <a:rPr kumimoji="1"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vs </a:t>
            </a:r>
            <a:r>
              <a:rPr kumimoji="1"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로컬 제조사 경쟁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E8EFEF-37B4-3D06-6781-FE5D8B64489B}"/>
              </a:ext>
            </a:extLst>
          </p:cNvPr>
          <p:cNvSpPr txBox="1"/>
          <p:nvPr/>
        </p:nvSpPr>
        <p:spPr>
          <a:xfrm>
            <a:off x="8427432" y="3813856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핵심 성공 요인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187C91-89B8-71B9-90B3-56296384B150}"/>
              </a:ext>
            </a:extLst>
          </p:cNvPr>
          <p:cNvSpPr txBox="1"/>
          <p:nvPr/>
        </p:nvSpPr>
        <p:spPr>
          <a:xfrm>
            <a:off x="9698855" y="3800206"/>
            <a:ext cx="2493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R&amp;D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전문 인력 및 </a:t>
            </a:r>
            <a:endParaRPr kumimoji="1"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수요 예측 고도화 필요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52BA29-4F21-CFE6-6DF8-AFE77A21C8BA}"/>
              </a:ext>
            </a:extLst>
          </p:cNvPr>
          <p:cNvSpPr txBox="1"/>
          <p:nvPr/>
        </p:nvSpPr>
        <p:spPr>
          <a:xfrm>
            <a:off x="5328674" y="3910489"/>
            <a:ext cx="1534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PEST </a:t>
            </a:r>
            <a:r>
              <a:rPr kumimoji="1" lang="ko-KR" altLang="en-US" sz="24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C81CDA-808A-1D19-6F5A-FAE6EA68B318}"/>
              </a:ext>
            </a:extLst>
          </p:cNvPr>
          <p:cNvSpPr/>
          <p:nvPr/>
        </p:nvSpPr>
        <p:spPr>
          <a:xfrm>
            <a:off x="-11698" y="4462468"/>
            <a:ext cx="3153426" cy="2395531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    </a:t>
            </a:r>
            <a:r>
              <a:rPr lang="ko-KR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원재료 수입</a:t>
            </a:r>
            <a:r>
              <a:rPr lang="en-US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·</a:t>
            </a:r>
            <a:r>
              <a:rPr lang="ko-KR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통관</a:t>
            </a:r>
            <a:r>
              <a:rPr lang="en-US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검역</a:t>
            </a:r>
            <a:r>
              <a:rPr lang="en-US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 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    </a:t>
            </a:r>
            <a:r>
              <a:rPr lang="ko-KR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식품</a:t>
            </a:r>
            <a:r>
              <a:rPr lang="en-US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사료 품질</a:t>
            </a:r>
            <a:r>
              <a:rPr lang="en-US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·</a:t>
            </a:r>
            <a:r>
              <a:rPr lang="ko-KR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표시 </a:t>
            </a:r>
            <a:endParaRPr lang="en-US" altLang="ko-KR" sz="1600" kern="100" dirty="0"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    </a:t>
            </a:r>
            <a:r>
              <a:rPr lang="ko-KR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기준 강화 가능성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3D312E-6533-48E1-29FF-828E194D2E93}"/>
              </a:ext>
            </a:extLst>
          </p:cNvPr>
          <p:cNvSpPr/>
          <p:nvPr/>
        </p:nvSpPr>
        <p:spPr>
          <a:xfrm>
            <a:off x="3141728" y="4462468"/>
            <a:ext cx="2954267" cy="2395531"/>
          </a:xfrm>
          <a:prstGeom prst="rect">
            <a:avLst/>
          </a:prstGeom>
          <a:solidFill>
            <a:srgbClr val="FDEB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altLang="ko-KR" sz="1600" kern="100" dirty="0">
              <a:solidFill>
                <a:srgbClr val="EE3342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수입 원재료 의존도가 높아</a:t>
            </a:r>
            <a:r>
              <a:rPr lang="en-US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 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600" b="1" kern="100" dirty="0" err="1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곡물가</a:t>
            </a:r>
            <a:r>
              <a:rPr lang="en-US" altLang="ko-KR" sz="1600" b="1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·</a:t>
            </a:r>
            <a:r>
              <a:rPr lang="ko-KR" altLang="ko-KR" sz="1600" b="1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환율 변동이 원가 영향</a:t>
            </a:r>
            <a:r>
              <a:rPr lang="en-US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 </a:t>
            </a:r>
            <a:endParaRPr lang="ko-KR" altLang="ko-KR" sz="1600" kern="100" dirty="0">
              <a:solidFill>
                <a:srgbClr val="EE3342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  <a:p>
            <a:pPr lvl="0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축산사료 시장은 저성장</a:t>
            </a:r>
            <a:r>
              <a:rPr lang="en-US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성숙</a:t>
            </a:r>
            <a:r>
              <a:rPr lang="en-US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 → </a:t>
            </a:r>
            <a:r>
              <a:rPr lang="ko-KR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가격경쟁 압박</a:t>
            </a:r>
            <a:br>
              <a:rPr lang="en-US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</a:br>
            <a:r>
              <a:rPr lang="en-US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원가</a:t>
            </a:r>
            <a:r>
              <a:rPr lang="en-US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/SCM</a:t>
            </a:r>
            <a:r>
              <a:rPr lang="ko-KR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이 중요해짐</a:t>
            </a:r>
            <a:r>
              <a:rPr lang="en-US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)</a:t>
            </a:r>
            <a:endParaRPr lang="ko-KR" altLang="ko-KR" sz="1600" kern="100" dirty="0">
              <a:solidFill>
                <a:srgbClr val="EE334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1297EA-AD01-C8DA-B00C-B96498DDF1FB}"/>
              </a:ext>
            </a:extLst>
          </p:cNvPr>
          <p:cNvSpPr/>
          <p:nvPr/>
        </p:nvSpPr>
        <p:spPr>
          <a:xfrm>
            <a:off x="6095999" y="4462468"/>
            <a:ext cx="2954271" cy="2395531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altLang="ko-KR" sz="1600" kern="100" dirty="0"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600" kern="100" dirty="0" err="1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펫푸드에서</a:t>
            </a:r>
            <a:r>
              <a:rPr lang="en-US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 </a:t>
            </a:r>
            <a:r>
              <a:rPr lang="en-US" altLang="ko-KR" sz="1600" b="1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‘</a:t>
            </a:r>
            <a:r>
              <a:rPr lang="ko-KR" altLang="ko-KR" sz="1600" b="1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휴먼그레이드</a:t>
            </a:r>
            <a:r>
              <a:rPr lang="en-US" altLang="ko-KR" sz="1600" b="1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’ </a:t>
            </a:r>
            <a:r>
              <a:rPr lang="ko-KR" altLang="ko-KR" sz="1600" b="1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등 </a:t>
            </a:r>
            <a:br>
              <a:rPr lang="en-US" altLang="ko-KR" sz="1600" b="1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</a:br>
            <a:r>
              <a:rPr lang="ko-KR" altLang="ko-KR" sz="1600" b="1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프리미엄화</a:t>
            </a:r>
            <a:r>
              <a:rPr lang="en-US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 </a:t>
            </a:r>
            <a:r>
              <a:rPr lang="ko-KR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수요 확대</a:t>
            </a:r>
            <a:r>
              <a:rPr lang="en-US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 </a:t>
            </a:r>
            <a:endParaRPr lang="ko-KR" altLang="ko-KR" sz="1600" kern="100" dirty="0"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1600" b="1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D2C/</a:t>
            </a:r>
            <a:r>
              <a:rPr lang="ko-KR" altLang="ko-KR" sz="1600" b="1" kern="100" dirty="0" err="1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이커머스</a:t>
            </a:r>
            <a:r>
              <a:rPr lang="ko-KR" altLang="ko-KR" sz="1600" b="1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 중심으로 </a:t>
            </a:r>
            <a:br>
              <a:rPr lang="en-US" altLang="ko-KR" sz="1600" b="1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</a:br>
            <a:r>
              <a:rPr lang="ko-KR" altLang="en-US" sz="1600" b="1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소비 채널이 </a:t>
            </a:r>
            <a:r>
              <a:rPr lang="ko-KR" altLang="ko-KR" sz="1600" b="1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이동</a:t>
            </a:r>
            <a:br>
              <a:rPr lang="en-US" altLang="ko-KR" sz="1600" kern="1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</a:br>
            <a:r>
              <a:rPr lang="ko-KR" altLang="ko-KR" sz="1200" kern="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고객 접점</a:t>
            </a:r>
            <a:r>
              <a:rPr lang="en-US" altLang="ko-KR" sz="1200" kern="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브랜드 경험</a:t>
            </a:r>
            <a:r>
              <a:rPr lang="en-US" altLang="ko-KR" sz="1200" kern="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/</a:t>
            </a:r>
            <a:br>
              <a:rPr lang="en-US" altLang="ko-KR" sz="1200" kern="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</a:br>
            <a:r>
              <a:rPr lang="ko-KR" altLang="ko-KR" sz="1200" kern="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재고 운영 방식이 바뀜</a:t>
            </a:r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48D7BA-63A2-10F3-BA05-1C2D19D37D84}"/>
              </a:ext>
            </a:extLst>
          </p:cNvPr>
          <p:cNvSpPr/>
          <p:nvPr/>
        </p:nvSpPr>
        <p:spPr>
          <a:xfrm>
            <a:off x="9050273" y="4462468"/>
            <a:ext cx="3198877" cy="2395531"/>
          </a:xfrm>
          <a:prstGeom prst="rect">
            <a:avLst/>
          </a:prstGeom>
          <a:solidFill>
            <a:srgbClr val="FDEB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altLang="ko-KR" sz="1600" kern="100" dirty="0">
              <a:solidFill>
                <a:srgbClr val="EE3342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채널 변화는 수요 변동 의미</a:t>
            </a:r>
            <a:r>
              <a:rPr lang="en-US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 → </a:t>
            </a:r>
            <a:br>
              <a:rPr lang="en-US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</a:br>
            <a:r>
              <a:rPr lang="ko-KR" altLang="ko-KR" sz="1600" b="1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수요예측</a:t>
            </a:r>
            <a:r>
              <a:rPr lang="en-US" altLang="ko-KR" sz="1600" b="1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·</a:t>
            </a:r>
            <a:r>
              <a:rPr lang="ko-KR" altLang="ko-KR" sz="1600" b="1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재고</a:t>
            </a:r>
            <a:r>
              <a:rPr lang="en-US" altLang="ko-KR" sz="1600" b="1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ko-KR" sz="1600" b="1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생산 계획 고도화 필요</a:t>
            </a:r>
            <a:endParaRPr lang="ko-KR" altLang="ko-KR" sz="1600" kern="100" dirty="0">
              <a:solidFill>
                <a:srgbClr val="EE3342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제품 측면 기술</a:t>
            </a:r>
            <a:r>
              <a:rPr lang="en-US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경쟁</a:t>
            </a:r>
            <a:br>
              <a:rPr lang="en-US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</a:br>
            <a:r>
              <a:rPr lang="en-US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기호성</a:t>
            </a:r>
            <a:r>
              <a:rPr lang="en-US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기능성</a:t>
            </a:r>
            <a:r>
              <a:rPr lang="en-US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원료 배합</a:t>
            </a:r>
            <a:r>
              <a:rPr lang="en-US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품질검증</a:t>
            </a:r>
            <a:r>
              <a:rPr lang="en-US" altLang="ko-KR" sz="1200" kern="100" dirty="0">
                <a:solidFill>
                  <a:srgbClr val="EE334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)</a:t>
            </a:r>
            <a:r>
              <a:rPr lang="en-US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 → </a:t>
            </a:r>
            <a:br>
              <a:rPr lang="en-US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</a:br>
            <a:r>
              <a:rPr lang="en-US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R&amp;D </a:t>
            </a:r>
            <a:r>
              <a:rPr lang="ko-KR" altLang="ko-KR" sz="1600" kern="1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역할 강화 필요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11BCD7-C978-D672-A6B8-3AF9B4E215F0}"/>
              </a:ext>
            </a:extLst>
          </p:cNvPr>
          <p:cNvSpPr txBox="1"/>
          <p:nvPr/>
        </p:nvSpPr>
        <p:spPr>
          <a:xfrm>
            <a:off x="403225" y="4494875"/>
            <a:ext cx="370026" cy="452745"/>
          </a:xfrm>
          <a:custGeom>
            <a:avLst/>
            <a:gdLst/>
            <a:ahLst/>
            <a:cxnLst/>
            <a:rect l="l" t="t" r="r" b="b"/>
            <a:pathLst>
              <a:path w="697706" h="853678">
                <a:moveTo>
                  <a:pt x="257175" y="184547"/>
                </a:moveTo>
                <a:lnTo>
                  <a:pt x="257175" y="395288"/>
                </a:lnTo>
                <a:lnTo>
                  <a:pt x="314920" y="395288"/>
                </a:lnTo>
                <a:cubicBezTo>
                  <a:pt x="388739" y="395288"/>
                  <a:pt x="425649" y="360363"/>
                  <a:pt x="425649" y="290513"/>
                </a:cubicBezTo>
                <a:cubicBezTo>
                  <a:pt x="425649" y="255588"/>
                  <a:pt x="415528" y="229195"/>
                  <a:pt x="395288" y="211336"/>
                </a:cubicBezTo>
                <a:cubicBezTo>
                  <a:pt x="375047" y="193477"/>
                  <a:pt x="345281" y="184547"/>
                  <a:pt x="305991" y="184547"/>
                </a:cubicBezTo>
                <a:close/>
                <a:moveTo>
                  <a:pt x="0" y="0"/>
                </a:moveTo>
                <a:lnTo>
                  <a:pt x="350044" y="0"/>
                </a:lnTo>
                <a:cubicBezTo>
                  <a:pt x="470297" y="0"/>
                  <a:pt x="558304" y="22820"/>
                  <a:pt x="614065" y="68461"/>
                </a:cubicBezTo>
                <a:cubicBezTo>
                  <a:pt x="669826" y="114102"/>
                  <a:pt x="697706" y="185142"/>
                  <a:pt x="697706" y="281583"/>
                </a:cubicBezTo>
                <a:cubicBezTo>
                  <a:pt x="697706" y="339923"/>
                  <a:pt x="682923" y="391716"/>
                  <a:pt x="653356" y="436959"/>
                </a:cubicBezTo>
                <a:cubicBezTo>
                  <a:pt x="623789" y="482203"/>
                  <a:pt x="581621" y="517227"/>
                  <a:pt x="526852" y="542032"/>
                </a:cubicBezTo>
                <a:cubicBezTo>
                  <a:pt x="472083" y="566837"/>
                  <a:pt x="408385" y="579239"/>
                  <a:pt x="335756" y="579239"/>
                </a:cubicBezTo>
                <a:lnTo>
                  <a:pt x="257175" y="579239"/>
                </a:lnTo>
                <a:lnTo>
                  <a:pt x="257175" y="853678"/>
                </a:lnTo>
                <a:lnTo>
                  <a:pt x="0" y="853678"/>
                </a:lnTo>
                <a:close/>
              </a:path>
            </a:pathLst>
          </a:custGeom>
          <a:solidFill>
            <a:srgbClr val="F47A84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latin typeface="Segoe UI Black" panose="020B0A02040204020203" pitchFamily="34" charset="0"/>
              <a:ea typeface="Noto Sans KR Black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50F308-8FD1-D2EB-FEC6-6D350B04F63E}"/>
              </a:ext>
            </a:extLst>
          </p:cNvPr>
          <p:cNvSpPr txBox="1"/>
          <p:nvPr/>
        </p:nvSpPr>
        <p:spPr>
          <a:xfrm>
            <a:off x="3264767" y="4494875"/>
            <a:ext cx="340823" cy="449983"/>
          </a:xfrm>
          <a:custGeom>
            <a:avLst/>
            <a:gdLst/>
            <a:ahLst/>
            <a:cxnLst/>
            <a:rect l="l" t="t" r="r" b="b"/>
            <a:pathLst>
              <a:path w="413445" h="640258">
                <a:moveTo>
                  <a:pt x="0" y="0"/>
                </a:moveTo>
                <a:lnTo>
                  <a:pt x="398711" y="0"/>
                </a:lnTo>
                <a:lnTo>
                  <a:pt x="398711" y="150911"/>
                </a:lnTo>
                <a:lnTo>
                  <a:pt x="192882" y="150911"/>
                </a:lnTo>
                <a:lnTo>
                  <a:pt x="192882" y="244227"/>
                </a:lnTo>
                <a:lnTo>
                  <a:pt x="386209" y="244227"/>
                </a:lnTo>
                <a:lnTo>
                  <a:pt x="386209" y="395138"/>
                </a:lnTo>
                <a:lnTo>
                  <a:pt x="192882" y="395138"/>
                </a:lnTo>
                <a:lnTo>
                  <a:pt x="192882" y="489346"/>
                </a:lnTo>
                <a:lnTo>
                  <a:pt x="413445" y="489346"/>
                </a:lnTo>
                <a:lnTo>
                  <a:pt x="413445" y="640258"/>
                </a:lnTo>
                <a:lnTo>
                  <a:pt x="0" y="640258"/>
                </a:lnTo>
                <a:close/>
              </a:path>
            </a:pathLst>
          </a:custGeom>
          <a:solidFill>
            <a:srgbClr val="F9B8B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200" dirty="0">
              <a:latin typeface="Segoe UI Black" panose="020B0A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95D587-B08D-575B-E031-DD57C2464AC9}"/>
              </a:ext>
            </a:extLst>
          </p:cNvPr>
          <p:cNvSpPr txBox="1"/>
          <p:nvPr/>
        </p:nvSpPr>
        <p:spPr>
          <a:xfrm>
            <a:off x="6213665" y="4494875"/>
            <a:ext cx="370026" cy="470248"/>
          </a:xfrm>
          <a:custGeom>
            <a:avLst/>
            <a:gdLst/>
            <a:ahLst/>
            <a:cxnLst/>
            <a:rect l="l" t="t" r="r" b="b"/>
            <a:pathLst>
              <a:path w="574081" h="806979">
                <a:moveTo>
                  <a:pt x="316697" y="0"/>
                </a:moveTo>
                <a:cubicBezTo>
                  <a:pt x="343904" y="0"/>
                  <a:pt x="368935" y="1089"/>
                  <a:pt x="391790" y="3265"/>
                </a:cubicBezTo>
                <a:cubicBezTo>
                  <a:pt x="414644" y="5442"/>
                  <a:pt x="435413" y="8163"/>
                  <a:pt x="454095" y="11428"/>
                </a:cubicBezTo>
                <a:cubicBezTo>
                  <a:pt x="472778" y="14692"/>
                  <a:pt x="498988" y="20859"/>
                  <a:pt x="532725" y="29929"/>
                </a:cubicBezTo>
                <a:lnTo>
                  <a:pt x="532725" y="228545"/>
                </a:lnTo>
                <a:cubicBezTo>
                  <a:pt x="467064" y="192630"/>
                  <a:pt x="402491" y="174673"/>
                  <a:pt x="339007" y="174673"/>
                </a:cubicBezTo>
                <a:cubicBezTo>
                  <a:pt x="312887" y="174673"/>
                  <a:pt x="291847" y="179571"/>
                  <a:pt x="275885" y="189366"/>
                </a:cubicBezTo>
                <a:cubicBezTo>
                  <a:pt x="259923" y="199160"/>
                  <a:pt x="251942" y="212583"/>
                  <a:pt x="251942" y="229633"/>
                </a:cubicBezTo>
                <a:cubicBezTo>
                  <a:pt x="251942" y="245957"/>
                  <a:pt x="258381" y="259471"/>
                  <a:pt x="271260" y="270172"/>
                </a:cubicBezTo>
                <a:cubicBezTo>
                  <a:pt x="284138" y="280874"/>
                  <a:pt x="311074" y="294750"/>
                  <a:pt x="352066" y="311800"/>
                </a:cubicBezTo>
                <a:cubicBezTo>
                  <a:pt x="432964" y="344449"/>
                  <a:pt x="490191" y="380182"/>
                  <a:pt x="523747" y="418998"/>
                </a:cubicBezTo>
                <a:cubicBezTo>
                  <a:pt x="557303" y="457814"/>
                  <a:pt x="574081" y="503886"/>
                  <a:pt x="574081" y="557213"/>
                </a:cubicBezTo>
                <a:cubicBezTo>
                  <a:pt x="574081" y="609089"/>
                  <a:pt x="560205" y="654253"/>
                  <a:pt x="532453" y="692707"/>
                </a:cubicBezTo>
                <a:cubicBezTo>
                  <a:pt x="504701" y="731160"/>
                  <a:pt x="465794" y="759819"/>
                  <a:pt x="415732" y="778683"/>
                </a:cubicBezTo>
                <a:cubicBezTo>
                  <a:pt x="365670" y="797547"/>
                  <a:pt x="305451" y="806979"/>
                  <a:pt x="235074" y="806979"/>
                </a:cubicBezTo>
                <a:cubicBezTo>
                  <a:pt x="153451" y="806979"/>
                  <a:pt x="78720" y="793194"/>
                  <a:pt x="10883" y="765623"/>
                </a:cubicBezTo>
                <a:lnTo>
                  <a:pt x="10883" y="551771"/>
                </a:lnTo>
                <a:cubicBezTo>
                  <a:pt x="43532" y="575714"/>
                  <a:pt x="79627" y="595031"/>
                  <a:pt x="119169" y="609724"/>
                </a:cubicBezTo>
                <a:cubicBezTo>
                  <a:pt x="158711" y="624416"/>
                  <a:pt x="195532" y="631762"/>
                  <a:pt x="229632" y="631762"/>
                </a:cubicBezTo>
                <a:cubicBezTo>
                  <a:pt x="255389" y="631762"/>
                  <a:pt x="275341" y="627136"/>
                  <a:pt x="289489" y="617886"/>
                </a:cubicBezTo>
                <a:cubicBezTo>
                  <a:pt x="303637" y="608635"/>
                  <a:pt x="310711" y="595122"/>
                  <a:pt x="310711" y="577347"/>
                </a:cubicBezTo>
                <a:cubicBezTo>
                  <a:pt x="310711" y="564650"/>
                  <a:pt x="307174" y="553494"/>
                  <a:pt x="300100" y="543881"/>
                </a:cubicBezTo>
                <a:cubicBezTo>
                  <a:pt x="293026" y="534268"/>
                  <a:pt x="282324" y="525289"/>
                  <a:pt x="267995" y="516946"/>
                </a:cubicBezTo>
                <a:cubicBezTo>
                  <a:pt x="253666" y="508602"/>
                  <a:pt x="227093" y="497175"/>
                  <a:pt x="188276" y="482664"/>
                </a:cubicBezTo>
                <a:cubicBezTo>
                  <a:pt x="62759" y="434416"/>
                  <a:pt x="0" y="356420"/>
                  <a:pt x="0" y="248678"/>
                </a:cubicBezTo>
                <a:cubicBezTo>
                  <a:pt x="0" y="173222"/>
                  <a:pt x="28658" y="112912"/>
                  <a:pt x="85976" y="67747"/>
                </a:cubicBezTo>
                <a:cubicBezTo>
                  <a:pt x="143293" y="22583"/>
                  <a:pt x="220200" y="0"/>
                  <a:pt x="316697" y="0"/>
                </a:cubicBezTo>
                <a:close/>
              </a:path>
            </a:pathLst>
          </a:custGeom>
          <a:solidFill>
            <a:srgbClr val="F47A84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800" dirty="0">
              <a:latin typeface="Segoe UI Black" panose="020B0A02040204020203" pitchFamily="34" charset="0"/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384CA79C-B171-E8A1-49D3-B6316CF2EB21}"/>
              </a:ext>
            </a:extLst>
          </p:cNvPr>
          <p:cNvSpPr/>
          <p:nvPr/>
        </p:nvSpPr>
        <p:spPr>
          <a:xfrm>
            <a:off x="9125676" y="4494875"/>
            <a:ext cx="340823" cy="459797"/>
          </a:xfrm>
          <a:custGeom>
            <a:avLst/>
            <a:gdLst/>
            <a:ahLst/>
            <a:cxnLst/>
            <a:rect l="l" t="t" r="r" b="b"/>
            <a:pathLst>
              <a:path w="617576" h="713621">
                <a:moveTo>
                  <a:pt x="0" y="0"/>
                </a:moveTo>
                <a:lnTo>
                  <a:pt x="617576" y="0"/>
                </a:lnTo>
                <a:lnTo>
                  <a:pt x="617576" y="168203"/>
                </a:lnTo>
                <a:lnTo>
                  <a:pt x="415533" y="168203"/>
                </a:lnTo>
                <a:lnTo>
                  <a:pt x="415533" y="713621"/>
                </a:lnTo>
                <a:lnTo>
                  <a:pt x="199555" y="713621"/>
                </a:lnTo>
                <a:lnTo>
                  <a:pt x="199555" y="168203"/>
                </a:lnTo>
                <a:lnTo>
                  <a:pt x="0" y="168203"/>
                </a:lnTo>
                <a:close/>
              </a:path>
            </a:pathLst>
          </a:custGeom>
          <a:solidFill>
            <a:srgbClr val="F9B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51" name="그림 50" descr="음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5C371D-0B59-A3E8-210C-703438636A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774" y="6015989"/>
            <a:ext cx="1397000" cy="931333"/>
          </a:xfrm>
          <a:prstGeom prst="rect">
            <a:avLst/>
          </a:prstGeom>
        </p:spPr>
      </p:pic>
      <p:pic>
        <p:nvPicPr>
          <p:cNvPr id="53" name="그림 52" descr="만화 영화, 클립아트, 그림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F2ECD6-ED96-FED6-BAB1-59B4C6CD0E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094" y="5996755"/>
            <a:ext cx="1306527" cy="87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652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1069C-2D7D-1F9D-3DF5-AC7318833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5E3597FF-78E5-EAFE-CF39-EFD3354895F1}"/>
              </a:ext>
            </a:extLst>
          </p:cNvPr>
          <p:cNvSpPr/>
          <p:nvPr/>
        </p:nvSpPr>
        <p:spPr>
          <a:xfrm>
            <a:off x="4714371" y="861244"/>
            <a:ext cx="2743200" cy="5996753"/>
          </a:xfrm>
          <a:prstGeom prst="rect">
            <a:avLst/>
          </a:prstGeom>
          <a:solidFill>
            <a:srgbClr val="FDEB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7" name="그림 6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F746A0-1204-ACC4-AA72-05221F5D1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9682521" y="276225"/>
            <a:ext cx="2172929" cy="62926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F8272A8-5F01-35D4-A259-B08B5ADECD37}"/>
              </a:ext>
            </a:extLst>
          </p:cNvPr>
          <p:cNvSpPr/>
          <p:nvPr/>
        </p:nvSpPr>
        <p:spPr>
          <a:xfrm>
            <a:off x="336550" y="807167"/>
            <a:ext cx="714375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47DDD63-FD35-31CA-EB7C-313742FB9050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0925" y="861245"/>
            <a:ext cx="10798175" cy="0"/>
          </a:xfrm>
          <a:prstGeom prst="line">
            <a:avLst/>
          </a:prstGeom>
          <a:ln>
            <a:solidFill>
              <a:srgbClr val="E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02E87CD-D151-9CDA-0239-DDC27708FB02}"/>
              </a:ext>
            </a:extLst>
          </p:cNvPr>
          <p:cNvSpPr txBox="1"/>
          <p:nvPr/>
        </p:nvSpPr>
        <p:spPr>
          <a:xfrm>
            <a:off x="336550" y="382270"/>
            <a:ext cx="71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02</a:t>
            </a:r>
            <a:endParaRPr lang="ko-KR" altLang="en-US" sz="28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E4D1EB-5B35-4865-0999-E7DBB4F31E26}"/>
              </a:ext>
            </a:extLst>
          </p:cNvPr>
          <p:cNvSpPr txBox="1"/>
          <p:nvPr/>
        </p:nvSpPr>
        <p:spPr>
          <a:xfrm>
            <a:off x="1050925" y="491912"/>
            <a:ext cx="86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내부환경 분석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992538-0EE8-B544-F115-EDA16EFDE8E9}"/>
              </a:ext>
            </a:extLst>
          </p:cNvPr>
          <p:cNvSpPr txBox="1"/>
          <p:nvPr/>
        </p:nvSpPr>
        <p:spPr>
          <a:xfrm>
            <a:off x="336550" y="189412"/>
            <a:ext cx="399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SWOT </a:t>
            </a:r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중심의 내부환경 분석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A2180D2-ED46-B027-B65E-0A84ED9FFA1C}"/>
              </a:ext>
            </a:extLst>
          </p:cNvPr>
          <p:cNvSpPr/>
          <p:nvPr/>
        </p:nvSpPr>
        <p:spPr>
          <a:xfrm>
            <a:off x="429393" y="1532538"/>
            <a:ext cx="823368" cy="794004"/>
          </a:xfrm>
          <a:prstGeom prst="ellipse">
            <a:avLst/>
          </a:prstGeom>
          <a:noFill/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rgbClr val="002C5F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B1A6F2-47D7-6A84-AE40-79CEED0FB82D}"/>
              </a:ext>
            </a:extLst>
          </p:cNvPr>
          <p:cNvSpPr txBox="1"/>
          <p:nvPr/>
        </p:nvSpPr>
        <p:spPr>
          <a:xfrm>
            <a:off x="668735" y="1703557"/>
            <a:ext cx="344683" cy="451966"/>
          </a:xfrm>
          <a:custGeom>
            <a:avLst/>
            <a:gdLst/>
            <a:ahLst/>
            <a:cxnLst/>
            <a:rect l="l" t="t" r="r" b="b"/>
            <a:pathLst>
              <a:path w="661444" h="867318">
                <a:moveTo>
                  <a:pt x="226257" y="0"/>
                </a:moveTo>
                <a:lnTo>
                  <a:pt x="585006" y="0"/>
                </a:lnTo>
                <a:lnTo>
                  <a:pt x="585006" y="169183"/>
                </a:lnTo>
                <a:lnTo>
                  <a:pt x="292503" y="169183"/>
                </a:lnTo>
                <a:cubicBezTo>
                  <a:pt x="226257" y="169183"/>
                  <a:pt x="173259" y="180394"/>
                  <a:pt x="173259" y="252755"/>
                </a:cubicBezTo>
                <a:cubicBezTo>
                  <a:pt x="173259" y="295560"/>
                  <a:pt x="203835" y="329193"/>
                  <a:pt x="253774" y="329193"/>
                </a:cubicBezTo>
                <a:lnTo>
                  <a:pt x="409708" y="329193"/>
                </a:lnTo>
                <a:cubicBezTo>
                  <a:pt x="554431" y="329193"/>
                  <a:pt x="661444" y="444360"/>
                  <a:pt x="661444" y="603351"/>
                </a:cubicBezTo>
                <a:cubicBezTo>
                  <a:pt x="661444" y="753170"/>
                  <a:pt x="564623" y="867318"/>
                  <a:pt x="422957" y="867318"/>
                </a:cubicBezTo>
                <a:lnTo>
                  <a:pt x="27517" y="867318"/>
                </a:lnTo>
                <a:lnTo>
                  <a:pt x="27517" y="706288"/>
                </a:lnTo>
                <a:lnTo>
                  <a:pt x="377094" y="706288"/>
                </a:lnTo>
                <a:cubicBezTo>
                  <a:pt x="446398" y="706288"/>
                  <a:pt x="503472" y="673674"/>
                  <a:pt x="503472" y="603351"/>
                </a:cubicBezTo>
                <a:cubicBezTo>
                  <a:pt x="503472" y="537105"/>
                  <a:pt x="453532" y="498376"/>
                  <a:pt x="389324" y="498376"/>
                </a:cubicBezTo>
                <a:lnTo>
                  <a:pt x="286388" y="498376"/>
                </a:lnTo>
                <a:cubicBezTo>
                  <a:pt x="113128" y="498376"/>
                  <a:pt x="0" y="424996"/>
                  <a:pt x="0" y="244602"/>
                </a:cubicBezTo>
                <a:cubicBezTo>
                  <a:pt x="0" y="116186"/>
                  <a:pt x="89687" y="0"/>
                  <a:pt x="226257" y="0"/>
                </a:cubicBezTo>
                <a:close/>
              </a:path>
            </a:pathLst>
          </a:custGeom>
          <a:solidFill>
            <a:srgbClr val="EE334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0" dirty="0">
              <a:solidFill>
                <a:srgbClr val="002C5F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EEF80B-17BB-BA56-4F77-CC2A26FD3390}"/>
              </a:ext>
            </a:extLst>
          </p:cNvPr>
          <p:cNvSpPr txBox="1"/>
          <p:nvPr/>
        </p:nvSpPr>
        <p:spPr>
          <a:xfrm>
            <a:off x="1399252" y="1507841"/>
            <a:ext cx="43491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65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년 사료 제조 노하우 및 인프라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전사 전략 컨트롤 타워 존재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전통적 </a:t>
            </a:r>
            <a:r>
              <a:rPr lang="ko-KR" altLang="en-US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양축사료와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성장 산업 </a:t>
            </a:r>
            <a:r>
              <a:rPr lang="ko-KR" altLang="en-US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펫푸드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사료로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sz="1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안정적인 사업 포트폴리오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898290-E6C4-BE95-7D08-59D1100C803F}"/>
              </a:ext>
            </a:extLst>
          </p:cNvPr>
          <p:cNvSpPr txBox="1"/>
          <p:nvPr/>
        </p:nvSpPr>
        <p:spPr>
          <a:xfrm>
            <a:off x="1399252" y="2965886"/>
            <a:ext cx="43491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경영기획본부에 과도한 기능 집중으로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의사결정 병목현상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조직도 상 독립적으로 기능해야 할 부서의 결합으로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지휘체계 왜곡 및 관리체계 불일치</a:t>
            </a:r>
            <a:endParaRPr lang="ko-KR" alt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80898DD-B692-EE54-5E61-95FACBB4C71A}"/>
              </a:ext>
            </a:extLst>
          </p:cNvPr>
          <p:cNvSpPr/>
          <p:nvPr/>
        </p:nvSpPr>
        <p:spPr>
          <a:xfrm>
            <a:off x="429393" y="2943191"/>
            <a:ext cx="823368" cy="794004"/>
          </a:xfrm>
          <a:prstGeom prst="ellipse">
            <a:avLst/>
          </a:prstGeom>
          <a:noFill/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rgbClr val="002C5F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CA376F-92A9-4412-1EAA-9125FB650DC2}"/>
              </a:ext>
            </a:extLst>
          </p:cNvPr>
          <p:cNvSpPr txBox="1"/>
          <p:nvPr/>
        </p:nvSpPr>
        <p:spPr>
          <a:xfrm>
            <a:off x="575884" y="3120661"/>
            <a:ext cx="530384" cy="439063"/>
          </a:xfrm>
          <a:custGeom>
            <a:avLst/>
            <a:gdLst/>
            <a:ahLst/>
            <a:cxnLst/>
            <a:rect l="l" t="t" r="r" b="b"/>
            <a:pathLst>
              <a:path w="783336" h="648462">
                <a:moveTo>
                  <a:pt x="0" y="0"/>
                </a:moveTo>
                <a:lnTo>
                  <a:pt x="116586" y="0"/>
                </a:lnTo>
                <a:lnTo>
                  <a:pt x="224028" y="425196"/>
                </a:lnTo>
                <a:lnTo>
                  <a:pt x="230124" y="425196"/>
                </a:lnTo>
                <a:lnTo>
                  <a:pt x="255270" y="321564"/>
                </a:lnTo>
                <a:cubicBezTo>
                  <a:pt x="281178" y="214122"/>
                  <a:pt x="307848" y="108204"/>
                  <a:pt x="333756" y="0"/>
                </a:cubicBezTo>
                <a:lnTo>
                  <a:pt x="450342" y="0"/>
                </a:lnTo>
                <a:lnTo>
                  <a:pt x="557784" y="425196"/>
                </a:lnTo>
                <a:lnTo>
                  <a:pt x="563880" y="425196"/>
                </a:lnTo>
                <a:cubicBezTo>
                  <a:pt x="597408" y="282702"/>
                  <a:pt x="632460" y="144018"/>
                  <a:pt x="667512" y="0"/>
                </a:cubicBezTo>
                <a:lnTo>
                  <a:pt x="783336" y="0"/>
                </a:lnTo>
                <a:lnTo>
                  <a:pt x="623316" y="648462"/>
                </a:lnTo>
                <a:lnTo>
                  <a:pt x="499110" y="648462"/>
                </a:lnTo>
                <a:lnTo>
                  <a:pt x="392430" y="230886"/>
                </a:lnTo>
                <a:lnTo>
                  <a:pt x="289560" y="648462"/>
                </a:lnTo>
                <a:lnTo>
                  <a:pt x="165354" y="648462"/>
                </a:lnTo>
                <a:close/>
              </a:path>
            </a:pathLst>
          </a:custGeom>
          <a:solidFill>
            <a:srgbClr val="EE334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kumimoji="1" lang="ko-KR" altLang="en-US" sz="6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C9D437-6CBC-0425-97B5-45358CF0EFE9}"/>
              </a:ext>
            </a:extLst>
          </p:cNvPr>
          <p:cNvSpPr txBox="1"/>
          <p:nvPr/>
        </p:nvSpPr>
        <p:spPr>
          <a:xfrm>
            <a:off x="1399252" y="4423931"/>
            <a:ext cx="4365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휴먼 그레이드 등 </a:t>
            </a:r>
            <a:r>
              <a:rPr lang="ko-KR" altLang="en-US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펫사료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 시장의 프리미엄화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이커머스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및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D2C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채널 확대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로컬 제조사에 대한 선호도 상승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2E561BD-7D2C-BCA5-D8EA-65C0023A1851}"/>
              </a:ext>
            </a:extLst>
          </p:cNvPr>
          <p:cNvSpPr/>
          <p:nvPr/>
        </p:nvSpPr>
        <p:spPr>
          <a:xfrm>
            <a:off x="429393" y="4353844"/>
            <a:ext cx="823368" cy="794004"/>
          </a:xfrm>
          <a:prstGeom prst="ellipse">
            <a:avLst/>
          </a:prstGeom>
          <a:noFill/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rgbClr val="002C5F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567A94-A2A4-8FAE-170B-CD1146524527}"/>
              </a:ext>
            </a:extLst>
          </p:cNvPr>
          <p:cNvSpPr txBox="1"/>
          <p:nvPr/>
        </p:nvSpPr>
        <p:spPr>
          <a:xfrm>
            <a:off x="638422" y="4459038"/>
            <a:ext cx="405307" cy="583616"/>
          </a:xfrm>
          <a:custGeom>
            <a:avLst/>
            <a:gdLst/>
            <a:ahLst/>
            <a:cxnLst/>
            <a:rect l="l" t="t" r="r" b="b"/>
            <a:pathLst>
              <a:path w="405307" h="583616">
                <a:moveTo>
                  <a:pt x="170078" y="101499"/>
                </a:moveTo>
                <a:cubicBezTo>
                  <a:pt x="130302" y="101499"/>
                  <a:pt x="104927" y="135103"/>
                  <a:pt x="104927" y="175565"/>
                </a:cubicBezTo>
                <a:lnTo>
                  <a:pt x="104927" y="408051"/>
                </a:lnTo>
                <a:cubicBezTo>
                  <a:pt x="104927" y="448513"/>
                  <a:pt x="130302" y="482118"/>
                  <a:pt x="170078" y="482118"/>
                </a:cubicBezTo>
                <a:lnTo>
                  <a:pt x="235229" y="482118"/>
                </a:lnTo>
                <a:cubicBezTo>
                  <a:pt x="275005" y="482118"/>
                  <a:pt x="300380" y="448513"/>
                  <a:pt x="300380" y="408051"/>
                </a:cubicBezTo>
                <a:lnTo>
                  <a:pt x="300380" y="175565"/>
                </a:lnTo>
                <a:cubicBezTo>
                  <a:pt x="300380" y="135103"/>
                  <a:pt x="275005" y="101499"/>
                  <a:pt x="235229" y="101499"/>
                </a:cubicBezTo>
                <a:close/>
                <a:moveTo>
                  <a:pt x="169392" y="0"/>
                </a:moveTo>
                <a:lnTo>
                  <a:pt x="235915" y="0"/>
                </a:lnTo>
                <a:cubicBezTo>
                  <a:pt x="329869" y="0"/>
                  <a:pt x="405307" y="76124"/>
                  <a:pt x="405307" y="170079"/>
                </a:cubicBezTo>
                <a:lnTo>
                  <a:pt x="405307" y="414223"/>
                </a:lnTo>
                <a:cubicBezTo>
                  <a:pt x="405307" y="507492"/>
                  <a:pt x="329869" y="583616"/>
                  <a:pt x="235915" y="583616"/>
                </a:cubicBezTo>
                <a:lnTo>
                  <a:pt x="169392" y="583616"/>
                </a:lnTo>
                <a:cubicBezTo>
                  <a:pt x="76123" y="583616"/>
                  <a:pt x="0" y="507492"/>
                  <a:pt x="0" y="414223"/>
                </a:cubicBezTo>
                <a:lnTo>
                  <a:pt x="0" y="170079"/>
                </a:lnTo>
                <a:cubicBezTo>
                  <a:pt x="0" y="76124"/>
                  <a:pt x="76123" y="0"/>
                  <a:pt x="169392" y="0"/>
                </a:cubicBezTo>
                <a:close/>
              </a:path>
            </a:pathLst>
          </a:custGeom>
          <a:solidFill>
            <a:srgbClr val="EE334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kumimoji="1" lang="ko-KR" altLang="en-US" sz="5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CAD748-E712-A160-6461-8863AB4D5F37}"/>
              </a:ext>
            </a:extLst>
          </p:cNvPr>
          <p:cNvSpPr txBox="1"/>
          <p:nvPr/>
        </p:nvSpPr>
        <p:spPr>
          <a:xfrm>
            <a:off x="1399252" y="5844550"/>
            <a:ext cx="4349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0" i="0" u="none" strike="noStrike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글로벌 원자재 가격 변동성 높음</a:t>
            </a:r>
            <a:endParaRPr lang="en-US" altLang="ko-KR" sz="1200" b="0" i="0" u="none" strike="noStrike" dirty="0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글로벌 브랜드와의 경쟁 심화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산업 내 규제 및 품질 기준 강화</a:t>
            </a:r>
            <a:endParaRPr lang="ko-KR" alt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80BF631-ECC4-CDFC-1FBC-BDB4739F52EF}"/>
              </a:ext>
            </a:extLst>
          </p:cNvPr>
          <p:cNvSpPr/>
          <p:nvPr/>
        </p:nvSpPr>
        <p:spPr>
          <a:xfrm>
            <a:off x="429393" y="5764498"/>
            <a:ext cx="823368" cy="794004"/>
          </a:xfrm>
          <a:prstGeom prst="ellipse">
            <a:avLst/>
          </a:prstGeom>
          <a:noFill/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rgbClr val="002C5F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001367-9B2A-92FB-CE8B-EFC1D2C32A70}"/>
              </a:ext>
            </a:extLst>
          </p:cNvPr>
          <p:cNvSpPr txBox="1"/>
          <p:nvPr/>
        </p:nvSpPr>
        <p:spPr>
          <a:xfrm>
            <a:off x="612273" y="5902115"/>
            <a:ext cx="466926" cy="518770"/>
          </a:xfrm>
          <a:custGeom>
            <a:avLst/>
            <a:gdLst/>
            <a:ahLst/>
            <a:cxnLst/>
            <a:rect l="l" t="t" r="r" b="b"/>
            <a:pathLst>
              <a:path w="359664" h="518770">
                <a:moveTo>
                  <a:pt x="0" y="0"/>
                </a:moveTo>
                <a:lnTo>
                  <a:pt x="359664" y="0"/>
                </a:lnTo>
                <a:lnTo>
                  <a:pt x="359664" y="95707"/>
                </a:lnTo>
                <a:lnTo>
                  <a:pt x="225552" y="95707"/>
                </a:lnTo>
                <a:lnTo>
                  <a:pt x="225552" y="518770"/>
                </a:lnTo>
                <a:lnTo>
                  <a:pt x="132893" y="518770"/>
                </a:lnTo>
                <a:lnTo>
                  <a:pt x="132893" y="95707"/>
                </a:lnTo>
                <a:lnTo>
                  <a:pt x="0" y="95707"/>
                </a:lnTo>
                <a:close/>
              </a:path>
            </a:pathLst>
          </a:custGeom>
          <a:solidFill>
            <a:srgbClr val="EE334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kumimoji="1" lang="ko-KR" altLang="en-US" sz="4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D06087-C7CC-B887-C10C-FBDE43872E6F}"/>
              </a:ext>
            </a:extLst>
          </p:cNvPr>
          <p:cNvSpPr txBox="1"/>
          <p:nvPr/>
        </p:nvSpPr>
        <p:spPr>
          <a:xfrm>
            <a:off x="4842386" y="1647862"/>
            <a:ext cx="5894832" cy="377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1600" b="1" dirty="0" err="1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Medium" panose="00000600000000000000" pitchFamily="2" charset="-127"/>
              </a:rPr>
              <a:t>대주산업의</a:t>
            </a:r>
            <a:r>
              <a:rPr lang="ko-KR" altLang="en-US" sz="1600" b="1" dirty="0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600" b="1" dirty="0" err="1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Medium" panose="00000600000000000000" pitchFamily="2" charset="-127"/>
              </a:rPr>
              <a:t>TowsMatrix</a:t>
            </a:r>
            <a:endParaRPr lang="en-US" altLang="ko-KR" sz="1600" b="1" dirty="0">
              <a:solidFill>
                <a:srgbClr val="EE334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6" name="모서리가 둥근 직사각형 63">
            <a:extLst>
              <a:ext uri="{FF2B5EF4-FFF2-40B4-BE49-F238E27FC236}">
                <a16:creationId xmlns:a16="http://schemas.microsoft.com/office/drawing/2014/main" id="{D427CCFA-20A2-3D82-87CE-72C2B2FFE543}"/>
              </a:ext>
            </a:extLst>
          </p:cNvPr>
          <p:cNvSpPr/>
          <p:nvPr/>
        </p:nvSpPr>
        <p:spPr>
          <a:xfrm>
            <a:off x="5984677" y="2247199"/>
            <a:ext cx="1536192" cy="719505"/>
          </a:xfrm>
          <a:prstGeom prst="round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모서리가 둥근 직사각형 64">
            <a:extLst>
              <a:ext uri="{FF2B5EF4-FFF2-40B4-BE49-F238E27FC236}">
                <a16:creationId xmlns:a16="http://schemas.microsoft.com/office/drawing/2014/main" id="{0D4FDCED-7E07-4AEB-6AA7-C393449B75B0}"/>
              </a:ext>
            </a:extLst>
          </p:cNvPr>
          <p:cNvSpPr/>
          <p:nvPr/>
        </p:nvSpPr>
        <p:spPr>
          <a:xfrm>
            <a:off x="5984677" y="3166807"/>
            <a:ext cx="1536192" cy="719505"/>
          </a:xfrm>
          <a:prstGeom prst="round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모서리가 둥근 직사각형 65">
            <a:extLst>
              <a:ext uri="{FF2B5EF4-FFF2-40B4-BE49-F238E27FC236}">
                <a16:creationId xmlns:a16="http://schemas.microsoft.com/office/drawing/2014/main" id="{FA0C120D-AEEE-2CAC-F55F-8A42C0B5B618}"/>
              </a:ext>
            </a:extLst>
          </p:cNvPr>
          <p:cNvSpPr/>
          <p:nvPr/>
        </p:nvSpPr>
        <p:spPr>
          <a:xfrm>
            <a:off x="5984677" y="4116164"/>
            <a:ext cx="1536192" cy="719505"/>
          </a:xfrm>
          <a:prstGeom prst="round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모서리가 둥근 직사각형 66">
            <a:extLst>
              <a:ext uri="{FF2B5EF4-FFF2-40B4-BE49-F238E27FC236}">
                <a16:creationId xmlns:a16="http://schemas.microsoft.com/office/drawing/2014/main" id="{68724481-8189-185D-563E-B1DAE55ED76D}"/>
              </a:ext>
            </a:extLst>
          </p:cNvPr>
          <p:cNvSpPr/>
          <p:nvPr/>
        </p:nvSpPr>
        <p:spPr>
          <a:xfrm>
            <a:off x="5984677" y="5337932"/>
            <a:ext cx="1536192" cy="719505"/>
          </a:xfrm>
          <a:prstGeom prst="round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903DAB-699D-162F-63F6-8C15A0B272E8}"/>
              </a:ext>
            </a:extLst>
          </p:cNvPr>
          <p:cNvSpPr txBox="1"/>
          <p:nvPr/>
        </p:nvSpPr>
        <p:spPr>
          <a:xfrm>
            <a:off x="6120263" y="2361451"/>
            <a:ext cx="1265016" cy="478240"/>
          </a:xfrm>
          <a:custGeom>
            <a:avLst/>
            <a:gdLst/>
            <a:ahLst/>
            <a:cxnLst/>
            <a:rect l="l" t="t" r="r" b="b"/>
            <a:pathLst>
              <a:path w="1082383" h="478240">
                <a:moveTo>
                  <a:pt x="420815" y="184889"/>
                </a:moveTo>
                <a:lnTo>
                  <a:pt x="683819" y="184889"/>
                </a:lnTo>
                <a:lnTo>
                  <a:pt x="683819" y="261318"/>
                </a:lnTo>
                <a:lnTo>
                  <a:pt x="420815" y="261318"/>
                </a:lnTo>
                <a:close/>
                <a:moveTo>
                  <a:pt x="889625" y="83172"/>
                </a:moveTo>
                <a:cubicBezTo>
                  <a:pt x="857031" y="83172"/>
                  <a:pt x="836238" y="110709"/>
                  <a:pt x="836238" y="143865"/>
                </a:cubicBezTo>
                <a:lnTo>
                  <a:pt x="836238" y="334375"/>
                </a:lnTo>
                <a:cubicBezTo>
                  <a:pt x="836238" y="367531"/>
                  <a:pt x="857031" y="395068"/>
                  <a:pt x="889625" y="395068"/>
                </a:cubicBezTo>
                <a:lnTo>
                  <a:pt x="943013" y="395068"/>
                </a:lnTo>
                <a:cubicBezTo>
                  <a:pt x="975608" y="395068"/>
                  <a:pt x="996401" y="367531"/>
                  <a:pt x="996401" y="334375"/>
                </a:cubicBezTo>
                <a:lnTo>
                  <a:pt x="996401" y="143865"/>
                </a:lnTo>
                <a:cubicBezTo>
                  <a:pt x="996401" y="110709"/>
                  <a:pt x="975608" y="83172"/>
                  <a:pt x="943013" y="83172"/>
                </a:cubicBezTo>
                <a:close/>
                <a:moveTo>
                  <a:pt x="889063" y="0"/>
                </a:moveTo>
                <a:lnTo>
                  <a:pt x="943575" y="0"/>
                </a:lnTo>
                <a:cubicBezTo>
                  <a:pt x="1020566" y="0"/>
                  <a:pt x="1082383" y="62379"/>
                  <a:pt x="1082383" y="139369"/>
                </a:cubicBezTo>
                <a:lnTo>
                  <a:pt x="1082383" y="339433"/>
                </a:lnTo>
                <a:cubicBezTo>
                  <a:pt x="1082383" y="415861"/>
                  <a:pt x="1020566" y="478240"/>
                  <a:pt x="943575" y="478240"/>
                </a:cubicBezTo>
                <a:lnTo>
                  <a:pt x="889063" y="478240"/>
                </a:lnTo>
                <a:cubicBezTo>
                  <a:pt x="812635" y="478240"/>
                  <a:pt x="750256" y="415861"/>
                  <a:pt x="750256" y="339433"/>
                </a:cubicBezTo>
                <a:lnTo>
                  <a:pt x="750256" y="139369"/>
                </a:lnTo>
                <a:cubicBezTo>
                  <a:pt x="750256" y="62379"/>
                  <a:pt x="812635" y="0"/>
                  <a:pt x="889063" y="0"/>
                </a:cubicBezTo>
                <a:close/>
                <a:moveTo>
                  <a:pt x="124758" y="0"/>
                </a:moveTo>
                <a:lnTo>
                  <a:pt x="322574" y="0"/>
                </a:lnTo>
                <a:lnTo>
                  <a:pt x="322574" y="93287"/>
                </a:lnTo>
                <a:lnTo>
                  <a:pt x="161287" y="93287"/>
                </a:lnTo>
                <a:cubicBezTo>
                  <a:pt x="124758" y="93287"/>
                  <a:pt x="95536" y="99469"/>
                  <a:pt x="95536" y="139369"/>
                </a:cubicBezTo>
                <a:cubicBezTo>
                  <a:pt x="95536" y="162972"/>
                  <a:pt x="112395" y="181518"/>
                  <a:pt x="139932" y="181518"/>
                </a:cubicBezTo>
                <a:lnTo>
                  <a:pt x="225914" y="181518"/>
                </a:lnTo>
                <a:cubicBezTo>
                  <a:pt x="305714" y="181518"/>
                  <a:pt x="364722" y="245021"/>
                  <a:pt x="364722" y="332689"/>
                </a:cubicBezTo>
                <a:cubicBezTo>
                  <a:pt x="364722" y="415299"/>
                  <a:pt x="311334" y="478240"/>
                  <a:pt x="233220" y="478240"/>
                </a:cubicBezTo>
                <a:lnTo>
                  <a:pt x="15173" y="478240"/>
                </a:lnTo>
                <a:lnTo>
                  <a:pt x="15173" y="389448"/>
                </a:lnTo>
                <a:lnTo>
                  <a:pt x="207931" y="389448"/>
                </a:lnTo>
                <a:cubicBezTo>
                  <a:pt x="246145" y="389448"/>
                  <a:pt x="277616" y="371465"/>
                  <a:pt x="277616" y="332689"/>
                </a:cubicBezTo>
                <a:cubicBezTo>
                  <a:pt x="277616" y="296160"/>
                  <a:pt x="250079" y="274805"/>
                  <a:pt x="214674" y="274805"/>
                </a:cubicBezTo>
                <a:lnTo>
                  <a:pt x="157915" y="274805"/>
                </a:lnTo>
                <a:cubicBezTo>
                  <a:pt x="62379" y="274805"/>
                  <a:pt x="0" y="234343"/>
                  <a:pt x="0" y="134874"/>
                </a:cubicBezTo>
                <a:cubicBezTo>
                  <a:pt x="0" y="64065"/>
                  <a:pt x="49454" y="0"/>
                  <a:pt x="124758" y="0"/>
                </a:cubicBezTo>
                <a:close/>
              </a:path>
            </a:pathLst>
          </a:custGeom>
          <a:solidFill>
            <a:srgbClr val="FDEBEC"/>
          </a:solidFill>
          <a:ln w="28575">
            <a:solidFill>
              <a:srgbClr val="FDEBEC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4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64A23D-0FC2-C069-BCE3-B76929B1C4D5}"/>
              </a:ext>
            </a:extLst>
          </p:cNvPr>
          <p:cNvSpPr txBox="1"/>
          <p:nvPr/>
        </p:nvSpPr>
        <p:spPr>
          <a:xfrm>
            <a:off x="6111273" y="3296489"/>
            <a:ext cx="1282999" cy="478240"/>
          </a:xfrm>
          <a:custGeom>
            <a:avLst/>
            <a:gdLst/>
            <a:ahLst/>
            <a:cxnLst/>
            <a:rect l="l" t="t" r="r" b="b"/>
            <a:pathLst>
              <a:path w="1282999" h="478240">
                <a:moveTo>
                  <a:pt x="621431" y="184890"/>
                </a:moveTo>
                <a:lnTo>
                  <a:pt x="884435" y="184890"/>
                </a:lnTo>
                <a:lnTo>
                  <a:pt x="884435" y="261318"/>
                </a:lnTo>
                <a:lnTo>
                  <a:pt x="621431" y="261318"/>
                </a:lnTo>
                <a:close/>
                <a:moveTo>
                  <a:pt x="1090241" y="83172"/>
                </a:moveTo>
                <a:cubicBezTo>
                  <a:pt x="1057647" y="83172"/>
                  <a:pt x="1036854" y="110709"/>
                  <a:pt x="1036854" y="143865"/>
                </a:cubicBezTo>
                <a:lnTo>
                  <a:pt x="1036854" y="334375"/>
                </a:lnTo>
                <a:cubicBezTo>
                  <a:pt x="1036854" y="367531"/>
                  <a:pt x="1057647" y="395068"/>
                  <a:pt x="1090241" y="395068"/>
                </a:cubicBezTo>
                <a:lnTo>
                  <a:pt x="1143629" y="395068"/>
                </a:lnTo>
                <a:cubicBezTo>
                  <a:pt x="1176224" y="395068"/>
                  <a:pt x="1197017" y="367531"/>
                  <a:pt x="1197017" y="334375"/>
                </a:cubicBezTo>
                <a:lnTo>
                  <a:pt x="1197017" y="143865"/>
                </a:lnTo>
                <a:cubicBezTo>
                  <a:pt x="1197017" y="110709"/>
                  <a:pt x="1176224" y="83172"/>
                  <a:pt x="1143629" y="83172"/>
                </a:cubicBezTo>
                <a:close/>
                <a:moveTo>
                  <a:pt x="1089679" y="0"/>
                </a:moveTo>
                <a:lnTo>
                  <a:pt x="1144191" y="0"/>
                </a:lnTo>
                <a:cubicBezTo>
                  <a:pt x="1221182" y="0"/>
                  <a:pt x="1282999" y="62379"/>
                  <a:pt x="1282999" y="139370"/>
                </a:cubicBezTo>
                <a:lnTo>
                  <a:pt x="1282999" y="339433"/>
                </a:lnTo>
                <a:cubicBezTo>
                  <a:pt x="1282999" y="415861"/>
                  <a:pt x="1221182" y="478240"/>
                  <a:pt x="1144191" y="478240"/>
                </a:cubicBezTo>
                <a:lnTo>
                  <a:pt x="1089679" y="478240"/>
                </a:lnTo>
                <a:cubicBezTo>
                  <a:pt x="1013251" y="478240"/>
                  <a:pt x="950872" y="415861"/>
                  <a:pt x="950872" y="339433"/>
                </a:cubicBezTo>
                <a:lnTo>
                  <a:pt x="950872" y="139370"/>
                </a:lnTo>
                <a:cubicBezTo>
                  <a:pt x="950872" y="62379"/>
                  <a:pt x="1013251" y="0"/>
                  <a:pt x="1089679" y="0"/>
                </a:cubicBezTo>
                <a:close/>
                <a:moveTo>
                  <a:pt x="0" y="0"/>
                </a:moveTo>
                <a:lnTo>
                  <a:pt x="85983" y="0"/>
                </a:lnTo>
                <a:lnTo>
                  <a:pt x="165221" y="313582"/>
                </a:lnTo>
                <a:lnTo>
                  <a:pt x="169717" y="313582"/>
                </a:lnTo>
                <a:lnTo>
                  <a:pt x="188262" y="237153"/>
                </a:lnTo>
                <a:cubicBezTo>
                  <a:pt x="207369" y="157915"/>
                  <a:pt x="227038" y="79800"/>
                  <a:pt x="246145" y="0"/>
                </a:cubicBezTo>
                <a:lnTo>
                  <a:pt x="332128" y="0"/>
                </a:lnTo>
                <a:lnTo>
                  <a:pt x="411366" y="313582"/>
                </a:lnTo>
                <a:lnTo>
                  <a:pt x="415862" y="313582"/>
                </a:lnTo>
                <a:cubicBezTo>
                  <a:pt x="440589" y="208492"/>
                  <a:pt x="466440" y="106213"/>
                  <a:pt x="492291" y="0"/>
                </a:cubicBezTo>
                <a:lnTo>
                  <a:pt x="577711" y="0"/>
                </a:lnTo>
                <a:lnTo>
                  <a:pt x="459696" y="478240"/>
                </a:lnTo>
                <a:lnTo>
                  <a:pt x="368094" y="478240"/>
                </a:lnTo>
                <a:lnTo>
                  <a:pt x="289418" y="170278"/>
                </a:lnTo>
                <a:lnTo>
                  <a:pt x="213551" y="478240"/>
                </a:lnTo>
                <a:lnTo>
                  <a:pt x="121949" y="478240"/>
                </a:lnTo>
                <a:close/>
              </a:path>
            </a:pathLst>
          </a:custGeom>
          <a:solidFill>
            <a:srgbClr val="FDEBEC"/>
          </a:solidFill>
          <a:ln w="28575">
            <a:solidFill>
              <a:srgbClr val="FDEBEC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4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1540FB-E9A6-1909-4B69-86D32DAB191D}"/>
              </a:ext>
            </a:extLst>
          </p:cNvPr>
          <p:cNvSpPr txBox="1"/>
          <p:nvPr/>
        </p:nvSpPr>
        <p:spPr>
          <a:xfrm>
            <a:off x="6181272" y="4241346"/>
            <a:ext cx="1213000" cy="478240"/>
          </a:xfrm>
          <a:custGeom>
            <a:avLst/>
            <a:gdLst/>
            <a:ahLst/>
            <a:cxnLst/>
            <a:rect l="l" t="t" r="r" b="b"/>
            <a:pathLst>
              <a:path w="1064400" h="478240">
                <a:moveTo>
                  <a:pt x="420814" y="184890"/>
                </a:moveTo>
                <a:lnTo>
                  <a:pt x="683819" y="184890"/>
                </a:lnTo>
                <a:lnTo>
                  <a:pt x="683819" y="261318"/>
                </a:lnTo>
                <a:lnTo>
                  <a:pt x="420814" y="261318"/>
                </a:lnTo>
                <a:close/>
                <a:moveTo>
                  <a:pt x="732834" y="0"/>
                </a:moveTo>
                <a:lnTo>
                  <a:pt x="1064400" y="0"/>
                </a:lnTo>
                <a:lnTo>
                  <a:pt x="1064400" y="88230"/>
                </a:lnTo>
                <a:lnTo>
                  <a:pt x="940765" y="88230"/>
                </a:lnTo>
                <a:lnTo>
                  <a:pt x="940765" y="478240"/>
                </a:lnTo>
                <a:lnTo>
                  <a:pt x="855345" y="478240"/>
                </a:lnTo>
                <a:lnTo>
                  <a:pt x="855345" y="88230"/>
                </a:lnTo>
                <a:lnTo>
                  <a:pt x="732834" y="88230"/>
                </a:lnTo>
                <a:close/>
                <a:moveTo>
                  <a:pt x="124758" y="0"/>
                </a:moveTo>
                <a:lnTo>
                  <a:pt x="322574" y="0"/>
                </a:lnTo>
                <a:lnTo>
                  <a:pt x="322574" y="93288"/>
                </a:lnTo>
                <a:lnTo>
                  <a:pt x="161287" y="93288"/>
                </a:lnTo>
                <a:cubicBezTo>
                  <a:pt x="124758" y="93288"/>
                  <a:pt x="95536" y="99469"/>
                  <a:pt x="95536" y="139370"/>
                </a:cubicBezTo>
                <a:cubicBezTo>
                  <a:pt x="95536" y="162972"/>
                  <a:pt x="112395" y="181518"/>
                  <a:pt x="139932" y="181518"/>
                </a:cubicBezTo>
                <a:lnTo>
                  <a:pt x="225914" y="181518"/>
                </a:lnTo>
                <a:cubicBezTo>
                  <a:pt x="305714" y="181518"/>
                  <a:pt x="364722" y="245021"/>
                  <a:pt x="364722" y="332689"/>
                </a:cubicBezTo>
                <a:cubicBezTo>
                  <a:pt x="364722" y="415299"/>
                  <a:pt x="311334" y="478240"/>
                  <a:pt x="233220" y="478240"/>
                </a:cubicBezTo>
                <a:lnTo>
                  <a:pt x="15173" y="478240"/>
                </a:lnTo>
                <a:lnTo>
                  <a:pt x="15173" y="389448"/>
                </a:lnTo>
                <a:lnTo>
                  <a:pt x="207931" y="389448"/>
                </a:lnTo>
                <a:cubicBezTo>
                  <a:pt x="246145" y="389448"/>
                  <a:pt x="277616" y="371465"/>
                  <a:pt x="277616" y="332689"/>
                </a:cubicBezTo>
                <a:cubicBezTo>
                  <a:pt x="277616" y="296161"/>
                  <a:pt x="250079" y="274805"/>
                  <a:pt x="214674" y="274805"/>
                </a:cubicBezTo>
                <a:lnTo>
                  <a:pt x="157915" y="274805"/>
                </a:lnTo>
                <a:cubicBezTo>
                  <a:pt x="62379" y="274805"/>
                  <a:pt x="0" y="234343"/>
                  <a:pt x="0" y="134874"/>
                </a:cubicBezTo>
                <a:cubicBezTo>
                  <a:pt x="0" y="64065"/>
                  <a:pt x="49454" y="0"/>
                  <a:pt x="124758" y="0"/>
                </a:cubicBezTo>
                <a:close/>
              </a:path>
            </a:pathLst>
          </a:custGeom>
          <a:solidFill>
            <a:srgbClr val="FDEBEC"/>
          </a:solidFill>
          <a:ln w="28575">
            <a:solidFill>
              <a:srgbClr val="FDEBEC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4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0BC1F1-29BD-A20B-662F-5C6DFF32BEA9}"/>
              </a:ext>
            </a:extLst>
          </p:cNvPr>
          <p:cNvSpPr txBox="1"/>
          <p:nvPr/>
        </p:nvSpPr>
        <p:spPr>
          <a:xfrm>
            <a:off x="6120263" y="5486205"/>
            <a:ext cx="1265016" cy="478240"/>
          </a:xfrm>
          <a:custGeom>
            <a:avLst/>
            <a:gdLst/>
            <a:ahLst/>
            <a:cxnLst/>
            <a:rect l="l" t="t" r="r" b="b"/>
            <a:pathLst>
              <a:path w="1265016" h="478240">
                <a:moveTo>
                  <a:pt x="621431" y="184890"/>
                </a:moveTo>
                <a:lnTo>
                  <a:pt x="884435" y="184890"/>
                </a:lnTo>
                <a:lnTo>
                  <a:pt x="884435" y="261318"/>
                </a:lnTo>
                <a:lnTo>
                  <a:pt x="621431" y="261318"/>
                </a:lnTo>
                <a:close/>
                <a:moveTo>
                  <a:pt x="933450" y="0"/>
                </a:moveTo>
                <a:lnTo>
                  <a:pt x="1265016" y="0"/>
                </a:lnTo>
                <a:lnTo>
                  <a:pt x="1265016" y="88230"/>
                </a:lnTo>
                <a:lnTo>
                  <a:pt x="1141381" y="88230"/>
                </a:lnTo>
                <a:lnTo>
                  <a:pt x="1141381" y="478240"/>
                </a:lnTo>
                <a:lnTo>
                  <a:pt x="1055961" y="478240"/>
                </a:lnTo>
                <a:lnTo>
                  <a:pt x="1055961" y="88230"/>
                </a:lnTo>
                <a:lnTo>
                  <a:pt x="933450" y="88230"/>
                </a:lnTo>
                <a:close/>
                <a:moveTo>
                  <a:pt x="0" y="0"/>
                </a:moveTo>
                <a:lnTo>
                  <a:pt x="85983" y="0"/>
                </a:lnTo>
                <a:lnTo>
                  <a:pt x="165221" y="313582"/>
                </a:lnTo>
                <a:lnTo>
                  <a:pt x="169717" y="313582"/>
                </a:lnTo>
                <a:lnTo>
                  <a:pt x="188262" y="237153"/>
                </a:lnTo>
                <a:cubicBezTo>
                  <a:pt x="207369" y="157915"/>
                  <a:pt x="227038" y="79800"/>
                  <a:pt x="246145" y="0"/>
                </a:cubicBezTo>
                <a:lnTo>
                  <a:pt x="332128" y="0"/>
                </a:lnTo>
                <a:lnTo>
                  <a:pt x="411366" y="313582"/>
                </a:lnTo>
                <a:lnTo>
                  <a:pt x="415862" y="313582"/>
                </a:lnTo>
                <a:cubicBezTo>
                  <a:pt x="440589" y="208492"/>
                  <a:pt x="466440" y="106213"/>
                  <a:pt x="492291" y="0"/>
                </a:cubicBezTo>
                <a:lnTo>
                  <a:pt x="577711" y="0"/>
                </a:lnTo>
                <a:lnTo>
                  <a:pt x="459696" y="478240"/>
                </a:lnTo>
                <a:lnTo>
                  <a:pt x="368094" y="478240"/>
                </a:lnTo>
                <a:lnTo>
                  <a:pt x="289418" y="170278"/>
                </a:lnTo>
                <a:lnTo>
                  <a:pt x="213551" y="478240"/>
                </a:lnTo>
                <a:lnTo>
                  <a:pt x="121949" y="478240"/>
                </a:lnTo>
                <a:close/>
              </a:path>
            </a:pathLst>
          </a:custGeom>
          <a:solidFill>
            <a:srgbClr val="FDEBEC"/>
          </a:solidFill>
          <a:ln w="28575">
            <a:solidFill>
              <a:srgbClr val="FDEBEC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4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7840C5-3F98-443F-1D3B-E9743C5AA27C}"/>
              </a:ext>
            </a:extLst>
          </p:cNvPr>
          <p:cNvSpPr txBox="1"/>
          <p:nvPr/>
        </p:nvSpPr>
        <p:spPr>
          <a:xfrm>
            <a:off x="7612182" y="2311068"/>
            <a:ext cx="3566160" cy="57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1100" b="0" i="0" u="none" strike="noStrike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65</a:t>
            </a:r>
            <a:r>
              <a:rPr lang="ko-KR" altLang="en-US" sz="1100" b="0" i="0" u="none" strike="noStrike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제조 기술을 활용한 고기능성 </a:t>
            </a:r>
            <a:r>
              <a:rPr lang="ko-KR" altLang="en-US" sz="1100" b="0" i="0" u="none" strike="noStrike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펫푸드</a:t>
            </a:r>
            <a:r>
              <a:rPr lang="ko-KR" altLang="en-US" sz="1100" b="0" i="0" u="none" strike="noStrike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라인업을 강화하고</a:t>
            </a:r>
            <a:endParaRPr lang="en-US" altLang="ko-KR" sz="1100" b="0" i="0" u="none" strike="noStrike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en-US" sz="11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기획 본부의 주도로 </a:t>
            </a:r>
            <a:r>
              <a:rPr lang="en-US" altLang="ko-KR" sz="11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D2C </a:t>
            </a:r>
            <a:r>
              <a:rPr lang="ko-KR" altLang="en-US" sz="11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채널을 공격적으로 확장한다</a:t>
            </a:r>
            <a:endParaRPr lang="ko-KR" altLang="ko-KR" sz="1100" b="0" i="0" u="none" strike="noStrike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9A9762-B1CA-A35E-8837-7D8D37E80173}"/>
              </a:ext>
            </a:extLst>
          </p:cNvPr>
          <p:cNvSpPr txBox="1"/>
          <p:nvPr/>
        </p:nvSpPr>
        <p:spPr>
          <a:xfrm>
            <a:off x="7612182" y="3207531"/>
            <a:ext cx="3566160" cy="57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11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원재료 가격 상승 위협을 </a:t>
            </a:r>
            <a:r>
              <a:rPr lang="en-US" altLang="ko-KR" sz="11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65</a:t>
            </a:r>
            <a:r>
              <a:rPr lang="ko-KR" altLang="en-US" sz="11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배합 노하우와</a:t>
            </a:r>
            <a:endParaRPr lang="en-US" altLang="ko-KR" sz="11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1100" b="0" i="0" u="none" strike="noStrike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SCM</a:t>
            </a:r>
            <a:r>
              <a:rPr lang="ko-KR" altLang="en-US" sz="1100" b="0" i="0" u="none" strike="noStrike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본부의 통합 구매력을 통해 원가 경쟁력으로 극복한다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9F110A-A6BF-CD6C-5B41-2F9278D0DF80}"/>
              </a:ext>
            </a:extLst>
          </p:cNvPr>
          <p:cNvSpPr txBox="1"/>
          <p:nvPr/>
        </p:nvSpPr>
        <p:spPr>
          <a:xfrm>
            <a:off x="7612181" y="4196911"/>
            <a:ext cx="3724151" cy="57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1100" b="0" i="0" u="none" strike="noStrike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생산본부와 물류 기능을 분리하여 온라인 채널 대응력을 높이고</a:t>
            </a:r>
            <a:endParaRPr lang="en-US" altLang="ko-KR" sz="1100" b="0" i="0" u="none" strike="noStrike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en-US" sz="11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운영 비용을 절감한다</a:t>
            </a:r>
            <a:endParaRPr lang="ko-KR" altLang="ko-KR" sz="1100" b="0" i="0" u="none" strike="noStrike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BE73F4-4164-F269-8630-92BAEAD6F0B6}"/>
              </a:ext>
            </a:extLst>
          </p:cNvPr>
          <p:cNvSpPr txBox="1"/>
          <p:nvPr/>
        </p:nvSpPr>
        <p:spPr>
          <a:xfrm>
            <a:off x="7612181" y="5129841"/>
            <a:ext cx="44702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1600" b="0" i="0" u="none" strike="noStrike" dirty="0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Medium" panose="00000600000000000000" pitchFamily="2" charset="-127"/>
              </a:rPr>
              <a:t>경영기획 본부에 집중된 권한을 실무 본부로 이관하고</a:t>
            </a:r>
            <a:endParaRPr lang="en-US" altLang="ko-KR" sz="1600" b="0" i="0" u="none" strike="noStrike" dirty="0">
              <a:solidFill>
                <a:srgbClr val="EE334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Medium" panose="00000600000000000000" pitchFamily="2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en-US" sz="1600" dirty="0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Medium" panose="00000600000000000000" pitchFamily="2" charset="-127"/>
              </a:rPr>
              <a:t>전결 규정을 정비해 시장 변화에 신속히 대응하는</a:t>
            </a:r>
            <a:endParaRPr lang="en-US" altLang="ko-KR" sz="1600" dirty="0">
              <a:solidFill>
                <a:srgbClr val="EE334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Medium" panose="00000600000000000000" pitchFamily="2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en-US" sz="1600" dirty="0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Medium" panose="00000600000000000000" pitchFamily="2" charset="-127"/>
              </a:rPr>
              <a:t>민첩한 조직으로 재설계한다</a:t>
            </a:r>
            <a:endParaRPr lang="ko-KR" altLang="en-US" sz="1600" b="0" i="0" u="none" strike="noStrike" dirty="0">
              <a:solidFill>
                <a:srgbClr val="EE334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7020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6BE56-A9BE-FC80-4E80-982CB25E5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1C3B6794-A898-2090-FC41-FC061FD5636A}"/>
              </a:ext>
            </a:extLst>
          </p:cNvPr>
          <p:cNvSpPr/>
          <p:nvPr/>
        </p:nvSpPr>
        <p:spPr>
          <a:xfrm>
            <a:off x="2980198" y="5588280"/>
            <a:ext cx="1167940" cy="102375"/>
          </a:xfrm>
          <a:custGeom>
            <a:avLst/>
            <a:gdLst>
              <a:gd name="csX0" fmla="*/ 107276 w 993749"/>
              <a:gd name="csY0" fmla="*/ 0 h 102375"/>
              <a:gd name="csX1" fmla="*/ 886473 w 993749"/>
              <a:gd name="csY1" fmla="*/ 0 h 102375"/>
              <a:gd name="csX2" fmla="*/ 986461 w 993749"/>
              <a:gd name="csY2" fmla="*/ 66277 h 102375"/>
              <a:gd name="csX3" fmla="*/ 993749 w 993749"/>
              <a:gd name="csY3" fmla="*/ 102375 h 102375"/>
              <a:gd name="csX4" fmla="*/ 0 w 993749"/>
              <a:gd name="csY4" fmla="*/ 102375 h 102375"/>
              <a:gd name="csX5" fmla="*/ 7288 w 993749"/>
              <a:gd name="csY5" fmla="*/ 66277 h 102375"/>
              <a:gd name="csX6" fmla="*/ 107276 w 993749"/>
              <a:gd name="csY6" fmla="*/ 0 h 102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3749" h="102375">
                <a:moveTo>
                  <a:pt x="107276" y="0"/>
                </a:moveTo>
                <a:lnTo>
                  <a:pt x="886473" y="0"/>
                </a:lnTo>
                <a:cubicBezTo>
                  <a:pt x="931422" y="0"/>
                  <a:pt x="969988" y="27329"/>
                  <a:pt x="986461" y="66277"/>
                </a:cubicBezTo>
                <a:lnTo>
                  <a:pt x="993749" y="102375"/>
                </a:lnTo>
                <a:lnTo>
                  <a:pt x="0" y="102375"/>
                </a:lnTo>
                <a:lnTo>
                  <a:pt x="7288" y="66277"/>
                </a:lnTo>
                <a:cubicBezTo>
                  <a:pt x="23761" y="27329"/>
                  <a:pt x="62327" y="0"/>
                  <a:pt x="107276" y="0"/>
                </a:cubicBezTo>
                <a:close/>
              </a:path>
            </a:pathLst>
          </a:custGeom>
          <a:solidFill>
            <a:srgbClr val="F47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09932A94-CD6F-8C9F-EB10-8C4EF8E48BC5}"/>
              </a:ext>
            </a:extLst>
          </p:cNvPr>
          <p:cNvSpPr/>
          <p:nvPr/>
        </p:nvSpPr>
        <p:spPr>
          <a:xfrm>
            <a:off x="8043864" y="5588280"/>
            <a:ext cx="1167940" cy="102375"/>
          </a:xfrm>
          <a:custGeom>
            <a:avLst/>
            <a:gdLst>
              <a:gd name="csX0" fmla="*/ 107276 w 993749"/>
              <a:gd name="csY0" fmla="*/ 0 h 102375"/>
              <a:gd name="csX1" fmla="*/ 886473 w 993749"/>
              <a:gd name="csY1" fmla="*/ 0 h 102375"/>
              <a:gd name="csX2" fmla="*/ 986461 w 993749"/>
              <a:gd name="csY2" fmla="*/ 66277 h 102375"/>
              <a:gd name="csX3" fmla="*/ 993749 w 993749"/>
              <a:gd name="csY3" fmla="*/ 102375 h 102375"/>
              <a:gd name="csX4" fmla="*/ 0 w 993749"/>
              <a:gd name="csY4" fmla="*/ 102375 h 102375"/>
              <a:gd name="csX5" fmla="*/ 7288 w 993749"/>
              <a:gd name="csY5" fmla="*/ 66277 h 102375"/>
              <a:gd name="csX6" fmla="*/ 107276 w 993749"/>
              <a:gd name="csY6" fmla="*/ 0 h 102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3749" h="102375">
                <a:moveTo>
                  <a:pt x="107276" y="0"/>
                </a:moveTo>
                <a:lnTo>
                  <a:pt x="886473" y="0"/>
                </a:lnTo>
                <a:cubicBezTo>
                  <a:pt x="931422" y="0"/>
                  <a:pt x="969988" y="27329"/>
                  <a:pt x="986461" y="66277"/>
                </a:cubicBezTo>
                <a:lnTo>
                  <a:pt x="993749" y="102375"/>
                </a:lnTo>
                <a:lnTo>
                  <a:pt x="0" y="102375"/>
                </a:lnTo>
                <a:lnTo>
                  <a:pt x="7288" y="66277"/>
                </a:lnTo>
                <a:cubicBezTo>
                  <a:pt x="23761" y="27329"/>
                  <a:pt x="62327" y="0"/>
                  <a:pt x="107276" y="0"/>
                </a:cubicBezTo>
                <a:close/>
              </a:path>
            </a:pathLst>
          </a:custGeom>
          <a:solidFill>
            <a:srgbClr val="2767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7" name="그림 6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44F76F-A4AC-3C48-7301-700EDDD83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9682521" y="276225"/>
            <a:ext cx="2172929" cy="62926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F45EB3B-78F5-3C67-44E1-C192822FDBD3}"/>
              </a:ext>
            </a:extLst>
          </p:cNvPr>
          <p:cNvSpPr/>
          <p:nvPr/>
        </p:nvSpPr>
        <p:spPr>
          <a:xfrm>
            <a:off x="336550" y="807167"/>
            <a:ext cx="714375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4447F61-C22D-F071-6CBD-C23488CFC1EC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0925" y="861245"/>
            <a:ext cx="10798175" cy="0"/>
          </a:xfrm>
          <a:prstGeom prst="line">
            <a:avLst/>
          </a:prstGeom>
          <a:ln>
            <a:solidFill>
              <a:srgbClr val="E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7E7496-324B-B2F4-4FDC-5FB3CA15F846}"/>
              </a:ext>
            </a:extLst>
          </p:cNvPr>
          <p:cNvSpPr txBox="1"/>
          <p:nvPr/>
        </p:nvSpPr>
        <p:spPr>
          <a:xfrm>
            <a:off x="336550" y="382270"/>
            <a:ext cx="71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03</a:t>
            </a:r>
            <a:endParaRPr lang="ko-KR" altLang="en-US" sz="28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39567A-EACD-2CCD-BF18-70A6D81BA809}"/>
              </a:ext>
            </a:extLst>
          </p:cNvPr>
          <p:cNvSpPr txBox="1"/>
          <p:nvPr/>
        </p:nvSpPr>
        <p:spPr>
          <a:xfrm>
            <a:off x="1050925" y="491912"/>
            <a:ext cx="86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대주산업의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전략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2DD6E3-E878-BFFE-DB87-87BA17D33EA1}"/>
              </a:ext>
            </a:extLst>
          </p:cNvPr>
          <p:cNvSpPr txBox="1"/>
          <p:nvPr/>
        </p:nvSpPr>
        <p:spPr>
          <a:xfrm>
            <a:off x="336550" y="189412"/>
            <a:ext cx="399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원가우위 </a:t>
            </a:r>
            <a:r>
              <a:rPr lang="en-US" altLang="ko-KR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&amp; </a:t>
            </a:r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차별화 하이브리드 전략</a:t>
            </a: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7746E8BB-3708-A516-2BFB-E7BC344345B6}"/>
              </a:ext>
            </a:extLst>
          </p:cNvPr>
          <p:cNvSpPr/>
          <p:nvPr/>
        </p:nvSpPr>
        <p:spPr>
          <a:xfrm>
            <a:off x="1790701" y="997385"/>
            <a:ext cx="8604248" cy="1338845"/>
          </a:xfrm>
          <a:prstGeom prst="triangle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Sustainable Growth</a:t>
            </a:r>
          </a:p>
          <a:p>
            <a:pPr algn="ctr"/>
            <a:r>
              <a:rPr lang="ko-KR" altLang="en-US" sz="24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지속 가능한 성장</a:t>
            </a:r>
            <a:endParaRPr lang="en-US" altLang="ko-KR" sz="2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endParaRPr lang="en-US" altLang="ko-KR" sz="2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7543EDD-B86E-99CA-8508-298F3B0BD891}"/>
              </a:ext>
            </a:extLst>
          </p:cNvPr>
          <p:cNvSpPr/>
          <p:nvPr/>
        </p:nvSpPr>
        <p:spPr>
          <a:xfrm>
            <a:off x="2051928" y="2365893"/>
            <a:ext cx="8088144" cy="217032"/>
          </a:xfrm>
          <a:prstGeom prst="roundRect">
            <a:avLst/>
          </a:prstGeom>
          <a:solidFill>
            <a:srgbClr val="F9B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D4EAD9A-6F1E-5949-7C50-ACB59CA786E6}"/>
              </a:ext>
            </a:extLst>
          </p:cNvPr>
          <p:cNvSpPr/>
          <p:nvPr/>
        </p:nvSpPr>
        <p:spPr>
          <a:xfrm>
            <a:off x="2916467" y="2611299"/>
            <a:ext cx="1295402" cy="217032"/>
          </a:xfrm>
          <a:prstGeom prst="roundRect">
            <a:avLst>
              <a:gd name="adj" fmla="val 50000"/>
            </a:avLst>
          </a:prstGeom>
          <a:solidFill>
            <a:srgbClr val="F47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0A73032-332A-658C-21E7-3AE674E664D4}"/>
              </a:ext>
            </a:extLst>
          </p:cNvPr>
          <p:cNvSpPr/>
          <p:nvPr/>
        </p:nvSpPr>
        <p:spPr>
          <a:xfrm>
            <a:off x="7980132" y="2611299"/>
            <a:ext cx="1295402" cy="217032"/>
          </a:xfrm>
          <a:prstGeom prst="roundRect">
            <a:avLst>
              <a:gd name="adj" fmla="val 50000"/>
            </a:avLst>
          </a:prstGeom>
          <a:solidFill>
            <a:srgbClr val="2767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677BA6E2-DAF2-B781-B984-ABA9D7B22045}"/>
              </a:ext>
            </a:extLst>
          </p:cNvPr>
          <p:cNvSpPr/>
          <p:nvPr/>
        </p:nvSpPr>
        <p:spPr>
          <a:xfrm flipV="1">
            <a:off x="3067293" y="2863393"/>
            <a:ext cx="993749" cy="102375"/>
          </a:xfrm>
          <a:custGeom>
            <a:avLst/>
            <a:gdLst>
              <a:gd name="csX0" fmla="*/ 107276 w 993749"/>
              <a:gd name="csY0" fmla="*/ 0 h 102375"/>
              <a:gd name="csX1" fmla="*/ 886473 w 993749"/>
              <a:gd name="csY1" fmla="*/ 0 h 102375"/>
              <a:gd name="csX2" fmla="*/ 986461 w 993749"/>
              <a:gd name="csY2" fmla="*/ 66277 h 102375"/>
              <a:gd name="csX3" fmla="*/ 993749 w 993749"/>
              <a:gd name="csY3" fmla="*/ 102375 h 102375"/>
              <a:gd name="csX4" fmla="*/ 0 w 993749"/>
              <a:gd name="csY4" fmla="*/ 102375 h 102375"/>
              <a:gd name="csX5" fmla="*/ 7288 w 993749"/>
              <a:gd name="csY5" fmla="*/ 66277 h 102375"/>
              <a:gd name="csX6" fmla="*/ 107276 w 993749"/>
              <a:gd name="csY6" fmla="*/ 0 h 102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3749" h="102375">
                <a:moveTo>
                  <a:pt x="107276" y="0"/>
                </a:moveTo>
                <a:lnTo>
                  <a:pt x="886473" y="0"/>
                </a:lnTo>
                <a:cubicBezTo>
                  <a:pt x="931422" y="0"/>
                  <a:pt x="969988" y="27329"/>
                  <a:pt x="986461" y="66277"/>
                </a:cubicBezTo>
                <a:lnTo>
                  <a:pt x="993749" y="102375"/>
                </a:lnTo>
                <a:lnTo>
                  <a:pt x="0" y="102375"/>
                </a:lnTo>
                <a:lnTo>
                  <a:pt x="7288" y="66277"/>
                </a:lnTo>
                <a:cubicBezTo>
                  <a:pt x="23761" y="27329"/>
                  <a:pt x="62327" y="0"/>
                  <a:pt x="107276" y="0"/>
                </a:cubicBezTo>
                <a:close/>
              </a:path>
            </a:pathLst>
          </a:custGeom>
          <a:solidFill>
            <a:srgbClr val="F47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156F4C4E-C035-829B-BDC3-F1CE9C9992B3}"/>
              </a:ext>
            </a:extLst>
          </p:cNvPr>
          <p:cNvSpPr/>
          <p:nvPr/>
        </p:nvSpPr>
        <p:spPr>
          <a:xfrm flipV="1">
            <a:off x="8130958" y="2863393"/>
            <a:ext cx="993749" cy="102375"/>
          </a:xfrm>
          <a:custGeom>
            <a:avLst/>
            <a:gdLst>
              <a:gd name="csX0" fmla="*/ 107276 w 993749"/>
              <a:gd name="csY0" fmla="*/ 0 h 102375"/>
              <a:gd name="csX1" fmla="*/ 886473 w 993749"/>
              <a:gd name="csY1" fmla="*/ 0 h 102375"/>
              <a:gd name="csX2" fmla="*/ 986461 w 993749"/>
              <a:gd name="csY2" fmla="*/ 66277 h 102375"/>
              <a:gd name="csX3" fmla="*/ 993749 w 993749"/>
              <a:gd name="csY3" fmla="*/ 102375 h 102375"/>
              <a:gd name="csX4" fmla="*/ 0 w 993749"/>
              <a:gd name="csY4" fmla="*/ 102375 h 102375"/>
              <a:gd name="csX5" fmla="*/ 7288 w 993749"/>
              <a:gd name="csY5" fmla="*/ 66277 h 102375"/>
              <a:gd name="csX6" fmla="*/ 107276 w 993749"/>
              <a:gd name="csY6" fmla="*/ 0 h 102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3749" h="102375">
                <a:moveTo>
                  <a:pt x="107276" y="0"/>
                </a:moveTo>
                <a:lnTo>
                  <a:pt x="886473" y="0"/>
                </a:lnTo>
                <a:cubicBezTo>
                  <a:pt x="931422" y="0"/>
                  <a:pt x="969988" y="27329"/>
                  <a:pt x="986461" y="66277"/>
                </a:cubicBezTo>
                <a:lnTo>
                  <a:pt x="993749" y="102375"/>
                </a:lnTo>
                <a:lnTo>
                  <a:pt x="0" y="102375"/>
                </a:lnTo>
                <a:lnTo>
                  <a:pt x="7288" y="66277"/>
                </a:lnTo>
                <a:cubicBezTo>
                  <a:pt x="23761" y="27329"/>
                  <a:pt x="62327" y="0"/>
                  <a:pt x="107276" y="0"/>
                </a:cubicBezTo>
                <a:close/>
              </a:path>
            </a:pathLst>
          </a:custGeom>
          <a:solidFill>
            <a:srgbClr val="2767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3" name="사다리꼴 32">
            <a:extLst>
              <a:ext uri="{FF2B5EF4-FFF2-40B4-BE49-F238E27FC236}">
                <a16:creationId xmlns:a16="http://schemas.microsoft.com/office/drawing/2014/main" id="{6AD059FE-E190-3867-599C-09031E7569AF}"/>
              </a:ext>
            </a:extLst>
          </p:cNvPr>
          <p:cNvSpPr/>
          <p:nvPr/>
        </p:nvSpPr>
        <p:spPr>
          <a:xfrm>
            <a:off x="3067293" y="2935502"/>
            <a:ext cx="993750" cy="2701064"/>
          </a:xfrm>
          <a:prstGeom prst="trapezoid">
            <a:avLst>
              <a:gd name="adj" fmla="val 9737"/>
            </a:avLst>
          </a:prstGeom>
          <a:solidFill>
            <a:srgbClr val="F47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다리꼴 35">
            <a:extLst>
              <a:ext uri="{FF2B5EF4-FFF2-40B4-BE49-F238E27FC236}">
                <a16:creationId xmlns:a16="http://schemas.microsoft.com/office/drawing/2014/main" id="{7FBDEA36-B8DA-BFC1-FD55-52952C210294}"/>
              </a:ext>
            </a:extLst>
          </p:cNvPr>
          <p:cNvSpPr/>
          <p:nvPr/>
        </p:nvSpPr>
        <p:spPr>
          <a:xfrm>
            <a:off x="8130957" y="2935502"/>
            <a:ext cx="993750" cy="2701064"/>
          </a:xfrm>
          <a:prstGeom prst="trapezoid">
            <a:avLst>
              <a:gd name="adj" fmla="val 9737"/>
            </a:avLst>
          </a:prstGeom>
          <a:solidFill>
            <a:srgbClr val="2767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CE80C93-DC9A-FE14-57BD-E89EBDCEE643}"/>
              </a:ext>
            </a:extLst>
          </p:cNvPr>
          <p:cNvSpPr/>
          <p:nvPr/>
        </p:nvSpPr>
        <p:spPr>
          <a:xfrm rot="153374">
            <a:off x="3260635" y="2992427"/>
            <a:ext cx="79167" cy="2588170"/>
          </a:xfrm>
          <a:prstGeom prst="roundRect">
            <a:avLst>
              <a:gd name="adj" fmla="val 50000"/>
            </a:avLst>
          </a:prstGeom>
          <a:solidFill>
            <a:srgbClr val="F9B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910A4A2-CF2D-99A9-00D7-D86E2495D13C}"/>
              </a:ext>
            </a:extLst>
          </p:cNvPr>
          <p:cNvSpPr/>
          <p:nvPr/>
        </p:nvSpPr>
        <p:spPr>
          <a:xfrm>
            <a:off x="3530091" y="2991949"/>
            <a:ext cx="79167" cy="2588170"/>
          </a:xfrm>
          <a:prstGeom prst="roundRect">
            <a:avLst>
              <a:gd name="adj" fmla="val 50000"/>
            </a:avLst>
          </a:prstGeom>
          <a:solidFill>
            <a:srgbClr val="F9B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781D821-363A-1B8F-3000-0CAE4AEB68F6}"/>
              </a:ext>
            </a:extLst>
          </p:cNvPr>
          <p:cNvSpPr/>
          <p:nvPr/>
        </p:nvSpPr>
        <p:spPr>
          <a:xfrm rot="21446626" flipH="1">
            <a:off x="3799547" y="2999632"/>
            <a:ext cx="79167" cy="2588170"/>
          </a:xfrm>
          <a:prstGeom prst="roundRect">
            <a:avLst>
              <a:gd name="adj" fmla="val 50000"/>
            </a:avLst>
          </a:prstGeom>
          <a:solidFill>
            <a:srgbClr val="F9B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5A63509-318A-CB49-FF6E-57D10C445076}"/>
              </a:ext>
            </a:extLst>
          </p:cNvPr>
          <p:cNvSpPr/>
          <p:nvPr/>
        </p:nvSpPr>
        <p:spPr>
          <a:xfrm rot="153374">
            <a:off x="8318793" y="2992427"/>
            <a:ext cx="79167" cy="258817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1C0C6CD2-FBF6-BFA4-7E76-6C4D6C9E6EE7}"/>
              </a:ext>
            </a:extLst>
          </p:cNvPr>
          <p:cNvSpPr/>
          <p:nvPr/>
        </p:nvSpPr>
        <p:spPr>
          <a:xfrm>
            <a:off x="8588249" y="2991949"/>
            <a:ext cx="79167" cy="258817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C65D6C2-CF18-2FFF-C70C-7AB6444A4817}"/>
              </a:ext>
            </a:extLst>
          </p:cNvPr>
          <p:cNvSpPr/>
          <p:nvPr/>
        </p:nvSpPr>
        <p:spPr>
          <a:xfrm rot="21446626" flipH="1">
            <a:off x="8857705" y="2999632"/>
            <a:ext cx="79167" cy="258817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A26A53A2-3DE6-CD85-70CB-C9E23D400D7E}"/>
              </a:ext>
            </a:extLst>
          </p:cNvPr>
          <p:cNvSpPr/>
          <p:nvPr/>
        </p:nvSpPr>
        <p:spPr>
          <a:xfrm>
            <a:off x="2048753" y="5860615"/>
            <a:ext cx="8088144" cy="217032"/>
          </a:xfrm>
          <a:prstGeom prst="roundRect">
            <a:avLst/>
          </a:prstGeom>
          <a:solidFill>
            <a:srgbClr val="F9B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172E0FA-4907-ABDD-AA08-60C1D3F5A8E6}"/>
              </a:ext>
            </a:extLst>
          </p:cNvPr>
          <p:cNvSpPr/>
          <p:nvPr/>
        </p:nvSpPr>
        <p:spPr>
          <a:xfrm>
            <a:off x="336550" y="6096538"/>
            <a:ext cx="11512550" cy="708122"/>
          </a:xfrm>
          <a:prstGeom prst="round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압도적 원가 경쟁력 </a:t>
            </a:r>
            <a:r>
              <a:rPr lang="en-US" altLang="ko-KR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+ 65</a:t>
            </a:r>
            <a:r>
              <a:rPr lang="ko-KR" altLang="en-US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 제조 노하우의 기술적 프리미엄으로</a:t>
            </a:r>
            <a:endParaRPr lang="en-US" altLang="ko-KR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하이브리드 전략 지향 </a:t>
            </a:r>
            <a:r>
              <a:rPr lang="en-US" altLang="ko-KR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양손잡이 구조</a:t>
            </a:r>
            <a:r>
              <a:rPr lang="en-US" altLang="ko-KR" sz="2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F6E564A-C0A5-B8A5-1C15-2573EC5A2878}"/>
              </a:ext>
            </a:extLst>
          </p:cNvPr>
          <p:cNvSpPr/>
          <p:nvPr/>
        </p:nvSpPr>
        <p:spPr>
          <a:xfrm>
            <a:off x="2892886" y="5718265"/>
            <a:ext cx="1342564" cy="107774"/>
          </a:xfrm>
          <a:prstGeom prst="roundRect">
            <a:avLst>
              <a:gd name="adj" fmla="val 50000"/>
            </a:avLst>
          </a:prstGeom>
          <a:solidFill>
            <a:srgbClr val="F47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B8A8ADB-4596-10A9-14E8-47226867B844}"/>
              </a:ext>
            </a:extLst>
          </p:cNvPr>
          <p:cNvSpPr/>
          <p:nvPr/>
        </p:nvSpPr>
        <p:spPr>
          <a:xfrm>
            <a:off x="7956551" y="5718265"/>
            <a:ext cx="1342564" cy="107774"/>
          </a:xfrm>
          <a:prstGeom prst="roundRect">
            <a:avLst>
              <a:gd name="adj" fmla="val 50000"/>
            </a:avLst>
          </a:prstGeom>
          <a:solidFill>
            <a:srgbClr val="2767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E9B6EA39-E524-9F2E-49CE-8AB6B1A02229}"/>
              </a:ext>
            </a:extLst>
          </p:cNvPr>
          <p:cNvSpPr/>
          <p:nvPr/>
        </p:nvSpPr>
        <p:spPr>
          <a:xfrm>
            <a:off x="2892886" y="2975898"/>
            <a:ext cx="1342564" cy="1342564"/>
          </a:xfrm>
          <a:prstGeom prst="ellipse">
            <a:avLst/>
          </a:prstGeom>
          <a:solidFill>
            <a:srgbClr val="FFFFFF"/>
          </a:solidFill>
          <a:ln w="57150">
            <a:solidFill>
              <a:srgbClr val="F47A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9F505C95-8261-CB21-31CC-F089719F65E8}"/>
              </a:ext>
            </a:extLst>
          </p:cNvPr>
          <p:cNvSpPr/>
          <p:nvPr/>
        </p:nvSpPr>
        <p:spPr>
          <a:xfrm>
            <a:off x="7956550" y="2975898"/>
            <a:ext cx="1342564" cy="1342564"/>
          </a:xfrm>
          <a:prstGeom prst="ellipse">
            <a:avLst/>
          </a:prstGeom>
          <a:solidFill>
            <a:srgbClr val="FFFFFF"/>
          </a:solidFill>
          <a:ln w="57150">
            <a:solidFill>
              <a:srgbClr val="276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786B711D-7F8C-7C7D-26C2-614886B6F40E}"/>
              </a:ext>
            </a:extLst>
          </p:cNvPr>
          <p:cNvSpPr/>
          <p:nvPr/>
        </p:nvSpPr>
        <p:spPr>
          <a:xfrm>
            <a:off x="4643291" y="2611299"/>
            <a:ext cx="2905418" cy="3214740"/>
          </a:xfrm>
          <a:prstGeom prst="roundRect">
            <a:avLst/>
          </a:prstGeom>
          <a:solidFill>
            <a:srgbClr val="FDEB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F29BD9-01D9-2B0F-4C28-B2D301BE67A3}"/>
              </a:ext>
            </a:extLst>
          </p:cNvPr>
          <p:cNvSpPr txBox="1"/>
          <p:nvPr/>
        </p:nvSpPr>
        <p:spPr>
          <a:xfrm>
            <a:off x="505287" y="3057184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생산관리 체계 일원화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60DC31-0DA8-12E1-E3E6-7959D3CAD08C}"/>
              </a:ext>
            </a:extLst>
          </p:cNvPr>
          <p:cNvSpPr txBox="1"/>
          <p:nvPr/>
        </p:nvSpPr>
        <p:spPr>
          <a:xfrm>
            <a:off x="9581999" y="3057184"/>
            <a:ext cx="2137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의사결정 구조 민첩화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B12F34-B0AC-B4BE-97A0-B840C789C868}"/>
              </a:ext>
            </a:extLst>
          </p:cNvPr>
          <p:cNvSpPr txBox="1"/>
          <p:nvPr/>
        </p:nvSpPr>
        <p:spPr>
          <a:xfrm>
            <a:off x="5081336" y="3057184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R&amp;D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센터 겸직 해소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E4F951-255A-A83A-5F06-99AC643DCDB4}"/>
              </a:ext>
            </a:extLst>
          </p:cNvPr>
          <p:cNvSpPr txBox="1"/>
          <p:nvPr/>
        </p:nvSpPr>
        <p:spPr>
          <a:xfrm>
            <a:off x="222104" y="3597691"/>
            <a:ext cx="2691880" cy="143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이원화된 생산 관리</a:t>
            </a:r>
            <a:endParaRPr lang="en-US" altLang="ko-KR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체계를 통합하여</a:t>
            </a:r>
            <a:endParaRPr lang="en-US" altLang="ko-KR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제조 효율성 극대화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1E4254-E793-4188-9058-3C4E020491B5}"/>
              </a:ext>
            </a:extLst>
          </p:cNvPr>
          <p:cNvSpPr txBox="1"/>
          <p:nvPr/>
        </p:nvSpPr>
        <p:spPr>
          <a:xfrm>
            <a:off x="4725150" y="3597691"/>
            <a:ext cx="2832388" cy="143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겸직 구조 해소 및</a:t>
            </a:r>
            <a:endParaRPr lang="en-US" altLang="ko-KR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본부 독립을 통한</a:t>
            </a:r>
            <a:endParaRPr lang="en-US" altLang="ko-KR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사료 가치 제고 역량 집중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202B04-6597-55D5-B26D-EC876CACF8B9}"/>
              </a:ext>
            </a:extLst>
          </p:cNvPr>
          <p:cNvSpPr txBox="1"/>
          <p:nvPr/>
        </p:nvSpPr>
        <p:spPr>
          <a:xfrm>
            <a:off x="9304621" y="3597691"/>
            <a:ext cx="2691880" cy="1893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기획 본부에 집중된 권한</a:t>
            </a:r>
            <a:endParaRPr lang="en-US" altLang="ko-KR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실무 본부로 배분</a:t>
            </a:r>
            <a:endParaRPr lang="en-US" altLang="ko-KR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시장 변화에 대응하는</a:t>
            </a:r>
            <a:endParaRPr lang="en-US" altLang="ko-KR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민첩한 조직 구축</a:t>
            </a:r>
          </a:p>
        </p:txBody>
      </p:sp>
      <p:grpSp>
        <p:nvGrpSpPr>
          <p:cNvPr id="63" name="그래픽 2">
            <a:extLst>
              <a:ext uri="{FF2B5EF4-FFF2-40B4-BE49-F238E27FC236}">
                <a16:creationId xmlns:a16="http://schemas.microsoft.com/office/drawing/2014/main" id="{3DAA6976-F5F8-1F82-954C-4BDE3E9BDFEF}"/>
              </a:ext>
            </a:extLst>
          </p:cNvPr>
          <p:cNvGrpSpPr/>
          <p:nvPr/>
        </p:nvGrpSpPr>
        <p:grpSpPr>
          <a:xfrm>
            <a:off x="3154790" y="3241850"/>
            <a:ext cx="761991" cy="761939"/>
            <a:chOff x="5715000" y="2938490"/>
            <a:chExt cx="761991" cy="761939"/>
          </a:xfrm>
          <a:solidFill>
            <a:srgbClr val="EE3342"/>
          </a:solidFill>
        </p:grpSpPr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A5F72CF2-18FF-ABFE-CBF9-5B6D6E7875FC}"/>
                </a:ext>
              </a:extLst>
            </p:cNvPr>
            <p:cNvSpPr/>
            <p:nvPr/>
          </p:nvSpPr>
          <p:spPr>
            <a:xfrm>
              <a:off x="5880094" y="2938490"/>
              <a:ext cx="584032" cy="507834"/>
            </a:xfrm>
            <a:custGeom>
              <a:avLst/>
              <a:gdLst>
                <a:gd name="csX0" fmla="*/ 38064 w 584032"/>
                <a:gd name="csY0" fmla="*/ 380914 h 507834"/>
                <a:gd name="csX1" fmla="*/ 24100 w 584032"/>
                <a:gd name="csY1" fmla="*/ 380914 h 507834"/>
                <a:gd name="csX2" fmla="*/ 1945 w 584032"/>
                <a:gd name="csY2" fmla="*/ 395640 h 507834"/>
                <a:gd name="csX3" fmla="*/ 6936 w 584032"/>
                <a:gd name="csY3" fmla="*/ 422300 h 507834"/>
                <a:gd name="csX4" fmla="*/ 59095 w 584032"/>
                <a:gd name="csY4" fmla="*/ 475231 h 507834"/>
                <a:gd name="csX5" fmla="*/ 92690 w 584032"/>
                <a:gd name="csY5" fmla="*/ 475745 h 507834"/>
                <a:gd name="csX6" fmla="*/ 93204 w 584032"/>
                <a:gd name="csY6" fmla="*/ 475231 h 507834"/>
                <a:gd name="csX7" fmla="*/ 124122 w 584032"/>
                <a:gd name="csY7" fmla="*/ 443856 h 507834"/>
                <a:gd name="csX8" fmla="*/ 459888 w 584032"/>
                <a:gd name="csY8" fmla="*/ 443856 h 507834"/>
                <a:gd name="csX9" fmla="*/ 490778 w 584032"/>
                <a:gd name="csY9" fmla="*/ 475193 h 507834"/>
                <a:gd name="csX10" fmla="*/ 507866 w 584032"/>
                <a:gd name="csY10" fmla="*/ 482479 h 507834"/>
                <a:gd name="csX11" fmla="*/ 507866 w 584032"/>
                <a:gd name="csY11" fmla="*/ 482479 h 507834"/>
                <a:gd name="csX12" fmla="*/ 524906 w 584032"/>
                <a:gd name="csY12" fmla="*/ 475269 h 507834"/>
                <a:gd name="csX13" fmla="*/ 577170 w 584032"/>
                <a:gd name="csY13" fmla="*/ 422224 h 507834"/>
                <a:gd name="csX14" fmla="*/ 582075 w 584032"/>
                <a:gd name="csY14" fmla="*/ 395640 h 507834"/>
                <a:gd name="csX15" fmla="*/ 559929 w 584032"/>
                <a:gd name="csY15" fmla="*/ 380914 h 507834"/>
                <a:gd name="csX16" fmla="*/ 545966 w 584032"/>
                <a:gd name="csY16" fmla="*/ 380914 h 507834"/>
                <a:gd name="csX17" fmla="*/ 545966 w 584032"/>
                <a:gd name="csY17" fmla="*/ 292037 h 507834"/>
                <a:gd name="csX18" fmla="*/ 544213 w 584032"/>
                <a:gd name="csY18" fmla="*/ 282950 h 507834"/>
                <a:gd name="csX19" fmla="*/ 545966 w 584032"/>
                <a:gd name="csY19" fmla="*/ 253946 h 507834"/>
                <a:gd name="csX20" fmla="*/ 292020 w 584032"/>
                <a:gd name="csY20" fmla="*/ 0 h 507834"/>
                <a:gd name="csX21" fmla="*/ 38074 w 584032"/>
                <a:gd name="csY21" fmla="*/ 253946 h 507834"/>
                <a:gd name="csX22" fmla="*/ 39836 w 584032"/>
                <a:gd name="csY22" fmla="*/ 282950 h 507834"/>
                <a:gd name="csX23" fmla="*/ 38074 w 584032"/>
                <a:gd name="csY23" fmla="*/ 292037 h 507834"/>
                <a:gd name="csX24" fmla="*/ 38074 w 584032"/>
                <a:gd name="csY24" fmla="*/ 380914 h 507834"/>
                <a:gd name="csX25" fmla="*/ 38064 w 584032"/>
                <a:gd name="csY25" fmla="*/ 380914 h 507834"/>
                <a:gd name="csX26" fmla="*/ 76478 w 584032"/>
                <a:gd name="csY26" fmla="*/ 456743 h 507834"/>
                <a:gd name="csX27" fmla="*/ 26063 w 584032"/>
                <a:gd name="csY27" fmla="*/ 406308 h 507834"/>
                <a:gd name="csX28" fmla="*/ 50761 w 584032"/>
                <a:gd name="csY28" fmla="*/ 406308 h 507834"/>
                <a:gd name="csX29" fmla="*/ 63458 w 584032"/>
                <a:gd name="csY29" fmla="*/ 393611 h 507834"/>
                <a:gd name="csX30" fmla="*/ 63458 w 584032"/>
                <a:gd name="csY30" fmla="*/ 292037 h 507834"/>
                <a:gd name="csX31" fmla="*/ 88851 w 584032"/>
                <a:gd name="csY31" fmla="*/ 292037 h 507834"/>
                <a:gd name="csX32" fmla="*/ 88851 w 584032"/>
                <a:gd name="csY32" fmla="*/ 393611 h 507834"/>
                <a:gd name="csX33" fmla="*/ 101548 w 584032"/>
                <a:gd name="csY33" fmla="*/ 406308 h 507834"/>
                <a:gd name="csX34" fmla="*/ 125532 w 584032"/>
                <a:gd name="csY34" fmla="*/ 406308 h 507834"/>
                <a:gd name="csX35" fmla="*/ 76478 w 584032"/>
                <a:gd name="csY35" fmla="*/ 456743 h 507834"/>
                <a:gd name="csX36" fmla="*/ 557234 w 584032"/>
                <a:gd name="csY36" fmla="*/ 406308 h 507834"/>
                <a:gd name="csX37" fmla="*/ 508180 w 584032"/>
                <a:gd name="csY37" fmla="*/ 456752 h 507834"/>
                <a:gd name="csX38" fmla="*/ 457745 w 584032"/>
                <a:gd name="csY38" fmla="*/ 406308 h 507834"/>
                <a:gd name="csX39" fmla="*/ 482453 w 584032"/>
                <a:gd name="csY39" fmla="*/ 406308 h 507834"/>
                <a:gd name="csX40" fmla="*/ 495150 w 584032"/>
                <a:gd name="csY40" fmla="*/ 393611 h 507834"/>
                <a:gd name="csX41" fmla="*/ 495150 w 584032"/>
                <a:gd name="csY41" fmla="*/ 292037 h 507834"/>
                <a:gd name="csX42" fmla="*/ 520543 w 584032"/>
                <a:gd name="csY42" fmla="*/ 292037 h 507834"/>
                <a:gd name="csX43" fmla="*/ 520543 w 584032"/>
                <a:gd name="csY43" fmla="*/ 393611 h 507834"/>
                <a:gd name="csX44" fmla="*/ 533240 w 584032"/>
                <a:gd name="csY44" fmla="*/ 406308 h 507834"/>
                <a:gd name="csX45" fmla="*/ 557234 w 584032"/>
                <a:gd name="csY45" fmla="*/ 406308 h 507834"/>
                <a:gd name="csX46" fmla="*/ 292001 w 584032"/>
                <a:gd name="csY46" fmla="*/ 25394 h 507834"/>
                <a:gd name="csX47" fmla="*/ 520553 w 584032"/>
                <a:gd name="csY47" fmla="*/ 253946 h 507834"/>
                <a:gd name="csX48" fmla="*/ 520143 w 584032"/>
                <a:gd name="csY48" fmla="*/ 266643 h 507834"/>
                <a:gd name="csX49" fmla="*/ 495159 w 584032"/>
                <a:gd name="csY49" fmla="*/ 266643 h 507834"/>
                <a:gd name="csX50" fmla="*/ 469766 w 584032"/>
                <a:gd name="csY50" fmla="*/ 292037 h 507834"/>
                <a:gd name="csX51" fmla="*/ 469766 w 584032"/>
                <a:gd name="csY51" fmla="*/ 380914 h 507834"/>
                <a:gd name="csX52" fmla="*/ 455802 w 584032"/>
                <a:gd name="csY52" fmla="*/ 380914 h 507834"/>
                <a:gd name="csX53" fmla="*/ 433647 w 584032"/>
                <a:gd name="csY53" fmla="*/ 395640 h 507834"/>
                <a:gd name="csX54" fmla="*/ 438638 w 584032"/>
                <a:gd name="csY54" fmla="*/ 422300 h 507834"/>
                <a:gd name="csX55" fmla="*/ 442076 w 584032"/>
                <a:gd name="csY55" fmla="*/ 425777 h 507834"/>
                <a:gd name="csX56" fmla="*/ 141944 w 584032"/>
                <a:gd name="csY56" fmla="*/ 425777 h 507834"/>
                <a:gd name="csX57" fmla="*/ 145458 w 584032"/>
                <a:gd name="csY57" fmla="*/ 422205 h 507834"/>
                <a:gd name="csX58" fmla="*/ 150373 w 584032"/>
                <a:gd name="csY58" fmla="*/ 395545 h 507834"/>
                <a:gd name="csX59" fmla="*/ 128218 w 584032"/>
                <a:gd name="csY59" fmla="*/ 380905 h 507834"/>
                <a:gd name="csX60" fmla="*/ 114255 w 584032"/>
                <a:gd name="csY60" fmla="*/ 380905 h 507834"/>
                <a:gd name="csX61" fmla="*/ 114255 w 584032"/>
                <a:gd name="csY61" fmla="*/ 292027 h 507834"/>
                <a:gd name="csX62" fmla="*/ 88861 w 584032"/>
                <a:gd name="csY62" fmla="*/ 266633 h 507834"/>
                <a:gd name="csX63" fmla="*/ 63877 w 584032"/>
                <a:gd name="csY63" fmla="*/ 266633 h 507834"/>
                <a:gd name="csX64" fmla="*/ 63467 w 584032"/>
                <a:gd name="csY64" fmla="*/ 253937 h 507834"/>
                <a:gd name="csX65" fmla="*/ 292001 w 584032"/>
                <a:gd name="csY65" fmla="*/ 25394 h 5078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584032" h="507834">
                  <a:moveTo>
                    <a:pt x="38064" y="380914"/>
                  </a:moveTo>
                  <a:lnTo>
                    <a:pt x="24100" y="380914"/>
                  </a:lnTo>
                  <a:cubicBezTo>
                    <a:pt x="14433" y="380943"/>
                    <a:pt x="5708" y="386734"/>
                    <a:pt x="1945" y="395640"/>
                  </a:cubicBezTo>
                  <a:cubicBezTo>
                    <a:pt x="-1903" y="404727"/>
                    <a:pt x="59" y="415223"/>
                    <a:pt x="6936" y="422300"/>
                  </a:cubicBezTo>
                  <a:lnTo>
                    <a:pt x="59095" y="475231"/>
                  </a:lnTo>
                  <a:cubicBezTo>
                    <a:pt x="68230" y="484651"/>
                    <a:pt x="83270" y="484880"/>
                    <a:pt x="92690" y="475745"/>
                  </a:cubicBezTo>
                  <a:cubicBezTo>
                    <a:pt x="92861" y="475574"/>
                    <a:pt x="93033" y="475402"/>
                    <a:pt x="93204" y="475231"/>
                  </a:cubicBezTo>
                  <a:lnTo>
                    <a:pt x="124122" y="443856"/>
                  </a:lnTo>
                  <a:cubicBezTo>
                    <a:pt x="219792" y="529161"/>
                    <a:pt x="364219" y="529161"/>
                    <a:pt x="459888" y="443856"/>
                  </a:cubicBezTo>
                  <a:lnTo>
                    <a:pt x="490778" y="475193"/>
                  </a:lnTo>
                  <a:cubicBezTo>
                    <a:pt x="495245" y="479850"/>
                    <a:pt x="501417" y="482479"/>
                    <a:pt x="507866" y="482479"/>
                  </a:cubicBezTo>
                  <a:lnTo>
                    <a:pt x="507866" y="482479"/>
                  </a:lnTo>
                  <a:cubicBezTo>
                    <a:pt x="514285" y="482489"/>
                    <a:pt x="520439" y="479889"/>
                    <a:pt x="524906" y="475269"/>
                  </a:cubicBezTo>
                  <a:lnTo>
                    <a:pt x="577170" y="422224"/>
                  </a:lnTo>
                  <a:cubicBezTo>
                    <a:pt x="583999" y="415147"/>
                    <a:pt x="585923" y="404679"/>
                    <a:pt x="582075" y="395640"/>
                  </a:cubicBezTo>
                  <a:cubicBezTo>
                    <a:pt x="578313" y="386734"/>
                    <a:pt x="569597" y="380943"/>
                    <a:pt x="559929" y="380914"/>
                  </a:cubicBezTo>
                  <a:lnTo>
                    <a:pt x="545966" y="380914"/>
                  </a:lnTo>
                  <a:lnTo>
                    <a:pt x="545966" y="292037"/>
                  </a:lnTo>
                  <a:cubicBezTo>
                    <a:pt x="545947" y="288922"/>
                    <a:pt x="545356" y="285845"/>
                    <a:pt x="544213" y="282950"/>
                  </a:cubicBezTo>
                  <a:cubicBezTo>
                    <a:pt x="545375" y="273329"/>
                    <a:pt x="545956" y="263642"/>
                    <a:pt x="545966" y="253946"/>
                  </a:cubicBezTo>
                  <a:cubicBezTo>
                    <a:pt x="545966" y="113700"/>
                    <a:pt x="432275" y="0"/>
                    <a:pt x="292020" y="0"/>
                  </a:cubicBezTo>
                  <a:cubicBezTo>
                    <a:pt x="151764" y="0"/>
                    <a:pt x="38074" y="113690"/>
                    <a:pt x="38074" y="253946"/>
                  </a:cubicBezTo>
                  <a:cubicBezTo>
                    <a:pt x="38083" y="263642"/>
                    <a:pt x="38674" y="273320"/>
                    <a:pt x="39836" y="282950"/>
                  </a:cubicBezTo>
                  <a:cubicBezTo>
                    <a:pt x="38693" y="285845"/>
                    <a:pt x="38093" y="288931"/>
                    <a:pt x="38074" y="292037"/>
                  </a:cubicBezTo>
                  <a:lnTo>
                    <a:pt x="38074" y="380914"/>
                  </a:lnTo>
                  <a:lnTo>
                    <a:pt x="38064" y="380914"/>
                  </a:lnTo>
                  <a:close/>
                  <a:moveTo>
                    <a:pt x="76478" y="456743"/>
                  </a:moveTo>
                  <a:lnTo>
                    <a:pt x="26063" y="406308"/>
                  </a:lnTo>
                  <a:lnTo>
                    <a:pt x="50761" y="406308"/>
                  </a:lnTo>
                  <a:cubicBezTo>
                    <a:pt x="57771" y="406308"/>
                    <a:pt x="63458" y="400622"/>
                    <a:pt x="63458" y="393611"/>
                  </a:cubicBezTo>
                  <a:lnTo>
                    <a:pt x="63458" y="292037"/>
                  </a:lnTo>
                  <a:lnTo>
                    <a:pt x="88851" y="292037"/>
                  </a:lnTo>
                  <a:lnTo>
                    <a:pt x="88851" y="393611"/>
                  </a:lnTo>
                  <a:cubicBezTo>
                    <a:pt x="88851" y="400622"/>
                    <a:pt x="94538" y="406308"/>
                    <a:pt x="101548" y="406308"/>
                  </a:cubicBezTo>
                  <a:lnTo>
                    <a:pt x="125532" y="406308"/>
                  </a:lnTo>
                  <a:lnTo>
                    <a:pt x="76478" y="456743"/>
                  </a:lnTo>
                  <a:close/>
                  <a:moveTo>
                    <a:pt x="557234" y="406308"/>
                  </a:moveTo>
                  <a:lnTo>
                    <a:pt x="508180" y="456752"/>
                  </a:lnTo>
                  <a:lnTo>
                    <a:pt x="457745" y="406308"/>
                  </a:lnTo>
                  <a:lnTo>
                    <a:pt x="482453" y="406308"/>
                  </a:lnTo>
                  <a:cubicBezTo>
                    <a:pt x="489463" y="406308"/>
                    <a:pt x="495150" y="400622"/>
                    <a:pt x="495150" y="393611"/>
                  </a:cubicBezTo>
                  <a:lnTo>
                    <a:pt x="495150" y="292037"/>
                  </a:lnTo>
                  <a:lnTo>
                    <a:pt x="520543" y="292037"/>
                  </a:lnTo>
                  <a:lnTo>
                    <a:pt x="520543" y="393611"/>
                  </a:lnTo>
                  <a:cubicBezTo>
                    <a:pt x="520543" y="400622"/>
                    <a:pt x="526230" y="406308"/>
                    <a:pt x="533240" y="406308"/>
                  </a:cubicBezTo>
                  <a:lnTo>
                    <a:pt x="557234" y="406308"/>
                  </a:lnTo>
                  <a:close/>
                  <a:moveTo>
                    <a:pt x="292001" y="25394"/>
                  </a:moveTo>
                  <a:cubicBezTo>
                    <a:pt x="418169" y="25537"/>
                    <a:pt x="520401" y="127778"/>
                    <a:pt x="520553" y="253946"/>
                  </a:cubicBezTo>
                  <a:cubicBezTo>
                    <a:pt x="520553" y="258280"/>
                    <a:pt x="520372" y="262480"/>
                    <a:pt x="520143" y="266643"/>
                  </a:cubicBezTo>
                  <a:lnTo>
                    <a:pt x="495159" y="266643"/>
                  </a:lnTo>
                  <a:cubicBezTo>
                    <a:pt x="481139" y="266643"/>
                    <a:pt x="469766" y="278016"/>
                    <a:pt x="469766" y="292037"/>
                  </a:cubicBezTo>
                  <a:lnTo>
                    <a:pt x="469766" y="380914"/>
                  </a:lnTo>
                  <a:lnTo>
                    <a:pt x="455802" y="380914"/>
                  </a:lnTo>
                  <a:cubicBezTo>
                    <a:pt x="446134" y="380943"/>
                    <a:pt x="437409" y="386734"/>
                    <a:pt x="433647" y="395640"/>
                  </a:cubicBezTo>
                  <a:cubicBezTo>
                    <a:pt x="429799" y="404727"/>
                    <a:pt x="431761" y="415223"/>
                    <a:pt x="438638" y="422300"/>
                  </a:cubicBezTo>
                  <a:lnTo>
                    <a:pt x="442076" y="425777"/>
                  </a:lnTo>
                  <a:cubicBezTo>
                    <a:pt x="356304" y="501348"/>
                    <a:pt x="227716" y="501348"/>
                    <a:pt x="141944" y="425777"/>
                  </a:cubicBezTo>
                  <a:lnTo>
                    <a:pt x="145458" y="422205"/>
                  </a:lnTo>
                  <a:cubicBezTo>
                    <a:pt x="152326" y="415119"/>
                    <a:pt x="154260" y="404603"/>
                    <a:pt x="150373" y="395545"/>
                  </a:cubicBezTo>
                  <a:cubicBezTo>
                    <a:pt x="146582" y="386677"/>
                    <a:pt x="137867" y="380914"/>
                    <a:pt x="128218" y="380905"/>
                  </a:cubicBezTo>
                  <a:lnTo>
                    <a:pt x="114255" y="380905"/>
                  </a:lnTo>
                  <a:lnTo>
                    <a:pt x="114255" y="292027"/>
                  </a:lnTo>
                  <a:cubicBezTo>
                    <a:pt x="114255" y="278006"/>
                    <a:pt x="102882" y="266633"/>
                    <a:pt x="88861" y="266633"/>
                  </a:cubicBezTo>
                  <a:lnTo>
                    <a:pt x="63877" y="266633"/>
                  </a:lnTo>
                  <a:cubicBezTo>
                    <a:pt x="63648" y="262471"/>
                    <a:pt x="63467" y="258270"/>
                    <a:pt x="63467" y="253937"/>
                  </a:cubicBezTo>
                  <a:cubicBezTo>
                    <a:pt x="63601" y="127778"/>
                    <a:pt x="165842" y="25546"/>
                    <a:pt x="292001" y="253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5DAB3C96-C865-8758-B485-3C7D1909EBCB}"/>
                </a:ext>
              </a:extLst>
            </p:cNvPr>
            <p:cNvSpPr/>
            <p:nvPr/>
          </p:nvSpPr>
          <p:spPr>
            <a:xfrm>
              <a:off x="5715000" y="3433669"/>
              <a:ext cx="761991" cy="266760"/>
            </a:xfrm>
            <a:custGeom>
              <a:avLst/>
              <a:gdLst>
                <a:gd name="csX0" fmla="*/ 678142 w 761991"/>
                <a:gd name="csY0" fmla="*/ 11913 h 266760"/>
                <a:gd name="csX1" fmla="*/ 574824 w 761991"/>
                <a:gd name="csY1" fmla="*/ 98390 h 266760"/>
                <a:gd name="csX2" fmla="*/ 531200 w 761991"/>
                <a:gd name="csY2" fmla="*/ 76197 h 266760"/>
                <a:gd name="csX3" fmla="*/ 394525 w 761991"/>
                <a:gd name="csY3" fmla="*/ 73901 h 266760"/>
                <a:gd name="csX4" fmla="*/ 330127 w 761991"/>
                <a:gd name="csY4" fmla="*/ 50803 h 266760"/>
                <a:gd name="csX5" fmla="*/ 196539 w 761991"/>
                <a:gd name="csY5" fmla="*/ 84626 h 266760"/>
                <a:gd name="csX6" fmla="*/ 177756 w 761991"/>
                <a:gd name="csY6" fmla="*/ 76197 h 266760"/>
                <a:gd name="csX7" fmla="*/ 25394 w 761991"/>
                <a:gd name="csY7" fmla="*/ 76197 h 266760"/>
                <a:gd name="csX8" fmla="*/ 0 w 761991"/>
                <a:gd name="csY8" fmla="*/ 101591 h 266760"/>
                <a:gd name="csX9" fmla="*/ 0 w 761991"/>
                <a:gd name="csY9" fmla="*/ 241256 h 266760"/>
                <a:gd name="csX10" fmla="*/ 25394 w 761991"/>
                <a:gd name="csY10" fmla="*/ 266649 h 266760"/>
                <a:gd name="csX11" fmla="*/ 177756 w 761991"/>
                <a:gd name="csY11" fmla="*/ 266649 h 266760"/>
                <a:gd name="csX12" fmla="*/ 198730 w 761991"/>
                <a:gd name="csY12" fmla="*/ 255543 h 266760"/>
                <a:gd name="csX13" fmla="*/ 380905 w 761991"/>
                <a:gd name="csY13" fmla="*/ 266649 h 266760"/>
                <a:gd name="csX14" fmla="*/ 546345 w 761991"/>
                <a:gd name="csY14" fmla="*/ 266649 h 266760"/>
                <a:gd name="csX15" fmla="*/ 588807 w 761991"/>
                <a:gd name="csY15" fmla="*/ 248123 h 266760"/>
                <a:gd name="csX16" fmla="*/ 747284 w 761991"/>
                <a:gd name="csY16" fmla="*/ 86865 h 266760"/>
                <a:gd name="csX17" fmla="*/ 746808 w 761991"/>
                <a:gd name="csY17" fmla="*/ 14703 h 266760"/>
                <a:gd name="csX18" fmla="*/ 678142 w 761991"/>
                <a:gd name="csY18" fmla="*/ 11960 h 266760"/>
                <a:gd name="csX19" fmla="*/ 678142 w 761991"/>
                <a:gd name="csY19" fmla="*/ 11913 h 266760"/>
                <a:gd name="csX20" fmla="*/ 678142 w 761991"/>
                <a:gd name="csY20" fmla="*/ 11913 h 266760"/>
                <a:gd name="csX21" fmla="*/ 177765 w 761991"/>
                <a:gd name="csY21" fmla="*/ 241256 h 266760"/>
                <a:gd name="csX22" fmla="*/ 25403 w 761991"/>
                <a:gd name="csY22" fmla="*/ 241256 h 266760"/>
                <a:gd name="csX23" fmla="*/ 25403 w 761991"/>
                <a:gd name="csY23" fmla="*/ 101591 h 266760"/>
                <a:gd name="csX24" fmla="*/ 177765 w 761991"/>
                <a:gd name="csY24" fmla="*/ 101591 h 266760"/>
                <a:gd name="csX25" fmla="*/ 177765 w 761991"/>
                <a:gd name="csY25" fmla="*/ 241256 h 266760"/>
                <a:gd name="csX26" fmla="*/ 729177 w 761991"/>
                <a:gd name="csY26" fmla="*/ 69006 h 266760"/>
                <a:gd name="csX27" fmla="*/ 570728 w 761991"/>
                <a:gd name="csY27" fmla="*/ 230264 h 266760"/>
                <a:gd name="csX28" fmla="*/ 545983 w 761991"/>
                <a:gd name="csY28" fmla="*/ 241256 h 266760"/>
                <a:gd name="csX29" fmla="*/ 380924 w 761991"/>
                <a:gd name="csY29" fmla="*/ 241256 h 266760"/>
                <a:gd name="csX30" fmla="*/ 203159 w 761991"/>
                <a:gd name="csY30" fmla="*/ 230502 h 266760"/>
                <a:gd name="csX31" fmla="*/ 203159 w 761991"/>
                <a:gd name="csY31" fmla="*/ 109630 h 266760"/>
                <a:gd name="csX32" fmla="*/ 330127 w 761991"/>
                <a:gd name="csY32" fmla="*/ 76197 h 266760"/>
                <a:gd name="csX33" fmla="*/ 378381 w 761991"/>
                <a:gd name="csY33" fmla="*/ 93475 h 266760"/>
                <a:gd name="csX34" fmla="*/ 401831 w 761991"/>
                <a:gd name="csY34" fmla="*/ 101591 h 266760"/>
                <a:gd name="csX35" fmla="*/ 531200 w 761991"/>
                <a:gd name="csY35" fmla="*/ 101591 h 266760"/>
                <a:gd name="csX36" fmla="*/ 558679 w 761991"/>
                <a:gd name="csY36" fmla="*/ 125717 h 266760"/>
                <a:gd name="csX37" fmla="*/ 534591 w 761991"/>
                <a:gd name="csY37" fmla="*/ 152349 h 266760"/>
                <a:gd name="csX38" fmla="*/ 533286 w 761991"/>
                <a:gd name="csY38" fmla="*/ 152378 h 266760"/>
                <a:gd name="csX39" fmla="*/ 393621 w 761991"/>
                <a:gd name="csY39" fmla="*/ 152378 h 266760"/>
                <a:gd name="csX40" fmla="*/ 380924 w 761991"/>
                <a:gd name="csY40" fmla="*/ 165075 h 266760"/>
                <a:gd name="csX41" fmla="*/ 393621 w 761991"/>
                <a:gd name="csY41" fmla="*/ 177771 h 266760"/>
                <a:gd name="csX42" fmla="*/ 533286 w 761991"/>
                <a:gd name="csY42" fmla="*/ 177771 h 266760"/>
                <a:gd name="csX43" fmla="*/ 584140 w 761991"/>
                <a:gd name="csY43" fmla="*/ 127232 h 266760"/>
                <a:gd name="csX44" fmla="*/ 584073 w 761991"/>
                <a:gd name="csY44" fmla="*/ 124451 h 266760"/>
                <a:gd name="csX45" fmla="*/ 583997 w 761991"/>
                <a:gd name="csY45" fmla="*/ 123946 h 266760"/>
                <a:gd name="csX46" fmla="*/ 694458 w 761991"/>
                <a:gd name="csY46" fmla="*/ 31458 h 266760"/>
                <a:gd name="csX47" fmla="*/ 730415 w 761991"/>
                <a:gd name="csY47" fmla="*/ 34535 h 266760"/>
                <a:gd name="csX48" fmla="*/ 730529 w 761991"/>
                <a:gd name="csY48" fmla="*/ 34668 h 266760"/>
                <a:gd name="csX49" fmla="*/ 729177 w 761991"/>
                <a:gd name="csY49" fmla="*/ 69006 h 266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761991" h="266760">
                  <a:moveTo>
                    <a:pt x="678142" y="11913"/>
                  </a:moveTo>
                  <a:lnTo>
                    <a:pt x="574824" y="98390"/>
                  </a:lnTo>
                  <a:cubicBezTo>
                    <a:pt x="564737" y="84360"/>
                    <a:pt x="548478" y="76092"/>
                    <a:pt x="531200" y="76197"/>
                  </a:cubicBezTo>
                  <a:cubicBezTo>
                    <a:pt x="400079" y="75406"/>
                    <a:pt x="399707" y="78169"/>
                    <a:pt x="394525" y="73901"/>
                  </a:cubicBezTo>
                  <a:cubicBezTo>
                    <a:pt x="376390" y="58966"/>
                    <a:pt x="353625" y="50803"/>
                    <a:pt x="330127" y="50803"/>
                  </a:cubicBezTo>
                  <a:cubicBezTo>
                    <a:pt x="283588" y="51622"/>
                    <a:pt x="237858" y="63195"/>
                    <a:pt x="196539" y="84626"/>
                  </a:cubicBezTo>
                  <a:cubicBezTo>
                    <a:pt x="191767" y="79273"/>
                    <a:pt x="184937" y="76206"/>
                    <a:pt x="177756" y="76197"/>
                  </a:cubicBezTo>
                  <a:lnTo>
                    <a:pt x="25394" y="76197"/>
                  </a:lnTo>
                  <a:cubicBezTo>
                    <a:pt x="11373" y="76197"/>
                    <a:pt x="0" y="87570"/>
                    <a:pt x="0" y="101591"/>
                  </a:cubicBezTo>
                  <a:lnTo>
                    <a:pt x="0" y="241256"/>
                  </a:lnTo>
                  <a:cubicBezTo>
                    <a:pt x="0" y="255276"/>
                    <a:pt x="11373" y="266649"/>
                    <a:pt x="25394" y="266649"/>
                  </a:cubicBezTo>
                  <a:lnTo>
                    <a:pt x="177756" y="266649"/>
                  </a:lnTo>
                  <a:cubicBezTo>
                    <a:pt x="186157" y="266640"/>
                    <a:pt x="194005" y="262487"/>
                    <a:pt x="198730" y="255543"/>
                  </a:cubicBezTo>
                  <a:cubicBezTo>
                    <a:pt x="259099" y="263754"/>
                    <a:pt x="319992" y="267468"/>
                    <a:pt x="380905" y="266649"/>
                  </a:cubicBezTo>
                  <a:lnTo>
                    <a:pt x="546345" y="266649"/>
                  </a:lnTo>
                  <a:cubicBezTo>
                    <a:pt x="562356" y="266183"/>
                    <a:pt x="577577" y="259553"/>
                    <a:pt x="588807" y="248123"/>
                  </a:cubicBezTo>
                  <a:lnTo>
                    <a:pt x="747284" y="86865"/>
                  </a:lnTo>
                  <a:cubicBezTo>
                    <a:pt x="767077" y="66805"/>
                    <a:pt x="766867" y="34496"/>
                    <a:pt x="746808" y="14703"/>
                  </a:cubicBezTo>
                  <a:cubicBezTo>
                    <a:pt x="728062" y="-3794"/>
                    <a:pt x="698306" y="-4985"/>
                    <a:pt x="678142" y="11960"/>
                  </a:cubicBezTo>
                  <a:lnTo>
                    <a:pt x="678142" y="11913"/>
                  </a:lnTo>
                  <a:lnTo>
                    <a:pt x="678142" y="11913"/>
                  </a:lnTo>
                  <a:close/>
                  <a:moveTo>
                    <a:pt x="177765" y="241256"/>
                  </a:moveTo>
                  <a:lnTo>
                    <a:pt x="25403" y="241256"/>
                  </a:lnTo>
                  <a:lnTo>
                    <a:pt x="25403" y="101591"/>
                  </a:lnTo>
                  <a:lnTo>
                    <a:pt x="177765" y="101591"/>
                  </a:lnTo>
                  <a:lnTo>
                    <a:pt x="177765" y="241256"/>
                  </a:lnTo>
                  <a:close/>
                  <a:moveTo>
                    <a:pt x="729177" y="69006"/>
                  </a:moveTo>
                  <a:lnTo>
                    <a:pt x="570728" y="230264"/>
                  </a:lnTo>
                  <a:cubicBezTo>
                    <a:pt x="564194" y="236969"/>
                    <a:pt x="555336" y="240903"/>
                    <a:pt x="545983" y="241256"/>
                  </a:cubicBezTo>
                  <a:lnTo>
                    <a:pt x="380924" y="241256"/>
                  </a:lnTo>
                  <a:cubicBezTo>
                    <a:pt x="321488" y="241989"/>
                    <a:pt x="262080" y="238389"/>
                    <a:pt x="203159" y="230502"/>
                  </a:cubicBezTo>
                  <a:lnTo>
                    <a:pt x="203159" y="109630"/>
                  </a:lnTo>
                  <a:cubicBezTo>
                    <a:pt x="242268" y="88656"/>
                    <a:pt x="285769" y="77207"/>
                    <a:pt x="330127" y="76197"/>
                  </a:cubicBezTo>
                  <a:cubicBezTo>
                    <a:pt x="347739" y="76102"/>
                    <a:pt x="364827" y="82217"/>
                    <a:pt x="378381" y="93475"/>
                  </a:cubicBezTo>
                  <a:cubicBezTo>
                    <a:pt x="385020" y="98809"/>
                    <a:pt x="393316" y="101676"/>
                    <a:pt x="401831" y="101591"/>
                  </a:cubicBezTo>
                  <a:lnTo>
                    <a:pt x="531200" y="101591"/>
                  </a:lnTo>
                  <a:cubicBezTo>
                    <a:pt x="545268" y="101190"/>
                    <a:pt x="557260" y="111716"/>
                    <a:pt x="558679" y="125717"/>
                  </a:cubicBezTo>
                  <a:cubicBezTo>
                    <a:pt x="559384" y="139729"/>
                    <a:pt x="548592" y="151644"/>
                    <a:pt x="534591" y="152349"/>
                  </a:cubicBezTo>
                  <a:cubicBezTo>
                    <a:pt x="534152" y="152368"/>
                    <a:pt x="533724" y="152378"/>
                    <a:pt x="533286" y="152378"/>
                  </a:cubicBezTo>
                  <a:lnTo>
                    <a:pt x="393621" y="152378"/>
                  </a:lnTo>
                  <a:cubicBezTo>
                    <a:pt x="386610" y="152378"/>
                    <a:pt x="380924" y="158064"/>
                    <a:pt x="380924" y="165075"/>
                  </a:cubicBezTo>
                  <a:cubicBezTo>
                    <a:pt x="380924" y="172085"/>
                    <a:pt x="386610" y="177771"/>
                    <a:pt x="393621" y="177771"/>
                  </a:cubicBezTo>
                  <a:lnTo>
                    <a:pt x="533286" y="177771"/>
                  </a:lnTo>
                  <a:cubicBezTo>
                    <a:pt x="561289" y="177857"/>
                    <a:pt x="584054" y="155226"/>
                    <a:pt x="584140" y="127232"/>
                  </a:cubicBezTo>
                  <a:cubicBezTo>
                    <a:pt x="584140" y="126298"/>
                    <a:pt x="584121" y="125374"/>
                    <a:pt x="584073" y="124451"/>
                  </a:cubicBezTo>
                  <a:cubicBezTo>
                    <a:pt x="584073" y="124270"/>
                    <a:pt x="584073" y="124117"/>
                    <a:pt x="583997" y="123946"/>
                  </a:cubicBezTo>
                  <a:lnTo>
                    <a:pt x="694458" y="31458"/>
                  </a:lnTo>
                  <a:cubicBezTo>
                    <a:pt x="705241" y="22381"/>
                    <a:pt x="721338" y="23752"/>
                    <a:pt x="730415" y="34535"/>
                  </a:cubicBezTo>
                  <a:cubicBezTo>
                    <a:pt x="730453" y="34582"/>
                    <a:pt x="730491" y="34620"/>
                    <a:pt x="730529" y="34668"/>
                  </a:cubicBezTo>
                  <a:cubicBezTo>
                    <a:pt x="738826" y="44812"/>
                    <a:pt x="738245" y="59547"/>
                    <a:pt x="729177" y="690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5EC7BB15-BC78-8CFB-B3EE-6195B3A3411C}"/>
                </a:ext>
              </a:extLst>
            </p:cNvPr>
            <p:cNvSpPr/>
            <p:nvPr/>
          </p:nvSpPr>
          <p:spPr>
            <a:xfrm>
              <a:off x="6095914" y="3027377"/>
              <a:ext cx="152361" cy="330117"/>
            </a:xfrm>
            <a:custGeom>
              <a:avLst/>
              <a:gdLst>
                <a:gd name="csX0" fmla="*/ 25394 w 152361"/>
                <a:gd name="csY0" fmla="*/ 228543 h 330117"/>
                <a:gd name="csX1" fmla="*/ 12697 w 152361"/>
                <a:gd name="csY1" fmla="*/ 215846 h 330117"/>
                <a:gd name="csX2" fmla="*/ 0 w 152361"/>
                <a:gd name="csY2" fmla="*/ 228543 h 330117"/>
                <a:gd name="csX3" fmla="*/ 63484 w 152361"/>
                <a:gd name="csY3" fmla="*/ 303581 h 330117"/>
                <a:gd name="csX4" fmla="*/ 63484 w 152361"/>
                <a:gd name="csY4" fmla="*/ 317421 h 330117"/>
                <a:gd name="csX5" fmla="*/ 76181 w 152361"/>
                <a:gd name="csY5" fmla="*/ 330117 h 330117"/>
                <a:gd name="csX6" fmla="*/ 88878 w 152361"/>
                <a:gd name="csY6" fmla="*/ 317421 h 330117"/>
                <a:gd name="csX7" fmla="*/ 88878 w 152361"/>
                <a:gd name="csY7" fmla="*/ 303581 h 330117"/>
                <a:gd name="csX8" fmla="*/ 151295 w 152361"/>
                <a:gd name="csY8" fmla="*/ 215922 h 330117"/>
                <a:gd name="csX9" fmla="*/ 88878 w 152361"/>
                <a:gd name="csY9" fmla="*/ 153505 h 330117"/>
                <a:gd name="csX10" fmla="*/ 88878 w 152361"/>
                <a:gd name="csY10" fmla="*/ 52588 h 330117"/>
                <a:gd name="csX11" fmla="*/ 126968 w 152361"/>
                <a:gd name="csY11" fmla="*/ 101575 h 330117"/>
                <a:gd name="csX12" fmla="*/ 139665 w 152361"/>
                <a:gd name="csY12" fmla="*/ 114271 h 330117"/>
                <a:gd name="csX13" fmla="*/ 152362 w 152361"/>
                <a:gd name="csY13" fmla="*/ 101575 h 330117"/>
                <a:gd name="csX14" fmla="*/ 88878 w 152361"/>
                <a:gd name="csY14" fmla="*/ 26537 h 330117"/>
                <a:gd name="csX15" fmla="*/ 88878 w 152361"/>
                <a:gd name="csY15" fmla="*/ 12697 h 330117"/>
                <a:gd name="csX16" fmla="*/ 76181 w 152361"/>
                <a:gd name="csY16" fmla="*/ 0 h 330117"/>
                <a:gd name="csX17" fmla="*/ 63484 w 152361"/>
                <a:gd name="csY17" fmla="*/ 12697 h 330117"/>
                <a:gd name="csX18" fmla="*/ 63484 w 152361"/>
                <a:gd name="csY18" fmla="*/ 26537 h 330117"/>
                <a:gd name="csX19" fmla="*/ 1067 w 152361"/>
                <a:gd name="csY19" fmla="*/ 114195 h 330117"/>
                <a:gd name="csX20" fmla="*/ 63484 w 152361"/>
                <a:gd name="csY20" fmla="*/ 176613 h 330117"/>
                <a:gd name="csX21" fmla="*/ 63484 w 152361"/>
                <a:gd name="csY21" fmla="*/ 277530 h 330117"/>
                <a:gd name="csX22" fmla="*/ 25394 w 152361"/>
                <a:gd name="csY22" fmla="*/ 228543 h 330117"/>
                <a:gd name="csX23" fmla="*/ 126978 w 152361"/>
                <a:gd name="csY23" fmla="*/ 228543 h 330117"/>
                <a:gd name="csX24" fmla="*/ 88887 w 152361"/>
                <a:gd name="csY24" fmla="*/ 277530 h 330117"/>
                <a:gd name="csX25" fmla="*/ 88887 w 152361"/>
                <a:gd name="csY25" fmla="*/ 179556 h 330117"/>
                <a:gd name="csX26" fmla="*/ 126978 w 152361"/>
                <a:gd name="csY26" fmla="*/ 228543 h 330117"/>
                <a:gd name="csX27" fmla="*/ 25394 w 152361"/>
                <a:gd name="csY27" fmla="*/ 101575 h 330117"/>
                <a:gd name="csX28" fmla="*/ 63484 w 152361"/>
                <a:gd name="csY28" fmla="*/ 52588 h 330117"/>
                <a:gd name="csX29" fmla="*/ 63484 w 152361"/>
                <a:gd name="csY29" fmla="*/ 150562 h 330117"/>
                <a:gd name="csX30" fmla="*/ 25394 w 152361"/>
                <a:gd name="csY30" fmla="*/ 101575 h 330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2361" h="330117">
                  <a:moveTo>
                    <a:pt x="25394" y="228543"/>
                  </a:moveTo>
                  <a:cubicBezTo>
                    <a:pt x="25394" y="221532"/>
                    <a:pt x="19707" y="215846"/>
                    <a:pt x="12697" y="215846"/>
                  </a:cubicBezTo>
                  <a:cubicBezTo>
                    <a:pt x="5686" y="215846"/>
                    <a:pt x="0" y="221532"/>
                    <a:pt x="0" y="228543"/>
                  </a:cubicBezTo>
                  <a:cubicBezTo>
                    <a:pt x="67" y="265681"/>
                    <a:pt x="26880" y="297361"/>
                    <a:pt x="63484" y="303581"/>
                  </a:cubicBezTo>
                  <a:lnTo>
                    <a:pt x="63484" y="317421"/>
                  </a:lnTo>
                  <a:cubicBezTo>
                    <a:pt x="63484" y="324431"/>
                    <a:pt x="69171" y="330117"/>
                    <a:pt x="76181" y="330117"/>
                  </a:cubicBezTo>
                  <a:cubicBezTo>
                    <a:pt x="83191" y="330117"/>
                    <a:pt x="88878" y="324431"/>
                    <a:pt x="88878" y="317421"/>
                  </a:cubicBezTo>
                  <a:lnTo>
                    <a:pt x="88878" y="303581"/>
                  </a:lnTo>
                  <a:cubicBezTo>
                    <a:pt x="130321" y="296609"/>
                    <a:pt x="158267" y="257366"/>
                    <a:pt x="151295" y="215922"/>
                  </a:cubicBezTo>
                  <a:cubicBezTo>
                    <a:pt x="145913" y="183937"/>
                    <a:pt x="120853" y="158877"/>
                    <a:pt x="88878" y="153505"/>
                  </a:cubicBezTo>
                  <a:lnTo>
                    <a:pt x="88878" y="52588"/>
                  </a:lnTo>
                  <a:cubicBezTo>
                    <a:pt x="111233" y="58360"/>
                    <a:pt x="126883" y="78486"/>
                    <a:pt x="126968" y="101575"/>
                  </a:cubicBezTo>
                  <a:cubicBezTo>
                    <a:pt x="126968" y="108585"/>
                    <a:pt x="132655" y="114271"/>
                    <a:pt x="139665" y="114271"/>
                  </a:cubicBezTo>
                  <a:cubicBezTo>
                    <a:pt x="146675" y="114271"/>
                    <a:pt x="152362" y="108585"/>
                    <a:pt x="152362" y="101575"/>
                  </a:cubicBezTo>
                  <a:cubicBezTo>
                    <a:pt x="152295" y="64437"/>
                    <a:pt x="125482" y="32756"/>
                    <a:pt x="88878" y="26537"/>
                  </a:cubicBezTo>
                  <a:lnTo>
                    <a:pt x="88878" y="12697"/>
                  </a:lnTo>
                  <a:cubicBezTo>
                    <a:pt x="88878" y="5686"/>
                    <a:pt x="83191" y="0"/>
                    <a:pt x="76181" y="0"/>
                  </a:cubicBezTo>
                  <a:cubicBezTo>
                    <a:pt x="69171" y="0"/>
                    <a:pt x="63484" y="5686"/>
                    <a:pt x="63484" y="12697"/>
                  </a:cubicBezTo>
                  <a:lnTo>
                    <a:pt x="63484" y="26537"/>
                  </a:lnTo>
                  <a:cubicBezTo>
                    <a:pt x="22041" y="33509"/>
                    <a:pt x="-5906" y="72752"/>
                    <a:pt x="1067" y="114195"/>
                  </a:cubicBezTo>
                  <a:cubicBezTo>
                    <a:pt x="6448" y="146180"/>
                    <a:pt x="31509" y="171240"/>
                    <a:pt x="63484" y="176613"/>
                  </a:cubicBezTo>
                  <a:lnTo>
                    <a:pt x="63484" y="277530"/>
                  </a:lnTo>
                  <a:cubicBezTo>
                    <a:pt x="41129" y="271758"/>
                    <a:pt x="25479" y="251631"/>
                    <a:pt x="25394" y="228543"/>
                  </a:cubicBezTo>
                  <a:close/>
                  <a:moveTo>
                    <a:pt x="126978" y="228543"/>
                  </a:moveTo>
                  <a:cubicBezTo>
                    <a:pt x="126892" y="251631"/>
                    <a:pt x="111242" y="271758"/>
                    <a:pt x="88887" y="277530"/>
                  </a:cubicBezTo>
                  <a:lnTo>
                    <a:pt x="88887" y="179556"/>
                  </a:lnTo>
                  <a:cubicBezTo>
                    <a:pt x="111233" y="185328"/>
                    <a:pt x="126883" y="205454"/>
                    <a:pt x="126978" y="228543"/>
                  </a:cubicBezTo>
                  <a:close/>
                  <a:moveTo>
                    <a:pt x="25394" y="101575"/>
                  </a:moveTo>
                  <a:cubicBezTo>
                    <a:pt x="25479" y="78486"/>
                    <a:pt x="41129" y="58360"/>
                    <a:pt x="63484" y="52588"/>
                  </a:cubicBezTo>
                  <a:lnTo>
                    <a:pt x="63484" y="150562"/>
                  </a:lnTo>
                  <a:cubicBezTo>
                    <a:pt x="41129" y="144780"/>
                    <a:pt x="25479" y="124663"/>
                    <a:pt x="25394" y="101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8F2B00E0-31BF-DC07-B865-ED616E2B01BD}"/>
              </a:ext>
            </a:extLst>
          </p:cNvPr>
          <p:cNvGrpSpPr/>
          <p:nvPr/>
        </p:nvGrpSpPr>
        <p:grpSpPr>
          <a:xfrm>
            <a:off x="8209222" y="3257056"/>
            <a:ext cx="755627" cy="775692"/>
            <a:chOff x="10719591" y="1333379"/>
            <a:chExt cx="645662" cy="662807"/>
          </a:xfrm>
          <a:solidFill>
            <a:srgbClr val="2767CF"/>
          </a:solidFill>
        </p:grpSpPr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5C081B72-E4A3-F576-0251-FF9C06DAB704}"/>
                </a:ext>
              </a:extLst>
            </p:cNvPr>
            <p:cNvSpPr/>
            <p:nvPr/>
          </p:nvSpPr>
          <p:spPr>
            <a:xfrm>
              <a:off x="10928764" y="1355956"/>
              <a:ext cx="42215" cy="17162"/>
            </a:xfrm>
            <a:custGeom>
              <a:avLst/>
              <a:gdLst>
                <a:gd name="csX0" fmla="*/ 3361 w 42215"/>
                <a:gd name="csY0" fmla="*/ 17162 h 17162"/>
                <a:gd name="csX1" fmla="*/ 4514 w 42215"/>
                <a:gd name="csY1" fmla="*/ 16976 h 17162"/>
                <a:gd name="csX2" fmla="*/ 39601 w 42215"/>
                <a:gd name="csY2" fmla="*/ 6670 h 17162"/>
                <a:gd name="csX3" fmla="*/ 42131 w 42215"/>
                <a:gd name="csY3" fmla="*/ 2614 h 17162"/>
                <a:gd name="csX4" fmla="*/ 38075 w 42215"/>
                <a:gd name="csY4" fmla="*/ 84 h 17162"/>
                <a:gd name="csX5" fmla="*/ 2245 w 42215"/>
                <a:gd name="csY5" fmla="*/ 10614 h 17162"/>
                <a:gd name="csX6" fmla="*/ 199 w 42215"/>
                <a:gd name="csY6" fmla="*/ 14930 h 17162"/>
                <a:gd name="csX7" fmla="*/ 3361 w 42215"/>
                <a:gd name="csY7" fmla="*/ 17163 h 17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2215" h="17162">
                  <a:moveTo>
                    <a:pt x="3361" y="17162"/>
                  </a:moveTo>
                  <a:cubicBezTo>
                    <a:pt x="3733" y="17162"/>
                    <a:pt x="4105" y="17088"/>
                    <a:pt x="4514" y="16976"/>
                  </a:cubicBezTo>
                  <a:cubicBezTo>
                    <a:pt x="15937" y="12883"/>
                    <a:pt x="27769" y="9423"/>
                    <a:pt x="39601" y="6670"/>
                  </a:cubicBezTo>
                  <a:cubicBezTo>
                    <a:pt x="41424" y="6224"/>
                    <a:pt x="42540" y="4438"/>
                    <a:pt x="42131" y="2614"/>
                  </a:cubicBezTo>
                  <a:cubicBezTo>
                    <a:pt x="41684" y="791"/>
                    <a:pt x="39898" y="-325"/>
                    <a:pt x="38075" y="84"/>
                  </a:cubicBezTo>
                  <a:cubicBezTo>
                    <a:pt x="25983" y="2912"/>
                    <a:pt x="13927" y="6410"/>
                    <a:pt x="2245" y="10614"/>
                  </a:cubicBezTo>
                  <a:cubicBezTo>
                    <a:pt x="496" y="11247"/>
                    <a:pt x="-434" y="13144"/>
                    <a:pt x="199" y="14930"/>
                  </a:cubicBezTo>
                  <a:cubicBezTo>
                    <a:pt x="682" y="16307"/>
                    <a:pt x="1947" y="17163"/>
                    <a:pt x="3361" y="17163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926E346A-6A71-4622-932E-BC432A590489}"/>
                </a:ext>
              </a:extLst>
            </p:cNvPr>
            <p:cNvSpPr/>
            <p:nvPr/>
          </p:nvSpPr>
          <p:spPr>
            <a:xfrm>
              <a:off x="10760816" y="1474064"/>
              <a:ext cx="27496" cy="37316"/>
            </a:xfrm>
            <a:custGeom>
              <a:avLst/>
              <a:gdLst>
                <a:gd name="csX0" fmla="*/ 1640 w 27496"/>
                <a:gd name="csY0" fmla="*/ 36833 h 37316"/>
                <a:gd name="csX1" fmla="*/ 3352 w 27496"/>
                <a:gd name="csY1" fmla="*/ 37317 h 37316"/>
                <a:gd name="csX2" fmla="*/ 6254 w 27496"/>
                <a:gd name="csY2" fmla="*/ 35680 h 37316"/>
                <a:gd name="csX3" fmla="*/ 26792 w 27496"/>
                <a:gd name="csY3" fmla="*/ 5430 h 37316"/>
                <a:gd name="csX4" fmla="*/ 26159 w 27496"/>
                <a:gd name="csY4" fmla="*/ 705 h 37316"/>
                <a:gd name="csX5" fmla="*/ 21434 w 27496"/>
                <a:gd name="csY5" fmla="*/ 1337 h 37316"/>
                <a:gd name="csX6" fmla="*/ 487 w 27496"/>
                <a:gd name="csY6" fmla="*/ 32257 h 37316"/>
                <a:gd name="csX7" fmla="*/ 1640 w 27496"/>
                <a:gd name="csY7" fmla="*/ 36833 h 373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7496" h="37316">
                  <a:moveTo>
                    <a:pt x="1640" y="36833"/>
                  </a:moveTo>
                  <a:cubicBezTo>
                    <a:pt x="2198" y="37168"/>
                    <a:pt x="2794" y="37317"/>
                    <a:pt x="3352" y="37317"/>
                  </a:cubicBezTo>
                  <a:cubicBezTo>
                    <a:pt x="4505" y="37317"/>
                    <a:pt x="5621" y="36721"/>
                    <a:pt x="6254" y="35680"/>
                  </a:cubicBezTo>
                  <a:cubicBezTo>
                    <a:pt x="12468" y="25261"/>
                    <a:pt x="19388" y="15067"/>
                    <a:pt x="26792" y="5430"/>
                  </a:cubicBezTo>
                  <a:cubicBezTo>
                    <a:pt x="27945" y="3942"/>
                    <a:pt x="27648" y="1821"/>
                    <a:pt x="26159" y="705"/>
                  </a:cubicBezTo>
                  <a:cubicBezTo>
                    <a:pt x="24671" y="-448"/>
                    <a:pt x="22550" y="-151"/>
                    <a:pt x="21434" y="1337"/>
                  </a:cubicBezTo>
                  <a:cubicBezTo>
                    <a:pt x="13881" y="11198"/>
                    <a:pt x="6849" y="21615"/>
                    <a:pt x="487" y="32257"/>
                  </a:cubicBezTo>
                  <a:cubicBezTo>
                    <a:pt x="-481" y="33782"/>
                    <a:pt x="40" y="35866"/>
                    <a:pt x="1640" y="36833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EF8A9C5B-9904-D439-BBC6-7CA7D33D19A5}"/>
                </a:ext>
              </a:extLst>
            </p:cNvPr>
            <p:cNvSpPr/>
            <p:nvPr/>
          </p:nvSpPr>
          <p:spPr>
            <a:xfrm>
              <a:off x="10862573" y="1380764"/>
              <a:ext cx="38872" cy="25053"/>
            </a:xfrm>
            <a:custGeom>
              <a:avLst/>
              <a:gdLst>
                <a:gd name="csX0" fmla="*/ 3401 w 38872"/>
                <a:gd name="csY0" fmla="*/ 25054 h 25053"/>
                <a:gd name="csX1" fmla="*/ 5224 w 38872"/>
                <a:gd name="csY1" fmla="*/ 24495 h 25053"/>
                <a:gd name="csX2" fmla="*/ 36999 w 38872"/>
                <a:gd name="csY2" fmla="*/ 6413 h 25053"/>
                <a:gd name="csX3" fmla="*/ 38524 w 38872"/>
                <a:gd name="csY3" fmla="*/ 1874 h 25053"/>
                <a:gd name="csX4" fmla="*/ 33985 w 38872"/>
                <a:gd name="csY4" fmla="*/ 348 h 25053"/>
                <a:gd name="csX5" fmla="*/ 1541 w 38872"/>
                <a:gd name="csY5" fmla="*/ 18803 h 25053"/>
                <a:gd name="csX6" fmla="*/ 536 w 38872"/>
                <a:gd name="csY6" fmla="*/ 23454 h 25053"/>
                <a:gd name="csX7" fmla="*/ 3401 w 38872"/>
                <a:gd name="csY7" fmla="*/ 25054 h 25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8872" h="25053">
                  <a:moveTo>
                    <a:pt x="3401" y="25054"/>
                  </a:moveTo>
                  <a:cubicBezTo>
                    <a:pt x="4034" y="25054"/>
                    <a:pt x="4666" y="24905"/>
                    <a:pt x="5224" y="24495"/>
                  </a:cubicBezTo>
                  <a:cubicBezTo>
                    <a:pt x="15456" y="17873"/>
                    <a:pt x="26135" y="11808"/>
                    <a:pt x="36999" y="6413"/>
                  </a:cubicBezTo>
                  <a:cubicBezTo>
                    <a:pt x="38673" y="5595"/>
                    <a:pt x="39343" y="3548"/>
                    <a:pt x="38524" y="1874"/>
                  </a:cubicBezTo>
                  <a:cubicBezTo>
                    <a:pt x="37706" y="200"/>
                    <a:pt x="35659" y="-470"/>
                    <a:pt x="33985" y="348"/>
                  </a:cubicBezTo>
                  <a:cubicBezTo>
                    <a:pt x="22860" y="5855"/>
                    <a:pt x="11958" y="12069"/>
                    <a:pt x="1541" y="18803"/>
                  </a:cubicBezTo>
                  <a:cubicBezTo>
                    <a:pt x="-22" y="19845"/>
                    <a:pt x="-468" y="21891"/>
                    <a:pt x="536" y="23454"/>
                  </a:cubicBezTo>
                  <a:cubicBezTo>
                    <a:pt x="1206" y="24496"/>
                    <a:pt x="2285" y="25054"/>
                    <a:pt x="3401" y="25054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A8A5DA42-4BB2-E9C0-3F37-6C5FFC2997F4}"/>
                </a:ext>
              </a:extLst>
            </p:cNvPr>
            <p:cNvSpPr/>
            <p:nvPr/>
          </p:nvSpPr>
          <p:spPr>
            <a:xfrm>
              <a:off x="10805637" y="1420900"/>
              <a:ext cx="33865" cy="31837"/>
            </a:xfrm>
            <a:custGeom>
              <a:avLst/>
              <a:gdLst>
                <a:gd name="csX0" fmla="*/ 3368 w 33865"/>
                <a:gd name="csY0" fmla="*/ 31838 h 31837"/>
                <a:gd name="csX1" fmla="*/ 5786 w 33865"/>
                <a:gd name="csY1" fmla="*/ 30796 h 31837"/>
                <a:gd name="csX2" fmla="*/ 32650 w 33865"/>
                <a:gd name="csY2" fmla="*/ 5941 h 31837"/>
                <a:gd name="csX3" fmla="*/ 33096 w 33865"/>
                <a:gd name="csY3" fmla="*/ 1216 h 31837"/>
                <a:gd name="csX4" fmla="*/ 28371 w 33865"/>
                <a:gd name="csY4" fmla="*/ 770 h 31837"/>
                <a:gd name="csX5" fmla="*/ 950 w 33865"/>
                <a:gd name="csY5" fmla="*/ 26145 h 31837"/>
                <a:gd name="csX6" fmla="*/ 1061 w 33865"/>
                <a:gd name="csY6" fmla="*/ 30908 h 31837"/>
                <a:gd name="csX7" fmla="*/ 3368 w 33865"/>
                <a:gd name="csY7" fmla="*/ 31838 h 31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865" h="31837">
                  <a:moveTo>
                    <a:pt x="3368" y="31838"/>
                  </a:moveTo>
                  <a:cubicBezTo>
                    <a:pt x="4261" y="31838"/>
                    <a:pt x="5117" y="31503"/>
                    <a:pt x="5786" y="30796"/>
                  </a:cubicBezTo>
                  <a:cubicBezTo>
                    <a:pt x="14232" y="22052"/>
                    <a:pt x="23273" y="13680"/>
                    <a:pt x="32650" y="5941"/>
                  </a:cubicBezTo>
                  <a:cubicBezTo>
                    <a:pt x="34064" y="4751"/>
                    <a:pt x="34287" y="2630"/>
                    <a:pt x="33096" y="1216"/>
                  </a:cubicBezTo>
                  <a:cubicBezTo>
                    <a:pt x="31906" y="-198"/>
                    <a:pt x="29785" y="-421"/>
                    <a:pt x="28371" y="770"/>
                  </a:cubicBezTo>
                  <a:cubicBezTo>
                    <a:pt x="18809" y="8657"/>
                    <a:pt x="9544" y="17215"/>
                    <a:pt x="950" y="26145"/>
                  </a:cubicBezTo>
                  <a:cubicBezTo>
                    <a:pt x="-353" y="27485"/>
                    <a:pt x="-315" y="29605"/>
                    <a:pt x="1061" y="30908"/>
                  </a:cubicBezTo>
                  <a:cubicBezTo>
                    <a:pt x="1694" y="31503"/>
                    <a:pt x="2512" y="31838"/>
                    <a:pt x="3368" y="31838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1374ECEE-D94D-D6BB-7D7F-EE87CFD5ED60}"/>
                </a:ext>
              </a:extLst>
            </p:cNvPr>
            <p:cNvSpPr/>
            <p:nvPr/>
          </p:nvSpPr>
          <p:spPr>
            <a:xfrm>
              <a:off x="10786278" y="1870438"/>
              <a:ext cx="31548" cy="34148"/>
            </a:xfrm>
            <a:custGeom>
              <a:avLst/>
              <a:gdLst>
                <a:gd name="csX0" fmla="*/ 5982 w 31548"/>
                <a:gd name="csY0" fmla="*/ 1257 h 34148"/>
                <a:gd name="csX1" fmla="*/ 1257 w 31548"/>
                <a:gd name="csY1" fmla="*/ 736 h 34148"/>
                <a:gd name="csX2" fmla="*/ 736 w 31548"/>
                <a:gd name="csY2" fmla="*/ 5461 h 34148"/>
                <a:gd name="csX3" fmla="*/ 25776 w 31548"/>
                <a:gd name="csY3" fmla="*/ 33181 h 34148"/>
                <a:gd name="csX4" fmla="*/ 28158 w 31548"/>
                <a:gd name="csY4" fmla="*/ 34148 h 34148"/>
                <a:gd name="csX5" fmla="*/ 30576 w 31548"/>
                <a:gd name="csY5" fmla="*/ 33144 h 34148"/>
                <a:gd name="csX6" fmla="*/ 30539 w 31548"/>
                <a:gd name="csY6" fmla="*/ 28381 h 34148"/>
                <a:gd name="csX7" fmla="*/ 5983 w 31548"/>
                <a:gd name="csY7" fmla="*/ 1257 h 341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1548" h="34148">
                  <a:moveTo>
                    <a:pt x="5982" y="1257"/>
                  </a:moveTo>
                  <a:cubicBezTo>
                    <a:pt x="4829" y="-194"/>
                    <a:pt x="2708" y="-417"/>
                    <a:pt x="1257" y="736"/>
                  </a:cubicBezTo>
                  <a:cubicBezTo>
                    <a:pt x="-194" y="1890"/>
                    <a:pt x="-417" y="4010"/>
                    <a:pt x="736" y="5461"/>
                  </a:cubicBezTo>
                  <a:cubicBezTo>
                    <a:pt x="8512" y="15135"/>
                    <a:pt x="16921" y="24474"/>
                    <a:pt x="25776" y="33181"/>
                  </a:cubicBezTo>
                  <a:cubicBezTo>
                    <a:pt x="26446" y="33814"/>
                    <a:pt x="27302" y="34148"/>
                    <a:pt x="28158" y="34148"/>
                  </a:cubicBezTo>
                  <a:cubicBezTo>
                    <a:pt x="29051" y="34148"/>
                    <a:pt x="29906" y="33814"/>
                    <a:pt x="30576" y="33144"/>
                  </a:cubicBezTo>
                  <a:cubicBezTo>
                    <a:pt x="31878" y="31804"/>
                    <a:pt x="31878" y="29684"/>
                    <a:pt x="30539" y="28381"/>
                  </a:cubicBezTo>
                  <a:cubicBezTo>
                    <a:pt x="21870" y="19861"/>
                    <a:pt x="13610" y="10745"/>
                    <a:pt x="5983" y="1257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5BE84168-1590-2F5F-C800-EBE27FF68BBE}"/>
                </a:ext>
              </a:extLst>
            </p:cNvPr>
            <p:cNvSpPr/>
            <p:nvPr/>
          </p:nvSpPr>
          <p:spPr>
            <a:xfrm>
              <a:off x="10971758" y="1984062"/>
              <a:ext cx="43283" cy="12124"/>
            </a:xfrm>
            <a:custGeom>
              <a:avLst/>
              <a:gdLst>
                <a:gd name="csX0" fmla="*/ 40253 w 43283"/>
                <a:gd name="csY0" fmla="*/ 5390 h 12124"/>
                <a:gd name="csX1" fmla="*/ 4051 w 43283"/>
                <a:gd name="csY1" fmla="*/ 70 h 12124"/>
                <a:gd name="csX2" fmla="*/ 70 w 43283"/>
                <a:gd name="csY2" fmla="*/ 2674 h 12124"/>
                <a:gd name="csX3" fmla="*/ 2674 w 43283"/>
                <a:gd name="csY3" fmla="*/ 6655 h 12124"/>
                <a:gd name="csX4" fmla="*/ 39621 w 43283"/>
                <a:gd name="csY4" fmla="*/ 12088 h 12124"/>
                <a:gd name="csX5" fmla="*/ 39918 w 43283"/>
                <a:gd name="csY5" fmla="*/ 12125 h 12124"/>
                <a:gd name="csX6" fmla="*/ 43267 w 43283"/>
                <a:gd name="csY6" fmla="*/ 9037 h 12124"/>
                <a:gd name="csX7" fmla="*/ 40253 w 43283"/>
                <a:gd name="csY7" fmla="*/ 5390 h 121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3283" h="12124">
                  <a:moveTo>
                    <a:pt x="40253" y="5390"/>
                  </a:moveTo>
                  <a:cubicBezTo>
                    <a:pt x="28124" y="4311"/>
                    <a:pt x="15957" y="2525"/>
                    <a:pt x="4051" y="70"/>
                  </a:cubicBezTo>
                  <a:cubicBezTo>
                    <a:pt x="2228" y="-302"/>
                    <a:pt x="442" y="851"/>
                    <a:pt x="70" y="2674"/>
                  </a:cubicBezTo>
                  <a:cubicBezTo>
                    <a:pt x="-302" y="4497"/>
                    <a:pt x="851" y="6283"/>
                    <a:pt x="2674" y="6655"/>
                  </a:cubicBezTo>
                  <a:cubicBezTo>
                    <a:pt x="14803" y="9148"/>
                    <a:pt x="27231" y="10971"/>
                    <a:pt x="39621" y="12088"/>
                  </a:cubicBezTo>
                  <a:cubicBezTo>
                    <a:pt x="39732" y="12088"/>
                    <a:pt x="39807" y="12125"/>
                    <a:pt x="39918" y="12125"/>
                  </a:cubicBezTo>
                  <a:cubicBezTo>
                    <a:pt x="41667" y="12125"/>
                    <a:pt x="43118" y="10823"/>
                    <a:pt x="43267" y="9037"/>
                  </a:cubicBezTo>
                  <a:cubicBezTo>
                    <a:pt x="43453" y="7213"/>
                    <a:pt x="42076" y="5576"/>
                    <a:pt x="40253" y="5390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6E924D2A-D467-8DF0-0881-299FA5AD0958}"/>
                </a:ext>
              </a:extLst>
            </p:cNvPr>
            <p:cNvSpPr/>
            <p:nvPr/>
          </p:nvSpPr>
          <p:spPr>
            <a:xfrm>
              <a:off x="10901676" y="1960937"/>
              <a:ext cx="41097" cy="20328"/>
            </a:xfrm>
            <a:custGeom>
              <a:avLst/>
              <a:gdLst>
                <a:gd name="csX0" fmla="*/ 38783 w 41097"/>
                <a:gd name="csY0" fmla="*/ 13780 h 20328"/>
                <a:gd name="csX1" fmla="*/ 4776 w 41097"/>
                <a:gd name="csY1" fmla="*/ 311 h 20328"/>
                <a:gd name="csX2" fmla="*/ 311 w 41097"/>
                <a:gd name="csY2" fmla="*/ 1948 h 20328"/>
                <a:gd name="csX3" fmla="*/ 1948 w 41097"/>
                <a:gd name="csY3" fmla="*/ 6413 h 20328"/>
                <a:gd name="csX4" fmla="*/ 36662 w 41097"/>
                <a:gd name="csY4" fmla="*/ 20179 h 20328"/>
                <a:gd name="csX5" fmla="*/ 37704 w 41097"/>
                <a:gd name="csY5" fmla="*/ 20328 h 20328"/>
                <a:gd name="csX6" fmla="*/ 40904 w 41097"/>
                <a:gd name="csY6" fmla="*/ 18021 h 20328"/>
                <a:gd name="csX7" fmla="*/ 38783 w 41097"/>
                <a:gd name="csY7" fmla="*/ 13780 h 20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1097" h="20328">
                  <a:moveTo>
                    <a:pt x="38783" y="13780"/>
                  </a:moveTo>
                  <a:cubicBezTo>
                    <a:pt x="27249" y="9985"/>
                    <a:pt x="15789" y="5409"/>
                    <a:pt x="4776" y="311"/>
                  </a:cubicBezTo>
                  <a:cubicBezTo>
                    <a:pt x="3102" y="-470"/>
                    <a:pt x="1092" y="274"/>
                    <a:pt x="311" y="1948"/>
                  </a:cubicBezTo>
                  <a:cubicBezTo>
                    <a:pt x="-470" y="3622"/>
                    <a:pt x="274" y="5632"/>
                    <a:pt x="1948" y="6413"/>
                  </a:cubicBezTo>
                  <a:cubicBezTo>
                    <a:pt x="13222" y="11659"/>
                    <a:pt x="24905" y="16273"/>
                    <a:pt x="36662" y="20179"/>
                  </a:cubicBezTo>
                  <a:cubicBezTo>
                    <a:pt x="37034" y="20291"/>
                    <a:pt x="37369" y="20328"/>
                    <a:pt x="37704" y="20328"/>
                  </a:cubicBezTo>
                  <a:cubicBezTo>
                    <a:pt x="39118" y="20328"/>
                    <a:pt x="40457" y="19435"/>
                    <a:pt x="40904" y="18021"/>
                  </a:cubicBezTo>
                  <a:cubicBezTo>
                    <a:pt x="41536" y="16273"/>
                    <a:pt x="40569" y="14375"/>
                    <a:pt x="38783" y="13780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AB89CE21-08C1-6686-96BD-4DC9068517C2}"/>
                </a:ext>
              </a:extLst>
            </p:cNvPr>
            <p:cNvSpPr/>
            <p:nvPr/>
          </p:nvSpPr>
          <p:spPr>
            <a:xfrm>
              <a:off x="10838760" y="1922319"/>
              <a:ext cx="37092" cy="27808"/>
            </a:xfrm>
            <a:custGeom>
              <a:avLst/>
              <a:gdLst>
                <a:gd name="csX0" fmla="*/ 35473 w 37092"/>
                <a:gd name="csY0" fmla="*/ 21595 h 27808"/>
                <a:gd name="csX1" fmla="*/ 5447 w 37092"/>
                <a:gd name="csY1" fmla="*/ 722 h 27808"/>
                <a:gd name="csX2" fmla="*/ 722 w 37092"/>
                <a:gd name="csY2" fmla="*/ 1280 h 27808"/>
                <a:gd name="csX3" fmla="*/ 1280 w 37092"/>
                <a:gd name="csY3" fmla="*/ 6005 h 27808"/>
                <a:gd name="csX4" fmla="*/ 31939 w 37092"/>
                <a:gd name="csY4" fmla="*/ 27325 h 27808"/>
                <a:gd name="csX5" fmla="*/ 33687 w 37092"/>
                <a:gd name="csY5" fmla="*/ 27809 h 27808"/>
                <a:gd name="csX6" fmla="*/ 36552 w 37092"/>
                <a:gd name="csY6" fmla="*/ 26171 h 27808"/>
                <a:gd name="csX7" fmla="*/ 35473 w 37092"/>
                <a:gd name="csY7" fmla="*/ 21595 h 27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7092" h="27808">
                  <a:moveTo>
                    <a:pt x="35473" y="21595"/>
                  </a:moveTo>
                  <a:cubicBezTo>
                    <a:pt x="25129" y="15232"/>
                    <a:pt x="15009" y="8201"/>
                    <a:pt x="5447" y="722"/>
                  </a:cubicBezTo>
                  <a:cubicBezTo>
                    <a:pt x="3959" y="-432"/>
                    <a:pt x="1838" y="-171"/>
                    <a:pt x="722" y="1280"/>
                  </a:cubicBezTo>
                  <a:cubicBezTo>
                    <a:pt x="-432" y="2768"/>
                    <a:pt x="-171" y="4889"/>
                    <a:pt x="1280" y="6005"/>
                  </a:cubicBezTo>
                  <a:cubicBezTo>
                    <a:pt x="11028" y="13670"/>
                    <a:pt x="21372" y="20851"/>
                    <a:pt x="31939" y="27325"/>
                  </a:cubicBezTo>
                  <a:cubicBezTo>
                    <a:pt x="32497" y="27660"/>
                    <a:pt x="33092" y="27809"/>
                    <a:pt x="33687" y="27809"/>
                  </a:cubicBezTo>
                  <a:cubicBezTo>
                    <a:pt x="34841" y="27809"/>
                    <a:pt x="35920" y="27250"/>
                    <a:pt x="36552" y="26171"/>
                  </a:cubicBezTo>
                  <a:cubicBezTo>
                    <a:pt x="37594" y="24646"/>
                    <a:pt x="37073" y="22562"/>
                    <a:pt x="35473" y="21595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21DD4359-42EA-1A48-448E-490BF6229517}"/>
                </a:ext>
              </a:extLst>
            </p:cNvPr>
            <p:cNvSpPr/>
            <p:nvPr/>
          </p:nvSpPr>
          <p:spPr>
            <a:xfrm>
              <a:off x="11351774" y="1603200"/>
              <a:ext cx="12221" cy="43352"/>
            </a:xfrm>
            <a:custGeom>
              <a:avLst/>
              <a:gdLst>
                <a:gd name="csX0" fmla="*/ 8862 w 12221"/>
                <a:gd name="csY0" fmla="*/ 43352 h 43352"/>
                <a:gd name="csX1" fmla="*/ 9159 w 12221"/>
                <a:gd name="csY1" fmla="*/ 43315 h 43352"/>
                <a:gd name="csX2" fmla="*/ 12210 w 12221"/>
                <a:gd name="csY2" fmla="*/ 39632 h 43352"/>
                <a:gd name="csX3" fmla="*/ 6704 w 12221"/>
                <a:gd name="csY3" fmla="*/ 2685 h 43352"/>
                <a:gd name="csX4" fmla="*/ 2685 w 12221"/>
                <a:gd name="csY4" fmla="*/ 81 h 43352"/>
                <a:gd name="csX5" fmla="*/ 81 w 12221"/>
                <a:gd name="csY5" fmla="*/ 4099 h 43352"/>
                <a:gd name="csX6" fmla="*/ 5476 w 12221"/>
                <a:gd name="csY6" fmla="*/ 40265 h 43352"/>
                <a:gd name="csX7" fmla="*/ 8862 w 12221"/>
                <a:gd name="csY7" fmla="*/ 43353 h 433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21" h="43352">
                  <a:moveTo>
                    <a:pt x="8862" y="43352"/>
                  </a:moveTo>
                  <a:cubicBezTo>
                    <a:pt x="8973" y="43352"/>
                    <a:pt x="9085" y="43352"/>
                    <a:pt x="9159" y="43315"/>
                  </a:cubicBezTo>
                  <a:cubicBezTo>
                    <a:pt x="11020" y="43166"/>
                    <a:pt x="12359" y="41492"/>
                    <a:pt x="12210" y="39632"/>
                  </a:cubicBezTo>
                  <a:cubicBezTo>
                    <a:pt x="11094" y="27242"/>
                    <a:pt x="9234" y="14814"/>
                    <a:pt x="6704" y="2685"/>
                  </a:cubicBezTo>
                  <a:cubicBezTo>
                    <a:pt x="6332" y="862"/>
                    <a:pt x="4546" y="-329"/>
                    <a:pt x="2685" y="81"/>
                  </a:cubicBezTo>
                  <a:cubicBezTo>
                    <a:pt x="862" y="453"/>
                    <a:pt x="-329" y="2239"/>
                    <a:pt x="81" y="4099"/>
                  </a:cubicBezTo>
                  <a:cubicBezTo>
                    <a:pt x="2574" y="15968"/>
                    <a:pt x="4359" y="28134"/>
                    <a:pt x="5476" y="40265"/>
                  </a:cubicBezTo>
                  <a:cubicBezTo>
                    <a:pt x="5662" y="42013"/>
                    <a:pt x="7150" y="43353"/>
                    <a:pt x="8862" y="43353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902F4FC6-2DCE-075C-88F0-CA1F35EC9BAB}"/>
                </a:ext>
              </a:extLst>
            </p:cNvPr>
            <p:cNvSpPr/>
            <p:nvPr/>
          </p:nvSpPr>
          <p:spPr>
            <a:xfrm>
              <a:off x="11328515" y="1533210"/>
              <a:ext cx="20449" cy="41052"/>
            </a:xfrm>
            <a:custGeom>
              <a:avLst/>
              <a:gdLst>
                <a:gd name="csX0" fmla="*/ 6413 w 20449"/>
                <a:gd name="csY0" fmla="*/ 1948 h 41052"/>
                <a:gd name="csX1" fmla="*/ 1948 w 20449"/>
                <a:gd name="csY1" fmla="*/ 311 h 41052"/>
                <a:gd name="csX2" fmla="*/ 311 w 20449"/>
                <a:gd name="csY2" fmla="*/ 4776 h 41052"/>
                <a:gd name="csX3" fmla="*/ 13855 w 20449"/>
                <a:gd name="csY3" fmla="*/ 38746 h 41052"/>
                <a:gd name="csX4" fmla="*/ 17054 w 20449"/>
                <a:gd name="csY4" fmla="*/ 41053 h 41052"/>
                <a:gd name="csX5" fmla="*/ 18133 w 20449"/>
                <a:gd name="csY5" fmla="*/ 40904 h 41052"/>
                <a:gd name="csX6" fmla="*/ 20291 w 20449"/>
                <a:gd name="csY6" fmla="*/ 36625 h 41052"/>
                <a:gd name="csX7" fmla="*/ 6413 w 20449"/>
                <a:gd name="csY7" fmla="*/ 1948 h 4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449" h="41052">
                  <a:moveTo>
                    <a:pt x="6413" y="1948"/>
                  </a:moveTo>
                  <a:cubicBezTo>
                    <a:pt x="5632" y="274"/>
                    <a:pt x="3622" y="-470"/>
                    <a:pt x="1948" y="311"/>
                  </a:cubicBezTo>
                  <a:cubicBezTo>
                    <a:pt x="274" y="1092"/>
                    <a:pt x="-470" y="3102"/>
                    <a:pt x="311" y="4776"/>
                  </a:cubicBezTo>
                  <a:cubicBezTo>
                    <a:pt x="5445" y="15789"/>
                    <a:pt x="10022" y="27249"/>
                    <a:pt x="13855" y="38746"/>
                  </a:cubicBezTo>
                  <a:cubicBezTo>
                    <a:pt x="14338" y="40160"/>
                    <a:pt x="15641" y="41053"/>
                    <a:pt x="17054" y="41053"/>
                  </a:cubicBezTo>
                  <a:cubicBezTo>
                    <a:pt x="17426" y="41053"/>
                    <a:pt x="17761" y="41015"/>
                    <a:pt x="18133" y="40904"/>
                  </a:cubicBezTo>
                  <a:cubicBezTo>
                    <a:pt x="19882" y="40308"/>
                    <a:pt x="20849" y="38411"/>
                    <a:pt x="20291" y="36625"/>
                  </a:cubicBezTo>
                  <a:cubicBezTo>
                    <a:pt x="16347" y="24867"/>
                    <a:pt x="11697" y="13222"/>
                    <a:pt x="6413" y="1948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자유형: 도형 79">
              <a:extLst>
                <a:ext uri="{FF2B5EF4-FFF2-40B4-BE49-F238E27FC236}">
                  <a16:creationId xmlns:a16="http://schemas.microsoft.com/office/drawing/2014/main" id="{C9094951-47FF-362B-F855-ED3251EFC450}"/>
                </a:ext>
              </a:extLst>
            </p:cNvPr>
            <p:cNvSpPr/>
            <p:nvPr/>
          </p:nvSpPr>
          <p:spPr>
            <a:xfrm>
              <a:off x="11355546" y="1676727"/>
              <a:ext cx="9707" cy="43569"/>
            </a:xfrm>
            <a:custGeom>
              <a:avLst/>
              <a:gdLst>
                <a:gd name="csX0" fmla="*/ 6433 w 9707"/>
                <a:gd name="csY0" fmla="*/ 1 h 43569"/>
                <a:gd name="csX1" fmla="*/ 2973 w 9707"/>
                <a:gd name="csY1" fmla="*/ 3275 h 43569"/>
                <a:gd name="csX2" fmla="*/ 33 w 9707"/>
                <a:gd name="csY2" fmla="*/ 39738 h 43569"/>
                <a:gd name="csX3" fmla="*/ 2898 w 9707"/>
                <a:gd name="csY3" fmla="*/ 43533 h 43569"/>
                <a:gd name="csX4" fmla="*/ 3382 w 9707"/>
                <a:gd name="csY4" fmla="*/ 43570 h 43569"/>
                <a:gd name="csX5" fmla="*/ 6730 w 9707"/>
                <a:gd name="csY5" fmla="*/ 40668 h 43569"/>
                <a:gd name="csX6" fmla="*/ 9707 w 9707"/>
                <a:gd name="csY6" fmla="*/ 3423 h 43569"/>
                <a:gd name="csX7" fmla="*/ 6433 w 9707"/>
                <a:gd name="csY7" fmla="*/ 0 h 435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707" h="43569">
                  <a:moveTo>
                    <a:pt x="6433" y="1"/>
                  </a:moveTo>
                  <a:cubicBezTo>
                    <a:pt x="4572" y="-36"/>
                    <a:pt x="3010" y="1415"/>
                    <a:pt x="2973" y="3275"/>
                  </a:cubicBezTo>
                  <a:cubicBezTo>
                    <a:pt x="2675" y="15478"/>
                    <a:pt x="1708" y="27720"/>
                    <a:pt x="33" y="39738"/>
                  </a:cubicBezTo>
                  <a:cubicBezTo>
                    <a:pt x="-227" y="41561"/>
                    <a:pt x="1075" y="43272"/>
                    <a:pt x="2898" y="43533"/>
                  </a:cubicBezTo>
                  <a:cubicBezTo>
                    <a:pt x="3047" y="43570"/>
                    <a:pt x="3196" y="43570"/>
                    <a:pt x="3382" y="43570"/>
                  </a:cubicBezTo>
                  <a:cubicBezTo>
                    <a:pt x="5056" y="43570"/>
                    <a:pt x="6470" y="42342"/>
                    <a:pt x="6730" y="40668"/>
                  </a:cubicBezTo>
                  <a:cubicBezTo>
                    <a:pt x="8405" y="28389"/>
                    <a:pt x="9409" y="15888"/>
                    <a:pt x="9707" y="3423"/>
                  </a:cubicBezTo>
                  <a:cubicBezTo>
                    <a:pt x="9744" y="1600"/>
                    <a:pt x="8293" y="74"/>
                    <a:pt x="6433" y="0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자유형: 도형 80">
              <a:extLst>
                <a:ext uri="{FF2B5EF4-FFF2-40B4-BE49-F238E27FC236}">
                  <a16:creationId xmlns:a16="http://schemas.microsoft.com/office/drawing/2014/main" id="{1EE37B58-452C-A53B-4EF4-1B74AE5A656F}"/>
                </a:ext>
              </a:extLst>
            </p:cNvPr>
            <p:cNvSpPr/>
            <p:nvPr/>
          </p:nvSpPr>
          <p:spPr>
            <a:xfrm>
              <a:off x="10719591" y="1529984"/>
              <a:ext cx="295340" cy="360904"/>
            </a:xfrm>
            <a:custGeom>
              <a:avLst/>
              <a:gdLst>
                <a:gd name="csX0" fmla="*/ 261902 w 295340"/>
                <a:gd name="csY0" fmla="*/ 359532 h 360904"/>
                <a:gd name="csX1" fmla="*/ 262497 w 295340"/>
                <a:gd name="csY1" fmla="*/ 356593 h 360904"/>
                <a:gd name="csX2" fmla="*/ 254275 w 295340"/>
                <a:gd name="csY2" fmla="*/ 325488 h 360904"/>
                <a:gd name="csX3" fmla="*/ 254312 w 295340"/>
                <a:gd name="csY3" fmla="*/ 197643 h 360904"/>
                <a:gd name="csX4" fmla="*/ 260972 w 295340"/>
                <a:gd name="csY4" fmla="*/ 172454 h 360904"/>
                <a:gd name="csX5" fmla="*/ 257847 w 295340"/>
                <a:gd name="csY5" fmla="*/ 202071 h 360904"/>
                <a:gd name="csX6" fmla="*/ 261642 w 295340"/>
                <a:gd name="csY6" fmla="*/ 209587 h 360904"/>
                <a:gd name="csX7" fmla="*/ 264804 w 295340"/>
                <a:gd name="csY7" fmla="*/ 210331 h 360904"/>
                <a:gd name="csX8" fmla="*/ 271167 w 295340"/>
                <a:gd name="csY8" fmla="*/ 206425 h 360904"/>
                <a:gd name="csX9" fmla="*/ 294049 w 295340"/>
                <a:gd name="csY9" fmla="*/ 160921 h 360904"/>
                <a:gd name="csX10" fmla="*/ 291295 w 295340"/>
                <a:gd name="csY10" fmla="*/ 146373 h 360904"/>
                <a:gd name="csX11" fmla="*/ 219374 w 295340"/>
                <a:gd name="csY11" fmla="*/ 81521 h 360904"/>
                <a:gd name="csX12" fmla="*/ 217551 w 295340"/>
                <a:gd name="csY12" fmla="*/ 80033 h 360904"/>
                <a:gd name="csX13" fmla="*/ 211226 w 295340"/>
                <a:gd name="csY13" fmla="*/ 77094 h 360904"/>
                <a:gd name="csX14" fmla="*/ 204640 w 295340"/>
                <a:gd name="csY14" fmla="*/ 72108 h 360904"/>
                <a:gd name="csX15" fmla="*/ 204677 w 295340"/>
                <a:gd name="csY15" fmla="*/ 71996 h 360904"/>
                <a:gd name="csX16" fmla="*/ 204677 w 295340"/>
                <a:gd name="csY16" fmla="*/ 44128 h 360904"/>
                <a:gd name="csX17" fmla="*/ 179116 w 295340"/>
                <a:gd name="csY17" fmla="*/ 18567 h 360904"/>
                <a:gd name="csX18" fmla="*/ 121482 w 295340"/>
                <a:gd name="csY18" fmla="*/ 18567 h 360904"/>
                <a:gd name="csX19" fmla="*/ 121110 w 295340"/>
                <a:gd name="csY19" fmla="*/ 18604 h 360904"/>
                <a:gd name="csX20" fmla="*/ 120589 w 295340"/>
                <a:gd name="csY20" fmla="*/ 17599 h 360904"/>
                <a:gd name="csX21" fmla="*/ 96181 w 295340"/>
                <a:gd name="csY21" fmla="*/ 2344 h 360904"/>
                <a:gd name="csX22" fmla="*/ 36910 w 295340"/>
                <a:gd name="csY22" fmla="*/ 2716 h 360904"/>
                <a:gd name="csX23" fmla="*/ 25227 w 295340"/>
                <a:gd name="csY23" fmla="*/ 0 h 360904"/>
                <a:gd name="csX24" fmla="*/ 7479 w 295340"/>
                <a:gd name="csY24" fmla="*/ 6846 h 360904"/>
                <a:gd name="csX25" fmla="*/ 0 w 295340"/>
                <a:gd name="csY25" fmla="*/ 23738 h 360904"/>
                <a:gd name="csX26" fmla="*/ 0 w 295340"/>
                <a:gd name="csY26" fmla="*/ 308859 h 360904"/>
                <a:gd name="csX27" fmla="*/ 3386 w 295340"/>
                <a:gd name="csY27" fmla="*/ 312245 h 360904"/>
                <a:gd name="csX28" fmla="*/ 6772 w 295340"/>
                <a:gd name="csY28" fmla="*/ 308859 h 360904"/>
                <a:gd name="csX29" fmla="*/ 6734 w 295340"/>
                <a:gd name="csY29" fmla="*/ 23700 h 360904"/>
                <a:gd name="csX30" fmla="*/ 12055 w 295340"/>
                <a:gd name="csY30" fmla="*/ 11756 h 360904"/>
                <a:gd name="csX31" fmla="*/ 25226 w 295340"/>
                <a:gd name="csY31" fmla="*/ 6696 h 360904"/>
                <a:gd name="csX32" fmla="*/ 43681 w 295340"/>
                <a:gd name="csY32" fmla="*/ 23662 h 360904"/>
                <a:gd name="csX33" fmla="*/ 43681 w 295340"/>
                <a:gd name="csY33" fmla="*/ 308669 h 360904"/>
                <a:gd name="csX34" fmla="*/ 47067 w 295340"/>
                <a:gd name="csY34" fmla="*/ 312018 h 360904"/>
                <a:gd name="csX35" fmla="*/ 50453 w 295340"/>
                <a:gd name="csY35" fmla="*/ 308632 h 360904"/>
                <a:gd name="csX36" fmla="*/ 50453 w 295340"/>
                <a:gd name="csY36" fmla="*/ 69611 h 360904"/>
                <a:gd name="csX37" fmla="*/ 54843 w 295340"/>
                <a:gd name="csY37" fmla="*/ 69611 h 360904"/>
                <a:gd name="csX38" fmla="*/ 96552 w 295340"/>
                <a:gd name="csY38" fmla="*/ 68867 h 360904"/>
                <a:gd name="csX39" fmla="*/ 99082 w 295340"/>
                <a:gd name="csY39" fmla="*/ 68830 h 360904"/>
                <a:gd name="csX40" fmla="*/ 122597 w 295340"/>
                <a:gd name="csY40" fmla="*/ 49073 h 360904"/>
                <a:gd name="csX41" fmla="*/ 172567 w 295340"/>
                <a:gd name="csY41" fmla="*/ 49073 h 360904"/>
                <a:gd name="csX42" fmla="*/ 174762 w 295340"/>
                <a:gd name="csY42" fmla="*/ 51269 h 360904"/>
                <a:gd name="csX43" fmla="*/ 174762 w 295340"/>
                <a:gd name="csY43" fmla="*/ 71398 h 360904"/>
                <a:gd name="csX44" fmla="*/ 174799 w 295340"/>
                <a:gd name="csY44" fmla="*/ 71993 h 360904"/>
                <a:gd name="csX45" fmla="*/ 167953 w 295340"/>
                <a:gd name="csY45" fmla="*/ 77128 h 360904"/>
                <a:gd name="csX46" fmla="*/ 161628 w 295340"/>
                <a:gd name="csY46" fmla="*/ 80067 h 360904"/>
                <a:gd name="csX47" fmla="*/ 159767 w 295340"/>
                <a:gd name="csY47" fmla="*/ 81555 h 360904"/>
                <a:gd name="csX48" fmla="*/ 87846 w 295340"/>
                <a:gd name="csY48" fmla="*/ 146407 h 360904"/>
                <a:gd name="csX49" fmla="*/ 84907 w 295340"/>
                <a:gd name="csY49" fmla="*/ 150500 h 360904"/>
                <a:gd name="csX50" fmla="*/ 85093 w 295340"/>
                <a:gd name="csY50" fmla="*/ 160956 h 360904"/>
                <a:gd name="csX51" fmla="*/ 85539 w 295340"/>
                <a:gd name="csY51" fmla="*/ 161849 h 360904"/>
                <a:gd name="csX52" fmla="*/ 108013 w 295340"/>
                <a:gd name="csY52" fmla="*/ 206460 h 360904"/>
                <a:gd name="csX53" fmla="*/ 114375 w 295340"/>
                <a:gd name="csY53" fmla="*/ 210367 h 360904"/>
                <a:gd name="csX54" fmla="*/ 117538 w 295340"/>
                <a:gd name="csY54" fmla="*/ 209622 h 360904"/>
                <a:gd name="csX55" fmla="*/ 121333 w 295340"/>
                <a:gd name="csY55" fmla="*/ 202107 h 360904"/>
                <a:gd name="csX56" fmla="*/ 118207 w 295340"/>
                <a:gd name="csY56" fmla="*/ 172490 h 360904"/>
                <a:gd name="csX57" fmla="*/ 124867 w 295340"/>
                <a:gd name="csY57" fmla="*/ 197716 h 360904"/>
                <a:gd name="csX58" fmla="*/ 116570 w 295340"/>
                <a:gd name="csY58" fmla="*/ 261042 h 360904"/>
                <a:gd name="csX59" fmla="*/ 124867 w 295340"/>
                <a:gd name="csY59" fmla="*/ 325595 h 360904"/>
                <a:gd name="csX60" fmla="*/ 116645 w 295340"/>
                <a:gd name="csY60" fmla="*/ 356663 h 360904"/>
                <a:gd name="csX61" fmla="*/ 117240 w 295340"/>
                <a:gd name="csY61" fmla="*/ 359602 h 360904"/>
                <a:gd name="csX62" fmla="*/ 119919 w 295340"/>
                <a:gd name="csY62" fmla="*/ 360905 h 360904"/>
                <a:gd name="csX63" fmla="*/ 259222 w 295340"/>
                <a:gd name="csY63" fmla="*/ 360905 h 360904"/>
                <a:gd name="csX64" fmla="*/ 261901 w 295340"/>
                <a:gd name="csY64" fmla="*/ 359528 h 360904"/>
                <a:gd name="csX65" fmla="*/ 131086 w 295340"/>
                <a:gd name="csY65" fmla="*/ 200512 h 360904"/>
                <a:gd name="csX66" fmla="*/ 248138 w 295340"/>
                <a:gd name="csY66" fmla="*/ 200512 h 360904"/>
                <a:gd name="csX67" fmla="*/ 247990 w 295340"/>
                <a:gd name="csY67" fmla="*/ 322889 h 360904"/>
                <a:gd name="csX68" fmla="*/ 131194 w 295340"/>
                <a:gd name="csY68" fmla="*/ 322889 h 360904"/>
                <a:gd name="csX69" fmla="*/ 131082 w 295340"/>
                <a:gd name="csY69" fmla="*/ 200512 h 360904"/>
                <a:gd name="csX70" fmla="*/ 254834 w 295340"/>
                <a:gd name="csY70" fmla="*/ 169296 h 360904"/>
                <a:gd name="csX71" fmla="*/ 248360 w 295340"/>
                <a:gd name="csY71" fmla="*/ 193815 h 360904"/>
                <a:gd name="csX72" fmla="*/ 130822 w 295340"/>
                <a:gd name="csY72" fmla="*/ 193815 h 360904"/>
                <a:gd name="csX73" fmla="*/ 124348 w 295340"/>
                <a:gd name="csY73" fmla="*/ 169296 h 360904"/>
                <a:gd name="csX74" fmla="*/ 130819 w 295340"/>
                <a:gd name="csY74" fmla="*/ 329620 h 360904"/>
                <a:gd name="csX75" fmla="*/ 248357 w 295340"/>
                <a:gd name="csY75" fmla="*/ 329620 h 360904"/>
                <a:gd name="csX76" fmla="*/ 254832 w 295340"/>
                <a:gd name="csY76" fmla="*/ 354140 h 360904"/>
                <a:gd name="csX77" fmla="*/ 124349 w 295340"/>
                <a:gd name="csY77" fmla="*/ 354140 h 360904"/>
                <a:gd name="csX78" fmla="*/ 114002 w 295340"/>
                <a:gd name="csY78" fmla="*/ 203414 h 360904"/>
                <a:gd name="csX79" fmla="*/ 91120 w 295340"/>
                <a:gd name="csY79" fmla="*/ 157910 h 360904"/>
                <a:gd name="csX80" fmla="*/ 92348 w 295340"/>
                <a:gd name="csY80" fmla="*/ 151399 h 360904"/>
                <a:gd name="csX81" fmla="*/ 160102 w 295340"/>
                <a:gd name="csY81" fmla="*/ 90305 h 360904"/>
                <a:gd name="csX82" fmla="*/ 158874 w 295340"/>
                <a:gd name="csY82" fmla="*/ 98863 h 360904"/>
                <a:gd name="csX83" fmla="*/ 165422 w 295340"/>
                <a:gd name="csY83" fmla="*/ 117764 h 360904"/>
                <a:gd name="csX84" fmla="*/ 111398 w 295340"/>
                <a:gd name="csY84" fmla="*/ 155827 h 360904"/>
                <a:gd name="csX85" fmla="*/ 109984 w 295340"/>
                <a:gd name="csY85" fmla="*/ 158952 h 360904"/>
                <a:gd name="csX86" fmla="*/ 114635 w 295340"/>
                <a:gd name="csY86" fmla="*/ 202931 h 360904"/>
                <a:gd name="csX87" fmla="*/ 114672 w 295340"/>
                <a:gd name="csY87" fmla="*/ 203191 h 360904"/>
                <a:gd name="csX88" fmla="*/ 114486 w 295340"/>
                <a:gd name="csY88" fmla="*/ 203564 h 360904"/>
                <a:gd name="csX89" fmla="*/ 114002 w 295340"/>
                <a:gd name="csY89" fmla="*/ 203415 h 360904"/>
                <a:gd name="csX90" fmla="*/ 189569 w 295340"/>
                <a:gd name="csY90" fmla="*/ 68169 h 360904"/>
                <a:gd name="csX91" fmla="*/ 187411 w 295340"/>
                <a:gd name="csY91" fmla="*/ 68280 h 360904"/>
                <a:gd name="csX92" fmla="*/ 181421 w 295340"/>
                <a:gd name="csY92" fmla="*/ 68132 h 360904"/>
                <a:gd name="csX93" fmla="*/ 181421 w 295340"/>
                <a:gd name="csY93" fmla="*/ 51277 h 360904"/>
                <a:gd name="csX94" fmla="*/ 172491 w 295340"/>
                <a:gd name="csY94" fmla="*/ 42347 h 360904"/>
                <a:gd name="csX95" fmla="*/ 124457 w 295340"/>
                <a:gd name="csY95" fmla="*/ 42347 h 360904"/>
                <a:gd name="csX96" fmla="*/ 125126 w 295340"/>
                <a:gd name="csY96" fmla="*/ 35427 h 360904"/>
                <a:gd name="csX97" fmla="*/ 123712 w 295340"/>
                <a:gd name="csY97" fmla="*/ 25344 h 360904"/>
                <a:gd name="csX98" fmla="*/ 179039 w 295340"/>
                <a:gd name="csY98" fmla="*/ 25344 h 360904"/>
                <a:gd name="csX99" fmla="*/ 197866 w 295340"/>
                <a:gd name="csY99" fmla="*/ 44171 h 360904"/>
                <a:gd name="csX100" fmla="*/ 197866 w 295340"/>
                <a:gd name="csY100" fmla="*/ 68542 h 360904"/>
                <a:gd name="csX101" fmla="*/ 193364 w 295340"/>
                <a:gd name="csY101" fmla="*/ 68430 h 360904"/>
                <a:gd name="csX102" fmla="*/ 189569 w 295340"/>
                <a:gd name="csY102" fmla="*/ 68169 h 360904"/>
                <a:gd name="csX103" fmla="*/ 45246 w 295340"/>
                <a:gd name="csY103" fmla="*/ 9419 h 360904"/>
                <a:gd name="csX104" fmla="*/ 96146 w 295340"/>
                <a:gd name="csY104" fmla="*/ 9121 h 360904"/>
                <a:gd name="csX105" fmla="*/ 118396 w 295340"/>
                <a:gd name="csY105" fmla="*/ 35426 h 360904"/>
                <a:gd name="csX106" fmla="*/ 98862 w 295340"/>
                <a:gd name="csY106" fmla="*/ 62104 h 360904"/>
                <a:gd name="csX107" fmla="*/ 54697 w 295340"/>
                <a:gd name="csY107" fmla="*/ 62848 h 360904"/>
                <a:gd name="csX108" fmla="*/ 50381 w 295340"/>
                <a:gd name="csY108" fmla="*/ 62848 h 360904"/>
                <a:gd name="csX109" fmla="*/ 50381 w 295340"/>
                <a:gd name="csY109" fmla="*/ 23706 h 360904"/>
                <a:gd name="csX110" fmla="*/ 45247 w 295340"/>
                <a:gd name="csY110" fmla="*/ 9418 h 360904"/>
                <a:gd name="csX111" fmla="*/ 288020 w 295340"/>
                <a:gd name="csY111" fmla="*/ 157913 h 360904"/>
                <a:gd name="csX112" fmla="*/ 265138 w 295340"/>
                <a:gd name="csY112" fmla="*/ 203417 h 360904"/>
                <a:gd name="csX113" fmla="*/ 264654 w 295340"/>
                <a:gd name="csY113" fmla="*/ 203566 h 360904"/>
                <a:gd name="csX114" fmla="*/ 264468 w 295340"/>
                <a:gd name="csY114" fmla="*/ 203194 h 360904"/>
                <a:gd name="csX115" fmla="*/ 264505 w 295340"/>
                <a:gd name="csY115" fmla="*/ 202933 h 360904"/>
                <a:gd name="csX116" fmla="*/ 269156 w 295340"/>
                <a:gd name="csY116" fmla="*/ 158955 h 360904"/>
                <a:gd name="csX117" fmla="*/ 267742 w 295340"/>
                <a:gd name="csY117" fmla="*/ 155829 h 360904"/>
                <a:gd name="csX118" fmla="*/ 213754 w 295340"/>
                <a:gd name="csY118" fmla="*/ 117766 h 360904"/>
                <a:gd name="csX119" fmla="*/ 220303 w 295340"/>
                <a:gd name="csY119" fmla="*/ 98865 h 360904"/>
                <a:gd name="csX120" fmla="*/ 219075 w 295340"/>
                <a:gd name="csY120" fmla="*/ 90307 h 360904"/>
                <a:gd name="csX121" fmla="*/ 286829 w 295340"/>
                <a:gd name="csY121" fmla="*/ 151402 h 360904"/>
                <a:gd name="csX122" fmla="*/ 288020 w 295340"/>
                <a:gd name="csY122" fmla="*/ 157913 h 360904"/>
                <a:gd name="csX123" fmla="*/ 189569 w 295340"/>
                <a:gd name="csY123" fmla="*/ 122827 h 360904"/>
                <a:gd name="csX124" fmla="*/ 165608 w 295340"/>
                <a:gd name="csY124" fmla="*/ 98866 h 360904"/>
                <a:gd name="csX125" fmla="*/ 189569 w 295340"/>
                <a:gd name="csY125" fmla="*/ 74905 h 360904"/>
                <a:gd name="csX126" fmla="*/ 213530 w 295340"/>
                <a:gd name="csY126" fmla="*/ 98866 h 360904"/>
                <a:gd name="csX127" fmla="*/ 189569 w 295340"/>
                <a:gd name="csY127" fmla="*/ 122827 h 360904"/>
                <a:gd name="csX128" fmla="*/ 116904 w 295340"/>
                <a:gd name="csY128" fmla="*/ 160220 h 360904"/>
                <a:gd name="csX129" fmla="*/ 170222 w 295340"/>
                <a:gd name="csY129" fmla="*/ 122641 h 360904"/>
                <a:gd name="csX130" fmla="*/ 189607 w 295340"/>
                <a:gd name="csY130" fmla="*/ 129562 h 360904"/>
                <a:gd name="csX131" fmla="*/ 208993 w 295340"/>
                <a:gd name="csY131" fmla="*/ 122641 h 360904"/>
                <a:gd name="csX132" fmla="*/ 262311 w 295340"/>
                <a:gd name="csY132" fmla="*/ 160220 h 360904"/>
                <a:gd name="csX133" fmla="*/ 261939 w 295340"/>
                <a:gd name="csY133" fmla="*/ 163829 h 360904"/>
                <a:gd name="csX134" fmla="*/ 259260 w 295340"/>
                <a:gd name="csY134" fmla="*/ 162527 h 360904"/>
                <a:gd name="csX135" fmla="*/ 119995 w 295340"/>
                <a:gd name="csY135" fmla="*/ 162527 h 360904"/>
                <a:gd name="csX136" fmla="*/ 117316 w 295340"/>
                <a:gd name="csY136" fmla="*/ 163829 h 36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</a:cxnLst>
              <a:rect l="l" t="t" r="r" b="b"/>
              <a:pathLst>
                <a:path w="295340" h="360904">
                  <a:moveTo>
                    <a:pt x="261902" y="359532"/>
                  </a:moveTo>
                  <a:cubicBezTo>
                    <a:pt x="262535" y="358713"/>
                    <a:pt x="262758" y="357634"/>
                    <a:pt x="262497" y="356593"/>
                  </a:cubicBezTo>
                  <a:lnTo>
                    <a:pt x="254275" y="325488"/>
                  </a:lnTo>
                  <a:cubicBezTo>
                    <a:pt x="265437" y="277044"/>
                    <a:pt x="265437" y="235186"/>
                    <a:pt x="254312" y="197643"/>
                  </a:cubicBezTo>
                  <a:lnTo>
                    <a:pt x="260972" y="172454"/>
                  </a:lnTo>
                  <a:lnTo>
                    <a:pt x="257847" y="202071"/>
                  </a:lnTo>
                  <a:cubicBezTo>
                    <a:pt x="257363" y="205122"/>
                    <a:pt x="258888" y="208173"/>
                    <a:pt x="261642" y="209587"/>
                  </a:cubicBezTo>
                  <a:cubicBezTo>
                    <a:pt x="262684" y="210108"/>
                    <a:pt x="263725" y="210331"/>
                    <a:pt x="264804" y="210331"/>
                  </a:cubicBezTo>
                  <a:cubicBezTo>
                    <a:pt x="267409" y="210331"/>
                    <a:pt x="269939" y="208917"/>
                    <a:pt x="271167" y="206425"/>
                  </a:cubicBezTo>
                  <a:lnTo>
                    <a:pt x="294049" y="160921"/>
                  </a:lnTo>
                  <a:cubicBezTo>
                    <a:pt x="296504" y="156009"/>
                    <a:pt x="295388" y="150057"/>
                    <a:pt x="291295" y="146373"/>
                  </a:cubicBezTo>
                  <a:lnTo>
                    <a:pt x="219374" y="81521"/>
                  </a:lnTo>
                  <a:cubicBezTo>
                    <a:pt x="218816" y="81038"/>
                    <a:pt x="218146" y="80479"/>
                    <a:pt x="217551" y="80033"/>
                  </a:cubicBezTo>
                  <a:cubicBezTo>
                    <a:pt x="215579" y="78656"/>
                    <a:pt x="213458" y="77689"/>
                    <a:pt x="211226" y="77094"/>
                  </a:cubicBezTo>
                  <a:cubicBezTo>
                    <a:pt x="209291" y="75159"/>
                    <a:pt x="207021" y="73485"/>
                    <a:pt x="204640" y="72108"/>
                  </a:cubicBezTo>
                  <a:cubicBezTo>
                    <a:pt x="204640" y="72071"/>
                    <a:pt x="204677" y="71996"/>
                    <a:pt x="204677" y="71996"/>
                  </a:cubicBezTo>
                  <a:lnTo>
                    <a:pt x="204677" y="44128"/>
                  </a:lnTo>
                  <a:cubicBezTo>
                    <a:pt x="204677" y="30026"/>
                    <a:pt x="193218" y="18567"/>
                    <a:pt x="179116" y="18567"/>
                  </a:cubicBezTo>
                  <a:lnTo>
                    <a:pt x="121482" y="18567"/>
                  </a:lnTo>
                  <a:cubicBezTo>
                    <a:pt x="121370" y="18567"/>
                    <a:pt x="121259" y="18604"/>
                    <a:pt x="121110" y="18604"/>
                  </a:cubicBezTo>
                  <a:cubicBezTo>
                    <a:pt x="120961" y="18269"/>
                    <a:pt x="120738" y="17934"/>
                    <a:pt x="120589" y="17599"/>
                  </a:cubicBezTo>
                  <a:cubicBezTo>
                    <a:pt x="115417" y="8446"/>
                    <a:pt x="106413" y="2344"/>
                    <a:pt x="96181" y="2344"/>
                  </a:cubicBezTo>
                  <a:lnTo>
                    <a:pt x="36910" y="2716"/>
                  </a:lnTo>
                  <a:cubicBezTo>
                    <a:pt x="33412" y="967"/>
                    <a:pt x="29469" y="0"/>
                    <a:pt x="25227" y="0"/>
                  </a:cubicBezTo>
                  <a:cubicBezTo>
                    <a:pt x="18604" y="37"/>
                    <a:pt x="12241" y="2418"/>
                    <a:pt x="7479" y="6846"/>
                  </a:cubicBezTo>
                  <a:cubicBezTo>
                    <a:pt x="2642" y="11348"/>
                    <a:pt x="0" y="17339"/>
                    <a:pt x="0" y="23738"/>
                  </a:cubicBezTo>
                  <a:lnTo>
                    <a:pt x="0" y="308859"/>
                  </a:lnTo>
                  <a:cubicBezTo>
                    <a:pt x="0" y="310719"/>
                    <a:pt x="1488" y="312245"/>
                    <a:pt x="3386" y="312245"/>
                  </a:cubicBezTo>
                  <a:cubicBezTo>
                    <a:pt x="5246" y="312245"/>
                    <a:pt x="6772" y="310757"/>
                    <a:pt x="6772" y="308859"/>
                  </a:cubicBezTo>
                  <a:lnTo>
                    <a:pt x="6734" y="23700"/>
                  </a:lnTo>
                  <a:cubicBezTo>
                    <a:pt x="6734" y="19198"/>
                    <a:pt x="8632" y="14956"/>
                    <a:pt x="12055" y="11756"/>
                  </a:cubicBezTo>
                  <a:cubicBezTo>
                    <a:pt x="15553" y="8482"/>
                    <a:pt x="20166" y="6733"/>
                    <a:pt x="25226" y="6696"/>
                  </a:cubicBezTo>
                  <a:cubicBezTo>
                    <a:pt x="35384" y="6696"/>
                    <a:pt x="43681" y="14324"/>
                    <a:pt x="43681" y="23662"/>
                  </a:cubicBezTo>
                  <a:lnTo>
                    <a:pt x="43681" y="308669"/>
                  </a:lnTo>
                  <a:cubicBezTo>
                    <a:pt x="43681" y="310529"/>
                    <a:pt x="45206" y="312018"/>
                    <a:pt x="47067" y="312018"/>
                  </a:cubicBezTo>
                  <a:cubicBezTo>
                    <a:pt x="48927" y="312018"/>
                    <a:pt x="50453" y="310529"/>
                    <a:pt x="50453" y="308632"/>
                  </a:cubicBezTo>
                  <a:lnTo>
                    <a:pt x="50453" y="69611"/>
                  </a:lnTo>
                  <a:lnTo>
                    <a:pt x="54843" y="69611"/>
                  </a:lnTo>
                  <a:lnTo>
                    <a:pt x="96552" y="68867"/>
                  </a:lnTo>
                  <a:lnTo>
                    <a:pt x="99082" y="68830"/>
                  </a:lnTo>
                  <a:cubicBezTo>
                    <a:pt x="109165" y="68532"/>
                    <a:pt x="118318" y="60198"/>
                    <a:pt x="122597" y="49073"/>
                  </a:cubicBezTo>
                  <a:lnTo>
                    <a:pt x="172567" y="49073"/>
                  </a:lnTo>
                  <a:cubicBezTo>
                    <a:pt x="173794" y="49073"/>
                    <a:pt x="174762" y="50041"/>
                    <a:pt x="174762" y="51269"/>
                  </a:cubicBezTo>
                  <a:lnTo>
                    <a:pt x="174762" y="71398"/>
                  </a:lnTo>
                  <a:cubicBezTo>
                    <a:pt x="174762" y="71584"/>
                    <a:pt x="174799" y="71807"/>
                    <a:pt x="174799" y="71993"/>
                  </a:cubicBezTo>
                  <a:cubicBezTo>
                    <a:pt x="172269" y="73407"/>
                    <a:pt x="169962" y="75118"/>
                    <a:pt x="167953" y="77128"/>
                  </a:cubicBezTo>
                  <a:cubicBezTo>
                    <a:pt x="165758" y="77723"/>
                    <a:pt x="163637" y="78690"/>
                    <a:pt x="161628" y="80067"/>
                  </a:cubicBezTo>
                  <a:cubicBezTo>
                    <a:pt x="160995" y="80513"/>
                    <a:pt x="160325" y="81034"/>
                    <a:pt x="159767" y="81555"/>
                  </a:cubicBezTo>
                  <a:lnTo>
                    <a:pt x="87846" y="146407"/>
                  </a:lnTo>
                  <a:cubicBezTo>
                    <a:pt x="86544" y="147561"/>
                    <a:pt x="85614" y="148974"/>
                    <a:pt x="84907" y="150500"/>
                  </a:cubicBezTo>
                  <a:cubicBezTo>
                    <a:pt x="83456" y="153774"/>
                    <a:pt x="83418" y="157606"/>
                    <a:pt x="85093" y="160956"/>
                  </a:cubicBezTo>
                  <a:lnTo>
                    <a:pt x="85539" y="161849"/>
                  </a:lnTo>
                  <a:lnTo>
                    <a:pt x="108013" y="206460"/>
                  </a:lnTo>
                  <a:cubicBezTo>
                    <a:pt x="109240" y="208953"/>
                    <a:pt x="111770" y="210367"/>
                    <a:pt x="114375" y="210367"/>
                  </a:cubicBezTo>
                  <a:cubicBezTo>
                    <a:pt x="115454" y="210367"/>
                    <a:pt x="116533" y="210143"/>
                    <a:pt x="117538" y="209622"/>
                  </a:cubicBezTo>
                  <a:cubicBezTo>
                    <a:pt x="120291" y="208246"/>
                    <a:pt x="121853" y="205158"/>
                    <a:pt x="121333" y="202107"/>
                  </a:cubicBezTo>
                  <a:lnTo>
                    <a:pt x="118207" y="172490"/>
                  </a:lnTo>
                  <a:lnTo>
                    <a:pt x="124867" y="197716"/>
                  </a:lnTo>
                  <a:cubicBezTo>
                    <a:pt x="119212" y="218216"/>
                    <a:pt x="116421" y="239202"/>
                    <a:pt x="116570" y="261042"/>
                  </a:cubicBezTo>
                  <a:cubicBezTo>
                    <a:pt x="116719" y="281729"/>
                    <a:pt x="119472" y="303160"/>
                    <a:pt x="124867" y="325595"/>
                  </a:cubicBezTo>
                  <a:lnTo>
                    <a:pt x="116645" y="356663"/>
                  </a:lnTo>
                  <a:cubicBezTo>
                    <a:pt x="116384" y="357668"/>
                    <a:pt x="116607" y="358747"/>
                    <a:pt x="117240" y="359602"/>
                  </a:cubicBezTo>
                  <a:cubicBezTo>
                    <a:pt x="117872" y="360421"/>
                    <a:pt x="118877" y="360905"/>
                    <a:pt x="119919" y="360905"/>
                  </a:cubicBezTo>
                  <a:lnTo>
                    <a:pt x="259222" y="360905"/>
                  </a:lnTo>
                  <a:cubicBezTo>
                    <a:pt x="260264" y="360867"/>
                    <a:pt x="261268" y="360384"/>
                    <a:pt x="261901" y="359528"/>
                  </a:cubicBezTo>
                  <a:close/>
                  <a:moveTo>
                    <a:pt x="131086" y="200512"/>
                  </a:moveTo>
                  <a:lnTo>
                    <a:pt x="248138" y="200512"/>
                  </a:lnTo>
                  <a:cubicBezTo>
                    <a:pt x="258557" y="236379"/>
                    <a:pt x="258482" y="276489"/>
                    <a:pt x="247990" y="322889"/>
                  </a:cubicBezTo>
                  <a:lnTo>
                    <a:pt x="131194" y="322889"/>
                  </a:lnTo>
                  <a:cubicBezTo>
                    <a:pt x="120738" y="278762"/>
                    <a:pt x="120701" y="238690"/>
                    <a:pt x="131082" y="200512"/>
                  </a:cubicBezTo>
                  <a:close/>
                  <a:moveTo>
                    <a:pt x="254834" y="169296"/>
                  </a:moveTo>
                  <a:lnTo>
                    <a:pt x="248360" y="193815"/>
                  </a:lnTo>
                  <a:lnTo>
                    <a:pt x="130822" y="193815"/>
                  </a:lnTo>
                  <a:lnTo>
                    <a:pt x="124348" y="169296"/>
                  </a:lnTo>
                  <a:close/>
                  <a:moveTo>
                    <a:pt x="130819" y="329620"/>
                  </a:moveTo>
                  <a:lnTo>
                    <a:pt x="248357" y="329620"/>
                  </a:lnTo>
                  <a:lnTo>
                    <a:pt x="254832" y="354140"/>
                  </a:lnTo>
                  <a:lnTo>
                    <a:pt x="124349" y="354140"/>
                  </a:lnTo>
                  <a:close/>
                  <a:moveTo>
                    <a:pt x="114002" y="203414"/>
                  </a:moveTo>
                  <a:lnTo>
                    <a:pt x="91120" y="157910"/>
                  </a:lnTo>
                  <a:cubicBezTo>
                    <a:pt x="90041" y="155715"/>
                    <a:pt x="90524" y="153036"/>
                    <a:pt x="92348" y="151399"/>
                  </a:cubicBezTo>
                  <a:lnTo>
                    <a:pt x="160102" y="90305"/>
                  </a:lnTo>
                  <a:cubicBezTo>
                    <a:pt x="159320" y="93021"/>
                    <a:pt x="158874" y="95886"/>
                    <a:pt x="158874" y="98863"/>
                  </a:cubicBezTo>
                  <a:cubicBezTo>
                    <a:pt x="158874" y="105969"/>
                    <a:pt x="161330" y="112555"/>
                    <a:pt x="165422" y="117764"/>
                  </a:cubicBezTo>
                  <a:lnTo>
                    <a:pt x="111398" y="155827"/>
                  </a:lnTo>
                  <a:cubicBezTo>
                    <a:pt x="110393" y="156534"/>
                    <a:pt x="109835" y="157724"/>
                    <a:pt x="109984" y="158952"/>
                  </a:cubicBezTo>
                  <a:lnTo>
                    <a:pt x="114635" y="202931"/>
                  </a:lnTo>
                  <a:cubicBezTo>
                    <a:pt x="114635" y="203043"/>
                    <a:pt x="114672" y="203080"/>
                    <a:pt x="114672" y="203191"/>
                  </a:cubicBezTo>
                  <a:cubicBezTo>
                    <a:pt x="114709" y="203303"/>
                    <a:pt x="114635" y="203489"/>
                    <a:pt x="114486" y="203564"/>
                  </a:cubicBezTo>
                  <a:cubicBezTo>
                    <a:pt x="114337" y="203675"/>
                    <a:pt x="114114" y="203601"/>
                    <a:pt x="114002" y="203415"/>
                  </a:cubicBezTo>
                  <a:close/>
                  <a:moveTo>
                    <a:pt x="189569" y="68169"/>
                  </a:moveTo>
                  <a:cubicBezTo>
                    <a:pt x="188862" y="68169"/>
                    <a:pt x="188155" y="68206"/>
                    <a:pt x="187411" y="68280"/>
                  </a:cubicBezTo>
                  <a:lnTo>
                    <a:pt x="181421" y="68132"/>
                  </a:lnTo>
                  <a:lnTo>
                    <a:pt x="181421" y="51277"/>
                  </a:lnTo>
                  <a:cubicBezTo>
                    <a:pt x="181421" y="46366"/>
                    <a:pt x="177402" y="42347"/>
                    <a:pt x="172491" y="42347"/>
                  </a:cubicBezTo>
                  <a:lnTo>
                    <a:pt x="124457" y="42347"/>
                  </a:lnTo>
                  <a:cubicBezTo>
                    <a:pt x="124903" y="40115"/>
                    <a:pt x="125126" y="37808"/>
                    <a:pt x="125126" y="35427"/>
                  </a:cubicBezTo>
                  <a:cubicBezTo>
                    <a:pt x="125126" y="31892"/>
                    <a:pt x="124643" y="28506"/>
                    <a:pt x="123712" y="25344"/>
                  </a:cubicBezTo>
                  <a:lnTo>
                    <a:pt x="179039" y="25344"/>
                  </a:lnTo>
                  <a:cubicBezTo>
                    <a:pt x="189420" y="25344"/>
                    <a:pt x="197866" y="33790"/>
                    <a:pt x="197866" y="44171"/>
                  </a:cubicBezTo>
                  <a:lnTo>
                    <a:pt x="197866" y="68542"/>
                  </a:lnTo>
                  <a:lnTo>
                    <a:pt x="193364" y="68430"/>
                  </a:lnTo>
                  <a:cubicBezTo>
                    <a:pt x="192136" y="68281"/>
                    <a:pt x="190871" y="68169"/>
                    <a:pt x="189569" y="68169"/>
                  </a:cubicBezTo>
                  <a:close/>
                  <a:moveTo>
                    <a:pt x="45246" y="9419"/>
                  </a:moveTo>
                  <a:lnTo>
                    <a:pt x="96146" y="9121"/>
                  </a:lnTo>
                  <a:cubicBezTo>
                    <a:pt x="108425" y="9121"/>
                    <a:pt x="118396" y="20916"/>
                    <a:pt x="118396" y="35426"/>
                  </a:cubicBezTo>
                  <a:cubicBezTo>
                    <a:pt x="118396" y="50346"/>
                    <a:pt x="108052" y="61806"/>
                    <a:pt x="98862" y="62104"/>
                  </a:cubicBezTo>
                  <a:lnTo>
                    <a:pt x="54697" y="62848"/>
                  </a:lnTo>
                  <a:lnTo>
                    <a:pt x="50381" y="62848"/>
                  </a:lnTo>
                  <a:lnTo>
                    <a:pt x="50381" y="23706"/>
                  </a:lnTo>
                  <a:cubicBezTo>
                    <a:pt x="50381" y="18348"/>
                    <a:pt x="48484" y="13400"/>
                    <a:pt x="45247" y="9418"/>
                  </a:cubicBezTo>
                  <a:close/>
                  <a:moveTo>
                    <a:pt x="288020" y="157913"/>
                  </a:moveTo>
                  <a:lnTo>
                    <a:pt x="265138" y="203417"/>
                  </a:lnTo>
                  <a:cubicBezTo>
                    <a:pt x="265026" y="203566"/>
                    <a:pt x="264840" y="203640"/>
                    <a:pt x="264654" y="203566"/>
                  </a:cubicBezTo>
                  <a:cubicBezTo>
                    <a:pt x="264505" y="203454"/>
                    <a:pt x="264431" y="203268"/>
                    <a:pt x="264468" y="203194"/>
                  </a:cubicBezTo>
                  <a:cubicBezTo>
                    <a:pt x="264505" y="203082"/>
                    <a:pt x="264505" y="203045"/>
                    <a:pt x="264505" y="202933"/>
                  </a:cubicBezTo>
                  <a:lnTo>
                    <a:pt x="269156" y="158955"/>
                  </a:lnTo>
                  <a:cubicBezTo>
                    <a:pt x="269268" y="157727"/>
                    <a:pt x="268747" y="156536"/>
                    <a:pt x="267742" y="155829"/>
                  </a:cubicBezTo>
                  <a:lnTo>
                    <a:pt x="213754" y="117766"/>
                  </a:lnTo>
                  <a:cubicBezTo>
                    <a:pt x="217847" y="112557"/>
                    <a:pt x="220303" y="106009"/>
                    <a:pt x="220303" y="98865"/>
                  </a:cubicBezTo>
                  <a:cubicBezTo>
                    <a:pt x="220303" y="95888"/>
                    <a:pt x="219856" y="93024"/>
                    <a:pt x="219075" y="90307"/>
                  </a:cubicBezTo>
                  <a:lnTo>
                    <a:pt x="286829" y="151402"/>
                  </a:lnTo>
                  <a:cubicBezTo>
                    <a:pt x="288652" y="153039"/>
                    <a:pt x="289136" y="155718"/>
                    <a:pt x="288020" y="157913"/>
                  </a:cubicBezTo>
                  <a:close/>
                  <a:moveTo>
                    <a:pt x="189569" y="122827"/>
                  </a:moveTo>
                  <a:cubicBezTo>
                    <a:pt x="176361" y="122827"/>
                    <a:pt x="165608" y="112074"/>
                    <a:pt x="165608" y="98866"/>
                  </a:cubicBezTo>
                  <a:cubicBezTo>
                    <a:pt x="165608" y="85658"/>
                    <a:pt x="176361" y="74905"/>
                    <a:pt x="189569" y="74905"/>
                  </a:cubicBezTo>
                  <a:cubicBezTo>
                    <a:pt x="202778" y="74905"/>
                    <a:pt x="213530" y="85658"/>
                    <a:pt x="213530" y="98866"/>
                  </a:cubicBezTo>
                  <a:cubicBezTo>
                    <a:pt x="213530" y="112074"/>
                    <a:pt x="202778" y="122827"/>
                    <a:pt x="189569" y="122827"/>
                  </a:cubicBezTo>
                  <a:close/>
                  <a:moveTo>
                    <a:pt x="116904" y="160220"/>
                  </a:moveTo>
                  <a:lnTo>
                    <a:pt x="170222" y="122641"/>
                  </a:lnTo>
                  <a:cubicBezTo>
                    <a:pt x="175505" y="126957"/>
                    <a:pt x="182240" y="129562"/>
                    <a:pt x="189607" y="129562"/>
                  </a:cubicBezTo>
                  <a:cubicBezTo>
                    <a:pt x="196975" y="129562"/>
                    <a:pt x="203709" y="126957"/>
                    <a:pt x="208993" y="122641"/>
                  </a:cubicBezTo>
                  <a:lnTo>
                    <a:pt x="262311" y="160220"/>
                  </a:lnTo>
                  <a:lnTo>
                    <a:pt x="261939" y="163829"/>
                  </a:lnTo>
                  <a:cubicBezTo>
                    <a:pt x="261306" y="163011"/>
                    <a:pt x="260301" y="162527"/>
                    <a:pt x="259260" y="162527"/>
                  </a:cubicBezTo>
                  <a:lnTo>
                    <a:pt x="119995" y="162527"/>
                  </a:lnTo>
                  <a:cubicBezTo>
                    <a:pt x="118953" y="162527"/>
                    <a:pt x="117985" y="163011"/>
                    <a:pt x="117316" y="163829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F819BAD1-731D-7830-AFDB-660F9B03BFEE}"/>
                </a:ext>
              </a:extLst>
            </p:cNvPr>
            <p:cNvSpPr/>
            <p:nvPr/>
          </p:nvSpPr>
          <p:spPr>
            <a:xfrm>
              <a:off x="10859046" y="1744072"/>
              <a:ext cx="100320" cy="96180"/>
            </a:xfrm>
            <a:custGeom>
              <a:avLst/>
              <a:gdLst>
                <a:gd name="csX0" fmla="*/ 19092 w 100320"/>
                <a:gd name="csY0" fmla="*/ 61205 h 96180"/>
                <a:gd name="csX1" fmla="*/ 19724 w 100320"/>
                <a:gd name="csY1" fmla="*/ 63140 h 96180"/>
                <a:gd name="csX2" fmla="*/ 15855 w 100320"/>
                <a:gd name="csY2" fmla="*/ 85650 h 96180"/>
                <a:gd name="csX3" fmla="*/ 19427 w 100320"/>
                <a:gd name="csY3" fmla="*/ 94431 h 96180"/>
                <a:gd name="csX4" fmla="*/ 28877 w 100320"/>
                <a:gd name="csY4" fmla="*/ 95138 h 96180"/>
                <a:gd name="csX5" fmla="*/ 49118 w 100320"/>
                <a:gd name="csY5" fmla="*/ 84497 h 96180"/>
                <a:gd name="csX6" fmla="*/ 51201 w 100320"/>
                <a:gd name="csY6" fmla="*/ 84497 h 96180"/>
                <a:gd name="csX7" fmla="*/ 71442 w 100320"/>
                <a:gd name="csY7" fmla="*/ 95138 h 96180"/>
                <a:gd name="csX8" fmla="*/ 75647 w 100320"/>
                <a:gd name="csY8" fmla="*/ 96180 h 96180"/>
                <a:gd name="csX9" fmla="*/ 80893 w 100320"/>
                <a:gd name="csY9" fmla="*/ 94469 h 96180"/>
                <a:gd name="csX10" fmla="*/ 84465 w 100320"/>
                <a:gd name="csY10" fmla="*/ 85688 h 96180"/>
                <a:gd name="csX11" fmla="*/ 80595 w 100320"/>
                <a:gd name="csY11" fmla="*/ 63177 h 96180"/>
                <a:gd name="csX12" fmla="*/ 81228 w 100320"/>
                <a:gd name="csY12" fmla="*/ 61242 h 96180"/>
                <a:gd name="csX13" fmla="*/ 97599 w 100320"/>
                <a:gd name="csY13" fmla="*/ 45281 h 96180"/>
                <a:gd name="csX14" fmla="*/ 99869 w 100320"/>
                <a:gd name="csY14" fmla="*/ 36090 h 96180"/>
                <a:gd name="csX15" fmla="*/ 92613 w 100320"/>
                <a:gd name="csY15" fmla="*/ 29989 h 96180"/>
                <a:gd name="csX16" fmla="*/ 69991 w 100320"/>
                <a:gd name="csY16" fmla="*/ 26714 h 96180"/>
                <a:gd name="csX17" fmla="*/ 68317 w 100320"/>
                <a:gd name="csY17" fmla="*/ 25486 h 96180"/>
                <a:gd name="csX18" fmla="*/ 58197 w 100320"/>
                <a:gd name="csY18" fmla="*/ 4986 h 96180"/>
                <a:gd name="csX19" fmla="*/ 50160 w 100320"/>
                <a:gd name="csY19" fmla="*/ 0 h 96180"/>
                <a:gd name="csX20" fmla="*/ 42123 w 100320"/>
                <a:gd name="csY20" fmla="*/ 4986 h 96180"/>
                <a:gd name="csX21" fmla="*/ 32003 w 100320"/>
                <a:gd name="csY21" fmla="*/ 25486 h 96180"/>
                <a:gd name="csX22" fmla="*/ 30329 w 100320"/>
                <a:gd name="csY22" fmla="*/ 26714 h 96180"/>
                <a:gd name="csX23" fmla="*/ 7707 w 100320"/>
                <a:gd name="csY23" fmla="*/ 29989 h 96180"/>
                <a:gd name="csX24" fmla="*/ 452 w 100320"/>
                <a:gd name="csY24" fmla="*/ 36090 h 96180"/>
                <a:gd name="csX25" fmla="*/ 2721 w 100320"/>
                <a:gd name="csY25" fmla="*/ 45281 h 96180"/>
                <a:gd name="csX26" fmla="*/ 6850 w 100320"/>
                <a:gd name="csY26" fmla="*/ 38137 h 96180"/>
                <a:gd name="csX27" fmla="*/ 8636 w 100320"/>
                <a:gd name="csY27" fmla="*/ 36648 h 96180"/>
                <a:gd name="csX28" fmla="*/ 31258 w 100320"/>
                <a:gd name="csY28" fmla="*/ 33374 h 96180"/>
                <a:gd name="csX29" fmla="*/ 37993 w 100320"/>
                <a:gd name="csY29" fmla="*/ 28463 h 96180"/>
                <a:gd name="csX30" fmla="*/ 48113 w 100320"/>
                <a:gd name="csY30" fmla="*/ 7962 h 96180"/>
                <a:gd name="csX31" fmla="*/ 50122 w 100320"/>
                <a:gd name="csY31" fmla="*/ 6734 h 96180"/>
                <a:gd name="csX32" fmla="*/ 52131 w 100320"/>
                <a:gd name="csY32" fmla="*/ 7962 h 96180"/>
                <a:gd name="csX33" fmla="*/ 62252 w 100320"/>
                <a:gd name="csY33" fmla="*/ 28463 h 96180"/>
                <a:gd name="csX34" fmla="*/ 68986 w 100320"/>
                <a:gd name="csY34" fmla="*/ 33374 h 96180"/>
                <a:gd name="csX35" fmla="*/ 91608 w 100320"/>
                <a:gd name="csY35" fmla="*/ 36648 h 96180"/>
                <a:gd name="csX36" fmla="*/ 93394 w 100320"/>
                <a:gd name="csY36" fmla="*/ 38137 h 96180"/>
                <a:gd name="csX37" fmla="*/ 92836 w 100320"/>
                <a:gd name="csY37" fmla="*/ 40406 h 96180"/>
                <a:gd name="csX38" fmla="*/ 76464 w 100320"/>
                <a:gd name="csY38" fmla="*/ 56368 h 96180"/>
                <a:gd name="csX39" fmla="*/ 73897 w 100320"/>
                <a:gd name="csY39" fmla="*/ 64293 h 96180"/>
                <a:gd name="csX40" fmla="*/ 77766 w 100320"/>
                <a:gd name="csY40" fmla="*/ 86804 h 96180"/>
                <a:gd name="csX41" fmla="*/ 76873 w 100320"/>
                <a:gd name="csY41" fmla="*/ 88962 h 96180"/>
                <a:gd name="csX42" fmla="*/ 74529 w 100320"/>
                <a:gd name="csY42" fmla="*/ 89111 h 96180"/>
                <a:gd name="csX43" fmla="*/ 54289 w 100320"/>
                <a:gd name="csY43" fmla="*/ 78469 h 96180"/>
                <a:gd name="csX44" fmla="*/ 50122 w 100320"/>
                <a:gd name="csY44" fmla="*/ 77427 h 96180"/>
                <a:gd name="csX45" fmla="*/ 45954 w 100320"/>
                <a:gd name="csY45" fmla="*/ 78469 h 96180"/>
                <a:gd name="csX46" fmla="*/ 25714 w 100320"/>
                <a:gd name="csY46" fmla="*/ 89111 h 96180"/>
                <a:gd name="csX47" fmla="*/ 23370 w 100320"/>
                <a:gd name="csY47" fmla="*/ 88962 h 96180"/>
                <a:gd name="csX48" fmla="*/ 22477 w 100320"/>
                <a:gd name="csY48" fmla="*/ 86804 h 96180"/>
                <a:gd name="csX49" fmla="*/ 26346 w 100320"/>
                <a:gd name="csY49" fmla="*/ 64293 h 96180"/>
                <a:gd name="csX50" fmla="*/ 23779 w 100320"/>
                <a:gd name="csY50" fmla="*/ 56368 h 96180"/>
                <a:gd name="csX51" fmla="*/ 7408 w 100320"/>
                <a:gd name="csY51" fmla="*/ 40406 h 96180"/>
                <a:gd name="csX52" fmla="*/ 6849 w 100320"/>
                <a:gd name="csY52" fmla="*/ 38137 h 96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</a:cxnLst>
              <a:rect l="l" t="t" r="r" b="b"/>
              <a:pathLst>
                <a:path w="100320" h="96180">
                  <a:moveTo>
                    <a:pt x="19092" y="61205"/>
                  </a:moveTo>
                  <a:cubicBezTo>
                    <a:pt x="19613" y="61689"/>
                    <a:pt x="19836" y="62433"/>
                    <a:pt x="19724" y="63140"/>
                  </a:cubicBezTo>
                  <a:lnTo>
                    <a:pt x="15855" y="85650"/>
                  </a:lnTo>
                  <a:cubicBezTo>
                    <a:pt x="15297" y="89036"/>
                    <a:pt x="16636" y="92385"/>
                    <a:pt x="19427" y="94431"/>
                  </a:cubicBezTo>
                  <a:cubicBezTo>
                    <a:pt x="22217" y="96441"/>
                    <a:pt x="25826" y="96701"/>
                    <a:pt x="28877" y="95138"/>
                  </a:cubicBezTo>
                  <a:lnTo>
                    <a:pt x="49118" y="84497"/>
                  </a:lnTo>
                  <a:cubicBezTo>
                    <a:pt x="49750" y="84162"/>
                    <a:pt x="50532" y="84162"/>
                    <a:pt x="51201" y="84497"/>
                  </a:cubicBezTo>
                  <a:lnTo>
                    <a:pt x="71442" y="95138"/>
                  </a:lnTo>
                  <a:cubicBezTo>
                    <a:pt x="72781" y="95845"/>
                    <a:pt x="74195" y="96180"/>
                    <a:pt x="75647" y="96180"/>
                  </a:cubicBezTo>
                  <a:cubicBezTo>
                    <a:pt x="77507" y="96180"/>
                    <a:pt x="79330" y="95622"/>
                    <a:pt x="80893" y="94469"/>
                  </a:cubicBezTo>
                  <a:cubicBezTo>
                    <a:pt x="83683" y="92459"/>
                    <a:pt x="85023" y="89073"/>
                    <a:pt x="84465" y="85688"/>
                  </a:cubicBezTo>
                  <a:lnTo>
                    <a:pt x="80595" y="63177"/>
                  </a:lnTo>
                  <a:cubicBezTo>
                    <a:pt x="80483" y="62470"/>
                    <a:pt x="80707" y="61726"/>
                    <a:pt x="81228" y="61242"/>
                  </a:cubicBezTo>
                  <a:lnTo>
                    <a:pt x="97599" y="45281"/>
                  </a:lnTo>
                  <a:cubicBezTo>
                    <a:pt x="100055" y="42862"/>
                    <a:pt x="100948" y="39365"/>
                    <a:pt x="99869" y="36090"/>
                  </a:cubicBezTo>
                  <a:cubicBezTo>
                    <a:pt x="98790" y="32816"/>
                    <a:pt x="96036" y="30509"/>
                    <a:pt x="92613" y="29989"/>
                  </a:cubicBezTo>
                  <a:lnTo>
                    <a:pt x="69991" y="26714"/>
                  </a:lnTo>
                  <a:cubicBezTo>
                    <a:pt x="69285" y="26603"/>
                    <a:pt x="68652" y="26156"/>
                    <a:pt x="68317" y="25486"/>
                  </a:cubicBezTo>
                  <a:lnTo>
                    <a:pt x="58197" y="4986"/>
                  </a:lnTo>
                  <a:cubicBezTo>
                    <a:pt x="56671" y="1898"/>
                    <a:pt x="53583" y="0"/>
                    <a:pt x="50160" y="0"/>
                  </a:cubicBezTo>
                  <a:cubicBezTo>
                    <a:pt x="46737" y="0"/>
                    <a:pt x="43649" y="1898"/>
                    <a:pt x="42123" y="4986"/>
                  </a:cubicBezTo>
                  <a:lnTo>
                    <a:pt x="32003" y="25486"/>
                  </a:lnTo>
                  <a:cubicBezTo>
                    <a:pt x="31668" y="26156"/>
                    <a:pt x="31036" y="26603"/>
                    <a:pt x="30329" y="26714"/>
                  </a:cubicBezTo>
                  <a:lnTo>
                    <a:pt x="7707" y="29989"/>
                  </a:lnTo>
                  <a:cubicBezTo>
                    <a:pt x="4284" y="30472"/>
                    <a:pt x="1531" y="32816"/>
                    <a:pt x="452" y="36090"/>
                  </a:cubicBezTo>
                  <a:cubicBezTo>
                    <a:pt x="-627" y="39365"/>
                    <a:pt x="266" y="42862"/>
                    <a:pt x="2721" y="45281"/>
                  </a:cubicBezTo>
                  <a:close/>
                  <a:moveTo>
                    <a:pt x="6850" y="38137"/>
                  </a:moveTo>
                  <a:cubicBezTo>
                    <a:pt x="6962" y="37727"/>
                    <a:pt x="7408" y="36797"/>
                    <a:pt x="8636" y="36648"/>
                  </a:cubicBezTo>
                  <a:lnTo>
                    <a:pt x="31258" y="33374"/>
                  </a:lnTo>
                  <a:cubicBezTo>
                    <a:pt x="34197" y="32928"/>
                    <a:pt x="36727" y="31105"/>
                    <a:pt x="37993" y="28463"/>
                  </a:cubicBezTo>
                  <a:lnTo>
                    <a:pt x="48113" y="7962"/>
                  </a:lnTo>
                  <a:cubicBezTo>
                    <a:pt x="48671" y="6846"/>
                    <a:pt x="49675" y="6734"/>
                    <a:pt x="50122" y="6734"/>
                  </a:cubicBezTo>
                  <a:cubicBezTo>
                    <a:pt x="50531" y="6734"/>
                    <a:pt x="51536" y="6846"/>
                    <a:pt x="52131" y="7962"/>
                  </a:cubicBezTo>
                  <a:lnTo>
                    <a:pt x="62252" y="28463"/>
                  </a:lnTo>
                  <a:cubicBezTo>
                    <a:pt x="63554" y="31105"/>
                    <a:pt x="66084" y="32928"/>
                    <a:pt x="68986" y="33374"/>
                  </a:cubicBezTo>
                  <a:lnTo>
                    <a:pt x="91608" y="36648"/>
                  </a:lnTo>
                  <a:cubicBezTo>
                    <a:pt x="92836" y="36834"/>
                    <a:pt x="93282" y="37765"/>
                    <a:pt x="93394" y="38137"/>
                  </a:cubicBezTo>
                  <a:cubicBezTo>
                    <a:pt x="93505" y="38546"/>
                    <a:pt x="93729" y="39551"/>
                    <a:pt x="92836" y="40406"/>
                  </a:cubicBezTo>
                  <a:lnTo>
                    <a:pt x="76464" y="56368"/>
                  </a:lnTo>
                  <a:cubicBezTo>
                    <a:pt x="74343" y="58452"/>
                    <a:pt x="73376" y="61391"/>
                    <a:pt x="73897" y="64293"/>
                  </a:cubicBezTo>
                  <a:lnTo>
                    <a:pt x="77766" y="86804"/>
                  </a:lnTo>
                  <a:cubicBezTo>
                    <a:pt x="77990" y="88032"/>
                    <a:pt x="77208" y="88739"/>
                    <a:pt x="76873" y="88962"/>
                  </a:cubicBezTo>
                  <a:cubicBezTo>
                    <a:pt x="76539" y="89185"/>
                    <a:pt x="75646" y="89706"/>
                    <a:pt x="74529" y="89111"/>
                  </a:cubicBezTo>
                  <a:lnTo>
                    <a:pt x="54289" y="78469"/>
                  </a:lnTo>
                  <a:cubicBezTo>
                    <a:pt x="52987" y="77762"/>
                    <a:pt x="51536" y="77427"/>
                    <a:pt x="50122" y="77427"/>
                  </a:cubicBezTo>
                  <a:cubicBezTo>
                    <a:pt x="48708" y="77427"/>
                    <a:pt x="47257" y="77762"/>
                    <a:pt x="45954" y="78469"/>
                  </a:cubicBezTo>
                  <a:lnTo>
                    <a:pt x="25714" y="89111"/>
                  </a:lnTo>
                  <a:cubicBezTo>
                    <a:pt x="24635" y="89669"/>
                    <a:pt x="23705" y="89185"/>
                    <a:pt x="23370" y="88962"/>
                  </a:cubicBezTo>
                  <a:cubicBezTo>
                    <a:pt x="23035" y="88739"/>
                    <a:pt x="22291" y="87994"/>
                    <a:pt x="22477" y="86804"/>
                  </a:cubicBezTo>
                  <a:lnTo>
                    <a:pt x="26346" y="64293"/>
                  </a:lnTo>
                  <a:cubicBezTo>
                    <a:pt x="26830" y="61391"/>
                    <a:pt x="25863" y="58415"/>
                    <a:pt x="23779" y="56368"/>
                  </a:cubicBezTo>
                  <a:lnTo>
                    <a:pt x="7408" y="40406"/>
                  </a:lnTo>
                  <a:cubicBezTo>
                    <a:pt x="6515" y="39551"/>
                    <a:pt x="6701" y="38509"/>
                    <a:pt x="6849" y="38137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자유형: 도형 82">
              <a:extLst>
                <a:ext uri="{FF2B5EF4-FFF2-40B4-BE49-F238E27FC236}">
                  <a16:creationId xmlns:a16="http://schemas.microsoft.com/office/drawing/2014/main" id="{2467CC73-CC95-7C1A-29DA-5A3140BCB286}"/>
                </a:ext>
              </a:extLst>
            </p:cNvPr>
            <p:cNvSpPr/>
            <p:nvPr/>
          </p:nvSpPr>
          <p:spPr>
            <a:xfrm>
              <a:off x="11111870" y="1706247"/>
              <a:ext cx="44046" cy="44043"/>
            </a:xfrm>
            <a:custGeom>
              <a:avLst/>
              <a:gdLst>
                <a:gd name="csX0" fmla="*/ 22547 w 44046"/>
                <a:gd name="csY0" fmla="*/ 44043 h 44043"/>
                <a:gd name="csX1" fmla="*/ 43867 w 44046"/>
                <a:gd name="csY1" fmla="*/ 28787 h 44043"/>
                <a:gd name="csX2" fmla="*/ 41746 w 44046"/>
                <a:gd name="csY2" fmla="*/ 24509 h 44043"/>
                <a:gd name="csX3" fmla="*/ 37467 w 44046"/>
                <a:gd name="csY3" fmla="*/ 26630 h 44043"/>
                <a:gd name="csX4" fmla="*/ 22547 w 44046"/>
                <a:gd name="csY4" fmla="*/ 37308 h 44043"/>
                <a:gd name="csX5" fmla="*/ 6772 w 44046"/>
                <a:gd name="csY5" fmla="*/ 21533 h 44043"/>
                <a:gd name="csX6" fmla="*/ 17525 w 44046"/>
                <a:gd name="csY6" fmla="*/ 6576 h 44043"/>
                <a:gd name="csX7" fmla="*/ 19646 w 44046"/>
                <a:gd name="csY7" fmla="*/ 2297 h 44043"/>
                <a:gd name="csX8" fmla="*/ 15367 w 44046"/>
                <a:gd name="csY8" fmla="*/ 176 h 44043"/>
                <a:gd name="csX9" fmla="*/ 0 w 44046"/>
                <a:gd name="csY9" fmla="*/ 21533 h 44043"/>
                <a:gd name="csX10" fmla="*/ 22548 w 44046"/>
                <a:gd name="csY10" fmla="*/ 44043 h 440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4046" h="44043">
                  <a:moveTo>
                    <a:pt x="22547" y="44043"/>
                  </a:moveTo>
                  <a:cubicBezTo>
                    <a:pt x="32183" y="44043"/>
                    <a:pt x="40779" y="37904"/>
                    <a:pt x="43867" y="28787"/>
                  </a:cubicBezTo>
                  <a:cubicBezTo>
                    <a:pt x="44462" y="27039"/>
                    <a:pt x="43532" y="25104"/>
                    <a:pt x="41746" y="24509"/>
                  </a:cubicBezTo>
                  <a:cubicBezTo>
                    <a:pt x="39997" y="23913"/>
                    <a:pt x="38063" y="24844"/>
                    <a:pt x="37467" y="26630"/>
                  </a:cubicBezTo>
                  <a:cubicBezTo>
                    <a:pt x="35309" y="33029"/>
                    <a:pt x="29282" y="37308"/>
                    <a:pt x="22547" y="37308"/>
                  </a:cubicBezTo>
                  <a:cubicBezTo>
                    <a:pt x="13841" y="37308"/>
                    <a:pt x="6772" y="30239"/>
                    <a:pt x="6772" y="21533"/>
                  </a:cubicBezTo>
                  <a:cubicBezTo>
                    <a:pt x="6772" y="14761"/>
                    <a:pt x="11088" y="8733"/>
                    <a:pt x="17525" y="6576"/>
                  </a:cubicBezTo>
                  <a:cubicBezTo>
                    <a:pt x="19273" y="5980"/>
                    <a:pt x="20241" y="4083"/>
                    <a:pt x="19646" y="2297"/>
                  </a:cubicBezTo>
                  <a:cubicBezTo>
                    <a:pt x="19050" y="548"/>
                    <a:pt x="17153" y="-419"/>
                    <a:pt x="15367" y="176"/>
                  </a:cubicBezTo>
                  <a:cubicBezTo>
                    <a:pt x="6177" y="3264"/>
                    <a:pt x="0" y="11859"/>
                    <a:pt x="0" y="21533"/>
                  </a:cubicBezTo>
                  <a:cubicBezTo>
                    <a:pt x="37" y="33960"/>
                    <a:pt x="10120" y="44043"/>
                    <a:pt x="22548" y="44043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51359F37-CFEE-4971-A8FC-87F74355A9EA}"/>
                </a:ext>
              </a:extLst>
            </p:cNvPr>
            <p:cNvSpPr/>
            <p:nvPr/>
          </p:nvSpPr>
          <p:spPr>
            <a:xfrm>
              <a:off x="11035263" y="1674127"/>
              <a:ext cx="301866" cy="303495"/>
            </a:xfrm>
            <a:custGeom>
              <a:avLst/>
              <a:gdLst>
                <a:gd name="csX0" fmla="*/ 281024 w 301866"/>
                <a:gd name="csY0" fmla="*/ 184100 h 303495"/>
                <a:gd name="csX1" fmla="*/ 266290 w 301866"/>
                <a:gd name="csY1" fmla="*/ 190202 h 303495"/>
                <a:gd name="csX2" fmla="*/ 223800 w 301866"/>
                <a:gd name="csY2" fmla="*/ 232692 h 303495"/>
                <a:gd name="csX3" fmla="*/ 206871 w 301866"/>
                <a:gd name="csY3" fmla="*/ 220153 h 303495"/>
                <a:gd name="csX4" fmla="*/ 200658 w 301866"/>
                <a:gd name="csY4" fmla="*/ 220153 h 303495"/>
                <a:gd name="csX5" fmla="*/ 200658 w 301866"/>
                <a:gd name="csY5" fmla="*/ 205568 h 303495"/>
                <a:gd name="csX6" fmla="*/ 204378 w 301866"/>
                <a:gd name="csY6" fmla="*/ 202257 h 303495"/>
                <a:gd name="csX7" fmla="*/ 257324 w 301866"/>
                <a:gd name="csY7" fmla="*/ 137108 h 303495"/>
                <a:gd name="csX8" fmla="*/ 257361 w 301866"/>
                <a:gd name="csY8" fmla="*/ 137033 h 303495"/>
                <a:gd name="csX9" fmla="*/ 257808 w 301866"/>
                <a:gd name="csY9" fmla="*/ 136252 h 303495"/>
                <a:gd name="csX10" fmla="*/ 257845 w 301866"/>
                <a:gd name="csY10" fmla="*/ 136140 h 303495"/>
                <a:gd name="csX11" fmla="*/ 258031 w 301866"/>
                <a:gd name="csY11" fmla="*/ 135359 h 303495"/>
                <a:gd name="csX12" fmla="*/ 258068 w 301866"/>
                <a:gd name="csY12" fmla="*/ 135136 h 303495"/>
                <a:gd name="csX13" fmla="*/ 258105 w 301866"/>
                <a:gd name="csY13" fmla="*/ 134987 h 303495"/>
                <a:gd name="csX14" fmla="*/ 258031 w 301866"/>
                <a:gd name="csY14" fmla="*/ 134280 h 303495"/>
                <a:gd name="csX15" fmla="*/ 257994 w 301866"/>
                <a:gd name="csY15" fmla="*/ 134168 h 303495"/>
                <a:gd name="csX16" fmla="*/ 257696 w 301866"/>
                <a:gd name="csY16" fmla="*/ 133387 h 303495"/>
                <a:gd name="csX17" fmla="*/ 257659 w 301866"/>
                <a:gd name="csY17" fmla="*/ 133275 h 303495"/>
                <a:gd name="csX18" fmla="*/ 233735 w 301866"/>
                <a:gd name="csY18" fmla="*/ 92608 h 303495"/>
                <a:gd name="csX19" fmla="*/ 233177 w 301866"/>
                <a:gd name="csY19" fmla="*/ 91901 h 303495"/>
                <a:gd name="csX20" fmla="*/ 233139 w 301866"/>
                <a:gd name="csY20" fmla="*/ 91864 h 303495"/>
                <a:gd name="csX21" fmla="*/ 233065 w 301866"/>
                <a:gd name="csY21" fmla="*/ 91827 h 303495"/>
                <a:gd name="csX22" fmla="*/ 232135 w 301866"/>
                <a:gd name="csY22" fmla="*/ 91269 h 303495"/>
                <a:gd name="csX23" fmla="*/ 231874 w 301866"/>
                <a:gd name="csY23" fmla="*/ 91157 h 303495"/>
                <a:gd name="csX24" fmla="*/ 230833 w 301866"/>
                <a:gd name="csY24" fmla="*/ 90971 h 303495"/>
                <a:gd name="csX25" fmla="*/ 198500 w 301866"/>
                <a:gd name="csY25" fmla="*/ 90971 h 303495"/>
                <a:gd name="csX26" fmla="*/ 192882 w 301866"/>
                <a:gd name="csY26" fmla="*/ 82600 h 303495"/>
                <a:gd name="csX27" fmla="*/ 141871 w 301866"/>
                <a:gd name="csY27" fmla="*/ 31700 h 303495"/>
                <a:gd name="csX28" fmla="*/ 179933 w 301866"/>
                <a:gd name="csY28" fmla="*/ 25970 h 303495"/>
                <a:gd name="csX29" fmla="*/ 235930 w 301866"/>
                <a:gd name="csY29" fmla="*/ 49076 h 303495"/>
                <a:gd name="csX30" fmla="*/ 244264 w 301866"/>
                <a:gd name="csY30" fmla="*/ 75232 h 303495"/>
                <a:gd name="csX31" fmla="*/ 242627 w 301866"/>
                <a:gd name="csY31" fmla="*/ 87324 h 303495"/>
                <a:gd name="csX32" fmla="*/ 244971 w 301866"/>
                <a:gd name="csY32" fmla="*/ 91454 h 303495"/>
                <a:gd name="csX33" fmla="*/ 245864 w 301866"/>
                <a:gd name="csY33" fmla="*/ 91566 h 303495"/>
                <a:gd name="csX34" fmla="*/ 249101 w 301866"/>
                <a:gd name="csY34" fmla="*/ 89073 h 303495"/>
                <a:gd name="csX35" fmla="*/ 250962 w 301866"/>
                <a:gd name="csY35" fmla="*/ 75158 h 303495"/>
                <a:gd name="csX36" fmla="*/ 237567 w 301866"/>
                <a:gd name="csY36" fmla="*/ 40444 h 303495"/>
                <a:gd name="csX37" fmla="*/ 179859 w 301866"/>
                <a:gd name="csY37" fmla="*/ 19124 h 303495"/>
                <a:gd name="csX38" fmla="*/ 136364 w 301866"/>
                <a:gd name="csY38" fmla="*/ 26194 h 303495"/>
                <a:gd name="csX39" fmla="*/ 127918 w 301866"/>
                <a:gd name="csY39" fmla="*/ 17748 h 303495"/>
                <a:gd name="csX40" fmla="*/ 124644 w 301866"/>
                <a:gd name="csY40" fmla="*/ 14101 h 303495"/>
                <a:gd name="csX41" fmla="*/ 118803 w 301866"/>
                <a:gd name="csY41" fmla="*/ 8037 h 303495"/>
                <a:gd name="csX42" fmla="*/ 100013 w 301866"/>
                <a:gd name="csY42" fmla="*/ 0 h 303495"/>
                <a:gd name="csX43" fmla="*/ 81148 w 301866"/>
                <a:gd name="csY43" fmla="*/ 7851 h 303495"/>
                <a:gd name="csX44" fmla="*/ 7813 w 301866"/>
                <a:gd name="csY44" fmla="*/ 82488 h 303495"/>
                <a:gd name="csX45" fmla="*/ 0 w 301866"/>
                <a:gd name="csY45" fmla="*/ 101612 h 303495"/>
                <a:gd name="csX46" fmla="*/ 0 w 301866"/>
                <a:gd name="csY46" fmla="*/ 288054 h 303495"/>
                <a:gd name="csX47" fmla="*/ 15330 w 301866"/>
                <a:gd name="csY47" fmla="*/ 303384 h 303495"/>
                <a:gd name="csX48" fmla="*/ 130258 w 301866"/>
                <a:gd name="csY48" fmla="*/ 303495 h 303495"/>
                <a:gd name="csX49" fmla="*/ 200319 w 301866"/>
                <a:gd name="csY49" fmla="*/ 303495 h 303495"/>
                <a:gd name="csX50" fmla="*/ 220188 w 301866"/>
                <a:gd name="csY50" fmla="*/ 295273 h 303495"/>
                <a:gd name="csX51" fmla="*/ 295755 w 301866"/>
                <a:gd name="csY51" fmla="*/ 219705 h 303495"/>
                <a:gd name="csX52" fmla="*/ 295755 w 301866"/>
                <a:gd name="csY52" fmla="*/ 190200 h 303495"/>
                <a:gd name="csX53" fmla="*/ 281021 w 301866"/>
                <a:gd name="csY53" fmla="*/ 184098 h 303495"/>
                <a:gd name="csX54" fmla="*/ 200322 w 301866"/>
                <a:gd name="csY54" fmla="*/ 296761 h 303495"/>
                <a:gd name="csX55" fmla="*/ 130335 w 301866"/>
                <a:gd name="csY55" fmla="*/ 296761 h 303495"/>
                <a:gd name="csX56" fmla="*/ 68571 w 301866"/>
                <a:gd name="csY56" fmla="*/ 295534 h 303495"/>
                <a:gd name="csX57" fmla="*/ 104290 w 301866"/>
                <a:gd name="csY57" fmla="*/ 245490 h 303495"/>
                <a:gd name="csX58" fmla="*/ 140492 w 301866"/>
                <a:gd name="csY58" fmla="*/ 226850 h 303495"/>
                <a:gd name="csX59" fmla="*/ 140530 w 301866"/>
                <a:gd name="csY59" fmla="*/ 226850 h 303495"/>
                <a:gd name="csX60" fmla="*/ 206832 w 301866"/>
                <a:gd name="csY60" fmla="*/ 226887 h 303495"/>
                <a:gd name="csX61" fmla="*/ 217808 w 301866"/>
                <a:gd name="csY61" fmla="*/ 237900 h 303495"/>
                <a:gd name="csX62" fmla="*/ 217771 w 301866"/>
                <a:gd name="csY62" fmla="*/ 238718 h 303495"/>
                <a:gd name="csX63" fmla="*/ 217138 w 301866"/>
                <a:gd name="csY63" fmla="*/ 241620 h 303495"/>
                <a:gd name="csX64" fmla="*/ 206795 w 301866"/>
                <a:gd name="csY64" fmla="*/ 248913 h 303495"/>
                <a:gd name="csX65" fmla="*/ 151766 w 301866"/>
                <a:gd name="csY65" fmla="*/ 248913 h 303495"/>
                <a:gd name="csX66" fmla="*/ 148380 w 301866"/>
                <a:gd name="csY66" fmla="*/ 252299 h 303495"/>
                <a:gd name="csX67" fmla="*/ 151766 w 301866"/>
                <a:gd name="csY67" fmla="*/ 255685 h 303495"/>
                <a:gd name="csX68" fmla="*/ 206795 w 301866"/>
                <a:gd name="csY68" fmla="*/ 255685 h 303495"/>
                <a:gd name="csX69" fmla="*/ 224096 w 301866"/>
                <a:gd name="csY69" fmla="*/ 241955 h 303495"/>
                <a:gd name="csX70" fmla="*/ 271014 w 301866"/>
                <a:gd name="csY70" fmla="*/ 195037 h 303495"/>
                <a:gd name="csX71" fmla="*/ 280986 w 301866"/>
                <a:gd name="csY71" fmla="*/ 190907 h 303495"/>
                <a:gd name="csX72" fmla="*/ 290958 w 301866"/>
                <a:gd name="csY72" fmla="*/ 195037 h 303495"/>
                <a:gd name="csX73" fmla="*/ 290958 w 301866"/>
                <a:gd name="csY73" fmla="*/ 214981 h 303495"/>
                <a:gd name="csX74" fmla="*/ 215390 w 301866"/>
                <a:gd name="csY74" fmla="*/ 290548 h 303495"/>
                <a:gd name="csX75" fmla="*/ 200322 w 301866"/>
                <a:gd name="csY75" fmla="*/ 296762 h 303495"/>
                <a:gd name="csX76" fmla="*/ 6774 w 301866"/>
                <a:gd name="csY76" fmla="*/ 101756 h 303495"/>
                <a:gd name="csX77" fmla="*/ 12652 w 301866"/>
                <a:gd name="csY77" fmla="*/ 87357 h 303495"/>
                <a:gd name="csX78" fmla="*/ 85950 w 301866"/>
                <a:gd name="csY78" fmla="*/ 12720 h 303495"/>
                <a:gd name="csX79" fmla="*/ 99865 w 301866"/>
                <a:gd name="csY79" fmla="*/ 6879 h 303495"/>
                <a:gd name="csX80" fmla="*/ 99977 w 301866"/>
                <a:gd name="csY80" fmla="*/ 6879 h 303495"/>
                <a:gd name="csX81" fmla="*/ 113929 w 301866"/>
                <a:gd name="csY81" fmla="*/ 12869 h 303495"/>
                <a:gd name="csX82" fmla="*/ 119696 w 301866"/>
                <a:gd name="csY82" fmla="*/ 18859 h 303495"/>
                <a:gd name="csX83" fmla="*/ 122970 w 301866"/>
                <a:gd name="csY83" fmla="*/ 22469 h 303495"/>
                <a:gd name="csX84" fmla="*/ 123082 w 301866"/>
                <a:gd name="csY84" fmla="*/ 22617 h 303495"/>
                <a:gd name="csX85" fmla="*/ 129407 w 301866"/>
                <a:gd name="csY85" fmla="*/ 28943 h 303495"/>
                <a:gd name="csX86" fmla="*/ 97744 w 301866"/>
                <a:gd name="csY86" fmla="*/ 50485 h 303495"/>
                <a:gd name="csX87" fmla="*/ 98116 w 301866"/>
                <a:gd name="csY87" fmla="*/ 55248 h 303495"/>
                <a:gd name="csX88" fmla="*/ 102879 w 301866"/>
                <a:gd name="csY88" fmla="*/ 54876 h 303495"/>
                <a:gd name="csX89" fmla="*/ 134653 w 301866"/>
                <a:gd name="csY89" fmla="*/ 34188 h 303495"/>
                <a:gd name="csX90" fmla="*/ 187971 w 301866"/>
                <a:gd name="csY90" fmla="*/ 87394 h 303495"/>
                <a:gd name="csX91" fmla="*/ 190799 w 301866"/>
                <a:gd name="csY91" fmla="*/ 91040 h 303495"/>
                <a:gd name="csX92" fmla="*/ 154150 w 301866"/>
                <a:gd name="csY92" fmla="*/ 91040 h 303495"/>
                <a:gd name="csX93" fmla="*/ 153108 w 301866"/>
                <a:gd name="csY93" fmla="*/ 91226 h 303495"/>
                <a:gd name="csX94" fmla="*/ 152847 w 301866"/>
                <a:gd name="csY94" fmla="*/ 91338 h 303495"/>
                <a:gd name="csX95" fmla="*/ 151917 w 301866"/>
                <a:gd name="csY95" fmla="*/ 91896 h 303495"/>
                <a:gd name="csX96" fmla="*/ 151843 w 301866"/>
                <a:gd name="csY96" fmla="*/ 91933 h 303495"/>
                <a:gd name="csX97" fmla="*/ 151806 w 301866"/>
                <a:gd name="csY97" fmla="*/ 91970 h 303495"/>
                <a:gd name="csX98" fmla="*/ 151248 w 301866"/>
                <a:gd name="csY98" fmla="*/ 92677 h 303495"/>
                <a:gd name="csX99" fmla="*/ 127324 w 301866"/>
                <a:gd name="csY99" fmla="*/ 133344 h 303495"/>
                <a:gd name="csX100" fmla="*/ 127286 w 301866"/>
                <a:gd name="csY100" fmla="*/ 133456 h 303495"/>
                <a:gd name="csX101" fmla="*/ 126989 w 301866"/>
                <a:gd name="csY101" fmla="*/ 134237 h 303495"/>
                <a:gd name="csX102" fmla="*/ 126952 w 301866"/>
                <a:gd name="csY102" fmla="*/ 134349 h 303495"/>
                <a:gd name="csX103" fmla="*/ 126840 w 301866"/>
                <a:gd name="csY103" fmla="*/ 135056 h 303495"/>
                <a:gd name="csX104" fmla="*/ 126877 w 301866"/>
                <a:gd name="csY104" fmla="*/ 135205 h 303495"/>
                <a:gd name="csX105" fmla="*/ 126914 w 301866"/>
                <a:gd name="csY105" fmla="*/ 135428 h 303495"/>
                <a:gd name="csX106" fmla="*/ 127063 w 301866"/>
                <a:gd name="csY106" fmla="*/ 136209 h 303495"/>
                <a:gd name="csX107" fmla="*/ 127100 w 301866"/>
                <a:gd name="csY107" fmla="*/ 136321 h 303495"/>
                <a:gd name="csX108" fmla="*/ 127547 w 301866"/>
                <a:gd name="csY108" fmla="*/ 137102 h 303495"/>
                <a:gd name="csX109" fmla="*/ 127584 w 301866"/>
                <a:gd name="csY109" fmla="*/ 137177 h 303495"/>
                <a:gd name="csX110" fmla="*/ 180530 w 301866"/>
                <a:gd name="csY110" fmla="*/ 202326 h 303495"/>
                <a:gd name="csX111" fmla="*/ 192436 w 301866"/>
                <a:gd name="csY111" fmla="*/ 207981 h 303495"/>
                <a:gd name="csX112" fmla="*/ 193850 w 301866"/>
                <a:gd name="csY112" fmla="*/ 207907 h 303495"/>
                <a:gd name="csX113" fmla="*/ 193850 w 301866"/>
                <a:gd name="csY113" fmla="*/ 220186 h 303495"/>
                <a:gd name="csX114" fmla="*/ 140495 w 301866"/>
                <a:gd name="csY114" fmla="*/ 220148 h 303495"/>
                <a:gd name="csX115" fmla="*/ 140457 w 301866"/>
                <a:gd name="csY115" fmla="*/ 220148 h 303495"/>
                <a:gd name="csX116" fmla="*/ 98748 w 301866"/>
                <a:gd name="csY116" fmla="*/ 241617 h 303495"/>
                <a:gd name="csX117" fmla="*/ 59346 w 301866"/>
                <a:gd name="csY117" fmla="*/ 296795 h 303495"/>
                <a:gd name="csX118" fmla="*/ 15330 w 301866"/>
                <a:gd name="csY118" fmla="*/ 296795 h 303495"/>
                <a:gd name="csX119" fmla="*/ 6736 w 301866"/>
                <a:gd name="csY119" fmla="*/ 288200 h 303495"/>
                <a:gd name="csX120" fmla="*/ 230164 w 301866"/>
                <a:gd name="csY120" fmla="*/ 99933 h 303495"/>
                <a:gd name="csX121" fmla="*/ 248841 w 301866"/>
                <a:gd name="csY121" fmla="*/ 131633 h 303495"/>
                <a:gd name="csX122" fmla="*/ 200323 w 301866"/>
                <a:gd name="csY122" fmla="*/ 131633 h 303495"/>
                <a:gd name="csX123" fmla="*/ 184660 w 301866"/>
                <a:gd name="csY123" fmla="*/ 131633 h 303495"/>
                <a:gd name="csX124" fmla="*/ 136141 w 301866"/>
                <a:gd name="csY124" fmla="*/ 131633 h 303495"/>
                <a:gd name="csX125" fmla="*/ 154819 w 301866"/>
                <a:gd name="csY125" fmla="*/ 99933 h 303495"/>
                <a:gd name="csX126" fmla="*/ 192473 w 301866"/>
                <a:gd name="csY126" fmla="*/ 201210 h 303495"/>
                <a:gd name="csX127" fmla="*/ 185813 w 301866"/>
                <a:gd name="csY127" fmla="*/ 198048 h 303495"/>
                <a:gd name="csX128" fmla="*/ 137370 w 301866"/>
                <a:gd name="csY128" fmla="*/ 138405 h 303495"/>
                <a:gd name="csX129" fmla="*/ 189125 w 301866"/>
                <a:gd name="csY129" fmla="*/ 138405 h 303495"/>
                <a:gd name="csX130" fmla="*/ 189125 w 301866"/>
                <a:gd name="csY130" fmla="*/ 178105 h 303495"/>
                <a:gd name="csX131" fmla="*/ 192511 w 301866"/>
                <a:gd name="csY131" fmla="*/ 181491 h 303495"/>
                <a:gd name="csX132" fmla="*/ 195897 w 301866"/>
                <a:gd name="csY132" fmla="*/ 178105 h 303495"/>
                <a:gd name="csX133" fmla="*/ 195897 w 301866"/>
                <a:gd name="csY133" fmla="*/ 138405 h 303495"/>
                <a:gd name="csX134" fmla="*/ 247652 w 301866"/>
                <a:gd name="csY134" fmla="*/ 138405 h 303495"/>
                <a:gd name="csX135" fmla="*/ 199208 w 301866"/>
                <a:gd name="csY135" fmla="*/ 198048 h 303495"/>
                <a:gd name="csX136" fmla="*/ 192474 w 301866"/>
                <a:gd name="csY136" fmla="*/ 201210 h 303495"/>
                <a:gd name="csX137" fmla="*/ 192473 w 301866"/>
                <a:gd name="csY137" fmla="*/ 130108 h 303495"/>
                <a:gd name="csX138" fmla="*/ 162001 w 301866"/>
                <a:gd name="csY138" fmla="*/ 97738 h 303495"/>
                <a:gd name="csX139" fmla="*/ 222946 w 301866"/>
                <a:gd name="csY139" fmla="*/ 97738 h 3034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</a:cxnLst>
              <a:rect l="l" t="t" r="r" b="b"/>
              <a:pathLst>
                <a:path w="301866" h="303495">
                  <a:moveTo>
                    <a:pt x="281024" y="184100"/>
                  </a:moveTo>
                  <a:cubicBezTo>
                    <a:pt x="275443" y="184100"/>
                    <a:pt x="270197" y="186258"/>
                    <a:pt x="266290" y="190202"/>
                  </a:cubicBezTo>
                  <a:lnTo>
                    <a:pt x="223800" y="232692"/>
                  </a:lnTo>
                  <a:cubicBezTo>
                    <a:pt x="221567" y="225436"/>
                    <a:pt x="214833" y="220190"/>
                    <a:pt x="206871" y="220153"/>
                  </a:cubicBezTo>
                  <a:lnTo>
                    <a:pt x="200658" y="220153"/>
                  </a:lnTo>
                  <a:lnTo>
                    <a:pt x="200658" y="205568"/>
                  </a:lnTo>
                  <a:cubicBezTo>
                    <a:pt x="202071" y="204675"/>
                    <a:pt x="203336" y="203559"/>
                    <a:pt x="204378" y="202257"/>
                  </a:cubicBezTo>
                  <a:lnTo>
                    <a:pt x="257324" y="137108"/>
                  </a:lnTo>
                  <a:cubicBezTo>
                    <a:pt x="257361" y="137070"/>
                    <a:pt x="257361" y="137070"/>
                    <a:pt x="257361" y="137033"/>
                  </a:cubicBezTo>
                  <a:cubicBezTo>
                    <a:pt x="257547" y="136810"/>
                    <a:pt x="257696" y="136550"/>
                    <a:pt x="257808" y="136252"/>
                  </a:cubicBezTo>
                  <a:cubicBezTo>
                    <a:pt x="257845" y="136215"/>
                    <a:pt x="257845" y="136178"/>
                    <a:pt x="257845" y="136140"/>
                  </a:cubicBezTo>
                  <a:cubicBezTo>
                    <a:pt x="257956" y="135917"/>
                    <a:pt x="257994" y="135657"/>
                    <a:pt x="258031" y="135359"/>
                  </a:cubicBezTo>
                  <a:cubicBezTo>
                    <a:pt x="258031" y="135285"/>
                    <a:pt x="258068" y="135210"/>
                    <a:pt x="258068" y="135136"/>
                  </a:cubicBezTo>
                  <a:cubicBezTo>
                    <a:pt x="258068" y="135099"/>
                    <a:pt x="258105" y="135024"/>
                    <a:pt x="258105" y="134987"/>
                  </a:cubicBezTo>
                  <a:cubicBezTo>
                    <a:pt x="258105" y="134764"/>
                    <a:pt x="258068" y="134503"/>
                    <a:pt x="258031" y="134280"/>
                  </a:cubicBezTo>
                  <a:cubicBezTo>
                    <a:pt x="258031" y="134243"/>
                    <a:pt x="257994" y="134206"/>
                    <a:pt x="257994" y="134168"/>
                  </a:cubicBezTo>
                  <a:cubicBezTo>
                    <a:pt x="257919" y="133871"/>
                    <a:pt x="257845" y="133610"/>
                    <a:pt x="257696" y="133387"/>
                  </a:cubicBezTo>
                  <a:cubicBezTo>
                    <a:pt x="257659" y="133350"/>
                    <a:pt x="257659" y="133313"/>
                    <a:pt x="257659" y="133275"/>
                  </a:cubicBezTo>
                  <a:lnTo>
                    <a:pt x="233735" y="92608"/>
                  </a:lnTo>
                  <a:cubicBezTo>
                    <a:pt x="233586" y="92348"/>
                    <a:pt x="233363" y="92125"/>
                    <a:pt x="233177" y="91901"/>
                  </a:cubicBezTo>
                  <a:cubicBezTo>
                    <a:pt x="233177" y="91901"/>
                    <a:pt x="233177" y="91864"/>
                    <a:pt x="233139" y="91864"/>
                  </a:cubicBezTo>
                  <a:cubicBezTo>
                    <a:pt x="233102" y="91827"/>
                    <a:pt x="233102" y="91827"/>
                    <a:pt x="233065" y="91827"/>
                  </a:cubicBezTo>
                  <a:cubicBezTo>
                    <a:pt x="232805" y="91604"/>
                    <a:pt x="232470" y="91381"/>
                    <a:pt x="232135" y="91269"/>
                  </a:cubicBezTo>
                  <a:cubicBezTo>
                    <a:pt x="232023" y="91232"/>
                    <a:pt x="231986" y="91195"/>
                    <a:pt x="231874" y="91157"/>
                  </a:cubicBezTo>
                  <a:cubicBezTo>
                    <a:pt x="231540" y="91046"/>
                    <a:pt x="231168" y="90971"/>
                    <a:pt x="230833" y="90971"/>
                  </a:cubicBezTo>
                  <a:lnTo>
                    <a:pt x="198500" y="90971"/>
                  </a:lnTo>
                  <a:cubicBezTo>
                    <a:pt x="197161" y="87883"/>
                    <a:pt x="195300" y="85055"/>
                    <a:pt x="192882" y="82600"/>
                  </a:cubicBezTo>
                  <a:lnTo>
                    <a:pt x="141871" y="31700"/>
                  </a:lnTo>
                  <a:cubicBezTo>
                    <a:pt x="153740" y="28016"/>
                    <a:pt x="166762" y="25970"/>
                    <a:pt x="179933" y="25970"/>
                  </a:cubicBezTo>
                  <a:cubicBezTo>
                    <a:pt x="205420" y="25970"/>
                    <a:pt x="225326" y="34677"/>
                    <a:pt x="235930" y="49076"/>
                  </a:cubicBezTo>
                  <a:cubicBezTo>
                    <a:pt x="241325" y="56443"/>
                    <a:pt x="244264" y="65261"/>
                    <a:pt x="244264" y="75232"/>
                  </a:cubicBezTo>
                  <a:cubicBezTo>
                    <a:pt x="244264" y="79400"/>
                    <a:pt x="243706" y="83455"/>
                    <a:pt x="242627" y="87324"/>
                  </a:cubicBezTo>
                  <a:cubicBezTo>
                    <a:pt x="242144" y="89110"/>
                    <a:pt x="243185" y="90971"/>
                    <a:pt x="244971" y="91454"/>
                  </a:cubicBezTo>
                  <a:cubicBezTo>
                    <a:pt x="245269" y="91566"/>
                    <a:pt x="245566" y="91566"/>
                    <a:pt x="245864" y="91566"/>
                  </a:cubicBezTo>
                  <a:cubicBezTo>
                    <a:pt x="247352" y="91566"/>
                    <a:pt x="248692" y="90599"/>
                    <a:pt x="249101" y="89073"/>
                  </a:cubicBezTo>
                  <a:cubicBezTo>
                    <a:pt x="250329" y="84646"/>
                    <a:pt x="250962" y="79957"/>
                    <a:pt x="250962" y="75158"/>
                  </a:cubicBezTo>
                  <a:cubicBezTo>
                    <a:pt x="250962" y="62805"/>
                    <a:pt x="246645" y="50415"/>
                    <a:pt x="237567" y="40444"/>
                  </a:cubicBezTo>
                  <a:cubicBezTo>
                    <a:pt x="226145" y="27868"/>
                    <a:pt x="207244" y="19124"/>
                    <a:pt x="179859" y="19124"/>
                  </a:cubicBezTo>
                  <a:cubicBezTo>
                    <a:pt x="164604" y="19124"/>
                    <a:pt x="149684" y="21654"/>
                    <a:pt x="136364" y="26194"/>
                  </a:cubicBezTo>
                  <a:lnTo>
                    <a:pt x="127918" y="17748"/>
                  </a:lnTo>
                  <a:lnTo>
                    <a:pt x="124644" y="14101"/>
                  </a:lnTo>
                  <a:lnTo>
                    <a:pt x="118803" y="8037"/>
                  </a:lnTo>
                  <a:cubicBezTo>
                    <a:pt x="113854" y="2902"/>
                    <a:pt x="107193" y="37"/>
                    <a:pt x="100013" y="0"/>
                  </a:cubicBezTo>
                  <a:cubicBezTo>
                    <a:pt x="92869" y="37"/>
                    <a:pt x="86172" y="2753"/>
                    <a:pt x="81148" y="7851"/>
                  </a:cubicBezTo>
                  <a:lnTo>
                    <a:pt x="7813" y="82488"/>
                  </a:lnTo>
                  <a:cubicBezTo>
                    <a:pt x="2753" y="87622"/>
                    <a:pt x="0" y="94431"/>
                    <a:pt x="0" y="101612"/>
                  </a:cubicBezTo>
                  <a:lnTo>
                    <a:pt x="0" y="288054"/>
                  </a:lnTo>
                  <a:cubicBezTo>
                    <a:pt x="0" y="296500"/>
                    <a:pt x="6883" y="303384"/>
                    <a:pt x="15330" y="303384"/>
                  </a:cubicBezTo>
                  <a:lnTo>
                    <a:pt x="130258" y="303495"/>
                  </a:lnTo>
                  <a:lnTo>
                    <a:pt x="200319" y="303495"/>
                  </a:lnTo>
                  <a:cubicBezTo>
                    <a:pt x="207835" y="303495"/>
                    <a:pt x="214867" y="300556"/>
                    <a:pt x="220188" y="295273"/>
                  </a:cubicBezTo>
                  <a:lnTo>
                    <a:pt x="295755" y="219705"/>
                  </a:lnTo>
                  <a:cubicBezTo>
                    <a:pt x="303903" y="211594"/>
                    <a:pt x="303903" y="198348"/>
                    <a:pt x="295755" y="190200"/>
                  </a:cubicBezTo>
                  <a:cubicBezTo>
                    <a:pt x="291848" y="186256"/>
                    <a:pt x="286602" y="184098"/>
                    <a:pt x="281021" y="184098"/>
                  </a:cubicBezTo>
                  <a:close/>
                  <a:moveTo>
                    <a:pt x="200322" y="296761"/>
                  </a:moveTo>
                  <a:lnTo>
                    <a:pt x="130335" y="296761"/>
                  </a:lnTo>
                  <a:lnTo>
                    <a:pt x="68571" y="295534"/>
                  </a:lnTo>
                  <a:lnTo>
                    <a:pt x="104290" y="245490"/>
                  </a:lnTo>
                  <a:cubicBezTo>
                    <a:pt x="112624" y="233807"/>
                    <a:pt x="126168" y="226850"/>
                    <a:pt x="140492" y="226850"/>
                  </a:cubicBezTo>
                  <a:lnTo>
                    <a:pt x="140530" y="226850"/>
                  </a:lnTo>
                  <a:lnTo>
                    <a:pt x="206832" y="226887"/>
                  </a:lnTo>
                  <a:cubicBezTo>
                    <a:pt x="212897" y="226887"/>
                    <a:pt x="217808" y="231798"/>
                    <a:pt x="217808" y="237900"/>
                  </a:cubicBezTo>
                  <a:cubicBezTo>
                    <a:pt x="217808" y="238160"/>
                    <a:pt x="217808" y="238458"/>
                    <a:pt x="217771" y="238718"/>
                  </a:cubicBezTo>
                  <a:cubicBezTo>
                    <a:pt x="217101" y="239537"/>
                    <a:pt x="216915" y="240616"/>
                    <a:pt x="217138" y="241620"/>
                  </a:cubicBezTo>
                  <a:cubicBezTo>
                    <a:pt x="215613" y="245862"/>
                    <a:pt x="211557" y="248913"/>
                    <a:pt x="206795" y="248913"/>
                  </a:cubicBezTo>
                  <a:lnTo>
                    <a:pt x="151766" y="248913"/>
                  </a:lnTo>
                  <a:cubicBezTo>
                    <a:pt x="149906" y="248913"/>
                    <a:pt x="148380" y="250401"/>
                    <a:pt x="148380" y="252299"/>
                  </a:cubicBezTo>
                  <a:cubicBezTo>
                    <a:pt x="148380" y="254196"/>
                    <a:pt x="149868" y="255685"/>
                    <a:pt x="151766" y="255685"/>
                  </a:cubicBezTo>
                  <a:lnTo>
                    <a:pt x="206795" y="255685"/>
                  </a:lnTo>
                  <a:cubicBezTo>
                    <a:pt x="215204" y="255685"/>
                    <a:pt x="222273" y="249806"/>
                    <a:pt x="224096" y="241955"/>
                  </a:cubicBezTo>
                  <a:lnTo>
                    <a:pt x="271014" y="195037"/>
                  </a:lnTo>
                  <a:cubicBezTo>
                    <a:pt x="273693" y="192358"/>
                    <a:pt x="277228" y="190907"/>
                    <a:pt x="280986" y="190907"/>
                  </a:cubicBezTo>
                  <a:cubicBezTo>
                    <a:pt x="284744" y="190907"/>
                    <a:pt x="288278" y="192395"/>
                    <a:pt x="290958" y="195037"/>
                  </a:cubicBezTo>
                  <a:cubicBezTo>
                    <a:pt x="296464" y="200544"/>
                    <a:pt x="296464" y="209473"/>
                    <a:pt x="290958" y="214981"/>
                  </a:cubicBezTo>
                  <a:lnTo>
                    <a:pt x="215390" y="290548"/>
                  </a:lnTo>
                  <a:cubicBezTo>
                    <a:pt x="211372" y="294566"/>
                    <a:pt x="206014" y="296762"/>
                    <a:pt x="200322" y="296762"/>
                  </a:cubicBezTo>
                  <a:close/>
                  <a:moveTo>
                    <a:pt x="6774" y="101756"/>
                  </a:moveTo>
                  <a:cubicBezTo>
                    <a:pt x="6774" y="96324"/>
                    <a:pt x="8857" y="91226"/>
                    <a:pt x="12652" y="87357"/>
                  </a:cubicBezTo>
                  <a:lnTo>
                    <a:pt x="85950" y="12720"/>
                  </a:lnTo>
                  <a:cubicBezTo>
                    <a:pt x="89634" y="8962"/>
                    <a:pt x="94582" y="6879"/>
                    <a:pt x="99865" y="6879"/>
                  </a:cubicBezTo>
                  <a:lnTo>
                    <a:pt x="99977" y="6879"/>
                  </a:lnTo>
                  <a:cubicBezTo>
                    <a:pt x="105297" y="6916"/>
                    <a:pt x="110246" y="9037"/>
                    <a:pt x="113929" y="12869"/>
                  </a:cubicBezTo>
                  <a:lnTo>
                    <a:pt x="119696" y="18859"/>
                  </a:lnTo>
                  <a:lnTo>
                    <a:pt x="122970" y="22469"/>
                  </a:lnTo>
                  <a:cubicBezTo>
                    <a:pt x="123008" y="22506"/>
                    <a:pt x="123045" y="22580"/>
                    <a:pt x="123082" y="22617"/>
                  </a:cubicBezTo>
                  <a:lnTo>
                    <a:pt x="129407" y="28943"/>
                  </a:lnTo>
                  <a:cubicBezTo>
                    <a:pt x="116422" y="34300"/>
                    <a:pt x="105335" y="41667"/>
                    <a:pt x="97744" y="50485"/>
                  </a:cubicBezTo>
                  <a:cubicBezTo>
                    <a:pt x="96516" y="51899"/>
                    <a:pt x="96702" y="54020"/>
                    <a:pt x="98116" y="55248"/>
                  </a:cubicBezTo>
                  <a:cubicBezTo>
                    <a:pt x="99530" y="56476"/>
                    <a:pt x="101651" y="56290"/>
                    <a:pt x="102879" y="54876"/>
                  </a:cubicBezTo>
                  <a:cubicBezTo>
                    <a:pt x="110171" y="46355"/>
                    <a:pt x="121408" y="39249"/>
                    <a:pt x="134653" y="34188"/>
                  </a:cubicBezTo>
                  <a:lnTo>
                    <a:pt x="187971" y="87394"/>
                  </a:lnTo>
                  <a:cubicBezTo>
                    <a:pt x="189050" y="88510"/>
                    <a:pt x="189980" y="89738"/>
                    <a:pt x="190799" y="91040"/>
                  </a:cubicBezTo>
                  <a:lnTo>
                    <a:pt x="154150" y="91040"/>
                  </a:lnTo>
                  <a:cubicBezTo>
                    <a:pt x="153778" y="91040"/>
                    <a:pt x="153443" y="91115"/>
                    <a:pt x="153108" y="91226"/>
                  </a:cubicBezTo>
                  <a:cubicBezTo>
                    <a:pt x="152996" y="91264"/>
                    <a:pt x="152959" y="91301"/>
                    <a:pt x="152847" y="91338"/>
                  </a:cubicBezTo>
                  <a:cubicBezTo>
                    <a:pt x="152513" y="91487"/>
                    <a:pt x="152215" y="91673"/>
                    <a:pt x="151917" y="91896"/>
                  </a:cubicBezTo>
                  <a:cubicBezTo>
                    <a:pt x="151880" y="91933"/>
                    <a:pt x="151880" y="91933"/>
                    <a:pt x="151843" y="91933"/>
                  </a:cubicBezTo>
                  <a:cubicBezTo>
                    <a:pt x="151843" y="91933"/>
                    <a:pt x="151843" y="91970"/>
                    <a:pt x="151806" y="91970"/>
                  </a:cubicBezTo>
                  <a:cubicBezTo>
                    <a:pt x="151582" y="92194"/>
                    <a:pt x="151359" y="92417"/>
                    <a:pt x="151248" y="92677"/>
                  </a:cubicBezTo>
                  <a:lnTo>
                    <a:pt x="127324" y="133344"/>
                  </a:lnTo>
                  <a:cubicBezTo>
                    <a:pt x="127286" y="133382"/>
                    <a:pt x="127286" y="133419"/>
                    <a:pt x="127286" y="133456"/>
                  </a:cubicBezTo>
                  <a:cubicBezTo>
                    <a:pt x="127138" y="133679"/>
                    <a:pt x="127063" y="133940"/>
                    <a:pt x="126989" y="134237"/>
                  </a:cubicBezTo>
                  <a:cubicBezTo>
                    <a:pt x="126989" y="134275"/>
                    <a:pt x="126952" y="134312"/>
                    <a:pt x="126952" y="134349"/>
                  </a:cubicBezTo>
                  <a:cubicBezTo>
                    <a:pt x="126914" y="134572"/>
                    <a:pt x="126840" y="134833"/>
                    <a:pt x="126840" y="135056"/>
                  </a:cubicBezTo>
                  <a:cubicBezTo>
                    <a:pt x="126840" y="135093"/>
                    <a:pt x="126877" y="135168"/>
                    <a:pt x="126877" y="135205"/>
                  </a:cubicBezTo>
                  <a:cubicBezTo>
                    <a:pt x="126877" y="135279"/>
                    <a:pt x="126914" y="135354"/>
                    <a:pt x="126914" y="135428"/>
                  </a:cubicBezTo>
                  <a:cubicBezTo>
                    <a:pt x="126952" y="135688"/>
                    <a:pt x="127026" y="135949"/>
                    <a:pt x="127063" y="136209"/>
                  </a:cubicBezTo>
                  <a:cubicBezTo>
                    <a:pt x="127100" y="136247"/>
                    <a:pt x="127100" y="136284"/>
                    <a:pt x="127100" y="136321"/>
                  </a:cubicBezTo>
                  <a:cubicBezTo>
                    <a:pt x="127212" y="136619"/>
                    <a:pt x="127361" y="136879"/>
                    <a:pt x="127547" y="137102"/>
                  </a:cubicBezTo>
                  <a:cubicBezTo>
                    <a:pt x="127584" y="137140"/>
                    <a:pt x="127584" y="137140"/>
                    <a:pt x="127584" y="137177"/>
                  </a:cubicBezTo>
                  <a:lnTo>
                    <a:pt x="180530" y="202326"/>
                  </a:lnTo>
                  <a:cubicBezTo>
                    <a:pt x="183469" y="205935"/>
                    <a:pt x="187785" y="207981"/>
                    <a:pt x="192436" y="207981"/>
                  </a:cubicBezTo>
                  <a:cubicBezTo>
                    <a:pt x="192920" y="207981"/>
                    <a:pt x="193403" y="207944"/>
                    <a:pt x="193850" y="207907"/>
                  </a:cubicBezTo>
                  <a:lnTo>
                    <a:pt x="193850" y="220186"/>
                  </a:lnTo>
                  <a:lnTo>
                    <a:pt x="140495" y="220148"/>
                  </a:lnTo>
                  <a:lnTo>
                    <a:pt x="140457" y="220148"/>
                  </a:lnTo>
                  <a:cubicBezTo>
                    <a:pt x="123937" y="220148"/>
                    <a:pt x="108348" y="228185"/>
                    <a:pt x="98748" y="241617"/>
                  </a:cubicBezTo>
                  <a:lnTo>
                    <a:pt x="59346" y="296795"/>
                  </a:lnTo>
                  <a:lnTo>
                    <a:pt x="15330" y="296795"/>
                  </a:lnTo>
                  <a:cubicBezTo>
                    <a:pt x="10605" y="296795"/>
                    <a:pt x="6736" y="292926"/>
                    <a:pt x="6736" y="288200"/>
                  </a:cubicBezTo>
                  <a:close/>
                  <a:moveTo>
                    <a:pt x="230164" y="99933"/>
                  </a:moveTo>
                  <a:lnTo>
                    <a:pt x="248841" y="131633"/>
                  </a:lnTo>
                  <a:lnTo>
                    <a:pt x="200323" y="131633"/>
                  </a:lnTo>
                  <a:close/>
                  <a:moveTo>
                    <a:pt x="184660" y="131633"/>
                  </a:moveTo>
                  <a:lnTo>
                    <a:pt x="136141" y="131633"/>
                  </a:lnTo>
                  <a:lnTo>
                    <a:pt x="154819" y="99933"/>
                  </a:lnTo>
                  <a:close/>
                  <a:moveTo>
                    <a:pt x="192473" y="201210"/>
                  </a:moveTo>
                  <a:cubicBezTo>
                    <a:pt x="189869" y="201210"/>
                    <a:pt x="187450" y="200057"/>
                    <a:pt x="185813" y="198048"/>
                  </a:cubicBezTo>
                  <a:lnTo>
                    <a:pt x="137370" y="138405"/>
                  </a:lnTo>
                  <a:lnTo>
                    <a:pt x="189125" y="138405"/>
                  </a:lnTo>
                  <a:lnTo>
                    <a:pt x="189125" y="178105"/>
                  </a:lnTo>
                  <a:cubicBezTo>
                    <a:pt x="189125" y="179966"/>
                    <a:pt x="190613" y="181491"/>
                    <a:pt x="192511" y="181491"/>
                  </a:cubicBezTo>
                  <a:cubicBezTo>
                    <a:pt x="194371" y="181491"/>
                    <a:pt x="195897" y="180003"/>
                    <a:pt x="195897" y="178105"/>
                  </a:cubicBezTo>
                  <a:lnTo>
                    <a:pt x="195897" y="138405"/>
                  </a:lnTo>
                  <a:lnTo>
                    <a:pt x="247652" y="138405"/>
                  </a:lnTo>
                  <a:lnTo>
                    <a:pt x="199208" y="198048"/>
                  </a:lnTo>
                  <a:cubicBezTo>
                    <a:pt x="197497" y="200057"/>
                    <a:pt x="195079" y="201210"/>
                    <a:pt x="192474" y="201210"/>
                  </a:cubicBezTo>
                  <a:close/>
                  <a:moveTo>
                    <a:pt x="192473" y="130108"/>
                  </a:moveTo>
                  <a:lnTo>
                    <a:pt x="162001" y="97738"/>
                  </a:lnTo>
                  <a:lnTo>
                    <a:pt x="222946" y="97738"/>
                  </a:ln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777987DB-9BA8-38E9-C6FD-0D64E02B60D8}"/>
                </a:ext>
              </a:extLst>
            </p:cNvPr>
            <p:cNvSpPr/>
            <p:nvPr/>
          </p:nvSpPr>
          <p:spPr>
            <a:xfrm>
              <a:off x="11116672" y="1805759"/>
              <a:ext cx="33076" cy="6771"/>
            </a:xfrm>
            <a:custGeom>
              <a:avLst/>
              <a:gdLst>
                <a:gd name="csX0" fmla="*/ 0 w 33076"/>
                <a:gd name="csY0" fmla="*/ 3386 h 6771"/>
                <a:gd name="csX1" fmla="*/ 3386 w 33076"/>
                <a:gd name="csY1" fmla="*/ 6772 h 6771"/>
                <a:gd name="csX2" fmla="*/ 29691 w 33076"/>
                <a:gd name="csY2" fmla="*/ 6772 h 6771"/>
                <a:gd name="csX3" fmla="*/ 33077 w 33076"/>
                <a:gd name="csY3" fmla="*/ 3386 h 6771"/>
                <a:gd name="csX4" fmla="*/ 29691 w 33076"/>
                <a:gd name="csY4" fmla="*/ 0 h 6771"/>
                <a:gd name="csX5" fmla="*/ 3386 w 33076"/>
                <a:gd name="csY5" fmla="*/ 0 h 6771"/>
                <a:gd name="csX6" fmla="*/ 0 w 33076"/>
                <a:gd name="csY6" fmla="*/ 3386 h 67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076" h="6771">
                  <a:moveTo>
                    <a:pt x="0" y="3386"/>
                  </a:moveTo>
                  <a:cubicBezTo>
                    <a:pt x="0" y="5246"/>
                    <a:pt x="1488" y="6772"/>
                    <a:pt x="3386" y="6772"/>
                  </a:cubicBezTo>
                  <a:lnTo>
                    <a:pt x="29691" y="6772"/>
                  </a:lnTo>
                  <a:cubicBezTo>
                    <a:pt x="31551" y="6772"/>
                    <a:pt x="33077" y="5283"/>
                    <a:pt x="33077" y="3386"/>
                  </a:cubicBezTo>
                  <a:cubicBezTo>
                    <a:pt x="33077" y="1488"/>
                    <a:pt x="31589" y="0"/>
                    <a:pt x="29691" y="0"/>
                  </a:cubicBezTo>
                  <a:lnTo>
                    <a:pt x="3386" y="0"/>
                  </a:lnTo>
                  <a:cubicBezTo>
                    <a:pt x="1488" y="0"/>
                    <a:pt x="0" y="1526"/>
                    <a:pt x="0" y="3386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자유형: 도형 85">
              <a:extLst>
                <a:ext uri="{FF2B5EF4-FFF2-40B4-BE49-F238E27FC236}">
                  <a16:creationId xmlns:a16="http://schemas.microsoft.com/office/drawing/2014/main" id="{C56CEDCB-4ECB-EF25-F571-1055E62B4CD0}"/>
                </a:ext>
              </a:extLst>
            </p:cNvPr>
            <p:cNvSpPr/>
            <p:nvPr/>
          </p:nvSpPr>
          <p:spPr>
            <a:xfrm>
              <a:off x="11129870" y="1768698"/>
              <a:ext cx="23458" cy="23449"/>
            </a:xfrm>
            <a:custGeom>
              <a:avLst/>
              <a:gdLst>
                <a:gd name="csX0" fmla="*/ 22482 w 23458"/>
                <a:gd name="csY0" fmla="*/ 17720 h 23449"/>
                <a:gd name="csX1" fmla="*/ 5739 w 23458"/>
                <a:gd name="csY1" fmla="*/ 977 h 23449"/>
                <a:gd name="csX2" fmla="*/ 977 w 23458"/>
                <a:gd name="csY2" fmla="*/ 977 h 23449"/>
                <a:gd name="csX3" fmla="*/ 977 w 23458"/>
                <a:gd name="csY3" fmla="*/ 5739 h 23449"/>
                <a:gd name="csX4" fmla="*/ 17720 w 23458"/>
                <a:gd name="csY4" fmla="*/ 22482 h 23449"/>
                <a:gd name="csX5" fmla="*/ 20101 w 23458"/>
                <a:gd name="csY5" fmla="*/ 23450 h 23449"/>
                <a:gd name="csX6" fmla="*/ 22482 w 23458"/>
                <a:gd name="csY6" fmla="*/ 22482 h 23449"/>
                <a:gd name="csX7" fmla="*/ 22482 w 23458"/>
                <a:gd name="csY7" fmla="*/ 17720 h 234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458" h="23449">
                  <a:moveTo>
                    <a:pt x="22482" y="17720"/>
                  </a:moveTo>
                  <a:lnTo>
                    <a:pt x="5739" y="977"/>
                  </a:lnTo>
                  <a:cubicBezTo>
                    <a:pt x="4437" y="-326"/>
                    <a:pt x="2279" y="-326"/>
                    <a:pt x="977" y="977"/>
                  </a:cubicBezTo>
                  <a:cubicBezTo>
                    <a:pt x="-326" y="2279"/>
                    <a:pt x="-326" y="4437"/>
                    <a:pt x="977" y="5739"/>
                  </a:cubicBezTo>
                  <a:lnTo>
                    <a:pt x="17720" y="22482"/>
                  </a:lnTo>
                  <a:cubicBezTo>
                    <a:pt x="18389" y="23152"/>
                    <a:pt x="19245" y="23450"/>
                    <a:pt x="20101" y="23450"/>
                  </a:cubicBezTo>
                  <a:cubicBezTo>
                    <a:pt x="20957" y="23450"/>
                    <a:pt x="21850" y="23115"/>
                    <a:pt x="22482" y="22482"/>
                  </a:cubicBezTo>
                  <a:cubicBezTo>
                    <a:pt x="23785" y="21180"/>
                    <a:pt x="23785" y="19059"/>
                    <a:pt x="22482" y="17720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7" name="자유형: 도형 86">
              <a:extLst>
                <a:ext uri="{FF2B5EF4-FFF2-40B4-BE49-F238E27FC236}">
                  <a16:creationId xmlns:a16="http://schemas.microsoft.com/office/drawing/2014/main" id="{AFA8566F-022F-47A6-ABFC-A6184C106B21}"/>
                </a:ext>
              </a:extLst>
            </p:cNvPr>
            <p:cNvSpPr/>
            <p:nvPr/>
          </p:nvSpPr>
          <p:spPr>
            <a:xfrm>
              <a:off x="11129870" y="1826114"/>
              <a:ext cx="23458" cy="23477"/>
            </a:xfrm>
            <a:custGeom>
              <a:avLst/>
              <a:gdLst>
                <a:gd name="csX0" fmla="*/ 17720 w 23458"/>
                <a:gd name="csY0" fmla="*/ 1005 h 23477"/>
                <a:gd name="csX1" fmla="*/ 977 w 23458"/>
                <a:gd name="csY1" fmla="*/ 17748 h 23477"/>
                <a:gd name="csX2" fmla="*/ 977 w 23458"/>
                <a:gd name="csY2" fmla="*/ 22510 h 23477"/>
                <a:gd name="csX3" fmla="*/ 3358 w 23458"/>
                <a:gd name="csY3" fmla="*/ 23477 h 23477"/>
                <a:gd name="csX4" fmla="*/ 5739 w 23458"/>
                <a:gd name="csY4" fmla="*/ 22510 h 23477"/>
                <a:gd name="csX5" fmla="*/ 22482 w 23458"/>
                <a:gd name="csY5" fmla="*/ 5767 h 23477"/>
                <a:gd name="csX6" fmla="*/ 22482 w 23458"/>
                <a:gd name="csY6" fmla="*/ 1005 h 23477"/>
                <a:gd name="csX7" fmla="*/ 17720 w 23458"/>
                <a:gd name="csY7" fmla="*/ 1005 h 234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458" h="23477">
                  <a:moveTo>
                    <a:pt x="17720" y="1005"/>
                  </a:moveTo>
                  <a:lnTo>
                    <a:pt x="977" y="17748"/>
                  </a:lnTo>
                  <a:cubicBezTo>
                    <a:pt x="-326" y="19050"/>
                    <a:pt x="-326" y="21208"/>
                    <a:pt x="977" y="22510"/>
                  </a:cubicBezTo>
                  <a:cubicBezTo>
                    <a:pt x="1646" y="23180"/>
                    <a:pt x="2502" y="23477"/>
                    <a:pt x="3358" y="23477"/>
                  </a:cubicBezTo>
                  <a:cubicBezTo>
                    <a:pt x="4214" y="23477"/>
                    <a:pt x="5107" y="23143"/>
                    <a:pt x="5739" y="22510"/>
                  </a:cubicBezTo>
                  <a:lnTo>
                    <a:pt x="22482" y="5767"/>
                  </a:lnTo>
                  <a:cubicBezTo>
                    <a:pt x="23785" y="4465"/>
                    <a:pt x="23785" y="2307"/>
                    <a:pt x="22482" y="1005"/>
                  </a:cubicBezTo>
                  <a:cubicBezTo>
                    <a:pt x="21180" y="-335"/>
                    <a:pt x="19022" y="-335"/>
                    <a:pt x="17720" y="1005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49D62150-7C57-E901-213C-2D87A049EACE}"/>
                </a:ext>
              </a:extLst>
            </p:cNvPr>
            <p:cNvSpPr/>
            <p:nvPr/>
          </p:nvSpPr>
          <p:spPr>
            <a:xfrm>
              <a:off x="11305722" y="1805763"/>
              <a:ext cx="33076" cy="6771"/>
            </a:xfrm>
            <a:custGeom>
              <a:avLst/>
              <a:gdLst>
                <a:gd name="csX0" fmla="*/ 29691 w 33076"/>
                <a:gd name="csY0" fmla="*/ 0 h 6771"/>
                <a:gd name="csX1" fmla="*/ 3386 w 33076"/>
                <a:gd name="csY1" fmla="*/ 0 h 6771"/>
                <a:gd name="csX2" fmla="*/ 0 w 33076"/>
                <a:gd name="csY2" fmla="*/ 3386 h 6771"/>
                <a:gd name="csX3" fmla="*/ 3386 w 33076"/>
                <a:gd name="csY3" fmla="*/ 6772 h 6771"/>
                <a:gd name="csX4" fmla="*/ 29691 w 33076"/>
                <a:gd name="csY4" fmla="*/ 6772 h 6771"/>
                <a:gd name="csX5" fmla="*/ 33077 w 33076"/>
                <a:gd name="csY5" fmla="*/ 3386 h 6771"/>
                <a:gd name="csX6" fmla="*/ 29691 w 33076"/>
                <a:gd name="csY6" fmla="*/ 0 h 67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076" h="6771">
                  <a:moveTo>
                    <a:pt x="29691" y="0"/>
                  </a:moveTo>
                  <a:lnTo>
                    <a:pt x="3386" y="0"/>
                  </a:lnTo>
                  <a:cubicBezTo>
                    <a:pt x="1526" y="0"/>
                    <a:pt x="0" y="1488"/>
                    <a:pt x="0" y="3386"/>
                  </a:cubicBezTo>
                  <a:cubicBezTo>
                    <a:pt x="0" y="5283"/>
                    <a:pt x="1488" y="6772"/>
                    <a:pt x="3386" y="6772"/>
                  </a:cubicBezTo>
                  <a:lnTo>
                    <a:pt x="29691" y="6772"/>
                  </a:lnTo>
                  <a:cubicBezTo>
                    <a:pt x="31551" y="6772"/>
                    <a:pt x="33077" y="5283"/>
                    <a:pt x="33077" y="3386"/>
                  </a:cubicBezTo>
                  <a:cubicBezTo>
                    <a:pt x="33077" y="1525"/>
                    <a:pt x="31551" y="0"/>
                    <a:pt x="29691" y="0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9" name="자유형: 도형 88">
              <a:extLst>
                <a:ext uri="{FF2B5EF4-FFF2-40B4-BE49-F238E27FC236}">
                  <a16:creationId xmlns:a16="http://schemas.microsoft.com/office/drawing/2014/main" id="{9FA8691A-AEC3-EBFE-B659-83F546A88F39}"/>
                </a:ext>
              </a:extLst>
            </p:cNvPr>
            <p:cNvSpPr/>
            <p:nvPr/>
          </p:nvSpPr>
          <p:spPr>
            <a:xfrm>
              <a:off x="11302138" y="1768727"/>
              <a:ext cx="23458" cy="23449"/>
            </a:xfrm>
            <a:custGeom>
              <a:avLst/>
              <a:gdLst>
                <a:gd name="csX0" fmla="*/ 977 w 23458"/>
                <a:gd name="csY0" fmla="*/ 22482 h 23449"/>
                <a:gd name="csX1" fmla="*/ 3358 w 23458"/>
                <a:gd name="csY1" fmla="*/ 23450 h 23449"/>
                <a:gd name="csX2" fmla="*/ 5739 w 23458"/>
                <a:gd name="csY2" fmla="*/ 22482 h 23449"/>
                <a:gd name="csX3" fmla="*/ 22482 w 23458"/>
                <a:gd name="csY3" fmla="*/ 5739 h 23449"/>
                <a:gd name="csX4" fmla="*/ 22482 w 23458"/>
                <a:gd name="csY4" fmla="*/ 977 h 23449"/>
                <a:gd name="csX5" fmla="*/ 17720 w 23458"/>
                <a:gd name="csY5" fmla="*/ 977 h 23449"/>
                <a:gd name="csX6" fmla="*/ 977 w 23458"/>
                <a:gd name="csY6" fmla="*/ 17720 h 23449"/>
                <a:gd name="csX7" fmla="*/ 977 w 23458"/>
                <a:gd name="csY7" fmla="*/ 22482 h 234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458" h="23449">
                  <a:moveTo>
                    <a:pt x="977" y="22482"/>
                  </a:moveTo>
                  <a:cubicBezTo>
                    <a:pt x="1646" y="23152"/>
                    <a:pt x="2502" y="23450"/>
                    <a:pt x="3358" y="23450"/>
                  </a:cubicBezTo>
                  <a:cubicBezTo>
                    <a:pt x="4214" y="23450"/>
                    <a:pt x="5107" y="23115"/>
                    <a:pt x="5739" y="22482"/>
                  </a:cubicBezTo>
                  <a:lnTo>
                    <a:pt x="22482" y="5739"/>
                  </a:lnTo>
                  <a:cubicBezTo>
                    <a:pt x="23784" y="4437"/>
                    <a:pt x="23784" y="2279"/>
                    <a:pt x="22482" y="977"/>
                  </a:cubicBezTo>
                  <a:cubicBezTo>
                    <a:pt x="21180" y="-326"/>
                    <a:pt x="19022" y="-326"/>
                    <a:pt x="17720" y="977"/>
                  </a:cubicBezTo>
                  <a:lnTo>
                    <a:pt x="977" y="17720"/>
                  </a:lnTo>
                  <a:cubicBezTo>
                    <a:pt x="-326" y="19022"/>
                    <a:pt x="-326" y="21143"/>
                    <a:pt x="977" y="22482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자유형: 도형 89">
              <a:extLst>
                <a:ext uri="{FF2B5EF4-FFF2-40B4-BE49-F238E27FC236}">
                  <a16:creationId xmlns:a16="http://schemas.microsoft.com/office/drawing/2014/main" id="{3A612FE3-363E-A88C-18DF-CBCA29C75A8B}"/>
                </a:ext>
              </a:extLst>
            </p:cNvPr>
            <p:cNvSpPr/>
            <p:nvPr/>
          </p:nvSpPr>
          <p:spPr>
            <a:xfrm>
              <a:off x="11302138" y="1826141"/>
              <a:ext cx="23458" cy="23449"/>
            </a:xfrm>
            <a:custGeom>
              <a:avLst/>
              <a:gdLst>
                <a:gd name="csX0" fmla="*/ 977 w 23458"/>
                <a:gd name="csY0" fmla="*/ 5739 h 23449"/>
                <a:gd name="csX1" fmla="*/ 17720 w 23458"/>
                <a:gd name="csY1" fmla="*/ 22482 h 23449"/>
                <a:gd name="csX2" fmla="*/ 20101 w 23458"/>
                <a:gd name="csY2" fmla="*/ 23450 h 23449"/>
                <a:gd name="csX3" fmla="*/ 22482 w 23458"/>
                <a:gd name="csY3" fmla="*/ 22482 h 23449"/>
                <a:gd name="csX4" fmla="*/ 22482 w 23458"/>
                <a:gd name="csY4" fmla="*/ 17720 h 23449"/>
                <a:gd name="csX5" fmla="*/ 5739 w 23458"/>
                <a:gd name="csY5" fmla="*/ 977 h 23449"/>
                <a:gd name="csX6" fmla="*/ 977 w 23458"/>
                <a:gd name="csY6" fmla="*/ 977 h 23449"/>
                <a:gd name="csX7" fmla="*/ 977 w 23458"/>
                <a:gd name="csY7" fmla="*/ 5739 h 234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3458" h="23449">
                  <a:moveTo>
                    <a:pt x="977" y="5739"/>
                  </a:moveTo>
                  <a:lnTo>
                    <a:pt x="17720" y="22482"/>
                  </a:lnTo>
                  <a:cubicBezTo>
                    <a:pt x="18389" y="23152"/>
                    <a:pt x="19245" y="23450"/>
                    <a:pt x="20101" y="23450"/>
                  </a:cubicBezTo>
                  <a:cubicBezTo>
                    <a:pt x="20957" y="23450"/>
                    <a:pt x="21850" y="23115"/>
                    <a:pt x="22482" y="22482"/>
                  </a:cubicBezTo>
                  <a:cubicBezTo>
                    <a:pt x="23784" y="21180"/>
                    <a:pt x="23784" y="19022"/>
                    <a:pt x="22482" y="17720"/>
                  </a:cubicBezTo>
                  <a:lnTo>
                    <a:pt x="5739" y="977"/>
                  </a:lnTo>
                  <a:cubicBezTo>
                    <a:pt x="4437" y="-326"/>
                    <a:pt x="2279" y="-326"/>
                    <a:pt x="977" y="977"/>
                  </a:cubicBezTo>
                  <a:cubicBezTo>
                    <a:pt x="-326" y="2279"/>
                    <a:pt x="-326" y="4437"/>
                    <a:pt x="977" y="5739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2074185B-0579-8053-AB24-7B91054C348F}"/>
                </a:ext>
              </a:extLst>
            </p:cNvPr>
            <p:cNvSpPr/>
            <p:nvPr/>
          </p:nvSpPr>
          <p:spPr>
            <a:xfrm>
              <a:off x="10992761" y="1333379"/>
              <a:ext cx="86447" cy="81036"/>
            </a:xfrm>
            <a:custGeom>
              <a:avLst/>
              <a:gdLst>
                <a:gd name="csX0" fmla="*/ 19660 w 86447"/>
                <a:gd name="csY0" fmla="*/ 51941 h 81036"/>
                <a:gd name="csX1" fmla="*/ 15270 w 86447"/>
                <a:gd name="csY1" fmla="*/ 77055 h 81036"/>
                <a:gd name="csX2" fmla="*/ 16609 w 86447"/>
                <a:gd name="csY2" fmla="*/ 80367 h 81036"/>
                <a:gd name="csX3" fmla="*/ 20144 w 86447"/>
                <a:gd name="csY3" fmla="*/ 80664 h 81036"/>
                <a:gd name="csX4" fmla="*/ 43212 w 86447"/>
                <a:gd name="csY4" fmla="*/ 68795 h 81036"/>
                <a:gd name="csX5" fmla="*/ 66281 w 86447"/>
                <a:gd name="csY5" fmla="*/ 80664 h 81036"/>
                <a:gd name="csX6" fmla="*/ 67844 w 86447"/>
                <a:gd name="csY6" fmla="*/ 81037 h 81036"/>
                <a:gd name="csX7" fmla="*/ 69853 w 86447"/>
                <a:gd name="csY7" fmla="*/ 80367 h 81036"/>
                <a:gd name="csX8" fmla="*/ 71192 w 86447"/>
                <a:gd name="csY8" fmla="*/ 77055 h 81036"/>
                <a:gd name="csX9" fmla="*/ 66802 w 86447"/>
                <a:gd name="csY9" fmla="*/ 51941 h 81036"/>
                <a:gd name="csX10" fmla="*/ 85405 w 86447"/>
                <a:gd name="csY10" fmla="*/ 34156 h 81036"/>
                <a:gd name="csX11" fmla="*/ 86298 w 86447"/>
                <a:gd name="csY11" fmla="*/ 30695 h 81036"/>
                <a:gd name="csX12" fmla="*/ 83545 w 86447"/>
                <a:gd name="csY12" fmla="*/ 28389 h 81036"/>
                <a:gd name="csX13" fmla="*/ 57686 w 86447"/>
                <a:gd name="csY13" fmla="*/ 24705 h 81036"/>
                <a:gd name="csX14" fmla="*/ 46190 w 86447"/>
                <a:gd name="csY14" fmla="*/ 1860 h 81036"/>
                <a:gd name="csX15" fmla="*/ 43176 w 86447"/>
                <a:gd name="csY15" fmla="*/ 0 h 81036"/>
                <a:gd name="csX16" fmla="*/ 40162 w 86447"/>
                <a:gd name="csY16" fmla="*/ 1860 h 81036"/>
                <a:gd name="csX17" fmla="*/ 28665 w 86447"/>
                <a:gd name="csY17" fmla="*/ 24705 h 81036"/>
                <a:gd name="csX18" fmla="*/ 2918 w 86447"/>
                <a:gd name="csY18" fmla="*/ 28389 h 81036"/>
                <a:gd name="csX19" fmla="*/ 165 w 86447"/>
                <a:gd name="csY19" fmla="*/ 30695 h 81036"/>
                <a:gd name="csX20" fmla="*/ 1058 w 86447"/>
                <a:gd name="csY20" fmla="*/ 34156 h 81036"/>
                <a:gd name="csX21" fmla="*/ 33873 w 86447"/>
                <a:gd name="csY21" fmla="*/ 29319 h 81036"/>
                <a:gd name="csX22" fmla="*/ 43175 w 86447"/>
                <a:gd name="csY22" fmla="*/ 10864 h 81036"/>
                <a:gd name="csX23" fmla="*/ 52477 w 86447"/>
                <a:gd name="csY23" fmla="*/ 29319 h 81036"/>
                <a:gd name="csX24" fmla="*/ 55007 w 86447"/>
                <a:gd name="csY24" fmla="*/ 31142 h 81036"/>
                <a:gd name="csX25" fmla="*/ 75620 w 86447"/>
                <a:gd name="csY25" fmla="*/ 34081 h 81036"/>
                <a:gd name="csX26" fmla="*/ 60737 w 86447"/>
                <a:gd name="csY26" fmla="*/ 48332 h 81036"/>
                <a:gd name="csX27" fmla="*/ 59733 w 86447"/>
                <a:gd name="csY27" fmla="*/ 51346 h 81036"/>
                <a:gd name="csX28" fmla="*/ 63267 w 86447"/>
                <a:gd name="csY28" fmla="*/ 71512 h 81036"/>
                <a:gd name="csX29" fmla="*/ 44701 w 86447"/>
                <a:gd name="csY29" fmla="*/ 61950 h 81036"/>
                <a:gd name="csX30" fmla="*/ 41613 w 86447"/>
                <a:gd name="csY30" fmla="*/ 61950 h 81036"/>
                <a:gd name="csX31" fmla="*/ 23047 w 86447"/>
                <a:gd name="csY31" fmla="*/ 71512 h 81036"/>
                <a:gd name="csX32" fmla="*/ 26581 w 86447"/>
                <a:gd name="csY32" fmla="*/ 51346 h 81036"/>
                <a:gd name="csX33" fmla="*/ 25577 w 86447"/>
                <a:gd name="csY33" fmla="*/ 48332 h 81036"/>
                <a:gd name="csX34" fmla="*/ 10694 w 86447"/>
                <a:gd name="csY34" fmla="*/ 34081 h 81036"/>
                <a:gd name="csX35" fmla="*/ 31307 w 86447"/>
                <a:gd name="csY35" fmla="*/ 31142 h 81036"/>
                <a:gd name="csX36" fmla="*/ 33874 w 86447"/>
                <a:gd name="csY36" fmla="*/ 29319 h 81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86447" h="81036">
                  <a:moveTo>
                    <a:pt x="19660" y="51941"/>
                  </a:moveTo>
                  <a:lnTo>
                    <a:pt x="15270" y="77055"/>
                  </a:lnTo>
                  <a:cubicBezTo>
                    <a:pt x="15047" y="78320"/>
                    <a:pt x="15567" y="79585"/>
                    <a:pt x="16609" y="80367"/>
                  </a:cubicBezTo>
                  <a:cubicBezTo>
                    <a:pt x="17651" y="81111"/>
                    <a:pt x="19028" y="81223"/>
                    <a:pt x="20144" y="80664"/>
                  </a:cubicBezTo>
                  <a:lnTo>
                    <a:pt x="43212" y="68795"/>
                  </a:lnTo>
                  <a:lnTo>
                    <a:pt x="66281" y="80664"/>
                  </a:lnTo>
                  <a:cubicBezTo>
                    <a:pt x="66765" y="80925"/>
                    <a:pt x="67323" y="81037"/>
                    <a:pt x="67844" y="81037"/>
                  </a:cubicBezTo>
                  <a:cubicBezTo>
                    <a:pt x="68551" y="81037"/>
                    <a:pt x="69258" y="80813"/>
                    <a:pt x="69853" y="80367"/>
                  </a:cubicBezTo>
                  <a:cubicBezTo>
                    <a:pt x="70895" y="79623"/>
                    <a:pt x="71416" y="78320"/>
                    <a:pt x="71192" y="77055"/>
                  </a:cubicBezTo>
                  <a:lnTo>
                    <a:pt x="66802" y="51941"/>
                  </a:lnTo>
                  <a:lnTo>
                    <a:pt x="85405" y="34156"/>
                  </a:lnTo>
                  <a:cubicBezTo>
                    <a:pt x="86335" y="33263"/>
                    <a:pt x="86670" y="31923"/>
                    <a:pt x="86298" y="30695"/>
                  </a:cubicBezTo>
                  <a:cubicBezTo>
                    <a:pt x="85889" y="29468"/>
                    <a:pt x="84847" y="28575"/>
                    <a:pt x="83545" y="28389"/>
                  </a:cubicBezTo>
                  <a:lnTo>
                    <a:pt x="57686" y="24705"/>
                  </a:lnTo>
                  <a:lnTo>
                    <a:pt x="46190" y="1860"/>
                  </a:lnTo>
                  <a:cubicBezTo>
                    <a:pt x="45632" y="707"/>
                    <a:pt x="44441" y="0"/>
                    <a:pt x="43176" y="0"/>
                  </a:cubicBezTo>
                  <a:cubicBezTo>
                    <a:pt x="41874" y="0"/>
                    <a:pt x="40720" y="707"/>
                    <a:pt x="40162" y="1860"/>
                  </a:cubicBezTo>
                  <a:lnTo>
                    <a:pt x="28665" y="24705"/>
                  </a:lnTo>
                  <a:lnTo>
                    <a:pt x="2918" y="28389"/>
                  </a:lnTo>
                  <a:cubicBezTo>
                    <a:pt x="1616" y="28575"/>
                    <a:pt x="574" y="29468"/>
                    <a:pt x="165" y="30695"/>
                  </a:cubicBezTo>
                  <a:cubicBezTo>
                    <a:pt x="-244" y="31923"/>
                    <a:pt x="128" y="33263"/>
                    <a:pt x="1058" y="34156"/>
                  </a:cubicBezTo>
                  <a:close/>
                  <a:moveTo>
                    <a:pt x="33873" y="29319"/>
                  </a:moveTo>
                  <a:lnTo>
                    <a:pt x="43175" y="10864"/>
                  </a:lnTo>
                  <a:lnTo>
                    <a:pt x="52477" y="29319"/>
                  </a:lnTo>
                  <a:cubicBezTo>
                    <a:pt x="52961" y="30286"/>
                    <a:pt x="53928" y="30993"/>
                    <a:pt x="55007" y="31142"/>
                  </a:cubicBezTo>
                  <a:lnTo>
                    <a:pt x="75620" y="34081"/>
                  </a:lnTo>
                  <a:lnTo>
                    <a:pt x="60737" y="48332"/>
                  </a:lnTo>
                  <a:cubicBezTo>
                    <a:pt x="59919" y="49113"/>
                    <a:pt x="59547" y="50229"/>
                    <a:pt x="59733" y="51346"/>
                  </a:cubicBezTo>
                  <a:lnTo>
                    <a:pt x="63267" y="71512"/>
                  </a:lnTo>
                  <a:lnTo>
                    <a:pt x="44701" y="61950"/>
                  </a:lnTo>
                  <a:cubicBezTo>
                    <a:pt x="43734" y="61466"/>
                    <a:pt x="42580" y="61466"/>
                    <a:pt x="41613" y="61950"/>
                  </a:cubicBezTo>
                  <a:lnTo>
                    <a:pt x="23047" y="71512"/>
                  </a:lnTo>
                  <a:lnTo>
                    <a:pt x="26581" y="51346"/>
                  </a:lnTo>
                  <a:cubicBezTo>
                    <a:pt x="26767" y="50229"/>
                    <a:pt x="26433" y="49113"/>
                    <a:pt x="25577" y="48332"/>
                  </a:cubicBezTo>
                  <a:lnTo>
                    <a:pt x="10694" y="34081"/>
                  </a:lnTo>
                  <a:lnTo>
                    <a:pt x="31307" y="31142"/>
                  </a:lnTo>
                  <a:cubicBezTo>
                    <a:pt x="32423" y="30993"/>
                    <a:pt x="33391" y="30286"/>
                    <a:pt x="33874" y="29319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2" name="자유형: 도형 91">
              <a:extLst>
                <a:ext uri="{FF2B5EF4-FFF2-40B4-BE49-F238E27FC236}">
                  <a16:creationId xmlns:a16="http://schemas.microsoft.com/office/drawing/2014/main" id="{37B09340-D2E4-F353-3524-B6CC06F9F2BC}"/>
                </a:ext>
              </a:extLst>
            </p:cNvPr>
            <p:cNvSpPr/>
            <p:nvPr/>
          </p:nvSpPr>
          <p:spPr>
            <a:xfrm>
              <a:off x="11093516" y="1333379"/>
              <a:ext cx="86426" cy="81036"/>
            </a:xfrm>
            <a:custGeom>
              <a:avLst/>
              <a:gdLst>
                <a:gd name="csX0" fmla="*/ 19660 w 86426"/>
                <a:gd name="csY0" fmla="*/ 51941 h 81036"/>
                <a:gd name="csX1" fmla="*/ 15270 w 86426"/>
                <a:gd name="csY1" fmla="*/ 77055 h 81036"/>
                <a:gd name="csX2" fmla="*/ 16609 w 86426"/>
                <a:gd name="csY2" fmla="*/ 80367 h 81036"/>
                <a:gd name="csX3" fmla="*/ 20144 w 86426"/>
                <a:gd name="csY3" fmla="*/ 80664 h 81036"/>
                <a:gd name="csX4" fmla="*/ 43212 w 86426"/>
                <a:gd name="csY4" fmla="*/ 68795 h 81036"/>
                <a:gd name="csX5" fmla="*/ 66281 w 86426"/>
                <a:gd name="csY5" fmla="*/ 80664 h 81036"/>
                <a:gd name="csX6" fmla="*/ 67844 w 86426"/>
                <a:gd name="csY6" fmla="*/ 81037 h 81036"/>
                <a:gd name="csX7" fmla="*/ 69853 w 86426"/>
                <a:gd name="csY7" fmla="*/ 80367 h 81036"/>
                <a:gd name="csX8" fmla="*/ 71192 w 86426"/>
                <a:gd name="csY8" fmla="*/ 77055 h 81036"/>
                <a:gd name="csX9" fmla="*/ 66765 w 86426"/>
                <a:gd name="csY9" fmla="*/ 51941 h 81036"/>
                <a:gd name="csX10" fmla="*/ 85368 w 86426"/>
                <a:gd name="csY10" fmla="*/ 34156 h 81036"/>
                <a:gd name="csX11" fmla="*/ 86261 w 86426"/>
                <a:gd name="csY11" fmla="*/ 30695 h 81036"/>
                <a:gd name="csX12" fmla="*/ 83508 w 86426"/>
                <a:gd name="csY12" fmla="*/ 28389 h 81036"/>
                <a:gd name="csX13" fmla="*/ 57686 w 86426"/>
                <a:gd name="csY13" fmla="*/ 24705 h 81036"/>
                <a:gd name="csX14" fmla="*/ 46190 w 86426"/>
                <a:gd name="csY14" fmla="*/ 1860 h 81036"/>
                <a:gd name="csX15" fmla="*/ 43176 w 86426"/>
                <a:gd name="csY15" fmla="*/ 0 h 81036"/>
                <a:gd name="csX16" fmla="*/ 40162 w 86426"/>
                <a:gd name="csY16" fmla="*/ 1860 h 81036"/>
                <a:gd name="csX17" fmla="*/ 28665 w 86426"/>
                <a:gd name="csY17" fmla="*/ 24705 h 81036"/>
                <a:gd name="csX18" fmla="*/ 2918 w 86426"/>
                <a:gd name="csY18" fmla="*/ 28389 h 81036"/>
                <a:gd name="csX19" fmla="*/ 165 w 86426"/>
                <a:gd name="csY19" fmla="*/ 30695 h 81036"/>
                <a:gd name="csX20" fmla="*/ 1058 w 86426"/>
                <a:gd name="csY20" fmla="*/ 34156 h 81036"/>
                <a:gd name="csX21" fmla="*/ 33911 w 86426"/>
                <a:gd name="csY21" fmla="*/ 29319 h 81036"/>
                <a:gd name="csX22" fmla="*/ 43212 w 86426"/>
                <a:gd name="csY22" fmla="*/ 10864 h 81036"/>
                <a:gd name="csX23" fmla="*/ 52514 w 86426"/>
                <a:gd name="csY23" fmla="*/ 29319 h 81036"/>
                <a:gd name="csX24" fmla="*/ 55044 w 86426"/>
                <a:gd name="csY24" fmla="*/ 31142 h 81036"/>
                <a:gd name="csX25" fmla="*/ 75657 w 86426"/>
                <a:gd name="csY25" fmla="*/ 34081 h 81036"/>
                <a:gd name="csX26" fmla="*/ 60774 w 86426"/>
                <a:gd name="csY26" fmla="*/ 48332 h 81036"/>
                <a:gd name="csX27" fmla="*/ 59770 w 86426"/>
                <a:gd name="csY27" fmla="*/ 51346 h 81036"/>
                <a:gd name="csX28" fmla="*/ 63304 w 86426"/>
                <a:gd name="csY28" fmla="*/ 71512 h 81036"/>
                <a:gd name="csX29" fmla="*/ 44738 w 86426"/>
                <a:gd name="csY29" fmla="*/ 61950 h 81036"/>
                <a:gd name="csX30" fmla="*/ 41650 w 86426"/>
                <a:gd name="csY30" fmla="*/ 61950 h 81036"/>
                <a:gd name="csX31" fmla="*/ 23084 w 86426"/>
                <a:gd name="csY31" fmla="*/ 71512 h 81036"/>
                <a:gd name="csX32" fmla="*/ 26619 w 86426"/>
                <a:gd name="csY32" fmla="*/ 51346 h 81036"/>
                <a:gd name="csX33" fmla="*/ 25614 w 86426"/>
                <a:gd name="csY33" fmla="*/ 48332 h 81036"/>
                <a:gd name="csX34" fmla="*/ 10731 w 86426"/>
                <a:gd name="csY34" fmla="*/ 34081 h 81036"/>
                <a:gd name="csX35" fmla="*/ 31344 w 86426"/>
                <a:gd name="csY35" fmla="*/ 31142 h 81036"/>
                <a:gd name="csX36" fmla="*/ 33911 w 86426"/>
                <a:gd name="csY36" fmla="*/ 29319 h 81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86426" h="81036">
                  <a:moveTo>
                    <a:pt x="19660" y="51941"/>
                  </a:moveTo>
                  <a:lnTo>
                    <a:pt x="15270" y="77055"/>
                  </a:lnTo>
                  <a:cubicBezTo>
                    <a:pt x="15047" y="78320"/>
                    <a:pt x="15567" y="79585"/>
                    <a:pt x="16609" y="80367"/>
                  </a:cubicBezTo>
                  <a:cubicBezTo>
                    <a:pt x="17651" y="81111"/>
                    <a:pt x="19028" y="81223"/>
                    <a:pt x="20144" y="80664"/>
                  </a:cubicBezTo>
                  <a:lnTo>
                    <a:pt x="43212" y="68795"/>
                  </a:lnTo>
                  <a:lnTo>
                    <a:pt x="66281" y="80664"/>
                  </a:lnTo>
                  <a:cubicBezTo>
                    <a:pt x="66765" y="80925"/>
                    <a:pt x="67323" y="81037"/>
                    <a:pt x="67844" y="81037"/>
                  </a:cubicBezTo>
                  <a:cubicBezTo>
                    <a:pt x="68551" y="81037"/>
                    <a:pt x="69258" y="80813"/>
                    <a:pt x="69853" y="80367"/>
                  </a:cubicBezTo>
                  <a:cubicBezTo>
                    <a:pt x="70895" y="79623"/>
                    <a:pt x="71416" y="78320"/>
                    <a:pt x="71192" y="77055"/>
                  </a:cubicBezTo>
                  <a:lnTo>
                    <a:pt x="66765" y="51941"/>
                  </a:lnTo>
                  <a:lnTo>
                    <a:pt x="85368" y="34156"/>
                  </a:lnTo>
                  <a:cubicBezTo>
                    <a:pt x="86298" y="33263"/>
                    <a:pt x="86670" y="31923"/>
                    <a:pt x="86261" y="30695"/>
                  </a:cubicBezTo>
                  <a:cubicBezTo>
                    <a:pt x="85852" y="29468"/>
                    <a:pt x="84810" y="28575"/>
                    <a:pt x="83508" y="28389"/>
                  </a:cubicBezTo>
                  <a:lnTo>
                    <a:pt x="57686" y="24705"/>
                  </a:lnTo>
                  <a:lnTo>
                    <a:pt x="46190" y="1860"/>
                  </a:lnTo>
                  <a:cubicBezTo>
                    <a:pt x="45632" y="707"/>
                    <a:pt x="44441" y="0"/>
                    <a:pt x="43176" y="0"/>
                  </a:cubicBezTo>
                  <a:cubicBezTo>
                    <a:pt x="41874" y="0"/>
                    <a:pt x="40720" y="707"/>
                    <a:pt x="40162" y="1860"/>
                  </a:cubicBezTo>
                  <a:lnTo>
                    <a:pt x="28665" y="24705"/>
                  </a:lnTo>
                  <a:lnTo>
                    <a:pt x="2918" y="28389"/>
                  </a:lnTo>
                  <a:cubicBezTo>
                    <a:pt x="1616" y="28575"/>
                    <a:pt x="574" y="29468"/>
                    <a:pt x="165" y="30695"/>
                  </a:cubicBezTo>
                  <a:cubicBezTo>
                    <a:pt x="-244" y="31923"/>
                    <a:pt x="128" y="33263"/>
                    <a:pt x="1058" y="34156"/>
                  </a:cubicBezTo>
                  <a:close/>
                  <a:moveTo>
                    <a:pt x="33911" y="29319"/>
                  </a:moveTo>
                  <a:lnTo>
                    <a:pt x="43212" y="10864"/>
                  </a:lnTo>
                  <a:lnTo>
                    <a:pt x="52514" y="29319"/>
                  </a:lnTo>
                  <a:cubicBezTo>
                    <a:pt x="52998" y="30286"/>
                    <a:pt x="53965" y="30993"/>
                    <a:pt x="55044" y="31142"/>
                  </a:cubicBezTo>
                  <a:lnTo>
                    <a:pt x="75657" y="34081"/>
                  </a:lnTo>
                  <a:lnTo>
                    <a:pt x="60774" y="48332"/>
                  </a:lnTo>
                  <a:cubicBezTo>
                    <a:pt x="59956" y="49113"/>
                    <a:pt x="59584" y="50229"/>
                    <a:pt x="59770" y="51346"/>
                  </a:cubicBezTo>
                  <a:lnTo>
                    <a:pt x="63304" y="71512"/>
                  </a:lnTo>
                  <a:lnTo>
                    <a:pt x="44738" y="61950"/>
                  </a:lnTo>
                  <a:cubicBezTo>
                    <a:pt x="43771" y="61466"/>
                    <a:pt x="42617" y="61466"/>
                    <a:pt x="41650" y="61950"/>
                  </a:cubicBezTo>
                  <a:lnTo>
                    <a:pt x="23084" y="71512"/>
                  </a:lnTo>
                  <a:lnTo>
                    <a:pt x="26619" y="51346"/>
                  </a:lnTo>
                  <a:cubicBezTo>
                    <a:pt x="26805" y="50229"/>
                    <a:pt x="26470" y="49113"/>
                    <a:pt x="25614" y="48332"/>
                  </a:cubicBezTo>
                  <a:lnTo>
                    <a:pt x="10731" y="34081"/>
                  </a:lnTo>
                  <a:lnTo>
                    <a:pt x="31344" y="31142"/>
                  </a:lnTo>
                  <a:cubicBezTo>
                    <a:pt x="32460" y="30993"/>
                    <a:pt x="33391" y="30286"/>
                    <a:pt x="33911" y="29319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3" name="자유형: 도형 92">
              <a:extLst>
                <a:ext uri="{FF2B5EF4-FFF2-40B4-BE49-F238E27FC236}">
                  <a16:creationId xmlns:a16="http://schemas.microsoft.com/office/drawing/2014/main" id="{E94EF1D9-FB79-AA90-9ED4-5C4E0FE8764A}"/>
                </a:ext>
              </a:extLst>
            </p:cNvPr>
            <p:cNvSpPr/>
            <p:nvPr/>
          </p:nvSpPr>
          <p:spPr>
            <a:xfrm>
              <a:off x="11021946" y="1431494"/>
              <a:ext cx="86319" cy="86320"/>
            </a:xfrm>
            <a:custGeom>
              <a:avLst/>
              <a:gdLst>
                <a:gd name="csX0" fmla="*/ 0 w 86319"/>
                <a:gd name="csY0" fmla="*/ 43161 h 86320"/>
                <a:gd name="csX1" fmla="*/ 43160 w 86319"/>
                <a:gd name="csY1" fmla="*/ 86320 h 86320"/>
                <a:gd name="csX2" fmla="*/ 86319 w 86319"/>
                <a:gd name="csY2" fmla="*/ 43161 h 86320"/>
                <a:gd name="csX3" fmla="*/ 71920 w 86319"/>
                <a:gd name="csY3" fmla="*/ 11088 h 86320"/>
                <a:gd name="csX4" fmla="*/ 43160 w 86319"/>
                <a:gd name="csY4" fmla="*/ 0 h 86320"/>
                <a:gd name="csX5" fmla="*/ 22919 w 86319"/>
                <a:gd name="csY5" fmla="*/ 5060 h 86320"/>
                <a:gd name="csX6" fmla="*/ 0 w 86319"/>
                <a:gd name="csY6" fmla="*/ 43160 h 86320"/>
                <a:gd name="csX7" fmla="*/ 79549 w 86319"/>
                <a:gd name="csY7" fmla="*/ 43161 h 86320"/>
                <a:gd name="csX8" fmla="*/ 43123 w 86319"/>
                <a:gd name="csY8" fmla="*/ 79586 h 86320"/>
                <a:gd name="csX9" fmla="*/ 6698 w 86319"/>
                <a:gd name="csY9" fmla="*/ 43161 h 86320"/>
                <a:gd name="csX10" fmla="*/ 43123 w 86319"/>
                <a:gd name="csY10" fmla="*/ 6735 h 86320"/>
                <a:gd name="csX11" fmla="*/ 79549 w 86319"/>
                <a:gd name="csY11" fmla="*/ 43161 h 863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319" h="86320">
                  <a:moveTo>
                    <a:pt x="0" y="43161"/>
                  </a:moveTo>
                  <a:cubicBezTo>
                    <a:pt x="0" y="66936"/>
                    <a:pt x="19347" y="86320"/>
                    <a:pt x="43160" y="86320"/>
                  </a:cubicBezTo>
                  <a:cubicBezTo>
                    <a:pt x="66935" y="86320"/>
                    <a:pt x="86319" y="66973"/>
                    <a:pt x="86319" y="43161"/>
                  </a:cubicBezTo>
                  <a:cubicBezTo>
                    <a:pt x="86319" y="30436"/>
                    <a:pt x="80738" y="18976"/>
                    <a:pt x="71920" y="11088"/>
                  </a:cubicBezTo>
                  <a:cubicBezTo>
                    <a:pt x="64293" y="4242"/>
                    <a:pt x="54210" y="0"/>
                    <a:pt x="43160" y="0"/>
                  </a:cubicBezTo>
                  <a:cubicBezTo>
                    <a:pt x="35867" y="0"/>
                    <a:pt x="28984" y="1823"/>
                    <a:pt x="22919" y="5060"/>
                  </a:cubicBezTo>
                  <a:cubicBezTo>
                    <a:pt x="9301" y="12316"/>
                    <a:pt x="0" y="26677"/>
                    <a:pt x="0" y="43160"/>
                  </a:cubicBezTo>
                  <a:close/>
                  <a:moveTo>
                    <a:pt x="79549" y="43161"/>
                  </a:moveTo>
                  <a:cubicBezTo>
                    <a:pt x="79549" y="63253"/>
                    <a:pt x="63216" y="79586"/>
                    <a:pt x="43123" y="79586"/>
                  </a:cubicBezTo>
                  <a:cubicBezTo>
                    <a:pt x="23031" y="79586"/>
                    <a:pt x="6698" y="63253"/>
                    <a:pt x="6698" y="43161"/>
                  </a:cubicBezTo>
                  <a:cubicBezTo>
                    <a:pt x="6698" y="23069"/>
                    <a:pt x="23031" y="6735"/>
                    <a:pt x="43123" y="6735"/>
                  </a:cubicBezTo>
                  <a:cubicBezTo>
                    <a:pt x="63216" y="6735"/>
                    <a:pt x="79549" y="23069"/>
                    <a:pt x="79549" y="43161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0CB5B9D4-89F7-8B7B-4DA9-C56A6806A26F}"/>
                </a:ext>
              </a:extLst>
            </p:cNvPr>
            <p:cNvSpPr/>
            <p:nvPr/>
          </p:nvSpPr>
          <p:spPr>
            <a:xfrm>
              <a:off x="11189003" y="1373115"/>
              <a:ext cx="86319" cy="86319"/>
            </a:xfrm>
            <a:custGeom>
              <a:avLst/>
              <a:gdLst>
                <a:gd name="csX0" fmla="*/ 43160 w 86319"/>
                <a:gd name="csY0" fmla="*/ 86319 h 86319"/>
                <a:gd name="csX1" fmla="*/ 86319 w 86319"/>
                <a:gd name="csY1" fmla="*/ 43160 h 86319"/>
                <a:gd name="csX2" fmla="*/ 43160 w 86319"/>
                <a:gd name="csY2" fmla="*/ 0 h 86319"/>
                <a:gd name="csX3" fmla="*/ 0 w 86319"/>
                <a:gd name="csY3" fmla="*/ 43160 h 86319"/>
                <a:gd name="csX4" fmla="*/ 43160 w 86319"/>
                <a:gd name="csY4" fmla="*/ 86319 h 86319"/>
                <a:gd name="csX5" fmla="*/ 43160 w 86319"/>
                <a:gd name="csY5" fmla="*/ 6770 h 86319"/>
                <a:gd name="csX6" fmla="*/ 79585 w 86319"/>
                <a:gd name="csY6" fmla="*/ 43196 h 86319"/>
                <a:gd name="csX7" fmla="*/ 43160 w 86319"/>
                <a:gd name="csY7" fmla="*/ 79621 h 86319"/>
                <a:gd name="csX8" fmla="*/ 6734 w 86319"/>
                <a:gd name="csY8" fmla="*/ 43196 h 86319"/>
                <a:gd name="csX9" fmla="*/ 43160 w 86319"/>
                <a:gd name="csY9" fmla="*/ 6770 h 86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6319" h="86319">
                  <a:moveTo>
                    <a:pt x="43160" y="86319"/>
                  </a:moveTo>
                  <a:cubicBezTo>
                    <a:pt x="66935" y="86319"/>
                    <a:pt x="86319" y="66972"/>
                    <a:pt x="86319" y="43160"/>
                  </a:cubicBezTo>
                  <a:cubicBezTo>
                    <a:pt x="86319" y="19384"/>
                    <a:pt x="66972" y="0"/>
                    <a:pt x="43160" y="0"/>
                  </a:cubicBezTo>
                  <a:cubicBezTo>
                    <a:pt x="19384" y="0"/>
                    <a:pt x="0" y="19347"/>
                    <a:pt x="0" y="43160"/>
                  </a:cubicBezTo>
                  <a:cubicBezTo>
                    <a:pt x="0" y="66972"/>
                    <a:pt x="19385" y="86319"/>
                    <a:pt x="43160" y="86319"/>
                  </a:cubicBezTo>
                  <a:close/>
                  <a:moveTo>
                    <a:pt x="43160" y="6770"/>
                  </a:moveTo>
                  <a:cubicBezTo>
                    <a:pt x="63252" y="6770"/>
                    <a:pt x="79585" y="23104"/>
                    <a:pt x="79585" y="43196"/>
                  </a:cubicBezTo>
                  <a:cubicBezTo>
                    <a:pt x="79585" y="63288"/>
                    <a:pt x="63252" y="79621"/>
                    <a:pt x="43160" y="79621"/>
                  </a:cubicBezTo>
                  <a:cubicBezTo>
                    <a:pt x="23068" y="79621"/>
                    <a:pt x="6734" y="63288"/>
                    <a:pt x="6734" y="43196"/>
                  </a:cubicBezTo>
                  <a:cubicBezTo>
                    <a:pt x="6771" y="23104"/>
                    <a:pt x="23106" y="6770"/>
                    <a:pt x="43160" y="6770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자유형: 도형 94">
              <a:extLst>
                <a:ext uri="{FF2B5EF4-FFF2-40B4-BE49-F238E27FC236}">
                  <a16:creationId xmlns:a16="http://schemas.microsoft.com/office/drawing/2014/main" id="{51E78432-BC50-ADF9-FA11-C0AFEC883BF9}"/>
                </a:ext>
              </a:extLst>
            </p:cNvPr>
            <p:cNvSpPr/>
            <p:nvPr/>
          </p:nvSpPr>
          <p:spPr>
            <a:xfrm>
              <a:off x="10992765" y="1473915"/>
              <a:ext cx="314291" cy="176473"/>
            </a:xfrm>
            <a:custGeom>
              <a:avLst/>
              <a:gdLst>
                <a:gd name="csX0" fmla="*/ 161778 w 314291"/>
                <a:gd name="csY0" fmla="*/ 21952 h 176473"/>
                <a:gd name="csX1" fmla="*/ 161778 w 314291"/>
                <a:gd name="csY1" fmla="*/ 79586 h 176473"/>
                <a:gd name="csX2" fmla="*/ 146747 w 314291"/>
                <a:gd name="csY2" fmla="*/ 79586 h 176473"/>
                <a:gd name="csX3" fmla="*/ 122413 w 314291"/>
                <a:gd name="csY3" fmla="*/ 58378 h 176473"/>
                <a:gd name="csX4" fmla="*/ 21915 w 314291"/>
                <a:gd name="csY4" fmla="*/ 58378 h 176473"/>
                <a:gd name="csX5" fmla="*/ 0 w 314291"/>
                <a:gd name="csY5" fmla="*/ 80293 h 176473"/>
                <a:gd name="csX6" fmla="*/ 0 w 314291"/>
                <a:gd name="csY6" fmla="*/ 154559 h 176473"/>
                <a:gd name="csX7" fmla="*/ 21915 w 314291"/>
                <a:gd name="csY7" fmla="*/ 176474 h 176473"/>
                <a:gd name="csX8" fmla="*/ 268527 w 314291"/>
                <a:gd name="csY8" fmla="*/ 176474 h 176473"/>
                <a:gd name="csX9" fmla="*/ 282145 w 314291"/>
                <a:gd name="csY9" fmla="*/ 171674 h 176473"/>
                <a:gd name="csX10" fmla="*/ 290442 w 314291"/>
                <a:gd name="csY10" fmla="*/ 154521 h 176473"/>
                <a:gd name="csX11" fmla="*/ 290442 w 314291"/>
                <a:gd name="csY11" fmla="*/ 123416 h 176473"/>
                <a:gd name="csX12" fmla="*/ 292377 w 314291"/>
                <a:gd name="csY12" fmla="*/ 123416 h 176473"/>
                <a:gd name="csX13" fmla="*/ 314292 w 314291"/>
                <a:gd name="csY13" fmla="*/ 101501 h 176473"/>
                <a:gd name="csX14" fmla="*/ 314292 w 314291"/>
                <a:gd name="csY14" fmla="*/ 21952 h 176473"/>
                <a:gd name="csX15" fmla="*/ 292377 w 314291"/>
                <a:gd name="csY15" fmla="*/ 37 h 176473"/>
                <a:gd name="csX16" fmla="*/ 183696 w 314291"/>
                <a:gd name="csY16" fmla="*/ 0 h 176473"/>
                <a:gd name="csX17" fmla="*/ 176925 w 314291"/>
                <a:gd name="csY17" fmla="*/ 1079 h 176473"/>
                <a:gd name="csX18" fmla="*/ 161782 w 314291"/>
                <a:gd name="csY18" fmla="*/ 21952 h 176473"/>
                <a:gd name="csX19" fmla="*/ 292452 w 314291"/>
                <a:gd name="csY19" fmla="*/ 6771 h 176473"/>
                <a:gd name="csX20" fmla="*/ 307633 w 314291"/>
                <a:gd name="csY20" fmla="*/ 21952 h 176473"/>
                <a:gd name="csX21" fmla="*/ 307633 w 314291"/>
                <a:gd name="csY21" fmla="*/ 101501 h 176473"/>
                <a:gd name="csX22" fmla="*/ 292452 w 314291"/>
                <a:gd name="csY22" fmla="*/ 116682 h 176473"/>
                <a:gd name="csX23" fmla="*/ 220866 w 314291"/>
                <a:gd name="csY23" fmla="*/ 116682 h 176473"/>
                <a:gd name="csX24" fmla="*/ 205685 w 314291"/>
                <a:gd name="csY24" fmla="*/ 101501 h 176473"/>
                <a:gd name="csX25" fmla="*/ 220866 w 314291"/>
                <a:gd name="csY25" fmla="*/ 86320 h 176473"/>
                <a:gd name="csX26" fmla="*/ 271244 w 314291"/>
                <a:gd name="csY26" fmla="*/ 86320 h 176473"/>
                <a:gd name="csX27" fmla="*/ 274630 w 314291"/>
                <a:gd name="csY27" fmla="*/ 82935 h 176473"/>
                <a:gd name="csX28" fmla="*/ 274630 w 314291"/>
                <a:gd name="csY28" fmla="*/ 45802 h 176473"/>
                <a:gd name="csX29" fmla="*/ 271244 w 314291"/>
                <a:gd name="csY29" fmla="*/ 42416 h 176473"/>
                <a:gd name="csX30" fmla="*/ 267859 w 314291"/>
                <a:gd name="csY30" fmla="*/ 45802 h 176473"/>
                <a:gd name="csX31" fmla="*/ 267859 w 314291"/>
                <a:gd name="csY31" fmla="*/ 79587 h 176473"/>
                <a:gd name="csX32" fmla="*/ 168551 w 314291"/>
                <a:gd name="csY32" fmla="*/ 79587 h 176473"/>
                <a:gd name="csX33" fmla="*/ 168551 w 314291"/>
                <a:gd name="csY33" fmla="*/ 21953 h 176473"/>
                <a:gd name="csX34" fmla="*/ 183732 w 314291"/>
                <a:gd name="csY34" fmla="*/ 6772 h 176473"/>
                <a:gd name="csX35" fmla="*/ 35201 w 314291"/>
                <a:gd name="csY35" fmla="*/ 169735 h 176473"/>
                <a:gd name="csX36" fmla="*/ 21955 w 314291"/>
                <a:gd name="csY36" fmla="*/ 169735 h 176473"/>
                <a:gd name="csX37" fmla="*/ 6774 w 314291"/>
                <a:gd name="csY37" fmla="*/ 154554 h 176473"/>
                <a:gd name="csX38" fmla="*/ 6774 w 314291"/>
                <a:gd name="csY38" fmla="*/ 80288 h 176473"/>
                <a:gd name="csX39" fmla="*/ 21955 w 314291"/>
                <a:gd name="csY39" fmla="*/ 65107 h 176473"/>
                <a:gd name="csX40" fmla="*/ 122453 w 314291"/>
                <a:gd name="csY40" fmla="*/ 65107 h 176473"/>
                <a:gd name="csX41" fmla="*/ 139940 w 314291"/>
                <a:gd name="csY41" fmla="*/ 79581 h 176473"/>
                <a:gd name="csX42" fmla="*/ 138638 w 314291"/>
                <a:gd name="csY42" fmla="*/ 79581 h 176473"/>
                <a:gd name="csX43" fmla="*/ 135736 w 314291"/>
                <a:gd name="csY43" fmla="*/ 81218 h 176473"/>
                <a:gd name="csX44" fmla="*/ 104854 w 314291"/>
                <a:gd name="csY44" fmla="*/ 132898 h 176473"/>
                <a:gd name="csX45" fmla="*/ 101505 w 314291"/>
                <a:gd name="csY45" fmla="*/ 132601 h 176473"/>
                <a:gd name="csX46" fmla="*/ 37844 w 314291"/>
                <a:gd name="csY46" fmla="*/ 132601 h 176473"/>
                <a:gd name="csX47" fmla="*/ 34458 w 314291"/>
                <a:gd name="csY47" fmla="*/ 135987 h 176473"/>
                <a:gd name="csX48" fmla="*/ 37844 w 314291"/>
                <a:gd name="csY48" fmla="*/ 139373 h 176473"/>
                <a:gd name="csX49" fmla="*/ 101505 w 314291"/>
                <a:gd name="csY49" fmla="*/ 139373 h 176473"/>
                <a:gd name="csX50" fmla="*/ 116686 w 314291"/>
                <a:gd name="csY50" fmla="*/ 154553 h 176473"/>
                <a:gd name="csX51" fmla="*/ 101505 w 314291"/>
                <a:gd name="csY51" fmla="*/ 169734 h 176473"/>
                <a:gd name="csX52" fmla="*/ 117279 w 314291"/>
                <a:gd name="csY52" fmla="*/ 169735 h 176473"/>
                <a:gd name="csX53" fmla="*/ 123419 w 314291"/>
                <a:gd name="csY53" fmla="*/ 154554 h 176473"/>
                <a:gd name="csX54" fmla="*/ 111401 w 314291"/>
                <a:gd name="csY54" fmla="*/ 135020 h 176473"/>
                <a:gd name="csX55" fmla="*/ 140497 w 314291"/>
                <a:gd name="csY55" fmla="*/ 86316 h 176473"/>
                <a:gd name="csX56" fmla="*/ 205014 w 314291"/>
                <a:gd name="csY56" fmla="*/ 86316 h 176473"/>
                <a:gd name="csX57" fmla="*/ 198874 w 314291"/>
                <a:gd name="csY57" fmla="*/ 101497 h 176473"/>
                <a:gd name="csX58" fmla="*/ 220790 w 314291"/>
                <a:gd name="csY58" fmla="*/ 123412 h 176473"/>
                <a:gd name="csX59" fmla="*/ 244267 w 314291"/>
                <a:gd name="csY59" fmla="*/ 123412 h 176473"/>
                <a:gd name="csX60" fmla="*/ 218780 w 314291"/>
                <a:gd name="csY60" fmla="*/ 169698 h 176473"/>
                <a:gd name="csX61" fmla="*/ 226560 w 314291"/>
                <a:gd name="csY61" fmla="*/ 169735 h 176473"/>
                <a:gd name="csX62" fmla="*/ 252047 w 314291"/>
                <a:gd name="csY62" fmla="*/ 123449 h 176473"/>
                <a:gd name="csX63" fmla="*/ 283784 w 314291"/>
                <a:gd name="csY63" fmla="*/ 123449 h 176473"/>
                <a:gd name="csX64" fmla="*/ 283784 w 314291"/>
                <a:gd name="csY64" fmla="*/ 154554 h 176473"/>
                <a:gd name="csX65" fmla="*/ 268603 w 314291"/>
                <a:gd name="csY65" fmla="*/ 169735 h 1764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314291" h="176473">
                  <a:moveTo>
                    <a:pt x="161778" y="21952"/>
                  </a:moveTo>
                  <a:lnTo>
                    <a:pt x="161778" y="79586"/>
                  </a:lnTo>
                  <a:lnTo>
                    <a:pt x="146747" y="79586"/>
                  </a:lnTo>
                  <a:cubicBezTo>
                    <a:pt x="145110" y="67643"/>
                    <a:pt x="134804" y="58378"/>
                    <a:pt x="122413" y="58378"/>
                  </a:cubicBezTo>
                  <a:lnTo>
                    <a:pt x="21915" y="58378"/>
                  </a:lnTo>
                  <a:cubicBezTo>
                    <a:pt x="9823" y="58378"/>
                    <a:pt x="0" y="68200"/>
                    <a:pt x="0" y="80293"/>
                  </a:cubicBezTo>
                  <a:lnTo>
                    <a:pt x="0" y="154559"/>
                  </a:lnTo>
                  <a:cubicBezTo>
                    <a:pt x="0" y="166651"/>
                    <a:pt x="9822" y="176474"/>
                    <a:pt x="21915" y="176474"/>
                  </a:cubicBezTo>
                  <a:lnTo>
                    <a:pt x="268527" y="176474"/>
                  </a:lnTo>
                  <a:cubicBezTo>
                    <a:pt x="273661" y="176474"/>
                    <a:pt x="278424" y="174688"/>
                    <a:pt x="282145" y="171674"/>
                  </a:cubicBezTo>
                  <a:cubicBezTo>
                    <a:pt x="287205" y="167655"/>
                    <a:pt x="290442" y="161442"/>
                    <a:pt x="290442" y="154521"/>
                  </a:cubicBezTo>
                  <a:lnTo>
                    <a:pt x="290442" y="123416"/>
                  </a:lnTo>
                  <a:lnTo>
                    <a:pt x="292377" y="123416"/>
                  </a:lnTo>
                  <a:cubicBezTo>
                    <a:pt x="304469" y="123416"/>
                    <a:pt x="314292" y="113594"/>
                    <a:pt x="314292" y="101501"/>
                  </a:cubicBezTo>
                  <a:lnTo>
                    <a:pt x="314292" y="21952"/>
                  </a:lnTo>
                  <a:cubicBezTo>
                    <a:pt x="314292" y="9860"/>
                    <a:pt x="304470" y="37"/>
                    <a:pt x="292377" y="37"/>
                  </a:cubicBezTo>
                  <a:lnTo>
                    <a:pt x="183696" y="0"/>
                  </a:lnTo>
                  <a:cubicBezTo>
                    <a:pt x="181315" y="0"/>
                    <a:pt x="179046" y="372"/>
                    <a:pt x="176925" y="1079"/>
                  </a:cubicBezTo>
                  <a:cubicBezTo>
                    <a:pt x="168144" y="3981"/>
                    <a:pt x="161782" y="12241"/>
                    <a:pt x="161782" y="21952"/>
                  </a:cubicBezTo>
                  <a:close/>
                  <a:moveTo>
                    <a:pt x="292452" y="6771"/>
                  </a:moveTo>
                  <a:cubicBezTo>
                    <a:pt x="300823" y="6771"/>
                    <a:pt x="307633" y="13580"/>
                    <a:pt x="307633" y="21952"/>
                  </a:cubicBezTo>
                  <a:lnTo>
                    <a:pt x="307633" y="101501"/>
                  </a:lnTo>
                  <a:cubicBezTo>
                    <a:pt x="307633" y="109873"/>
                    <a:pt x="300824" y="116682"/>
                    <a:pt x="292452" y="116682"/>
                  </a:cubicBezTo>
                  <a:lnTo>
                    <a:pt x="220866" y="116682"/>
                  </a:lnTo>
                  <a:cubicBezTo>
                    <a:pt x="212494" y="116682"/>
                    <a:pt x="205685" y="109873"/>
                    <a:pt x="205685" y="101501"/>
                  </a:cubicBezTo>
                  <a:cubicBezTo>
                    <a:pt x="205685" y="93130"/>
                    <a:pt x="212494" y="86320"/>
                    <a:pt x="220866" y="86320"/>
                  </a:cubicBezTo>
                  <a:lnTo>
                    <a:pt x="271244" y="86320"/>
                  </a:lnTo>
                  <a:cubicBezTo>
                    <a:pt x="273105" y="86320"/>
                    <a:pt x="274630" y="84832"/>
                    <a:pt x="274630" y="82935"/>
                  </a:cubicBezTo>
                  <a:lnTo>
                    <a:pt x="274630" y="45802"/>
                  </a:lnTo>
                  <a:cubicBezTo>
                    <a:pt x="274630" y="43942"/>
                    <a:pt x="273142" y="42416"/>
                    <a:pt x="271244" y="42416"/>
                  </a:cubicBezTo>
                  <a:cubicBezTo>
                    <a:pt x="269347" y="42416"/>
                    <a:pt x="267859" y="43905"/>
                    <a:pt x="267859" y="45802"/>
                  </a:cubicBezTo>
                  <a:lnTo>
                    <a:pt x="267859" y="79587"/>
                  </a:lnTo>
                  <a:lnTo>
                    <a:pt x="168551" y="79587"/>
                  </a:lnTo>
                  <a:lnTo>
                    <a:pt x="168551" y="21953"/>
                  </a:lnTo>
                  <a:cubicBezTo>
                    <a:pt x="168551" y="13581"/>
                    <a:pt x="175360" y="6772"/>
                    <a:pt x="183732" y="6772"/>
                  </a:cubicBezTo>
                  <a:close/>
                  <a:moveTo>
                    <a:pt x="35201" y="169735"/>
                  </a:moveTo>
                  <a:lnTo>
                    <a:pt x="21955" y="169735"/>
                  </a:lnTo>
                  <a:cubicBezTo>
                    <a:pt x="13584" y="169735"/>
                    <a:pt x="6774" y="162926"/>
                    <a:pt x="6774" y="154554"/>
                  </a:cubicBezTo>
                  <a:lnTo>
                    <a:pt x="6774" y="80288"/>
                  </a:lnTo>
                  <a:cubicBezTo>
                    <a:pt x="6774" y="71917"/>
                    <a:pt x="13583" y="65107"/>
                    <a:pt x="21955" y="65107"/>
                  </a:cubicBezTo>
                  <a:lnTo>
                    <a:pt x="122453" y="65107"/>
                  </a:lnTo>
                  <a:cubicBezTo>
                    <a:pt x="131160" y="65107"/>
                    <a:pt x="138378" y="71358"/>
                    <a:pt x="139940" y="79581"/>
                  </a:cubicBezTo>
                  <a:lnTo>
                    <a:pt x="138638" y="79581"/>
                  </a:lnTo>
                  <a:cubicBezTo>
                    <a:pt x="137447" y="79581"/>
                    <a:pt x="136369" y="80213"/>
                    <a:pt x="135736" y="81218"/>
                  </a:cubicBezTo>
                  <a:lnTo>
                    <a:pt x="104854" y="132898"/>
                  </a:lnTo>
                  <a:cubicBezTo>
                    <a:pt x="103775" y="132750"/>
                    <a:pt x="102622" y="132601"/>
                    <a:pt x="101505" y="132601"/>
                  </a:cubicBezTo>
                  <a:lnTo>
                    <a:pt x="37844" y="132601"/>
                  </a:lnTo>
                  <a:cubicBezTo>
                    <a:pt x="35984" y="132601"/>
                    <a:pt x="34458" y="134089"/>
                    <a:pt x="34458" y="135987"/>
                  </a:cubicBezTo>
                  <a:cubicBezTo>
                    <a:pt x="34458" y="137884"/>
                    <a:pt x="35946" y="139373"/>
                    <a:pt x="37844" y="139373"/>
                  </a:cubicBezTo>
                  <a:lnTo>
                    <a:pt x="101505" y="139373"/>
                  </a:lnTo>
                  <a:cubicBezTo>
                    <a:pt x="109877" y="139373"/>
                    <a:pt x="116686" y="146181"/>
                    <a:pt x="116686" y="154553"/>
                  </a:cubicBezTo>
                  <a:cubicBezTo>
                    <a:pt x="116686" y="162926"/>
                    <a:pt x="109877" y="169734"/>
                    <a:pt x="101505" y="169734"/>
                  </a:cubicBezTo>
                  <a:close/>
                  <a:moveTo>
                    <a:pt x="117279" y="169735"/>
                  </a:moveTo>
                  <a:cubicBezTo>
                    <a:pt x="121075" y="165791"/>
                    <a:pt x="123419" y="160433"/>
                    <a:pt x="123419" y="154554"/>
                  </a:cubicBezTo>
                  <a:cubicBezTo>
                    <a:pt x="123419" y="146033"/>
                    <a:pt x="118544" y="138629"/>
                    <a:pt x="111401" y="135020"/>
                  </a:cubicBezTo>
                  <a:lnTo>
                    <a:pt x="140497" y="86316"/>
                  </a:lnTo>
                  <a:lnTo>
                    <a:pt x="205014" y="86316"/>
                  </a:lnTo>
                  <a:cubicBezTo>
                    <a:pt x="201218" y="90260"/>
                    <a:pt x="198874" y="95617"/>
                    <a:pt x="198874" y="101497"/>
                  </a:cubicBezTo>
                  <a:cubicBezTo>
                    <a:pt x="198874" y="113589"/>
                    <a:pt x="208697" y="123412"/>
                    <a:pt x="220790" y="123412"/>
                  </a:cubicBezTo>
                  <a:lnTo>
                    <a:pt x="244267" y="123412"/>
                  </a:lnTo>
                  <a:lnTo>
                    <a:pt x="218780" y="169698"/>
                  </a:lnTo>
                  <a:close/>
                  <a:moveTo>
                    <a:pt x="226560" y="169735"/>
                  </a:moveTo>
                  <a:lnTo>
                    <a:pt x="252047" y="123449"/>
                  </a:lnTo>
                  <a:lnTo>
                    <a:pt x="283784" y="123449"/>
                  </a:lnTo>
                  <a:lnTo>
                    <a:pt x="283784" y="154554"/>
                  </a:lnTo>
                  <a:cubicBezTo>
                    <a:pt x="283784" y="162925"/>
                    <a:pt x="276975" y="169735"/>
                    <a:pt x="268603" y="169735"/>
                  </a:cubicBezTo>
                  <a:close/>
                </a:path>
              </a:pathLst>
            </a:custGeom>
            <a:grpFill/>
            <a:ln w="9525" cap="flat">
              <a:solidFill>
                <a:srgbClr val="2767C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236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3E0C7-2E82-6F9E-0F04-6A57542A6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B3CAE9-7C2C-1770-B2C7-B76467961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9682521" y="276225"/>
            <a:ext cx="2172929" cy="62926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DAD8DB2-C0FB-F072-A34F-7865951DCFBB}"/>
              </a:ext>
            </a:extLst>
          </p:cNvPr>
          <p:cNvSpPr/>
          <p:nvPr/>
        </p:nvSpPr>
        <p:spPr>
          <a:xfrm>
            <a:off x="336550" y="807167"/>
            <a:ext cx="714375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47CF749-B35B-9205-703D-3E32F307A51B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0925" y="861245"/>
            <a:ext cx="10798175" cy="0"/>
          </a:xfrm>
          <a:prstGeom prst="line">
            <a:avLst/>
          </a:prstGeom>
          <a:ln>
            <a:solidFill>
              <a:srgbClr val="E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680B6D3-3828-67A0-7B50-F2CBCA5193F2}"/>
              </a:ext>
            </a:extLst>
          </p:cNvPr>
          <p:cNvSpPr txBox="1"/>
          <p:nvPr/>
        </p:nvSpPr>
        <p:spPr>
          <a:xfrm>
            <a:off x="336550" y="382270"/>
            <a:ext cx="71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04</a:t>
            </a:r>
            <a:endParaRPr lang="ko-KR" altLang="en-US" sz="28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5D61E-854C-50D1-4921-C5C11431D1C8}"/>
              </a:ext>
            </a:extLst>
          </p:cNvPr>
          <p:cNvSpPr txBox="1"/>
          <p:nvPr/>
        </p:nvSpPr>
        <p:spPr>
          <a:xfrm>
            <a:off x="1050925" y="491912"/>
            <a:ext cx="86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현재 조직도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(As-Is)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88D33B-399F-A6E7-742B-F85E78B5CA19}"/>
              </a:ext>
            </a:extLst>
          </p:cNvPr>
          <p:cNvSpPr txBox="1"/>
          <p:nvPr/>
        </p:nvSpPr>
        <p:spPr>
          <a:xfrm>
            <a:off x="336550" y="189412"/>
            <a:ext cx="399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겸직 해제 및 전담 공장장 배치</a:t>
            </a:r>
          </a:p>
        </p:txBody>
      </p:sp>
      <p:pic>
        <p:nvPicPr>
          <p:cNvPr id="3" name="그림 2" descr="텍스트, 스크린샷, 도표, 번호이(가) 표시된 사진&#10;&#10;자동 생성된 설명">
            <a:extLst>
              <a:ext uri="{FF2B5EF4-FFF2-40B4-BE49-F238E27FC236}">
                <a16:creationId xmlns:a16="http://schemas.microsoft.com/office/drawing/2014/main" id="{864AC153-6F2F-119C-FA50-E9C2750F6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49" y="1011536"/>
            <a:ext cx="11652701" cy="557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02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C19C1-F7BC-13F4-F374-13AD1D266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177F00-5463-A7D4-F430-2540BA17B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9682521" y="276225"/>
            <a:ext cx="2172929" cy="62926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36C2884-0191-791B-EE47-FF765D1BAA8E}"/>
              </a:ext>
            </a:extLst>
          </p:cNvPr>
          <p:cNvSpPr/>
          <p:nvPr/>
        </p:nvSpPr>
        <p:spPr>
          <a:xfrm>
            <a:off x="336550" y="807167"/>
            <a:ext cx="714375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C62BA06-18FC-FDCE-8AA0-B5DA05C60292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0925" y="861245"/>
            <a:ext cx="10798175" cy="0"/>
          </a:xfrm>
          <a:prstGeom prst="line">
            <a:avLst/>
          </a:prstGeom>
          <a:ln>
            <a:solidFill>
              <a:srgbClr val="E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D7980FE-E913-3313-0A3D-1C9AC20CAA1C}"/>
              </a:ext>
            </a:extLst>
          </p:cNvPr>
          <p:cNvSpPr txBox="1"/>
          <p:nvPr/>
        </p:nvSpPr>
        <p:spPr>
          <a:xfrm>
            <a:off x="336550" y="382270"/>
            <a:ext cx="71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04</a:t>
            </a:r>
            <a:endParaRPr lang="ko-KR" altLang="en-US" sz="28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94695F-B0AC-1686-3386-7E0C972A0806}"/>
              </a:ext>
            </a:extLst>
          </p:cNvPr>
          <p:cNvSpPr txBox="1"/>
          <p:nvPr/>
        </p:nvSpPr>
        <p:spPr>
          <a:xfrm>
            <a:off x="1050925" y="491912"/>
            <a:ext cx="86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현재 조직도 문제 진단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AB0933-D138-626A-2124-0A74185CA086}"/>
              </a:ext>
            </a:extLst>
          </p:cNvPr>
          <p:cNvSpPr txBox="1"/>
          <p:nvPr/>
        </p:nvSpPr>
        <p:spPr>
          <a:xfrm>
            <a:off x="336550" y="189412"/>
            <a:ext cx="399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겸직 해제 및 전담 공장장 배치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DAC550A-E9AD-E76E-B2D6-F465C4305D0B}"/>
              </a:ext>
            </a:extLst>
          </p:cNvPr>
          <p:cNvSpPr/>
          <p:nvPr/>
        </p:nvSpPr>
        <p:spPr>
          <a:xfrm>
            <a:off x="4357914" y="1039770"/>
            <a:ext cx="3476171" cy="499742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 표 이 사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E893B74-16BD-7A4A-C4DE-A6065A33C2E7}"/>
              </a:ext>
            </a:extLst>
          </p:cNvPr>
          <p:cNvCxnSpPr>
            <a:stCxn id="6" idx="2"/>
          </p:cNvCxnSpPr>
          <p:nvPr/>
        </p:nvCxnSpPr>
        <p:spPr>
          <a:xfrm>
            <a:off x="6096000" y="1539512"/>
            <a:ext cx="0" cy="477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31B5DEB-3D1C-DB34-F9F0-DBCCF0431063}"/>
              </a:ext>
            </a:extLst>
          </p:cNvPr>
          <p:cNvCxnSpPr>
            <a:cxnSpLocks/>
          </p:cNvCxnSpPr>
          <p:nvPr/>
        </p:nvCxnSpPr>
        <p:spPr>
          <a:xfrm>
            <a:off x="6095999" y="1770254"/>
            <a:ext cx="47026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7FF83D3-FBBF-A22C-11E4-D1A699781570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10798628" y="1770254"/>
            <a:ext cx="0" cy="488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895EA8F-2201-1ADA-146A-12EE0F848E5B}"/>
              </a:ext>
            </a:extLst>
          </p:cNvPr>
          <p:cNvCxnSpPr>
            <a:cxnSpLocks/>
          </p:cNvCxnSpPr>
          <p:nvPr/>
        </p:nvCxnSpPr>
        <p:spPr>
          <a:xfrm>
            <a:off x="177800" y="2017486"/>
            <a:ext cx="84893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A27040A-9752-4C19-9EE4-295951E370C7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8667165" y="2009241"/>
            <a:ext cx="0" cy="538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633F2AF-999A-2264-6E4C-E1AE9F85C693}"/>
              </a:ext>
            </a:extLst>
          </p:cNvPr>
          <p:cNvSpPr/>
          <p:nvPr/>
        </p:nvSpPr>
        <p:spPr>
          <a:xfrm>
            <a:off x="9965548" y="2258791"/>
            <a:ext cx="1666159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경영기획본부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0442EE4-F55F-50A3-FB69-E35518216F7B}"/>
              </a:ext>
            </a:extLst>
          </p:cNvPr>
          <p:cNvSpPr/>
          <p:nvPr/>
        </p:nvSpPr>
        <p:spPr>
          <a:xfrm>
            <a:off x="8073809" y="2548045"/>
            <a:ext cx="1186712" cy="26031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경영관리본부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1E6D76F-A81F-C78A-E7C6-EF00000B24D4}"/>
              </a:ext>
            </a:extLst>
          </p:cNvPr>
          <p:cNvCxnSpPr>
            <a:cxnSpLocks/>
          </p:cNvCxnSpPr>
          <p:nvPr/>
        </p:nvCxnSpPr>
        <p:spPr>
          <a:xfrm>
            <a:off x="10798628" y="2625622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0C4ABF7-0590-60A8-8252-D693ED6BDE42}"/>
              </a:ext>
            </a:extLst>
          </p:cNvPr>
          <p:cNvCxnSpPr>
            <a:cxnSpLocks/>
          </p:cNvCxnSpPr>
          <p:nvPr/>
        </p:nvCxnSpPr>
        <p:spPr>
          <a:xfrm flipH="1">
            <a:off x="10101943" y="2857209"/>
            <a:ext cx="696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0D57271-622B-5B8A-FA22-725C57047C3A}"/>
              </a:ext>
            </a:extLst>
          </p:cNvPr>
          <p:cNvCxnSpPr>
            <a:cxnSpLocks/>
          </p:cNvCxnSpPr>
          <p:nvPr/>
        </p:nvCxnSpPr>
        <p:spPr>
          <a:xfrm>
            <a:off x="10101943" y="2847907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F228A15-8CAF-F07D-8353-5C3F5A0450BB}"/>
              </a:ext>
            </a:extLst>
          </p:cNvPr>
          <p:cNvSpPr/>
          <p:nvPr/>
        </p:nvSpPr>
        <p:spPr>
          <a:xfrm>
            <a:off x="9405259" y="3079494"/>
            <a:ext cx="1393368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</a:t>
            </a:r>
            <a:r>
              <a:rPr lang="en-US" altLang="ko-KR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&amp;D </a:t>
            </a:r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센터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EBC92C0-7668-E339-E6E5-109AAC185275}"/>
              </a:ext>
            </a:extLst>
          </p:cNvPr>
          <p:cNvCxnSpPr/>
          <p:nvPr/>
        </p:nvCxnSpPr>
        <p:spPr>
          <a:xfrm>
            <a:off x="6346696" y="2017486"/>
            <a:ext cx="0" cy="477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1C19599-D2CF-87B0-772B-B62CC5AB6C2C}"/>
              </a:ext>
            </a:extLst>
          </p:cNvPr>
          <p:cNvSpPr/>
          <p:nvPr/>
        </p:nvSpPr>
        <p:spPr>
          <a:xfrm>
            <a:off x="5513616" y="2495459"/>
            <a:ext cx="1666159" cy="781139"/>
          </a:xfrm>
          <a:prstGeom prst="roundRect">
            <a:avLst>
              <a:gd name="adj" fmla="val 26765"/>
            </a:avLst>
          </a:prstGeom>
          <a:noFill/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SCM </a:t>
            </a:r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본부</a:t>
            </a:r>
            <a:endParaRPr lang="en-US" altLang="ko-KR" dirty="0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본부장 </a:t>
            </a:r>
            <a:r>
              <a:rPr lang="en-US" altLang="ko-KR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</a:t>
            </a:r>
            <a:endParaRPr lang="ko-KR" altLang="en-US" dirty="0">
              <a:solidFill>
                <a:srgbClr val="EE3342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7EAD524-D576-DF68-D6B0-1B2586AF431E}"/>
              </a:ext>
            </a:extLst>
          </p:cNvPr>
          <p:cNvCxnSpPr/>
          <p:nvPr/>
        </p:nvCxnSpPr>
        <p:spPr>
          <a:xfrm>
            <a:off x="3775532" y="2017486"/>
            <a:ext cx="0" cy="477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6A7C294-7E89-7AF0-8258-30A6D8465CE4}"/>
              </a:ext>
            </a:extLst>
          </p:cNvPr>
          <p:cNvSpPr/>
          <p:nvPr/>
        </p:nvSpPr>
        <p:spPr>
          <a:xfrm>
            <a:off x="2942452" y="2495460"/>
            <a:ext cx="1666159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생산관리본부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A68ED09-4664-D5FB-A180-0A5B45AC860D}"/>
              </a:ext>
            </a:extLst>
          </p:cNvPr>
          <p:cNvCxnSpPr>
            <a:cxnSpLocks/>
          </p:cNvCxnSpPr>
          <p:nvPr/>
        </p:nvCxnSpPr>
        <p:spPr>
          <a:xfrm>
            <a:off x="3775533" y="2851731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C936A83F-50DF-96B5-BFE7-D3AB6801734F}"/>
              </a:ext>
            </a:extLst>
          </p:cNvPr>
          <p:cNvCxnSpPr>
            <a:cxnSpLocks/>
          </p:cNvCxnSpPr>
          <p:nvPr/>
        </p:nvCxnSpPr>
        <p:spPr>
          <a:xfrm flipH="1">
            <a:off x="3078848" y="3083318"/>
            <a:ext cx="696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405DC63-A33A-4025-2350-2F93319932AA}"/>
              </a:ext>
            </a:extLst>
          </p:cNvPr>
          <p:cNvCxnSpPr>
            <a:cxnSpLocks/>
          </p:cNvCxnSpPr>
          <p:nvPr/>
        </p:nvCxnSpPr>
        <p:spPr>
          <a:xfrm>
            <a:off x="3078848" y="3074016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AD01092-5700-28B2-68EE-1770DFC82D8C}"/>
              </a:ext>
            </a:extLst>
          </p:cNvPr>
          <p:cNvSpPr/>
          <p:nvPr/>
        </p:nvSpPr>
        <p:spPr>
          <a:xfrm>
            <a:off x="2487389" y="3305602"/>
            <a:ext cx="1182918" cy="691451"/>
          </a:xfrm>
          <a:prstGeom prst="roundRect">
            <a:avLst>
              <a:gd name="adj" fmla="val 26765"/>
            </a:avLst>
          </a:prstGeom>
          <a:noFill/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인천공장</a:t>
            </a:r>
            <a:endParaRPr lang="en-US" altLang="ko-KR" dirty="0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공장장 </a:t>
            </a:r>
            <a:r>
              <a:rPr lang="en-US" altLang="ko-KR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</a:t>
            </a:r>
            <a:endParaRPr lang="ko-KR" altLang="en-US" dirty="0">
              <a:solidFill>
                <a:srgbClr val="EE3342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3318387-C994-1EE8-65B4-4F59330D30FC}"/>
              </a:ext>
            </a:extLst>
          </p:cNvPr>
          <p:cNvCxnSpPr>
            <a:cxnSpLocks/>
          </p:cNvCxnSpPr>
          <p:nvPr/>
        </p:nvCxnSpPr>
        <p:spPr>
          <a:xfrm flipH="1">
            <a:off x="3775529" y="2857209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045F3F4-4333-46C6-8F21-276B165CF92E}"/>
              </a:ext>
            </a:extLst>
          </p:cNvPr>
          <p:cNvCxnSpPr>
            <a:cxnSpLocks/>
          </p:cNvCxnSpPr>
          <p:nvPr/>
        </p:nvCxnSpPr>
        <p:spPr>
          <a:xfrm>
            <a:off x="3775529" y="3083143"/>
            <a:ext cx="696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1872DD9-1961-55B3-F227-5CC5944074CF}"/>
              </a:ext>
            </a:extLst>
          </p:cNvPr>
          <p:cNvCxnSpPr>
            <a:cxnSpLocks/>
          </p:cNvCxnSpPr>
          <p:nvPr/>
        </p:nvCxnSpPr>
        <p:spPr>
          <a:xfrm flipH="1">
            <a:off x="4472214" y="3074015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9344885-75B3-6C56-49D4-0F2F1709C61D}"/>
              </a:ext>
            </a:extLst>
          </p:cNvPr>
          <p:cNvSpPr/>
          <p:nvPr/>
        </p:nvSpPr>
        <p:spPr>
          <a:xfrm flipH="1">
            <a:off x="3880755" y="3314730"/>
            <a:ext cx="1182918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장항공장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9F9E59A8-0D42-0A6A-5166-671BEACBF48C}"/>
              </a:ext>
            </a:extLst>
          </p:cNvPr>
          <p:cNvCxnSpPr>
            <a:cxnSpLocks/>
          </p:cNvCxnSpPr>
          <p:nvPr/>
        </p:nvCxnSpPr>
        <p:spPr>
          <a:xfrm flipH="1">
            <a:off x="177800" y="2947821"/>
            <a:ext cx="2157412" cy="0"/>
          </a:xfrm>
          <a:prstGeom prst="line">
            <a:avLst/>
          </a:prstGeom>
          <a:ln w="66675" cap="rnd">
            <a:solidFill>
              <a:srgbClr val="EE334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자유형: 도형 75">
            <a:extLst>
              <a:ext uri="{FF2B5EF4-FFF2-40B4-BE49-F238E27FC236}">
                <a16:creationId xmlns:a16="http://schemas.microsoft.com/office/drawing/2014/main" id="{2959F026-AEF9-20EF-8A26-345165A85400}"/>
              </a:ext>
            </a:extLst>
          </p:cNvPr>
          <p:cNvSpPr/>
          <p:nvPr/>
        </p:nvSpPr>
        <p:spPr>
          <a:xfrm>
            <a:off x="336551" y="4296026"/>
            <a:ext cx="11518896" cy="2561974"/>
          </a:xfrm>
          <a:custGeom>
            <a:avLst/>
            <a:gdLst>
              <a:gd name="connsiteX0" fmla="*/ 749844 w 10115548"/>
              <a:gd name="connsiteY0" fmla="*/ 0 h 3381375"/>
              <a:gd name="connsiteX1" fmla="*/ 9365704 w 10115548"/>
              <a:gd name="connsiteY1" fmla="*/ 0 h 3381375"/>
              <a:gd name="connsiteX2" fmla="*/ 10115548 w 10115548"/>
              <a:gd name="connsiteY2" fmla="*/ 749844 h 3381375"/>
              <a:gd name="connsiteX3" fmla="*/ 10115548 w 10115548"/>
              <a:gd name="connsiteY3" fmla="*/ 3381375 h 3381375"/>
              <a:gd name="connsiteX4" fmla="*/ 0 w 10115548"/>
              <a:gd name="connsiteY4" fmla="*/ 3381375 h 3381375"/>
              <a:gd name="connsiteX5" fmla="*/ 0 w 10115548"/>
              <a:gd name="connsiteY5" fmla="*/ 749844 h 3381375"/>
              <a:gd name="connsiteX6" fmla="*/ 749844 w 10115548"/>
              <a:gd name="connsiteY6" fmla="*/ 0 h 338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15548" h="3381375">
                <a:moveTo>
                  <a:pt x="749844" y="0"/>
                </a:moveTo>
                <a:lnTo>
                  <a:pt x="9365704" y="0"/>
                </a:lnTo>
                <a:cubicBezTo>
                  <a:pt x="9779831" y="0"/>
                  <a:pt x="10115548" y="335717"/>
                  <a:pt x="10115548" y="749844"/>
                </a:cubicBezTo>
                <a:lnTo>
                  <a:pt x="10115548" y="3381375"/>
                </a:lnTo>
                <a:lnTo>
                  <a:pt x="0" y="3381375"/>
                </a:lnTo>
                <a:lnTo>
                  <a:pt x="0" y="749844"/>
                </a:lnTo>
                <a:cubicBezTo>
                  <a:pt x="0" y="335717"/>
                  <a:pt x="335717" y="0"/>
                  <a:pt x="749844" y="0"/>
                </a:cubicBezTo>
                <a:close/>
              </a:path>
            </a:pathLst>
          </a:custGeom>
          <a:solidFill>
            <a:srgbClr val="FDEB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72B64F1-8038-57D1-3E89-54D4B12C09E1}"/>
              </a:ext>
            </a:extLst>
          </p:cNvPr>
          <p:cNvSpPr/>
          <p:nvPr/>
        </p:nvSpPr>
        <p:spPr>
          <a:xfrm>
            <a:off x="2942452" y="4483828"/>
            <a:ext cx="467892" cy="467892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EFEFE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endParaRPr lang="ko-KR" altLang="en-US" sz="2400" dirty="0">
              <a:solidFill>
                <a:srgbClr val="EFEFE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111C700-D294-719A-25A5-8F2746C379D1}"/>
              </a:ext>
            </a:extLst>
          </p:cNvPr>
          <p:cNvSpPr/>
          <p:nvPr/>
        </p:nvSpPr>
        <p:spPr>
          <a:xfrm>
            <a:off x="8781656" y="4483828"/>
            <a:ext cx="467892" cy="467892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EFEFE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endParaRPr lang="ko-KR" altLang="en-US" sz="2400" dirty="0">
              <a:solidFill>
                <a:srgbClr val="EFEFE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8EE739C-4063-875C-3319-A49D98BB552A}"/>
              </a:ext>
            </a:extLst>
          </p:cNvPr>
          <p:cNvSpPr txBox="1"/>
          <p:nvPr/>
        </p:nvSpPr>
        <p:spPr>
          <a:xfrm>
            <a:off x="591400" y="5047021"/>
            <a:ext cx="517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SCM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본부장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=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생산관리 본부 인천공장장이 동일인물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243559C-B134-FCD7-0EE6-7AE2E39E296C}"/>
              </a:ext>
            </a:extLst>
          </p:cNvPr>
          <p:cNvSpPr txBox="1"/>
          <p:nvPr/>
        </p:nvSpPr>
        <p:spPr>
          <a:xfrm>
            <a:off x="7436482" y="5047021"/>
            <a:ext cx="315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경영기획 본부 산하의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R&amp;D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센터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F11853E-46EB-9D45-2B56-70F333D787C2}"/>
              </a:ext>
            </a:extLst>
          </p:cNvPr>
          <p:cNvSpPr txBox="1"/>
          <p:nvPr/>
        </p:nvSpPr>
        <p:spPr>
          <a:xfrm>
            <a:off x="591391" y="5426133"/>
            <a:ext cx="5170014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전사 목표와 공장 목표는 충돌하기 쉬워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지휘체계 왜곡이 발생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endParaRPr lang="en-US" altLang="ko-KR" sz="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 구매력은 전사 관점의 조정 기능으로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공장 운영 책임과 결합되면 원가 최적화가 약화 될 수 있음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endParaRPr lang="en-US" altLang="ko-KR" sz="9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16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복잡하고 불안전한 환경에서 원가우위 전략 달성이 </a:t>
            </a:r>
            <a:r>
              <a:rPr lang="ko-KR" altLang="en-US" sz="1600" dirty="0" err="1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어려워짐</a:t>
            </a:r>
            <a:endParaRPr lang="ko-KR" altLang="en-US" sz="1600" dirty="0">
              <a:solidFill>
                <a:srgbClr val="EE3342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6BFEEA1-255D-42AA-BDD6-B265BFF5D4D3}"/>
              </a:ext>
            </a:extLst>
          </p:cNvPr>
          <p:cNvSpPr txBox="1"/>
          <p:nvPr/>
        </p:nvSpPr>
        <p:spPr>
          <a:xfrm>
            <a:off x="6430597" y="5426133"/>
            <a:ext cx="5170014" cy="1238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경영기획 본부가 전략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인사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/R&amp;D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통합관리함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컨트롤타워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역할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algn="ctr"/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이는 곧 의사결정 병목으로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R&amp;D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센터의 자율성과 정보 공유 속도 저하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endParaRPr lang="en-US" altLang="ko-KR" sz="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불확실성이 높은 상태에선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“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민첩하게 분권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”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핵심 과제이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en-US" altLang="ko-KR" sz="9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16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기능과 부서가 분화되어 전문성과 민첩성 확보가 필요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1C086CE-6248-1FE2-5EFB-47104AA80AA5}"/>
              </a:ext>
            </a:extLst>
          </p:cNvPr>
          <p:cNvSpPr/>
          <p:nvPr/>
        </p:nvSpPr>
        <p:spPr>
          <a:xfrm>
            <a:off x="9321475" y="1964902"/>
            <a:ext cx="2450191" cy="1800566"/>
          </a:xfrm>
          <a:prstGeom prst="roundRect">
            <a:avLst/>
          </a:prstGeom>
          <a:noFill/>
          <a:ln w="762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원호 87">
            <a:extLst>
              <a:ext uri="{FF2B5EF4-FFF2-40B4-BE49-F238E27FC236}">
                <a16:creationId xmlns:a16="http://schemas.microsoft.com/office/drawing/2014/main" id="{1AFD4549-1CE3-488E-07DF-7DC243D4B631}"/>
              </a:ext>
            </a:extLst>
          </p:cNvPr>
          <p:cNvSpPr/>
          <p:nvPr/>
        </p:nvSpPr>
        <p:spPr>
          <a:xfrm rot="7200000">
            <a:off x="3110540" y="587094"/>
            <a:ext cx="3516694" cy="3628005"/>
          </a:xfrm>
          <a:prstGeom prst="arc">
            <a:avLst>
              <a:gd name="adj1" fmla="val 16385762"/>
              <a:gd name="adj2" fmla="val 511614"/>
            </a:avLst>
          </a:prstGeom>
          <a:ln>
            <a:solidFill>
              <a:srgbClr val="EE334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39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93D8E-CFA6-CD71-5E59-78F59EEC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2665E8-9C69-18D0-4498-CC88FA761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9682521" y="276225"/>
            <a:ext cx="2172929" cy="62926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587C996-432C-D489-1D60-81C447AA91E7}"/>
              </a:ext>
            </a:extLst>
          </p:cNvPr>
          <p:cNvSpPr/>
          <p:nvPr/>
        </p:nvSpPr>
        <p:spPr>
          <a:xfrm>
            <a:off x="336550" y="807167"/>
            <a:ext cx="714375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11317DC-9B30-9F2A-775A-CB3F9651D35D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0925" y="861245"/>
            <a:ext cx="10798175" cy="0"/>
          </a:xfrm>
          <a:prstGeom prst="line">
            <a:avLst/>
          </a:prstGeom>
          <a:ln>
            <a:solidFill>
              <a:srgbClr val="E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16F815E-8973-8201-3FA8-32CA12A8880E}"/>
              </a:ext>
            </a:extLst>
          </p:cNvPr>
          <p:cNvSpPr txBox="1"/>
          <p:nvPr/>
        </p:nvSpPr>
        <p:spPr>
          <a:xfrm>
            <a:off x="336550" y="382270"/>
            <a:ext cx="71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04</a:t>
            </a:r>
            <a:endParaRPr lang="ko-KR" altLang="en-US" sz="28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102023-BDE3-72C3-B85D-941596A9E130}"/>
              </a:ext>
            </a:extLst>
          </p:cNvPr>
          <p:cNvSpPr txBox="1"/>
          <p:nvPr/>
        </p:nvSpPr>
        <p:spPr>
          <a:xfrm>
            <a:off x="1050925" y="491912"/>
            <a:ext cx="86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조직 설계 로드맵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B336F7-8CEF-B0C1-107B-0AD11C95BF9E}"/>
              </a:ext>
            </a:extLst>
          </p:cNvPr>
          <p:cNvSpPr txBox="1"/>
          <p:nvPr/>
        </p:nvSpPr>
        <p:spPr>
          <a:xfrm>
            <a:off x="336550" y="189412"/>
            <a:ext cx="399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단기</a:t>
            </a:r>
            <a:r>
              <a:rPr lang="en-US" altLang="ko-KR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</a:t>
            </a:r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중기</a:t>
            </a:r>
            <a:r>
              <a:rPr lang="en-US" altLang="ko-KR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</a:t>
            </a:r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장기로 나눈 </a:t>
            </a:r>
            <a:r>
              <a:rPr lang="en-US" altLang="ko-KR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단계 조직 </a:t>
            </a:r>
            <a:r>
              <a:rPr lang="ko-KR" altLang="en-US" sz="1200" dirty="0" err="1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설계안</a:t>
            </a:r>
            <a:endParaRPr lang="ko-KR" altLang="en-US" sz="1200" dirty="0">
              <a:solidFill>
                <a:srgbClr val="6D6E7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29A1D9D7-57BB-9CD3-CB8B-A1549CF8C491}"/>
              </a:ext>
            </a:extLst>
          </p:cNvPr>
          <p:cNvSpPr/>
          <p:nvPr/>
        </p:nvSpPr>
        <p:spPr>
          <a:xfrm rot="20821622">
            <a:off x="-274323" y="2921207"/>
            <a:ext cx="12573754" cy="472471"/>
          </a:xfrm>
          <a:custGeom>
            <a:avLst/>
            <a:gdLst>
              <a:gd name="connsiteX0" fmla="*/ 12437357 w 12673592"/>
              <a:gd name="connsiteY0" fmla="*/ 0 h 472471"/>
              <a:gd name="connsiteX1" fmla="*/ 12673592 w 12673592"/>
              <a:gd name="connsiteY1" fmla="*/ 236236 h 472471"/>
              <a:gd name="connsiteX2" fmla="*/ 12437357 w 12673592"/>
              <a:gd name="connsiteY2" fmla="*/ 472471 h 472471"/>
              <a:gd name="connsiteX3" fmla="*/ 12437357 w 12673592"/>
              <a:gd name="connsiteY3" fmla="*/ 354353 h 472471"/>
              <a:gd name="connsiteX4" fmla="*/ 0 w 12673592"/>
              <a:gd name="connsiteY4" fmla="*/ 354353 h 472471"/>
              <a:gd name="connsiteX5" fmla="*/ 64749 w 12673592"/>
              <a:gd name="connsiteY5" fmla="*/ 118118 h 472471"/>
              <a:gd name="connsiteX6" fmla="*/ 12437357 w 12673592"/>
              <a:gd name="connsiteY6" fmla="*/ 118118 h 47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73592" h="472471">
                <a:moveTo>
                  <a:pt x="12437357" y="0"/>
                </a:moveTo>
                <a:lnTo>
                  <a:pt x="12673592" y="236236"/>
                </a:lnTo>
                <a:lnTo>
                  <a:pt x="12437357" y="472471"/>
                </a:lnTo>
                <a:lnTo>
                  <a:pt x="12437357" y="354353"/>
                </a:lnTo>
                <a:lnTo>
                  <a:pt x="0" y="354353"/>
                </a:lnTo>
                <a:lnTo>
                  <a:pt x="64749" y="118118"/>
                </a:lnTo>
                <a:lnTo>
                  <a:pt x="12437357" y="118118"/>
                </a:lnTo>
                <a:close/>
              </a:path>
            </a:pathLst>
          </a:custGeom>
          <a:gradFill flip="none" rotWithShape="1">
            <a:gsLst>
              <a:gs pos="0">
                <a:srgbClr val="EE3342"/>
              </a:gs>
              <a:gs pos="50000">
                <a:srgbClr val="FDEBEC"/>
              </a:gs>
              <a:gs pos="100000">
                <a:srgbClr val="FFFF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B66DC4E-FBEC-1907-51BF-202A7516D127}"/>
              </a:ext>
            </a:extLst>
          </p:cNvPr>
          <p:cNvCxnSpPr>
            <a:cxnSpLocks/>
          </p:cNvCxnSpPr>
          <p:nvPr/>
        </p:nvCxnSpPr>
        <p:spPr>
          <a:xfrm flipV="1">
            <a:off x="2105283" y="6288833"/>
            <a:ext cx="0" cy="569167"/>
          </a:xfrm>
          <a:prstGeom prst="straightConnector1">
            <a:avLst/>
          </a:prstGeom>
          <a:ln>
            <a:solidFill>
              <a:srgbClr val="FDEBEC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C9DC0AC-8101-CECF-89F0-41FCF313FE97}"/>
              </a:ext>
            </a:extLst>
          </p:cNvPr>
          <p:cNvCxnSpPr>
            <a:cxnSpLocks/>
          </p:cNvCxnSpPr>
          <p:nvPr/>
        </p:nvCxnSpPr>
        <p:spPr>
          <a:xfrm flipV="1">
            <a:off x="6092469" y="5342557"/>
            <a:ext cx="0" cy="1515443"/>
          </a:xfrm>
          <a:prstGeom prst="straightConnector1">
            <a:avLst/>
          </a:prstGeom>
          <a:ln>
            <a:solidFill>
              <a:srgbClr val="F47A8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7FD565C-E728-75F1-EEF7-0CFD22EDE372}"/>
              </a:ext>
            </a:extLst>
          </p:cNvPr>
          <p:cNvCxnSpPr>
            <a:cxnSpLocks/>
          </p:cNvCxnSpPr>
          <p:nvPr/>
        </p:nvCxnSpPr>
        <p:spPr>
          <a:xfrm flipV="1">
            <a:off x="10280780" y="4424700"/>
            <a:ext cx="0" cy="2433300"/>
          </a:xfrm>
          <a:prstGeom prst="straightConnector1">
            <a:avLst/>
          </a:prstGeom>
          <a:ln>
            <a:solidFill>
              <a:srgbClr val="EE334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FD8304-B9EE-30C0-632B-BB7EFFEE95DB}"/>
              </a:ext>
            </a:extLst>
          </p:cNvPr>
          <p:cNvSpPr txBox="1"/>
          <p:nvPr/>
        </p:nvSpPr>
        <p:spPr>
          <a:xfrm>
            <a:off x="1154537" y="4888611"/>
            <a:ext cx="1837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교차 지휘 해소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BC1AE9-EEEF-73C8-1627-693F62A78211}"/>
              </a:ext>
            </a:extLst>
          </p:cNvPr>
          <p:cNvSpPr txBox="1"/>
          <p:nvPr/>
        </p:nvSpPr>
        <p:spPr>
          <a:xfrm>
            <a:off x="4636789" y="3924425"/>
            <a:ext cx="2918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R&amp;D </a:t>
            </a:r>
            <a:r>
              <a:rPr lang="ko-KR" altLang="en-US" sz="1600" dirty="0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센터 독립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85172-ADA6-4457-0E69-78117889C1AF}"/>
              </a:ext>
            </a:extLst>
          </p:cNvPr>
          <p:cNvSpPr txBox="1"/>
          <p:nvPr/>
        </p:nvSpPr>
        <p:spPr>
          <a:xfrm>
            <a:off x="8716095" y="3053158"/>
            <a:ext cx="2972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전략적 </a:t>
            </a:r>
            <a:r>
              <a:rPr lang="en-US" altLang="ko-KR" sz="1600" dirty="0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SCM </a:t>
            </a:r>
            <a:r>
              <a:rPr lang="ko-KR" altLang="en-US" sz="1600" dirty="0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고도화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819CAA-E377-D783-4A6C-BEB6EB663396}"/>
              </a:ext>
            </a:extLst>
          </p:cNvPr>
          <p:cNvSpPr txBox="1"/>
          <p:nvPr/>
        </p:nvSpPr>
        <p:spPr>
          <a:xfrm>
            <a:off x="679833" y="5251595"/>
            <a:ext cx="2805112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250"/>
              </a:lnSpc>
              <a:buNone/>
            </a:pPr>
            <a:r>
              <a:rPr lang="ko-KR" altLang="en-US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인천공장장 의 겸직 해제 및</a:t>
            </a:r>
            <a:endParaRPr lang="en-US" altLang="ko-KR" sz="11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0" indent="0" algn="ctr">
              <a:lnSpc>
                <a:spcPts val="1250"/>
              </a:lnSpc>
              <a:buNone/>
            </a:pPr>
            <a:r>
              <a:rPr lang="en-US" altLang="ko-KR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SCM </a:t>
            </a:r>
            <a:r>
              <a:rPr lang="ko-KR" altLang="en-US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본부장 신규 배치</a:t>
            </a:r>
            <a:endParaRPr lang="en-US" altLang="ko-KR" sz="10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47DEB65-4EBB-7410-802E-CEE21BEF16DC}"/>
              </a:ext>
            </a:extLst>
          </p:cNvPr>
          <p:cNvGrpSpPr/>
          <p:nvPr/>
        </p:nvGrpSpPr>
        <p:grpSpPr>
          <a:xfrm>
            <a:off x="1546704" y="3550096"/>
            <a:ext cx="1053190" cy="1053190"/>
            <a:chOff x="770226" y="3603887"/>
            <a:chExt cx="1053190" cy="1053190"/>
          </a:xfrm>
        </p:grpSpPr>
        <p:sp>
          <p:nvSpPr>
            <p:cNvPr id="20" name="눈물 방울 19">
              <a:extLst>
                <a:ext uri="{FF2B5EF4-FFF2-40B4-BE49-F238E27FC236}">
                  <a16:creationId xmlns:a16="http://schemas.microsoft.com/office/drawing/2014/main" id="{0B12E9A0-7334-C01F-6DD7-15D1513990BC}"/>
                </a:ext>
              </a:extLst>
            </p:cNvPr>
            <p:cNvSpPr/>
            <p:nvPr/>
          </p:nvSpPr>
          <p:spPr>
            <a:xfrm rot="8100000">
              <a:off x="770226" y="3603887"/>
              <a:ext cx="1053190" cy="1053190"/>
            </a:xfrm>
            <a:prstGeom prst="teardrop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EE97DA63-24CD-E009-709D-B88EA24C4C36}"/>
                </a:ext>
              </a:extLst>
            </p:cNvPr>
            <p:cNvSpPr/>
            <p:nvPr/>
          </p:nvSpPr>
          <p:spPr>
            <a:xfrm>
              <a:off x="875643" y="3710726"/>
              <a:ext cx="839512" cy="839512"/>
            </a:xfrm>
            <a:prstGeom prst="ellipse">
              <a:avLst/>
            </a:prstGeom>
            <a:solidFill>
              <a:srgbClr val="FDEB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dirty="0">
                  <a:solidFill>
                    <a:srgbClr val="EE3342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단기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F3AFFA1-9ECD-ED18-8DB6-AF6D71862013}"/>
              </a:ext>
            </a:extLst>
          </p:cNvPr>
          <p:cNvGrpSpPr/>
          <p:nvPr/>
        </p:nvGrpSpPr>
        <p:grpSpPr>
          <a:xfrm>
            <a:off x="5565874" y="2603745"/>
            <a:ext cx="1053190" cy="1053190"/>
            <a:chOff x="770226" y="3603887"/>
            <a:chExt cx="1053190" cy="1053190"/>
          </a:xfrm>
        </p:grpSpPr>
        <p:sp>
          <p:nvSpPr>
            <p:cNvPr id="23" name="눈물 방울 22">
              <a:extLst>
                <a:ext uri="{FF2B5EF4-FFF2-40B4-BE49-F238E27FC236}">
                  <a16:creationId xmlns:a16="http://schemas.microsoft.com/office/drawing/2014/main" id="{EE15B7AB-1118-83CA-F962-0ED9F1DF07C8}"/>
                </a:ext>
              </a:extLst>
            </p:cNvPr>
            <p:cNvSpPr/>
            <p:nvPr/>
          </p:nvSpPr>
          <p:spPr>
            <a:xfrm rot="8100000">
              <a:off x="770226" y="3603887"/>
              <a:ext cx="1053190" cy="1053190"/>
            </a:xfrm>
            <a:prstGeom prst="teardrop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049136-054C-F2C3-96DD-F525BB6A4F27}"/>
                </a:ext>
              </a:extLst>
            </p:cNvPr>
            <p:cNvSpPr/>
            <p:nvPr/>
          </p:nvSpPr>
          <p:spPr>
            <a:xfrm>
              <a:off x="875643" y="3710726"/>
              <a:ext cx="839512" cy="839512"/>
            </a:xfrm>
            <a:prstGeom prst="ellipse">
              <a:avLst/>
            </a:prstGeom>
            <a:solidFill>
              <a:srgbClr val="F47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중기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AF17717-9AE4-AD7B-564C-3D040755974E}"/>
              </a:ext>
            </a:extLst>
          </p:cNvPr>
          <p:cNvGrpSpPr/>
          <p:nvPr/>
        </p:nvGrpSpPr>
        <p:grpSpPr>
          <a:xfrm>
            <a:off x="9675736" y="1734968"/>
            <a:ext cx="1053190" cy="1053190"/>
            <a:chOff x="770226" y="3603887"/>
            <a:chExt cx="1053190" cy="1053190"/>
          </a:xfrm>
        </p:grpSpPr>
        <p:sp>
          <p:nvSpPr>
            <p:cNvPr id="26" name="눈물 방울 25">
              <a:extLst>
                <a:ext uri="{FF2B5EF4-FFF2-40B4-BE49-F238E27FC236}">
                  <a16:creationId xmlns:a16="http://schemas.microsoft.com/office/drawing/2014/main" id="{0CD383DB-9574-E4C9-4EA5-E9BF376850D1}"/>
                </a:ext>
              </a:extLst>
            </p:cNvPr>
            <p:cNvSpPr/>
            <p:nvPr/>
          </p:nvSpPr>
          <p:spPr>
            <a:xfrm rot="8100000">
              <a:off x="770226" y="3603887"/>
              <a:ext cx="1053190" cy="1053190"/>
            </a:xfrm>
            <a:prstGeom prst="teardrop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E85DECDF-03B0-59B7-D86E-C0B6176485DB}"/>
                </a:ext>
              </a:extLst>
            </p:cNvPr>
            <p:cNvSpPr/>
            <p:nvPr/>
          </p:nvSpPr>
          <p:spPr>
            <a:xfrm>
              <a:off x="875643" y="3710726"/>
              <a:ext cx="839512" cy="839512"/>
            </a:xfrm>
            <a:prstGeom prst="ellipse">
              <a:avLst/>
            </a:prstGeom>
            <a:solidFill>
              <a:srgbClr val="EE33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장기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F68DE92-CA52-E219-15B7-D33EA4EB4F56}"/>
              </a:ext>
            </a:extLst>
          </p:cNvPr>
          <p:cNvSpPr txBox="1"/>
          <p:nvPr/>
        </p:nvSpPr>
        <p:spPr>
          <a:xfrm>
            <a:off x="573532" y="1233101"/>
            <a:ext cx="7330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성장을 위한 로드맵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3600" dirty="0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3600" dirty="0">
                <a:solidFill>
                  <a:srgbClr val="EE334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단계 실행 계획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869F4D-AF29-C1A8-08CB-82F25C27D2E8}"/>
              </a:ext>
            </a:extLst>
          </p:cNvPr>
          <p:cNvSpPr txBox="1"/>
          <p:nvPr/>
        </p:nvSpPr>
        <p:spPr>
          <a:xfrm>
            <a:off x="8798353" y="3437122"/>
            <a:ext cx="2805112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altLang="ko-KR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SCM </a:t>
            </a:r>
            <a:r>
              <a:rPr lang="ko-KR" altLang="en-US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고도화 및 이익률 극대화</a:t>
            </a:r>
            <a:endParaRPr lang="en-US" altLang="ko-KR" sz="11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0" indent="0" algn="ctr">
              <a:lnSpc>
                <a:spcPts val="1250"/>
              </a:lnSpc>
              <a:buNone/>
            </a:pPr>
            <a:r>
              <a:rPr lang="ko-KR" altLang="en-US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수요 예측</a:t>
            </a:r>
            <a:r>
              <a:rPr lang="en-US" altLang="ko-KR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전략구매</a:t>
            </a:r>
            <a:r>
              <a:rPr lang="en-US" altLang="ko-KR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통합물류 등</a:t>
            </a:r>
            <a:endParaRPr lang="en-US" altLang="ko-KR" sz="11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0" indent="0" algn="ctr">
              <a:lnSpc>
                <a:spcPts val="1250"/>
              </a:lnSpc>
              <a:buNone/>
            </a:pPr>
            <a:r>
              <a:rPr lang="ko-KR" altLang="en-US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본연의 기능 확대</a:t>
            </a:r>
            <a:endParaRPr lang="en-US" altLang="ko-KR" sz="10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E95392-F4F2-AAD8-19C4-6CA776B9DC91}"/>
              </a:ext>
            </a:extLst>
          </p:cNvPr>
          <p:cNvSpPr txBox="1"/>
          <p:nvPr/>
        </p:nvSpPr>
        <p:spPr>
          <a:xfrm>
            <a:off x="4693444" y="4312346"/>
            <a:ext cx="2805112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altLang="ko-KR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R&amp;D </a:t>
            </a:r>
            <a:r>
              <a:rPr lang="ko-KR" altLang="en-US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센터 독립하여 사료 가치 제고</a:t>
            </a:r>
            <a:endParaRPr lang="en-US" altLang="ko-KR" sz="11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0" indent="0" algn="ctr">
              <a:lnSpc>
                <a:spcPts val="1250"/>
              </a:lnSpc>
              <a:buNone/>
            </a:pPr>
            <a:r>
              <a:rPr lang="ko-KR" altLang="en-US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전문 연구소장 체제로 전환</a:t>
            </a:r>
            <a:endParaRPr lang="en-US" altLang="ko-KR" sz="10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879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6AA1C-72EB-D8FD-B449-ECD5966FC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41914D1-0B90-9F79-69FB-8CBBF515E066}"/>
              </a:ext>
            </a:extLst>
          </p:cNvPr>
          <p:cNvCxnSpPr/>
          <p:nvPr/>
        </p:nvCxnSpPr>
        <p:spPr>
          <a:xfrm>
            <a:off x="4599342" y="3340112"/>
            <a:ext cx="0" cy="12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6BEB9A2-0B37-5CA9-F2C2-1336F2C0DFC5}"/>
              </a:ext>
            </a:extLst>
          </p:cNvPr>
          <p:cNvCxnSpPr>
            <a:cxnSpLocks/>
          </p:cNvCxnSpPr>
          <p:nvPr/>
        </p:nvCxnSpPr>
        <p:spPr>
          <a:xfrm>
            <a:off x="4498237" y="3276599"/>
            <a:ext cx="0" cy="220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F5811B7-E1CF-334A-9BA2-A652A3CBE22C}"/>
              </a:ext>
            </a:extLst>
          </p:cNvPr>
          <p:cNvCxnSpPr>
            <a:cxnSpLocks/>
          </p:cNvCxnSpPr>
          <p:nvPr/>
        </p:nvCxnSpPr>
        <p:spPr>
          <a:xfrm>
            <a:off x="4498237" y="3290242"/>
            <a:ext cx="253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FBBDEA9-E8C9-7F8E-54A7-63A9D6A10B54}"/>
              </a:ext>
            </a:extLst>
          </p:cNvPr>
          <p:cNvCxnSpPr/>
          <p:nvPr/>
        </p:nvCxnSpPr>
        <p:spPr>
          <a:xfrm>
            <a:off x="4498237" y="3311514"/>
            <a:ext cx="253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15D306D-B327-C1F0-8D49-2458EC1BE929}"/>
              </a:ext>
            </a:extLst>
          </p:cNvPr>
          <p:cNvCxnSpPr/>
          <p:nvPr/>
        </p:nvCxnSpPr>
        <p:spPr>
          <a:xfrm>
            <a:off x="4498237" y="3330406"/>
            <a:ext cx="253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56F2EAF-7B1F-DDC8-FE78-3ED5CF3DA75D}"/>
              </a:ext>
            </a:extLst>
          </p:cNvPr>
          <p:cNvCxnSpPr/>
          <p:nvPr/>
        </p:nvCxnSpPr>
        <p:spPr>
          <a:xfrm>
            <a:off x="4498237" y="3496901"/>
            <a:ext cx="253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23F81A5-14C7-92F6-546D-35FEC4205464}"/>
              </a:ext>
            </a:extLst>
          </p:cNvPr>
          <p:cNvSpPr/>
          <p:nvPr/>
        </p:nvSpPr>
        <p:spPr>
          <a:xfrm>
            <a:off x="4523597" y="3282033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수요예측팀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47D2954B-3F8B-B010-90AE-6B9F306A577C}"/>
              </a:ext>
            </a:extLst>
          </p:cNvPr>
          <p:cNvSpPr/>
          <p:nvPr/>
        </p:nvSpPr>
        <p:spPr>
          <a:xfrm>
            <a:off x="4523597" y="3302809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수요예측팀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ED9755AB-0E31-589D-4EAC-C7080C9B4B0F}"/>
              </a:ext>
            </a:extLst>
          </p:cNvPr>
          <p:cNvSpPr/>
          <p:nvPr/>
        </p:nvSpPr>
        <p:spPr>
          <a:xfrm>
            <a:off x="4523597" y="3322767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물류팀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F4C91D80-084D-5794-D1EE-D7A5885467CE}"/>
              </a:ext>
            </a:extLst>
          </p:cNvPr>
          <p:cNvSpPr/>
          <p:nvPr/>
        </p:nvSpPr>
        <p:spPr>
          <a:xfrm>
            <a:off x="4523597" y="3490842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구매팀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4D1A06CC-3D21-5AE0-144A-928DA6CE4641}"/>
              </a:ext>
            </a:extLst>
          </p:cNvPr>
          <p:cNvCxnSpPr>
            <a:cxnSpLocks/>
          </p:cNvCxnSpPr>
          <p:nvPr/>
        </p:nvCxnSpPr>
        <p:spPr>
          <a:xfrm>
            <a:off x="4599342" y="3360386"/>
            <a:ext cx="457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FEB0B02B-E886-8D50-E6BD-737BAA0C70EC}"/>
              </a:ext>
            </a:extLst>
          </p:cNvPr>
          <p:cNvCxnSpPr>
            <a:cxnSpLocks/>
          </p:cNvCxnSpPr>
          <p:nvPr/>
        </p:nvCxnSpPr>
        <p:spPr>
          <a:xfrm>
            <a:off x="4599342" y="3409489"/>
            <a:ext cx="457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2CE0DD7-11CC-C222-9C38-829FE75B932E}"/>
              </a:ext>
            </a:extLst>
          </p:cNvPr>
          <p:cNvCxnSpPr>
            <a:cxnSpLocks/>
          </p:cNvCxnSpPr>
          <p:nvPr/>
        </p:nvCxnSpPr>
        <p:spPr>
          <a:xfrm>
            <a:off x="4599342" y="3465621"/>
            <a:ext cx="457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FACE7683-B609-B97C-F05A-E174E89F936C}"/>
              </a:ext>
            </a:extLst>
          </p:cNvPr>
          <p:cNvSpPr/>
          <p:nvPr/>
        </p:nvSpPr>
        <p:spPr>
          <a:xfrm>
            <a:off x="4645113" y="3351913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인천물류파트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4538B716-ABB6-22D3-87CC-EE641AD74AD8}"/>
              </a:ext>
            </a:extLst>
          </p:cNvPr>
          <p:cNvSpPr/>
          <p:nvPr/>
        </p:nvSpPr>
        <p:spPr>
          <a:xfrm>
            <a:off x="4645113" y="3401016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장항물류파트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3147E47-C937-4FED-9207-EDF8E114CCDE}"/>
              </a:ext>
            </a:extLst>
          </p:cNvPr>
          <p:cNvSpPr/>
          <p:nvPr/>
        </p:nvSpPr>
        <p:spPr>
          <a:xfrm>
            <a:off x="4645113" y="3457115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홍성센터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5AF6BEDF-3631-C31D-3511-4E2B89CAFF4A}"/>
              </a:ext>
            </a:extLst>
          </p:cNvPr>
          <p:cNvCxnSpPr>
            <a:cxnSpLocks/>
          </p:cNvCxnSpPr>
          <p:nvPr/>
        </p:nvCxnSpPr>
        <p:spPr>
          <a:xfrm>
            <a:off x="4498237" y="3276598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E4B04A0-9C9E-2EE7-6224-FAA8265DDE72}"/>
              </a:ext>
            </a:extLst>
          </p:cNvPr>
          <p:cNvSpPr/>
          <p:nvPr/>
        </p:nvSpPr>
        <p:spPr>
          <a:xfrm>
            <a:off x="3633348" y="2847908"/>
            <a:ext cx="1745042" cy="1226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27C8E7-6D95-79FA-707A-2048BF1E1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9682521" y="276225"/>
            <a:ext cx="2172929" cy="62926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986840C-3135-242C-F2A1-D43044AFD05F}"/>
              </a:ext>
            </a:extLst>
          </p:cNvPr>
          <p:cNvSpPr/>
          <p:nvPr/>
        </p:nvSpPr>
        <p:spPr>
          <a:xfrm>
            <a:off x="336550" y="807167"/>
            <a:ext cx="714375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37F285E-4A91-CD10-7566-82182CF04E2C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0925" y="861245"/>
            <a:ext cx="10798175" cy="0"/>
          </a:xfrm>
          <a:prstGeom prst="line">
            <a:avLst/>
          </a:prstGeom>
          <a:ln>
            <a:solidFill>
              <a:srgbClr val="E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FDDC52-30E4-E2EA-0885-2AE00FDC091A}"/>
              </a:ext>
            </a:extLst>
          </p:cNvPr>
          <p:cNvSpPr txBox="1"/>
          <p:nvPr/>
        </p:nvSpPr>
        <p:spPr>
          <a:xfrm>
            <a:off x="336550" y="382270"/>
            <a:ext cx="71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04</a:t>
            </a:r>
            <a:endParaRPr lang="ko-KR" altLang="en-US" sz="28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B32F44-02DE-4AB4-7C1D-D4C5D0B377BE}"/>
              </a:ext>
            </a:extLst>
          </p:cNvPr>
          <p:cNvSpPr txBox="1"/>
          <p:nvPr/>
        </p:nvSpPr>
        <p:spPr>
          <a:xfrm>
            <a:off x="1050925" y="491912"/>
            <a:ext cx="86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교차 지휘 해소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EDCD04-CE0A-42F6-27FF-B84FDE0A1078}"/>
              </a:ext>
            </a:extLst>
          </p:cNvPr>
          <p:cNvSpPr txBox="1"/>
          <p:nvPr/>
        </p:nvSpPr>
        <p:spPr>
          <a:xfrm>
            <a:off x="336550" y="189412"/>
            <a:ext cx="399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겸직 해제 및 전담 공장장 배치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9E04726-A2C3-8A3B-9690-8BD8870A8297}"/>
              </a:ext>
            </a:extLst>
          </p:cNvPr>
          <p:cNvSpPr/>
          <p:nvPr/>
        </p:nvSpPr>
        <p:spPr>
          <a:xfrm>
            <a:off x="4357914" y="1039770"/>
            <a:ext cx="3476171" cy="499742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 표 이 사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2529227-66E8-270A-CFF6-0D01FE0CD856}"/>
              </a:ext>
            </a:extLst>
          </p:cNvPr>
          <p:cNvCxnSpPr>
            <a:stCxn id="3" idx="2"/>
          </p:cNvCxnSpPr>
          <p:nvPr/>
        </p:nvCxnSpPr>
        <p:spPr>
          <a:xfrm>
            <a:off x="6096000" y="1539512"/>
            <a:ext cx="0" cy="477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561F97B-E925-75C9-69DD-DB783F09BC9C}"/>
              </a:ext>
            </a:extLst>
          </p:cNvPr>
          <p:cNvCxnSpPr>
            <a:cxnSpLocks/>
          </p:cNvCxnSpPr>
          <p:nvPr/>
        </p:nvCxnSpPr>
        <p:spPr>
          <a:xfrm>
            <a:off x="6095999" y="1770254"/>
            <a:ext cx="47026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A02B43B-366B-A0E5-FA6C-F162250987E4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798628" y="1770254"/>
            <a:ext cx="0" cy="488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524DB8E-619A-B4E7-7F3D-80D822C4BC2F}"/>
              </a:ext>
            </a:extLst>
          </p:cNvPr>
          <p:cNvCxnSpPr>
            <a:cxnSpLocks/>
          </p:cNvCxnSpPr>
          <p:nvPr/>
        </p:nvCxnSpPr>
        <p:spPr>
          <a:xfrm>
            <a:off x="177800" y="2017486"/>
            <a:ext cx="84893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060CFC6-A46D-94E0-1C28-388EEACF0F9F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8667165" y="2009241"/>
            <a:ext cx="0" cy="538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53C18A5-48D3-6D83-9F47-6E57ACC6BEFE}"/>
              </a:ext>
            </a:extLst>
          </p:cNvPr>
          <p:cNvSpPr/>
          <p:nvPr/>
        </p:nvSpPr>
        <p:spPr>
          <a:xfrm>
            <a:off x="9965548" y="2258791"/>
            <a:ext cx="1666159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경영기획본부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3494370-419F-6A32-DD74-F98C51A77174}"/>
              </a:ext>
            </a:extLst>
          </p:cNvPr>
          <p:cNvSpPr/>
          <p:nvPr/>
        </p:nvSpPr>
        <p:spPr>
          <a:xfrm>
            <a:off x="8073809" y="2548045"/>
            <a:ext cx="1186712" cy="26031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경영관리본부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D56DA7C-B33A-6B82-05E3-A1BFB3BC11FF}"/>
              </a:ext>
            </a:extLst>
          </p:cNvPr>
          <p:cNvCxnSpPr>
            <a:cxnSpLocks/>
          </p:cNvCxnSpPr>
          <p:nvPr/>
        </p:nvCxnSpPr>
        <p:spPr>
          <a:xfrm>
            <a:off x="10798628" y="2625622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64564F3-CE0D-6231-B378-D7183908D9B5}"/>
              </a:ext>
            </a:extLst>
          </p:cNvPr>
          <p:cNvCxnSpPr>
            <a:cxnSpLocks/>
          </p:cNvCxnSpPr>
          <p:nvPr/>
        </p:nvCxnSpPr>
        <p:spPr>
          <a:xfrm flipH="1">
            <a:off x="10101943" y="2857209"/>
            <a:ext cx="696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596F2C7-46CF-D1A5-FA6F-86C1D31BDA67}"/>
              </a:ext>
            </a:extLst>
          </p:cNvPr>
          <p:cNvCxnSpPr>
            <a:cxnSpLocks/>
          </p:cNvCxnSpPr>
          <p:nvPr/>
        </p:nvCxnSpPr>
        <p:spPr>
          <a:xfrm>
            <a:off x="10101943" y="2847907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320201C-3F50-4C36-6EE4-4B52E54F6489}"/>
              </a:ext>
            </a:extLst>
          </p:cNvPr>
          <p:cNvSpPr/>
          <p:nvPr/>
        </p:nvSpPr>
        <p:spPr>
          <a:xfrm>
            <a:off x="9405259" y="3079494"/>
            <a:ext cx="1393368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R&amp;D </a:t>
            </a:r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센터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F8D9D84-0F41-2687-4D18-FD80CDCEA217}"/>
              </a:ext>
            </a:extLst>
          </p:cNvPr>
          <p:cNvCxnSpPr/>
          <p:nvPr/>
        </p:nvCxnSpPr>
        <p:spPr>
          <a:xfrm>
            <a:off x="6346696" y="2017486"/>
            <a:ext cx="0" cy="477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AEE14C9-047D-ABF3-8950-97FA214C7AE8}"/>
              </a:ext>
            </a:extLst>
          </p:cNvPr>
          <p:cNvSpPr/>
          <p:nvPr/>
        </p:nvSpPr>
        <p:spPr>
          <a:xfrm>
            <a:off x="5513616" y="2495459"/>
            <a:ext cx="1666159" cy="781139"/>
          </a:xfrm>
          <a:prstGeom prst="roundRect">
            <a:avLst>
              <a:gd name="adj" fmla="val 26765"/>
            </a:avLst>
          </a:prstGeom>
          <a:noFill/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SCM </a:t>
            </a:r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본부</a:t>
            </a:r>
            <a:endParaRPr lang="en-US" altLang="ko-KR" dirty="0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본부장 </a:t>
            </a:r>
            <a:r>
              <a:rPr lang="en-US" altLang="ko-KR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</a:t>
            </a:r>
            <a:endParaRPr lang="ko-KR" altLang="en-US" dirty="0">
              <a:solidFill>
                <a:srgbClr val="EE3342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ED2E329-2DD1-5475-2AFD-F10827DACE75}"/>
              </a:ext>
            </a:extLst>
          </p:cNvPr>
          <p:cNvCxnSpPr/>
          <p:nvPr/>
        </p:nvCxnSpPr>
        <p:spPr>
          <a:xfrm>
            <a:off x="3775532" y="2017486"/>
            <a:ext cx="0" cy="477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4B2DD8C-DDF1-3DBA-3F66-8DAECB52EBD6}"/>
              </a:ext>
            </a:extLst>
          </p:cNvPr>
          <p:cNvSpPr/>
          <p:nvPr/>
        </p:nvSpPr>
        <p:spPr>
          <a:xfrm>
            <a:off x="2942452" y="2495460"/>
            <a:ext cx="1666159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생산관리본부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9128884-998E-52D4-F0BC-6F28E551C0C7}"/>
              </a:ext>
            </a:extLst>
          </p:cNvPr>
          <p:cNvCxnSpPr>
            <a:cxnSpLocks/>
          </p:cNvCxnSpPr>
          <p:nvPr/>
        </p:nvCxnSpPr>
        <p:spPr>
          <a:xfrm>
            <a:off x="3775533" y="2851731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A95AEBA-7A51-2E0D-E245-E12AC4D4570C}"/>
              </a:ext>
            </a:extLst>
          </p:cNvPr>
          <p:cNvCxnSpPr>
            <a:cxnSpLocks/>
          </p:cNvCxnSpPr>
          <p:nvPr/>
        </p:nvCxnSpPr>
        <p:spPr>
          <a:xfrm flipH="1">
            <a:off x="3078848" y="3083318"/>
            <a:ext cx="696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B98FB91-1276-5FA3-D3DC-706061ED314A}"/>
              </a:ext>
            </a:extLst>
          </p:cNvPr>
          <p:cNvCxnSpPr>
            <a:cxnSpLocks/>
          </p:cNvCxnSpPr>
          <p:nvPr/>
        </p:nvCxnSpPr>
        <p:spPr>
          <a:xfrm>
            <a:off x="3078848" y="3074016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75FE861-813F-9524-CCF2-17A9DAA2733F}"/>
              </a:ext>
            </a:extLst>
          </p:cNvPr>
          <p:cNvSpPr/>
          <p:nvPr/>
        </p:nvSpPr>
        <p:spPr>
          <a:xfrm>
            <a:off x="2487389" y="3305602"/>
            <a:ext cx="1182918" cy="691451"/>
          </a:xfrm>
          <a:prstGeom prst="roundRect">
            <a:avLst>
              <a:gd name="adj" fmla="val 26765"/>
            </a:avLst>
          </a:prstGeom>
          <a:noFill/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인천공장</a:t>
            </a:r>
            <a:endParaRPr lang="en-US" altLang="ko-KR" dirty="0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rgbClr val="2767C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공장장 </a:t>
            </a:r>
            <a:r>
              <a:rPr lang="en-US" altLang="ko-KR" dirty="0">
                <a:solidFill>
                  <a:srgbClr val="2767C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</a:t>
            </a:r>
            <a:endParaRPr lang="ko-KR" altLang="en-US" dirty="0">
              <a:solidFill>
                <a:srgbClr val="2767CF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0C01D2F-E839-B3F7-5CE9-8152C8D809BB}"/>
              </a:ext>
            </a:extLst>
          </p:cNvPr>
          <p:cNvCxnSpPr>
            <a:cxnSpLocks/>
          </p:cNvCxnSpPr>
          <p:nvPr/>
        </p:nvCxnSpPr>
        <p:spPr>
          <a:xfrm flipH="1">
            <a:off x="3775529" y="2857209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2D623C2-41CF-5F56-3C80-64190D493E2A}"/>
              </a:ext>
            </a:extLst>
          </p:cNvPr>
          <p:cNvCxnSpPr>
            <a:cxnSpLocks/>
          </p:cNvCxnSpPr>
          <p:nvPr/>
        </p:nvCxnSpPr>
        <p:spPr>
          <a:xfrm>
            <a:off x="3775529" y="3083143"/>
            <a:ext cx="696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FE578C4-E194-19EA-CC61-F757A68A9DA1}"/>
              </a:ext>
            </a:extLst>
          </p:cNvPr>
          <p:cNvCxnSpPr>
            <a:cxnSpLocks/>
          </p:cNvCxnSpPr>
          <p:nvPr/>
        </p:nvCxnSpPr>
        <p:spPr>
          <a:xfrm flipH="1">
            <a:off x="4472214" y="3074015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DEAAFDD-C0AC-3C9D-DF6E-5060BA4747CA}"/>
              </a:ext>
            </a:extLst>
          </p:cNvPr>
          <p:cNvSpPr/>
          <p:nvPr/>
        </p:nvSpPr>
        <p:spPr>
          <a:xfrm flipH="1">
            <a:off x="3880755" y="3314730"/>
            <a:ext cx="1182918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장항공장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80C6C91-770B-898C-4F2C-494FF55E20C1}"/>
              </a:ext>
            </a:extLst>
          </p:cNvPr>
          <p:cNvCxnSpPr>
            <a:cxnSpLocks/>
          </p:cNvCxnSpPr>
          <p:nvPr/>
        </p:nvCxnSpPr>
        <p:spPr>
          <a:xfrm flipH="1">
            <a:off x="177800" y="2947821"/>
            <a:ext cx="2157412" cy="0"/>
          </a:xfrm>
          <a:prstGeom prst="line">
            <a:avLst/>
          </a:prstGeom>
          <a:ln w="66675" cap="rnd">
            <a:solidFill>
              <a:srgbClr val="EE334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BF09237-E8D5-0D88-07FA-855A21E0BED0}"/>
              </a:ext>
            </a:extLst>
          </p:cNvPr>
          <p:cNvSpPr/>
          <p:nvPr/>
        </p:nvSpPr>
        <p:spPr>
          <a:xfrm>
            <a:off x="9321475" y="1964902"/>
            <a:ext cx="2450191" cy="1800566"/>
          </a:xfrm>
          <a:prstGeom prst="roundRect">
            <a:avLst/>
          </a:prstGeom>
          <a:noFill/>
          <a:ln w="762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원호 35">
            <a:extLst>
              <a:ext uri="{FF2B5EF4-FFF2-40B4-BE49-F238E27FC236}">
                <a16:creationId xmlns:a16="http://schemas.microsoft.com/office/drawing/2014/main" id="{AFB55DD6-D1F0-0383-749C-4CC2D0EA4E57}"/>
              </a:ext>
            </a:extLst>
          </p:cNvPr>
          <p:cNvSpPr/>
          <p:nvPr/>
        </p:nvSpPr>
        <p:spPr>
          <a:xfrm rot="7200000">
            <a:off x="3110540" y="587094"/>
            <a:ext cx="3516694" cy="3628005"/>
          </a:xfrm>
          <a:prstGeom prst="arc">
            <a:avLst>
              <a:gd name="adj1" fmla="val 16385762"/>
              <a:gd name="adj2" fmla="val 511614"/>
            </a:avLst>
          </a:prstGeom>
          <a:ln>
            <a:solidFill>
              <a:srgbClr val="EE334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569CC3-94CE-81F6-9408-6EA80970AC45}"/>
              </a:ext>
            </a:extLst>
          </p:cNvPr>
          <p:cNvSpPr txBox="1"/>
          <p:nvPr/>
        </p:nvSpPr>
        <p:spPr>
          <a:xfrm>
            <a:off x="2418741" y="4311504"/>
            <a:ext cx="4241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SCM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본부장 신규 배치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CCA439-C403-6DC7-9285-A8F18B0FDDA5}"/>
              </a:ext>
            </a:extLst>
          </p:cNvPr>
          <p:cNvSpPr txBox="1"/>
          <p:nvPr/>
        </p:nvSpPr>
        <p:spPr>
          <a:xfrm>
            <a:off x="2418741" y="4691123"/>
            <a:ext cx="66204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SCM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본부장과 인천공장 공장장을 별도로 두는 것은</a:t>
            </a:r>
            <a:endParaRPr lang="en-US" altLang="ko-KR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불확실한 외부 환경에서 원가우위 전략의 실행력을 높이기 위한 조치</a:t>
            </a:r>
            <a:endParaRPr lang="en-US" altLang="ko-KR" sz="1600" dirty="0">
              <a:solidFill>
                <a:srgbClr val="EE334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1260B6-40BF-5C81-10DB-B0DFE4DB35E6}"/>
              </a:ext>
            </a:extLst>
          </p:cNvPr>
          <p:cNvSpPr txBox="1"/>
          <p:nvPr/>
        </p:nvSpPr>
        <p:spPr>
          <a:xfrm>
            <a:off x="2418741" y="5468803"/>
            <a:ext cx="68868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대주산업은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원재료 수입 의존도가 높아 국제 곡물가와 환율 변동의 영향이 크고 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변동성은 원가 경쟁력을 흔드는 핵심 리스크다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이런 환경에서 외부의 불확실성을 조직 내부에서 해결할 수 있도록 전담 기능을 분리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</a:p>
          <a:p>
            <a:r>
              <a:rPr lang="ko-KR" altLang="en-US" sz="16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전문성과 책임을 강화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하는 것이 적절하다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819356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47856-A796-340A-7CC0-CC3BECE7B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33FB3C6-590F-A3E2-3621-C5AA192F16D1}"/>
              </a:ext>
            </a:extLst>
          </p:cNvPr>
          <p:cNvCxnSpPr/>
          <p:nvPr/>
        </p:nvCxnSpPr>
        <p:spPr>
          <a:xfrm>
            <a:off x="4599342" y="3340112"/>
            <a:ext cx="0" cy="12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78C26404-51F0-2630-D3FA-963D61CDE28A}"/>
              </a:ext>
            </a:extLst>
          </p:cNvPr>
          <p:cNvCxnSpPr>
            <a:cxnSpLocks/>
          </p:cNvCxnSpPr>
          <p:nvPr/>
        </p:nvCxnSpPr>
        <p:spPr>
          <a:xfrm>
            <a:off x="4498237" y="3276599"/>
            <a:ext cx="0" cy="220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BE10D6A7-4E65-79A8-5E29-D07A31A5BD85}"/>
              </a:ext>
            </a:extLst>
          </p:cNvPr>
          <p:cNvCxnSpPr>
            <a:cxnSpLocks/>
          </p:cNvCxnSpPr>
          <p:nvPr/>
        </p:nvCxnSpPr>
        <p:spPr>
          <a:xfrm>
            <a:off x="4498237" y="3290242"/>
            <a:ext cx="253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98D6758-0B34-1078-AC19-4B9865B3A037}"/>
              </a:ext>
            </a:extLst>
          </p:cNvPr>
          <p:cNvCxnSpPr/>
          <p:nvPr/>
        </p:nvCxnSpPr>
        <p:spPr>
          <a:xfrm>
            <a:off x="4498237" y="3311514"/>
            <a:ext cx="253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ACAEE1A-7B01-7380-A49A-7081D82398CC}"/>
              </a:ext>
            </a:extLst>
          </p:cNvPr>
          <p:cNvCxnSpPr/>
          <p:nvPr/>
        </p:nvCxnSpPr>
        <p:spPr>
          <a:xfrm>
            <a:off x="4498237" y="3330406"/>
            <a:ext cx="253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FAD8A058-CDFC-BDA2-D9F2-45F64180776F}"/>
              </a:ext>
            </a:extLst>
          </p:cNvPr>
          <p:cNvCxnSpPr/>
          <p:nvPr/>
        </p:nvCxnSpPr>
        <p:spPr>
          <a:xfrm>
            <a:off x="4498237" y="3496901"/>
            <a:ext cx="253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499E383C-E20F-8D0F-89C9-9C9E57C3E2AA}"/>
              </a:ext>
            </a:extLst>
          </p:cNvPr>
          <p:cNvSpPr/>
          <p:nvPr/>
        </p:nvSpPr>
        <p:spPr>
          <a:xfrm>
            <a:off x="4523597" y="3282033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수요예측팀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253C695B-6198-F1CF-2B8F-9F88E753967B}"/>
              </a:ext>
            </a:extLst>
          </p:cNvPr>
          <p:cNvSpPr>
            <a:spLocks/>
          </p:cNvSpPr>
          <p:nvPr/>
        </p:nvSpPr>
        <p:spPr>
          <a:xfrm>
            <a:off x="4523597" y="3302809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원가계획팀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77C63F9C-AD7D-78ED-0E22-A96E725AB03B}"/>
              </a:ext>
            </a:extLst>
          </p:cNvPr>
          <p:cNvSpPr/>
          <p:nvPr/>
        </p:nvSpPr>
        <p:spPr>
          <a:xfrm>
            <a:off x="4523597" y="3322767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물류팀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AD3ED2B3-E9E5-206A-B916-E19BF972541C}"/>
              </a:ext>
            </a:extLst>
          </p:cNvPr>
          <p:cNvSpPr/>
          <p:nvPr/>
        </p:nvSpPr>
        <p:spPr>
          <a:xfrm>
            <a:off x="4523597" y="3490842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구매팀</a:t>
            </a: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B7D06524-7C22-7879-E1CF-CE6EF556CBD4}"/>
              </a:ext>
            </a:extLst>
          </p:cNvPr>
          <p:cNvCxnSpPr>
            <a:cxnSpLocks/>
          </p:cNvCxnSpPr>
          <p:nvPr/>
        </p:nvCxnSpPr>
        <p:spPr>
          <a:xfrm>
            <a:off x="4599342" y="3360386"/>
            <a:ext cx="457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6C2646CF-C4A1-2294-C9AC-77F954194C63}"/>
              </a:ext>
            </a:extLst>
          </p:cNvPr>
          <p:cNvCxnSpPr>
            <a:cxnSpLocks/>
          </p:cNvCxnSpPr>
          <p:nvPr/>
        </p:nvCxnSpPr>
        <p:spPr>
          <a:xfrm>
            <a:off x="4599342" y="3409489"/>
            <a:ext cx="457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4F03ABB-16C9-2FD3-44C9-A1A23F5ACDB8}"/>
              </a:ext>
            </a:extLst>
          </p:cNvPr>
          <p:cNvCxnSpPr>
            <a:cxnSpLocks/>
          </p:cNvCxnSpPr>
          <p:nvPr/>
        </p:nvCxnSpPr>
        <p:spPr>
          <a:xfrm>
            <a:off x="4599342" y="3465621"/>
            <a:ext cx="457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72A81224-89D6-EAE1-42B8-7EE4DDBF3DE7}"/>
              </a:ext>
            </a:extLst>
          </p:cNvPr>
          <p:cNvSpPr/>
          <p:nvPr/>
        </p:nvSpPr>
        <p:spPr>
          <a:xfrm>
            <a:off x="4645113" y="3351913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인천물류파트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68B1CA9C-0D05-6E81-F681-F74619264AA3}"/>
              </a:ext>
            </a:extLst>
          </p:cNvPr>
          <p:cNvSpPr/>
          <p:nvPr/>
        </p:nvSpPr>
        <p:spPr>
          <a:xfrm>
            <a:off x="4645113" y="3401016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장항물류파트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D6A8E1F9-1803-95A1-F9FF-08521692BC56}"/>
              </a:ext>
            </a:extLst>
          </p:cNvPr>
          <p:cNvSpPr/>
          <p:nvPr/>
        </p:nvSpPr>
        <p:spPr>
          <a:xfrm>
            <a:off x="4645113" y="3457115"/>
            <a:ext cx="155488" cy="17345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홍성센터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F0CCF96B-69DC-938B-CDEC-C73507A0D633}"/>
              </a:ext>
            </a:extLst>
          </p:cNvPr>
          <p:cNvCxnSpPr>
            <a:cxnSpLocks/>
          </p:cNvCxnSpPr>
          <p:nvPr/>
        </p:nvCxnSpPr>
        <p:spPr>
          <a:xfrm>
            <a:off x="4498237" y="3276598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1233F76-BDAC-C7DC-0C25-A9F4019BFDFE}"/>
              </a:ext>
            </a:extLst>
          </p:cNvPr>
          <p:cNvSpPr/>
          <p:nvPr/>
        </p:nvSpPr>
        <p:spPr>
          <a:xfrm>
            <a:off x="3633348" y="2847908"/>
            <a:ext cx="1745042" cy="1226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6CF98BE6-1DEB-C5B2-3974-F35A5A9DA4B0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8737600" y="3276595"/>
            <a:ext cx="0" cy="32131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0B1245-DF2F-7EC0-8B3E-033557BFA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9682521" y="276225"/>
            <a:ext cx="2172929" cy="62926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053509B-F540-6079-DCA0-B993861D89D4}"/>
              </a:ext>
            </a:extLst>
          </p:cNvPr>
          <p:cNvSpPr/>
          <p:nvPr/>
        </p:nvSpPr>
        <p:spPr>
          <a:xfrm>
            <a:off x="336550" y="807167"/>
            <a:ext cx="714375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62090D2-386A-6B8C-48FC-C820FE66A95E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0925" y="861245"/>
            <a:ext cx="10798175" cy="0"/>
          </a:xfrm>
          <a:prstGeom prst="line">
            <a:avLst/>
          </a:prstGeom>
          <a:ln>
            <a:solidFill>
              <a:srgbClr val="E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A8175D7-8781-F1F3-0E1B-61B25FD7A167}"/>
              </a:ext>
            </a:extLst>
          </p:cNvPr>
          <p:cNvSpPr txBox="1"/>
          <p:nvPr/>
        </p:nvSpPr>
        <p:spPr>
          <a:xfrm>
            <a:off x="336550" y="382270"/>
            <a:ext cx="71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04</a:t>
            </a:r>
            <a:endParaRPr lang="ko-KR" altLang="en-US" sz="28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76E57-261F-46BC-7BFE-1294324A3757}"/>
              </a:ext>
            </a:extLst>
          </p:cNvPr>
          <p:cNvSpPr txBox="1"/>
          <p:nvPr/>
        </p:nvSpPr>
        <p:spPr>
          <a:xfrm>
            <a:off x="1050925" y="491912"/>
            <a:ext cx="86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R&amp;D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센터 독립 및 격상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3FFFCB-45A6-3A90-6422-9FFCA71969D6}"/>
              </a:ext>
            </a:extLst>
          </p:cNvPr>
          <p:cNvSpPr txBox="1"/>
          <p:nvPr/>
        </p:nvSpPr>
        <p:spPr>
          <a:xfrm>
            <a:off x="336550" y="189412"/>
            <a:ext cx="399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R&amp;D </a:t>
            </a:r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본부 전문성 강화 및 정보공유 민첩성 확보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2CD0E86-7BF6-E3E8-EA33-7ED1BC336E97}"/>
              </a:ext>
            </a:extLst>
          </p:cNvPr>
          <p:cNvSpPr/>
          <p:nvPr/>
        </p:nvSpPr>
        <p:spPr>
          <a:xfrm>
            <a:off x="4357914" y="1039770"/>
            <a:ext cx="3476171" cy="499742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 표 이 사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24207BE-6530-8584-F426-594781B3608F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096000" y="1539512"/>
            <a:ext cx="0" cy="477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474E8F6-9382-20AC-24AD-EBB12BA2B30A}"/>
              </a:ext>
            </a:extLst>
          </p:cNvPr>
          <p:cNvCxnSpPr>
            <a:cxnSpLocks/>
          </p:cNvCxnSpPr>
          <p:nvPr/>
        </p:nvCxnSpPr>
        <p:spPr>
          <a:xfrm>
            <a:off x="6095999" y="1770254"/>
            <a:ext cx="47026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FF7E700-2E6F-EBD6-A448-967E3E0A2BDB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798628" y="1770254"/>
            <a:ext cx="0" cy="488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573958E-24CA-C530-3222-71EF8FA45F34}"/>
              </a:ext>
            </a:extLst>
          </p:cNvPr>
          <p:cNvCxnSpPr>
            <a:cxnSpLocks/>
          </p:cNvCxnSpPr>
          <p:nvPr/>
        </p:nvCxnSpPr>
        <p:spPr>
          <a:xfrm>
            <a:off x="-1670659" y="2017486"/>
            <a:ext cx="104082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6257609-1E64-4FB0-AD87-3C68F9027273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6818706" y="2009241"/>
            <a:ext cx="0" cy="538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969ED08-EC24-D99D-6C43-498D3A18F06C}"/>
              </a:ext>
            </a:extLst>
          </p:cNvPr>
          <p:cNvSpPr/>
          <p:nvPr/>
        </p:nvSpPr>
        <p:spPr>
          <a:xfrm>
            <a:off x="9965548" y="2258791"/>
            <a:ext cx="1666159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경영기획본부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BF010B2-CA92-3535-8601-DF708A20B9FA}"/>
              </a:ext>
            </a:extLst>
          </p:cNvPr>
          <p:cNvSpPr/>
          <p:nvPr/>
        </p:nvSpPr>
        <p:spPr>
          <a:xfrm>
            <a:off x="6225350" y="2548045"/>
            <a:ext cx="1186712" cy="26031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경영관리본부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323C6A5-4406-2E03-335C-E880BBC7B0DE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8737600" y="2019261"/>
            <a:ext cx="0" cy="5287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9A8EC49-E04F-B5A0-AA25-EC912FCE2F4F}"/>
              </a:ext>
            </a:extLst>
          </p:cNvPr>
          <p:cNvSpPr/>
          <p:nvPr/>
        </p:nvSpPr>
        <p:spPr>
          <a:xfrm>
            <a:off x="8040916" y="2548044"/>
            <a:ext cx="1393368" cy="728551"/>
          </a:xfrm>
          <a:prstGeom prst="roundRect">
            <a:avLst>
              <a:gd name="adj" fmla="val 26765"/>
            </a:avLst>
          </a:prstGeom>
          <a:noFill/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R&amp;D </a:t>
            </a:r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센터</a:t>
            </a:r>
            <a:endParaRPr lang="en-US" altLang="ko-KR" dirty="0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rgbClr val="2767C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연구소장 </a:t>
            </a:r>
            <a:r>
              <a:rPr lang="en-US" altLang="ko-KR" dirty="0">
                <a:solidFill>
                  <a:srgbClr val="2767C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</a:t>
            </a:r>
            <a:endParaRPr lang="ko-KR" altLang="en-US" dirty="0">
              <a:solidFill>
                <a:srgbClr val="2767CF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04A1516-CAAB-D7A9-5A8D-A94F455B92C4}"/>
              </a:ext>
            </a:extLst>
          </p:cNvPr>
          <p:cNvCxnSpPr/>
          <p:nvPr/>
        </p:nvCxnSpPr>
        <p:spPr>
          <a:xfrm>
            <a:off x="4498237" y="2017486"/>
            <a:ext cx="0" cy="477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4118EFB-0FA4-5640-E5BD-EDC37BF6F105}"/>
              </a:ext>
            </a:extLst>
          </p:cNvPr>
          <p:cNvSpPr/>
          <p:nvPr/>
        </p:nvSpPr>
        <p:spPr>
          <a:xfrm>
            <a:off x="3665157" y="2495459"/>
            <a:ext cx="1666159" cy="781139"/>
          </a:xfrm>
          <a:prstGeom prst="roundRect">
            <a:avLst>
              <a:gd name="adj" fmla="val 26765"/>
            </a:avLst>
          </a:prstGeom>
          <a:solidFill>
            <a:schemeClr val="bg1"/>
          </a:solidFill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SCM </a:t>
            </a:r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본부</a:t>
            </a:r>
            <a:endParaRPr lang="en-US" altLang="ko-KR" dirty="0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본부장 </a:t>
            </a:r>
            <a:r>
              <a:rPr lang="en-US" altLang="ko-KR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</a:t>
            </a:r>
            <a:endParaRPr lang="ko-KR" altLang="en-US" dirty="0">
              <a:solidFill>
                <a:srgbClr val="EE3342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182F7A4-CD13-0CE9-E0C2-283668F7D019}"/>
              </a:ext>
            </a:extLst>
          </p:cNvPr>
          <p:cNvCxnSpPr/>
          <p:nvPr/>
        </p:nvCxnSpPr>
        <p:spPr>
          <a:xfrm>
            <a:off x="1927073" y="2017486"/>
            <a:ext cx="0" cy="477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9D0F9FD-CD4E-7886-E910-5BF1AAB387D3}"/>
              </a:ext>
            </a:extLst>
          </p:cNvPr>
          <p:cNvSpPr/>
          <p:nvPr/>
        </p:nvSpPr>
        <p:spPr>
          <a:xfrm>
            <a:off x="1093993" y="2495460"/>
            <a:ext cx="1666159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생산관리본부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8EE2710-6FA0-649A-579F-1D1BF7CDC7C3}"/>
              </a:ext>
            </a:extLst>
          </p:cNvPr>
          <p:cNvCxnSpPr>
            <a:cxnSpLocks/>
          </p:cNvCxnSpPr>
          <p:nvPr/>
        </p:nvCxnSpPr>
        <p:spPr>
          <a:xfrm>
            <a:off x="1927074" y="2851731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8CA1C78-085D-D996-002A-AFE1CD446DB3}"/>
              </a:ext>
            </a:extLst>
          </p:cNvPr>
          <p:cNvCxnSpPr>
            <a:cxnSpLocks/>
          </p:cNvCxnSpPr>
          <p:nvPr/>
        </p:nvCxnSpPr>
        <p:spPr>
          <a:xfrm flipH="1">
            <a:off x="1230389" y="3083318"/>
            <a:ext cx="696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7149211-CB0D-5208-AD58-53B4913D3481}"/>
              </a:ext>
            </a:extLst>
          </p:cNvPr>
          <p:cNvCxnSpPr>
            <a:cxnSpLocks/>
          </p:cNvCxnSpPr>
          <p:nvPr/>
        </p:nvCxnSpPr>
        <p:spPr>
          <a:xfrm>
            <a:off x="1230389" y="3074016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99C86E1-07A2-558F-6519-27A8DBE6AFE5}"/>
              </a:ext>
            </a:extLst>
          </p:cNvPr>
          <p:cNvSpPr/>
          <p:nvPr/>
        </p:nvSpPr>
        <p:spPr>
          <a:xfrm>
            <a:off x="638930" y="3305602"/>
            <a:ext cx="1182918" cy="691451"/>
          </a:xfrm>
          <a:prstGeom prst="roundRect">
            <a:avLst>
              <a:gd name="adj" fmla="val 26765"/>
            </a:avLst>
          </a:prstGeom>
          <a:noFill/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인천공장</a:t>
            </a:r>
            <a:endParaRPr lang="en-US" altLang="ko-KR" dirty="0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rgbClr val="2767C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공장장 </a:t>
            </a:r>
            <a:r>
              <a:rPr lang="en-US" altLang="ko-KR" dirty="0">
                <a:solidFill>
                  <a:srgbClr val="2767C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</a:t>
            </a:r>
            <a:endParaRPr lang="ko-KR" altLang="en-US" dirty="0">
              <a:solidFill>
                <a:srgbClr val="2767CF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5702E7F-9C23-4C87-072D-C7940E89B2F4}"/>
              </a:ext>
            </a:extLst>
          </p:cNvPr>
          <p:cNvCxnSpPr>
            <a:cxnSpLocks/>
          </p:cNvCxnSpPr>
          <p:nvPr/>
        </p:nvCxnSpPr>
        <p:spPr>
          <a:xfrm flipH="1">
            <a:off x="1927070" y="2857209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C01F2B6-E4E0-19A8-AE39-B19233BFA5CA}"/>
              </a:ext>
            </a:extLst>
          </p:cNvPr>
          <p:cNvCxnSpPr>
            <a:cxnSpLocks/>
          </p:cNvCxnSpPr>
          <p:nvPr/>
        </p:nvCxnSpPr>
        <p:spPr>
          <a:xfrm>
            <a:off x="1927070" y="3083143"/>
            <a:ext cx="696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44581BE-3F06-2D2B-D909-03518149BCAC}"/>
              </a:ext>
            </a:extLst>
          </p:cNvPr>
          <p:cNvCxnSpPr>
            <a:cxnSpLocks/>
          </p:cNvCxnSpPr>
          <p:nvPr/>
        </p:nvCxnSpPr>
        <p:spPr>
          <a:xfrm flipH="1">
            <a:off x="2623755" y="3074015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6EB1D4-2887-F2EB-6C5C-B7A8BB870A63}"/>
              </a:ext>
            </a:extLst>
          </p:cNvPr>
          <p:cNvSpPr/>
          <p:nvPr/>
        </p:nvSpPr>
        <p:spPr>
          <a:xfrm flipH="1">
            <a:off x="2032296" y="3314730"/>
            <a:ext cx="1182918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장항공장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18DF4D2-39BD-538E-1AFA-D84A72311C6F}"/>
              </a:ext>
            </a:extLst>
          </p:cNvPr>
          <p:cNvCxnSpPr>
            <a:cxnSpLocks/>
          </p:cNvCxnSpPr>
          <p:nvPr/>
        </p:nvCxnSpPr>
        <p:spPr>
          <a:xfrm flipH="1">
            <a:off x="-1670659" y="2947821"/>
            <a:ext cx="2157412" cy="0"/>
          </a:xfrm>
          <a:prstGeom prst="line">
            <a:avLst/>
          </a:prstGeom>
          <a:ln w="66675" cap="rnd">
            <a:solidFill>
              <a:srgbClr val="EE334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98CA3E6-AF7C-2BC8-4E13-269616B1DBE1}"/>
              </a:ext>
            </a:extLst>
          </p:cNvPr>
          <p:cNvSpPr/>
          <p:nvPr/>
        </p:nvSpPr>
        <p:spPr>
          <a:xfrm>
            <a:off x="7902479" y="1539512"/>
            <a:ext cx="3869187" cy="5290097"/>
          </a:xfrm>
          <a:prstGeom prst="roundRect">
            <a:avLst/>
          </a:prstGeom>
          <a:noFill/>
          <a:ln w="762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74704B0-39A0-0194-F9D3-3BD7C9B35C60}"/>
              </a:ext>
            </a:extLst>
          </p:cNvPr>
          <p:cNvCxnSpPr/>
          <p:nvPr/>
        </p:nvCxnSpPr>
        <p:spPr>
          <a:xfrm>
            <a:off x="8737600" y="5741643"/>
            <a:ext cx="469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BF757DF1-DAB7-0B07-4AB4-1ADBBA3458E7}"/>
              </a:ext>
            </a:extLst>
          </p:cNvPr>
          <p:cNvCxnSpPr/>
          <p:nvPr/>
        </p:nvCxnSpPr>
        <p:spPr>
          <a:xfrm>
            <a:off x="8737600" y="6489700"/>
            <a:ext cx="469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78F32ABF-FA0B-305B-1728-BBDA44FA7C49}"/>
              </a:ext>
            </a:extLst>
          </p:cNvPr>
          <p:cNvSpPr/>
          <p:nvPr/>
        </p:nvSpPr>
        <p:spPr>
          <a:xfrm>
            <a:off x="9225652" y="3354377"/>
            <a:ext cx="1219198" cy="421960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연구개발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팀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C55E8BD-9608-88FB-376A-A1D58FD3B14C}"/>
              </a:ext>
            </a:extLst>
          </p:cNvPr>
          <p:cNvSpPr/>
          <p:nvPr/>
        </p:nvSpPr>
        <p:spPr>
          <a:xfrm>
            <a:off x="9225652" y="4032643"/>
            <a:ext cx="1219198" cy="421960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연구개발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팀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F9A78C7-3733-BECC-B426-8EA3E12097C3}"/>
              </a:ext>
            </a:extLst>
          </p:cNvPr>
          <p:cNvSpPr/>
          <p:nvPr/>
        </p:nvSpPr>
        <p:spPr>
          <a:xfrm>
            <a:off x="9225652" y="4782606"/>
            <a:ext cx="1219198" cy="421960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품질관리팀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CA0AC40-9B66-B718-4588-196ED92D4CB4}"/>
              </a:ext>
            </a:extLst>
          </p:cNvPr>
          <p:cNvSpPr/>
          <p:nvPr/>
        </p:nvSpPr>
        <p:spPr>
          <a:xfrm>
            <a:off x="9225652" y="5530663"/>
            <a:ext cx="1219198" cy="421960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돋을볕센터</a:t>
            </a:r>
            <a:endParaRPr lang="ko-KR" altLang="en-US" sz="14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D3F5A33C-A8ED-DA93-3A23-89DE9EB830CD}"/>
              </a:ext>
            </a:extLst>
          </p:cNvPr>
          <p:cNvSpPr/>
          <p:nvPr/>
        </p:nvSpPr>
        <p:spPr>
          <a:xfrm>
            <a:off x="9225652" y="6278720"/>
            <a:ext cx="1219198" cy="421960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산업동물연구팀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0503A9-CE32-4512-E12F-68179EB2A4F8}"/>
              </a:ext>
            </a:extLst>
          </p:cNvPr>
          <p:cNvSpPr txBox="1"/>
          <p:nvPr/>
        </p:nvSpPr>
        <p:spPr>
          <a:xfrm>
            <a:off x="4467635" y="4105602"/>
            <a:ext cx="330250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R&amp;D</a:t>
            </a:r>
            <a:r>
              <a:rPr lang="ko-KR" altLang="en-US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센터를 경영기획 본부로부터 독립</a:t>
            </a:r>
            <a:endParaRPr lang="en-US" altLang="ko-KR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/>
            <a:r>
              <a:rPr lang="ko-KR" altLang="en-US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기술연구본부 레벨로 승격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C02F5A-8C85-C0C6-28AF-E44B861D49AF}"/>
              </a:ext>
            </a:extLst>
          </p:cNvPr>
          <p:cNvSpPr txBox="1"/>
          <p:nvPr/>
        </p:nvSpPr>
        <p:spPr>
          <a:xfrm>
            <a:off x="2407777" y="4768792"/>
            <a:ext cx="5362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연구개발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1, 2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팀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품질관리팀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돋을볕센터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산업동물연구팀으로 산하 구성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1C01381-997C-CD13-68AC-786DC788EA5A}"/>
              </a:ext>
            </a:extLst>
          </p:cNvPr>
          <p:cNvSpPr txBox="1"/>
          <p:nvPr/>
        </p:nvSpPr>
        <p:spPr>
          <a:xfrm>
            <a:off x="2939411" y="5168955"/>
            <a:ext cx="48317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불확실한 외부환경과 차별화전략을 고려할 때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r"/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R&amp;D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본부의 </a:t>
            </a:r>
            <a:r>
              <a:rPr lang="ko-KR" altLang="en-US" sz="16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전문성 강화 및 정보 공유의 민첩성 확보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위해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r"/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기획본부로부터 독립 및 격상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C5A8604-22DD-8A2C-D7C9-42D9E2D021E3}"/>
              </a:ext>
            </a:extLst>
          </p:cNvPr>
          <p:cNvCxnSpPr/>
          <p:nvPr/>
        </p:nvCxnSpPr>
        <p:spPr>
          <a:xfrm>
            <a:off x="8737600" y="4991629"/>
            <a:ext cx="469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44D8E70-3C04-1BDE-07FA-B663750EF9E5}"/>
              </a:ext>
            </a:extLst>
          </p:cNvPr>
          <p:cNvCxnSpPr/>
          <p:nvPr/>
        </p:nvCxnSpPr>
        <p:spPr>
          <a:xfrm>
            <a:off x="8737600" y="4231342"/>
            <a:ext cx="469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B4074926-6407-BF70-A45F-99B99D4DD6CE}"/>
              </a:ext>
            </a:extLst>
          </p:cNvPr>
          <p:cNvCxnSpPr/>
          <p:nvPr/>
        </p:nvCxnSpPr>
        <p:spPr>
          <a:xfrm>
            <a:off x="8737600" y="3553248"/>
            <a:ext cx="469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656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A26DC-3C80-F565-FC74-AB91B2679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19ECD5E-17BB-4F5C-27FF-A2D70E026AD6}"/>
              </a:ext>
            </a:extLst>
          </p:cNvPr>
          <p:cNvCxnSpPr/>
          <p:nvPr/>
        </p:nvCxnSpPr>
        <p:spPr>
          <a:xfrm>
            <a:off x="5172075" y="4185654"/>
            <a:ext cx="0" cy="18111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88701C4-AC43-60D7-E48D-BECC94BAC240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4498237" y="3276598"/>
            <a:ext cx="0" cy="31531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600BA9AA-A4F2-904A-3A1D-FA6CC18CADAD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8737600" y="3276595"/>
            <a:ext cx="0" cy="32131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BE3CD1-397C-63E0-7F7C-F373A522D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9682521" y="276225"/>
            <a:ext cx="2172929" cy="62926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4B0952C-C933-449A-1489-3A0D0716C717}"/>
              </a:ext>
            </a:extLst>
          </p:cNvPr>
          <p:cNvSpPr/>
          <p:nvPr/>
        </p:nvSpPr>
        <p:spPr>
          <a:xfrm>
            <a:off x="336550" y="807167"/>
            <a:ext cx="714375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F05CCE7-9E01-1DDF-94E3-09D103FA3340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0925" y="861245"/>
            <a:ext cx="10798175" cy="0"/>
          </a:xfrm>
          <a:prstGeom prst="line">
            <a:avLst/>
          </a:prstGeom>
          <a:ln>
            <a:solidFill>
              <a:srgbClr val="E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2D3DF7F-723C-7079-DFAD-88EC1557C50F}"/>
              </a:ext>
            </a:extLst>
          </p:cNvPr>
          <p:cNvSpPr txBox="1"/>
          <p:nvPr/>
        </p:nvSpPr>
        <p:spPr>
          <a:xfrm>
            <a:off x="336550" y="382270"/>
            <a:ext cx="71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04</a:t>
            </a:r>
            <a:endParaRPr lang="ko-KR" altLang="en-US" sz="28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4D782-0FD6-4753-30F1-B8E242460C8E}"/>
              </a:ext>
            </a:extLst>
          </p:cNvPr>
          <p:cNvSpPr txBox="1"/>
          <p:nvPr/>
        </p:nvSpPr>
        <p:spPr>
          <a:xfrm>
            <a:off x="1050925" y="491912"/>
            <a:ext cx="86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SCM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본부 고도화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998A14-7284-08DB-FA91-E46D79CDA72C}"/>
              </a:ext>
            </a:extLst>
          </p:cNvPr>
          <p:cNvSpPr txBox="1"/>
          <p:nvPr/>
        </p:nvSpPr>
        <p:spPr>
          <a:xfrm>
            <a:off x="336550" y="189412"/>
            <a:ext cx="399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원가 컨트롤 타워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89A76CE-85BB-D593-1E11-C0B54F6F89A1}"/>
              </a:ext>
            </a:extLst>
          </p:cNvPr>
          <p:cNvSpPr/>
          <p:nvPr/>
        </p:nvSpPr>
        <p:spPr>
          <a:xfrm>
            <a:off x="4357914" y="1039770"/>
            <a:ext cx="3476171" cy="499742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 표 이 사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C5DB3A5-322C-6EC2-51F8-3FBAD22876EC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096000" y="1539512"/>
            <a:ext cx="0" cy="477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EA3D939-DDCE-FE7E-A9AA-0810936AAD33}"/>
              </a:ext>
            </a:extLst>
          </p:cNvPr>
          <p:cNvCxnSpPr>
            <a:cxnSpLocks/>
          </p:cNvCxnSpPr>
          <p:nvPr/>
        </p:nvCxnSpPr>
        <p:spPr>
          <a:xfrm>
            <a:off x="6095999" y="1770254"/>
            <a:ext cx="47026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65E4474-A996-877B-0D65-11D3E555A143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798628" y="1770254"/>
            <a:ext cx="0" cy="488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51B64C4-2C70-26C0-904E-6CDA96126708}"/>
              </a:ext>
            </a:extLst>
          </p:cNvPr>
          <p:cNvCxnSpPr>
            <a:cxnSpLocks/>
          </p:cNvCxnSpPr>
          <p:nvPr/>
        </p:nvCxnSpPr>
        <p:spPr>
          <a:xfrm>
            <a:off x="-1670659" y="2017486"/>
            <a:ext cx="104082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98EEDE1-CCAF-4357-CF54-67D28DE54C2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6818706" y="2009241"/>
            <a:ext cx="0" cy="538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BEEA21C-8043-1CAD-82F5-4387E74FE9D0}"/>
              </a:ext>
            </a:extLst>
          </p:cNvPr>
          <p:cNvSpPr/>
          <p:nvPr/>
        </p:nvSpPr>
        <p:spPr>
          <a:xfrm>
            <a:off x="9965548" y="2258791"/>
            <a:ext cx="1666159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경영기획본부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185C789-D510-F6C7-4F32-C3118B4057A5}"/>
              </a:ext>
            </a:extLst>
          </p:cNvPr>
          <p:cNvSpPr/>
          <p:nvPr/>
        </p:nvSpPr>
        <p:spPr>
          <a:xfrm>
            <a:off x="6225350" y="2548045"/>
            <a:ext cx="1186712" cy="26031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경영관리본부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BE0D9D5-6DAE-343A-2B8A-C03DF40E2AEB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8737600" y="2019261"/>
            <a:ext cx="0" cy="5287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5597C4D-D6DF-78BD-896C-103501B15BEB}"/>
              </a:ext>
            </a:extLst>
          </p:cNvPr>
          <p:cNvSpPr/>
          <p:nvPr/>
        </p:nvSpPr>
        <p:spPr>
          <a:xfrm>
            <a:off x="8040916" y="2548044"/>
            <a:ext cx="1393368" cy="728551"/>
          </a:xfrm>
          <a:prstGeom prst="roundRect">
            <a:avLst>
              <a:gd name="adj" fmla="val 26765"/>
            </a:avLst>
          </a:prstGeom>
          <a:noFill/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R&amp;D </a:t>
            </a:r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센터</a:t>
            </a:r>
            <a:endParaRPr lang="en-US" altLang="ko-KR" dirty="0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rgbClr val="2767C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연구소장 </a:t>
            </a:r>
            <a:r>
              <a:rPr lang="en-US" altLang="ko-KR" dirty="0">
                <a:solidFill>
                  <a:srgbClr val="2767C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</a:t>
            </a:r>
            <a:endParaRPr lang="ko-KR" altLang="en-US" dirty="0">
              <a:solidFill>
                <a:srgbClr val="2767CF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D8987C2-9DDC-EB17-4BFC-BC49EDF147AC}"/>
              </a:ext>
            </a:extLst>
          </p:cNvPr>
          <p:cNvCxnSpPr/>
          <p:nvPr/>
        </p:nvCxnSpPr>
        <p:spPr>
          <a:xfrm>
            <a:off x="4498237" y="2017486"/>
            <a:ext cx="0" cy="477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549BE73-C8DD-187D-2058-59685D3F6786}"/>
              </a:ext>
            </a:extLst>
          </p:cNvPr>
          <p:cNvSpPr/>
          <p:nvPr/>
        </p:nvSpPr>
        <p:spPr>
          <a:xfrm>
            <a:off x="3665157" y="2495459"/>
            <a:ext cx="1666159" cy="781139"/>
          </a:xfrm>
          <a:prstGeom prst="roundRect">
            <a:avLst>
              <a:gd name="adj" fmla="val 26765"/>
            </a:avLst>
          </a:prstGeom>
          <a:solidFill>
            <a:schemeClr val="bg1"/>
          </a:solidFill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SCM </a:t>
            </a:r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본부</a:t>
            </a:r>
            <a:endParaRPr lang="en-US" altLang="ko-KR" dirty="0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본부장 </a:t>
            </a:r>
            <a:r>
              <a:rPr lang="en-US" altLang="ko-KR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</a:t>
            </a:r>
            <a:endParaRPr lang="ko-KR" altLang="en-US" dirty="0">
              <a:solidFill>
                <a:srgbClr val="EE3342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C49FEA6-3CF7-4444-53AA-C312A3E03C87}"/>
              </a:ext>
            </a:extLst>
          </p:cNvPr>
          <p:cNvCxnSpPr/>
          <p:nvPr/>
        </p:nvCxnSpPr>
        <p:spPr>
          <a:xfrm>
            <a:off x="1927073" y="2017486"/>
            <a:ext cx="0" cy="477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91DCCF7-5919-BD95-68DF-8A2043C83194}"/>
              </a:ext>
            </a:extLst>
          </p:cNvPr>
          <p:cNvSpPr/>
          <p:nvPr/>
        </p:nvSpPr>
        <p:spPr>
          <a:xfrm>
            <a:off x="1093993" y="2495460"/>
            <a:ext cx="1666159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생산관리본부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6A71648-7481-D8BC-5D12-D964A8C2C7FC}"/>
              </a:ext>
            </a:extLst>
          </p:cNvPr>
          <p:cNvCxnSpPr>
            <a:cxnSpLocks/>
          </p:cNvCxnSpPr>
          <p:nvPr/>
        </p:nvCxnSpPr>
        <p:spPr>
          <a:xfrm>
            <a:off x="1927074" y="2851731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A685D7D-4B1B-2A79-8AFD-9A8D7490D19C}"/>
              </a:ext>
            </a:extLst>
          </p:cNvPr>
          <p:cNvCxnSpPr>
            <a:cxnSpLocks/>
          </p:cNvCxnSpPr>
          <p:nvPr/>
        </p:nvCxnSpPr>
        <p:spPr>
          <a:xfrm flipH="1">
            <a:off x="1230389" y="3083318"/>
            <a:ext cx="696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8482BDE-D439-4516-BED0-AF55385784E9}"/>
              </a:ext>
            </a:extLst>
          </p:cNvPr>
          <p:cNvCxnSpPr>
            <a:cxnSpLocks/>
          </p:cNvCxnSpPr>
          <p:nvPr/>
        </p:nvCxnSpPr>
        <p:spPr>
          <a:xfrm>
            <a:off x="1230389" y="3074016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A884CE2-A991-ADF9-AE13-6F4E610690DB}"/>
              </a:ext>
            </a:extLst>
          </p:cNvPr>
          <p:cNvSpPr/>
          <p:nvPr/>
        </p:nvSpPr>
        <p:spPr>
          <a:xfrm>
            <a:off x="638930" y="3305602"/>
            <a:ext cx="1182918" cy="691451"/>
          </a:xfrm>
          <a:prstGeom prst="roundRect">
            <a:avLst>
              <a:gd name="adj" fmla="val 26765"/>
            </a:avLst>
          </a:prstGeom>
          <a:noFill/>
          <a:ln w="38100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인천공장</a:t>
            </a:r>
            <a:endParaRPr lang="en-US" altLang="ko-KR" dirty="0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rgbClr val="2767C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공장장 </a:t>
            </a:r>
            <a:r>
              <a:rPr lang="en-US" altLang="ko-KR" dirty="0">
                <a:solidFill>
                  <a:srgbClr val="2767C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</a:t>
            </a:r>
            <a:endParaRPr lang="ko-KR" altLang="en-US" dirty="0">
              <a:solidFill>
                <a:srgbClr val="2767CF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B766BAD-E120-B8E0-3169-85F0365F34D9}"/>
              </a:ext>
            </a:extLst>
          </p:cNvPr>
          <p:cNvCxnSpPr>
            <a:cxnSpLocks/>
          </p:cNvCxnSpPr>
          <p:nvPr/>
        </p:nvCxnSpPr>
        <p:spPr>
          <a:xfrm flipH="1">
            <a:off x="1927070" y="2857209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1D5671C-ADE0-0695-3D6C-13CEDBC9CE5F}"/>
              </a:ext>
            </a:extLst>
          </p:cNvPr>
          <p:cNvCxnSpPr>
            <a:cxnSpLocks/>
          </p:cNvCxnSpPr>
          <p:nvPr/>
        </p:nvCxnSpPr>
        <p:spPr>
          <a:xfrm>
            <a:off x="1927070" y="3083143"/>
            <a:ext cx="696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26F08B7-A0E6-A298-9C91-BB0F88E970AA}"/>
              </a:ext>
            </a:extLst>
          </p:cNvPr>
          <p:cNvCxnSpPr>
            <a:cxnSpLocks/>
          </p:cNvCxnSpPr>
          <p:nvPr/>
        </p:nvCxnSpPr>
        <p:spPr>
          <a:xfrm flipH="1">
            <a:off x="2623755" y="3074015"/>
            <a:ext cx="0" cy="23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BC601AF-E224-1602-E0BB-16D7CF05EAD4}"/>
              </a:ext>
            </a:extLst>
          </p:cNvPr>
          <p:cNvSpPr/>
          <p:nvPr/>
        </p:nvSpPr>
        <p:spPr>
          <a:xfrm flipH="1">
            <a:off x="2032296" y="3314730"/>
            <a:ext cx="1182918" cy="365484"/>
          </a:xfrm>
          <a:prstGeom prst="roundRect">
            <a:avLst>
              <a:gd name="adj" fmla="val 26765"/>
            </a:avLst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장항공장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41DB21D-F2C8-CD19-B0F8-D0726113ADD1}"/>
              </a:ext>
            </a:extLst>
          </p:cNvPr>
          <p:cNvCxnSpPr>
            <a:cxnSpLocks/>
          </p:cNvCxnSpPr>
          <p:nvPr/>
        </p:nvCxnSpPr>
        <p:spPr>
          <a:xfrm flipH="1">
            <a:off x="-1670659" y="2947821"/>
            <a:ext cx="2157412" cy="0"/>
          </a:xfrm>
          <a:prstGeom prst="line">
            <a:avLst/>
          </a:prstGeom>
          <a:ln w="66675" cap="rnd">
            <a:solidFill>
              <a:srgbClr val="EE334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A30E146-2EEA-22E4-A54D-E3A4316E0CA2}"/>
              </a:ext>
            </a:extLst>
          </p:cNvPr>
          <p:cNvSpPr/>
          <p:nvPr/>
        </p:nvSpPr>
        <p:spPr>
          <a:xfrm>
            <a:off x="7902479" y="1539512"/>
            <a:ext cx="3869187" cy="5290097"/>
          </a:xfrm>
          <a:prstGeom prst="roundRect">
            <a:avLst/>
          </a:prstGeom>
          <a:noFill/>
          <a:ln w="9525"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6FA6586B-54D6-4F45-E93E-2ABCEB42428F}"/>
              </a:ext>
            </a:extLst>
          </p:cNvPr>
          <p:cNvCxnSpPr/>
          <p:nvPr/>
        </p:nvCxnSpPr>
        <p:spPr>
          <a:xfrm>
            <a:off x="8737600" y="5741643"/>
            <a:ext cx="469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BD44302-EBB0-98B7-2934-107C1FEADB19}"/>
              </a:ext>
            </a:extLst>
          </p:cNvPr>
          <p:cNvCxnSpPr/>
          <p:nvPr/>
        </p:nvCxnSpPr>
        <p:spPr>
          <a:xfrm>
            <a:off x="8737600" y="6489700"/>
            <a:ext cx="469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AAF6118-856C-6739-F4E5-D555904F6614}"/>
              </a:ext>
            </a:extLst>
          </p:cNvPr>
          <p:cNvSpPr/>
          <p:nvPr/>
        </p:nvSpPr>
        <p:spPr>
          <a:xfrm>
            <a:off x="9225652" y="3354377"/>
            <a:ext cx="1219198" cy="421960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연구개발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팀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7E94DD8-5081-DF21-99BD-AA26B9D1A37A}"/>
              </a:ext>
            </a:extLst>
          </p:cNvPr>
          <p:cNvSpPr/>
          <p:nvPr/>
        </p:nvSpPr>
        <p:spPr>
          <a:xfrm>
            <a:off x="9225652" y="4032643"/>
            <a:ext cx="1219198" cy="421960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연구개발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팀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8201EF0-7A19-D873-1F8C-F1BF082B21AA}"/>
              </a:ext>
            </a:extLst>
          </p:cNvPr>
          <p:cNvSpPr/>
          <p:nvPr/>
        </p:nvSpPr>
        <p:spPr>
          <a:xfrm>
            <a:off x="9225652" y="4782606"/>
            <a:ext cx="1219198" cy="421960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품질관리팀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627C3C0-9AF2-E858-03D3-F11307F4A433}"/>
              </a:ext>
            </a:extLst>
          </p:cNvPr>
          <p:cNvSpPr/>
          <p:nvPr/>
        </p:nvSpPr>
        <p:spPr>
          <a:xfrm>
            <a:off x="9225652" y="5530663"/>
            <a:ext cx="1219198" cy="421960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돋을볕센터</a:t>
            </a:r>
            <a:endParaRPr lang="ko-KR" altLang="en-US" sz="14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9C96456-6843-701E-7792-CE113E41E51A}"/>
              </a:ext>
            </a:extLst>
          </p:cNvPr>
          <p:cNvSpPr/>
          <p:nvPr/>
        </p:nvSpPr>
        <p:spPr>
          <a:xfrm>
            <a:off x="9225652" y="6278720"/>
            <a:ext cx="1219198" cy="421960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산업동물연구팀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452B8EA0-A79C-00BD-8B9F-7EF12D8BDF22}"/>
              </a:ext>
            </a:extLst>
          </p:cNvPr>
          <p:cNvCxnSpPr/>
          <p:nvPr/>
        </p:nvCxnSpPr>
        <p:spPr>
          <a:xfrm>
            <a:off x="8737600" y="4991629"/>
            <a:ext cx="469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E9DB092-14F1-2C59-60DB-4254217DF997}"/>
              </a:ext>
            </a:extLst>
          </p:cNvPr>
          <p:cNvCxnSpPr/>
          <p:nvPr/>
        </p:nvCxnSpPr>
        <p:spPr>
          <a:xfrm>
            <a:off x="8737600" y="4231342"/>
            <a:ext cx="469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63F125EB-519B-4355-39BD-3882BEB35B69}"/>
              </a:ext>
            </a:extLst>
          </p:cNvPr>
          <p:cNvCxnSpPr/>
          <p:nvPr/>
        </p:nvCxnSpPr>
        <p:spPr>
          <a:xfrm>
            <a:off x="8737600" y="3553248"/>
            <a:ext cx="469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DC670E6-A4A5-D80E-BB7B-3FA7447136FB}"/>
              </a:ext>
            </a:extLst>
          </p:cNvPr>
          <p:cNvCxnSpPr>
            <a:cxnSpLocks/>
          </p:cNvCxnSpPr>
          <p:nvPr/>
        </p:nvCxnSpPr>
        <p:spPr>
          <a:xfrm>
            <a:off x="4498236" y="3471863"/>
            <a:ext cx="1690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567752F-05D3-65CE-834B-519959811235}"/>
              </a:ext>
            </a:extLst>
          </p:cNvPr>
          <p:cNvCxnSpPr/>
          <p:nvPr/>
        </p:nvCxnSpPr>
        <p:spPr>
          <a:xfrm>
            <a:off x="4498236" y="3776337"/>
            <a:ext cx="1690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BE0A907A-5332-117C-716E-49707B68D06B}"/>
              </a:ext>
            </a:extLst>
          </p:cNvPr>
          <p:cNvCxnSpPr/>
          <p:nvPr/>
        </p:nvCxnSpPr>
        <p:spPr>
          <a:xfrm>
            <a:off x="4498236" y="4046737"/>
            <a:ext cx="1690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0DFEBC9B-6C07-1B5C-64FC-39161AE4346A}"/>
              </a:ext>
            </a:extLst>
          </p:cNvPr>
          <p:cNvCxnSpPr/>
          <p:nvPr/>
        </p:nvCxnSpPr>
        <p:spPr>
          <a:xfrm>
            <a:off x="4498236" y="6429764"/>
            <a:ext cx="1690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CA3708C-8525-5F99-3C4E-2ABE3CEB74AE}"/>
              </a:ext>
            </a:extLst>
          </p:cNvPr>
          <p:cNvSpPr/>
          <p:nvPr/>
        </p:nvSpPr>
        <p:spPr>
          <a:xfrm>
            <a:off x="4667250" y="3354377"/>
            <a:ext cx="1036284" cy="248252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수요예측팀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EA3361A-74D8-34A6-EA94-C5D118DBCAFC}"/>
              </a:ext>
            </a:extLst>
          </p:cNvPr>
          <p:cNvSpPr/>
          <p:nvPr/>
        </p:nvSpPr>
        <p:spPr>
          <a:xfrm>
            <a:off x="4667250" y="3651742"/>
            <a:ext cx="1036284" cy="248252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원가계획팀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C14FA64-5083-80DB-24E2-FE1A2C83A12C}"/>
              </a:ext>
            </a:extLst>
          </p:cNvPr>
          <p:cNvSpPr/>
          <p:nvPr/>
        </p:nvSpPr>
        <p:spPr>
          <a:xfrm>
            <a:off x="4667250" y="3937402"/>
            <a:ext cx="1036284" cy="248252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물류팀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23B1067-5C48-6523-241F-AA8AB681BCD4}"/>
              </a:ext>
            </a:extLst>
          </p:cNvPr>
          <p:cNvSpPr/>
          <p:nvPr/>
        </p:nvSpPr>
        <p:spPr>
          <a:xfrm>
            <a:off x="4667250" y="6343047"/>
            <a:ext cx="1036284" cy="248252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구매팀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019C74D-FB81-7C77-0969-E79160D5C612}"/>
              </a:ext>
            </a:extLst>
          </p:cNvPr>
          <p:cNvCxnSpPr>
            <a:cxnSpLocks/>
          </p:cNvCxnSpPr>
          <p:nvPr/>
        </p:nvCxnSpPr>
        <p:spPr>
          <a:xfrm>
            <a:off x="5172075" y="4475834"/>
            <a:ext cx="305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A6BA51D7-3E70-DB08-2E05-9E5822548842}"/>
              </a:ext>
            </a:extLst>
          </p:cNvPr>
          <p:cNvCxnSpPr>
            <a:cxnSpLocks/>
          </p:cNvCxnSpPr>
          <p:nvPr/>
        </p:nvCxnSpPr>
        <p:spPr>
          <a:xfrm>
            <a:off x="5172075" y="5178648"/>
            <a:ext cx="305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C609C711-A9BC-4B81-8F18-2516F6D0D8FF}"/>
              </a:ext>
            </a:extLst>
          </p:cNvPr>
          <p:cNvCxnSpPr>
            <a:cxnSpLocks/>
          </p:cNvCxnSpPr>
          <p:nvPr/>
        </p:nvCxnSpPr>
        <p:spPr>
          <a:xfrm>
            <a:off x="5172075" y="5982052"/>
            <a:ext cx="305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66F4CB6B-FC73-9EA1-CDAE-CC1CC8C9C718}"/>
              </a:ext>
            </a:extLst>
          </p:cNvPr>
          <p:cNvSpPr/>
          <p:nvPr/>
        </p:nvSpPr>
        <p:spPr>
          <a:xfrm>
            <a:off x="5477123" y="4354555"/>
            <a:ext cx="1036284" cy="248252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인천물류파트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62BEFA49-FBBE-9101-CA78-9A7E27B479F1}"/>
              </a:ext>
            </a:extLst>
          </p:cNvPr>
          <p:cNvSpPr/>
          <p:nvPr/>
        </p:nvSpPr>
        <p:spPr>
          <a:xfrm>
            <a:off x="5477123" y="5057368"/>
            <a:ext cx="1036284" cy="248252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장항물류파트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6F5583B8-5546-0792-99A4-778743111AE3}"/>
              </a:ext>
            </a:extLst>
          </p:cNvPr>
          <p:cNvSpPr/>
          <p:nvPr/>
        </p:nvSpPr>
        <p:spPr>
          <a:xfrm>
            <a:off x="5477123" y="5860311"/>
            <a:ext cx="1036284" cy="248252"/>
          </a:xfrm>
          <a:prstGeom prst="roundRect">
            <a:avLst/>
          </a:prstGeom>
          <a:noFill/>
          <a:ln>
            <a:solidFill>
              <a:srgbClr val="EE3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홍성센터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FA2F29-1971-1FD5-CCE5-62F44C0E1303}"/>
              </a:ext>
            </a:extLst>
          </p:cNvPr>
          <p:cNvSpPr txBox="1"/>
          <p:nvPr/>
        </p:nvSpPr>
        <p:spPr>
          <a:xfrm>
            <a:off x="420334" y="4290986"/>
            <a:ext cx="397422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SCM</a:t>
            </a:r>
            <a:r>
              <a:rPr lang="ko-KR" altLang="en-US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본부 산하 </a:t>
            </a:r>
            <a:r>
              <a:rPr lang="ko-KR" altLang="ko-KR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수요예측팀</a:t>
            </a:r>
            <a:r>
              <a:rPr lang="en-US" altLang="ko-KR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ko-KR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원가기획팀을 신설</a:t>
            </a: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/>
            <a:r>
              <a:rPr lang="ko-KR" altLang="en-US" sz="16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전략적 </a:t>
            </a:r>
            <a:r>
              <a:rPr lang="en-US" altLang="ko-KR" sz="16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SCM </a:t>
            </a:r>
            <a:r>
              <a:rPr lang="ko-KR" altLang="en-US" sz="1600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본부 고도화</a:t>
            </a:r>
            <a:endParaRPr lang="en-US" altLang="ko-KR" sz="1600" dirty="0">
              <a:solidFill>
                <a:srgbClr val="EE3342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/>
            <a:endParaRPr lang="en-US" altLang="ko-KR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/>
            <a:r>
              <a:rPr lang="ko-KR" altLang="en-US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시장 데이터를 기반으로 생산량을 조절하고</a:t>
            </a:r>
          </a:p>
          <a:p>
            <a:pPr algn="r"/>
            <a:r>
              <a:rPr lang="ko-KR" altLang="en-US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원재료 구매 시점을 최적화하는</a:t>
            </a:r>
            <a:endParaRPr lang="en-US" altLang="ko-KR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r"/>
            <a:r>
              <a:rPr lang="ko-KR" altLang="en-US" dirty="0">
                <a:solidFill>
                  <a:srgbClr val="EE334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원가 컨트롤타워 역할</a:t>
            </a:r>
            <a:r>
              <a:rPr lang="ko-KR" altLang="en-US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을 수행</a:t>
            </a:r>
          </a:p>
        </p:txBody>
      </p:sp>
    </p:spTree>
    <p:extLst>
      <p:ext uri="{BB962C8B-B14F-4D97-AF65-F5344CB8AC3E}">
        <p14:creationId xmlns:p14="http://schemas.microsoft.com/office/powerpoint/2010/main" val="647069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DC616-4A17-98CE-2BE6-5360B45F0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067873-9708-3357-379B-1F1FA21BC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9682521" y="276225"/>
            <a:ext cx="2172929" cy="62926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872B1E9-06B5-E2A2-77FC-985D87C9938D}"/>
              </a:ext>
            </a:extLst>
          </p:cNvPr>
          <p:cNvSpPr/>
          <p:nvPr/>
        </p:nvSpPr>
        <p:spPr>
          <a:xfrm>
            <a:off x="336550" y="807167"/>
            <a:ext cx="714375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4931F09-6B0E-8D4F-6056-EFBF7E8DEAAC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0925" y="861245"/>
            <a:ext cx="10798175" cy="0"/>
          </a:xfrm>
          <a:prstGeom prst="line">
            <a:avLst/>
          </a:prstGeom>
          <a:ln>
            <a:solidFill>
              <a:srgbClr val="E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0F76E2C-773E-BE10-4B03-2DCFD111BAA8}"/>
              </a:ext>
            </a:extLst>
          </p:cNvPr>
          <p:cNvSpPr txBox="1"/>
          <p:nvPr/>
        </p:nvSpPr>
        <p:spPr>
          <a:xfrm>
            <a:off x="336550" y="382270"/>
            <a:ext cx="71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04</a:t>
            </a:r>
            <a:endParaRPr lang="ko-KR" altLang="en-US" sz="28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E6D5FC-AB0E-D1A8-6F59-9FC1C9F09CCB}"/>
              </a:ext>
            </a:extLst>
          </p:cNvPr>
          <p:cNvSpPr txBox="1"/>
          <p:nvPr/>
        </p:nvSpPr>
        <p:spPr>
          <a:xfrm>
            <a:off x="1050925" y="491912"/>
            <a:ext cx="86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최종 목표 조직도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3A3DA-42E9-B923-82F7-BCDDF0681A22}"/>
              </a:ext>
            </a:extLst>
          </p:cNvPr>
          <p:cNvSpPr txBox="1"/>
          <p:nvPr/>
        </p:nvSpPr>
        <p:spPr>
          <a:xfrm>
            <a:off x="336550" y="189412"/>
            <a:ext cx="399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최종 목표</a:t>
            </a:r>
          </a:p>
        </p:txBody>
      </p:sp>
      <p:pic>
        <p:nvPicPr>
          <p:cNvPr id="3" name="그림 2" descr="텍스트, 스크린샷, 도표, 번호이(가) 표시된 사진&#10;&#10;자동 생성된 설명">
            <a:extLst>
              <a:ext uri="{FF2B5EF4-FFF2-40B4-BE49-F238E27FC236}">
                <a16:creationId xmlns:a16="http://schemas.microsoft.com/office/drawing/2014/main" id="{49AB654A-AF3A-AA2D-1AA5-943D8C674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722" y="1121177"/>
            <a:ext cx="8504555" cy="543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57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9211D-4166-368F-70B9-B0D0928A0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폰트, 화이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4D2F20-66AD-5178-FD52-7FB7A4352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8" b="18374"/>
          <a:stretch>
            <a:fillRect/>
          </a:stretch>
        </p:blipFill>
        <p:spPr>
          <a:xfrm>
            <a:off x="9682521" y="276225"/>
            <a:ext cx="2172929" cy="62926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4C46E8E-D6C4-623F-E24E-87D3BB704E0E}"/>
              </a:ext>
            </a:extLst>
          </p:cNvPr>
          <p:cNvSpPr/>
          <p:nvPr/>
        </p:nvSpPr>
        <p:spPr>
          <a:xfrm>
            <a:off x="336550" y="807167"/>
            <a:ext cx="714375" cy="108155"/>
          </a:xfrm>
          <a:prstGeom prst="rect">
            <a:avLst/>
          </a:prstGeom>
          <a:solidFill>
            <a:srgbClr val="EE3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838D336-4F53-E6F3-1065-F6D70475F47C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0925" y="861245"/>
            <a:ext cx="10798175" cy="0"/>
          </a:xfrm>
          <a:prstGeom prst="line">
            <a:avLst/>
          </a:prstGeom>
          <a:ln>
            <a:solidFill>
              <a:srgbClr val="E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528186D-F4DF-D473-59A8-A931005FA1A2}"/>
              </a:ext>
            </a:extLst>
          </p:cNvPr>
          <p:cNvSpPr txBox="1"/>
          <p:nvPr/>
        </p:nvSpPr>
        <p:spPr>
          <a:xfrm>
            <a:off x="336550" y="382270"/>
            <a:ext cx="71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05</a:t>
            </a:r>
            <a:endParaRPr lang="ko-KR" altLang="en-US" sz="28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58D291-4D3B-D90D-43D6-9B73ADD07C1B}"/>
              </a:ext>
            </a:extLst>
          </p:cNvPr>
          <p:cNvSpPr txBox="1"/>
          <p:nvPr/>
        </p:nvSpPr>
        <p:spPr>
          <a:xfrm>
            <a:off x="1050925" y="491912"/>
            <a:ext cx="86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마치며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C7162C-540B-7A55-6353-7795FAA018DC}"/>
              </a:ext>
            </a:extLst>
          </p:cNvPr>
          <p:cNvSpPr txBox="1"/>
          <p:nvPr/>
        </p:nvSpPr>
        <p:spPr>
          <a:xfrm>
            <a:off x="336550" y="189412"/>
            <a:ext cx="399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6D6E7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조직 설계에 대하여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D2761-6FCA-D96B-24E7-81D0CC13D0DC}"/>
              </a:ext>
            </a:extLst>
          </p:cNvPr>
          <p:cNvSpPr txBox="1"/>
          <p:nvPr/>
        </p:nvSpPr>
        <p:spPr>
          <a:xfrm>
            <a:off x="3048000" y="1076931"/>
            <a:ext cx="6096000" cy="1672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800" b="1" dirty="0">
                <a:effectLst/>
                <a:latin typeface="KoPubDotum Bold" pitchFamily="2" charset="-127"/>
                <a:ea typeface="KoPubDotum Bold" pitchFamily="2" charset="-127"/>
                <a:cs typeface="Times New Roman" panose="02020603050405020304" pitchFamily="18" charset="0"/>
              </a:rPr>
              <a:t>조직구조 및 설계는 조직의 전략을 따르고</a:t>
            </a:r>
            <a:endParaRPr lang="en-US" altLang="ko-KR" b="1" dirty="0">
              <a:latin typeface="KoPubDotum Bold" pitchFamily="2" charset="-127"/>
              <a:ea typeface="KoPubDotum Bold" pitchFamily="2" charset="-127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800" b="1" dirty="0">
                <a:effectLst/>
                <a:latin typeface="KoPubDotum Bold" pitchFamily="2" charset="-127"/>
                <a:ea typeface="KoPubDotum Bold" pitchFamily="2" charset="-127"/>
                <a:cs typeface="Times New Roman" panose="02020603050405020304" pitchFamily="18" charset="0"/>
              </a:rPr>
              <a:t>전략은 환경에 대응해야 한다</a:t>
            </a:r>
            <a:r>
              <a:rPr lang="ko-KR" altLang="en-US" sz="1800" b="1" dirty="0">
                <a:effectLst/>
                <a:latin typeface="KoPubDotum Bold" pitchFamily="2" charset="-127"/>
                <a:ea typeface="KoPubDotum Bold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800" b="1" dirty="0">
                <a:effectLst/>
                <a:latin typeface="KoPubDotum Bold" pitchFamily="2" charset="-127"/>
                <a:ea typeface="KoPubDotum Bold" pitchFamily="2" charset="-127"/>
                <a:cs typeface="Times New Roman" panose="02020603050405020304" pitchFamily="18" charset="0"/>
              </a:rPr>
              <a:t>!</a:t>
            </a:r>
          </a:p>
          <a:p>
            <a:pPr algn="ctr">
              <a:lnSpc>
                <a:spcPct val="150000"/>
              </a:lnSpc>
            </a:pPr>
            <a:r>
              <a:rPr lang="ko-KR" altLang="ko-KR" sz="3600" b="1" dirty="0">
                <a:solidFill>
                  <a:srgbClr val="FF0000"/>
                </a:solidFill>
                <a:effectLst/>
                <a:latin typeface="KoPubDotum Bold" pitchFamily="2" charset="-127"/>
                <a:ea typeface="KoPubDotum Bold" pitchFamily="2" charset="-127"/>
                <a:cs typeface="Times New Roman" panose="02020603050405020304" pitchFamily="18" charset="0"/>
              </a:rPr>
              <a:t>연계성</a:t>
            </a:r>
            <a:r>
              <a:rPr lang="ko-KR" altLang="en-US" sz="3600" b="1" dirty="0">
                <a:solidFill>
                  <a:srgbClr val="FF0000"/>
                </a:solidFill>
                <a:effectLst/>
                <a:latin typeface="KoPubDotum Bold" pitchFamily="2" charset="-127"/>
                <a:ea typeface="KoPubDotum Bold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3600" b="1" dirty="0">
                <a:solidFill>
                  <a:srgbClr val="FF0000"/>
                </a:solidFill>
                <a:effectLst/>
                <a:latin typeface="KoPubDotum Bold" pitchFamily="2" charset="-127"/>
                <a:ea typeface="KoPubDotum Bold" pitchFamily="2" charset="-127"/>
                <a:cs typeface="Times New Roman" panose="02020603050405020304" pitchFamily="18" charset="0"/>
              </a:rPr>
              <a:t>!</a:t>
            </a:r>
            <a:endParaRPr lang="ko-KR" altLang="en-US" sz="3600" b="1" dirty="0">
              <a:solidFill>
                <a:srgbClr val="FF0000"/>
              </a:solidFill>
              <a:latin typeface="KoPubDotum Bold" pitchFamily="2" charset="-127"/>
              <a:ea typeface="KoPubDotum Bold" pitchFamily="2" charset="-127"/>
            </a:endParaRPr>
          </a:p>
        </p:txBody>
      </p:sp>
      <p:pic>
        <p:nvPicPr>
          <p:cNvPr id="11" name="그림 10" descr="만화 영화, 그래픽, 예술이(가) 표시된 사진&#10;&#10;자동 생성된 설명">
            <a:extLst>
              <a:ext uri="{FF2B5EF4-FFF2-40B4-BE49-F238E27FC236}">
                <a16:creationId xmlns:a16="http://schemas.microsoft.com/office/drawing/2014/main" id="{53D87D6F-EBA3-5559-D480-7FD7A83700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528" y="1490510"/>
            <a:ext cx="9481457" cy="632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44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1029</Words>
  <Application>Microsoft Office PowerPoint</Application>
  <PresentationFormat>와이드스크린</PresentationFormat>
  <Paragraphs>289</Paragraphs>
  <Slides>14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Arial</vt:lpstr>
      <vt:lpstr>Segoe UI Black</vt:lpstr>
      <vt:lpstr>맑은 고딕</vt:lpstr>
      <vt:lpstr>KoPubWorld돋움체 Medium</vt:lpstr>
      <vt:lpstr>KoPub돋움체 Medium</vt:lpstr>
      <vt:lpstr>KoPubWorld돋움체 Bold</vt:lpstr>
      <vt:lpstr>KoPub돋움체 Bold</vt:lpstr>
      <vt:lpstr>KoPub돋움체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동현 김</dc:creator>
  <cp:lastModifiedBy>동현 김</cp:lastModifiedBy>
  <cp:revision>21</cp:revision>
  <dcterms:created xsi:type="dcterms:W3CDTF">2026-01-15T10:16:10Z</dcterms:created>
  <dcterms:modified xsi:type="dcterms:W3CDTF">2026-01-22T01:18:36Z</dcterms:modified>
</cp:coreProperties>
</file>