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77" r:id="rId2"/>
    <p:sldId id="338" r:id="rId3"/>
    <p:sldId id="289" r:id="rId4"/>
    <p:sldId id="339" r:id="rId5"/>
    <p:sldId id="290" r:id="rId6"/>
    <p:sldId id="355" r:id="rId7"/>
    <p:sldId id="293" r:id="rId8"/>
    <p:sldId id="301" r:id="rId9"/>
    <p:sldId id="302" r:id="rId10"/>
    <p:sldId id="358" r:id="rId11"/>
    <p:sldId id="359" r:id="rId12"/>
    <p:sldId id="357" r:id="rId13"/>
    <p:sldId id="360" r:id="rId14"/>
  </p:sldIdLst>
  <p:sldSz cx="9144000" cy="6858000" type="screen4x3"/>
  <p:notesSz cx="6669088" cy="9928225"/>
  <p:defaultTextStyle>
    <a:defPPr>
      <a:defRPr lang="en-US"/>
    </a:defPPr>
    <a:lvl1pPr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1pPr>
    <a:lvl2pPr marL="4572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2pPr>
    <a:lvl3pPr marL="9144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3pPr>
    <a:lvl4pPr marL="13716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4pPr>
    <a:lvl5pPr marL="1828800" algn="l" rtl="0" fontAlgn="base" latinLnBrk="1">
      <a:spcBef>
        <a:spcPct val="0"/>
      </a:spcBef>
      <a:spcAft>
        <a:spcPct val="0"/>
      </a:spcAft>
      <a:defRPr kumimoji="1" kern="1200">
        <a:solidFill>
          <a:schemeClr val="tx1"/>
        </a:solidFill>
        <a:latin typeface="Franklin Gothic Heavy" pitchFamily="34" charset="0"/>
        <a:ea typeface="굴림" pitchFamily="50" charset="-127"/>
        <a:cs typeface="+mn-cs"/>
      </a:defRPr>
    </a:lvl5pPr>
    <a:lvl6pPr marL="2286000" algn="l" defTabSz="914400" rtl="0" eaLnBrk="1" latinLnBrk="1" hangingPunct="1">
      <a:defRPr kumimoji="1" kern="1200">
        <a:solidFill>
          <a:schemeClr val="tx1"/>
        </a:solidFill>
        <a:latin typeface="Franklin Gothic Heavy" pitchFamily="34" charset="0"/>
        <a:ea typeface="굴림" pitchFamily="50" charset="-127"/>
        <a:cs typeface="+mn-cs"/>
      </a:defRPr>
    </a:lvl6pPr>
    <a:lvl7pPr marL="2743200" algn="l" defTabSz="914400" rtl="0" eaLnBrk="1" latinLnBrk="1" hangingPunct="1">
      <a:defRPr kumimoji="1" kern="1200">
        <a:solidFill>
          <a:schemeClr val="tx1"/>
        </a:solidFill>
        <a:latin typeface="Franklin Gothic Heavy" pitchFamily="34" charset="0"/>
        <a:ea typeface="굴림" pitchFamily="50" charset="-127"/>
        <a:cs typeface="+mn-cs"/>
      </a:defRPr>
    </a:lvl7pPr>
    <a:lvl8pPr marL="3200400" algn="l" defTabSz="914400" rtl="0" eaLnBrk="1" latinLnBrk="1" hangingPunct="1">
      <a:defRPr kumimoji="1" kern="1200">
        <a:solidFill>
          <a:schemeClr val="tx1"/>
        </a:solidFill>
        <a:latin typeface="Franklin Gothic Heavy" pitchFamily="34" charset="0"/>
        <a:ea typeface="굴림" pitchFamily="50" charset="-127"/>
        <a:cs typeface="+mn-cs"/>
      </a:defRPr>
    </a:lvl8pPr>
    <a:lvl9pPr marL="3657600" algn="l" defTabSz="914400" rtl="0" eaLnBrk="1" latinLnBrk="1" hangingPunct="1">
      <a:defRPr kumimoji="1" kern="1200">
        <a:solidFill>
          <a:schemeClr val="tx1"/>
        </a:solidFill>
        <a:latin typeface="Franklin Gothic Heavy" pitchFamily="34" charset="0"/>
        <a:ea typeface="굴림" pitchFamily="50" charset="-127"/>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a:srgbClr val="CC66FF"/>
    <a:srgbClr val="CC99FF"/>
    <a:srgbClr val="CC00FF"/>
    <a:srgbClr val="10F045"/>
    <a:srgbClr val="69E30D"/>
    <a:srgbClr val="FF6600"/>
    <a:srgbClr val="00CCFF"/>
    <a:srgbClr val="9900CC"/>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923" autoAdjust="0"/>
    <p:restoredTop sz="87458" autoAdjust="0"/>
  </p:normalViewPr>
  <p:slideViewPr>
    <p:cSldViewPr>
      <p:cViewPr varScale="1">
        <p:scale>
          <a:sx n="73" d="100"/>
          <a:sy n="73" d="100"/>
        </p:scale>
        <p:origin x="1452" y="4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8066" name="Rectangle 2"/>
          <p:cNvSpPr>
            <a:spLocks noGrp="1" noChangeArrowheads="1"/>
          </p:cNvSpPr>
          <p:nvPr>
            <p:ph type="hdr" sz="quarter"/>
          </p:nvPr>
        </p:nvSpPr>
        <p:spPr bwMode="auto">
          <a:xfrm>
            <a:off x="1" y="1"/>
            <a:ext cx="2890336" cy="49606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200">
                <a:latin typeface="Arial" charset="0"/>
                <a:ea typeface="굴림" charset="-127"/>
              </a:defRPr>
            </a:lvl1pPr>
          </a:lstStyle>
          <a:p>
            <a:pPr>
              <a:defRPr/>
            </a:pPr>
            <a:endParaRPr lang="en-US" altLang="ko-KR"/>
          </a:p>
        </p:txBody>
      </p:sp>
      <p:sp>
        <p:nvSpPr>
          <p:cNvPr id="88067" name="Rectangle 3"/>
          <p:cNvSpPr>
            <a:spLocks noGrp="1" noChangeArrowheads="1"/>
          </p:cNvSpPr>
          <p:nvPr>
            <p:ph type="dt" sz="quarter" idx="1"/>
          </p:nvPr>
        </p:nvSpPr>
        <p:spPr bwMode="auto">
          <a:xfrm>
            <a:off x="3777262" y="1"/>
            <a:ext cx="2890336" cy="49606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200">
                <a:latin typeface="Arial" charset="0"/>
                <a:ea typeface="굴림" charset="-127"/>
              </a:defRPr>
            </a:lvl1pPr>
          </a:lstStyle>
          <a:p>
            <a:pPr>
              <a:defRPr/>
            </a:pPr>
            <a:endParaRPr lang="en-US" altLang="ko-KR"/>
          </a:p>
        </p:txBody>
      </p:sp>
      <p:sp>
        <p:nvSpPr>
          <p:cNvPr id="88068" name="Rectangle 4"/>
          <p:cNvSpPr>
            <a:spLocks noGrp="1" noChangeArrowheads="1"/>
          </p:cNvSpPr>
          <p:nvPr>
            <p:ph type="ftr" sz="quarter" idx="2"/>
          </p:nvPr>
        </p:nvSpPr>
        <p:spPr bwMode="auto">
          <a:xfrm>
            <a:off x="1" y="9430412"/>
            <a:ext cx="2890336" cy="49606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latinLnBrk="0">
              <a:defRPr kumimoji="0" sz="1200">
                <a:latin typeface="Arial" charset="0"/>
                <a:ea typeface="굴림" charset="-127"/>
              </a:defRPr>
            </a:lvl1pPr>
          </a:lstStyle>
          <a:p>
            <a:pPr>
              <a:defRPr/>
            </a:pPr>
            <a:endParaRPr lang="en-US" altLang="ko-KR"/>
          </a:p>
        </p:txBody>
      </p:sp>
      <p:sp>
        <p:nvSpPr>
          <p:cNvPr id="88069" name="Rectangle 5"/>
          <p:cNvSpPr>
            <a:spLocks noGrp="1" noChangeArrowheads="1"/>
          </p:cNvSpPr>
          <p:nvPr>
            <p:ph type="sldNum" sz="quarter" idx="3"/>
          </p:nvPr>
        </p:nvSpPr>
        <p:spPr bwMode="auto">
          <a:xfrm>
            <a:off x="3777262" y="9430412"/>
            <a:ext cx="2890336" cy="49606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latinLnBrk="0">
              <a:defRPr kumimoji="0" sz="1200">
                <a:latin typeface="Arial" charset="0"/>
                <a:ea typeface="굴림" charset="-127"/>
              </a:defRPr>
            </a:lvl1pPr>
          </a:lstStyle>
          <a:p>
            <a:pPr>
              <a:defRPr/>
            </a:pPr>
            <a:fld id="{DC955A5E-49A5-4E81-AE8D-D63B1CE3F4E0}" type="slidenum">
              <a:rPr lang="en-US" altLang="ko-KR"/>
              <a:pPr>
                <a:defRPr/>
              </a:pPr>
              <a:t>‹#›</a:t>
            </a:fld>
            <a:endParaRPr lang="en-US" altLang="ko-KR"/>
          </a:p>
        </p:txBody>
      </p:sp>
    </p:spTree>
    <p:extLst>
      <p:ext uri="{BB962C8B-B14F-4D97-AF65-F5344CB8AC3E}">
        <p14:creationId xmlns:p14="http://schemas.microsoft.com/office/powerpoint/2010/main" val="14118106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1" y="1"/>
            <a:ext cx="2890336" cy="496061"/>
          </a:xfrm>
          <a:prstGeom prst="rect">
            <a:avLst/>
          </a:prstGeom>
        </p:spPr>
        <p:txBody>
          <a:bodyPr vert="horz" lIns="91440" tIns="45720" rIns="91440" bIns="45720" rtlCol="0"/>
          <a:lstStyle>
            <a:lvl1pPr algn="l" latinLnBrk="0">
              <a:defRPr kumimoji="0" sz="1200">
                <a:latin typeface="Arial" charset="0"/>
                <a:ea typeface="+mn-ea"/>
              </a:defRPr>
            </a:lvl1pPr>
          </a:lstStyle>
          <a:p>
            <a:pPr>
              <a:defRPr/>
            </a:pPr>
            <a:endParaRPr lang="ko-KR" altLang="en-US"/>
          </a:p>
        </p:txBody>
      </p:sp>
      <p:sp>
        <p:nvSpPr>
          <p:cNvPr id="3" name="날짜 개체 틀 2"/>
          <p:cNvSpPr>
            <a:spLocks noGrp="1"/>
          </p:cNvSpPr>
          <p:nvPr>
            <p:ph type="dt" idx="1"/>
          </p:nvPr>
        </p:nvSpPr>
        <p:spPr>
          <a:xfrm>
            <a:off x="3777262" y="1"/>
            <a:ext cx="2890336" cy="496061"/>
          </a:xfrm>
          <a:prstGeom prst="rect">
            <a:avLst/>
          </a:prstGeom>
        </p:spPr>
        <p:txBody>
          <a:bodyPr vert="horz" lIns="91440" tIns="45720" rIns="91440" bIns="45720" rtlCol="0"/>
          <a:lstStyle>
            <a:lvl1pPr algn="r" latinLnBrk="0">
              <a:defRPr kumimoji="0" sz="1200">
                <a:latin typeface="Arial" charset="0"/>
                <a:ea typeface="+mn-ea"/>
              </a:defRPr>
            </a:lvl1pPr>
          </a:lstStyle>
          <a:p>
            <a:pPr>
              <a:defRPr/>
            </a:pPr>
            <a:fld id="{67C64689-8BED-4124-AA29-C3A74BD3216B}" type="datetimeFigureOut">
              <a:rPr lang="ko-KR" altLang="en-US"/>
              <a:pPr>
                <a:defRPr/>
              </a:pPr>
              <a:t>2024-04-13</a:t>
            </a:fld>
            <a:endParaRPr lang="ko-KR" altLang="en-US"/>
          </a:p>
        </p:txBody>
      </p:sp>
      <p:sp>
        <p:nvSpPr>
          <p:cNvPr id="4" name="슬라이드 이미지 개체 틀 3"/>
          <p:cNvSpPr>
            <a:spLocks noGrp="1" noRot="1" noChangeAspect="1"/>
          </p:cNvSpPr>
          <p:nvPr>
            <p:ph type="sldImg" idx="2"/>
          </p:nvPr>
        </p:nvSpPr>
        <p:spPr>
          <a:xfrm>
            <a:off x="852488" y="744538"/>
            <a:ext cx="4964112" cy="3724275"/>
          </a:xfrm>
          <a:prstGeom prst="rect">
            <a:avLst/>
          </a:prstGeom>
          <a:noFill/>
          <a:ln w="12700">
            <a:solidFill>
              <a:prstClr val="black"/>
            </a:solidFill>
          </a:ln>
        </p:spPr>
        <p:txBody>
          <a:bodyPr vert="horz" lIns="91440" tIns="45720" rIns="91440" bIns="45720" rtlCol="0" anchor="ctr"/>
          <a:lstStyle/>
          <a:p>
            <a:pPr lvl="0"/>
            <a:endParaRPr lang="ko-KR" altLang="en-US" noProof="0"/>
          </a:p>
        </p:txBody>
      </p:sp>
      <p:sp>
        <p:nvSpPr>
          <p:cNvPr id="5" name="슬라이드 노트 개체 틀 4"/>
          <p:cNvSpPr>
            <a:spLocks noGrp="1"/>
          </p:cNvSpPr>
          <p:nvPr>
            <p:ph type="body" sz="quarter" idx="3"/>
          </p:nvPr>
        </p:nvSpPr>
        <p:spPr>
          <a:xfrm>
            <a:off x="666313" y="4715206"/>
            <a:ext cx="5336463" cy="4468052"/>
          </a:xfrm>
          <a:prstGeom prst="rect">
            <a:avLst/>
          </a:prstGeom>
        </p:spPr>
        <p:txBody>
          <a:bodyPr vert="horz" lIns="91440" tIns="45720" rIns="91440" bIns="45720" rtlCol="0">
            <a:normAutofit/>
          </a:bodyPr>
          <a:lstStyle/>
          <a:p>
            <a:pPr lvl="0"/>
            <a:r>
              <a:rPr lang="ko-KR" altLang="en-US" noProof="0"/>
              <a:t>마스터 텍스트 스타일을 편집합니다</a:t>
            </a:r>
          </a:p>
          <a:p>
            <a:pPr lvl="1"/>
            <a:r>
              <a:rPr lang="ko-KR" altLang="en-US" noProof="0"/>
              <a:t>둘째 수준</a:t>
            </a:r>
          </a:p>
          <a:p>
            <a:pPr lvl="2"/>
            <a:r>
              <a:rPr lang="ko-KR" altLang="en-US" noProof="0"/>
              <a:t>셋째 수준</a:t>
            </a:r>
          </a:p>
          <a:p>
            <a:pPr lvl="3"/>
            <a:r>
              <a:rPr lang="ko-KR" altLang="en-US" noProof="0"/>
              <a:t>넷째 수준</a:t>
            </a:r>
          </a:p>
          <a:p>
            <a:pPr lvl="4"/>
            <a:r>
              <a:rPr lang="ko-KR" altLang="en-US" noProof="0"/>
              <a:t>다섯째 수준</a:t>
            </a:r>
          </a:p>
        </p:txBody>
      </p:sp>
      <p:sp>
        <p:nvSpPr>
          <p:cNvPr id="6" name="바닥글 개체 틀 5"/>
          <p:cNvSpPr>
            <a:spLocks noGrp="1"/>
          </p:cNvSpPr>
          <p:nvPr>
            <p:ph type="ftr" sz="quarter" idx="4"/>
          </p:nvPr>
        </p:nvSpPr>
        <p:spPr>
          <a:xfrm>
            <a:off x="1" y="9430412"/>
            <a:ext cx="2890336" cy="496061"/>
          </a:xfrm>
          <a:prstGeom prst="rect">
            <a:avLst/>
          </a:prstGeom>
        </p:spPr>
        <p:txBody>
          <a:bodyPr vert="horz" lIns="91440" tIns="45720" rIns="91440" bIns="45720" rtlCol="0" anchor="b"/>
          <a:lstStyle>
            <a:lvl1pPr algn="l" latinLnBrk="0">
              <a:defRPr kumimoji="0" sz="1200">
                <a:latin typeface="Arial" charset="0"/>
                <a:ea typeface="+mn-ea"/>
              </a:defRPr>
            </a:lvl1pPr>
          </a:lstStyle>
          <a:p>
            <a:pPr>
              <a:defRPr/>
            </a:pPr>
            <a:endParaRPr lang="ko-KR" altLang="en-US"/>
          </a:p>
        </p:txBody>
      </p:sp>
      <p:sp>
        <p:nvSpPr>
          <p:cNvPr id="7" name="슬라이드 번호 개체 틀 6"/>
          <p:cNvSpPr>
            <a:spLocks noGrp="1"/>
          </p:cNvSpPr>
          <p:nvPr>
            <p:ph type="sldNum" sz="quarter" idx="5"/>
          </p:nvPr>
        </p:nvSpPr>
        <p:spPr>
          <a:xfrm>
            <a:off x="3777262" y="9430412"/>
            <a:ext cx="2890336" cy="496061"/>
          </a:xfrm>
          <a:prstGeom prst="rect">
            <a:avLst/>
          </a:prstGeom>
        </p:spPr>
        <p:txBody>
          <a:bodyPr vert="horz" lIns="91440" tIns="45720" rIns="91440" bIns="45720" rtlCol="0" anchor="b"/>
          <a:lstStyle>
            <a:lvl1pPr algn="r" latinLnBrk="0">
              <a:defRPr kumimoji="0" sz="1200">
                <a:latin typeface="Arial" charset="0"/>
                <a:ea typeface="+mn-ea"/>
              </a:defRPr>
            </a:lvl1pPr>
          </a:lstStyle>
          <a:p>
            <a:pPr>
              <a:defRPr/>
            </a:pPr>
            <a:fld id="{3E122B4D-8E94-4223-95EB-97BD74721ECD}" type="slidenum">
              <a:rPr lang="ko-KR" altLang="en-US"/>
              <a:pPr>
                <a:defRPr/>
              </a:pPr>
              <a:t>‹#›</a:t>
            </a:fld>
            <a:endParaRPr lang="ko-KR" altLang="en-US"/>
          </a:p>
        </p:txBody>
      </p:sp>
    </p:spTree>
    <p:extLst>
      <p:ext uri="{BB962C8B-B14F-4D97-AF65-F5344CB8AC3E}">
        <p14:creationId xmlns:p14="http://schemas.microsoft.com/office/powerpoint/2010/main" val="310489422"/>
      </p:ext>
    </p:extLst>
  </p:cSld>
  <p:clrMap bg1="lt1" tx1="dk1" bg2="lt2" tx2="dk2" accent1="accent1" accent2="accent2" accent3="accent3" accent4="accent4" accent5="accent5" accent6="accent6" hlink="hlink" folHlink="folHlink"/>
  <p:notesStyle>
    <a:lvl1pPr algn="l" rtl="0" eaLnBrk="0" fontAlgn="base" latinLnBrk="1" hangingPunct="0">
      <a:spcBef>
        <a:spcPct val="30000"/>
      </a:spcBef>
      <a:spcAft>
        <a:spcPct val="0"/>
      </a:spcAft>
      <a:defRPr sz="1200" kern="1200">
        <a:solidFill>
          <a:schemeClr val="tx1"/>
        </a:solidFill>
        <a:latin typeface="+mn-lt"/>
        <a:ea typeface="+mn-ea"/>
        <a:cs typeface="+mn-cs"/>
      </a:defRPr>
    </a:lvl1pPr>
    <a:lvl2pPr marL="457200" algn="l" rtl="0" eaLnBrk="0" fontAlgn="base" latinLnBrk="1" hangingPunct="0">
      <a:spcBef>
        <a:spcPct val="30000"/>
      </a:spcBef>
      <a:spcAft>
        <a:spcPct val="0"/>
      </a:spcAft>
      <a:defRPr sz="1200" kern="1200">
        <a:solidFill>
          <a:schemeClr val="tx1"/>
        </a:solidFill>
        <a:latin typeface="+mn-lt"/>
        <a:ea typeface="+mn-ea"/>
        <a:cs typeface="+mn-cs"/>
      </a:defRPr>
    </a:lvl2pPr>
    <a:lvl3pPr marL="914400" algn="l" rtl="0" eaLnBrk="0" fontAlgn="base" latinLnBrk="1" hangingPunct="0">
      <a:spcBef>
        <a:spcPct val="30000"/>
      </a:spcBef>
      <a:spcAft>
        <a:spcPct val="0"/>
      </a:spcAft>
      <a:defRPr sz="1200" kern="1200">
        <a:solidFill>
          <a:schemeClr val="tx1"/>
        </a:solidFill>
        <a:latin typeface="+mn-lt"/>
        <a:ea typeface="+mn-ea"/>
        <a:cs typeface="+mn-cs"/>
      </a:defRPr>
    </a:lvl3pPr>
    <a:lvl4pPr marL="1371600" algn="l" rtl="0" eaLnBrk="0" fontAlgn="base" latinLnBrk="1" hangingPunct="0">
      <a:spcBef>
        <a:spcPct val="30000"/>
      </a:spcBef>
      <a:spcAft>
        <a:spcPct val="0"/>
      </a:spcAft>
      <a:defRPr sz="1200" kern="1200">
        <a:solidFill>
          <a:schemeClr val="tx1"/>
        </a:solidFill>
        <a:latin typeface="+mn-lt"/>
        <a:ea typeface="+mn-ea"/>
        <a:cs typeface="+mn-cs"/>
      </a:defRPr>
    </a:lvl4pPr>
    <a:lvl5pPr marL="1828800" algn="l" rtl="0" eaLnBrk="0" fontAlgn="base" latinLnBrk="1" hangingPunct="0">
      <a:spcBef>
        <a:spcPct val="30000"/>
      </a:spcBef>
      <a:spcAft>
        <a:spcPct val="0"/>
      </a:spcAft>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CA6ABAA2-352C-4783-907A-C97DACE6F039}" type="slidenum">
              <a:rPr lang="en-US" altLang="ko-KR"/>
              <a:pPr/>
              <a:t>2</a:t>
            </a:fld>
            <a:endParaRPr lang="en-US" altLang="ko-K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41536554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p:spPr>
        <p:txBody>
          <a:bodyPr/>
          <a:lstStyle/>
          <a:p>
            <a:fld id="{E960058C-69B7-4915-9A9D-6C734B8300F2}" type="slidenum">
              <a:rPr lang="en-US" altLang="ko-KR"/>
              <a:pPr/>
              <a:t>3</a:t>
            </a:fld>
            <a:endParaRPr lang="en-US" altLang="ko-K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p:spPr>
        <p:txBody>
          <a:bodyPr/>
          <a:lstStyle/>
          <a:p>
            <a:pPr eaLnBrk="1" hangingPunct="1"/>
            <a:endParaRPr lang="ko-KR" altLang="ko-KR">
              <a:latin typeface="Arial" pitchFamily="34" charset="0"/>
            </a:endParaRPr>
          </a:p>
        </p:txBody>
      </p:sp>
    </p:spTree>
    <p:extLst>
      <p:ext uri="{BB962C8B-B14F-4D97-AF65-F5344CB8AC3E}">
        <p14:creationId xmlns:p14="http://schemas.microsoft.com/office/powerpoint/2010/main" val="2345896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8FAFD1FA-E268-4372-9AF2-E23A487DAE7D}" type="slidenum">
              <a:rPr lang="en-US" altLang="ko-KR"/>
              <a:pPr/>
              <a:t>5</a:t>
            </a:fld>
            <a:endParaRPr lang="en-US" altLang="ko-K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p:spPr>
        <p:txBody>
          <a:bodyPr/>
          <a:lstStyle/>
          <a:p>
            <a:pPr eaLnBrk="1" hangingPunct="1"/>
            <a:endParaRPr lang="ko-KR" altLang="ko-KR"/>
          </a:p>
        </p:txBody>
      </p:sp>
    </p:spTree>
    <p:extLst>
      <p:ext uri="{BB962C8B-B14F-4D97-AF65-F5344CB8AC3E}">
        <p14:creationId xmlns:p14="http://schemas.microsoft.com/office/powerpoint/2010/main" val="1055230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7D65C817-0C0F-434A-BDAA-345F97307EF5}" type="slidenum">
              <a:rPr lang="en-US" altLang="ko-KR"/>
              <a:pPr/>
              <a:t>6</a:t>
            </a:fld>
            <a:endParaRPr lang="en-US" altLang="ko-K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3369926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p:spPr>
        <p:txBody>
          <a:bodyPr/>
          <a:lstStyle/>
          <a:p>
            <a:fld id="{BF9641B8-48ED-4D25-AF80-5CF056618101}" type="slidenum">
              <a:rPr lang="en-US" altLang="ko-KR"/>
              <a:pPr/>
              <a:t>7</a:t>
            </a:fld>
            <a:endParaRPr lang="en-US" altLang="ko-KR"/>
          </a:p>
        </p:txBody>
      </p:sp>
      <p:sp>
        <p:nvSpPr>
          <p:cNvPr id="72707" name="Rectangle 2"/>
          <p:cNvSpPr>
            <a:spLocks noGrp="1" noChangeArrowheads="1"/>
          </p:cNvSpPr>
          <p:nvPr>
            <p:ph type="body" idx="1"/>
          </p:nvPr>
        </p:nvSpPr>
        <p:spPr>
          <a:noFill/>
          <a:ln/>
        </p:spPr>
        <p:txBody>
          <a:bodyPr lIns="91319" tIns="46433" rIns="91319" bIns="46433"/>
          <a:lstStyle/>
          <a:p>
            <a:pPr defTabSz="911225"/>
            <a:endParaRPr lang="ko-KR" altLang="ko-KR"/>
          </a:p>
        </p:txBody>
      </p:sp>
      <p:sp>
        <p:nvSpPr>
          <p:cNvPr id="72708" name="Rectangle 3"/>
          <p:cNvSpPr>
            <a:spLocks noGrp="1" noRot="1" noChangeAspect="1" noChangeArrowheads="1" noTextEdit="1"/>
          </p:cNvSpPr>
          <p:nvPr>
            <p:ph type="sldImg"/>
          </p:nvPr>
        </p:nvSpPr>
        <p:spPr>
          <a:xfrm>
            <a:off x="912813" y="788988"/>
            <a:ext cx="4845050" cy="3635375"/>
          </a:xfrm>
          <a:ln w="12700" cap="flat">
            <a:solidFill>
              <a:schemeClr val="tx1"/>
            </a:solidFill>
          </a:ln>
        </p:spPr>
      </p:sp>
    </p:spTree>
    <p:extLst>
      <p:ext uri="{BB962C8B-B14F-4D97-AF65-F5344CB8AC3E}">
        <p14:creationId xmlns:p14="http://schemas.microsoft.com/office/powerpoint/2010/main" val="2562778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p>
            <a:fld id="{FC9E909A-1E84-461F-8AE0-7DBE94958E22}" type="slidenum">
              <a:rPr lang="en-US" altLang="ko-KR"/>
              <a:pPr/>
              <a:t>8</a:t>
            </a:fld>
            <a:endParaRPr lang="en-US" altLang="ko-K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p:spPr>
        <p:txBody>
          <a:bodyPr/>
          <a:lstStyle/>
          <a:p>
            <a:pPr eaLnBrk="1" hangingPunct="1"/>
            <a:endParaRPr lang="ko-KR" altLang="ko-KR" b="1" dirty="0">
              <a:latin typeface="Arial" pitchFamily="34" charset="0"/>
            </a:endParaRPr>
          </a:p>
        </p:txBody>
      </p:sp>
    </p:spTree>
    <p:extLst>
      <p:ext uri="{BB962C8B-B14F-4D97-AF65-F5344CB8AC3E}">
        <p14:creationId xmlns:p14="http://schemas.microsoft.com/office/powerpoint/2010/main" val="19152614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p>
            <a:fld id="{AC6F651F-A2F2-4717-96D6-4C59EDA66C5A}" type="slidenum">
              <a:rPr lang="en-US" altLang="ko-KR"/>
              <a:pPr/>
              <a:t>9</a:t>
            </a:fld>
            <a:endParaRPr lang="en-US" altLang="ko-K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p:spPr>
        <p:txBody>
          <a:bodyPr/>
          <a:lstStyle/>
          <a:p>
            <a:pPr eaLnBrk="1" hangingPunct="1"/>
            <a:endParaRPr lang="ko-KR" altLang="ko-KR" dirty="0">
              <a:latin typeface="Arial" pitchFamily="34" charset="0"/>
            </a:endParaRPr>
          </a:p>
        </p:txBody>
      </p:sp>
    </p:spTree>
    <p:extLst>
      <p:ext uri="{BB962C8B-B14F-4D97-AF65-F5344CB8AC3E}">
        <p14:creationId xmlns:p14="http://schemas.microsoft.com/office/powerpoint/2010/main" val="1645608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CA6ABAA2-352C-4783-907A-C97DACE6F039}" type="slidenum">
              <a:rPr lang="en-US" altLang="ko-KR"/>
              <a:pPr/>
              <a:t>10</a:t>
            </a:fld>
            <a:endParaRPr lang="en-US" altLang="ko-K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20327079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8"/>
          <p:cNvSpPr>
            <a:spLocks noGrp="1" noChangeArrowheads="1"/>
          </p:cNvSpPr>
          <p:nvPr>
            <p:ph type="sldNum" sz="quarter" idx="5"/>
          </p:nvPr>
        </p:nvSpPr>
        <p:spPr>
          <a:noFill/>
        </p:spPr>
        <p:txBody>
          <a:bodyPr/>
          <a:lstStyle/>
          <a:p>
            <a:r>
              <a:rPr lang="en-US" altLang="ko-KR"/>
              <a:t>Multimedia Lecture Support Package to Accompany Basic Marketing</a:t>
            </a:r>
          </a:p>
          <a:p>
            <a:r>
              <a:rPr lang="en-US" altLang="ko-KR"/>
              <a:t>Lecture Script 6-</a:t>
            </a:r>
            <a:fld id="{CA6ABAA2-352C-4783-907A-C97DACE6F039}" type="slidenum">
              <a:rPr lang="en-US" altLang="ko-KR"/>
              <a:pPr/>
              <a:t>11</a:t>
            </a:fld>
            <a:endParaRPr lang="en-US" altLang="ko-K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p:spPr>
        <p:txBody>
          <a:bodyPr/>
          <a:lstStyle/>
          <a:p>
            <a:pPr eaLnBrk="1" hangingPunct="1"/>
            <a:endParaRPr lang="ko-KR" altLang="ko-KR" dirty="0"/>
          </a:p>
        </p:txBody>
      </p:sp>
    </p:spTree>
    <p:extLst>
      <p:ext uri="{BB962C8B-B14F-4D97-AF65-F5344CB8AC3E}">
        <p14:creationId xmlns:p14="http://schemas.microsoft.com/office/powerpoint/2010/main" val="31149753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2EF7F64E-E72E-4BBC-8BCF-C70F3A7A3A52}" type="slidenum">
              <a:rPr lang="en-US" altLang="ko-KR"/>
              <a:pPr/>
              <a:t>12</a:t>
            </a:fld>
            <a:endParaRPr lang="en-US" altLang="ko-K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ko-KR" altLang="ko-KR" dirty="0">
              <a:latin typeface="Arial" pitchFamily="34" charset="0"/>
            </a:endParaRPr>
          </a:p>
        </p:txBody>
      </p:sp>
    </p:spTree>
    <p:extLst>
      <p:ext uri="{BB962C8B-B14F-4D97-AF65-F5344CB8AC3E}">
        <p14:creationId xmlns:p14="http://schemas.microsoft.com/office/powerpoint/2010/main" val="6794376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2EF7F64E-E72E-4BBC-8BCF-C70F3A7A3A52}" type="slidenum">
              <a:rPr lang="en-US" altLang="ko-KR"/>
              <a:pPr/>
              <a:t>13</a:t>
            </a:fld>
            <a:endParaRPr lang="en-US" altLang="ko-K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p:spPr>
        <p:txBody>
          <a:bodyPr/>
          <a:lstStyle/>
          <a:p>
            <a:pPr eaLnBrk="1" hangingPunct="1"/>
            <a:endParaRPr lang="ko-KR" altLang="ko-KR" dirty="0">
              <a:latin typeface="Arial" pitchFamily="34" charset="0"/>
            </a:endParaRPr>
          </a:p>
        </p:txBody>
      </p:sp>
    </p:spTree>
    <p:extLst>
      <p:ext uri="{BB962C8B-B14F-4D97-AF65-F5344CB8AC3E}">
        <p14:creationId xmlns:p14="http://schemas.microsoft.com/office/powerpoint/2010/main" val="7544009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oleObject" Target="../embeddings/oleObject3.bin"/></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제목 슬라이드">
    <p:spTree>
      <p:nvGrpSpPr>
        <p:cNvPr id="1" name=""/>
        <p:cNvGrpSpPr/>
        <p:nvPr/>
      </p:nvGrpSpPr>
      <p:grpSpPr>
        <a:xfrm>
          <a:off x="0" y="0"/>
          <a:ext cx="0" cy="0"/>
          <a:chOff x="0" y="0"/>
          <a:chExt cx="0" cy="0"/>
        </a:xfrm>
      </p:grpSpPr>
      <p:graphicFrame>
        <p:nvGraphicFramePr>
          <p:cNvPr id="3"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2" imgW="10387302" imgH="1205924" progId="">
                  <p:embed/>
                </p:oleObj>
              </mc:Choice>
              <mc:Fallback>
                <p:oleObj name="Image" r:id="rId2" imgW="10387302" imgH="1205924" progId="">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4"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graphicFrame>
        <p:nvGraphicFramePr>
          <p:cNvPr id="5" name="Object 2"/>
          <p:cNvGraphicFramePr>
            <a:graphicFrameLocks noChangeAspect="1"/>
          </p:cNvGraphicFramePr>
          <p:nvPr/>
        </p:nvGraphicFramePr>
        <p:xfrm>
          <a:off x="0" y="2371725"/>
          <a:ext cx="9144000" cy="4486275"/>
        </p:xfrm>
        <a:graphic>
          <a:graphicData uri="http://schemas.openxmlformats.org/presentationml/2006/ole">
            <mc:AlternateContent xmlns:mc="http://schemas.openxmlformats.org/markup-compatibility/2006">
              <mc:Choice xmlns:v="urn:schemas-microsoft-com:vml" Requires="v">
                <p:oleObj name="Image" r:id="rId4" imgW="10438095" imgH="5980952" progId="">
                  <p:embed/>
                </p:oleObj>
              </mc:Choice>
              <mc:Fallback>
                <p:oleObj name="Image" r:id="rId4" imgW="10438095" imgH="5980952"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ltGray">
                      <a:xfrm>
                        <a:off x="0" y="2371725"/>
                        <a:ext cx="9144000" cy="448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18"/>
          <p:cNvSpPr>
            <a:spLocks noChangeArrowheads="1"/>
          </p:cNvSpPr>
          <p:nvPr/>
        </p:nvSpPr>
        <p:spPr bwMode="gray">
          <a:xfrm>
            <a:off x="0" y="23495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sp>
        <p:nvSpPr>
          <p:cNvPr id="3075" name="Rectangle 3"/>
          <p:cNvSpPr>
            <a:spLocks noGrp="1" noChangeArrowheads="1"/>
          </p:cNvSpPr>
          <p:nvPr>
            <p:ph type="subTitle" idx="1"/>
          </p:nvPr>
        </p:nvSpPr>
        <p:spPr>
          <a:xfrm>
            <a:off x="990600" y="6324600"/>
            <a:ext cx="7086600" cy="533400"/>
          </a:xfrm>
        </p:spPr>
        <p:txBody>
          <a:bodyPr/>
          <a:lstStyle>
            <a:lvl1pPr marL="0" indent="0" algn="ctr">
              <a:buFont typeface="Wingdings" pitchFamily="2" charset="2"/>
              <a:buNone/>
              <a:defRPr sz="1800" b="0">
                <a:solidFill>
                  <a:schemeClr val="tx2"/>
                </a:solidFill>
              </a:defRPr>
            </a:lvl1pPr>
          </a:lstStyle>
          <a:p>
            <a:r>
              <a:rPr lang="ko-KR" altLang="en-US"/>
              <a:t>마스터 부제목 스타일 편집</a:t>
            </a:r>
            <a:endParaRPr lang="en-US" altLang="ko-K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DBCEE699-D639-4207-979B-EFF22D985E06}" type="slidenum">
              <a:rPr lang="en-US" altLang="ko-KR"/>
              <a:pPr>
                <a:defRPr/>
              </a:pPr>
              <a:t>‹#›</a:t>
            </a:fld>
            <a:endParaRPr lang="en-US" altLang="ko-K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722313" y="4406900"/>
            <a:ext cx="77724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CAA0982E-BCED-4A9B-B7E1-1DF92DA4E1B0}" type="slidenum">
              <a:rPr lang="en-US" altLang="ko-KR"/>
              <a:pPr>
                <a:defRPr/>
              </a:pPr>
              <a:t>‹#›</a:t>
            </a:fld>
            <a:endParaRPr lang="en-US" altLang="ko-K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457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4648200" y="1371600"/>
            <a:ext cx="40386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FF7F742F-7B36-4663-A3D4-61870DAACAAC}" type="slidenum">
              <a:rPr lang="en-US" altLang="ko-KR"/>
              <a:pPr>
                <a:defRPr/>
              </a:pPr>
              <a:t>‹#›</a:t>
            </a:fld>
            <a:endParaRPr lang="en-US" altLang="ko-K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457200" y="274638"/>
            <a:ext cx="82296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6"/>
          <p:cNvSpPr>
            <a:spLocks noGrp="1" noChangeArrowheads="1"/>
          </p:cNvSpPr>
          <p:nvPr>
            <p:ph type="sldNum" sz="quarter" idx="12"/>
          </p:nvPr>
        </p:nvSpPr>
        <p:spPr>
          <a:ln/>
        </p:spPr>
        <p:txBody>
          <a:bodyPr/>
          <a:lstStyle>
            <a:lvl1pPr>
              <a:defRPr/>
            </a:lvl1pPr>
          </a:lstStyle>
          <a:p>
            <a:pPr>
              <a:defRPr/>
            </a:pPr>
            <a:fld id="{AE964680-22E8-4DB6-B67E-F60E1436DCB0}" type="slidenum">
              <a:rPr lang="en-US" altLang="ko-KR"/>
              <a:pPr>
                <a:defRPr/>
              </a:pPr>
              <a:t>‹#›</a:t>
            </a:fld>
            <a:endParaRPr lang="en-US" altLang="ko-K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6"/>
          <p:cNvSpPr>
            <a:spLocks noGrp="1" noChangeArrowheads="1"/>
          </p:cNvSpPr>
          <p:nvPr>
            <p:ph type="sldNum" sz="quarter" idx="12"/>
          </p:nvPr>
        </p:nvSpPr>
        <p:spPr>
          <a:ln/>
        </p:spPr>
        <p:txBody>
          <a:bodyPr/>
          <a:lstStyle>
            <a:lvl1pPr>
              <a:defRPr/>
            </a:lvl1pPr>
          </a:lstStyle>
          <a:p>
            <a:pPr>
              <a:defRPr/>
            </a:pPr>
            <a:fld id="{E6393D91-2AA8-4222-B0D3-08777C988B37}" type="slidenum">
              <a:rPr lang="en-US" altLang="ko-KR"/>
              <a:pPr>
                <a:defRPr/>
              </a:pPr>
              <a:t>‹#›</a:t>
            </a:fld>
            <a:endParaRPr lang="en-US" altLang="ko-K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6"/>
          <p:cNvSpPr>
            <a:spLocks noGrp="1" noChangeArrowheads="1"/>
          </p:cNvSpPr>
          <p:nvPr>
            <p:ph type="sldNum" sz="quarter" idx="12"/>
          </p:nvPr>
        </p:nvSpPr>
        <p:spPr>
          <a:ln/>
        </p:spPr>
        <p:txBody>
          <a:bodyPr/>
          <a:lstStyle>
            <a:lvl1pPr>
              <a:defRPr/>
            </a:lvl1pPr>
          </a:lstStyle>
          <a:p>
            <a:pPr>
              <a:defRPr/>
            </a:pPr>
            <a:fld id="{07D271E6-9BF7-48F4-A797-0B00001AA4A6}" type="slidenum">
              <a:rPr lang="en-US" altLang="ko-KR"/>
              <a:pPr>
                <a:defRPr/>
              </a:pPr>
              <a:t>‹#›</a:t>
            </a:fld>
            <a:endParaRPr lang="en-US" altLang="ko-K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457200" y="273050"/>
            <a:ext cx="3008313" cy="116205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B3B3BA63-8553-4392-840A-872D73E86C03}" type="slidenum">
              <a:rPr lang="en-US" altLang="ko-KR"/>
              <a:pPr>
                <a:defRPr/>
              </a:pPr>
              <a:t>‹#›</a:t>
            </a:fld>
            <a:endParaRPr lang="en-US" altLang="ko-K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792288" y="4800600"/>
            <a:ext cx="5486400" cy="566738"/>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ko-KR" altLang="en-US" noProof="0"/>
              <a:t>그림을 추가하려면 아이콘을 클릭하십시오</a:t>
            </a:r>
          </a:p>
        </p:txBody>
      </p:sp>
      <p:sp>
        <p:nvSpPr>
          <p:cNvPr id="4" name="텍스트 개체 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6"/>
          <p:cNvSpPr>
            <a:spLocks noGrp="1" noChangeArrowheads="1"/>
          </p:cNvSpPr>
          <p:nvPr>
            <p:ph type="sldNum" sz="quarter" idx="12"/>
          </p:nvPr>
        </p:nvSpPr>
        <p:spPr>
          <a:ln/>
        </p:spPr>
        <p:txBody>
          <a:bodyPr/>
          <a:lstStyle>
            <a:lvl1pPr>
              <a:defRPr/>
            </a:lvl1pPr>
          </a:lstStyle>
          <a:p>
            <a:pPr>
              <a:defRPr/>
            </a:pPr>
            <a:fld id="{38A0EF7B-C81A-4D36-B09D-CAB33D40165E}" type="slidenum">
              <a:rPr lang="en-US" altLang="ko-KR"/>
              <a:pPr>
                <a:defRPr/>
              </a:pPr>
              <a:t>‹#›</a:t>
            </a:fld>
            <a:endParaRPr lang="en-US" altLang="ko-K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96678431-D9C7-46F6-AB44-0407FE9C1E78}" type="slidenum">
              <a:rPr lang="en-US" altLang="ko-KR"/>
              <a:pPr>
                <a:defRPr/>
              </a:pPr>
              <a:t>‹#›</a:t>
            </a:fld>
            <a:endParaRPr lang="en-US" altLang="ko-K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6629400" y="319088"/>
            <a:ext cx="2057400" cy="6300787"/>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457200" y="319088"/>
            <a:ext cx="6019800" cy="6300787"/>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40BF76C9-BA84-43C0-A6F8-39BC57028A72}" type="slidenum">
              <a:rPr lang="en-US" altLang="ko-KR"/>
              <a:pPr>
                <a:defRPr/>
              </a:pPr>
              <a:t>‹#›</a:t>
            </a:fld>
            <a:endParaRPr lang="en-US" altLang="ko-K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제목 및 표">
    <p:spTree>
      <p:nvGrpSpPr>
        <p:cNvPr id="1" name=""/>
        <p:cNvGrpSpPr/>
        <p:nvPr/>
      </p:nvGrpSpPr>
      <p:grpSpPr>
        <a:xfrm>
          <a:off x="0" y="0"/>
          <a:ext cx="0" cy="0"/>
          <a:chOff x="0" y="0"/>
          <a:chExt cx="0" cy="0"/>
        </a:xfrm>
      </p:grpSpPr>
      <p:sp>
        <p:nvSpPr>
          <p:cNvPr id="2" name="제목 1"/>
          <p:cNvSpPr>
            <a:spLocks noGrp="1"/>
          </p:cNvSpPr>
          <p:nvPr>
            <p:ph type="title"/>
          </p:nvPr>
        </p:nvSpPr>
        <p:spPr>
          <a:xfrm>
            <a:off x="990600" y="319088"/>
            <a:ext cx="7543800" cy="563562"/>
          </a:xfrm>
        </p:spPr>
        <p:txBody>
          <a:bodyPr/>
          <a:lstStyle/>
          <a:p>
            <a:r>
              <a:rPr lang="ko-KR" altLang="en-US"/>
              <a:t>마스터 제목 스타일 편집</a:t>
            </a:r>
          </a:p>
        </p:txBody>
      </p:sp>
      <p:sp>
        <p:nvSpPr>
          <p:cNvPr id="3" name="표 개체 틀 2"/>
          <p:cNvSpPr>
            <a:spLocks noGrp="1"/>
          </p:cNvSpPr>
          <p:nvPr>
            <p:ph type="tbl" idx="1"/>
          </p:nvPr>
        </p:nvSpPr>
        <p:spPr>
          <a:xfrm>
            <a:off x="457200" y="1371600"/>
            <a:ext cx="8229600" cy="5248275"/>
          </a:xfrm>
        </p:spPr>
        <p:txBody>
          <a:bodyPr/>
          <a:lstStyle/>
          <a:p>
            <a:pPr lvl="0"/>
            <a:r>
              <a:rPr lang="ko-KR" altLang="en-US" noProof="0"/>
              <a:t>표를 추가하려면 아이콘을 클릭하십시오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6"/>
          <p:cNvSpPr>
            <a:spLocks noGrp="1" noChangeArrowheads="1"/>
          </p:cNvSpPr>
          <p:nvPr>
            <p:ph type="sldNum" sz="quarter" idx="12"/>
          </p:nvPr>
        </p:nvSpPr>
        <p:spPr>
          <a:ln/>
        </p:spPr>
        <p:txBody>
          <a:bodyPr/>
          <a:lstStyle>
            <a:lvl1pPr>
              <a:defRPr/>
            </a:lvl1pPr>
          </a:lstStyle>
          <a:p>
            <a:pPr>
              <a:defRPr/>
            </a:pPr>
            <a:fld id="{515DEBC6-EF61-47A0-816A-A14FD7AFBB22}" type="slidenum">
              <a:rPr lang="en-US" altLang="ko-KR"/>
              <a:pPr>
                <a:defRPr/>
              </a:pPr>
              <a:t>‹#›</a:t>
            </a:fld>
            <a:endParaRPr lang="en-US" altLang="ko-K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2700000" scaled="1"/>
        </a:gradFill>
        <a:effectLst/>
      </p:bgPr>
    </p:bg>
    <p:spTree>
      <p:nvGrpSpPr>
        <p:cNvPr id="1" name=""/>
        <p:cNvGrpSpPr/>
        <p:nvPr/>
      </p:nvGrpSpPr>
      <p:grpSpPr>
        <a:xfrm>
          <a:off x="0" y="0"/>
          <a:ext cx="0" cy="0"/>
          <a:chOff x="0" y="0"/>
          <a:chExt cx="0" cy="0"/>
        </a:xfrm>
      </p:grpSpPr>
      <p:graphicFrame>
        <p:nvGraphicFramePr>
          <p:cNvPr id="1026" name="Object 15"/>
          <p:cNvGraphicFramePr>
            <a:graphicFrameLocks noChangeAspect="1"/>
          </p:cNvGraphicFramePr>
          <p:nvPr/>
        </p:nvGraphicFramePr>
        <p:xfrm>
          <a:off x="0" y="0"/>
          <a:ext cx="9144000" cy="1062038"/>
        </p:xfrm>
        <a:graphic>
          <a:graphicData uri="http://schemas.openxmlformats.org/presentationml/2006/ole">
            <mc:AlternateContent xmlns:mc="http://schemas.openxmlformats.org/markup-compatibility/2006">
              <mc:Choice xmlns:v="urn:schemas-microsoft-com:vml" Requires="v">
                <p:oleObj name="Image" r:id="rId14" imgW="10387302" imgH="1205924" progId="">
                  <p:embed/>
                </p:oleObj>
              </mc:Choice>
              <mc:Fallback>
                <p:oleObj name="Image" r:id="rId14" imgW="10387302" imgH="1205924" progId="">
                  <p:embed/>
                  <p:pic>
                    <p:nvPicPr>
                      <p:cNvPr id="0"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ltGray">
                      <a:xfrm>
                        <a:off x="0" y="0"/>
                        <a:ext cx="9144000" cy="1062038"/>
                      </a:xfrm>
                      <a:prstGeom prst="rect">
                        <a:avLst/>
                      </a:prstGeom>
                      <a:noFill/>
                      <a:ln>
                        <a:noFill/>
                      </a:ln>
                      <a:effectLst/>
                      <a:extLst>
                        <a:ext uri="{909E8E84-426E-40DD-AFC4-6F175D3DCCD1}">
                          <a14:hiddenFill xmlns:a14="http://schemas.microsoft.com/office/drawing/2010/main">
                            <a:solidFill>
                              <a:srgbClr val="FDC529"/>
                            </a:solidFill>
                          </a14:hiddenFill>
                        </a:ext>
                        <a:ext uri="{91240B29-F687-4F45-9708-019B960494DF}">
                          <a14:hiddenLine xmlns:a14="http://schemas.microsoft.com/office/drawing/2010/main" w="9525">
                            <a:solidFill>
                              <a:srgbClr val="B1E2FB"/>
                            </a:solidFill>
                            <a:miter lim="800000"/>
                            <a:headEnd/>
                            <a:tailEnd/>
                          </a14:hiddenLine>
                        </a:ext>
                        <a:ext uri="{AF507438-7753-43E0-B8FC-AC1667EBCBE1}">
                          <a14:hiddenEffects xmlns:a14="http://schemas.microsoft.com/office/drawing/2010/main">
                            <a:effectLst>
                              <a:outerShdw dist="35921" dir="2700000" algn="ctr" rotWithShape="0">
                                <a:srgbClr val="0066CC"/>
                              </a:outerShdw>
                            </a:effectLst>
                          </a14:hiddenEffects>
                        </a:ext>
                      </a:extLst>
                    </p:spPr>
                  </p:pic>
                </p:oleObj>
              </mc:Fallback>
            </mc:AlternateContent>
          </a:graphicData>
        </a:graphic>
      </p:graphicFrame>
      <p:sp>
        <p:nvSpPr>
          <p:cNvPr id="1028" name="Rectangle 3"/>
          <p:cNvSpPr>
            <a:spLocks noGrp="1" noChangeArrowheads="1"/>
          </p:cNvSpPr>
          <p:nvPr>
            <p:ph type="body" idx="1"/>
          </p:nvPr>
        </p:nvSpPr>
        <p:spPr bwMode="auto">
          <a:xfrm>
            <a:off x="457200" y="1371600"/>
            <a:ext cx="8229600" cy="52482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endParaRPr lang="en-US" altLang="ko-KR"/>
          </a:p>
        </p:txBody>
      </p:sp>
      <p:sp>
        <p:nvSpPr>
          <p:cNvPr id="2" name="Rectangle 4"/>
          <p:cNvSpPr>
            <a:spLocks noGrp="1" noChangeArrowheads="1"/>
          </p:cNvSpPr>
          <p:nvPr>
            <p:ph type="dt" sz="half" idx="2"/>
          </p:nvPr>
        </p:nvSpPr>
        <p:spPr bwMode="auto">
          <a:xfrm>
            <a:off x="457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latinLnBrk="0">
              <a:defRPr kumimoji="0" sz="1400">
                <a:latin typeface="Arial" charset="0"/>
                <a:ea typeface="굴림" charset="-127"/>
              </a:defRPr>
            </a:lvl1pPr>
          </a:lstStyle>
          <a:p>
            <a:pPr>
              <a:defRPr/>
            </a:pPr>
            <a:endParaRPr lang="en-US" altLang="ko-KR"/>
          </a:p>
        </p:txBody>
      </p:sp>
      <p:sp>
        <p:nvSpPr>
          <p:cNvPr id="1029" name="Rectangle 5"/>
          <p:cNvSpPr>
            <a:spLocks noGrp="1" noChangeArrowheads="1"/>
          </p:cNvSpPr>
          <p:nvPr>
            <p:ph type="ftr" sz="quarter" idx="3"/>
          </p:nvPr>
        </p:nvSpPr>
        <p:spPr bwMode="auto">
          <a:xfrm>
            <a:off x="3124200" y="6400800"/>
            <a:ext cx="2895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latinLnBrk="0">
              <a:defRPr kumimoji="0" sz="1400">
                <a:latin typeface="Arial" charset="0"/>
                <a:ea typeface="굴림" charset="-127"/>
              </a:defRPr>
            </a:lvl1pPr>
          </a:lstStyle>
          <a:p>
            <a:pPr>
              <a:defRPr/>
            </a:pPr>
            <a:endParaRPr lang="en-US" altLang="ko-KR"/>
          </a:p>
        </p:txBody>
      </p:sp>
      <p:sp>
        <p:nvSpPr>
          <p:cNvPr id="1030" name="Rectangle 6"/>
          <p:cNvSpPr>
            <a:spLocks noGrp="1" noChangeArrowheads="1"/>
          </p:cNvSpPr>
          <p:nvPr>
            <p:ph type="sldNum" sz="quarter" idx="4"/>
          </p:nvPr>
        </p:nvSpPr>
        <p:spPr bwMode="auto">
          <a:xfrm>
            <a:off x="6553200" y="6400800"/>
            <a:ext cx="2133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latinLnBrk="0">
              <a:defRPr kumimoji="0" sz="1400">
                <a:latin typeface="Arial" charset="0"/>
                <a:ea typeface="굴림" charset="-127"/>
              </a:defRPr>
            </a:lvl1pPr>
          </a:lstStyle>
          <a:p>
            <a:pPr>
              <a:defRPr/>
            </a:pPr>
            <a:fld id="{51AEFA36-DB78-4B33-A399-3C66194D2B99}" type="slidenum">
              <a:rPr lang="en-US" altLang="ko-KR"/>
              <a:pPr>
                <a:defRPr/>
              </a:pPr>
              <a:t>‹#›</a:t>
            </a:fld>
            <a:endParaRPr lang="en-US" altLang="ko-KR"/>
          </a:p>
        </p:txBody>
      </p:sp>
      <p:sp>
        <p:nvSpPr>
          <p:cNvPr id="1032" name="Rectangle 2"/>
          <p:cNvSpPr>
            <a:spLocks noGrp="1" noChangeArrowheads="1"/>
          </p:cNvSpPr>
          <p:nvPr>
            <p:ph type="title"/>
          </p:nvPr>
        </p:nvSpPr>
        <p:spPr bwMode="auto">
          <a:xfrm>
            <a:off x="990600" y="319088"/>
            <a:ext cx="7543800" cy="5635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ko-KR"/>
          </a:p>
        </p:txBody>
      </p:sp>
      <p:sp>
        <p:nvSpPr>
          <p:cNvPr id="1040" name="Rectangle 16"/>
          <p:cNvSpPr>
            <a:spLocks noChangeArrowheads="1"/>
          </p:cNvSpPr>
          <p:nvPr/>
        </p:nvSpPr>
        <p:spPr bwMode="gray">
          <a:xfrm>
            <a:off x="0" y="1066800"/>
            <a:ext cx="9144000" cy="73025"/>
          </a:xfrm>
          <a:prstGeom prst="rect">
            <a:avLst/>
          </a:prstGeom>
          <a:gradFill rotWithShape="1">
            <a:gsLst>
              <a:gs pos="0">
                <a:schemeClr val="bg1"/>
              </a:gs>
              <a:gs pos="50000">
                <a:schemeClr val="accent1"/>
              </a:gs>
              <a:gs pos="100000">
                <a:schemeClr val="bg1"/>
              </a:gs>
            </a:gsLst>
            <a:lin ang="0" scaled="1"/>
          </a:gradFill>
          <a:ln w="9525">
            <a:noFill/>
            <a:miter lim="800000"/>
            <a:headEnd/>
            <a:tailEnd/>
          </a:ln>
          <a:effectLst/>
        </p:spPr>
        <p:txBody>
          <a:bodyPr wrap="none" anchor="ctr"/>
          <a:lstStyle/>
          <a:p>
            <a:pPr algn="ctr" latinLnBrk="0">
              <a:defRPr/>
            </a:pPr>
            <a:endParaRPr kumimoji="0" lang="ko-KR" altLang="en-US">
              <a:latin typeface="Arial" charset="0"/>
              <a:ea typeface="+mn-ea"/>
            </a:endParaRPr>
          </a:p>
        </p:txBody>
      </p:sp>
    </p:spTree>
  </p:cSld>
  <p:clrMap bg1="dk2" tx1="lt1" bg2="dk1" tx2="lt2" accent1="accent1" accent2="accent2" accent3="accent3" accent4="accent4" accent5="accent5" accent6="accent6" hlink="hlink" folHlink="folHlink"/>
  <p:sldLayoutIdLst>
    <p:sldLayoutId id="2147483791"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Lst>
  <p:txStyles>
    <p:titleStyle>
      <a:lvl1pPr algn="r" rtl="0" eaLnBrk="0" fontAlgn="base" latinLnBrk="1" hangingPunct="0">
        <a:spcBef>
          <a:spcPct val="0"/>
        </a:spcBef>
        <a:spcAft>
          <a:spcPct val="0"/>
        </a:spcAft>
        <a:defRPr sz="3600">
          <a:solidFill>
            <a:schemeClr val="tx2"/>
          </a:solidFill>
          <a:latin typeface="+mj-lt"/>
          <a:ea typeface="+mj-ea"/>
          <a:cs typeface="+mj-cs"/>
        </a:defRPr>
      </a:lvl1pPr>
      <a:lvl2pPr algn="r" rtl="0" eaLnBrk="0" fontAlgn="base" latinLnBrk="1" hangingPunct="0">
        <a:spcBef>
          <a:spcPct val="0"/>
        </a:spcBef>
        <a:spcAft>
          <a:spcPct val="0"/>
        </a:spcAft>
        <a:defRPr sz="3600">
          <a:solidFill>
            <a:schemeClr val="tx2"/>
          </a:solidFill>
          <a:latin typeface="Arial" charset="0"/>
        </a:defRPr>
      </a:lvl2pPr>
      <a:lvl3pPr algn="r" rtl="0" eaLnBrk="0" fontAlgn="base" latinLnBrk="1" hangingPunct="0">
        <a:spcBef>
          <a:spcPct val="0"/>
        </a:spcBef>
        <a:spcAft>
          <a:spcPct val="0"/>
        </a:spcAft>
        <a:defRPr sz="3600">
          <a:solidFill>
            <a:schemeClr val="tx2"/>
          </a:solidFill>
          <a:latin typeface="Arial" charset="0"/>
        </a:defRPr>
      </a:lvl3pPr>
      <a:lvl4pPr algn="r" rtl="0" eaLnBrk="0" fontAlgn="base" latinLnBrk="1" hangingPunct="0">
        <a:spcBef>
          <a:spcPct val="0"/>
        </a:spcBef>
        <a:spcAft>
          <a:spcPct val="0"/>
        </a:spcAft>
        <a:defRPr sz="3600">
          <a:solidFill>
            <a:schemeClr val="tx2"/>
          </a:solidFill>
          <a:latin typeface="Arial" charset="0"/>
        </a:defRPr>
      </a:lvl4pPr>
      <a:lvl5pPr algn="r" rtl="0" eaLnBrk="0" fontAlgn="base" latinLnBrk="1" hangingPunct="0">
        <a:spcBef>
          <a:spcPct val="0"/>
        </a:spcBef>
        <a:spcAft>
          <a:spcPct val="0"/>
        </a:spcAft>
        <a:defRPr sz="3600">
          <a:solidFill>
            <a:schemeClr val="tx2"/>
          </a:solidFill>
          <a:latin typeface="Arial" charset="0"/>
        </a:defRPr>
      </a:lvl5pPr>
      <a:lvl6pPr marL="457200" algn="r" rtl="0" eaLnBrk="1" fontAlgn="base" latinLnBrk="1" hangingPunct="1">
        <a:spcBef>
          <a:spcPct val="0"/>
        </a:spcBef>
        <a:spcAft>
          <a:spcPct val="0"/>
        </a:spcAft>
        <a:defRPr sz="3600">
          <a:solidFill>
            <a:schemeClr val="tx2"/>
          </a:solidFill>
          <a:latin typeface="Arial" charset="0"/>
        </a:defRPr>
      </a:lvl6pPr>
      <a:lvl7pPr marL="914400" algn="r" rtl="0" eaLnBrk="1" fontAlgn="base" latinLnBrk="1" hangingPunct="1">
        <a:spcBef>
          <a:spcPct val="0"/>
        </a:spcBef>
        <a:spcAft>
          <a:spcPct val="0"/>
        </a:spcAft>
        <a:defRPr sz="3600">
          <a:solidFill>
            <a:schemeClr val="tx2"/>
          </a:solidFill>
          <a:latin typeface="Arial" charset="0"/>
        </a:defRPr>
      </a:lvl7pPr>
      <a:lvl8pPr marL="1371600" algn="r" rtl="0" eaLnBrk="1" fontAlgn="base" latinLnBrk="1" hangingPunct="1">
        <a:spcBef>
          <a:spcPct val="0"/>
        </a:spcBef>
        <a:spcAft>
          <a:spcPct val="0"/>
        </a:spcAft>
        <a:defRPr sz="3600">
          <a:solidFill>
            <a:schemeClr val="tx2"/>
          </a:solidFill>
          <a:latin typeface="Arial" charset="0"/>
        </a:defRPr>
      </a:lvl8pPr>
      <a:lvl9pPr marL="1828800" algn="r" rtl="0" eaLnBrk="1" fontAlgn="base" latinLnBrk="1" hangingPunct="1">
        <a:spcBef>
          <a:spcPct val="0"/>
        </a:spcBef>
        <a:spcAft>
          <a:spcPct val="0"/>
        </a:spcAft>
        <a:defRPr sz="3600">
          <a:solidFill>
            <a:schemeClr val="tx2"/>
          </a:solidFill>
          <a:latin typeface="Arial" charset="0"/>
        </a:defRPr>
      </a:lvl9pPr>
    </p:titleStyle>
    <p:bodyStyle>
      <a:lvl1pPr marL="342900" indent="-342900" algn="l" rtl="0" eaLnBrk="0" fontAlgn="base" latinLnBrk="1" hangingPunct="0">
        <a:spcBef>
          <a:spcPct val="20000"/>
        </a:spcBef>
        <a:spcAft>
          <a:spcPct val="0"/>
        </a:spcAft>
        <a:buClr>
          <a:schemeClr val="hlink"/>
        </a:buClr>
        <a:buFont typeface="Wingdings" pitchFamily="2" charset="2"/>
        <a:buChar char="v"/>
        <a:defRPr sz="2800" b="1">
          <a:solidFill>
            <a:schemeClr val="tx1"/>
          </a:solidFill>
          <a:latin typeface="+mn-lt"/>
          <a:ea typeface="+mn-ea"/>
          <a:cs typeface="+mn-cs"/>
        </a:defRPr>
      </a:lvl1pPr>
      <a:lvl2pPr marL="742950" indent="-285750" algn="l" rtl="0" eaLnBrk="0" fontAlgn="base" latinLnBrk="1" hangingPunct="0">
        <a:spcBef>
          <a:spcPct val="20000"/>
        </a:spcBef>
        <a:spcAft>
          <a:spcPct val="0"/>
        </a:spcAft>
        <a:buClr>
          <a:schemeClr val="accent1"/>
        </a:buClr>
        <a:buFont typeface="Wingdings" pitchFamily="2" charset="2"/>
        <a:buChar char="§"/>
        <a:defRPr sz="2800">
          <a:solidFill>
            <a:schemeClr val="tx2"/>
          </a:solidFill>
          <a:latin typeface="+mj-lt"/>
        </a:defRPr>
      </a:lvl2pPr>
      <a:lvl3pPr marL="1143000" indent="-228600" algn="l" rtl="0" eaLnBrk="0" fontAlgn="base" latinLnBrk="1" hangingPunct="0">
        <a:spcBef>
          <a:spcPct val="20000"/>
        </a:spcBef>
        <a:spcAft>
          <a:spcPct val="0"/>
        </a:spcAft>
        <a:buClr>
          <a:schemeClr val="tx1"/>
        </a:buClr>
        <a:buChar char="•"/>
        <a:defRPr sz="2400">
          <a:solidFill>
            <a:schemeClr val="tx2"/>
          </a:solidFill>
          <a:latin typeface="+mj-lt"/>
        </a:defRPr>
      </a:lvl3pPr>
      <a:lvl4pPr marL="1600200" indent="-228600" algn="l" rtl="0" eaLnBrk="0" fontAlgn="base" latinLnBrk="1" hangingPunct="0">
        <a:spcBef>
          <a:spcPct val="20000"/>
        </a:spcBef>
        <a:spcAft>
          <a:spcPct val="0"/>
        </a:spcAft>
        <a:buChar char="–"/>
        <a:defRPr sz="2000">
          <a:solidFill>
            <a:schemeClr val="tx2"/>
          </a:solidFill>
          <a:latin typeface="+mj-lt"/>
        </a:defRPr>
      </a:lvl4pPr>
      <a:lvl5pPr marL="2057400" indent="-228600" algn="l" rtl="0" eaLnBrk="0" fontAlgn="base" latinLnBrk="1" hangingPunct="0">
        <a:spcBef>
          <a:spcPct val="20000"/>
        </a:spcBef>
        <a:spcAft>
          <a:spcPct val="0"/>
        </a:spcAft>
        <a:buChar char="»"/>
        <a:defRPr sz="2000">
          <a:solidFill>
            <a:schemeClr val="tx2"/>
          </a:solidFill>
          <a:latin typeface="+mj-lt"/>
        </a:defRPr>
      </a:lvl5pPr>
      <a:lvl6pPr marL="2514600" indent="-228600" algn="l" rtl="0" eaLnBrk="1" fontAlgn="base" latinLnBrk="1" hangingPunct="1">
        <a:spcBef>
          <a:spcPct val="20000"/>
        </a:spcBef>
        <a:spcAft>
          <a:spcPct val="0"/>
        </a:spcAft>
        <a:buChar char="»"/>
        <a:defRPr sz="2000">
          <a:solidFill>
            <a:schemeClr val="tx2"/>
          </a:solidFill>
          <a:latin typeface="+mj-lt"/>
        </a:defRPr>
      </a:lvl6pPr>
      <a:lvl7pPr marL="2971800" indent="-228600" algn="l" rtl="0" eaLnBrk="1" fontAlgn="base" latinLnBrk="1" hangingPunct="1">
        <a:spcBef>
          <a:spcPct val="20000"/>
        </a:spcBef>
        <a:spcAft>
          <a:spcPct val="0"/>
        </a:spcAft>
        <a:buChar char="»"/>
        <a:defRPr sz="2000">
          <a:solidFill>
            <a:schemeClr val="tx2"/>
          </a:solidFill>
          <a:latin typeface="+mj-lt"/>
        </a:defRPr>
      </a:lvl7pPr>
      <a:lvl8pPr marL="3429000" indent="-228600" algn="l" rtl="0" eaLnBrk="1" fontAlgn="base" latinLnBrk="1" hangingPunct="1">
        <a:spcBef>
          <a:spcPct val="20000"/>
        </a:spcBef>
        <a:spcAft>
          <a:spcPct val="0"/>
        </a:spcAft>
        <a:buChar char="»"/>
        <a:defRPr sz="2000">
          <a:solidFill>
            <a:schemeClr val="tx2"/>
          </a:solidFill>
          <a:latin typeface="+mj-lt"/>
        </a:defRPr>
      </a:lvl8pPr>
      <a:lvl9pPr marL="3886200" indent="-228600" algn="l" rtl="0" eaLnBrk="1" fontAlgn="base" latinLnBrk="1" hangingPunct="1">
        <a:spcBef>
          <a:spcPct val="20000"/>
        </a:spcBef>
        <a:spcAft>
          <a:spcPct val="0"/>
        </a:spcAft>
        <a:buChar char="»"/>
        <a:defRPr sz="2000">
          <a:solidFill>
            <a:schemeClr val="tx2"/>
          </a:solidFill>
          <a:latin typeface="+mj-lt"/>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ctrTitle" idx="4294967295"/>
          </p:nvPr>
        </p:nvSpPr>
        <p:spPr>
          <a:xfrm>
            <a:off x="0" y="0"/>
            <a:ext cx="9144000" cy="2133600"/>
          </a:xfrm>
          <a:solidFill>
            <a:srgbClr val="003296"/>
          </a:solidFill>
        </p:spPr>
        <p:txBody>
          <a:bodyPr/>
          <a:lstStyle/>
          <a:p>
            <a:pPr algn="ctr" eaLnBrk="1" hangingPunct="1"/>
            <a:r>
              <a:rPr lang="en-US" altLang="ko-KR" sz="4000" b="1" dirty="0">
                <a:solidFill>
                  <a:srgbClr val="FFC000"/>
                </a:solidFill>
                <a:latin typeface="Times New Roman" pitchFamily="18" charset="0"/>
                <a:ea typeface="굴림" pitchFamily="50" charset="-127"/>
              </a:rPr>
              <a:t>National Competitiveness</a:t>
            </a:r>
            <a:endParaRPr lang="en-US" altLang="ko-KR" sz="4000" dirty="0">
              <a:latin typeface="Franklin Gothic Heavy" pitchFamily="34" charset="0"/>
              <a:ea typeface="굴림" pitchFamily="50" charset="-127"/>
            </a:endParaRPr>
          </a:p>
        </p:txBody>
      </p:sp>
      <p:grpSp>
        <p:nvGrpSpPr>
          <p:cNvPr id="27651" name="Group 3"/>
          <p:cNvGrpSpPr>
            <a:grpSpLocks/>
          </p:cNvGrpSpPr>
          <p:nvPr/>
        </p:nvGrpSpPr>
        <p:grpSpPr bwMode="auto">
          <a:xfrm>
            <a:off x="0" y="2924175"/>
            <a:ext cx="9144000" cy="123825"/>
            <a:chOff x="432" y="912"/>
            <a:chExt cx="5808" cy="48"/>
          </a:xfrm>
        </p:grpSpPr>
        <p:sp>
          <p:nvSpPr>
            <p:cNvPr id="27654" name="Line 4"/>
            <p:cNvSpPr>
              <a:spLocks noChangeShapeType="1"/>
            </p:cNvSpPr>
            <p:nvPr/>
          </p:nvSpPr>
          <p:spPr bwMode="auto">
            <a:xfrm>
              <a:off x="432" y="912"/>
              <a:ext cx="5808" cy="0"/>
            </a:xfrm>
            <a:prstGeom prst="line">
              <a:avLst/>
            </a:prstGeom>
            <a:noFill/>
            <a:ln w="76200">
              <a:solidFill>
                <a:schemeClr val="bg2"/>
              </a:solidFill>
              <a:round/>
              <a:headEnd/>
              <a:tailEnd/>
            </a:ln>
          </p:spPr>
          <p:txBody>
            <a:bodyPr wrap="none" anchor="ctr"/>
            <a:lstStyle/>
            <a:p>
              <a:endParaRPr lang="ko-KR" altLang="en-US"/>
            </a:p>
          </p:txBody>
        </p:sp>
        <p:sp>
          <p:nvSpPr>
            <p:cNvPr id="27655" name="Line 5"/>
            <p:cNvSpPr>
              <a:spLocks noChangeShapeType="1"/>
            </p:cNvSpPr>
            <p:nvPr/>
          </p:nvSpPr>
          <p:spPr bwMode="auto">
            <a:xfrm>
              <a:off x="432" y="960"/>
              <a:ext cx="5808" cy="0"/>
            </a:xfrm>
            <a:prstGeom prst="line">
              <a:avLst/>
            </a:prstGeom>
            <a:noFill/>
            <a:ln w="3175">
              <a:solidFill>
                <a:schemeClr val="bg2"/>
              </a:solidFill>
              <a:round/>
              <a:headEnd/>
              <a:tailEnd/>
            </a:ln>
          </p:spPr>
          <p:txBody>
            <a:bodyPr wrap="none" anchor="ctr"/>
            <a:lstStyle/>
            <a:p>
              <a:endParaRPr lang="ko-KR" altLang="en-US"/>
            </a:p>
          </p:txBody>
        </p:sp>
      </p:grpSp>
      <p:sp>
        <p:nvSpPr>
          <p:cNvPr id="27652" name="Text Box 9"/>
          <p:cNvSpPr txBox="1">
            <a:spLocks noChangeArrowheads="1"/>
          </p:cNvSpPr>
          <p:nvPr/>
        </p:nvSpPr>
        <p:spPr bwMode="auto">
          <a:xfrm>
            <a:off x="5808032" y="4298292"/>
            <a:ext cx="2803075" cy="861774"/>
          </a:xfrm>
          <a:prstGeom prst="rect">
            <a:avLst/>
          </a:prstGeom>
          <a:noFill/>
          <a:ln w="12700">
            <a:noFill/>
            <a:miter lim="800000"/>
            <a:headEnd/>
            <a:tailEnd/>
          </a:ln>
        </p:spPr>
        <p:txBody>
          <a:bodyPr wrap="none" lIns="0" tIns="0" rIns="0" bIns="0">
            <a:spAutoFit/>
          </a:bodyPr>
          <a:lstStyle/>
          <a:p>
            <a:pPr algn="ctr" latinLnBrk="0"/>
            <a:r>
              <a:rPr kumimoji="0" lang="en-US" altLang="ko-KR" sz="2800" dirty="0">
                <a:solidFill>
                  <a:srgbClr val="99FF33"/>
                </a:solidFill>
                <a:latin typeface="Times New Roman" pitchFamily="18" charset="0"/>
              </a:rPr>
              <a:t>Dr. </a:t>
            </a:r>
            <a:r>
              <a:rPr kumimoji="0" lang="en-US" altLang="ko-KR" sz="2800" dirty="0" err="1">
                <a:solidFill>
                  <a:srgbClr val="99FF33"/>
                </a:solidFill>
                <a:latin typeface="Times New Roman" pitchFamily="18" charset="0"/>
              </a:rPr>
              <a:t>Kwangsoo</a:t>
            </a:r>
            <a:r>
              <a:rPr kumimoji="0" lang="en-US" altLang="ko-KR" sz="2800" dirty="0">
                <a:solidFill>
                  <a:srgbClr val="99FF33"/>
                </a:solidFill>
                <a:latin typeface="Times New Roman" pitchFamily="18" charset="0"/>
              </a:rPr>
              <a:t> Kim</a:t>
            </a:r>
          </a:p>
          <a:p>
            <a:pPr algn="ctr" latinLnBrk="0"/>
            <a:r>
              <a:rPr kumimoji="0" lang="en-US" altLang="ko-KR" sz="2800" dirty="0" err="1">
                <a:solidFill>
                  <a:srgbClr val="99FF33"/>
                </a:solidFill>
                <a:latin typeface="Times New Roman" pitchFamily="18" charset="0"/>
              </a:rPr>
              <a:t>Konkuk</a:t>
            </a:r>
            <a:r>
              <a:rPr kumimoji="0" lang="en-US" altLang="ko-KR" sz="2800" dirty="0">
                <a:solidFill>
                  <a:srgbClr val="99FF33"/>
                </a:solidFill>
                <a:latin typeface="Times New Roman" pitchFamily="18" charset="0"/>
              </a:rPr>
              <a:t> University</a:t>
            </a:r>
          </a:p>
        </p:txBody>
      </p:sp>
      <p:sp>
        <p:nvSpPr>
          <p:cNvPr id="27653" name="Rectangle 8"/>
          <p:cNvSpPr>
            <a:spLocks noChangeArrowheads="1"/>
          </p:cNvSpPr>
          <p:nvPr/>
        </p:nvSpPr>
        <p:spPr bwMode="auto">
          <a:xfrm>
            <a:off x="5507484" y="3933056"/>
            <a:ext cx="3529012" cy="1582738"/>
          </a:xfrm>
          <a:prstGeom prst="rect">
            <a:avLst/>
          </a:prstGeom>
          <a:noFill/>
          <a:ln w="38100">
            <a:solidFill>
              <a:schemeClr val="bg2"/>
            </a:solidFill>
            <a:miter lim="800000"/>
            <a:headEnd/>
            <a:tailEnd/>
          </a:ln>
        </p:spPr>
        <p:txBody>
          <a:bodyPr wrap="none" anchor="ctr"/>
          <a:lstStyle/>
          <a:p>
            <a:endParaRPr lang="ko-KR" altLang="en-US">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755576" y="260648"/>
            <a:ext cx="7543800" cy="563562"/>
          </a:xfrm>
          <a:noFill/>
        </p:spPr>
        <p:txBody>
          <a:bodyPr/>
          <a:lstStyle/>
          <a:p>
            <a:pPr algn="ctr" eaLnBrk="1" hangingPunct="1"/>
            <a:r>
              <a:rPr lang="en-US" altLang="ko-KR" b="1" dirty="0">
                <a:solidFill>
                  <a:srgbClr val="FFC000"/>
                </a:solidFill>
                <a:latin typeface="Times New Roman" pitchFamily="18" charset="0"/>
                <a:ea typeface="굴림" pitchFamily="50" charset="-127"/>
                <a:cs typeface="Times New Roman" pitchFamily="18" charset="0"/>
              </a:rPr>
              <a:t>WHAT IS COMPETITIVENESS?</a:t>
            </a:r>
          </a:p>
        </p:txBody>
      </p:sp>
      <p:sp>
        <p:nvSpPr>
          <p:cNvPr id="9219" name="Rectangle 3"/>
          <p:cNvSpPr>
            <a:spLocks noGrp="1" noChangeArrowheads="1"/>
          </p:cNvSpPr>
          <p:nvPr>
            <p:ph type="body" idx="1"/>
          </p:nvPr>
        </p:nvSpPr>
        <p:spPr>
          <a:xfrm>
            <a:off x="179512" y="1268760"/>
            <a:ext cx="8964488" cy="4968552"/>
          </a:xfrm>
          <a:noFill/>
          <a:ln w="9525">
            <a:noFill/>
            <a:miter lim="800000"/>
            <a:headEnd/>
            <a:tailEnd/>
          </a:ln>
        </p:spPr>
        <p:txBody>
          <a:bodyPr vert="horz" wrap="square" lIns="91440" tIns="45720" rIns="91440" bIns="45720" numCol="1" anchor="t" anchorCtr="0" compatLnSpc="1">
            <a:prstTxWarp prst="textNoShape">
              <a:avLst/>
            </a:prstTxWarp>
          </a:bodyPr>
          <a:lstStyle/>
          <a:p>
            <a:pPr>
              <a:lnSpc>
                <a:spcPts val="4000"/>
              </a:lnSpc>
              <a:buFont typeface="Arial" pitchFamily="34" charset="0"/>
              <a:buChar char="•"/>
            </a:pPr>
            <a:r>
              <a:rPr lang="en-US" altLang="ko-KR" sz="2400" b="0" dirty="0">
                <a:solidFill>
                  <a:schemeClr val="accent1"/>
                </a:solidFill>
                <a:latin typeface="Times New Roman" pitchFamily="18" charset="0"/>
                <a:cs typeface="Times New Roman" pitchFamily="18" charset="0"/>
              </a:rPr>
              <a:t>Competitiveness comes from the productivity / innovation</a:t>
            </a:r>
            <a:r>
              <a:rPr lang="en-US" altLang="ko-KR" sz="2400" b="0" dirty="0">
                <a:latin typeface="Times New Roman" pitchFamily="18" charset="0"/>
                <a:cs typeface="Times New Roman" pitchFamily="18" charset="0"/>
              </a:rPr>
              <a:t> for which a nation uses its human, capital, knowledge, and natural resources. </a:t>
            </a:r>
          </a:p>
          <a:p>
            <a:pPr>
              <a:lnSpc>
                <a:spcPts val="4000"/>
              </a:lnSpc>
              <a:buNone/>
            </a:pPr>
            <a:r>
              <a:rPr kumimoji="1" lang="en-US" altLang="ko-KR" sz="2400" b="0" kern="1200" dirty="0">
                <a:latin typeface="Times New Roman" pitchFamily="18" charset="0"/>
                <a:ea typeface="굴림" pitchFamily="50" charset="-127"/>
                <a:cs typeface="Times New Roman" pitchFamily="18" charset="0"/>
              </a:rPr>
              <a:t>	 - </a:t>
            </a:r>
            <a:r>
              <a:rPr kumimoji="1" lang="en-US" altLang="ko-KR" sz="2200" b="0" kern="1200" dirty="0">
                <a:latin typeface="Times New Roman" pitchFamily="18" charset="0"/>
                <a:ea typeface="굴림" pitchFamily="50" charset="-127"/>
                <a:cs typeface="Times New Roman" pitchFamily="18" charset="0"/>
              </a:rPr>
              <a:t>Productivity &amp; innovation sets the sustainable standard of living</a:t>
            </a:r>
          </a:p>
          <a:p>
            <a:pPr>
              <a:lnSpc>
                <a:spcPts val="4000"/>
              </a:lnSpc>
              <a:buNone/>
            </a:pPr>
            <a:r>
              <a:rPr kumimoji="1" lang="en-US" altLang="ko-KR" sz="2200" b="0" kern="1200" dirty="0">
                <a:latin typeface="Times New Roman" pitchFamily="18" charset="0"/>
                <a:ea typeface="굴림" pitchFamily="50" charset="-127"/>
                <a:cs typeface="Times New Roman" pitchFamily="18" charset="0"/>
              </a:rPr>
              <a:t>        (prosperity: wages, returns on capital, etc.) that a country can sustain</a:t>
            </a:r>
          </a:p>
          <a:p>
            <a:pPr>
              <a:lnSpc>
                <a:spcPts val="4000"/>
              </a:lnSpc>
              <a:buNone/>
            </a:pPr>
            <a:r>
              <a:rPr kumimoji="1" lang="en-US" altLang="ko-KR" sz="2200" b="0" kern="1200" dirty="0">
                <a:latin typeface="Times New Roman" pitchFamily="18" charset="0"/>
                <a:ea typeface="굴림" pitchFamily="50" charset="-127"/>
                <a:cs typeface="Times New Roman" pitchFamily="18" charset="0"/>
              </a:rPr>
              <a:t>	 - It is not what industries a nation competes in that matters for prosperity</a:t>
            </a:r>
          </a:p>
          <a:p>
            <a:pPr>
              <a:lnSpc>
                <a:spcPts val="4000"/>
              </a:lnSpc>
              <a:buNone/>
            </a:pPr>
            <a:r>
              <a:rPr kumimoji="1" lang="en-US" altLang="ko-KR" sz="2200" b="0" kern="1200" dirty="0">
                <a:latin typeface="Times New Roman" pitchFamily="18" charset="0"/>
                <a:ea typeface="굴림" pitchFamily="50" charset="-127"/>
                <a:cs typeface="Times New Roman" pitchFamily="18" charset="0"/>
              </a:rPr>
              <a:t>        but how productively and innovatively it competes in those industries</a:t>
            </a:r>
          </a:p>
          <a:p>
            <a:pPr>
              <a:lnSpc>
                <a:spcPts val="4000"/>
              </a:lnSpc>
              <a:buNone/>
            </a:pPr>
            <a:r>
              <a:rPr lang="en-US" altLang="ko-KR" sz="2200" b="0" dirty="0">
                <a:latin typeface="Times New Roman" pitchFamily="18" charset="0"/>
                <a:cs typeface="Times New Roman" pitchFamily="18" charset="0"/>
              </a:rPr>
              <a:t>      - </a:t>
            </a:r>
            <a:r>
              <a:rPr lang="en-US" altLang="ko-KR" sz="2200" b="0" dirty="0">
                <a:solidFill>
                  <a:schemeClr val="accent1"/>
                </a:solidFill>
                <a:latin typeface="Times New Roman" pitchFamily="18" charset="0"/>
                <a:cs typeface="Times New Roman" pitchFamily="18" charset="0"/>
              </a:rPr>
              <a:t>Productivity and innovation </a:t>
            </a:r>
            <a:r>
              <a:rPr kumimoji="1" lang="en-US" altLang="ko-KR" sz="2200" b="0" kern="1200" dirty="0">
                <a:solidFill>
                  <a:schemeClr val="accent1"/>
                </a:solidFill>
                <a:latin typeface="Times New Roman" pitchFamily="18" charset="0"/>
                <a:ea typeface="굴림" pitchFamily="50" charset="-127"/>
                <a:cs typeface="Times New Roman" pitchFamily="18" charset="0"/>
              </a:rPr>
              <a:t>arise primarily from firms/industries</a:t>
            </a:r>
          </a:p>
          <a:p>
            <a:pPr>
              <a:lnSpc>
                <a:spcPts val="4000"/>
              </a:lnSpc>
              <a:buClr>
                <a:schemeClr val="bg2">
                  <a:lumMod val="60000"/>
                  <a:lumOff val="40000"/>
                </a:schemeClr>
              </a:buClr>
              <a:buFont typeface="Arial" pitchFamily="34" charset="0"/>
              <a:buChar char="•"/>
            </a:pPr>
            <a:r>
              <a:rPr lang="en-US" altLang="ko-KR" sz="2400" b="0" dirty="0">
                <a:solidFill>
                  <a:schemeClr val="accent1"/>
                </a:solidFill>
                <a:latin typeface="Times New Roman" pitchFamily="18" charset="0"/>
                <a:cs typeface="Times New Roman" pitchFamily="18" charset="0"/>
              </a:rPr>
              <a:t>Hence, nations compete to offer the most productive and innovative environment for firms/industries</a:t>
            </a:r>
            <a:endParaRPr kumimoji="1" lang="en-US" altLang="ko-KR" sz="2400" b="0" kern="1200" dirty="0">
              <a:solidFill>
                <a:schemeClr val="accent1"/>
              </a:solidFill>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r>
              <a:rPr kumimoji="1" lang="en-US" altLang="ko-KR" sz="2400" b="0" kern="1200" dirty="0">
                <a:latin typeface="Times New Roman" pitchFamily="18" charset="0"/>
                <a:ea typeface="굴림" pitchFamily="50" charset="-127"/>
                <a:cs typeface="Times New Roman" pitchFamily="18"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14882"/>
            <a:ext cx="9144000" cy="563562"/>
          </a:xfrm>
          <a:prstGeom prst="rect">
            <a:avLst/>
          </a:prstGeom>
          <a:noFill/>
        </p:spPr>
        <p:txBody>
          <a:bodyPr/>
          <a:lstStyle/>
          <a:p>
            <a:pPr algn="ctr">
              <a:defRPr/>
            </a:pPr>
            <a:r>
              <a:rPr lang="en-US" altLang="ko-KR" sz="3600" b="1" dirty="0">
                <a:solidFill>
                  <a:srgbClr val="FFC000"/>
                </a:solidFill>
                <a:latin typeface="Times New Roman" pitchFamily="18" charset="0"/>
                <a:cs typeface="Times New Roman" pitchFamily="18" charset="0"/>
              </a:rPr>
              <a:t>Prosperity Performance</a:t>
            </a:r>
          </a:p>
          <a:p>
            <a:pPr algn="ctr">
              <a:defRPr/>
            </a:pPr>
            <a:r>
              <a:rPr lang="en-US" altLang="ko-KR" sz="2800" b="1" dirty="0">
                <a:solidFill>
                  <a:srgbClr val="FFC000"/>
                </a:solidFill>
                <a:latin typeface="Times New Roman" pitchFamily="18" charset="0"/>
                <a:cs typeface="Times New Roman" pitchFamily="18" charset="0"/>
              </a:rPr>
              <a:t>Selected Countries</a:t>
            </a:r>
          </a:p>
        </p:txBody>
      </p:sp>
      <p:pic>
        <p:nvPicPr>
          <p:cNvPr id="4" name="그림 3" descr="Prosperity PerformanceSelected Countries.JPG"/>
          <p:cNvPicPr>
            <a:picLocks noChangeAspect="1"/>
          </p:cNvPicPr>
          <p:nvPr/>
        </p:nvPicPr>
        <p:blipFill>
          <a:blip r:embed="rId3" cstate="print"/>
          <a:stretch>
            <a:fillRect/>
          </a:stretch>
        </p:blipFill>
        <p:spPr>
          <a:xfrm>
            <a:off x="-7016" y="1124744"/>
            <a:ext cx="9143999" cy="5472608"/>
          </a:xfrm>
          <a:prstGeom prst="rect">
            <a:avLst/>
          </a:prstGeom>
        </p:spPr>
      </p:pic>
      <p:sp>
        <p:nvSpPr>
          <p:cNvPr id="5" name="TextBox 4"/>
          <p:cNvSpPr txBox="1"/>
          <p:nvPr/>
        </p:nvSpPr>
        <p:spPr>
          <a:xfrm>
            <a:off x="0" y="6577607"/>
            <a:ext cx="9144000" cy="307777"/>
          </a:xfrm>
          <a:prstGeom prst="rect">
            <a:avLst/>
          </a:prstGeom>
          <a:noFill/>
        </p:spPr>
        <p:txBody>
          <a:bodyPr wrap="square" rtlCol="0">
            <a:spAutoFit/>
          </a:bodyPr>
          <a:lstStyle/>
          <a:p>
            <a:pPr algn="r"/>
            <a:r>
              <a:rPr lang="en-US" altLang="ko-KR" sz="1400" i="1" dirty="0">
                <a:latin typeface="Times New Roman" pitchFamily="18" charset="0"/>
                <a:cs typeface="Times New Roman" pitchFamily="18" charset="0"/>
              </a:rPr>
              <a:t>Source: EIU (2009)</a:t>
            </a:r>
            <a:endParaRPr lang="ko-KR" altLang="en-US" sz="1400" i="1"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026"/>
          <p:cNvSpPr>
            <a:spLocks noGrp="1" noChangeArrowheads="1"/>
          </p:cNvSpPr>
          <p:nvPr>
            <p:ph type="title"/>
          </p:nvPr>
        </p:nvSpPr>
        <p:spPr>
          <a:xfrm>
            <a:off x="0" y="44624"/>
            <a:ext cx="9144000" cy="990600"/>
          </a:xfrm>
        </p:spPr>
        <p:txBody>
          <a:bodyPr/>
          <a:lstStyle/>
          <a:p>
            <a:pPr algn="ctr" eaLnBrk="1" hangingPunct="1">
              <a:lnSpc>
                <a:spcPts val="3400"/>
              </a:lnSpc>
              <a:defRPr/>
            </a:pPr>
            <a:r>
              <a:rPr lang="en-US" altLang="ko-KR" b="1" dirty="0">
                <a:solidFill>
                  <a:srgbClr val="FFC000"/>
                </a:solidFill>
                <a:latin typeface="Times New Roman" pitchFamily="18" charset="0"/>
                <a:ea typeface="굴림" pitchFamily="50" charset="-127"/>
                <a:cs typeface="Times New Roman" pitchFamily="18" charset="0"/>
              </a:rPr>
              <a:t>Innovative Capacity </a:t>
            </a:r>
            <a:br>
              <a:rPr lang="en-US" altLang="ko-KR" b="1" dirty="0">
                <a:solidFill>
                  <a:srgbClr val="FFC000"/>
                </a:solidFill>
                <a:latin typeface="Times New Roman" pitchFamily="18" charset="0"/>
                <a:ea typeface="굴림" pitchFamily="50" charset="-127"/>
                <a:cs typeface="Times New Roman" pitchFamily="18" charset="0"/>
              </a:rPr>
            </a:br>
            <a:r>
              <a:rPr lang="en-US" altLang="ko-KR" sz="2800" b="1" dirty="0">
                <a:solidFill>
                  <a:srgbClr val="FFC000"/>
                </a:solidFill>
                <a:latin typeface="Times New Roman" pitchFamily="18" charset="0"/>
                <a:ea typeface="굴림" pitchFamily="50" charset="-127"/>
                <a:cs typeface="Times New Roman" pitchFamily="18" charset="0"/>
              </a:rPr>
              <a:t>Innovation Output of Top 25 Patent Producing Countries</a:t>
            </a:r>
          </a:p>
        </p:txBody>
      </p:sp>
      <p:grpSp>
        <p:nvGrpSpPr>
          <p:cNvPr id="6" name="그룹 5"/>
          <p:cNvGrpSpPr/>
          <p:nvPr/>
        </p:nvGrpSpPr>
        <p:grpSpPr>
          <a:xfrm>
            <a:off x="0" y="1124744"/>
            <a:ext cx="9144000" cy="5472608"/>
            <a:chOff x="0" y="1052736"/>
            <a:chExt cx="9144000" cy="5400600"/>
          </a:xfrm>
        </p:grpSpPr>
        <p:pic>
          <p:nvPicPr>
            <p:cNvPr id="4" name="그림 3" descr="Innovative CapacityInnovation Output of Top 25 Patent Producing Countries.JPG"/>
            <p:cNvPicPr>
              <a:picLocks noChangeAspect="1"/>
            </p:cNvPicPr>
            <p:nvPr/>
          </p:nvPicPr>
          <p:blipFill>
            <a:blip r:embed="rId2" cstate="print"/>
            <a:stretch>
              <a:fillRect/>
            </a:stretch>
          </p:blipFill>
          <p:spPr>
            <a:xfrm>
              <a:off x="0" y="1052736"/>
              <a:ext cx="9144000" cy="5400599"/>
            </a:xfrm>
            <a:prstGeom prst="rect">
              <a:avLst/>
            </a:prstGeom>
          </p:spPr>
        </p:pic>
        <p:sp>
          <p:nvSpPr>
            <p:cNvPr id="5" name="직사각형 4"/>
            <p:cNvSpPr/>
            <p:nvPr/>
          </p:nvSpPr>
          <p:spPr bwMode="auto">
            <a:xfrm>
              <a:off x="0" y="6237312"/>
              <a:ext cx="1979712" cy="216024"/>
            </a:xfrm>
            <a:prstGeom prst="rect">
              <a:avLst/>
            </a:prstGeom>
            <a:solidFill>
              <a:schemeClr val="tx2"/>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grpSp>
      <p:sp>
        <p:nvSpPr>
          <p:cNvPr id="7" name="TextBox 6"/>
          <p:cNvSpPr txBox="1"/>
          <p:nvPr/>
        </p:nvSpPr>
        <p:spPr>
          <a:xfrm>
            <a:off x="6156176" y="6550223"/>
            <a:ext cx="2987824" cy="307777"/>
          </a:xfrm>
          <a:prstGeom prst="rect">
            <a:avLst/>
          </a:prstGeom>
          <a:noFill/>
        </p:spPr>
        <p:txBody>
          <a:bodyPr wrap="square" rtlCol="0">
            <a:spAutoFit/>
          </a:bodyPr>
          <a:lstStyle/>
          <a:p>
            <a:pPr algn="r"/>
            <a:r>
              <a:rPr lang="en-US" altLang="ko-KR" sz="1400" i="1" dirty="0">
                <a:latin typeface="Times New Roman" pitchFamily="18" charset="0"/>
                <a:cs typeface="Times New Roman" pitchFamily="18" charset="0"/>
              </a:rPr>
              <a:t>Source: USPTO (2008)</a:t>
            </a:r>
            <a:endParaRPr lang="ko-KR" altLang="en-US" sz="1400" i="1"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0" y="260648"/>
            <a:ext cx="9144000" cy="563562"/>
          </a:xfrm>
          <a:noFill/>
        </p:spPr>
        <p:txBody>
          <a:bodyPr/>
          <a:lstStyle/>
          <a:p>
            <a:pPr algn="ctr" eaLnBrk="1" hangingPunct="1"/>
            <a:r>
              <a:rPr lang="en-US" altLang="ko-KR" b="1" dirty="0">
                <a:solidFill>
                  <a:srgbClr val="FFC000"/>
                </a:solidFill>
                <a:latin typeface="Times New Roman" pitchFamily="18" charset="0"/>
                <a:ea typeface="굴림" pitchFamily="50" charset="-127"/>
                <a:cs typeface="Times New Roman" pitchFamily="18" charset="0"/>
              </a:rPr>
              <a:t>DETERMINANTS OF COMPETITIVENESS</a:t>
            </a:r>
          </a:p>
        </p:txBody>
      </p:sp>
      <p:sp>
        <p:nvSpPr>
          <p:cNvPr id="6" name="직사각형 5"/>
          <p:cNvSpPr/>
          <p:nvPr/>
        </p:nvSpPr>
        <p:spPr bwMode="auto">
          <a:xfrm>
            <a:off x="0" y="1139492"/>
            <a:ext cx="9144000" cy="3657660"/>
          </a:xfrm>
          <a:prstGeom prst="rect">
            <a:avLst/>
          </a:prstGeom>
          <a:solidFill>
            <a:schemeClr val="tx2">
              <a:lumMod val="75000"/>
            </a:schemeClr>
          </a:solidFill>
          <a:ln w="57150" cap="flat" cmpd="sng" algn="ctr">
            <a:solidFill>
              <a:schemeClr val="accent5">
                <a:lumMod val="1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sp>
        <p:nvSpPr>
          <p:cNvPr id="7" name="직사각형 6"/>
          <p:cNvSpPr/>
          <p:nvPr/>
        </p:nvSpPr>
        <p:spPr bwMode="auto">
          <a:xfrm>
            <a:off x="1601324" y="1514289"/>
            <a:ext cx="2610636" cy="1222395"/>
          </a:xfrm>
          <a:prstGeom prst="rect">
            <a:avLst/>
          </a:prstGeom>
          <a:solidFill>
            <a:schemeClr val="accent2">
              <a:lumMod val="60000"/>
              <a:lumOff val="40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tLang="ko-KR" sz="2000" b="1" dirty="0">
                <a:solidFill>
                  <a:schemeClr val="bg1">
                    <a:lumMod val="50000"/>
                  </a:schemeClr>
                </a:solidFill>
                <a:latin typeface="Times New Roman" pitchFamily="18" charset="0"/>
                <a:cs typeface="Times New Roman" pitchFamily="18" charset="0"/>
              </a:rPr>
              <a:t>Quality of the </a:t>
            </a:r>
          </a:p>
          <a:p>
            <a:pPr algn="ctr"/>
            <a:r>
              <a:rPr lang="en-US" altLang="ko-KR" sz="2000" b="1" dirty="0">
                <a:solidFill>
                  <a:schemeClr val="bg1">
                    <a:lumMod val="50000"/>
                  </a:schemeClr>
                </a:solidFill>
                <a:latin typeface="Times New Roman" pitchFamily="18" charset="0"/>
                <a:cs typeface="Times New Roman" pitchFamily="18" charset="0"/>
              </a:rPr>
              <a:t>National</a:t>
            </a:r>
          </a:p>
          <a:p>
            <a:pPr algn="ctr"/>
            <a:r>
              <a:rPr lang="en-US" altLang="ko-KR" sz="2000" b="1" dirty="0">
                <a:solidFill>
                  <a:schemeClr val="bg1">
                    <a:lumMod val="50000"/>
                  </a:schemeClr>
                </a:solidFill>
                <a:latin typeface="Times New Roman" pitchFamily="18" charset="0"/>
                <a:cs typeface="Times New Roman" pitchFamily="18" charset="0"/>
              </a:rPr>
              <a:t>Business</a:t>
            </a:r>
          </a:p>
          <a:p>
            <a:pPr algn="ctr"/>
            <a:r>
              <a:rPr lang="en-US" altLang="ko-KR" sz="2000" b="1" dirty="0">
                <a:solidFill>
                  <a:schemeClr val="bg1">
                    <a:lumMod val="50000"/>
                  </a:schemeClr>
                </a:solidFill>
                <a:latin typeface="Times New Roman" pitchFamily="18" charset="0"/>
                <a:cs typeface="Times New Roman" pitchFamily="18" charset="0"/>
              </a:rPr>
              <a:t>Environment</a:t>
            </a:r>
            <a:endParaRPr kumimoji="0" lang="ko-KR" altLang="en-US" sz="2000" b="0" i="0" u="none" strike="noStrike" cap="none" normalizeH="0" baseline="0" dirty="0">
              <a:ln>
                <a:noFill/>
              </a:ln>
              <a:solidFill>
                <a:schemeClr val="bg1">
                  <a:lumMod val="50000"/>
                </a:schemeClr>
              </a:solidFill>
              <a:effectLst/>
              <a:latin typeface="Times New Roman" pitchFamily="18" charset="0"/>
              <a:cs typeface="Times New Roman" pitchFamily="18" charset="0"/>
            </a:endParaRPr>
          </a:p>
        </p:txBody>
      </p:sp>
      <p:sp>
        <p:nvSpPr>
          <p:cNvPr id="8" name="직사각형 7"/>
          <p:cNvSpPr/>
          <p:nvPr/>
        </p:nvSpPr>
        <p:spPr bwMode="auto">
          <a:xfrm>
            <a:off x="5129716" y="1514289"/>
            <a:ext cx="2610636" cy="1222395"/>
          </a:xfrm>
          <a:prstGeom prst="rect">
            <a:avLst/>
          </a:prstGeom>
          <a:solidFill>
            <a:srgbClr val="33CC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tLang="ko-KR" sz="2000" b="1" dirty="0">
                <a:solidFill>
                  <a:schemeClr val="bg1">
                    <a:lumMod val="50000"/>
                  </a:schemeClr>
                </a:solidFill>
                <a:latin typeface="Times New Roman" pitchFamily="18" charset="0"/>
                <a:cs typeface="Times New Roman" pitchFamily="18" charset="0"/>
              </a:rPr>
              <a:t>State of Cluster </a:t>
            </a:r>
          </a:p>
          <a:p>
            <a:pPr algn="ctr"/>
            <a:r>
              <a:rPr lang="en-US" altLang="ko-KR" sz="2000" b="1" dirty="0">
                <a:solidFill>
                  <a:schemeClr val="bg1">
                    <a:lumMod val="50000"/>
                  </a:schemeClr>
                </a:solidFill>
                <a:latin typeface="Times New Roman" pitchFamily="18" charset="0"/>
                <a:cs typeface="Times New Roman" pitchFamily="18" charset="0"/>
              </a:rPr>
              <a:t>Development</a:t>
            </a:r>
            <a:endParaRPr lang="ko-KR" altLang="en-US" sz="2000" b="1" dirty="0">
              <a:solidFill>
                <a:schemeClr val="bg1">
                  <a:lumMod val="50000"/>
                </a:schemeClr>
              </a:solidFill>
              <a:latin typeface="Times New Roman" pitchFamily="18" charset="0"/>
              <a:cs typeface="Times New Roman" pitchFamily="18" charset="0"/>
            </a:endParaRPr>
          </a:p>
        </p:txBody>
      </p:sp>
      <p:sp>
        <p:nvSpPr>
          <p:cNvPr id="11" name="직사각형 10"/>
          <p:cNvSpPr/>
          <p:nvPr/>
        </p:nvSpPr>
        <p:spPr bwMode="auto">
          <a:xfrm>
            <a:off x="1619672" y="3495761"/>
            <a:ext cx="2610636" cy="1222395"/>
          </a:xfrm>
          <a:prstGeom prst="rect">
            <a:avLst/>
          </a:prstGeom>
          <a:solidFill>
            <a:schemeClr val="tx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b="1" dirty="0">
                <a:solidFill>
                  <a:srgbClr val="002060"/>
                </a:solidFill>
                <a:latin typeface="Times New Roman" pitchFamily="18" charset="0"/>
                <a:cs typeface="Times New Roman" pitchFamily="18" charset="0"/>
              </a:rPr>
              <a:t>Social </a:t>
            </a:r>
          </a:p>
          <a:p>
            <a:pPr algn="ctr" latinLnBrk="0"/>
            <a:r>
              <a:rPr lang="en-US" altLang="ko-KR" sz="2000" b="1" dirty="0">
                <a:solidFill>
                  <a:srgbClr val="002060"/>
                </a:solidFill>
                <a:latin typeface="Times New Roman" pitchFamily="18" charset="0"/>
                <a:cs typeface="Times New Roman" pitchFamily="18" charset="0"/>
              </a:rPr>
              <a:t>Infrastructure and</a:t>
            </a:r>
          </a:p>
          <a:p>
            <a:pPr algn="ctr" latinLnBrk="0"/>
            <a:r>
              <a:rPr lang="en-US" altLang="ko-KR" sz="2000" b="1" dirty="0">
                <a:solidFill>
                  <a:srgbClr val="002060"/>
                </a:solidFill>
                <a:latin typeface="Times New Roman" pitchFamily="18" charset="0"/>
                <a:cs typeface="Times New Roman" pitchFamily="18" charset="0"/>
              </a:rPr>
              <a:t>Political Institutions</a:t>
            </a:r>
            <a:endParaRPr kumimoji="0" lang="ko-KR" altLang="en-US" sz="2000" b="0" i="0" u="none" strike="noStrike" cap="none" normalizeH="0" baseline="0" dirty="0">
              <a:ln>
                <a:noFill/>
              </a:ln>
              <a:solidFill>
                <a:schemeClr val="tx1"/>
              </a:solidFill>
              <a:effectLst/>
              <a:latin typeface="Times New Roman" pitchFamily="18" charset="0"/>
              <a:cs typeface="Times New Roman" pitchFamily="18" charset="0"/>
            </a:endParaRPr>
          </a:p>
        </p:txBody>
      </p:sp>
      <p:sp>
        <p:nvSpPr>
          <p:cNvPr id="12" name="직사각형 11"/>
          <p:cNvSpPr/>
          <p:nvPr/>
        </p:nvSpPr>
        <p:spPr bwMode="auto">
          <a:xfrm>
            <a:off x="5127714" y="3495761"/>
            <a:ext cx="2610636" cy="1222395"/>
          </a:xfrm>
          <a:prstGeom prst="rect">
            <a:avLst/>
          </a:prstGeom>
          <a:solidFill>
            <a:schemeClr val="accent1">
              <a:lumMod val="40000"/>
              <a:lumOff val="60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b="1" dirty="0">
                <a:solidFill>
                  <a:srgbClr val="002060"/>
                </a:solidFill>
                <a:latin typeface="Times New Roman" pitchFamily="18" charset="0"/>
                <a:cs typeface="Times New Roman" pitchFamily="18" charset="0"/>
              </a:rPr>
              <a:t>Macroeconomic</a:t>
            </a:r>
          </a:p>
          <a:p>
            <a:pPr algn="ctr" latinLnBrk="0"/>
            <a:r>
              <a:rPr lang="en-US" altLang="ko-KR" sz="2000" b="1" dirty="0">
                <a:solidFill>
                  <a:srgbClr val="002060"/>
                </a:solidFill>
                <a:latin typeface="Times New Roman" pitchFamily="18" charset="0"/>
                <a:cs typeface="Times New Roman" pitchFamily="18" charset="0"/>
              </a:rPr>
              <a:t>Policies</a:t>
            </a:r>
            <a:endParaRPr kumimoji="0" lang="ko-KR" altLang="en-US" sz="2000" b="0" i="0" u="none" strike="noStrike" cap="none" normalizeH="0" baseline="0" dirty="0">
              <a:ln>
                <a:noFill/>
              </a:ln>
              <a:solidFill>
                <a:srgbClr val="002060"/>
              </a:solidFill>
              <a:effectLst/>
              <a:latin typeface="Times New Roman" pitchFamily="18" charset="0"/>
              <a:cs typeface="Times New Roman" pitchFamily="18" charset="0"/>
            </a:endParaRPr>
          </a:p>
        </p:txBody>
      </p:sp>
      <p:sp>
        <p:nvSpPr>
          <p:cNvPr id="13" name="직사각형 12"/>
          <p:cNvSpPr/>
          <p:nvPr/>
        </p:nvSpPr>
        <p:spPr bwMode="auto">
          <a:xfrm>
            <a:off x="158764" y="2852936"/>
            <a:ext cx="8805724" cy="288031"/>
          </a:xfrm>
          <a:prstGeom prst="rect">
            <a:avLst/>
          </a:prstGeom>
          <a:solidFill>
            <a:schemeClr val="tx2"/>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sp>
        <p:nvSpPr>
          <p:cNvPr id="14" name="TextBox 13"/>
          <p:cNvSpPr txBox="1"/>
          <p:nvPr/>
        </p:nvSpPr>
        <p:spPr>
          <a:xfrm>
            <a:off x="2699792" y="1096980"/>
            <a:ext cx="4536504" cy="430887"/>
          </a:xfrm>
          <a:prstGeom prst="rect">
            <a:avLst/>
          </a:prstGeom>
          <a:noFill/>
        </p:spPr>
        <p:txBody>
          <a:bodyPr wrap="square" rtlCol="0">
            <a:spAutoFit/>
          </a:bodyPr>
          <a:lstStyle/>
          <a:p>
            <a:r>
              <a:rPr lang="en-US" altLang="ko-KR" sz="2200" b="1" dirty="0">
                <a:solidFill>
                  <a:srgbClr val="002060"/>
                </a:solidFill>
                <a:latin typeface="Times New Roman" pitchFamily="18" charset="0"/>
                <a:cs typeface="Times New Roman" pitchFamily="18" charset="0"/>
              </a:rPr>
              <a:t>Microeconomic Competitiveness </a:t>
            </a:r>
            <a:endParaRPr lang="ko-KR" altLang="en-US" sz="2200" dirty="0">
              <a:solidFill>
                <a:srgbClr val="002060"/>
              </a:solidFill>
              <a:latin typeface="Times New Roman" pitchFamily="18" charset="0"/>
              <a:cs typeface="Times New Roman" pitchFamily="18" charset="0"/>
            </a:endParaRPr>
          </a:p>
        </p:txBody>
      </p:sp>
      <p:sp>
        <p:nvSpPr>
          <p:cNvPr id="15" name="TextBox 14"/>
          <p:cNvSpPr txBox="1"/>
          <p:nvPr/>
        </p:nvSpPr>
        <p:spPr>
          <a:xfrm>
            <a:off x="2699792" y="3106010"/>
            <a:ext cx="4731778" cy="430887"/>
          </a:xfrm>
          <a:prstGeom prst="rect">
            <a:avLst/>
          </a:prstGeom>
          <a:noFill/>
        </p:spPr>
        <p:txBody>
          <a:bodyPr wrap="square" rtlCol="0">
            <a:spAutoFit/>
          </a:bodyPr>
          <a:lstStyle/>
          <a:p>
            <a:r>
              <a:rPr lang="en-US" altLang="ko-KR" sz="2200" b="1" dirty="0">
                <a:solidFill>
                  <a:srgbClr val="002060"/>
                </a:solidFill>
                <a:latin typeface="Times New Roman" pitchFamily="18" charset="0"/>
                <a:cs typeface="Times New Roman" pitchFamily="18" charset="0"/>
              </a:rPr>
              <a:t>Macroeconomic Competitiveness</a:t>
            </a:r>
            <a:endParaRPr lang="ko-KR" altLang="en-US" sz="2200" b="1" dirty="0">
              <a:solidFill>
                <a:srgbClr val="002060"/>
              </a:solidFill>
              <a:latin typeface="Times New Roman" pitchFamily="18" charset="0"/>
              <a:cs typeface="Times New Roman" pitchFamily="18" charset="0"/>
            </a:endParaRPr>
          </a:p>
        </p:txBody>
      </p:sp>
      <p:sp>
        <p:nvSpPr>
          <p:cNvPr id="17" name="TextBox 16"/>
          <p:cNvSpPr txBox="1"/>
          <p:nvPr/>
        </p:nvSpPr>
        <p:spPr>
          <a:xfrm>
            <a:off x="179512" y="4797152"/>
            <a:ext cx="8820472" cy="2015936"/>
          </a:xfrm>
          <a:prstGeom prst="rect">
            <a:avLst/>
          </a:prstGeom>
          <a:noFill/>
        </p:spPr>
        <p:txBody>
          <a:bodyPr wrap="square" rtlCol="0">
            <a:spAutoFit/>
          </a:bodyPr>
          <a:lstStyle/>
          <a:p>
            <a:pPr>
              <a:lnSpc>
                <a:spcPts val="3000"/>
              </a:lnSpc>
              <a:buFont typeface="Arial" pitchFamily="34" charset="0"/>
              <a:buChar char="•"/>
            </a:pPr>
            <a:r>
              <a:rPr lang="en-US" altLang="ko-KR" sz="2200" dirty="0">
                <a:latin typeface="Times New Roman" pitchFamily="18" charset="0"/>
                <a:cs typeface="Times New Roman" pitchFamily="18" charset="0"/>
              </a:rPr>
              <a:t> Macroeconomic competitiveness creates the potential for high</a:t>
            </a:r>
          </a:p>
          <a:p>
            <a:pPr>
              <a:lnSpc>
                <a:spcPts val="3000"/>
              </a:lnSpc>
            </a:pPr>
            <a:r>
              <a:rPr lang="en-US" altLang="ko-KR" sz="2200" dirty="0">
                <a:latin typeface="Times New Roman" pitchFamily="18" charset="0"/>
                <a:cs typeface="Times New Roman" pitchFamily="18" charset="0"/>
              </a:rPr>
              <a:t>   productivity and innovation, but is not sufficient</a:t>
            </a:r>
          </a:p>
          <a:p>
            <a:pPr>
              <a:lnSpc>
                <a:spcPts val="3000"/>
              </a:lnSpc>
              <a:buFont typeface="Arial" pitchFamily="34" charset="0"/>
              <a:buChar char="•"/>
            </a:pPr>
            <a:r>
              <a:rPr lang="en-US" altLang="ko-KR" sz="2200" dirty="0">
                <a:latin typeface="Times New Roman" pitchFamily="18" charset="0"/>
                <a:cs typeface="Times New Roman" pitchFamily="18" charset="0"/>
              </a:rPr>
              <a:t> Productivity and innovation ultimately depend on improving the</a:t>
            </a:r>
          </a:p>
          <a:p>
            <a:pPr>
              <a:lnSpc>
                <a:spcPts val="3000"/>
              </a:lnSpc>
            </a:pPr>
            <a:r>
              <a:rPr lang="en-US" altLang="ko-KR" sz="2200" dirty="0">
                <a:latin typeface="Times New Roman" pitchFamily="18" charset="0"/>
                <a:cs typeface="Times New Roman" pitchFamily="18" charset="0"/>
              </a:rPr>
              <a:t>   microeconomic capability of the economy and the sophistication of</a:t>
            </a:r>
          </a:p>
          <a:p>
            <a:pPr>
              <a:lnSpc>
                <a:spcPts val="3000"/>
              </a:lnSpc>
            </a:pPr>
            <a:r>
              <a:rPr lang="en-US" altLang="ko-KR" sz="2200" dirty="0">
                <a:latin typeface="Times New Roman" pitchFamily="18" charset="0"/>
                <a:cs typeface="Times New Roman" pitchFamily="18" charset="0"/>
              </a:rPr>
              <a:t>   local competition </a:t>
            </a:r>
            <a:r>
              <a:rPr lang="en-US" altLang="ko-KR" sz="2200" dirty="0">
                <a:solidFill>
                  <a:srgbClr val="FFC000"/>
                </a:solidFill>
                <a:latin typeface="Times New Roman" pitchFamily="18" charset="0"/>
                <a:cs typeface="Times New Roman" pitchFamily="18" charset="0"/>
              </a:rPr>
              <a:t>at the industry level</a:t>
            </a:r>
            <a:endParaRPr lang="ko-KR" altLang="en-US" sz="2200" dirty="0">
              <a:solidFill>
                <a:srgbClr val="FFC000"/>
              </a:solidFill>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467544" y="332656"/>
            <a:ext cx="8208912" cy="563562"/>
          </a:xfrm>
          <a:noFill/>
        </p:spPr>
        <p:txBody>
          <a:bodyPr/>
          <a:lstStyle/>
          <a:p>
            <a:pPr algn="ctr" eaLnBrk="1" hangingPunct="1">
              <a:lnSpc>
                <a:spcPts val="3000"/>
              </a:lnSpc>
            </a:pPr>
            <a:r>
              <a:rPr kumimoji="1" lang="en-US" altLang="ko-KR" b="1" kern="1200" dirty="0">
                <a:solidFill>
                  <a:srgbClr val="FFC000"/>
                </a:solidFill>
                <a:latin typeface="Times New Roman" pitchFamily="18" charset="0"/>
                <a:ea typeface="굴림" pitchFamily="50" charset="-127"/>
                <a:cs typeface="Times New Roman" pitchFamily="18" charset="0"/>
              </a:rPr>
              <a:t>Macroeconomic Competitiveness</a:t>
            </a:r>
          </a:p>
        </p:txBody>
      </p:sp>
      <p:sp>
        <p:nvSpPr>
          <p:cNvPr id="17" name="TextBox 16"/>
          <p:cNvSpPr txBox="1"/>
          <p:nvPr/>
        </p:nvSpPr>
        <p:spPr>
          <a:xfrm>
            <a:off x="179512" y="1599178"/>
            <a:ext cx="4320480" cy="4791055"/>
          </a:xfrm>
          <a:prstGeom prst="rect">
            <a:avLst/>
          </a:prstGeom>
          <a:noFill/>
        </p:spPr>
        <p:txBody>
          <a:bodyPr wrap="square" rtlCol="0">
            <a:spAutoFit/>
          </a:bodyPr>
          <a:lstStyle/>
          <a:p>
            <a:pPr>
              <a:lnSpc>
                <a:spcPts val="3400"/>
              </a:lnSpc>
            </a:pPr>
            <a:r>
              <a:rPr lang="en-US" altLang="ko-KR" sz="2400" u="sng" dirty="0">
                <a:latin typeface="Times New Roman" pitchFamily="18" charset="0"/>
                <a:cs typeface="Times New Roman" pitchFamily="18" charset="0"/>
              </a:rPr>
              <a:t>Social Infrastructure and Political Institutions </a:t>
            </a:r>
            <a:endParaRPr lang="en-US" altLang="ko-KR" sz="800" dirty="0">
              <a:latin typeface="Times New Roman" pitchFamily="18" charset="0"/>
              <a:cs typeface="Times New Roman" pitchFamily="18" charset="0"/>
            </a:endParaRPr>
          </a:p>
          <a:p>
            <a:pPr>
              <a:lnSpc>
                <a:spcPts val="3400"/>
              </a:lnSpc>
              <a:buFont typeface="Arial" pitchFamily="34" charset="0"/>
              <a:buChar char="•"/>
            </a:pPr>
            <a:r>
              <a:rPr lang="en-US" altLang="ko-KR" sz="2200" dirty="0">
                <a:latin typeface="Times New Roman" pitchFamily="18" charset="0"/>
                <a:cs typeface="Times New Roman" pitchFamily="18" charset="0"/>
              </a:rPr>
              <a:t> Human development:</a:t>
            </a:r>
          </a:p>
          <a:p>
            <a:pPr>
              <a:lnSpc>
                <a:spcPts val="3400"/>
              </a:lnSpc>
            </a:pPr>
            <a:r>
              <a:rPr lang="en-US" altLang="ko-KR" sz="2200" dirty="0">
                <a:latin typeface="Times New Roman" pitchFamily="18" charset="0"/>
                <a:cs typeface="Times New Roman" pitchFamily="18" charset="0"/>
              </a:rPr>
              <a:t>   - basic education and health care</a:t>
            </a:r>
          </a:p>
          <a:p>
            <a:pPr>
              <a:lnSpc>
                <a:spcPts val="3400"/>
              </a:lnSpc>
              <a:buFont typeface="Arial" pitchFamily="34" charset="0"/>
              <a:buChar char="•"/>
            </a:pPr>
            <a:r>
              <a:rPr lang="en-US" altLang="ko-KR" sz="2200" dirty="0">
                <a:latin typeface="Times New Roman" pitchFamily="18" charset="0"/>
                <a:cs typeface="Times New Roman" pitchFamily="18" charset="0"/>
              </a:rPr>
              <a:t> Rule of law:</a:t>
            </a:r>
          </a:p>
          <a:p>
            <a:pPr>
              <a:lnSpc>
                <a:spcPts val="3400"/>
              </a:lnSpc>
            </a:pPr>
            <a:r>
              <a:rPr lang="en-US" altLang="ko-KR" sz="2200" dirty="0">
                <a:latin typeface="Times New Roman" pitchFamily="18" charset="0"/>
                <a:cs typeface="Times New Roman" pitchFamily="18" charset="0"/>
              </a:rPr>
              <a:t>   - property rights and due process</a:t>
            </a:r>
          </a:p>
          <a:p>
            <a:pPr>
              <a:lnSpc>
                <a:spcPts val="3400"/>
              </a:lnSpc>
              <a:buFont typeface="Arial" pitchFamily="34" charset="0"/>
              <a:buChar char="•"/>
            </a:pPr>
            <a:r>
              <a:rPr lang="en-US" altLang="ko-KR" sz="2200" dirty="0">
                <a:latin typeface="Times New Roman" pitchFamily="18" charset="0"/>
                <a:cs typeface="Times New Roman" pitchFamily="18" charset="0"/>
              </a:rPr>
              <a:t> Political institutions:</a:t>
            </a:r>
          </a:p>
          <a:p>
            <a:pPr>
              <a:lnSpc>
                <a:spcPts val="3400"/>
              </a:lnSpc>
            </a:pPr>
            <a:r>
              <a:rPr lang="en-US" altLang="ko-KR" sz="2200" dirty="0">
                <a:latin typeface="Times New Roman" pitchFamily="18" charset="0"/>
                <a:cs typeface="Times New Roman" pitchFamily="18" charset="0"/>
              </a:rPr>
              <a:t>   - stable and effective political and</a:t>
            </a:r>
          </a:p>
          <a:p>
            <a:pPr>
              <a:lnSpc>
                <a:spcPts val="3400"/>
              </a:lnSpc>
            </a:pPr>
            <a:r>
              <a:rPr lang="en-US" altLang="ko-KR" sz="2200" dirty="0">
                <a:latin typeface="Times New Roman" pitchFamily="18" charset="0"/>
                <a:cs typeface="Times New Roman" pitchFamily="18" charset="0"/>
              </a:rPr>
              <a:t>      governmental processes and </a:t>
            </a:r>
          </a:p>
          <a:p>
            <a:pPr>
              <a:lnSpc>
                <a:spcPts val="3400"/>
              </a:lnSpc>
            </a:pPr>
            <a:r>
              <a:rPr lang="en-US" altLang="ko-KR" sz="2200" dirty="0">
                <a:latin typeface="Times New Roman" pitchFamily="18" charset="0"/>
                <a:cs typeface="Times New Roman" pitchFamily="18" charset="0"/>
              </a:rPr>
              <a:t>      organizations</a:t>
            </a:r>
          </a:p>
          <a:p>
            <a:endParaRPr lang="ko-KR" altLang="en-US" sz="2200" dirty="0"/>
          </a:p>
        </p:txBody>
      </p:sp>
      <p:sp>
        <p:nvSpPr>
          <p:cNvPr id="18" name="TextBox 17"/>
          <p:cNvSpPr txBox="1"/>
          <p:nvPr/>
        </p:nvSpPr>
        <p:spPr>
          <a:xfrm>
            <a:off x="4716016" y="1649700"/>
            <a:ext cx="4320480" cy="3973652"/>
          </a:xfrm>
          <a:prstGeom prst="rect">
            <a:avLst/>
          </a:prstGeom>
          <a:noFill/>
        </p:spPr>
        <p:txBody>
          <a:bodyPr wrap="square" rtlCol="0">
            <a:spAutoFit/>
          </a:bodyPr>
          <a:lstStyle/>
          <a:p>
            <a:pPr>
              <a:lnSpc>
                <a:spcPts val="3400"/>
              </a:lnSpc>
            </a:pPr>
            <a:r>
              <a:rPr lang="en-US" altLang="ko-KR" sz="2400" u="sng" dirty="0">
                <a:latin typeface="Times New Roman" pitchFamily="18" charset="0"/>
                <a:cs typeface="Times New Roman" pitchFamily="18" charset="0"/>
              </a:rPr>
              <a:t>Macroeconomic Policies</a:t>
            </a:r>
            <a:r>
              <a:rPr lang="en-US" altLang="ko-KR" sz="2400" u="sng" dirty="0"/>
              <a:t> </a:t>
            </a:r>
            <a:endParaRPr lang="en-US" altLang="ko-KR" sz="2200" dirty="0">
              <a:latin typeface="Times New Roman" pitchFamily="18" charset="0"/>
              <a:cs typeface="Times New Roman" pitchFamily="18" charset="0"/>
            </a:endParaRPr>
          </a:p>
          <a:p>
            <a:pPr>
              <a:lnSpc>
                <a:spcPts val="3400"/>
              </a:lnSpc>
              <a:buFont typeface="Arial" pitchFamily="34" charset="0"/>
              <a:buChar char="•"/>
            </a:pPr>
            <a:r>
              <a:rPr lang="en-US" altLang="ko-KR" sz="2200" dirty="0">
                <a:latin typeface="Times New Roman" pitchFamily="18" charset="0"/>
                <a:cs typeface="Times New Roman" pitchFamily="18" charset="0"/>
              </a:rPr>
              <a:t> Fiscal policy:</a:t>
            </a:r>
          </a:p>
          <a:p>
            <a:pPr>
              <a:lnSpc>
                <a:spcPts val="3400"/>
              </a:lnSpc>
            </a:pPr>
            <a:r>
              <a:rPr lang="en-US" altLang="ko-KR" sz="2200" dirty="0">
                <a:latin typeface="Times New Roman" pitchFamily="18" charset="0"/>
                <a:cs typeface="Times New Roman" pitchFamily="18" charset="0"/>
              </a:rPr>
              <a:t>   - public spending aligned with</a:t>
            </a:r>
          </a:p>
          <a:p>
            <a:pPr>
              <a:lnSpc>
                <a:spcPts val="3400"/>
              </a:lnSpc>
            </a:pPr>
            <a:r>
              <a:rPr lang="en-US" altLang="ko-KR" sz="2200" dirty="0">
                <a:latin typeface="Times New Roman" pitchFamily="18" charset="0"/>
                <a:cs typeface="Times New Roman" pitchFamily="18" charset="0"/>
              </a:rPr>
              <a:t>     revenues over time</a:t>
            </a:r>
            <a:endParaRPr lang="en-US" altLang="ko-KR" sz="2200" dirty="0"/>
          </a:p>
          <a:p>
            <a:pPr>
              <a:lnSpc>
                <a:spcPts val="3400"/>
              </a:lnSpc>
              <a:buFont typeface="Arial" pitchFamily="34" charset="0"/>
              <a:buChar char="•"/>
            </a:pPr>
            <a:r>
              <a:rPr lang="en-US" altLang="ko-KR" sz="2200" dirty="0">
                <a:latin typeface="Times New Roman" pitchFamily="18" charset="0"/>
                <a:cs typeface="Times New Roman" pitchFamily="18" charset="0"/>
              </a:rPr>
              <a:t> Monetary policy:</a:t>
            </a:r>
          </a:p>
          <a:p>
            <a:pPr>
              <a:lnSpc>
                <a:spcPts val="3400"/>
              </a:lnSpc>
            </a:pPr>
            <a:r>
              <a:rPr lang="en-US" altLang="ko-KR" sz="2200" dirty="0">
                <a:latin typeface="Times New Roman" pitchFamily="18" charset="0"/>
                <a:cs typeface="Times New Roman" pitchFamily="18" charset="0"/>
              </a:rPr>
              <a:t>   - low levels of inflation</a:t>
            </a:r>
          </a:p>
          <a:p>
            <a:pPr>
              <a:lnSpc>
                <a:spcPts val="3400"/>
              </a:lnSpc>
              <a:buFont typeface="Arial" pitchFamily="34" charset="0"/>
              <a:buChar char="•"/>
            </a:pPr>
            <a:r>
              <a:rPr lang="en-US" altLang="ko-KR" sz="2200" dirty="0">
                <a:latin typeface="Times New Roman" pitchFamily="18" charset="0"/>
                <a:cs typeface="Times New Roman" pitchFamily="18" charset="0"/>
              </a:rPr>
              <a:t> Macroeconomic management:</a:t>
            </a:r>
          </a:p>
          <a:p>
            <a:pPr>
              <a:lnSpc>
                <a:spcPts val="3400"/>
              </a:lnSpc>
            </a:pPr>
            <a:r>
              <a:rPr lang="en-US" altLang="ko-KR" sz="2200" dirty="0">
                <a:latin typeface="Times New Roman" pitchFamily="18" charset="0"/>
                <a:cs typeface="Times New Roman" pitchFamily="18" charset="0"/>
              </a:rPr>
              <a:t>   - avoiding structural imbalances</a:t>
            </a:r>
          </a:p>
          <a:p>
            <a:pPr>
              <a:lnSpc>
                <a:spcPts val="3400"/>
              </a:lnSpc>
            </a:pPr>
            <a:r>
              <a:rPr lang="en-US" altLang="ko-KR" sz="2200" dirty="0">
                <a:latin typeface="Times New Roman" pitchFamily="18" charset="0"/>
                <a:cs typeface="Times New Roman" pitchFamily="18" charset="0"/>
              </a:rPr>
              <a:t>      and cyclical overheating</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a:xfrm>
            <a:off x="700608" y="260648"/>
            <a:ext cx="7543800" cy="563562"/>
          </a:xfrm>
          <a:noFill/>
        </p:spPr>
        <p:txBody>
          <a:bodyPr/>
          <a:lstStyle/>
          <a:p>
            <a:pPr algn="ctr" eaLnBrk="1" hangingPunct="1"/>
            <a:r>
              <a:rPr lang="en-US" altLang="ko-KR" b="1" dirty="0">
                <a:solidFill>
                  <a:srgbClr val="FFC000"/>
                </a:solidFill>
                <a:latin typeface="Times New Roman" pitchFamily="18" charset="0"/>
                <a:ea typeface="굴림" pitchFamily="50" charset="-127"/>
                <a:cs typeface="Times New Roman" pitchFamily="18" charset="0"/>
              </a:rPr>
              <a:t>Microeconomic Competitiveness: </a:t>
            </a:r>
            <a:r>
              <a:rPr lang="en-US" altLang="ko-KR" sz="2800" b="1" dirty="0">
                <a:solidFill>
                  <a:srgbClr val="FFC000"/>
                </a:solidFill>
                <a:latin typeface="Times New Roman" pitchFamily="18" charset="0"/>
                <a:ea typeface="굴림" pitchFamily="50" charset="-127"/>
                <a:cs typeface="Times New Roman" pitchFamily="18" charset="0"/>
              </a:rPr>
              <a:t>Quality of the National Business Environment</a:t>
            </a:r>
          </a:p>
        </p:txBody>
      </p:sp>
      <p:sp>
        <p:nvSpPr>
          <p:cNvPr id="7" name="TextBox 6"/>
          <p:cNvSpPr txBox="1"/>
          <p:nvPr/>
        </p:nvSpPr>
        <p:spPr>
          <a:xfrm>
            <a:off x="108520" y="6174677"/>
            <a:ext cx="9144000" cy="710707"/>
          </a:xfrm>
          <a:prstGeom prst="rect">
            <a:avLst/>
          </a:prstGeom>
          <a:noFill/>
        </p:spPr>
        <p:txBody>
          <a:bodyPr wrap="square" rtlCol="0">
            <a:spAutoFit/>
          </a:bodyPr>
          <a:lstStyle/>
          <a:p>
            <a:pPr>
              <a:lnSpc>
                <a:spcPts val="1600"/>
              </a:lnSpc>
              <a:buFont typeface="Arial" pitchFamily="34" charset="0"/>
              <a:buChar char="•"/>
            </a:pPr>
            <a:r>
              <a:rPr lang="en-US" altLang="ko-KR" dirty="0">
                <a:latin typeface="Times New Roman" pitchFamily="18" charset="0"/>
                <a:cs typeface="Times New Roman" pitchFamily="18" charset="0"/>
              </a:rPr>
              <a:t> Many things matter for competitiveness</a:t>
            </a:r>
          </a:p>
          <a:p>
            <a:pPr>
              <a:lnSpc>
                <a:spcPts val="1600"/>
              </a:lnSpc>
              <a:buFont typeface="Arial" pitchFamily="34" charset="0"/>
              <a:buChar char="•"/>
            </a:pPr>
            <a:r>
              <a:rPr lang="en-US" altLang="ko-KR" dirty="0">
                <a:latin typeface="Times New Roman" pitchFamily="18" charset="0"/>
                <a:cs typeface="Times New Roman" pitchFamily="18" charset="0"/>
              </a:rPr>
              <a:t> Successful economic development is a process of successive upgrading, in which the business  </a:t>
            </a:r>
          </a:p>
          <a:p>
            <a:pPr>
              <a:lnSpc>
                <a:spcPts val="1600"/>
              </a:lnSpc>
            </a:pPr>
            <a:r>
              <a:rPr lang="en-US" altLang="ko-KR" dirty="0">
                <a:latin typeface="Times New Roman" pitchFamily="18" charset="0"/>
                <a:cs typeface="Times New Roman" pitchFamily="18" charset="0"/>
              </a:rPr>
              <a:t>  environment improves to enable increasingly sophisticated ways of competing</a:t>
            </a:r>
            <a:endParaRPr lang="ko-KR" altLang="en-US" dirty="0">
              <a:latin typeface="Times New Roman" pitchFamily="18" charset="0"/>
              <a:cs typeface="Times New Roman" pitchFamily="18" charset="0"/>
            </a:endParaRPr>
          </a:p>
        </p:txBody>
      </p:sp>
      <p:sp>
        <p:nvSpPr>
          <p:cNvPr id="8" name="아래쪽 화살표 7"/>
          <p:cNvSpPr/>
          <p:nvPr/>
        </p:nvSpPr>
        <p:spPr bwMode="auto">
          <a:xfrm>
            <a:off x="4421984" y="6093296"/>
            <a:ext cx="504056" cy="360040"/>
          </a:xfrm>
          <a:prstGeom prst="downArrow">
            <a:avLst>
              <a:gd name="adj1" fmla="val 50000"/>
              <a:gd name="adj2" fmla="val 52926"/>
            </a:avLst>
          </a:prstGeom>
          <a:solidFill>
            <a:schemeClr val="tx1">
              <a:lumMod val="90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sp>
        <p:nvSpPr>
          <p:cNvPr id="10" name="직사각형 9"/>
          <p:cNvSpPr/>
          <p:nvPr/>
        </p:nvSpPr>
        <p:spPr bwMode="auto">
          <a:xfrm>
            <a:off x="6876256" y="2564904"/>
            <a:ext cx="1440160" cy="1296144"/>
          </a:xfrm>
          <a:prstGeom prst="rect">
            <a:avLst/>
          </a:prstGeom>
          <a:solidFill>
            <a:schemeClr val="accent2"/>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dirty="0">
                <a:solidFill>
                  <a:schemeClr val="tx2"/>
                </a:solidFill>
                <a:latin typeface="Times New Roman" pitchFamily="18" charset="0"/>
                <a:cs typeface="Times New Roman" pitchFamily="18" charset="0"/>
              </a:rPr>
              <a:t>Demand </a:t>
            </a:r>
          </a:p>
          <a:p>
            <a:pPr algn="ctr" latinLnBrk="0"/>
            <a:r>
              <a:rPr lang="en-US" altLang="ko-KR" dirty="0">
                <a:solidFill>
                  <a:schemeClr val="tx2"/>
                </a:solidFill>
                <a:latin typeface="Times New Roman" pitchFamily="18" charset="0"/>
                <a:cs typeface="Times New Roman" pitchFamily="18" charset="0"/>
              </a:rPr>
              <a:t>Conditions</a:t>
            </a:r>
            <a:endParaRPr kumimoji="0" lang="ko-KR" altLang="en-US" sz="1800" i="0" u="none" strike="noStrike" cap="none" normalizeH="0" baseline="0" dirty="0">
              <a:ln>
                <a:noFill/>
              </a:ln>
              <a:solidFill>
                <a:schemeClr val="tx2"/>
              </a:solidFill>
              <a:effectLst/>
              <a:latin typeface="Times New Roman" pitchFamily="18" charset="0"/>
              <a:cs typeface="Times New Roman" pitchFamily="18" charset="0"/>
            </a:endParaRPr>
          </a:p>
        </p:txBody>
      </p:sp>
      <p:sp>
        <p:nvSpPr>
          <p:cNvPr id="13" name="TextBox 12"/>
          <p:cNvSpPr txBox="1"/>
          <p:nvPr/>
        </p:nvSpPr>
        <p:spPr>
          <a:xfrm>
            <a:off x="2483768" y="2303001"/>
            <a:ext cx="4608512" cy="2062103"/>
          </a:xfrm>
          <a:prstGeom prst="rect">
            <a:avLst/>
          </a:prstGeom>
          <a:noFill/>
        </p:spPr>
        <p:txBody>
          <a:bodyPr wrap="square" rtlCol="0">
            <a:spAutoFit/>
          </a:bodyPr>
          <a:lstStyle/>
          <a:p>
            <a:pPr>
              <a:buFont typeface="Arial" pitchFamily="34" charset="0"/>
              <a:buChar char="•"/>
            </a:pPr>
            <a:r>
              <a:rPr lang="en-US" altLang="ko-KR" sz="1600" dirty="0">
                <a:latin typeface="Times New Roman" pitchFamily="18" charset="0"/>
                <a:cs typeface="Times New Roman" pitchFamily="18" charset="0"/>
              </a:rPr>
              <a:t> Local rules and incentives that encourage  </a:t>
            </a:r>
          </a:p>
          <a:p>
            <a:r>
              <a:rPr lang="en-US" altLang="ko-KR" sz="1600" dirty="0">
                <a:latin typeface="Times New Roman" pitchFamily="18" charset="0"/>
                <a:cs typeface="Times New Roman" pitchFamily="18" charset="0"/>
              </a:rPr>
              <a:t>  investment and productivity</a:t>
            </a:r>
          </a:p>
          <a:p>
            <a:r>
              <a:rPr lang="en-US" altLang="ko-KR" sz="1600" dirty="0">
                <a:latin typeface="Times New Roman" pitchFamily="18" charset="0"/>
                <a:cs typeface="Times New Roman" pitchFamily="18" charset="0"/>
              </a:rPr>
              <a:t>   - e.g. salaries, incentives for capital investments,    </a:t>
            </a:r>
          </a:p>
          <a:p>
            <a:r>
              <a:rPr lang="en-US" altLang="ko-KR" sz="1600" dirty="0">
                <a:latin typeface="Times New Roman" pitchFamily="18" charset="0"/>
                <a:cs typeface="Times New Roman" pitchFamily="18" charset="0"/>
              </a:rPr>
              <a:t>      intellectual property  protection, corporate   </a:t>
            </a:r>
          </a:p>
          <a:p>
            <a:r>
              <a:rPr lang="en-US" altLang="ko-KR" sz="1600" dirty="0">
                <a:latin typeface="Times New Roman" pitchFamily="18" charset="0"/>
                <a:cs typeface="Times New Roman" pitchFamily="18" charset="0"/>
              </a:rPr>
              <a:t>      governance standards</a:t>
            </a:r>
          </a:p>
          <a:p>
            <a:pPr>
              <a:buFont typeface="Arial" pitchFamily="34" charset="0"/>
              <a:buChar char="•"/>
            </a:pPr>
            <a:r>
              <a:rPr lang="en-US" altLang="ko-KR" sz="1600" dirty="0"/>
              <a:t> </a:t>
            </a:r>
            <a:r>
              <a:rPr lang="en-US" altLang="ko-KR" sz="1600" dirty="0">
                <a:latin typeface="Times New Roman" pitchFamily="18" charset="0"/>
                <a:cs typeface="Times New Roman" pitchFamily="18" charset="0"/>
              </a:rPr>
              <a:t>Vigorous local competition </a:t>
            </a:r>
          </a:p>
          <a:p>
            <a:r>
              <a:rPr lang="en-US" altLang="ko-KR" sz="1600" dirty="0">
                <a:latin typeface="Times New Roman" pitchFamily="18" charset="0"/>
                <a:cs typeface="Times New Roman" pitchFamily="18" charset="0"/>
              </a:rPr>
              <a:t>   - Openness to foreign competition</a:t>
            </a:r>
          </a:p>
          <a:p>
            <a:r>
              <a:rPr lang="en-US" altLang="ko-KR" sz="1600" dirty="0">
                <a:latin typeface="Times New Roman" pitchFamily="18" charset="0"/>
                <a:cs typeface="Times New Roman" pitchFamily="18" charset="0"/>
              </a:rPr>
              <a:t>   - Competition laws</a:t>
            </a:r>
            <a:endParaRPr lang="ko-KR" altLang="en-US" sz="1600" dirty="0"/>
          </a:p>
        </p:txBody>
      </p:sp>
      <p:sp>
        <p:nvSpPr>
          <p:cNvPr id="14" name="직사각형 13"/>
          <p:cNvSpPr/>
          <p:nvPr/>
        </p:nvSpPr>
        <p:spPr bwMode="auto">
          <a:xfrm>
            <a:off x="3923928" y="4378120"/>
            <a:ext cx="1512168" cy="1211120"/>
          </a:xfrm>
          <a:prstGeom prst="rect">
            <a:avLst/>
          </a:prstGeom>
          <a:solidFill>
            <a:srgbClr val="FFC00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dirty="0">
                <a:solidFill>
                  <a:schemeClr val="tx2"/>
                </a:solidFill>
                <a:latin typeface="Times New Roman" pitchFamily="18" charset="0"/>
                <a:cs typeface="Times New Roman" pitchFamily="18" charset="0"/>
              </a:rPr>
              <a:t>Related and </a:t>
            </a:r>
          </a:p>
          <a:p>
            <a:pPr algn="ctr" latinLnBrk="0"/>
            <a:r>
              <a:rPr lang="en-US" altLang="ko-KR" dirty="0">
                <a:solidFill>
                  <a:schemeClr val="tx2"/>
                </a:solidFill>
                <a:latin typeface="Times New Roman" pitchFamily="18" charset="0"/>
                <a:cs typeface="Times New Roman" pitchFamily="18" charset="0"/>
              </a:rPr>
              <a:t>Supporting</a:t>
            </a:r>
          </a:p>
          <a:p>
            <a:pPr algn="ctr" latinLnBrk="0"/>
            <a:r>
              <a:rPr lang="en-US" altLang="ko-KR" dirty="0">
                <a:solidFill>
                  <a:schemeClr val="tx2"/>
                </a:solidFill>
                <a:latin typeface="Times New Roman" pitchFamily="18" charset="0"/>
                <a:cs typeface="Times New Roman" pitchFamily="18" charset="0"/>
              </a:rPr>
              <a:t> Industries</a:t>
            </a:r>
            <a:endParaRPr lang="ko-KR" altLang="en-US" dirty="0">
              <a:solidFill>
                <a:schemeClr val="tx2"/>
              </a:solidFill>
              <a:latin typeface="Times New Roman" pitchFamily="18" charset="0"/>
              <a:cs typeface="Times New Roman" pitchFamily="18" charset="0"/>
            </a:endParaRPr>
          </a:p>
        </p:txBody>
      </p:sp>
      <p:sp>
        <p:nvSpPr>
          <p:cNvPr id="15" name="직사각형 14"/>
          <p:cNvSpPr/>
          <p:nvPr/>
        </p:nvSpPr>
        <p:spPr bwMode="auto">
          <a:xfrm>
            <a:off x="3845920" y="1167256"/>
            <a:ext cx="1512168" cy="1109616"/>
          </a:xfrm>
          <a:prstGeom prst="rect">
            <a:avLst/>
          </a:prstGeom>
          <a:solidFill>
            <a:srgbClr val="0070C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dirty="0">
                <a:solidFill>
                  <a:schemeClr val="tx2"/>
                </a:solidFill>
                <a:latin typeface="Times New Roman" pitchFamily="18" charset="0"/>
                <a:cs typeface="Times New Roman" pitchFamily="18" charset="0"/>
              </a:rPr>
              <a:t>Context for </a:t>
            </a:r>
          </a:p>
          <a:p>
            <a:pPr algn="ctr" latinLnBrk="0"/>
            <a:r>
              <a:rPr lang="en-US" altLang="ko-KR" dirty="0">
                <a:solidFill>
                  <a:schemeClr val="tx2"/>
                </a:solidFill>
                <a:latin typeface="Times New Roman" pitchFamily="18" charset="0"/>
                <a:cs typeface="Times New Roman" pitchFamily="18" charset="0"/>
              </a:rPr>
              <a:t>Firm </a:t>
            </a:r>
          </a:p>
          <a:p>
            <a:pPr algn="ctr" latinLnBrk="0"/>
            <a:r>
              <a:rPr lang="en-US" altLang="ko-KR" dirty="0">
                <a:solidFill>
                  <a:schemeClr val="tx2"/>
                </a:solidFill>
                <a:latin typeface="Times New Roman" pitchFamily="18" charset="0"/>
                <a:cs typeface="Times New Roman" pitchFamily="18" charset="0"/>
              </a:rPr>
              <a:t>Strategy </a:t>
            </a:r>
          </a:p>
          <a:p>
            <a:pPr algn="ctr" latinLnBrk="0"/>
            <a:r>
              <a:rPr lang="en-US" altLang="ko-KR" dirty="0">
                <a:solidFill>
                  <a:schemeClr val="tx2"/>
                </a:solidFill>
                <a:latin typeface="Times New Roman" pitchFamily="18" charset="0"/>
                <a:cs typeface="Times New Roman" pitchFamily="18" charset="0"/>
              </a:rPr>
              <a:t>and Rivalry</a:t>
            </a:r>
            <a:endParaRPr lang="ko-KR" altLang="en-US" dirty="0">
              <a:solidFill>
                <a:schemeClr val="tx2"/>
              </a:solidFill>
              <a:latin typeface="Times New Roman" pitchFamily="18" charset="0"/>
              <a:cs typeface="Times New Roman" pitchFamily="18" charset="0"/>
            </a:endParaRPr>
          </a:p>
        </p:txBody>
      </p:sp>
      <p:sp>
        <p:nvSpPr>
          <p:cNvPr id="16" name="직사각형 15"/>
          <p:cNvSpPr/>
          <p:nvPr/>
        </p:nvSpPr>
        <p:spPr bwMode="auto">
          <a:xfrm>
            <a:off x="827584" y="2492896"/>
            <a:ext cx="1434160" cy="1296144"/>
          </a:xfrm>
          <a:prstGeom prst="rect">
            <a:avLst/>
          </a:prstGeom>
          <a:solidFill>
            <a:schemeClr val="accent1">
              <a:lumMod val="75000"/>
            </a:schemeClr>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dirty="0">
                <a:solidFill>
                  <a:schemeClr val="tx2"/>
                </a:solidFill>
                <a:latin typeface="Times New Roman" pitchFamily="18" charset="0"/>
                <a:cs typeface="Times New Roman" pitchFamily="18" charset="0"/>
              </a:rPr>
              <a:t>Factor</a:t>
            </a:r>
          </a:p>
          <a:p>
            <a:pPr algn="ctr" latinLnBrk="0"/>
            <a:r>
              <a:rPr lang="en-US" altLang="ko-KR" dirty="0">
                <a:solidFill>
                  <a:schemeClr val="tx2"/>
                </a:solidFill>
                <a:latin typeface="Times New Roman" pitchFamily="18" charset="0"/>
                <a:cs typeface="Times New Roman" pitchFamily="18" charset="0"/>
              </a:rPr>
              <a:t>(Input) </a:t>
            </a:r>
          </a:p>
          <a:p>
            <a:pPr algn="ctr" latinLnBrk="0"/>
            <a:r>
              <a:rPr lang="en-US" altLang="ko-KR" dirty="0">
                <a:solidFill>
                  <a:schemeClr val="tx2"/>
                </a:solidFill>
                <a:latin typeface="Times New Roman" pitchFamily="18" charset="0"/>
                <a:cs typeface="Times New Roman" pitchFamily="18" charset="0"/>
              </a:rPr>
              <a:t>Conditions</a:t>
            </a:r>
            <a:endParaRPr lang="ko-KR" altLang="en-US" dirty="0">
              <a:solidFill>
                <a:schemeClr val="tx2"/>
              </a:solidFill>
              <a:latin typeface="Times New Roman" pitchFamily="18" charset="0"/>
              <a:cs typeface="Times New Roman" pitchFamily="18" charset="0"/>
            </a:endParaRPr>
          </a:p>
        </p:txBody>
      </p:sp>
      <p:cxnSp>
        <p:nvCxnSpPr>
          <p:cNvPr id="20" name="직선 화살표 연결선 19"/>
          <p:cNvCxnSpPr>
            <a:stCxn id="16" idx="0"/>
          </p:cNvCxnSpPr>
          <p:nvPr/>
        </p:nvCxnSpPr>
        <p:spPr bwMode="auto">
          <a:xfrm rot="5400000" flipH="1" flipV="1">
            <a:off x="2227240" y="874216"/>
            <a:ext cx="936104" cy="2301256"/>
          </a:xfrm>
          <a:prstGeom prst="straightConnector1">
            <a:avLst/>
          </a:prstGeom>
          <a:solidFill>
            <a:schemeClr val="accent1"/>
          </a:solidFill>
          <a:ln w="28575" cap="flat" cmpd="sng" algn="ctr">
            <a:solidFill>
              <a:srgbClr val="10F045"/>
            </a:solidFill>
            <a:prstDash val="solid"/>
            <a:round/>
            <a:headEnd type="arrow"/>
            <a:tailEnd type="arrow"/>
          </a:ln>
          <a:effectLst/>
        </p:spPr>
      </p:cxnSp>
      <p:cxnSp>
        <p:nvCxnSpPr>
          <p:cNvPr id="21" name="직선 화살표 연결선 20"/>
          <p:cNvCxnSpPr>
            <a:stCxn id="10" idx="0"/>
          </p:cNvCxnSpPr>
          <p:nvPr/>
        </p:nvCxnSpPr>
        <p:spPr bwMode="auto">
          <a:xfrm rot="16200000" flipV="1">
            <a:off x="5976156" y="944724"/>
            <a:ext cx="1008112" cy="2232248"/>
          </a:xfrm>
          <a:prstGeom prst="straightConnector1">
            <a:avLst/>
          </a:prstGeom>
          <a:solidFill>
            <a:schemeClr val="accent1"/>
          </a:solidFill>
          <a:ln w="28575" cap="flat" cmpd="sng" algn="ctr">
            <a:solidFill>
              <a:srgbClr val="10F045"/>
            </a:solidFill>
            <a:prstDash val="solid"/>
            <a:round/>
            <a:headEnd type="arrow"/>
            <a:tailEnd type="arrow"/>
          </a:ln>
          <a:effectLst/>
        </p:spPr>
      </p:cxnSp>
      <p:cxnSp>
        <p:nvCxnSpPr>
          <p:cNvPr id="56" name="직선 화살표 연결선 55"/>
          <p:cNvCxnSpPr>
            <a:stCxn id="14" idx="3"/>
            <a:endCxn id="10" idx="2"/>
          </p:cNvCxnSpPr>
          <p:nvPr/>
        </p:nvCxnSpPr>
        <p:spPr bwMode="auto">
          <a:xfrm flipV="1">
            <a:off x="5436096" y="3861048"/>
            <a:ext cx="2160240" cy="1122632"/>
          </a:xfrm>
          <a:prstGeom prst="straightConnector1">
            <a:avLst/>
          </a:prstGeom>
          <a:solidFill>
            <a:schemeClr val="accent1"/>
          </a:solidFill>
          <a:ln w="28575" cap="flat" cmpd="sng" algn="ctr">
            <a:solidFill>
              <a:srgbClr val="10F045"/>
            </a:solidFill>
            <a:prstDash val="solid"/>
            <a:round/>
            <a:headEnd type="none" w="med" len="med"/>
            <a:tailEnd type="arrow"/>
          </a:ln>
          <a:effectLst/>
        </p:spPr>
      </p:cxnSp>
      <p:cxnSp>
        <p:nvCxnSpPr>
          <p:cNvPr id="61" name="직선 화살표 연결선 60"/>
          <p:cNvCxnSpPr>
            <a:stCxn id="14" idx="1"/>
            <a:endCxn id="16" idx="2"/>
          </p:cNvCxnSpPr>
          <p:nvPr/>
        </p:nvCxnSpPr>
        <p:spPr bwMode="auto">
          <a:xfrm rot="10800000">
            <a:off x="1544664" y="3789040"/>
            <a:ext cx="2379264" cy="1194640"/>
          </a:xfrm>
          <a:prstGeom prst="straightConnector1">
            <a:avLst/>
          </a:prstGeom>
          <a:solidFill>
            <a:schemeClr val="accent1"/>
          </a:solidFill>
          <a:ln w="28575" cap="flat" cmpd="sng" algn="ctr">
            <a:solidFill>
              <a:srgbClr val="10F045"/>
            </a:solidFill>
            <a:prstDash val="solid"/>
            <a:round/>
            <a:headEnd type="arrow"/>
            <a:tailEnd type="arrow"/>
          </a:ln>
          <a:effectLst/>
        </p:spPr>
      </p:cxnSp>
      <p:sp>
        <p:nvSpPr>
          <p:cNvPr id="17" name="TextBox 16"/>
          <p:cNvSpPr txBox="1"/>
          <p:nvPr/>
        </p:nvSpPr>
        <p:spPr>
          <a:xfrm>
            <a:off x="107504" y="3846527"/>
            <a:ext cx="3456384" cy="2031325"/>
          </a:xfrm>
          <a:prstGeom prst="rect">
            <a:avLst/>
          </a:prstGeom>
          <a:noFill/>
        </p:spPr>
        <p:txBody>
          <a:bodyPr wrap="square" rtlCol="0">
            <a:spAutoFit/>
          </a:bodyPr>
          <a:lstStyle/>
          <a:p>
            <a:pPr>
              <a:buFont typeface="Arial" pitchFamily="34" charset="0"/>
              <a:buChar char="•"/>
            </a:pPr>
            <a:r>
              <a:rPr lang="en-US" altLang="ko-KR" sz="1400" dirty="0">
                <a:latin typeface="Times New Roman" pitchFamily="18" charset="0"/>
                <a:cs typeface="Times New Roman" pitchFamily="18" charset="0"/>
              </a:rPr>
              <a:t> Access to high quality   </a:t>
            </a:r>
          </a:p>
          <a:p>
            <a:r>
              <a:rPr lang="en-US" altLang="ko-KR" sz="1400" dirty="0">
                <a:latin typeface="Times New Roman" pitchFamily="18" charset="0"/>
                <a:cs typeface="Times New Roman" pitchFamily="18" charset="0"/>
              </a:rPr>
              <a:t>   business inputs </a:t>
            </a:r>
          </a:p>
          <a:p>
            <a:r>
              <a:rPr lang="en-US" altLang="ko-KR" sz="1400" dirty="0">
                <a:latin typeface="Times New Roman" pitchFamily="18" charset="0"/>
                <a:cs typeface="Times New Roman" pitchFamily="18" charset="0"/>
              </a:rPr>
              <a:t> - Natural endowments</a:t>
            </a:r>
          </a:p>
          <a:p>
            <a:r>
              <a:rPr lang="en-US" altLang="ko-KR" sz="1400" dirty="0">
                <a:latin typeface="Times New Roman" pitchFamily="18" charset="0"/>
                <a:cs typeface="Times New Roman" pitchFamily="18" charset="0"/>
              </a:rPr>
              <a:t> - Human resources (labor)</a:t>
            </a:r>
          </a:p>
          <a:p>
            <a:r>
              <a:rPr lang="en-US" altLang="ko-KR" sz="1400" dirty="0">
                <a:latin typeface="Times New Roman" pitchFamily="18" charset="0"/>
                <a:cs typeface="Times New Roman" pitchFamily="18" charset="0"/>
              </a:rPr>
              <a:t> - Capital availability</a:t>
            </a:r>
          </a:p>
          <a:p>
            <a:r>
              <a:rPr lang="en-US" altLang="ko-KR" sz="1400" dirty="0">
                <a:latin typeface="Times New Roman" pitchFamily="18" charset="0"/>
                <a:cs typeface="Times New Roman" pitchFamily="18" charset="0"/>
              </a:rPr>
              <a:t> - Physical infrastructure</a:t>
            </a:r>
          </a:p>
          <a:p>
            <a:r>
              <a:rPr lang="en-US" altLang="ko-KR" sz="1400" dirty="0">
                <a:latin typeface="Times New Roman" pitchFamily="18" charset="0"/>
                <a:cs typeface="Times New Roman" pitchFamily="18" charset="0"/>
              </a:rPr>
              <a:t> - Administrative and  information   </a:t>
            </a:r>
          </a:p>
          <a:p>
            <a:r>
              <a:rPr lang="en-US" altLang="ko-KR" sz="1400" dirty="0">
                <a:latin typeface="Times New Roman" pitchFamily="18" charset="0"/>
                <a:cs typeface="Times New Roman" pitchFamily="18" charset="0"/>
              </a:rPr>
              <a:t>    infrastructure </a:t>
            </a:r>
          </a:p>
          <a:p>
            <a:r>
              <a:rPr lang="en-US" altLang="ko-KR" sz="1400" dirty="0">
                <a:latin typeface="Times New Roman" pitchFamily="18" charset="0"/>
                <a:cs typeface="Times New Roman" pitchFamily="18" charset="0"/>
              </a:rPr>
              <a:t> - Scientific and technological infrastructure</a:t>
            </a:r>
            <a:endParaRPr lang="ko-KR" altLang="en-US" dirty="0"/>
          </a:p>
        </p:txBody>
      </p:sp>
      <p:sp>
        <p:nvSpPr>
          <p:cNvPr id="18" name="TextBox 17"/>
          <p:cNvSpPr txBox="1"/>
          <p:nvPr/>
        </p:nvSpPr>
        <p:spPr>
          <a:xfrm>
            <a:off x="6300192" y="3861048"/>
            <a:ext cx="2880320" cy="1323439"/>
          </a:xfrm>
          <a:prstGeom prst="rect">
            <a:avLst/>
          </a:prstGeom>
          <a:noFill/>
        </p:spPr>
        <p:txBody>
          <a:bodyPr wrap="square" rtlCol="0">
            <a:spAutoFit/>
          </a:bodyPr>
          <a:lstStyle/>
          <a:p>
            <a:pPr>
              <a:buFont typeface="Arial" pitchFamily="34" charset="0"/>
              <a:buChar char="•"/>
            </a:pPr>
            <a:r>
              <a:rPr lang="en-US" altLang="ko-KR" sz="1600" dirty="0">
                <a:latin typeface="Times New Roman" pitchFamily="18" charset="0"/>
                <a:cs typeface="Times New Roman" pitchFamily="18" charset="0"/>
              </a:rPr>
              <a:t> Sophistication of local  </a:t>
            </a:r>
          </a:p>
          <a:p>
            <a:r>
              <a:rPr lang="en-US" altLang="ko-KR" sz="1600" dirty="0">
                <a:latin typeface="Times New Roman" pitchFamily="18" charset="0"/>
                <a:cs typeface="Times New Roman" pitchFamily="18" charset="0"/>
              </a:rPr>
              <a:t>  customers and needs </a:t>
            </a:r>
          </a:p>
          <a:p>
            <a:r>
              <a:rPr lang="en-US" altLang="ko-KR" sz="1600" dirty="0">
                <a:latin typeface="Times New Roman" pitchFamily="18" charset="0"/>
                <a:cs typeface="Times New Roman" pitchFamily="18" charset="0"/>
              </a:rPr>
              <a:t>  - e.g., Strict quality, safety, and </a:t>
            </a:r>
          </a:p>
          <a:p>
            <a:r>
              <a:rPr lang="en-US" altLang="ko-KR" sz="1600" dirty="0">
                <a:latin typeface="Times New Roman" pitchFamily="18" charset="0"/>
                <a:cs typeface="Times New Roman" pitchFamily="18" charset="0"/>
              </a:rPr>
              <a:t>    environmental standards</a:t>
            </a:r>
          </a:p>
          <a:p>
            <a:r>
              <a:rPr lang="en-US" altLang="ko-KR" sz="1600" dirty="0">
                <a:latin typeface="Times New Roman" pitchFamily="18" charset="0"/>
                <a:cs typeface="Times New Roman" pitchFamily="18" charset="0"/>
              </a:rPr>
              <a:t>  - Consumer protection laws</a:t>
            </a:r>
            <a:endParaRPr lang="ko-KR" altLang="en-US" sz="1600" dirty="0"/>
          </a:p>
        </p:txBody>
      </p:sp>
      <p:sp>
        <p:nvSpPr>
          <p:cNvPr id="19" name="TextBox 18"/>
          <p:cNvSpPr txBox="1"/>
          <p:nvPr/>
        </p:nvSpPr>
        <p:spPr>
          <a:xfrm>
            <a:off x="3563888" y="5589240"/>
            <a:ext cx="3744416" cy="584775"/>
          </a:xfrm>
          <a:prstGeom prst="rect">
            <a:avLst/>
          </a:prstGeom>
          <a:noFill/>
        </p:spPr>
        <p:txBody>
          <a:bodyPr wrap="square" rtlCol="0">
            <a:spAutoFit/>
          </a:bodyPr>
          <a:lstStyle/>
          <a:p>
            <a:pPr>
              <a:buFont typeface="Arial" pitchFamily="34" charset="0"/>
              <a:buChar char="•"/>
            </a:pPr>
            <a:r>
              <a:rPr lang="en-US" altLang="ko-KR" sz="1600" dirty="0">
                <a:latin typeface="Times New Roman" pitchFamily="18" charset="0"/>
                <a:cs typeface="Times New Roman" pitchFamily="18" charset="0"/>
              </a:rPr>
              <a:t> Availability of suppliers and supporting   </a:t>
            </a:r>
          </a:p>
          <a:p>
            <a:r>
              <a:rPr lang="en-US" altLang="ko-KR" sz="1600" dirty="0">
                <a:latin typeface="Times New Roman" pitchFamily="18" charset="0"/>
                <a:cs typeface="Times New Roman" pitchFamily="18" charset="0"/>
              </a:rPr>
              <a:t>  industries</a:t>
            </a:r>
            <a:endParaRPr lang="ko-KR" altLang="en-US" sz="1600" dirty="0">
              <a:latin typeface="Times New Roman" pitchFamily="18" charset="0"/>
              <a:cs typeface="Times New Roman" pitchFamily="18" charset="0"/>
            </a:endParaRPr>
          </a:p>
        </p:txBody>
      </p:sp>
      <p:cxnSp>
        <p:nvCxnSpPr>
          <p:cNvPr id="28" name="직선 화살표 연결선 27"/>
          <p:cNvCxnSpPr/>
          <p:nvPr/>
        </p:nvCxnSpPr>
        <p:spPr bwMode="auto">
          <a:xfrm rot="10800000">
            <a:off x="2267745" y="3140968"/>
            <a:ext cx="282032"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cxnSp>
        <p:nvCxnSpPr>
          <p:cNvPr id="29" name="직선 화살표 연결선 28"/>
          <p:cNvCxnSpPr/>
          <p:nvPr/>
        </p:nvCxnSpPr>
        <p:spPr bwMode="auto">
          <a:xfrm>
            <a:off x="6573476" y="3212976"/>
            <a:ext cx="302780"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cxnSp>
        <p:nvCxnSpPr>
          <p:cNvPr id="35" name="직선 화살표 연결선 34"/>
          <p:cNvCxnSpPr/>
          <p:nvPr/>
        </p:nvCxnSpPr>
        <p:spPr bwMode="auto">
          <a:xfrm rot="5400000" flipH="1" flipV="1">
            <a:off x="4463194" y="2384090"/>
            <a:ext cx="216024"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cxnSp>
        <p:nvCxnSpPr>
          <p:cNvPr id="41" name="직선 화살표 연결선 40"/>
          <p:cNvCxnSpPr/>
          <p:nvPr/>
        </p:nvCxnSpPr>
        <p:spPr bwMode="auto">
          <a:xfrm rot="5400000">
            <a:off x="4469138" y="4260653"/>
            <a:ext cx="207313"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0" y="198400"/>
            <a:ext cx="9144000" cy="820738"/>
          </a:xfrm>
          <a:prstGeom prst="rect">
            <a:avLst/>
          </a:prstGeom>
          <a:noFill/>
          <a:ln w="12700" cap="sq">
            <a:noFill/>
            <a:miter lim="800000"/>
            <a:headEnd type="none" w="sm" len="sm"/>
            <a:tailEnd type="none" w="sm" len="sm"/>
          </a:ln>
        </p:spPr>
        <p:txBody>
          <a:bodyPr wrap="square">
            <a:spAutoFit/>
          </a:bodyPr>
          <a:lstStyle/>
          <a:p>
            <a:pPr algn="ctr">
              <a:lnSpc>
                <a:spcPts val="2000"/>
              </a:lnSpc>
              <a:spcBef>
                <a:spcPct val="50000"/>
              </a:spcBef>
              <a:defRPr/>
            </a:pPr>
            <a:r>
              <a:rPr lang="en-US" altLang="ko-KR" sz="3600" b="1" dirty="0">
                <a:solidFill>
                  <a:srgbClr val="FFC000"/>
                </a:solidFill>
                <a:latin typeface="Times New Roman" pitchFamily="18" charset="0"/>
                <a:cs typeface="Times New Roman" pitchFamily="18" charset="0"/>
              </a:rPr>
              <a:t>Microeconomic Competitiveness: </a:t>
            </a:r>
          </a:p>
          <a:p>
            <a:pPr algn="ctr">
              <a:lnSpc>
                <a:spcPts val="2000"/>
              </a:lnSpc>
              <a:spcBef>
                <a:spcPct val="50000"/>
              </a:spcBef>
              <a:defRPr/>
            </a:pPr>
            <a:r>
              <a:rPr lang="en-US" altLang="ko-KR" sz="2800" b="1" dirty="0">
                <a:solidFill>
                  <a:srgbClr val="FFC000"/>
                </a:solidFill>
                <a:latin typeface="Times New Roman" pitchFamily="18" charset="0"/>
                <a:cs typeface="Times New Roman" pitchFamily="18" charset="0"/>
              </a:rPr>
              <a:t>State of Cluster Development</a:t>
            </a:r>
          </a:p>
        </p:txBody>
      </p:sp>
      <p:sp>
        <p:nvSpPr>
          <p:cNvPr id="4" name="TextBox 3"/>
          <p:cNvSpPr txBox="1"/>
          <p:nvPr/>
        </p:nvSpPr>
        <p:spPr>
          <a:xfrm>
            <a:off x="2383996" y="1053897"/>
            <a:ext cx="4320480" cy="430887"/>
          </a:xfrm>
          <a:prstGeom prst="rect">
            <a:avLst/>
          </a:prstGeom>
          <a:noFill/>
        </p:spPr>
        <p:txBody>
          <a:bodyPr wrap="square" rtlCol="0">
            <a:spAutoFit/>
          </a:bodyPr>
          <a:lstStyle/>
          <a:p>
            <a:r>
              <a:rPr lang="en-US" altLang="ko-KR" sz="2200" dirty="0">
                <a:solidFill>
                  <a:srgbClr val="FFC000"/>
                </a:solidFill>
                <a:latin typeface="Times New Roman" pitchFamily="18" charset="0"/>
              </a:rPr>
              <a:t>Tourism Cluster in Cairns, Australia</a:t>
            </a:r>
            <a:endParaRPr lang="ko-KR" altLang="en-US" sz="2200" dirty="0">
              <a:solidFill>
                <a:srgbClr val="FFC000"/>
              </a:solidFill>
              <a:latin typeface="Times New Roman" pitchFamily="18" charset="0"/>
            </a:endParaRPr>
          </a:p>
        </p:txBody>
      </p:sp>
      <p:sp>
        <p:nvSpPr>
          <p:cNvPr id="5" name="직사각형 4"/>
          <p:cNvSpPr/>
          <p:nvPr/>
        </p:nvSpPr>
        <p:spPr bwMode="auto">
          <a:xfrm>
            <a:off x="209008" y="1427216"/>
            <a:ext cx="1584176" cy="829253"/>
          </a:xfrm>
          <a:prstGeom prst="rect">
            <a:avLst/>
          </a:prstGeom>
          <a:solidFill>
            <a:srgbClr val="FF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tLang="ko-KR" sz="1600" dirty="0">
                <a:solidFill>
                  <a:schemeClr val="accent5">
                    <a:lumMod val="10000"/>
                  </a:schemeClr>
                </a:solidFill>
                <a:latin typeface="Times New Roman" pitchFamily="18" charset="0"/>
                <a:cs typeface="Times New Roman" pitchFamily="18" charset="0"/>
              </a:rPr>
              <a:t>Public Relations </a:t>
            </a:r>
          </a:p>
          <a:p>
            <a:pPr algn="ctr"/>
            <a:r>
              <a:rPr lang="en-US" altLang="ko-KR" sz="1600" dirty="0">
                <a:solidFill>
                  <a:schemeClr val="accent5">
                    <a:lumMod val="10000"/>
                  </a:schemeClr>
                </a:solidFill>
                <a:latin typeface="Times New Roman" pitchFamily="18" charset="0"/>
                <a:cs typeface="Times New Roman" pitchFamily="18" charset="0"/>
              </a:rPr>
              <a:t>&amp; Market</a:t>
            </a:r>
          </a:p>
          <a:p>
            <a:pPr algn="ctr"/>
            <a:r>
              <a:rPr lang="en-US" altLang="ko-KR" sz="1600" dirty="0">
                <a:solidFill>
                  <a:schemeClr val="accent5">
                    <a:lumMod val="10000"/>
                  </a:schemeClr>
                </a:solidFill>
                <a:latin typeface="Times New Roman" pitchFamily="18" charset="0"/>
                <a:cs typeface="Times New Roman" pitchFamily="18" charset="0"/>
              </a:rPr>
              <a:t>Research Services</a:t>
            </a:r>
            <a:endParaRPr kumimoji="0" lang="ko-KR" altLang="en-US" sz="1600" b="0" i="0" u="none" strike="noStrike" cap="none" normalizeH="0" baseline="0" dirty="0">
              <a:ln>
                <a:noFill/>
              </a:ln>
              <a:solidFill>
                <a:schemeClr val="accent5">
                  <a:lumMod val="10000"/>
                </a:schemeClr>
              </a:solidFill>
              <a:effectLst/>
              <a:latin typeface="Times New Roman" pitchFamily="18" charset="0"/>
              <a:cs typeface="Times New Roman" pitchFamily="18" charset="0"/>
            </a:endParaRPr>
          </a:p>
        </p:txBody>
      </p:sp>
      <p:sp>
        <p:nvSpPr>
          <p:cNvPr id="6" name="직사각형 5"/>
          <p:cNvSpPr/>
          <p:nvPr/>
        </p:nvSpPr>
        <p:spPr bwMode="auto">
          <a:xfrm>
            <a:off x="209008" y="2374934"/>
            <a:ext cx="1584176" cy="829253"/>
          </a:xfrm>
          <a:prstGeom prst="rect">
            <a:avLst/>
          </a:prstGeom>
          <a:solidFill>
            <a:srgbClr val="FF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tLang="ko-KR" sz="1600" dirty="0">
                <a:solidFill>
                  <a:schemeClr val="accent5">
                    <a:lumMod val="10000"/>
                  </a:schemeClr>
                </a:solidFill>
                <a:latin typeface="Times New Roman" pitchFamily="18" charset="0"/>
                <a:cs typeface="Times New Roman" pitchFamily="18" charset="0"/>
              </a:rPr>
              <a:t>Food</a:t>
            </a:r>
          </a:p>
          <a:p>
            <a:pPr algn="ctr"/>
            <a:r>
              <a:rPr lang="en-US" altLang="ko-KR" sz="1600" dirty="0">
                <a:solidFill>
                  <a:schemeClr val="accent5">
                    <a:lumMod val="10000"/>
                  </a:schemeClr>
                </a:solidFill>
                <a:latin typeface="Times New Roman" pitchFamily="18" charset="0"/>
                <a:cs typeface="Times New Roman" pitchFamily="18" charset="0"/>
              </a:rPr>
              <a:t>Suppliers</a:t>
            </a:r>
            <a:endParaRPr lang="ko-KR" altLang="en-US" sz="1600" dirty="0">
              <a:solidFill>
                <a:schemeClr val="accent5">
                  <a:lumMod val="10000"/>
                </a:schemeClr>
              </a:solidFill>
              <a:latin typeface="Times New Roman" pitchFamily="18" charset="0"/>
              <a:cs typeface="Times New Roman" pitchFamily="18" charset="0"/>
            </a:endParaRPr>
          </a:p>
        </p:txBody>
      </p:sp>
      <p:sp>
        <p:nvSpPr>
          <p:cNvPr id="7" name="직사각형 6"/>
          <p:cNvSpPr/>
          <p:nvPr/>
        </p:nvSpPr>
        <p:spPr bwMode="auto">
          <a:xfrm>
            <a:off x="209008" y="3322652"/>
            <a:ext cx="1584176" cy="829253"/>
          </a:xfrm>
          <a:prstGeom prst="rect">
            <a:avLst/>
          </a:prstGeom>
          <a:solidFill>
            <a:srgbClr val="FF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a:r>
              <a:rPr lang="en-US" altLang="ko-KR" sz="1600" dirty="0">
                <a:solidFill>
                  <a:schemeClr val="accent5">
                    <a:lumMod val="10000"/>
                  </a:schemeClr>
                </a:solidFill>
                <a:latin typeface="Times New Roman" pitchFamily="18" charset="0"/>
                <a:cs typeface="Times New Roman" pitchFamily="18" charset="0"/>
              </a:rPr>
              <a:t>Property</a:t>
            </a:r>
          </a:p>
          <a:p>
            <a:pPr algn="ctr"/>
            <a:r>
              <a:rPr lang="en-US" altLang="ko-KR" sz="1600" dirty="0">
                <a:solidFill>
                  <a:schemeClr val="accent5">
                    <a:lumMod val="10000"/>
                  </a:schemeClr>
                </a:solidFill>
                <a:latin typeface="Times New Roman" pitchFamily="18" charset="0"/>
                <a:cs typeface="Times New Roman" pitchFamily="18" charset="0"/>
              </a:rPr>
              <a:t>Services</a:t>
            </a:r>
            <a:endParaRPr lang="ko-KR" altLang="en-US" sz="1600" dirty="0">
              <a:solidFill>
                <a:schemeClr val="accent5">
                  <a:lumMod val="10000"/>
                </a:schemeClr>
              </a:solidFill>
              <a:latin typeface="Times New Roman" pitchFamily="18" charset="0"/>
              <a:cs typeface="Times New Roman" pitchFamily="18" charset="0"/>
            </a:endParaRPr>
          </a:p>
        </p:txBody>
      </p:sp>
      <p:sp>
        <p:nvSpPr>
          <p:cNvPr id="8" name="직사각형 7"/>
          <p:cNvSpPr/>
          <p:nvPr/>
        </p:nvSpPr>
        <p:spPr bwMode="auto">
          <a:xfrm>
            <a:off x="209008" y="4270371"/>
            <a:ext cx="1584176" cy="829253"/>
          </a:xfrm>
          <a:prstGeom prst="rect">
            <a:avLst/>
          </a:prstGeom>
          <a:solidFill>
            <a:srgbClr val="FF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1600" dirty="0">
                <a:solidFill>
                  <a:schemeClr val="accent5">
                    <a:lumMod val="10000"/>
                  </a:schemeClr>
                </a:solidFill>
                <a:latin typeface="Times New Roman" pitchFamily="18" charset="0"/>
                <a:cs typeface="Times New Roman" pitchFamily="18" charset="0"/>
              </a:rPr>
              <a:t>Maintenance</a:t>
            </a:r>
          </a:p>
          <a:p>
            <a:pPr algn="ctr" latinLnBrk="0"/>
            <a:r>
              <a:rPr lang="en-US" altLang="ko-KR" sz="1600" dirty="0">
                <a:solidFill>
                  <a:schemeClr val="accent5">
                    <a:lumMod val="10000"/>
                  </a:schemeClr>
                </a:solidFill>
                <a:latin typeface="Times New Roman" pitchFamily="18" charset="0"/>
                <a:cs typeface="Times New Roman" pitchFamily="18" charset="0"/>
              </a:rPr>
              <a:t>Services</a:t>
            </a:r>
            <a:endParaRPr lang="ko-KR" altLang="en-US" sz="1600" dirty="0">
              <a:solidFill>
                <a:schemeClr val="accent5">
                  <a:lumMod val="10000"/>
                </a:schemeClr>
              </a:solidFill>
              <a:latin typeface="Times New Roman" pitchFamily="18" charset="0"/>
              <a:cs typeface="Times New Roman" pitchFamily="18" charset="0"/>
            </a:endParaRPr>
          </a:p>
        </p:txBody>
      </p:sp>
      <p:sp>
        <p:nvSpPr>
          <p:cNvPr id="10" name="직사각형 9"/>
          <p:cNvSpPr/>
          <p:nvPr/>
        </p:nvSpPr>
        <p:spPr bwMode="auto">
          <a:xfrm>
            <a:off x="179512" y="5556962"/>
            <a:ext cx="2808312" cy="1102917"/>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b="1" dirty="0">
                <a:solidFill>
                  <a:schemeClr val="accent5">
                    <a:lumMod val="10000"/>
                  </a:schemeClr>
                </a:solidFill>
                <a:latin typeface="Times New Roman" pitchFamily="18" charset="0"/>
                <a:cs typeface="Times New Roman" pitchFamily="18" charset="0"/>
              </a:rPr>
              <a:t>Government  Agencies</a:t>
            </a:r>
          </a:p>
          <a:p>
            <a:pPr algn="ctr" latinLnBrk="0"/>
            <a:r>
              <a:rPr lang="en-US" altLang="ko-KR" dirty="0">
                <a:solidFill>
                  <a:schemeClr val="accent5">
                    <a:lumMod val="10000"/>
                  </a:schemeClr>
                </a:solidFill>
                <a:latin typeface="Times New Roman" pitchFamily="18" charset="0"/>
                <a:cs typeface="Times New Roman" pitchFamily="18" charset="0"/>
              </a:rPr>
              <a:t>e.g. Australian Tourism </a:t>
            </a:r>
          </a:p>
          <a:p>
            <a:pPr algn="ctr" latinLnBrk="0"/>
            <a:r>
              <a:rPr lang="en-US" altLang="ko-KR" dirty="0">
                <a:solidFill>
                  <a:schemeClr val="accent5">
                    <a:lumMod val="10000"/>
                  </a:schemeClr>
                </a:solidFill>
                <a:latin typeface="Times New Roman" pitchFamily="18" charset="0"/>
                <a:cs typeface="Times New Roman" pitchFamily="18" charset="0"/>
              </a:rPr>
              <a:t>Commission, Great Barrier </a:t>
            </a:r>
          </a:p>
          <a:p>
            <a:pPr algn="ctr" latinLnBrk="0"/>
            <a:r>
              <a:rPr lang="en-US" altLang="ko-KR" dirty="0">
                <a:solidFill>
                  <a:schemeClr val="accent5">
                    <a:lumMod val="10000"/>
                  </a:schemeClr>
                </a:solidFill>
                <a:latin typeface="Times New Roman" pitchFamily="18" charset="0"/>
                <a:cs typeface="Times New Roman" pitchFamily="18" charset="0"/>
              </a:rPr>
              <a:t>Reef Authority</a:t>
            </a:r>
            <a:endParaRPr kumimoji="0" lang="ko-KR" altLang="en-US" sz="1800" b="0" i="0" u="none" strike="noStrike" cap="none" normalizeH="0" baseline="0" dirty="0">
              <a:ln>
                <a:noFill/>
              </a:ln>
              <a:solidFill>
                <a:schemeClr val="accent5">
                  <a:lumMod val="10000"/>
                </a:schemeClr>
              </a:solidFill>
              <a:effectLst/>
              <a:latin typeface="Times New Roman" pitchFamily="18" charset="0"/>
              <a:cs typeface="Times New Roman" pitchFamily="18" charset="0"/>
            </a:endParaRPr>
          </a:p>
        </p:txBody>
      </p:sp>
      <p:sp>
        <p:nvSpPr>
          <p:cNvPr id="13" name="직사각형 12"/>
          <p:cNvSpPr/>
          <p:nvPr/>
        </p:nvSpPr>
        <p:spPr bwMode="auto">
          <a:xfrm>
            <a:off x="7064516" y="1430680"/>
            <a:ext cx="1907704" cy="825789"/>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Local retail, </a:t>
            </a:r>
          </a:p>
          <a:p>
            <a:pPr algn="ctr" latinLnBrk="0"/>
            <a:r>
              <a:rPr lang="en-US" altLang="ko-KR" sz="2000" dirty="0">
                <a:solidFill>
                  <a:schemeClr val="accent5">
                    <a:lumMod val="10000"/>
                  </a:schemeClr>
                </a:solidFill>
                <a:latin typeface="Times New Roman" pitchFamily="18" charset="0"/>
                <a:cs typeface="Times New Roman" pitchFamily="18" charset="0"/>
              </a:rPr>
              <a:t>health care, And</a:t>
            </a:r>
          </a:p>
          <a:p>
            <a:pPr algn="ctr" latinLnBrk="0"/>
            <a:r>
              <a:rPr lang="en-US" altLang="ko-KR" sz="2000" dirty="0">
                <a:solidFill>
                  <a:schemeClr val="accent5">
                    <a:lumMod val="10000"/>
                  </a:schemeClr>
                </a:solidFill>
                <a:latin typeface="Times New Roman" pitchFamily="18" charset="0"/>
                <a:cs typeface="Times New Roman" pitchFamily="18" charset="0"/>
              </a:rPr>
              <a:t>other services</a:t>
            </a:r>
            <a:endParaRPr lang="ko-KR" altLang="en-US" sz="2000" dirty="0">
              <a:solidFill>
                <a:schemeClr val="accent5">
                  <a:lumMod val="10000"/>
                </a:schemeClr>
              </a:solidFill>
              <a:latin typeface="Times New Roman" pitchFamily="18" charset="0"/>
              <a:cs typeface="Times New Roman" pitchFamily="18" charset="0"/>
            </a:endParaRPr>
          </a:p>
        </p:txBody>
      </p:sp>
      <p:sp>
        <p:nvSpPr>
          <p:cNvPr id="14" name="직사각형 13"/>
          <p:cNvSpPr/>
          <p:nvPr/>
        </p:nvSpPr>
        <p:spPr bwMode="auto">
          <a:xfrm>
            <a:off x="7049768" y="2374934"/>
            <a:ext cx="1922452" cy="829253"/>
          </a:xfrm>
          <a:prstGeom prst="rect">
            <a:avLst/>
          </a:prstGeom>
          <a:solidFill>
            <a:srgbClr val="10F045"/>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Local </a:t>
            </a:r>
          </a:p>
          <a:p>
            <a:pPr algn="ctr" latinLnBrk="0"/>
            <a:r>
              <a:rPr lang="en-US" altLang="ko-KR" sz="2000" dirty="0">
                <a:solidFill>
                  <a:schemeClr val="accent5">
                    <a:lumMod val="10000"/>
                  </a:schemeClr>
                </a:solidFill>
                <a:latin typeface="Times New Roman" pitchFamily="18" charset="0"/>
                <a:cs typeface="Times New Roman" pitchFamily="18" charset="0"/>
              </a:rPr>
              <a:t>Transportation</a:t>
            </a:r>
            <a:endParaRPr lang="ko-KR" altLang="en-US" sz="2000" dirty="0">
              <a:solidFill>
                <a:schemeClr val="accent5">
                  <a:lumMod val="10000"/>
                </a:schemeClr>
              </a:solidFill>
              <a:latin typeface="Times New Roman" pitchFamily="18" charset="0"/>
              <a:cs typeface="Times New Roman" pitchFamily="18" charset="0"/>
            </a:endParaRPr>
          </a:p>
        </p:txBody>
      </p:sp>
      <p:sp>
        <p:nvSpPr>
          <p:cNvPr id="15" name="직사각형 14"/>
          <p:cNvSpPr/>
          <p:nvPr/>
        </p:nvSpPr>
        <p:spPr bwMode="auto">
          <a:xfrm>
            <a:off x="7064516" y="3329228"/>
            <a:ext cx="1907704" cy="829253"/>
          </a:xfrm>
          <a:prstGeom prst="rect">
            <a:avLst/>
          </a:prstGeom>
          <a:solidFill>
            <a:srgbClr val="10F045"/>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Souvenirs, </a:t>
            </a:r>
          </a:p>
          <a:p>
            <a:pPr algn="ctr" latinLnBrk="0"/>
            <a:r>
              <a:rPr lang="en-US" altLang="ko-KR" sz="2000" dirty="0">
                <a:solidFill>
                  <a:schemeClr val="accent5">
                    <a:lumMod val="10000"/>
                  </a:schemeClr>
                </a:solidFill>
                <a:latin typeface="Times New Roman" pitchFamily="18" charset="0"/>
                <a:cs typeface="Times New Roman" pitchFamily="18" charset="0"/>
              </a:rPr>
              <a:t>Duty Free</a:t>
            </a:r>
            <a:endParaRPr lang="ko-KR" altLang="en-US" sz="2000" dirty="0">
              <a:solidFill>
                <a:schemeClr val="accent5">
                  <a:lumMod val="10000"/>
                </a:schemeClr>
              </a:solidFill>
              <a:latin typeface="Times New Roman" pitchFamily="18" charset="0"/>
              <a:cs typeface="Times New Roman" pitchFamily="18" charset="0"/>
            </a:endParaRPr>
          </a:p>
        </p:txBody>
      </p:sp>
      <p:sp>
        <p:nvSpPr>
          <p:cNvPr id="16" name="직사각형 15"/>
          <p:cNvSpPr/>
          <p:nvPr/>
        </p:nvSpPr>
        <p:spPr bwMode="auto">
          <a:xfrm>
            <a:off x="7049768" y="4270371"/>
            <a:ext cx="1922452" cy="904725"/>
          </a:xfrm>
          <a:prstGeom prst="rect">
            <a:avLst/>
          </a:prstGeom>
          <a:solidFill>
            <a:srgbClr val="10F045"/>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Banks,</a:t>
            </a:r>
          </a:p>
          <a:p>
            <a:pPr algn="ctr" latinLnBrk="0"/>
            <a:r>
              <a:rPr lang="en-US" altLang="ko-KR" sz="2000" dirty="0">
                <a:solidFill>
                  <a:schemeClr val="accent5">
                    <a:lumMod val="10000"/>
                  </a:schemeClr>
                </a:solidFill>
                <a:latin typeface="Times New Roman" pitchFamily="18" charset="0"/>
                <a:cs typeface="Times New Roman" pitchFamily="18" charset="0"/>
              </a:rPr>
              <a:t>Foreign</a:t>
            </a:r>
          </a:p>
          <a:p>
            <a:pPr algn="ctr" latinLnBrk="0"/>
            <a:r>
              <a:rPr lang="en-US" altLang="ko-KR" sz="2000" dirty="0">
                <a:solidFill>
                  <a:schemeClr val="accent5">
                    <a:lumMod val="10000"/>
                  </a:schemeClr>
                </a:solidFill>
                <a:latin typeface="Times New Roman" pitchFamily="18" charset="0"/>
                <a:cs typeface="Times New Roman" pitchFamily="18" charset="0"/>
              </a:rPr>
              <a:t>Exchange</a:t>
            </a:r>
            <a:endParaRPr lang="ko-KR" altLang="en-US" sz="2000" dirty="0">
              <a:solidFill>
                <a:schemeClr val="accent5">
                  <a:lumMod val="10000"/>
                </a:schemeClr>
              </a:solidFill>
              <a:latin typeface="Times New Roman" pitchFamily="18" charset="0"/>
              <a:cs typeface="Times New Roman" pitchFamily="18" charset="0"/>
            </a:endParaRPr>
          </a:p>
        </p:txBody>
      </p:sp>
      <p:sp>
        <p:nvSpPr>
          <p:cNvPr id="17" name="직사각형 16"/>
          <p:cNvSpPr/>
          <p:nvPr/>
        </p:nvSpPr>
        <p:spPr bwMode="auto">
          <a:xfrm>
            <a:off x="2528012" y="1435600"/>
            <a:ext cx="1656184" cy="999728"/>
          </a:xfrm>
          <a:prstGeom prst="rect">
            <a:avLst/>
          </a:prstGeom>
          <a:solidFill>
            <a:srgbClr val="00B0F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Travel agents</a:t>
            </a:r>
            <a:endParaRPr lang="ko-KR" altLang="en-US" sz="2000" dirty="0">
              <a:solidFill>
                <a:schemeClr val="accent5">
                  <a:lumMod val="10000"/>
                </a:schemeClr>
              </a:solidFill>
              <a:latin typeface="Times New Roman" pitchFamily="18" charset="0"/>
              <a:cs typeface="Times New Roman" pitchFamily="18" charset="0"/>
            </a:endParaRPr>
          </a:p>
        </p:txBody>
      </p:sp>
      <p:sp>
        <p:nvSpPr>
          <p:cNvPr id="18" name="직사각형 17"/>
          <p:cNvSpPr/>
          <p:nvPr/>
        </p:nvSpPr>
        <p:spPr bwMode="auto">
          <a:xfrm>
            <a:off x="4616244" y="1427216"/>
            <a:ext cx="1656184" cy="999728"/>
          </a:xfrm>
          <a:prstGeom prst="rect">
            <a:avLst/>
          </a:prstGeom>
          <a:solidFill>
            <a:srgbClr val="00B0F0"/>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Tour operators</a:t>
            </a:r>
            <a:endParaRPr lang="ko-KR" altLang="en-US" sz="2000" dirty="0">
              <a:solidFill>
                <a:schemeClr val="accent5">
                  <a:lumMod val="10000"/>
                </a:schemeClr>
              </a:solidFill>
              <a:latin typeface="Times New Roman" pitchFamily="18" charset="0"/>
              <a:cs typeface="Times New Roman" pitchFamily="18" charset="0"/>
            </a:endParaRPr>
          </a:p>
        </p:txBody>
      </p:sp>
      <p:sp>
        <p:nvSpPr>
          <p:cNvPr id="19" name="직사각형 18"/>
          <p:cNvSpPr/>
          <p:nvPr/>
        </p:nvSpPr>
        <p:spPr bwMode="auto">
          <a:xfrm>
            <a:off x="4616244" y="2754588"/>
            <a:ext cx="1656184" cy="1143744"/>
          </a:xfrm>
          <a:prstGeom prst="rect">
            <a:avLst/>
          </a:prstGeom>
          <a:solidFill>
            <a:srgbClr val="CC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dirty="0">
                <a:solidFill>
                  <a:schemeClr val="accent5">
                    <a:lumMod val="10000"/>
                  </a:schemeClr>
                </a:solidFill>
                <a:latin typeface="Times New Roman" pitchFamily="18" charset="0"/>
                <a:cs typeface="Times New Roman" pitchFamily="18" charset="0"/>
              </a:rPr>
              <a:t>Attractions and</a:t>
            </a:r>
          </a:p>
          <a:p>
            <a:pPr algn="ctr" latinLnBrk="0"/>
            <a:r>
              <a:rPr lang="en-US" altLang="ko-KR" dirty="0">
                <a:solidFill>
                  <a:schemeClr val="accent5">
                    <a:lumMod val="10000"/>
                  </a:schemeClr>
                </a:solidFill>
                <a:latin typeface="Times New Roman" pitchFamily="18" charset="0"/>
                <a:cs typeface="Times New Roman" pitchFamily="18" charset="0"/>
              </a:rPr>
              <a:t>Activities</a:t>
            </a:r>
          </a:p>
          <a:p>
            <a:pPr algn="ctr" latinLnBrk="0"/>
            <a:r>
              <a:rPr lang="en-US" altLang="ko-KR" dirty="0">
                <a:solidFill>
                  <a:schemeClr val="accent5">
                    <a:lumMod val="10000"/>
                  </a:schemeClr>
                </a:solidFill>
                <a:latin typeface="Times New Roman" pitchFamily="18" charset="0"/>
                <a:cs typeface="Times New Roman" pitchFamily="18" charset="0"/>
              </a:rPr>
              <a:t>e.g., theme parks,</a:t>
            </a:r>
          </a:p>
          <a:p>
            <a:pPr algn="ctr" latinLnBrk="0"/>
            <a:r>
              <a:rPr lang="en-US" altLang="ko-KR" dirty="0">
                <a:solidFill>
                  <a:schemeClr val="accent5">
                    <a:lumMod val="10000"/>
                  </a:schemeClr>
                </a:solidFill>
                <a:latin typeface="Times New Roman" pitchFamily="18" charset="0"/>
                <a:cs typeface="Times New Roman" pitchFamily="18" charset="0"/>
              </a:rPr>
              <a:t> casinos, sports</a:t>
            </a:r>
            <a:endParaRPr lang="ko-KR" altLang="en-US" dirty="0">
              <a:solidFill>
                <a:schemeClr val="accent5">
                  <a:lumMod val="10000"/>
                </a:schemeClr>
              </a:solidFill>
              <a:latin typeface="Times New Roman" pitchFamily="18" charset="0"/>
              <a:cs typeface="Times New Roman" pitchFamily="18" charset="0"/>
            </a:endParaRPr>
          </a:p>
        </p:txBody>
      </p:sp>
      <p:sp>
        <p:nvSpPr>
          <p:cNvPr id="20" name="직사각형 19"/>
          <p:cNvSpPr/>
          <p:nvPr/>
        </p:nvSpPr>
        <p:spPr bwMode="auto">
          <a:xfrm>
            <a:off x="4616244" y="4050732"/>
            <a:ext cx="1656184" cy="1143744"/>
          </a:xfrm>
          <a:prstGeom prst="rect">
            <a:avLst/>
          </a:prstGeom>
          <a:solidFill>
            <a:srgbClr val="CC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Airlines, </a:t>
            </a:r>
          </a:p>
          <a:p>
            <a:pPr algn="ctr" latinLnBrk="0"/>
            <a:r>
              <a:rPr lang="en-US" altLang="ko-KR" sz="2000" dirty="0">
                <a:solidFill>
                  <a:schemeClr val="accent5">
                    <a:lumMod val="10000"/>
                  </a:schemeClr>
                </a:solidFill>
                <a:latin typeface="Times New Roman" pitchFamily="18" charset="0"/>
                <a:cs typeface="Times New Roman" pitchFamily="18" charset="0"/>
              </a:rPr>
              <a:t>Cruise Ships</a:t>
            </a:r>
            <a:endParaRPr lang="ko-KR" altLang="en-US" sz="2000" dirty="0">
              <a:solidFill>
                <a:schemeClr val="accent5">
                  <a:lumMod val="10000"/>
                </a:schemeClr>
              </a:solidFill>
              <a:latin typeface="Times New Roman" pitchFamily="18" charset="0"/>
              <a:cs typeface="Times New Roman" pitchFamily="18" charset="0"/>
            </a:endParaRPr>
          </a:p>
        </p:txBody>
      </p:sp>
      <p:sp>
        <p:nvSpPr>
          <p:cNvPr id="21" name="직사각형 20"/>
          <p:cNvSpPr/>
          <p:nvPr/>
        </p:nvSpPr>
        <p:spPr bwMode="auto">
          <a:xfrm>
            <a:off x="2528012" y="2754588"/>
            <a:ext cx="1656184" cy="1143744"/>
          </a:xfrm>
          <a:prstGeom prst="rect">
            <a:avLst/>
          </a:prstGeom>
          <a:solidFill>
            <a:srgbClr val="CC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Restaurants</a:t>
            </a:r>
            <a:endParaRPr lang="ko-KR" altLang="en-US" sz="2000" dirty="0">
              <a:solidFill>
                <a:schemeClr val="accent5">
                  <a:lumMod val="10000"/>
                </a:schemeClr>
              </a:solidFill>
              <a:latin typeface="Times New Roman" pitchFamily="18" charset="0"/>
              <a:cs typeface="Times New Roman" pitchFamily="18" charset="0"/>
            </a:endParaRPr>
          </a:p>
        </p:txBody>
      </p:sp>
      <p:sp>
        <p:nvSpPr>
          <p:cNvPr id="22" name="직사각형 21"/>
          <p:cNvSpPr/>
          <p:nvPr/>
        </p:nvSpPr>
        <p:spPr bwMode="auto">
          <a:xfrm>
            <a:off x="2528012" y="4059116"/>
            <a:ext cx="1656184" cy="1143744"/>
          </a:xfrm>
          <a:prstGeom prst="rect">
            <a:avLst/>
          </a:prstGeom>
          <a:solidFill>
            <a:srgbClr val="CC66FF"/>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sz="2000" dirty="0">
                <a:solidFill>
                  <a:schemeClr val="accent5">
                    <a:lumMod val="10000"/>
                  </a:schemeClr>
                </a:solidFill>
                <a:latin typeface="Times New Roman" pitchFamily="18" charset="0"/>
                <a:cs typeface="Times New Roman" pitchFamily="18" charset="0"/>
              </a:rPr>
              <a:t>Hotels</a:t>
            </a:r>
            <a:endParaRPr lang="ko-KR" altLang="en-US" sz="2000" dirty="0">
              <a:solidFill>
                <a:schemeClr val="accent5">
                  <a:lumMod val="10000"/>
                </a:schemeClr>
              </a:solidFill>
              <a:latin typeface="Times New Roman" pitchFamily="18" charset="0"/>
              <a:cs typeface="Times New Roman" pitchFamily="18" charset="0"/>
            </a:endParaRPr>
          </a:p>
        </p:txBody>
      </p:sp>
      <p:cxnSp>
        <p:nvCxnSpPr>
          <p:cNvPr id="26" name="직선 연결선 25"/>
          <p:cNvCxnSpPr/>
          <p:nvPr/>
        </p:nvCxnSpPr>
        <p:spPr bwMode="auto">
          <a:xfrm rot="5400000">
            <a:off x="649296" y="3296380"/>
            <a:ext cx="2952328"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27" name="직선 연결선 26"/>
          <p:cNvCxnSpPr/>
          <p:nvPr/>
        </p:nvCxnSpPr>
        <p:spPr bwMode="auto">
          <a:xfrm rot="5400000">
            <a:off x="5624356" y="3806944"/>
            <a:ext cx="2016224"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49" name="직선 연결선 48"/>
          <p:cNvCxnSpPr/>
          <p:nvPr/>
        </p:nvCxnSpPr>
        <p:spPr bwMode="auto">
          <a:xfrm>
            <a:off x="1793684" y="1834152"/>
            <a:ext cx="360000"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1" name="직선 연결선 50"/>
          <p:cNvCxnSpPr/>
          <p:nvPr/>
        </p:nvCxnSpPr>
        <p:spPr bwMode="auto">
          <a:xfrm>
            <a:off x="1765068" y="2726824"/>
            <a:ext cx="360000"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2" name="직선 연결선 51"/>
          <p:cNvCxnSpPr/>
          <p:nvPr/>
        </p:nvCxnSpPr>
        <p:spPr bwMode="auto">
          <a:xfrm>
            <a:off x="1779356" y="3734936"/>
            <a:ext cx="360000"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3" name="직선 연결선 52"/>
          <p:cNvCxnSpPr/>
          <p:nvPr/>
        </p:nvCxnSpPr>
        <p:spPr bwMode="auto">
          <a:xfrm>
            <a:off x="1765068" y="4743048"/>
            <a:ext cx="360000"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cxnSp>
        <p:nvCxnSpPr>
          <p:cNvPr id="57" name="직선 화살표 연결선 56"/>
          <p:cNvCxnSpPr/>
          <p:nvPr/>
        </p:nvCxnSpPr>
        <p:spPr bwMode="auto">
          <a:xfrm>
            <a:off x="2095964" y="3302888"/>
            <a:ext cx="432048"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cxnSp>
        <p:nvCxnSpPr>
          <p:cNvPr id="58" name="직선 화살표 연결선 57"/>
          <p:cNvCxnSpPr/>
          <p:nvPr/>
        </p:nvCxnSpPr>
        <p:spPr bwMode="auto">
          <a:xfrm>
            <a:off x="2110712" y="4597444"/>
            <a:ext cx="432048"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cxnSp>
        <p:nvCxnSpPr>
          <p:cNvPr id="59" name="직선 연결선 58"/>
          <p:cNvCxnSpPr/>
          <p:nvPr/>
        </p:nvCxnSpPr>
        <p:spPr bwMode="auto">
          <a:xfrm>
            <a:off x="6632468" y="3806944"/>
            <a:ext cx="432008"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61" name="직선 연결선 60"/>
          <p:cNvCxnSpPr/>
          <p:nvPr/>
        </p:nvCxnSpPr>
        <p:spPr bwMode="auto">
          <a:xfrm>
            <a:off x="6632468" y="4815056"/>
            <a:ext cx="432008"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62" name="직선 연결선 61"/>
          <p:cNvCxnSpPr/>
          <p:nvPr/>
        </p:nvCxnSpPr>
        <p:spPr bwMode="auto">
          <a:xfrm>
            <a:off x="6632468" y="2798832"/>
            <a:ext cx="432008"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70" name="직선 화살표 연결선 69"/>
          <p:cNvCxnSpPr>
            <a:endCxn id="19" idx="3"/>
          </p:cNvCxnSpPr>
          <p:nvPr/>
        </p:nvCxnSpPr>
        <p:spPr bwMode="auto">
          <a:xfrm rot="10800000" flipV="1">
            <a:off x="6272428" y="3302888"/>
            <a:ext cx="360040" cy="23572"/>
          </a:xfrm>
          <a:prstGeom prst="straightConnector1">
            <a:avLst/>
          </a:prstGeom>
          <a:solidFill>
            <a:schemeClr val="accent1"/>
          </a:solidFill>
          <a:ln w="28575" cap="flat" cmpd="sng" algn="ctr">
            <a:solidFill>
              <a:schemeClr val="accent2"/>
            </a:solidFill>
            <a:prstDash val="solid"/>
            <a:round/>
            <a:headEnd type="none" w="med" len="med"/>
            <a:tailEnd type="arrow"/>
          </a:ln>
          <a:effectLst/>
        </p:spPr>
      </p:cxnSp>
      <p:cxnSp>
        <p:nvCxnSpPr>
          <p:cNvPr id="73" name="직선 화살표 연결선 72"/>
          <p:cNvCxnSpPr/>
          <p:nvPr/>
        </p:nvCxnSpPr>
        <p:spPr bwMode="auto">
          <a:xfrm rot="10800000" flipV="1">
            <a:off x="6272428" y="4527024"/>
            <a:ext cx="360040" cy="23572"/>
          </a:xfrm>
          <a:prstGeom prst="straightConnector1">
            <a:avLst/>
          </a:prstGeom>
          <a:solidFill>
            <a:schemeClr val="accent1"/>
          </a:solidFill>
          <a:ln w="28575" cap="flat" cmpd="sng" algn="ctr">
            <a:solidFill>
              <a:schemeClr val="accent2"/>
            </a:solidFill>
            <a:prstDash val="solid"/>
            <a:round/>
            <a:headEnd type="none" w="med" len="med"/>
            <a:tailEnd type="arrow"/>
          </a:ln>
          <a:effectLst/>
        </p:spPr>
      </p:cxnSp>
      <p:cxnSp>
        <p:nvCxnSpPr>
          <p:cNvPr id="75" name="직선 연결선 74"/>
          <p:cNvCxnSpPr/>
          <p:nvPr/>
        </p:nvCxnSpPr>
        <p:spPr bwMode="auto">
          <a:xfrm>
            <a:off x="1691680" y="5391120"/>
            <a:ext cx="5976664"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99" name="직선 연결선 98"/>
          <p:cNvCxnSpPr/>
          <p:nvPr/>
        </p:nvCxnSpPr>
        <p:spPr bwMode="auto">
          <a:xfrm rot="5400000">
            <a:off x="1592620" y="5490180"/>
            <a:ext cx="198120"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102" name="직선 연결선 101"/>
          <p:cNvCxnSpPr/>
          <p:nvPr/>
        </p:nvCxnSpPr>
        <p:spPr bwMode="auto">
          <a:xfrm rot="5400000">
            <a:off x="4463988" y="5500864"/>
            <a:ext cx="216024"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103" name="직선 연결선 102"/>
          <p:cNvCxnSpPr/>
          <p:nvPr/>
        </p:nvCxnSpPr>
        <p:spPr bwMode="auto">
          <a:xfrm rot="5400000">
            <a:off x="7560331" y="5499132"/>
            <a:ext cx="216024" cy="0"/>
          </a:xfrm>
          <a:prstGeom prst="line">
            <a:avLst/>
          </a:prstGeom>
          <a:solidFill>
            <a:schemeClr val="accent1"/>
          </a:solidFill>
          <a:ln w="28575" cap="flat" cmpd="sng" algn="ctr">
            <a:solidFill>
              <a:schemeClr val="accent2"/>
            </a:solidFill>
            <a:prstDash val="solid"/>
            <a:round/>
            <a:headEnd type="none" w="med" len="med"/>
            <a:tailEnd type="none" w="med" len="med"/>
          </a:ln>
          <a:effectLst/>
        </p:spPr>
      </p:cxnSp>
      <p:cxnSp>
        <p:nvCxnSpPr>
          <p:cNvPr id="110" name="직선 화살표 연결선 109"/>
          <p:cNvCxnSpPr/>
          <p:nvPr/>
        </p:nvCxnSpPr>
        <p:spPr bwMode="auto">
          <a:xfrm rot="5400000" flipH="1" flipV="1">
            <a:off x="3311066" y="5282314"/>
            <a:ext cx="216024" cy="1588"/>
          </a:xfrm>
          <a:prstGeom prst="straightConnector1">
            <a:avLst/>
          </a:prstGeom>
          <a:solidFill>
            <a:schemeClr val="accent1"/>
          </a:solidFill>
          <a:ln w="28575" cap="flat" cmpd="sng" algn="ctr">
            <a:solidFill>
              <a:schemeClr val="accent2"/>
            </a:solidFill>
            <a:prstDash val="solid"/>
            <a:round/>
            <a:headEnd type="none" w="med" len="med"/>
            <a:tailEnd type="arrow"/>
          </a:ln>
          <a:effectLst/>
        </p:spPr>
      </p:cxnSp>
      <p:cxnSp>
        <p:nvCxnSpPr>
          <p:cNvPr id="111" name="직선 화살표 연결선 110"/>
          <p:cNvCxnSpPr/>
          <p:nvPr/>
        </p:nvCxnSpPr>
        <p:spPr bwMode="auto">
          <a:xfrm rot="5400000" flipH="1" flipV="1">
            <a:off x="5423598" y="5282314"/>
            <a:ext cx="216024" cy="1588"/>
          </a:xfrm>
          <a:prstGeom prst="straightConnector1">
            <a:avLst/>
          </a:prstGeom>
          <a:solidFill>
            <a:schemeClr val="accent1"/>
          </a:solidFill>
          <a:ln w="28575" cap="flat" cmpd="sng" algn="ctr">
            <a:solidFill>
              <a:schemeClr val="accent2"/>
            </a:solidFill>
            <a:prstDash val="solid"/>
            <a:round/>
            <a:headEnd type="none" w="med" len="med"/>
            <a:tailEnd type="arrow"/>
          </a:ln>
          <a:effectLst/>
        </p:spPr>
      </p:cxnSp>
      <p:cxnSp>
        <p:nvCxnSpPr>
          <p:cNvPr id="113" name="직선 연결선 112"/>
          <p:cNvCxnSpPr/>
          <p:nvPr/>
        </p:nvCxnSpPr>
        <p:spPr bwMode="auto">
          <a:xfrm rot="5400000" flipH="1" flipV="1">
            <a:off x="5768372" y="2582808"/>
            <a:ext cx="1440160" cy="0"/>
          </a:xfrm>
          <a:prstGeom prst="line">
            <a:avLst/>
          </a:prstGeom>
          <a:solidFill>
            <a:schemeClr val="accent1"/>
          </a:solidFill>
          <a:ln w="19050" cap="flat" cmpd="sng" algn="ctr">
            <a:solidFill>
              <a:schemeClr val="accent2"/>
            </a:solidFill>
            <a:prstDash val="dashDot"/>
            <a:round/>
            <a:headEnd type="none" w="med" len="med"/>
            <a:tailEnd type="none" w="med" len="med"/>
          </a:ln>
          <a:effectLst/>
        </p:spPr>
      </p:cxnSp>
      <p:cxnSp>
        <p:nvCxnSpPr>
          <p:cNvPr id="128" name="직선 연결선 127"/>
          <p:cNvCxnSpPr>
            <a:endCxn id="13" idx="1"/>
          </p:cNvCxnSpPr>
          <p:nvPr/>
        </p:nvCxnSpPr>
        <p:spPr bwMode="auto">
          <a:xfrm flipV="1">
            <a:off x="6488452" y="1843575"/>
            <a:ext cx="576064" cy="19154"/>
          </a:xfrm>
          <a:prstGeom prst="line">
            <a:avLst/>
          </a:prstGeom>
          <a:solidFill>
            <a:schemeClr val="accent1"/>
          </a:solidFill>
          <a:ln w="19050" cap="flat" cmpd="sng" algn="ctr">
            <a:solidFill>
              <a:schemeClr val="accent2"/>
            </a:solidFill>
            <a:prstDash val="dashDot"/>
            <a:round/>
            <a:headEnd type="none" w="med" len="med"/>
            <a:tailEnd type="none" w="med" len="med"/>
          </a:ln>
          <a:effectLst/>
        </p:spPr>
      </p:cxnSp>
      <p:cxnSp>
        <p:nvCxnSpPr>
          <p:cNvPr id="130" name="직선 화살표 연결선 129"/>
          <p:cNvCxnSpPr>
            <a:stCxn id="17" idx="2"/>
            <a:endCxn id="21" idx="0"/>
          </p:cNvCxnSpPr>
          <p:nvPr/>
        </p:nvCxnSpPr>
        <p:spPr bwMode="auto">
          <a:xfrm rot="5400000">
            <a:off x="3196474" y="2594958"/>
            <a:ext cx="319260"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cxnSp>
        <p:nvCxnSpPr>
          <p:cNvPr id="131" name="직선 화살표 연결선 130"/>
          <p:cNvCxnSpPr/>
          <p:nvPr/>
        </p:nvCxnSpPr>
        <p:spPr bwMode="auto">
          <a:xfrm rot="5400000">
            <a:off x="5247908" y="2612376"/>
            <a:ext cx="319260" cy="1588"/>
          </a:xfrm>
          <a:prstGeom prst="straightConnector1">
            <a:avLst/>
          </a:prstGeom>
          <a:ln w="28575">
            <a:headEnd type="none" w="med" len="med"/>
            <a:tailEnd type="arrow"/>
          </a:ln>
        </p:spPr>
        <p:style>
          <a:lnRef idx="1">
            <a:schemeClr val="accent2"/>
          </a:lnRef>
          <a:fillRef idx="0">
            <a:schemeClr val="accent2"/>
          </a:fillRef>
          <a:effectRef idx="0">
            <a:schemeClr val="accent2"/>
          </a:effectRef>
          <a:fontRef idx="minor">
            <a:schemeClr val="tx1"/>
          </a:fontRef>
        </p:style>
      </p:cxnSp>
      <p:cxnSp>
        <p:nvCxnSpPr>
          <p:cNvPr id="133" name="직선 연결선 132"/>
          <p:cNvCxnSpPr/>
          <p:nvPr/>
        </p:nvCxnSpPr>
        <p:spPr bwMode="auto">
          <a:xfrm>
            <a:off x="3363424" y="2582808"/>
            <a:ext cx="2052000" cy="0"/>
          </a:xfrm>
          <a:prstGeom prst="line">
            <a:avLst/>
          </a:prstGeom>
          <a:ln w="28575">
            <a:headEnd type="none" w="med" len="med"/>
            <a:tailEnd type="none" w="med" len="med"/>
          </a:ln>
        </p:spPr>
        <p:style>
          <a:lnRef idx="1">
            <a:schemeClr val="accent2"/>
          </a:lnRef>
          <a:fillRef idx="0">
            <a:schemeClr val="accent2"/>
          </a:fillRef>
          <a:effectRef idx="0">
            <a:schemeClr val="accent2"/>
          </a:effectRef>
          <a:fontRef idx="minor">
            <a:schemeClr val="tx1"/>
          </a:fontRef>
        </p:style>
      </p:cxnSp>
      <p:sp>
        <p:nvSpPr>
          <p:cNvPr id="140" name="직사각형 139"/>
          <p:cNvSpPr/>
          <p:nvPr/>
        </p:nvSpPr>
        <p:spPr bwMode="auto">
          <a:xfrm>
            <a:off x="3188608" y="5554568"/>
            <a:ext cx="2808312" cy="1102917"/>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b="1" dirty="0">
                <a:solidFill>
                  <a:schemeClr val="accent5">
                    <a:lumMod val="10000"/>
                  </a:schemeClr>
                </a:solidFill>
                <a:latin typeface="Times New Roman" pitchFamily="18" charset="0"/>
                <a:cs typeface="Times New Roman" pitchFamily="18" charset="0"/>
              </a:rPr>
              <a:t>Educational Institutions</a:t>
            </a:r>
          </a:p>
          <a:p>
            <a:pPr algn="ctr" latinLnBrk="0"/>
            <a:r>
              <a:rPr lang="en-US" altLang="ko-KR" dirty="0">
                <a:solidFill>
                  <a:schemeClr val="accent5">
                    <a:lumMod val="10000"/>
                  </a:schemeClr>
                </a:solidFill>
                <a:latin typeface="Times New Roman" pitchFamily="18" charset="0"/>
                <a:cs typeface="Times New Roman" pitchFamily="18" charset="0"/>
              </a:rPr>
              <a:t>e.g. James Cook  University,</a:t>
            </a:r>
          </a:p>
          <a:p>
            <a:pPr algn="ctr" latinLnBrk="0"/>
            <a:r>
              <a:rPr lang="en-US" altLang="ko-KR" dirty="0">
                <a:solidFill>
                  <a:schemeClr val="accent5">
                    <a:lumMod val="10000"/>
                  </a:schemeClr>
                </a:solidFill>
                <a:latin typeface="Times New Roman" pitchFamily="18" charset="0"/>
                <a:cs typeface="Times New Roman" pitchFamily="18" charset="0"/>
              </a:rPr>
              <a:t>Cairns College of TAFE</a:t>
            </a:r>
            <a:endParaRPr lang="ko-KR" altLang="en-US" dirty="0">
              <a:solidFill>
                <a:schemeClr val="accent5">
                  <a:lumMod val="10000"/>
                </a:schemeClr>
              </a:solidFill>
              <a:latin typeface="Times New Roman" pitchFamily="18" charset="0"/>
              <a:cs typeface="Times New Roman" pitchFamily="18" charset="0"/>
            </a:endParaRPr>
          </a:p>
        </p:txBody>
      </p:sp>
      <p:sp>
        <p:nvSpPr>
          <p:cNvPr id="141" name="직사각형 140"/>
          <p:cNvSpPr/>
          <p:nvPr/>
        </p:nvSpPr>
        <p:spPr bwMode="auto">
          <a:xfrm>
            <a:off x="6243424" y="5539328"/>
            <a:ext cx="2808312" cy="1102917"/>
          </a:xfrm>
          <a:prstGeom prst="rect">
            <a:avLst/>
          </a:prstGeom>
          <a:solidFill>
            <a:schemeClr val="accent1"/>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latinLnBrk="0"/>
            <a:r>
              <a:rPr lang="en-US" altLang="ko-KR" b="1" dirty="0">
                <a:solidFill>
                  <a:schemeClr val="accent5">
                    <a:lumMod val="10000"/>
                  </a:schemeClr>
                </a:solidFill>
                <a:latin typeface="Times New Roman" pitchFamily="18" charset="0"/>
                <a:cs typeface="Times New Roman" pitchFamily="18" charset="0"/>
              </a:rPr>
              <a:t>Industry Groups</a:t>
            </a:r>
          </a:p>
          <a:p>
            <a:pPr algn="ctr" latinLnBrk="0"/>
            <a:r>
              <a:rPr lang="en-US" altLang="ko-KR" dirty="0">
                <a:solidFill>
                  <a:schemeClr val="accent5">
                    <a:lumMod val="10000"/>
                  </a:schemeClr>
                </a:solidFill>
                <a:latin typeface="Times New Roman" pitchFamily="18" charset="0"/>
                <a:cs typeface="Times New Roman" pitchFamily="18" charset="0"/>
              </a:rPr>
              <a:t>e.g. Queensland Tourism</a:t>
            </a:r>
          </a:p>
          <a:p>
            <a:pPr algn="ctr" latinLnBrk="0"/>
            <a:r>
              <a:rPr lang="en-US" altLang="ko-KR" dirty="0">
                <a:solidFill>
                  <a:schemeClr val="accent5">
                    <a:lumMod val="10000"/>
                  </a:schemeClr>
                </a:solidFill>
                <a:latin typeface="Times New Roman" pitchFamily="18" charset="0"/>
                <a:cs typeface="Times New Roman" pitchFamily="18" charset="0"/>
              </a:rPr>
              <a:t> Industry Council</a:t>
            </a:r>
            <a:endParaRPr lang="ko-KR" altLang="en-US" dirty="0">
              <a:solidFill>
                <a:schemeClr val="accent5">
                  <a:lumMod val="10000"/>
                </a:schemeClr>
              </a:solidFill>
              <a:latin typeface="Times New Roman" pitchFamily="18" charset="0"/>
              <a:cs typeface="Times New Roman" pitchFamily="18" charset="0"/>
            </a:endParaRPr>
          </a:p>
        </p:txBody>
      </p:sp>
      <p:sp>
        <p:nvSpPr>
          <p:cNvPr id="142" name="TextBox 141"/>
          <p:cNvSpPr txBox="1"/>
          <p:nvPr/>
        </p:nvSpPr>
        <p:spPr>
          <a:xfrm>
            <a:off x="140648" y="6608400"/>
            <a:ext cx="8532440" cy="307777"/>
          </a:xfrm>
          <a:prstGeom prst="rect">
            <a:avLst/>
          </a:prstGeom>
          <a:noFill/>
        </p:spPr>
        <p:txBody>
          <a:bodyPr wrap="square" rtlCol="0">
            <a:spAutoFit/>
          </a:bodyPr>
          <a:lstStyle/>
          <a:p>
            <a:r>
              <a:rPr lang="en-US" altLang="ko-KR" sz="1400" i="1" dirty="0">
                <a:latin typeface="Times New Roman" pitchFamily="18" charset="0"/>
                <a:cs typeface="Times New Roman" pitchFamily="18" charset="0"/>
              </a:rPr>
              <a:t>Sources:  Michael Porter, 2009 (HBS student team research ) </a:t>
            </a:r>
            <a:endParaRPr lang="ko-KR" altLang="en-US" sz="1400" i="1"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4"/>
          <p:cNvSpPr txBox="1">
            <a:spLocks noChangeArrowheads="1"/>
          </p:cNvSpPr>
          <p:nvPr/>
        </p:nvSpPr>
        <p:spPr bwMode="auto">
          <a:xfrm>
            <a:off x="0" y="193090"/>
            <a:ext cx="9144000" cy="1651734"/>
          </a:xfrm>
          <a:prstGeom prst="rect">
            <a:avLst/>
          </a:prstGeom>
          <a:noFill/>
          <a:ln w="12700" cap="sq">
            <a:noFill/>
            <a:miter lim="800000"/>
            <a:headEnd type="none" w="sm" len="sm"/>
            <a:tailEnd type="none" w="sm" len="sm"/>
          </a:ln>
        </p:spPr>
        <p:txBody>
          <a:bodyPr wrap="square">
            <a:spAutoFit/>
          </a:bodyPr>
          <a:lstStyle/>
          <a:p>
            <a:pPr algn="ctr">
              <a:lnSpc>
                <a:spcPts val="2000"/>
              </a:lnSpc>
              <a:spcBef>
                <a:spcPct val="50000"/>
              </a:spcBef>
              <a:defRPr/>
            </a:pPr>
            <a:r>
              <a:rPr lang="en-US" altLang="ko-KR" sz="3600" b="1" dirty="0">
                <a:solidFill>
                  <a:srgbClr val="FFC000"/>
                </a:solidFill>
                <a:latin typeface="Times New Roman" pitchFamily="18" charset="0"/>
                <a:cs typeface="Times New Roman" pitchFamily="18" charset="0"/>
              </a:rPr>
              <a:t>National Cluster Export Portfolio       </a:t>
            </a:r>
          </a:p>
          <a:p>
            <a:pPr algn="ctr">
              <a:lnSpc>
                <a:spcPts val="2000"/>
              </a:lnSpc>
              <a:spcBef>
                <a:spcPct val="50000"/>
              </a:spcBef>
              <a:defRPr/>
            </a:pPr>
            <a:r>
              <a:rPr lang="en-US" altLang="ko-KR" sz="2800" b="1" dirty="0">
                <a:solidFill>
                  <a:srgbClr val="FFC000"/>
                </a:solidFill>
                <a:latin typeface="Times New Roman" pitchFamily="18" charset="0"/>
                <a:cs typeface="Times New Roman" pitchFamily="18" charset="0"/>
              </a:rPr>
              <a:t>Germany, 1997 to 2007</a:t>
            </a:r>
            <a:endParaRPr lang="ko-KR" altLang="en-US" sz="2800" b="1" dirty="0">
              <a:solidFill>
                <a:srgbClr val="FFC000"/>
              </a:solidFill>
              <a:latin typeface="Times New Roman" pitchFamily="18" charset="0"/>
              <a:cs typeface="Times New Roman" pitchFamily="18" charset="0"/>
            </a:endParaRPr>
          </a:p>
          <a:p>
            <a:pPr algn="ctr">
              <a:spcBef>
                <a:spcPct val="50000"/>
              </a:spcBef>
              <a:defRPr/>
            </a:pPr>
            <a:endParaRPr lang="en-US" altLang="ko-KR" sz="3600" b="1" dirty="0">
              <a:solidFill>
                <a:srgbClr val="FFC000"/>
              </a:solidFill>
              <a:latin typeface="Times New Roman" pitchFamily="18" charset="0"/>
              <a:cs typeface="Times New Roman" pitchFamily="18" charset="0"/>
            </a:endParaRPr>
          </a:p>
        </p:txBody>
      </p:sp>
      <p:grpSp>
        <p:nvGrpSpPr>
          <p:cNvPr id="9" name="그룹 8"/>
          <p:cNvGrpSpPr/>
          <p:nvPr/>
        </p:nvGrpSpPr>
        <p:grpSpPr>
          <a:xfrm>
            <a:off x="0" y="1137760"/>
            <a:ext cx="9144000" cy="5472000"/>
            <a:chOff x="0" y="1137760"/>
            <a:chExt cx="9144000" cy="5472000"/>
          </a:xfrm>
        </p:grpSpPr>
        <p:pic>
          <p:nvPicPr>
            <p:cNvPr id="4" name="그림 3" descr="National Cluster Export PortfolioGermany, 1997 to 2007.JPG"/>
            <p:cNvPicPr>
              <a:picLocks noChangeAspect="1"/>
            </p:cNvPicPr>
            <p:nvPr/>
          </p:nvPicPr>
          <p:blipFill>
            <a:blip r:embed="rId3" cstate="print"/>
            <a:stretch>
              <a:fillRect/>
            </a:stretch>
          </p:blipFill>
          <p:spPr>
            <a:xfrm>
              <a:off x="0" y="1137760"/>
              <a:ext cx="9144000" cy="5472000"/>
            </a:xfrm>
            <a:prstGeom prst="rect">
              <a:avLst/>
            </a:prstGeom>
          </p:spPr>
        </p:pic>
        <p:sp>
          <p:nvSpPr>
            <p:cNvPr id="5" name="직사각형 4"/>
            <p:cNvSpPr/>
            <p:nvPr/>
          </p:nvSpPr>
          <p:spPr bwMode="auto">
            <a:xfrm>
              <a:off x="0" y="6381825"/>
              <a:ext cx="6889201" cy="213610"/>
            </a:xfrm>
            <a:prstGeom prst="rect">
              <a:avLst/>
            </a:prstGeom>
            <a:solidFill>
              <a:schemeClr val="tx2"/>
            </a:solidFill>
            <a:ln w="9525"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ko-KR" altLang="en-US" sz="1800" b="0" i="0" u="none" strike="noStrike" cap="none" normalizeH="0" baseline="0">
                <a:ln>
                  <a:noFill/>
                </a:ln>
                <a:solidFill>
                  <a:schemeClr val="tx1"/>
                </a:solidFill>
                <a:effectLst/>
                <a:latin typeface="Arial" charset="0"/>
              </a:endParaRPr>
            </a:p>
          </p:txBody>
        </p:sp>
      </p:grpSp>
      <p:sp>
        <p:nvSpPr>
          <p:cNvPr id="7" name="TextBox 6"/>
          <p:cNvSpPr txBox="1"/>
          <p:nvPr/>
        </p:nvSpPr>
        <p:spPr>
          <a:xfrm>
            <a:off x="0" y="6554840"/>
            <a:ext cx="6732240" cy="307777"/>
          </a:xfrm>
          <a:prstGeom prst="rect">
            <a:avLst/>
          </a:prstGeom>
          <a:noFill/>
        </p:spPr>
        <p:txBody>
          <a:bodyPr wrap="square" rtlCol="0">
            <a:spAutoFit/>
          </a:bodyPr>
          <a:lstStyle/>
          <a:p>
            <a:r>
              <a:rPr lang="en-US" altLang="ko-KR" sz="1400" i="1" dirty="0">
                <a:latin typeface="Times New Roman" pitchFamily="18" charset="0"/>
                <a:cs typeface="Times New Roman" pitchFamily="18" charset="0"/>
              </a:rPr>
              <a:t>Source: Michael Porter, International Cluster Competitiveness Project, 2009</a:t>
            </a:r>
            <a:endParaRPr lang="ko-KR" altLang="en-US" sz="1400" i="1"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3"/>
          <p:cNvSpPr>
            <a:spLocks noGrp="1" noChangeArrowheads="1"/>
          </p:cNvSpPr>
          <p:nvPr>
            <p:ph type="body" idx="1"/>
          </p:nvPr>
        </p:nvSpPr>
        <p:spPr>
          <a:xfrm>
            <a:off x="179512" y="1196752"/>
            <a:ext cx="8964488" cy="5400600"/>
          </a:xfrm>
          <a:noFill/>
          <a:ln w="9525">
            <a:noFill/>
            <a:miter lim="800000"/>
            <a:headEnd/>
            <a:tailEnd/>
          </a:ln>
        </p:spPr>
        <p:txBody>
          <a:bodyPr vert="horz" wrap="square" lIns="91440" tIns="45720" rIns="91440" bIns="45720" numCol="1" anchor="t" anchorCtr="0" compatLnSpc="1">
            <a:prstTxWarp prst="textNoShape">
              <a:avLst/>
            </a:prstTxWarp>
          </a:bodyPr>
          <a:lstStyle/>
          <a:p>
            <a:pPr>
              <a:lnSpc>
                <a:spcPts val="4000"/>
              </a:lnSpc>
              <a:buNone/>
            </a:pPr>
            <a:r>
              <a:rPr kumimoji="1" lang="en-US" altLang="ko-KR" sz="2400" b="0" kern="1200" dirty="0">
                <a:latin typeface="Times New Roman" pitchFamily="18" charset="0"/>
                <a:ea typeface="굴림" pitchFamily="50" charset="-127"/>
                <a:cs typeface="Times New Roman" pitchFamily="18" charset="0"/>
              </a:rPr>
              <a:t>To help firms achieve productivity &amp; innovation</a:t>
            </a:r>
          </a:p>
          <a:p>
            <a:pPr>
              <a:lnSpc>
                <a:spcPts val="4000"/>
              </a:lnSpc>
              <a:buFont typeface="Arial" pitchFamily="34" charset="0"/>
              <a:buChar char="•"/>
            </a:pPr>
            <a:r>
              <a:rPr kumimoji="1" lang="en-US" altLang="ko-KR" sz="2400" b="0" kern="1200" dirty="0">
                <a:latin typeface="Times New Roman" pitchFamily="18" charset="0"/>
                <a:ea typeface="굴림" pitchFamily="50" charset="-127"/>
                <a:cs typeface="Times New Roman" pitchFamily="18" charset="0"/>
              </a:rPr>
              <a:t>Focus on specialized factor creation</a:t>
            </a:r>
          </a:p>
          <a:p>
            <a:pPr>
              <a:lnSpc>
                <a:spcPts val="4000"/>
              </a:lnSpc>
              <a:buFont typeface="Arial" pitchFamily="34" charset="0"/>
              <a:buChar char="•"/>
            </a:pPr>
            <a:r>
              <a:rPr kumimoji="1" lang="en-US" altLang="ko-KR" sz="2400" b="0" kern="1200" dirty="0">
                <a:latin typeface="Times New Roman" pitchFamily="18" charset="0"/>
                <a:ea typeface="굴림" pitchFamily="50" charset="-127"/>
                <a:cs typeface="Times New Roman" pitchFamily="18" charset="0"/>
              </a:rPr>
              <a:t>Enforce strict product, safety, and environmental standards</a:t>
            </a:r>
          </a:p>
          <a:p>
            <a:pPr>
              <a:lnSpc>
                <a:spcPts val="4000"/>
              </a:lnSpc>
              <a:buFont typeface="Arial" pitchFamily="34" charset="0"/>
              <a:buChar char="•"/>
            </a:pPr>
            <a:r>
              <a:rPr kumimoji="1" lang="en-US" altLang="ko-KR" sz="2400" b="0" kern="1200" dirty="0">
                <a:latin typeface="Times New Roman" pitchFamily="18" charset="0"/>
                <a:ea typeface="굴림" pitchFamily="50" charset="-127"/>
                <a:cs typeface="Times New Roman" pitchFamily="18" charset="0"/>
              </a:rPr>
              <a:t>Sharply limit direct cooperation among industry rivals </a:t>
            </a:r>
          </a:p>
          <a:p>
            <a:pPr>
              <a:lnSpc>
                <a:spcPts val="4000"/>
              </a:lnSpc>
              <a:buFont typeface="Arial" pitchFamily="34" charset="0"/>
              <a:buChar char="•"/>
            </a:pPr>
            <a:r>
              <a:rPr kumimoji="1" lang="en-US" altLang="ko-KR" sz="2400" b="0" kern="1200" dirty="0">
                <a:latin typeface="Times New Roman" pitchFamily="18" charset="0"/>
                <a:ea typeface="굴림" pitchFamily="50" charset="-127"/>
                <a:cs typeface="Times New Roman" pitchFamily="18" charset="0"/>
              </a:rPr>
              <a:t>Promote goals that lead to sustained investment in human skills, innovation, and physical assets</a:t>
            </a:r>
          </a:p>
          <a:p>
            <a:pPr>
              <a:lnSpc>
                <a:spcPts val="4000"/>
              </a:lnSpc>
              <a:buFont typeface="Arial" pitchFamily="34" charset="0"/>
              <a:buChar char="•"/>
            </a:pPr>
            <a:r>
              <a:rPr kumimoji="1" lang="en-US" altLang="ko-KR" sz="2400" b="0" kern="1200" dirty="0">
                <a:latin typeface="Times New Roman" pitchFamily="18" charset="0"/>
                <a:ea typeface="굴림" pitchFamily="50" charset="-127"/>
                <a:cs typeface="Times New Roman" pitchFamily="18" charset="0"/>
              </a:rPr>
              <a:t>Deregulate competition</a:t>
            </a:r>
          </a:p>
          <a:p>
            <a:pPr>
              <a:lnSpc>
                <a:spcPts val="4000"/>
              </a:lnSpc>
              <a:buFont typeface="Arial" pitchFamily="34" charset="0"/>
              <a:buChar char="•"/>
            </a:pPr>
            <a:r>
              <a:rPr kumimoji="1" lang="en-US" altLang="ko-KR" sz="2400" b="0" kern="1200" dirty="0">
                <a:latin typeface="Times New Roman" pitchFamily="18" charset="0"/>
                <a:ea typeface="굴림" pitchFamily="50" charset="-127"/>
                <a:cs typeface="Times New Roman" pitchFamily="18" charset="0"/>
              </a:rPr>
              <a:t>Enforce strong domestic antitrust policies</a:t>
            </a:r>
          </a:p>
          <a:p>
            <a:pPr>
              <a:lnSpc>
                <a:spcPts val="4000"/>
              </a:lnSpc>
              <a:buFont typeface="Arial" pitchFamily="34" charset="0"/>
              <a:buChar char="•"/>
            </a:pPr>
            <a:r>
              <a:rPr kumimoji="1" lang="en-US" altLang="ko-KR" sz="2400" b="0" kern="1200" dirty="0">
                <a:latin typeface="Times New Roman" pitchFamily="18" charset="0"/>
                <a:ea typeface="굴림" pitchFamily="50" charset="-127"/>
                <a:cs typeface="Times New Roman" pitchFamily="18" charset="0"/>
              </a:rPr>
              <a:t>Reject managed trade</a:t>
            </a: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endParaRPr kumimoji="1" lang="en-US" altLang="ko-KR" sz="2400" b="0" kern="1200" dirty="0">
              <a:latin typeface="Times New Roman" pitchFamily="18" charset="0"/>
              <a:ea typeface="굴림" pitchFamily="50" charset="-127"/>
              <a:cs typeface="Times New Roman" pitchFamily="18" charset="0"/>
            </a:endParaRPr>
          </a:p>
          <a:p>
            <a:pPr>
              <a:lnSpc>
                <a:spcPts val="4000"/>
              </a:lnSpc>
              <a:buNone/>
            </a:pPr>
            <a:r>
              <a:rPr kumimoji="1" lang="en-US" altLang="ko-KR" sz="2400" b="0" kern="1200" dirty="0">
                <a:latin typeface="Times New Roman" pitchFamily="18" charset="0"/>
                <a:ea typeface="굴림" pitchFamily="50" charset="-127"/>
                <a:cs typeface="Times New Roman" pitchFamily="18" charset="0"/>
              </a:rPr>
              <a:t>	</a:t>
            </a:r>
          </a:p>
        </p:txBody>
      </p:sp>
      <p:sp>
        <p:nvSpPr>
          <p:cNvPr id="7" name="Rectangle 2"/>
          <p:cNvSpPr>
            <a:spLocks noGrp="1" noChangeArrowheads="1"/>
          </p:cNvSpPr>
          <p:nvPr>
            <p:ph type="title"/>
          </p:nvPr>
        </p:nvSpPr>
        <p:spPr>
          <a:xfrm>
            <a:off x="700608" y="260648"/>
            <a:ext cx="7543800" cy="563562"/>
          </a:xfrm>
          <a:noFill/>
        </p:spPr>
        <p:txBody>
          <a:bodyPr/>
          <a:lstStyle/>
          <a:p>
            <a:pPr algn="ctr" eaLnBrk="1" hangingPunct="1"/>
            <a:r>
              <a:rPr lang="en-US" altLang="ko-KR" b="1" dirty="0">
                <a:solidFill>
                  <a:srgbClr val="FFC000"/>
                </a:solidFill>
                <a:latin typeface="Times New Roman" pitchFamily="18" charset="0"/>
                <a:ea typeface="굴림" pitchFamily="50" charset="-127"/>
                <a:cs typeface="Times New Roman" pitchFamily="18" charset="0"/>
              </a:rPr>
              <a:t>Role of Government for Competitiveness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700608" y="260648"/>
            <a:ext cx="7543800" cy="563562"/>
          </a:xfrm>
          <a:noFill/>
        </p:spPr>
        <p:txBody>
          <a:bodyPr/>
          <a:lstStyle/>
          <a:p>
            <a:pPr algn="ctr" eaLnBrk="1" hangingPunct="1"/>
            <a:r>
              <a:rPr lang="en-US" altLang="ko-KR" b="1" dirty="0">
                <a:solidFill>
                  <a:srgbClr val="FFC000"/>
                </a:solidFill>
                <a:latin typeface="Times New Roman" pitchFamily="18" charset="0"/>
                <a:ea typeface="굴림" pitchFamily="50" charset="-127"/>
                <a:cs typeface="Times New Roman" pitchFamily="18" charset="0"/>
              </a:rPr>
              <a:t>Role of Private Sector/Company for Competitiveness</a:t>
            </a:r>
          </a:p>
        </p:txBody>
      </p:sp>
      <p:sp>
        <p:nvSpPr>
          <p:cNvPr id="6" name="Rectangle 3"/>
          <p:cNvSpPr txBox="1">
            <a:spLocks noChangeArrowheads="1"/>
          </p:cNvSpPr>
          <p:nvPr/>
        </p:nvSpPr>
        <p:spPr bwMode="auto">
          <a:xfrm>
            <a:off x="179512" y="1196752"/>
            <a:ext cx="8784976" cy="56612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a:lnSpc>
                <a:spcPts val="3400"/>
              </a:lnSpc>
              <a:buFont typeface="Arial" pitchFamily="34" charset="0"/>
              <a:buChar char="•"/>
            </a:pPr>
            <a:r>
              <a:rPr lang="en-US" altLang="ko-KR" sz="2400" dirty="0">
                <a:latin typeface="Times New Roman" pitchFamily="18" charset="0"/>
                <a:ea typeface="+mn-ea"/>
                <a:cs typeface="Times New Roman" pitchFamily="18" charset="0"/>
              </a:rPr>
              <a:t> Create pressures for innovation </a:t>
            </a:r>
          </a:p>
          <a:p>
            <a:pPr>
              <a:lnSpc>
                <a:spcPts val="3400"/>
              </a:lnSpc>
              <a:buFont typeface="Arial" pitchFamily="34" charset="0"/>
              <a:buChar char="•"/>
            </a:pPr>
            <a:r>
              <a:rPr lang="en-US" altLang="ko-KR" sz="2400" dirty="0">
                <a:latin typeface="Times New Roman" pitchFamily="18" charset="0"/>
                <a:ea typeface="+mn-ea"/>
                <a:cs typeface="Times New Roman" pitchFamily="18" charset="0"/>
              </a:rPr>
              <a:t> Welcome domestic rivalry</a:t>
            </a:r>
          </a:p>
          <a:p>
            <a:pPr>
              <a:lnSpc>
                <a:spcPts val="3400"/>
              </a:lnSpc>
              <a:buFont typeface="Arial" pitchFamily="34" charset="0"/>
              <a:buChar char="•"/>
            </a:pPr>
            <a:r>
              <a:rPr lang="en-US" altLang="ko-KR" sz="2400" dirty="0">
                <a:latin typeface="Times New Roman" pitchFamily="18" charset="0"/>
                <a:ea typeface="+mn-ea"/>
                <a:cs typeface="Times New Roman" pitchFamily="18" charset="0"/>
              </a:rPr>
              <a:t> Take an active role in upgrading local infrastructure</a:t>
            </a:r>
          </a:p>
          <a:p>
            <a:pPr>
              <a:lnSpc>
                <a:spcPts val="3400"/>
              </a:lnSpc>
              <a:buFont typeface="Arial" pitchFamily="34" charset="0"/>
              <a:buChar char="•"/>
            </a:pPr>
            <a:r>
              <a:rPr lang="en-US" altLang="ko-KR" sz="2400" dirty="0">
                <a:latin typeface="Times New Roman" pitchFamily="18" charset="0"/>
                <a:ea typeface="+mn-ea"/>
                <a:cs typeface="Times New Roman" pitchFamily="18" charset="0"/>
              </a:rPr>
              <a:t> Improve the local business environment (the national diamond), and </a:t>
            </a:r>
          </a:p>
          <a:p>
            <a:pPr>
              <a:lnSpc>
                <a:spcPts val="3400"/>
              </a:lnSpc>
            </a:pPr>
            <a:r>
              <a:rPr lang="en-US" altLang="ko-KR" sz="2400" dirty="0">
                <a:latin typeface="Times New Roman" pitchFamily="18" charset="0"/>
                <a:ea typeface="+mn-ea"/>
                <a:cs typeface="Times New Roman" pitchFamily="18" charset="0"/>
              </a:rPr>
              <a:t>   nurture local suppliers first and attract foreign suppliers.</a:t>
            </a:r>
          </a:p>
          <a:p>
            <a:pPr>
              <a:lnSpc>
                <a:spcPts val="3400"/>
              </a:lnSpc>
              <a:buFont typeface="Arial" pitchFamily="34" charset="0"/>
              <a:buChar char="•"/>
            </a:pPr>
            <a:r>
              <a:rPr lang="en-US" altLang="ko-KR" sz="2400" dirty="0">
                <a:latin typeface="Times New Roman" pitchFamily="18" charset="0"/>
                <a:ea typeface="+mn-ea"/>
                <a:cs typeface="Times New Roman" pitchFamily="18" charset="0"/>
              </a:rPr>
              <a:t> Globalize to tap selective advantages in other nations – abandoning</a:t>
            </a:r>
          </a:p>
          <a:p>
            <a:pPr>
              <a:lnSpc>
                <a:spcPts val="3400"/>
              </a:lnSpc>
            </a:pPr>
            <a:r>
              <a:rPr lang="en-US" altLang="ko-KR" sz="2400" dirty="0">
                <a:latin typeface="Times New Roman" pitchFamily="18" charset="0"/>
                <a:ea typeface="+mn-ea"/>
                <a:cs typeface="Times New Roman" pitchFamily="18" charset="0"/>
              </a:rPr>
              <a:t>   the home diamond is not good</a:t>
            </a:r>
          </a:p>
          <a:p>
            <a:pPr>
              <a:lnSpc>
                <a:spcPts val="3400"/>
              </a:lnSpc>
              <a:buFont typeface="Arial" pitchFamily="34" charset="0"/>
              <a:buChar char="•"/>
            </a:pPr>
            <a:r>
              <a:rPr lang="en-US" altLang="ko-KR" sz="2400" dirty="0">
                <a:latin typeface="Times New Roman" pitchFamily="18" charset="0"/>
                <a:ea typeface="+mn-ea"/>
                <a:cs typeface="Times New Roman" pitchFamily="18" charset="0"/>
              </a:rPr>
              <a:t> Locate the home base to support competitive advantage</a:t>
            </a:r>
          </a:p>
          <a:p>
            <a:pPr>
              <a:lnSpc>
                <a:spcPts val="3400"/>
              </a:lnSpc>
              <a:buFont typeface="Arial" pitchFamily="34" charset="0"/>
              <a:buChar char="•"/>
            </a:pPr>
            <a:r>
              <a:rPr lang="en-US" altLang="ko-KR" sz="2400" dirty="0">
                <a:latin typeface="Times New Roman" pitchFamily="18" charset="0"/>
                <a:ea typeface="+mn-ea"/>
                <a:cs typeface="Times New Roman" pitchFamily="18" charset="0"/>
              </a:rPr>
              <a:t> Work closely with local educational and research institutions to</a:t>
            </a:r>
          </a:p>
          <a:p>
            <a:pPr>
              <a:lnSpc>
                <a:spcPts val="3400"/>
              </a:lnSpc>
            </a:pPr>
            <a:r>
              <a:rPr lang="en-US" altLang="ko-KR" sz="2400" dirty="0">
                <a:latin typeface="Times New Roman" pitchFamily="18" charset="0"/>
                <a:ea typeface="+mn-ea"/>
                <a:cs typeface="Times New Roman" pitchFamily="18" charset="0"/>
              </a:rPr>
              <a:t>   upgrade their quality and create specialized programs addressing the</a:t>
            </a:r>
          </a:p>
          <a:p>
            <a:pPr>
              <a:lnSpc>
                <a:spcPts val="3400"/>
              </a:lnSpc>
            </a:pPr>
            <a:r>
              <a:rPr lang="en-US" altLang="ko-KR" sz="2400" dirty="0">
                <a:latin typeface="Times New Roman" pitchFamily="18" charset="0"/>
                <a:ea typeface="+mn-ea"/>
                <a:cs typeface="Times New Roman" pitchFamily="18" charset="0"/>
              </a:rPr>
              <a:t>   cluster’s needs</a:t>
            </a:r>
          </a:p>
          <a:p>
            <a:pPr>
              <a:lnSpc>
                <a:spcPts val="3400"/>
              </a:lnSpc>
              <a:buFont typeface="Arial" pitchFamily="34" charset="0"/>
              <a:buChar char="•"/>
            </a:pPr>
            <a:r>
              <a:rPr lang="en-US" altLang="ko-KR" sz="2400" dirty="0">
                <a:latin typeface="Times New Roman" pitchFamily="18" charset="0"/>
                <a:ea typeface="+mn-ea"/>
                <a:cs typeface="Times New Roman" pitchFamily="18" charset="0"/>
              </a:rPr>
              <a:t> Inform government on regulatory issues and constraints bearing on</a:t>
            </a:r>
          </a:p>
          <a:p>
            <a:pPr>
              <a:lnSpc>
                <a:spcPts val="3400"/>
              </a:lnSpc>
            </a:pPr>
            <a:r>
              <a:rPr lang="en-US" altLang="ko-KR" sz="2400" dirty="0">
                <a:latin typeface="Times New Roman" pitchFamily="18" charset="0"/>
                <a:ea typeface="+mn-ea"/>
                <a:cs typeface="Times New Roman" pitchFamily="18" charset="0"/>
              </a:rPr>
              <a:t>   cluster development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9144000" cy="1052736"/>
          </a:xfrm>
          <a:prstGeom prst="rect">
            <a:avLst/>
          </a:prstGeom>
          <a:noFill/>
        </p:spPr>
        <p:txBody>
          <a:bodyPr/>
          <a:lstStyle/>
          <a:p>
            <a:pPr lvl="0" algn="ctr">
              <a:defRPr/>
            </a:pPr>
            <a:endParaRPr lang="en-US" altLang="ko-KR" sz="3600" b="1" dirty="0">
              <a:solidFill>
                <a:srgbClr val="FFC000"/>
              </a:solidFill>
              <a:latin typeface="Times New Roman" pitchFamily="18" charset="0"/>
              <a:cs typeface="Times New Roman" pitchFamily="18" charset="0"/>
            </a:endParaRPr>
          </a:p>
        </p:txBody>
      </p:sp>
      <p:sp>
        <p:nvSpPr>
          <p:cNvPr id="7" name="Rectangle 3"/>
          <p:cNvSpPr txBox="1">
            <a:spLocks noChangeArrowheads="1"/>
          </p:cNvSpPr>
          <p:nvPr/>
        </p:nvSpPr>
        <p:spPr>
          <a:xfrm>
            <a:off x="107504" y="1196752"/>
            <a:ext cx="8964488" cy="5661248"/>
          </a:xfrm>
          <a:prstGeom prst="rect">
            <a:avLst/>
          </a:prstGeom>
          <a:noFill/>
          <a:ln w="12700" cap="flat">
            <a:prstDash val="solid"/>
          </a:ln>
        </p:spPr>
        <p:txBody>
          <a:bodyPr/>
          <a:lstStyle/>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r>
              <a:rPr kumimoji="0" lang="en-US" altLang="ko-KR" sz="2400" kern="0" dirty="0">
                <a:latin typeface="Times New Roman" pitchFamily="18" charset="0"/>
                <a:ea typeface="+mn-ea"/>
                <a:cs typeface="Times New Roman" pitchFamily="18" charset="0"/>
              </a:rPr>
              <a:t>National competitiveness should be understood at the level of industry</a:t>
            </a:r>
          </a:p>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r>
              <a:rPr kumimoji="0" lang="en-US" altLang="ko-KR" sz="2400" kern="0" dirty="0">
                <a:latin typeface="Times New Roman" pitchFamily="18" charset="0"/>
                <a:ea typeface="+mn-ea"/>
                <a:cs typeface="Times New Roman" pitchFamily="18" charset="0"/>
              </a:rPr>
              <a:t>National competitiveness is determined by macroeconomic and microeconomic factors.</a:t>
            </a:r>
          </a:p>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r>
              <a:rPr kumimoji="0" lang="en-US" altLang="ko-KR" sz="2400" kern="0" dirty="0">
                <a:latin typeface="Times New Roman" pitchFamily="18" charset="0"/>
                <a:ea typeface="+mn-ea"/>
                <a:cs typeface="Times New Roman" pitchFamily="18" charset="0"/>
              </a:rPr>
              <a:t>Especially the quality of the national business environment(i.e., factor conditions, demand conditions, context for firm strategy and rivalry, and related and supporting industries) and the state of cluster development are critical for national competitiveness</a:t>
            </a:r>
          </a:p>
        </p:txBody>
      </p:sp>
      <p:sp>
        <p:nvSpPr>
          <p:cNvPr id="8" name="Rectangle 2"/>
          <p:cNvSpPr txBox="1">
            <a:spLocks noChangeArrowheads="1"/>
          </p:cNvSpPr>
          <p:nvPr/>
        </p:nvSpPr>
        <p:spPr>
          <a:xfrm>
            <a:off x="-36512" y="260648"/>
            <a:ext cx="9144000" cy="620688"/>
          </a:xfrm>
          <a:prstGeom prst="rect">
            <a:avLst/>
          </a:prstGeom>
          <a:noFill/>
        </p:spPr>
        <p:txBody>
          <a:bodyPr/>
          <a:lstStyle/>
          <a:p>
            <a:pPr lvl="0" algn="ctr">
              <a:defRPr/>
            </a:pPr>
            <a:r>
              <a:rPr lang="en-US" altLang="ko-KR" sz="3600" b="1" dirty="0">
                <a:solidFill>
                  <a:srgbClr val="FFC000"/>
                </a:solidFill>
                <a:latin typeface="Times New Roman" pitchFamily="18" charset="0"/>
                <a:cs typeface="Times New Roman" pitchFamily="18" charset="0"/>
              </a:rPr>
              <a:t>CONCLUSIONS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txBox="1">
            <a:spLocks noChangeArrowheads="1"/>
          </p:cNvSpPr>
          <p:nvPr/>
        </p:nvSpPr>
        <p:spPr>
          <a:xfrm>
            <a:off x="0" y="0"/>
            <a:ext cx="9144000" cy="1052736"/>
          </a:xfrm>
          <a:prstGeom prst="rect">
            <a:avLst/>
          </a:prstGeom>
          <a:noFill/>
        </p:spPr>
        <p:txBody>
          <a:bodyPr/>
          <a:lstStyle/>
          <a:p>
            <a:pPr lvl="0" algn="ctr">
              <a:defRPr/>
            </a:pPr>
            <a:endParaRPr lang="en-US" altLang="ko-KR" sz="3600" b="1" dirty="0">
              <a:solidFill>
                <a:srgbClr val="FFC000"/>
              </a:solidFill>
              <a:latin typeface="Times New Roman" pitchFamily="18" charset="0"/>
              <a:cs typeface="Times New Roman" pitchFamily="18" charset="0"/>
            </a:endParaRPr>
          </a:p>
        </p:txBody>
      </p:sp>
      <p:sp>
        <p:nvSpPr>
          <p:cNvPr id="7" name="Rectangle 3"/>
          <p:cNvSpPr txBox="1">
            <a:spLocks noChangeArrowheads="1"/>
          </p:cNvSpPr>
          <p:nvPr/>
        </p:nvSpPr>
        <p:spPr>
          <a:xfrm>
            <a:off x="107504" y="1196752"/>
            <a:ext cx="8964488" cy="5661248"/>
          </a:xfrm>
          <a:prstGeom prst="rect">
            <a:avLst/>
          </a:prstGeom>
          <a:noFill/>
          <a:ln w="12700" cap="flat">
            <a:prstDash val="solid"/>
          </a:ln>
        </p:spPr>
        <p:txBody>
          <a:bodyPr/>
          <a:lstStyle/>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r>
              <a:rPr kumimoji="0" lang="en-US" altLang="ko-KR" sz="2400" kern="0" dirty="0">
                <a:latin typeface="Times New Roman" pitchFamily="18" charset="0"/>
                <a:ea typeface="+mn-ea"/>
                <a:cs typeface="Times New Roman" pitchFamily="18" charset="0"/>
              </a:rPr>
              <a:t>Companies are the only real entities that can achieve and sustain competitive advantage (competitiveness), and they can do so by improving productivity and innovation</a:t>
            </a:r>
          </a:p>
          <a:p>
            <a:pPr marL="342900" indent="-342900" eaLnBrk="0" hangingPunct="0">
              <a:lnSpc>
                <a:spcPct val="150000"/>
              </a:lnSpc>
              <a:spcBef>
                <a:spcPct val="20000"/>
              </a:spcBef>
              <a:buClr>
                <a:schemeClr val="hlink"/>
              </a:buClr>
              <a:buFont typeface="Arial" pitchFamily="34" charset="0"/>
              <a:buChar char="•"/>
              <a:defRPr/>
            </a:pPr>
            <a:r>
              <a:rPr kumimoji="0" lang="en-US" altLang="ko-KR" sz="2400" kern="0" dirty="0">
                <a:latin typeface="Times New Roman" pitchFamily="18" charset="0"/>
                <a:ea typeface="+mn-ea"/>
                <a:cs typeface="Times New Roman" pitchFamily="18" charset="0"/>
              </a:rPr>
              <a:t>Governments can help companies achieve competitiveness by providing them with more productive and innovative business environments</a:t>
            </a:r>
          </a:p>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r>
              <a:rPr kumimoji="0" lang="en-US" altLang="ko-KR" sz="2400" kern="0" dirty="0">
                <a:latin typeface="Times New Roman" pitchFamily="18" charset="0"/>
                <a:ea typeface="+mn-ea"/>
                <a:cs typeface="Times New Roman" pitchFamily="18" charset="0"/>
              </a:rPr>
              <a:t>Managers should understand national competitiveness for effective global business management</a:t>
            </a:r>
          </a:p>
          <a:p>
            <a:pPr marL="342900" marR="0" lvl="0" indent="-342900" algn="l" defTabSz="914400" rtl="0" eaLnBrk="0" fontAlgn="base" latinLnBrk="1" hangingPunct="0">
              <a:lnSpc>
                <a:spcPct val="150000"/>
              </a:lnSpc>
              <a:spcBef>
                <a:spcPct val="20000"/>
              </a:spcBef>
              <a:spcAft>
                <a:spcPct val="0"/>
              </a:spcAft>
              <a:buClr>
                <a:schemeClr val="hlink"/>
              </a:buClr>
              <a:buSzTx/>
              <a:tabLst/>
              <a:defRPr/>
            </a:pPr>
            <a:endParaRPr kumimoji="0" lang="en-US" altLang="ko-KR" sz="2400" kern="0" dirty="0">
              <a:latin typeface="Times New Roman" pitchFamily="18" charset="0"/>
              <a:ea typeface="+mn-ea"/>
              <a:cs typeface="Times New Roman" pitchFamily="18" charset="0"/>
            </a:endParaRPr>
          </a:p>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endParaRPr kumimoji="0" lang="en-US" altLang="ko-KR" sz="2400" kern="0" dirty="0">
              <a:latin typeface="Times New Roman" pitchFamily="18" charset="0"/>
              <a:ea typeface="+mn-ea"/>
              <a:cs typeface="Times New Roman" pitchFamily="18" charset="0"/>
            </a:endParaRPr>
          </a:p>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endParaRPr kumimoji="0" lang="en-US" altLang="ko-KR" sz="1200" kern="0" dirty="0">
              <a:solidFill>
                <a:schemeClr val="tx2"/>
              </a:solidFill>
              <a:latin typeface="Times New Roman" pitchFamily="18" charset="0"/>
              <a:ea typeface="+mn-ea"/>
            </a:endParaRPr>
          </a:p>
          <a:p>
            <a:pPr marL="342900" marR="0" lvl="0" indent="-342900" algn="l" defTabSz="914400" rtl="0" eaLnBrk="0" fontAlgn="base" latinLnBrk="1" hangingPunct="0">
              <a:lnSpc>
                <a:spcPct val="150000"/>
              </a:lnSpc>
              <a:spcBef>
                <a:spcPct val="20000"/>
              </a:spcBef>
              <a:spcAft>
                <a:spcPct val="0"/>
              </a:spcAft>
              <a:buClr>
                <a:schemeClr val="hlink"/>
              </a:buClr>
              <a:buSzTx/>
              <a:buFont typeface="Arial" pitchFamily="34" charset="0"/>
              <a:buChar char="•"/>
              <a:tabLst/>
              <a:defRPr/>
            </a:pPr>
            <a:endParaRPr kumimoji="0" lang="en-US" altLang="ko-KR" sz="2400" kern="0" dirty="0">
              <a:latin typeface="Times New Roman" pitchFamily="18" charset="0"/>
              <a:ea typeface="+mn-ea"/>
              <a:cs typeface="Times New Roman" pitchFamily="18" charset="0"/>
            </a:endParaRPr>
          </a:p>
        </p:txBody>
      </p:sp>
      <p:sp>
        <p:nvSpPr>
          <p:cNvPr id="8" name="Rectangle 2"/>
          <p:cNvSpPr txBox="1">
            <a:spLocks noChangeArrowheads="1"/>
          </p:cNvSpPr>
          <p:nvPr/>
        </p:nvSpPr>
        <p:spPr>
          <a:xfrm>
            <a:off x="-36512" y="260648"/>
            <a:ext cx="9144000" cy="620688"/>
          </a:xfrm>
          <a:prstGeom prst="rect">
            <a:avLst/>
          </a:prstGeom>
          <a:noFill/>
        </p:spPr>
        <p:txBody>
          <a:bodyPr/>
          <a:lstStyle/>
          <a:p>
            <a:pPr lvl="0" algn="ctr">
              <a:defRPr/>
            </a:pPr>
            <a:r>
              <a:rPr lang="en-US" altLang="ko-KR" sz="3600" b="1" dirty="0">
                <a:solidFill>
                  <a:srgbClr val="FFC000"/>
                </a:solidFill>
                <a:latin typeface="Times New Roman" pitchFamily="18" charset="0"/>
                <a:cs typeface="Times New Roman" pitchFamily="18" charset="0"/>
              </a:rPr>
              <a:t>CONCLUSIONS</a:t>
            </a:r>
          </a:p>
        </p:txBody>
      </p:sp>
    </p:spTree>
  </p:cSld>
  <p:clrMapOvr>
    <a:masterClrMapping/>
  </p:clrMapOvr>
</p:sld>
</file>

<file path=ppt/theme/theme1.xml><?xml version="1.0" encoding="utf-8"?>
<a:theme xmlns:a="http://schemas.openxmlformats.org/drawingml/2006/main" name="1">
  <a:themeElements>
    <a:clrScheme name="sample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fontScheme name="sample">
      <a:majorFont>
        <a:latin typeface="Arial"/>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no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sample 1">
        <a:dk1>
          <a:srgbClr val="7E25CF"/>
        </a:dk1>
        <a:lt1>
          <a:srgbClr val="C6D3FE"/>
        </a:lt1>
        <a:dk2>
          <a:srgbClr val="512175"/>
        </a:dk2>
        <a:lt2>
          <a:srgbClr val="FFFFFF"/>
        </a:lt2>
        <a:accent1>
          <a:srgbClr val="FFCC66"/>
        </a:accent1>
        <a:accent2>
          <a:srgbClr val="6ABA42"/>
        </a:accent2>
        <a:accent3>
          <a:srgbClr val="B3ABBD"/>
        </a:accent3>
        <a:accent4>
          <a:srgbClr val="A9B4D9"/>
        </a:accent4>
        <a:accent5>
          <a:srgbClr val="FFE2B8"/>
        </a:accent5>
        <a:accent6>
          <a:srgbClr val="5FA83B"/>
        </a:accent6>
        <a:hlink>
          <a:srgbClr val="3399FF"/>
        </a:hlink>
        <a:folHlink>
          <a:srgbClr val="43A8C7"/>
        </a:folHlink>
      </a:clrScheme>
      <a:clrMap bg1="dk2" tx1="lt1" bg2="dk1" tx2="lt2" accent1="accent1" accent2="accent2" accent3="accent3" accent4="accent4" accent5="accent5" accent6="accent6" hlink="hlink" folHlink="folHlink"/>
    </a:extraClrScheme>
    <a:extraClrScheme>
      <a:clrScheme name="sample 2">
        <a:dk1>
          <a:srgbClr val="009999"/>
        </a:dk1>
        <a:lt1>
          <a:srgbClr val="E2E2D6"/>
        </a:lt1>
        <a:dk2>
          <a:srgbClr val="005986"/>
        </a:dk2>
        <a:lt2>
          <a:srgbClr val="FFFFFF"/>
        </a:lt2>
        <a:accent1>
          <a:srgbClr val="12D2C9"/>
        </a:accent1>
        <a:accent2>
          <a:srgbClr val="3574C7"/>
        </a:accent2>
        <a:accent3>
          <a:srgbClr val="AAB5C3"/>
        </a:accent3>
        <a:accent4>
          <a:srgbClr val="C1C1B7"/>
        </a:accent4>
        <a:accent5>
          <a:srgbClr val="AAE5E1"/>
        </a:accent5>
        <a:accent6>
          <a:srgbClr val="2F68B4"/>
        </a:accent6>
        <a:hlink>
          <a:srgbClr val="1EBABA"/>
        </a:hlink>
        <a:folHlink>
          <a:srgbClr val="33CC33"/>
        </a:folHlink>
      </a:clrScheme>
      <a:clrMap bg1="dk2" tx1="lt1" bg2="dk1" tx2="lt2" accent1="accent1" accent2="accent2" accent3="accent3" accent4="accent4" accent5="accent5" accent6="accent6" hlink="hlink" folHlink="folHlink"/>
    </a:extraClrScheme>
    <a:extraClrScheme>
      <a:clrScheme name="sample 3">
        <a:dk1>
          <a:srgbClr val="0066CC"/>
        </a:dk1>
        <a:lt1>
          <a:srgbClr val="B1E2FB"/>
        </a:lt1>
        <a:dk2>
          <a:srgbClr val="003399"/>
        </a:dk2>
        <a:lt2>
          <a:srgbClr val="FFFFFF"/>
        </a:lt2>
        <a:accent1>
          <a:srgbClr val="FDC529"/>
        </a:accent1>
        <a:accent2>
          <a:srgbClr val="52C828"/>
        </a:accent2>
        <a:accent3>
          <a:srgbClr val="AAADCA"/>
        </a:accent3>
        <a:accent4>
          <a:srgbClr val="97C1D6"/>
        </a:accent4>
        <a:accent5>
          <a:srgbClr val="FEDFAC"/>
        </a:accent5>
        <a:accent6>
          <a:srgbClr val="49B523"/>
        </a:accent6>
        <a:hlink>
          <a:srgbClr val="72A7F6"/>
        </a:hlink>
        <a:folHlink>
          <a:srgbClr val="A5A5FF"/>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Template>
  <TotalTime>9785</TotalTime>
  <Words>968</Words>
  <Application>Microsoft Office PowerPoint</Application>
  <PresentationFormat>화면 슬라이드 쇼(4:3)</PresentationFormat>
  <Paragraphs>201</Paragraphs>
  <Slides>13</Slides>
  <Notes>11</Notes>
  <HiddenSlides>0</HiddenSlides>
  <MMClips>0</MMClips>
  <ScaleCrop>false</ScaleCrop>
  <HeadingPairs>
    <vt:vector size="8" baseType="variant">
      <vt:variant>
        <vt:lpstr>사용한 글꼴</vt:lpstr>
      </vt:variant>
      <vt:variant>
        <vt:i4>6</vt:i4>
      </vt:variant>
      <vt:variant>
        <vt:lpstr>테마</vt:lpstr>
      </vt:variant>
      <vt:variant>
        <vt:i4>1</vt:i4>
      </vt:variant>
      <vt:variant>
        <vt:lpstr>포함된 OLE 서버</vt:lpstr>
      </vt:variant>
      <vt:variant>
        <vt:i4>1</vt:i4>
      </vt:variant>
      <vt:variant>
        <vt:lpstr>슬라이드 제목</vt:lpstr>
      </vt:variant>
      <vt:variant>
        <vt:i4>13</vt:i4>
      </vt:variant>
    </vt:vector>
  </HeadingPairs>
  <TitlesOfParts>
    <vt:vector size="21" baseType="lpstr">
      <vt:lpstr>맑은 고딕</vt:lpstr>
      <vt:lpstr>Arial</vt:lpstr>
      <vt:lpstr>Franklin Gothic Heavy</vt:lpstr>
      <vt:lpstr>Times New Roman</vt:lpstr>
      <vt:lpstr>Verdana</vt:lpstr>
      <vt:lpstr>Wingdings</vt:lpstr>
      <vt:lpstr>1</vt:lpstr>
      <vt:lpstr>Image</vt:lpstr>
      <vt:lpstr>National Competitiveness</vt:lpstr>
      <vt:lpstr>WHAT IS COMPETITIVENESS?</vt:lpstr>
      <vt:lpstr>PowerPoint 프레젠테이션</vt:lpstr>
      <vt:lpstr>Innovative Capacity  Innovation Output of Top 25 Patent Producing Countries</vt:lpstr>
      <vt:lpstr>DETERMINANTS OF COMPETITIVENESS</vt:lpstr>
      <vt:lpstr>Macroeconomic Competitiveness</vt:lpstr>
      <vt:lpstr>Microeconomic Competitiveness: Quality of the National Business Environment</vt:lpstr>
      <vt:lpstr>PowerPoint 프레젠테이션</vt:lpstr>
      <vt:lpstr>PowerPoint 프레젠테이션</vt:lpstr>
      <vt:lpstr>Role of Government for Competitiveness</vt:lpstr>
      <vt:lpstr>Role of Private Sector/Company for Competitiveness</vt:lpstr>
      <vt:lpstr>PowerPoint 프레젠테이션</vt:lpstr>
      <vt:lpstr>PowerPoint 프레젠테이션</vt:lpstr>
    </vt:vector>
  </TitlesOfParts>
  <Company>건국대학교</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엄기룡</dc:creator>
  <cp:lastModifiedBy>김광수</cp:lastModifiedBy>
  <cp:revision>931</cp:revision>
  <dcterms:created xsi:type="dcterms:W3CDTF">2007-10-09T12:42:30Z</dcterms:created>
  <dcterms:modified xsi:type="dcterms:W3CDTF">2024-04-13T09:44:15Z</dcterms:modified>
</cp:coreProperties>
</file>