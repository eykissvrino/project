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7" r:id="rId2"/>
    <p:sldId id="282" r:id="rId3"/>
    <p:sldId id="285" r:id="rId4"/>
    <p:sldId id="287" r:id="rId5"/>
    <p:sldId id="289" r:id="rId6"/>
    <p:sldId id="338" r:id="rId7"/>
    <p:sldId id="339" r:id="rId8"/>
    <p:sldId id="340" r:id="rId9"/>
    <p:sldId id="290" r:id="rId10"/>
    <p:sldId id="293" r:id="rId11"/>
    <p:sldId id="301" r:id="rId12"/>
    <p:sldId id="302" r:id="rId13"/>
    <p:sldId id="341" r:id="rId14"/>
    <p:sldId id="342" r:id="rId15"/>
    <p:sldId id="304" r:id="rId16"/>
    <p:sldId id="343" r:id="rId17"/>
  </p:sldIdLst>
  <p:sldSz cx="9144000" cy="6858000" type="screen4x3"/>
  <p:notesSz cx="6669088" cy="9928225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  <a:srgbClr val="69E30D"/>
    <a:srgbClr val="99FF33"/>
    <a:srgbClr val="52C828"/>
    <a:srgbClr val="CCFF33"/>
    <a:srgbClr val="0037A4"/>
    <a:srgbClr val="00329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34" autoAdjust="0"/>
    <p:restoredTop sz="84034" autoAdjust="0"/>
  </p:normalViewPr>
  <p:slideViewPr>
    <p:cSldViewPr>
      <p:cViewPr varScale="1">
        <p:scale>
          <a:sx n="83" d="100"/>
          <a:sy n="83" d="100"/>
        </p:scale>
        <p:origin x="10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262" y="1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0412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262" y="9430412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DC955A5E-49A5-4E81-AE8D-D63B1CE3F4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3552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262" y="1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67C64689-8BED-4124-AA29-C3A74BD3216B}" type="datetimeFigureOut">
              <a:rPr lang="ko-KR" altLang="en-US"/>
              <a:pPr>
                <a:defRPr/>
              </a:pPr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313" y="4715206"/>
            <a:ext cx="5336463" cy="4468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412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262" y="9430412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3E122B4D-8E94-4223-95EB-97BD74721EC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739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CA6ABAA2-352C-4783-907A-C97DACE6F039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ko-KR" dirty="0"/>
              <a:t>d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02929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7E09ACE9-61E5-4259-BC4D-D9E9B05E18A2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64593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499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60058C-69B7-4915-9A9D-6C734B8300F2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9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CA6ABAA2-352C-4783-907A-C97DACE6F039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855832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8FAFD1FA-E268-4372-9AF2-E23A487DAE7D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21173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9641B8-48ED-4D25-AF80-5CF056618101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319" tIns="46433" rIns="91319" bIns="46433"/>
          <a:lstStyle/>
          <a:p>
            <a:pPr defTabSz="911225"/>
            <a:endParaRPr lang="ko-KR" altLang="ko-KR"/>
          </a:p>
        </p:txBody>
      </p:sp>
      <p:sp>
        <p:nvSpPr>
          <p:cNvPr id="727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88988"/>
            <a:ext cx="4845050" cy="3635375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3057008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9E909A-1E84-461F-8AE0-7DBE94958E22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789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6F651F-A2F2-4717-96D6-4C59EDA66C5A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278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7D65C817-0C0F-434A-BDAA-345F97307EF5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3572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7D65C817-0C0F-434A-BDAA-345F97307EF5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07483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7D65C817-0C0F-434A-BDAA-345F97307EF5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119835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7D65C817-0C0F-434A-BDAA-345F97307EF5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788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0438095" imgH="5980952" progId="">
                  <p:embed/>
                </p:oleObj>
              </mc:Choice>
              <mc:Fallback>
                <p:oleObj name="Image" r:id="rId4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6324600"/>
            <a:ext cx="7086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EE699-D639-4207-979B-EFF22D985E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0982E-BCED-4A9B-B7E1-1DF92DA4E1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F742F-7B36-4663-A3D4-61870DAACA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64680-22E8-4DB6-B67E-F60E1436DC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93D91-2AA8-4222-B0D3-08777C988B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271E6-9BF7-48F4-A797-0B00001AA4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3BA63-8553-4392-840A-872D73E86C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0EF7B-C81A-4D36-B09D-CAB33D401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78431-D9C7-46F6-AB44-0407FE9C1E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F76C9-BA84-43C0-A6F8-39BC57028A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319088"/>
            <a:ext cx="7543800" cy="563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248275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EBC6-EF61-47A0-816A-A14FD7AFB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10387302" imgH="1205924" progId="">
                  <p:embed/>
                </p:oleObj>
              </mc:Choice>
              <mc:Fallback>
                <p:oleObj name="Image" r:id="rId14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51AEFA36-DB78-4B33-A399-3C66194D2B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0"/>
            <a:ext cx="9144000" cy="2133600"/>
          </a:xfrm>
          <a:solidFill>
            <a:srgbClr val="003296"/>
          </a:solidFill>
        </p:spPr>
        <p:txBody>
          <a:bodyPr/>
          <a:lstStyle/>
          <a:p>
            <a:pPr algn="ctr" eaLnBrk="1" hangingPunct="1"/>
            <a:r>
              <a:rPr lang="en-US" altLang="ko-KR" sz="40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NATIONAL CULTURE</a:t>
            </a:r>
            <a:endParaRPr lang="en-US" altLang="ko-KR" sz="4000" dirty="0">
              <a:latin typeface="Franklin Gothic Heavy" pitchFamily="34" charset="0"/>
              <a:ea typeface="굴림" pitchFamily="50" charset="-127"/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2924175"/>
            <a:ext cx="9144000" cy="123825"/>
            <a:chOff x="432" y="912"/>
            <a:chExt cx="5808" cy="48"/>
          </a:xfrm>
        </p:grpSpPr>
        <p:sp>
          <p:nvSpPr>
            <p:cNvPr id="27654" name="Line 4"/>
            <p:cNvSpPr>
              <a:spLocks noChangeShapeType="1"/>
            </p:cNvSpPr>
            <p:nvPr/>
          </p:nvSpPr>
          <p:spPr bwMode="auto">
            <a:xfrm>
              <a:off x="432" y="912"/>
              <a:ext cx="5808" cy="0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655" name="Line 5"/>
            <p:cNvSpPr>
              <a:spLocks noChangeShapeType="1"/>
            </p:cNvSpPr>
            <p:nvPr/>
          </p:nvSpPr>
          <p:spPr bwMode="auto">
            <a:xfrm>
              <a:off x="432" y="960"/>
              <a:ext cx="58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7652" name="Text Box 9"/>
          <p:cNvSpPr txBox="1">
            <a:spLocks noChangeArrowheads="1"/>
          </p:cNvSpPr>
          <p:nvPr/>
        </p:nvSpPr>
        <p:spPr bwMode="auto">
          <a:xfrm>
            <a:off x="5795251" y="4259952"/>
            <a:ext cx="2803075" cy="8617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latinLnBrk="0"/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Dr. </a:t>
            </a:r>
            <a:r>
              <a:rPr kumimoji="0" lang="en-US" altLang="ko-KR" sz="2800" dirty="0" err="1">
                <a:solidFill>
                  <a:srgbClr val="99FF33"/>
                </a:solidFill>
                <a:latin typeface="Times New Roman" pitchFamily="18" charset="0"/>
              </a:rPr>
              <a:t>Kwangsoo</a:t>
            </a:r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 Kim</a:t>
            </a:r>
          </a:p>
          <a:p>
            <a:pPr algn="ctr" latinLnBrk="0"/>
            <a:r>
              <a:rPr kumimoji="0" lang="en-US" altLang="ko-KR" sz="2800" dirty="0" err="1">
                <a:solidFill>
                  <a:srgbClr val="99FF33"/>
                </a:solidFill>
                <a:latin typeface="Times New Roman" pitchFamily="18" charset="0"/>
              </a:rPr>
              <a:t>Konkuk</a:t>
            </a:r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 University</a:t>
            </a:r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auto">
          <a:xfrm>
            <a:off x="5507484" y="3933056"/>
            <a:ext cx="3529012" cy="158273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DEFINITION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71600"/>
            <a:ext cx="8352928" cy="52482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Culture is a system of values and norms that are shared among a group of people and that, when taken together, constitute a design for living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- Values:  abstract ideas about what a group believes to be 			good, right, and desirable. 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- Norms:  the social rules and guidelines that prescribe 			appropriate behavior in particular situations.  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Culture is a shared system of meaning, ideas, and thought. It guides our perception and understanding of the world, and it shapes our behavior.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Different levels of culture can coexist. 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72616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DETERMINANTS</a:t>
            </a:r>
          </a:p>
        </p:txBody>
      </p:sp>
      <p:pic>
        <p:nvPicPr>
          <p:cNvPr id="12292" name="Picture 4" descr="hiL8139X_03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124744"/>
            <a:ext cx="7992888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fIG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9144000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72616" y="260648"/>
            <a:ext cx="7543800" cy="5635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World</a:t>
            </a:r>
            <a:r>
              <a:rPr kumimoji="0" lang="en-US" altLang="ko-KR" sz="3600" b="1" i="0" u="none" strike="noStrike" kern="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Population by Language</a:t>
            </a:r>
            <a:endParaRPr kumimoji="0" lang="en-US" altLang="ko-KR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Fig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9144000" cy="5661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72616" y="260648"/>
            <a:ext cx="7543800" cy="5635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Religious Heritages of the World</a:t>
            </a:r>
            <a:endParaRPr kumimoji="0" lang="en-US" altLang="ko-KR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DIMENSIONS: Edward Hall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568952" cy="52482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2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Culture is a means of communication which takes place through symbols  or “silent languages” </a:t>
            </a:r>
            <a:r>
              <a:rPr lang="en-US" altLang="ko-KR" sz="2400" b="0" u="sng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(Edward Hall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in the late 1950s)</a:t>
            </a:r>
          </a:p>
          <a:p>
            <a:pPr eaLnBrk="1" hangingPunct="1">
              <a:lnSpc>
                <a:spcPts val="42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language of time: The way people approach to time</a:t>
            </a:r>
          </a:p>
          <a:p>
            <a:pPr eaLnBrk="1" hangingPunct="1">
              <a:lnSpc>
                <a:spcPts val="42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language of space: The way people use space</a:t>
            </a:r>
          </a:p>
          <a:p>
            <a:pPr eaLnBrk="1" hangingPunct="1">
              <a:lnSpc>
                <a:spcPts val="42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language of material goods: The way people view these</a:t>
            </a:r>
          </a:p>
          <a:p>
            <a:pPr eaLnBrk="1" hangingPunct="1">
              <a:lnSpc>
                <a:spcPts val="42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language of friendship: The way people make friends</a:t>
            </a:r>
          </a:p>
          <a:p>
            <a:pPr eaLnBrk="1" hangingPunct="1">
              <a:lnSpc>
                <a:spcPts val="42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language of agreement: The way people express agreement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44624"/>
            <a:ext cx="9144000" cy="990600"/>
          </a:xfrm>
        </p:spPr>
        <p:txBody>
          <a:bodyPr/>
          <a:lstStyle/>
          <a:p>
            <a:pPr algn="ctr" eaLnBrk="1" hangingPunct="1">
              <a:lnSpc>
                <a:spcPts val="3400"/>
              </a:lnSpc>
              <a:defRPr/>
            </a:pPr>
            <a: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Business and Interpersonal Relationships</a:t>
            </a:r>
            <a:b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</a:br>
            <a: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in Low/High Context Cultures</a:t>
            </a:r>
          </a:p>
        </p:txBody>
      </p:sp>
      <p:graphicFrame>
        <p:nvGraphicFramePr>
          <p:cNvPr id="76942" name="Group 1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09707"/>
              </p:ext>
            </p:extLst>
          </p:nvPr>
        </p:nvGraphicFramePr>
        <p:xfrm>
          <a:off x="251519" y="1196754"/>
          <a:ext cx="8640961" cy="5661247"/>
        </p:xfrm>
        <a:graphic>
          <a:graphicData uri="http://schemas.openxmlformats.org/drawingml/2006/table">
            <a:tbl>
              <a:tblPr/>
              <a:tblGrid>
                <a:gridCol w="251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Context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Country/regional examples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N. American, Scandinavian, Swiss, German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Greek, Spanish, Italian, French, Dutch, British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Asian, Arabic, Latin American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Meeting people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Informal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Formal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Formal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2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Getting acquainted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Fast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Slow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Relationship depth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Shallow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Moderate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Deep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Relationship trust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Little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Trust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Much trust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Behavior limits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Legal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Legal/social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Social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Lawyer reliance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569" name="Group 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661402"/>
              </p:ext>
            </p:extLst>
          </p:nvPr>
        </p:nvGraphicFramePr>
        <p:xfrm>
          <a:off x="179512" y="1340770"/>
          <a:ext cx="8812088" cy="5400598"/>
        </p:xfrm>
        <a:graphic>
          <a:graphicData uri="http://schemas.openxmlformats.org/drawingml/2006/table">
            <a:tbl>
              <a:tblPr/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37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Context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Business relationships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Arm’s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Social-business mixed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Much socializing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Insider-outsider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Moderate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Social class differences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Low/moderate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Patriarchal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Individualism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Individual competition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Encouraged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Discouraged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Anti-social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Uncertainty tolerance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Mistakes tolerance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1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Mistakes accountability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44624"/>
            <a:ext cx="9144000" cy="990600"/>
          </a:xfrm>
        </p:spPr>
        <p:txBody>
          <a:bodyPr/>
          <a:lstStyle/>
          <a:p>
            <a:pPr algn="ctr" eaLnBrk="1" hangingPunct="1">
              <a:lnSpc>
                <a:spcPts val="3400"/>
              </a:lnSpc>
              <a:defRPr/>
            </a:pPr>
            <a: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Business and Interpersonal Relationships</a:t>
            </a:r>
            <a:b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</a:br>
            <a:r>
              <a:rPr lang="en-US" altLang="ko-KR" sz="3200" b="1" dirty="0">
                <a:solidFill>
                  <a:schemeClr val="accent1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in Low/High Context Cultures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00608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DIMENSIONS: </a:t>
            </a:r>
            <a:r>
              <a:rPr lang="en-US" altLang="ko-KR" b="1" dirty="0" err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Geert</a:t>
            </a: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b="1" dirty="0" err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Hofstede</a:t>
            </a:r>
            <a:endParaRPr lang="en-US" altLang="ko-KR" b="1" dirty="0">
              <a:solidFill>
                <a:srgbClr val="FFC000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9077"/>
            <a:ext cx="8229600" cy="52482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rgbClr val="B1E2FB"/>
              </a:buClr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Font typeface="Wingdings" pitchFamily="2" charset="2"/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Font typeface="Wingdings" pitchFamily="2" charset="2"/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23528" y="1268760"/>
            <a:ext cx="835292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Power Distance</a:t>
            </a: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    - Degree of hierarchical social inequality considered normal </a:t>
            </a: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       by people</a:t>
            </a:r>
          </a:p>
          <a:p>
            <a:pPr marL="342900" marR="0" lvl="1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    - Distance between individuals at different levels of a societal</a:t>
            </a:r>
          </a:p>
          <a:p>
            <a:pPr marL="342900" marR="0" lvl="1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       hierarchy</a:t>
            </a:r>
          </a:p>
          <a:p>
            <a:pPr marL="342900" marR="0" lvl="1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Individualism Vs. Collectivism</a:t>
            </a:r>
          </a:p>
          <a:p>
            <a:pPr marL="342900" marR="0" lvl="0" indent="-342900" algn="l" defTabSz="914400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	 - Degree to which people in a country prefer to act as</a:t>
            </a:r>
          </a:p>
          <a:p>
            <a:pPr marL="342900" marR="0" lvl="0" indent="-342900" algn="l" defTabSz="914400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individuals rather than in groups</a:t>
            </a:r>
          </a:p>
          <a:p>
            <a:pPr marL="342900" marR="0" lvl="0" indent="-342900" algn="l" defTabSz="914400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- Describes the relations between the individual and his/her</a:t>
            </a:r>
          </a:p>
          <a:p>
            <a:pPr marL="342900" marR="0" lvl="0" indent="-342900" algn="l" defTabSz="914400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fellows</a:t>
            </a:r>
          </a:p>
          <a:p>
            <a:pPr marL="342900" marR="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Uncertainty Avoidance</a:t>
            </a:r>
          </a:p>
          <a:p>
            <a:pPr marL="342900" marR="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	 - Degree of need to avoid uncertainty about the future</a:t>
            </a:r>
          </a:p>
          <a:p>
            <a:pPr marL="342900" marR="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	 - Degree of preference for structured versus unstructured</a:t>
            </a:r>
          </a:p>
          <a:p>
            <a:pPr marL="342900" marR="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       situations</a:t>
            </a:r>
          </a:p>
          <a:p>
            <a:pPr marL="342900" marR="0" lvl="1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1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1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B1E2FB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24936" cy="54006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Masculinity vs. Femininity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Division of roles and values in a society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Masculine values prevail: 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	assertiveness, success, competition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Feminine values prevail:  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	quality of life, maintenance of warm personal relationships, 	service, care for the weak, solidarity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Long-term Orientation (Confucian Dynamism)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	 - Attitudes towards:</a:t>
            </a:r>
          </a:p>
          <a:p>
            <a:pPr marL="342900" lvl="1" indent="-342900"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     	Long time frames &amp; persistence</a:t>
            </a:r>
          </a:p>
          <a:p>
            <a:pPr marL="342900" lvl="1" indent="-342900"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     	Reciprocity --gifts and favors</a:t>
            </a:r>
          </a:p>
          <a:p>
            <a:pPr marL="342900" lvl="1" indent="-342900"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     	Respect for status &amp; tradition</a:t>
            </a:r>
          </a:p>
          <a:p>
            <a:pPr marL="342900" lvl="1" indent="-342900"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cs typeface="Times New Roman" pitchFamily="18" charset="0"/>
              </a:rPr>
              <a:t>     	Concerns for “Face”</a:t>
            </a: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0608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DIMENSIONS: </a:t>
            </a:r>
            <a:r>
              <a:rPr lang="en-US" altLang="ko-KR" b="1" dirty="0" err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Geert</a:t>
            </a: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b="1" dirty="0" err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Hofstede</a:t>
            </a:r>
            <a:endParaRPr lang="en-US" altLang="ko-KR" b="1" dirty="0">
              <a:solidFill>
                <a:srgbClr val="FFC000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Tabl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9144000" cy="5462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0" y="260648"/>
            <a:ext cx="914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3600" dirty="0" err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Hofstede’s</a:t>
            </a:r>
            <a:r>
              <a:rPr lang="en-US" altLang="ko-KR" sz="36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 Cultural Dimensions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abl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9144000" cy="565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0" y="260648"/>
            <a:ext cx="914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3600" dirty="0" err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Hofstede’s</a:t>
            </a:r>
            <a:r>
              <a:rPr lang="en-US" altLang="ko-KR" sz="36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 Cultural Dimensions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08912" cy="563562"/>
          </a:xfrm>
          <a:noFill/>
        </p:spPr>
        <p:txBody>
          <a:bodyPr/>
          <a:lstStyle/>
          <a:p>
            <a:pPr algn="ctr" eaLnBrk="1" hangingPunct="1">
              <a:lnSpc>
                <a:spcPts val="3000"/>
              </a:lnSpc>
            </a:pP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CULTURE &amp; BUSINESS PRACTICES</a:t>
            </a:r>
            <a:b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</a:b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(Lessons for Managers)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96752"/>
            <a:ext cx="8784976" cy="566124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Interactions Between Firms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Negotiations with suppliers/customers and collaborative activities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At the early stage of interaction, in many countries, the specifics of business negotiation can only be discussed after a basis of trust/mutual respect has been developed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Once involved in active negotiation, paying attention to the “silent languages” of time and agreement becomes important.</a:t>
            </a:r>
          </a:p>
          <a:p>
            <a:pPr eaLnBrk="1" hangingPunct="1">
              <a:lnSpc>
                <a:spcPts val="30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 specificity with which a contract is drawn up may also be important. Managers from a low-context culture tend to seek precise terms and clauses to cover all aspects of the agreement explicitly, while managers from a high-context culture tend to prefer a shorter agreement with less emphasis on the explicit terms and more weight on trust and mutual obligation.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08912" cy="563562"/>
          </a:xfrm>
          <a:noFill/>
        </p:spPr>
        <p:txBody>
          <a:bodyPr/>
          <a:lstStyle/>
          <a:p>
            <a:pPr algn="ctr" eaLnBrk="1" hangingPunct="1">
              <a:lnSpc>
                <a:spcPts val="3000"/>
              </a:lnSpc>
            </a:pP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CULTURE &amp; BUSINESS PRACTICES</a:t>
            </a:r>
            <a:b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</a:br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(Lessons for Managers)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96752"/>
            <a:ext cx="8784976" cy="566124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Interactions Within Firms</a:t>
            </a:r>
          </a:p>
          <a:p>
            <a:pPr eaLnBrk="1" hangingPunct="1">
              <a:lnSpc>
                <a:spcPts val="34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Organizations with members from different cultures likely face the following challenges.</a:t>
            </a:r>
          </a:p>
          <a:p>
            <a:pPr eaLnBrk="1" hangingPunct="1">
              <a:lnSpc>
                <a:spcPts val="34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How to deal with members’ different levels of power distance with respect to power relations among members</a:t>
            </a:r>
          </a:p>
          <a:p>
            <a:pPr eaLnBrk="1" hangingPunct="1">
              <a:lnSpc>
                <a:spcPts val="34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How to deal with members’ individualistic or collectivistic inclination with respect to participation and decision making</a:t>
            </a:r>
          </a:p>
          <a:p>
            <a:pPr eaLnBrk="1" hangingPunct="1">
              <a:lnSpc>
                <a:spcPts val="34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How to deal with members’ individualistic or collectivistic inclination with respect to motivation, performance evaluation, and reward/compensation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208912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IMPLICATIONS FOR BUSINESSES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96752"/>
            <a:ext cx="8640960" cy="566124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There is a need for managers to develop cross-cultural literacy</a:t>
            </a:r>
          </a:p>
          <a:p>
            <a:pPr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Understanding national culture and its role in management is important for international businesses (negotiation &amp; management)</a:t>
            </a:r>
          </a:p>
          <a:p>
            <a:pPr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Not just understanding the differences of national cultures in some undefined way but understanding distinctive behavior various cultural group may exhibit</a:t>
            </a:r>
          </a:p>
          <a:p>
            <a:pPr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Managers should develop an awareness of their own cultural behavior – their own implicit assumptions about time, expression of agreement, individualism, &amp; power distance</a:t>
            </a:r>
          </a:p>
          <a:p>
            <a:pPr eaLnBrk="1" hangingPunct="1">
              <a:lnSpc>
                <a:spcPts val="28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 relative importance of culture varies depending on situations.</a:t>
            </a:r>
          </a:p>
          <a:p>
            <a:pPr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More important for social settings like negotiations than for technical systems like financial models, process control systems, manufacturing systems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208912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IMPLICATIONS FOR BUSINESSES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96752"/>
            <a:ext cx="8784976" cy="566124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There is a connection between culture and national competitive advantage</a:t>
            </a:r>
          </a:p>
          <a:p>
            <a:pPr marL="342900" lvl="1" indent="-342900"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values and norms of a society influence the cost of doing business, which in turn affect the ability of firms to establish a competitive advantage.</a:t>
            </a:r>
          </a:p>
          <a:p>
            <a:pPr marL="342900" lvl="1" indent="-342900"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Hinduism or Islam may not be as supportive of capitalism as Protestantism and Confucianism. (Islamic laws banning interest payments)</a:t>
            </a: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marL="342900" lvl="1" indent="-342900"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The connection has implications for the choice of countries in </a:t>
            </a:r>
          </a:p>
          <a:p>
            <a:pPr marL="342900" lvl="1" indent="-342900" eaLnBrk="1" hangingPunct="1">
              <a:lnSpc>
                <a:spcPts val="2800"/>
              </a:lnSpc>
              <a:buClr>
                <a:srgbClr val="B1E2FB"/>
              </a:buClr>
              <a:buNone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   which to locate production facilities and do business</a:t>
            </a:r>
          </a:p>
          <a:p>
            <a:pPr marL="342900" lvl="1" indent="-342900" eaLnBrk="1" hangingPunct="1">
              <a:lnSpc>
                <a:spcPts val="2800"/>
              </a:lnSpc>
              <a:buClr>
                <a:srgbClr val="B1E2FB"/>
              </a:buClr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Differences in national culture are still very high, but national cultures tend to change over time. National cultures seem to be converging rather than diverging especially in young generations</a:t>
            </a:r>
          </a:p>
          <a:p>
            <a:pPr marL="342900" lvl="1" indent="-342900" eaLnBrk="1" hangingPunct="1">
              <a:lnSpc>
                <a:spcPts val="2600"/>
              </a:lnSpc>
              <a:buClr>
                <a:srgbClr val="B1E2FB"/>
              </a:buClr>
              <a:buFont typeface="Arial" pitchFamily="34" charset="0"/>
              <a:buChar char="•"/>
            </a:pPr>
            <a:endParaRPr lang="en-US" altLang="ko-KR" sz="24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">
  <a:themeElements>
    <a:clrScheme name="sample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7859</TotalTime>
  <Words>1111</Words>
  <Application>Microsoft Office PowerPoint</Application>
  <PresentationFormat>화면 슬라이드 쇼(4:3)</PresentationFormat>
  <Paragraphs>173</Paragraphs>
  <Slides>16</Slides>
  <Notes>13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맑은 고딕</vt:lpstr>
      <vt:lpstr>Arial</vt:lpstr>
      <vt:lpstr>Franklin Gothic Heavy</vt:lpstr>
      <vt:lpstr>Symbol</vt:lpstr>
      <vt:lpstr>Times New Roman</vt:lpstr>
      <vt:lpstr>Verdana</vt:lpstr>
      <vt:lpstr>Wingdings</vt:lpstr>
      <vt:lpstr>1</vt:lpstr>
      <vt:lpstr>Image</vt:lpstr>
      <vt:lpstr>NATIONAL CULTURE</vt:lpstr>
      <vt:lpstr>DEFINITION</vt:lpstr>
      <vt:lpstr>DETERMINANTS</vt:lpstr>
      <vt:lpstr>PowerPoint 프레젠테이션</vt:lpstr>
      <vt:lpstr>PowerPoint 프레젠테이션</vt:lpstr>
      <vt:lpstr>DIMENSIONS: Edward Hall</vt:lpstr>
      <vt:lpstr>Business and Interpersonal Relationships in Low/High Context Cultures</vt:lpstr>
      <vt:lpstr>Business and Interpersonal Relationships in Low/High Context Cultures</vt:lpstr>
      <vt:lpstr>DIMENSIONS: Geert Hofstede</vt:lpstr>
      <vt:lpstr>DIMENSIONS: Geert Hofstede</vt:lpstr>
      <vt:lpstr>PowerPoint 프레젠테이션</vt:lpstr>
      <vt:lpstr>PowerPoint 프레젠테이션</vt:lpstr>
      <vt:lpstr>CULTURE &amp; BUSINESS PRACTICES (Lessons for Managers)</vt:lpstr>
      <vt:lpstr>CULTURE &amp; BUSINESS PRACTICES (Lessons for Managers)</vt:lpstr>
      <vt:lpstr>IMPLICATIONS FOR BUSINESSES</vt:lpstr>
      <vt:lpstr>IMPLICATIONS FOR BUSINESSES</vt:lpstr>
    </vt:vector>
  </TitlesOfParts>
  <Company>건국대학교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엄기룡</dc:creator>
  <cp:lastModifiedBy>김광수</cp:lastModifiedBy>
  <cp:revision>760</cp:revision>
  <dcterms:created xsi:type="dcterms:W3CDTF">2007-10-09T12:42:30Z</dcterms:created>
  <dcterms:modified xsi:type="dcterms:W3CDTF">2025-09-04T05:33:35Z</dcterms:modified>
</cp:coreProperties>
</file>