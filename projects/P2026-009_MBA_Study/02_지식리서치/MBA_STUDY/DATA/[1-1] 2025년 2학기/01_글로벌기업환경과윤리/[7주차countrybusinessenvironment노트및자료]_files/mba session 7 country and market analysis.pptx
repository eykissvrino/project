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76" r:id="rId2"/>
  </p:sldMasterIdLst>
  <p:handoutMasterIdLst>
    <p:handoutMasterId r:id="rId28"/>
  </p:handoutMasterIdLst>
  <p:sldIdLst>
    <p:sldId id="360" r:id="rId3"/>
    <p:sldId id="408" r:id="rId4"/>
    <p:sldId id="406" r:id="rId5"/>
    <p:sldId id="405" r:id="rId6"/>
    <p:sldId id="355" r:id="rId7"/>
    <p:sldId id="409" r:id="rId8"/>
    <p:sldId id="313" r:id="rId9"/>
    <p:sldId id="375" r:id="rId10"/>
    <p:sldId id="410" r:id="rId11"/>
    <p:sldId id="411" r:id="rId12"/>
    <p:sldId id="412" r:id="rId13"/>
    <p:sldId id="414" r:id="rId14"/>
    <p:sldId id="413" r:id="rId15"/>
    <p:sldId id="315" r:id="rId16"/>
    <p:sldId id="316" r:id="rId17"/>
    <p:sldId id="384" r:id="rId18"/>
    <p:sldId id="385" r:id="rId19"/>
    <p:sldId id="332" r:id="rId20"/>
    <p:sldId id="415" r:id="rId21"/>
    <p:sldId id="399" r:id="rId22"/>
    <p:sldId id="400" r:id="rId23"/>
    <p:sldId id="334" r:id="rId24"/>
    <p:sldId id="417" r:id="rId25"/>
    <p:sldId id="397" r:id="rId26"/>
    <p:sldId id="396" r:id="rId27"/>
  </p:sldIdLst>
  <p:sldSz cx="9144000" cy="6858000" type="screen4x3"/>
  <p:notesSz cx="6669088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  <a:srgbClr val="FFFF66"/>
    <a:srgbClr val="00FFFF"/>
    <a:srgbClr val="B1E2FB"/>
    <a:srgbClr val="FF00FF"/>
    <a:srgbClr val="009900"/>
    <a:srgbClr val="FFFF00"/>
    <a:srgbClr val="3AE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2787" autoAdjust="0"/>
    <p:restoredTop sz="90985" autoAdjust="0"/>
  </p:normalViewPr>
  <p:slideViewPr>
    <p:cSldViewPr>
      <p:cViewPr varScale="1">
        <p:scale>
          <a:sx n="76" d="100"/>
          <a:sy n="76" d="100"/>
        </p:scale>
        <p:origin x="29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150" y="0"/>
            <a:ext cx="2889938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814"/>
            <a:ext cx="2889938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150" y="9431814"/>
            <a:ext cx="2889938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3A8CDFD5-8FEE-4B6C-B337-5A582A951B3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050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0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1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2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4.bin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5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6.bin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7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8.bin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9.bin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0.bin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1.bin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2.bin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3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24.bin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4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438095" imgH="5980952" progId="">
                  <p:embed/>
                </p:oleObj>
              </mc:Choice>
              <mc:Fallback>
                <p:oleObj name="Image" r:id="rId2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9050A-58C5-43A3-A3A0-AC5C4FC06C6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6FA59-E777-4A5B-8351-EE84326916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A33A2-A139-4A51-B2DC-BF1D884504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13BB3-2F8B-425B-B2A5-080DAE82A4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57861-1353-4590-B80D-0C42A897DF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D896A-D6B2-415D-BF4C-BD3DEE8C60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A9CAB-5207-4F51-9E54-59E315A094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D34DA-0E5E-4578-BC28-9B8D116DE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26163-8FE6-490C-BBC5-6A494A7B1B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77CFA-29B4-45FB-B98B-93BEA3C92D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BD73D-BB22-4754-99D3-F3C4723D91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10438095" imgH="5980952" progId="">
                  <p:embed/>
                </p:oleObj>
              </mc:Choice>
              <mc:Fallback>
                <p:oleObj name="Image" r:id="rId13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81000" y="304800"/>
            <a:ext cx="1079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>
                <a:latin typeface="Verdana" pitchFamily="34" charset="0"/>
                <a:ea typeface="굴림" charset="-127"/>
              </a:rPr>
              <a:t>LOGO</a:t>
            </a:r>
          </a:p>
        </p:txBody>
      </p:sp>
      <p:sp>
        <p:nvSpPr>
          <p:cNvPr id="11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5pPr>
      <a:lvl6pPr marL="4572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6pPr>
      <a:lvl7pPr marL="9144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7pPr>
      <a:lvl8pPr marL="13716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8pPr>
      <a:lvl9pPr marL="18288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3" imgW="10387302" imgH="1205924" progId="">
                  <p:embed/>
                </p:oleObj>
              </mc:Choice>
              <mc:Fallback>
                <p:oleObj name="Image" r:id="rId13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400" b="0">
                <a:latin typeface="+mj-lt"/>
                <a:ea typeface="굴림" charset="-127"/>
              </a:defRPr>
            </a:lvl1pPr>
          </a:lstStyle>
          <a:p>
            <a:pPr>
              <a:defRPr/>
            </a:pPr>
            <a:fld id="{2F609E19-2604-492B-B8BC-5AFF768B4C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33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sz="1800" b="0">
              <a:latin typeface="Arial" pitchFamily="34" charset="0"/>
              <a:ea typeface="굴림" pitchFamily="50" charset="-127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5pPr>
      <a:lvl6pPr marL="4572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6pPr>
      <a:lvl7pPr marL="9144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7pPr>
      <a:lvl8pPr marL="13716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8pPr>
      <a:lvl9pPr marL="1828800"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152400"/>
            <a:ext cx="9144000" cy="2133600"/>
          </a:xfrm>
          <a:solidFill>
            <a:srgbClr val="003296"/>
          </a:solidFill>
          <a:effectLst>
            <a:outerShdw dist="28398" dir="3806097" algn="ctr" rotWithShape="0">
              <a:srgbClr val="000066">
                <a:alpha val="50000"/>
              </a:srgbClr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chemeClr val="accent1"/>
                </a:solidFill>
                <a:latin typeface="Times New Roman" pitchFamily="18" charset="0"/>
                <a:ea typeface="굴림" pitchFamily="50" charset="-127"/>
              </a:rPr>
              <a:t>COUNTRY AND MARKET ANALYSIS</a:t>
            </a:r>
          </a:p>
        </p:txBody>
      </p:sp>
      <p:grpSp>
        <p:nvGrpSpPr>
          <p:cNvPr id="57347" name="Group 3"/>
          <p:cNvGrpSpPr>
            <a:grpSpLocks/>
          </p:cNvGrpSpPr>
          <p:nvPr/>
        </p:nvGrpSpPr>
        <p:grpSpPr bwMode="auto">
          <a:xfrm>
            <a:off x="0" y="2924175"/>
            <a:ext cx="9144000" cy="123825"/>
            <a:chOff x="432" y="912"/>
            <a:chExt cx="5808" cy="48"/>
          </a:xfrm>
        </p:grpSpPr>
        <p:sp>
          <p:nvSpPr>
            <p:cNvPr id="57350" name="Line 4"/>
            <p:cNvSpPr>
              <a:spLocks noChangeShapeType="1"/>
            </p:cNvSpPr>
            <p:nvPr/>
          </p:nvSpPr>
          <p:spPr bwMode="auto">
            <a:xfrm>
              <a:off x="432" y="912"/>
              <a:ext cx="5808" cy="0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351" name="Line 5"/>
            <p:cNvSpPr>
              <a:spLocks noChangeShapeType="1"/>
            </p:cNvSpPr>
            <p:nvPr/>
          </p:nvSpPr>
          <p:spPr bwMode="auto">
            <a:xfrm>
              <a:off x="432" y="960"/>
              <a:ext cx="580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348" name="Text Box 9"/>
          <p:cNvSpPr txBox="1">
            <a:spLocks noChangeArrowheads="1"/>
          </p:cNvSpPr>
          <p:nvPr/>
        </p:nvSpPr>
        <p:spPr bwMode="auto">
          <a:xfrm>
            <a:off x="5490405" y="4711754"/>
            <a:ext cx="2803075" cy="8002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2800" b="0" dirty="0">
                <a:solidFill>
                  <a:srgbClr val="99FF33"/>
                </a:solidFill>
                <a:ea typeface="굴림" pitchFamily="50" charset="-127"/>
              </a:rPr>
              <a:t>Dr. </a:t>
            </a:r>
            <a:r>
              <a:rPr lang="en-US" altLang="ko-KR" sz="2800" b="0" dirty="0" err="1">
                <a:solidFill>
                  <a:srgbClr val="99FF33"/>
                </a:solidFill>
                <a:ea typeface="굴림" pitchFamily="50" charset="-127"/>
              </a:rPr>
              <a:t>Kwangsoo</a:t>
            </a:r>
            <a:r>
              <a:rPr lang="en-US" altLang="ko-KR" sz="2800" b="0" dirty="0">
                <a:solidFill>
                  <a:srgbClr val="99FF33"/>
                </a:solidFill>
                <a:ea typeface="굴림" pitchFamily="50" charset="-127"/>
              </a:rPr>
              <a:t> Kim</a:t>
            </a:r>
          </a:p>
          <a:p>
            <a:pPr algn="r"/>
            <a:r>
              <a:rPr lang="en-US" altLang="ko-KR" b="0" dirty="0" err="1">
                <a:solidFill>
                  <a:srgbClr val="99FF33"/>
                </a:solidFill>
                <a:ea typeface="굴림" pitchFamily="50" charset="-127"/>
              </a:rPr>
              <a:t>Konkuk</a:t>
            </a:r>
            <a:r>
              <a:rPr lang="en-US" altLang="ko-KR" b="0" dirty="0">
                <a:solidFill>
                  <a:srgbClr val="99FF33"/>
                </a:solidFill>
                <a:ea typeface="굴림" pitchFamily="50" charset="-127"/>
              </a:rPr>
              <a:t> University</a:t>
            </a:r>
          </a:p>
        </p:txBody>
      </p:sp>
      <p:sp>
        <p:nvSpPr>
          <p:cNvPr id="57349" name="Rectangle 8"/>
          <p:cNvSpPr>
            <a:spLocks noChangeArrowheads="1"/>
          </p:cNvSpPr>
          <p:nvPr/>
        </p:nvSpPr>
        <p:spPr bwMode="auto">
          <a:xfrm>
            <a:off x="5214938" y="4384675"/>
            <a:ext cx="3240087" cy="1582738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latinLnBrk="1"/>
            <a:endParaRPr kumimoji="1" lang="ko-KR" altLang="en-US" sz="1800" b="0">
              <a:solidFill>
                <a:schemeClr val="bg1"/>
              </a:solidFill>
              <a:latin typeface="Franklin Gothic Heavy" pitchFamily="34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3059113" y="260350"/>
            <a:ext cx="27892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2"/>
            </a:outerShdw>
          </a:effectLst>
        </p:spPr>
        <p:txBody>
          <a:bodyPr>
            <a:spAutoFit/>
          </a:bodyPr>
          <a:lstStyle/>
          <a:p>
            <a:pPr algn="ctr" latinLnBrk="0">
              <a:defRPr/>
            </a:pPr>
            <a:r>
              <a:rPr kumimoji="0" lang="en-US" altLang="ko-KR" sz="3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HY헤드라인M" pitchFamily="18" charset="-127"/>
                <a:cs typeface="Times New Roman" pitchFamily="18" charset="0"/>
              </a:rPr>
              <a:t>AGENDA</a:t>
            </a:r>
            <a:endParaRPr kumimoji="0" lang="ko-KR" altLang="en-US" sz="3600" b="1" dirty="0">
              <a:solidFill>
                <a:srgbClr val="FFCC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HY헤드라인M" pitchFamily="18" charset="-127"/>
              <a:cs typeface="Times New Roman" pitchFamily="18" charset="0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285750" y="1500188"/>
            <a:ext cx="8572500" cy="4809132"/>
            <a:chOff x="285750" y="1500188"/>
            <a:chExt cx="8572500" cy="4071937"/>
          </a:xfrm>
        </p:grpSpPr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285750" y="1500188"/>
              <a:ext cx="8572500" cy="4071937"/>
              <a:chOff x="285750" y="1500188"/>
              <a:chExt cx="8572500" cy="3929062"/>
            </a:xfrm>
          </p:grpSpPr>
          <p:grpSp>
            <p:nvGrpSpPr>
              <p:cNvPr id="4" name="Group 173"/>
              <p:cNvGrpSpPr>
                <a:grpSpLocks/>
              </p:cNvGrpSpPr>
              <p:nvPr/>
            </p:nvGrpSpPr>
            <p:grpSpPr bwMode="auto">
              <a:xfrm>
                <a:off x="285750" y="1500188"/>
                <a:ext cx="8572500" cy="842962"/>
                <a:chOff x="1248" y="1350"/>
                <a:chExt cx="3060" cy="348"/>
              </a:xfrm>
            </p:grpSpPr>
            <p:sp>
              <p:nvSpPr>
                <p:cNvPr id="15380" name="AutoShape 95"/>
                <p:cNvSpPr>
                  <a:spLocks noChangeArrowheads="1"/>
                </p:cNvSpPr>
                <p:nvPr/>
              </p:nvSpPr>
              <p:spPr bwMode="gray">
                <a:xfrm>
                  <a:off x="1248" y="1350"/>
                  <a:ext cx="3060" cy="34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/>
                  <a:endParaRPr kumimoji="0" lang="ko-KR" altLang="en-US" sz="3200">
                    <a:latin typeface="Arial" pitchFamily="34" charset="0"/>
                  </a:endParaRPr>
                </a:p>
              </p:txBody>
            </p:sp>
            <p:sp>
              <p:nvSpPr>
                <p:cNvPr id="15381" name="AutoShape 94"/>
                <p:cNvSpPr>
                  <a:spLocks noChangeArrowheads="1"/>
                </p:cNvSpPr>
                <p:nvPr/>
              </p:nvSpPr>
              <p:spPr bwMode="gray">
                <a:xfrm>
                  <a:off x="1303" y="1380"/>
                  <a:ext cx="2969" cy="28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50195"/>
                  </a:schemeClr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/>
                  <a:endParaRPr kumimoji="0" lang="ko-KR" altLang="en-US" sz="3200">
                    <a:latin typeface="Arial" pitchFamily="34" charset="0"/>
                  </a:endParaRPr>
                </a:p>
              </p:txBody>
            </p:sp>
            <p:sp>
              <p:nvSpPr>
                <p:cNvPr id="100" name="Text Box 42"/>
                <p:cNvSpPr txBox="1">
                  <a:spLocks noChangeArrowheads="1"/>
                </p:cNvSpPr>
                <p:nvPr/>
              </p:nvSpPr>
              <p:spPr bwMode="gray">
                <a:xfrm>
                  <a:off x="1358" y="1380"/>
                  <a:ext cx="2839" cy="233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noFill/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 algn="ctr" latinLnBrk="0">
                    <a:defRPr/>
                  </a:pPr>
                  <a:endParaRPr kumimoji="0" lang="en-US" altLang="ko-KR" sz="3200" dirty="0">
                    <a:latin typeface="Arial" charset="0"/>
                    <a:ea typeface="HY견고딕" pitchFamily="18" charset="-127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5" name="Group 174"/>
              <p:cNvGrpSpPr>
                <a:grpSpLocks/>
              </p:cNvGrpSpPr>
              <p:nvPr/>
            </p:nvGrpSpPr>
            <p:grpSpPr bwMode="auto">
              <a:xfrm>
                <a:off x="285750" y="2563818"/>
                <a:ext cx="8501063" cy="842963"/>
                <a:chOff x="1260" y="1794"/>
                <a:chExt cx="3060" cy="348"/>
              </a:xfrm>
            </p:grpSpPr>
            <p:sp>
              <p:nvSpPr>
                <p:cNvPr id="15377" name="AutoShape 109"/>
                <p:cNvSpPr>
                  <a:spLocks noChangeArrowheads="1"/>
                </p:cNvSpPr>
                <p:nvPr/>
              </p:nvSpPr>
              <p:spPr bwMode="gray">
                <a:xfrm>
                  <a:off x="1260" y="1794"/>
                  <a:ext cx="3060" cy="34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/>
                  <a:endParaRPr kumimoji="0" lang="ko-KR" altLang="en-US" sz="3200">
                    <a:latin typeface="Arial" pitchFamily="34" charset="0"/>
                  </a:endParaRPr>
                </a:p>
              </p:txBody>
            </p:sp>
            <p:sp>
              <p:nvSpPr>
                <p:cNvPr id="15378" name="AutoShape 110"/>
                <p:cNvSpPr>
                  <a:spLocks noChangeArrowheads="1"/>
                </p:cNvSpPr>
                <p:nvPr/>
              </p:nvSpPr>
              <p:spPr bwMode="gray">
                <a:xfrm>
                  <a:off x="1315" y="1824"/>
                  <a:ext cx="2969" cy="28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50195"/>
                  </a:schemeClr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/>
                  <a:endParaRPr kumimoji="0" lang="ko-KR" altLang="en-US" sz="3200">
                    <a:latin typeface="Arial" pitchFamily="34" charset="0"/>
                  </a:endParaRPr>
                </a:p>
              </p:txBody>
            </p:sp>
            <p:sp>
              <p:nvSpPr>
                <p:cNvPr id="104" name="Text Box 111"/>
                <p:cNvSpPr txBox="1">
                  <a:spLocks noChangeArrowheads="1"/>
                </p:cNvSpPr>
                <p:nvPr/>
              </p:nvSpPr>
              <p:spPr bwMode="gray">
                <a:xfrm>
                  <a:off x="1311" y="1860"/>
                  <a:ext cx="2931" cy="197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noFill/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 algn="ctr" latinLnBrk="0">
                    <a:defRPr/>
                  </a:pPr>
                  <a:r>
                    <a:rPr lang="en-US" altLang="ko-KR" sz="3200" dirty="0">
                      <a:ea typeface="HY견고딕" pitchFamily="18" charset="-127"/>
                      <a:cs typeface="Times New Roman" pitchFamily="18" charset="0"/>
                    </a:rPr>
                    <a:t>Country Analysis</a:t>
                  </a:r>
                  <a:endParaRPr kumimoji="0" lang="en-US" altLang="ko-KR" sz="3200" dirty="0">
                    <a:latin typeface="Arial" charset="0"/>
                    <a:ea typeface="HY견고딕" pitchFamily="18" charset="-127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6" name="Group 175"/>
              <p:cNvGrpSpPr>
                <a:grpSpLocks/>
              </p:cNvGrpSpPr>
              <p:nvPr/>
            </p:nvGrpSpPr>
            <p:grpSpPr bwMode="auto">
              <a:xfrm>
                <a:off x="285750" y="3571875"/>
                <a:ext cx="8501063" cy="842963"/>
                <a:chOff x="1248" y="2244"/>
                <a:chExt cx="3060" cy="348"/>
              </a:xfrm>
            </p:grpSpPr>
            <p:sp>
              <p:nvSpPr>
                <p:cNvPr id="15374" name="AutoShape 125"/>
                <p:cNvSpPr>
                  <a:spLocks noChangeArrowheads="1"/>
                </p:cNvSpPr>
                <p:nvPr/>
              </p:nvSpPr>
              <p:spPr bwMode="gray">
                <a:xfrm>
                  <a:off x="1248" y="2244"/>
                  <a:ext cx="3060" cy="34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latinLnBrk="0"/>
                  <a:endParaRPr kumimoji="0" lang="ko-KR" altLang="en-US" sz="3200">
                    <a:latin typeface="Arial" pitchFamily="34" charset="0"/>
                  </a:endParaRPr>
                </a:p>
              </p:txBody>
            </p:sp>
            <p:sp>
              <p:nvSpPr>
                <p:cNvPr id="15375" name="AutoShape 126"/>
                <p:cNvSpPr>
                  <a:spLocks noChangeArrowheads="1"/>
                </p:cNvSpPr>
                <p:nvPr/>
              </p:nvSpPr>
              <p:spPr bwMode="gray">
                <a:xfrm>
                  <a:off x="1303" y="2274"/>
                  <a:ext cx="2969" cy="28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50195"/>
                  </a:schemeClr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latinLnBrk="0"/>
                  <a:endParaRPr kumimoji="0" lang="ko-KR" altLang="en-US" sz="3200">
                    <a:latin typeface="Arial" pitchFamily="34" charset="0"/>
                  </a:endParaRPr>
                </a:p>
              </p:txBody>
            </p:sp>
            <p:sp>
              <p:nvSpPr>
                <p:cNvPr id="108" name="Text Box 127"/>
                <p:cNvSpPr txBox="1">
                  <a:spLocks noChangeArrowheads="1"/>
                </p:cNvSpPr>
                <p:nvPr/>
              </p:nvSpPr>
              <p:spPr bwMode="gray">
                <a:xfrm>
                  <a:off x="1325" y="2274"/>
                  <a:ext cx="2906" cy="197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noFill/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 algn="ctr" latinLnBrk="0">
                    <a:defRPr/>
                  </a:pPr>
                  <a:r>
                    <a:rPr kumimoji="0" lang="en-US" altLang="ko-KR" sz="3200" dirty="0">
                      <a:latin typeface="Times New Roman" pitchFamily="18" charset="0"/>
                      <a:ea typeface="HY견고딕" pitchFamily="18" charset="-127"/>
                      <a:cs typeface="Times New Roman" pitchFamily="18" charset="0"/>
                    </a:rPr>
                    <a:t>Market Analysis</a:t>
                  </a:r>
                </a:p>
              </p:txBody>
            </p:sp>
          </p:grpSp>
          <p:grpSp>
            <p:nvGrpSpPr>
              <p:cNvPr id="7" name="Group 176"/>
              <p:cNvGrpSpPr>
                <a:grpSpLocks/>
              </p:cNvGrpSpPr>
              <p:nvPr/>
            </p:nvGrpSpPr>
            <p:grpSpPr bwMode="auto">
              <a:xfrm>
                <a:off x="285750" y="4586288"/>
                <a:ext cx="8501063" cy="842962"/>
                <a:chOff x="1248" y="2724"/>
                <a:chExt cx="3060" cy="348"/>
              </a:xfrm>
            </p:grpSpPr>
            <p:sp>
              <p:nvSpPr>
                <p:cNvPr id="15371" name="AutoShape 141"/>
                <p:cNvSpPr>
                  <a:spLocks noChangeArrowheads="1"/>
                </p:cNvSpPr>
                <p:nvPr/>
              </p:nvSpPr>
              <p:spPr bwMode="gray">
                <a:xfrm>
                  <a:off x="1248" y="2724"/>
                  <a:ext cx="3060" cy="34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/>
                  <a:endParaRPr kumimoji="0" lang="ko-KR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372" name="AutoShape 142"/>
                <p:cNvSpPr>
                  <a:spLocks noChangeArrowheads="1"/>
                </p:cNvSpPr>
                <p:nvPr/>
              </p:nvSpPr>
              <p:spPr bwMode="gray">
                <a:xfrm>
                  <a:off x="1303" y="2754"/>
                  <a:ext cx="2969" cy="28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50195"/>
                  </a:schemeClr>
                </a:solidFill>
                <a:ln w="9525" algn="ctr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/>
                  <a:endParaRPr kumimoji="0" lang="ko-KR" altLang="en-US" sz="32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12" name="Text Box 143"/>
                <p:cNvSpPr txBox="1">
                  <a:spLocks noChangeArrowheads="1"/>
                </p:cNvSpPr>
                <p:nvPr/>
              </p:nvSpPr>
              <p:spPr bwMode="gray">
                <a:xfrm>
                  <a:off x="1447" y="2777"/>
                  <a:ext cx="2784" cy="212"/>
                </a:xfrm>
                <a:prstGeom prst="rect">
                  <a:avLst/>
                </a:prstGeom>
                <a:solidFill>
                  <a:schemeClr val="bg1"/>
                </a:solidFill>
                <a:ln w="9525" algn="ctr">
                  <a:noFill/>
                  <a:miter lim="800000"/>
                  <a:headEnd/>
                  <a:tailEnd/>
                </a:ln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 algn="ctr" latinLnBrk="0">
                    <a:lnSpc>
                      <a:spcPct val="90000"/>
                    </a:lnSpc>
                    <a:spcBef>
                      <a:spcPct val="170000"/>
                    </a:spcBef>
                    <a:defRPr/>
                  </a:pPr>
                  <a:endParaRPr kumimoji="0" lang="ko-KR" altLang="en-US" sz="3200" dirty="0">
                    <a:latin typeface="Times New Roman" pitchFamily="18" charset="0"/>
                    <a:ea typeface="HY견고딕" pitchFamily="18" charset="-127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23" name="Text Box 143"/>
            <p:cNvSpPr txBox="1">
              <a:spLocks noChangeArrowheads="1"/>
            </p:cNvSpPr>
            <p:nvPr/>
          </p:nvSpPr>
          <p:spPr bwMode="gray">
            <a:xfrm>
              <a:off x="571500" y="4881563"/>
              <a:ext cx="8001000" cy="453439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 latinLnBrk="0">
                <a:lnSpc>
                  <a:spcPct val="90000"/>
                </a:lnSpc>
                <a:spcBef>
                  <a:spcPct val="170000"/>
                </a:spcBef>
                <a:defRPr/>
              </a:pPr>
              <a:r>
                <a:rPr kumimoji="0" lang="en-US" altLang="ko-KR" sz="3200" dirty="0"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Conclusions</a:t>
              </a:r>
              <a:endParaRPr kumimoji="0" lang="ko-KR" altLang="en-US" sz="3200" dirty="0">
                <a:latin typeface="Times New Roman" pitchFamily="18" charset="0"/>
                <a:ea typeface="HY견고딕" pitchFamily="18" charset="-127"/>
                <a:cs typeface="Times New Roman" pitchFamily="18" charset="0"/>
              </a:endParaRPr>
            </a:p>
          </p:txBody>
        </p:sp>
      </p:grpSp>
      <p:sp>
        <p:nvSpPr>
          <p:cNvPr id="26" name="Text Box 111"/>
          <p:cNvSpPr txBox="1">
            <a:spLocks noChangeArrowheads="1"/>
          </p:cNvSpPr>
          <p:nvPr/>
        </p:nvSpPr>
        <p:spPr bwMode="gray">
          <a:xfrm>
            <a:off x="461763" y="1692791"/>
            <a:ext cx="8142685" cy="584081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latinLnBrk="0">
              <a:defRPr/>
            </a:pPr>
            <a:r>
              <a:rPr lang="en-US" altLang="ko-KR" sz="3200" dirty="0">
                <a:ea typeface="HY견고딕" pitchFamily="18" charset="-127"/>
                <a:cs typeface="Times New Roman" pitchFamily="18" charset="0"/>
              </a:rPr>
              <a:t>Overview</a:t>
            </a:r>
            <a:endParaRPr kumimoji="0" lang="en-US" altLang="ko-KR" sz="3200" dirty="0">
              <a:latin typeface="Arial" charset="0"/>
              <a:ea typeface="HY견고딕" pitchFamily="18" charset="-127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467544" y="1128737"/>
            <a:ext cx="8280920" cy="302034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Overview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00608" y="319088"/>
            <a:ext cx="7543800" cy="563562"/>
          </a:xfrm>
        </p:spPr>
        <p:txBody>
          <a:bodyPr/>
          <a:lstStyle/>
          <a:p>
            <a:pPr algn="ctr"/>
            <a:r>
              <a:rPr lang="en-US" altLang="ko-KR" sz="32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COMPONENTS OF GLOBAL BUSINESS ENVIRONMENT</a:t>
            </a:r>
            <a:endParaRPr lang="ko-KR" altLang="en-US" sz="3200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3770176" y="3455474"/>
            <a:ext cx="1595223" cy="1215717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2625120" y="2490498"/>
            <a:ext cx="3915548" cy="303929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1322958" y="1916832"/>
            <a:ext cx="6525914" cy="4194224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sz="1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178045" y="3901653"/>
            <a:ext cx="73869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>
                <a:solidFill>
                  <a:schemeClr val="tx2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Firm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4041605" y="2684240"/>
            <a:ext cx="109356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200" dirty="0">
                <a:solidFill>
                  <a:srgbClr val="FFFF00"/>
                </a:solidFill>
                <a:ea typeface="PMingLiU" pitchFamily="18" charset="-120"/>
                <a:cs typeface="Times New Roman" pitchFamily="18" charset="0"/>
              </a:rPr>
              <a:t>Market</a:t>
            </a:r>
            <a:endParaRPr lang="en-US" altLang="zh-TW" sz="2200" b="1" dirty="0">
              <a:solidFill>
                <a:srgbClr val="FFFF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2987824" y="3068960"/>
            <a:ext cx="133696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Size &amp; Trend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3780965" y="5101286"/>
            <a:ext cx="1701107" cy="487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Demand Driving </a:t>
            </a:r>
          </a:p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Forces</a:t>
            </a: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5364088" y="4005064"/>
            <a:ext cx="1172116" cy="471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Marketing </a:t>
            </a:r>
          </a:p>
          <a:p>
            <a:pPr algn="ctr">
              <a:lnSpc>
                <a:spcPts val="1000"/>
              </a:lnSpc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Infra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3973478" y="2036168"/>
            <a:ext cx="120417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200" dirty="0">
                <a:solidFill>
                  <a:srgbClr val="FFFF00"/>
                </a:solidFill>
                <a:ea typeface="PMingLiU" pitchFamily="18" charset="-120"/>
                <a:cs typeface="Times New Roman" pitchFamily="18" charset="0"/>
              </a:rPr>
              <a:t>Country</a:t>
            </a:r>
            <a:endParaRPr lang="en-US" altLang="zh-TW" sz="2200" b="1" dirty="0">
              <a:solidFill>
                <a:srgbClr val="FFFF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2177636" y="2768251"/>
            <a:ext cx="6880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Goals</a:t>
            </a: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584176" y="3594502"/>
            <a:ext cx="8483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Policies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6300192" y="4077072"/>
            <a:ext cx="16541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Political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6381022" y="2896225"/>
            <a:ext cx="71045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Social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872208" y="4653136"/>
            <a:ext cx="885948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altLang="ko-KR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Resources</a:t>
            </a: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5220072" y="3501008"/>
            <a:ext cx="128112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Competitors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4711807" y="4581128"/>
            <a:ext cx="158838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Demand Nature</a:t>
            </a:r>
          </a:p>
        </p:txBody>
      </p:sp>
      <p:sp>
        <p:nvSpPr>
          <p:cNvPr id="18453" name="Text Box 8"/>
          <p:cNvSpPr txBox="1">
            <a:spLocks noChangeArrowheads="1"/>
          </p:cNvSpPr>
          <p:nvPr/>
        </p:nvSpPr>
        <p:spPr bwMode="auto">
          <a:xfrm>
            <a:off x="4788024" y="3068960"/>
            <a:ext cx="13532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Unmet Needs</a:t>
            </a:r>
          </a:p>
        </p:txBody>
      </p:sp>
      <p:sp>
        <p:nvSpPr>
          <p:cNvPr id="62" name="Oval 61"/>
          <p:cNvSpPr/>
          <p:nvPr/>
        </p:nvSpPr>
        <p:spPr bwMode="auto">
          <a:xfrm>
            <a:off x="288032" y="1340768"/>
            <a:ext cx="8604448" cy="525658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 Box 12"/>
          <p:cNvSpPr txBox="1">
            <a:spLocks noChangeArrowheads="1"/>
          </p:cNvSpPr>
          <p:nvPr/>
        </p:nvSpPr>
        <p:spPr bwMode="auto">
          <a:xfrm>
            <a:off x="4072485" y="1460104"/>
            <a:ext cx="95295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200" dirty="0">
                <a:solidFill>
                  <a:srgbClr val="FFFF00"/>
                </a:solidFill>
                <a:ea typeface="PMingLiU" pitchFamily="18" charset="-120"/>
                <a:cs typeface="Times New Roman" pitchFamily="18" charset="0"/>
              </a:rPr>
              <a:t>World</a:t>
            </a:r>
            <a:endParaRPr lang="en-US" altLang="zh-TW" sz="2200" b="1" dirty="0">
              <a:solidFill>
                <a:srgbClr val="FFFF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64" name="Text Box 13"/>
          <p:cNvSpPr txBox="1">
            <a:spLocks noChangeArrowheads="1"/>
          </p:cNvSpPr>
          <p:nvPr/>
        </p:nvSpPr>
        <p:spPr bwMode="auto">
          <a:xfrm>
            <a:off x="827584" y="4941168"/>
            <a:ext cx="1039066" cy="443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Foreign</a:t>
            </a:r>
          </a:p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Exchange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7272808" y="2298358"/>
            <a:ext cx="53732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FDI</a:t>
            </a:r>
          </a:p>
        </p:txBody>
      </p:sp>
      <p:sp>
        <p:nvSpPr>
          <p:cNvPr id="66" name="Text Box 13"/>
          <p:cNvSpPr txBox="1">
            <a:spLocks noChangeArrowheads="1"/>
          </p:cNvSpPr>
          <p:nvPr/>
        </p:nvSpPr>
        <p:spPr bwMode="auto">
          <a:xfrm>
            <a:off x="1239408" y="2298358"/>
            <a:ext cx="70480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Trade</a:t>
            </a:r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7392408" y="4962654"/>
            <a:ext cx="9605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Regional</a:t>
            </a:r>
          </a:p>
        </p:txBody>
      </p:sp>
      <p:sp>
        <p:nvSpPr>
          <p:cNvPr id="68" name="Text Box 13"/>
          <p:cNvSpPr txBox="1">
            <a:spLocks noChangeArrowheads="1"/>
          </p:cNvSpPr>
          <p:nvPr/>
        </p:nvSpPr>
        <p:spPr bwMode="auto">
          <a:xfrm>
            <a:off x="3978542" y="6165304"/>
            <a:ext cx="1350050" cy="443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International</a:t>
            </a:r>
          </a:p>
          <a:p>
            <a:pPr algn="ctr">
              <a:lnSpc>
                <a:spcPts val="800"/>
              </a:lnSpc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Institutions</a:t>
            </a:r>
          </a:p>
        </p:txBody>
      </p:sp>
      <p:sp>
        <p:nvSpPr>
          <p:cNvPr id="69" name="Text Box 11"/>
          <p:cNvSpPr txBox="1">
            <a:spLocks noChangeArrowheads="1"/>
          </p:cNvSpPr>
          <p:nvPr/>
        </p:nvSpPr>
        <p:spPr bwMode="auto">
          <a:xfrm>
            <a:off x="2771800" y="4077072"/>
            <a:ext cx="92525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Channel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2880320" y="5373216"/>
            <a:ext cx="650819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altLang="ko-KR" sz="1600" dirty="0">
                <a:ea typeface="PMingLiU" pitchFamily="18" charset="-120"/>
                <a:cs typeface="Times New Roman" pitchFamily="18" charset="0"/>
              </a:rPr>
              <a:t>Players</a:t>
            </a:r>
            <a:endParaRPr lang="en-GB" altLang="ko-KR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4406025" y="5733256"/>
            <a:ext cx="490519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altLang="ko-KR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Rules</a:t>
            </a:r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6067580" y="5162703"/>
            <a:ext cx="867225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GB" altLang="ko-KR" sz="16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Economic</a:t>
            </a:r>
          </a:p>
        </p:txBody>
      </p:sp>
      <p:sp>
        <p:nvSpPr>
          <p:cNvPr id="36" name="Text Box 8"/>
          <p:cNvSpPr txBox="1">
            <a:spLocks noChangeArrowheads="1"/>
          </p:cNvSpPr>
          <p:nvPr/>
        </p:nvSpPr>
        <p:spPr bwMode="auto">
          <a:xfrm>
            <a:off x="2987824" y="4581128"/>
            <a:ext cx="138371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Segmentation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2987824" y="3573016"/>
            <a:ext cx="5934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  <a:cs typeface="Times New Roman" pitchFamily="18" charset="0"/>
              </a:rPr>
              <a:t>PLC</a:t>
            </a:r>
            <a:endParaRPr lang="en-US" altLang="zh-TW" sz="1600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683568" y="1124744"/>
            <a:ext cx="7704856" cy="3096344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Country Analysis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FRAMEWORK FOR COUNTRY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560" y="1556792"/>
            <a:ext cx="184731" cy="718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endParaRPr lang="en-US" b="0" dirty="0"/>
          </a:p>
        </p:txBody>
      </p:sp>
      <p:sp>
        <p:nvSpPr>
          <p:cNvPr id="12" name="Oval 11"/>
          <p:cNvSpPr/>
          <p:nvPr/>
        </p:nvSpPr>
        <p:spPr bwMode="auto">
          <a:xfrm>
            <a:off x="3288177" y="1196752"/>
            <a:ext cx="2232248" cy="20665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88884" y="1268760"/>
            <a:ext cx="153118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Economic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Business cycle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GDP trends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Interest rates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Money supply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Unemployment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Inflation, etc</a:t>
            </a:r>
          </a:p>
        </p:txBody>
      </p:sp>
      <p:sp>
        <p:nvSpPr>
          <p:cNvPr id="14" name="Oval 13"/>
          <p:cNvSpPr/>
          <p:nvPr/>
        </p:nvSpPr>
        <p:spPr bwMode="auto">
          <a:xfrm>
            <a:off x="5508104" y="2492896"/>
            <a:ext cx="2232248" cy="206145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39799" y="2816349"/>
            <a:ext cx="201087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Technological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R&amp;D budgets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Technological efforts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New discoveries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Speed of technology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Transfer, etc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1115616" y="2447017"/>
            <a:ext cx="2232248" cy="20665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7624" y="2663041"/>
            <a:ext cx="212910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Political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Government stability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Taxation policy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Trade regulations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Social welfare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etc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1907704" y="4653136"/>
            <a:ext cx="2232248" cy="20665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6484" y="4852680"/>
            <a:ext cx="19271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Sociocultural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Demographics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Income distribution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Lifestyle changes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Attitudes to work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Consumerism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Education</a:t>
            </a:r>
          </a:p>
        </p:txBody>
      </p:sp>
      <p:sp>
        <p:nvSpPr>
          <p:cNvPr id="20" name="Oval 19"/>
          <p:cNvSpPr/>
          <p:nvPr/>
        </p:nvSpPr>
        <p:spPr bwMode="auto">
          <a:xfrm>
            <a:off x="4572000" y="4703440"/>
            <a:ext cx="2232248" cy="201622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81634" y="4991472"/>
            <a:ext cx="1673856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Legal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Competition law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Employment law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Health &amp; safety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Product safety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etc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 bwMode="auto">
          <a:xfrm>
            <a:off x="323528" y="1556792"/>
            <a:ext cx="8424936" cy="496855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타원 1"/>
          <p:cNvSpPr/>
          <p:nvPr/>
        </p:nvSpPr>
        <p:spPr bwMode="auto">
          <a:xfrm>
            <a:off x="3434129" y="1662308"/>
            <a:ext cx="2376265" cy="1844126"/>
          </a:xfrm>
          <a:prstGeom prst="ellipse">
            <a:avLst/>
          </a:prstGeom>
          <a:solidFill>
            <a:schemeClr val="tx2">
              <a:lumMod val="95000"/>
            </a:schemeClr>
          </a:solidFill>
          <a:ln w="28575" cap="flat" cmpd="sng" algn="ctr">
            <a:solidFill>
              <a:schemeClr val="bg2">
                <a:lumMod val="60000"/>
                <a:lumOff val="40000"/>
              </a:schemeClr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FRAMEWORK FOR COUNTRY ANALYSIS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1115616" y="3573016"/>
            <a:ext cx="2304256" cy="2088232"/>
          </a:xfrm>
          <a:prstGeom prst="ellipse">
            <a:avLst/>
          </a:prstGeom>
          <a:solidFill>
            <a:schemeClr val="tx2">
              <a:lumMod val="95000"/>
            </a:schemeClr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</a:rPr>
              <a:t>Strategy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>
                <a:solidFill>
                  <a:schemeClr val="accent2">
                    <a:lumMod val="50000"/>
                  </a:schemeClr>
                </a:solidFill>
              </a:rPr>
              <a:t>Goals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itchFamily="18" charset="0"/>
              </a:rPr>
              <a:t>Policies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5652120" y="3573016"/>
            <a:ext cx="2304256" cy="2016224"/>
          </a:xfrm>
          <a:prstGeom prst="ellipse">
            <a:avLst/>
          </a:prstGeom>
          <a:solidFill>
            <a:schemeClr val="tx2">
              <a:lumMod val="95000"/>
            </a:schemeClr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24128" y="3896082"/>
            <a:ext cx="2177199" cy="1549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Performance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Economic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Social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Political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International</a:t>
            </a:r>
          </a:p>
        </p:txBody>
      </p:sp>
      <p:cxnSp>
        <p:nvCxnSpPr>
          <p:cNvPr id="10" name="Straight Arrow Connector 9"/>
          <p:cNvCxnSpPr>
            <a:stCxn id="4" idx="6"/>
            <a:endCxn id="7" idx="2"/>
          </p:cNvCxnSpPr>
          <p:nvPr/>
        </p:nvCxnSpPr>
        <p:spPr bwMode="auto">
          <a:xfrm flipV="1">
            <a:off x="3419872" y="4581128"/>
            <a:ext cx="2232248" cy="3600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786451" y="1807850"/>
            <a:ext cx="1627369" cy="1549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Context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Resources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Players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Rules</a:t>
            </a:r>
          </a:p>
          <a:p>
            <a:pPr algn="ctr">
              <a:lnSpc>
                <a:spcPts val="2000"/>
              </a:lnSpc>
            </a:pPr>
            <a:r>
              <a:rPr lang="en-US" sz="2200" b="0" dirty="0">
                <a:solidFill>
                  <a:schemeClr val="accent2">
                    <a:lumMod val="50000"/>
                  </a:schemeClr>
                </a:solidFill>
              </a:rPr>
              <a:t>International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rot="5400000">
            <a:off x="4132877" y="4096483"/>
            <a:ext cx="936104" cy="158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rot="5400000">
            <a:off x="2942928" y="3139999"/>
            <a:ext cx="665854" cy="57606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rot="16200000" flipH="1">
            <a:off x="5724128" y="3095103"/>
            <a:ext cx="576064" cy="57606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Strategy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500063" y="1255713"/>
            <a:ext cx="810438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1227524"/>
            <a:ext cx="864096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 Goals</a:t>
            </a:r>
          </a:p>
          <a:p>
            <a:r>
              <a:rPr lang="en-US" b="0" dirty="0"/>
              <a:t>   - Understand potential national goals and their relative priority</a:t>
            </a:r>
          </a:p>
          <a:p>
            <a:r>
              <a:rPr lang="en-US" b="0" dirty="0"/>
              <a:t>   - Economic goals: GDP growth, low unemployment, stable prices</a:t>
            </a:r>
          </a:p>
          <a:p>
            <a:r>
              <a:rPr lang="en-US" b="0" dirty="0"/>
              <a:t>   - Political goals: national power, re-election, stability, etc.</a:t>
            </a:r>
          </a:p>
          <a:p>
            <a:r>
              <a:rPr lang="en-US" b="0" dirty="0"/>
              <a:t>   - Social goals: Education/health, income inequality, housing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/>
              <a:t> Policies</a:t>
            </a:r>
          </a:p>
          <a:p>
            <a:r>
              <a:rPr lang="en-US" b="0" dirty="0"/>
              <a:t>   - Government actions to achieve national goals</a:t>
            </a:r>
          </a:p>
          <a:p>
            <a:r>
              <a:rPr lang="en-US" b="0" dirty="0"/>
              <a:t>   - Include fiscal, monetary, trade, exchange rate, </a:t>
            </a:r>
            <a:r>
              <a:rPr lang="en-US" b="0" dirty="0" err="1"/>
              <a:t>sectoral</a:t>
            </a:r>
            <a:r>
              <a:rPr lang="en-US" b="0" dirty="0"/>
              <a:t> policies</a:t>
            </a:r>
          </a:p>
          <a:p>
            <a:r>
              <a:rPr lang="en-US" b="0" dirty="0"/>
              <a:t>   - Include broad economic, political, and social policies</a:t>
            </a:r>
          </a:p>
          <a:p>
            <a:r>
              <a:rPr lang="en-US" b="0" dirty="0"/>
              <a:t>   - Range from </a:t>
            </a:r>
            <a:r>
              <a:rPr lang="en-US" b="0"/>
              <a:t>markets to </a:t>
            </a:r>
            <a:r>
              <a:rPr lang="en-US" b="0" dirty="0"/>
              <a:t>the state to mobilize/allocate resources</a:t>
            </a:r>
          </a:p>
          <a:p>
            <a:r>
              <a:rPr lang="en-US" b="0" dirty="0"/>
              <a:t>   - Examine patterns in the reliance of markets and governments to   </a:t>
            </a:r>
          </a:p>
          <a:p>
            <a:r>
              <a:rPr lang="en-US" b="0" dirty="0"/>
              <a:t>     allocate resources – initial: governments; later: markets</a:t>
            </a:r>
          </a:p>
          <a:p>
            <a:r>
              <a:rPr lang="en-US" b="0" dirty="0"/>
              <a:t>   - Has to do with a country’s external or internal orientation</a:t>
            </a:r>
          </a:p>
          <a:p>
            <a:r>
              <a:rPr lang="en-US" b="0" dirty="0"/>
              <a:t>   - Policies are related to context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Context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500063" y="1255713"/>
            <a:ext cx="810438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220554"/>
            <a:ext cx="8640960" cy="542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sz="2800" dirty="0"/>
              <a:t> Resources (national)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- Classify resources as follows: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- Labor/human: working age #, their education and skill levels, etc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- Physical: machinery and infrastructure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- Capital/financial: 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- Natural resources: oil, timber, geographic location, etc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- Technological: ability to use existing processes/to innovate </a:t>
            </a:r>
          </a:p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sz="2800" dirty="0"/>
              <a:t> Players in the game</a:t>
            </a:r>
            <a:r>
              <a:rPr lang="en-US" b="0" dirty="0"/>
              <a:t> (with distinct interests and incentives)</a:t>
            </a:r>
            <a:endParaRPr lang="en-US" sz="2800" dirty="0"/>
          </a:p>
          <a:p>
            <a:pPr>
              <a:lnSpc>
                <a:spcPts val="3200"/>
              </a:lnSpc>
            </a:pPr>
            <a:r>
              <a:rPr lang="en-US" b="0" dirty="0"/>
              <a:t>   - Firms: have the direct link to resource allocation and use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- Government actors: central banks, ministries, state firms, 	regulatory agencies, different branches of government, </a:t>
            </a:r>
            <a:r>
              <a:rPr lang="en-US" b="0" dirty="0" err="1"/>
              <a:t>etc</a:t>
            </a:r>
            <a:endParaRPr lang="en-US" b="0" dirty="0"/>
          </a:p>
          <a:p>
            <a:pPr>
              <a:lnSpc>
                <a:spcPts val="3200"/>
              </a:lnSpc>
            </a:pPr>
            <a:r>
              <a:rPr lang="en-US" b="0" dirty="0"/>
              <a:t>   - Non-government actors: religious groups, labor organizations, 	employer associations, political parties, schools, </a:t>
            </a:r>
            <a:r>
              <a:rPr lang="en-US" b="0" dirty="0" err="1"/>
              <a:t>etc</a:t>
            </a:r>
            <a:endParaRPr 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Context (continued)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500063" y="1255713"/>
            <a:ext cx="810438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220554"/>
            <a:ext cx="8640960" cy="487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en-US" sz="2800" dirty="0"/>
              <a:t> Rules of the game</a:t>
            </a:r>
          </a:p>
          <a:p>
            <a:pPr>
              <a:lnSpc>
                <a:spcPts val="4200"/>
              </a:lnSpc>
            </a:pPr>
            <a:r>
              <a:rPr lang="en-US" b="0" dirty="0"/>
              <a:t>   - Means rules underlying human interactions</a:t>
            </a:r>
          </a:p>
          <a:p>
            <a:pPr>
              <a:lnSpc>
                <a:spcPts val="4200"/>
              </a:lnSpc>
            </a:pPr>
            <a:r>
              <a:rPr lang="en-US" b="0" dirty="0"/>
              <a:t>   - Formal rules: laws/regulations; economic(e.g., property rights,</a:t>
            </a:r>
          </a:p>
          <a:p>
            <a:pPr>
              <a:lnSpc>
                <a:spcPts val="4200"/>
              </a:lnSpc>
            </a:pPr>
            <a:r>
              <a:rPr lang="en-US" b="0" dirty="0"/>
              <a:t>     contract law) and political (federal system, separation of powers)</a:t>
            </a:r>
          </a:p>
          <a:p>
            <a:pPr>
              <a:lnSpc>
                <a:spcPts val="4200"/>
              </a:lnSpc>
            </a:pPr>
            <a:r>
              <a:rPr lang="en-US" b="0" dirty="0"/>
              <a:t>   - Informal rules: culture, norms, religious belief, ideology </a:t>
            </a:r>
          </a:p>
          <a:p>
            <a:pPr>
              <a:lnSpc>
                <a:spcPts val="4200"/>
              </a:lnSpc>
              <a:buFont typeface="Arial" pitchFamily="34" charset="0"/>
              <a:buChar char="•"/>
            </a:pPr>
            <a:r>
              <a:rPr lang="en-US" sz="2800" dirty="0"/>
              <a:t> International</a:t>
            </a:r>
          </a:p>
          <a:p>
            <a:pPr>
              <a:lnSpc>
                <a:spcPts val="4200"/>
              </a:lnSpc>
            </a:pPr>
            <a:r>
              <a:rPr lang="en-US" b="0" dirty="0"/>
              <a:t>   - International organizations: WTO, IMF, WB, etc.</a:t>
            </a:r>
          </a:p>
          <a:p>
            <a:pPr>
              <a:lnSpc>
                <a:spcPts val="4200"/>
              </a:lnSpc>
            </a:pPr>
            <a:r>
              <a:rPr lang="en-US" b="0" dirty="0"/>
              <a:t>   - Treaties on Trade and Investment</a:t>
            </a:r>
          </a:p>
          <a:p>
            <a:pPr>
              <a:lnSpc>
                <a:spcPts val="4200"/>
              </a:lnSpc>
            </a:pPr>
            <a:r>
              <a:rPr lang="en-US" b="0" dirty="0"/>
              <a:t>   - International monetary systems, etc.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Performance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500063" y="1255713"/>
            <a:ext cx="810438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ko-KR" b="0" dirty="0">
              <a:solidFill>
                <a:srgbClr val="B1E2FB"/>
              </a:solidFill>
              <a:ea typeface="PMingLiU" pitchFamily="18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220554"/>
            <a:ext cx="7272808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  <a:buFont typeface="Arial" pitchFamily="34" charset="0"/>
              <a:buChar char="•"/>
            </a:pPr>
            <a:r>
              <a:rPr lang="en-US" sz="2800" dirty="0"/>
              <a:t> Economic</a:t>
            </a:r>
          </a:p>
          <a:p>
            <a:pPr>
              <a:lnSpc>
                <a:spcPts val="3600"/>
              </a:lnSpc>
            </a:pPr>
            <a:r>
              <a:rPr lang="en-US" b="0" dirty="0"/>
              <a:t>   - GDP, Prices (wages, interest rates, etc)</a:t>
            </a:r>
          </a:p>
          <a:p>
            <a:pPr>
              <a:lnSpc>
                <a:spcPts val="3600"/>
              </a:lnSpc>
            </a:pPr>
            <a:r>
              <a:rPr lang="en-US" b="0" dirty="0"/>
              <a:t>   - Inflation, unemployment, etc.</a:t>
            </a:r>
          </a:p>
          <a:p>
            <a:pPr>
              <a:lnSpc>
                <a:spcPts val="3600"/>
              </a:lnSpc>
              <a:buFont typeface="Arial" pitchFamily="34" charset="0"/>
              <a:buChar char="•"/>
            </a:pPr>
            <a:r>
              <a:rPr lang="en-US" sz="2800" dirty="0"/>
              <a:t> Social</a:t>
            </a:r>
          </a:p>
          <a:p>
            <a:pPr>
              <a:lnSpc>
                <a:spcPts val="3600"/>
              </a:lnSpc>
            </a:pPr>
            <a:r>
              <a:rPr lang="en-US" dirty="0"/>
              <a:t>   - </a:t>
            </a:r>
            <a:r>
              <a:rPr lang="en-US" b="0" dirty="0"/>
              <a:t>Income distribution</a:t>
            </a:r>
          </a:p>
          <a:p>
            <a:pPr>
              <a:lnSpc>
                <a:spcPts val="3600"/>
              </a:lnSpc>
            </a:pPr>
            <a:r>
              <a:rPr lang="en-US" b="0" dirty="0"/>
              <a:t>   - Fertility, mortality, literacy, etc.</a:t>
            </a:r>
            <a:endParaRPr lang="en-US" dirty="0"/>
          </a:p>
          <a:p>
            <a:pPr>
              <a:lnSpc>
                <a:spcPts val="3600"/>
              </a:lnSpc>
              <a:buFont typeface="Arial" pitchFamily="34" charset="0"/>
              <a:buChar char="•"/>
            </a:pPr>
            <a:r>
              <a:rPr lang="en-US" sz="2800" dirty="0"/>
              <a:t> Political</a:t>
            </a:r>
          </a:p>
          <a:p>
            <a:pPr>
              <a:lnSpc>
                <a:spcPts val="3600"/>
              </a:lnSpc>
            </a:pPr>
            <a:r>
              <a:rPr lang="en-US" dirty="0"/>
              <a:t>   - </a:t>
            </a:r>
            <a:r>
              <a:rPr lang="en-US" b="0" dirty="0"/>
              <a:t>Political stability, political freedom, etc.</a:t>
            </a:r>
            <a:endParaRPr lang="en-US" dirty="0"/>
          </a:p>
          <a:p>
            <a:pPr>
              <a:lnSpc>
                <a:spcPts val="3600"/>
              </a:lnSpc>
              <a:buFont typeface="Arial" pitchFamily="34" charset="0"/>
              <a:buChar char="•"/>
            </a:pPr>
            <a:r>
              <a:rPr lang="en-US" sz="2800" dirty="0"/>
              <a:t> International</a:t>
            </a:r>
          </a:p>
          <a:p>
            <a:pPr>
              <a:lnSpc>
                <a:spcPts val="3600"/>
              </a:lnSpc>
            </a:pPr>
            <a:r>
              <a:rPr lang="en-US" b="0" dirty="0"/>
              <a:t>   - Balance of payments</a:t>
            </a:r>
          </a:p>
          <a:p>
            <a:pPr>
              <a:lnSpc>
                <a:spcPts val="4000"/>
              </a:lnSpc>
            </a:pPr>
            <a:r>
              <a:rPr lang="en-US" b="0" dirty="0"/>
              <a:t>   - Exchange rates, tariffs, quotas, etc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rgbClr val="FDC52B"/>
                </a:solidFill>
                <a:latin typeface="Times New Roman" pitchFamily="18" charset="0"/>
                <a:ea typeface="SimSun" pitchFamily="2" charset="-122"/>
              </a:rPr>
              <a:t>COUNTRY POLITICAL RISK ANALYSIS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48319" y="1224136"/>
            <a:ext cx="8156129" cy="5445224"/>
            <a:chOff x="448319" y="1224136"/>
            <a:chExt cx="8156129" cy="5633864"/>
          </a:xfrm>
        </p:grpSpPr>
        <p:sp>
          <p:nvSpPr>
            <p:cNvPr id="61443" name="Rectangle 4"/>
            <p:cNvSpPr>
              <a:spLocks noChangeArrowheads="1"/>
            </p:cNvSpPr>
            <p:nvPr/>
          </p:nvSpPr>
          <p:spPr bwMode="auto">
            <a:xfrm>
              <a:off x="500063" y="1255713"/>
              <a:ext cx="8104385" cy="2123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  <a:spcBef>
                  <a:spcPct val="50000"/>
                </a:spcBef>
                <a:buFont typeface="Wingdings" pitchFamily="2" charset="2"/>
                <a:buNone/>
              </a:pPr>
              <a:endParaRPr lang="en-US" altLang="ko-KR" b="0" dirty="0">
                <a:solidFill>
                  <a:srgbClr val="B1E2FB"/>
                </a:solidFill>
                <a:ea typeface="PMingLiU" pitchFamily="18" charset="-120"/>
              </a:endParaRPr>
            </a:p>
            <a:p>
              <a:pPr lvl="1">
                <a:lnSpc>
                  <a:spcPct val="150000"/>
                </a:lnSpc>
                <a:spcBef>
                  <a:spcPct val="50000"/>
                </a:spcBef>
                <a:buFont typeface="Wingdings" pitchFamily="2" charset="2"/>
                <a:buNone/>
              </a:pPr>
              <a:endParaRPr lang="en-US" altLang="ko-KR" b="0" dirty="0">
                <a:solidFill>
                  <a:srgbClr val="B1E2FB"/>
                </a:solidFill>
                <a:ea typeface="PMingLiU" pitchFamily="18" charset="-120"/>
              </a:endParaRPr>
            </a:p>
            <a:p>
              <a:pPr lvl="1">
                <a:lnSpc>
                  <a:spcPct val="150000"/>
                </a:lnSpc>
                <a:spcBef>
                  <a:spcPct val="50000"/>
                </a:spcBef>
                <a:buFont typeface="Wingdings" pitchFamily="2" charset="2"/>
                <a:buNone/>
              </a:pPr>
              <a:endParaRPr lang="en-US" altLang="ko-KR" b="0" dirty="0">
                <a:solidFill>
                  <a:srgbClr val="B1E2FB"/>
                </a:solidFill>
                <a:ea typeface="PMingLiU" pitchFamily="18" charset="-120"/>
              </a:endParaRPr>
            </a:p>
          </p:txBody>
        </p:sp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5076056" y="1372080"/>
              <a:ext cx="1709737" cy="286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 dirty="0"/>
                <a:t>General Instability Risk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953644" y="1224136"/>
              <a:ext cx="1863725" cy="571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4875857" y="6430766"/>
              <a:ext cx="1319212" cy="427234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5029844" y="3934651"/>
              <a:ext cx="1865313" cy="3552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5029844" y="2579393"/>
              <a:ext cx="1865313" cy="4992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5029844" y="5432320"/>
              <a:ext cx="1865313" cy="2848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448319" y="1224136"/>
              <a:ext cx="2097088" cy="810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Revolution?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Subversion?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Turmoil?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External aggression?</a:t>
              </a: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448319" y="2222582"/>
              <a:ext cx="2795588" cy="1170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Nationalization?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Intervention?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Requisition?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Coerced sale?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Coerced contract renegotiation?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 Contract revocation?</a:t>
              </a:r>
            </a:p>
          </p:txBody>
        </p: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448319" y="3577839"/>
              <a:ext cx="3028950" cy="1530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Import restrictions?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Local content requirements?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Taxation?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Price control?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Foreign staff limits?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Labor codes/strikes?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Export requirement?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Discrimination?</a:t>
              </a: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448319" y="5360332"/>
              <a:ext cx="3262313" cy="630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Restriction on repatriation of dividends, royalties, interest, fees, or capital?</a:t>
              </a:r>
            </a:p>
            <a:p>
              <a:pPr marL="122238" indent="-122238">
                <a:buFontTx/>
                <a:buChar char="•"/>
              </a:pPr>
              <a:r>
                <a:rPr kumimoji="1" lang="en-US" altLang="zh-TW" sz="1200" b="0"/>
                <a:t>Exchange rates?</a:t>
              </a:r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5340994" y="6501189"/>
              <a:ext cx="544513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GO</a:t>
              </a:r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2078682" y="1580947"/>
              <a:ext cx="2874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>
              <a:off x="2156469" y="2864216"/>
              <a:ext cx="2873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2156469" y="4147485"/>
              <a:ext cx="2873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3321694" y="5645155"/>
              <a:ext cx="1708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>
              <a:off x="5496569" y="2436982"/>
              <a:ext cx="0" cy="142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5496569" y="2150594"/>
              <a:ext cx="1165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7671444" y="1900200"/>
              <a:ext cx="777875" cy="53678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7827019" y="2008183"/>
              <a:ext cx="620713" cy="27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Stop</a:t>
              </a:r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6584007" y="2008183"/>
              <a:ext cx="620712" cy="27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Yes</a:t>
              </a: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5729932" y="1795348"/>
              <a:ext cx="854075" cy="27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Chaotic?</a:t>
              </a:r>
            </a:p>
          </p:txBody>
        </p: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5340994" y="2222582"/>
              <a:ext cx="466725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No</a:t>
              </a:r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 flipV="1">
              <a:off x="5496569" y="1795348"/>
              <a:ext cx="0" cy="427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>
              <a:off x="7049144" y="2150594"/>
              <a:ext cx="622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5185419" y="2579393"/>
              <a:ext cx="1863725" cy="450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Ownership/Control (expropriation) Risk</a:t>
              </a:r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5185419" y="4005074"/>
              <a:ext cx="1554163" cy="27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Operations Risk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5263207" y="5432320"/>
              <a:ext cx="1398587" cy="27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Transfer Risk</a:t>
              </a: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7671444" y="3177209"/>
              <a:ext cx="776288" cy="5258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7671444" y="4679573"/>
              <a:ext cx="776288" cy="5258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7749232" y="5956582"/>
              <a:ext cx="700087" cy="4741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9"/>
            <p:cNvSpPr txBox="1">
              <a:spLocks noChangeArrowheads="1"/>
            </p:cNvSpPr>
            <p:nvPr/>
          </p:nvSpPr>
          <p:spPr bwMode="auto">
            <a:xfrm>
              <a:off x="7839719" y="6031700"/>
              <a:ext cx="620713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Stop</a:t>
              </a:r>
            </a:p>
          </p:txBody>
        </p:sp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7827019" y="4789120"/>
              <a:ext cx="620713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Stop</a:t>
              </a:r>
            </a:p>
          </p:txBody>
        </p:sp>
        <p:sp>
          <p:nvSpPr>
            <p:cNvPr id="38" name="Text Box 41"/>
            <p:cNvSpPr txBox="1">
              <a:spLocks noChangeArrowheads="1"/>
            </p:cNvSpPr>
            <p:nvPr/>
          </p:nvSpPr>
          <p:spPr bwMode="auto">
            <a:xfrm>
              <a:off x="7827019" y="3293016"/>
              <a:ext cx="620713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Stop</a:t>
              </a:r>
            </a:p>
          </p:txBody>
        </p:sp>
        <p:sp>
          <p:nvSpPr>
            <p:cNvPr id="39" name="Line 42"/>
            <p:cNvSpPr>
              <a:spLocks noChangeShapeType="1"/>
            </p:cNvSpPr>
            <p:nvPr/>
          </p:nvSpPr>
          <p:spPr bwMode="auto">
            <a:xfrm>
              <a:off x="5574357" y="3078617"/>
              <a:ext cx="0" cy="499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5418782" y="3505851"/>
              <a:ext cx="544512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No</a:t>
              </a:r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>
              <a:off x="5574357" y="3720251"/>
              <a:ext cx="0" cy="214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5"/>
            <p:cNvSpPr>
              <a:spLocks noChangeShapeType="1"/>
            </p:cNvSpPr>
            <p:nvPr/>
          </p:nvSpPr>
          <p:spPr bwMode="auto">
            <a:xfrm>
              <a:off x="5574357" y="3435428"/>
              <a:ext cx="1165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Text Box 47"/>
            <p:cNvSpPr txBox="1">
              <a:spLocks noChangeArrowheads="1"/>
            </p:cNvSpPr>
            <p:nvPr/>
          </p:nvSpPr>
          <p:spPr bwMode="auto">
            <a:xfrm>
              <a:off x="6739582" y="3293016"/>
              <a:ext cx="620712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Yes</a:t>
              </a:r>
            </a:p>
          </p:txBody>
        </p:sp>
        <p:sp>
          <p:nvSpPr>
            <p:cNvPr id="44" name="Line 48"/>
            <p:cNvSpPr>
              <a:spLocks noChangeShapeType="1"/>
            </p:cNvSpPr>
            <p:nvPr/>
          </p:nvSpPr>
          <p:spPr bwMode="auto">
            <a:xfrm>
              <a:off x="7204719" y="3435428"/>
              <a:ext cx="466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49"/>
            <p:cNvSpPr>
              <a:spLocks noChangeShapeType="1"/>
            </p:cNvSpPr>
            <p:nvPr/>
          </p:nvSpPr>
          <p:spPr bwMode="auto">
            <a:xfrm>
              <a:off x="5574357" y="4361886"/>
              <a:ext cx="0" cy="641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51"/>
            <p:cNvSpPr txBox="1">
              <a:spLocks noChangeArrowheads="1"/>
            </p:cNvSpPr>
            <p:nvPr/>
          </p:nvSpPr>
          <p:spPr bwMode="auto">
            <a:xfrm>
              <a:off x="5418782" y="4933096"/>
              <a:ext cx="466725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No</a:t>
              </a:r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5574357" y="5075509"/>
              <a:ext cx="0" cy="3568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Text Box 53"/>
            <p:cNvSpPr txBox="1">
              <a:spLocks noChangeArrowheads="1"/>
            </p:cNvSpPr>
            <p:nvPr/>
          </p:nvSpPr>
          <p:spPr bwMode="auto">
            <a:xfrm>
              <a:off x="6584007" y="4861108"/>
              <a:ext cx="542925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Yes</a:t>
              </a:r>
            </a:p>
          </p:txBody>
        </p:sp>
        <p:sp>
          <p:nvSpPr>
            <p:cNvPr id="49" name="Line 55"/>
            <p:cNvSpPr>
              <a:spLocks noChangeShapeType="1"/>
            </p:cNvSpPr>
            <p:nvPr/>
          </p:nvSpPr>
          <p:spPr bwMode="auto">
            <a:xfrm>
              <a:off x="7049144" y="5003520"/>
              <a:ext cx="622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56"/>
            <p:cNvSpPr>
              <a:spLocks noChangeShapeType="1"/>
            </p:cNvSpPr>
            <p:nvPr/>
          </p:nvSpPr>
          <p:spPr bwMode="auto">
            <a:xfrm>
              <a:off x="5574357" y="6286789"/>
              <a:ext cx="0" cy="1439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57"/>
            <p:cNvSpPr>
              <a:spLocks noChangeShapeType="1"/>
            </p:cNvSpPr>
            <p:nvPr/>
          </p:nvSpPr>
          <p:spPr bwMode="auto">
            <a:xfrm>
              <a:off x="5574357" y="5717143"/>
              <a:ext cx="0" cy="427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Text Box 58"/>
            <p:cNvSpPr txBox="1">
              <a:spLocks noChangeArrowheads="1"/>
            </p:cNvSpPr>
            <p:nvPr/>
          </p:nvSpPr>
          <p:spPr bwMode="auto">
            <a:xfrm>
              <a:off x="5418782" y="6073954"/>
              <a:ext cx="776287" cy="27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No</a:t>
              </a:r>
            </a:p>
          </p:txBody>
        </p:sp>
        <p:sp>
          <p:nvSpPr>
            <p:cNvPr id="53" name="Line 59"/>
            <p:cNvSpPr>
              <a:spLocks noChangeShapeType="1"/>
            </p:cNvSpPr>
            <p:nvPr/>
          </p:nvSpPr>
          <p:spPr bwMode="auto">
            <a:xfrm>
              <a:off x="5729932" y="6216365"/>
              <a:ext cx="1165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Text Box 60"/>
            <p:cNvSpPr txBox="1">
              <a:spLocks noChangeArrowheads="1"/>
            </p:cNvSpPr>
            <p:nvPr/>
          </p:nvSpPr>
          <p:spPr bwMode="auto">
            <a:xfrm>
              <a:off x="5652144" y="4361886"/>
              <a:ext cx="1941513" cy="450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Unacceptable effects on local-currency ROI?</a:t>
              </a:r>
            </a:p>
          </p:txBody>
        </p:sp>
        <p:sp>
          <p:nvSpPr>
            <p:cNvPr id="55" name="Text Box 61"/>
            <p:cNvSpPr txBox="1">
              <a:spLocks noChangeArrowheads="1"/>
            </p:cNvSpPr>
            <p:nvPr/>
          </p:nvSpPr>
          <p:spPr bwMode="auto">
            <a:xfrm>
              <a:off x="6895157" y="6073954"/>
              <a:ext cx="542925" cy="27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Yes</a:t>
              </a:r>
            </a:p>
          </p:txBody>
        </p:sp>
        <p:sp>
          <p:nvSpPr>
            <p:cNvPr id="56" name="Line 62"/>
            <p:cNvSpPr>
              <a:spLocks noChangeShapeType="1"/>
            </p:cNvSpPr>
            <p:nvPr/>
          </p:nvSpPr>
          <p:spPr bwMode="auto">
            <a:xfrm>
              <a:off x="7282507" y="6216365"/>
              <a:ext cx="466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Text Box 64"/>
            <p:cNvSpPr txBox="1">
              <a:spLocks noChangeArrowheads="1"/>
            </p:cNvSpPr>
            <p:nvPr/>
          </p:nvSpPr>
          <p:spPr bwMode="auto">
            <a:xfrm>
              <a:off x="5652144" y="3149040"/>
              <a:ext cx="1087438" cy="270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Too high?</a:t>
              </a:r>
            </a:p>
          </p:txBody>
        </p:sp>
        <p:sp>
          <p:nvSpPr>
            <p:cNvPr id="58" name="Text Box 65"/>
            <p:cNvSpPr txBox="1">
              <a:spLocks noChangeArrowheads="1"/>
            </p:cNvSpPr>
            <p:nvPr/>
          </p:nvSpPr>
          <p:spPr bwMode="auto">
            <a:xfrm>
              <a:off x="5729932" y="5717143"/>
              <a:ext cx="1785937" cy="450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TW" sz="1200" b="0"/>
                <a:t>Unacceptable effects on dollar ROI?</a:t>
              </a:r>
            </a:p>
          </p:txBody>
        </p:sp>
        <p:sp>
          <p:nvSpPr>
            <p:cNvPr id="59" name="Line 68"/>
            <p:cNvSpPr>
              <a:spLocks noChangeShapeType="1"/>
            </p:cNvSpPr>
            <p:nvPr/>
          </p:nvSpPr>
          <p:spPr bwMode="auto">
            <a:xfrm>
              <a:off x="5553719" y="4980045"/>
              <a:ext cx="1143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7076016" y="6581001"/>
            <a:ext cx="1528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/>
              <a:t>Source: Root (1988)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683568" y="1124744"/>
            <a:ext cx="7704856" cy="3096344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Market Analysis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itle 3"/>
          <p:cNvSpPr txBox="1">
            <a:spLocks/>
          </p:cNvSpPr>
          <p:nvPr/>
        </p:nvSpPr>
        <p:spPr bwMode="auto">
          <a:xfrm>
            <a:off x="857250" y="285750"/>
            <a:ext cx="7772400" cy="61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 dirty="0">
                <a:solidFill>
                  <a:srgbClr val="FDC52B"/>
                </a:solidFill>
                <a:ea typeface="SimSun" pitchFamily="2" charset="-122"/>
              </a:rP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1233300"/>
            <a:ext cx="842493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b="0" dirty="0"/>
              <a:t>A starting point for managers in planning &amp; evaluating</a:t>
            </a:r>
          </a:p>
          <a:p>
            <a:pPr>
              <a:lnSpc>
                <a:spcPts val="4000"/>
              </a:lnSpc>
            </a:pPr>
            <a:r>
              <a:rPr lang="en-US" b="0" dirty="0"/>
              <a:t>   marketing and business activities</a:t>
            </a:r>
          </a:p>
          <a:p>
            <a:pPr>
              <a:lnSpc>
                <a:spcPts val="4000"/>
              </a:lnSpc>
              <a:buFont typeface="Arial" pitchFamily="34" charset="0"/>
              <a:buChar char="•"/>
            </a:pPr>
            <a:r>
              <a:rPr lang="en-US" b="0" dirty="0"/>
              <a:t> Analyze the structure and dynamics of an existing or potential</a:t>
            </a:r>
          </a:p>
          <a:p>
            <a:pPr>
              <a:lnSpc>
                <a:spcPts val="4000"/>
              </a:lnSpc>
            </a:pPr>
            <a:r>
              <a:rPr lang="en-US" b="0" dirty="0"/>
              <a:t>   market to do the following:</a:t>
            </a:r>
          </a:p>
          <a:p>
            <a:pPr>
              <a:lnSpc>
                <a:spcPts val="4000"/>
              </a:lnSpc>
            </a:pPr>
            <a:r>
              <a:rPr lang="en-US" b="0" dirty="0"/>
              <a:t>     - evaluate the current &amp; future conditions of the market</a:t>
            </a:r>
          </a:p>
          <a:p>
            <a:pPr>
              <a:lnSpc>
                <a:spcPts val="4000"/>
              </a:lnSpc>
            </a:pPr>
            <a:r>
              <a:rPr lang="en-US" b="0" dirty="0"/>
              <a:t>     - gain insights into individual product performance relative to</a:t>
            </a:r>
          </a:p>
          <a:p>
            <a:pPr>
              <a:lnSpc>
                <a:spcPts val="4000"/>
              </a:lnSpc>
            </a:pPr>
            <a:r>
              <a:rPr lang="en-US" b="0" dirty="0"/>
              <a:t>       competitors</a:t>
            </a:r>
          </a:p>
          <a:p>
            <a:pPr>
              <a:lnSpc>
                <a:spcPts val="4000"/>
              </a:lnSpc>
            </a:pPr>
            <a:r>
              <a:rPr lang="en-US" b="0" dirty="0"/>
              <a:t>     - develop marketing &amp; market entry strategies</a:t>
            </a:r>
          </a:p>
          <a:p>
            <a:pPr>
              <a:lnSpc>
                <a:spcPts val="4000"/>
              </a:lnSpc>
              <a:buFont typeface="Arial" pitchFamily="34" charset="0"/>
              <a:buChar char="•"/>
            </a:pPr>
            <a:endParaRPr lang="en-US" b="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itle 3"/>
          <p:cNvSpPr txBox="1">
            <a:spLocks/>
          </p:cNvSpPr>
          <p:nvPr/>
        </p:nvSpPr>
        <p:spPr bwMode="auto">
          <a:xfrm>
            <a:off x="756741" y="44624"/>
            <a:ext cx="75596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 dirty="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KEY QUESTIONS FOR</a:t>
            </a:r>
          </a:p>
          <a:p>
            <a:pPr algn="ctr" eaLnBrk="0" hangingPunct="0"/>
            <a:r>
              <a:rPr lang="en-US" altLang="zh-CN" sz="3200" dirty="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1188112"/>
            <a:ext cx="8496944" cy="531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b="0" dirty="0"/>
              <a:t>How large is the market for the product at hand? Growing? Why?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What are the major driving forces of demand for the product?</a:t>
            </a:r>
          </a:p>
          <a:p>
            <a:pPr>
              <a:lnSpc>
                <a:spcPts val="3700"/>
              </a:lnSpc>
            </a:pPr>
            <a:r>
              <a:rPr lang="en-US" b="0" dirty="0"/>
              <a:t>   Is demand consistent or cyclical over time?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Can the market be segmented, and, if so, along what dimensions? 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What are the characteristics of customers in the market?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At what stage in the product life cycle is this market? 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How is the channel environment in the market?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How is the marketing infrastructure for the market?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Who are the competitors serving this market? What are their</a:t>
            </a:r>
          </a:p>
          <a:p>
            <a:pPr>
              <a:lnSpc>
                <a:spcPts val="3700"/>
              </a:lnSpc>
            </a:pPr>
            <a:r>
              <a:rPr lang="en-US" b="0" dirty="0"/>
              <a:t>   market shares? How and why have these shares been changing?</a:t>
            </a:r>
          </a:p>
          <a:p>
            <a:pPr>
              <a:lnSpc>
                <a:spcPts val="3700"/>
              </a:lnSpc>
              <a:buFont typeface="Arial" pitchFamily="34" charset="0"/>
              <a:buChar char="•"/>
            </a:pPr>
            <a:r>
              <a:rPr lang="en-US" b="0" dirty="0"/>
              <a:t> Are there major customer needs/wants not being satisfied?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075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214438"/>
            <a:ext cx="8496944" cy="5238898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What is the size of the market? Is it growing or shrinking? Why?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The varying market definition makes it hard to determine its size.</a:t>
            </a:r>
          </a:p>
          <a:p>
            <a:pPr eaLnBrk="1" hangingPunct="1">
              <a:buNone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	   - Audio equipment - Tape recorder - Portable tape recorder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Too narrow definition: miss opportunities &amp; ignore threats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Too broad definition: no basis for market evaluation for planning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Assessing the market size can be done in different ways.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Industry/market data are available through government statistical publications or trade association.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Estimates can also be purchased from professional research firms (e.g., Nielsen)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Market estimates vary widely across sources. So it is important   to evaluate the credibility of sources.</a:t>
            </a:r>
          </a:p>
        </p:txBody>
      </p:sp>
      <p:sp>
        <p:nvSpPr>
          <p:cNvPr id="76803" name="Title 3"/>
          <p:cNvSpPr txBox="1">
            <a:spLocks/>
          </p:cNvSpPr>
          <p:nvPr/>
        </p:nvSpPr>
        <p:spPr bwMode="auto">
          <a:xfrm>
            <a:off x="0" y="214313"/>
            <a:ext cx="91440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 dirty="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Market Size &amp; Growth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075"/>
          <p:cNvSpPr>
            <a:spLocks noGrp="1" noChangeArrowheads="1"/>
          </p:cNvSpPr>
          <p:nvPr>
            <p:ph type="body" idx="4294967295"/>
          </p:nvPr>
        </p:nvSpPr>
        <p:spPr>
          <a:xfrm>
            <a:off x="212477" y="1196752"/>
            <a:ext cx="8680003" cy="5572125"/>
          </a:xfrm>
        </p:spPr>
        <p:txBody>
          <a:bodyPr/>
          <a:lstStyle/>
          <a:p>
            <a:pPr eaLnBrk="1" hangingPunct="1">
              <a:lnSpc>
                <a:spcPts val="2600"/>
              </a:lnSpc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What are the major driving forces of demand for the product?</a:t>
            </a:r>
          </a:p>
          <a:p>
            <a:pPr eaLnBrk="1" hangingPunct="1">
              <a:lnSpc>
                <a:spcPts val="2600"/>
              </a:lnSpc>
              <a:buNone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	Is demand consistent or cyclical over time?</a:t>
            </a:r>
          </a:p>
          <a:p>
            <a:pPr eaLnBrk="1" hangingPunct="1">
              <a:lnSpc>
                <a:spcPts val="2600"/>
              </a:lnSpc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Examining the broad trend of demand patterns over time and          forecasts for the future is also necessary.</a:t>
            </a:r>
          </a:p>
          <a:p>
            <a:pPr eaLnBrk="1" hangingPunct="1">
              <a:lnSpc>
                <a:spcPts val="2600"/>
              </a:lnSpc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The determinants of demand may be disposable income levels,        life style changes, technical advances, economic expectations, etc.</a:t>
            </a:r>
          </a:p>
          <a:p>
            <a:pPr eaLnBrk="1" hangingPunct="1">
              <a:lnSpc>
                <a:spcPts val="2600"/>
              </a:lnSpc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The demand for a product can create the demand for a related one. </a:t>
            </a:r>
          </a:p>
          <a:p>
            <a:pPr eaLnBrk="1" hangingPunct="1">
              <a:lnSpc>
                <a:spcPts val="2600"/>
              </a:lnSpc>
              <a:buNone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	   - demand for jet aircraft: demand for jet engines</a:t>
            </a:r>
          </a:p>
          <a:p>
            <a:pPr eaLnBrk="1" hangingPunct="1">
              <a:lnSpc>
                <a:spcPts val="2600"/>
              </a:lnSpc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Legislation is another determinant for demand.</a:t>
            </a:r>
          </a:p>
          <a:p>
            <a:pPr eaLnBrk="1" hangingPunct="1">
              <a:lnSpc>
                <a:spcPts val="2600"/>
              </a:lnSpc>
              <a:buNone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	   - change in fire regulations: demand for fire detection devices</a:t>
            </a:r>
          </a:p>
          <a:p>
            <a:pPr eaLnBrk="1" hangingPunct="1">
              <a:lnSpc>
                <a:spcPts val="2600"/>
              </a:lnSpc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The demand for many products is seasonal. It is important to make seasonal adjustments for determining the overall trend of the        market.</a:t>
            </a:r>
          </a:p>
          <a:p>
            <a:pPr eaLnBrk="1" hangingPunct="1">
              <a:lnSpc>
                <a:spcPts val="2600"/>
              </a:lnSpc>
              <a:buFont typeface="Arial" pitchFamily="34" charset="0"/>
              <a:buChar char="•"/>
            </a:pPr>
            <a:r>
              <a:rPr lang="en-US" altLang="zh-CN" sz="2400" b="0" dirty="0">
                <a:latin typeface="Times New Roman" pitchFamily="18" charset="0"/>
                <a:ea typeface="SimSun" pitchFamily="2" charset="-122"/>
              </a:rPr>
              <a:t>Variations in demand is important for planning future strategy.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140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77827" name="Title 3"/>
          <p:cNvSpPr txBox="1">
            <a:spLocks/>
          </p:cNvSpPr>
          <p:nvPr/>
        </p:nvSpPr>
        <p:spPr bwMode="auto">
          <a:xfrm>
            <a:off x="0" y="214313"/>
            <a:ext cx="9144000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altLang="zh-CN" sz="3200" dirty="0">
                <a:solidFill>
                  <a:srgbClr val="FDC52B"/>
                </a:solidFill>
                <a:ea typeface="SimSun" pitchFamily="2" charset="-122"/>
                <a:cs typeface="Times New Roman" pitchFamily="18" charset="0"/>
              </a:rPr>
              <a:t>Determinants and Variations of Demand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144000" cy="563563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Market Segmentation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196752"/>
            <a:ext cx="8784976" cy="5400600"/>
          </a:xfrm>
        </p:spPr>
        <p:txBody>
          <a:bodyPr/>
          <a:lstStyle/>
          <a:p>
            <a:pPr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n-US" sz="2400" b="0" dirty="0">
                <a:latin typeface="Times New Roman" pitchFamily="18" charset="0"/>
                <a:cs typeface="Times New Roman" pitchFamily="18" charset="0"/>
              </a:rPr>
              <a:t>Can the market be segmented, and, if so, along what dimensions?</a:t>
            </a: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  <a:p>
            <a:pPr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Dividing a market into meaningful buyer groups to create specific marketing programs for one or more of the resulting segments</a:t>
            </a:r>
          </a:p>
          <a:p>
            <a:pPr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Exists between market aggregation and market disaggregation</a:t>
            </a:r>
          </a:p>
          <a:p>
            <a:pPr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Three assumptions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Consumers are different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Differences in customers lead to differences in market behavior.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Segments of consumers can be isolated within the overall market.</a:t>
            </a:r>
          </a:p>
          <a:p>
            <a:pPr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Benefits of Market segmentation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A more precise definition of market in terms of group needs and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       possible ways of influencing behavior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Improved ability to identify competitive strengths &amp; weaknesses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- Efficient allocation of limited resources to develop programs that</a:t>
            </a:r>
          </a:p>
          <a:p>
            <a:pPr eaLnBrk="1" hangingPunct="1">
              <a:lnSpc>
                <a:spcPts val="25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best satisfy the needs of target segments</a:t>
            </a:r>
          </a:p>
          <a:p>
            <a:pPr eaLnBrk="1" hangingPunct="1">
              <a:lnSpc>
                <a:spcPts val="2500"/>
              </a:lnSpc>
              <a:buFont typeface="Arial" pitchFamily="34" charset="0"/>
              <a:buChar char="•"/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144000" cy="563563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Market Segmentation (continued)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196752"/>
            <a:ext cx="8784976" cy="5400600"/>
          </a:xfrm>
        </p:spPr>
        <p:txBody>
          <a:bodyPr/>
          <a:lstStyle/>
          <a:p>
            <a:pPr eaLnBrk="1" hangingPunct="1"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Criteria for segmentation</a:t>
            </a:r>
          </a:p>
          <a:p>
            <a:pPr eaLnBrk="1" hangingPunct="1">
              <a:lnSpc>
                <a:spcPts val="30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Geographic areas(where customers live or purchase the product)</a:t>
            </a:r>
          </a:p>
          <a:p>
            <a:pPr eaLnBrk="1" hangingPunct="1">
              <a:lnSpc>
                <a:spcPts val="30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Demographic characteristics(sex, age, income level, education </a:t>
            </a:r>
          </a:p>
          <a:p>
            <a:pPr eaLnBrk="1" hangingPunct="1">
              <a:lnSpc>
                <a:spcPts val="30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   level, stage in the family life cycle, etc.)</a:t>
            </a:r>
          </a:p>
          <a:p>
            <a:pPr eaLnBrk="1" hangingPunct="1">
              <a:lnSpc>
                <a:spcPts val="30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Consumption volume or size of unit purchase</a:t>
            </a:r>
          </a:p>
          <a:p>
            <a:pPr eaLnBrk="1" hangingPunct="1">
              <a:lnSpc>
                <a:spcPts val="30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Psychographics(variations in customers’ needs resulting from</a:t>
            </a:r>
          </a:p>
          <a:p>
            <a:pPr eaLnBrk="1" hangingPunct="1">
              <a:lnSpc>
                <a:spcPts val="30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 	      lifestyle or personality characteristics)</a:t>
            </a:r>
          </a:p>
          <a:p>
            <a:pPr eaLnBrk="1" hangingPunct="1">
              <a:lnSpc>
                <a:spcPts val="30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- Product attributes(e.g., size, price range, portability, etc.)</a:t>
            </a:r>
          </a:p>
          <a:p>
            <a:pPr eaLnBrk="1" hangingPunct="1"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Can segment the market along one or two or more criteria / dimensions</a:t>
            </a:r>
          </a:p>
          <a:p>
            <a:pPr eaLnBrk="1" hangingPunct="1"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If a firm is competing in a segment, it is more useful to consider its market share in the segment only, rather than the overall market.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36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Customer Characteristics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3568" y="1268760"/>
            <a:ext cx="7560840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What are the characteristics of customers in the market?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Sophistication</a:t>
            </a:r>
            <a:r>
              <a:rPr kumimoji="0" lang="en-US" altLang="ko-KR" sz="2400" b="0" i="0" u="none" strike="noStrike" kern="0" cap="none" spc="0" normalizeH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of the customers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Customer needs and preferences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Demographic characteristics of customers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Sex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Age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Income level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Education level, etc.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endParaRPr lang="en-US" altLang="ko-KR" b="0" kern="0" dirty="0">
              <a:solidFill>
                <a:srgbClr val="B1E2FB"/>
              </a:solidFill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36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Product Life Cycle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268760"/>
            <a:ext cx="8786813" cy="52309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At what stage in the product life cycle is this market?</a:t>
            </a:r>
          </a:p>
          <a:p>
            <a:pPr eaLnBrk="1" hangingPunct="1">
              <a:lnSpc>
                <a:spcPts val="24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The different stages of PLC have varying potential for stimulating demand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Introduction: slow increase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Growth: fast increase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Maturity: slow increase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Decline: slow/fast decrease</a:t>
            </a:r>
          </a:p>
          <a:p>
            <a:pPr eaLnBrk="1" hangingPunct="1">
              <a:lnSpc>
                <a:spcPts val="24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The different stages of PLC tend to have different sets of effective strategies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Introduction: capture the early mover advantage (image &amp; </a:t>
            </a:r>
            <a:r>
              <a:rPr lang="en-US" altLang="ko-KR" sz="2400" b="0" dirty="0" err="1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repu</a:t>
            </a: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.)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Growth: pursue expansion strategy (secure capacity, etc.)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Maturity: manage rivalry and deter entry; manage costs </a:t>
            </a:r>
          </a:p>
          <a:p>
            <a:pPr eaLnBrk="1" hangingPunct="1">
              <a:lnSpc>
                <a:spcPts val="2400"/>
              </a:lnSpc>
              <a:buNone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	   - Decline: slow/fast decrease: leadership, niche, or harvest</a:t>
            </a:r>
          </a:p>
          <a:p>
            <a:pPr eaLnBrk="1" hangingPunct="1">
              <a:lnSpc>
                <a:spcPts val="2400"/>
              </a:lnSpc>
              <a:buFont typeface="Arial" pitchFamily="34" charset="0"/>
              <a:buChar char="•"/>
            </a:pPr>
            <a:r>
              <a:rPr lang="en-US" altLang="ko-KR" sz="2400" b="0" dirty="0">
                <a:solidFill>
                  <a:srgbClr val="B1E2FB"/>
                </a:solidFill>
                <a:latin typeface="Times New Roman" pitchFamily="18" charset="0"/>
                <a:ea typeface="굴림" pitchFamily="50" charset="-127"/>
              </a:rPr>
              <a:t>Fragmented market vs. consolidated market</a:t>
            </a:r>
          </a:p>
          <a:p>
            <a:pPr eaLnBrk="1" hangingPunct="1">
              <a:lnSpc>
                <a:spcPts val="2400"/>
              </a:lnSpc>
              <a:buNone/>
            </a:pPr>
            <a:endParaRPr lang="en-US" altLang="ko-KR" sz="2400" b="0" dirty="0">
              <a:solidFill>
                <a:srgbClr val="B1E2FB"/>
              </a:solidFill>
              <a:latin typeface="Times New Roman" pitchFamily="18" charset="0"/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36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Channel Environment &amp; Marketing Infrastructure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1071546"/>
            <a:ext cx="8572531" cy="557214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b="0" dirty="0">
                <a:solidFill>
                  <a:srgbClr val="FFFF00"/>
                </a:solidFill>
                <a:latin typeface="Times New Roman" pitchFamily="18" charset="0"/>
                <a:ea typeface="굴림" pitchFamily="50" charset="-127"/>
              </a:rPr>
              <a:t> </a:t>
            </a:r>
            <a:endParaRPr lang="en-US" altLang="zh-CN" sz="1800" b="0" dirty="0">
              <a:solidFill>
                <a:srgbClr val="FFFF00"/>
              </a:solidFill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 bwMode="auto">
          <a:xfrm>
            <a:off x="179512" y="1268760"/>
            <a:ext cx="8786813" cy="523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How is the channel environment in the market?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	   - Type</a:t>
            </a:r>
            <a:r>
              <a:rPr kumimoji="0" lang="en-US" altLang="ko-KR" sz="2400" b="0" i="0" u="none" strike="noStrike" kern="0" cap="none" spc="0" normalizeH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of channel: wholesalers, retailers, etc.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baseline="0" dirty="0">
                <a:solidFill>
                  <a:srgbClr val="B1E2FB"/>
                </a:solidFill>
                <a:ea typeface="굴림" pitchFamily="50" charset="-127"/>
              </a:rPr>
              <a:t>	   -</a:t>
            </a: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 Channel competition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	   -</a:t>
            </a:r>
            <a:r>
              <a:rPr kumimoji="0" lang="en-US" altLang="ko-KR" sz="2400" b="0" i="0" u="none" strike="noStrike" kern="0" cap="none" spc="0" normalizeH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Length of channel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Channel quality</a:t>
            </a: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How</a:t>
            </a:r>
            <a:r>
              <a:rPr kumimoji="0" lang="en-US" altLang="ko-KR" sz="2400" b="0" i="0" u="none" strike="noStrike" kern="0" cap="none" spc="0" normalizeH="0" noProof="0" dirty="0">
                <a:ln>
                  <a:noFill/>
                </a:ln>
                <a:solidFill>
                  <a:srgbClr val="B1E2FB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+mn-cs"/>
              </a:rPr>
              <a:t> is the marketing infrastructure for the</a:t>
            </a: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 market?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Media availability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Cost of media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	   - Legal constraints</a:t>
            </a:r>
          </a:p>
          <a:p>
            <a:pPr marL="342900" marR="0" lvl="0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+mn-cs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36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Competitors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 bwMode="auto">
          <a:xfrm>
            <a:off x="179512" y="1124744"/>
            <a:ext cx="8786813" cy="523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kern="0" dirty="0">
                <a:solidFill>
                  <a:srgbClr val="B1E2FB"/>
                </a:solidFill>
                <a:ea typeface="굴림" pitchFamily="50" charset="-127"/>
              </a:rPr>
              <a:t>Who are the competitors serving the market? What are their market shares? How and why have these shares been changing?</a:t>
            </a:r>
          </a:p>
          <a:p>
            <a:pPr marL="342900" marR="0" lvl="0" indent="-342900" algn="l" defTabSz="914400" rtl="0" eaLnBrk="1" fontAlgn="base" latinLnBrk="1" hangingPunct="1">
              <a:lnSpc>
                <a:spcPts val="3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Arial" pitchFamily="34" charset="0"/>
              <a:buChar char="•"/>
              <a:tabLst/>
              <a:defRPr/>
            </a:pPr>
            <a:endParaRPr lang="en-US" altLang="ko-KR" b="0" kern="0" dirty="0">
              <a:solidFill>
                <a:srgbClr val="B1E2FB"/>
              </a:solidFill>
              <a:ea typeface="굴림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B1E2FB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+mn-cs"/>
            </a:endParaRP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1524000" y="3852851"/>
            <a:ext cx="58674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COMPETITOR’S RESPONSE PROFILE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Is the competitor satisfied with its current position?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What likely moves or strategy shifts will the competitor make?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Where is the competitor vulnerable?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What will provoke the greatest and most effective retaliation by the competitor?</a:t>
            </a:r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 flipV="1">
            <a:off x="4572000" y="2347366"/>
            <a:ext cx="0" cy="129765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4572000" y="5731043"/>
            <a:ext cx="0" cy="794301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5172201" y="2060848"/>
            <a:ext cx="2495298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altLang="ko-KR" sz="1800" b="0" i="1" dirty="0"/>
              <a:t>What the Competitor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i="1" dirty="0"/>
              <a:t>Is Doing and Can Do</a:t>
            </a:r>
          </a:p>
          <a:p>
            <a:pPr algn="ctr" eaLnBrk="1" hangingPunct="1">
              <a:lnSpc>
                <a:spcPct val="100000"/>
              </a:lnSpc>
            </a:pPr>
            <a:endParaRPr lang="en-US" altLang="ko-KR" sz="1800" b="0" i="1" dirty="0"/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CURRENT STRATEGY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How the business is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currently competing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990600" y="2060848"/>
            <a:ext cx="28194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altLang="ko-KR" sz="1800" b="0" i="1" dirty="0"/>
              <a:t>What Drives The Competitor</a:t>
            </a:r>
          </a:p>
          <a:p>
            <a:pPr algn="ctr" eaLnBrk="1" hangingPunct="1">
              <a:lnSpc>
                <a:spcPct val="100000"/>
              </a:lnSpc>
            </a:pPr>
            <a:endParaRPr lang="en-US" altLang="ko-KR" sz="1800" b="0" i="1" dirty="0"/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FUTURE GOALS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At all levels of management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and in multiple dimensions</a:t>
            </a:r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>
            <a:off x="3707904" y="3573016"/>
            <a:ext cx="539750" cy="2471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b="0"/>
          </a:p>
        </p:txBody>
      </p:sp>
      <p:sp>
        <p:nvSpPr>
          <p:cNvPr id="26" name="Line 20"/>
          <p:cNvSpPr>
            <a:spLocks noChangeShapeType="1"/>
          </p:cNvSpPr>
          <p:nvPr/>
        </p:nvSpPr>
        <p:spPr bwMode="auto">
          <a:xfrm flipH="1">
            <a:off x="4788024" y="3573016"/>
            <a:ext cx="457200" cy="2471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b="0"/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1259632" y="5818038"/>
            <a:ext cx="2387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ASSUMPTIONS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Held about itself and the industry</a:t>
            </a:r>
          </a:p>
        </p:txBody>
      </p: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5328493" y="5818038"/>
            <a:ext cx="25558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CAPABILITIES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altLang="ko-KR" sz="1800" b="0" dirty="0"/>
              <a:t>Both strengths and weaknesses</a:t>
            </a:r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 flipV="1">
            <a:off x="3375670" y="5663570"/>
            <a:ext cx="476250" cy="2137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b="0"/>
          </a:p>
        </p:txBody>
      </p:sp>
      <p:sp>
        <p:nvSpPr>
          <p:cNvPr id="30" name="Line 24"/>
          <p:cNvSpPr>
            <a:spLocks noChangeShapeType="1"/>
          </p:cNvSpPr>
          <p:nvPr/>
        </p:nvSpPr>
        <p:spPr bwMode="auto">
          <a:xfrm flipH="1" flipV="1">
            <a:off x="5262165" y="5663570"/>
            <a:ext cx="461963" cy="2137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b="0"/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152400" y="2088232"/>
            <a:ext cx="8839200" cy="465313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endParaRPr lang="ko-KR" altLang="en-US" b="0"/>
          </a:p>
        </p:txBody>
      </p:sp>
      <p:sp>
        <p:nvSpPr>
          <p:cNvPr id="32" name="TextBox 31"/>
          <p:cNvSpPr txBox="1"/>
          <p:nvPr/>
        </p:nvSpPr>
        <p:spPr>
          <a:xfrm>
            <a:off x="7452320" y="6453336"/>
            <a:ext cx="15199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/>
              <a:t>Source: Porter (1980)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381000" y="4208463"/>
          <a:ext cx="8382000" cy="20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3657600" imgH="2338200" progId="">
                  <p:embed/>
                </p:oleObj>
              </mc:Choice>
              <mc:Fallback>
                <p:oleObj name="Clip" r:id="rId2" imgW="3657600" imgH="2338200" progId="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08463"/>
                        <a:ext cx="8382000" cy="204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WordArt 3"/>
          <p:cNvSpPr>
            <a:spLocks noChangeArrowheads="1" noChangeShapeType="1" noTextEdit="1"/>
          </p:cNvSpPr>
          <p:nvPr/>
        </p:nvSpPr>
        <p:spPr bwMode="auto">
          <a:xfrm>
            <a:off x="714375" y="1196752"/>
            <a:ext cx="7572375" cy="2952327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altLang="ko-KR" sz="48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333399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CONCLUSIONS</a:t>
            </a:r>
            <a:endParaRPr lang="ko-KR" altLang="en-US" sz="48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333399"/>
                  </a:gs>
                  <a:gs pos="100000">
                    <a:schemeClr val="accent2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9088"/>
            <a:ext cx="9144000" cy="563562"/>
          </a:xfrm>
        </p:spPr>
        <p:txBody>
          <a:bodyPr/>
          <a:lstStyle/>
          <a:p>
            <a:pPr algn="ctr" eaLnBrk="1" hangingPunct="1"/>
            <a:r>
              <a:rPr lang="en-US" altLang="ko-KR" sz="3200" b="1" dirty="0">
                <a:solidFill>
                  <a:srgbClr val="FDC52B"/>
                </a:solidFill>
                <a:latin typeface="Times New Roman" pitchFamily="18" charset="0"/>
                <a:ea typeface="굴림" pitchFamily="50" charset="-127"/>
              </a:rPr>
              <a:t>CONCLUSIONS</a:t>
            </a:r>
          </a:p>
        </p:txBody>
      </p:sp>
      <p:sp>
        <p:nvSpPr>
          <p:cNvPr id="84995" name="TextBox 4"/>
          <p:cNvSpPr txBox="1">
            <a:spLocks noChangeArrowheads="1"/>
          </p:cNvSpPr>
          <p:nvPr/>
        </p:nvSpPr>
        <p:spPr bwMode="auto">
          <a:xfrm>
            <a:off x="179512" y="1370002"/>
            <a:ext cx="8784976" cy="4606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ko-KR" altLang="en-US" dirty="0">
                <a:ea typeface="굴림" pitchFamily="50" charset="-127"/>
              </a:rPr>
              <a:t> </a:t>
            </a:r>
            <a:r>
              <a:rPr lang="en-US" altLang="ko-KR" b="0" dirty="0">
                <a:ea typeface="굴림" pitchFamily="50" charset="-127"/>
              </a:rPr>
              <a:t>Country and market are the important components of global business</a:t>
            </a:r>
          </a:p>
          <a:p>
            <a:pPr>
              <a:lnSpc>
                <a:spcPts val="3200"/>
              </a:lnSpc>
            </a:pPr>
            <a:r>
              <a:rPr lang="en-US" altLang="ko-KR" b="0" dirty="0">
                <a:ea typeface="굴림" pitchFamily="50" charset="-127"/>
              </a:rPr>
              <a:t>   environment.</a:t>
            </a:r>
          </a:p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Country analysis builds a picture of national business environment</a:t>
            </a:r>
          </a:p>
          <a:p>
            <a:pPr>
              <a:lnSpc>
                <a:spcPts val="3200"/>
              </a:lnSpc>
            </a:pPr>
            <a:r>
              <a:rPr lang="en-US" altLang="ko-KR" b="0" dirty="0">
                <a:ea typeface="굴림" pitchFamily="50" charset="-127"/>
              </a:rPr>
              <a:t>   and determines the attractiveness of a nation for business by</a:t>
            </a:r>
          </a:p>
          <a:p>
            <a:pPr>
              <a:lnSpc>
                <a:spcPts val="3200"/>
              </a:lnSpc>
            </a:pPr>
            <a:r>
              <a:rPr lang="en-US" altLang="ko-KR" b="0" dirty="0">
                <a:ea typeface="굴림" pitchFamily="50" charset="-127"/>
              </a:rPr>
              <a:t>   examining strategy, context, and performance.</a:t>
            </a:r>
          </a:p>
          <a:p>
            <a:pPr>
              <a:lnSpc>
                <a:spcPts val="3200"/>
              </a:lnSpc>
              <a:buFont typeface="Arial" pitchFamily="34" charset="0"/>
              <a:buChar char="•"/>
            </a:pPr>
            <a:r>
              <a:rPr lang="en-US" altLang="ko-KR" b="0" dirty="0">
                <a:ea typeface="굴림" pitchFamily="50" charset="-127"/>
              </a:rPr>
              <a:t> Market analysis helps managers to assess</a:t>
            </a:r>
            <a:r>
              <a:rPr lang="en-US" b="0" dirty="0"/>
              <a:t> the structure and dynamics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of an existing or potential market for the following: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  - evaluating the current &amp; future conditions of the market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  - gaining insights into individual product performance relative to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    competitors</a:t>
            </a:r>
          </a:p>
          <a:p>
            <a:pPr>
              <a:lnSpc>
                <a:spcPts val="3200"/>
              </a:lnSpc>
            </a:pPr>
            <a:r>
              <a:rPr lang="en-US" b="0" dirty="0"/>
              <a:t>     - developing marketing &amp; market entry strategies</a:t>
            </a:r>
            <a:endParaRPr lang="en-US" altLang="ko-KR" b="0" dirty="0"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1">
  <a:themeElements>
    <a:clrScheme name="1_1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1_1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1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1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1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">
  <a:themeElements>
    <a:clrScheme name="1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1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7768</TotalTime>
  <Words>1922</Words>
  <Application>Microsoft Office PowerPoint</Application>
  <PresentationFormat>화면 슬라이드 쇼(4:3)</PresentationFormat>
  <Paragraphs>325</Paragraphs>
  <Slides>25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40" baseType="lpstr">
      <vt:lpstr>HY견고딕</vt:lpstr>
      <vt:lpstr>HY헤드라인M</vt:lpstr>
      <vt:lpstr>PMingLiU</vt:lpstr>
      <vt:lpstr>SimSun</vt:lpstr>
      <vt:lpstr>굴림</vt:lpstr>
      <vt:lpstr>Arial</vt:lpstr>
      <vt:lpstr>Franklin Gothic Heavy</vt:lpstr>
      <vt:lpstr>Impact</vt:lpstr>
      <vt:lpstr>Times New Roman</vt:lpstr>
      <vt:lpstr>Verdana</vt:lpstr>
      <vt:lpstr>Wingdings</vt:lpstr>
      <vt:lpstr>1_1</vt:lpstr>
      <vt:lpstr>1</vt:lpstr>
      <vt:lpstr>Image</vt:lpstr>
      <vt:lpstr>Clip</vt:lpstr>
      <vt:lpstr>COUNTRY AND MARKET ANALYSIS</vt:lpstr>
      <vt:lpstr>PowerPoint 프레젠테이션</vt:lpstr>
      <vt:lpstr>PowerPoint 프레젠테이션</vt:lpstr>
      <vt:lpstr>COMPONENTS OF GLOBAL BUSINESS ENVIRONMENT</vt:lpstr>
      <vt:lpstr>PowerPoint 프레젠테이션</vt:lpstr>
      <vt:lpstr>FRAMEWORK FOR COUNTRY ANALYSIS</vt:lpstr>
      <vt:lpstr>FRAMEWORK FOR COUNTRY ANALYSIS</vt:lpstr>
      <vt:lpstr>Strategy</vt:lpstr>
      <vt:lpstr>Context</vt:lpstr>
      <vt:lpstr>Context (continued)</vt:lpstr>
      <vt:lpstr>Performance</vt:lpstr>
      <vt:lpstr>COUNTRY POLITICAL RISK ANALYSIS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Market Segmentation</vt:lpstr>
      <vt:lpstr>Market Segmentation (continued)</vt:lpstr>
      <vt:lpstr>Customer Characteristics</vt:lpstr>
      <vt:lpstr>Product Life Cycle</vt:lpstr>
      <vt:lpstr>Channel Environment &amp; Marketing Infrastructure</vt:lpstr>
      <vt:lpstr>Competitors</vt:lpstr>
      <vt:lpstr>PowerPoint 프레젠테이션</vt:lpstr>
      <vt:lpstr>CONCLUSIONS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CityU</dc:creator>
  <cp:lastModifiedBy>김광수</cp:lastModifiedBy>
  <cp:revision>1097</cp:revision>
  <dcterms:created xsi:type="dcterms:W3CDTF">2000-12-20T03:57:58Z</dcterms:created>
  <dcterms:modified xsi:type="dcterms:W3CDTF">2025-09-04T05:34:53Z</dcterms:modified>
</cp:coreProperties>
</file>