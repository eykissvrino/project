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7" r:id="rId2"/>
    <p:sldId id="282" r:id="rId3"/>
    <p:sldId id="361" r:id="rId4"/>
    <p:sldId id="353" r:id="rId5"/>
    <p:sldId id="357" r:id="rId6"/>
    <p:sldId id="344" r:id="rId7"/>
    <p:sldId id="352" r:id="rId8"/>
    <p:sldId id="358" r:id="rId9"/>
    <p:sldId id="359" r:id="rId10"/>
    <p:sldId id="364" r:id="rId11"/>
    <p:sldId id="362" r:id="rId12"/>
    <p:sldId id="363" r:id="rId13"/>
    <p:sldId id="348" r:id="rId14"/>
    <p:sldId id="369" r:id="rId15"/>
    <p:sldId id="347" r:id="rId16"/>
    <p:sldId id="349" r:id="rId17"/>
    <p:sldId id="355" r:id="rId18"/>
    <p:sldId id="354" r:id="rId19"/>
    <p:sldId id="356" r:id="rId20"/>
    <p:sldId id="370" r:id="rId21"/>
    <p:sldId id="373" r:id="rId22"/>
    <p:sldId id="372" r:id="rId23"/>
    <p:sldId id="374" r:id="rId24"/>
  </p:sldIdLst>
  <p:sldSz cx="9144000" cy="6858000" type="screen4x3"/>
  <p:notesSz cx="6669088" cy="9928225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Franklin Gothic Heavy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D13"/>
    <a:srgbClr val="003DB8"/>
    <a:srgbClr val="69E30D"/>
    <a:srgbClr val="99FF33"/>
    <a:srgbClr val="52C828"/>
    <a:srgbClr val="CCFF33"/>
    <a:srgbClr val="0037A4"/>
    <a:srgbClr val="00329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5" autoAdjust="0"/>
    <p:restoredTop sz="84034" autoAdjust="0"/>
  </p:normalViewPr>
  <p:slideViewPr>
    <p:cSldViewPr>
      <p:cViewPr varScale="1">
        <p:scale>
          <a:sx n="83" d="100"/>
          <a:sy n="83" d="100"/>
        </p:scale>
        <p:origin x="7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890336" cy="49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0">
              <a:defRPr kumimoji="0"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7262" y="1"/>
            <a:ext cx="2890336" cy="49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0412"/>
            <a:ext cx="2890336" cy="49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latinLnBrk="0">
              <a:defRPr kumimoji="0"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7262" y="9430412"/>
            <a:ext cx="2890336" cy="496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 sz="12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DC955A5E-49A5-4E81-AE8D-D63B1CE3F4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3552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90336" cy="496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0"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7262" y="1"/>
            <a:ext cx="2890336" cy="49606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0"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67C64689-8BED-4124-AA29-C3A74BD3216B}" type="datetimeFigureOut">
              <a:rPr lang="ko-KR" altLang="en-US"/>
              <a:pPr>
                <a:defRPr/>
              </a:pPr>
              <a:t>2025-09-04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2488" y="744538"/>
            <a:ext cx="4964112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313" y="4715206"/>
            <a:ext cx="5336463" cy="4468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412"/>
            <a:ext cx="2890336" cy="4960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0"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7262" y="9430412"/>
            <a:ext cx="2890336" cy="4960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0"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3E122B4D-8E94-4223-95EB-97BD74721EC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7393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altLang="ko-KR"/>
              <a:t>Multimedia Lecture Support Package to Accompany Basic Marketing</a:t>
            </a:r>
          </a:p>
          <a:p>
            <a:r>
              <a:rPr lang="en-US" altLang="ko-KR"/>
              <a:t>Lecture Script 6-</a:t>
            </a:r>
            <a:fld id="{CA6ABAA2-352C-4783-907A-C97DACE6F039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ko-KR" dirty="0"/>
              <a:t>d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029290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2D42C2E-B18E-4700-AB01-BCC15EE0AB29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18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E714D8-0750-4221-B706-B6A854C1F01B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62013" y="750888"/>
            <a:ext cx="4945062" cy="37099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89212" y="4715907"/>
            <a:ext cx="4890665" cy="446770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200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65CEBDA0-BA05-46A8-8CEE-F77A1E6AA346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303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3.bin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0387302" imgH="1205924" progId="">
                  <p:embed/>
                </p:oleObj>
              </mc:Choice>
              <mc:Fallback>
                <p:oleObj name="Image" r:id="rId2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>
              <a:latin typeface="Arial" charset="0"/>
              <a:ea typeface="+mn-ea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0" y="2371725"/>
          <a:ext cx="9144000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0438095" imgH="5980952" progId="">
                  <p:embed/>
                </p:oleObj>
              </mc:Choice>
              <mc:Fallback>
                <p:oleObj name="Image" r:id="rId4" imgW="10438095" imgH="5980952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2371725"/>
                        <a:ext cx="9144000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8"/>
          <p:cNvSpPr>
            <a:spLocks noChangeArrowheads="1"/>
          </p:cNvSpPr>
          <p:nvPr/>
        </p:nvSpPr>
        <p:spPr bwMode="gray">
          <a:xfrm>
            <a:off x="0" y="23495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>
              <a:latin typeface="Arial" charset="0"/>
              <a:ea typeface="+mn-ea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6324600"/>
            <a:ext cx="7086600" cy="533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EE699-D639-4207-979B-EFF22D985E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0982E-BCED-4A9B-B7E1-1DF92DA4E1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F742F-7B36-4663-A3D4-61870DAACAA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964680-22E8-4DB6-B67E-F60E1436DC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93D91-2AA8-4222-B0D3-08777C988B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271E6-9BF7-48F4-A797-0B00001AA4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3BA63-8553-4392-840A-872D73E86C0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A0EF7B-C81A-4D36-B09D-CAB33D4016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78431-D9C7-46F6-AB44-0407FE9C1E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3007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3007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F76C9-BA84-43C0-A6F8-39BC57028A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0600" y="319088"/>
            <a:ext cx="7543800" cy="56356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5248275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DEBC6-EF61-47A0-816A-A14FD7AFBB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5"/>
          <p:cNvGraphicFramePr>
            <a:graphicFrameLocks noChangeAspect="1"/>
          </p:cNvGraphicFramePr>
          <p:nvPr/>
        </p:nvGraphicFramePr>
        <p:xfrm>
          <a:off x="0" y="0"/>
          <a:ext cx="91440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14" imgW="10387302" imgH="1205924" progId="">
                  <p:embed/>
                </p:oleObj>
              </mc:Choice>
              <mc:Fallback>
                <p:oleObj name="Image" r:id="rId14" imgW="10387302" imgH="1205924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ltGray">
                      <a:xfrm>
                        <a:off x="0" y="0"/>
                        <a:ext cx="914400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DC52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B1E2FB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66C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524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latinLnBrk="0">
              <a:defRPr kumimoji="0" sz="14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latinLnBrk="0">
              <a:defRPr kumimoji="0" sz="14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1400"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51AEFA36-DB78-4B33-A399-3C66194D2B9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31908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1066800"/>
            <a:ext cx="9144000" cy="7302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>
              <a:latin typeface="Arial" charset="0"/>
              <a:ea typeface="+mn-ea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r" rtl="0" eaLnBrk="1" fontAlgn="base" latinLnBrk="1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2"/>
          </a:solidFill>
          <a:latin typeface="+mj-lt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2"/>
          </a:solidFill>
          <a:latin typeface="+mj-lt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2"/>
          </a:solidFill>
          <a:latin typeface="+mj-lt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2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0"/>
            <a:ext cx="9144000" cy="2133600"/>
          </a:xfrm>
          <a:solidFill>
            <a:srgbClr val="003296"/>
          </a:solidFill>
        </p:spPr>
        <p:txBody>
          <a:bodyPr/>
          <a:lstStyle/>
          <a:p>
            <a:pPr algn="ctr" eaLnBrk="1" hangingPunct="1"/>
            <a:r>
              <a:rPr lang="en-US" altLang="ko-KR" sz="4000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</a:rPr>
              <a:t>SUSTAINABILITY</a:t>
            </a:r>
            <a:endParaRPr lang="en-US" altLang="ko-KR" sz="4000" dirty="0">
              <a:latin typeface="Franklin Gothic Heavy" pitchFamily="34" charset="0"/>
              <a:ea typeface="굴림" pitchFamily="50" charset="-127"/>
            </a:endParaRP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0" y="2924175"/>
            <a:ext cx="9144000" cy="123825"/>
            <a:chOff x="432" y="912"/>
            <a:chExt cx="5808" cy="48"/>
          </a:xfrm>
        </p:grpSpPr>
        <p:sp>
          <p:nvSpPr>
            <p:cNvPr id="27654" name="Line 4"/>
            <p:cNvSpPr>
              <a:spLocks noChangeShapeType="1"/>
            </p:cNvSpPr>
            <p:nvPr/>
          </p:nvSpPr>
          <p:spPr bwMode="auto">
            <a:xfrm>
              <a:off x="432" y="912"/>
              <a:ext cx="5808" cy="0"/>
            </a:xfrm>
            <a:prstGeom prst="line">
              <a:avLst/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7655" name="Line 5"/>
            <p:cNvSpPr>
              <a:spLocks noChangeShapeType="1"/>
            </p:cNvSpPr>
            <p:nvPr/>
          </p:nvSpPr>
          <p:spPr bwMode="auto">
            <a:xfrm>
              <a:off x="432" y="960"/>
              <a:ext cx="580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27652" name="Text Box 9"/>
          <p:cNvSpPr txBox="1">
            <a:spLocks noChangeArrowheads="1"/>
          </p:cNvSpPr>
          <p:nvPr/>
        </p:nvSpPr>
        <p:spPr bwMode="auto">
          <a:xfrm>
            <a:off x="5795251" y="4259952"/>
            <a:ext cx="2803075" cy="8617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 latinLnBrk="0"/>
            <a:r>
              <a:rPr kumimoji="0" lang="en-US" altLang="ko-KR" sz="2800" dirty="0">
                <a:solidFill>
                  <a:srgbClr val="99FF33"/>
                </a:solidFill>
                <a:latin typeface="Times New Roman" pitchFamily="18" charset="0"/>
              </a:rPr>
              <a:t>Dr. </a:t>
            </a:r>
            <a:r>
              <a:rPr kumimoji="0" lang="en-US" altLang="ko-KR" sz="2800" dirty="0" err="1">
                <a:solidFill>
                  <a:srgbClr val="99FF33"/>
                </a:solidFill>
                <a:latin typeface="Times New Roman" pitchFamily="18" charset="0"/>
              </a:rPr>
              <a:t>Kwangsoo</a:t>
            </a:r>
            <a:r>
              <a:rPr kumimoji="0" lang="en-US" altLang="ko-KR" sz="2800" dirty="0">
                <a:solidFill>
                  <a:srgbClr val="99FF33"/>
                </a:solidFill>
                <a:latin typeface="Times New Roman" pitchFamily="18" charset="0"/>
              </a:rPr>
              <a:t> Kim</a:t>
            </a:r>
          </a:p>
          <a:p>
            <a:pPr algn="ctr" latinLnBrk="0"/>
            <a:r>
              <a:rPr kumimoji="0" lang="en-US" altLang="ko-KR" sz="2800" dirty="0" err="1">
                <a:solidFill>
                  <a:srgbClr val="99FF33"/>
                </a:solidFill>
                <a:latin typeface="Times New Roman" pitchFamily="18" charset="0"/>
              </a:rPr>
              <a:t>Konkuk</a:t>
            </a:r>
            <a:r>
              <a:rPr kumimoji="0" lang="en-US" altLang="ko-KR" sz="2800" dirty="0">
                <a:solidFill>
                  <a:srgbClr val="99FF33"/>
                </a:solidFill>
                <a:latin typeface="Times New Roman" pitchFamily="18" charset="0"/>
              </a:rPr>
              <a:t> University</a:t>
            </a:r>
          </a:p>
        </p:txBody>
      </p:sp>
      <p:sp>
        <p:nvSpPr>
          <p:cNvPr id="27653" name="Rectangle 8"/>
          <p:cNvSpPr>
            <a:spLocks noChangeArrowheads="1"/>
          </p:cNvSpPr>
          <p:nvPr/>
        </p:nvSpPr>
        <p:spPr bwMode="auto">
          <a:xfrm>
            <a:off x="5507484" y="3933056"/>
            <a:ext cx="3529012" cy="1582738"/>
          </a:xfrm>
          <a:prstGeom prst="rect">
            <a:avLst/>
          </a:prstGeom>
          <a:noFill/>
          <a:ln w="38100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648"/>
            <a:ext cx="9144000" cy="563562"/>
          </a:xfrm>
          <a:noFill/>
        </p:spPr>
        <p:txBody>
          <a:bodyPr/>
          <a:lstStyle/>
          <a:p>
            <a:pPr algn="ctr" eaLnBrk="1" hangingPunct="1"/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CORPORATE SOCIAL RESPONSIBILITY (CSR)</a:t>
            </a: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 bwMode="auto">
          <a:xfrm>
            <a:off x="0" y="1340768"/>
            <a:ext cx="8964488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2"/>
                </a:solidFill>
                <a:latin typeface="+mj-lt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j-lt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9pPr>
          </a:lstStyle>
          <a:p>
            <a:pPr lvl="1" eaLnBrk="1" hangingPunct="1">
              <a:buClr>
                <a:schemeClr val="bg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kumimoji="0" lang="en-US" altLang="en-US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have responsibilities towards the society</a:t>
            </a:r>
          </a:p>
          <a:p>
            <a:pPr marL="914400" lvl="2" indent="0" eaLnBrk="1" hangingPunct="1">
              <a:buNone/>
            </a:pPr>
            <a:r>
              <a:rPr kumimoji="0" lang="en-US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Social obligations to stakeholders in the society</a:t>
            </a:r>
          </a:p>
          <a:p>
            <a:pPr lvl="2" eaLnBrk="1" hangingPunct="1">
              <a:buFontTx/>
              <a:buChar char="-"/>
            </a:pPr>
            <a:r>
              <a:rPr kumimoji="0"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Shareholder theory (Friedman); Stakeholder theory (Freeman)</a:t>
            </a:r>
            <a:r>
              <a:rPr kumimoji="0" lang="en-US" alt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buFontTx/>
              <a:buChar char="-"/>
            </a:pPr>
            <a:endParaRPr kumimoji="0" lang="en-US" altLang="en-US" sz="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Clr>
                <a:schemeClr val="bg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kumimoji="0" lang="en-US" altLang="en-US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have financial, social, and environmental responsibilities in their core business strategies </a:t>
            </a:r>
          </a:p>
          <a:p>
            <a:pPr lvl="1" eaLnBrk="1" hangingPunct="1">
              <a:buClr>
                <a:schemeClr val="bg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kumimoji="0" lang="en-US" altLang="en-US" sz="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Clr>
                <a:schemeClr val="bg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kumimoji="0" lang="en-US" altLang="en-US" sz="2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 Bottom Line (Elkington), Blended Value (Emerson)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- Economic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Social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Environmental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7776864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543800" cy="563562"/>
          </a:xfrm>
          <a:noFill/>
        </p:spPr>
        <p:txBody>
          <a:bodyPr/>
          <a:lstStyle/>
          <a:p>
            <a:pPr algn="ctr" eaLnBrk="1" hangingPunct="1"/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Stakeholders</a:t>
            </a:r>
          </a:p>
        </p:txBody>
      </p:sp>
    </p:spTree>
    <p:extLst>
      <p:ext uri="{BB962C8B-B14F-4D97-AF65-F5344CB8AC3E}">
        <p14:creationId xmlns:p14="http://schemas.microsoft.com/office/powerpoint/2010/main" val="42114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1030" descr="fi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25" y="1124744"/>
            <a:ext cx="9144000" cy="532859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543800" cy="563562"/>
          </a:xfrm>
          <a:noFill/>
        </p:spPr>
        <p:txBody>
          <a:bodyPr/>
          <a:lstStyle/>
          <a:p>
            <a:pPr algn="ctr" eaLnBrk="1" hangingPunct="1"/>
            <a:r>
              <a:rPr lang="en-US" altLang="ko-KR" b="1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CSR Pyramid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977" y="6453336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Carroll, The Pyramid of Corporate Social Responsibility, Business Horizons, July-August 1991</a:t>
            </a:r>
          </a:p>
        </p:txBody>
      </p:sp>
    </p:spTree>
    <p:extLst>
      <p:ext uri="{BB962C8B-B14F-4D97-AF65-F5344CB8AC3E}">
        <p14:creationId xmlns:p14="http://schemas.microsoft.com/office/powerpoint/2010/main" val="3735506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/>
          <p:cNvSpPr txBox="1">
            <a:spLocks noChangeArrowheads="1"/>
          </p:cNvSpPr>
          <p:nvPr/>
        </p:nvSpPr>
        <p:spPr>
          <a:xfrm>
            <a:off x="179512" y="1296888"/>
            <a:ext cx="8784976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2"/>
                </a:solidFill>
                <a:latin typeface="+mj-lt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j-lt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kumimoji="0" lang="en-US" altLang="en-US" sz="2400" b="0" kern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 For</a:t>
            </a:r>
          </a:p>
          <a:p>
            <a:pPr marL="457200" lvl="1" indent="0" eaLnBrk="1" hangingPunct="1">
              <a:buNone/>
            </a:pPr>
            <a:r>
              <a:rPr kumimoji="0"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Business is unavoidably involved in social issues</a:t>
            </a:r>
          </a:p>
          <a:p>
            <a:pPr marL="457200" lvl="1" indent="0" eaLnBrk="1" hangingPunct="1">
              <a:buNone/>
            </a:pPr>
            <a:r>
              <a:rPr kumimoji="0"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Business has resources to tackle today’s complex societal problems</a:t>
            </a:r>
          </a:p>
          <a:p>
            <a:pPr marL="457200" lvl="1" indent="0" eaLnBrk="1" hangingPunct="1">
              <a:buNone/>
            </a:pPr>
            <a:r>
              <a:rPr kumimoji="0"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better society means a better environment for doing business</a:t>
            </a:r>
          </a:p>
          <a:p>
            <a:pPr marL="457200" lvl="1" indent="0" eaLnBrk="1" hangingPunct="1">
              <a:buNone/>
            </a:pPr>
            <a:r>
              <a:rPr kumimoji="0" lang="en-US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Corporate social action will prevent government action</a:t>
            </a:r>
          </a:p>
          <a:p>
            <a:pPr marL="457200" lvl="1" indent="0" eaLnBrk="1" hangingPunct="1">
              <a:buNone/>
            </a:pPr>
            <a:endParaRPr kumimoji="0" lang="en-US" altLang="en-US" sz="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 Against</a:t>
            </a:r>
          </a:p>
          <a:p>
            <a:pPr marL="457200" lvl="1" indent="0" eaLnBrk="1" hangingPunct="1"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Profit maximization ensures the efficient use of society’s resources</a:t>
            </a:r>
          </a:p>
          <a:p>
            <a:pPr marL="457200" lvl="1" indent="0" eaLnBrk="1" hangingPunct="1"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As an economic institution, business lacks the ability to pursue social  goals</a:t>
            </a:r>
          </a:p>
          <a:p>
            <a:pPr marL="457200" lvl="1" indent="0" eaLnBrk="1" hangingPunct="1">
              <a:buNone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Because business managers are not elected, they are not directly accountable to society</a:t>
            </a:r>
          </a:p>
          <a:p>
            <a:pPr lvl="1" eaLnBrk="1" hangingPunct="1"/>
            <a:endParaRPr kumimoji="0" lang="en-US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Arguments for &amp; against CSR </a:t>
            </a:r>
          </a:p>
        </p:txBody>
      </p:sp>
    </p:spTree>
    <p:extLst>
      <p:ext uri="{BB962C8B-B14F-4D97-AF65-F5344CB8AC3E}">
        <p14:creationId xmlns:p14="http://schemas.microsoft.com/office/powerpoint/2010/main" val="83607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24744"/>
            <a:ext cx="8640960" cy="5733256"/>
          </a:xfrm>
        </p:spPr>
        <p:txBody>
          <a:bodyPr/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Reaction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organization that assumes a reaction stance simply fails to act in a socially responsible manner.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that pursue a defense strategy respond to social challenges only when it is necessary to defend their current position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Accommodation</a:t>
            </a:r>
          </a:p>
          <a:p>
            <a:pPr marL="457200" lvl="1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Corporations with an accommodation strategy readily adapt behaviors to comply with public policy and regulation where necessary and, more importantly, attempt to be responsive to public expectations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b="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Proaction</a:t>
            </a:r>
            <a:endParaRPr lang="en-US" altLang="en-US" sz="2400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that assume a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proaction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strategy subscribe to the   notion of social responsiveness.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55576" y="26064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CSR Strategy</a:t>
            </a:r>
          </a:p>
        </p:txBody>
      </p:sp>
    </p:spTree>
    <p:extLst>
      <p:ext uri="{BB962C8B-B14F-4D97-AF65-F5344CB8AC3E}">
        <p14:creationId xmlns:p14="http://schemas.microsoft.com/office/powerpoint/2010/main" val="1885549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5" descr="330883_la_05_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525658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6760" y="6531717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Kreitner</a:t>
            </a: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Management, Houghton Mifflin Company, 2015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55576" y="26064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CSR Strategy</a:t>
            </a:r>
          </a:p>
        </p:txBody>
      </p:sp>
    </p:spTree>
    <p:extLst>
      <p:ext uri="{BB962C8B-B14F-4D97-AF65-F5344CB8AC3E}">
        <p14:creationId xmlns:p14="http://schemas.microsoft.com/office/powerpoint/2010/main" val="937437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7"/>
          <p:cNvSpPr txBox="1">
            <a:spLocks noChangeArrowheads="1"/>
          </p:cNvSpPr>
          <p:nvPr/>
        </p:nvSpPr>
        <p:spPr>
          <a:xfrm>
            <a:off x="304800" y="1484784"/>
            <a:ext cx="845820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2"/>
                </a:solidFill>
                <a:latin typeface="+mj-lt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j-lt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kumimoji="0" lang="en-US" altLang="en-US" sz="2400" b="0" kern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Altruism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unselfish devotion to the interests of others</a:t>
            </a:r>
          </a:p>
          <a:p>
            <a:pPr marL="457200" lvl="1" indent="0" eaLnBrk="1" hangingPunct="1">
              <a:buNone/>
            </a:pPr>
            <a:endParaRPr kumimoji="0" lang="en-US" altLang="en-US" sz="1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kumimoji="0" lang="en-US" altLang="en-US" sz="2400" b="0" kern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Findings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There is a positive correlation between industry leadership on a socially responsible issue and profitability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Corporate social responsibility is a competitive advantage in   recruiting and attracting customers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Who Benefits from CSR?</a:t>
            </a:r>
          </a:p>
        </p:txBody>
      </p:sp>
    </p:spTree>
    <p:extLst>
      <p:ext uri="{BB962C8B-B14F-4D97-AF65-F5344CB8AC3E}">
        <p14:creationId xmlns:p14="http://schemas.microsoft.com/office/powerpoint/2010/main" val="1388670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323528" y="1340768"/>
            <a:ext cx="8458200" cy="53285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2"/>
                </a:solidFill>
                <a:latin typeface="+mj-lt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j-lt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2"/>
                </a:solidFill>
                <a:latin typeface="+mj-lt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kumimoji="0" lang="en-US" altLang="en-US" sz="2400" b="0" kern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Enlightened Self-Interest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Business ultimately helps itself by helping solve social            problems.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kumimoji="0" lang="en-US" altLang="en-US" sz="2400" b="0" kern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Array of Benefits for the Organization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Retention of talented employees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Help in recruiting the talented and socially conscious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Help in swaying public opinion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Improved community living standards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Attracting socially conscious investors</a:t>
            </a:r>
          </a:p>
          <a:p>
            <a:pPr marL="457200" lvl="1" indent="0" eaLnBrk="1" hangingPunct="1">
              <a:buNone/>
            </a:pPr>
            <a:r>
              <a:rPr kumimoji="0" lang="en-US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 nontaxable benefit for employees from company donations to charitable causes, </a:t>
            </a:r>
            <a:r>
              <a:rPr kumimoji="0" lang="en-US" altLang="en-US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kumimoji="0" lang="en-US" altLang="en-US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Who Benefits from CSR</a:t>
            </a:r>
          </a:p>
        </p:txBody>
      </p:sp>
    </p:spTree>
    <p:extLst>
      <p:ext uri="{BB962C8B-B14F-4D97-AF65-F5344CB8AC3E}">
        <p14:creationId xmlns:p14="http://schemas.microsoft.com/office/powerpoint/2010/main" val="1078905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55576" y="26064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CSR Case: </a:t>
            </a:r>
          </a:p>
          <a:p>
            <a:pPr algn="ctr" eaLnBrk="1" hangingPunct="1"/>
            <a:r>
              <a:rPr kumimoji="0" lang="en-US" altLang="ko-KR" sz="3200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Samsung Electronics</a:t>
            </a:r>
          </a:p>
        </p:txBody>
      </p:sp>
      <p:pic>
        <p:nvPicPr>
          <p:cNvPr id="182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8671"/>
            <a:ext cx="9144000" cy="5389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977" y="6557844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Samsung Sustainability Report 2016, p. 108</a:t>
            </a:r>
          </a:p>
        </p:txBody>
      </p:sp>
    </p:spTree>
    <p:extLst>
      <p:ext uri="{BB962C8B-B14F-4D97-AF65-F5344CB8AC3E}">
        <p14:creationId xmlns:p14="http://schemas.microsoft.com/office/powerpoint/2010/main" val="3443670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55576" y="26064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sz="3200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Samsung Electronics:</a:t>
            </a:r>
          </a:p>
          <a:p>
            <a:pPr algn="ctr" eaLnBrk="1" hangingPunct="1"/>
            <a:r>
              <a:rPr kumimoji="0" lang="en-US" altLang="ko-KR" sz="2800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Economic Value Distribution</a:t>
            </a:r>
          </a:p>
        </p:txBody>
      </p:sp>
      <p:pic>
        <p:nvPicPr>
          <p:cNvPr id="1812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7877"/>
            <a:ext cx="9144000" cy="5361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977" y="6557844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Samsung Sustainability Report 2016, p. 30</a:t>
            </a:r>
          </a:p>
        </p:txBody>
      </p:sp>
    </p:spTree>
    <p:extLst>
      <p:ext uri="{BB962C8B-B14F-4D97-AF65-F5344CB8AC3E}">
        <p14:creationId xmlns:p14="http://schemas.microsoft.com/office/powerpoint/2010/main" val="2265188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2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994"/>
            <a:ext cx="9144000" cy="5434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55576" y="260648"/>
            <a:ext cx="7543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sz="3200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Samsung Electronics:</a:t>
            </a:r>
          </a:p>
          <a:p>
            <a:pPr algn="ctr" eaLnBrk="1" hangingPunct="1"/>
            <a:r>
              <a:rPr kumimoji="0" lang="en-US" altLang="ko-KR" sz="2800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Societal Value Creation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977" y="6557844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Samsung Sustainability Report 2016, p. 31</a:t>
            </a:r>
          </a:p>
        </p:txBody>
      </p:sp>
    </p:spTree>
    <p:extLst>
      <p:ext uri="{BB962C8B-B14F-4D97-AF65-F5344CB8AC3E}">
        <p14:creationId xmlns:p14="http://schemas.microsoft.com/office/powerpoint/2010/main" val="1728415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6760" y="6531717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M. Porter, HSM Brazil CSV Presentation, 2013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CREATING SHARED VALUE (CSV)</a:t>
            </a:r>
          </a:p>
        </p:txBody>
      </p:sp>
      <p:pic>
        <p:nvPicPr>
          <p:cNvPr id="1771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1"/>
            <a:ext cx="9144000" cy="5334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2182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04" y="2175989"/>
            <a:ext cx="9143999" cy="4349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3244"/>
            <a:ext cx="9143999" cy="1008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6760" y="6531717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Kramer, Presentation for World Environment Center, 2011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Creating Shared Value</a:t>
            </a:r>
          </a:p>
        </p:txBody>
      </p:sp>
    </p:spTree>
    <p:extLst>
      <p:ext uri="{BB962C8B-B14F-4D97-AF65-F5344CB8AC3E}">
        <p14:creationId xmlns:p14="http://schemas.microsoft.com/office/powerpoint/2010/main" val="3068529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5326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977" y="6557844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M. Porter, HSM Brazil CSV Presentation, 2013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CSV Case: </a:t>
            </a:r>
            <a:r>
              <a:rPr kumimoji="0" lang="en-US" altLang="ko-KR" sz="3200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Fair Trade</a:t>
            </a:r>
          </a:p>
        </p:txBody>
      </p:sp>
    </p:spTree>
    <p:extLst>
      <p:ext uri="{BB962C8B-B14F-4D97-AF65-F5344CB8AC3E}">
        <p14:creationId xmlns:p14="http://schemas.microsoft.com/office/powerpoint/2010/main" val="911931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547664" y="1628800"/>
            <a:ext cx="6048672" cy="1569660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Drip irrigation equipment for small farmers in India and Africa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Serves more than 4 million farmers worldwide as of 2012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CSV Case: Jain Irrigation Systems</a:t>
            </a:r>
            <a:endParaRPr kumimoji="0" lang="en-US" altLang="ko-KR" sz="3200" b="1" kern="0" dirty="0">
              <a:solidFill>
                <a:srgbClr val="FFC000"/>
              </a:solidFill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547664" y="4082296"/>
            <a:ext cx="6048672" cy="193899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Reduces water use by over 40%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Enables higher crop yields that improve food security while raising farmers’ income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Jain is now a multinational company that is     growing rapidly </a:t>
            </a:r>
          </a:p>
        </p:txBody>
      </p:sp>
      <p:sp>
        <p:nvSpPr>
          <p:cNvPr id="6" name="아래쪽 화살표 5"/>
          <p:cNvSpPr/>
          <p:nvPr/>
        </p:nvSpPr>
        <p:spPr bwMode="auto">
          <a:xfrm>
            <a:off x="4427984" y="3356992"/>
            <a:ext cx="360040" cy="504056"/>
          </a:xfrm>
          <a:prstGeom prst="down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764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144000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CSV Case: Nestle Farmer Program</a:t>
            </a:r>
            <a:endParaRPr kumimoji="0" lang="en-US" altLang="ko-KR" sz="3200" b="1" kern="0" dirty="0">
              <a:solidFill>
                <a:srgbClr val="FFC000"/>
              </a:solidFill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760" y="6531717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Kramer, Presentation for World Environment Center, 2011</a:t>
            </a:r>
          </a:p>
        </p:txBody>
      </p:sp>
    </p:spTree>
    <p:extLst>
      <p:ext uri="{BB962C8B-B14F-4D97-AF65-F5344CB8AC3E}">
        <p14:creationId xmlns:p14="http://schemas.microsoft.com/office/powerpoint/2010/main" val="3384006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504" y="1247805"/>
            <a:ext cx="8928992" cy="4989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by John Mackey, co-founder/CEO of Whole Food Markets</a:t>
            </a:r>
          </a:p>
          <a:p>
            <a:pPr marL="342900" indent="-342900">
              <a:lnSpc>
                <a:spcPts val="35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Capitalism must be exercised in a conscious way based on four         guiding pillars: </a:t>
            </a:r>
          </a:p>
          <a:p>
            <a:pPr>
              <a:lnSpc>
                <a:spcPts val="35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Higher purpose: a purpose that goes beyond profit maximization</a:t>
            </a:r>
          </a:p>
          <a:p>
            <a:pPr>
              <a:lnSpc>
                <a:spcPts val="35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Stakeholder orientation: a business’ need to create value for its</a:t>
            </a:r>
          </a:p>
          <a:p>
            <a:pPr>
              <a:lnSpc>
                <a:spcPts val="35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various and interdependent stakeholders </a:t>
            </a:r>
          </a:p>
          <a:p>
            <a:pPr>
              <a:lnSpc>
                <a:spcPts val="35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Conscious leadership: corporations must be leaded by people that</a:t>
            </a:r>
          </a:p>
          <a:p>
            <a:pPr>
              <a:lnSpc>
                <a:spcPts val="35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embrace the higher purpose of business and care about value </a:t>
            </a:r>
          </a:p>
          <a:p>
            <a:pPr>
              <a:lnSpc>
                <a:spcPts val="35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creation for stakeholders</a:t>
            </a:r>
          </a:p>
          <a:p>
            <a:pPr>
              <a:lnSpc>
                <a:spcPts val="35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- Conscious culture: the set of values that connect the business to </a:t>
            </a:r>
          </a:p>
          <a:p>
            <a:pPr>
              <a:lnSpc>
                <a:spcPts val="35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its stakeholders, and every stakeholder to each other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sz="3200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CONSCIOUS CAPITALISM (CC)</a:t>
            </a:r>
          </a:p>
        </p:txBody>
      </p:sp>
    </p:spTree>
    <p:extLst>
      <p:ext uri="{BB962C8B-B14F-4D97-AF65-F5344CB8AC3E}">
        <p14:creationId xmlns:p14="http://schemas.microsoft.com/office/powerpoint/2010/main" val="2680195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" y="1167877"/>
            <a:ext cx="9138023" cy="538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5977" y="6557844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Amorepacific</a:t>
            </a: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Group Sustainability Report 2015, p. 60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sz="3200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Accompanied/Shared Growth</a:t>
            </a:r>
          </a:p>
        </p:txBody>
      </p:sp>
    </p:spTree>
    <p:extLst>
      <p:ext uri="{BB962C8B-B14F-4D97-AF65-F5344CB8AC3E}">
        <p14:creationId xmlns:p14="http://schemas.microsoft.com/office/powerpoint/2010/main" val="2613264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sz="3200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SUSTAINABLE DEVELOPMENT GOALS (SDGs)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6959"/>
            <a:ext cx="5437096" cy="400842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42" y="2876959"/>
            <a:ext cx="3963357" cy="40084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9392" y="1303600"/>
            <a:ext cx="8827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ko-KR" dirty="0">
                <a:latin typeface="+mj-ea"/>
                <a:ea typeface="+mj-ea"/>
              </a:rPr>
              <a:t>지속가능발전목</a:t>
            </a:r>
            <a:r>
              <a:rPr lang="ko-KR" altLang="en-US" dirty="0">
                <a:latin typeface="+mj-ea"/>
                <a:ea typeface="+mj-ea"/>
              </a:rPr>
              <a:t>표</a:t>
            </a:r>
            <a:r>
              <a:rPr lang="en-US" altLang="ko-KR" dirty="0">
                <a:latin typeface="+mj-ea"/>
                <a:ea typeface="+mj-ea"/>
              </a:rPr>
              <a:t>(SDGs):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ko-KR" dirty="0">
                <a:solidFill>
                  <a:srgbClr val="FFFF00"/>
                </a:solidFill>
                <a:latin typeface="+mj-ea"/>
                <a:ea typeface="+mj-ea"/>
              </a:rPr>
              <a:t>인류의 보편적 문제</a:t>
            </a:r>
            <a:r>
              <a:rPr lang="ko-KR" altLang="ko-KR" dirty="0">
                <a:latin typeface="+mj-ea"/>
                <a:ea typeface="+mj-ea"/>
              </a:rPr>
              <a:t>(빈곤, 질병, 교육, </a:t>
            </a:r>
            <a:r>
              <a:rPr lang="ko-KR" altLang="ko-KR" dirty="0" err="1">
                <a:latin typeface="+mj-ea"/>
                <a:ea typeface="+mj-ea"/>
              </a:rPr>
              <a:t>성평등</a:t>
            </a:r>
            <a:r>
              <a:rPr lang="ko-KR" altLang="ko-KR" dirty="0">
                <a:latin typeface="+mj-ea"/>
                <a:ea typeface="+mj-ea"/>
              </a:rPr>
              <a:t>, 난민, 분쟁 등)</a:t>
            </a:r>
            <a:r>
              <a:rPr lang="en-US" altLang="ko-KR" dirty="0">
                <a:latin typeface="+mj-ea"/>
                <a:ea typeface="+mj-ea"/>
              </a:rPr>
              <a:t>,</a:t>
            </a:r>
            <a:r>
              <a:rPr lang="ko-KR" altLang="ko-KR" dirty="0">
                <a:latin typeface="+mj-ea"/>
                <a:ea typeface="+mj-ea"/>
              </a:rPr>
              <a:t> </a:t>
            </a:r>
            <a:endParaRPr lang="en-US" altLang="ko-KR" dirty="0">
              <a:latin typeface="+mj-ea"/>
              <a:ea typeface="+mj-ea"/>
            </a:endParaRPr>
          </a:p>
          <a:p>
            <a:pPr algn="just"/>
            <a:r>
              <a:rPr lang="ko-KR" altLang="ko-KR" dirty="0">
                <a:solidFill>
                  <a:srgbClr val="FFFF00"/>
                </a:solidFill>
                <a:latin typeface="+mj-ea"/>
                <a:ea typeface="+mj-ea"/>
              </a:rPr>
              <a:t>지구 환경문제</a:t>
            </a:r>
            <a:r>
              <a:rPr lang="ko-KR" altLang="ko-KR" dirty="0">
                <a:latin typeface="+mj-ea"/>
                <a:ea typeface="+mj-ea"/>
              </a:rPr>
              <a:t>(기후변화, 에너지, 환경오염, 물, 생물다양성 등), </a:t>
            </a:r>
            <a:r>
              <a:rPr lang="ko-KR" altLang="ko-KR" dirty="0">
                <a:solidFill>
                  <a:srgbClr val="FFFF00"/>
                </a:solidFill>
                <a:latin typeface="+mj-ea"/>
                <a:ea typeface="+mj-ea"/>
              </a:rPr>
              <a:t>경제사회문제</a:t>
            </a:r>
            <a:r>
              <a:rPr lang="ko-KR" altLang="ko-KR" dirty="0">
                <a:latin typeface="+mj-ea"/>
                <a:ea typeface="+mj-ea"/>
              </a:rPr>
              <a:t>(기술, </a:t>
            </a:r>
            <a:endParaRPr lang="en-US" altLang="ko-KR" dirty="0">
              <a:latin typeface="+mj-ea"/>
              <a:ea typeface="+mj-ea"/>
            </a:endParaRPr>
          </a:p>
          <a:p>
            <a:pPr algn="just"/>
            <a:r>
              <a:rPr lang="ko-KR" altLang="ko-KR" dirty="0">
                <a:latin typeface="+mj-ea"/>
                <a:ea typeface="+mj-ea"/>
              </a:rPr>
              <a:t>주거, 노사, 고용, 생산 </a:t>
            </a:r>
            <a:r>
              <a:rPr lang="ko-KR" altLang="en-US" dirty="0">
                <a:latin typeface="+mj-ea"/>
                <a:ea typeface="+mj-ea"/>
              </a:rPr>
              <a:t>및 </a:t>
            </a:r>
            <a:r>
              <a:rPr lang="ko-KR" altLang="ko-KR" dirty="0">
                <a:latin typeface="+mj-ea"/>
                <a:ea typeface="+mj-ea"/>
              </a:rPr>
              <a:t>소비,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ko-KR" dirty="0">
                <a:latin typeface="+mj-ea"/>
                <a:ea typeface="+mj-ea"/>
              </a:rPr>
              <a:t>사회구조, 법, 대내외 경제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등</a:t>
            </a:r>
            <a:r>
              <a:rPr lang="ko-KR" altLang="ko-KR" dirty="0">
                <a:latin typeface="+mj-ea"/>
                <a:ea typeface="+mj-ea"/>
              </a:rPr>
              <a:t>)를 </a:t>
            </a:r>
            <a:r>
              <a:rPr lang="ko-KR" altLang="en-US" dirty="0">
                <a:latin typeface="+mj-ea"/>
                <a:ea typeface="+mj-ea"/>
              </a:rPr>
              <a:t>해결하고자 </a:t>
            </a:r>
            <a:r>
              <a:rPr lang="ko-KR" altLang="ko-KR" dirty="0">
                <a:latin typeface="+mj-ea"/>
                <a:ea typeface="+mj-ea"/>
              </a:rPr>
              <a:t>17</a:t>
            </a:r>
            <a:r>
              <a:rPr lang="ko-KR" altLang="en-US" dirty="0">
                <a:latin typeface="+mj-ea"/>
                <a:ea typeface="+mj-ea"/>
              </a:rPr>
              <a:t>개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주 </a:t>
            </a:r>
            <a:r>
              <a:rPr lang="ko-KR" altLang="ko-KR" dirty="0">
                <a:latin typeface="+mj-ea"/>
                <a:ea typeface="+mj-ea"/>
              </a:rPr>
              <a:t>목표와 169개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ko-KR" dirty="0">
                <a:latin typeface="+mj-ea"/>
                <a:ea typeface="+mj-ea"/>
              </a:rPr>
              <a:t>세부목표로</a:t>
            </a:r>
            <a:r>
              <a:rPr lang="en-US" altLang="ko-KR" dirty="0">
                <a:latin typeface="+mj-ea"/>
                <a:ea typeface="+mj-ea"/>
              </a:rPr>
              <a:t> 2016</a:t>
            </a:r>
            <a:r>
              <a:rPr lang="ko-KR" altLang="en-US" dirty="0">
                <a:latin typeface="+mj-ea"/>
                <a:ea typeface="+mj-ea"/>
              </a:rPr>
              <a:t>년부터 </a:t>
            </a:r>
            <a:r>
              <a:rPr lang="ko-KR" altLang="ko-KR" dirty="0">
                <a:latin typeface="+mj-ea"/>
                <a:ea typeface="+mj-ea"/>
              </a:rPr>
              <a:t>2030년까지 </a:t>
            </a:r>
            <a:r>
              <a:rPr lang="ko-KR" altLang="en-US" dirty="0">
                <a:solidFill>
                  <a:srgbClr val="FFFF00"/>
                </a:solidFill>
                <a:latin typeface="+mj-ea"/>
                <a:ea typeface="+mj-ea"/>
              </a:rPr>
              <a:t>인류의 </a:t>
            </a:r>
            <a:r>
              <a:rPr lang="ko-KR" altLang="en-US" dirty="0" err="1">
                <a:solidFill>
                  <a:srgbClr val="FFFF00"/>
                </a:solidFill>
                <a:latin typeface="+mj-ea"/>
                <a:ea typeface="+mj-ea"/>
              </a:rPr>
              <a:t>지속가능한</a:t>
            </a:r>
            <a:r>
              <a:rPr lang="ko-KR" altLang="en-US" dirty="0">
                <a:solidFill>
                  <a:srgbClr val="FFFF00"/>
                </a:solidFill>
                <a:latin typeface="+mj-ea"/>
                <a:ea typeface="+mj-ea"/>
              </a:rPr>
              <a:t> 발전을 위해 </a:t>
            </a:r>
            <a:r>
              <a:rPr lang="ko-KR" altLang="ko-KR" dirty="0">
                <a:solidFill>
                  <a:srgbClr val="FFFF00"/>
                </a:solidFill>
                <a:latin typeface="+mj-ea"/>
                <a:ea typeface="+mj-ea"/>
              </a:rPr>
              <a:t>이행하는 </a:t>
            </a:r>
            <a:r>
              <a:rPr lang="ko-KR" altLang="en-US" dirty="0">
                <a:solidFill>
                  <a:srgbClr val="FFFF00"/>
                </a:solidFill>
                <a:latin typeface="+mj-ea"/>
                <a:ea typeface="+mj-ea"/>
              </a:rPr>
              <a:t>유엔과 </a:t>
            </a:r>
            <a:r>
              <a:rPr lang="ko-KR" altLang="ko-KR" dirty="0">
                <a:solidFill>
                  <a:srgbClr val="FFFF00"/>
                </a:solidFill>
                <a:latin typeface="+mj-ea"/>
                <a:ea typeface="+mj-ea"/>
              </a:rPr>
              <a:t>국제사회</a:t>
            </a:r>
            <a:r>
              <a:rPr lang="ko-KR" altLang="en-US" dirty="0">
                <a:solidFill>
                  <a:srgbClr val="FFFF00"/>
                </a:solidFill>
                <a:latin typeface="+mj-ea"/>
                <a:ea typeface="+mj-ea"/>
              </a:rPr>
              <a:t>의</a:t>
            </a:r>
            <a:r>
              <a:rPr lang="ko-KR" altLang="ko-KR" dirty="0">
                <a:solidFill>
                  <a:srgbClr val="FFFF00"/>
                </a:solidFill>
                <a:latin typeface="+mj-ea"/>
                <a:ea typeface="+mj-ea"/>
              </a:rPr>
              <a:t> 최대 공동목표</a:t>
            </a:r>
            <a:r>
              <a:rPr lang="ko-KR" altLang="en-US" dirty="0">
                <a:solidFill>
                  <a:srgbClr val="FFFF00"/>
                </a:solidFill>
                <a:latin typeface="+mj-ea"/>
                <a:ea typeface="+mj-ea"/>
              </a:rPr>
              <a:t>임</a:t>
            </a:r>
          </a:p>
        </p:txBody>
      </p:sp>
    </p:spTree>
    <p:extLst>
      <p:ext uri="{BB962C8B-B14F-4D97-AF65-F5344CB8AC3E}">
        <p14:creationId xmlns:p14="http://schemas.microsoft.com/office/powerpoint/2010/main" val="3624080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260648"/>
            <a:ext cx="91440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r" rtl="0" eaLnBrk="0" fontAlgn="base" latinLnBrk="1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r" rtl="0" eaLnBrk="1" fontAlgn="base" latinLnBrk="1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0" lang="en-US" altLang="ko-KR" sz="3200" b="1" kern="0" dirty="0">
                <a:solidFill>
                  <a:srgbClr val="FFC000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SDG Seventeen Main Goals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05780" y="1340768"/>
            <a:ext cx="8514692" cy="526297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altLang="ko-KR" sz="1600" dirty="0"/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모든 곳에서 모든 형태의 빈곤 종식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기아 종식, 식량 안보와 영양 개선 달성 및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농업 진흥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모든 연령층의 모든 사람을 위한 건강한 삶 보장 및 복지증진</a:t>
            </a:r>
          </a:p>
          <a:p>
            <a:pPr>
              <a:buFont typeface="+mj-lt"/>
              <a:buAutoNum type="arabicPeriod"/>
            </a:pP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모두를 위한 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포용적이고 공평한 양질의 교육 보장 및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생학습 기회 증진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양성평등 달성 및 모든 여성과 소녀의 권익 신장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모두를 위한 물과 위생의 이용가능성 및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관리 보장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모두를 위한 저렴하고 신뢰성 있으며 지속가능하고 현대적인 에너지에 대한 접근 보장</a:t>
            </a:r>
          </a:p>
          <a:p>
            <a:pPr defTabSz="179388"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모두를 위한 지속적이고 포용적이며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경제성장 및 완전하고 생산적인 고용과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	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양질의 일자리 증진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회복력 있는 사회기반시설 구축, 포용적이고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산업화 증진 및 혁신 촉진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국가 내 및 국가 간 불평등 완화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포용적이고 안전하며 회복력 있고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도시와 정주지 조성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소비 및 생산 양식 보장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기후변화와 그 영향을 방지하기 위한 긴급한 행동의 실시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위한 대양, 바다 및 해양자원 보존 및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</a:t>
            </a:r>
          </a:p>
          <a:p>
            <a:pPr>
              <a:buFont typeface="+mj-lt"/>
              <a:buAutoNum type="arabicPeriod"/>
              <a:tabLst>
                <a:tab pos="266700" algn="l"/>
              </a:tabLst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육상 생태계의 보호, 복원 및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이용 증진, 산림의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지속가능한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관리, 사막화 방지, 토지 황폐화 중지, 생물다양성 손실 중지</a:t>
            </a:r>
          </a:p>
          <a:p>
            <a:pPr defTabSz="266700"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모든 수준에서 지속가능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위한 평화롭고 포용적인 사회 증진, 모두에게 정의에 대한 접근 제공 및 효과적이고 책임 있으며 포용적인 제도 구축</a:t>
            </a:r>
          </a:p>
          <a:p>
            <a:pPr>
              <a:buFont typeface="+mj-lt"/>
              <a:buAutoNum type="arabicPeriod"/>
            </a:pP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이행수단 강화 및 지속가능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위한 글로벌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파트너십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활성화</a:t>
            </a:r>
            <a:endParaRPr lang="ko-KR" altLang="ko-KR" sz="160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9855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/>
          <p:nvPr/>
        </p:nvSpPr>
        <p:spPr>
          <a:xfrm>
            <a:off x="2699792" y="260648"/>
            <a:ext cx="48965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MDGs to SDGs</a:t>
            </a:r>
            <a:endParaRPr lang="en-GB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79512" y="1844824"/>
            <a:ext cx="3816424" cy="4462760"/>
          </a:xfrm>
          <a:prstGeom prst="rect">
            <a:avLst/>
          </a:prstGeom>
          <a:ln w="3175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MDGs (</a:t>
            </a:r>
            <a:r>
              <a:rPr kumimoji="0" lang="ko-KR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밀레니엄발전목표</a:t>
            </a:r>
            <a:r>
              <a:rPr kumimoji="0" lang="en-US" altLang="ko-KR" sz="2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(</a:t>
            </a:r>
            <a:r>
              <a:rPr kumimoji="0" lang="en-US" altLang="ko-KR" sz="22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Millienium</a:t>
            </a:r>
            <a:r>
              <a:rPr kumimoji="0" lang="en-US" altLang="ko-KR" sz="2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 Development Goals)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2000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년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UN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총회에서 채택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2001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년부터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2015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년까지 시행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8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개 목표 및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21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개 세부목표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개도국과 최빈국의 문제에 초점을 맞춤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이에 대한 이행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/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실행은 각국의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자발적인 이행보고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를 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     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권고함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4339042" y="3005419"/>
            <a:ext cx="401369" cy="165618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076056" y="1844824"/>
            <a:ext cx="3888432" cy="4462760"/>
          </a:xfrm>
          <a:prstGeom prst="rect">
            <a:avLst/>
          </a:prstGeom>
          <a:ln w="3175">
            <a:solidFill>
              <a:schemeClr val="tx1"/>
            </a:solidFill>
            <a:prstDash val="solid"/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SDGs (</a:t>
            </a:r>
            <a:r>
              <a:rPr kumimoji="0" lang="ko-KR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지속가능발전목표</a:t>
            </a:r>
            <a:r>
              <a:rPr kumimoji="0" lang="en-US" altLang="ko-KR" sz="2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(Sustainable Development Goals)</a:t>
            </a: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2015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년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UN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총회에서 채택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2016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년부터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2030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년까지 시행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17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개 목표 및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169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개 세부목표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선진국 포함 모든 국가의 문제에 초점을 맞춤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  <a:p>
            <a:pPr marL="342900" marR="0" lvl="0" indent="-3429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이행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/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실행 책임성 강조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. 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     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각 국가는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의무적으로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    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 이행과정과 성과보고 및 평가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959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이러한 지속가능성장목표에 대한 의무적 이행 책임성 강조</a:t>
            </a:r>
            <a:endParaRPr lang="en-US" altLang="ko-KR" sz="1800" b="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이러한 상황에서 각 정부는 </a:t>
            </a:r>
            <a:r>
              <a:rPr lang="en-US" altLang="ko-KR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SDGs</a:t>
            </a: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이행을 위해 기업의 역할 기대</a:t>
            </a:r>
            <a:endParaRPr lang="en-US" altLang="ko-KR" sz="1800" b="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특히 개도국 정부가 자국의 경제</a:t>
            </a:r>
            <a:r>
              <a:rPr lang="en-US" altLang="ko-KR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사회</a:t>
            </a:r>
            <a:r>
              <a:rPr lang="en-US" altLang="ko-KR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환경적 이슈의 개선 수단으로 </a:t>
            </a:r>
            <a:endParaRPr lang="en-US" altLang="ko-KR" sz="1800" b="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외국계 기업을 적극 활용할 가능성 높음</a:t>
            </a:r>
            <a:endParaRPr lang="en-US" altLang="ko-KR" sz="1800" b="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자국에 진출하려는 외국기업에 대한 투자허가 및 기타 혜택을 결정할 때</a:t>
            </a:r>
            <a:endParaRPr lang="en-US" altLang="ko-KR" sz="1800" b="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개별 기업의 </a:t>
            </a:r>
            <a:r>
              <a:rPr lang="en-US" altLang="ko-KR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SDGs </a:t>
            </a: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이행 가능성 여부를 판단 기준으로 이용할 수 있음</a:t>
            </a:r>
            <a:endParaRPr lang="en-US" altLang="ko-KR" sz="1800" b="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따라서 향후 개별 기업의 </a:t>
            </a:r>
            <a:r>
              <a:rPr lang="en-US" altLang="ko-KR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SDGs </a:t>
            </a: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관련 역량과 경험이 중요한 기업의 </a:t>
            </a:r>
            <a:endParaRPr lang="en-US" altLang="ko-KR" sz="1800" b="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   </a:t>
            </a:r>
            <a:r>
              <a:rPr lang="ko-KR" altLang="en-US" sz="1800" b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경쟁우위 원천이 될 가능성이 높음</a:t>
            </a:r>
            <a:endParaRPr lang="ko-KR" alt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/>
          <p:nvPr/>
        </p:nvSpPr>
        <p:spPr>
          <a:xfrm>
            <a:off x="1331640" y="260648"/>
            <a:ext cx="65527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Implications of SDGs for Businesses</a:t>
            </a:r>
            <a:endParaRPr lang="en-GB" sz="3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90339"/>
      </p:ext>
    </p:extLst>
  </p:cSld>
  <p:clrMapOvr>
    <a:masterClrMapping/>
  </p:clrMapOvr>
</p:sld>
</file>

<file path=ppt/theme/theme1.xml><?xml version="1.0" encoding="utf-8"?>
<a:theme xmlns:a="http://schemas.openxmlformats.org/drawingml/2006/main" name="1">
  <a:themeElements>
    <a:clrScheme name="sample 3">
      <a:dk1>
        <a:srgbClr val="0066CC"/>
      </a:dk1>
      <a:lt1>
        <a:srgbClr val="B1E2FB"/>
      </a:lt1>
      <a:dk2>
        <a:srgbClr val="003399"/>
      </a:dk2>
      <a:lt2>
        <a:srgbClr val="FFFFFF"/>
      </a:lt2>
      <a:accent1>
        <a:srgbClr val="FDC529"/>
      </a:accent1>
      <a:accent2>
        <a:srgbClr val="52C828"/>
      </a:accent2>
      <a:accent3>
        <a:srgbClr val="AAADCA"/>
      </a:accent3>
      <a:accent4>
        <a:srgbClr val="97C1D6"/>
      </a:accent4>
      <a:accent5>
        <a:srgbClr val="FEDFAC"/>
      </a:accent5>
      <a:accent6>
        <a:srgbClr val="49B523"/>
      </a:accent6>
      <a:hlink>
        <a:srgbClr val="72A7F6"/>
      </a:hlink>
      <a:folHlink>
        <a:srgbClr val="A5A5FF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7E25CF"/>
        </a:dk1>
        <a:lt1>
          <a:srgbClr val="C6D3FE"/>
        </a:lt1>
        <a:dk2>
          <a:srgbClr val="512175"/>
        </a:dk2>
        <a:lt2>
          <a:srgbClr val="FFFFFF"/>
        </a:lt2>
        <a:accent1>
          <a:srgbClr val="FFCC66"/>
        </a:accent1>
        <a:accent2>
          <a:srgbClr val="6ABA42"/>
        </a:accent2>
        <a:accent3>
          <a:srgbClr val="B3ABBD"/>
        </a:accent3>
        <a:accent4>
          <a:srgbClr val="A9B4D9"/>
        </a:accent4>
        <a:accent5>
          <a:srgbClr val="FFE2B8"/>
        </a:accent5>
        <a:accent6>
          <a:srgbClr val="5FA83B"/>
        </a:accent6>
        <a:hlink>
          <a:srgbClr val="3399FF"/>
        </a:hlink>
        <a:folHlink>
          <a:srgbClr val="43A8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mple 2">
        <a:dk1>
          <a:srgbClr val="009999"/>
        </a:dk1>
        <a:lt1>
          <a:srgbClr val="E2E2D6"/>
        </a:lt1>
        <a:dk2>
          <a:srgbClr val="005986"/>
        </a:dk2>
        <a:lt2>
          <a:srgbClr val="FFFFFF"/>
        </a:lt2>
        <a:accent1>
          <a:srgbClr val="12D2C9"/>
        </a:accent1>
        <a:accent2>
          <a:srgbClr val="3574C7"/>
        </a:accent2>
        <a:accent3>
          <a:srgbClr val="AAB5C3"/>
        </a:accent3>
        <a:accent4>
          <a:srgbClr val="C1C1B7"/>
        </a:accent4>
        <a:accent5>
          <a:srgbClr val="AAE5E1"/>
        </a:accent5>
        <a:accent6>
          <a:srgbClr val="2F68B4"/>
        </a:accent6>
        <a:hlink>
          <a:srgbClr val="1EBABA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mple 3">
        <a:dk1>
          <a:srgbClr val="0066CC"/>
        </a:dk1>
        <a:lt1>
          <a:srgbClr val="B1E2FB"/>
        </a:lt1>
        <a:dk2>
          <a:srgbClr val="003399"/>
        </a:dk2>
        <a:lt2>
          <a:srgbClr val="FFFFFF"/>
        </a:lt2>
        <a:accent1>
          <a:srgbClr val="FDC529"/>
        </a:accent1>
        <a:accent2>
          <a:srgbClr val="52C828"/>
        </a:accent2>
        <a:accent3>
          <a:srgbClr val="AAADCA"/>
        </a:accent3>
        <a:accent4>
          <a:srgbClr val="97C1D6"/>
        </a:accent4>
        <a:accent5>
          <a:srgbClr val="FEDFAC"/>
        </a:accent5>
        <a:accent6>
          <a:srgbClr val="49B523"/>
        </a:accent6>
        <a:hlink>
          <a:srgbClr val="72A7F6"/>
        </a:hlink>
        <a:folHlink>
          <a:srgbClr val="A5A5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12306</TotalTime>
  <Words>1155</Words>
  <Application>Microsoft Office PowerPoint</Application>
  <PresentationFormat>화면 슬라이드 쇼(4:3)</PresentationFormat>
  <Paragraphs>148</Paragraphs>
  <Slides>23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맑은 고딕</vt:lpstr>
      <vt:lpstr>Arial</vt:lpstr>
      <vt:lpstr>Calibri</vt:lpstr>
      <vt:lpstr>Franklin Gothic Heavy</vt:lpstr>
      <vt:lpstr>Times New Roman</vt:lpstr>
      <vt:lpstr>Verdana</vt:lpstr>
      <vt:lpstr>Wingdings</vt:lpstr>
      <vt:lpstr>1</vt:lpstr>
      <vt:lpstr>Image</vt:lpstr>
      <vt:lpstr>SUSTAINABILITY</vt:lpstr>
      <vt:lpstr>CORPORATE SOCIAL RESPONSIBILITY (CSR)</vt:lpstr>
      <vt:lpstr>Stakeholders</vt:lpstr>
      <vt:lpstr>CSR Pyramid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건국대학교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엄기룡</dc:creator>
  <cp:lastModifiedBy>김광수</cp:lastModifiedBy>
  <cp:revision>844</cp:revision>
  <dcterms:created xsi:type="dcterms:W3CDTF">2007-10-09T12:42:30Z</dcterms:created>
  <dcterms:modified xsi:type="dcterms:W3CDTF">2025-09-04T05:34:14Z</dcterms:modified>
</cp:coreProperties>
</file>