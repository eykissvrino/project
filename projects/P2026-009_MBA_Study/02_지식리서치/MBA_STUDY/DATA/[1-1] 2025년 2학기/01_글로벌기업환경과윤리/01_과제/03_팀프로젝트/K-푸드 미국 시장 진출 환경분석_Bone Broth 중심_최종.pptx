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8" r:id="rId3"/>
    <p:sldId id="308" r:id="rId4"/>
    <p:sldId id="257" r:id="rId5"/>
    <p:sldId id="307" r:id="rId6"/>
    <p:sldId id="259" r:id="rId7"/>
    <p:sldId id="302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303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304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305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3" r:id="rId44"/>
    <p:sldId id="294" r:id="rId45"/>
    <p:sldId id="295" r:id="rId46"/>
    <p:sldId id="296" r:id="rId47"/>
    <p:sldId id="306" r:id="rId48"/>
    <p:sldId id="299" r:id="rId49"/>
    <p:sldId id="300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EF337A-18DC-4024-A7D4-ABA9CF9FC603}" v="64" dt="2025-12-16T02:57:41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42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0BC1CC68-5FB1-45E5-A6E2-A4614C9CFE72}"/>
    <pc:docChg chg="undo custSel addSld modSld sldOrd modMainMaster">
      <pc:chgData name="석주 이" userId="b6553f64e91d015d" providerId="LiveId" clId="{0BC1CC68-5FB1-45E5-A6E2-A4614C9CFE72}" dt="2025-12-16T03:10:19.009" v="358" actId="403"/>
      <pc:docMkLst>
        <pc:docMk/>
      </pc:docMkLst>
      <pc:sldChg chg="delSp modSp mod">
        <pc:chgData name="석주 이" userId="b6553f64e91d015d" providerId="LiveId" clId="{0BC1CC68-5FB1-45E5-A6E2-A4614C9CFE72}" dt="2025-12-16T02:32:21.170" v="182" actId="478"/>
        <pc:sldMkLst>
          <pc:docMk/>
          <pc:sldMk cId="0" sldId="256"/>
        </pc:sldMkLst>
        <pc:spChg chg="del">
          <ac:chgData name="석주 이" userId="b6553f64e91d015d" providerId="LiveId" clId="{0BC1CC68-5FB1-45E5-A6E2-A4614C9CFE72}" dt="2025-12-16T02:32:21.170" v="182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석주 이" userId="b6553f64e91d015d" providerId="LiveId" clId="{0BC1CC68-5FB1-45E5-A6E2-A4614C9CFE72}" dt="2025-12-16T02:32:21.170" v="182" actId="478"/>
          <ac:spMkLst>
            <pc:docMk/>
            <pc:sldMk cId="0" sldId="256"/>
            <ac:spMk id="20" creationId="{00000000-0000-0000-0000-000000000000}"/>
          </ac:spMkLst>
        </pc:spChg>
        <pc:picChg chg="mod">
          <ac:chgData name="석주 이" userId="b6553f64e91d015d" providerId="LiveId" clId="{0BC1CC68-5FB1-45E5-A6E2-A4614C9CFE72}" dt="2025-12-16T02:32:18.431" v="181" actId="1076"/>
          <ac:picMkLst>
            <pc:docMk/>
            <pc:sldMk cId="0" sldId="256"/>
            <ac:picMk id="3" creationId="{00000000-0000-0000-0000-000000000000}"/>
          </ac:picMkLst>
        </pc:picChg>
      </pc:sldChg>
      <pc:sldChg chg="addSp modSp mod">
        <pc:chgData name="석주 이" userId="b6553f64e91d015d" providerId="LiveId" clId="{0BC1CC68-5FB1-45E5-A6E2-A4614C9CFE72}" dt="2025-12-16T02:52:57.188" v="312"/>
        <pc:sldMkLst>
          <pc:docMk/>
          <pc:sldMk cId="0" sldId="257"/>
        </pc:sldMkLst>
        <pc:spChg chg="mod">
          <ac:chgData name="석주 이" userId="b6553f64e91d015d" providerId="LiveId" clId="{0BC1CC68-5FB1-45E5-A6E2-A4614C9CFE72}" dt="2025-12-16T01:29:04.561" v="49" actId="948"/>
          <ac:spMkLst>
            <pc:docMk/>
            <pc:sldMk cId="0" sldId="257"/>
            <ac:spMk id="2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04.561" v="49" actId="948"/>
          <ac:spMkLst>
            <pc:docMk/>
            <pc:sldMk cId="0" sldId="257"/>
            <ac:spMk id="5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04.561" v="49" actId="94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26.157" v="57" actId="103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26.157" v="57" actId="103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26.157" v="57" actId="103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26.157" v="57" actId="103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04.561" v="49" actId="948"/>
          <ac:spMkLst>
            <pc:docMk/>
            <pc:sldMk cId="0" sldId="257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04.561" v="49" actId="948"/>
          <ac:spMkLst>
            <pc:docMk/>
            <pc:sldMk cId="0" sldId="257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11.623" v="51" actId="14100"/>
          <ac:spMkLst>
            <pc:docMk/>
            <pc:sldMk cId="0" sldId="257"/>
            <ac:spMk id="30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11.623" v="51" actId="14100"/>
          <ac:spMkLst>
            <pc:docMk/>
            <pc:sldMk cId="0" sldId="257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11.623" v="51" actId="14100"/>
          <ac:spMkLst>
            <pc:docMk/>
            <pc:sldMk cId="0" sldId="257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04.561" v="49" actId="948"/>
          <ac:spMkLst>
            <pc:docMk/>
            <pc:sldMk cId="0" sldId="257"/>
            <ac:spMk id="33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07.386" v="50" actId="14100"/>
          <ac:spMkLst>
            <pc:docMk/>
            <pc:sldMk cId="0" sldId="257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20.141" v="53" actId="14100"/>
          <ac:spMkLst>
            <pc:docMk/>
            <pc:sldMk cId="0" sldId="257"/>
            <ac:spMk id="52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20.141" v="53" actId="14100"/>
          <ac:spMkLst>
            <pc:docMk/>
            <pc:sldMk cId="0" sldId="257"/>
            <ac:spMk id="56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04.561" v="49" actId="948"/>
          <ac:spMkLst>
            <pc:docMk/>
            <pc:sldMk cId="0" sldId="257"/>
            <ac:spMk id="58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20.141" v="53" actId="14100"/>
          <ac:spMkLst>
            <pc:docMk/>
            <pc:sldMk cId="0" sldId="257"/>
            <ac:spMk id="60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9:04.561" v="49" actId="948"/>
          <ac:spMkLst>
            <pc:docMk/>
            <pc:sldMk cId="0" sldId="257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3:14.968" v="197" actId="6549"/>
          <ac:spMkLst>
            <pc:docMk/>
            <pc:sldMk cId="0" sldId="257"/>
            <ac:spMk id="64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2:57.188" v="312"/>
          <ac:spMkLst>
            <pc:docMk/>
            <pc:sldMk cId="0" sldId="257"/>
            <ac:spMk id="65" creationId="{EE1DD8B3-5B1B-9A6E-EC1E-8F21FE4FC72F}"/>
          </ac:spMkLst>
        </pc:spChg>
      </pc:sldChg>
      <pc:sldChg chg="addSp delSp modSp mod ord">
        <pc:chgData name="석주 이" userId="b6553f64e91d015d" providerId="LiveId" clId="{0BC1CC68-5FB1-45E5-A6E2-A4614C9CFE72}" dt="2025-12-16T02:52:52.837" v="311" actId="1076"/>
        <pc:sldMkLst>
          <pc:docMk/>
          <pc:sldMk cId="0" sldId="258"/>
        </pc:sldMkLst>
        <pc:spChg chg="mod">
          <ac:chgData name="석주 이" userId="b6553f64e91d015d" providerId="LiveId" clId="{0BC1CC68-5FB1-45E5-A6E2-A4614C9CFE72}" dt="2025-12-16T01:28:19.860" v="42" actId="108"/>
          <ac:spMkLst>
            <pc:docMk/>
            <pc:sldMk cId="0" sldId="258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8:25.826" v="44" actId="10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2:54.686" v="195" actId="14100"/>
          <ac:spMkLst>
            <pc:docMk/>
            <pc:sldMk cId="0" sldId="258"/>
            <ac:spMk id="25" creationId="{00000000-0000-0000-0000-000000000000}"/>
          </ac:spMkLst>
        </pc:spChg>
        <pc:spChg chg="del">
          <ac:chgData name="석주 이" userId="b6553f64e91d015d" providerId="LiveId" clId="{0BC1CC68-5FB1-45E5-A6E2-A4614C9CFE72}" dt="2025-12-16T02:51:25.551" v="306" actId="478"/>
          <ac:spMkLst>
            <pc:docMk/>
            <pc:sldMk cId="0" sldId="258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8:22.561" v="43" actId="108"/>
          <ac:spMkLst>
            <pc:docMk/>
            <pc:sldMk cId="0" sldId="258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5-12-16T01:28:06.936" v="36" actId="6549"/>
          <ac:spMkLst>
            <pc:docMk/>
            <pc:sldMk cId="0" sldId="258"/>
            <ac:spMk id="29" creationId="{00000000-0000-0000-0000-000000000000}"/>
          </ac:spMkLst>
        </pc:spChg>
        <pc:spChg chg="mod">
          <ac:chgData name="석주 이" userId="b6553f64e91d015d" providerId="LiveId" clId="{0BC1CC68-5FB1-45E5-A6E2-A4614C9CFE72}" dt="2025-12-16T02:47:44.573" v="244" actId="20577"/>
          <ac:spMkLst>
            <pc:docMk/>
            <pc:sldMk cId="0" sldId="258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5-12-16T02:48:13.397" v="248" actId="20577"/>
          <ac:spMkLst>
            <pc:docMk/>
            <pc:sldMk cId="0" sldId="258"/>
            <ac:spMk id="49" creationId="{00000000-0000-0000-0000-000000000000}"/>
          </ac:spMkLst>
        </pc:spChg>
        <pc:spChg chg="mod">
          <ac:chgData name="석주 이" userId="b6553f64e91d015d" providerId="LiveId" clId="{0BC1CC68-5FB1-45E5-A6E2-A4614C9CFE72}" dt="2025-12-16T02:48:17.029" v="250" actId="20577"/>
          <ac:spMkLst>
            <pc:docMk/>
            <pc:sldMk cId="0" sldId="258"/>
            <ac:spMk id="53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2:52.837" v="311" actId="1076"/>
          <ac:spMkLst>
            <pc:docMk/>
            <pc:sldMk cId="0" sldId="258"/>
            <ac:spMk id="55" creationId="{4388CBE5-7276-94CF-EFEC-40BD3A83A618}"/>
          </ac:spMkLst>
        </pc:spChg>
      </pc:sldChg>
      <pc:sldChg chg="addSp delSp modSp mod">
        <pc:chgData name="석주 이" userId="b6553f64e91d015d" providerId="LiveId" clId="{0BC1CC68-5FB1-45E5-A6E2-A4614C9CFE72}" dt="2025-12-16T02:52:58.902" v="313"/>
        <pc:sldMkLst>
          <pc:docMk/>
          <pc:sldMk cId="0" sldId="259"/>
        </pc:sldMkLst>
        <pc:spChg chg="add mod">
          <ac:chgData name="석주 이" userId="b6553f64e91d015d" providerId="LiveId" clId="{0BC1CC68-5FB1-45E5-A6E2-A4614C9CFE72}" dt="2025-12-16T02:52:58.902" v="313"/>
          <ac:spMkLst>
            <pc:docMk/>
            <pc:sldMk cId="0" sldId="259"/>
            <ac:spMk id="11" creationId="{B42357A9-2058-A155-958F-5AD3B587A3BD}"/>
          </ac:spMkLst>
        </pc:spChg>
        <pc:spChg chg="del mod">
          <ac:chgData name="석주 이" userId="b6553f64e91d015d" providerId="LiveId" clId="{0BC1CC68-5FB1-45E5-A6E2-A4614C9CFE72}" dt="2025-12-16T02:33:23.757" v="198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석주 이" userId="b6553f64e91d015d" providerId="LiveId" clId="{0BC1CC68-5FB1-45E5-A6E2-A4614C9CFE72}" dt="2025-12-16T02:51:22.908" v="305" actId="478"/>
          <ac:spMkLst>
            <pc:docMk/>
            <pc:sldMk cId="0" sldId="259"/>
            <ac:spMk id="17" creationId="{00000000-0000-0000-0000-000000000000}"/>
          </ac:spMkLst>
        </pc:spChg>
      </pc:sldChg>
      <pc:sldChg chg="addSp delSp modSp mod">
        <pc:chgData name="석주 이" userId="b6553f64e91d015d" providerId="LiveId" clId="{0BC1CC68-5FB1-45E5-A6E2-A4614C9CFE72}" dt="2025-12-16T02:53:00.060" v="314"/>
        <pc:sldMkLst>
          <pc:docMk/>
          <pc:sldMk cId="0" sldId="260"/>
        </pc:sldMkLst>
        <pc:spChg chg="del">
          <ac:chgData name="석주 이" userId="b6553f64e91d015d" providerId="LiveId" clId="{0BC1CC68-5FB1-45E5-A6E2-A4614C9CFE72}" dt="2025-12-16T02:08:01.664" v="158" actId="478"/>
          <ac:spMkLst>
            <pc:docMk/>
            <pc:sldMk cId="0" sldId="260"/>
            <ac:spMk id="10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0.060" v="314"/>
          <ac:spMkLst>
            <pc:docMk/>
            <pc:sldMk cId="0" sldId="260"/>
            <ac:spMk id="10" creationId="{ECCD45D7-86E2-8127-BACF-0365E6251C48}"/>
          </ac:spMkLst>
        </pc:spChg>
        <pc:spChg chg="mod">
          <ac:chgData name="석주 이" userId="b6553f64e91d015d" providerId="LiveId" clId="{0BC1CC68-5FB1-45E5-A6E2-A4614C9CFE72}" dt="2025-12-16T01:44:39.291" v="133" actId="14100"/>
          <ac:spMkLst>
            <pc:docMk/>
            <pc:sldMk cId="0" sldId="260"/>
            <ac:spMk id="41" creationId="{00000000-0000-0000-0000-000000000000}"/>
          </ac:spMkLst>
        </pc:spChg>
        <pc:spChg chg="del">
          <ac:chgData name="석주 이" userId="b6553f64e91d015d" providerId="LiveId" clId="{0BC1CC68-5FB1-45E5-A6E2-A4614C9CFE72}" dt="2025-12-16T02:51:20.701" v="304" actId="478"/>
          <ac:spMkLst>
            <pc:docMk/>
            <pc:sldMk cId="0" sldId="260"/>
            <ac:spMk id="42" creationId="{00000000-0000-0000-0000-000000000000}"/>
          </ac:spMkLst>
        </pc:spChg>
        <pc:spChg chg="del">
          <ac:chgData name="석주 이" userId="b6553f64e91d015d" providerId="LiveId" clId="{0BC1CC68-5FB1-45E5-A6E2-A4614C9CFE72}" dt="2025-12-16T02:08:02.812" v="159" actId="478"/>
          <ac:spMkLst>
            <pc:docMk/>
            <pc:sldMk cId="0" sldId="260"/>
            <ac:spMk id="49" creationId="{00000000-0000-0000-0000-000000000000}"/>
          </ac:spMkLst>
        </pc:spChg>
      </pc:sldChg>
      <pc:sldChg chg="addSp delSp modSp mod">
        <pc:chgData name="석주 이" userId="b6553f64e91d015d" providerId="LiveId" clId="{0BC1CC68-5FB1-45E5-A6E2-A4614C9CFE72}" dt="2025-12-16T02:53:01.124" v="315"/>
        <pc:sldMkLst>
          <pc:docMk/>
          <pc:sldMk cId="0" sldId="261"/>
        </pc:sldMkLst>
        <pc:spChg chg="mod">
          <ac:chgData name="석주 이" userId="b6553f64e91d015d" providerId="LiveId" clId="{0BC1CC68-5FB1-45E5-A6E2-A4614C9CFE72}" dt="2025-12-16T01:44:41.702" v="134" actId="14100"/>
          <ac:spMkLst>
            <pc:docMk/>
            <pc:sldMk cId="0" sldId="261"/>
            <ac:spMk id="87" creationId="{00000000-0000-0000-0000-000000000000}"/>
          </ac:spMkLst>
        </pc:spChg>
        <pc:spChg chg="del">
          <ac:chgData name="석주 이" userId="b6553f64e91d015d" providerId="LiveId" clId="{0BC1CC68-5FB1-45E5-A6E2-A4614C9CFE72}" dt="2025-12-16T02:51:16.688" v="303" actId="478"/>
          <ac:spMkLst>
            <pc:docMk/>
            <pc:sldMk cId="0" sldId="261"/>
            <ac:spMk id="88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1.124" v="315"/>
          <ac:spMkLst>
            <pc:docMk/>
            <pc:sldMk cId="0" sldId="261"/>
            <ac:spMk id="90" creationId="{BF57B26C-EA75-3F94-DD56-58D7F3968F82}"/>
          </ac:spMkLst>
        </pc:spChg>
      </pc:sldChg>
      <pc:sldChg chg="addSp delSp modSp mod">
        <pc:chgData name="석주 이" userId="b6553f64e91d015d" providerId="LiveId" clId="{0BC1CC68-5FB1-45E5-A6E2-A4614C9CFE72}" dt="2025-12-16T02:53:02.029" v="316"/>
        <pc:sldMkLst>
          <pc:docMk/>
          <pc:sldMk cId="0" sldId="262"/>
        </pc:sldMkLst>
        <pc:spChg chg="mod">
          <ac:chgData name="석주 이" userId="b6553f64e91d015d" providerId="LiveId" clId="{0BC1CC68-5FB1-45E5-A6E2-A4614C9CFE72}" dt="2025-12-16T01:44:43.887" v="135" actId="14100"/>
          <ac:spMkLst>
            <pc:docMk/>
            <pc:sldMk cId="0" sldId="262"/>
            <ac:spMk id="53" creationId="{00000000-0000-0000-0000-000000000000}"/>
          </ac:spMkLst>
        </pc:spChg>
        <pc:spChg chg="del">
          <ac:chgData name="석주 이" userId="b6553f64e91d015d" providerId="LiveId" clId="{0BC1CC68-5FB1-45E5-A6E2-A4614C9CFE72}" dt="2025-12-16T02:50:51.514" v="302" actId="478"/>
          <ac:spMkLst>
            <pc:docMk/>
            <pc:sldMk cId="0" sldId="262"/>
            <ac:spMk id="54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2.029" v="316"/>
          <ac:spMkLst>
            <pc:docMk/>
            <pc:sldMk cId="0" sldId="262"/>
            <ac:spMk id="56" creationId="{1CDA3FC1-870B-4B94-67C4-E56CEE5A62D7}"/>
          </ac:spMkLst>
        </pc:spChg>
      </pc:sldChg>
      <pc:sldChg chg="addSp delSp modSp mod">
        <pc:chgData name="석주 이" userId="b6553f64e91d015d" providerId="LiveId" clId="{0BC1CC68-5FB1-45E5-A6E2-A4614C9CFE72}" dt="2025-12-16T02:53:02.639" v="317"/>
        <pc:sldMkLst>
          <pc:docMk/>
          <pc:sldMk cId="0" sldId="263"/>
        </pc:sldMkLst>
        <pc:spChg chg="mod">
          <ac:chgData name="석주 이" userId="b6553f64e91d015d" providerId="LiveId" clId="{0BC1CC68-5FB1-45E5-A6E2-A4614C9CFE72}" dt="2025-12-16T01:32:20.655" v="66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5-12-16T01:44:47.226" v="136" actId="14100"/>
          <ac:spMkLst>
            <pc:docMk/>
            <pc:sldMk cId="0" sldId="263"/>
            <ac:spMk id="62" creationId="{00000000-0000-0000-0000-000000000000}"/>
          </ac:spMkLst>
        </pc:spChg>
        <pc:spChg chg="del">
          <ac:chgData name="석주 이" userId="b6553f64e91d015d" providerId="LiveId" clId="{0BC1CC68-5FB1-45E5-A6E2-A4614C9CFE72}" dt="2025-12-16T02:50:49.051" v="301" actId="478"/>
          <ac:spMkLst>
            <pc:docMk/>
            <pc:sldMk cId="0" sldId="263"/>
            <ac:spMk id="63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2.639" v="317"/>
          <ac:spMkLst>
            <pc:docMk/>
            <pc:sldMk cId="0" sldId="263"/>
            <ac:spMk id="65" creationId="{81AD6156-7CEE-8FAF-AE85-9B8CD0A9E1B2}"/>
          </ac:spMkLst>
        </pc:spChg>
      </pc:sldChg>
      <pc:sldChg chg="addSp delSp modSp mod">
        <pc:chgData name="석주 이" userId="b6553f64e91d015d" providerId="LiveId" clId="{0BC1CC68-5FB1-45E5-A6E2-A4614C9CFE72}" dt="2025-12-16T02:53:03.186" v="318"/>
        <pc:sldMkLst>
          <pc:docMk/>
          <pc:sldMk cId="0" sldId="264"/>
        </pc:sldMkLst>
        <pc:spChg chg="del">
          <ac:chgData name="석주 이" userId="b6553f64e91d015d" providerId="LiveId" clId="{0BC1CC68-5FB1-45E5-A6E2-A4614C9CFE72}" dt="2025-12-16T02:50:47.087" v="300" actId="478"/>
          <ac:spMkLst>
            <pc:docMk/>
            <pc:sldMk cId="0" sldId="264"/>
            <ac:spMk id="64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3.186" v="318"/>
          <ac:spMkLst>
            <pc:docMk/>
            <pc:sldMk cId="0" sldId="264"/>
            <ac:spMk id="66" creationId="{3D27854B-7664-0096-7928-4784263DF836}"/>
          </ac:spMkLst>
        </pc:spChg>
      </pc:sldChg>
      <pc:sldChg chg="addSp delSp modSp mod">
        <pc:chgData name="석주 이" userId="b6553f64e91d015d" providerId="LiveId" clId="{0BC1CC68-5FB1-45E5-A6E2-A4614C9CFE72}" dt="2025-12-16T02:53:03.755" v="319"/>
        <pc:sldMkLst>
          <pc:docMk/>
          <pc:sldMk cId="0" sldId="265"/>
        </pc:sldMkLst>
        <pc:spChg chg="mod">
          <ac:chgData name="석주 이" userId="b6553f64e91d015d" providerId="LiveId" clId="{0BC1CC68-5FB1-45E5-A6E2-A4614C9CFE72}" dt="2025-12-16T01:32:23.482" v="67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5-12-16T01:45:09.133" v="143"/>
          <ac:spMkLst>
            <pc:docMk/>
            <pc:sldMk cId="0" sldId="265"/>
            <ac:spMk id="49" creationId="{00000000-0000-0000-0000-000000000000}"/>
          </ac:spMkLst>
        </pc:spChg>
        <pc:spChg chg="del">
          <ac:chgData name="석주 이" userId="b6553f64e91d015d" providerId="LiveId" clId="{0BC1CC68-5FB1-45E5-A6E2-A4614C9CFE72}" dt="2025-12-16T02:50:45.467" v="299" actId="478"/>
          <ac:spMkLst>
            <pc:docMk/>
            <pc:sldMk cId="0" sldId="265"/>
            <ac:spMk id="50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3.755" v="319"/>
          <ac:spMkLst>
            <pc:docMk/>
            <pc:sldMk cId="0" sldId="265"/>
            <ac:spMk id="52" creationId="{35802013-F47A-1083-CAA3-49DC3554D29E}"/>
          </ac:spMkLst>
        </pc:spChg>
      </pc:sldChg>
      <pc:sldChg chg="addSp delSp modSp mod">
        <pc:chgData name="석주 이" userId="b6553f64e91d015d" providerId="LiveId" clId="{0BC1CC68-5FB1-45E5-A6E2-A4614C9CFE72}" dt="2025-12-16T02:53:04.368" v="320"/>
        <pc:sldMkLst>
          <pc:docMk/>
          <pc:sldMk cId="0" sldId="266"/>
        </pc:sldMkLst>
        <pc:spChg chg="mod">
          <ac:chgData name="석주 이" userId="b6553f64e91d015d" providerId="LiveId" clId="{0BC1CC68-5FB1-45E5-A6E2-A4614C9CFE72}" dt="2025-12-16T01:32:28.482" v="68" actId="20577"/>
          <ac:spMkLst>
            <pc:docMk/>
            <pc:sldMk cId="0" sldId="266"/>
            <ac:spMk id="7" creationId="{00000000-0000-0000-0000-000000000000}"/>
          </ac:spMkLst>
        </pc:spChg>
        <pc:spChg chg="del">
          <ac:chgData name="석주 이" userId="b6553f64e91d015d" providerId="LiveId" clId="{0BC1CC68-5FB1-45E5-A6E2-A4614C9CFE72}" dt="2025-12-16T02:50:43.641" v="298" actId="478"/>
          <ac:spMkLst>
            <pc:docMk/>
            <pc:sldMk cId="0" sldId="266"/>
            <ac:spMk id="51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4.368" v="320"/>
          <ac:spMkLst>
            <pc:docMk/>
            <pc:sldMk cId="0" sldId="266"/>
            <ac:spMk id="53" creationId="{17D140A6-EC64-7D10-2EBC-1D9E8CB340EA}"/>
          </ac:spMkLst>
        </pc:spChg>
      </pc:sldChg>
      <pc:sldChg chg="addSp delSp modSp mod">
        <pc:chgData name="석주 이" userId="b6553f64e91d015d" providerId="LiveId" clId="{0BC1CC68-5FB1-45E5-A6E2-A4614C9CFE72}" dt="2025-12-16T02:53:06.076" v="322"/>
        <pc:sldMkLst>
          <pc:docMk/>
          <pc:sldMk cId="0" sldId="267"/>
        </pc:sldMkLst>
        <pc:spChg chg="mod">
          <ac:chgData name="석주 이" userId="b6553f64e91d015d" providerId="LiveId" clId="{0BC1CC68-5FB1-45E5-A6E2-A4614C9CFE72}" dt="2025-12-16T01:32:39.639" v="69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5-12-16T01:50:25.890" v="145" actId="14100"/>
          <ac:spMkLst>
            <pc:docMk/>
            <pc:sldMk cId="0" sldId="267"/>
            <ac:spMk id="15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6.076" v="322"/>
          <ac:spMkLst>
            <pc:docMk/>
            <pc:sldMk cId="0" sldId="267"/>
            <ac:spMk id="57" creationId="{A955B2FD-133E-2C3C-17EB-5B7FE68FC174}"/>
          </ac:spMkLst>
        </pc:spChg>
        <pc:spChg chg="del mod">
          <ac:chgData name="석주 이" userId="b6553f64e91d015d" providerId="LiveId" clId="{0BC1CC68-5FB1-45E5-A6E2-A4614C9CFE72}" dt="2025-12-16T01:50:38.895" v="147" actId="478"/>
          <ac:spMkLst>
            <pc:docMk/>
            <pc:sldMk cId="0" sldId="267"/>
            <ac:spMk id="60" creationId="{00000000-0000-0000-0000-000000000000}"/>
          </ac:spMkLst>
        </pc:spChg>
        <pc:spChg chg="del">
          <ac:chgData name="석주 이" userId="b6553f64e91d015d" providerId="LiveId" clId="{0BC1CC68-5FB1-45E5-A6E2-A4614C9CFE72}" dt="2025-12-16T01:50:40.223" v="148" actId="478"/>
          <ac:spMkLst>
            <pc:docMk/>
            <pc:sldMk cId="0" sldId="267"/>
            <ac:spMk id="61" creationId="{00000000-0000-0000-0000-000000000000}"/>
          </ac:spMkLst>
        </pc:spChg>
        <pc:spChg chg="del">
          <ac:chgData name="석주 이" userId="b6553f64e91d015d" providerId="LiveId" clId="{0BC1CC68-5FB1-45E5-A6E2-A4614C9CFE72}" dt="2025-12-16T02:50:38.188" v="296" actId="478"/>
          <ac:spMkLst>
            <pc:docMk/>
            <pc:sldMk cId="0" sldId="267"/>
            <ac:spMk id="62" creationId="{00000000-0000-0000-0000-000000000000}"/>
          </ac:spMkLst>
        </pc:spChg>
        <pc:spChg chg="del mod">
          <ac:chgData name="석주 이" userId="b6553f64e91d015d" providerId="LiveId" clId="{0BC1CC68-5FB1-45E5-A6E2-A4614C9CFE72}" dt="2025-12-16T02:33:36.531" v="199" actId="478"/>
          <ac:spMkLst>
            <pc:docMk/>
            <pc:sldMk cId="0" sldId="267"/>
            <ac:spMk id="64" creationId="{00000000-0000-0000-0000-000000000000}"/>
          </ac:spMkLst>
        </pc:spChg>
        <pc:spChg chg="del">
          <ac:chgData name="석주 이" userId="b6553f64e91d015d" providerId="LiveId" clId="{0BC1CC68-5FB1-45E5-A6E2-A4614C9CFE72}" dt="2025-12-16T02:50:39.592" v="297" actId="478"/>
          <ac:spMkLst>
            <pc:docMk/>
            <pc:sldMk cId="0" sldId="267"/>
            <ac:spMk id="65" creationId="{00000000-0000-0000-0000-000000000000}"/>
          </ac:spMkLst>
        </pc:spChg>
      </pc:sldChg>
      <pc:sldChg chg="addSp delSp modSp mod">
        <pc:chgData name="석주 이" userId="b6553f64e91d015d" providerId="LiveId" clId="{0BC1CC68-5FB1-45E5-A6E2-A4614C9CFE72}" dt="2025-12-16T02:53:06.670" v="323"/>
        <pc:sldMkLst>
          <pc:docMk/>
          <pc:sldMk cId="0" sldId="268"/>
        </pc:sldMkLst>
        <pc:spChg chg="del">
          <ac:chgData name="석주 이" userId="b6553f64e91d015d" providerId="LiveId" clId="{0BC1CC68-5FB1-45E5-A6E2-A4614C9CFE72}" dt="2025-12-16T02:50:36.125" v="295" actId="478"/>
          <ac:spMkLst>
            <pc:docMk/>
            <pc:sldMk cId="0" sldId="268"/>
            <ac:spMk id="62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6.670" v="323"/>
          <ac:spMkLst>
            <pc:docMk/>
            <pc:sldMk cId="0" sldId="268"/>
            <ac:spMk id="64" creationId="{E9576959-1648-304B-0593-59168F2E7CDE}"/>
          </ac:spMkLst>
        </pc:spChg>
      </pc:sldChg>
      <pc:sldChg chg="addSp delSp modSp mod">
        <pc:chgData name="석주 이" userId="b6553f64e91d015d" providerId="LiveId" clId="{0BC1CC68-5FB1-45E5-A6E2-A4614C9CFE72}" dt="2025-12-16T02:53:07.184" v="324"/>
        <pc:sldMkLst>
          <pc:docMk/>
          <pc:sldMk cId="0" sldId="269"/>
        </pc:sldMkLst>
        <pc:spChg chg="del">
          <ac:chgData name="석주 이" userId="b6553f64e91d015d" providerId="LiveId" clId="{0BC1CC68-5FB1-45E5-A6E2-A4614C9CFE72}" dt="2025-12-16T02:50:34.310" v="294" actId="478"/>
          <ac:spMkLst>
            <pc:docMk/>
            <pc:sldMk cId="0" sldId="269"/>
            <ac:spMk id="62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7.184" v="324"/>
          <ac:spMkLst>
            <pc:docMk/>
            <pc:sldMk cId="0" sldId="269"/>
            <ac:spMk id="64" creationId="{BA703F39-3B56-7400-0328-4FEA3067CA25}"/>
          </ac:spMkLst>
        </pc:spChg>
      </pc:sldChg>
      <pc:sldChg chg="addSp delSp modSp mod">
        <pc:chgData name="석주 이" userId="b6553f64e91d015d" providerId="LiveId" clId="{0BC1CC68-5FB1-45E5-A6E2-A4614C9CFE72}" dt="2025-12-16T02:53:07.800" v="325"/>
        <pc:sldMkLst>
          <pc:docMk/>
          <pc:sldMk cId="0" sldId="270"/>
        </pc:sldMkLst>
        <pc:spChg chg="mod">
          <ac:chgData name="석주 이" userId="b6553f64e91d015d" providerId="LiveId" clId="{0BC1CC68-5FB1-45E5-A6E2-A4614C9CFE72}" dt="2025-12-16T02:32:35.249" v="184" actId="14100"/>
          <ac:spMkLst>
            <pc:docMk/>
            <pc:sldMk cId="0" sldId="270"/>
            <ac:spMk id="61" creationId="{00000000-0000-0000-0000-000000000000}"/>
          </ac:spMkLst>
        </pc:spChg>
        <pc:spChg chg="del mod">
          <ac:chgData name="석주 이" userId="b6553f64e91d015d" providerId="LiveId" clId="{0BC1CC68-5FB1-45E5-A6E2-A4614C9CFE72}" dt="2025-12-16T02:50:31.560" v="293" actId="478"/>
          <ac:spMkLst>
            <pc:docMk/>
            <pc:sldMk cId="0" sldId="270"/>
            <ac:spMk id="62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7.800" v="325"/>
          <ac:spMkLst>
            <pc:docMk/>
            <pc:sldMk cId="0" sldId="270"/>
            <ac:spMk id="64" creationId="{13453CBD-04E0-C0CE-ED9F-A65D4987890C}"/>
          </ac:spMkLst>
        </pc:spChg>
      </pc:sldChg>
      <pc:sldChg chg="addSp delSp modSp mod">
        <pc:chgData name="석주 이" userId="b6553f64e91d015d" providerId="LiveId" clId="{0BC1CC68-5FB1-45E5-A6E2-A4614C9CFE72}" dt="2025-12-16T02:53:08.358" v="326"/>
        <pc:sldMkLst>
          <pc:docMk/>
          <pc:sldMk cId="0" sldId="271"/>
        </pc:sldMkLst>
        <pc:spChg chg="del">
          <ac:chgData name="석주 이" userId="b6553f64e91d015d" providerId="LiveId" clId="{0BC1CC68-5FB1-45E5-A6E2-A4614C9CFE72}" dt="2025-12-16T02:50:21.474" v="287" actId="478"/>
          <ac:spMkLst>
            <pc:docMk/>
            <pc:sldMk cId="0" sldId="271"/>
            <ac:spMk id="58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2:33.032" v="183" actId="14100"/>
          <ac:spMkLst>
            <pc:docMk/>
            <pc:sldMk cId="0" sldId="271"/>
            <ac:spMk id="60" creationId="{00000000-0000-0000-0000-000000000000}"/>
          </ac:spMkLst>
        </pc:spChg>
        <pc:spChg chg="del mod">
          <ac:chgData name="석주 이" userId="b6553f64e91d015d" providerId="LiveId" clId="{0BC1CC68-5FB1-45E5-A6E2-A4614C9CFE72}" dt="2025-12-16T02:50:26.708" v="291" actId="478"/>
          <ac:spMkLst>
            <pc:docMk/>
            <pc:sldMk cId="0" sldId="271"/>
            <ac:spMk id="61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8.358" v="326"/>
          <ac:spMkLst>
            <pc:docMk/>
            <pc:sldMk cId="0" sldId="271"/>
            <ac:spMk id="63" creationId="{FAF5BEB4-2BB8-9951-29F5-7E9CDFD34E3A}"/>
          </ac:spMkLst>
        </pc:spChg>
        <pc:grpChg chg="add del">
          <ac:chgData name="석주 이" userId="b6553f64e91d015d" providerId="LiveId" clId="{0BC1CC68-5FB1-45E5-A6E2-A4614C9CFE72}" dt="2025-12-16T02:50:24.352" v="290" actId="478"/>
          <ac:grpSpMkLst>
            <pc:docMk/>
            <pc:sldMk cId="0" sldId="271"/>
            <ac:grpSpMk id="62" creationId="{ED1FC1DD-A045-A21E-200F-5602221E9D32}"/>
          </ac:grpSpMkLst>
        </pc:grpChg>
      </pc:sldChg>
      <pc:sldChg chg="addSp delSp modSp mod">
        <pc:chgData name="석주 이" userId="b6553f64e91d015d" providerId="LiveId" clId="{0BC1CC68-5FB1-45E5-A6E2-A4614C9CFE72}" dt="2025-12-16T02:53:08.948" v="327"/>
        <pc:sldMkLst>
          <pc:docMk/>
          <pc:sldMk cId="0" sldId="272"/>
        </pc:sldMkLst>
        <pc:spChg chg="del">
          <ac:chgData name="석주 이" userId="b6553f64e91d015d" providerId="LiveId" clId="{0BC1CC68-5FB1-45E5-A6E2-A4614C9CFE72}" dt="2025-12-16T02:50:18.061" v="285" actId="478"/>
          <ac:spMkLst>
            <pc:docMk/>
            <pc:sldMk cId="0" sldId="272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3:44.561" v="200" actId="14100"/>
          <ac:spMkLst>
            <pc:docMk/>
            <pc:sldMk cId="0" sldId="272"/>
            <ac:spMk id="61" creationId="{00000000-0000-0000-0000-000000000000}"/>
          </ac:spMkLst>
        </pc:spChg>
        <pc:spChg chg="del mod">
          <ac:chgData name="석주 이" userId="b6553f64e91d015d" providerId="LiveId" clId="{0BC1CC68-5FB1-45E5-A6E2-A4614C9CFE72}" dt="2025-12-16T02:50:19.708" v="286" actId="478"/>
          <ac:spMkLst>
            <pc:docMk/>
            <pc:sldMk cId="0" sldId="272"/>
            <ac:spMk id="62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8.948" v="327"/>
          <ac:spMkLst>
            <pc:docMk/>
            <pc:sldMk cId="0" sldId="272"/>
            <ac:spMk id="64" creationId="{5E4B4527-CD7D-070E-1363-7F75B1024533}"/>
          </ac:spMkLst>
        </pc:spChg>
      </pc:sldChg>
      <pc:sldChg chg="addSp delSp modSp mod">
        <pc:chgData name="석주 이" userId="b6553f64e91d015d" providerId="LiveId" clId="{0BC1CC68-5FB1-45E5-A6E2-A4614C9CFE72}" dt="2025-12-16T02:53:09.527" v="328"/>
        <pc:sldMkLst>
          <pc:docMk/>
          <pc:sldMk cId="0" sldId="273"/>
        </pc:sldMkLst>
        <pc:spChg chg="mod">
          <ac:chgData name="석주 이" userId="b6553f64e91d015d" providerId="LiveId" clId="{0BC1CC68-5FB1-45E5-A6E2-A4614C9CFE72}" dt="2025-12-16T01:32:48.580" v="70" actId="20577"/>
          <ac:spMkLst>
            <pc:docMk/>
            <pc:sldMk cId="0" sldId="273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3:46.942" v="201" actId="14100"/>
          <ac:spMkLst>
            <pc:docMk/>
            <pc:sldMk cId="0" sldId="273"/>
            <ac:spMk id="61" creationId="{00000000-0000-0000-0000-000000000000}"/>
          </ac:spMkLst>
        </pc:spChg>
        <pc:spChg chg="del mod">
          <ac:chgData name="석주 이" userId="b6553f64e91d015d" providerId="LiveId" clId="{0BC1CC68-5FB1-45E5-A6E2-A4614C9CFE72}" dt="2025-12-16T02:50:15.992" v="283" actId="478"/>
          <ac:spMkLst>
            <pc:docMk/>
            <pc:sldMk cId="0" sldId="273"/>
            <ac:spMk id="62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09.527" v="328"/>
          <ac:spMkLst>
            <pc:docMk/>
            <pc:sldMk cId="0" sldId="273"/>
            <ac:spMk id="64" creationId="{F9C5727C-6BBF-92E9-CF70-E950946EF72D}"/>
          </ac:spMkLst>
        </pc:spChg>
      </pc:sldChg>
      <pc:sldChg chg="addSp delSp modSp mod">
        <pc:chgData name="석주 이" userId="b6553f64e91d015d" providerId="LiveId" clId="{0BC1CC68-5FB1-45E5-A6E2-A4614C9CFE72}" dt="2025-12-16T02:53:10.101" v="329"/>
        <pc:sldMkLst>
          <pc:docMk/>
          <pc:sldMk cId="0" sldId="274"/>
        </pc:sldMkLst>
        <pc:spChg chg="mod">
          <ac:chgData name="석주 이" userId="b6553f64e91d015d" providerId="LiveId" clId="{0BC1CC68-5FB1-45E5-A6E2-A4614C9CFE72}" dt="2025-12-16T01:32:50.979" v="71" actId="20577"/>
          <ac:spMkLst>
            <pc:docMk/>
            <pc:sldMk cId="0" sldId="274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5-12-16T01:52:19.448" v="150" actId="1076"/>
          <ac:spMkLst>
            <pc:docMk/>
            <pc:sldMk cId="0" sldId="274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5-12-16T01:52:17.766" v="149" actId="1076"/>
          <ac:spMkLst>
            <pc:docMk/>
            <pc:sldMk cId="0" sldId="274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5-12-16T01:52:33.620" v="157" actId="1036"/>
          <ac:spMkLst>
            <pc:docMk/>
            <pc:sldMk cId="0" sldId="274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5-12-16T01:52:33.620" v="157" actId="1036"/>
          <ac:spMkLst>
            <pc:docMk/>
            <pc:sldMk cId="0" sldId="274"/>
            <ac:spMk id="77" creationId="{00000000-0000-0000-0000-000000000000}"/>
          </ac:spMkLst>
        </pc:spChg>
        <pc:spChg chg="del mod">
          <ac:chgData name="석주 이" userId="b6553f64e91d015d" providerId="LiveId" clId="{0BC1CC68-5FB1-45E5-A6E2-A4614C9CFE72}" dt="2025-12-16T02:50:13.760" v="281" actId="478"/>
          <ac:spMkLst>
            <pc:docMk/>
            <pc:sldMk cId="0" sldId="274"/>
            <ac:spMk id="92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0.101" v="329"/>
          <ac:spMkLst>
            <pc:docMk/>
            <pc:sldMk cId="0" sldId="274"/>
            <ac:spMk id="94" creationId="{D0ADFF4E-FE47-B1CF-5B5F-986CF781C332}"/>
          </ac:spMkLst>
        </pc:spChg>
      </pc:sldChg>
      <pc:sldChg chg="addSp delSp modSp mod">
        <pc:chgData name="석주 이" userId="b6553f64e91d015d" providerId="LiveId" clId="{0BC1CC68-5FB1-45E5-A6E2-A4614C9CFE72}" dt="2025-12-16T02:53:10.655" v="330"/>
        <pc:sldMkLst>
          <pc:docMk/>
          <pc:sldMk cId="0" sldId="275"/>
        </pc:sldMkLst>
        <pc:spChg chg="del mod">
          <ac:chgData name="석주 이" userId="b6553f64e91d015d" providerId="LiveId" clId="{0BC1CC68-5FB1-45E5-A6E2-A4614C9CFE72}" dt="2025-12-16T02:50:11.163" v="279" actId="478"/>
          <ac:spMkLst>
            <pc:docMk/>
            <pc:sldMk cId="0" sldId="275"/>
            <ac:spMk id="51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0.655" v="330"/>
          <ac:spMkLst>
            <pc:docMk/>
            <pc:sldMk cId="0" sldId="275"/>
            <ac:spMk id="53" creationId="{1857C26B-CDB5-26B6-DD1A-91A172C50F6F}"/>
          </ac:spMkLst>
        </pc:spChg>
      </pc:sldChg>
      <pc:sldChg chg="addSp delSp modSp mod">
        <pc:chgData name="석주 이" userId="b6553f64e91d015d" providerId="LiveId" clId="{0BC1CC68-5FB1-45E5-A6E2-A4614C9CFE72}" dt="2025-12-16T02:53:12.514" v="332"/>
        <pc:sldMkLst>
          <pc:docMk/>
          <pc:sldMk cId="0" sldId="276"/>
        </pc:sldMkLst>
        <pc:spChg chg="mod">
          <ac:chgData name="석주 이" userId="b6553f64e91d015d" providerId="LiveId" clId="{0BC1CC68-5FB1-45E5-A6E2-A4614C9CFE72}" dt="2025-12-16T01:32:08.296" v="65" actId="20577"/>
          <ac:spMkLst>
            <pc:docMk/>
            <pc:sldMk cId="0" sldId="276"/>
            <ac:spMk id="7" creationId="{00000000-0000-0000-0000-000000000000}"/>
          </ac:spMkLst>
        </pc:spChg>
        <pc:spChg chg="del mod">
          <ac:chgData name="석주 이" userId="b6553f64e91d015d" providerId="LiveId" clId="{0BC1CC68-5FB1-45E5-A6E2-A4614C9CFE72}" dt="2025-12-16T02:50:08.438" v="277" actId="478"/>
          <ac:spMkLst>
            <pc:docMk/>
            <pc:sldMk cId="0" sldId="276"/>
            <ac:spMk id="73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2.514" v="332"/>
          <ac:spMkLst>
            <pc:docMk/>
            <pc:sldMk cId="0" sldId="276"/>
            <ac:spMk id="83" creationId="{8B7C7785-0451-1056-6AA1-E2B1F6BC920F}"/>
          </ac:spMkLst>
        </pc:spChg>
      </pc:sldChg>
      <pc:sldChg chg="addSp delSp modSp mod">
        <pc:chgData name="석주 이" userId="b6553f64e91d015d" providerId="LiveId" clId="{0BC1CC68-5FB1-45E5-A6E2-A4614C9CFE72}" dt="2025-12-16T02:53:13.095" v="333"/>
        <pc:sldMkLst>
          <pc:docMk/>
          <pc:sldMk cId="0" sldId="277"/>
        </pc:sldMkLst>
        <pc:spChg chg="del">
          <ac:chgData name="석주 이" userId="b6553f64e91d015d" providerId="LiveId" clId="{0BC1CC68-5FB1-45E5-A6E2-A4614C9CFE72}" dt="2025-12-16T02:30:38.888" v="160" actId="478"/>
          <ac:spMkLst>
            <pc:docMk/>
            <pc:sldMk cId="0" sldId="277"/>
            <ac:spMk id="10" creationId="{00000000-0000-0000-0000-000000000000}"/>
          </ac:spMkLst>
        </pc:spChg>
        <pc:spChg chg="mod ord">
          <ac:chgData name="석주 이" userId="b6553f64e91d015d" providerId="LiveId" clId="{0BC1CC68-5FB1-45E5-A6E2-A4614C9CFE72}" dt="2025-12-16T02:30:59.117" v="175" actId="1076"/>
          <ac:spMkLst>
            <pc:docMk/>
            <pc:sldMk cId="0" sldId="277"/>
            <ac:spMk id="23" creationId="{00000000-0000-0000-0000-000000000000}"/>
          </ac:spMkLst>
        </pc:spChg>
        <pc:spChg chg="del mod">
          <ac:chgData name="석주 이" userId="b6553f64e91d015d" providerId="LiveId" clId="{0BC1CC68-5FB1-45E5-A6E2-A4614C9CFE72}" dt="2025-12-16T02:50:04.931" v="275" actId="478"/>
          <ac:spMkLst>
            <pc:docMk/>
            <pc:sldMk cId="0" sldId="277"/>
            <ac:spMk id="40" creationId="{00000000-0000-0000-0000-000000000000}"/>
          </ac:spMkLst>
        </pc:spChg>
        <pc:spChg chg="del">
          <ac:chgData name="석주 이" userId="b6553f64e91d015d" providerId="LiveId" clId="{0BC1CC68-5FB1-45E5-A6E2-A4614C9CFE72}" dt="2025-12-16T02:30:40.140" v="161" actId="478"/>
          <ac:spMkLst>
            <pc:docMk/>
            <pc:sldMk cId="0" sldId="277"/>
            <ac:spMk id="47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3.095" v="333"/>
          <ac:spMkLst>
            <pc:docMk/>
            <pc:sldMk cId="0" sldId="277"/>
            <ac:spMk id="49" creationId="{F70E20F5-77B7-926D-4E1D-BA91C21A7C08}"/>
          </ac:spMkLst>
        </pc:spChg>
        <pc:grpChg chg="mod">
          <ac:chgData name="석주 이" userId="b6553f64e91d015d" providerId="LiveId" clId="{0BC1CC68-5FB1-45E5-A6E2-A4614C9CFE72}" dt="2025-12-16T02:30:57.233" v="173" actId="1076"/>
          <ac:grpSpMkLst>
            <pc:docMk/>
            <pc:sldMk cId="0" sldId="277"/>
            <ac:grpSpMk id="48" creationId="{68D69BB4-34FE-A0A2-D42E-A8D21F006EA1}"/>
          </ac:grpSpMkLst>
        </pc:grpChg>
      </pc:sldChg>
      <pc:sldChg chg="addSp delSp modSp mod">
        <pc:chgData name="석주 이" userId="b6553f64e91d015d" providerId="LiveId" clId="{0BC1CC68-5FB1-45E5-A6E2-A4614C9CFE72}" dt="2025-12-16T02:53:13.747" v="334"/>
        <pc:sldMkLst>
          <pc:docMk/>
          <pc:sldMk cId="0" sldId="278"/>
        </pc:sldMkLst>
        <pc:spChg chg="del mod">
          <ac:chgData name="석주 이" userId="b6553f64e91d015d" providerId="LiveId" clId="{0BC1CC68-5FB1-45E5-A6E2-A4614C9CFE72}" dt="2025-12-16T02:50:02.765" v="273" actId="478"/>
          <ac:spMkLst>
            <pc:docMk/>
            <pc:sldMk cId="0" sldId="278"/>
            <ac:spMk id="12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4:24.264" v="205" actId="165"/>
          <ac:spMkLst>
            <pc:docMk/>
            <pc:sldMk cId="0" sldId="278"/>
            <ac:spMk id="24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4:24.264" v="205" actId="165"/>
          <ac:spMkLst>
            <pc:docMk/>
            <pc:sldMk cId="0" sldId="278"/>
            <ac:spMk id="30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4:24.264" v="205" actId="165"/>
          <ac:spMkLst>
            <pc:docMk/>
            <pc:sldMk cId="0" sldId="278"/>
            <ac:spMk id="35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4:24.264" v="205" actId="165"/>
          <ac:spMkLst>
            <pc:docMk/>
            <pc:sldMk cId="0" sldId="278"/>
            <ac:spMk id="37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4:24.264" v="205" actId="165"/>
          <ac:spMkLst>
            <pc:docMk/>
            <pc:sldMk cId="0" sldId="278"/>
            <ac:spMk id="38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4:24.264" v="205" actId="165"/>
          <ac:spMkLst>
            <pc:docMk/>
            <pc:sldMk cId="0" sldId="278"/>
            <ac:spMk id="39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4:24.264" v="205" actId="165"/>
          <ac:spMkLst>
            <pc:docMk/>
            <pc:sldMk cId="0" sldId="278"/>
            <ac:spMk id="46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4:24.264" v="205" actId="165"/>
          <ac:spMkLst>
            <pc:docMk/>
            <pc:sldMk cId="0" sldId="278"/>
            <ac:spMk id="47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4:24.264" v="205" actId="165"/>
          <ac:spMkLst>
            <pc:docMk/>
            <pc:sldMk cId="0" sldId="278"/>
            <ac:spMk id="48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4:24.264" v="205" actId="165"/>
          <ac:spMkLst>
            <pc:docMk/>
            <pc:sldMk cId="0" sldId="278"/>
            <ac:spMk id="53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3.747" v="334"/>
          <ac:spMkLst>
            <pc:docMk/>
            <pc:sldMk cId="0" sldId="278"/>
            <ac:spMk id="76" creationId="{4AFC4D72-BA54-F6E8-8972-F40B327925C8}"/>
          </ac:spMkLst>
        </pc:spChg>
        <pc:picChg chg="del">
          <ac:chgData name="석주 이" userId="b6553f64e91d015d" providerId="LiveId" clId="{0BC1CC68-5FB1-45E5-A6E2-A4614C9CFE72}" dt="2025-12-16T02:34:29.061" v="208" actId="478"/>
          <ac:picMkLst>
            <pc:docMk/>
            <pc:sldMk cId="0" sldId="278"/>
            <ac:picMk id="13" creationId="{00000000-0000-0000-0000-000000000000}"/>
          </ac:picMkLst>
        </pc:picChg>
        <pc:picChg chg="del mod">
          <ac:chgData name="석주 이" userId="b6553f64e91d015d" providerId="LiveId" clId="{0BC1CC68-5FB1-45E5-A6E2-A4614C9CFE72}" dt="2025-12-16T02:34:28.375" v="207" actId="478"/>
          <ac:picMkLst>
            <pc:docMk/>
            <pc:sldMk cId="0" sldId="278"/>
            <ac:picMk id="15" creationId="{00000000-0000-0000-0000-000000000000}"/>
          </ac:picMkLst>
        </pc:picChg>
        <pc:picChg chg="del">
          <ac:chgData name="석주 이" userId="b6553f64e91d015d" providerId="LiveId" clId="{0BC1CC68-5FB1-45E5-A6E2-A4614C9CFE72}" dt="2025-12-16T02:34:30.218" v="209" actId="478"/>
          <ac:picMkLst>
            <pc:docMk/>
            <pc:sldMk cId="0" sldId="278"/>
            <ac:picMk id="16" creationId="{00000000-0000-0000-0000-000000000000}"/>
          </ac:picMkLst>
        </pc:picChg>
        <pc:cxnChg chg="add mod">
          <ac:chgData name="석주 이" userId="b6553f64e91d015d" providerId="LiveId" clId="{0BC1CC68-5FB1-45E5-A6E2-A4614C9CFE72}" dt="2025-12-16T02:34:46.030" v="214" actId="1582"/>
          <ac:cxnSpMkLst>
            <pc:docMk/>
            <pc:sldMk cId="0" sldId="278"/>
            <ac:cxnSpMk id="63" creationId="{64B1EA3C-3268-11FF-BCE7-59859D0E95BA}"/>
          </ac:cxnSpMkLst>
        </pc:cxnChg>
        <pc:cxnChg chg="add mod">
          <ac:chgData name="석주 이" userId="b6553f64e91d015d" providerId="LiveId" clId="{0BC1CC68-5FB1-45E5-A6E2-A4614C9CFE72}" dt="2025-12-16T02:34:50.420" v="217" actId="14100"/>
          <ac:cxnSpMkLst>
            <pc:docMk/>
            <pc:sldMk cId="0" sldId="278"/>
            <ac:cxnSpMk id="66" creationId="{1FA6764D-0B0B-FA60-3CCE-92A838C6DFA8}"/>
          </ac:cxnSpMkLst>
        </pc:cxnChg>
        <pc:cxnChg chg="add mod">
          <ac:chgData name="석주 이" userId="b6553f64e91d015d" providerId="LiveId" clId="{0BC1CC68-5FB1-45E5-A6E2-A4614C9CFE72}" dt="2025-12-16T02:34:54.248" v="220" actId="14100"/>
          <ac:cxnSpMkLst>
            <pc:docMk/>
            <pc:sldMk cId="0" sldId="278"/>
            <ac:cxnSpMk id="69" creationId="{415BE669-4713-FE3F-AF16-55E54C6140A8}"/>
          </ac:cxnSpMkLst>
        </pc:cxnChg>
        <pc:cxnChg chg="add mod">
          <ac:chgData name="석주 이" userId="b6553f64e91d015d" providerId="LiveId" clId="{0BC1CC68-5FB1-45E5-A6E2-A4614C9CFE72}" dt="2025-12-16T02:34:59.240" v="224" actId="14100"/>
          <ac:cxnSpMkLst>
            <pc:docMk/>
            <pc:sldMk cId="0" sldId="278"/>
            <ac:cxnSpMk id="72" creationId="{DF7CFDD9-C9B8-B39F-8A0C-C6A4C285E1BC}"/>
          </ac:cxnSpMkLst>
        </pc:cxnChg>
      </pc:sldChg>
      <pc:sldChg chg="addSp delSp modSp mod">
        <pc:chgData name="석주 이" userId="b6553f64e91d015d" providerId="LiveId" clId="{0BC1CC68-5FB1-45E5-A6E2-A4614C9CFE72}" dt="2025-12-16T02:53:14.438" v="335"/>
        <pc:sldMkLst>
          <pc:docMk/>
          <pc:sldMk cId="0" sldId="279"/>
        </pc:sldMkLst>
        <pc:spChg chg="mod">
          <ac:chgData name="석주 이" userId="b6553f64e91d015d" providerId="LiveId" clId="{0BC1CC68-5FB1-45E5-A6E2-A4614C9CFE72}" dt="2025-12-16T01:32:02.232" v="64" actId="20577"/>
          <ac:spMkLst>
            <pc:docMk/>
            <pc:sldMk cId="0" sldId="279"/>
            <ac:spMk id="7" creationId="{00000000-0000-0000-0000-000000000000}"/>
          </ac:spMkLst>
        </pc:spChg>
        <pc:spChg chg="del">
          <ac:chgData name="석주 이" userId="b6553f64e91d015d" providerId="LiveId" clId="{0BC1CC68-5FB1-45E5-A6E2-A4614C9CFE72}" dt="2025-12-16T02:50:00.340" v="271" actId="478"/>
          <ac:spMkLst>
            <pc:docMk/>
            <pc:sldMk cId="0" sldId="279"/>
            <ac:spMk id="60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4.438" v="335"/>
          <ac:spMkLst>
            <pc:docMk/>
            <pc:sldMk cId="0" sldId="279"/>
            <ac:spMk id="62" creationId="{4E0BA656-42F0-F0BE-EBFF-A44D704ABDE9}"/>
          </ac:spMkLst>
        </pc:spChg>
      </pc:sldChg>
      <pc:sldChg chg="addSp delSp modSp mod">
        <pc:chgData name="석주 이" userId="b6553f64e91d015d" providerId="LiveId" clId="{0BC1CC68-5FB1-45E5-A6E2-A4614C9CFE72}" dt="2025-12-16T02:53:15.029" v="336"/>
        <pc:sldMkLst>
          <pc:docMk/>
          <pc:sldMk cId="0" sldId="280"/>
        </pc:sldMkLst>
        <pc:spChg chg="mod">
          <ac:chgData name="석주 이" userId="b6553f64e91d015d" providerId="LiveId" clId="{0BC1CC68-5FB1-45E5-A6E2-A4614C9CFE72}" dt="2025-12-16T01:33:05.982" v="72" actId="20577"/>
          <ac:spMkLst>
            <pc:docMk/>
            <pc:sldMk cId="0" sldId="280"/>
            <ac:spMk id="7" creationId="{00000000-0000-0000-0000-000000000000}"/>
          </ac:spMkLst>
        </pc:spChg>
        <pc:spChg chg="del">
          <ac:chgData name="석주 이" userId="b6553f64e91d015d" providerId="LiveId" clId="{0BC1CC68-5FB1-45E5-A6E2-A4614C9CFE72}" dt="2025-12-16T02:49:54.724" v="269" actId="478"/>
          <ac:spMkLst>
            <pc:docMk/>
            <pc:sldMk cId="0" sldId="280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3:54.796" v="202" actId="14100"/>
          <ac:spMkLst>
            <pc:docMk/>
            <pc:sldMk cId="0" sldId="280"/>
            <ac:spMk id="63" creationId="{00000000-0000-0000-0000-000000000000}"/>
          </ac:spMkLst>
        </pc:spChg>
        <pc:spChg chg="del">
          <ac:chgData name="석주 이" userId="b6553f64e91d015d" providerId="LiveId" clId="{0BC1CC68-5FB1-45E5-A6E2-A4614C9CFE72}" dt="2025-12-16T02:49:58.153" v="270" actId="478"/>
          <ac:spMkLst>
            <pc:docMk/>
            <pc:sldMk cId="0" sldId="280"/>
            <ac:spMk id="64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5.029" v="336"/>
          <ac:spMkLst>
            <pc:docMk/>
            <pc:sldMk cId="0" sldId="280"/>
            <ac:spMk id="66" creationId="{E8682420-A8AF-A4B7-669A-CFEF16BE4F9C}"/>
          </ac:spMkLst>
        </pc:spChg>
      </pc:sldChg>
      <pc:sldChg chg="addSp delSp modSp mod">
        <pc:chgData name="석주 이" userId="b6553f64e91d015d" providerId="LiveId" clId="{0BC1CC68-5FB1-45E5-A6E2-A4614C9CFE72}" dt="2025-12-16T02:53:15.572" v="337"/>
        <pc:sldMkLst>
          <pc:docMk/>
          <pc:sldMk cId="0" sldId="281"/>
        </pc:sldMkLst>
        <pc:spChg chg="del">
          <ac:chgData name="석주 이" userId="b6553f64e91d015d" providerId="LiveId" clId="{0BC1CC68-5FB1-45E5-A6E2-A4614C9CFE72}" dt="2025-12-16T02:49:51.729" v="268" actId="478"/>
          <ac:spMkLst>
            <pc:docMk/>
            <pc:sldMk cId="0" sldId="281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1:04.594" v="176" actId="1076"/>
          <ac:spMkLst>
            <pc:docMk/>
            <pc:sldMk cId="0" sldId="281"/>
            <ac:spMk id="76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5.572" v="337"/>
          <ac:spMkLst>
            <pc:docMk/>
            <pc:sldMk cId="0" sldId="281"/>
            <ac:spMk id="87" creationId="{C17F549F-0FC4-14E2-EDC7-A14F1726566B}"/>
          </ac:spMkLst>
        </pc:spChg>
      </pc:sldChg>
      <pc:sldChg chg="addSp delSp modSp mod">
        <pc:chgData name="석주 이" userId="b6553f64e91d015d" providerId="LiveId" clId="{0BC1CC68-5FB1-45E5-A6E2-A4614C9CFE72}" dt="2025-12-16T02:57:41.295" v="356" actId="165"/>
        <pc:sldMkLst>
          <pc:docMk/>
          <pc:sldMk cId="0" sldId="282"/>
        </pc:sldMkLst>
        <pc:spChg chg="mod topLvl">
          <ac:chgData name="석주 이" userId="b6553f64e91d015d" providerId="LiveId" clId="{0BC1CC68-5FB1-45E5-A6E2-A4614C9CFE72}" dt="2025-12-16T02:57:41.295" v="356" actId="165"/>
          <ac:spMkLst>
            <pc:docMk/>
            <pc:sldMk cId="0" sldId="282"/>
            <ac:spMk id="3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57:41.295" v="356" actId="165"/>
          <ac:spMkLst>
            <pc:docMk/>
            <pc:sldMk cId="0" sldId="282"/>
            <ac:spMk id="4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20.796" v="228" actId="108"/>
          <ac:spMkLst>
            <pc:docMk/>
            <pc:sldMk cId="0" sldId="282"/>
            <ac:spMk id="16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57:41.295" v="356" actId="165"/>
          <ac:spMkLst>
            <pc:docMk/>
            <pc:sldMk cId="0" sldId="282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22.531" v="229" actId="108"/>
          <ac:spMkLst>
            <pc:docMk/>
            <pc:sldMk cId="0" sldId="282"/>
            <ac:spMk id="19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57:41.295" v="356" actId="165"/>
          <ac:spMkLst>
            <pc:docMk/>
            <pc:sldMk cId="0" sldId="282"/>
            <ac:spMk id="23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57:41.295" v="356" actId="165"/>
          <ac:spMkLst>
            <pc:docMk/>
            <pc:sldMk cId="0" sldId="282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12.890" v="225" actId="108"/>
          <ac:spMkLst>
            <pc:docMk/>
            <pc:sldMk cId="0" sldId="282"/>
            <ac:spMk id="29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57:41.295" v="356" actId="165"/>
          <ac:spMkLst>
            <pc:docMk/>
            <pc:sldMk cId="0" sldId="282"/>
            <ac:spMk id="30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57:41.295" v="356" actId="165"/>
          <ac:spMkLst>
            <pc:docMk/>
            <pc:sldMk cId="0" sldId="282"/>
            <ac:spMk id="33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14.858" v="226" actId="108"/>
          <ac:spMkLst>
            <pc:docMk/>
            <pc:sldMk cId="0" sldId="282"/>
            <ac:spMk id="34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57:41.295" v="356" actId="165"/>
          <ac:spMkLst>
            <pc:docMk/>
            <pc:sldMk cId="0" sldId="282"/>
            <ac:spMk id="36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57:41.295" v="356" actId="165"/>
          <ac:spMkLst>
            <pc:docMk/>
            <pc:sldMk cId="0" sldId="282"/>
            <ac:spMk id="38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57:41.295" v="356" actId="165"/>
          <ac:spMkLst>
            <pc:docMk/>
            <pc:sldMk cId="0" sldId="282"/>
            <ac:spMk id="40" creationId="{00000000-0000-0000-0000-000000000000}"/>
          </ac:spMkLst>
        </pc:spChg>
        <pc:spChg chg="del">
          <ac:chgData name="석주 이" userId="b6553f64e91d015d" providerId="LiveId" clId="{0BC1CC68-5FB1-45E5-A6E2-A4614C9CFE72}" dt="2025-12-16T02:49:48.519" v="267" actId="478"/>
          <ac:spMkLst>
            <pc:docMk/>
            <pc:sldMk cId="0" sldId="282"/>
            <ac:spMk id="43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6.141" v="338"/>
          <ac:spMkLst>
            <pc:docMk/>
            <pc:sldMk cId="0" sldId="282"/>
            <ac:spMk id="45" creationId="{7AAE8ECB-646D-90E0-2A6F-4C663C4DB799}"/>
          </ac:spMkLst>
        </pc:spChg>
      </pc:sldChg>
      <pc:sldChg chg="addSp delSp modSp mod">
        <pc:chgData name="석주 이" userId="b6553f64e91d015d" providerId="LiveId" clId="{0BC1CC68-5FB1-45E5-A6E2-A4614C9CFE72}" dt="2025-12-16T02:53:16.728" v="339"/>
        <pc:sldMkLst>
          <pc:docMk/>
          <pc:sldMk cId="0" sldId="283"/>
        </pc:sldMkLst>
        <pc:spChg chg="mod">
          <ac:chgData name="석주 이" userId="b6553f64e91d015d" providerId="LiveId" clId="{0BC1CC68-5FB1-45E5-A6E2-A4614C9CFE72}" dt="2025-12-16T01:31:51.453" v="61" actId="20577"/>
          <ac:spMkLst>
            <pc:docMk/>
            <pc:sldMk cId="0" sldId="283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35.081" v="232" actId="14100"/>
          <ac:spMkLst>
            <pc:docMk/>
            <pc:sldMk cId="0" sldId="283"/>
            <ac:spMk id="19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39.484" v="234" actId="14100"/>
          <ac:spMkLst>
            <pc:docMk/>
            <pc:sldMk cId="0" sldId="283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42.906" v="236" actId="14100"/>
          <ac:spMkLst>
            <pc:docMk/>
            <pc:sldMk cId="0" sldId="283"/>
            <ac:spMk id="37" creationId="{00000000-0000-0000-0000-000000000000}"/>
          </ac:spMkLst>
        </pc:spChg>
        <pc:spChg chg="del">
          <ac:chgData name="석주 이" userId="b6553f64e91d015d" providerId="LiveId" clId="{0BC1CC68-5FB1-45E5-A6E2-A4614C9CFE72}" dt="2025-12-16T02:49:43.140" v="266" actId="478"/>
          <ac:spMkLst>
            <pc:docMk/>
            <pc:sldMk cId="0" sldId="283"/>
            <ac:spMk id="50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6.728" v="339"/>
          <ac:spMkLst>
            <pc:docMk/>
            <pc:sldMk cId="0" sldId="283"/>
            <ac:spMk id="52" creationId="{48DF1388-2A13-A950-DAE6-C80C1FA6D665}"/>
          </ac:spMkLst>
        </pc:spChg>
      </pc:sldChg>
      <pc:sldChg chg="addSp delSp modSp mod">
        <pc:chgData name="석주 이" userId="b6553f64e91d015d" providerId="LiveId" clId="{0BC1CC68-5FB1-45E5-A6E2-A4614C9CFE72}" dt="2025-12-16T02:53:17.351" v="340"/>
        <pc:sldMkLst>
          <pc:docMk/>
          <pc:sldMk cId="0" sldId="284"/>
        </pc:sldMkLst>
        <pc:spChg chg="mod">
          <ac:chgData name="석주 이" userId="b6553f64e91d015d" providerId="LiveId" clId="{0BC1CC68-5FB1-45E5-A6E2-A4614C9CFE72}" dt="2025-12-16T01:31:55.892" v="62" actId="20577"/>
          <ac:spMkLst>
            <pc:docMk/>
            <pc:sldMk cId="0" sldId="284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5-12-16T01:31:35.969" v="58" actId="948"/>
          <ac:spMkLst>
            <pc:docMk/>
            <pc:sldMk cId="0" sldId="284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5-12-16T01:31:35.969" v="58" actId="948"/>
          <ac:spMkLst>
            <pc:docMk/>
            <pc:sldMk cId="0" sldId="284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5-12-16T01:31:35.969" v="58" actId="948"/>
          <ac:spMkLst>
            <pc:docMk/>
            <pc:sldMk cId="0" sldId="284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5-12-16T01:31:35.969" v="58" actId="948"/>
          <ac:spMkLst>
            <pc:docMk/>
            <pc:sldMk cId="0" sldId="284"/>
            <ac:spMk id="30" creationId="{00000000-0000-0000-0000-000000000000}"/>
          </ac:spMkLst>
        </pc:spChg>
        <pc:spChg chg="mod">
          <ac:chgData name="석주 이" userId="b6553f64e91d015d" providerId="LiveId" clId="{0BC1CC68-5FB1-45E5-A6E2-A4614C9CFE72}" dt="2025-12-16T01:31:35.969" v="58" actId="948"/>
          <ac:spMkLst>
            <pc:docMk/>
            <pc:sldMk cId="0" sldId="284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5-12-16T01:31:35.969" v="58" actId="948"/>
          <ac:spMkLst>
            <pc:docMk/>
            <pc:sldMk cId="0" sldId="284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5-12-16T01:31:35.969" v="58" actId="948"/>
          <ac:spMkLst>
            <pc:docMk/>
            <pc:sldMk cId="0" sldId="284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5-12-16T01:31:35.969" v="58" actId="948"/>
          <ac:spMkLst>
            <pc:docMk/>
            <pc:sldMk cId="0" sldId="284"/>
            <ac:spMk id="48" creationId="{00000000-0000-0000-0000-000000000000}"/>
          </ac:spMkLst>
        </pc:spChg>
        <pc:spChg chg="mod">
          <ac:chgData name="석주 이" userId="b6553f64e91d015d" providerId="LiveId" clId="{0BC1CC68-5FB1-45E5-A6E2-A4614C9CFE72}" dt="2025-12-16T01:45:09.133" v="143"/>
          <ac:spMkLst>
            <pc:docMk/>
            <pc:sldMk cId="0" sldId="284"/>
            <ac:spMk id="50" creationId="{00000000-0000-0000-0000-000000000000}"/>
          </ac:spMkLst>
        </pc:spChg>
        <pc:spChg chg="del mod">
          <ac:chgData name="석주 이" userId="b6553f64e91d015d" providerId="LiveId" clId="{0BC1CC68-5FB1-45E5-A6E2-A4614C9CFE72}" dt="2025-12-16T02:49:40.788" v="265" actId="478"/>
          <ac:spMkLst>
            <pc:docMk/>
            <pc:sldMk cId="0" sldId="284"/>
            <ac:spMk id="51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7.351" v="340"/>
          <ac:spMkLst>
            <pc:docMk/>
            <pc:sldMk cId="0" sldId="284"/>
            <ac:spMk id="53" creationId="{B5A26C37-1DEF-F8E5-8063-CCC59D97F282}"/>
          </ac:spMkLst>
        </pc:spChg>
      </pc:sldChg>
      <pc:sldChg chg="addSp delSp modSp mod">
        <pc:chgData name="석주 이" userId="b6553f64e91d015d" providerId="LiveId" clId="{0BC1CC68-5FB1-45E5-A6E2-A4614C9CFE72}" dt="2025-12-16T02:53:19.141" v="342"/>
        <pc:sldMkLst>
          <pc:docMk/>
          <pc:sldMk cId="0" sldId="285"/>
        </pc:sldMkLst>
        <pc:spChg chg="mod topLvl">
          <ac:chgData name="석주 이" userId="b6553f64e91d015d" providerId="LiveId" clId="{0BC1CC68-5FB1-45E5-A6E2-A4614C9CFE72}" dt="2025-12-16T02:36:57.538" v="237" actId="165"/>
          <ac:spMkLst>
            <pc:docMk/>
            <pc:sldMk cId="0" sldId="285"/>
            <ac:spMk id="4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7:13.389" v="240" actId="20577"/>
          <ac:spMkLst>
            <pc:docMk/>
            <pc:sldMk cId="0" sldId="285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59.734" v="238" actId="164"/>
          <ac:spMkLst>
            <pc:docMk/>
            <pc:sldMk cId="0" sldId="285"/>
            <ac:spMk id="12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6:57.538" v="237" actId="165"/>
          <ac:spMkLst>
            <pc:docMk/>
            <pc:sldMk cId="0" sldId="285"/>
            <ac:spMk id="17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6:57.538" v="237" actId="165"/>
          <ac:spMkLst>
            <pc:docMk/>
            <pc:sldMk cId="0" sldId="285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59.734" v="238" actId="164"/>
          <ac:spMkLst>
            <pc:docMk/>
            <pc:sldMk cId="0" sldId="285"/>
            <ac:spMk id="21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6:59.734" v="238" actId="164"/>
          <ac:spMkLst>
            <pc:docMk/>
            <pc:sldMk cId="0" sldId="285"/>
            <ac:spMk id="22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6:59.734" v="238" actId="164"/>
          <ac:spMkLst>
            <pc:docMk/>
            <pc:sldMk cId="0" sldId="285"/>
            <ac:spMk id="23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6:59.734" v="238" actId="164"/>
          <ac:spMkLst>
            <pc:docMk/>
            <pc:sldMk cId="0" sldId="285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59.734" v="238" actId="164"/>
          <ac:spMkLst>
            <pc:docMk/>
            <pc:sldMk cId="0" sldId="285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59.734" v="238" actId="164"/>
          <ac:spMkLst>
            <pc:docMk/>
            <pc:sldMk cId="0" sldId="285"/>
            <ac:spMk id="27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6:57.538" v="237" actId="165"/>
          <ac:spMkLst>
            <pc:docMk/>
            <pc:sldMk cId="0" sldId="285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59.734" v="238" actId="164"/>
          <ac:spMkLst>
            <pc:docMk/>
            <pc:sldMk cId="0" sldId="285"/>
            <ac:spMk id="29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6:59.734" v="238" actId="164"/>
          <ac:spMkLst>
            <pc:docMk/>
            <pc:sldMk cId="0" sldId="285"/>
            <ac:spMk id="30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6:59.734" v="238" actId="164"/>
          <ac:spMkLst>
            <pc:docMk/>
            <pc:sldMk cId="0" sldId="285"/>
            <ac:spMk id="32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6:57.538" v="237" actId="165"/>
          <ac:spMkLst>
            <pc:docMk/>
            <pc:sldMk cId="0" sldId="285"/>
            <ac:spMk id="36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6:57.538" v="237" actId="165"/>
          <ac:spMkLst>
            <pc:docMk/>
            <pc:sldMk cId="0" sldId="285"/>
            <ac:spMk id="42" creationId="{00000000-0000-0000-0000-000000000000}"/>
          </ac:spMkLst>
        </pc:spChg>
        <pc:spChg chg="del">
          <ac:chgData name="석주 이" userId="b6553f64e91d015d" providerId="LiveId" clId="{0BC1CC68-5FB1-45E5-A6E2-A4614C9CFE72}" dt="2025-12-16T02:49:35.880" v="264" actId="478"/>
          <ac:spMkLst>
            <pc:docMk/>
            <pc:sldMk cId="0" sldId="285"/>
            <ac:spMk id="47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19.141" v="342"/>
          <ac:spMkLst>
            <pc:docMk/>
            <pc:sldMk cId="0" sldId="285"/>
            <ac:spMk id="50" creationId="{977CBE34-7E6A-5DC9-FC02-029FB6D8DD95}"/>
          </ac:spMkLst>
        </pc:spChg>
        <pc:grpChg chg="mod">
          <ac:chgData name="석주 이" userId="b6553f64e91d015d" providerId="LiveId" clId="{0BC1CC68-5FB1-45E5-A6E2-A4614C9CFE72}" dt="2025-12-16T02:37:01.594" v="239" actId="14100"/>
          <ac:grpSpMkLst>
            <pc:docMk/>
            <pc:sldMk cId="0" sldId="285"/>
            <ac:grpSpMk id="49" creationId="{1786B734-60EB-4645-3536-5EE2BD0B3A06}"/>
          </ac:grpSpMkLst>
        </pc:grpChg>
      </pc:sldChg>
      <pc:sldChg chg="addSp delSp modSp mod">
        <pc:chgData name="석주 이" userId="b6553f64e91d015d" providerId="LiveId" clId="{0BC1CC68-5FB1-45E5-A6E2-A4614C9CFE72}" dt="2025-12-16T02:53:19.717" v="343"/>
        <pc:sldMkLst>
          <pc:docMk/>
          <pc:sldMk cId="0" sldId="286"/>
        </pc:sldMkLst>
        <pc:spChg chg="add mod">
          <ac:chgData name="석주 이" userId="b6553f64e91d015d" providerId="LiveId" clId="{0BC1CC68-5FB1-45E5-A6E2-A4614C9CFE72}" dt="2025-12-16T02:53:19.717" v="343"/>
          <ac:spMkLst>
            <pc:docMk/>
            <pc:sldMk cId="0" sldId="286"/>
            <ac:spMk id="10" creationId="{0C247BAC-4BC0-227E-223C-74E6F62A1B18}"/>
          </ac:spMkLst>
        </pc:spChg>
        <pc:spChg chg="del">
          <ac:chgData name="석주 이" userId="b6553f64e91d015d" providerId="LiveId" clId="{0BC1CC68-5FB1-45E5-A6E2-A4614C9CFE72}" dt="2025-12-16T02:49:34.137" v="263" actId="478"/>
          <ac:spMkLst>
            <pc:docMk/>
            <pc:sldMk cId="0" sldId="286"/>
            <ac:spMk id="42" creationId="{00000000-0000-0000-0000-000000000000}"/>
          </ac:spMkLst>
        </pc:spChg>
        <pc:spChg chg="del">
          <ac:chgData name="석주 이" userId="b6553f64e91d015d" providerId="LiveId" clId="{0BC1CC68-5FB1-45E5-A6E2-A4614C9CFE72}" dt="2025-12-16T02:31:20.796" v="178" actId="478"/>
          <ac:spMkLst>
            <pc:docMk/>
            <pc:sldMk cId="0" sldId="286"/>
            <ac:spMk id="49" creationId="{00000000-0000-0000-0000-000000000000}"/>
          </ac:spMkLst>
        </pc:spChg>
      </pc:sldChg>
      <pc:sldChg chg="addSp delSp modSp mod">
        <pc:chgData name="석주 이" userId="b6553f64e91d015d" providerId="LiveId" clId="{0BC1CC68-5FB1-45E5-A6E2-A4614C9CFE72}" dt="2025-12-16T02:53:20.373" v="344"/>
        <pc:sldMkLst>
          <pc:docMk/>
          <pc:sldMk cId="0" sldId="287"/>
        </pc:sldMkLst>
        <pc:spChg chg="mod">
          <ac:chgData name="석주 이" userId="b6553f64e91d015d" providerId="LiveId" clId="{0BC1CC68-5FB1-45E5-A6E2-A4614C9CFE72}" dt="2025-12-16T01:33:17.499" v="73" actId="20577"/>
          <ac:spMkLst>
            <pc:docMk/>
            <pc:sldMk cId="0" sldId="287"/>
            <ac:spMk id="7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20.373" v="344"/>
          <ac:spMkLst>
            <pc:docMk/>
            <pc:sldMk cId="0" sldId="287"/>
            <ac:spMk id="10" creationId="{E02F039E-F9E5-2064-C5D6-243740C94F7B}"/>
          </ac:spMkLst>
        </pc:spChg>
        <pc:spChg chg="del">
          <ac:chgData name="석주 이" userId="b6553f64e91d015d" providerId="LiveId" clId="{0BC1CC68-5FB1-45E5-A6E2-A4614C9CFE72}" dt="2025-12-16T02:49:32.358" v="262" actId="478"/>
          <ac:spMkLst>
            <pc:docMk/>
            <pc:sldMk cId="0" sldId="287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8:19.419" v="242" actId="1076"/>
          <ac:spMkLst>
            <pc:docMk/>
            <pc:sldMk cId="0" sldId="287"/>
            <ac:spMk id="47" creationId="{00000000-0000-0000-0000-000000000000}"/>
          </ac:spMkLst>
        </pc:spChg>
        <pc:spChg chg="del">
          <ac:chgData name="석주 이" userId="b6553f64e91d015d" providerId="LiveId" clId="{0BC1CC68-5FB1-45E5-A6E2-A4614C9CFE72}" dt="2025-12-16T02:31:17.763" v="177" actId="478"/>
          <ac:spMkLst>
            <pc:docMk/>
            <pc:sldMk cId="0" sldId="287"/>
            <ac:spMk id="49" creationId="{00000000-0000-0000-0000-000000000000}"/>
          </ac:spMkLst>
        </pc:spChg>
      </pc:sldChg>
      <pc:sldChg chg="addSp modSp mod">
        <pc:chgData name="석주 이" userId="b6553f64e91d015d" providerId="LiveId" clId="{0BC1CC68-5FB1-45E5-A6E2-A4614C9CFE72}" dt="2025-12-16T02:53:20.991" v="345"/>
        <pc:sldMkLst>
          <pc:docMk/>
          <pc:sldMk cId="0" sldId="288"/>
        </pc:sldMkLst>
        <pc:spChg chg="mod">
          <ac:chgData name="석주 이" userId="b6553f64e91d015d" providerId="LiveId" clId="{0BC1CC68-5FB1-45E5-A6E2-A4614C9CFE72}" dt="2025-12-16T01:33:19.554" v="74" actId="20577"/>
          <ac:spMkLst>
            <pc:docMk/>
            <pc:sldMk cId="0" sldId="288"/>
            <ac:spMk id="7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20.991" v="345"/>
          <ac:spMkLst>
            <pc:docMk/>
            <pc:sldMk cId="0" sldId="288"/>
            <ac:spMk id="30" creationId="{BC38D10E-DBF7-67FF-CF90-BBE876B7B78C}"/>
          </ac:spMkLst>
        </pc:spChg>
      </pc:sldChg>
      <pc:sldChg chg="addSp modSp">
        <pc:chgData name="석주 이" userId="b6553f64e91d015d" providerId="LiveId" clId="{0BC1CC68-5FB1-45E5-A6E2-A4614C9CFE72}" dt="2025-12-16T02:53:22.655" v="346"/>
        <pc:sldMkLst>
          <pc:docMk/>
          <pc:sldMk cId="0" sldId="289"/>
        </pc:sldMkLst>
        <pc:spChg chg="add mod">
          <ac:chgData name="석주 이" userId="b6553f64e91d015d" providerId="LiveId" clId="{0BC1CC68-5FB1-45E5-A6E2-A4614C9CFE72}" dt="2025-12-16T02:53:22.655" v="346"/>
          <ac:spMkLst>
            <pc:docMk/>
            <pc:sldMk cId="0" sldId="289"/>
            <ac:spMk id="73" creationId="{960D2F4F-B2BA-01DE-2D21-6EBDD4A2832A}"/>
          </ac:spMkLst>
        </pc:spChg>
      </pc:sldChg>
      <pc:sldChg chg="addSp delSp modSp mod">
        <pc:chgData name="석주 이" userId="b6553f64e91d015d" providerId="LiveId" clId="{0BC1CC68-5FB1-45E5-A6E2-A4614C9CFE72}" dt="2025-12-16T02:53:23.310" v="347"/>
        <pc:sldMkLst>
          <pc:docMk/>
          <pc:sldMk cId="0" sldId="290"/>
        </pc:sldMkLst>
        <pc:spChg chg="mod">
          <ac:chgData name="석주 이" userId="b6553f64e91d015d" providerId="LiveId" clId="{0BC1CC68-5FB1-45E5-A6E2-A4614C9CFE72}" dt="2025-12-16T01:33:23.477" v="76" actId="313"/>
          <ac:spMkLst>
            <pc:docMk/>
            <pc:sldMk cId="0" sldId="290"/>
            <ac:spMk id="7" creationId="{00000000-0000-0000-0000-000000000000}"/>
          </ac:spMkLst>
        </pc:spChg>
        <pc:spChg chg="del">
          <ac:chgData name="석주 이" userId="b6553f64e91d015d" providerId="LiveId" clId="{0BC1CC68-5FB1-45E5-A6E2-A4614C9CFE72}" dt="2025-12-16T02:49:28.930" v="261" actId="478"/>
          <ac:spMkLst>
            <pc:docMk/>
            <pc:sldMk cId="0" sldId="290"/>
            <ac:spMk id="69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23.310" v="347"/>
          <ac:spMkLst>
            <pc:docMk/>
            <pc:sldMk cId="0" sldId="290"/>
            <ac:spMk id="71" creationId="{9BC0FF91-5B7B-6484-6C1E-55DAB6BB1646}"/>
          </ac:spMkLst>
        </pc:spChg>
      </pc:sldChg>
      <pc:sldChg chg="addSp delSp modSp mod">
        <pc:chgData name="석주 이" userId="b6553f64e91d015d" providerId="LiveId" clId="{0BC1CC68-5FB1-45E5-A6E2-A4614C9CFE72}" dt="2025-12-16T02:53:23.976" v="348"/>
        <pc:sldMkLst>
          <pc:docMk/>
          <pc:sldMk cId="0" sldId="291"/>
        </pc:sldMkLst>
        <pc:spChg chg="mod">
          <ac:chgData name="석주 이" userId="b6553f64e91d015d" providerId="LiveId" clId="{0BC1CC68-5FB1-45E5-A6E2-A4614C9CFE72}" dt="2025-12-16T01:33:25.373" v="77" actId="20577"/>
          <ac:spMkLst>
            <pc:docMk/>
            <pc:sldMk cId="0" sldId="291"/>
            <ac:spMk id="7" creationId="{00000000-0000-0000-0000-000000000000}"/>
          </ac:spMkLst>
        </pc:spChg>
        <pc:spChg chg="del">
          <ac:chgData name="석주 이" userId="b6553f64e91d015d" providerId="LiveId" clId="{0BC1CC68-5FB1-45E5-A6E2-A4614C9CFE72}" dt="2025-12-16T02:49:08.229" v="251" actId="478"/>
          <ac:spMkLst>
            <pc:docMk/>
            <pc:sldMk cId="0" sldId="291"/>
            <ac:spMk id="12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23.976" v="348"/>
          <ac:spMkLst>
            <pc:docMk/>
            <pc:sldMk cId="0" sldId="291"/>
            <ac:spMk id="82" creationId="{2F3882B1-C3A7-81AF-E7A9-966CCAA06373}"/>
          </ac:spMkLst>
        </pc:spChg>
      </pc:sldChg>
      <pc:sldChg chg="addSp delSp modSp mod">
        <pc:chgData name="석주 이" userId="b6553f64e91d015d" providerId="LiveId" clId="{0BC1CC68-5FB1-45E5-A6E2-A4614C9CFE72}" dt="2025-12-16T02:53:24.592" v="349"/>
        <pc:sldMkLst>
          <pc:docMk/>
          <pc:sldMk cId="0" sldId="293"/>
        </pc:sldMkLst>
        <pc:spChg chg="mod">
          <ac:chgData name="석주 이" userId="b6553f64e91d015d" providerId="LiveId" clId="{0BC1CC68-5FB1-45E5-A6E2-A4614C9CFE72}" dt="2025-12-16T01:33:27.171" v="78" actId="20577"/>
          <ac:spMkLst>
            <pc:docMk/>
            <pc:sldMk cId="0" sldId="293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4:03.575" v="203" actId="14100"/>
          <ac:spMkLst>
            <pc:docMk/>
            <pc:sldMk cId="0" sldId="293"/>
            <ac:spMk id="61" creationId="{00000000-0000-0000-0000-000000000000}"/>
          </ac:spMkLst>
        </pc:spChg>
        <pc:spChg chg="del">
          <ac:chgData name="석주 이" userId="b6553f64e91d015d" providerId="LiveId" clId="{0BC1CC68-5FB1-45E5-A6E2-A4614C9CFE72}" dt="2025-12-16T02:49:12.377" v="252" actId="478"/>
          <ac:spMkLst>
            <pc:docMk/>
            <pc:sldMk cId="0" sldId="293"/>
            <ac:spMk id="107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24.592" v="349"/>
          <ac:spMkLst>
            <pc:docMk/>
            <pc:sldMk cId="0" sldId="293"/>
            <ac:spMk id="109" creationId="{034AE589-CA22-D40E-B64F-0326A5704DCA}"/>
          </ac:spMkLst>
        </pc:spChg>
      </pc:sldChg>
      <pc:sldChg chg="addSp delSp modSp mod">
        <pc:chgData name="석주 이" userId="b6553f64e91d015d" providerId="LiveId" clId="{0BC1CC68-5FB1-45E5-A6E2-A4614C9CFE72}" dt="2025-12-16T02:53:25.341" v="350"/>
        <pc:sldMkLst>
          <pc:docMk/>
          <pc:sldMk cId="0" sldId="294"/>
        </pc:sldMkLst>
        <pc:spChg chg="mod">
          <ac:chgData name="석주 이" userId="b6553f64e91d015d" providerId="LiveId" clId="{0BC1CC68-5FB1-45E5-A6E2-A4614C9CFE72}" dt="2025-12-16T01:34:16.048" v="127" actId="20577"/>
          <ac:spMkLst>
            <pc:docMk/>
            <pc:sldMk cId="0" sldId="294"/>
            <ac:spMk id="7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7:46.587" v="241" actId="165"/>
          <ac:spMkLst>
            <pc:docMk/>
            <pc:sldMk cId="0" sldId="294"/>
            <ac:spMk id="28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7:46.587" v="241" actId="165"/>
          <ac:spMkLst>
            <pc:docMk/>
            <pc:sldMk cId="0" sldId="294"/>
            <ac:spMk id="29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7:46.587" v="241" actId="165"/>
          <ac:spMkLst>
            <pc:docMk/>
            <pc:sldMk cId="0" sldId="294"/>
            <ac:spMk id="31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7:46.587" v="241" actId="165"/>
          <ac:spMkLst>
            <pc:docMk/>
            <pc:sldMk cId="0" sldId="294"/>
            <ac:spMk id="32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7:46.587" v="241" actId="165"/>
          <ac:spMkLst>
            <pc:docMk/>
            <pc:sldMk cId="0" sldId="294"/>
            <ac:spMk id="37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7:46.587" v="241" actId="165"/>
          <ac:spMkLst>
            <pc:docMk/>
            <pc:sldMk cId="0" sldId="294"/>
            <ac:spMk id="42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7:46.587" v="241" actId="165"/>
          <ac:spMkLst>
            <pc:docMk/>
            <pc:sldMk cId="0" sldId="294"/>
            <ac:spMk id="44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7:46.587" v="241" actId="165"/>
          <ac:spMkLst>
            <pc:docMk/>
            <pc:sldMk cId="0" sldId="294"/>
            <ac:spMk id="45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7:46.587" v="241" actId="165"/>
          <ac:spMkLst>
            <pc:docMk/>
            <pc:sldMk cId="0" sldId="294"/>
            <ac:spMk id="46" creationId="{00000000-0000-0000-0000-000000000000}"/>
          </ac:spMkLst>
        </pc:spChg>
        <pc:spChg chg="del mod topLvl">
          <ac:chgData name="석주 이" userId="b6553f64e91d015d" providerId="LiveId" clId="{0BC1CC68-5FB1-45E5-A6E2-A4614C9CFE72}" dt="2025-12-16T02:49:14.875" v="254" actId="478"/>
          <ac:spMkLst>
            <pc:docMk/>
            <pc:sldMk cId="0" sldId="294"/>
            <ac:spMk id="50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25.341" v="350"/>
          <ac:spMkLst>
            <pc:docMk/>
            <pc:sldMk cId="0" sldId="294"/>
            <ac:spMk id="51" creationId="{02C7CB2F-B0AB-52F0-5A41-3044E0551BB2}"/>
          </ac:spMkLst>
        </pc:spChg>
      </pc:sldChg>
      <pc:sldChg chg="addSp delSp modSp mod">
        <pc:chgData name="석주 이" userId="b6553f64e91d015d" providerId="LiveId" clId="{0BC1CC68-5FB1-45E5-A6E2-A4614C9CFE72}" dt="2025-12-16T02:53:26.299" v="351"/>
        <pc:sldMkLst>
          <pc:docMk/>
          <pc:sldMk cId="0" sldId="295"/>
        </pc:sldMkLst>
        <pc:spChg chg="mod topLvl">
          <ac:chgData name="석주 이" userId="b6553f64e91d015d" providerId="LiveId" clId="{0BC1CC68-5FB1-45E5-A6E2-A4614C9CFE72}" dt="2025-12-16T02:31:42.066" v="179" actId="165"/>
          <ac:spMkLst>
            <pc:docMk/>
            <pc:sldMk cId="0" sldId="295"/>
            <ac:spMk id="6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1:42.066" v="179" actId="165"/>
          <ac:spMkLst>
            <pc:docMk/>
            <pc:sldMk cId="0" sldId="295"/>
            <ac:spMk id="7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1:42.066" v="179" actId="165"/>
          <ac:spMkLst>
            <pc:docMk/>
            <pc:sldMk cId="0" sldId="295"/>
            <ac:spMk id="16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1:42.066" v="179" actId="165"/>
          <ac:spMkLst>
            <pc:docMk/>
            <pc:sldMk cId="0" sldId="295"/>
            <ac:spMk id="24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1:42.066" v="179" actId="165"/>
          <ac:spMkLst>
            <pc:docMk/>
            <pc:sldMk cId="0" sldId="295"/>
            <ac:spMk id="25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1:42.066" v="179" actId="165"/>
          <ac:spMkLst>
            <pc:docMk/>
            <pc:sldMk cId="0" sldId="295"/>
            <ac:spMk id="31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1:42.066" v="179" actId="165"/>
          <ac:spMkLst>
            <pc:docMk/>
            <pc:sldMk cId="0" sldId="295"/>
            <ac:spMk id="32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1:42.066" v="179" actId="165"/>
          <ac:spMkLst>
            <pc:docMk/>
            <pc:sldMk cId="0" sldId="295"/>
            <ac:spMk id="53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1:42.066" v="179" actId="165"/>
          <ac:spMkLst>
            <pc:docMk/>
            <pc:sldMk cId="0" sldId="295"/>
            <ac:spMk id="58" creationId="{00000000-0000-0000-0000-000000000000}"/>
          </ac:spMkLst>
        </pc:spChg>
        <pc:spChg chg="mod topLvl">
          <ac:chgData name="석주 이" userId="b6553f64e91d015d" providerId="LiveId" clId="{0BC1CC68-5FB1-45E5-A6E2-A4614C9CFE72}" dt="2025-12-16T02:31:42.066" v="179" actId="165"/>
          <ac:spMkLst>
            <pc:docMk/>
            <pc:sldMk cId="0" sldId="295"/>
            <ac:spMk id="59" creationId="{00000000-0000-0000-0000-000000000000}"/>
          </ac:spMkLst>
        </pc:spChg>
        <pc:spChg chg="del">
          <ac:chgData name="석주 이" userId="b6553f64e91d015d" providerId="LiveId" clId="{0BC1CC68-5FB1-45E5-A6E2-A4614C9CFE72}" dt="2025-12-16T02:49:16.116" v="255" actId="478"/>
          <ac:spMkLst>
            <pc:docMk/>
            <pc:sldMk cId="0" sldId="295"/>
            <ac:spMk id="64" creationId="{00000000-0000-0000-0000-000000000000}"/>
          </ac:spMkLst>
        </pc:spChg>
        <pc:spChg chg="mod">
          <ac:chgData name="석주 이" userId="b6553f64e91d015d" providerId="LiveId" clId="{0BC1CC68-5FB1-45E5-A6E2-A4614C9CFE72}" dt="2025-12-16T02:34:06.626" v="204" actId="14100"/>
          <ac:spMkLst>
            <pc:docMk/>
            <pc:sldMk cId="0" sldId="295"/>
            <ac:spMk id="66" creationId="{00000000-0000-0000-0000-000000000000}"/>
          </ac:spMkLst>
        </pc:spChg>
        <pc:spChg chg="del mod">
          <ac:chgData name="석주 이" userId="b6553f64e91d015d" providerId="LiveId" clId="{0BC1CC68-5FB1-45E5-A6E2-A4614C9CFE72}" dt="2025-12-16T02:49:17.982" v="258" actId="478"/>
          <ac:spMkLst>
            <pc:docMk/>
            <pc:sldMk cId="0" sldId="295"/>
            <ac:spMk id="67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26.299" v="351"/>
          <ac:spMkLst>
            <pc:docMk/>
            <pc:sldMk cId="0" sldId="295"/>
            <ac:spMk id="69" creationId="{3E3FC463-3EE0-1AAB-3E5D-B98D23396AE8}"/>
          </ac:spMkLst>
        </pc:spChg>
      </pc:sldChg>
      <pc:sldChg chg="addSp modSp mod">
        <pc:chgData name="석주 이" userId="b6553f64e91d015d" providerId="LiveId" clId="{0BC1CC68-5FB1-45E5-A6E2-A4614C9CFE72}" dt="2025-12-16T03:10:19.009" v="358" actId="403"/>
        <pc:sldMkLst>
          <pc:docMk/>
          <pc:sldMk cId="0" sldId="296"/>
        </pc:sldMkLst>
        <pc:spChg chg="mod">
          <ac:chgData name="석주 이" userId="b6553f64e91d015d" providerId="LiveId" clId="{0BC1CC68-5FB1-45E5-A6E2-A4614C9CFE72}" dt="2025-12-16T03:10:19.009" v="358" actId="403"/>
          <ac:spMkLst>
            <pc:docMk/>
            <pc:sldMk cId="0" sldId="296"/>
            <ac:spMk id="23" creationId="{00000000-0000-0000-0000-000000000000}"/>
          </ac:spMkLst>
        </pc:spChg>
        <pc:spChg chg="mod">
          <ac:chgData name="석주 이" userId="b6553f64e91d015d" providerId="LiveId" clId="{0BC1CC68-5FB1-45E5-A6E2-A4614C9CFE72}" dt="2025-12-16T03:10:19.009" v="358" actId="403"/>
          <ac:spMkLst>
            <pc:docMk/>
            <pc:sldMk cId="0" sldId="296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5-12-16T03:10:19.009" v="358" actId="403"/>
          <ac:spMkLst>
            <pc:docMk/>
            <pc:sldMk cId="0" sldId="296"/>
            <ac:spMk id="40" creationId="{00000000-0000-0000-0000-000000000000}"/>
          </ac:spMkLst>
        </pc:spChg>
        <pc:spChg chg="mod">
          <ac:chgData name="석주 이" userId="b6553f64e91d015d" providerId="LiveId" clId="{0BC1CC68-5FB1-45E5-A6E2-A4614C9CFE72}" dt="2025-12-16T03:10:19.009" v="358" actId="403"/>
          <ac:spMkLst>
            <pc:docMk/>
            <pc:sldMk cId="0" sldId="296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5-12-16T03:10:19.009" v="358" actId="403"/>
          <ac:spMkLst>
            <pc:docMk/>
            <pc:sldMk cId="0" sldId="296"/>
            <ac:spMk id="57" creationId="{00000000-0000-0000-0000-000000000000}"/>
          </ac:spMkLst>
        </pc:spChg>
        <pc:spChg chg="mod">
          <ac:chgData name="석주 이" userId="b6553f64e91d015d" providerId="LiveId" clId="{0BC1CC68-5FB1-45E5-A6E2-A4614C9CFE72}" dt="2025-12-16T03:10:19.009" v="358" actId="403"/>
          <ac:spMkLst>
            <pc:docMk/>
            <pc:sldMk cId="0" sldId="296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5-12-16T03:10:19.009" v="358" actId="403"/>
          <ac:spMkLst>
            <pc:docMk/>
            <pc:sldMk cId="0" sldId="296"/>
            <ac:spMk id="74" creationId="{00000000-0000-0000-0000-000000000000}"/>
          </ac:spMkLst>
        </pc:spChg>
        <pc:spChg chg="mod">
          <ac:chgData name="석주 이" userId="b6553f64e91d015d" providerId="LiveId" clId="{0BC1CC68-5FB1-45E5-A6E2-A4614C9CFE72}" dt="2025-12-16T03:10:19.009" v="358" actId="403"/>
          <ac:spMkLst>
            <pc:docMk/>
            <pc:sldMk cId="0" sldId="296"/>
            <ac:spMk id="76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27.132" v="352"/>
          <ac:spMkLst>
            <pc:docMk/>
            <pc:sldMk cId="0" sldId="296"/>
            <ac:spMk id="86" creationId="{228C6660-B3B9-257A-AAD0-BE8880FBB08C}"/>
          </ac:spMkLst>
        </pc:spChg>
        <pc:spChg chg="add mod">
          <ac:chgData name="석주 이" userId="b6553f64e91d015d" providerId="LiveId" clId="{0BC1CC68-5FB1-45E5-A6E2-A4614C9CFE72}" dt="2025-12-16T02:53:28.888" v="353"/>
          <ac:spMkLst>
            <pc:docMk/>
            <pc:sldMk cId="0" sldId="296"/>
            <ac:spMk id="87" creationId="{1DC2FFF9-71DC-0A24-CA64-B839DEF1640C}"/>
          </ac:spMkLst>
        </pc:spChg>
      </pc:sldChg>
      <pc:sldChg chg="addSp delSp modSp mod">
        <pc:chgData name="석주 이" userId="b6553f64e91d015d" providerId="LiveId" clId="{0BC1CC68-5FB1-45E5-A6E2-A4614C9CFE72}" dt="2025-12-16T02:53:30.457" v="354"/>
        <pc:sldMkLst>
          <pc:docMk/>
          <pc:sldMk cId="0" sldId="299"/>
        </pc:sldMkLst>
        <pc:spChg chg="mod">
          <ac:chgData name="석주 이" userId="b6553f64e91d015d" providerId="LiveId" clId="{0BC1CC68-5FB1-45E5-A6E2-A4614C9CFE72}" dt="2025-12-16T01:34:28.031" v="131" actId="20577"/>
          <ac:spMkLst>
            <pc:docMk/>
            <pc:sldMk cId="0" sldId="299"/>
            <ac:spMk id="7" creationId="{00000000-0000-0000-0000-000000000000}"/>
          </ac:spMkLst>
        </pc:spChg>
        <pc:spChg chg="add mod">
          <ac:chgData name="석주 이" userId="b6553f64e91d015d" providerId="LiveId" clId="{0BC1CC68-5FB1-45E5-A6E2-A4614C9CFE72}" dt="2025-12-16T02:53:30.457" v="354"/>
          <ac:spMkLst>
            <pc:docMk/>
            <pc:sldMk cId="0" sldId="299"/>
            <ac:spMk id="56" creationId="{607D4C2B-71DF-4430-AC90-C1826D3C9014}"/>
          </ac:spMkLst>
        </pc:spChg>
        <pc:spChg chg="del">
          <ac:chgData name="석주 이" userId="b6553f64e91d015d" providerId="LiveId" clId="{0BC1CC68-5FB1-45E5-A6E2-A4614C9CFE72}" dt="2025-12-16T02:49:21.172" v="259" actId="478"/>
          <ac:spMkLst>
            <pc:docMk/>
            <pc:sldMk cId="0" sldId="299"/>
            <ac:spMk id="58" creationId="{00000000-0000-0000-0000-000000000000}"/>
          </ac:spMkLst>
        </pc:spChg>
      </pc:sldChg>
      <pc:sldChg chg="addSp delSp modSp mod">
        <pc:chgData name="석주 이" userId="b6553f64e91d015d" providerId="LiveId" clId="{0BC1CC68-5FB1-45E5-A6E2-A4614C9CFE72}" dt="2025-12-16T02:53:31.084" v="355"/>
        <pc:sldMkLst>
          <pc:docMk/>
          <pc:sldMk cId="0" sldId="300"/>
        </pc:sldMkLst>
        <pc:spChg chg="add mod">
          <ac:chgData name="석주 이" userId="b6553f64e91d015d" providerId="LiveId" clId="{0BC1CC68-5FB1-45E5-A6E2-A4614C9CFE72}" dt="2025-12-16T02:53:31.084" v="355"/>
          <ac:spMkLst>
            <pc:docMk/>
            <pc:sldMk cId="0" sldId="300"/>
            <ac:spMk id="2" creationId="{DAF65E47-E729-0A28-C64E-B587390262A2}"/>
          </ac:spMkLst>
        </pc:spChg>
        <pc:spChg chg="del">
          <ac:chgData name="석주 이" userId="b6553f64e91d015d" providerId="LiveId" clId="{0BC1CC68-5FB1-45E5-A6E2-A4614C9CFE72}" dt="2025-12-16T01:34:36.437" v="132" actId="478"/>
          <ac:spMkLst>
            <pc:docMk/>
            <pc:sldMk cId="0" sldId="300"/>
            <ac:spMk id="74" creationId="{6FF7BCFF-67BA-493B-CAED-F9E7A71D0C66}"/>
          </ac:spMkLst>
        </pc:spChg>
        <pc:spChg chg="del">
          <ac:chgData name="석주 이" userId="b6553f64e91d015d" providerId="LiveId" clId="{0BC1CC68-5FB1-45E5-A6E2-A4614C9CFE72}" dt="2025-12-16T01:34:36.437" v="132" actId="478"/>
          <ac:spMkLst>
            <pc:docMk/>
            <pc:sldMk cId="0" sldId="300"/>
            <ac:spMk id="75" creationId="{343A2DFB-2914-A4D6-5846-777B7E514509}"/>
          </ac:spMkLst>
        </pc:spChg>
        <pc:spChg chg="mod">
          <ac:chgData name="석주 이" userId="b6553f64e91d015d" providerId="LiveId" clId="{0BC1CC68-5FB1-45E5-A6E2-A4614C9CFE72}" dt="2025-12-16T01:27:08.811" v="1" actId="14100"/>
          <ac:spMkLst>
            <pc:docMk/>
            <pc:sldMk cId="0" sldId="300"/>
            <ac:spMk id="107" creationId="{8F7910A2-370C-BA3C-7208-0E093C0A5BB5}"/>
          </ac:spMkLst>
        </pc:spChg>
        <pc:spChg chg="mod">
          <ac:chgData name="석주 이" userId="b6553f64e91d015d" providerId="LiveId" clId="{0BC1CC68-5FB1-45E5-A6E2-A4614C9CFE72}" dt="2025-12-16T01:27:25.029" v="14" actId="404"/>
          <ac:spMkLst>
            <pc:docMk/>
            <pc:sldMk cId="0" sldId="300"/>
            <ac:spMk id="109" creationId="{AE34F467-97E1-F543-ED91-8EDB792AB3A4}"/>
          </ac:spMkLst>
        </pc:spChg>
        <pc:spChg chg="mod">
          <ac:chgData name="석주 이" userId="b6553f64e91d015d" providerId="LiveId" clId="{0BC1CC68-5FB1-45E5-A6E2-A4614C9CFE72}" dt="2025-12-16T01:27:05.828" v="0" actId="14100"/>
          <ac:spMkLst>
            <pc:docMk/>
            <pc:sldMk cId="0" sldId="300"/>
            <ac:spMk id="114" creationId="{D98E971B-F3A6-CAF0-EC5D-2C29A9EBB277}"/>
          </ac:spMkLst>
        </pc:spChg>
        <pc:spChg chg="mod">
          <ac:chgData name="석주 이" userId="b6553f64e91d015d" providerId="LiveId" clId="{0BC1CC68-5FB1-45E5-A6E2-A4614C9CFE72}" dt="2025-12-16T01:27:25.029" v="14" actId="404"/>
          <ac:spMkLst>
            <pc:docMk/>
            <pc:sldMk cId="0" sldId="300"/>
            <ac:spMk id="116" creationId="{DB70B1B3-0C91-1AC6-0C8D-7F910ABB935A}"/>
          </ac:spMkLst>
        </pc:spChg>
        <pc:spChg chg="mod">
          <ac:chgData name="석주 이" userId="b6553f64e91d015d" providerId="LiveId" clId="{0BC1CC68-5FB1-45E5-A6E2-A4614C9CFE72}" dt="2025-12-16T01:27:14.911" v="2" actId="14100"/>
          <ac:spMkLst>
            <pc:docMk/>
            <pc:sldMk cId="0" sldId="300"/>
            <ac:spMk id="121" creationId="{EA0912CA-49F4-EBAC-A171-A78478DE32EF}"/>
          </ac:spMkLst>
        </pc:spChg>
        <pc:spChg chg="mod">
          <ac:chgData name="석주 이" userId="b6553f64e91d015d" providerId="LiveId" clId="{0BC1CC68-5FB1-45E5-A6E2-A4614C9CFE72}" dt="2025-12-16T01:27:25.029" v="14" actId="404"/>
          <ac:spMkLst>
            <pc:docMk/>
            <pc:sldMk cId="0" sldId="300"/>
            <ac:spMk id="123" creationId="{3DE3C22A-0A00-3EA8-D24A-573292E8AD86}"/>
          </ac:spMkLst>
        </pc:spChg>
        <pc:spChg chg="mod">
          <ac:chgData name="석주 이" userId="b6553f64e91d015d" providerId="LiveId" clId="{0BC1CC68-5FB1-45E5-A6E2-A4614C9CFE72}" dt="2025-12-16T01:27:29.534" v="20" actId="1035"/>
          <ac:spMkLst>
            <pc:docMk/>
            <pc:sldMk cId="0" sldId="300"/>
            <ac:spMk id="128" creationId="{9D7F9B44-94D0-B78A-818D-D0AAE6E4490A}"/>
          </ac:spMkLst>
        </pc:spChg>
        <pc:spChg chg="mod">
          <ac:chgData name="석주 이" userId="b6553f64e91d015d" providerId="LiveId" clId="{0BC1CC68-5FB1-45E5-A6E2-A4614C9CFE72}" dt="2025-12-16T01:27:29.534" v="20" actId="1035"/>
          <ac:spMkLst>
            <pc:docMk/>
            <pc:sldMk cId="0" sldId="300"/>
            <ac:spMk id="131" creationId="{CF27139B-A0A5-FFD1-B37D-E7C770697609}"/>
          </ac:spMkLst>
        </pc:spChg>
        <pc:spChg chg="mod">
          <ac:chgData name="석주 이" userId="b6553f64e91d015d" providerId="LiveId" clId="{0BC1CC68-5FB1-45E5-A6E2-A4614C9CFE72}" dt="2025-12-16T01:27:29.534" v="20" actId="1035"/>
          <ac:spMkLst>
            <pc:docMk/>
            <pc:sldMk cId="0" sldId="300"/>
            <ac:spMk id="134" creationId="{C645D400-8B0C-4BA2-A1A9-EAC34F3C3EE8}"/>
          </ac:spMkLst>
        </pc:spChg>
        <pc:spChg chg="del">
          <ac:chgData name="석주 이" userId="b6553f64e91d015d" providerId="LiveId" clId="{0BC1CC68-5FB1-45E5-A6E2-A4614C9CFE72}" dt="2025-12-16T02:49:24.064" v="260" actId="478"/>
          <ac:spMkLst>
            <pc:docMk/>
            <pc:sldMk cId="0" sldId="300"/>
            <ac:spMk id="142" creationId="{C2083713-ED13-CCA6-CFC2-D5B98E463D26}"/>
          </ac:spMkLst>
        </pc:spChg>
      </pc:sldChg>
      <pc:sldChg chg="addSp modSp">
        <pc:chgData name="석주 이" userId="b6553f64e91d015d" providerId="LiveId" clId="{0BC1CC68-5FB1-45E5-A6E2-A4614C9CFE72}" dt="2025-12-16T02:53:04.946" v="321"/>
        <pc:sldMkLst>
          <pc:docMk/>
          <pc:sldMk cId="1451251805" sldId="303"/>
        </pc:sldMkLst>
        <pc:spChg chg="add mod">
          <ac:chgData name="석주 이" userId="b6553f64e91d015d" providerId="LiveId" clId="{0BC1CC68-5FB1-45E5-A6E2-A4614C9CFE72}" dt="2025-12-16T02:53:04.946" v="321"/>
          <ac:spMkLst>
            <pc:docMk/>
            <pc:sldMk cId="1451251805" sldId="303"/>
            <ac:spMk id="4" creationId="{1969FD4F-D31C-A79D-B87B-2E4D8DEB9A9F}"/>
          </ac:spMkLst>
        </pc:spChg>
      </pc:sldChg>
      <pc:sldChg chg="addSp modSp">
        <pc:chgData name="석주 이" userId="b6553f64e91d015d" providerId="LiveId" clId="{0BC1CC68-5FB1-45E5-A6E2-A4614C9CFE72}" dt="2025-12-16T02:53:11.217" v="331"/>
        <pc:sldMkLst>
          <pc:docMk/>
          <pc:sldMk cId="4015993561" sldId="304"/>
        </pc:sldMkLst>
        <pc:spChg chg="add mod">
          <ac:chgData name="석주 이" userId="b6553f64e91d015d" providerId="LiveId" clId="{0BC1CC68-5FB1-45E5-A6E2-A4614C9CFE72}" dt="2025-12-16T02:53:11.217" v="331"/>
          <ac:spMkLst>
            <pc:docMk/>
            <pc:sldMk cId="4015993561" sldId="304"/>
            <ac:spMk id="4" creationId="{1E0F1801-7C86-0CBD-B38E-7F719B48098A}"/>
          </ac:spMkLst>
        </pc:spChg>
      </pc:sldChg>
      <pc:sldChg chg="addSp modSp">
        <pc:chgData name="석주 이" userId="b6553f64e91d015d" providerId="LiveId" clId="{0BC1CC68-5FB1-45E5-A6E2-A4614C9CFE72}" dt="2025-12-16T02:53:17.918" v="341"/>
        <pc:sldMkLst>
          <pc:docMk/>
          <pc:sldMk cId="238309139" sldId="305"/>
        </pc:sldMkLst>
        <pc:spChg chg="add mod">
          <ac:chgData name="석주 이" userId="b6553f64e91d015d" providerId="LiveId" clId="{0BC1CC68-5FB1-45E5-A6E2-A4614C9CFE72}" dt="2025-12-16T02:53:17.918" v="341"/>
          <ac:spMkLst>
            <pc:docMk/>
            <pc:sldMk cId="238309139" sldId="305"/>
            <ac:spMk id="4" creationId="{C5996687-1EC3-FD30-1455-F7970E17704E}"/>
          </ac:spMkLst>
        </pc:spChg>
      </pc:sldChg>
      <pc:sldChg chg="modSp add mod">
        <pc:chgData name="석주 이" userId="b6553f64e91d015d" providerId="LiveId" clId="{0BC1CC68-5FB1-45E5-A6E2-A4614C9CFE72}" dt="2025-12-16T01:27:59.466" v="35" actId="20577"/>
        <pc:sldMkLst>
          <pc:docMk/>
          <pc:sldMk cId="998000452" sldId="307"/>
        </pc:sldMkLst>
        <pc:spChg chg="mod">
          <ac:chgData name="석주 이" userId="b6553f64e91d015d" providerId="LiveId" clId="{0BC1CC68-5FB1-45E5-A6E2-A4614C9CFE72}" dt="2025-12-16T01:27:59.466" v="35" actId="20577"/>
          <ac:spMkLst>
            <pc:docMk/>
            <pc:sldMk cId="998000452" sldId="307"/>
            <ac:spMk id="22" creationId="{7991BDEA-1374-0C49-07AD-38ECCCE8CF86}"/>
          </ac:spMkLst>
        </pc:spChg>
      </pc:sldChg>
      <pc:sldChg chg="modSp add mod">
        <pc:chgData name="석주 이" userId="b6553f64e91d015d" providerId="LiveId" clId="{0BC1CC68-5FB1-45E5-A6E2-A4614C9CFE72}" dt="2025-12-16T01:28:35.957" v="48" actId="20577"/>
        <pc:sldMkLst>
          <pc:docMk/>
          <pc:sldMk cId="94291491" sldId="308"/>
        </pc:sldMkLst>
        <pc:spChg chg="mod">
          <ac:chgData name="석주 이" userId="b6553f64e91d015d" providerId="LiveId" clId="{0BC1CC68-5FB1-45E5-A6E2-A4614C9CFE72}" dt="2025-12-16T01:28:35.957" v="48" actId="20577"/>
          <ac:spMkLst>
            <pc:docMk/>
            <pc:sldMk cId="94291491" sldId="308"/>
            <ac:spMk id="22" creationId="{8202D7AB-6244-4763-A017-D9A664299201}"/>
          </ac:spMkLst>
        </pc:spChg>
      </pc:sldChg>
      <pc:sldMasterChg chg="modSldLayout">
        <pc:chgData name="석주 이" userId="b6553f64e91d015d" providerId="LiveId" clId="{0BC1CC68-5FB1-45E5-A6E2-A4614C9CFE72}" dt="2025-12-16T02:51:45.032" v="307" actId="735"/>
        <pc:sldMasterMkLst>
          <pc:docMk/>
          <pc:sldMasterMk cId="0" sldId="2147483648"/>
        </pc:sldMasterMkLst>
        <pc:sldLayoutChg chg="modSp">
          <pc:chgData name="석주 이" userId="b6553f64e91d015d" providerId="LiveId" clId="{0BC1CC68-5FB1-45E5-A6E2-A4614C9CFE72}" dt="2025-12-16T02:51:45.032" v="307" actId="735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  <pc:docChgLst>
    <pc:chgData name="석주 이" userId="b6553f64e91d015d" providerId="LiveId" clId="{7E74A06A-B2AA-4EEC-A19D-AA52293F645A}"/>
    <pc:docChg chg="undo custSel modSld">
      <pc:chgData name="석주 이" userId="b6553f64e91d015d" providerId="LiveId" clId="{7E74A06A-B2AA-4EEC-A19D-AA52293F645A}" dt="2025-12-16T11:21:03.858" v="17" actId="1076"/>
      <pc:docMkLst>
        <pc:docMk/>
      </pc:docMkLst>
      <pc:sldChg chg="modSp mod">
        <pc:chgData name="석주 이" userId="b6553f64e91d015d" providerId="LiveId" clId="{7E74A06A-B2AA-4EEC-A19D-AA52293F645A}" dt="2025-12-16T11:21:03.858" v="17" actId="1076"/>
        <pc:sldMkLst>
          <pc:docMk/>
          <pc:sldMk cId="0" sldId="256"/>
        </pc:sldMkLst>
        <pc:picChg chg="mod">
          <ac:chgData name="석주 이" userId="b6553f64e91d015d" providerId="LiveId" clId="{7E74A06A-B2AA-4EEC-A19D-AA52293F645A}" dt="2025-12-16T11:21:03.858" v="17" actId="1076"/>
          <ac:picMkLst>
            <pc:docMk/>
            <pc:sldMk cId="0" sldId="256"/>
            <ac:picMk id="3" creationId="{00000000-0000-0000-0000-000000000000}"/>
          </ac:picMkLst>
        </pc:picChg>
      </pc:sldChg>
      <pc:sldChg chg="modSp mod">
        <pc:chgData name="석주 이" userId="b6553f64e91d015d" providerId="LiveId" clId="{7E74A06A-B2AA-4EEC-A19D-AA52293F645A}" dt="2025-12-16T07:17:36.968" v="16" actId="14100"/>
        <pc:sldMkLst>
          <pc:docMk/>
          <pc:sldMk cId="0" sldId="260"/>
        </pc:sldMkLst>
        <pc:spChg chg="mod">
          <ac:chgData name="석주 이" userId="b6553f64e91d015d" providerId="LiveId" clId="{7E74A06A-B2AA-4EEC-A19D-AA52293F645A}" dt="2025-12-16T07:17:34.546" v="15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석주 이" userId="b6553f64e91d015d" providerId="LiveId" clId="{7E74A06A-B2AA-4EEC-A19D-AA52293F645A}" dt="2025-12-16T07:17:36.968" v="16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석주 이" userId="b6553f64e91d015d" providerId="LiveId" clId="{7E74A06A-B2AA-4EEC-A19D-AA52293F645A}" dt="2025-12-16T07:17:25.874" v="10" actId="1035"/>
          <ac:spMkLst>
            <pc:docMk/>
            <pc:sldMk cId="0" sldId="260"/>
            <ac:spMk id="4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314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238D7-7B2A-9F58-F32C-9CC58ACC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16741-3E08-AE5C-726D-4B0322B97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121BB-1E51-402D-C936-1B86F91F3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D1EE1-861B-A030-A63B-2F51EFB5A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223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3BB40-2553-6A02-B539-D6F3A220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55309-C5D1-214A-CC6C-AA8374AE3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3BD48-54E9-266A-0FCF-D75E64315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4AB3D-8556-280D-96F6-198DB9E16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89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2B559-9F6E-5ABA-FF02-104E58C1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DA936-F149-BF3B-AF5E-356DC314C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7BE3C-74CF-F53F-5652-8E004B098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DC033-0058-257E-319A-22D069F940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49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912E-84CE-B9B2-9794-3B4E0C31A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6CA6C-A40D-C79A-CE9A-12CE622F9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45CCA-8A2D-8949-DA81-17C0528A4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8374F-0589-10E0-49D0-A30188C4A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016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F2BE8-042F-BD33-BB04-2D3A0D08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52D02-4CA9-CD9C-ACB9-6C55CDB89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A9755-E1C9-940D-3576-A0F111F2A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99E30-2F81-77E4-5317-0F852DAD2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25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2D3B1-E442-FE33-4882-A533FA23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23C7F-3CBA-5A6C-120A-264BF424B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7940B-013F-4761-C46D-9EB622E14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ABE78-0A14-B938-1AA0-B397530F0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22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0F40B-8AD9-115D-9D47-630C251D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3A5004-40E3-4C20-D09F-EA8B8963D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45E15-4A4A-C4FF-1BAC-7FB12E83A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CA903-8D98-F6E8-C461-EF88237371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454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4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9" Type="http://schemas.openxmlformats.org/officeDocument/2006/relationships/image" Target="../media/image1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12" Type="http://schemas.openxmlformats.org/officeDocument/2006/relationships/image" Target="../media/image159.png"/><Relationship Id="rId17" Type="http://schemas.openxmlformats.org/officeDocument/2006/relationships/image" Target="../media/image164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1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5" Type="http://schemas.openxmlformats.org/officeDocument/2006/relationships/image" Target="../media/image152.png"/><Relationship Id="rId15" Type="http://schemas.openxmlformats.org/officeDocument/2006/relationships/image" Target="../media/image162.png"/><Relationship Id="rId10" Type="http://schemas.openxmlformats.org/officeDocument/2006/relationships/image" Target="../media/image157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Relationship Id="rId14" Type="http://schemas.openxmlformats.org/officeDocument/2006/relationships/image" Target="../media/image16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Relationship Id="rId9" Type="http://schemas.openxmlformats.org/officeDocument/2006/relationships/image" Target="../media/image1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85152" y="-358546"/>
            <a:ext cx="7144207" cy="71442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130638" y="761695"/>
            <a:ext cx="1304849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952805" y="819302"/>
            <a:ext cx="3329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MBA GLOBAL BUSINESS ENVIRONMENT 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10254082" y="800100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Final Presentation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914400" y="2290572"/>
            <a:ext cx="952805" cy="7589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914400" y="2728569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K-푸드 미국 시장 진출 환경분석: Bone Broth 중심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1695" y="5210251"/>
            <a:ext cx="1066830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2766060" y="5829300"/>
            <a:ext cx="7342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Global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3120" r="-3120"/>
          <a:stretch/>
        </p:blipFill>
        <p:spPr>
          <a:xfrm>
            <a:off x="3431743" y="5905195"/>
            <a:ext cx="75895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84448" y="5829300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Country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3120" r="-3120"/>
          <a:stretch/>
        </p:blipFill>
        <p:spPr>
          <a:xfrm>
            <a:off x="4398264" y="5905195"/>
            <a:ext cx="75895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50969" y="5829300"/>
            <a:ext cx="914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Industry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l="-3120" r="-3120"/>
          <a:stretch/>
        </p:blipFill>
        <p:spPr>
          <a:xfrm>
            <a:off x="5389474" y="5905195"/>
            <a:ext cx="75895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42178" y="5829300"/>
            <a:ext cx="7818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Market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914400" y="5820156"/>
            <a:ext cx="1239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2025. 12. 14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3B6C36EC-38C1-C22A-015F-1E0976923E74}"/>
              </a:ext>
            </a:extLst>
          </p:cNvPr>
          <p:cNvSpPr txBox="1"/>
          <p:nvPr/>
        </p:nvSpPr>
        <p:spPr>
          <a:xfrm>
            <a:off x="6933895" y="5820156"/>
            <a:ext cx="26005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50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altLang="ko-KR" dirty="0"/>
              <a:t>KUMBA 32</a:t>
            </a:r>
            <a:r>
              <a:rPr lang="ko-KR" altLang="en-US" dirty="0"/>
              <a:t>기 장지후</a:t>
            </a:r>
            <a:r>
              <a:rPr lang="en-US" altLang="ko-KR" dirty="0"/>
              <a:t>, </a:t>
            </a:r>
            <a:r>
              <a:rPr lang="ko-KR" altLang="en-US" dirty="0"/>
              <a:t>이석주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086307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1047902"/>
            <a:ext cx="12191695" cy="3840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OVERVIEW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418795"/>
            <a:ext cx="26910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1080821"/>
            <a:ext cx="12191695" cy="53913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67866"/>
            <a:ext cx="5410505" cy="886054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1743761"/>
            <a:ext cx="7525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페이퍼로지 5 Medium" pitchFamily="2" charset="-127"/>
                <a:ea typeface="페이퍼로지 5 Medium" pitchFamily="2" charset="-127"/>
              </a:rPr>
              <a:t>01</a:t>
            </a:r>
          </a:p>
        </p:txBody>
      </p:sp>
      <p:sp>
        <p:nvSpPr>
          <p:cNvPr id="11" name="Shape 9"/>
          <p:cNvSpPr/>
          <p:nvPr/>
        </p:nvSpPr>
        <p:spPr>
          <a:xfrm>
            <a:off x="6324905" y="1667866"/>
            <a:ext cx="5410505" cy="886054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24244" y="1743761"/>
            <a:ext cx="7525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57200" y="2777947"/>
            <a:ext cx="5410505" cy="886054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57454" y="2853842"/>
            <a:ext cx="7525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324905" y="2777947"/>
            <a:ext cx="5410505" cy="886054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524244" y="2853842"/>
            <a:ext cx="7525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57200" y="3888943"/>
            <a:ext cx="5410505" cy="886054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57454" y="3964838"/>
            <a:ext cx="7525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324905" y="3888943"/>
            <a:ext cx="5410505" cy="886054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524244" y="3964838"/>
            <a:ext cx="7525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57200" y="4999025"/>
            <a:ext cx="5410505" cy="886054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57454" y="5074920"/>
            <a:ext cx="7525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07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0" y="6467551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57199" y="6581851"/>
            <a:ext cx="29745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MBA Global Business Environment Analysis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53558" y="1877263"/>
            <a:ext cx="514807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378915" y="1867205"/>
            <a:ext cx="18150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300" b="1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dirty="0"/>
              <a:t>Executive Summary</a:t>
            </a:r>
          </a:p>
        </p:txBody>
      </p:sp>
      <p:sp>
        <p:nvSpPr>
          <p:cNvPr id="29" name="Text 27"/>
          <p:cNvSpPr txBox="1"/>
          <p:nvPr/>
        </p:nvSpPr>
        <p:spPr>
          <a:xfrm>
            <a:off x="5230368" y="1896466"/>
            <a:ext cx="462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p. 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378915" y="2153412"/>
            <a:ext cx="2129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프로젝트 핵심 요약 및 전략적 시사점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144707" y="1877263"/>
            <a:ext cx="390449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217359" y="1867205"/>
            <a:ext cx="18342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Analysis Framework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221517" y="1896466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p. 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17359" y="2153412"/>
            <a:ext cx="2138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TOP-DOWN 4계층 분석 방법론 개요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7663" y="2987345"/>
            <a:ext cx="590702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1349654" y="2978201"/>
            <a:ext cx="19193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Global Level Analysis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154473" y="3006547"/>
            <a:ext cx="538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p. 5-12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349654" y="3263494"/>
            <a:ext cx="2710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글로벌 무역 환경, FTA, USMCA 및 메가 트렌드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869473" y="2987345"/>
            <a:ext cx="666598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7217359" y="2978201"/>
            <a:ext cx="2052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Country Level Analysis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945368" y="3006547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p. 13-22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217359" y="3263494"/>
            <a:ext cx="2843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미국 시장 PESTEL, CAGE 거리, 문화적 특성 분석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01768" y="4098341"/>
            <a:ext cx="666598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1349654" y="4088282"/>
            <a:ext cx="20820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Industry Level Analysis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078578" y="4117543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p. 23-34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349654" y="4374490"/>
            <a:ext cx="2852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미국 HMR 산업 구조(5 Forces), 가치사슬 및 경쟁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869473" y="4098341"/>
            <a:ext cx="666598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7217359" y="4088282"/>
            <a:ext cx="1957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Market Level Analysis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0945368" y="4117543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p. 35-46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217359" y="4374490"/>
            <a:ext cx="3072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Bone Broth 세그먼트, 소비자 분석, 포지셔닝 및 유통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01768" y="5208422"/>
            <a:ext cx="666598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1349654" y="5199278"/>
            <a:ext cx="2424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Conclusions &amp; Implications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077663" y="5227624"/>
            <a:ext cx="615392" cy="21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p. 47-49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349654" y="5484571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최종 결론 및 단계별 진입 로드맵 제언</a:t>
            </a:r>
            <a:endParaRPr lang="en-US" sz="1000" dirty="0"/>
          </a:p>
        </p:txBody>
      </p:sp>
      <p:sp>
        <p:nvSpPr>
          <p:cNvPr id="55" name="Rectangle 13">
            <a:extLst>
              <a:ext uri="{FF2B5EF4-FFF2-40B4-BE49-F238E27FC236}">
                <a16:creationId xmlns:a16="http://schemas.microsoft.com/office/drawing/2014/main" id="{4388CBE5-7276-94CF-EFEC-40BD3A83A6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AE393-4B3E-0C9F-9E6B-44346B10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640FD0-723E-C31F-E353-A53F8359E2D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2312B12-917F-FCB8-4619-A6091D368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77202" y="-142646"/>
            <a:ext cx="7144207" cy="7144207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DD010660-3468-3F27-DD3A-0A8596BEF6A4}"/>
              </a:ext>
            </a:extLst>
          </p:cNvPr>
          <p:cNvSpPr/>
          <p:nvPr/>
        </p:nvSpPr>
        <p:spPr>
          <a:xfrm>
            <a:off x="914400" y="549555"/>
            <a:ext cx="952805" cy="7589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FAB9BE8-5ED9-BC32-EBCB-086B11E4F4F1}"/>
              </a:ext>
            </a:extLst>
          </p:cNvPr>
          <p:cNvSpPr txBox="1"/>
          <p:nvPr/>
        </p:nvSpPr>
        <p:spPr>
          <a:xfrm>
            <a:off x="914400" y="987552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K-푸드 미국 시장 진출 환경분석: Bone Broth 중심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013B30C7-5CEC-2C72-F89C-4823E7555302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lumMod val="20000"/>
              <a:lumOff val="80000"/>
              <a:alpha val="15000"/>
            </a:schemeClr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8202D7AB-6244-4763-A017-D9A664299201}"/>
              </a:ext>
            </a:extLst>
          </p:cNvPr>
          <p:cNvSpPr txBox="1"/>
          <p:nvPr/>
        </p:nvSpPr>
        <p:spPr>
          <a:xfrm>
            <a:off x="914400" y="2687727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4000" b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altLang="ko-KR" dirty="0"/>
              <a:t>1. 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9429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304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304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661627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1625616"/>
            <a:ext cx="12191695" cy="36011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85512"/>
            <a:ext cx="1757477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EXECUTIVE SUMMARY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535870"/>
            <a:ext cx="10139782" cy="795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미국 HMR 시장은 성장세이나 경쟁이 치열하므로, ‘정통성(Authenticity) + 기능성(Functionality)’ 차별화로 단계적 침투 필요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1661627"/>
            <a:ext cx="12191695" cy="4778248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2090323"/>
            <a:ext cx="2648102" cy="3920856"/>
          </a:xfrm>
          <a:prstGeom prst="rect">
            <a:avLst/>
          </a:prstGeom>
          <a:solidFill>
            <a:srgbClr val="F8FBFF"/>
          </a:solidFill>
          <a:ln w="50800">
            <a:solidFill>
              <a:srgbClr val="0056B3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94944" y="2339825"/>
            <a:ext cx="457200" cy="428696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8446" y="2465003"/>
            <a:ext cx="190195" cy="17833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94944" y="2911705"/>
            <a:ext cx="1319479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MARKET &amp; TREND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" y="3116622"/>
            <a:ext cx="1828800" cy="25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성장하는 웰니스 시장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" y="3518739"/>
            <a:ext cx="1576426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US HMR Market (2032E)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" y="3697934"/>
            <a:ext cx="1185977" cy="39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$82.8B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" y="4096836"/>
            <a:ext cx="1248156" cy="1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CAGR ~3% 안정적 성장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594032" y="4391778"/>
            <a:ext cx="2211347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Bone Broth 글로벌 $1.08B 규모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95217" y="4641280"/>
            <a:ext cx="2201018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북미가 글로벌 수요의 ~38% 차지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84200" y="4891638"/>
            <a:ext cx="2297075" cy="35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K-Wave, 고단백/저염, 편의성 트렌드 합류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333902" y="2090323"/>
            <a:ext cx="2648102" cy="3920856"/>
          </a:xfrm>
          <a:prstGeom prst="rect">
            <a:avLst/>
          </a:prstGeom>
          <a:solidFill>
            <a:srgbClr val="F8FBFF"/>
          </a:solidFill>
          <a:ln w="50800">
            <a:solidFill>
              <a:srgbClr val="0056B3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3571646" y="2339825"/>
            <a:ext cx="457200" cy="428696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05149" y="2465003"/>
            <a:ext cx="190195" cy="17833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571646" y="2911705"/>
            <a:ext cx="1433779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STRUCTURE &amp; RISK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3571646" y="3116622"/>
            <a:ext cx="1305763" cy="25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높은 진입 장벽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3571646" y="3518739"/>
            <a:ext cx="1138428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Porter's 5 Forces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571646" y="3733087"/>
            <a:ext cx="847649" cy="214348"/>
          </a:xfrm>
          <a:prstGeom prst="roundRect">
            <a:avLst>
              <a:gd name="adj" fmla="val 6666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3648456" y="3759666"/>
            <a:ext cx="781812" cy="1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Rivalry High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490618" y="3733087"/>
            <a:ext cx="1171346" cy="214348"/>
          </a:xfrm>
          <a:prstGeom prst="roundRect">
            <a:avLst>
              <a:gd name="adj" fmla="val 6666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4566514" y="3759666"/>
            <a:ext cx="1105510" cy="1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Buyer Power High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3571646" y="4090619"/>
            <a:ext cx="2205533" cy="35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글로벌 메이저(Nestlé 등) 및 PB 장악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3573074" y="4519316"/>
            <a:ext cx="2184903" cy="35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유통사 슬롯팅 피(Slotting Fee) 부담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3569469" y="4948012"/>
            <a:ext cx="2236971" cy="35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FDA 라벨링, 나트륨 저감 등 규제 준수 필수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210605" y="2090323"/>
            <a:ext cx="2648102" cy="3920856"/>
          </a:xfrm>
          <a:prstGeom prst="rect">
            <a:avLst/>
          </a:prstGeom>
          <a:solidFill>
            <a:srgbClr val="F8FBFF"/>
          </a:solidFill>
          <a:ln w="50800">
            <a:solidFill>
              <a:srgbClr val="0056B3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4" name="Shape 30"/>
          <p:cNvSpPr/>
          <p:nvPr/>
        </p:nvSpPr>
        <p:spPr>
          <a:xfrm>
            <a:off x="6448349" y="2339825"/>
            <a:ext cx="457200" cy="428696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1851" y="2465003"/>
            <a:ext cx="190195" cy="178337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448349" y="2911705"/>
            <a:ext cx="1357884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STRATEGIC FOCUS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6448349" y="3116622"/>
            <a:ext cx="1495958" cy="25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정통성 × 기능성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6448349" y="3518739"/>
            <a:ext cx="2171700" cy="911408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 txBox="1"/>
          <p:nvPr/>
        </p:nvSpPr>
        <p:spPr>
          <a:xfrm>
            <a:off x="6572707" y="3625913"/>
            <a:ext cx="1077163" cy="1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6572707" y="3822256"/>
            <a:ext cx="1700784" cy="48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"Authentic Korean Bone Broth"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6601054" y="4572474"/>
            <a:ext cx="1786738" cy="35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정통성: 12시간 고아낸 깊은 맛 (HMR/파우더 차별화)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6601054" y="5001170"/>
            <a:ext cx="2082089" cy="35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기능성: 고단백(Protein), 저염(Low Sodium), 클린라벨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6601053" y="5429867"/>
            <a:ext cx="2171699" cy="35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스토리: K-Beauty/Health 연계 마케팅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9087307" y="2090323"/>
            <a:ext cx="2648102" cy="3920856"/>
          </a:xfrm>
          <a:prstGeom prst="rect">
            <a:avLst/>
          </a:prstGeom>
          <a:solidFill>
            <a:srgbClr val="F8FBFF"/>
          </a:solidFill>
          <a:ln w="50800">
            <a:solidFill>
              <a:srgbClr val="0056B3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0"/>
          <p:cNvSpPr/>
          <p:nvPr/>
        </p:nvSpPr>
        <p:spPr>
          <a:xfrm>
            <a:off x="9325051" y="2339825"/>
            <a:ext cx="457200" cy="428696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58554" y="2465003"/>
            <a:ext cx="190195" cy="178337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9325051" y="2911705"/>
            <a:ext cx="1624889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EXECUTION ROADMAP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9325051" y="3116622"/>
            <a:ext cx="1476756" cy="25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단계적 채널 확장</a:t>
            </a:r>
            <a:endParaRPr lang="en-US" sz="1500" dirty="0"/>
          </a:p>
        </p:txBody>
      </p:sp>
      <p:sp>
        <p:nvSpPr>
          <p:cNvPr id="49" name="Shape 43"/>
          <p:cNvSpPr/>
          <p:nvPr/>
        </p:nvSpPr>
        <p:spPr>
          <a:xfrm>
            <a:off x="9325051" y="3536744"/>
            <a:ext cx="228600" cy="214348"/>
          </a:xfrm>
          <a:prstGeom prst="roundRect">
            <a:avLst>
              <a:gd name="adj" fmla="val 40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4"/>
          <p:cNvSpPr txBox="1"/>
          <p:nvPr/>
        </p:nvSpPr>
        <p:spPr>
          <a:xfrm>
            <a:off x="9405518" y="3572755"/>
            <a:ext cx="162763" cy="143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9629546" y="3518739"/>
            <a:ext cx="872338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Niche / Test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9629546" y="3688503"/>
            <a:ext cx="2003654" cy="133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H-Mart, Amazon, D2C (반응 검증)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9325051" y="3965440"/>
            <a:ext cx="228600" cy="214348"/>
          </a:xfrm>
          <a:prstGeom prst="roundRect">
            <a:avLst>
              <a:gd name="adj" fmla="val 40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8"/>
          <p:cNvSpPr txBox="1"/>
          <p:nvPr/>
        </p:nvSpPr>
        <p:spPr>
          <a:xfrm>
            <a:off x="9405518" y="4001451"/>
            <a:ext cx="162763" cy="143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9629546" y="3947436"/>
            <a:ext cx="1081735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Volume / Scale</a:t>
            </a:r>
            <a:endParaRPr lang="en-US" sz="1000" dirty="0"/>
          </a:p>
        </p:txBody>
      </p:sp>
      <p:sp>
        <p:nvSpPr>
          <p:cNvPr id="56" name="Text 50"/>
          <p:cNvSpPr txBox="1"/>
          <p:nvPr/>
        </p:nvSpPr>
        <p:spPr>
          <a:xfrm>
            <a:off x="9629546" y="4117199"/>
            <a:ext cx="2067066" cy="133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Costco, Trader Joe's (시식/회전율)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9325051" y="4394137"/>
            <a:ext cx="228600" cy="214348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2"/>
          <p:cNvSpPr txBox="1"/>
          <p:nvPr/>
        </p:nvSpPr>
        <p:spPr>
          <a:xfrm>
            <a:off x="9405518" y="4430147"/>
            <a:ext cx="162763" cy="143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9629546" y="4376132"/>
            <a:ext cx="881482" cy="179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Mainstream</a:t>
            </a:r>
            <a:endParaRPr lang="en-US" sz="1000" dirty="0"/>
          </a:p>
        </p:txBody>
      </p:sp>
      <p:sp>
        <p:nvSpPr>
          <p:cNvPr id="60" name="Text 54"/>
          <p:cNvSpPr txBox="1"/>
          <p:nvPr/>
        </p:nvSpPr>
        <p:spPr>
          <a:xfrm>
            <a:off x="9629545" y="4545895"/>
            <a:ext cx="1917739" cy="133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Walmart, Kroger, Whole Foods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9439351" y="3733087"/>
            <a:ext cx="19202" cy="67905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6"/>
          <p:cNvSpPr/>
          <p:nvPr/>
        </p:nvSpPr>
        <p:spPr>
          <a:xfrm>
            <a:off x="0" y="6439018"/>
            <a:ext cx="12191695" cy="4372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57"/>
          <p:cNvSpPr/>
          <p:nvPr/>
        </p:nvSpPr>
        <p:spPr>
          <a:xfrm>
            <a:off x="0" y="6439018"/>
            <a:ext cx="12191695" cy="857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8"/>
          <p:cNvSpPr txBox="1"/>
          <p:nvPr/>
        </p:nvSpPr>
        <p:spPr>
          <a:xfrm>
            <a:off x="457199" y="6582203"/>
            <a:ext cx="5753405" cy="16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5" name="Rectangle 13">
            <a:extLst>
              <a:ext uri="{FF2B5EF4-FFF2-40B4-BE49-F238E27FC236}">
                <a16:creationId xmlns:a16="http://schemas.microsoft.com/office/drawing/2014/main" id="{EE1DD8B3-5B1B-9A6E-EC1E-8F21FE4FC72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18D8-03F0-E8AC-40B4-00A7D1DEB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4178BD-AE9E-48F5-C0C0-2F812DFA2C3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3212969-6457-0607-D22C-FB20820516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77202" y="-142646"/>
            <a:ext cx="7144207" cy="7144207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48099AC2-EFC9-E311-C484-48923D061576}"/>
              </a:ext>
            </a:extLst>
          </p:cNvPr>
          <p:cNvSpPr/>
          <p:nvPr/>
        </p:nvSpPr>
        <p:spPr>
          <a:xfrm>
            <a:off x="914400" y="549555"/>
            <a:ext cx="952805" cy="7589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6B392B-FCA1-269B-B79A-1CCF60325918}"/>
              </a:ext>
            </a:extLst>
          </p:cNvPr>
          <p:cNvSpPr txBox="1"/>
          <p:nvPr/>
        </p:nvSpPr>
        <p:spPr>
          <a:xfrm>
            <a:off x="914400" y="987552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K-푸드 미국 시장 진출 환경분석: Bone Broth 중심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F247427A-EB79-B6C0-92A6-FD85429E554F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lumMod val="20000"/>
              <a:lumOff val="80000"/>
              <a:alpha val="15000"/>
            </a:schemeClr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991BDEA-1374-0C49-07AD-38ECCCE8CF86}"/>
              </a:ext>
            </a:extLst>
          </p:cNvPr>
          <p:cNvSpPr txBox="1"/>
          <p:nvPr/>
        </p:nvSpPr>
        <p:spPr>
          <a:xfrm>
            <a:off x="914400" y="2687727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4000" b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altLang="ko-KR" dirty="0"/>
              <a:t>2. Analysis Framework</a:t>
            </a:r>
          </a:p>
        </p:txBody>
      </p:sp>
    </p:spTree>
    <p:extLst>
      <p:ext uri="{BB962C8B-B14F-4D97-AF65-F5344CB8AC3E}">
        <p14:creationId xmlns:p14="http://schemas.microsoft.com/office/powerpoint/2010/main" val="998000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그룹 88">
            <a:extLst>
              <a:ext uri="{FF2B5EF4-FFF2-40B4-BE49-F238E27FC236}">
                <a16:creationId xmlns:a16="http://schemas.microsoft.com/office/drawing/2014/main" id="{3D3E6E65-E518-D7DD-A4C4-57B847B4D643}"/>
              </a:ext>
            </a:extLst>
          </p:cNvPr>
          <p:cNvGrpSpPr/>
          <p:nvPr/>
        </p:nvGrpSpPr>
        <p:grpSpPr>
          <a:xfrm>
            <a:off x="0" y="1"/>
            <a:ext cx="12191695" cy="6858000"/>
            <a:chOff x="0" y="0"/>
            <a:chExt cx="12191695" cy="7600493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191932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FRAMEWORK OVERVIEW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263579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TOP-DOWN 4계층 분석을 통한 체계적 접근: Global → Country → Industry → Market 순차적 리스크 검증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772607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1000354" y="1742846"/>
              <a:ext cx="19202" cy="5162702"/>
            </a:xfrm>
            <a:prstGeom prst="rect">
              <a:avLst/>
            </a:prstGeom>
            <a:solidFill>
              <a:srgbClr val="CBD5E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1000354" y="1742846"/>
              <a:ext cx="19202" cy="5162702"/>
            </a:xfrm>
            <a:prstGeom prst="rect">
              <a:avLst/>
            </a:prstGeom>
            <a:solidFill>
              <a:srgbClr val="94A3B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1"/>
            <p:cNvSpPr/>
            <p:nvPr/>
          </p:nvSpPr>
          <p:spPr>
            <a:xfrm>
              <a:off x="0" y="7210044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2"/>
            <p:cNvSpPr/>
            <p:nvPr/>
          </p:nvSpPr>
          <p:spPr>
            <a:xfrm>
              <a:off x="0" y="7210044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CE780F35-1564-B4F5-0AC3-C12932850752}"/>
                </a:ext>
              </a:extLst>
            </p:cNvPr>
            <p:cNvGrpSpPr/>
            <p:nvPr/>
          </p:nvGrpSpPr>
          <p:grpSpPr>
            <a:xfrm>
              <a:off x="457200" y="1742846"/>
              <a:ext cx="11278209" cy="5168188"/>
              <a:chOff x="457200" y="1742846"/>
              <a:chExt cx="11278209" cy="5168188"/>
            </a:xfrm>
          </p:grpSpPr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0BF47CF9-06EE-DD1B-E4B7-20EF9D14AA83}"/>
                  </a:ext>
                </a:extLst>
              </p:cNvPr>
              <p:cNvGrpSpPr/>
              <p:nvPr/>
            </p:nvGrpSpPr>
            <p:grpSpPr>
              <a:xfrm>
                <a:off x="457200" y="1742846"/>
                <a:ext cx="11278209" cy="1000354"/>
                <a:chOff x="457200" y="1742846"/>
                <a:chExt cx="11278209" cy="1000354"/>
              </a:xfrm>
            </p:grpSpPr>
            <p:sp>
              <p:nvSpPr>
                <p:cNvPr id="18" name="Shape 15"/>
                <p:cNvSpPr/>
                <p:nvPr/>
              </p:nvSpPr>
              <p:spPr>
                <a:xfrm>
                  <a:off x="457200" y="1742846"/>
                  <a:ext cx="11277295" cy="1000354"/>
                </a:xfrm>
                <a:prstGeom prst="roundRect">
                  <a:avLst>
                    <a:gd name="adj" fmla="val 6964"/>
                  </a:avLst>
                </a:prstGeom>
                <a:solidFill>
                  <a:srgbClr val="FFFFFF"/>
                </a:solidFill>
                <a:ln/>
                <a:effectLst>
                  <a:outerShdw blurRad="63500" dist="38100" dir="5400000" algn="bl" rotWithShape="0">
                    <a:srgbClr val="000000">
                      <a:alpha val="5000"/>
                    </a:srgbClr>
                  </a:outerShdw>
                </a:effec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9" name="Shape 16"/>
                <p:cNvSpPr/>
                <p:nvPr/>
              </p:nvSpPr>
              <p:spPr>
                <a:xfrm>
                  <a:off x="1886407" y="1742846"/>
                  <a:ext cx="9849002" cy="1000354"/>
                </a:xfrm>
                <a:prstGeom prst="rect">
                  <a:avLst/>
                </a:prstGeom>
                <a:noFill/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0" name="Shape 17"/>
                <p:cNvSpPr/>
                <p:nvPr/>
              </p:nvSpPr>
              <p:spPr>
                <a:xfrm>
                  <a:off x="5706770" y="1995221"/>
                  <a:ext cx="9144" cy="495605"/>
                </a:xfrm>
                <a:prstGeom prst="rect">
                  <a:avLst/>
                </a:prstGeom>
                <a:solidFill>
                  <a:srgbClr val="E2E8F0"/>
                </a:solidFill>
                <a:ln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1" name="Shape 18"/>
                <p:cNvSpPr/>
                <p:nvPr/>
              </p:nvSpPr>
              <p:spPr>
                <a:xfrm>
                  <a:off x="6019495" y="1938528"/>
                  <a:ext cx="1476756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2" name="Shape 19"/>
                <p:cNvSpPr/>
                <p:nvPr/>
              </p:nvSpPr>
              <p:spPr>
                <a:xfrm>
                  <a:off x="7563917" y="1938528"/>
                  <a:ext cx="923544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3" name="Shape 20"/>
                <p:cNvSpPr/>
                <p:nvPr/>
              </p:nvSpPr>
              <p:spPr>
                <a:xfrm>
                  <a:off x="8557870" y="1938528"/>
                  <a:ext cx="1895551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4" name="Shape 21"/>
                <p:cNvSpPr/>
                <p:nvPr/>
              </p:nvSpPr>
              <p:spPr>
                <a:xfrm>
                  <a:off x="6019495" y="2281428"/>
                  <a:ext cx="1343254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" name="Text 22"/>
                <p:cNvSpPr txBox="1"/>
                <p:nvPr/>
              </p:nvSpPr>
              <p:spPr>
                <a:xfrm>
                  <a:off x="2115007" y="2005279"/>
                  <a:ext cx="2576779" cy="24780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300" b="1" dirty="0">
                      <a:solidFill>
                        <a:srgbClr val="111827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World Business Environment</a:t>
                  </a:r>
                  <a:endParaRPr lang="en-US" sz="1300" dirty="0"/>
                </a:p>
              </p:txBody>
            </p:sp>
            <p:sp>
              <p:nvSpPr>
                <p:cNvPr id="26" name="Text 23"/>
                <p:cNvSpPr txBox="1"/>
                <p:nvPr/>
              </p:nvSpPr>
              <p:spPr>
                <a:xfrm>
                  <a:off x="2115007" y="2300630"/>
                  <a:ext cx="2500884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dirty="0">
                      <a:solidFill>
                        <a:srgbClr val="6B7280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국경 간 무역/투자 환경 및 거시 트렌드 분석</a:t>
                  </a:r>
                  <a:endParaRPr lang="en-US" sz="1000" dirty="0"/>
                </a:p>
              </p:txBody>
            </p:sp>
            <p:sp>
              <p:nvSpPr>
                <p:cNvPr id="27" name="Text 24"/>
                <p:cNvSpPr txBox="1"/>
                <p:nvPr/>
              </p:nvSpPr>
              <p:spPr>
                <a:xfrm>
                  <a:off x="6143854" y="1986077"/>
                  <a:ext cx="1314907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Trade Theory &amp; Policy</a:t>
                  </a:r>
                  <a:endParaRPr lang="en-US" sz="900" dirty="0"/>
                </a:p>
              </p:txBody>
            </p:sp>
            <p:sp>
              <p:nvSpPr>
                <p:cNvPr id="28" name="Text 25"/>
                <p:cNvSpPr txBox="1"/>
                <p:nvPr/>
              </p:nvSpPr>
              <p:spPr>
                <a:xfrm>
                  <a:off x="7687361" y="1986077"/>
                  <a:ext cx="762610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FDI Analysis</a:t>
                  </a:r>
                  <a:endParaRPr lang="en-US" sz="900" dirty="0"/>
                </a:p>
              </p:txBody>
            </p:sp>
            <p:sp>
              <p:nvSpPr>
                <p:cNvPr id="29" name="Text 26"/>
                <p:cNvSpPr txBox="1"/>
                <p:nvPr/>
              </p:nvSpPr>
              <p:spPr>
                <a:xfrm>
                  <a:off x="8682228" y="1986077"/>
                  <a:ext cx="1733702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Regional Integration (USMCA)</a:t>
                  </a:r>
                  <a:endParaRPr lang="en-US" sz="900" dirty="0"/>
                </a:p>
              </p:txBody>
            </p:sp>
            <p:sp>
              <p:nvSpPr>
                <p:cNvPr id="30" name="Text 27"/>
                <p:cNvSpPr txBox="1"/>
                <p:nvPr/>
              </p:nvSpPr>
              <p:spPr>
                <a:xfrm>
                  <a:off x="6143854" y="2328977"/>
                  <a:ext cx="1181405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Global Mega Trends</a:t>
                  </a:r>
                  <a:endParaRPr lang="en-US" sz="900" dirty="0"/>
                </a:p>
              </p:txBody>
            </p:sp>
            <p:sp>
              <p:nvSpPr>
                <p:cNvPr id="31" name="Shape 28"/>
                <p:cNvSpPr/>
                <p:nvPr/>
              </p:nvSpPr>
              <p:spPr>
                <a:xfrm>
                  <a:off x="457200" y="1742846"/>
                  <a:ext cx="1429207" cy="1000354"/>
                </a:xfrm>
                <a:prstGeom prst="rect">
                  <a:avLst/>
                </a:prstGeom>
                <a:solidFill>
                  <a:srgbClr val="0F172A"/>
                </a:solidFill>
                <a:ln/>
              </p:spPr>
              <p:txBody>
                <a:bodyPr/>
                <a:lstStyle/>
                <a:p>
                  <a:endParaRPr lang="ko-KR" altLang="en-US"/>
                </a:p>
              </p:txBody>
            </p:sp>
            <p:pic>
              <p:nvPicPr>
                <p:cNvPr id="32" name="Image 1" descr="preencoded.png"/>
                <p:cNvPicPr>
                  <a:picLocks noChangeAspect="1"/>
                </p:cNvPicPr>
                <p:nvPr/>
              </p:nvPicPr>
              <p:blipFill>
                <a:blip r:embed="rId3"/>
                <a:srcRect/>
                <a:stretch/>
              </p:blipFill>
              <p:spPr>
                <a:xfrm>
                  <a:off x="1028700" y="1986077"/>
                  <a:ext cx="286207" cy="286207"/>
                </a:xfrm>
                <a:prstGeom prst="rect">
                  <a:avLst/>
                </a:prstGeom>
              </p:spPr>
            </p:pic>
            <p:sp>
              <p:nvSpPr>
                <p:cNvPr id="33" name="Text 29"/>
                <p:cNvSpPr txBox="1"/>
                <p:nvPr/>
              </p:nvSpPr>
              <p:spPr>
                <a:xfrm>
                  <a:off x="889711" y="2309774"/>
                  <a:ext cx="672084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GLOBAL</a:t>
                  </a:r>
                  <a:endParaRPr lang="en-US" sz="1000" dirty="0"/>
                </a:p>
              </p:txBody>
            </p:sp>
          </p:grpSp>
          <p:grpSp>
            <p:nvGrpSpPr>
              <p:cNvPr id="86" name="그룹 85">
                <a:extLst>
                  <a:ext uri="{FF2B5EF4-FFF2-40B4-BE49-F238E27FC236}">
                    <a16:creationId xmlns:a16="http://schemas.microsoft.com/office/drawing/2014/main" id="{3E574DF6-8984-F350-4CE2-F99F1CC09099}"/>
                  </a:ext>
                </a:extLst>
              </p:cNvPr>
              <p:cNvGrpSpPr/>
              <p:nvPr/>
            </p:nvGrpSpPr>
            <p:grpSpPr>
              <a:xfrm>
                <a:off x="457200" y="3132124"/>
                <a:ext cx="11278209" cy="1000354"/>
                <a:chOff x="457200" y="2933395"/>
                <a:chExt cx="11278209" cy="1000354"/>
              </a:xfrm>
            </p:grpSpPr>
            <p:sp>
              <p:nvSpPr>
                <p:cNvPr id="34" name="Shape 30"/>
                <p:cNvSpPr/>
                <p:nvPr/>
              </p:nvSpPr>
              <p:spPr>
                <a:xfrm>
                  <a:off x="457200" y="2933395"/>
                  <a:ext cx="11277295" cy="1000354"/>
                </a:xfrm>
                <a:prstGeom prst="roundRect">
                  <a:avLst>
                    <a:gd name="adj" fmla="val 6964"/>
                  </a:avLst>
                </a:prstGeom>
                <a:solidFill>
                  <a:srgbClr val="FFFFFF"/>
                </a:solidFill>
                <a:ln/>
                <a:effectLst>
                  <a:outerShdw blurRad="63500" dist="38100" dir="5400000" algn="bl" rotWithShape="0">
                    <a:srgbClr val="000000">
                      <a:alpha val="5000"/>
                    </a:srgbClr>
                  </a:outerShdw>
                </a:effec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5" name="Shape 31"/>
                <p:cNvSpPr/>
                <p:nvPr/>
              </p:nvSpPr>
              <p:spPr>
                <a:xfrm>
                  <a:off x="1886407" y="2933395"/>
                  <a:ext cx="9849002" cy="1000354"/>
                </a:xfrm>
                <a:prstGeom prst="rect">
                  <a:avLst/>
                </a:prstGeom>
                <a:noFill/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" name="Shape 32"/>
                <p:cNvSpPr/>
                <p:nvPr/>
              </p:nvSpPr>
              <p:spPr>
                <a:xfrm>
                  <a:off x="5706770" y="3185770"/>
                  <a:ext cx="9144" cy="495605"/>
                </a:xfrm>
                <a:prstGeom prst="rect">
                  <a:avLst/>
                </a:prstGeom>
                <a:solidFill>
                  <a:srgbClr val="E2E8F0"/>
                </a:solidFill>
                <a:ln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" name="Shape 33"/>
                <p:cNvSpPr/>
                <p:nvPr/>
              </p:nvSpPr>
              <p:spPr>
                <a:xfrm>
                  <a:off x="6019495" y="3129077"/>
                  <a:ext cx="1152144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8" name="Shape 34"/>
                <p:cNvSpPr/>
                <p:nvPr/>
              </p:nvSpPr>
              <p:spPr>
                <a:xfrm>
                  <a:off x="7247534" y="3129077"/>
                  <a:ext cx="1714500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" name="Shape 35"/>
                <p:cNvSpPr/>
                <p:nvPr/>
              </p:nvSpPr>
              <p:spPr>
                <a:xfrm>
                  <a:off x="9031529" y="3129077"/>
                  <a:ext cx="1781251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0" name="Shape 36"/>
                <p:cNvSpPr/>
                <p:nvPr/>
              </p:nvSpPr>
              <p:spPr>
                <a:xfrm>
                  <a:off x="6019495" y="3471977"/>
                  <a:ext cx="1133856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1" name="Text 37"/>
                <p:cNvSpPr txBox="1"/>
                <p:nvPr/>
              </p:nvSpPr>
              <p:spPr>
                <a:xfrm>
                  <a:off x="2115007" y="3195828"/>
                  <a:ext cx="2414930" cy="24780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300" b="1" dirty="0">
                      <a:solidFill>
                        <a:srgbClr val="111827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United States Environment</a:t>
                  </a:r>
                  <a:endParaRPr lang="en-US" sz="1300" dirty="0"/>
                </a:p>
              </p:txBody>
            </p:sp>
            <p:sp>
              <p:nvSpPr>
                <p:cNvPr id="42" name="Text 38"/>
                <p:cNvSpPr txBox="1"/>
                <p:nvPr/>
              </p:nvSpPr>
              <p:spPr>
                <a:xfrm>
                  <a:off x="2115007" y="3491179"/>
                  <a:ext cx="2852928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dirty="0">
                      <a:solidFill>
                        <a:srgbClr val="6B7280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미국 시장의 정치·경제·사회·문화적 진입 장벽 분석</a:t>
                  </a:r>
                  <a:endParaRPr lang="en-US" sz="1000" dirty="0"/>
                </a:p>
              </p:txBody>
            </p:sp>
            <p:sp>
              <p:nvSpPr>
                <p:cNvPr id="43" name="Text 39"/>
                <p:cNvSpPr txBox="1"/>
                <p:nvPr/>
              </p:nvSpPr>
              <p:spPr>
                <a:xfrm>
                  <a:off x="6143854" y="3176626"/>
                  <a:ext cx="991210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PESTEL Analysis</a:t>
                  </a:r>
                  <a:endParaRPr lang="en-US" sz="900" dirty="0"/>
                </a:p>
              </p:txBody>
            </p:sp>
            <p:sp>
              <p:nvSpPr>
                <p:cNvPr id="44" name="Text 40"/>
                <p:cNvSpPr txBox="1"/>
                <p:nvPr/>
              </p:nvSpPr>
              <p:spPr>
                <a:xfrm>
                  <a:off x="7371893" y="3176626"/>
                  <a:ext cx="1552651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CAGE Distance Framework</a:t>
                  </a:r>
                  <a:endParaRPr lang="en-US" sz="900" dirty="0"/>
                </a:p>
              </p:txBody>
            </p:sp>
            <p:sp>
              <p:nvSpPr>
                <p:cNvPr id="45" name="Text 41"/>
                <p:cNvSpPr txBox="1"/>
                <p:nvPr/>
              </p:nvSpPr>
              <p:spPr>
                <a:xfrm>
                  <a:off x="9154973" y="3176626"/>
                  <a:ext cx="1619402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National Culture (Hofstede)</a:t>
                  </a:r>
                  <a:endParaRPr lang="en-US" sz="900" dirty="0"/>
                </a:p>
              </p:txBody>
            </p:sp>
            <p:sp>
              <p:nvSpPr>
                <p:cNvPr id="46" name="Text 42"/>
                <p:cNvSpPr txBox="1"/>
                <p:nvPr/>
              </p:nvSpPr>
              <p:spPr>
                <a:xfrm>
                  <a:off x="6143854" y="3519526"/>
                  <a:ext cx="972007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Diamond Model</a:t>
                  </a:r>
                  <a:endParaRPr lang="en-US" sz="900" dirty="0"/>
                </a:p>
              </p:txBody>
            </p:sp>
            <p:sp>
              <p:nvSpPr>
                <p:cNvPr id="47" name="Shape 43"/>
                <p:cNvSpPr/>
                <p:nvPr/>
              </p:nvSpPr>
              <p:spPr>
                <a:xfrm>
                  <a:off x="457200" y="2933395"/>
                  <a:ext cx="1429207" cy="1000354"/>
                </a:xfrm>
                <a:prstGeom prst="rect">
                  <a:avLst/>
                </a:prstGeom>
                <a:solidFill>
                  <a:srgbClr val="1E3A8A"/>
                </a:solidFill>
                <a:ln/>
              </p:spPr>
              <p:txBody>
                <a:bodyPr/>
                <a:lstStyle/>
                <a:p>
                  <a:endParaRPr lang="ko-KR" altLang="en-US"/>
                </a:p>
              </p:txBody>
            </p:sp>
            <p:pic>
              <p:nvPicPr>
                <p:cNvPr id="48" name="Image 2" descr="preencoded.png"/>
                <p:cNvPicPr>
                  <a:picLocks noChangeAspect="1"/>
                </p:cNvPicPr>
                <p:nvPr/>
              </p:nvPicPr>
              <p:blipFill>
                <a:blip r:embed="rId4"/>
                <a:srcRect t="-530" b="-530"/>
                <a:stretch/>
              </p:blipFill>
              <p:spPr>
                <a:xfrm>
                  <a:off x="1047902" y="3176626"/>
                  <a:ext cx="247802" cy="286207"/>
                </a:xfrm>
                <a:prstGeom prst="rect">
                  <a:avLst/>
                </a:prstGeom>
              </p:spPr>
            </p:pic>
            <p:sp>
              <p:nvSpPr>
                <p:cNvPr id="49" name="Text 44"/>
                <p:cNvSpPr txBox="1"/>
                <p:nvPr/>
              </p:nvSpPr>
              <p:spPr>
                <a:xfrm>
                  <a:off x="832104" y="3500323"/>
                  <a:ext cx="786384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COUNTRY</a:t>
                  </a:r>
                  <a:endParaRPr lang="en-US" sz="1000" dirty="0"/>
                </a:p>
              </p:txBody>
            </p:sp>
          </p:grpSp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D9E3A5AE-F471-82BD-1EA4-C80B89B04CCE}"/>
                  </a:ext>
                </a:extLst>
              </p:cNvPr>
              <p:cNvGrpSpPr/>
              <p:nvPr/>
            </p:nvGrpSpPr>
            <p:grpSpPr>
              <a:xfrm>
                <a:off x="457200" y="4521402"/>
                <a:ext cx="11278209" cy="1000354"/>
                <a:chOff x="457200" y="4123944"/>
                <a:chExt cx="11278209" cy="1000354"/>
              </a:xfrm>
            </p:grpSpPr>
            <p:sp>
              <p:nvSpPr>
                <p:cNvPr id="50" name="Shape 45"/>
                <p:cNvSpPr/>
                <p:nvPr/>
              </p:nvSpPr>
              <p:spPr>
                <a:xfrm>
                  <a:off x="457200" y="4123944"/>
                  <a:ext cx="11277295" cy="1000354"/>
                </a:xfrm>
                <a:prstGeom prst="roundRect">
                  <a:avLst>
                    <a:gd name="adj" fmla="val 6964"/>
                  </a:avLst>
                </a:prstGeom>
                <a:solidFill>
                  <a:srgbClr val="FFFFFF"/>
                </a:solidFill>
                <a:ln/>
                <a:effectLst>
                  <a:outerShdw blurRad="63500" dist="38100" dir="5400000" algn="bl" rotWithShape="0">
                    <a:srgbClr val="000000">
                      <a:alpha val="5000"/>
                    </a:srgbClr>
                  </a:outerShdw>
                </a:effec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" name="Shape 46"/>
                <p:cNvSpPr/>
                <p:nvPr/>
              </p:nvSpPr>
              <p:spPr>
                <a:xfrm>
                  <a:off x="1886407" y="4123944"/>
                  <a:ext cx="9849002" cy="1000354"/>
                </a:xfrm>
                <a:prstGeom prst="rect">
                  <a:avLst/>
                </a:prstGeom>
                <a:noFill/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" name="Shape 47"/>
                <p:cNvSpPr/>
                <p:nvPr/>
              </p:nvSpPr>
              <p:spPr>
                <a:xfrm>
                  <a:off x="5706770" y="4376318"/>
                  <a:ext cx="9144" cy="495605"/>
                </a:xfrm>
                <a:prstGeom prst="rect">
                  <a:avLst/>
                </a:prstGeom>
                <a:solidFill>
                  <a:srgbClr val="E2E8F0"/>
                </a:solidFill>
                <a:ln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3" name="Shape 48"/>
                <p:cNvSpPr/>
                <p:nvPr/>
              </p:nvSpPr>
              <p:spPr>
                <a:xfrm>
                  <a:off x="6019495" y="4319626"/>
                  <a:ext cx="1181405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4" name="Shape 49"/>
                <p:cNvSpPr/>
                <p:nvPr/>
              </p:nvSpPr>
              <p:spPr>
                <a:xfrm>
                  <a:off x="7272223" y="4319626"/>
                  <a:ext cx="1410005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5" name="Shape 50"/>
                <p:cNvSpPr/>
                <p:nvPr/>
              </p:nvSpPr>
              <p:spPr>
                <a:xfrm>
                  <a:off x="8749894" y="4319626"/>
                  <a:ext cx="1410005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6" name="Shape 51"/>
                <p:cNvSpPr/>
                <p:nvPr/>
              </p:nvSpPr>
              <p:spPr>
                <a:xfrm>
                  <a:off x="6019495" y="4662526"/>
                  <a:ext cx="1380744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F1F5F9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7" name="Text 52"/>
                <p:cNvSpPr txBox="1"/>
                <p:nvPr/>
              </p:nvSpPr>
              <p:spPr>
                <a:xfrm>
                  <a:off x="2115007" y="4386377"/>
                  <a:ext cx="1681582" cy="24780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300" b="1" dirty="0">
                      <a:solidFill>
                        <a:srgbClr val="111827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U.S. HMR Industry</a:t>
                  </a:r>
                  <a:endParaRPr lang="en-US" sz="1300" dirty="0"/>
                </a:p>
              </p:txBody>
            </p:sp>
            <p:sp>
              <p:nvSpPr>
                <p:cNvPr id="58" name="Text 53"/>
                <p:cNvSpPr txBox="1"/>
                <p:nvPr/>
              </p:nvSpPr>
              <p:spPr>
                <a:xfrm>
                  <a:off x="2115007" y="4681728"/>
                  <a:ext cx="2938882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dirty="0">
                      <a:solidFill>
                        <a:srgbClr val="6B7280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미국 가정간편식 산업의 구조적 매력도 및 경쟁 강도</a:t>
                  </a:r>
                  <a:endParaRPr lang="en-US" sz="1000" dirty="0"/>
                </a:p>
              </p:txBody>
            </p:sp>
            <p:sp>
              <p:nvSpPr>
                <p:cNvPr id="59" name="Text 54"/>
                <p:cNvSpPr txBox="1"/>
                <p:nvPr/>
              </p:nvSpPr>
              <p:spPr>
                <a:xfrm>
                  <a:off x="6143854" y="4367174"/>
                  <a:ext cx="1019556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Porter's 5 Forces</a:t>
                  </a:r>
                  <a:endParaRPr lang="en-US" sz="900" dirty="0"/>
                </a:p>
              </p:txBody>
            </p:sp>
            <p:sp>
              <p:nvSpPr>
                <p:cNvPr id="60" name="Text 55"/>
                <p:cNvSpPr txBox="1"/>
                <p:nvPr/>
              </p:nvSpPr>
              <p:spPr>
                <a:xfrm>
                  <a:off x="7395667" y="4367174"/>
                  <a:ext cx="1248156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Industry Value Chain</a:t>
                  </a:r>
                  <a:endParaRPr lang="en-US" sz="900" dirty="0"/>
                </a:p>
              </p:txBody>
            </p:sp>
            <p:sp>
              <p:nvSpPr>
                <p:cNvPr id="61" name="Text 56"/>
                <p:cNvSpPr txBox="1"/>
                <p:nvPr/>
              </p:nvSpPr>
              <p:spPr>
                <a:xfrm>
                  <a:off x="8873338" y="4367174"/>
                  <a:ext cx="1248156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Globalization Drivers</a:t>
                  </a:r>
                  <a:endParaRPr lang="en-US" sz="900" dirty="0"/>
                </a:p>
              </p:txBody>
            </p:sp>
            <p:sp>
              <p:nvSpPr>
                <p:cNvPr id="62" name="Text 57"/>
                <p:cNvSpPr txBox="1"/>
                <p:nvPr/>
              </p:nvSpPr>
              <p:spPr>
                <a:xfrm>
                  <a:off x="6143854" y="4710074"/>
                  <a:ext cx="1219810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475569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Strategic Group Map</a:t>
                  </a:r>
                  <a:endParaRPr lang="en-US" sz="900" dirty="0"/>
                </a:p>
              </p:txBody>
            </p:sp>
            <p:sp>
              <p:nvSpPr>
                <p:cNvPr id="63" name="Shape 58"/>
                <p:cNvSpPr/>
                <p:nvPr/>
              </p:nvSpPr>
              <p:spPr>
                <a:xfrm>
                  <a:off x="457200" y="4123944"/>
                  <a:ext cx="1429207" cy="1000354"/>
                </a:xfrm>
                <a:prstGeom prst="rect">
                  <a:avLst/>
                </a:prstGeom>
                <a:solidFill>
                  <a:srgbClr val="2563EB"/>
                </a:solidFill>
                <a:ln/>
              </p:spPr>
              <p:txBody>
                <a:bodyPr/>
                <a:lstStyle/>
                <a:p>
                  <a:endParaRPr lang="ko-KR" altLang="en-US"/>
                </a:p>
              </p:txBody>
            </p:sp>
            <p:pic>
              <p:nvPicPr>
                <p:cNvPr id="64" name="Image 3" descr="preencoded.png"/>
                <p:cNvPicPr>
                  <a:picLocks noChangeAspect="1"/>
                </p:cNvPicPr>
                <p:nvPr/>
              </p:nvPicPr>
              <p:blipFill>
                <a:blip r:embed="rId5"/>
                <a:srcRect l="-266" r="-266"/>
                <a:stretch/>
              </p:blipFill>
              <p:spPr>
                <a:xfrm>
                  <a:off x="1009498" y="4367174"/>
                  <a:ext cx="323698" cy="286207"/>
                </a:xfrm>
                <a:prstGeom prst="rect">
                  <a:avLst/>
                </a:prstGeom>
              </p:spPr>
            </p:pic>
            <p:sp>
              <p:nvSpPr>
                <p:cNvPr id="65" name="Text 59"/>
                <p:cNvSpPr txBox="1"/>
                <p:nvPr/>
              </p:nvSpPr>
              <p:spPr>
                <a:xfrm>
                  <a:off x="811987" y="4690872"/>
                  <a:ext cx="824789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INDUSTRY</a:t>
                  </a:r>
                  <a:endParaRPr lang="en-US" sz="1000" dirty="0"/>
                </a:p>
              </p:txBody>
            </p:sp>
          </p:grpSp>
          <p:grpSp>
            <p:nvGrpSpPr>
              <p:cNvPr id="84" name="그룹 83">
                <a:extLst>
                  <a:ext uri="{FF2B5EF4-FFF2-40B4-BE49-F238E27FC236}">
                    <a16:creationId xmlns:a16="http://schemas.microsoft.com/office/drawing/2014/main" id="{E73B05E0-CD94-BCBE-F9FD-8C79D49BB5A5}"/>
                  </a:ext>
                </a:extLst>
              </p:cNvPr>
              <p:cNvGrpSpPr/>
              <p:nvPr/>
            </p:nvGrpSpPr>
            <p:grpSpPr>
              <a:xfrm>
                <a:off x="457200" y="5910680"/>
                <a:ext cx="11278209" cy="1000354"/>
                <a:chOff x="457200" y="5315407"/>
                <a:chExt cx="11278209" cy="1000354"/>
              </a:xfrm>
            </p:grpSpPr>
            <p:sp>
              <p:nvSpPr>
                <p:cNvPr id="66" name="Shape 60"/>
                <p:cNvSpPr/>
                <p:nvPr/>
              </p:nvSpPr>
              <p:spPr>
                <a:xfrm>
                  <a:off x="457200" y="5315407"/>
                  <a:ext cx="11277295" cy="1000354"/>
                </a:xfrm>
                <a:prstGeom prst="roundRect">
                  <a:avLst>
                    <a:gd name="adj" fmla="val 6964"/>
                  </a:avLst>
                </a:prstGeom>
                <a:solidFill>
                  <a:srgbClr val="FFFFFF"/>
                </a:solidFill>
                <a:ln/>
                <a:effectLst>
                  <a:outerShdw blurRad="63500" dist="38100" dir="5400000" algn="bl" rotWithShape="0">
                    <a:srgbClr val="000000">
                      <a:alpha val="5000"/>
                    </a:srgbClr>
                  </a:outerShdw>
                </a:effec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7" name="Shape 61"/>
                <p:cNvSpPr/>
                <p:nvPr/>
              </p:nvSpPr>
              <p:spPr>
                <a:xfrm>
                  <a:off x="1886407" y="5315407"/>
                  <a:ext cx="9849002" cy="1000354"/>
                </a:xfrm>
                <a:prstGeom prst="rect">
                  <a:avLst/>
                </a:prstGeom>
                <a:noFill/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" name="Shape 62"/>
                <p:cNvSpPr/>
                <p:nvPr/>
              </p:nvSpPr>
              <p:spPr>
                <a:xfrm>
                  <a:off x="5706770" y="5567782"/>
                  <a:ext cx="9144" cy="495605"/>
                </a:xfrm>
                <a:prstGeom prst="rect">
                  <a:avLst/>
                </a:prstGeom>
                <a:solidFill>
                  <a:srgbClr val="E2E8F0"/>
                </a:solidFill>
                <a:ln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" name="Shape 63"/>
                <p:cNvSpPr/>
                <p:nvPr/>
              </p:nvSpPr>
              <p:spPr>
                <a:xfrm>
                  <a:off x="6019495" y="5510174"/>
                  <a:ext cx="1447495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E0F2FE"/>
                </a:solidFill>
                <a:ln w="12700">
                  <a:solidFill>
                    <a:srgbClr val="BAE6FD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" name="Shape 64"/>
                <p:cNvSpPr/>
                <p:nvPr/>
              </p:nvSpPr>
              <p:spPr>
                <a:xfrm>
                  <a:off x="7534656" y="5510174"/>
                  <a:ext cx="1580998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E0F2FE"/>
                </a:solidFill>
                <a:ln w="12700">
                  <a:solidFill>
                    <a:srgbClr val="BAE6FD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1" name="Shape 65"/>
                <p:cNvSpPr/>
                <p:nvPr/>
              </p:nvSpPr>
              <p:spPr>
                <a:xfrm>
                  <a:off x="9187891" y="5510174"/>
                  <a:ext cx="1304849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E0F2FE"/>
                </a:solidFill>
                <a:ln w="12700">
                  <a:solidFill>
                    <a:srgbClr val="BAE6FD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" name="Shape 66"/>
                <p:cNvSpPr/>
                <p:nvPr/>
              </p:nvSpPr>
              <p:spPr>
                <a:xfrm>
                  <a:off x="6019495" y="5853074"/>
                  <a:ext cx="1009498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E0F2FE"/>
                </a:solidFill>
                <a:ln w="12700">
                  <a:solidFill>
                    <a:srgbClr val="BAE6FD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3" name="Shape 67"/>
                <p:cNvSpPr/>
                <p:nvPr/>
              </p:nvSpPr>
              <p:spPr>
                <a:xfrm>
                  <a:off x="7100316" y="5853074"/>
                  <a:ext cx="972007" cy="267005"/>
                </a:xfrm>
                <a:prstGeom prst="roundRect">
                  <a:avLst>
                    <a:gd name="adj" fmla="val 342465"/>
                  </a:avLst>
                </a:prstGeom>
                <a:solidFill>
                  <a:srgbClr val="E0F2FE"/>
                </a:solidFill>
                <a:ln w="12700">
                  <a:solidFill>
                    <a:srgbClr val="BAE6FD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4" name="Text 68"/>
                <p:cNvSpPr txBox="1"/>
                <p:nvPr/>
              </p:nvSpPr>
              <p:spPr>
                <a:xfrm>
                  <a:off x="2115007" y="5576926"/>
                  <a:ext cx="1881835" cy="24780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300" b="1" dirty="0">
                      <a:solidFill>
                        <a:srgbClr val="000000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K-HMR &amp; Bone Broth</a:t>
                  </a:r>
                  <a:endParaRPr lang="en-US" sz="1300" dirty="0"/>
                </a:p>
              </p:txBody>
            </p:sp>
            <p:sp>
              <p:nvSpPr>
                <p:cNvPr id="75" name="Text 69"/>
                <p:cNvSpPr txBox="1"/>
                <p:nvPr/>
              </p:nvSpPr>
              <p:spPr>
                <a:xfrm>
                  <a:off x="2115007" y="5872277"/>
                  <a:ext cx="2891333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dirty="0">
                      <a:solidFill>
                        <a:srgbClr val="6B7280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타깃 세그먼트, 소비자 니즈, 제품 경쟁력 심층 분석</a:t>
                  </a:r>
                  <a:endParaRPr lang="en-US" sz="1000" dirty="0"/>
                </a:p>
              </p:txBody>
            </p:sp>
            <p:sp>
              <p:nvSpPr>
                <p:cNvPr id="76" name="Text 70"/>
                <p:cNvSpPr txBox="1"/>
                <p:nvPr/>
              </p:nvSpPr>
              <p:spPr>
                <a:xfrm>
                  <a:off x="6143854" y="5557723"/>
                  <a:ext cx="1286561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0284C7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Segmentation Funnel</a:t>
                  </a:r>
                  <a:endParaRPr lang="en-US" sz="900" dirty="0"/>
                </a:p>
              </p:txBody>
            </p:sp>
            <p:sp>
              <p:nvSpPr>
                <p:cNvPr id="77" name="Text 71"/>
                <p:cNvSpPr txBox="1"/>
                <p:nvPr/>
              </p:nvSpPr>
              <p:spPr>
                <a:xfrm>
                  <a:off x="7658100" y="5557723"/>
                  <a:ext cx="1420063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0284C7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Product Life Cycle (PLC)</a:t>
                  </a:r>
                  <a:endParaRPr lang="en-US" sz="900" dirty="0"/>
                </a:p>
              </p:txBody>
            </p:sp>
            <p:sp>
              <p:nvSpPr>
                <p:cNvPr id="78" name="Text 72"/>
                <p:cNvSpPr txBox="1"/>
                <p:nvPr/>
              </p:nvSpPr>
              <p:spPr>
                <a:xfrm>
                  <a:off x="9311335" y="5557723"/>
                  <a:ext cx="1143000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0284C7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Consumer Persona</a:t>
                  </a:r>
                  <a:endParaRPr lang="en-US" sz="900" dirty="0"/>
                </a:p>
              </p:txBody>
            </p:sp>
            <p:sp>
              <p:nvSpPr>
                <p:cNvPr id="79" name="Text 73"/>
                <p:cNvSpPr txBox="1"/>
                <p:nvPr/>
              </p:nvSpPr>
              <p:spPr>
                <a:xfrm>
                  <a:off x="6143854" y="5900623"/>
                  <a:ext cx="848563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0284C7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VRIO Analysis</a:t>
                  </a:r>
                  <a:endParaRPr lang="en-US" sz="900" dirty="0"/>
                </a:p>
              </p:txBody>
            </p:sp>
            <p:sp>
              <p:nvSpPr>
                <p:cNvPr id="80" name="Text 74"/>
                <p:cNvSpPr txBox="1"/>
                <p:nvPr/>
              </p:nvSpPr>
              <p:spPr>
                <a:xfrm>
                  <a:off x="7223760" y="5900623"/>
                  <a:ext cx="810158" cy="16276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dirty="0">
                      <a:solidFill>
                        <a:srgbClr val="0284C7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Journey Map</a:t>
                  </a:r>
                  <a:endParaRPr lang="en-US" sz="900" dirty="0"/>
                </a:p>
              </p:txBody>
            </p:sp>
            <p:sp>
              <p:nvSpPr>
                <p:cNvPr id="81" name="Shape 75"/>
                <p:cNvSpPr/>
                <p:nvPr/>
              </p:nvSpPr>
              <p:spPr>
                <a:xfrm>
                  <a:off x="457200" y="5315407"/>
                  <a:ext cx="1429207" cy="1000354"/>
                </a:xfrm>
                <a:prstGeom prst="rect">
                  <a:avLst/>
                </a:prstGeom>
                <a:solidFill>
                  <a:srgbClr val="00A3E0"/>
                </a:solidFill>
                <a:ln/>
              </p:spPr>
              <p:txBody>
                <a:bodyPr/>
                <a:lstStyle/>
                <a:p>
                  <a:endParaRPr lang="ko-KR" altLang="en-US"/>
                </a:p>
              </p:txBody>
            </p:sp>
            <p:pic>
              <p:nvPicPr>
                <p:cNvPr id="82" name="Image 4" descr="preencoded.png"/>
                <p:cNvPicPr>
                  <a:picLocks noChangeAspect="1"/>
                </p:cNvPicPr>
                <p:nvPr/>
              </p:nvPicPr>
              <p:blipFill>
                <a:blip r:embed="rId6"/>
                <a:srcRect l="-266" r="-266"/>
                <a:stretch/>
              </p:blipFill>
              <p:spPr>
                <a:xfrm>
                  <a:off x="1009498" y="5557723"/>
                  <a:ext cx="323698" cy="286207"/>
                </a:xfrm>
                <a:prstGeom prst="rect">
                  <a:avLst/>
                </a:prstGeom>
              </p:spPr>
            </p:pic>
            <p:sp>
              <p:nvSpPr>
                <p:cNvPr id="83" name="Text 76"/>
                <p:cNvSpPr txBox="1"/>
                <p:nvPr/>
              </p:nvSpPr>
              <p:spPr>
                <a:xfrm>
                  <a:off x="877824" y="5881421"/>
                  <a:ext cx="691286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페이퍼로지 5 Medium" pitchFamily="2" charset="-127"/>
                      <a:ea typeface="페이퍼로지 5 Medium" pitchFamily="2" charset="-127"/>
                      <a:cs typeface="Noto Sans KR" pitchFamily="34" charset="-120"/>
                    </a:rPr>
                    <a:t>MARKET</a:t>
                  </a:r>
                  <a:endParaRPr lang="en-US" sz="1000" dirty="0"/>
                </a:p>
              </p:txBody>
            </p:sp>
          </p:grpSp>
        </p:grpSp>
      </p:grpSp>
      <p:sp>
        <p:nvSpPr>
          <p:cNvPr id="11" name="Rectangle 13">
            <a:extLst>
              <a:ext uri="{FF2B5EF4-FFF2-40B4-BE49-F238E27FC236}">
                <a16:creationId xmlns:a16="http://schemas.microsoft.com/office/drawing/2014/main" id="{B42357A9-2058-A155-958F-5AD3B587A3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6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1EEA2-5B36-F263-A17F-6AED98117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CFF22B-F21F-EAA9-2DE5-3EDFD1255BC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41422B3-5CA5-4E46-9618-75230B89C4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77202" y="-142646"/>
            <a:ext cx="7144207" cy="7144207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D0976432-0921-BE30-5199-620A7F83581A}"/>
              </a:ext>
            </a:extLst>
          </p:cNvPr>
          <p:cNvSpPr/>
          <p:nvPr/>
        </p:nvSpPr>
        <p:spPr>
          <a:xfrm>
            <a:off x="914400" y="549555"/>
            <a:ext cx="952805" cy="7589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4E69D19-0BDB-0228-629D-8C5C11777147}"/>
              </a:ext>
            </a:extLst>
          </p:cNvPr>
          <p:cNvSpPr txBox="1"/>
          <p:nvPr/>
        </p:nvSpPr>
        <p:spPr>
          <a:xfrm>
            <a:off x="914400" y="987552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K-푸드 미국 시장 진출 환경분석: Bone Broth 중심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15573B6D-0E45-397F-0CBF-37A4EAFC22BD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lumMod val="20000"/>
              <a:lumOff val="80000"/>
              <a:alpha val="15000"/>
            </a:schemeClr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97ECFA8A-BC86-BB05-EC9D-B7B1689139B5}"/>
              </a:ext>
            </a:extLst>
          </p:cNvPr>
          <p:cNvSpPr txBox="1"/>
          <p:nvPr/>
        </p:nvSpPr>
        <p:spPr>
          <a:xfrm>
            <a:off x="914400" y="2687727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4000" b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altLang="ko-KR" dirty="0"/>
              <a:t>3. Global Level Analysis</a:t>
            </a:r>
          </a:p>
        </p:txBody>
      </p:sp>
    </p:spTree>
    <p:extLst>
      <p:ext uri="{BB962C8B-B14F-4D97-AF65-F5344CB8AC3E}">
        <p14:creationId xmlns:p14="http://schemas.microsoft.com/office/powerpoint/2010/main" val="2725224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그룹 49">
            <a:extLst>
              <a:ext uri="{FF2B5EF4-FFF2-40B4-BE49-F238E27FC236}">
                <a16:creationId xmlns:a16="http://schemas.microsoft.com/office/drawing/2014/main" id="{4F2D90FD-793A-27A5-3E77-6FC57D6CE5D5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0052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GLOBAL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406226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Global HMR 시장은 연 6~7% 성장하며 확장 중, 북미는 글로벌 수요의 40%를 차지하는 최대 시장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0292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3610051" cy="4267505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94944" y="4871923"/>
              <a:ext cx="3133649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694944" y="5110582"/>
              <a:ext cx="10479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핵심 성장 요인</a:t>
              </a:r>
              <a:endParaRPr lang="en-US" sz="12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694944" y="5424221"/>
              <a:ext cx="3205886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전 세계적인 도시화, 1인 가구 증가 및 'Time-poor' 소비자의 편의식 수요가 시장 확대를 견인하고 있습니다.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291279" y="1819656"/>
              <a:ext cx="3610051" cy="4267505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4529023" y="2057400"/>
              <a:ext cx="19860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REGIONAL MARKET SHARE</a:t>
              </a:r>
              <a:endParaRPr lang="en-US" sz="1000" dirty="0"/>
            </a:p>
          </p:txBody>
        </p:sp>
        <p:pic>
          <p:nvPicPr>
            <p:cNvPr id="16" name="Image 0" descr="preencoded.png"/>
            <p:cNvPicPr>
              <a:picLocks noChangeAspect="1"/>
            </p:cNvPicPr>
            <p:nvPr/>
          </p:nvPicPr>
          <p:blipFill>
            <a:blip r:embed="rId3"/>
            <a:srcRect t="-9" b="-9"/>
            <a:stretch/>
          </p:blipFill>
          <p:spPr>
            <a:xfrm>
              <a:off x="4529023" y="2400300"/>
              <a:ext cx="3133649" cy="2800807"/>
            </a:xfrm>
            <a:prstGeom prst="rect">
              <a:avLst/>
            </a:prstGeom>
          </p:spPr>
        </p:pic>
        <p:sp>
          <p:nvSpPr>
            <p:cNvPr id="17" name="Shape 14"/>
            <p:cNvSpPr/>
            <p:nvPr/>
          </p:nvSpPr>
          <p:spPr>
            <a:xfrm>
              <a:off x="4529023" y="5352898"/>
              <a:ext cx="3133649" cy="495605"/>
            </a:xfrm>
            <a:prstGeom prst="roundRect">
              <a:avLst>
                <a:gd name="adj" fmla="val 14192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1" descr="preencoded.png"/>
            <p:cNvPicPr>
              <a:picLocks noChangeAspect="1"/>
            </p:cNvPicPr>
            <p:nvPr/>
          </p:nvPicPr>
          <p:blipFill>
            <a:blip r:embed="rId4"/>
            <a:srcRect t="-1100" b="-1100"/>
            <a:stretch/>
          </p:blipFill>
          <p:spPr>
            <a:xfrm>
              <a:off x="4817974" y="5541264"/>
              <a:ext cx="114300" cy="133502"/>
            </a:xfrm>
            <a:prstGeom prst="rect">
              <a:avLst/>
            </a:prstGeom>
          </p:spPr>
        </p:pic>
        <p:sp>
          <p:nvSpPr>
            <p:cNvPr id="19" name="Text 15"/>
            <p:cNvSpPr txBox="1"/>
            <p:nvPr/>
          </p:nvSpPr>
          <p:spPr>
            <a:xfrm>
              <a:off x="5008169" y="5505601"/>
              <a:ext cx="2616098" cy="2761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북미 시장이 단일 권역 최대 비중 (약 38%)</a:t>
              </a:r>
              <a:endParaRPr lang="en-US" sz="12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8129930" y="1819656"/>
              <a:ext cx="3610051" cy="4267505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8367674" y="2057400"/>
              <a:ext cx="253928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MARKET DRIVERS &amp; CONSTRAINTS</a:t>
              </a:r>
              <a:endParaRPr lang="en-US" sz="1000" dirty="0"/>
            </a:p>
          </p:txBody>
        </p:sp>
        <p:sp>
          <p:nvSpPr>
            <p:cNvPr id="22" name="Shape 18"/>
            <p:cNvSpPr/>
            <p:nvPr/>
          </p:nvSpPr>
          <p:spPr>
            <a:xfrm>
              <a:off x="8367674" y="3057754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19"/>
            <p:cNvSpPr/>
            <p:nvPr/>
          </p:nvSpPr>
          <p:spPr>
            <a:xfrm>
              <a:off x="8367674" y="2476195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438998" y="2572207"/>
              <a:ext cx="237744" cy="190195"/>
            </a:xfrm>
            <a:prstGeom prst="rect">
              <a:avLst/>
            </a:prstGeom>
          </p:spPr>
        </p:pic>
        <p:sp>
          <p:nvSpPr>
            <p:cNvPr id="25" name="Text 20"/>
            <p:cNvSpPr txBox="1"/>
            <p:nvPr/>
          </p:nvSpPr>
          <p:spPr>
            <a:xfrm>
              <a:off x="8900770" y="2476195"/>
              <a:ext cx="14529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편의성 (Convenience)</a:t>
              </a:r>
              <a:endParaRPr lang="en-US" sz="1000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8900770" y="2695651"/>
              <a:ext cx="25630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조리 시간 단축 및 준비 과정 최소화 (RTE/RTC 선호)</a:t>
              </a:r>
              <a:endParaRPr lang="en-US" sz="900" dirty="0"/>
            </a:p>
          </p:txBody>
        </p:sp>
        <p:sp>
          <p:nvSpPr>
            <p:cNvPr id="27" name="Shape 22"/>
            <p:cNvSpPr/>
            <p:nvPr/>
          </p:nvSpPr>
          <p:spPr>
            <a:xfrm>
              <a:off x="8367674" y="3834079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23"/>
            <p:cNvSpPr/>
            <p:nvPr/>
          </p:nvSpPr>
          <p:spPr>
            <a:xfrm>
              <a:off x="8367674" y="3252521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9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8462772" y="3347618"/>
              <a:ext cx="190195" cy="190195"/>
            </a:xfrm>
            <a:prstGeom prst="rect">
              <a:avLst/>
            </a:prstGeom>
          </p:spPr>
        </p:pic>
        <p:sp>
          <p:nvSpPr>
            <p:cNvPr id="30" name="Text 24"/>
            <p:cNvSpPr txBox="1"/>
            <p:nvPr/>
          </p:nvSpPr>
          <p:spPr>
            <a:xfrm>
              <a:off x="8900770" y="3252521"/>
              <a:ext cx="134782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건강 지향 (Wellness)</a:t>
              </a:r>
              <a:endParaRPr lang="en-US" sz="1000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8900770" y="3471977"/>
              <a:ext cx="26773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고단백, 저염, 클린라벨 등 'Better-for-you' HMR 부상</a:t>
              </a:r>
              <a:endParaRPr lang="en-US" sz="900" dirty="0"/>
            </a:p>
          </p:txBody>
        </p:sp>
        <p:sp>
          <p:nvSpPr>
            <p:cNvPr id="32" name="Shape 26"/>
            <p:cNvSpPr/>
            <p:nvPr/>
          </p:nvSpPr>
          <p:spPr>
            <a:xfrm>
              <a:off x="8367674" y="4610405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Shape 27"/>
            <p:cNvSpPr/>
            <p:nvPr/>
          </p:nvSpPr>
          <p:spPr>
            <a:xfrm>
              <a:off x="8367674" y="4028846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4" name="Image 4" descr="preencoded.png"/>
            <p:cNvPicPr>
              <a:picLocks noChangeAspect="1"/>
            </p:cNvPicPr>
            <p:nvPr/>
          </p:nvPicPr>
          <p:blipFill>
            <a:blip r:embed="rId7"/>
            <a:srcRect l="-1648" r="-1648"/>
            <a:stretch/>
          </p:blipFill>
          <p:spPr>
            <a:xfrm>
              <a:off x="8472830" y="4123944"/>
              <a:ext cx="171907" cy="190195"/>
            </a:xfrm>
            <a:prstGeom prst="rect">
              <a:avLst/>
            </a:prstGeom>
          </p:spPr>
        </p:pic>
        <p:sp>
          <p:nvSpPr>
            <p:cNvPr id="35" name="Text 28"/>
            <p:cNvSpPr txBox="1"/>
            <p:nvPr/>
          </p:nvSpPr>
          <p:spPr>
            <a:xfrm>
              <a:off x="8900770" y="4028846"/>
              <a:ext cx="20052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외식 대체 (Restaurant Quality)</a:t>
              </a:r>
              <a:endParaRPr lang="en-US" sz="1000" dirty="0"/>
            </a:p>
          </p:txBody>
        </p:sp>
        <p:sp>
          <p:nvSpPr>
            <p:cNvPr id="36" name="Text 29"/>
            <p:cNvSpPr txBox="1"/>
            <p:nvPr/>
          </p:nvSpPr>
          <p:spPr>
            <a:xfrm>
              <a:off x="8900770" y="4248302"/>
              <a:ext cx="26773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인플레이션으로 인한 외식비 부담으로 내식(HMR) 전환</a:t>
              </a:r>
              <a:endParaRPr lang="en-US" sz="900" dirty="0"/>
            </a:p>
          </p:txBody>
        </p:sp>
        <p:sp>
          <p:nvSpPr>
            <p:cNvPr id="37" name="Shape 30"/>
            <p:cNvSpPr/>
            <p:nvPr/>
          </p:nvSpPr>
          <p:spPr>
            <a:xfrm>
              <a:off x="8367674" y="5533949"/>
              <a:ext cx="3133649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1"/>
            <p:cNvSpPr txBox="1"/>
            <p:nvPr/>
          </p:nvSpPr>
          <p:spPr>
            <a:xfrm>
              <a:off x="8367674" y="5686654"/>
              <a:ext cx="26289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RISK: 원자재 가격 변동성 및 플라스틱 포장 규제 강화</a:t>
              </a:r>
              <a:endParaRPr lang="en-US" sz="900" dirty="0"/>
            </a:p>
          </p:txBody>
        </p:sp>
        <p:sp>
          <p:nvSpPr>
            <p:cNvPr id="39" name="Shape 32"/>
            <p:cNvSpPr/>
            <p:nvPr/>
          </p:nvSpPr>
          <p:spPr>
            <a:xfrm>
              <a:off x="0" y="646755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33"/>
            <p:cNvSpPr/>
            <p:nvPr/>
          </p:nvSpPr>
          <p:spPr>
            <a:xfrm>
              <a:off x="0" y="646755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4"/>
            <p:cNvSpPr txBox="1"/>
            <p:nvPr/>
          </p:nvSpPr>
          <p:spPr>
            <a:xfrm>
              <a:off x="457200" y="6581851"/>
              <a:ext cx="5448300" cy="1472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Statista Global Consumer Survey, Grand View Research HMR Report 2024</a:t>
              </a:r>
              <a:endParaRPr lang="en-US" sz="900" dirty="0"/>
            </a:p>
          </p:txBody>
        </p:sp>
        <p:pic>
          <p:nvPicPr>
            <p:cNvPr id="43" name="Image 5" descr="preencoded.png"/>
            <p:cNvPicPr>
              <a:picLocks noChangeAspect="1"/>
            </p:cNvPicPr>
            <p:nvPr/>
          </p:nvPicPr>
          <p:blipFill>
            <a:blip r:embed="rId8"/>
            <a:srcRect l="-2512" r="-2512"/>
            <a:stretch/>
          </p:blipFill>
          <p:spPr>
            <a:xfrm>
              <a:off x="809244" y="3843223"/>
              <a:ext cx="105156" cy="133502"/>
            </a:xfrm>
            <a:prstGeom prst="rect">
              <a:avLst/>
            </a:prstGeom>
          </p:spPr>
        </p:pic>
        <p:sp>
          <p:nvSpPr>
            <p:cNvPr id="44" name="Text 36"/>
            <p:cNvSpPr txBox="1"/>
            <p:nvPr/>
          </p:nvSpPr>
          <p:spPr>
            <a:xfrm>
              <a:off x="990295" y="3732247"/>
              <a:ext cx="2467052" cy="437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596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CAGR 6~7% (2024-2030)</a:t>
              </a:r>
              <a:endParaRPr lang="en-US" sz="1200" dirty="0"/>
            </a:p>
          </p:txBody>
        </p:sp>
        <p:sp>
          <p:nvSpPr>
            <p:cNvPr id="45" name="Text 37"/>
            <p:cNvSpPr txBox="1"/>
            <p:nvPr/>
          </p:nvSpPr>
          <p:spPr>
            <a:xfrm>
              <a:off x="694944" y="2057400"/>
              <a:ext cx="26151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GLOBAL HMR MARKET SIZE (2024E)</a:t>
              </a:r>
              <a:endParaRPr lang="en-US" sz="1000" dirty="0"/>
            </a:p>
          </p:txBody>
        </p:sp>
        <p:sp>
          <p:nvSpPr>
            <p:cNvPr id="46" name="Text 38"/>
            <p:cNvSpPr txBox="1"/>
            <p:nvPr/>
          </p:nvSpPr>
          <p:spPr>
            <a:xfrm>
              <a:off x="694944" y="2343607"/>
              <a:ext cx="2105863" cy="8769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1,500</a:t>
              </a:r>
              <a:endParaRPr lang="en-US" sz="4800" dirty="0"/>
            </a:p>
          </p:txBody>
        </p:sp>
        <p:sp>
          <p:nvSpPr>
            <p:cNvPr id="47" name="Text 39"/>
            <p:cNvSpPr txBox="1"/>
            <p:nvPr/>
          </p:nvSpPr>
          <p:spPr>
            <a:xfrm>
              <a:off x="2411273" y="2781605"/>
              <a:ext cx="866851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억 달러</a:t>
              </a:r>
              <a:endParaRPr lang="en-US" sz="1800" dirty="0"/>
            </a:p>
          </p:txBody>
        </p:sp>
        <p:sp>
          <p:nvSpPr>
            <p:cNvPr id="48" name="Text 40"/>
            <p:cNvSpPr txBox="1"/>
            <p:nvPr/>
          </p:nvSpPr>
          <p:spPr>
            <a:xfrm>
              <a:off x="694944" y="3200400"/>
              <a:ext cx="8622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(약 200조 원)</a:t>
              </a:r>
              <a:endParaRPr lang="en-US" sz="1000" dirty="0"/>
            </a:p>
          </p:txBody>
        </p:sp>
      </p:grpSp>
      <p:sp>
        <p:nvSpPr>
          <p:cNvPr id="10" name="Rectangle 13">
            <a:extLst>
              <a:ext uri="{FF2B5EF4-FFF2-40B4-BE49-F238E27FC236}">
                <a16:creationId xmlns:a16="http://schemas.microsoft.com/office/drawing/2014/main" id="{ECCD45D7-86E2-8127-BACF-0365E6251C4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8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그룹 88">
            <a:extLst>
              <a:ext uri="{FF2B5EF4-FFF2-40B4-BE49-F238E27FC236}">
                <a16:creationId xmlns:a16="http://schemas.microsoft.com/office/drawing/2014/main" id="{6701C8B1-1C9D-7246-F214-B35759568517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8348472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4432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GLOBAL TRADE ENVIRONMENT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0720426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한미 FTA는 한국 식품기업에 무관세 가격 경쟁력을 제공하나, 원산지 규정 및 비관세 장벽(SPS/TBT)에 대한 철저한 관리가 요구됨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6524244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5486400" cy="5762549"/>
            </a:xfrm>
            <a:prstGeom prst="roundRect">
              <a:avLst>
                <a:gd name="adj" fmla="val 2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828800"/>
              <a:ext cx="5467198" cy="694944"/>
            </a:xfrm>
            <a:prstGeom prst="rect">
              <a:avLst/>
            </a:prstGeom>
            <a:solidFill>
              <a:srgbClr val="F8FAFC"/>
            </a:solidFill>
            <a:ln w="50800">
              <a:solidFill>
                <a:srgbClr val="051C2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94944" y="2100377"/>
              <a:ext cx="190195" cy="190195"/>
            </a:xfrm>
            <a:prstGeom prst="rect">
              <a:avLst/>
            </a:prstGeom>
          </p:spPr>
        </p:pic>
        <p:sp>
          <p:nvSpPr>
            <p:cNvPr id="12" name="Text 9"/>
            <p:cNvSpPr txBox="1"/>
            <p:nvPr/>
          </p:nvSpPr>
          <p:spPr>
            <a:xfrm>
              <a:off x="961949" y="2048256"/>
              <a:ext cx="253380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관세 구조 (Tariff Structure)</a:t>
              </a:r>
              <a:endParaRPr lang="en-US" sz="15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853635" y="2066544"/>
              <a:ext cx="857707" cy="247802"/>
            </a:xfrm>
            <a:prstGeom prst="roundRect">
              <a:avLst>
                <a:gd name="adj" fmla="val 56770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4929530" y="2104949"/>
              <a:ext cx="7909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6653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Opportunity</a:t>
              </a:r>
              <a:endParaRPr lang="en-US" sz="9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694944" y="2762402"/>
              <a:ext cx="4967935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한미 FTA(KORUS FTA) 발효(2012) 이후 대부분의 가공식품 관세가 철폐되어, 경쟁국(중국, 베트남 등) 대비 가격 우위를 확보할 수 있는 구조입니다.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694944" y="3338474"/>
              <a:ext cx="5009998" cy="3286354"/>
            </a:xfrm>
            <a:prstGeom prst="roundRect">
              <a:avLst>
                <a:gd name="adj" fmla="val 645"/>
              </a:avLst>
            </a:prstGeom>
            <a:solidFill>
              <a:srgbClr val="F9FAFB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743407" y="3386023"/>
              <a:ext cx="1876349" cy="638251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5"/>
            <p:cNvSpPr/>
            <p:nvPr/>
          </p:nvSpPr>
          <p:spPr>
            <a:xfrm>
              <a:off x="743407" y="4005072"/>
              <a:ext cx="1876349" cy="19202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6"/>
            <p:cNvSpPr txBox="1"/>
            <p:nvPr/>
          </p:nvSpPr>
          <p:spPr>
            <a:xfrm>
              <a:off x="857707" y="3600907"/>
              <a:ext cx="6912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Category</a:t>
              </a:r>
              <a:endParaRPr lang="en-US" sz="10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2614270" y="3386023"/>
              <a:ext cx="1009498" cy="638251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18"/>
            <p:cNvSpPr/>
            <p:nvPr/>
          </p:nvSpPr>
          <p:spPr>
            <a:xfrm>
              <a:off x="2614270" y="4005072"/>
              <a:ext cx="1009498" cy="19202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9"/>
            <p:cNvSpPr txBox="1"/>
            <p:nvPr/>
          </p:nvSpPr>
          <p:spPr>
            <a:xfrm>
              <a:off x="2728570" y="3500323"/>
              <a:ext cx="728777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MFN Rate (일반)</a:t>
              </a:r>
              <a:endParaRPr lang="en-US" sz="10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3622853" y="3386023"/>
              <a:ext cx="1218895" cy="638251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21"/>
            <p:cNvSpPr/>
            <p:nvPr/>
          </p:nvSpPr>
          <p:spPr>
            <a:xfrm>
              <a:off x="3622853" y="4005072"/>
              <a:ext cx="1218895" cy="19202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2"/>
            <p:cNvSpPr txBox="1"/>
            <p:nvPr/>
          </p:nvSpPr>
          <p:spPr>
            <a:xfrm>
              <a:off x="3737153" y="3500323"/>
              <a:ext cx="1053389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KORUS FTA (한국산)</a:t>
              </a:r>
              <a:endParaRPr lang="en-US" sz="10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4840834" y="3386023"/>
              <a:ext cx="819302" cy="638251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4"/>
            <p:cNvSpPr/>
            <p:nvPr/>
          </p:nvSpPr>
          <p:spPr>
            <a:xfrm>
              <a:off x="4840834" y="4005072"/>
              <a:ext cx="819302" cy="19202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4955134" y="3600907"/>
              <a:ext cx="5769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Benefit</a:t>
              </a:r>
              <a:endParaRPr lang="en-US" sz="1000" dirty="0"/>
            </a:p>
          </p:txBody>
        </p:sp>
        <p:sp>
          <p:nvSpPr>
            <p:cNvPr id="29" name="Shape 26"/>
            <p:cNvSpPr/>
            <p:nvPr/>
          </p:nvSpPr>
          <p:spPr>
            <a:xfrm>
              <a:off x="743407" y="4662526"/>
              <a:ext cx="18763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7"/>
            <p:cNvSpPr txBox="1"/>
            <p:nvPr/>
          </p:nvSpPr>
          <p:spPr>
            <a:xfrm>
              <a:off x="857707" y="4147718"/>
              <a:ext cx="1538935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Bone Broth / Soups HS 2104.10</a:t>
              </a:r>
              <a:endParaRPr lang="en-US" sz="1000" dirty="0"/>
            </a:p>
          </p:txBody>
        </p:sp>
        <p:sp>
          <p:nvSpPr>
            <p:cNvPr id="31" name="Shape 28"/>
            <p:cNvSpPr/>
            <p:nvPr/>
          </p:nvSpPr>
          <p:spPr>
            <a:xfrm>
              <a:off x="2614270" y="4662526"/>
              <a:ext cx="1009498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29"/>
            <p:cNvSpPr txBox="1"/>
            <p:nvPr/>
          </p:nvSpPr>
          <p:spPr>
            <a:xfrm>
              <a:off x="2728570" y="4248302"/>
              <a:ext cx="8723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3.2% ~ 6.4%</a:t>
              </a:r>
              <a:endParaRPr lang="en-US" sz="1000" dirty="0"/>
            </a:p>
          </p:txBody>
        </p:sp>
        <p:sp>
          <p:nvSpPr>
            <p:cNvPr id="33" name="Shape 30"/>
            <p:cNvSpPr/>
            <p:nvPr/>
          </p:nvSpPr>
          <p:spPr>
            <a:xfrm>
              <a:off x="3622853" y="4662526"/>
              <a:ext cx="1218895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31"/>
            <p:cNvSpPr txBox="1"/>
            <p:nvPr/>
          </p:nvSpPr>
          <p:spPr>
            <a:xfrm>
              <a:off x="3737153" y="4248302"/>
              <a:ext cx="7388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0% (Free)</a:t>
              </a:r>
              <a:endParaRPr lang="en-US" sz="10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4840834" y="4662526"/>
              <a:ext cx="819302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6" name="Image 1" descr="preencoded.png"/>
            <p:cNvPicPr>
              <a:picLocks noChangeAspect="1"/>
            </p:cNvPicPr>
            <p:nvPr/>
          </p:nvPicPr>
          <p:blipFill>
            <a:blip r:embed="rId4"/>
            <a:srcRect t="-1100" b="-1100"/>
            <a:stretch/>
          </p:blipFill>
          <p:spPr>
            <a:xfrm>
              <a:off x="4955134" y="4184294"/>
              <a:ext cx="114300" cy="133502"/>
            </a:xfrm>
            <a:prstGeom prst="rect">
              <a:avLst/>
            </a:prstGeom>
          </p:spPr>
        </p:pic>
        <p:sp>
          <p:nvSpPr>
            <p:cNvPr id="37" name="Text 33"/>
            <p:cNvSpPr txBox="1"/>
            <p:nvPr/>
          </p:nvSpPr>
          <p:spPr>
            <a:xfrm>
              <a:off x="4955134" y="4147718"/>
              <a:ext cx="624535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즉시 철폐</a:t>
              </a:r>
              <a:endParaRPr lang="en-US" sz="1000" dirty="0"/>
            </a:p>
          </p:txBody>
        </p:sp>
        <p:sp>
          <p:nvSpPr>
            <p:cNvPr id="38" name="Shape 34"/>
            <p:cNvSpPr/>
            <p:nvPr/>
          </p:nvSpPr>
          <p:spPr>
            <a:xfrm>
              <a:off x="743407" y="5296205"/>
              <a:ext cx="18763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35"/>
            <p:cNvSpPr txBox="1"/>
            <p:nvPr/>
          </p:nvSpPr>
          <p:spPr>
            <a:xfrm>
              <a:off x="857707" y="4785970"/>
              <a:ext cx="1634033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Sauces / Condiments HS 2103.90</a:t>
              </a:r>
              <a:endParaRPr lang="en-US" sz="1000" dirty="0"/>
            </a:p>
          </p:txBody>
        </p:sp>
        <p:sp>
          <p:nvSpPr>
            <p:cNvPr id="40" name="Shape 36"/>
            <p:cNvSpPr/>
            <p:nvPr/>
          </p:nvSpPr>
          <p:spPr>
            <a:xfrm>
              <a:off x="2614270" y="5296205"/>
              <a:ext cx="1009498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7"/>
            <p:cNvSpPr txBox="1"/>
            <p:nvPr/>
          </p:nvSpPr>
          <p:spPr>
            <a:xfrm>
              <a:off x="2728570" y="4886554"/>
              <a:ext cx="4151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6.4%</a:t>
              </a:r>
              <a:endParaRPr lang="en-US" sz="1000" dirty="0"/>
            </a:p>
          </p:txBody>
        </p:sp>
        <p:sp>
          <p:nvSpPr>
            <p:cNvPr id="42" name="Shape 38"/>
            <p:cNvSpPr/>
            <p:nvPr/>
          </p:nvSpPr>
          <p:spPr>
            <a:xfrm>
              <a:off x="3622853" y="5296205"/>
              <a:ext cx="1218895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39"/>
            <p:cNvSpPr txBox="1"/>
            <p:nvPr/>
          </p:nvSpPr>
          <p:spPr>
            <a:xfrm>
              <a:off x="3737153" y="4886554"/>
              <a:ext cx="7388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0% (Free)</a:t>
              </a:r>
              <a:endParaRPr lang="en-US" sz="1000" dirty="0"/>
            </a:p>
          </p:txBody>
        </p:sp>
        <p:sp>
          <p:nvSpPr>
            <p:cNvPr id="44" name="Shape 40"/>
            <p:cNvSpPr/>
            <p:nvPr/>
          </p:nvSpPr>
          <p:spPr>
            <a:xfrm>
              <a:off x="4840834" y="5296205"/>
              <a:ext cx="819302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5" name="Image 2" descr="preencoded.png"/>
            <p:cNvPicPr>
              <a:picLocks noChangeAspect="1"/>
            </p:cNvPicPr>
            <p:nvPr/>
          </p:nvPicPr>
          <p:blipFill>
            <a:blip r:embed="rId4"/>
            <a:srcRect t="-1100" b="-1100"/>
            <a:stretch/>
          </p:blipFill>
          <p:spPr>
            <a:xfrm>
              <a:off x="4955134" y="4821631"/>
              <a:ext cx="114300" cy="133502"/>
            </a:xfrm>
            <a:prstGeom prst="rect">
              <a:avLst/>
            </a:prstGeom>
          </p:spPr>
        </p:pic>
        <p:sp>
          <p:nvSpPr>
            <p:cNvPr id="46" name="Text 41"/>
            <p:cNvSpPr txBox="1"/>
            <p:nvPr/>
          </p:nvSpPr>
          <p:spPr>
            <a:xfrm>
              <a:off x="4955134" y="4785970"/>
              <a:ext cx="624535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즉시 철폐</a:t>
              </a:r>
              <a:endParaRPr lang="en-US" sz="1000" dirty="0"/>
            </a:p>
          </p:txBody>
        </p:sp>
        <p:sp>
          <p:nvSpPr>
            <p:cNvPr id="47" name="Shape 42"/>
            <p:cNvSpPr/>
            <p:nvPr/>
          </p:nvSpPr>
          <p:spPr>
            <a:xfrm>
              <a:off x="743407" y="5934456"/>
              <a:ext cx="18763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43"/>
            <p:cNvSpPr txBox="1"/>
            <p:nvPr/>
          </p:nvSpPr>
          <p:spPr>
            <a:xfrm>
              <a:off x="857707" y="5424221"/>
              <a:ext cx="1291133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Pasta / Noodles HS 1902.30</a:t>
              </a:r>
              <a:endParaRPr lang="en-US" sz="1000" dirty="0"/>
            </a:p>
          </p:txBody>
        </p:sp>
        <p:sp>
          <p:nvSpPr>
            <p:cNvPr id="49" name="Shape 44"/>
            <p:cNvSpPr/>
            <p:nvPr/>
          </p:nvSpPr>
          <p:spPr>
            <a:xfrm>
              <a:off x="2614270" y="5934456"/>
              <a:ext cx="1009498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5"/>
            <p:cNvSpPr txBox="1"/>
            <p:nvPr/>
          </p:nvSpPr>
          <p:spPr>
            <a:xfrm>
              <a:off x="2728570" y="5524805"/>
              <a:ext cx="4151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6.4%</a:t>
              </a:r>
              <a:endParaRPr lang="en-US" sz="1000" dirty="0"/>
            </a:p>
          </p:txBody>
        </p:sp>
        <p:sp>
          <p:nvSpPr>
            <p:cNvPr id="51" name="Shape 46"/>
            <p:cNvSpPr/>
            <p:nvPr/>
          </p:nvSpPr>
          <p:spPr>
            <a:xfrm>
              <a:off x="3622853" y="5934456"/>
              <a:ext cx="1218895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Text 47"/>
            <p:cNvSpPr txBox="1"/>
            <p:nvPr/>
          </p:nvSpPr>
          <p:spPr>
            <a:xfrm>
              <a:off x="3737153" y="5524805"/>
              <a:ext cx="7388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0% (Free)</a:t>
              </a:r>
              <a:endParaRPr lang="en-US" sz="1000" dirty="0"/>
            </a:p>
          </p:txBody>
        </p:sp>
        <p:sp>
          <p:nvSpPr>
            <p:cNvPr id="53" name="Shape 48"/>
            <p:cNvSpPr/>
            <p:nvPr/>
          </p:nvSpPr>
          <p:spPr>
            <a:xfrm>
              <a:off x="4840834" y="5934456"/>
              <a:ext cx="819302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4" name="Image 3" descr="preencoded.png"/>
            <p:cNvPicPr>
              <a:picLocks noChangeAspect="1"/>
            </p:cNvPicPr>
            <p:nvPr/>
          </p:nvPicPr>
          <p:blipFill>
            <a:blip r:embed="rId4"/>
            <a:srcRect t="-1100" b="-1100"/>
            <a:stretch/>
          </p:blipFill>
          <p:spPr>
            <a:xfrm>
              <a:off x="4955134" y="5459882"/>
              <a:ext cx="114300" cy="133502"/>
            </a:xfrm>
            <a:prstGeom prst="rect">
              <a:avLst/>
            </a:prstGeom>
          </p:spPr>
        </p:pic>
        <p:sp>
          <p:nvSpPr>
            <p:cNvPr id="55" name="Text 49"/>
            <p:cNvSpPr txBox="1"/>
            <p:nvPr/>
          </p:nvSpPr>
          <p:spPr>
            <a:xfrm>
              <a:off x="4955134" y="5424221"/>
              <a:ext cx="624535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즉시 철폐</a:t>
              </a:r>
              <a:endParaRPr lang="en-US" sz="1000" dirty="0"/>
            </a:p>
          </p:txBody>
        </p:sp>
        <p:sp>
          <p:nvSpPr>
            <p:cNvPr id="56" name="Text 50"/>
            <p:cNvSpPr txBox="1"/>
            <p:nvPr/>
          </p:nvSpPr>
          <p:spPr>
            <a:xfrm>
              <a:off x="857707" y="6062472"/>
              <a:ext cx="1472184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Food Preparations HS 2106.90</a:t>
              </a:r>
              <a:endParaRPr lang="en-US" sz="1000" dirty="0"/>
            </a:p>
          </p:txBody>
        </p:sp>
        <p:sp>
          <p:nvSpPr>
            <p:cNvPr id="57" name="Text 51"/>
            <p:cNvSpPr txBox="1"/>
            <p:nvPr/>
          </p:nvSpPr>
          <p:spPr>
            <a:xfrm>
              <a:off x="2728570" y="6163056"/>
              <a:ext cx="8339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6.4% ~ 10%</a:t>
              </a:r>
              <a:endParaRPr lang="en-US" sz="1000" dirty="0"/>
            </a:p>
          </p:txBody>
        </p:sp>
        <p:sp>
          <p:nvSpPr>
            <p:cNvPr id="58" name="Text 52"/>
            <p:cNvSpPr txBox="1"/>
            <p:nvPr/>
          </p:nvSpPr>
          <p:spPr>
            <a:xfrm>
              <a:off x="3737153" y="6163056"/>
              <a:ext cx="7388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0% (Free)</a:t>
              </a:r>
              <a:endParaRPr lang="en-US" sz="1000" dirty="0"/>
            </a:p>
          </p:txBody>
        </p:sp>
        <p:pic>
          <p:nvPicPr>
            <p:cNvPr id="59" name="Image 4" descr="preencoded.png"/>
            <p:cNvPicPr>
              <a:picLocks noChangeAspect="1"/>
            </p:cNvPicPr>
            <p:nvPr/>
          </p:nvPicPr>
          <p:blipFill>
            <a:blip r:embed="rId4"/>
            <a:srcRect t="-1100" b="-1100"/>
            <a:stretch/>
          </p:blipFill>
          <p:spPr>
            <a:xfrm>
              <a:off x="4955134" y="6098134"/>
              <a:ext cx="114300" cy="133502"/>
            </a:xfrm>
            <a:prstGeom prst="rect">
              <a:avLst/>
            </a:prstGeom>
          </p:spPr>
        </p:pic>
        <p:sp>
          <p:nvSpPr>
            <p:cNvPr id="60" name="Text 53"/>
            <p:cNvSpPr txBox="1"/>
            <p:nvPr/>
          </p:nvSpPr>
          <p:spPr>
            <a:xfrm>
              <a:off x="4955134" y="6062472"/>
              <a:ext cx="624535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즉시 철폐</a:t>
              </a:r>
              <a:endParaRPr lang="en-US" sz="1000" dirty="0"/>
            </a:p>
          </p:txBody>
        </p:sp>
        <p:sp>
          <p:nvSpPr>
            <p:cNvPr id="61" name="Shape 54"/>
            <p:cNvSpPr/>
            <p:nvPr/>
          </p:nvSpPr>
          <p:spPr>
            <a:xfrm>
              <a:off x="694944" y="6776618"/>
              <a:ext cx="5009998" cy="562356"/>
            </a:xfrm>
            <a:prstGeom prst="roundRect">
              <a:avLst>
                <a:gd name="adj" fmla="val 11024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2" name="Image 5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19302" y="6920179"/>
              <a:ext cx="152705" cy="152705"/>
            </a:xfrm>
            <a:prstGeom prst="rect">
              <a:avLst/>
            </a:prstGeom>
          </p:spPr>
        </p:pic>
        <p:sp>
          <p:nvSpPr>
            <p:cNvPr id="63" name="Text 55"/>
            <p:cNvSpPr txBox="1"/>
            <p:nvPr/>
          </p:nvSpPr>
          <p:spPr>
            <a:xfrm>
              <a:off x="1086307" y="6890918"/>
              <a:ext cx="4295851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1E3A8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Insight: K-Bone Broth(수프/소스류)는 무관세 품목으로 분류되나, 육류 함량에 따라 HS Code가 달라질 수 있으므로 사전 품목분류(Advance Ruling) 확인 권장.</a:t>
              </a:r>
              <a:endParaRPr lang="en-US" sz="900" dirty="0"/>
            </a:p>
          </p:txBody>
        </p:sp>
        <p:sp>
          <p:nvSpPr>
            <p:cNvPr id="64" name="Shape 56"/>
            <p:cNvSpPr/>
            <p:nvPr/>
          </p:nvSpPr>
          <p:spPr>
            <a:xfrm>
              <a:off x="6248095" y="1819656"/>
              <a:ext cx="5486400" cy="5762549"/>
            </a:xfrm>
            <a:prstGeom prst="roundRect">
              <a:avLst>
                <a:gd name="adj" fmla="val 2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Shape 57"/>
            <p:cNvSpPr/>
            <p:nvPr/>
          </p:nvSpPr>
          <p:spPr>
            <a:xfrm>
              <a:off x="6258154" y="1828800"/>
              <a:ext cx="5467198" cy="694944"/>
            </a:xfrm>
            <a:prstGeom prst="rect">
              <a:avLst/>
            </a:prstGeom>
            <a:solidFill>
              <a:srgbClr val="F0F9FF"/>
            </a:solidFill>
            <a:ln w="50800">
              <a:solidFill>
                <a:srgbClr val="00A3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6" name="Image 6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486754" y="2100377"/>
              <a:ext cx="237744" cy="190195"/>
            </a:xfrm>
            <a:prstGeom prst="rect">
              <a:avLst/>
            </a:prstGeom>
          </p:spPr>
        </p:pic>
        <p:sp>
          <p:nvSpPr>
            <p:cNvPr id="67" name="Text 58"/>
            <p:cNvSpPr txBox="1"/>
            <p:nvPr/>
          </p:nvSpPr>
          <p:spPr>
            <a:xfrm>
              <a:off x="6801307" y="2048256"/>
              <a:ext cx="2296058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무역 정책 및 규제 (Policy)</a:t>
              </a:r>
              <a:endParaRPr lang="en-US" sz="1500" dirty="0"/>
            </a:p>
          </p:txBody>
        </p:sp>
        <p:sp>
          <p:nvSpPr>
            <p:cNvPr id="68" name="Shape 59"/>
            <p:cNvSpPr/>
            <p:nvPr/>
          </p:nvSpPr>
          <p:spPr>
            <a:xfrm>
              <a:off x="10136124" y="2066544"/>
              <a:ext cx="1362456" cy="247802"/>
            </a:xfrm>
            <a:prstGeom prst="roundRect">
              <a:avLst>
                <a:gd name="adj" fmla="val 56770"/>
              </a:avLst>
            </a:prstGeom>
            <a:solidFill>
              <a:srgbClr val="FEF9C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 60"/>
            <p:cNvSpPr txBox="1"/>
            <p:nvPr/>
          </p:nvSpPr>
          <p:spPr>
            <a:xfrm>
              <a:off x="10212019" y="2104949"/>
              <a:ext cx="12957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854D0E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Compliance Required</a:t>
              </a:r>
              <a:endParaRPr lang="en-US" sz="900" dirty="0"/>
            </a:p>
          </p:txBody>
        </p:sp>
        <p:sp>
          <p:nvSpPr>
            <p:cNvPr id="70" name="Shape 61"/>
            <p:cNvSpPr/>
            <p:nvPr/>
          </p:nvSpPr>
          <p:spPr>
            <a:xfrm>
              <a:off x="6486754" y="2752344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1" name="Image 7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590995" y="2857500"/>
              <a:ext cx="171907" cy="171907"/>
            </a:xfrm>
            <a:prstGeom prst="rect">
              <a:avLst/>
            </a:prstGeom>
          </p:spPr>
        </p:pic>
        <p:sp>
          <p:nvSpPr>
            <p:cNvPr id="72" name="Text 62"/>
            <p:cNvSpPr txBox="1"/>
            <p:nvPr/>
          </p:nvSpPr>
          <p:spPr>
            <a:xfrm>
              <a:off x="7019849" y="2752344"/>
              <a:ext cx="21342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원산지 규정 (Rules of Origin)</a:t>
              </a:r>
              <a:endParaRPr lang="en-US" sz="1200" dirty="0"/>
            </a:p>
          </p:txBody>
        </p:sp>
        <p:sp>
          <p:nvSpPr>
            <p:cNvPr id="73" name="Text 63"/>
            <p:cNvSpPr txBox="1"/>
            <p:nvPr/>
          </p:nvSpPr>
          <p:spPr>
            <a:xfrm>
              <a:off x="7019849" y="3019349"/>
              <a:ext cx="4519879" cy="5907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무관세 혜택을 받기 위해서는 '한국산' 입증 필수. 특히 세번변경기준(CTC) 충족 여부가 핵심이며, 수입 원재료(예: 호주산 사골 등) 사용 시 부가가치 기준 검토 필요.</a:t>
              </a:r>
              <a:endParaRPr lang="en-US" sz="1000" dirty="0"/>
            </a:p>
          </p:txBody>
        </p:sp>
        <p:sp>
          <p:nvSpPr>
            <p:cNvPr id="74" name="Shape 64"/>
            <p:cNvSpPr/>
            <p:nvPr/>
          </p:nvSpPr>
          <p:spPr>
            <a:xfrm>
              <a:off x="6486754" y="3847795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5" name="Image 8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590995" y="3952951"/>
              <a:ext cx="171907" cy="171907"/>
            </a:xfrm>
            <a:prstGeom prst="rect">
              <a:avLst/>
            </a:prstGeom>
          </p:spPr>
        </p:pic>
        <p:sp>
          <p:nvSpPr>
            <p:cNvPr id="76" name="Text 65"/>
            <p:cNvSpPr txBox="1"/>
            <p:nvPr/>
          </p:nvSpPr>
          <p:spPr>
            <a:xfrm>
              <a:off x="7019849" y="3847795"/>
              <a:ext cx="14767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SPS / 식품 안전 규제</a:t>
              </a:r>
              <a:endParaRPr lang="en-US" sz="1200" dirty="0"/>
            </a:p>
          </p:txBody>
        </p:sp>
        <p:sp>
          <p:nvSpPr>
            <p:cNvPr id="77" name="Text 66"/>
            <p:cNvSpPr txBox="1"/>
            <p:nvPr/>
          </p:nvSpPr>
          <p:spPr>
            <a:xfrm>
              <a:off x="7019849" y="4114800"/>
              <a:ext cx="4567428" cy="5907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FSMA(식품안전현대화법)에 따른 예방관리(PC) 규정 준수 필수. 육류가 포함된 Bone Broth는 USDA(미 농무부) 관할로 이관될 수 있어 FDA보다 엄격한 공장 실사가 요구됨.</a:t>
              </a:r>
              <a:endParaRPr lang="en-US" sz="1000" dirty="0"/>
            </a:p>
          </p:txBody>
        </p:sp>
        <p:sp>
          <p:nvSpPr>
            <p:cNvPr id="78" name="Shape 67"/>
            <p:cNvSpPr/>
            <p:nvPr/>
          </p:nvSpPr>
          <p:spPr>
            <a:xfrm>
              <a:off x="6486754" y="4943246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9" name="Image 9" descr="preencoded.png"/>
            <p:cNvPicPr>
              <a:picLocks noChangeAspect="1"/>
            </p:cNvPicPr>
            <p:nvPr/>
          </p:nvPicPr>
          <p:blipFill>
            <a:blip r:embed="rId9"/>
            <a:srcRect t="-1310" b="-1310"/>
            <a:stretch/>
          </p:blipFill>
          <p:spPr>
            <a:xfrm>
              <a:off x="6572707" y="5048402"/>
              <a:ext cx="209398" cy="171907"/>
            </a:xfrm>
            <a:prstGeom prst="rect">
              <a:avLst/>
            </a:prstGeom>
          </p:spPr>
        </p:pic>
        <p:sp>
          <p:nvSpPr>
            <p:cNvPr id="80" name="Text 68"/>
            <p:cNvSpPr txBox="1"/>
            <p:nvPr/>
          </p:nvSpPr>
          <p:spPr>
            <a:xfrm>
              <a:off x="7019849" y="4943246"/>
              <a:ext cx="2334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통관 원활화 (Trade Facilitation)</a:t>
              </a:r>
              <a:endParaRPr lang="en-US" sz="1200" dirty="0"/>
            </a:p>
          </p:txBody>
        </p:sp>
        <p:sp>
          <p:nvSpPr>
            <p:cNvPr id="81" name="Text 69"/>
            <p:cNvSpPr txBox="1"/>
            <p:nvPr/>
          </p:nvSpPr>
          <p:spPr>
            <a:xfrm>
              <a:off x="7019849" y="5210251"/>
              <a:ext cx="4519879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C-TPAT(대테러민간파트너십) 등 인증 활용 시 통관 시간 단축 가능. 한미 세관 상호인정약정(MRA)을 통해 우수업체(AEO)에 대한 검사율 축소 혜택 존재.</a:t>
              </a:r>
              <a:endParaRPr lang="en-US" sz="1000" dirty="0"/>
            </a:p>
          </p:txBody>
        </p:sp>
        <p:sp>
          <p:nvSpPr>
            <p:cNvPr id="82" name="Shape 70"/>
            <p:cNvSpPr/>
            <p:nvPr/>
          </p:nvSpPr>
          <p:spPr>
            <a:xfrm>
              <a:off x="6486754" y="7024421"/>
              <a:ext cx="5009998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Text 71"/>
            <p:cNvSpPr txBox="1"/>
            <p:nvPr/>
          </p:nvSpPr>
          <p:spPr>
            <a:xfrm>
              <a:off x="6486754" y="7177126"/>
              <a:ext cx="9720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KEY TAKEAWAY</a:t>
              </a:r>
              <a:endParaRPr lang="en-US" sz="900" dirty="0"/>
            </a:p>
          </p:txBody>
        </p:sp>
        <p:sp>
          <p:nvSpPr>
            <p:cNvPr id="84" name="Text 72"/>
            <p:cNvSpPr txBox="1"/>
            <p:nvPr/>
          </p:nvSpPr>
          <p:spPr>
            <a:xfrm>
              <a:off x="9368942" y="7177126"/>
              <a:ext cx="22201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관세보다는 '비관세 장벽'이 실질적 진입 장벽</a:t>
              </a:r>
              <a:endParaRPr lang="en-US" sz="900" dirty="0"/>
            </a:p>
          </p:txBody>
        </p:sp>
        <p:sp>
          <p:nvSpPr>
            <p:cNvPr id="85" name="Shape 73"/>
            <p:cNvSpPr/>
            <p:nvPr/>
          </p:nvSpPr>
          <p:spPr>
            <a:xfrm>
              <a:off x="0" y="7958023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Shape 74"/>
            <p:cNvSpPr/>
            <p:nvPr/>
          </p:nvSpPr>
          <p:spPr>
            <a:xfrm>
              <a:off x="0" y="7958023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Text 75"/>
            <p:cNvSpPr txBox="1"/>
            <p:nvPr/>
          </p:nvSpPr>
          <p:spPr>
            <a:xfrm>
              <a:off x="457200" y="8072324"/>
              <a:ext cx="6029554" cy="1627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USTR KORUS FTA Final Text, Korea Customs Service, USDA/FDA Regulation Guidelines</a:t>
              </a:r>
              <a:endParaRPr lang="en-US" sz="900" dirty="0"/>
            </a:p>
          </p:txBody>
        </p:sp>
      </p:grpSp>
      <p:sp>
        <p:nvSpPr>
          <p:cNvPr id="90" name="Rectangle 13">
            <a:extLst>
              <a:ext uri="{FF2B5EF4-FFF2-40B4-BE49-F238E27FC236}">
                <a16:creationId xmlns:a16="http://schemas.microsoft.com/office/drawing/2014/main" id="{BF57B26C-EA75-3F94-DD56-58D7F3968F8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9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그룹 54">
            <a:extLst>
              <a:ext uri="{FF2B5EF4-FFF2-40B4-BE49-F238E27FC236}">
                <a16:creationId xmlns:a16="http://schemas.microsoft.com/office/drawing/2014/main" id="{19A9206F-71C4-C132-AA43-1C2FD09D194F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82296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7770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CROSS-BORDER INVESTMENT (FDI)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340389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대미 투자 확대는 단순 수출을 넘어 현지 생산·공급망 안정화를 위한 전략적 필수 요소로 자리잡음 (Stock $78.2B)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64008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5486400" cy="5639105"/>
            </a:xfrm>
            <a:prstGeom prst="roundRect">
              <a:avLst>
                <a:gd name="adj" fmla="val 2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828800"/>
              <a:ext cx="5467198" cy="694944"/>
            </a:xfrm>
            <a:prstGeom prst="rect">
              <a:avLst/>
            </a:prstGeom>
            <a:solidFill>
              <a:srgbClr val="F8FAFC"/>
            </a:solidFill>
            <a:ln w="50800">
              <a:solidFill>
                <a:srgbClr val="051C2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94944" y="2100377"/>
              <a:ext cx="190195" cy="190195"/>
            </a:xfrm>
            <a:prstGeom prst="rect">
              <a:avLst/>
            </a:prstGeom>
          </p:spPr>
        </p:pic>
        <p:sp>
          <p:nvSpPr>
            <p:cNvPr id="12" name="Text 9"/>
            <p:cNvSpPr txBox="1"/>
            <p:nvPr/>
          </p:nvSpPr>
          <p:spPr>
            <a:xfrm>
              <a:off x="961949" y="2048256"/>
              <a:ext cx="299100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한국의 대미 투자 현황 (FDI Trend)</a:t>
              </a:r>
              <a:endParaRPr lang="en-US" sz="15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774997" y="2066544"/>
              <a:ext cx="933602" cy="247802"/>
            </a:xfrm>
            <a:prstGeom prst="roundRect">
              <a:avLst>
                <a:gd name="adj" fmla="val 56770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4851806" y="2104949"/>
              <a:ext cx="8668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Rapid Growth</a:t>
              </a:r>
              <a:endParaRPr lang="en-US" sz="9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694944" y="2762402"/>
              <a:ext cx="4977079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한국의 대미 투자는 반도체·배터리뿐만 아니라 K-Food의 현지 생산기지 구축을 중심으로 빠르게 확대되고 있습니다. 이는 물류비 절감과 신속한 시장 대응을 가능하게 합니다.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694944" y="3338474"/>
              <a:ext cx="2428646" cy="790956"/>
            </a:xfrm>
            <a:prstGeom prst="roundRect">
              <a:avLst>
                <a:gd name="adj" fmla="val 8357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694944" y="3338474"/>
              <a:ext cx="38405" cy="790956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886054" y="3452774"/>
              <a:ext cx="1038758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$78.2 B</a:t>
              </a:r>
              <a:endParaRPr lang="en-US" sz="1800" dirty="0"/>
            </a:p>
          </p:txBody>
        </p:sp>
        <p:sp>
          <p:nvSpPr>
            <p:cNvPr id="19" name="Text 16"/>
            <p:cNvSpPr txBox="1"/>
            <p:nvPr/>
          </p:nvSpPr>
          <p:spPr>
            <a:xfrm>
              <a:off x="886054" y="3802990"/>
              <a:ext cx="17437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Korea's FDI Stock in US (2023)</a:t>
              </a:r>
              <a:endParaRPr lang="en-US" sz="9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3276295" y="3338474"/>
              <a:ext cx="2428646" cy="790956"/>
            </a:xfrm>
            <a:prstGeom prst="roundRect">
              <a:avLst>
                <a:gd name="adj" fmla="val 8357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18"/>
            <p:cNvSpPr/>
            <p:nvPr/>
          </p:nvSpPr>
          <p:spPr>
            <a:xfrm>
              <a:off x="3276295" y="3338474"/>
              <a:ext cx="38405" cy="790956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9"/>
            <p:cNvSpPr txBox="1"/>
            <p:nvPr/>
          </p:nvSpPr>
          <p:spPr>
            <a:xfrm>
              <a:off x="3467405" y="3452774"/>
              <a:ext cx="457200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#7</a:t>
              </a:r>
              <a:endParaRPr lang="en-US" sz="1800" dirty="0"/>
            </a:p>
          </p:txBody>
        </p:sp>
        <p:sp>
          <p:nvSpPr>
            <p:cNvPr id="23" name="Text 20"/>
            <p:cNvSpPr txBox="1"/>
            <p:nvPr/>
          </p:nvSpPr>
          <p:spPr>
            <a:xfrm>
              <a:off x="3467405" y="3802990"/>
              <a:ext cx="15819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Fastest Growing FDI Source</a:t>
              </a:r>
              <a:endParaRPr lang="en-US" sz="900" dirty="0"/>
            </a:p>
          </p:txBody>
        </p:sp>
        <p:pic>
          <p:nvPicPr>
            <p:cNvPr id="24" name="Image 1" descr="preencoded.png"/>
            <p:cNvPicPr>
              <a:picLocks noChangeAspect="1"/>
            </p:cNvPicPr>
            <p:nvPr/>
          </p:nvPicPr>
          <p:blipFill>
            <a:blip r:embed="rId4"/>
            <a:srcRect l="-6" r="-6"/>
            <a:stretch/>
          </p:blipFill>
          <p:spPr>
            <a:xfrm>
              <a:off x="694944" y="5086807"/>
              <a:ext cx="5009998" cy="1904695"/>
            </a:xfrm>
            <a:prstGeom prst="rect">
              <a:avLst/>
            </a:prstGeom>
          </p:spPr>
        </p:pic>
        <p:sp>
          <p:nvSpPr>
            <p:cNvPr id="25" name="Text 21"/>
            <p:cNvSpPr txBox="1"/>
            <p:nvPr/>
          </p:nvSpPr>
          <p:spPr>
            <a:xfrm>
              <a:off x="3036722" y="7058254"/>
              <a:ext cx="27624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*Source: US Department of Commerce, SelectUSA</a:t>
              </a:r>
              <a:endParaRPr lang="en-US" sz="900" dirty="0"/>
            </a:p>
          </p:txBody>
        </p:sp>
        <p:sp>
          <p:nvSpPr>
            <p:cNvPr id="26" name="Shape 22"/>
            <p:cNvSpPr/>
            <p:nvPr/>
          </p:nvSpPr>
          <p:spPr>
            <a:xfrm>
              <a:off x="6248095" y="1819656"/>
              <a:ext cx="5486400" cy="5639105"/>
            </a:xfrm>
            <a:prstGeom prst="roundRect">
              <a:avLst>
                <a:gd name="adj" fmla="val 2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3"/>
            <p:cNvSpPr/>
            <p:nvPr/>
          </p:nvSpPr>
          <p:spPr>
            <a:xfrm>
              <a:off x="6258154" y="1828800"/>
              <a:ext cx="5467198" cy="694944"/>
            </a:xfrm>
            <a:prstGeom prst="rect">
              <a:avLst/>
            </a:prstGeom>
            <a:solidFill>
              <a:srgbClr val="F0F9FF"/>
            </a:solidFill>
            <a:ln w="50800">
              <a:solidFill>
                <a:srgbClr val="00A3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8" name="Image 2" descr="preencoded.png"/>
            <p:cNvPicPr>
              <a:picLocks noChangeAspect="1"/>
            </p:cNvPicPr>
            <p:nvPr/>
          </p:nvPicPr>
          <p:blipFill>
            <a:blip r:embed="rId5"/>
            <a:srcRect l="-1282" r="-1282"/>
            <a:stretch/>
          </p:blipFill>
          <p:spPr>
            <a:xfrm>
              <a:off x="6486754" y="2100377"/>
              <a:ext cx="219456" cy="190195"/>
            </a:xfrm>
            <a:prstGeom prst="rect">
              <a:avLst/>
            </a:prstGeom>
          </p:spPr>
        </p:pic>
        <p:sp>
          <p:nvSpPr>
            <p:cNvPr id="29" name="Text 24"/>
            <p:cNvSpPr txBox="1"/>
            <p:nvPr/>
          </p:nvSpPr>
          <p:spPr>
            <a:xfrm>
              <a:off x="6782105" y="2048256"/>
              <a:ext cx="316291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식품산업 현지화 효과 (Localization)</a:t>
              </a:r>
              <a:endParaRPr lang="en-US" sz="1500" dirty="0"/>
            </a:p>
          </p:txBody>
        </p:sp>
        <p:sp>
          <p:nvSpPr>
            <p:cNvPr id="30" name="Shape 25"/>
            <p:cNvSpPr/>
            <p:nvPr/>
          </p:nvSpPr>
          <p:spPr>
            <a:xfrm>
              <a:off x="10504627" y="2066544"/>
              <a:ext cx="1000354" cy="247802"/>
            </a:xfrm>
            <a:prstGeom prst="roundRect">
              <a:avLst>
                <a:gd name="adj" fmla="val 56770"/>
              </a:avLst>
            </a:prstGeom>
            <a:solidFill>
              <a:srgbClr val="F0FDF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6"/>
            <p:cNvSpPr txBox="1"/>
            <p:nvPr/>
          </p:nvSpPr>
          <p:spPr>
            <a:xfrm>
              <a:off x="10580522" y="2104949"/>
              <a:ext cx="9336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6653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Value</a:t>
              </a:r>
              <a:endParaRPr lang="en-US" sz="900" dirty="0"/>
            </a:p>
          </p:txBody>
        </p:sp>
        <p:sp>
          <p:nvSpPr>
            <p:cNvPr id="32" name="Shape 27"/>
            <p:cNvSpPr/>
            <p:nvPr/>
          </p:nvSpPr>
          <p:spPr>
            <a:xfrm>
              <a:off x="6486754" y="3810305"/>
              <a:ext cx="5009998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Shape 28"/>
            <p:cNvSpPr/>
            <p:nvPr/>
          </p:nvSpPr>
          <p:spPr>
            <a:xfrm>
              <a:off x="6486754" y="2752344"/>
              <a:ext cx="457200" cy="457200"/>
            </a:xfrm>
            <a:prstGeom prst="roundRect">
              <a:avLst>
                <a:gd name="adj" fmla="val 50000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4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596482" y="2885846"/>
              <a:ext cx="237744" cy="190195"/>
            </a:xfrm>
            <a:prstGeom prst="rect">
              <a:avLst/>
            </a:prstGeom>
          </p:spPr>
        </p:pic>
        <p:sp>
          <p:nvSpPr>
            <p:cNvPr id="35" name="Text 29"/>
            <p:cNvSpPr txBox="1"/>
            <p:nvPr/>
          </p:nvSpPr>
          <p:spPr>
            <a:xfrm>
              <a:off x="7095744" y="2752344"/>
              <a:ext cx="19431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'Made in USA' 라벨링 효과</a:t>
              </a:r>
              <a:endParaRPr lang="en-US" sz="1200" dirty="0"/>
            </a:p>
          </p:txBody>
        </p:sp>
        <p:sp>
          <p:nvSpPr>
            <p:cNvPr id="36" name="Text 30"/>
            <p:cNvSpPr txBox="1"/>
            <p:nvPr/>
          </p:nvSpPr>
          <p:spPr>
            <a:xfrm>
              <a:off x="7095744" y="3019349"/>
              <a:ext cx="4443984" cy="5907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현지 생산 시 'Made in USA' 표기가 가능하여, 미국 소비자들의 심리적 장벽을 낮추고 로컬 프리미엄 이미지를 구축할 수 있습니다. (월마트 등 대형 유통사 선호)</a:t>
              </a:r>
              <a:endParaRPr lang="en-US" sz="1000" dirty="0"/>
            </a:p>
          </p:txBody>
        </p:sp>
        <p:sp>
          <p:nvSpPr>
            <p:cNvPr id="37" name="Shape 31"/>
            <p:cNvSpPr/>
            <p:nvPr/>
          </p:nvSpPr>
          <p:spPr>
            <a:xfrm>
              <a:off x="6486754" y="5067605"/>
              <a:ext cx="5009998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Shape 32"/>
            <p:cNvSpPr/>
            <p:nvPr/>
          </p:nvSpPr>
          <p:spPr>
            <a:xfrm>
              <a:off x="6486754" y="4009644"/>
              <a:ext cx="457200" cy="457200"/>
            </a:xfrm>
            <a:prstGeom prst="roundRect">
              <a:avLst>
                <a:gd name="adj" fmla="val 50000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9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596482" y="4143146"/>
              <a:ext cx="237744" cy="190195"/>
            </a:xfrm>
            <a:prstGeom prst="rect">
              <a:avLst/>
            </a:prstGeom>
          </p:spPr>
        </p:pic>
        <p:sp>
          <p:nvSpPr>
            <p:cNvPr id="40" name="Text 33"/>
            <p:cNvSpPr txBox="1"/>
            <p:nvPr/>
          </p:nvSpPr>
          <p:spPr>
            <a:xfrm>
              <a:off x="7095744" y="4009644"/>
              <a:ext cx="21717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Co-Packing 및 현지 OEM 활용</a:t>
              </a:r>
              <a:endParaRPr lang="en-US" sz="1200" dirty="0"/>
            </a:p>
          </p:txBody>
        </p:sp>
        <p:sp>
          <p:nvSpPr>
            <p:cNvPr id="41" name="Text 34"/>
            <p:cNvSpPr txBox="1"/>
            <p:nvPr/>
          </p:nvSpPr>
          <p:spPr>
            <a:xfrm>
              <a:off x="7095744" y="4276649"/>
              <a:ext cx="4472330" cy="5907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초기 대규모 설비 투자(Greenfield) 대신 현지 코패커(Co-packer)를 활용하여 리스크를 최소화하고, Bone Broth와 같은 액상/레토르트 제품의 생산 유연성을 확보합니다.</a:t>
              </a:r>
              <a:endParaRPr lang="en-US" sz="1000" dirty="0"/>
            </a:p>
          </p:txBody>
        </p:sp>
        <p:sp>
          <p:nvSpPr>
            <p:cNvPr id="42" name="Shape 35"/>
            <p:cNvSpPr/>
            <p:nvPr/>
          </p:nvSpPr>
          <p:spPr>
            <a:xfrm>
              <a:off x="6486754" y="6124651"/>
              <a:ext cx="5009998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36"/>
            <p:cNvSpPr/>
            <p:nvPr/>
          </p:nvSpPr>
          <p:spPr>
            <a:xfrm>
              <a:off x="6486754" y="5266944"/>
              <a:ext cx="457200" cy="457200"/>
            </a:xfrm>
            <a:prstGeom prst="roundRect">
              <a:avLst>
                <a:gd name="adj" fmla="val 50000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4" name="Image 5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596482" y="5400446"/>
              <a:ext cx="237744" cy="190195"/>
            </a:xfrm>
            <a:prstGeom prst="rect">
              <a:avLst/>
            </a:prstGeom>
          </p:spPr>
        </p:pic>
        <p:sp>
          <p:nvSpPr>
            <p:cNvPr id="45" name="Text 37"/>
            <p:cNvSpPr txBox="1"/>
            <p:nvPr/>
          </p:nvSpPr>
          <p:spPr>
            <a:xfrm>
              <a:off x="7095744" y="5266944"/>
              <a:ext cx="19723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공급망 리스크 및 비용 최적화</a:t>
              </a:r>
              <a:endParaRPr lang="en-US" sz="1200" dirty="0"/>
            </a:p>
          </p:txBody>
        </p:sp>
        <p:sp>
          <p:nvSpPr>
            <p:cNvPr id="46" name="Text 38"/>
            <p:cNvSpPr txBox="1"/>
            <p:nvPr/>
          </p:nvSpPr>
          <p:spPr>
            <a:xfrm>
              <a:off x="7095744" y="5533949"/>
              <a:ext cx="4491533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태평양 횡단 물류비와 긴 리드타임(Lead Time)을 제거하여, 신선도 유지가 중요한 냉장 유통(Cold Chain) 경쟁력을 강화하고 재고 관리 효율을 높입니다.</a:t>
              </a:r>
              <a:endParaRPr lang="en-US" sz="1000" dirty="0"/>
            </a:p>
          </p:txBody>
        </p:sp>
        <p:sp>
          <p:nvSpPr>
            <p:cNvPr id="47" name="Shape 39"/>
            <p:cNvSpPr/>
            <p:nvPr/>
          </p:nvSpPr>
          <p:spPr>
            <a:xfrm>
              <a:off x="6486754" y="6324905"/>
              <a:ext cx="5009998" cy="895198"/>
            </a:xfrm>
            <a:prstGeom prst="roundRect">
              <a:avLst>
                <a:gd name="adj" fmla="val 8693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8" name="Image 6" descr="preencoded.png"/>
            <p:cNvPicPr>
              <a:picLocks noChangeAspect="1"/>
            </p:cNvPicPr>
            <p:nvPr/>
          </p:nvPicPr>
          <p:blipFill>
            <a:blip r:embed="rId9"/>
            <a:srcRect t="-100" b="-100"/>
            <a:stretch/>
          </p:blipFill>
          <p:spPr>
            <a:xfrm>
              <a:off x="6648602" y="6524244"/>
              <a:ext cx="114300" cy="152705"/>
            </a:xfrm>
            <a:prstGeom prst="rect">
              <a:avLst/>
            </a:prstGeom>
          </p:spPr>
        </p:pic>
        <p:sp>
          <p:nvSpPr>
            <p:cNvPr id="49" name="Text 40"/>
            <p:cNvSpPr txBox="1"/>
            <p:nvPr/>
          </p:nvSpPr>
          <p:spPr>
            <a:xfrm>
              <a:off x="6877202" y="6486754"/>
              <a:ext cx="9006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E3A8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Implication:</a:t>
              </a:r>
              <a:endParaRPr lang="en-US" sz="1000" dirty="0"/>
            </a:p>
          </p:txBody>
        </p:sp>
        <p:sp>
          <p:nvSpPr>
            <p:cNvPr id="50" name="Text 41"/>
            <p:cNvSpPr txBox="1"/>
            <p:nvPr/>
          </p:nvSpPr>
          <p:spPr>
            <a:xfrm>
              <a:off x="6877202" y="6486754"/>
              <a:ext cx="4510735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E3A8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초기 진입 시에는 수출과 현지 Co-packing을 병행하다가, 매출 규모(Volume)가 커지면 자체 공장 설립이나 M&amp;A(예: CJ-Schwan's)로 전환하는 단계적 접근 권장.</a:t>
              </a:r>
              <a:endParaRPr lang="en-US" sz="1000" dirty="0"/>
            </a:p>
          </p:txBody>
        </p:sp>
        <p:sp>
          <p:nvSpPr>
            <p:cNvPr id="51" name="Shape 42"/>
            <p:cNvSpPr/>
            <p:nvPr/>
          </p:nvSpPr>
          <p:spPr>
            <a:xfrm>
              <a:off x="0" y="783915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Shape 43"/>
            <p:cNvSpPr/>
            <p:nvPr/>
          </p:nvSpPr>
          <p:spPr>
            <a:xfrm>
              <a:off x="0" y="783915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44"/>
            <p:cNvSpPr txBox="1"/>
            <p:nvPr/>
          </p:nvSpPr>
          <p:spPr>
            <a:xfrm>
              <a:off x="457200" y="7953451"/>
              <a:ext cx="5790895" cy="2212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Trade.gov (SelectUSA), KOTRA 2024 Investment Report, Industry Analysis</a:t>
              </a:r>
              <a:endParaRPr lang="en-US" sz="900" dirty="0"/>
            </a:p>
          </p:txBody>
        </p:sp>
      </p:grpSp>
      <p:sp>
        <p:nvSpPr>
          <p:cNvPr id="56" name="Rectangle 13">
            <a:extLst>
              <a:ext uri="{FF2B5EF4-FFF2-40B4-BE49-F238E27FC236}">
                <a16:creationId xmlns:a16="http://schemas.microsoft.com/office/drawing/2014/main" id="{1CDA3FC1-870B-4B94-67C4-E56CEE5A62D7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10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그룹 63">
            <a:extLst>
              <a:ext uri="{FF2B5EF4-FFF2-40B4-BE49-F238E27FC236}">
                <a16:creationId xmlns:a16="http://schemas.microsoft.com/office/drawing/2014/main" id="{21096F30-5D5D-6759-5081-8F1B9EF6F768}"/>
              </a:ext>
            </a:extLst>
          </p:cNvPr>
          <p:cNvGrpSpPr/>
          <p:nvPr/>
        </p:nvGrpSpPr>
        <p:grpSpPr>
          <a:xfrm>
            <a:off x="0" y="1"/>
            <a:ext cx="12191695" cy="6858000"/>
            <a:chOff x="0" y="0"/>
            <a:chExt cx="12191695" cy="7358177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85292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REGIONAL ECONOMIC INTEGRATION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368735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USMCA는 북미 식품 공급망의 통합을 강화하며, </a:t>
              </a:r>
            </a:p>
            <a:p>
              <a:pPr marL="0" indent="0" algn="l">
                <a:buNone/>
              </a:pP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농식품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무관세 유지로 국경 간 물류 및 소싱 유연성을 제공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533949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5486400" cy="4772254"/>
            </a:xfrm>
            <a:prstGeom prst="roundRect">
              <a:avLst>
                <a:gd name="adj" fmla="val 30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828800"/>
              <a:ext cx="5467198" cy="694944"/>
            </a:xfrm>
            <a:prstGeom prst="rect">
              <a:avLst/>
            </a:prstGeom>
            <a:solidFill>
              <a:srgbClr val="F8FAFC"/>
            </a:solidFill>
            <a:ln w="50800">
              <a:solidFill>
                <a:srgbClr val="051C2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94944" y="2100377"/>
              <a:ext cx="190195" cy="190195"/>
            </a:xfrm>
            <a:prstGeom prst="rect">
              <a:avLst/>
            </a:prstGeom>
          </p:spPr>
        </p:pic>
        <p:sp>
          <p:nvSpPr>
            <p:cNvPr id="12" name="Text 9"/>
            <p:cNvSpPr txBox="1"/>
            <p:nvPr/>
          </p:nvSpPr>
          <p:spPr>
            <a:xfrm>
              <a:off x="961949" y="2048256"/>
              <a:ext cx="357256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USMCA 시장 구조 (Market Integration)</a:t>
              </a:r>
              <a:endParaRPr lang="en-US" sz="15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020970" y="2066544"/>
              <a:ext cx="685800" cy="247802"/>
            </a:xfrm>
            <a:prstGeom prst="roundRect">
              <a:avLst>
                <a:gd name="adj" fmla="val 56770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5097780" y="2104949"/>
              <a:ext cx="6199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Structure</a:t>
              </a:r>
              <a:endParaRPr lang="en-US" sz="9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694944" y="2762402"/>
              <a:ext cx="5072177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NAFTA를 계승한 USMCA(2020 발효)는 미국-캐나다-멕시코 3국 간 농식품 무관세 교역 기조를 유지하며, 식품 안전 및 위생 규정(SPS)의 조화를 강화했습니다.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694944" y="3338474"/>
              <a:ext cx="5009998" cy="3010205"/>
            </a:xfrm>
            <a:prstGeom prst="roundRect">
              <a:avLst>
                <a:gd name="adj" fmla="val 769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847649" y="3491179"/>
              <a:ext cx="4705502" cy="590702"/>
            </a:xfrm>
            <a:prstGeom prst="roundRect">
              <a:avLst>
                <a:gd name="adj" fmla="val 1498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5"/>
            <p:cNvSpPr/>
            <p:nvPr/>
          </p:nvSpPr>
          <p:spPr>
            <a:xfrm>
              <a:off x="780898" y="3633826"/>
              <a:ext cx="38405" cy="304495"/>
            </a:xfrm>
            <a:prstGeom prst="rect">
              <a:avLst/>
            </a:prstGeom>
            <a:solidFill>
              <a:srgbClr val="1E40A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9" name="Image 1" descr="preencoded.png"/>
            <p:cNvPicPr>
              <a:picLocks noChangeAspect="1"/>
            </p:cNvPicPr>
            <p:nvPr/>
          </p:nvPicPr>
          <p:blipFill>
            <a:blip r:embed="rId4"/>
            <a:srcRect l="23750" r="23750"/>
            <a:stretch/>
          </p:blipFill>
          <p:spPr>
            <a:xfrm>
              <a:off x="972007" y="3633826"/>
              <a:ext cx="304495" cy="304495"/>
            </a:xfrm>
            <a:prstGeom prst="rect">
              <a:avLst/>
            </a:prstGeom>
          </p:spPr>
        </p:pic>
        <p:sp>
          <p:nvSpPr>
            <p:cNvPr id="20" name="Text 16"/>
            <p:cNvSpPr txBox="1"/>
            <p:nvPr/>
          </p:nvSpPr>
          <p:spPr>
            <a:xfrm>
              <a:off x="1390802" y="3614623"/>
              <a:ext cx="9866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United States</a:t>
              </a:r>
              <a:endParaRPr lang="en-US" sz="1000" dirty="0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1390802" y="3795674"/>
              <a:ext cx="14008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최대 소비 시장 &amp; R&amp;D 허브</a:t>
              </a:r>
              <a:endParaRPr lang="en-US" sz="900" dirty="0"/>
            </a:p>
          </p:txBody>
        </p:sp>
        <p:sp>
          <p:nvSpPr>
            <p:cNvPr id="22" name="Text 18"/>
            <p:cNvSpPr txBox="1"/>
            <p:nvPr/>
          </p:nvSpPr>
          <p:spPr>
            <a:xfrm>
              <a:off x="4853635" y="3719779"/>
              <a:ext cx="6675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2563E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Consumer</a:t>
              </a:r>
              <a:endParaRPr lang="en-US" sz="900" dirty="0"/>
            </a:p>
          </p:txBody>
        </p:sp>
        <p:sp>
          <p:nvSpPr>
            <p:cNvPr id="23" name="Shape 19"/>
            <p:cNvSpPr/>
            <p:nvPr/>
          </p:nvSpPr>
          <p:spPr>
            <a:xfrm>
              <a:off x="847649" y="4233672"/>
              <a:ext cx="4705502" cy="590702"/>
            </a:xfrm>
            <a:prstGeom prst="roundRect">
              <a:avLst>
                <a:gd name="adj" fmla="val 1498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20"/>
            <p:cNvSpPr/>
            <p:nvPr/>
          </p:nvSpPr>
          <p:spPr>
            <a:xfrm>
              <a:off x="780898" y="4376318"/>
              <a:ext cx="38405" cy="304495"/>
            </a:xfrm>
            <a:prstGeom prst="rect">
              <a:avLst/>
            </a:prstGeom>
            <a:solidFill>
              <a:srgbClr val="DC262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5" name="Image 2" descr="preencoded.png"/>
            <p:cNvPicPr>
              <a:picLocks noChangeAspect="1"/>
            </p:cNvPicPr>
            <p:nvPr/>
          </p:nvPicPr>
          <p:blipFill>
            <a:blip r:embed="rId5"/>
            <a:srcRect l="25000" r="25000"/>
            <a:stretch/>
          </p:blipFill>
          <p:spPr>
            <a:xfrm>
              <a:off x="972007" y="4376318"/>
              <a:ext cx="304495" cy="304495"/>
            </a:xfrm>
            <a:prstGeom prst="rect">
              <a:avLst/>
            </a:prstGeom>
          </p:spPr>
        </p:pic>
        <p:sp>
          <p:nvSpPr>
            <p:cNvPr id="26" name="Text 21"/>
            <p:cNvSpPr txBox="1"/>
            <p:nvPr/>
          </p:nvSpPr>
          <p:spPr>
            <a:xfrm>
              <a:off x="1390802" y="4358030"/>
              <a:ext cx="59618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Canada</a:t>
              </a:r>
              <a:endParaRPr lang="en-US" sz="1000" dirty="0"/>
            </a:p>
          </p:txBody>
        </p:sp>
        <p:sp>
          <p:nvSpPr>
            <p:cNvPr id="27" name="Text 22"/>
            <p:cNvSpPr txBox="1"/>
            <p:nvPr/>
          </p:nvSpPr>
          <p:spPr>
            <a:xfrm>
              <a:off x="1390802" y="4539082"/>
              <a:ext cx="14575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프리미엄 원료 &amp; 테스트 베드</a:t>
              </a:r>
              <a:endParaRPr lang="en-US" sz="900" dirty="0"/>
            </a:p>
          </p:txBody>
        </p:sp>
        <p:sp>
          <p:nvSpPr>
            <p:cNvPr id="28" name="Text 23"/>
            <p:cNvSpPr txBox="1"/>
            <p:nvPr/>
          </p:nvSpPr>
          <p:spPr>
            <a:xfrm>
              <a:off x="4928616" y="4462272"/>
              <a:ext cx="5907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Sourcing</a:t>
              </a:r>
              <a:endParaRPr lang="en-US" sz="900" dirty="0"/>
            </a:p>
          </p:txBody>
        </p:sp>
        <p:sp>
          <p:nvSpPr>
            <p:cNvPr id="29" name="Shape 24"/>
            <p:cNvSpPr/>
            <p:nvPr/>
          </p:nvSpPr>
          <p:spPr>
            <a:xfrm>
              <a:off x="847649" y="4977079"/>
              <a:ext cx="4705502" cy="590702"/>
            </a:xfrm>
            <a:prstGeom prst="roundRect">
              <a:avLst>
                <a:gd name="adj" fmla="val 1498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Shape 25"/>
            <p:cNvSpPr/>
            <p:nvPr/>
          </p:nvSpPr>
          <p:spPr>
            <a:xfrm>
              <a:off x="780898" y="5119726"/>
              <a:ext cx="38405" cy="304495"/>
            </a:xfrm>
            <a:prstGeom prst="rect">
              <a:avLst/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1" name="Image 3" descr="preencoded.png"/>
            <p:cNvPicPr>
              <a:picLocks noChangeAspect="1"/>
            </p:cNvPicPr>
            <p:nvPr/>
          </p:nvPicPr>
          <p:blipFill>
            <a:blip r:embed="rId6"/>
            <a:srcRect l="21250" r="21250"/>
            <a:stretch/>
          </p:blipFill>
          <p:spPr>
            <a:xfrm>
              <a:off x="972007" y="5119726"/>
              <a:ext cx="304495" cy="304495"/>
            </a:xfrm>
            <a:prstGeom prst="rect">
              <a:avLst/>
            </a:prstGeom>
          </p:spPr>
        </p:pic>
        <p:sp>
          <p:nvSpPr>
            <p:cNvPr id="32" name="Text 26"/>
            <p:cNvSpPr txBox="1"/>
            <p:nvPr/>
          </p:nvSpPr>
          <p:spPr>
            <a:xfrm>
              <a:off x="1390802" y="5100523"/>
              <a:ext cx="5577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Mexico</a:t>
              </a:r>
              <a:endParaRPr lang="en-US" sz="1000" dirty="0"/>
            </a:p>
          </p:txBody>
        </p:sp>
        <p:sp>
          <p:nvSpPr>
            <p:cNvPr id="33" name="Text 27"/>
            <p:cNvSpPr txBox="1"/>
            <p:nvPr/>
          </p:nvSpPr>
          <p:spPr>
            <a:xfrm>
              <a:off x="1390802" y="5281574"/>
              <a:ext cx="20290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생산 기지 &amp; 코패킹(Co-packing) 파트너</a:t>
              </a:r>
              <a:endParaRPr lang="en-US" sz="900" dirty="0"/>
            </a:p>
          </p:txBody>
        </p:sp>
        <p:sp>
          <p:nvSpPr>
            <p:cNvPr id="34" name="Text 28"/>
            <p:cNvSpPr txBox="1"/>
            <p:nvPr/>
          </p:nvSpPr>
          <p:spPr>
            <a:xfrm>
              <a:off x="4800600" y="5205679"/>
              <a:ext cx="7150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7C3AED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Production</a:t>
              </a:r>
              <a:endParaRPr lang="en-US" sz="900" dirty="0"/>
            </a:p>
          </p:txBody>
        </p:sp>
        <p:sp>
          <p:nvSpPr>
            <p:cNvPr id="35" name="Shape 29"/>
            <p:cNvSpPr/>
            <p:nvPr/>
          </p:nvSpPr>
          <p:spPr>
            <a:xfrm>
              <a:off x="2382926" y="5796382"/>
              <a:ext cx="1638605" cy="400507"/>
            </a:xfrm>
            <a:prstGeom prst="roundRect">
              <a:avLst>
                <a:gd name="adj" fmla="val 21744"/>
              </a:avLst>
            </a:prstGeom>
            <a:solidFill>
              <a:srgbClr val="F9FAFB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6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2506370" y="5939028"/>
              <a:ext cx="114300" cy="114300"/>
            </a:xfrm>
            <a:prstGeom prst="rect">
              <a:avLst/>
            </a:prstGeom>
          </p:spPr>
        </p:pic>
        <p:sp>
          <p:nvSpPr>
            <p:cNvPr id="37" name="Text 30"/>
            <p:cNvSpPr txBox="1"/>
            <p:nvPr/>
          </p:nvSpPr>
          <p:spPr>
            <a:xfrm>
              <a:off x="2696566" y="5910682"/>
              <a:ext cx="12865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Zero Tariff Trade Flow</a:t>
              </a:r>
              <a:endParaRPr lang="en-US" sz="900" dirty="0"/>
            </a:p>
          </p:txBody>
        </p:sp>
        <p:sp>
          <p:nvSpPr>
            <p:cNvPr id="38" name="Shape 31"/>
            <p:cNvSpPr/>
            <p:nvPr/>
          </p:nvSpPr>
          <p:spPr>
            <a:xfrm>
              <a:off x="6248095" y="1819656"/>
              <a:ext cx="5486400" cy="4772254"/>
            </a:xfrm>
            <a:prstGeom prst="roundRect">
              <a:avLst>
                <a:gd name="adj" fmla="val 30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Shape 32"/>
            <p:cNvSpPr/>
            <p:nvPr/>
          </p:nvSpPr>
          <p:spPr>
            <a:xfrm>
              <a:off x="6258154" y="1828800"/>
              <a:ext cx="5467198" cy="694944"/>
            </a:xfrm>
            <a:prstGeom prst="rect">
              <a:avLst/>
            </a:prstGeom>
            <a:solidFill>
              <a:srgbClr val="F0F9FF"/>
            </a:solidFill>
            <a:ln w="50800">
              <a:solidFill>
                <a:srgbClr val="00A3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0" name="Image 5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486754" y="2100377"/>
              <a:ext cx="190195" cy="190195"/>
            </a:xfrm>
            <a:prstGeom prst="rect">
              <a:avLst/>
            </a:prstGeom>
          </p:spPr>
        </p:pic>
        <p:sp>
          <p:nvSpPr>
            <p:cNvPr id="41" name="Text 33"/>
            <p:cNvSpPr txBox="1"/>
            <p:nvPr/>
          </p:nvSpPr>
          <p:spPr>
            <a:xfrm>
              <a:off x="6752844" y="2048256"/>
              <a:ext cx="25054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식품산업 통합 효과 (Impact)</a:t>
              </a:r>
              <a:endParaRPr lang="en-US" sz="1500" dirty="0"/>
            </a:p>
          </p:txBody>
        </p:sp>
        <p:sp>
          <p:nvSpPr>
            <p:cNvPr id="42" name="Shape 34"/>
            <p:cNvSpPr/>
            <p:nvPr/>
          </p:nvSpPr>
          <p:spPr>
            <a:xfrm>
              <a:off x="10553090" y="2066544"/>
              <a:ext cx="952805" cy="247802"/>
            </a:xfrm>
            <a:prstGeom prst="roundRect">
              <a:avLst>
                <a:gd name="adj" fmla="val 56770"/>
              </a:avLst>
            </a:prstGeom>
            <a:solidFill>
              <a:srgbClr val="FCE7F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35"/>
            <p:cNvSpPr txBox="1"/>
            <p:nvPr/>
          </p:nvSpPr>
          <p:spPr>
            <a:xfrm>
              <a:off x="10628986" y="2104949"/>
              <a:ext cx="8860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D174D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Opportunities</a:t>
              </a:r>
              <a:endParaRPr lang="en-US" sz="900" dirty="0"/>
            </a:p>
          </p:txBody>
        </p:sp>
        <p:sp>
          <p:nvSpPr>
            <p:cNvPr id="44" name="Shape 36"/>
            <p:cNvSpPr/>
            <p:nvPr/>
          </p:nvSpPr>
          <p:spPr>
            <a:xfrm>
              <a:off x="6486754" y="2752344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5" name="Image 6" descr="preencoded.png"/>
            <p:cNvPicPr>
              <a:picLocks noChangeAspect="1"/>
            </p:cNvPicPr>
            <p:nvPr/>
          </p:nvPicPr>
          <p:blipFill>
            <a:blip r:embed="rId9"/>
            <a:srcRect t="-842" b="-842"/>
            <a:stretch/>
          </p:blipFill>
          <p:spPr>
            <a:xfrm>
              <a:off x="6581851" y="2857500"/>
              <a:ext cx="190195" cy="171907"/>
            </a:xfrm>
            <a:prstGeom prst="rect">
              <a:avLst/>
            </a:prstGeom>
          </p:spPr>
        </p:pic>
        <p:sp>
          <p:nvSpPr>
            <p:cNvPr id="46" name="Text 37"/>
            <p:cNvSpPr txBox="1"/>
            <p:nvPr/>
          </p:nvSpPr>
          <p:spPr>
            <a:xfrm>
              <a:off x="7019849" y="2752344"/>
              <a:ext cx="24670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무관세 접근성 (Zero Tariff Access)</a:t>
              </a:r>
              <a:endParaRPr lang="en-US" sz="1200" dirty="0"/>
            </a:p>
          </p:txBody>
        </p:sp>
        <p:sp>
          <p:nvSpPr>
            <p:cNvPr id="47" name="Text 38"/>
            <p:cNvSpPr txBox="1"/>
            <p:nvPr/>
          </p:nvSpPr>
          <p:spPr>
            <a:xfrm>
              <a:off x="7019849" y="3019349"/>
              <a:ext cx="4558284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기존 NAFTA의 농산물 무관세 조항이 대부분 유지됨에 따라, 미국 현지 생산 시 캐나다/멕시코로의 무관세 수출 확장이 용이함.</a:t>
              </a:r>
              <a:endParaRPr lang="en-US" sz="1000" dirty="0"/>
            </a:p>
          </p:txBody>
        </p:sp>
        <p:sp>
          <p:nvSpPr>
            <p:cNvPr id="48" name="Shape 39"/>
            <p:cNvSpPr/>
            <p:nvPr/>
          </p:nvSpPr>
          <p:spPr>
            <a:xfrm>
              <a:off x="6486754" y="3610051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9" name="Image 7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590995" y="3715207"/>
              <a:ext cx="171907" cy="171907"/>
            </a:xfrm>
            <a:prstGeom prst="rect">
              <a:avLst/>
            </a:prstGeom>
          </p:spPr>
        </p:pic>
        <p:sp>
          <p:nvSpPr>
            <p:cNvPr id="50" name="Text 40"/>
            <p:cNvSpPr txBox="1"/>
            <p:nvPr/>
          </p:nvSpPr>
          <p:spPr>
            <a:xfrm>
              <a:off x="7019849" y="3610051"/>
              <a:ext cx="31245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SPS/TBT 규제 조화 (Regulatory Harmony)</a:t>
              </a:r>
              <a:endParaRPr lang="en-US" sz="1200" dirty="0"/>
            </a:p>
          </p:txBody>
        </p:sp>
        <p:sp>
          <p:nvSpPr>
            <p:cNvPr id="51" name="Text 41"/>
            <p:cNvSpPr txBox="1"/>
            <p:nvPr/>
          </p:nvSpPr>
          <p:spPr>
            <a:xfrm>
              <a:off x="7019849" y="3877056"/>
              <a:ext cx="4472330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위생 및 식물위생(SPS) 조치에 대한 과학적 근거 강화 및 투명성 제고. 3국 간 식품 안전 표준이 유사해져 인증 및 통관 리스크 감소.</a:t>
              </a:r>
              <a:endParaRPr lang="en-US" sz="1000" dirty="0"/>
            </a:p>
          </p:txBody>
        </p:sp>
        <p:sp>
          <p:nvSpPr>
            <p:cNvPr id="52" name="Shape 42"/>
            <p:cNvSpPr/>
            <p:nvPr/>
          </p:nvSpPr>
          <p:spPr>
            <a:xfrm>
              <a:off x="6486754" y="4466844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3" name="Image 8" descr="preencoded.png"/>
            <p:cNvPicPr>
              <a:picLocks noChangeAspect="1"/>
            </p:cNvPicPr>
            <p:nvPr/>
          </p:nvPicPr>
          <p:blipFill>
            <a:blip r:embed="rId11"/>
            <a:srcRect t="-1310" b="-1310"/>
            <a:stretch/>
          </p:blipFill>
          <p:spPr>
            <a:xfrm>
              <a:off x="6572707" y="4572000"/>
              <a:ext cx="209398" cy="171907"/>
            </a:xfrm>
            <a:prstGeom prst="rect">
              <a:avLst/>
            </a:prstGeom>
          </p:spPr>
        </p:pic>
        <p:sp>
          <p:nvSpPr>
            <p:cNvPr id="54" name="Text 43"/>
            <p:cNvSpPr txBox="1"/>
            <p:nvPr/>
          </p:nvSpPr>
          <p:spPr>
            <a:xfrm>
              <a:off x="7019849" y="4466844"/>
              <a:ext cx="29434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공급망 유연성 (Supply Chain Flexibility)</a:t>
              </a:r>
              <a:endParaRPr lang="en-US" sz="1200" dirty="0"/>
            </a:p>
          </p:txBody>
        </p:sp>
        <p:sp>
          <p:nvSpPr>
            <p:cNvPr id="55" name="Text 44"/>
            <p:cNvSpPr txBox="1"/>
            <p:nvPr/>
          </p:nvSpPr>
          <p:spPr>
            <a:xfrm>
              <a:off x="7019849" y="4733849"/>
              <a:ext cx="4500677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멕시코의 저렴한 인건비와 미국의 기술력을 결합한 크로스보더 생산/물류 최적화 가능. (예: 원료 소싱 다변화, 계절적 수급 조절)</a:t>
              </a:r>
              <a:endParaRPr lang="en-US" sz="1000" dirty="0"/>
            </a:p>
          </p:txBody>
        </p:sp>
        <p:sp>
          <p:nvSpPr>
            <p:cNvPr id="56" name="Shape 45"/>
            <p:cNvSpPr/>
            <p:nvPr/>
          </p:nvSpPr>
          <p:spPr>
            <a:xfrm>
              <a:off x="6486754" y="5643677"/>
              <a:ext cx="5009998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Shape 46"/>
            <p:cNvSpPr/>
            <p:nvPr/>
          </p:nvSpPr>
          <p:spPr>
            <a:xfrm>
              <a:off x="6486754" y="5805526"/>
              <a:ext cx="5009998" cy="543154"/>
            </a:xfrm>
            <a:prstGeom prst="roundRect">
              <a:avLst>
                <a:gd name="adj" fmla="val 23628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8" name="Image 9" descr="preencoded.png"/>
            <p:cNvPicPr>
              <a:picLocks noChangeAspect="1"/>
            </p:cNvPicPr>
            <p:nvPr/>
          </p:nvPicPr>
          <p:blipFill>
            <a:blip r:embed="rId12"/>
            <a:srcRect t="-100" b="-100"/>
            <a:stretch/>
          </p:blipFill>
          <p:spPr>
            <a:xfrm>
              <a:off x="6601054" y="5958230"/>
              <a:ext cx="114300" cy="152705"/>
            </a:xfrm>
            <a:prstGeom prst="rect">
              <a:avLst/>
            </a:prstGeom>
          </p:spPr>
        </p:pic>
        <p:sp>
          <p:nvSpPr>
            <p:cNvPr id="59" name="Text 47"/>
            <p:cNvSpPr txBox="1"/>
            <p:nvPr/>
          </p:nvSpPr>
          <p:spPr>
            <a:xfrm>
              <a:off x="6829654" y="5910682"/>
              <a:ext cx="4543654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1E3A8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Insight: 미국 진출을 교두보로 삼아 향후 캐나다(건강식 수요) 및 멕시코(K-Food 인기) 시장으로의 확장 전략(Pan-Regional Strategy) 수립 가능.</a:t>
              </a:r>
              <a:endParaRPr lang="en-US" sz="900" dirty="0"/>
            </a:p>
          </p:txBody>
        </p:sp>
        <p:sp>
          <p:nvSpPr>
            <p:cNvPr id="60" name="Shape 48"/>
            <p:cNvSpPr/>
            <p:nvPr/>
          </p:nvSpPr>
          <p:spPr>
            <a:xfrm>
              <a:off x="0" y="6967728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Shape 49"/>
            <p:cNvSpPr/>
            <p:nvPr/>
          </p:nvSpPr>
          <p:spPr>
            <a:xfrm>
              <a:off x="0" y="6967728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 50"/>
            <p:cNvSpPr txBox="1"/>
            <p:nvPr/>
          </p:nvSpPr>
          <p:spPr>
            <a:xfrm>
              <a:off x="457200" y="7082028"/>
              <a:ext cx="5638800" cy="1947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USTR USMCA Fact Sheet, USDA Economic Research Service, KOTRA Analysis</a:t>
              </a:r>
              <a:endParaRPr lang="en-US" sz="900" dirty="0"/>
            </a:p>
          </p:txBody>
        </p:sp>
      </p:grpSp>
      <p:sp>
        <p:nvSpPr>
          <p:cNvPr id="65" name="Rectangle 13">
            <a:extLst>
              <a:ext uri="{FF2B5EF4-FFF2-40B4-BE49-F238E27FC236}">
                <a16:creationId xmlns:a16="http://schemas.microsoft.com/office/drawing/2014/main" id="{81AD6156-7CEE-8FAF-AE85-9B8CD0A9E1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11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그룹 64">
            <a:extLst>
              <a:ext uri="{FF2B5EF4-FFF2-40B4-BE49-F238E27FC236}">
                <a16:creationId xmlns:a16="http://schemas.microsoft.com/office/drawing/2014/main" id="{A18CA764-D2AA-4C07-9C2E-D2AF00B6368F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086307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047902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185348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GLOBAL MEGA TRENDS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0702138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Wellness와 K-Wave가 수요를 견인하고, Clean Label과 ESG가 진입의 표준을 정의함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080821"/>
              <a:ext cx="12191695" cy="5391302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462126"/>
              <a:ext cx="5486400" cy="4629607"/>
            </a:xfrm>
            <a:prstGeom prst="roundRect">
              <a:avLst>
                <a:gd name="adj" fmla="val 32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471270"/>
              <a:ext cx="5467198" cy="694944"/>
            </a:xfrm>
            <a:prstGeom prst="rect">
              <a:avLst/>
            </a:prstGeom>
            <a:solidFill>
              <a:srgbClr val="F8FAFC"/>
            </a:solidFill>
            <a:ln w="50800">
              <a:solidFill>
                <a:srgbClr val="051C2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94944" y="1742846"/>
              <a:ext cx="237744" cy="190195"/>
            </a:xfrm>
            <a:prstGeom prst="rect">
              <a:avLst/>
            </a:prstGeom>
          </p:spPr>
        </p:pic>
        <p:sp>
          <p:nvSpPr>
            <p:cNvPr id="12" name="Text 9"/>
            <p:cNvSpPr txBox="1"/>
            <p:nvPr/>
          </p:nvSpPr>
          <p:spPr>
            <a:xfrm>
              <a:off x="1009498" y="1690726"/>
              <a:ext cx="2667305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Consumer Demand Drivers</a:t>
              </a:r>
              <a:endParaRPr lang="en-US" sz="15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580230" y="1709928"/>
              <a:ext cx="1133856" cy="247802"/>
            </a:xfrm>
            <a:prstGeom prst="roundRect">
              <a:avLst>
                <a:gd name="adj" fmla="val 56770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4656125" y="1747418"/>
              <a:ext cx="10671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GROWTH ENGINE</a:t>
              </a:r>
              <a:endParaRPr lang="en-US" sz="9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694944" y="2395728"/>
              <a:ext cx="533095" cy="533095"/>
            </a:xfrm>
            <a:prstGeom prst="roundRect">
              <a:avLst>
                <a:gd name="adj" fmla="val 36756"/>
              </a:avLst>
            </a:prstGeom>
            <a:solidFill>
              <a:srgbClr val="ECFDF5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6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47649" y="2547518"/>
              <a:ext cx="228600" cy="228600"/>
            </a:xfrm>
            <a:prstGeom prst="rect">
              <a:avLst/>
            </a:prstGeom>
          </p:spPr>
        </p:pic>
        <p:sp>
          <p:nvSpPr>
            <p:cNvPr id="17" name="Text 13"/>
            <p:cNvSpPr txBox="1"/>
            <p:nvPr/>
          </p:nvSpPr>
          <p:spPr>
            <a:xfrm>
              <a:off x="1419149" y="2395728"/>
              <a:ext cx="201168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Wellness &amp; Functional</a:t>
              </a:r>
              <a:endParaRPr lang="en-US" sz="1300" dirty="0"/>
            </a:p>
          </p:txBody>
        </p:sp>
        <p:sp>
          <p:nvSpPr>
            <p:cNvPr id="18" name="Text 14"/>
            <p:cNvSpPr txBox="1"/>
            <p:nvPr/>
          </p:nvSpPr>
          <p:spPr>
            <a:xfrm>
              <a:off x="1419149" y="2733142"/>
              <a:ext cx="4332427" cy="648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단순한 허기 해결을 넘어, 건강 기능성(면역, 소화, 피부)을 추구하는 'Food as Medicine' 트렌드 심화. Bone Broth는 고단백·저탄수(Keto/Paleo)·콜라겐 공급원으로 각광받음.</a:t>
              </a:r>
              <a:endParaRPr lang="en-US" sz="1000" dirty="0"/>
            </a:p>
          </p:txBody>
        </p:sp>
        <p:sp>
          <p:nvSpPr>
            <p:cNvPr id="19" name="Shape 15"/>
            <p:cNvSpPr/>
            <p:nvPr/>
          </p:nvSpPr>
          <p:spPr>
            <a:xfrm>
              <a:off x="1419149" y="3458261"/>
              <a:ext cx="886054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6"/>
            <p:cNvSpPr txBox="1"/>
            <p:nvPr/>
          </p:nvSpPr>
          <p:spPr>
            <a:xfrm>
              <a:off x="1495044" y="3472891"/>
              <a:ext cx="8193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#HighProtein</a:t>
              </a:r>
              <a:endParaRPr lang="en-US" sz="900" dirty="0"/>
            </a:p>
          </p:txBody>
        </p:sp>
        <p:sp>
          <p:nvSpPr>
            <p:cNvPr id="21" name="Shape 17"/>
            <p:cNvSpPr/>
            <p:nvPr/>
          </p:nvSpPr>
          <p:spPr>
            <a:xfrm>
              <a:off x="2339950" y="3458261"/>
              <a:ext cx="886054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8"/>
            <p:cNvSpPr txBox="1"/>
            <p:nvPr/>
          </p:nvSpPr>
          <p:spPr>
            <a:xfrm>
              <a:off x="2415845" y="3472891"/>
              <a:ext cx="8193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#LowSodium</a:t>
              </a:r>
              <a:endParaRPr lang="en-US" sz="900" dirty="0"/>
            </a:p>
          </p:txBody>
        </p:sp>
        <p:sp>
          <p:nvSpPr>
            <p:cNvPr id="23" name="Shape 19"/>
            <p:cNvSpPr/>
            <p:nvPr/>
          </p:nvSpPr>
          <p:spPr>
            <a:xfrm>
              <a:off x="3254350" y="3458261"/>
              <a:ext cx="761695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0"/>
            <p:cNvSpPr txBox="1"/>
            <p:nvPr/>
          </p:nvSpPr>
          <p:spPr>
            <a:xfrm>
              <a:off x="3330245" y="3472891"/>
              <a:ext cx="6958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#Immunity</a:t>
              </a:r>
              <a:endParaRPr lang="en-US" sz="900" dirty="0"/>
            </a:p>
          </p:txBody>
        </p:sp>
        <p:sp>
          <p:nvSpPr>
            <p:cNvPr id="25" name="Shape 21"/>
            <p:cNvSpPr/>
            <p:nvPr/>
          </p:nvSpPr>
          <p:spPr>
            <a:xfrm>
              <a:off x="694944" y="3964838"/>
              <a:ext cx="533095" cy="533095"/>
            </a:xfrm>
            <a:prstGeom prst="roundRect">
              <a:avLst>
                <a:gd name="adj" fmla="val 36756"/>
              </a:avLst>
            </a:prstGeom>
            <a:solidFill>
              <a:srgbClr val="FFF1F2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6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47649" y="4116629"/>
              <a:ext cx="228600" cy="228600"/>
            </a:xfrm>
            <a:prstGeom prst="rect">
              <a:avLst/>
            </a:prstGeom>
          </p:spPr>
        </p:pic>
        <p:sp>
          <p:nvSpPr>
            <p:cNvPr id="27" name="Text 22"/>
            <p:cNvSpPr txBox="1"/>
            <p:nvPr/>
          </p:nvSpPr>
          <p:spPr>
            <a:xfrm>
              <a:off x="1419149" y="3964838"/>
              <a:ext cx="242133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K-Wave (Hallyu) Expansion</a:t>
              </a:r>
              <a:endParaRPr lang="en-US" sz="1300" dirty="0"/>
            </a:p>
          </p:txBody>
        </p:sp>
        <p:sp>
          <p:nvSpPr>
            <p:cNvPr id="28" name="Text 23"/>
            <p:cNvSpPr txBox="1"/>
            <p:nvPr/>
          </p:nvSpPr>
          <p:spPr>
            <a:xfrm>
              <a:off x="1419149" y="4302252"/>
              <a:ext cx="4323283" cy="648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K-Content(오징어게임 등) 확산으로 한식이 '힙한 글로벌 미식'으로 부상. MZ세대를 중심으로 새로운 맛(New Flavor)과 정통성(Authenticity)에 대한 탐색 소비 증가.</a:t>
              </a:r>
              <a:endParaRPr lang="en-US" sz="1000" dirty="0"/>
            </a:p>
          </p:txBody>
        </p:sp>
        <p:sp>
          <p:nvSpPr>
            <p:cNvPr id="29" name="Shape 24"/>
            <p:cNvSpPr/>
            <p:nvPr/>
          </p:nvSpPr>
          <p:spPr>
            <a:xfrm>
              <a:off x="1419149" y="5027371"/>
              <a:ext cx="619049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5"/>
            <p:cNvSpPr txBox="1"/>
            <p:nvPr/>
          </p:nvSpPr>
          <p:spPr>
            <a:xfrm>
              <a:off x="1495044" y="5042002"/>
              <a:ext cx="5532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#K-Food</a:t>
              </a:r>
              <a:endParaRPr lang="en-US" sz="900" dirty="0"/>
            </a:p>
          </p:txBody>
        </p:sp>
        <p:sp>
          <p:nvSpPr>
            <p:cNvPr id="31" name="Shape 26"/>
            <p:cNvSpPr/>
            <p:nvPr/>
          </p:nvSpPr>
          <p:spPr>
            <a:xfrm>
              <a:off x="2072945" y="5027371"/>
              <a:ext cx="1114654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27"/>
            <p:cNvSpPr txBox="1"/>
            <p:nvPr/>
          </p:nvSpPr>
          <p:spPr>
            <a:xfrm>
              <a:off x="2148840" y="5042002"/>
              <a:ext cx="10479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#AuthenticFlavor</a:t>
              </a:r>
              <a:endParaRPr lang="en-US" sz="900" dirty="0"/>
            </a:p>
          </p:txBody>
        </p:sp>
        <p:sp>
          <p:nvSpPr>
            <p:cNvPr id="33" name="Shape 28"/>
            <p:cNvSpPr/>
            <p:nvPr/>
          </p:nvSpPr>
          <p:spPr>
            <a:xfrm>
              <a:off x="3218688" y="5027371"/>
              <a:ext cx="1133856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29"/>
            <p:cNvSpPr txBox="1"/>
            <p:nvPr/>
          </p:nvSpPr>
          <p:spPr>
            <a:xfrm>
              <a:off x="3294583" y="5042002"/>
              <a:ext cx="10671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#SpicyExperience</a:t>
              </a:r>
              <a:endParaRPr lang="en-US" sz="900" dirty="0"/>
            </a:p>
          </p:txBody>
        </p:sp>
        <p:sp>
          <p:nvSpPr>
            <p:cNvPr id="35" name="Shape 30"/>
            <p:cNvSpPr/>
            <p:nvPr/>
          </p:nvSpPr>
          <p:spPr>
            <a:xfrm>
              <a:off x="6248095" y="1462126"/>
              <a:ext cx="5486400" cy="4629607"/>
            </a:xfrm>
            <a:prstGeom prst="roundRect">
              <a:avLst>
                <a:gd name="adj" fmla="val 32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1"/>
            <p:cNvSpPr/>
            <p:nvPr/>
          </p:nvSpPr>
          <p:spPr>
            <a:xfrm>
              <a:off x="6258154" y="1471270"/>
              <a:ext cx="5467198" cy="694944"/>
            </a:xfrm>
            <a:prstGeom prst="rect">
              <a:avLst/>
            </a:prstGeom>
            <a:solidFill>
              <a:srgbClr val="F0F9FF"/>
            </a:solidFill>
            <a:ln w="50800">
              <a:solidFill>
                <a:srgbClr val="00A3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7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486754" y="1742846"/>
              <a:ext cx="190195" cy="190195"/>
            </a:xfrm>
            <a:prstGeom prst="rect">
              <a:avLst/>
            </a:prstGeom>
          </p:spPr>
        </p:pic>
        <p:sp>
          <p:nvSpPr>
            <p:cNvPr id="38" name="Text 32"/>
            <p:cNvSpPr txBox="1"/>
            <p:nvPr/>
          </p:nvSpPr>
          <p:spPr>
            <a:xfrm>
              <a:off x="6752844" y="1690726"/>
              <a:ext cx="22768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New Market Standards</a:t>
              </a:r>
              <a:endParaRPr lang="en-US" sz="1500" dirty="0"/>
            </a:p>
          </p:txBody>
        </p:sp>
        <p:sp>
          <p:nvSpPr>
            <p:cNvPr id="39" name="Shape 33"/>
            <p:cNvSpPr/>
            <p:nvPr/>
          </p:nvSpPr>
          <p:spPr>
            <a:xfrm>
              <a:off x="10511942" y="1709928"/>
              <a:ext cx="990295" cy="247802"/>
            </a:xfrm>
            <a:prstGeom prst="roundRect">
              <a:avLst>
                <a:gd name="adj" fmla="val 56770"/>
              </a:avLst>
            </a:prstGeom>
            <a:solidFill>
              <a:srgbClr val="F3E8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4"/>
            <p:cNvSpPr txBox="1"/>
            <p:nvPr/>
          </p:nvSpPr>
          <p:spPr>
            <a:xfrm>
              <a:off x="10587838" y="1747418"/>
              <a:ext cx="9244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21A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REQUIREMENT</a:t>
              </a:r>
              <a:endParaRPr lang="en-US" sz="900" dirty="0"/>
            </a:p>
          </p:txBody>
        </p:sp>
        <p:sp>
          <p:nvSpPr>
            <p:cNvPr id="41" name="Shape 35"/>
            <p:cNvSpPr/>
            <p:nvPr/>
          </p:nvSpPr>
          <p:spPr>
            <a:xfrm>
              <a:off x="6486754" y="2395728"/>
              <a:ext cx="533095" cy="533095"/>
            </a:xfrm>
            <a:prstGeom prst="roundRect">
              <a:avLst>
                <a:gd name="adj" fmla="val 36756"/>
              </a:avLst>
            </a:prstGeom>
            <a:solidFill>
              <a:srgbClr val="F0F9FF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2" name="Image 4" descr="preencoded.png"/>
            <p:cNvPicPr>
              <a:picLocks noChangeAspect="1"/>
            </p:cNvPicPr>
            <p:nvPr/>
          </p:nvPicPr>
          <p:blipFill>
            <a:blip r:embed="rId7"/>
            <a:srcRect l="-57" r="-57"/>
            <a:stretch/>
          </p:blipFill>
          <p:spPr>
            <a:xfrm>
              <a:off x="6653174" y="2547518"/>
              <a:ext cx="200254" cy="228600"/>
            </a:xfrm>
            <a:prstGeom prst="rect">
              <a:avLst/>
            </a:prstGeom>
          </p:spPr>
        </p:pic>
        <p:sp>
          <p:nvSpPr>
            <p:cNvPr id="43" name="Text 36"/>
            <p:cNvSpPr txBox="1"/>
            <p:nvPr/>
          </p:nvSpPr>
          <p:spPr>
            <a:xfrm>
              <a:off x="7210044" y="2395728"/>
              <a:ext cx="249814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Clean Label &amp; Transparency</a:t>
              </a:r>
              <a:endParaRPr lang="en-US" sz="1300" dirty="0"/>
            </a:p>
          </p:txBody>
        </p:sp>
        <p:sp>
          <p:nvSpPr>
            <p:cNvPr id="44" name="Text 37"/>
            <p:cNvSpPr txBox="1"/>
            <p:nvPr/>
          </p:nvSpPr>
          <p:spPr>
            <a:xfrm>
              <a:off x="7210044" y="2733142"/>
              <a:ext cx="4370832" cy="648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복잡한 첨가물을 배제하고, 소비자가 이해하기 쉬운 천연 원재료만을 사용한 제품 선호. MSG 무첨가, Non-GMO, Organic 인증 여부가 프리미엄 제품의 필수 조건.</a:t>
              </a:r>
              <a:endParaRPr lang="en-US" sz="1000" dirty="0"/>
            </a:p>
          </p:txBody>
        </p:sp>
        <p:sp>
          <p:nvSpPr>
            <p:cNvPr id="45" name="Shape 38"/>
            <p:cNvSpPr/>
            <p:nvPr/>
          </p:nvSpPr>
          <p:spPr>
            <a:xfrm>
              <a:off x="7210044" y="3458261"/>
              <a:ext cx="895198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39"/>
            <p:cNvSpPr txBox="1"/>
            <p:nvPr/>
          </p:nvSpPr>
          <p:spPr>
            <a:xfrm>
              <a:off x="7286854" y="3472891"/>
              <a:ext cx="8293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#NoAdditives</a:t>
              </a:r>
              <a:endParaRPr lang="en-US" sz="900" dirty="0"/>
            </a:p>
          </p:txBody>
        </p:sp>
        <p:sp>
          <p:nvSpPr>
            <p:cNvPr id="47" name="Shape 40"/>
            <p:cNvSpPr/>
            <p:nvPr/>
          </p:nvSpPr>
          <p:spPr>
            <a:xfrm>
              <a:off x="8139074" y="3458261"/>
              <a:ext cx="1266444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41"/>
            <p:cNvSpPr txBox="1"/>
            <p:nvPr/>
          </p:nvSpPr>
          <p:spPr>
            <a:xfrm>
              <a:off x="8214970" y="3472891"/>
              <a:ext cx="12006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#NaturalIngredients</a:t>
              </a:r>
              <a:endParaRPr lang="en-US" sz="900" dirty="0"/>
            </a:p>
          </p:txBody>
        </p:sp>
        <p:sp>
          <p:nvSpPr>
            <p:cNvPr id="49" name="Shape 42"/>
            <p:cNvSpPr/>
            <p:nvPr/>
          </p:nvSpPr>
          <p:spPr>
            <a:xfrm>
              <a:off x="9442094" y="3458261"/>
              <a:ext cx="504749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3"/>
            <p:cNvSpPr txBox="1"/>
            <p:nvPr/>
          </p:nvSpPr>
          <p:spPr>
            <a:xfrm>
              <a:off x="9517990" y="3472891"/>
              <a:ext cx="4389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#Trust</a:t>
              </a:r>
              <a:endParaRPr lang="en-US" sz="900" dirty="0"/>
            </a:p>
          </p:txBody>
        </p:sp>
        <p:sp>
          <p:nvSpPr>
            <p:cNvPr id="51" name="Shape 44"/>
            <p:cNvSpPr/>
            <p:nvPr/>
          </p:nvSpPr>
          <p:spPr>
            <a:xfrm>
              <a:off x="6486754" y="3964838"/>
              <a:ext cx="533095" cy="533095"/>
            </a:xfrm>
            <a:prstGeom prst="roundRect">
              <a:avLst>
                <a:gd name="adj" fmla="val 36756"/>
              </a:avLst>
            </a:prstGeom>
            <a:solidFill>
              <a:srgbClr val="F0FDF4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2" name="Image 5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638544" y="4116629"/>
              <a:ext cx="228600" cy="228600"/>
            </a:xfrm>
            <a:prstGeom prst="rect">
              <a:avLst/>
            </a:prstGeom>
          </p:spPr>
        </p:pic>
        <p:sp>
          <p:nvSpPr>
            <p:cNvPr id="53" name="Text 45"/>
            <p:cNvSpPr txBox="1"/>
            <p:nvPr/>
          </p:nvSpPr>
          <p:spPr>
            <a:xfrm>
              <a:off x="7210044" y="3964838"/>
              <a:ext cx="1869034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ESG &amp; Sustainability</a:t>
              </a:r>
              <a:endParaRPr lang="en-US" sz="1300" dirty="0"/>
            </a:p>
          </p:txBody>
        </p:sp>
        <p:sp>
          <p:nvSpPr>
            <p:cNvPr id="54" name="Text 46"/>
            <p:cNvSpPr txBox="1"/>
            <p:nvPr/>
          </p:nvSpPr>
          <p:spPr>
            <a:xfrm>
              <a:off x="7210044" y="4302252"/>
              <a:ext cx="4370832" cy="648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가치 소비 확산으로 친환경 패키징(Recyclable)과 동물 복지(Grass-fed) 원료 사용 요구 증대. 탄소 발자국 감소 노력과 윤리적 소싱이 브랜드 충성도에 직접적 영향.</a:t>
              </a:r>
              <a:endParaRPr lang="en-US" sz="1000" dirty="0"/>
            </a:p>
          </p:txBody>
        </p:sp>
        <p:sp>
          <p:nvSpPr>
            <p:cNvPr id="55" name="Shape 47"/>
            <p:cNvSpPr/>
            <p:nvPr/>
          </p:nvSpPr>
          <p:spPr>
            <a:xfrm>
              <a:off x="7210044" y="5027371"/>
              <a:ext cx="875995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48"/>
            <p:cNvSpPr txBox="1"/>
            <p:nvPr/>
          </p:nvSpPr>
          <p:spPr>
            <a:xfrm>
              <a:off x="7286854" y="5042002"/>
              <a:ext cx="8101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#EcoFriendly</a:t>
              </a:r>
              <a:endParaRPr lang="en-US" sz="900" dirty="0"/>
            </a:p>
          </p:txBody>
        </p:sp>
        <p:sp>
          <p:nvSpPr>
            <p:cNvPr id="57" name="Shape 49"/>
            <p:cNvSpPr/>
            <p:nvPr/>
          </p:nvSpPr>
          <p:spPr>
            <a:xfrm>
              <a:off x="8116214" y="5027371"/>
              <a:ext cx="724205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50"/>
            <p:cNvSpPr txBox="1"/>
            <p:nvPr/>
          </p:nvSpPr>
          <p:spPr>
            <a:xfrm>
              <a:off x="8192110" y="5042002"/>
              <a:ext cx="6574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#GrassFed</a:t>
              </a:r>
              <a:endParaRPr lang="en-US" sz="900" dirty="0"/>
            </a:p>
          </p:txBody>
        </p:sp>
        <p:sp>
          <p:nvSpPr>
            <p:cNvPr id="59" name="Shape 51"/>
            <p:cNvSpPr/>
            <p:nvPr/>
          </p:nvSpPr>
          <p:spPr>
            <a:xfrm>
              <a:off x="8877910" y="5027371"/>
              <a:ext cx="1438351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 52"/>
            <p:cNvSpPr txBox="1"/>
            <p:nvPr/>
          </p:nvSpPr>
          <p:spPr>
            <a:xfrm>
              <a:off x="8953805" y="5042002"/>
              <a:ext cx="13716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#SustainablePackaging</a:t>
              </a:r>
              <a:endParaRPr lang="en-US" sz="900" dirty="0"/>
            </a:p>
          </p:txBody>
        </p:sp>
        <p:sp>
          <p:nvSpPr>
            <p:cNvPr id="61" name="Shape 53"/>
            <p:cNvSpPr/>
            <p:nvPr/>
          </p:nvSpPr>
          <p:spPr>
            <a:xfrm>
              <a:off x="0" y="646755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Shape 54"/>
            <p:cNvSpPr/>
            <p:nvPr/>
          </p:nvSpPr>
          <p:spPr>
            <a:xfrm>
              <a:off x="0" y="646755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 55"/>
            <p:cNvSpPr txBox="1"/>
            <p:nvPr/>
          </p:nvSpPr>
          <p:spPr>
            <a:xfrm>
              <a:off x="457200" y="6581851"/>
              <a:ext cx="54864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Global Wellness Institute, Mintel Global Food Trends 2024, Innova Market Insights</a:t>
              </a:r>
              <a:endParaRPr lang="en-US" sz="900" dirty="0"/>
            </a:p>
          </p:txBody>
        </p:sp>
      </p:grpSp>
      <p:sp>
        <p:nvSpPr>
          <p:cNvPr id="66" name="Rectangle 13">
            <a:extLst>
              <a:ext uri="{FF2B5EF4-FFF2-40B4-BE49-F238E27FC236}">
                <a16:creationId xmlns:a16="http://schemas.microsoft.com/office/drawing/2014/main" id="{3D27854B-7664-0096-7928-4784263DF8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4FD80B5A-38F0-9649-411C-C9FC4B43AB7B}"/>
              </a:ext>
            </a:extLst>
          </p:cNvPr>
          <p:cNvGrpSpPr/>
          <p:nvPr/>
        </p:nvGrpSpPr>
        <p:grpSpPr>
          <a:xfrm>
            <a:off x="0" y="1"/>
            <a:ext cx="12191695" cy="6858000"/>
            <a:chOff x="0" y="0"/>
            <a:chExt cx="12191695" cy="8743493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7486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GLOBAL COMPETITIVE LANDSCAPE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0930738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글로벌 메이저 기업(Nestlé, ConAgra)이 시장을 주도하는 가운데, </a:t>
              </a:r>
            </a:p>
            <a:p>
              <a:pPr marL="0" indent="0" algn="l">
                <a:buNone/>
              </a:pP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전문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브랜드(Niche)와 PB(Private Brand)가 양극단에서 성장 중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6915607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742846"/>
              <a:ext cx="7477049" cy="6305702"/>
            </a:xfrm>
            <a:prstGeom prst="roundRect">
              <a:avLst>
                <a:gd name="adj" fmla="val 17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694944" y="1990649"/>
              <a:ext cx="36438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Group Map: Global Food Players</a:t>
              </a:r>
              <a:endParaRPr lang="en-US" sz="13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4731106" y="2038198"/>
              <a:ext cx="79095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Mega Players</a:t>
              </a:r>
              <a:endParaRPr lang="en-US" sz="9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5737860" y="2038198"/>
              <a:ext cx="10479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Niche/Specialized</a:t>
              </a:r>
              <a:endParaRPr lang="en-US" sz="9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6999732" y="2038198"/>
              <a:ext cx="79095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Private Label</a:t>
              </a:r>
              <a:endParaRPr lang="en-US" sz="900" dirty="0"/>
            </a:p>
          </p:txBody>
        </p:sp>
        <p:pic>
          <p:nvPicPr>
            <p:cNvPr id="14" name="Image 0" descr="preencoded.png"/>
            <p:cNvPicPr>
              <a:picLocks noChangeAspect="1"/>
            </p:cNvPicPr>
            <p:nvPr/>
          </p:nvPicPr>
          <p:blipFill>
            <a:blip r:embed="rId3"/>
            <a:srcRect t="-2" b="-2"/>
            <a:stretch/>
          </p:blipFill>
          <p:spPr>
            <a:xfrm>
              <a:off x="694944" y="2324405"/>
              <a:ext cx="7000646" cy="5257800"/>
            </a:xfrm>
            <a:prstGeom prst="rect">
              <a:avLst/>
            </a:prstGeom>
          </p:spPr>
        </p:pic>
        <p:sp>
          <p:nvSpPr>
            <p:cNvPr id="15" name="Text 12"/>
            <p:cNvSpPr txBox="1"/>
            <p:nvPr/>
          </p:nvSpPr>
          <p:spPr>
            <a:xfrm>
              <a:off x="1062533" y="7648956"/>
              <a:ext cx="63532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X축: 제품 포트폴리오 다양성 (집중화 ↔ 다각화) | Y축: 글로벌 매출 및 시장 장악력 (Low ↔ High) | 원 크기: HMR 시장 점유율(추정)</a:t>
              </a:r>
              <a:endParaRPr lang="en-US" sz="9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8238744" y="1742846"/>
              <a:ext cx="3495751" cy="158099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8238744" y="1742846"/>
              <a:ext cx="38405" cy="1580998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8467344" y="1943100"/>
              <a:ext cx="6720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Nestlé</a:t>
              </a:r>
              <a:endParaRPr lang="en-US" sz="1300" dirty="0"/>
            </a:p>
          </p:txBody>
        </p:sp>
        <p:sp>
          <p:nvSpPr>
            <p:cNvPr id="19" name="Text 16"/>
            <p:cNvSpPr txBox="1"/>
            <p:nvPr/>
          </p:nvSpPr>
          <p:spPr>
            <a:xfrm>
              <a:off x="10658246" y="1943100"/>
              <a:ext cx="9052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Market Leader</a:t>
              </a:r>
              <a:endParaRPr lang="en-US" sz="900" dirty="0"/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8467344" y="2229307"/>
              <a:ext cx="3167482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세계 최대 식품기업. 'Nutrition, Health &amp; Wellness' 전략 하에 냉동식품(Stouffer's, Lean Cuisine)의 건강/프리미엄화 추진.</a:t>
              </a:r>
              <a:endParaRPr lang="en-US" sz="100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8467344" y="2940710"/>
              <a:ext cx="790956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9"/>
            <p:cNvSpPr txBox="1"/>
            <p:nvPr/>
          </p:nvSpPr>
          <p:spPr>
            <a:xfrm>
              <a:off x="8544154" y="2956255"/>
              <a:ext cx="71871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Rev: ~$103B</a:t>
              </a:r>
              <a:endParaRPr lang="en-US" sz="8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9330538" y="2940710"/>
              <a:ext cx="972007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9406433" y="2956255"/>
              <a:ext cx="89977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Focus: Wellness</a:t>
              </a:r>
              <a:endParaRPr lang="en-US" sz="8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8238744" y="3473806"/>
              <a:ext cx="3495751" cy="158099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3"/>
            <p:cNvSpPr/>
            <p:nvPr/>
          </p:nvSpPr>
          <p:spPr>
            <a:xfrm>
              <a:off x="8238744" y="3473806"/>
              <a:ext cx="38405" cy="1580998"/>
            </a:xfrm>
            <a:prstGeom prst="rect">
              <a:avLst/>
            </a:prstGeom>
            <a:solidFill>
              <a:srgbClr val="0056B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8467344" y="3674059"/>
              <a:ext cx="148132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ConAgra Brands</a:t>
              </a:r>
              <a:endParaRPr lang="en-US" sz="1300" dirty="0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10753344" y="3674059"/>
              <a:ext cx="8101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Frozen Giant</a:t>
              </a:r>
              <a:endParaRPr lang="en-US" sz="900" dirty="0"/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8467344" y="3960266"/>
              <a:ext cx="3110789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냉동식품 강자. Healthy Choice, Marie Callender’s 등 강력한 HMR 브랜드 보유. 현대적 리브랜딩에 집중.</a:t>
              </a:r>
              <a:endParaRPr lang="en-US" sz="1000" dirty="0"/>
            </a:p>
          </p:txBody>
        </p:sp>
        <p:sp>
          <p:nvSpPr>
            <p:cNvPr id="30" name="Shape 27"/>
            <p:cNvSpPr/>
            <p:nvPr/>
          </p:nvSpPr>
          <p:spPr>
            <a:xfrm>
              <a:off x="8467344" y="4671670"/>
              <a:ext cx="733349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8"/>
            <p:cNvSpPr txBox="1"/>
            <p:nvPr/>
          </p:nvSpPr>
          <p:spPr>
            <a:xfrm>
              <a:off x="8544154" y="4687214"/>
              <a:ext cx="66111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Rev: ~$12B</a:t>
              </a:r>
              <a:endParaRPr lang="en-US" sz="8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9268358" y="4671670"/>
              <a:ext cx="1133856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30"/>
            <p:cNvSpPr txBox="1"/>
            <p:nvPr/>
          </p:nvSpPr>
          <p:spPr>
            <a:xfrm>
              <a:off x="9345168" y="4687214"/>
              <a:ext cx="106161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Focus: Frozen HMR</a:t>
              </a:r>
              <a:endParaRPr lang="en-US" sz="8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8238744" y="5204765"/>
              <a:ext cx="3495751" cy="158099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2"/>
            <p:cNvSpPr/>
            <p:nvPr/>
          </p:nvSpPr>
          <p:spPr>
            <a:xfrm>
              <a:off x="8238744" y="5204765"/>
              <a:ext cx="38405" cy="1580998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3"/>
            <p:cNvSpPr txBox="1"/>
            <p:nvPr/>
          </p:nvSpPr>
          <p:spPr>
            <a:xfrm>
              <a:off x="8467344" y="5405018"/>
              <a:ext cx="1424635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Campbell Soup</a:t>
              </a:r>
              <a:endParaRPr lang="en-US" sz="1300" dirty="0"/>
            </a:p>
          </p:txBody>
        </p:sp>
        <p:sp>
          <p:nvSpPr>
            <p:cNvPr id="37" name="Text 34"/>
            <p:cNvSpPr txBox="1"/>
            <p:nvPr/>
          </p:nvSpPr>
          <p:spPr>
            <a:xfrm>
              <a:off x="10714939" y="5405018"/>
              <a:ext cx="8485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EFF6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Soup &amp; Broth</a:t>
              </a:r>
              <a:endParaRPr lang="en-US" sz="900" dirty="0"/>
            </a:p>
          </p:txBody>
        </p:sp>
        <p:sp>
          <p:nvSpPr>
            <p:cNvPr id="38" name="Text 35"/>
            <p:cNvSpPr txBox="1"/>
            <p:nvPr/>
          </p:nvSpPr>
          <p:spPr>
            <a:xfrm>
              <a:off x="8467344" y="5691226"/>
              <a:ext cx="3033979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수프/국물요리 카테고리 킬러. Pacific Foods 인수로 Bone Broth 및 유기농 라인업 강화. K-Food 진입 시 직접 경쟁.</a:t>
              </a:r>
              <a:endParaRPr lang="en-US" sz="1000" dirty="0"/>
            </a:p>
          </p:txBody>
        </p:sp>
        <p:sp>
          <p:nvSpPr>
            <p:cNvPr id="39" name="Shape 36"/>
            <p:cNvSpPr/>
            <p:nvPr/>
          </p:nvSpPr>
          <p:spPr>
            <a:xfrm>
              <a:off x="8467344" y="6402629"/>
              <a:ext cx="761695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7"/>
            <p:cNvSpPr txBox="1"/>
            <p:nvPr/>
          </p:nvSpPr>
          <p:spPr>
            <a:xfrm>
              <a:off x="8544154" y="6418174"/>
              <a:ext cx="69037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Rev: ~$9.4B</a:t>
              </a:r>
              <a:endParaRPr lang="en-US" sz="800" dirty="0"/>
            </a:p>
          </p:txBody>
        </p:sp>
        <p:sp>
          <p:nvSpPr>
            <p:cNvPr id="41" name="Shape 38"/>
            <p:cNvSpPr/>
            <p:nvPr/>
          </p:nvSpPr>
          <p:spPr>
            <a:xfrm>
              <a:off x="9302191" y="6402629"/>
              <a:ext cx="1181405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39"/>
            <p:cNvSpPr txBox="1"/>
            <p:nvPr/>
          </p:nvSpPr>
          <p:spPr>
            <a:xfrm>
              <a:off x="9378086" y="6418174"/>
              <a:ext cx="110916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Focus: Liquid/Broth</a:t>
              </a:r>
              <a:endParaRPr lang="en-US" sz="800" dirty="0"/>
            </a:p>
          </p:txBody>
        </p:sp>
        <p:sp>
          <p:nvSpPr>
            <p:cNvPr id="43" name="Shape 40"/>
            <p:cNvSpPr/>
            <p:nvPr/>
          </p:nvSpPr>
          <p:spPr>
            <a:xfrm>
              <a:off x="8238744" y="6939382"/>
              <a:ext cx="3495751" cy="1114654"/>
            </a:xfrm>
            <a:prstGeom prst="roundRect">
              <a:avLst>
                <a:gd name="adj" fmla="val 5609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4" name="Image 1" descr="preencoded.png"/>
            <p:cNvPicPr>
              <a:picLocks noChangeAspect="1"/>
            </p:cNvPicPr>
            <p:nvPr/>
          </p:nvPicPr>
          <p:blipFill>
            <a:blip r:embed="rId4"/>
            <a:srcRect l="-2512" r="-2512"/>
            <a:stretch/>
          </p:blipFill>
          <p:spPr>
            <a:xfrm>
              <a:off x="8401507" y="7136892"/>
              <a:ext cx="105156" cy="133502"/>
            </a:xfrm>
            <a:prstGeom prst="rect">
              <a:avLst/>
            </a:prstGeom>
          </p:spPr>
        </p:pic>
        <p:sp>
          <p:nvSpPr>
            <p:cNvPr id="45" name="Text 41"/>
            <p:cNvSpPr txBox="1"/>
            <p:nvPr/>
          </p:nvSpPr>
          <p:spPr>
            <a:xfrm>
              <a:off x="8581644" y="7101230"/>
              <a:ext cx="11859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Insight</a:t>
              </a:r>
              <a:endParaRPr lang="en-US" sz="1000" dirty="0"/>
            </a:p>
          </p:txBody>
        </p:sp>
        <p:sp>
          <p:nvSpPr>
            <p:cNvPr id="46" name="Text 42"/>
            <p:cNvSpPr txBox="1"/>
            <p:nvPr/>
          </p:nvSpPr>
          <p:spPr>
            <a:xfrm>
              <a:off x="8401507" y="7338974"/>
              <a:ext cx="3238805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글로벌 메이저는 '건강(Wellness)' 키워드로 포트폴리오를 재편 중. K-HMR은 Specialized/Niche 영역에서 '정통성'으로 시작해 '건강' 트렌드에 편승하여 메이저 영역으로 확장해야 함.</a:t>
              </a:r>
              <a:endParaRPr lang="en-US" sz="900" dirty="0"/>
            </a:p>
          </p:txBody>
        </p:sp>
        <p:sp>
          <p:nvSpPr>
            <p:cNvPr id="47" name="Shape 43"/>
            <p:cNvSpPr/>
            <p:nvPr/>
          </p:nvSpPr>
          <p:spPr>
            <a:xfrm>
              <a:off x="0" y="8353044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Shape 44"/>
            <p:cNvSpPr/>
            <p:nvPr/>
          </p:nvSpPr>
          <p:spPr>
            <a:xfrm>
              <a:off x="0" y="8353044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5"/>
            <p:cNvSpPr txBox="1"/>
            <p:nvPr/>
          </p:nvSpPr>
          <p:spPr>
            <a:xfrm>
              <a:off x="457200" y="8467344"/>
              <a:ext cx="6159731" cy="2578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Company Annual Reports (2023-2024), Euromonitor Industry Report, </a:t>
              </a:r>
              <a:endParaRPr lang="en-US" sz="900" dirty="0"/>
            </a:p>
          </p:txBody>
        </p:sp>
      </p:grpSp>
      <p:sp>
        <p:nvSpPr>
          <p:cNvPr id="52" name="Rectangle 13">
            <a:extLst>
              <a:ext uri="{FF2B5EF4-FFF2-40B4-BE49-F238E27FC236}">
                <a16:creationId xmlns:a16="http://schemas.microsoft.com/office/drawing/2014/main" id="{35802013-F47A-1083-CAA3-49DC3554D29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13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A96209D2-E40E-3ED9-8E62-EF758802A073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8629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SECTION SUMMARY | GLOBAL LEVEL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416284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무역·통합 환경은 우호적이며 수요 트렌드는 견조하나, 규제 준수(Compliance)와 </a:t>
              </a:r>
            </a:p>
            <a:p>
              <a:pPr marL="0" indent="0" algn="l">
                <a:buNone/>
              </a:pP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현지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공급망 최적화가 성공의 전제조건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0292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3562502" cy="4267505"/>
            </a:xfrm>
            <a:prstGeom prst="roundRect">
              <a:avLst>
                <a:gd name="adj" fmla="val 5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57200" y="1819656"/>
              <a:ext cx="3536899" cy="38405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3294583" y="1800454"/>
              <a:ext cx="905256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F1F5F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01</a:t>
              </a:r>
              <a:endParaRPr lang="en-US" sz="3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94944" y="2057400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52221" y="2190902"/>
              <a:ext cx="142646" cy="190195"/>
            </a:xfrm>
            <a:prstGeom prst="rect">
              <a:avLst/>
            </a:prstGeom>
          </p:spPr>
        </p:pic>
        <p:sp>
          <p:nvSpPr>
            <p:cNvPr id="14" name="Text 11"/>
            <p:cNvSpPr txBox="1"/>
            <p:nvPr/>
          </p:nvSpPr>
          <p:spPr>
            <a:xfrm>
              <a:off x="694944" y="2676449"/>
              <a:ext cx="287213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INSTITUTIONAL ENVIRONMENT</a:t>
              </a:r>
              <a:endParaRPr lang="en-US" sz="13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694944" y="3000146"/>
              <a:ext cx="181051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FTA &amp; USMCA 기반</a:t>
              </a:r>
              <a:endParaRPr lang="en-US" sz="1500" dirty="0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694944" y="3267151"/>
              <a:ext cx="14767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시장 접근성 우수</a:t>
              </a:r>
              <a:endParaRPr lang="en-US" sz="15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694944" y="3705149"/>
              <a:ext cx="3158338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한미 FTA 관세 혜택: 주요 가공식품 무관세 또는 저율 관세로 가격 경쟁력 확보 가능</a:t>
              </a:r>
              <a:endParaRPr lang="en-US" sz="100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694944" y="4252874"/>
              <a:ext cx="3110789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USMCA 통합 시장: 미국 진출 시 캐나다/멕시코로의 확장 및 SCM 연계 용이성 증대</a:t>
              </a:r>
              <a:endParaRPr lang="en-US" sz="10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94944" y="5115154"/>
              <a:ext cx="3086100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694944" y="5266944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21" name="Text 18"/>
            <p:cNvSpPr txBox="1"/>
            <p:nvPr/>
          </p:nvSpPr>
          <p:spPr>
            <a:xfrm>
              <a:off x="694944" y="5467198"/>
              <a:ext cx="310073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원산지 규정(Rules of Origin) 및 SPS/TBT 등 비관세 장벽 관리 역량이 필수</a:t>
              </a:r>
              <a:endParaRPr lang="en-US" sz="100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4317797" y="1819656"/>
              <a:ext cx="3562502" cy="4267505"/>
            </a:xfrm>
            <a:prstGeom prst="roundRect">
              <a:avLst>
                <a:gd name="adj" fmla="val 5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20"/>
            <p:cNvSpPr/>
            <p:nvPr/>
          </p:nvSpPr>
          <p:spPr>
            <a:xfrm>
              <a:off x="4317797" y="1819656"/>
              <a:ext cx="3536899" cy="38405"/>
            </a:xfrm>
            <a:prstGeom prst="rect">
              <a:avLst/>
            </a:prstGeom>
            <a:solidFill>
              <a:srgbClr val="0056B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7155180" y="1800454"/>
              <a:ext cx="905256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F1F5F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02</a:t>
              </a:r>
              <a:endParaRPr lang="en-US" sz="36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4556455" y="2057400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6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689043" y="2190902"/>
              <a:ext cx="190195" cy="190195"/>
            </a:xfrm>
            <a:prstGeom prst="rect">
              <a:avLst/>
            </a:prstGeom>
          </p:spPr>
        </p:pic>
        <p:sp>
          <p:nvSpPr>
            <p:cNvPr id="27" name="Text 23"/>
            <p:cNvSpPr txBox="1"/>
            <p:nvPr/>
          </p:nvSpPr>
          <p:spPr>
            <a:xfrm>
              <a:off x="4556455" y="2676449"/>
              <a:ext cx="17007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DEMAND DRIVERS</a:t>
              </a:r>
              <a:endParaRPr lang="en-US" sz="1300" dirty="0"/>
            </a:p>
          </p:txBody>
        </p:sp>
        <p:sp>
          <p:nvSpPr>
            <p:cNvPr id="28" name="Text 24"/>
            <p:cNvSpPr txBox="1"/>
            <p:nvPr/>
          </p:nvSpPr>
          <p:spPr>
            <a:xfrm>
              <a:off x="4556455" y="3000146"/>
              <a:ext cx="1724558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Wellness 트렌드와</a:t>
              </a:r>
              <a:endParaRPr lang="en-US" sz="1500" dirty="0"/>
            </a:p>
          </p:txBody>
        </p:sp>
        <p:sp>
          <p:nvSpPr>
            <p:cNvPr id="29" name="Text 25"/>
            <p:cNvSpPr txBox="1"/>
            <p:nvPr/>
          </p:nvSpPr>
          <p:spPr>
            <a:xfrm>
              <a:off x="4556455" y="3267151"/>
              <a:ext cx="1429207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K-Wave의 결합</a:t>
              </a:r>
              <a:endParaRPr lang="en-US" sz="1500" dirty="0"/>
            </a:p>
          </p:txBody>
        </p:sp>
        <p:sp>
          <p:nvSpPr>
            <p:cNvPr id="30" name="Text 26"/>
            <p:cNvSpPr txBox="1"/>
            <p:nvPr/>
          </p:nvSpPr>
          <p:spPr>
            <a:xfrm>
              <a:off x="4556455" y="3705149"/>
              <a:ext cx="3139135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Functional Food: 단순 국물 요리가 아닌 고단백·저염·콜라겐 등 '기능성' 섭취 니즈 확대</a:t>
              </a:r>
              <a:endParaRPr lang="en-US" sz="1000" dirty="0"/>
            </a:p>
          </p:txBody>
        </p:sp>
        <p:sp>
          <p:nvSpPr>
            <p:cNvPr id="31" name="Text 27"/>
            <p:cNvSpPr txBox="1"/>
            <p:nvPr/>
          </p:nvSpPr>
          <p:spPr>
            <a:xfrm>
              <a:off x="4556455" y="4252874"/>
              <a:ext cx="2805379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Clean Label: 첨가물 없는 자연 재료 선호, Bone Broth의 건강 이미지와 부합</a:t>
              </a:r>
              <a:endParaRPr lang="en-US" sz="1000" dirty="0"/>
            </a:p>
          </p:txBody>
        </p:sp>
        <p:sp>
          <p:nvSpPr>
            <p:cNvPr id="32" name="Shape 28"/>
            <p:cNvSpPr/>
            <p:nvPr/>
          </p:nvSpPr>
          <p:spPr>
            <a:xfrm>
              <a:off x="4556455" y="5115154"/>
              <a:ext cx="3086100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29"/>
            <p:cNvSpPr txBox="1"/>
            <p:nvPr/>
          </p:nvSpPr>
          <p:spPr>
            <a:xfrm>
              <a:off x="4556455" y="5266944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34" name="Text 30"/>
            <p:cNvSpPr txBox="1"/>
            <p:nvPr/>
          </p:nvSpPr>
          <p:spPr>
            <a:xfrm>
              <a:off x="4556455" y="5467198"/>
              <a:ext cx="273862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제품 포지셔닝을 'Asian Soup'에서 'Premium Wellness Drink'로 격상 필요</a:t>
              </a:r>
              <a:endParaRPr lang="en-US" sz="1000" dirty="0"/>
            </a:p>
          </p:txBody>
        </p:sp>
        <p:sp>
          <p:nvSpPr>
            <p:cNvPr id="35" name="Shape 31"/>
            <p:cNvSpPr/>
            <p:nvPr/>
          </p:nvSpPr>
          <p:spPr>
            <a:xfrm>
              <a:off x="8178394" y="1819656"/>
              <a:ext cx="3562502" cy="4267505"/>
            </a:xfrm>
            <a:prstGeom prst="roundRect">
              <a:avLst>
                <a:gd name="adj" fmla="val 5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2"/>
            <p:cNvSpPr/>
            <p:nvPr/>
          </p:nvSpPr>
          <p:spPr>
            <a:xfrm>
              <a:off x="8178394" y="1819656"/>
              <a:ext cx="3536899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3"/>
            <p:cNvSpPr txBox="1"/>
            <p:nvPr/>
          </p:nvSpPr>
          <p:spPr>
            <a:xfrm>
              <a:off x="11015777" y="1800454"/>
              <a:ext cx="905256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F1F5F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03</a:t>
              </a:r>
              <a:endParaRPr lang="en-US" sz="3600" dirty="0"/>
            </a:p>
          </p:txBody>
        </p:sp>
        <p:sp>
          <p:nvSpPr>
            <p:cNvPr id="38" name="Shape 34"/>
            <p:cNvSpPr/>
            <p:nvPr/>
          </p:nvSpPr>
          <p:spPr>
            <a:xfrm>
              <a:off x="8417052" y="2057400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9" name="Image 2" descr="preencoded.png"/>
            <p:cNvPicPr>
              <a:picLocks noChangeAspect="1"/>
            </p:cNvPicPr>
            <p:nvPr/>
          </p:nvPicPr>
          <p:blipFill>
            <a:blip r:embed="rId5"/>
            <a:srcRect l="-1282" r="-1282"/>
            <a:stretch/>
          </p:blipFill>
          <p:spPr>
            <a:xfrm>
              <a:off x="8535924" y="2190902"/>
              <a:ext cx="219456" cy="190195"/>
            </a:xfrm>
            <a:prstGeom prst="rect">
              <a:avLst/>
            </a:prstGeom>
          </p:spPr>
        </p:pic>
        <p:sp>
          <p:nvSpPr>
            <p:cNvPr id="40" name="Text 35"/>
            <p:cNvSpPr txBox="1"/>
            <p:nvPr/>
          </p:nvSpPr>
          <p:spPr>
            <a:xfrm>
              <a:off x="8417052" y="2676449"/>
              <a:ext cx="141457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SUPPLY CHAIN</a:t>
              </a:r>
              <a:endParaRPr lang="en-US" sz="1300" dirty="0"/>
            </a:p>
          </p:txBody>
        </p:sp>
        <p:sp>
          <p:nvSpPr>
            <p:cNvPr id="41" name="Text 36"/>
            <p:cNvSpPr txBox="1"/>
            <p:nvPr/>
          </p:nvSpPr>
          <p:spPr>
            <a:xfrm>
              <a:off x="8417052" y="3000146"/>
              <a:ext cx="1495958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FDI 및 현지 생산</a:t>
              </a:r>
              <a:endParaRPr lang="en-US" sz="1500" dirty="0"/>
            </a:p>
          </p:txBody>
        </p:sp>
        <p:sp>
          <p:nvSpPr>
            <p:cNvPr id="42" name="Text 37"/>
            <p:cNvSpPr txBox="1"/>
            <p:nvPr/>
          </p:nvSpPr>
          <p:spPr>
            <a:xfrm>
              <a:off x="8417052" y="3267151"/>
              <a:ext cx="1077163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생태계 활용</a:t>
              </a:r>
              <a:endParaRPr lang="en-US" sz="1500" dirty="0"/>
            </a:p>
          </p:txBody>
        </p:sp>
        <p:sp>
          <p:nvSpPr>
            <p:cNvPr id="43" name="Text 38"/>
            <p:cNvSpPr txBox="1"/>
            <p:nvPr/>
          </p:nvSpPr>
          <p:spPr>
            <a:xfrm>
              <a:off x="8417052" y="3705149"/>
              <a:ext cx="2738628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Investment Trend: 한국 식품기업의 대미 투자($78.2B stock) 확대로 현지 인프라 개선</a:t>
              </a:r>
              <a:endParaRPr lang="en-US" sz="1000" dirty="0"/>
            </a:p>
          </p:txBody>
        </p:sp>
        <p:sp>
          <p:nvSpPr>
            <p:cNvPr id="44" name="Text 39"/>
            <p:cNvSpPr txBox="1"/>
            <p:nvPr/>
          </p:nvSpPr>
          <p:spPr>
            <a:xfrm>
              <a:off x="8417052" y="4252874"/>
              <a:ext cx="3081528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Co-packing Option: 초기 수출 후, 물류비 절감 및 리드타임 단축 위해 현지 OEM 전환</a:t>
              </a:r>
              <a:endParaRPr lang="en-US" sz="1000" dirty="0"/>
            </a:p>
          </p:txBody>
        </p:sp>
        <p:sp>
          <p:nvSpPr>
            <p:cNvPr id="45" name="Shape 40"/>
            <p:cNvSpPr/>
            <p:nvPr/>
          </p:nvSpPr>
          <p:spPr>
            <a:xfrm>
              <a:off x="8417052" y="5115154"/>
              <a:ext cx="3086100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1"/>
            <p:cNvSpPr txBox="1"/>
            <p:nvPr/>
          </p:nvSpPr>
          <p:spPr>
            <a:xfrm>
              <a:off x="8417052" y="5266944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47" name="Text 42"/>
            <p:cNvSpPr txBox="1"/>
            <p:nvPr/>
          </p:nvSpPr>
          <p:spPr>
            <a:xfrm>
              <a:off x="8417052" y="5467198"/>
              <a:ext cx="3091586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수출 중심의 초기 진입 후, 볼륨 확대 시점(Year 2-3)에 현지 생산 체제 전환 계획 수립</a:t>
              </a:r>
              <a:endParaRPr lang="en-US" sz="1000" dirty="0"/>
            </a:p>
          </p:txBody>
        </p:sp>
        <p:sp>
          <p:nvSpPr>
            <p:cNvPr id="48" name="Shape 43"/>
            <p:cNvSpPr/>
            <p:nvPr/>
          </p:nvSpPr>
          <p:spPr>
            <a:xfrm>
              <a:off x="0" y="646755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44"/>
            <p:cNvSpPr/>
            <p:nvPr/>
          </p:nvSpPr>
          <p:spPr>
            <a:xfrm>
              <a:off x="0" y="646755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5"/>
            <p:cNvSpPr txBox="1"/>
            <p:nvPr/>
          </p:nvSpPr>
          <p:spPr>
            <a:xfrm>
              <a:off x="457200" y="6581851"/>
              <a:ext cx="44220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USTR, Trade.gov, Global Wellness Institute</a:t>
              </a:r>
              <a:endParaRPr lang="en-US" sz="900" dirty="0"/>
            </a:p>
          </p:txBody>
        </p:sp>
      </p:grpSp>
      <p:sp>
        <p:nvSpPr>
          <p:cNvPr id="53" name="Rectangle 13">
            <a:extLst>
              <a:ext uri="{FF2B5EF4-FFF2-40B4-BE49-F238E27FC236}">
                <a16:creationId xmlns:a16="http://schemas.microsoft.com/office/drawing/2014/main" id="{17D140A6-EC64-7D10-2EBC-1D9E8CB340E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14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D02C0-2307-A269-B8CC-3AC16D5B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5D2CEA-E348-2032-F712-3530CEB2561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473A3DB-A7C5-AEA9-1CA1-9F68F14F04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77202" y="-142646"/>
            <a:ext cx="7144207" cy="7144207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45A760FC-3D3C-F669-E830-47E8D989FB09}"/>
              </a:ext>
            </a:extLst>
          </p:cNvPr>
          <p:cNvSpPr/>
          <p:nvPr/>
        </p:nvSpPr>
        <p:spPr>
          <a:xfrm>
            <a:off x="914400" y="549555"/>
            <a:ext cx="952805" cy="7589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2190B02-B8FE-9FEA-35DC-620B10D4ACB2}"/>
              </a:ext>
            </a:extLst>
          </p:cNvPr>
          <p:cNvSpPr txBox="1"/>
          <p:nvPr/>
        </p:nvSpPr>
        <p:spPr>
          <a:xfrm>
            <a:off x="914400" y="987552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K-푸드 미국 시장 진출 환경분석: Bone Broth 중심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E6AF094F-DAEC-2AAF-6469-D8FD97D824A9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lumMod val="20000"/>
              <a:lumOff val="80000"/>
              <a:alpha val="15000"/>
            </a:schemeClr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FFDE63BE-9C6E-AAF4-9C29-9724E45C156C}"/>
              </a:ext>
            </a:extLst>
          </p:cNvPr>
          <p:cNvSpPr txBox="1"/>
          <p:nvPr/>
        </p:nvSpPr>
        <p:spPr>
          <a:xfrm>
            <a:off x="914400" y="2687727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4000" b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altLang="ko-KR" dirty="0"/>
              <a:t>4. Country Level Analysis</a:t>
            </a:r>
          </a:p>
        </p:txBody>
      </p:sp>
    </p:spTree>
    <p:extLst>
      <p:ext uri="{BB962C8B-B14F-4D97-AF65-F5344CB8AC3E}">
        <p14:creationId xmlns:p14="http://schemas.microsoft.com/office/powerpoint/2010/main" val="1451251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3594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9359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44966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1211725"/>
            <a:ext cx="12191695" cy="33241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97865"/>
            <a:ext cx="2129638" cy="16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COUNTRY LEVEL 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362488"/>
            <a:ext cx="11358677" cy="6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Country Analysis Framework:</a:t>
            </a:r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United States 6대 핵심 요소를 통한 미국 시장 진입 환경 종합 진단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1244966"/>
            <a:ext cx="12191695" cy="527666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40696"/>
            <a:ext cx="3610051" cy="2143273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94944" y="2275447"/>
            <a:ext cx="3133649" cy="791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1846476"/>
            <a:ext cx="381305" cy="330039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0956" y="1929579"/>
            <a:ext cx="190195" cy="16462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28954" y="1902670"/>
            <a:ext cx="1993392" cy="20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Political / Government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47649" y="2374380"/>
            <a:ext cx="3046781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FDA 규제 강화: 식품안전현대화법(FSMA) 및 수입식품 안전검증 필수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47649" y="2772485"/>
            <a:ext cx="3185769" cy="26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무역 정책: 한미 FTA 발효로 주요 가공식품 관세 철폐 혜택 지속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7649" y="3171380"/>
            <a:ext cx="3055925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라벨링 규정: 2025년 예상 FOP(Front-of-Package) 영양표시 의무화 대비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92194" y="1640696"/>
            <a:ext cx="3610051" cy="2143273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530852" y="2275447"/>
            <a:ext cx="3133649" cy="791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530852" y="1846476"/>
            <a:ext cx="381305" cy="330039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25950" y="1929579"/>
            <a:ext cx="190195" cy="16462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063947" y="1902670"/>
            <a:ext cx="935431" cy="20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Economic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4682642" y="2374380"/>
            <a:ext cx="3036722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GDP 및 소득: 1인당 GDP $80,000+의 높은 구매력, 식품 지출 비중 안정적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682642" y="2772484"/>
            <a:ext cx="2960827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인플레이션: 고물가로 외식 대신 가정식/HMR 수요 증가 (Substitution Effect)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4682642" y="3171380"/>
            <a:ext cx="3027578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환율 변동성: 원/달러 환율 상승에 따른 수출 가격 경쟁력 및 마진 압박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128102" y="1640696"/>
            <a:ext cx="3610051" cy="2143273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8365846" y="2275447"/>
            <a:ext cx="3133649" cy="791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8365846" y="1846476"/>
            <a:ext cx="381305" cy="330039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37169" y="1929579"/>
            <a:ext cx="237744" cy="164623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899855" y="1902670"/>
            <a:ext cx="1450238" cy="20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Social / Cultural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8518550" y="2374380"/>
            <a:ext cx="3046781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인구 구조: 1인 가구(36%) 및 맞벌이 가정 증가로 편의식(Convenience) 선호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8518550" y="2772484"/>
            <a:ext cx="3046781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식문화 트렌드: 웰니스(Wellness), 클린라벨, 에스닉 푸드 수용도 확대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8518550" y="3171380"/>
            <a:ext cx="2969971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K-Wave: K-Pop, K-Drama 인기로 한국 음식에 대한 호기심 및 인지도 급상승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57200" y="3981834"/>
            <a:ext cx="3610051" cy="2143273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694944" y="4616585"/>
            <a:ext cx="3133649" cy="791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0"/>
          <p:cNvSpPr/>
          <p:nvPr/>
        </p:nvSpPr>
        <p:spPr>
          <a:xfrm>
            <a:off x="694944" y="4187614"/>
            <a:ext cx="381305" cy="330039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0956" y="4269926"/>
            <a:ext cx="190195" cy="164623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228954" y="4243808"/>
            <a:ext cx="1564538" cy="20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Resources &amp; Tech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847649" y="4715518"/>
            <a:ext cx="3046781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식품 기술: HPP(초고압살균), 급속동결 등 신선도 유지 기술 고도화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7649" y="5113622"/>
            <a:ext cx="2989174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물류 인프라: 콜드체인(Cold Chain) 및 라스트마일 배송 네트워크 발달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847649" y="5511727"/>
            <a:ext cx="2922422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디지털 채널: 이커머스(Amazon), D2C, 음식 배달 플랫폼의 높은 침투율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4292194" y="3981834"/>
            <a:ext cx="3610051" cy="2143273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6"/>
          <p:cNvSpPr/>
          <p:nvPr/>
        </p:nvSpPr>
        <p:spPr>
          <a:xfrm>
            <a:off x="4530852" y="4616585"/>
            <a:ext cx="3133649" cy="791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4530852" y="4187614"/>
            <a:ext cx="381305" cy="330039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25950" y="4269926"/>
            <a:ext cx="190195" cy="164623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5063947" y="4243808"/>
            <a:ext cx="736092" cy="20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Players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4682642" y="4715518"/>
            <a:ext cx="3036722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글로벌 메이저: Nestlé, ConAgra 등 거대 자본의 시장 지배력(M/S 40%+)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4682642" y="5113622"/>
            <a:ext cx="2989174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유통사 PB: Walmart, Costco 등 유통 공룡의 자체 브랜드 확대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4682642" y="5511727"/>
            <a:ext cx="3055925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니치 플레이어: Kettle &amp; Fire 등 전문 브랜드의 프리미엄 세그먼트 장악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8128102" y="3981834"/>
            <a:ext cx="3610051" cy="2143273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3"/>
          <p:cNvSpPr/>
          <p:nvPr/>
        </p:nvSpPr>
        <p:spPr>
          <a:xfrm>
            <a:off x="8365846" y="4616585"/>
            <a:ext cx="3133649" cy="791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4"/>
          <p:cNvSpPr/>
          <p:nvPr/>
        </p:nvSpPr>
        <p:spPr>
          <a:xfrm>
            <a:off x="8365846" y="4187614"/>
            <a:ext cx="381305" cy="330039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60943" y="4269926"/>
            <a:ext cx="190195" cy="164623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8899855" y="4243808"/>
            <a:ext cx="1783080" cy="20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Rules &amp; Regulations</a:t>
            </a:r>
            <a:endParaRPr lang="en-US" sz="1300" dirty="0"/>
          </a:p>
        </p:txBody>
      </p:sp>
      <p:sp>
        <p:nvSpPr>
          <p:cNvPr id="54" name="Text 46"/>
          <p:cNvSpPr txBox="1"/>
          <p:nvPr/>
        </p:nvSpPr>
        <p:spPr>
          <a:xfrm>
            <a:off x="8518550" y="4715518"/>
            <a:ext cx="3046781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식품 안전: HACCP, PCQI 등 엄격한 제조 및 품질 관리 기준 준수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8518550" y="5113622"/>
            <a:ext cx="3055925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ESG 요구: 친환경 패키징(Recyclable) 및 탄소 발자국 저감 압력 증대</a:t>
            </a:r>
            <a:endParaRPr lang="en-US" sz="1000" dirty="0"/>
          </a:p>
        </p:txBody>
      </p:sp>
      <p:sp>
        <p:nvSpPr>
          <p:cNvPr id="56" name="Text 48"/>
          <p:cNvSpPr txBox="1"/>
          <p:nvPr/>
        </p:nvSpPr>
        <p:spPr>
          <a:xfrm>
            <a:off x="8518550" y="5511727"/>
            <a:ext cx="2980030" cy="34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알레르겐 표시: 주요 알레르기 유발 물질(글루텐, 유제품 등) 명확한 표기 의무</a:t>
            </a:r>
            <a:endParaRPr lang="en-US" sz="1000" dirty="0"/>
          </a:p>
        </p:txBody>
      </p:sp>
      <p:sp>
        <p:nvSpPr>
          <p:cNvPr id="63" name="Shape 53"/>
          <p:cNvSpPr/>
          <p:nvPr/>
        </p:nvSpPr>
        <p:spPr>
          <a:xfrm>
            <a:off x="0" y="6520046"/>
            <a:ext cx="12191695" cy="791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Rectangle 13">
            <a:extLst>
              <a:ext uri="{FF2B5EF4-FFF2-40B4-BE49-F238E27FC236}">
                <a16:creationId xmlns:a16="http://schemas.microsoft.com/office/drawing/2014/main" id="{A955B2FD-133E-2C3C-17EB-5B7FE68FC17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16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그룹 62">
            <a:extLst>
              <a:ext uri="{FF2B5EF4-FFF2-40B4-BE49-F238E27FC236}">
                <a16:creationId xmlns:a16="http://schemas.microsoft.com/office/drawing/2014/main" id="{F7BFD4A6-A873-49D2-FB14-11B43C81218D}"/>
              </a:ext>
            </a:extLst>
          </p:cNvPr>
          <p:cNvGrpSpPr/>
          <p:nvPr/>
        </p:nvGrpSpPr>
        <p:grpSpPr>
          <a:xfrm>
            <a:off x="0" y="1"/>
            <a:ext cx="12191695" cy="6858000"/>
            <a:chOff x="0" y="0"/>
            <a:chExt cx="12191695" cy="7518197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1296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COUNTRY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340389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FDA의 건강 강조 표시 규제 강화와 한미 FTA 무관세 혜택이 시장 진입의 장벽이자 기회 요인으로 공존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695798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051C2C"/>
            </a:solidFill>
            <a:ln/>
            <a:effectLst>
              <a:outerShdw blurRad="38100" dist="25400" dir="5400000" algn="bl" rotWithShape="0">
                <a:srgbClr val="051C2C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049731" y="1819656"/>
              <a:ext cx="729691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POLITICAL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349094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2931566" y="1819656"/>
              <a:ext cx="748894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ECONOMIC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241902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4930445" y="1819656"/>
              <a:ext cx="53949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SOCIAL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33795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6530645" y="1819656"/>
              <a:ext cx="1120140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TECHNOLOGICAL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026603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8415223" y="1819656"/>
              <a:ext cx="113934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ENVIRONMENTAL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18497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051C2C"/>
            </a:solidFill>
            <a:ln/>
            <a:effectLst>
              <a:outerShdw blurRad="38100" dist="25400" dir="5400000" algn="bl" rotWithShape="0">
                <a:srgbClr val="051C2C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10637215" y="1819656"/>
              <a:ext cx="472745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LEGAL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7200" y="2307031"/>
              <a:ext cx="5486400" cy="4524451"/>
            </a:xfrm>
            <a:prstGeom prst="roundRect">
              <a:avLst>
                <a:gd name="adj" fmla="val 34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466344" y="2316175"/>
              <a:ext cx="5467198" cy="847649"/>
            </a:xfrm>
            <a:prstGeom prst="rect">
              <a:avLst/>
            </a:prstGeom>
            <a:noFill/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705002" y="2507285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19302" y="2621585"/>
              <a:ext cx="228600" cy="228600"/>
            </a:xfrm>
            <a:prstGeom prst="rect">
              <a:avLst/>
            </a:prstGeom>
          </p:spPr>
        </p:pic>
        <p:sp>
          <p:nvSpPr>
            <p:cNvPr id="25" name="Text 22"/>
            <p:cNvSpPr txBox="1"/>
            <p:nvPr/>
          </p:nvSpPr>
          <p:spPr>
            <a:xfrm>
              <a:off x="1314907" y="2497226"/>
              <a:ext cx="219090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Political Environment</a:t>
              </a:r>
              <a:endParaRPr lang="en-US" sz="1500" dirty="0"/>
            </a:p>
          </p:txBody>
        </p:sp>
        <p:sp>
          <p:nvSpPr>
            <p:cNvPr id="26" name="Text 23"/>
            <p:cNvSpPr txBox="1"/>
            <p:nvPr/>
          </p:nvSpPr>
          <p:spPr>
            <a:xfrm>
              <a:off x="1314907" y="2773375"/>
              <a:ext cx="13578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정부 정책 및 무역 외교</a:t>
              </a:r>
              <a:endParaRPr lang="en-US" sz="1000" dirty="0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775411" y="3436315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1076249" y="3392424"/>
              <a:ext cx="2857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FDA 'Healthy' Definition 개정 (2025~)</a:t>
              </a:r>
              <a:endParaRPr lang="en-US" sz="1200" dirty="0"/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1076249" y="3659429"/>
              <a:ext cx="4596689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FDA가 'Healthy' 표시 기준을 엄격화하여 나트륨과 첨가당 제한을 강화. Bone Broth의 경우 저나트륨(Low Sodium) 스펙을 충족해야 마케팅 클레임 사용 가능.</a:t>
              </a:r>
              <a:endParaRPr lang="en-US" sz="1000" dirty="0"/>
            </a:p>
          </p:txBody>
        </p:sp>
        <p:sp>
          <p:nvSpPr>
            <p:cNvPr id="30" name="Shape 27"/>
            <p:cNvSpPr/>
            <p:nvPr/>
          </p:nvSpPr>
          <p:spPr>
            <a:xfrm>
              <a:off x="1076249" y="4135831"/>
              <a:ext cx="819302" cy="209398"/>
            </a:xfrm>
            <a:prstGeom prst="roundRect">
              <a:avLst>
                <a:gd name="adj" fmla="val 79396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8"/>
            <p:cNvSpPr txBox="1"/>
            <p:nvPr/>
          </p:nvSpPr>
          <p:spPr>
            <a:xfrm>
              <a:off x="1152144" y="4158691"/>
              <a:ext cx="74706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91B1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Impact: High</a:t>
              </a:r>
              <a:endParaRPr lang="en-US" sz="800" dirty="0"/>
            </a:p>
          </p:txBody>
        </p:sp>
        <p:sp>
          <p:nvSpPr>
            <p:cNvPr id="32" name="Text 29"/>
            <p:cNvSpPr txBox="1"/>
            <p:nvPr/>
          </p:nvSpPr>
          <p:spPr>
            <a:xfrm>
              <a:off x="775411" y="4575658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33" name="Text 30"/>
            <p:cNvSpPr txBox="1"/>
            <p:nvPr/>
          </p:nvSpPr>
          <p:spPr>
            <a:xfrm>
              <a:off x="1076249" y="4531766"/>
              <a:ext cx="16194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K-Food 공공 외교 확대</a:t>
              </a:r>
              <a:endParaRPr lang="en-US" sz="1200" dirty="0"/>
            </a:p>
          </p:txBody>
        </p:sp>
        <p:sp>
          <p:nvSpPr>
            <p:cNvPr id="34" name="Text 31"/>
            <p:cNvSpPr txBox="1"/>
            <p:nvPr/>
          </p:nvSpPr>
          <p:spPr>
            <a:xfrm>
              <a:off x="1076249" y="4798771"/>
              <a:ext cx="4644238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내 '김치의 날' 제정 등 한국 식문화에 대한 우호적 정치 환경 조성. K-Brand에 대한 프리미엄 인식이 정책적 지지를 받음.</a:t>
              </a:r>
              <a:endParaRPr lang="en-US" sz="10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1076249" y="5275174"/>
              <a:ext cx="1000354" cy="209398"/>
            </a:xfrm>
            <a:prstGeom prst="roundRect">
              <a:avLst>
                <a:gd name="adj" fmla="val 79396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3"/>
            <p:cNvSpPr txBox="1"/>
            <p:nvPr/>
          </p:nvSpPr>
          <p:spPr>
            <a:xfrm>
              <a:off x="1152144" y="5297119"/>
              <a:ext cx="92811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6653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Impact: Medium</a:t>
              </a:r>
              <a:endParaRPr lang="en-US" sz="800" dirty="0"/>
            </a:p>
          </p:txBody>
        </p:sp>
        <p:sp>
          <p:nvSpPr>
            <p:cNvPr id="37" name="Shape 34"/>
            <p:cNvSpPr/>
            <p:nvPr/>
          </p:nvSpPr>
          <p:spPr>
            <a:xfrm>
              <a:off x="694944" y="5861304"/>
              <a:ext cx="5009998" cy="724205"/>
            </a:xfrm>
            <a:prstGeom prst="roundRect">
              <a:avLst>
                <a:gd name="adj" fmla="val 9968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5"/>
            <p:cNvSpPr txBox="1"/>
            <p:nvPr/>
          </p:nvSpPr>
          <p:spPr>
            <a:xfrm>
              <a:off x="857707" y="6023153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39" name="Text 36"/>
            <p:cNvSpPr txBox="1"/>
            <p:nvPr/>
          </p:nvSpPr>
          <p:spPr>
            <a:xfrm>
              <a:off x="857707" y="6232550"/>
              <a:ext cx="47676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제품 개발 단계부터 FDA 나트륨 기준(1회 제공량당 제한)을 반영한 레시피 설계 필수.</a:t>
              </a:r>
              <a:endParaRPr lang="en-US" sz="1000" dirty="0"/>
            </a:p>
          </p:txBody>
        </p:sp>
        <p:sp>
          <p:nvSpPr>
            <p:cNvPr id="40" name="Shape 37"/>
            <p:cNvSpPr/>
            <p:nvPr/>
          </p:nvSpPr>
          <p:spPr>
            <a:xfrm>
              <a:off x="6248095" y="2307031"/>
              <a:ext cx="5486400" cy="4524451"/>
            </a:xfrm>
            <a:prstGeom prst="roundRect">
              <a:avLst>
                <a:gd name="adj" fmla="val 34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38"/>
            <p:cNvSpPr/>
            <p:nvPr/>
          </p:nvSpPr>
          <p:spPr>
            <a:xfrm>
              <a:off x="6258154" y="2316175"/>
              <a:ext cx="5467198" cy="847649"/>
            </a:xfrm>
            <a:prstGeom prst="rect">
              <a:avLst/>
            </a:prstGeom>
            <a:noFill/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Shape 39"/>
            <p:cNvSpPr/>
            <p:nvPr/>
          </p:nvSpPr>
          <p:spPr>
            <a:xfrm>
              <a:off x="6495898" y="2507285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3" name="Image 1" descr="preencoded.png"/>
            <p:cNvPicPr>
              <a:picLocks noChangeAspect="1"/>
            </p:cNvPicPr>
            <p:nvPr/>
          </p:nvPicPr>
          <p:blipFill>
            <a:blip r:embed="rId4"/>
            <a:srcRect l="-80" r="-80"/>
            <a:stretch/>
          </p:blipFill>
          <p:spPr>
            <a:xfrm>
              <a:off x="6581851" y="2621585"/>
              <a:ext cx="286207" cy="228600"/>
            </a:xfrm>
            <a:prstGeom prst="rect">
              <a:avLst/>
            </a:prstGeom>
          </p:spPr>
        </p:pic>
        <p:sp>
          <p:nvSpPr>
            <p:cNvPr id="44" name="Text 40"/>
            <p:cNvSpPr txBox="1"/>
            <p:nvPr/>
          </p:nvSpPr>
          <p:spPr>
            <a:xfrm>
              <a:off x="7105802" y="2497226"/>
              <a:ext cx="192481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Legal Environment</a:t>
              </a:r>
              <a:endParaRPr lang="en-US" sz="1500" dirty="0"/>
            </a:p>
          </p:txBody>
        </p:sp>
        <p:sp>
          <p:nvSpPr>
            <p:cNvPr id="45" name="Text 41"/>
            <p:cNvSpPr txBox="1"/>
            <p:nvPr/>
          </p:nvSpPr>
          <p:spPr>
            <a:xfrm>
              <a:off x="7105802" y="2773375"/>
              <a:ext cx="15672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법적 규제 및 컴플라이언스</a:t>
              </a:r>
              <a:endParaRPr lang="en-US" sz="1000" dirty="0"/>
            </a:p>
          </p:txBody>
        </p:sp>
        <p:sp>
          <p:nvSpPr>
            <p:cNvPr id="46" name="Text 42"/>
            <p:cNvSpPr txBox="1"/>
            <p:nvPr/>
          </p:nvSpPr>
          <p:spPr>
            <a:xfrm>
              <a:off x="6567221" y="3436315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47" name="Text 43"/>
            <p:cNvSpPr txBox="1"/>
            <p:nvPr/>
          </p:nvSpPr>
          <p:spPr>
            <a:xfrm>
              <a:off x="6867144" y="3392424"/>
              <a:ext cx="28008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FOP (Front-of-Package) 라벨링 의무화</a:t>
              </a:r>
              <a:endParaRPr lang="en-US" sz="1200" dirty="0"/>
            </a:p>
          </p:txBody>
        </p:sp>
        <p:sp>
          <p:nvSpPr>
            <p:cNvPr id="48" name="Text 44"/>
            <p:cNvSpPr txBox="1"/>
            <p:nvPr/>
          </p:nvSpPr>
          <p:spPr>
            <a:xfrm>
              <a:off x="6867144" y="3659429"/>
              <a:ext cx="4700930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소비자가 직관적으로 알 수 있게 포장 앞면에 고나트륨/고당 경고 표시를 의무화하는 방안 추진 중. 디자인 및 패키징 전략에 직접적 영향.</a:t>
              </a:r>
              <a:endParaRPr lang="en-US" sz="1000" dirty="0"/>
            </a:p>
          </p:txBody>
        </p:sp>
        <p:sp>
          <p:nvSpPr>
            <p:cNvPr id="49" name="Shape 45"/>
            <p:cNvSpPr/>
            <p:nvPr/>
          </p:nvSpPr>
          <p:spPr>
            <a:xfrm>
              <a:off x="6867144" y="4135831"/>
              <a:ext cx="886054" cy="209398"/>
            </a:xfrm>
            <a:prstGeom prst="roundRect">
              <a:avLst>
                <a:gd name="adj" fmla="val 79396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6"/>
            <p:cNvSpPr txBox="1"/>
            <p:nvPr/>
          </p:nvSpPr>
          <p:spPr>
            <a:xfrm>
              <a:off x="6943954" y="4158691"/>
              <a:ext cx="81381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91B1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Urgency: High</a:t>
              </a:r>
              <a:endParaRPr lang="en-US" sz="800" dirty="0"/>
            </a:p>
          </p:txBody>
        </p:sp>
        <p:sp>
          <p:nvSpPr>
            <p:cNvPr id="51" name="Text 47"/>
            <p:cNvSpPr txBox="1"/>
            <p:nvPr/>
          </p:nvSpPr>
          <p:spPr>
            <a:xfrm>
              <a:off x="6567221" y="4575658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52" name="Text 48"/>
            <p:cNvSpPr txBox="1"/>
            <p:nvPr/>
          </p:nvSpPr>
          <p:spPr>
            <a:xfrm>
              <a:off x="6867144" y="4531766"/>
              <a:ext cx="16486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한미 FTA &amp; FSMA 준수</a:t>
              </a:r>
              <a:endParaRPr lang="en-US" sz="1200" dirty="0"/>
            </a:p>
          </p:txBody>
        </p:sp>
        <p:sp>
          <p:nvSpPr>
            <p:cNvPr id="53" name="Text 49"/>
            <p:cNvSpPr txBox="1"/>
            <p:nvPr/>
          </p:nvSpPr>
          <p:spPr>
            <a:xfrm>
              <a:off x="6867144" y="4798771"/>
              <a:ext cx="4586630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대부분의 가공식품 무관세 혜택 유지. 단, 식품안전현대화법(FSMA)에 따른 예방적 통제(PCQI) 및 공급망 검증 의무가 엄격함.</a:t>
              </a:r>
              <a:endParaRPr lang="en-US" sz="1000" dirty="0"/>
            </a:p>
          </p:txBody>
        </p:sp>
        <p:sp>
          <p:nvSpPr>
            <p:cNvPr id="54" name="Shape 50"/>
            <p:cNvSpPr/>
            <p:nvPr/>
          </p:nvSpPr>
          <p:spPr>
            <a:xfrm>
              <a:off x="6867144" y="5275174"/>
              <a:ext cx="923544" cy="209398"/>
            </a:xfrm>
            <a:prstGeom prst="roundRect">
              <a:avLst>
                <a:gd name="adj" fmla="val 79396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 51"/>
            <p:cNvSpPr txBox="1"/>
            <p:nvPr/>
          </p:nvSpPr>
          <p:spPr>
            <a:xfrm>
              <a:off x="6943954" y="5297119"/>
              <a:ext cx="85222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6653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Risk: Moderate</a:t>
              </a:r>
              <a:endParaRPr lang="en-US" sz="800" dirty="0"/>
            </a:p>
          </p:txBody>
        </p:sp>
        <p:sp>
          <p:nvSpPr>
            <p:cNvPr id="56" name="Shape 52"/>
            <p:cNvSpPr/>
            <p:nvPr/>
          </p:nvSpPr>
          <p:spPr>
            <a:xfrm>
              <a:off x="6486754" y="5671109"/>
              <a:ext cx="5009998" cy="914400"/>
            </a:xfrm>
            <a:prstGeom prst="roundRect">
              <a:avLst>
                <a:gd name="adj" fmla="val 6250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53"/>
            <p:cNvSpPr txBox="1"/>
            <p:nvPr/>
          </p:nvSpPr>
          <p:spPr>
            <a:xfrm>
              <a:off x="6648602" y="5832958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58" name="Text 54"/>
            <p:cNvSpPr txBox="1"/>
            <p:nvPr/>
          </p:nvSpPr>
          <p:spPr>
            <a:xfrm>
              <a:off x="6648602" y="6042355"/>
              <a:ext cx="464423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FSMA 대응을 위한 PCQI 전문가 선임 및 FOP 라벨링 도입 시나리오별 패키지 시안 준비.</a:t>
              </a:r>
              <a:endParaRPr lang="en-US" sz="1000" dirty="0"/>
            </a:p>
          </p:txBody>
        </p:sp>
        <p:sp>
          <p:nvSpPr>
            <p:cNvPr id="59" name="Shape 55"/>
            <p:cNvSpPr/>
            <p:nvPr/>
          </p:nvSpPr>
          <p:spPr>
            <a:xfrm>
              <a:off x="0" y="7127748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Shape 56"/>
            <p:cNvSpPr/>
            <p:nvPr/>
          </p:nvSpPr>
          <p:spPr>
            <a:xfrm>
              <a:off x="0" y="7127748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57"/>
            <p:cNvSpPr txBox="1"/>
            <p:nvPr/>
          </p:nvSpPr>
          <p:spPr>
            <a:xfrm>
              <a:off x="457200" y="7242049"/>
              <a:ext cx="5384800" cy="2157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FDA News Release (2024), USTR KORUS FTA Factsheet, Mintel Regulatory Report</a:t>
              </a:r>
              <a:endParaRPr lang="en-US" sz="900" dirty="0"/>
            </a:p>
          </p:txBody>
        </p:sp>
      </p:grpSp>
      <p:sp>
        <p:nvSpPr>
          <p:cNvPr id="64" name="Rectangle 13">
            <a:extLst>
              <a:ext uri="{FF2B5EF4-FFF2-40B4-BE49-F238E27FC236}">
                <a16:creationId xmlns:a16="http://schemas.microsoft.com/office/drawing/2014/main" id="{E9576959-1648-304B-0593-59168F2E7C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17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그룹 62">
            <a:extLst>
              <a:ext uri="{FF2B5EF4-FFF2-40B4-BE49-F238E27FC236}">
                <a16:creationId xmlns:a16="http://schemas.microsoft.com/office/drawing/2014/main" id="{970E54A8-18E2-DBCE-CAD3-40CF47205F67}"/>
              </a:ext>
            </a:extLst>
          </p:cNvPr>
          <p:cNvGrpSpPr/>
          <p:nvPr/>
        </p:nvGrpSpPr>
        <p:grpSpPr>
          <a:xfrm>
            <a:off x="0" y="1"/>
            <a:ext cx="12191695" cy="6885432"/>
            <a:chOff x="0" y="0"/>
            <a:chExt cx="12191695" cy="7161581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086307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047902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1296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COUNTRY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0482682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인플레이션에 따른 외식 대체 수요 증가와 대형 유통사의 시장 지배력(Oligopoly) 심화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080821"/>
              <a:ext cx="12191695" cy="5695798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049731" y="1462126"/>
              <a:ext cx="729691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POLITICAL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349094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051C2C"/>
            </a:solidFill>
            <a:ln/>
            <a:effectLst>
              <a:outerShdw blurRad="38100" dist="25400" dir="5400000" algn="bl" rotWithShape="0">
                <a:srgbClr val="051C2C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2931566" y="1462126"/>
              <a:ext cx="748894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ECONOMIC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241902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4930445" y="1462126"/>
              <a:ext cx="53949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SOCIAL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33795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6530645" y="1462126"/>
              <a:ext cx="1120140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TECHNOLOGICAL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026603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8415223" y="1462126"/>
              <a:ext cx="113934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ENVIRONMENTAL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18497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10637215" y="1462126"/>
              <a:ext cx="472745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LEGAL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7200" y="1949501"/>
              <a:ext cx="5486400" cy="4524451"/>
            </a:xfrm>
            <a:prstGeom prst="roundRect">
              <a:avLst>
                <a:gd name="adj" fmla="val 34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466344" y="1959559"/>
              <a:ext cx="5467198" cy="847649"/>
            </a:xfrm>
            <a:prstGeom prst="rect">
              <a:avLst/>
            </a:prstGeom>
            <a:noFill/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705002" y="2149754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19302" y="2264054"/>
              <a:ext cx="228600" cy="228600"/>
            </a:xfrm>
            <a:prstGeom prst="rect">
              <a:avLst/>
            </a:prstGeom>
          </p:spPr>
        </p:pic>
        <p:sp>
          <p:nvSpPr>
            <p:cNvPr id="25" name="Text 22"/>
            <p:cNvSpPr txBox="1"/>
            <p:nvPr/>
          </p:nvSpPr>
          <p:spPr>
            <a:xfrm>
              <a:off x="1314907" y="2140610"/>
              <a:ext cx="1686154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Macro Economic</a:t>
              </a:r>
              <a:endParaRPr lang="en-US" sz="1500" dirty="0"/>
            </a:p>
          </p:txBody>
        </p:sp>
        <p:sp>
          <p:nvSpPr>
            <p:cNvPr id="26" name="Text 23"/>
            <p:cNvSpPr txBox="1"/>
            <p:nvPr/>
          </p:nvSpPr>
          <p:spPr>
            <a:xfrm>
              <a:off x="1314907" y="2416759"/>
              <a:ext cx="13578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거시 경제 지표 및 소득</a:t>
              </a:r>
              <a:endParaRPr lang="en-US" sz="1000" dirty="0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775411" y="3079699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1076249" y="3035808"/>
              <a:ext cx="22101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GDP $27.4T &amp; 인플레이션 압력</a:t>
              </a:r>
              <a:endParaRPr lang="en-US" sz="1200" dirty="0"/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1076249" y="3301898"/>
              <a:ext cx="4720133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미국은 세계 최대 시장이나, 지속적인 CPI 상승으로 실질 가처분 소득이 압박받음. 이는 외식을 줄이고 가정 내 식사(HMR)를 늘리는 Trading Down 현상을 가속화.</a:t>
              </a:r>
              <a:endParaRPr lang="en-US" sz="1000" dirty="0"/>
            </a:p>
          </p:txBody>
        </p:sp>
        <p:sp>
          <p:nvSpPr>
            <p:cNvPr id="30" name="Shape 27"/>
            <p:cNvSpPr/>
            <p:nvPr/>
          </p:nvSpPr>
          <p:spPr>
            <a:xfrm>
              <a:off x="1076249" y="3778301"/>
              <a:ext cx="1104595" cy="209398"/>
            </a:xfrm>
            <a:prstGeom prst="roundRect">
              <a:avLst>
                <a:gd name="adj" fmla="val 79396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8"/>
            <p:cNvSpPr txBox="1"/>
            <p:nvPr/>
          </p:nvSpPr>
          <p:spPr>
            <a:xfrm>
              <a:off x="1152144" y="3801161"/>
              <a:ext cx="103327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6653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Opportunity: High</a:t>
              </a:r>
              <a:endParaRPr lang="en-US" sz="800" dirty="0"/>
            </a:p>
          </p:txBody>
        </p:sp>
        <p:sp>
          <p:nvSpPr>
            <p:cNvPr id="32" name="Text 29"/>
            <p:cNvSpPr txBox="1"/>
            <p:nvPr/>
          </p:nvSpPr>
          <p:spPr>
            <a:xfrm>
              <a:off x="775411" y="4218127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33" name="Text 30"/>
            <p:cNvSpPr txBox="1"/>
            <p:nvPr/>
          </p:nvSpPr>
          <p:spPr>
            <a:xfrm>
              <a:off x="1076249" y="4174236"/>
              <a:ext cx="17913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원부자재 및 물류비용 상승</a:t>
              </a:r>
              <a:endParaRPr lang="en-US" sz="1200" dirty="0"/>
            </a:p>
          </p:txBody>
        </p:sp>
        <p:sp>
          <p:nvSpPr>
            <p:cNvPr id="34" name="Text 31"/>
            <p:cNvSpPr txBox="1"/>
            <p:nvPr/>
          </p:nvSpPr>
          <p:spPr>
            <a:xfrm>
              <a:off x="1076249" y="4441241"/>
              <a:ext cx="4720133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글로벌 공급망 이슈로 육류 등 원재료 가격과 콜드체인 물류비용 상승. 제품의 수익성(Margin) 확보를 위한 원가 구조 최적화가 필수적.</a:t>
              </a:r>
              <a:endParaRPr lang="en-US" sz="10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1076249" y="4917643"/>
              <a:ext cx="800100" cy="209398"/>
            </a:xfrm>
            <a:prstGeom prst="roundRect">
              <a:avLst>
                <a:gd name="adj" fmla="val 79396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3"/>
            <p:cNvSpPr txBox="1"/>
            <p:nvPr/>
          </p:nvSpPr>
          <p:spPr>
            <a:xfrm>
              <a:off x="1152144" y="4940503"/>
              <a:ext cx="72786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91B1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Threat: High</a:t>
              </a:r>
              <a:endParaRPr lang="en-US" sz="800" dirty="0"/>
            </a:p>
          </p:txBody>
        </p:sp>
        <p:sp>
          <p:nvSpPr>
            <p:cNvPr id="37" name="Shape 34"/>
            <p:cNvSpPr/>
            <p:nvPr/>
          </p:nvSpPr>
          <p:spPr>
            <a:xfrm>
              <a:off x="694944" y="5313578"/>
              <a:ext cx="5009998" cy="914400"/>
            </a:xfrm>
            <a:prstGeom prst="roundRect">
              <a:avLst>
                <a:gd name="adj" fmla="val 6250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5"/>
            <p:cNvSpPr txBox="1"/>
            <p:nvPr/>
          </p:nvSpPr>
          <p:spPr>
            <a:xfrm>
              <a:off x="857707" y="5475427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39" name="Text 36"/>
            <p:cNvSpPr txBox="1"/>
            <p:nvPr/>
          </p:nvSpPr>
          <p:spPr>
            <a:xfrm>
              <a:off x="857707" y="5684825"/>
              <a:ext cx="4691786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'외식보다 저렴하지만 품질은 대등한' 프리미엄 가성비 포지셔닝으로 불황형 소비 공략.</a:t>
              </a:r>
              <a:endParaRPr lang="en-US" sz="1000" dirty="0"/>
            </a:p>
          </p:txBody>
        </p:sp>
        <p:sp>
          <p:nvSpPr>
            <p:cNvPr id="40" name="Shape 37"/>
            <p:cNvSpPr/>
            <p:nvPr/>
          </p:nvSpPr>
          <p:spPr>
            <a:xfrm>
              <a:off x="6248095" y="1949501"/>
              <a:ext cx="5486400" cy="4524451"/>
            </a:xfrm>
            <a:prstGeom prst="roundRect">
              <a:avLst>
                <a:gd name="adj" fmla="val 34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38"/>
            <p:cNvSpPr/>
            <p:nvPr/>
          </p:nvSpPr>
          <p:spPr>
            <a:xfrm>
              <a:off x="6258154" y="1959559"/>
              <a:ext cx="5467198" cy="847649"/>
            </a:xfrm>
            <a:prstGeom prst="rect">
              <a:avLst/>
            </a:prstGeom>
            <a:noFill/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Shape 39"/>
            <p:cNvSpPr/>
            <p:nvPr/>
          </p:nvSpPr>
          <p:spPr>
            <a:xfrm>
              <a:off x="6495898" y="2149754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3" name="Image 1" descr="preencoded.png"/>
            <p:cNvPicPr>
              <a:picLocks noChangeAspect="1"/>
            </p:cNvPicPr>
            <p:nvPr/>
          </p:nvPicPr>
          <p:blipFill>
            <a:blip r:embed="rId4"/>
            <a:srcRect t="-45" b="-45"/>
            <a:stretch/>
          </p:blipFill>
          <p:spPr>
            <a:xfrm>
              <a:off x="6596482" y="2264054"/>
              <a:ext cx="256946" cy="228600"/>
            </a:xfrm>
            <a:prstGeom prst="rect">
              <a:avLst/>
            </a:prstGeom>
          </p:spPr>
        </p:pic>
        <p:sp>
          <p:nvSpPr>
            <p:cNvPr id="44" name="Text 40"/>
            <p:cNvSpPr txBox="1"/>
            <p:nvPr/>
          </p:nvSpPr>
          <p:spPr>
            <a:xfrm>
              <a:off x="7105802" y="2140610"/>
              <a:ext cx="174376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Market Structure</a:t>
              </a:r>
              <a:endParaRPr lang="en-US" sz="1500" dirty="0"/>
            </a:p>
          </p:txBody>
        </p:sp>
        <p:sp>
          <p:nvSpPr>
            <p:cNvPr id="45" name="Text 41"/>
            <p:cNvSpPr txBox="1"/>
            <p:nvPr/>
          </p:nvSpPr>
          <p:spPr>
            <a:xfrm>
              <a:off x="7105802" y="2416759"/>
              <a:ext cx="13578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유통 구조 및 소비 패턴</a:t>
              </a:r>
              <a:endParaRPr lang="en-US" sz="1000" dirty="0"/>
            </a:p>
          </p:txBody>
        </p:sp>
        <p:sp>
          <p:nvSpPr>
            <p:cNvPr id="46" name="Text 42"/>
            <p:cNvSpPr txBox="1"/>
            <p:nvPr/>
          </p:nvSpPr>
          <p:spPr>
            <a:xfrm>
              <a:off x="6567221" y="3079699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47" name="Text 43"/>
            <p:cNvSpPr txBox="1"/>
            <p:nvPr/>
          </p:nvSpPr>
          <p:spPr>
            <a:xfrm>
              <a:off x="6867144" y="3035808"/>
              <a:ext cx="22101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유통 채널의 과점화 (Oligopoly)</a:t>
              </a:r>
              <a:endParaRPr lang="en-US" sz="1200" dirty="0"/>
            </a:p>
          </p:txBody>
        </p:sp>
        <p:sp>
          <p:nvSpPr>
            <p:cNvPr id="48" name="Text 44"/>
            <p:cNvSpPr txBox="1"/>
            <p:nvPr/>
          </p:nvSpPr>
          <p:spPr>
            <a:xfrm>
              <a:off x="6867144" y="3301898"/>
              <a:ext cx="4653382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Walmart, Kroger, Costco 등 상위 리테일러의 시장 지배력이 막강함. 입점을 위한 슬롯팅 비용(Slotting Fees)과 프로모션 요구 수준이 매우 높음.</a:t>
              </a:r>
              <a:endParaRPr lang="en-US" sz="1000" dirty="0"/>
            </a:p>
          </p:txBody>
        </p:sp>
        <p:sp>
          <p:nvSpPr>
            <p:cNvPr id="49" name="Shape 45"/>
            <p:cNvSpPr/>
            <p:nvPr/>
          </p:nvSpPr>
          <p:spPr>
            <a:xfrm>
              <a:off x="6867144" y="3778301"/>
              <a:ext cx="819302" cy="209398"/>
            </a:xfrm>
            <a:prstGeom prst="roundRect">
              <a:avLst>
                <a:gd name="adj" fmla="val 79396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6"/>
            <p:cNvSpPr txBox="1"/>
            <p:nvPr/>
          </p:nvSpPr>
          <p:spPr>
            <a:xfrm>
              <a:off x="6943954" y="3801161"/>
              <a:ext cx="74706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91B1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Barrier: High</a:t>
              </a:r>
              <a:endParaRPr lang="en-US" sz="800" dirty="0"/>
            </a:p>
          </p:txBody>
        </p:sp>
        <p:sp>
          <p:nvSpPr>
            <p:cNvPr id="51" name="Text 47"/>
            <p:cNvSpPr txBox="1"/>
            <p:nvPr/>
          </p:nvSpPr>
          <p:spPr>
            <a:xfrm>
              <a:off x="6567221" y="4218127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52" name="Text 48"/>
            <p:cNvSpPr txBox="1"/>
            <p:nvPr/>
          </p:nvSpPr>
          <p:spPr>
            <a:xfrm>
              <a:off x="6867144" y="4174236"/>
              <a:ext cx="16962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소비 양극화 및 가치 소비</a:t>
              </a:r>
              <a:endParaRPr lang="en-US" sz="1200" dirty="0"/>
            </a:p>
          </p:txBody>
        </p:sp>
        <p:sp>
          <p:nvSpPr>
            <p:cNvPr id="53" name="Text 49"/>
            <p:cNvSpPr txBox="1"/>
            <p:nvPr/>
          </p:nvSpPr>
          <p:spPr>
            <a:xfrm>
              <a:off x="6867144" y="4441241"/>
              <a:ext cx="4653382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저가 PB 상품과 고가 프리미엄 웰니스 제품으로 시장이 양분됨. 어중간한 중저가 브랜드는 설 자리를 잃고 있음. Bone Broth는 프리미엄 틈새시장 해당.</a:t>
              </a:r>
              <a:endParaRPr lang="en-US" sz="1000" dirty="0"/>
            </a:p>
          </p:txBody>
        </p:sp>
        <p:sp>
          <p:nvSpPr>
            <p:cNvPr id="54" name="Shape 50"/>
            <p:cNvSpPr/>
            <p:nvPr/>
          </p:nvSpPr>
          <p:spPr>
            <a:xfrm>
              <a:off x="6867144" y="4917643"/>
              <a:ext cx="1143000" cy="209398"/>
            </a:xfrm>
            <a:prstGeom prst="roundRect">
              <a:avLst>
                <a:gd name="adj" fmla="val 79396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 51"/>
            <p:cNvSpPr txBox="1"/>
            <p:nvPr/>
          </p:nvSpPr>
          <p:spPr>
            <a:xfrm>
              <a:off x="6943954" y="4940503"/>
              <a:ext cx="107076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Trend: Polarization</a:t>
              </a:r>
              <a:endParaRPr lang="en-US" sz="800" dirty="0"/>
            </a:p>
          </p:txBody>
        </p:sp>
        <p:sp>
          <p:nvSpPr>
            <p:cNvPr id="56" name="Shape 52"/>
            <p:cNvSpPr/>
            <p:nvPr/>
          </p:nvSpPr>
          <p:spPr>
            <a:xfrm>
              <a:off x="6486754" y="5313578"/>
              <a:ext cx="5009998" cy="914400"/>
            </a:xfrm>
            <a:prstGeom prst="roundRect">
              <a:avLst>
                <a:gd name="adj" fmla="val 6250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53"/>
            <p:cNvSpPr txBox="1"/>
            <p:nvPr/>
          </p:nvSpPr>
          <p:spPr>
            <a:xfrm>
              <a:off x="6648602" y="5475427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58" name="Text 54"/>
            <p:cNvSpPr txBox="1"/>
            <p:nvPr/>
          </p:nvSpPr>
          <p:spPr>
            <a:xfrm>
              <a:off x="6648602" y="5684825"/>
              <a:ext cx="475853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초기에는 D2C 및 특화 마켓(H-Mart)으로 진입 비용을 낮추고, 브랜드력 확보 후 대형 유통 교섭.</a:t>
              </a:r>
              <a:endParaRPr lang="en-US" sz="1000" dirty="0"/>
            </a:p>
          </p:txBody>
        </p:sp>
        <p:sp>
          <p:nvSpPr>
            <p:cNvPr id="59" name="Shape 55"/>
            <p:cNvSpPr/>
            <p:nvPr/>
          </p:nvSpPr>
          <p:spPr>
            <a:xfrm>
              <a:off x="0" y="6771132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Shape 56"/>
            <p:cNvSpPr/>
            <p:nvPr/>
          </p:nvSpPr>
          <p:spPr>
            <a:xfrm>
              <a:off x="0" y="6771132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57"/>
            <p:cNvSpPr txBox="1"/>
            <p:nvPr/>
          </p:nvSpPr>
          <p:spPr>
            <a:xfrm>
              <a:off x="457200" y="6885432"/>
              <a:ext cx="4343400" cy="1819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Bureau of Labor Statistics (BLS), USDA ERS, Statista (2024)</a:t>
              </a:r>
              <a:endParaRPr lang="en-US" sz="900" dirty="0"/>
            </a:p>
          </p:txBody>
        </p:sp>
      </p:grpSp>
      <p:sp>
        <p:nvSpPr>
          <p:cNvPr id="64" name="Rectangle 13">
            <a:extLst>
              <a:ext uri="{FF2B5EF4-FFF2-40B4-BE49-F238E27FC236}">
                <a16:creationId xmlns:a16="http://schemas.microsoft.com/office/drawing/2014/main" id="{BA703F39-3B56-7400-0328-4FEA3067CA2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18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그룹 62">
            <a:extLst>
              <a:ext uri="{FF2B5EF4-FFF2-40B4-BE49-F238E27FC236}">
                <a16:creationId xmlns:a16="http://schemas.microsoft.com/office/drawing/2014/main" id="{C765030C-DDF5-C800-9AAF-3235885E2CEB}"/>
              </a:ext>
            </a:extLst>
          </p:cNvPr>
          <p:cNvGrpSpPr/>
          <p:nvPr/>
        </p:nvGrpSpPr>
        <p:grpSpPr>
          <a:xfrm>
            <a:off x="0" y="1"/>
            <a:ext cx="12191695" cy="6858000"/>
            <a:chOff x="0" y="0"/>
            <a:chExt cx="12191695" cy="7361835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086307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047902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1296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COUNTRY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0415930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가파른 1인 가구 증가와 K-Wave 확산이 만드는 HMR 시장의 새로운 구조적 성장 기회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080821"/>
              <a:ext cx="12191695" cy="5896051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049731" y="1462126"/>
              <a:ext cx="729691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POLITICAL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349094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2931566" y="1462126"/>
              <a:ext cx="748894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ECONOMIC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241902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051C2C"/>
            </a:solidFill>
            <a:ln/>
            <a:effectLst>
              <a:outerShdw blurRad="38100" dist="25400" dir="5400000" algn="bl" rotWithShape="0">
                <a:srgbClr val="051C2C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4930445" y="1462126"/>
              <a:ext cx="53949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SOCIAL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33795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6530645" y="1462126"/>
              <a:ext cx="1120140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TECHNOLOGICAL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026603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8415223" y="1462126"/>
              <a:ext cx="113934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ENVIRONMENTAL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18497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10637215" y="1462126"/>
              <a:ext cx="472745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LEGAL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7200" y="1949501"/>
              <a:ext cx="5486400" cy="4724705"/>
            </a:xfrm>
            <a:prstGeom prst="roundRect">
              <a:avLst>
                <a:gd name="adj" fmla="val 312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466344" y="1959559"/>
              <a:ext cx="5467198" cy="847649"/>
            </a:xfrm>
            <a:prstGeom prst="rect">
              <a:avLst/>
            </a:prstGeom>
            <a:noFill/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705002" y="2149754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0" descr="preencoded.png"/>
            <p:cNvPicPr>
              <a:picLocks noChangeAspect="1"/>
            </p:cNvPicPr>
            <p:nvPr/>
          </p:nvPicPr>
          <p:blipFill>
            <a:blip r:embed="rId3"/>
            <a:srcRect l="-80" r="-80"/>
            <a:stretch/>
          </p:blipFill>
          <p:spPr>
            <a:xfrm>
              <a:off x="790956" y="2264054"/>
              <a:ext cx="286207" cy="228600"/>
            </a:xfrm>
            <a:prstGeom prst="rect">
              <a:avLst/>
            </a:prstGeom>
          </p:spPr>
        </p:pic>
        <p:sp>
          <p:nvSpPr>
            <p:cNvPr id="25" name="Text 22"/>
            <p:cNvSpPr txBox="1"/>
            <p:nvPr/>
          </p:nvSpPr>
          <p:spPr>
            <a:xfrm>
              <a:off x="1314907" y="2140610"/>
              <a:ext cx="2000707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Demographic Shifts</a:t>
              </a:r>
              <a:endParaRPr lang="en-US" sz="1500" dirty="0"/>
            </a:p>
          </p:txBody>
        </p:sp>
        <p:sp>
          <p:nvSpPr>
            <p:cNvPr id="26" name="Text 23"/>
            <p:cNvSpPr txBox="1"/>
            <p:nvPr/>
          </p:nvSpPr>
          <p:spPr>
            <a:xfrm>
              <a:off x="1314907" y="2416759"/>
              <a:ext cx="16431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인구 통계 및 가구 구조 변화</a:t>
              </a:r>
              <a:endParaRPr lang="en-US" sz="1000" dirty="0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775411" y="3079699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1076249" y="3035808"/>
              <a:ext cx="19623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1인 가구 및 맞벌이 비중 확대</a:t>
              </a:r>
              <a:endParaRPr lang="en-US" sz="1200" dirty="0"/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1076249" y="3301898"/>
              <a:ext cx="4729277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1인 가구 비중이 약 36%(역대 최고)에 도달하며, 'Solo Dining'이 보편화됨. 맞벌이 증가로 조리 시간을 단축시켜주는 HMR 의존도가 구조적으로 상승.</a:t>
              </a:r>
              <a:endParaRPr lang="en-US" sz="1000" dirty="0"/>
            </a:p>
          </p:txBody>
        </p:sp>
        <p:sp>
          <p:nvSpPr>
            <p:cNvPr id="30" name="Shape 27"/>
            <p:cNvSpPr/>
            <p:nvPr/>
          </p:nvSpPr>
          <p:spPr>
            <a:xfrm>
              <a:off x="1076249" y="3778301"/>
              <a:ext cx="819302" cy="209398"/>
            </a:xfrm>
            <a:prstGeom prst="roundRect">
              <a:avLst>
                <a:gd name="adj" fmla="val 79396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8"/>
            <p:cNvSpPr txBox="1"/>
            <p:nvPr/>
          </p:nvSpPr>
          <p:spPr>
            <a:xfrm>
              <a:off x="1152144" y="3801161"/>
              <a:ext cx="74706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91B1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Impact: High</a:t>
              </a:r>
              <a:endParaRPr lang="en-US" sz="800" dirty="0"/>
            </a:p>
          </p:txBody>
        </p:sp>
        <p:sp>
          <p:nvSpPr>
            <p:cNvPr id="32" name="Text 29"/>
            <p:cNvSpPr txBox="1"/>
            <p:nvPr/>
          </p:nvSpPr>
          <p:spPr>
            <a:xfrm>
              <a:off x="775411" y="4218127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33" name="Text 30"/>
            <p:cNvSpPr txBox="1"/>
            <p:nvPr/>
          </p:nvSpPr>
          <p:spPr>
            <a:xfrm>
              <a:off x="1076249" y="4174236"/>
              <a:ext cx="24195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Millennial &amp; Gen Z의 구매력 부상</a:t>
              </a:r>
              <a:endParaRPr lang="en-US" sz="1200" dirty="0"/>
            </a:p>
          </p:txBody>
        </p:sp>
        <p:sp>
          <p:nvSpPr>
            <p:cNvPr id="34" name="Text 31"/>
            <p:cNvSpPr txBox="1"/>
            <p:nvPr/>
          </p:nvSpPr>
          <p:spPr>
            <a:xfrm>
              <a:off x="1076249" y="4441241"/>
              <a:ext cx="4700930" cy="5907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새로운 맛(New Flavor)과 경험을 중시하는 MZ세대가 식품 시장의 주류로 진입. 이들은 전통적인 식사보다 간편하면서도 영양가 있는 '스낵킹(Snacking)' 식사 문화를 주도.</a:t>
              </a:r>
              <a:endParaRPr lang="en-US" sz="10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1076249" y="5117897"/>
              <a:ext cx="905256" cy="209398"/>
            </a:xfrm>
            <a:prstGeom prst="roundRect">
              <a:avLst>
                <a:gd name="adj" fmla="val 79396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3"/>
            <p:cNvSpPr txBox="1"/>
            <p:nvPr/>
          </p:nvSpPr>
          <p:spPr>
            <a:xfrm>
              <a:off x="1152144" y="5140757"/>
              <a:ext cx="83301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D4ED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Trend: Growth</a:t>
              </a:r>
              <a:endParaRPr lang="en-US" sz="800" dirty="0"/>
            </a:p>
          </p:txBody>
        </p:sp>
        <p:sp>
          <p:nvSpPr>
            <p:cNvPr id="37" name="Shape 34"/>
            <p:cNvSpPr/>
            <p:nvPr/>
          </p:nvSpPr>
          <p:spPr>
            <a:xfrm>
              <a:off x="694944" y="5513832"/>
              <a:ext cx="5009998" cy="914400"/>
            </a:xfrm>
            <a:prstGeom prst="roundRect">
              <a:avLst>
                <a:gd name="adj" fmla="val 6250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5"/>
            <p:cNvSpPr txBox="1"/>
            <p:nvPr/>
          </p:nvSpPr>
          <p:spPr>
            <a:xfrm>
              <a:off x="857707" y="5675681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39" name="Text 36"/>
            <p:cNvSpPr txBox="1"/>
            <p:nvPr/>
          </p:nvSpPr>
          <p:spPr>
            <a:xfrm>
              <a:off x="857707" y="5885078"/>
              <a:ext cx="4739335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대용량보다는 1인용 소포장(Single-serve) 파우치 및 즉석 컵(Ready-to-Heat Cup) 형태의 제품 라인업 강화 필수.</a:t>
              </a:r>
              <a:endParaRPr lang="en-US" sz="1000" dirty="0"/>
            </a:p>
          </p:txBody>
        </p:sp>
        <p:sp>
          <p:nvSpPr>
            <p:cNvPr id="40" name="Shape 37"/>
            <p:cNvSpPr/>
            <p:nvPr/>
          </p:nvSpPr>
          <p:spPr>
            <a:xfrm>
              <a:off x="6248095" y="1949501"/>
              <a:ext cx="5486400" cy="4724705"/>
            </a:xfrm>
            <a:prstGeom prst="roundRect">
              <a:avLst>
                <a:gd name="adj" fmla="val 312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38"/>
            <p:cNvSpPr/>
            <p:nvPr/>
          </p:nvSpPr>
          <p:spPr>
            <a:xfrm>
              <a:off x="6258154" y="1959559"/>
              <a:ext cx="5467198" cy="847649"/>
            </a:xfrm>
            <a:prstGeom prst="rect">
              <a:avLst/>
            </a:prstGeom>
            <a:noFill/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Shape 39"/>
            <p:cNvSpPr/>
            <p:nvPr/>
          </p:nvSpPr>
          <p:spPr>
            <a:xfrm>
              <a:off x="6495898" y="2149754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3" name="Image 1" descr="preencoded.png"/>
            <p:cNvPicPr>
              <a:picLocks noChangeAspect="1"/>
            </p:cNvPicPr>
            <p:nvPr/>
          </p:nvPicPr>
          <p:blipFill>
            <a:blip r:embed="rId4"/>
            <a:srcRect l="-57" r="-57"/>
            <a:stretch/>
          </p:blipFill>
          <p:spPr>
            <a:xfrm>
              <a:off x="6624828" y="2264054"/>
              <a:ext cx="200254" cy="228600"/>
            </a:xfrm>
            <a:prstGeom prst="rect">
              <a:avLst/>
            </a:prstGeom>
          </p:spPr>
        </p:pic>
        <p:sp>
          <p:nvSpPr>
            <p:cNvPr id="44" name="Text 40"/>
            <p:cNvSpPr txBox="1"/>
            <p:nvPr/>
          </p:nvSpPr>
          <p:spPr>
            <a:xfrm>
              <a:off x="7105802" y="2140610"/>
              <a:ext cx="2410358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Social &amp; Cultural Trends</a:t>
              </a:r>
              <a:endParaRPr lang="en-US" sz="1500" dirty="0"/>
            </a:p>
          </p:txBody>
        </p:sp>
        <p:sp>
          <p:nvSpPr>
            <p:cNvPr id="45" name="Text 41"/>
            <p:cNvSpPr txBox="1"/>
            <p:nvPr/>
          </p:nvSpPr>
          <p:spPr>
            <a:xfrm>
              <a:off x="7105802" y="2416759"/>
              <a:ext cx="18150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라이프스타일 및 문화적 트렌드</a:t>
              </a:r>
              <a:endParaRPr lang="en-US" sz="1000" dirty="0"/>
            </a:p>
          </p:txBody>
        </p:sp>
        <p:sp>
          <p:nvSpPr>
            <p:cNvPr id="46" name="Text 42"/>
            <p:cNvSpPr txBox="1"/>
            <p:nvPr/>
          </p:nvSpPr>
          <p:spPr>
            <a:xfrm>
              <a:off x="6567221" y="3079699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47" name="Text 43"/>
            <p:cNvSpPr txBox="1"/>
            <p:nvPr/>
          </p:nvSpPr>
          <p:spPr>
            <a:xfrm>
              <a:off x="6867144" y="3035808"/>
              <a:ext cx="22485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K-Wave (Hallyu)의 식문화 전이</a:t>
              </a:r>
              <a:endParaRPr lang="en-US" sz="1200" dirty="0"/>
            </a:p>
          </p:txBody>
        </p:sp>
        <p:sp>
          <p:nvSpPr>
            <p:cNvPr id="48" name="Text 44"/>
            <p:cNvSpPr txBox="1"/>
            <p:nvPr/>
          </p:nvSpPr>
          <p:spPr>
            <a:xfrm>
              <a:off x="6867144" y="3301898"/>
              <a:ext cx="4644238" cy="5907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K-Content(드라마, K-Pop) 인기가 K-Food 호기심으로 직결. 떡볶이, 만두에 이어 '한국식 국물 요리'에 대한 심리적 장벽이 낮아지고, 힙(Hip)한 에스닉 푸드로 인식됨.</a:t>
              </a:r>
              <a:endParaRPr lang="en-US" sz="1000" dirty="0"/>
            </a:p>
          </p:txBody>
        </p:sp>
        <p:sp>
          <p:nvSpPr>
            <p:cNvPr id="49" name="Shape 45"/>
            <p:cNvSpPr/>
            <p:nvPr/>
          </p:nvSpPr>
          <p:spPr>
            <a:xfrm>
              <a:off x="6867144" y="3978554"/>
              <a:ext cx="1104595" cy="209398"/>
            </a:xfrm>
            <a:prstGeom prst="roundRect">
              <a:avLst>
                <a:gd name="adj" fmla="val 79396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6"/>
            <p:cNvSpPr txBox="1"/>
            <p:nvPr/>
          </p:nvSpPr>
          <p:spPr>
            <a:xfrm>
              <a:off x="6943954" y="4001414"/>
              <a:ext cx="103327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6653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Opportunity: High</a:t>
              </a:r>
              <a:endParaRPr lang="en-US" sz="800" dirty="0"/>
            </a:p>
          </p:txBody>
        </p:sp>
        <p:sp>
          <p:nvSpPr>
            <p:cNvPr id="51" name="Text 47"/>
            <p:cNvSpPr txBox="1"/>
            <p:nvPr/>
          </p:nvSpPr>
          <p:spPr>
            <a:xfrm>
              <a:off x="6567221" y="4418381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52" name="Text 48"/>
            <p:cNvSpPr txBox="1"/>
            <p:nvPr/>
          </p:nvSpPr>
          <p:spPr>
            <a:xfrm>
              <a:off x="6867144" y="4374490"/>
              <a:ext cx="22677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Wellness &amp; Conscious Eating</a:t>
              </a:r>
              <a:endParaRPr lang="en-US" sz="1200" dirty="0"/>
            </a:p>
          </p:txBody>
        </p:sp>
        <p:sp>
          <p:nvSpPr>
            <p:cNvPr id="53" name="Text 49"/>
            <p:cNvSpPr txBox="1"/>
            <p:nvPr/>
          </p:nvSpPr>
          <p:spPr>
            <a:xfrm>
              <a:off x="6867144" y="4641494"/>
              <a:ext cx="4672584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팬데믹 이후 면역력과 건강에 대한 관심 급증. 단순 허기 해소가 아닌, 고단백·저탄수(Keto)·클린라벨 제품을 선호하며 Bone Broth의 기능성(콜라겐 등)이 주목받음.</a:t>
              </a:r>
              <a:endParaRPr lang="en-US" sz="1000" dirty="0"/>
            </a:p>
          </p:txBody>
        </p:sp>
        <p:sp>
          <p:nvSpPr>
            <p:cNvPr id="54" name="Shape 50"/>
            <p:cNvSpPr/>
            <p:nvPr/>
          </p:nvSpPr>
          <p:spPr>
            <a:xfrm>
              <a:off x="6867144" y="5117897"/>
              <a:ext cx="790956" cy="209398"/>
            </a:xfrm>
            <a:prstGeom prst="roundRect">
              <a:avLst>
                <a:gd name="adj" fmla="val 79396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 51"/>
            <p:cNvSpPr txBox="1"/>
            <p:nvPr/>
          </p:nvSpPr>
          <p:spPr>
            <a:xfrm>
              <a:off x="6943954" y="5140757"/>
              <a:ext cx="71871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D4ED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Trend: Mega</a:t>
              </a:r>
              <a:endParaRPr lang="en-US" sz="800" dirty="0"/>
            </a:p>
          </p:txBody>
        </p:sp>
        <p:sp>
          <p:nvSpPr>
            <p:cNvPr id="56" name="Shape 52"/>
            <p:cNvSpPr/>
            <p:nvPr/>
          </p:nvSpPr>
          <p:spPr>
            <a:xfrm>
              <a:off x="6486754" y="5513832"/>
              <a:ext cx="5009998" cy="914400"/>
            </a:xfrm>
            <a:prstGeom prst="roundRect">
              <a:avLst>
                <a:gd name="adj" fmla="val 6250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53"/>
            <p:cNvSpPr txBox="1"/>
            <p:nvPr/>
          </p:nvSpPr>
          <p:spPr>
            <a:xfrm>
              <a:off x="6648602" y="5675681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58" name="Text 54"/>
            <p:cNvSpPr txBox="1"/>
            <p:nvPr/>
          </p:nvSpPr>
          <p:spPr>
            <a:xfrm>
              <a:off x="6648602" y="5885078"/>
              <a:ext cx="4720133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Bone Broth를 단순 국물이 아닌 '마시는 보양식(Drinkable Wellness)'으로 포지셔닝하고 K-Brand의 힙한 이미지를 결합.</a:t>
              </a:r>
              <a:endParaRPr lang="en-US" sz="1000" dirty="0"/>
            </a:p>
          </p:txBody>
        </p:sp>
        <p:sp>
          <p:nvSpPr>
            <p:cNvPr id="59" name="Shape 55"/>
            <p:cNvSpPr/>
            <p:nvPr/>
          </p:nvSpPr>
          <p:spPr>
            <a:xfrm>
              <a:off x="0" y="6971386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Shape 56"/>
            <p:cNvSpPr/>
            <p:nvPr/>
          </p:nvSpPr>
          <p:spPr>
            <a:xfrm>
              <a:off x="0" y="6971386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57"/>
            <p:cNvSpPr txBox="1"/>
            <p:nvPr/>
          </p:nvSpPr>
          <p:spPr>
            <a:xfrm>
              <a:off x="457199" y="7085686"/>
              <a:ext cx="567659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U.S. Census Bureau (2023), Mintel Global Food Trends, Google Trends Analysis</a:t>
              </a:r>
              <a:endParaRPr lang="en-US" sz="900" dirty="0"/>
            </a:p>
          </p:txBody>
        </p:sp>
      </p:grpSp>
      <p:sp>
        <p:nvSpPr>
          <p:cNvPr id="64" name="Rectangle 13">
            <a:extLst>
              <a:ext uri="{FF2B5EF4-FFF2-40B4-BE49-F238E27FC236}">
                <a16:creationId xmlns:a16="http://schemas.microsoft.com/office/drawing/2014/main" id="{13453CBD-04E0-C0CE-ED9F-A65D4987890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19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ED1FC1DD-A045-A21E-200F-5602221E9D32}"/>
              </a:ext>
            </a:extLst>
          </p:cNvPr>
          <p:cNvGrpSpPr/>
          <p:nvPr/>
        </p:nvGrpSpPr>
        <p:grpSpPr>
          <a:xfrm>
            <a:off x="0" y="1"/>
            <a:ext cx="12191695" cy="6754572"/>
            <a:chOff x="0" y="0"/>
            <a:chExt cx="12191695" cy="7404812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1296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COUNTRY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273638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HPP 등 첨단 가공 기술과 데이터 기반 마케팅이 K-Food의 현지 시장 침투와 스케일업을 가속화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695798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049731" y="1819656"/>
              <a:ext cx="729691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POLITICAL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349094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2931566" y="1819656"/>
              <a:ext cx="748894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ECONOMIC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241902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4930445" y="1819656"/>
              <a:ext cx="53949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SOCIAL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33795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051C2C"/>
            </a:solidFill>
            <a:ln/>
            <a:effectLst>
              <a:outerShdw blurRad="38100" dist="25400" dir="5400000" algn="bl" rotWithShape="0">
                <a:srgbClr val="051C2C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6530645" y="1819656"/>
              <a:ext cx="1120140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TECHNOLOGICAL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026603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8415223" y="1819656"/>
              <a:ext cx="113934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ENVIRONMENTAL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18497" y="1742846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10637215" y="1819656"/>
              <a:ext cx="472745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LEGAL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7200" y="2307031"/>
              <a:ext cx="5486400" cy="4524451"/>
            </a:xfrm>
            <a:prstGeom prst="roundRect">
              <a:avLst>
                <a:gd name="adj" fmla="val 34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466344" y="2316175"/>
              <a:ext cx="5467198" cy="847649"/>
            </a:xfrm>
            <a:prstGeom prst="rect">
              <a:avLst/>
            </a:prstGeom>
            <a:noFill/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705002" y="2507285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0" descr="preencoded.png"/>
            <p:cNvPicPr>
              <a:picLocks noChangeAspect="1"/>
            </p:cNvPicPr>
            <p:nvPr/>
          </p:nvPicPr>
          <p:blipFill>
            <a:blip r:embed="rId3"/>
            <a:srcRect t="-45" b="-45"/>
            <a:stretch/>
          </p:blipFill>
          <p:spPr>
            <a:xfrm>
              <a:off x="804672" y="2621585"/>
              <a:ext cx="256946" cy="228600"/>
            </a:xfrm>
            <a:prstGeom prst="rect">
              <a:avLst/>
            </a:prstGeom>
          </p:spPr>
        </p:pic>
        <p:sp>
          <p:nvSpPr>
            <p:cNvPr id="25" name="Text 22"/>
            <p:cNvSpPr txBox="1"/>
            <p:nvPr/>
          </p:nvSpPr>
          <p:spPr>
            <a:xfrm>
              <a:off x="1314907" y="2497226"/>
              <a:ext cx="259141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Manufacturing &amp; Logistics</a:t>
              </a:r>
              <a:endParaRPr lang="en-US" sz="1500" dirty="0"/>
            </a:p>
          </p:txBody>
        </p:sp>
        <p:sp>
          <p:nvSpPr>
            <p:cNvPr id="26" name="Text 23"/>
            <p:cNvSpPr txBox="1"/>
            <p:nvPr/>
          </p:nvSpPr>
          <p:spPr>
            <a:xfrm>
              <a:off x="1314907" y="2773375"/>
              <a:ext cx="17675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생산 공정 및 물류 인프라 혁신</a:t>
              </a:r>
              <a:endParaRPr lang="en-US" sz="1000" dirty="0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775411" y="3436315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1076249" y="3392424"/>
              <a:ext cx="24487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HPP(초고압 살균) 및 포장 기술 혁신</a:t>
              </a:r>
              <a:endParaRPr lang="en-US" sz="1200" dirty="0"/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1076249" y="3659429"/>
              <a:ext cx="4586630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가열 없는 살균으로 영양과 맛을 보존하는 HPP 기술과 전자레인지 겸용 파우치 등 패키징 기술이 '프리미엄 신선 HMR' 구현의 핵심.</a:t>
              </a:r>
              <a:endParaRPr lang="en-US" sz="1000" dirty="0"/>
            </a:p>
          </p:txBody>
        </p:sp>
        <p:sp>
          <p:nvSpPr>
            <p:cNvPr id="30" name="Shape 27"/>
            <p:cNvSpPr/>
            <p:nvPr/>
          </p:nvSpPr>
          <p:spPr>
            <a:xfrm>
              <a:off x="1076249" y="4135831"/>
              <a:ext cx="1104595" cy="209398"/>
            </a:xfrm>
            <a:prstGeom prst="roundRect">
              <a:avLst>
                <a:gd name="adj" fmla="val 79396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8"/>
            <p:cNvSpPr txBox="1"/>
            <p:nvPr/>
          </p:nvSpPr>
          <p:spPr>
            <a:xfrm>
              <a:off x="1152144" y="4158691"/>
              <a:ext cx="103327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6653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Opportunity: High</a:t>
              </a:r>
              <a:endParaRPr lang="en-US" sz="800" dirty="0"/>
            </a:p>
          </p:txBody>
        </p:sp>
        <p:sp>
          <p:nvSpPr>
            <p:cNvPr id="32" name="Text 29"/>
            <p:cNvSpPr txBox="1"/>
            <p:nvPr/>
          </p:nvSpPr>
          <p:spPr>
            <a:xfrm>
              <a:off x="775411" y="4575658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33" name="Text 30"/>
            <p:cNvSpPr txBox="1"/>
            <p:nvPr/>
          </p:nvSpPr>
          <p:spPr>
            <a:xfrm>
              <a:off x="1076249" y="4531766"/>
              <a:ext cx="26197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스마트 콜드체인 (Smart Cold Chain)</a:t>
              </a:r>
              <a:endParaRPr lang="en-US" sz="1200" dirty="0"/>
            </a:p>
          </p:txBody>
        </p:sp>
        <p:sp>
          <p:nvSpPr>
            <p:cNvPr id="34" name="Text 31"/>
            <p:cNvSpPr txBox="1"/>
            <p:nvPr/>
          </p:nvSpPr>
          <p:spPr>
            <a:xfrm>
              <a:off x="1076249" y="4798771"/>
              <a:ext cx="4710989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IoT 기반 실시간 온도 모니터링 및 라스트마일 배송 최적화로, 한국 생산 제품의 대미 수출 및 내륙 운송 시 신선도 유지 리스크 최소화.</a:t>
              </a:r>
              <a:endParaRPr lang="en-US" sz="10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1076249" y="5275174"/>
              <a:ext cx="961949" cy="209398"/>
            </a:xfrm>
            <a:prstGeom prst="roundRect">
              <a:avLst>
                <a:gd name="adj" fmla="val 79396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3"/>
            <p:cNvSpPr txBox="1"/>
            <p:nvPr/>
          </p:nvSpPr>
          <p:spPr>
            <a:xfrm>
              <a:off x="1152144" y="5297119"/>
              <a:ext cx="88971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6653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Efficiency: High</a:t>
              </a:r>
              <a:endParaRPr lang="en-US" sz="800" dirty="0"/>
            </a:p>
          </p:txBody>
        </p:sp>
        <p:sp>
          <p:nvSpPr>
            <p:cNvPr id="37" name="Shape 34"/>
            <p:cNvSpPr/>
            <p:nvPr/>
          </p:nvSpPr>
          <p:spPr>
            <a:xfrm>
              <a:off x="694944" y="5861304"/>
              <a:ext cx="5009998" cy="724205"/>
            </a:xfrm>
            <a:prstGeom prst="roundRect">
              <a:avLst>
                <a:gd name="adj" fmla="val 9968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5"/>
            <p:cNvSpPr txBox="1"/>
            <p:nvPr/>
          </p:nvSpPr>
          <p:spPr>
            <a:xfrm>
              <a:off x="857707" y="6023153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39" name="Text 36"/>
            <p:cNvSpPr txBox="1"/>
            <p:nvPr/>
          </p:nvSpPr>
          <p:spPr>
            <a:xfrm>
              <a:off x="857707" y="6232550"/>
              <a:ext cx="47868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Bone Broth의 '신선한 맛' 소구점을 위해 HPP 적용 검토 및 콜드체인 파트너십 확보.</a:t>
              </a:r>
              <a:endParaRPr lang="en-US" sz="1000" dirty="0"/>
            </a:p>
          </p:txBody>
        </p:sp>
        <p:sp>
          <p:nvSpPr>
            <p:cNvPr id="40" name="Shape 37"/>
            <p:cNvSpPr/>
            <p:nvPr/>
          </p:nvSpPr>
          <p:spPr>
            <a:xfrm>
              <a:off x="6248095" y="2307031"/>
              <a:ext cx="5486400" cy="4524451"/>
            </a:xfrm>
            <a:prstGeom prst="roundRect">
              <a:avLst>
                <a:gd name="adj" fmla="val 34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38"/>
            <p:cNvSpPr/>
            <p:nvPr/>
          </p:nvSpPr>
          <p:spPr>
            <a:xfrm>
              <a:off x="6258154" y="2316175"/>
              <a:ext cx="5467198" cy="847649"/>
            </a:xfrm>
            <a:prstGeom prst="rect">
              <a:avLst/>
            </a:prstGeom>
            <a:noFill/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Shape 39"/>
            <p:cNvSpPr/>
            <p:nvPr/>
          </p:nvSpPr>
          <p:spPr>
            <a:xfrm>
              <a:off x="6495898" y="2507285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40"/>
            <p:cNvSpPr txBox="1"/>
            <p:nvPr/>
          </p:nvSpPr>
          <p:spPr>
            <a:xfrm>
              <a:off x="7105802" y="2497226"/>
              <a:ext cx="1800454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Digital &amp; MarTech</a:t>
              </a:r>
              <a:endParaRPr lang="en-US" sz="1500" dirty="0"/>
            </a:p>
          </p:txBody>
        </p:sp>
        <p:sp>
          <p:nvSpPr>
            <p:cNvPr id="44" name="Text 41"/>
            <p:cNvSpPr txBox="1"/>
            <p:nvPr/>
          </p:nvSpPr>
          <p:spPr>
            <a:xfrm>
              <a:off x="7105802" y="2773375"/>
              <a:ext cx="17291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디지털 전환 및 데이터 마케팅</a:t>
              </a:r>
              <a:endParaRPr lang="en-US" sz="1000" dirty="0"/>
            </a:p>
          </p:txBody>
        </p:sp>
        <p:sp>
          <p:nvSpPr>
            <p:cNvPr id="45" name="Text 42"/>
            <p:cNvSpPr txBox="1"/>
            <p:nvPr/>
          </p:nvSpPr>
          <p:spPr>
            <a:xfrm>
              <a:off x="6567221" y="3436315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46" name="Text 43"/>
            <p:cNvSpPr txBox="1"/>
            <p:nvPr/>
          </p:nvSpPr>
          <p:spPr>
            <a:xfrm>
              <a:off x="6867144" y="3392424"/>
              <a:ext cx="19723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이커머스 및 구독 모델 급성장</a:t>
              </a:r>
              <a:endParaRPr lang="en-US" sz="1200" dirty="0"/>
            </a:p>
          </p:txBody>
        </p:sp>
        <p:sp>
          <p:nvSpPr>
            <p:cNvPr id="47" name="Text 44"/>
            <p:cNvSpPr txBox="1"/>
            <p:nvPr/>
          </p:nvSpPr>
          <p:spPr>
            <a:xfrm>
              <a:off x="6867144" y="3659429"/>
              <a:ext cx="4634179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Amazon, Weee! 등 플랫폼 외에도 자사몰(D2C)을 통한 정기 구독(Subscription) 모델이 Bone Broth와 같은 일상 건강식의 주요 구매 채널로 부상.</a:t>
              </a:r>
              <a:endParaRPr lang="en-US" sz="1000" dirty="0"/>
            </a:p>
          </p:txBody>
        </p:sp>
        <p:sp>
          <p:nvSpPr>
            <p:cNvPr id="48" name="Shape 45"/>
            <p:cNvSpPr/>
            <p:nvPr/>
          </p:nvSpPr>
          <p:spPr>
            <a:xfrm>
              <a:off x="6867144" y="4135831"/>
              <a:ext cx="952805" cy="209398"/>
            </a:xfrm>
            <a:prstGeom prst="roundRect">
              <a:avLst>
                <a:gd name="adj" fmla="val 79396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6"/>
            <p:cNvSpPr txBox="1"/>
            <p:nvPr/>
          </p:nvSpPr>
          <p:spPr>
            <a:xfrm>
              <a:off x="6943954" y="4158691"/>
              <a:ext cx="88056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6653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Trend: Growing</a:t>
              </a:r>
              <a:endParaRPr lang="en-US" sz="800" dirty="0"/>
            </a:p>
          </p:txBody>
        </p:sp>
        <p:sp>
          <p:nvSpPr>
            <p:cNvPr id="50" name="Text 47"/>
            <p:cNvSpPr txBox="1"/>
            <p:nvPr/>
          </p:nvSpPr>
          <p:spPr>
            <a:xfrm>
              <a:off x="6567221" y="4575658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51" name="Text 48"/>
            <p:cNvSpPr txBox="1"/>
            <p:nvPr/>
          </p:nvSpPr>
          <p:spPr>
            <a:xfrm>
              <a:off x="6867144" y="4531766"/>
              <a:ext cx="18672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MarTech 기반 정밀 타겟팅</a:t>
              </a:r>
              <a:endParaRPr lang="en-US" sz="1200" dirty="0"/>
            </a:p>
          </p:txBody>
        </p:sp>
        <p:sp>
          <p:nvSpPr>
            <p:cNvPr id="52" name="Text 49"/>
            <p:cNvSpPr txBox="1"/>
            <p:nvPr/>
          </p:nvSpPr>
          <p:spPr>
            <a:xfrm>
              <a:off x="6867144" y="4798771"/>
              <a:ext cx="4691786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빅데이터 분석을 통해 'Keto', 'Paleo', 'Intermittent Fasting' 등 특정 식이요법 관심군을 정밀 타겟팅하여 마케팅 ROI 극대화 가능.</a:t>
              </a:r>
              <a:endParaRPr lang="en-US" sz="1000" dirty="0"/>
            </a:p>
          </p:txBody>
        </p:sp>
        <p:sp>
          <p:nvSpPr>
            <p:cNvPr id="53" name="Shape 50"/>
            <p:cNvSpPr/>
            <p:nvPr/>
          </p:nvSpPr>
          <p:spPr>
            <a:xfrm>
              <a:off x="6867144" y="5275174"/>
              <a:ext cx="961949" cy="209398"/>
            </a:xfrm>
            <a:prstGeom prst="roundRect">
              <a:avLst>
                <a:gd name="adj" fmla="val 79396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51"/>
            <p:cNvSpPr txBox="1"/>
            <p:nvPr/>
          </p:nvSpPr>
          <p:spPr>
            <a:xfrm>
              <a:off x="6943954" y="5297119"/>
              <a:ext cx="88971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6653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Efficiency: High</a:t>
              </a:r>
              <a:endParaRPr lang="en-US" sz="800" dirty="0"/>
            </a:p>
          </p:txBody>
        </p:sp>
        <p:sp>
          <p:nvSpPr>
            <p:cNvPr id="55" name="Shape 52"/>
            <p:cNvSpPr/>
            <p:nvPr/>
          </p:nvSpPr>
          <p:spPr>
            <a:xfrm>
              <a:off x="6486754" y="5671109"/>
              <a:ext cx="5009998" cy="914400"/>
            </a:xfrm>
            <a:prstGeom prst="roundRect">
              <a:avLst>
                <a:gd name="adj" fmla="val 6250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53"/>
            <p:cNvSpPr txBox="1"/>
            <p:nvPr/>
          </p:nvSpPr>
          <p:spPr>
            <a:xfrm>
              <a:off x="6648602" y="5832958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57" name="Text 54"/>
            <p:cNvSpPr txBox="1"/>
            <p:nvPr/>
          </p:nvSpPr>
          <p:spPr>
            <a:xfrm>
              <a:off x="6648602" y="6042355"/>
              <a:ext cx="476768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초기 진입 시 D2C 채널을 통해 고객 데이터를 확보하고, 타겟 세그먼트별 맞춤형 광고 집행.</a:t>
              </a:r>
              <a:endParaRPr lang="en-US" sz="1000" dirty="0"/>
            </a:p>
          </p:txBody>
        </p:sp>
        <p:sp>
          <p:nvSpPr>
            <p:cNvPr id="59" name="Shape 56"/>
            <p:cNvSpPr/>
            <p:nvPr/>
          </p:nvSpPr>
          <p:spPr>
            <a:xfrm>
              <a:off x="0" y="7127748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 57"/>
            <p:cNvSpPr txBox="1"/>
            <p:nvPr/>
          </p:nvSpPr>
          <p:spPr>
            <a:xfrm>
              <a:off x="457199" y="7242049"/>
              <a:ext cx="567659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Statista E-commerce Report 2024, Gartner Supply Chain Trends, 업로드 보고서 종합</a:t>
              </a:r>
              <a:endParaRPr lang="en-US" sz="900" dirty="0"/>
            </a:p>
          </p:txBody>
        </p:sp>
      </p:grpSp>
      <p:sp>
        <p:nvSpPr>
          <p:cNvPr id="63" name="Rectangle 13">
            <a:extLst>
              <a:ext uri="{FF2B5EF4-FFF2-40B4-BE49-F238E27FC236}">
                <a16:creationId xmlns:a16="http://schemas.microsoft.com/office/drawing/2014/main" id="{FAF5BEB4-2BB8-9951-29F5-7E9CDFD34E3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그룹 62">
            <a:extLst>
              <a:ext uri="{FF2B5EF4-FFF2-40B4-BE49-F238E27FC236}">
                <a16:creationId xmlns:a16="http://schemas.microsoft.com/office/drawing/2014/main" id="{9A8757B1-73A9-1EFB-8DC5-2A903769FB7D}"/>
              </a:ext>
            </a:extLst>
          </p:cNvPr>
          <p:cNvGrpSpPr/>
          <p:nvPr/>
        </p:nvGrpSpPr>
        <p:grpSpPr>
          <a:xfrm>
            <a:off x="0" y="1"/>
            <a:ext cx="12191695" cy="6740664"/>
            <a:chOff x="0" y="0"/>
            <a:chExt cx="12191695" cy="7039051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086307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047902"/>
              <a:ext cx="12191695" cy="38405"/>
            </a:xfrm>
            <a:prstGeom prst="rect">
              <a:avLst/>
            </a:prstGeom>
            <a:solidFill>
              <a:srgbClr val="16A34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1296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COUNTRY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0148926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친환경 포장 규제와 ESG 경영 요구가 미국 유통망 진입의 새로운 필수 요건으로 부상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080821"/>
              <a:ext cx="12191695" cy="5695798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049731" y="1462126"/>
              <a:ext cx="729691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POLITICAL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349094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2931566" y="1462126"/>
              <a:ext cx="748894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ECONOMIC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241902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4930445" y="1462126"/>
              <a:ext cx="53949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SOCIAL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33795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6530645" y="1462126"/>
              <a:ext cx="1120140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TECHNOLOGICAL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026603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051C2C"/>
            </a:solidFill>
            <a:ln/>
            <a:effectLst>
              <a:outerShdw blurRad="38100" dist="25400" dir="5400000" algn="bl" rotWithShape="0">
                <a:srgbClr val="051C2C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8415223" y="1462126"/>
              <a:ext cx="113934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ENVIRONMENTAL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18497" y="1386230"/>
              <a:ext cx="1819656" cy="342900"/>
            </a:xfrm>
            <a:prstGeom prst="roundRect">
              <a:avLst>
                <a:gd name="adj" fmla="val 2963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10637215" y="1462126"/>
              <a:ext cx="472745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LEGAL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7200" y="1949501"/>
              <a:ext cx="5486400" cy="4524451"/>
            </a:xfrm>
            <a:prstGeom prst="roundRect">
              <a:avLst>
                <a:gd name="adj" fmla="val 34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466344" y="1959559"/>
              <a:ext cx="5467198" cy="847649"/>
            </a:xfrm>
            <a:prstGeom prst="rect">
              <a:avLst/>
            </a:prstGeom>
            <a:noFill/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705002" y="2149754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19302" y="2264054"/>
              <a:ext cx="228600" cy="228600"/>
            </a:xfrm>
            <a:prstGeom prst="rect">
              <a:avLst/>
            </a:prstGeom>
          </p:spPr>
        </p:pic>
        <p:sp>
          <p:nvSpPr>
            <p:cNvPr id="25" name="Text 22"/>
            <p:cNvSpPr txBox="1"/>
            <p:nvPr/>
          </p:nvSpPr>
          <p:spPr>
            <a:xfrm>
              <a:off x="1314907" y="2140610"/>
              <a:ext cx="2334463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Eco-Friendly Packaging</a:t>
              </a:r>
              <a:endParaRPr lang="en-US" sz="1500" dirty="0"/>
            </a:p>
          </p:txBody>
        </p:sp>
        <p:sp>
          <p:nvSpPr>
            <p:cNvPr id="26" name="Text 23"/>
            <p:cNvSpPr txBox="1"/>
            <p:nvPr/>
          </p:nvSpPr>
          <p:spPr>
            <a:xfrm>
              <a:off x="1314907" y="2416759"/>
              <a:ext cx="16056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포장재 규제 및 폐기물 관리</a:t>
              </a:r>
              <a:endParaRPr lang="en-US" sz="1000" dirty="0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775411" y="3079699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1076249" y="3035808"/>
              <a:ext cx="21150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플라스틱 감축 및 재활용 의무화</a:t>
              </a:r>
              <a:endParaRPr lang="en-US" sz="1200" dirty="0"/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1076249" y="3301898"/>
              <a:ext cx="4672584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캘리포니아 SB 54 등 주요 주에서 일회용 플라스틱 규제 강화. HMR 파우치 및 용기의 재활용 가능(Recyclable) 또는 생분해 소재 전환 압력 증대.</a:t>
              </a:r>
              <a:endParaRPr lang="en-US" sz="1000" dirty="0"/>
            </a:p>
          </p:txBody>
        </p:sp>
        <p:sp>
          <p:nvSpPr>
            <p:cNvPr id="30" name="Shape 27"/>
            <p:cNvSpPr/>
            <p:nvPr/>
          </p:nvSpPr>
          <p:spPr>
            <a:xfrm>
              <a:off x="1076249" y="3778301"/>
              <a:ext cx="819302" cy="209398"/>
            </a:xfrm>
            <a:prstGeom prst="roundRect">
              <a:avLst>
                <a:gd name="adj" fmla="val 79396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8"/>
            <p:cNvSpPr txBox="1"/>
            <p:nvPr/>
          </p:nvSpPr>
          <p:spPr>
            <a:xfrm>
              <a:off x="1152144" y="3801161"/>
              <a:ext cx="74706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91B1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Impact: High</a:t>
              </a:r>
              <a:endParaRPr lang="en-US" sz="800" dirty="0"/>
            </a:p>
          </p:txBody>
        </p:sp>
        <p:sp>
          <p:nvSpPr>
            <p:cNvPr id="32" name="Text 29"/>
            <p:cNvSpPr txBox="1"/>
            <p:nvPr/>
          </p:nvSpPr>
          <p:spPr>
            <a:xfrm>
              <a:off x="775411" y="4218127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33" name="Text 30"/>
            <p:cNvSpPr txBox="1"/>
            <p:nvPr/>
          </p:nvSpPr>
          <p:spPr>
            <a:xfrm>
              <a:off x="1076249" y="4174236"/>
              <a:ext cx="24862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Sustainable Packaging Demand</a:t>
              </a:r>
              <a:endParaRPr lang="en-US" sz="1200" dirty="0"/>
            </a:p>
          </p:txBody>
        </p:sp>
        <p:sp>
          <p:nvSpPr>
            <p:cNvPr id="34" name="Text 31"/>
            <p:cNvSpPr txBox="1"/>
            <p:nvPr/>
          </p:nvSpPr>
          <p:spPr>
            <a:xfrm>
              <a:off x="1076249" y="4441241"/>
              <a:ext cx="4614977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밀레니얼 및 Z세대 소비자들은 과대포장을 기피하고 'Eco-friendly' 라벨이 부착된 제품을 선호하는 경향 뚜렷.</a:t>
              </a:r>
              <a:endParaRPr lang="en-US" sz="10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1076249" y="4917643"/>
              <a:ext cx="1276502" cy="209398"/>
            </a:xfrm>
            <a:prstGeom prst="roundRect">
              <a:avLst>
                <a:gd name="adj" fmla="val 79396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3"/>
            <p:cNvSpPr txBox="1"/>
            <p:nvPr/>
          </p:nvSpPr>
          <p:spPr>
            <a:xfrm>
              <a:off x="1152144" y="4940503"/>
              <a:ext cx="120426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Opportunity: Medium</a:t>
              </a:r>
              <a:endParaRPr lang="en-US" sz="800" dirty="0"/>
            </a:p>
          </p:txBody>
        </p:sp>
        <p:sp>
          <p:nvSpPr>
            <p:cNvPr id="37" name="Shape 34"/>
            <p:cNvSpPr/>
            <p:nvPr/>
          </p:nvSpPr>
          <p:spPr>
            <a:xfrm>
              <a:off x="694944" y="5313578"/>
              <a:ext cx="5009998" cy="914400"/>
            </a:xfrm>
            <a:prstGeom prst="roundRect">
              <a:avLst>
                <a:gd name="adj" fmla="val 6250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5"/>
            <p:cNvSpPr txBox="1"/>
            <p:nvPr/>
          </p:nvSpPr>
          <p:spPr>
            <a:xfrm>
              <a:off x="857707" y="5475427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39" name="Text 36"/>
            <p:cNvSpPr txBox="1"/>
            <p:nvPr/>
          </p:nvSpPr>
          <p:spPr>
            <a:xfrm>
              <a:off x="857707" y="5684825"/>
              <a:ext cx="4691786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PCR(재생 플라스틱) 소재 도입 및 'Easy-peel' 라벨 적용으로 친환경성 강조 패키징 개발.</a:t>
              </a:r>
              <a:endParaRPr lang="en-US" sz="1000" dirty="0"/>
            </a:p>
          </p:txBody>
        </p:sp>
        <p:sp>
          <p:nvSpPr>
            <p:cNvPr id="40" name="Shape 37"/>
            <p:cNvSpPr/>
            <p:nvPr/>
          </p:nvSpPr>
          <p:spPr>
            <a:xfrm>
              <a:off x="6248095" y="1949501"/>
              <a:ext cx="5486400" cy="4524451"/>
            </a:xfrm>
            <a:prstGeom prst="roundRect">
              <a:avLst>
                <a:gd name="adj" fmla="val 34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38"/>
            <p:cNvSpPr/>
            <p:nvPr/>
          </p:nvSpPr>
          <p:spPr>
            <a:xfrm>
              <a:off x="6258154" y="1959559"/>
              <a:ext cx="5467198" cy="847649"/>
            </a:xfrm>
            <a:prstGeom prst="rect">
              <a:avLst/>
            </a:prstGeom>
            <a:noFill/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Shape 39"/>
            <p:cNvSpPr/>
            <p:nvPr/>
          </p:nvSpPr>
          <p:spPr>
            <a:xfrm>
              <a:off x="6495898" y="2149754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3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610198" y="2264054"/>
              <a:ext cx="228600" cy="228600"/>
            </a:xfrm>
            <a:prstGeom prst="rect">
              <a:avLst/>
            </a:prstGeom>
          </p:spPr>
        </p:pic>
        <p:sp>
          <p:nvSpPr>
            <p:cNvPr id="44" name="Text 40"/>
            <p:cNvSpPr txBox="1"/>
            <p:nvPr/>
          </p:nvSpPr>
          <p:spPr>
            <a:xfrm>
              <a:off x="7105802" y="2140610"/>
              <a:ext cx="18196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Supply Chain ESG</a:t>
              </a:r>
              <a:endParaRPr lang="en-US" sz="1500" dirty="0"/>
            </a:p>
          </p:txBody>
        </p:sp>
        <p:sp>
          <p:nvSpPr>
            <p:cNvPr id="45" name="Text 41"/>
            <p:cNvSpPr txBox="1"/>
            <p:nvPr/>
          </p:nvSpPr>
          <p:spPr>
            <a:xfrm>
              <a:off x="7105802" y="2416759"/>
              <a:ext cx="17291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공급망 탄력성 및 탄소 발자국</a:t>
              </a:r>
              <a:endParaRPr lang="en-US" sz="1000" dirty="0"/>
            </a:p>
          </p:txBody>
        </p:sp>
        <p:sp>
          <p:nvSpPr>
            <p:cNvPr id="46" name="Text 42"/>
            <p:cNvSpPr txBox="1"/>
            <p:nvPr/>
          </p:nvSpPr>
          <p:spPr>
            <a:xfrm>
              <a:off x="6567221" y="3079699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47" name="Text 43"/>
            <p:cNvSpPr txBox="1"/>
            <p:nvPr/>
          </p:nvSpPr>
          <p:spPr>
            <a:xfrm>
              <a:off x="6867144" y="3035808"/>
              <a:ext cx="26005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탄소 발자국(Carbon Footprint) 저감</a:t>
              </a:r>
              <a:endParaRPr lang="en-US" sz="1200" dirty="0"/>
            </a:p>
          </p:txBody>
        </p:sp>
        <p:sp>
          <p:nvSpPr>
            <p:cNvPr id="48" name="Text 44"/>
            <p:cNvSpPr txBox="1"/>
            <p:nvPr/>
          </p:nvSpPr>
          <p:spPr>
            <a:xfrm>
              <a:off x="6867144" y="3301898"/>
              <a:ext cx="4653382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월마트(Gigaton Project) 등 대형 유통사는 공급업체에게 Scope 3 탄소 배출량 감축 및 투명한 데이터 공개를 요구.</a:t>
              </a:r>
              <a:endParaRPr lang="en-US" sz="1000" dirty="0"/>
            </a:p>
          </p:txBody>
        </p:sp>
        <p:sp>
          <p:nvSpPr>
            <p:cNvPr id="49" name="Shape 45"/>
            <p:cNvSpPr/>
            <p:nvPr/>
          </p:nvSpPr>
          <p:spPr>
            <a:xfrm>
              <a:off x="6867144" y="3778301"/>
              <a:ext cx="1067105" cy="209398"/>
            </a:xfrm>
            <a:prstGeom prst="roundRect">
              <a:avLst>
                <a:gd name="adj" fmla="val 79396"/>
              </a:avLst>
            </a:prstGeom>
            <a:solidFill>
              <a:srgbClr val="FFEDD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6"/>
            <p:cNvSpPr txBox="1"/>
            <p:nvPr/>
          </p:nvSpPr>
          <p:spPr>
            <a:xfrm>
              <a:off x="6943954" y="3801161"/>
              <a:ext cx="99486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A3412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Urgency: Medium</a:t>
              </a:r>
              <a:endParaRPr lang="en-US" sz="800" dirty="0"/>
            </a:p>
          </p:txBody>
        </p:sp>
        <p:sp>
          <p:nvSpPr>
            <p:cNvPr id="51" name="Text 47"/>
            <p:cNvSpPr txBox="1"/>
            <p:nvPr/>
          </p:nvSpPr>
          <p:spPr>
            <a:xfrm>
              <a:off x="6567221" y="4218127"/>
              <a:ext cx="1627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52" name="Text 48"/>
            <p:cNvSpPr txBox="1"/>
            <p:nvPr/>
          </p:nvSpPr>
          <p:spPr>
            <a:xfrm>
              <a:off x="6867144" y="4174236"/>
              <a:ext cx="21150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기후 변화와 원재료 소싱 리스크</a:t>
              </a:r>
              <a:endParaRPr lang="en-US" sz="1200" dirty="0"/>
            </a:p>
          </p:txBody>
        </p:sp>
        <p:sp>
          <p:nvSpPr>
            <p:cNvPr id="53" name="Text 49"/>
            <p:cNvSpPr txBox="1"/>
            <p:nvPr/>
          </p:nvSpPr>
          <p:spPr>
            <a:xfrm>
              <a:off x="6867144" y="4441241"/>
              <a:ext cx="4710989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이상 기후로 인한 농축산물 가격 변동성 확대. Bone Broth의 핵심인 사골/우골 등의 안정적 수급을 위한 공급망 다변화 필요.</a:t>
              </a:r>
              <a:endParaRPr lang="en-US" sz="1000" dirty="0"/>
            </a:p>
          </p:txBody>
        </p:sp>
        <p:sp>
          <p:nvSpPr>
            <p:cNvPr id="54" name="Shape 50"/>
            <p:cNvSpPr/>
            <p:nvPr/>
          </p:nvSpPr>
          <p:spPr>
            <a:xfrm>
              <a:off x="6867144" y="4917643"/>
              <a:ext cx="676656" cy="209398"/>
            </a:xfrm>
            <a:prstGeom prst="roundRect">
              <a:avLst>
                <a:gd name="adj" fmla="val 79396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 51"/>
            <p:cNvSpPr txBox="1"/>
            <p:nvPr/>
          </p:nvSpPr>
          <p:spPr>
            <a:xfrm>
              <a:off x="6943954" y="4940503"/>
              <a:ext cx="60441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91B1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Risk: High</a:t>
              </a:r>
              <a:endParaRPr lang="en-US" sz="800" dirty="0"/>
            </a:p>
          </p:txBody>
        </p:sp>
        <p:sp>
          <p:nvSpPr>
            <p:cNvPr id="56" name="Shape 52"/>
            <p:cNvSpPr/>
            <p:nvPr/>
          </p:nvSpPr>
          <p:spPr>
            <a:xfrm>
              <a:off x="6486754" y="5313578"/>
              <a:ext cx="5009998" cy="914400"/>
            </a:xfrm>
            <a:prstGeom prst="roundRect">
              <a:avLst>
                <a:gd name="adj" fmla="val 6250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53"/>
            <p:cNvSpPr txBox="1"/>
            <p:nvPr/>
          </p:nvSpPr>
          <p:spPr>
            <a:xfrm>
              <a:off x="6648602" y="5475427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58" name="Text 54"/>
            <p:cNvSpPr txBox="1"/>
            <p:nvPr/>
          </p:nvSpPr>
          <p:spPr>
            <a:xfrm>
              <a:off x="6648602" y="5684825"/>
              <a:ext cx="470093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원재료 소싱의 윤리성(Ethical Sourcing) 증명 및 탄소 배출 저감을 위한 현지 생산/코패킹 적극 검토.</a:t>
              </a:r>
              <a:endParaRPr lang="en-US" sz="1000" dirty="0"/>
            </a:p>
          </p:txBody>
        </p:sp>
        <p:sp>
          <p:nvSpPr>
            <p:cNvPr id="60" name="Shape 56"/>
            <p:cNvSpPr/>
            <p:nvPr/>
          </p:nvSpPr>
          <p:spPr>
            <a:xfrm>
              <a:off x="0" y="6771132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57"/>
            <p:cNvSpPr txBox="1"/>
            <p:nvPr/>
          </p:nvSpPr>
          <p:spPr>
            <a:xfrm>
              <a:off x="457200" y="6885432"/>
              <a:ext cx="6029554" cy="153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EPA Sustainable Materials Management, Walmart Sustainability Hub, McKinsey ESG Report</a:t>
              </a:r>
              <a:endParaRPr lang="en-US" sz="900" dirty="0"/>
            </a:p>
          </p:txBody>
        </p:sp>
      </p:grpSp>
      <p:sp>
        <p:nvSpPr>
          <p:cNvPr id="64" name="Rectangle 13">
            <a:extLst>
              <a:ext uri="{FF2B5EF4-FFF2-40B4-BE49-F238E27FC236}">
                <a16:creationId xmlns:a16="http://schemas.microsoft.com/office/drawing/2014/main" id="{5E4B4527-CD7D-070E-1363-7F75B102453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21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그룹 62">
            <a:extLst>
              <a:ext uri="{FF2B5EF4-FFF2-40B4-BE49-F238E27FC236}">
                <a16:creationId xmlns:a16="http://schemas.microsoft.com/office/drawing/2014/main" id="{06F170FD-6C0B-832C-9861-596DCE253260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736915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1296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COUNTRY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463833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한국-미국 간 지리적·행정적 거리는 주요 장벽이나, </a:t>
              </a:r>
            </a:p>
            <a:p>
              <a:pPr marL="0" indent="0" algn="l">
                <a:buNone/>
              </a:pP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경제적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기회와 문화적 수용성 확대로 시장 매력도는 상승 중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544007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5486400" cy="4781398"/>
            </a:xfrm>
            <a:prstGeom prst="roundRect">
              <a:avLst>
                <a:gd name="adj" fmla="val 30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828800"/>
              <a:ext cx="5467198" cy="694944"/>
            </a:xfrm>
            <a:prstGeom prst="rect">
              <a:avLst/>
            </a:prstGeom>
            <a:solidFill>
              <a:srgbClr val="F8FAFC"/>
            </a:solidFill>
            <a:ln w="50800">
              <a:solidFill>
                <a:srgbClr val="051C2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94944" y="2100377"/>
              <a:ext cx="190195" cy="190195"/>
            </a:xfrm>
            <a:prstGeom prst="rect">
              <a:avLst/>
            </a:prstGeom>
          </p:spPr>
        </p:pic>
        <p:sp>
          <p:nvSpPr>
            <p:cNvPr id="12" name="Text 9"/>
            <p:cNvSpPr txBox="1"/>
            <p:nvPr/>
          </p:nvSpPr>
          <p:spPr>
            <a:xfrm>
              <a:off x="961949" y="2048256"/>
              <a:ext cx="3020263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Soft Factors (Culture &amp; Admin)</a:t>
              </a:r>
              <a:endParaRPr lang="en-US" sz="15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694944" y="4515307"/>
              <a:ext cx="5009998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1"/>
            <p:cNvSpPr/>
            <p:nvPr/>
          </p:nvSpPr>
          <p:spPr>
            <a:xfrm>
              <a:off x="694944" y="2752344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FEF2F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rcRect l="-80" r="-80"/>
            <a:stretch/>
          </p:blipFill>
          <p:spPr>
            <a:xfrm>
              <a:off x="790956" y="2876702"/>
              <a:ext cx="286207" cy="228600"/>
            </a:xfrm>
            <a:prstGeom prst="rect">
              <a:avLst/>
            </a:prstGeom>
          </p:spPr>
        </p:pic>
        <p:sp>
          <p:nvSpPr>
            <p:cNvPr id="16" name="Text 12"/>
            <p:cNvSpPr txBox="1"/>
            <p:nvPr/>
          </p:nvSpPr>
          <p:spPr>
            <a:xfrm>
              <a:off x="1362456" y="2752344"/>
              <a:ext cx="1802282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C: Cultural Distance</a:t>
              </a:r>
              <a:endParaRPr lang="en-US" sz="1300" dirty="0"/>
            </a:p>
          </p:txBody>
        </p:sp>
        <p:sp>
          <p:nvSpPr>
            <p:cNvPr id="17" name="Shape 13"/>
            <p:cNvSpPr/>
            <p:nvPr/>
          </p:nvSpPr>
          <p:spPr>
            <a:xfrm>
              <a:off x="4481474" y="2758745"/>
              <a:ext cx="1228954" cy="247802"/>
            </a:xfrm>
            <a:prstGeom prst="roundRect">
              <a:avLst>
                <a:gd name="adj" fmla="val 369004"/>
              </a:avLst>
            </a:prstGeom>
            <a:solidFill>
              <a:srgbClr val="FFEDD5"/>
            </a:solidFill>
            <a:ln w="12700">
              <a:solidFill>
                <a:srgbClr val="FDBA7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4"/>
            <p:cNvSpPr txBox="1"/>
            <p:nvPr/>
          </p:nvSpPr>
          <p:spPr>
            <a:xfrm>
              <a:off x="4582058" y="2798064"/>
              <a:ext cx="110916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A3412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DISTANCE: MEDIUM</a:t>
              </a:r>
              <a:endParaRPr lang="en-US" sz="800" dirty="0"/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1362456" y="3089758"/>
              <a:ext cx="4377233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언어 및 식습관 차이 존재(국물 요리에 대한 인식 차이). 미국은 Bone Broth를 '건강 음료/수프'로 인식하는 반면, 한국은 '식사(탕)' 개념.</a:t>
              </a:r>
              <a:endParaRPr lang="en-US" sz="10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1362456" y="3583534"/>
              <a:ext cx="4343400" cy="743407"/>
            </a:xfrm>
            <a:prstGeom prst="roundRect">
              <a:avLst>
                <a:gd name="adj" fmla="val 6308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17"/>
            <p:cNvSpPr/>
            <p:nvPr/>
          </p:nvSpPr>
          <p:spPr>
            <a:xfrm>
              <a:off x="1362456" y="3583534"/>
              <a:ext cx="28346" cy="743407"/>
            </a:xfrm>
            <a:prstGeom prst="rect">
              <a:avLst/>
            </a:prstGeom>
            <a:solidFill>
              <a:srgbClr val="64748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8"/>
            <p:cNvSpPr txBox="1"/>
            <p:nvPr/>
          </p:nvSpPr>
          <p:spPr>
            <a:xfrm>
              <a:off x="1466698" y="3659429"/>
              <a:ext cx="1177747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For K-Bone Broth:</a:t>
              </a:r>
              <a:endParaRPr lang="en-US" sz="900" dirty="0"/>
            </a:p>
          </p:txBody>
        </p:sp>
        <p:sp>
          <p:nvSpPr>
            <p:cNvPr id="23" name="Text 19"/>
            <p:cNvSpPr txBox="1"/>
            <p:nvPr/>
          </p:nvSpPr>
          <p:spPr>
            <a:xfrm>
              <a:off x="1466698" y="3880714"/>
              <a:ext cx="4235501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'식사'보다는 'Wellness/Keto' 키워드로 접근하되, 한류(K-Food) 프리미엄을 활용하여 에스닉 푸드로서의 이질감을 '힙(Hip)'한 요소로 전환 필요.</a:t>
              </a:r>
              <a:endParaRPr lang="en-US" sz="900" dirty="0"/>
            </a:p>
          </p:txBody>
        </p:sp>
        <p:sp>
          <p:nvSpPr>
            <p:cNvPr id="24" name="Shape 20"/>
            <p:cNvSpPr/>
            <p:nvPr/>
          </p:nvSpPr>
          <p:spPr>
            <a:xfrm>
              <a:off x="694944" y="4789627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5" name="Image 2" descr="preencoded.png"/>
            <p:cNvPicPr>
              <a:picLocks noChangeAspect="1"/>
            </p:cNvPicPr>
            <p:nvPr/>
          </p:nvPicPr>
          <p:blipFill>
            <a:blip r:embed="rId5"/>
            <a:srcRect l="-57" r="-57"/>
            <a:stretch/>
          </p:blipFill>
          <p:spPr>
            <a:xfrm>
              <a:off x="833018" y="4913071"/>
              <a:ext cx="200254" cy="228600"/>
            </a:xfrm>
            <a:prstGeom prst="rect">
              <a:avLst/>
            </a:prstGeom>
          </p:spPr>
        </p:pic>
        <p:sp>
          <p:nvSpPr>
            <p:cNvPr id="26" name="Text 21"/>
            <p:cNvSpPr txBox="1"/>
            <p:nvPr/>
          </p:nvSpPr>
          <p:spPr>
            <a:xfrm>
              <a:off x="1362456" y="4789627"/>
              <a:ext cx="2364638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A: Administrative Distance</a:t>
              </a:r>
              <a:endParaRPr lang="en-US" sz="1300" dirty="0"/>
            </a:p>
          </p:txBody>
        </p:sp>
        <p:sp>
          <p:nvSpPr>
            <p:cNvPr id="27" name="Shape 22"/>
            <p:cNvSpPr/>
            <p:nvPr/>
          </p:nvSpPr>
          <p:spPr>
            <a:xfrm>
              <a:off x="4646981" y="4795114"/>
              <a:ext cx="1067105" cy="247802"/>
            </a:xfrm>
            <a:prstGeom prst="roundRect">
              <a:avLst>
                <a:gd name="adj" fmla="val 369004"/>
              </a:avLst>
            </a:prstGeom>
            <a:solidFill>
              <a:srgbClr val="FEE2E2"/>
            </a:solidFill>
            <a:ln w="12700">
              <a:solidFill>
                <a:srgbClr val="FCA5A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3"/>
            <p:cNvSpPr txBox="1"/>
            <p:nvPr/>
          </p:nvSpPr>
          <p:spPr>
            <a:xfrm>
              <a:off x="4747565" y="4835347"/>
              <a:ext cx="93817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91B1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DISTANCE: HIGH</a:t>
              </a:r>
              <a:endParaRPr lang="en-US" sz="800" dirty="0"/>
            </a:p>
          </p:txBody>
        </p:sp>
        <p:sp>
          <p:nvSpPr>
            <p:cNvPr id="29" name="Text 24"/>
            <p:cNvSpPr txBox="1"/>
            <p:nvPr/>
          </p:nvSpPr>
          <p:spPr>
            <a:xfrm>
              <a:off x="1362456" y="5127041"/>
              <a:ext cx="4329684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한미 FTA로 관세 장벽은 낮으나, 육류 포함 제품에 대한 USDA/FDA의 엄격한 위생 검역 및 공장 등록 절차, 라벨링 규제 차이가 큼.</a:t>
              </a:r>
              <a:endParaRPr lang="en-US" sz="1000" dirty="0"/>
            </a:p>
          </p:txBody>
        </p:sp>
        <p:sp>
          <p:nvSpPr>
            <p:cNvPr id="30" name="Shape 25"/>
            <p:cNvSpPr/>
            <p:nvPr/>
          </p:nvSpPr>
          <p:spPr>
            <a:xfrm>
              <a:off x="1362456" y="5619902"/>
              <a:ext cx="4343400" cy="743407"/>
            </a:xfrm>
            <a:prstGeom prst="roundRect">
              <a:avLst>
                <a:gd name="adj" fmla="val 6308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Shape 26"/>
            <p:cNvSpPr/>
            <p:nvPr/>
          </p:nvSpPr>
          <p:spPr>
            <a:xfrm>
              <a:off x="1362456" y="5619902"/>
              <a:ext cx="28346" cy="743407"/>
            </a:xfrm>
            <a:prstGeom prst="rect">
              <a:avLst/>
            </a:prstGeom>
            <a:solidFill>
              <a:srgbClr val="64748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27"/>
            <p:cNvSpPr txBox="1"/>
            <p:nvPr/>
          </p:nvSpPr>
          <p:spPr>
            <a:xfrm>
              <a:off x="1466698" y="5696712"/>
              <a:ext cx="1177747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For K-Bone Broth:</a:t>
              </a:r>
              <a:endParaRPr lang="en-US" sz="900" dirty="0"/>
            </a:p>
          </p:txBody>
        </p:sp>
        <p:sp>
          <p:nvSpPr>
            <p:cNvPr id="33" name="Text 28"/>
            <p:cNvSpPr txBox="1"/>
            <p:nvPr/>
          </p:nvSpPr>
          <p:spPr>
            <a:xfrm>
              <a:off x="1466698" y="5917082"/>
              <a:ext cx="4254703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육류 함유 제품 수출 시 까다로운 통관 리스크 존재. 현지 코패킹(Co-packing) 또는 육류 함량을 조정한 레시피 변형이 필수적 전략.</a:t>
              </a:r>
              <a:endParaRPr lang="en-US" sz="900" dirty="0"/>
            </a:p>
          </p:txBody>
        </p:sp>
        <p:sp>
          <p:nvSpPr>
            <p:cNvPr id="34" name="Shape 29"/>
            <p:cNvSpPr/>
            <p:nvPr/>
          </p:nvSpPr>
          <p:spPr>
            <a:xfrm>
              <a:off x="6248095" y="1819656"/>
              <a:ext cx="5486400" cy="4781398"/>
            </a:xfrm>
            <a:prstGeom prst="roundRect">
              <a:avLst>
                <a:gd name="adj" fmla="val 30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0"/>
            <p:cNvSpPr/>
            <p:nvPr/>
          </p:nvSpPr>
          <p:spPr>
            <a:xfrm>
              <a:off x="6258154" y="1828800"/>
              <a:ext cx="5467198" cy="694944"/>
            </a:xfrm>
            <a:prstGeom prst="rect">
              <a:avLst/>
            </a:prstGeom>
            <a:solidFill>
              <a:srgbClr val="F0F9FF"/>
            </a:solidFill>
            <a:ln w="50800">
              <a:solidFill>
                <a:srgbClr val="00A3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6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486754" y="2100377"/>
              <a:ext cx="190195" cy="190195"/>
            </a:xfrm>
            <a:prstGeom prst="rect">
              <a:avLst/>
            </a:prstGeom>
          </p:spPr>
        </p:pic>
        <p:sp>
          <p:nvSpPr>
            <p:cNvPr id="37" name="Text 31"/>
            <p:cNvSpPr txBox="1"/>
            <p:nvPr/>
          </p:nvSpPr>
          <p:spPr>
            <a:xfrm>
              <a:off x="6752844" y="2048256"/>
              <a:ext cx="2600554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Hard Factors (Geo &amp; Econ)</a:t>
              </a:r>
              <a:endParaRPr lang="en-US" sz="1500" dirty="0"/>
            </a:p>
          </p:txBody>
        </p:sp>
        <p:sp>
          <p:nvSpPr>
            <p:cNvPr id="38" name="Shape 32"/>
            <p:cNvSpPr/>
            <p:nvPr/>
          </p:nvSpPr>
          <p:spPr>
            <a:xfrm>
              <a:off x="6486754" y="4515307"/>
              <a:ext cx="5009998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Shape 33"/>
            <p:cNvSpPr/>
            <p:nvPr/>
          </p:nvSpPr>
          <p:spPr>
            <a:xfrm>
              <a:off x="6486754" y="2752344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FFF7E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0" name="Image 4" descr="preencoded.png"/>
            <p:cNvPicPr>
              <a:picLocks noChangeAspect="1"/>
            </p:cNvPicPr>
            <p:nvPr/>
          </p:nvPicPr>
          <p:blipFill>
            <a:blip r:embed="rId7"/>
            <a:srcRect l="-80" r="-80"/>
            <a:stretch/>
          </p:blipFill>
          <p:spPr>
            <a:xfrm>
              <a:off x="6581851" y="2876702"/>
              <a:ext cx="286207" cy="228600"/>
            </a:xfrm>
            <a:prstGeom prst="rect">
              <a:avLst/>
            </a:prstGeom>
          </p:spPr>
        </p:pic>
        <p:sp>
          <p:nvSpPr>
            <p:cNvPr id="41" name="Text 34"/>
            <p:cNvSpPr txBox="1"/>
            <p:nvPr/>
          </p:nvSpPr>
          <p:spPr>
            <a:xfrm>
              <a:off x="7153351" y="2752344"/>
              <a:ext cx="2097634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G: Geographic Distance</a:t>
              </a:r>
              <a:endParaRPr lang="en-US" sz="1300" dirty="0"/>
            </a:p>
          </p:txBody>
        </p:sp>
        <p:sp>
          <p:nvSpPr>
            <p:cNvPr id="42" name="Shape 35"/>
            <p:cNvSpPr/>
            <p:nvPr/>
          </p:nvSpPr>
          <p:spPr>
            <a:xfrm>
              <a:off x="10437876" y="2758745"/>
              <a:ext cx="1067105" cy="247802"/>
            </a:xfrm>
            <a:prstGeom prst="roundRect">
              <a:avLst>
                <a:gd name="adj" fmla="val 369004"/>
              </a:avLst>
            </a:prstGeom>
            <a:solidFill>
              <a:srgbClr val="FEE2E2"/>
            </a:solidFill>
            <a:ln w="12700">
              <a:solidFill>
                <a:srgbClr val="FCA5A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36"/>
            <p:cNvSpPr txBox="1"/>
            <p:nvPr/>
          </p:nvSpPr>
          <p:spPr>
            <a:xfrm>
              <a:off x="10538460" y="2798064"/>
              <a:ext cx="93817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91B1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DISTANCE: HIGH</a:t>
              </a:r>
              <a:endParaRPr lang="en-US" sz="800" dirty="0"/>
            </a:p>
          </p:txBody>
        </p:sp>
        <p:sp>
          <p:nvSpPr>
            <p:cNvPr id="44" name="Text 37"/>
            <p:cNvSpPr txBox="1"/>
            <p:nvPr/>
          </p:nvSpPr>
          <p:spPr>
            <a:xfrm>
              <a:off x="7153351" y="3089758"/>
              <a:ext cx="4424782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태평양 횡단으로 인한 긴 물류 리드타임 및 높은 운송비. 액상 제품(Broth)은 중량 대비 부피가 커서 물류비 부담이 가중됨.</a:t>
              </a:r>
              <a:endParaRPr lang="en-US" sz="1000" dirty="0"/>
            </a:p>
          </p:txBody>
        </p:sp>
        <p:sp>
          <p:nvSpPr>
            <p:cNvPr id="45" name="Shape 38"/>
            <p:cNvSpPr/>
            <p:nvPr/>
          </p:nvSpPr>
          <p:spPr>
            <a:xfrm>
              <a:off x="7153351" y="3583534"/>
              <a:ext cx="4343400" cy="743407"/>
            </a:xfrm>
            <a:prstGeom prst="roundRect">
              <a:avLst>
                <a:gd name="adj" fmla="val 6308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Shape 39"/>
            <p:cNvSpPr/>
            <p:nvPr/>
          </p:nvSpPr>
          <p:spPr>
            <a:xfrm>
              <a:off x="7153351" y="3583534"/>
              <a:ext cx="28346" cy="743407"/>
            </a:xfrm>
            <a:prstGeom prst="rect">
              <a:avLst/>
            </a:prstGeom>
            <a:solidFill>
              <a:srgbClr val="64748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40"/>
            <p:cNvSpPr txBox="1"/>
            <p:nvPr/>
          </p:nvSpPr>
          <p:spPr>
            <a:xfrm>
              <a:off x="7258507" y="3659429"/>
              <a:ext cx="1177747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For K-Bone Broth:</a:t>
              </a:r>
              <a:endParaRPr lang="en-US" sz="900" dirty="0"/>
            </a:p>
          </p:txBody>
        </p:sp>
        <p:sp>
          <p:nvSpPr>
            <p:cNvPr id="48" name="Text 41"/>
            <p:cNvSpPr txBox="1"/>
            <p:nvPr/>
          </p:nvSpPr>
          <p:spPr>
            <a:xfrm>
              <a:off x="7258507" y="3880714"/>
              <a:ext cx="4216298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초기에는 고농축 엑기스/파우더 형태 수출로 물류비 절감, 볼륨 확대 시 캘리포니아 등 서부 지역 물류 거점 또는 현지 생산 전환 고려.</a:t>
              </a:r>
              <a:endParaRPr lang="en-US" sz="900" dirty="0"/>
            </a:p>
          </p:txBody>
        </p:sp>
        <p:sp>
          <p:nvSpPr>
            <p:cNvPr id="49" name="Shape 42"/>
            <p:cNvSpPr/>
            <p:nvPr/>
          </p:nvSpPr>
          <p:spPr>
            <a:xfrm>
              <a:off x="6486754" y="4789627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F0FDF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0" name="Image 5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610198" y="4913071"/>
              <a:ext cx="228600" cy="228600"/>
            </a:xfrm>
            <a:prstGeom prst="rect">
              <a:avLst/>
            </a:prstGeom>
          </p:spPr>
        </p:pic>
        <p:sp>
          <p:nvSpPr>
            <p:cNvPr id="51" name="Text 43"/>
            <p:cNvSpPr txBox="1"/>
            <p:nvPr/>
          </p:nvSpPr>
          <p:spPr>
            <a:xfrm>
              <a:off x="7153351" y="4789627"/>
              <a:ext cx="1926641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E: Economic Distance</a:t>
              </a:r>
              <a:endParaRPr lang="en-US" sz="1300" dirty="0"/>
            </a:p>
          </p:txBody>
        </p:sp>
        <p:sp>
          <p:nvSpPr>
            <p:cNvPr id="52" name="Shape 44"/>
            <p:cNvSpPr/>
            <p:nvPr/>
          </p:nvSpPr>
          <p:spPr>
            <a:xfrm>
              <a:off x="10531145" y="4795114"/>
              <a:ext cx="972007" cy="247802"/>
            </a:xfrm>
            <a:prstGeom prst="roundRect">
              <a:avLst>
                <a:gd name="adj" fmla="val 369004"/>
              </a:avLst>
            </a:prstGeom>
            <a:solidFill>
              <a:srgbClr val="DBEAFE"/>
            </a:solidFill>
            <a:ln w="12700">
              <a:solidFill>
                <a:srgbClr val="93C5F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45"/>
            <p:cNvSpPr txBox="1"/>
            <p:nvPr/>
          </p:nvSpPr>
          <p:spPr>
            <a:xfrm>
              <a:off x="10632643" y="4835347"/>
              <a:ext cx="85222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OPPORTUNITY</a:t>
              </a:r>
              <a:endParaRPr lang="en-US" sz="800" dirty="0"/>
            </a:p>
          </p:txBody>
        </p:sp>
        <p:sp>
          <p:nvSpPr>
            <p:cNvPr id="54" name="Text 46"/>
            <p:cNvSpPr txBox="1"/>
            <p:nvPr/>
          </p:nvSpPr>
          <p:spPr>
            <a:xfrm>
              <a:off x="7153351" y="5127041"/>
              <a:ext cx="4443984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미국의 높은 1인당 GDP와 식품 구매력. Whole Foods 등 프리미엄 채널에서는 고가 건강식품에 대한 지불 용의(Willingness to Pay)가 매우 높음.</a:t>
              </a:r>
              <a:endParaRPr lang="en-US" sz="1000" dirty="0"/>
            </a:p>
          </p:txBody>
        </p:sp>
        <p:sp>
          <p:nvSpPr>
            <p:cNvPr id="55" name="Shape 47"/>
            <p:cNvSpPr/>
            <p:nvPr/>
          </p:nvSpPr>
          <p:spPr>
            <a:xfrm>
              <a:off x="7153351" y="5619902"/>
              <a:ext cx="4343400" cy="743407"/>
            </a:xfrm>
            <a:prstGeom prst="roundRect">
              <a:avLst>
                <a:gd name="adj" fmla="val 6308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Shape 48"/>
            <p:cNvSpPr/>
            <p:nvPr/>
          </p:nvSpPr>
          <p:spPr>
            <a:xfrm>
              <a:off x="7153351" y="5619902"/>
              <a:ext cx="28346" cy="743407"/>
            </a:xfrm>
            <a:prstGeom prst="rect">
              <a:avLst/>
            </a:prstGeom>
            <a:solidFill>
              <a:srgbClr val="64748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49"/>
            <p:cNvSpPr txBox="1"/>
            <p:nvPr/>
          </p:nvSpPr>
          <p:spPr>
            <a:xfrm>
              <a:off x="7258507" y="5696712"/>
              <a:ext cx="1177747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For K-Bone Broth:</a:t>
              </a:r>
              <a:endParaRPr lang="en-US" sz="900" dirty="0"/>
            </a:p>
          </p:txBody>
        </p:sp>
        <p:sp>
          <p:nvSpPr>
            <p:cNvPr id="58" name="Text 50"/>
            <p:cNvSpPr txBox="1"/>
            <p:nvPr/>
          </p:nvSpPr>
          <p:spPr>
            <a:xfrm>
              <a:off x="7258507" y="5917082"/>
              <a:ext cx="4121201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한국 대비 높은 가격 책정이 가능하여 물류비 상쇄 가능. '유기농', 'Grass-fed' 등 고부가가치 클레임을 통해 프리미엄 가격대($8~$12/pack) 공략.</a:t>
              </a:r>
              <a:endParaRPr lang="en-US" sz="900" dirty="0"/>
            </a:p>
          </p:txBody>
        </p:sp>
        <p:sp>
          <p:nvSpPr>
            <p:cNvPr id="59" name="Shape 51"/>
            <p:cNvSpPr/>
            <p:nvPr/>
          </p:nvSpPr>
          <p:spPr>
            <a:xfrm>
              <a:off x="0" y="697870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Shape 52"/>
            <p:cNvSpPr/>
            <p:nvPr/>
          </p:nvSpPr>
          <p:spPr>
            <a:xfrm>
              <a:off x="0" y="697870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53"/>
            <p:cNvSpPr txBox="1"/>
            <p:nvPr/>
          </p:nvSpPr>
          <p:spPr>
            <a:xfrm>
              <a:off x="457199" y="7093001"/>
              <a:ext cx="5914571" cy="117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Pankaj Ghemawat's CAGE Framework. NYU Stern Globalization Explorer, Trade.gov Reports</a:t>
              </a:r>
              <a:endParaRPr lang="en-US" sz="900" dirty="0"/>
            </a:p>
          </p:txBody>
        </p:sp>
      </p:grpSp>
      <p:sp>
        <p:nvSpPr>
          <p:cNvPr id="64" name="Rectangle 13">
            <a:extLst>
              <a:ext uri="{FF2B5EF4-FFF2-40B4-BE49-F238E27FC236}">
                <a16:creationId xmlns:a16="http://schemas.microsoft.com/office/drawing/2014/main" id="{F9C5727C-6BBF-92E9-CF70-E950946EF72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22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그룹 92">
            <a:extLst>
              <a:ext uri="{FF2B5EF4-FFF2-40B4-BE49-F238E27FC236}">
                <a16:creationId xmlns:a16="http://schemas.microsoft.com/office/drawing/2014/main" id="{5D26DDCF-9C25-A202-C8C6-2A399C40315A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8087868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99648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COUNTRY LEVEL ANALYSIS (CULTURE)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425428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미국은 개인주의(IDV)와 성과지향(MAS) 성향이 뚜렷해, </a:t>
              </a:r>
            </a:p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'나를 위한(Personalized)' 솔루션과 '즉각적 효능' 강조가 핵심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6267298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742846"/>
              <a:ext cx="11277295" cy="4438498"/>
            </a:xfrm>
            <a:prstGeom prst="roundRect">
              <a:avLst>
                <a:gd name="adj" fmla="val 354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752905"/>
              <a:ext cx="11259007" cy="533095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466344" y="2266798"/>
              <a:ext cx="11259007" cy="19202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694944" y="1904695"/>
              <a:ext cx="180868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HOFSTEDE DIMENSION</a:t>
              </a:r>
              <a:endParaRPr lang="en-US" sz="10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3010205" y="1904695"/>
              <a:ext cx="224668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SCORE COMPARISON (0-100)</a:t>
              </a:r>
              <a:endParaRPr lang="en-US" sz="10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6096305" y="1904695"/>
              <a:ext cx="218907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KEY CULTURAL DIFFERENCE</a:t>
              </a:r>
              <a:endParaRPr lang="en-US" sz="10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8410651" y="1904695"/>
              <a:ext cx="262707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BUSINESS IMPLICATION FOR HMR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66344" y="3292754"/>
              <a:ext cx="11259007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694944" y="2581351"/>
              <a:ext cx="148041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Individualism (IDV)</a:t>
              </a:r>
              <a:endParaRPr lang="en-US" sz="11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694944" y="2813609"/>
              <a:ext cx="9336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집단 vs 개인 중심</a:t>
              </a:r>
              <a:endParaRPr lang="en-US" sz="9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3106217" y="2573122"/>
              <a:ext cx="2194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18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353105" y="2620670"/>
              <a:ext cx="2095805" cy="75895"/>
            </a:xfrm>
            <a:prstGeom prst="roundRect">
              <a:avLst>
                <a:gd name="adj" fmla="val 602411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3353105" y="2620670"/>
              <a:ext cx="381305" cy="75895"/>
            </a:xfrm>
            <a:prstGeom prst="roundRect">
              <a:avLst>
                <a:gd name="adj" fmla="val 602411"/>
              </a:avLst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5562295" y="2573122"/>
              <a:ext cx="3246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KOR</a:t>
              </a:r>
              <a:endParaRPr lang="en-US" sz="90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3106217" y="2820924"/>
              <a:ext cx="2194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91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353105" y="2868473"/>
              <a:ext cx="2095805" cy="75895"/>
            </a:xfrm>
            <a:prstGeom prst="roundRect">
              <a:avLst>
                <a:gd name="adj" fmla="val 602411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3353105" y="2868473"/>
              <a:ext cx="1914754" cy="75895"/>
            </a:xfrm>
            <a:prstGeom prst="roundRect">
              <a:avLst>
                <a:gd name="adj" fmla="val 602411"/>
              </a:avLst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5562295" y="2820924"/>
              <a:ext cx="3145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USA</a:t>
              </a:r>
              <a:endParaRPr lang="en-US" sz="900" dirty="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6096305" y="2501798"/>
              <a:ext cx="7735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BE123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극명한 차이.</a:t>
              </a:r>
              <a:endParaRPr lang="en-US" sz="100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6096305" y="2581351"/>
              <a:ext cx="2259482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미국은 개인의 독립성과 사생활을 중시하며, '나만의 취향'을 우선시함.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410651" y="2435047"/>
              <a:ext cx="3086100" cy="705002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8410651" y="2435047"/>
              <a:ext cx="28346" cy="705002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 txBox="1"/>
            <p:nvPr/>
          </p:nvSpPr>
          <p:spPr>
            <a:xfrm>
              <a:off x="8553298" y="2501798"/>
              <a:ext cx="2830982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0C4A6E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Personalization: 1인용 소포장(Single-serve), 커스텀 가능한 토핑/옵션 제공. "My Bone Broth Routine" 마케팅.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66344" y="4151376"/>
              <a:ext cx="11259007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694944" y="3515868"/>
              <a:ext cx="2137867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Long Term Orientation (LTO)</a:t>
              </a:r>
              <a:endParaRPr lang="en-US" sz="1100" dirty="0"/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694944" y="3748126"/>
              <a:ext cx="1181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미래 지향 vs 현재/전통</a:t>
              </a:r>
              <a:endParaRPr lang="en-US" sz="900" dirty="0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3039466" y="3508553"/>
              <a:ext cx="2862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3353105" y="3556102"/>
              <a:ext cx="2095805" cy="75895"/>
            </a:xfrm>
            <a:prstGeom prst="roundRect">
              <a:avLst>
                <a:gd name="adj" fmla="val 602411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3353105" y="3556102"/>
              <a:ext cx="2095805" cy="75895"/>
            </a:xfrm>
            <a:prstGeom prst="roundRect">
              <a:avLst>
                <a:gd name="adj" fmla="val 602411"/>
              </a:avLst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5562295" y="3508553"/>
              <a:ext cx="3246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KOR</a:t>
              </a:r>
              <a:endParaRPr lang="en-US" sz="900" dirty="0"/>
            </a:p>
          </p:txBody>
        </p:sp>
        <p:sp>
          <p:nvSpPr>
            <p:cNvPr id="39" name="Text 37"/>
            <p:cNvSpPr txBox="1"/>
            <p:nvPr/>
          </p:nvSpPr>
          <p:spPr>
            <a:xfrm>
              <a:off x="3106217" y="3755441"/>
              <a:ext cx="2194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26</a:t>
              </a:r>
              <a:endParaRPr lang="en-US" sz="9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353105" y="3803904"/>
              <a:ext cx="2095805" cy="75895"/>
            </a:xfrm>
            <a:prstGeom prst="roundRect">
              <a:avLst>
                <a:gd name="adj" fmla="val 602411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3353105" y="3803904"/>
              <a:ext cx="552298" cy="75895"/>
            </a:xfrm>
            <a:prstGeom prst="roundRect">
              <a:avLst>
                <a:gd name="adj" fmla="val 602411"/>
              </a:avLst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5562295" y="3755441"/>
              <a:ext cx="3145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USA</a:t>
              </a:r>
              <a:endParaRPr lang="en-US" sz="900" dirty="0"/>
            </a:p>
          </p:txBody>
        </p:sp>
        <p:sp>
          <p:nvSpPr>
            <p:cNvPr id="43" name="Text 41"/>
            <p:cNvSpPr txBox="1"/>
            <p:nvPr/>
          </p:nvSpPr>
          <p:spPr>
            <a:xfrm>
              <a:off x="6096305" y="3436315"/>
              <a:ext cx="93543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BE123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단기 성과 중심.</a:t>
              </a:r>
              <a:endParaRPr lang="en-US" sz="1000" dirty="0"/>
            </a:p>
          </p:txBody>
        </p:sp>
        <p:sp>
          <p:nvSpPr>
            <p:cNvPr id="44" name="Text 42"/>
            <p:cNvSpPr txBox="1"/>
            <p:nvPr/>
          </p:nvSpPr>
          <p:spPr>
            <a:xfrm>
              <a:off x="6096305" y="3526841"/>
              <a:ext cx="2192731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소비자는 즉각적인 만족과 빠른 결과를 선호함. (한국은 끈기/미래 투자)</a:t>
              </a:r>
              <a:endParaRPr lang="en-US" sz="10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8410651" y="3460090"/>
              <a:ext cx="3086100" cy="523951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8410651" y="3460090"/>
              <a:ext cx="28346" cy="523951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45"/>
            <p:cNvSpPr txBox="1"/>
            <p:nvPr/>
          </p:nvSpPr>
          <p:spPr>
            <a:xfrm>
              <a:off x="8553298" y="3526841"/>
              <a:ext cx="2897734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0C4A6E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Immediate Benefit: 장기적 건강보다 "즉각적 에너지 충전", "빠른 해장/회복" 등 단기 효능 강조.</a:t>
              </a:r>
              <a:endParaRPr lang="en-US" sz="10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466344" y="5162702"/>
              <a:ext cx="11259007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7"/>
            <p:cNvSpPr txBox="1"/>
            <p:nvPr/>
          </p:nvSpPr>
          <p:spPr>
            <a:xfrm>
              <a:off x="694944" y="4450385"/>
              <a:ext cx="2128723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Uncertainty Avoidance (UAI)</a:t>
              </a:r>
              <a:endParaRPr lang="en-US" sz="1100" dirty="0"/>
            </a:p>
          </p:txBody>
        </p:sp>
        <p:sp>
          <p:nvSpPr>
            <p:cNvPr id="50" name="Text 48"/>
            <p:cNvSpPr txBox="1"/>
            <p:nvPr/>
          </p:nvSpPr>
          <p:spPr>
            <a:xfrm>
              <a:off x="694944" y="4682642"/>
              <a:ext cx="10003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불확실성 회피 성향</a:t>
              </a:r>
              <a:endParaRPr lang="en-US" sz="900" dirty="0"/>
            </a:p>
          </p:txBody>
        </p:sp>
        <p:sp>
          <p:nvSpPr>
            <p:cNvPr id="51" name="Text 49"/>
            <p:cNvSpPr txBox="1"/>
            <p:nvPr/>
          </p:nvSpPr>
          <p:spPr>
            <a:xfrm>
              <a:off x="3106217" y="4443070"/>
              <a:ext cx="2194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85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3353105" y="4490618"/>
              <a:ext cx="2095805" cy="75895"/>
            </a:xfrm>
            <a:prstGeom prst="roundRect">
              <a:avLst>
                <a:gd name="adj" fmla="val 602411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Shape 51"/>
            <p:cNvSpPr/>
            <p:nvPr/>
          </p:nvSpPr>
          <p:spPr>
            <a:xfrm>
              <a:off x="3353105" y="4490618"/>
              <a:ext cx="1781251" cy="75895"/>
            </a:xfrm>
            <a:prstGeom prst="roundRect">
              <a:avLst>
                <a:gd name="adj" fmla="val 602411"/>
              </a:avLst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52"/>
            <p:cNvSpPr txBox="1"/>
            <p:nvPr/>
          </p:nvSpPr>
          <p:spPr>
            <a:xfrm>
              <a:off x="5562295" y="4443070"/>
              <a:ext cx="3246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KOR</a:t>
              </a:r>
              <a:endParaRPr lang="en-US" sz="900" dirty="0"/>
            </a:p>
          </p:txBody>
        </p:sp>
        <p:sp>
          <p:nvSpPr>
            <p:cNvPr id="55" name="Text 53"/>
            <p:cNvSpPr txBox="1"/>
            <p:nvPr/>
          </p:nvSpPr>
          <p:spPr>
            <a:xfrm>
              <a:off x="3106217" y="4690872"/>
              <a:ext cx="2194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46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3353105" y="4738421"/>
              <a:ext cx="2095805" cy="75895"/>
            </a:xfrm>
            <a:prstGeom prst="roundRect">
              <a:avLst>
                <a:gd name="adj" fmla="val 602411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Shape 55"/>
            <p:cNvSpPr/>
            <p:nvPr/>
          </p:nvSpPr>
          <p:spPr>
            <a:xfrm>
              <a:off x="3353105" y="4738421"/>
              <a:ext cx="972007" cy="75895"/>
            </a:xfrm>
            <a:prstGeom prst="roundRect">
              <a:avLst>
                <a:gd name="adj" fmla="val 602411"/>
              </a:avLst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56"/>
            <p:cNvSpPr txBox="1"/>
            <p:nvPr/>
          </p:nvSpPr>
          <p:spPr>
            <a:xfrm>
              <a:off x="5562295" y="4690872"/>
              <a:ext cx="3145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USA</a:t>
              </a:r>
              <a:endParaRPr lang="en-US" sz="900" dirty="0"/>
            </a:p>
          </p:txBody>
        </p:sp>
        <p:sp>
          <p:nvSpPr>
            <p:cNvPr id="59" name="Text 57"/>
            <p:cNvSpPr txBox="1"/>
            <p:nvPr/>
          </p:nvSpPr>
          <p:spPr>
            <a:xfrm>
              <a:off x="6096305" y="4370832"/>
              <a:ext cx="45994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미국은</a:t>
              </a:r>
              <a:endParaRPr lang="en-US" sz="1000" dirty="0"/>
            </a:p>
          </p:txBody>
        </p:sp>
        <p:sp>
          <p:nvSpPr>
            <p:cNvPr id="60" name="Text 58"/>
            <p:cNvSpPr txBox="1"/>
            <p:nvPr/>
          </p:nvSpPr>
          <p:spPr>
            <a:xfrm>
              <a:off x="6453835" y="4370832"/>
              <a:ext cx="124998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새로운 시도에 개방적</a:t>
              </a:r>
              <a:endParaRPr lang="en-US" sz="1000" dirty="0"/>
            </a:p>
          </p:txBody>
        </p:sp>
        <p:sp>
          <p:nvSpPr>
            <p:cNvPr id="61" name="Text 59"/>
            <p:cNvSpPr txBox="1"/>
            <p:nvPr/>
          </p:nvSpPr>
          <p:spPr>
            <a:xfrm>
              <a:off x="6096305" y="4445720"/>
              <a:ext cx="2164385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이며, 낯선 에스닉 푸드(K-Food) 수용도가 비교적 높음.</a:t>
              </a:r>
              <a:endParaRPr lang="en-US" sz="100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8410651" y="4304081"/>
              <a:ext cx="3086100" cy="705002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Shape 61"/>
            <p:cNvSpPr/>
            <p:nvPr/>
          </p:nvSpPr>
          <p:spPr>
            <a:xfrm>
              <a:off x="8410651" y="4304081"/>
              <a:ext cx="28346" cy="705002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 62"/>
            <p:cNvSpPr txBox="1"/>
            <p:nvPr/>
          </p:nvSpPr>
          <p:spPr>
            <a:xfrm>
              <a:off x="8553298" y="4370832"/>
              <a:ext cx="2830982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0C4A6E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Innovation: 전통(Authentic)을 유지하되, 낯선 맛에 대한 호기심을 자극하는 퓨전 메뉴(예: Kimchi Bone Broth) 시도 가능.</a:t>
              </a:r>
              <a:endParaRPr lang="en-US" sz="1000" dirty="0"/>
            </a:p>
          </p:txBody>
        </p:sp>
        <p:sp>
          <p:nvSpPr>
            <p:cNvPr id="65" name="Text 63"/>
            <p:cNvSpPr txBox="1"/>
            <p:nvPr/>
          </p:nvSpPr>
          <p:spPr>
            <a:xfrm>
              <a:off x="694944" y="5461711"/>
              <a:ext cx="1290218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Indulgence (IVR)</a:t>
              </a:r>
              <a:endParaRPr lang="en-US" sz="1100" dirty="0"/>
            </a:p>
          </p:txBody>
        </p:sp>
        <p:sp>
          <p:nvSpPr>
            <p:cNvPr id="66" name="Text 64"/>
            <p:cNvSpPr txBox="1"/>
            <p:nvPr/>
          </p:nvSpPr>
          <p:spPr>
            <a:xfrm>
              <a:off x="694944" y="5693969"/>
              <a:ext cx="9336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쾌락 추구 vs 절제</a:t>
              </a:r>
              <a:endParaRPr lang="en-US" sz="900" dirty="0"/>
            </a:p>
          </p:txBody>
        </p:sp>
        <p:sp>
          <p:nvSpPr>
            <p:cNvPr id="67" name="Text 65"/>
            <p:cNvSpPr txBox="1"/>
            <p:nvPr/>
          </p:nvSpPr>
          <p:spPr>
            <a:xfrm>
              <a:off x="3106217" y="5454396"/>
              <a:ext cx="2194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29</a:t>
              </a:r>
              <a:endParaRPr lang="en-US" sz="9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3353105" y="5501945"/>
              <a:ext cx="2095805" cy="75895"/>
            </a:xfrm>
            <a:prstGeom prst="roundRect">
              <a:avLst>
                <a:gd name="adj" fmla="val 602411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Shape 67"/>
            <p:cNvSpPr/>
            <p:nvPr/>
          </p:nvSpPr>
          <p:spPr>
            <a:xfrm>
              <a:off x="3353105" y="5501945"/>
              <a:ext cx="609905" cy="75895"/>
            </a:xfrm>
            <a:prstGeom prst="roundRect">
              <a:avLst>
                <a:gd name="adj" fmla="val 602411"/>
              </a:avLst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Text 68"/>
            <p:cNvSpPr txBox="1"/>
            <p:nvPr/>
          </p:nvSpPr>
          <p:spPr>
            <a:xfrm>
              <a:off x="5562295" y="5454396"/>
              <a:ext cx="3246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KOR</a:t>
              </a:r>
              <a:endParaRPr lang="en-US" sz="900" dirty="0"/>
            </a:p>
          </p:txBody>
        </p:sp>
        <p:sp>
          <p:nvSpPr>
            <p:cNvPr id="71" name="Text 69"/>
            <p:cNvSpPr txBox="1"/>
            <p:nvPr/>
          </p:nvSpPr>
          <p:spPr>
            <a:xfrm>
              <a:off x="3106217" y="5701284"/>
              <a:ext cx="2194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68</a:t>
              </a:r>
              <a:endParaRPr lang="en-US" sz="90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3353105" y="5748833"/>
              <a:ext cx="2095805" cy="75895"/>
            </a:xfrm>
            <a:prstGeom prst="roundRect">
              <a:avLst>
                <a:gd name="adj" fmla="val 602411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Shape 71"/>
            <p:cNvSpPr/>
            <p:nvPr/>
          </p:nvSpPr>
          <p:spPr>
            <a:xfrm>
              <a:off x="3353105" y="5748833"/>
              <a:ext cx="1429207" cy="75895"/>
            </a:xfrm>
            <a:prstGeom prst="roundRect">
              <a:avLst>
                <a:gd name="adj" fmla="val 602411"/>
              </a:avLst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Text 72"/>
            <p:cNvSpPr txBox="1"/>
            <p:nvPr/>
          </p:nvSpPr>
          <p:spPr>
            <a:xfrm>
              <a:off x="5562295" y="5701284"/>
              <a:ext cx="3145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USA</a:t>
              </a:r>
              <a:endParaRPr lang="en-US" sz="900" dirty="0"/>
            </a:p>
          </p:txBody>
        </p:sp>
        <p:sp>
          <p:nvSpPr>
            <p:cNvPr id="75" name="Text 73"/>
            <p:cNvSpPr txBox="1"/>
            <p:nvPr/>
          </p:nvSpPr>
          <p:spPr>
            <a:xfrm>
              <a:off x="6096305" y="5382158"/>
              <a:ext cx="45994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미국은</a:t>
              </a:r>
              <a:endParaRPr lang="en-US" sz="1000" dirty="0"/>
            </a:p>
          </p:txBody>
        </p:sp>
        <p:sp>
          <p:nvSpPr>
            <p:cNvPr id="76" name="Text 74"/>
            <p:cNvSpPr txBox="1"/>
            <p:nvPr/>
          </p:nvSpPr>
          <p:spPr>
            <a:xfrm>
              <a:off x="6453835" y="5382158"/>
              <a:ext cx="112654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삶의 즐거움과 소비</a:t>
              </a:r>
              <a:endParaRPr lang="en-US" sz="1000" dirty="0"/>
            </a:p>
          </p:txBody>
        </p:sp>
        <p:sp>
          <p:nvSpPr>
            <p:cNvPr id="77" name="Text 75"/>
            <p:cNvSpPr txBox="1"/>
            <p:nvPr/>
          </p:nvSpPr>
          <p:spPr>
            <a:xfrm>
              <a:off x="6096305" y="5457045"/>
              <a:ext cx="2221992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를 중시. 건강식이라도 '맛있는 즐거움'이 없으면 실패함.</a:t>
              </a:r>
              <a:endParaRPr lang="en-US" sz="10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8410651" y="5315407"/>
              <a:ext cx="3086100" cy="705002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Shape 77"/>
            <p:cNvSpPr/>
            <p:nvPr/>
          </p:nvSpPr>
          <p:spPr>
            <a:xfrm>
              <a:off x="8410651" y="5315407"/>
              <a:ext cx="28346" cy="705002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 78"/>
            <p:cNvSpPr txBox="1"/>
            <p:nvPr/>
          </p:nvSpPr>
          <p:spPr>
            <a:xfrm>
              <a:off x="8553298" y="5382158"/>
              <a:ext cx="2850185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0C4A6E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Flavor First: "건강하니까 참는 맛"이 아닌 "맛있는데 건강하기까지 한(Guilt-free indulgence)" 메시지 전달.</a:t>
              </a:r>
              <a:endParaRPr lang="en-US" sz="100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495605" y="6592824"/>
              <a:ext cx="95098" cy="95098"/>
            </a:xfrm>
            <a:prstGeom prst="ellipse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2" name="Text 80"/>
            <p:cNvSpPr txBox="1"/>
            <p:nvPr/>
          </p:nvSpPr>
          <p:spPr>
            <a:xfrm>
              <a:off x="651053" y="6554419"/>
              <a:ext cx="2124151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South Korea (High Context/Collective)</a:t>
              </a:r>
              <a:endParaRPr lang="en-US" sz="90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2911450" y="6592824"/>
              <a:ext cx="95098" cy="95098"/>
            </a:xfrm>
            <a:prstGeom prst="ellipse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Text 82"/>
            <p:cNvSpPr txBox="1"/>
            <p:nvPr/>
          </p:nvSpPr>
          <p:spPr>
            <a:xfrm>
              <a:off x="3067812" y="6554419"/>
              <a:ext cx="1657807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USA (Low Context/Individual)</a:t>
              </a:r>
              <a:endParaRPr lang="en-US" sz="900" dirty="0"/>
            </a:p>
          </p:txBody>
        </p:sp>
        <p:sp>
          <p:nvSpPr>
            <p:cNvPr id="85" name="Text 83"/>
            <p:cNvSpPr txBox="1"/>
            <p:nvPr/>
          </p:nvSpPr>
          <p:spPr>
            <a:xfrm>
              <a:off x="8279892" y="6516929"/>
              <a:ext cx="350581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Hofstede Insights, The Culture Factor Group (2024 Data)</a:t>
              </a:r>
              <a:endParaRPr lang="en-US" sz="90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457200" y="6954926"/>
              <a:ext cx="11277295" cy="437998"/>
            </a:xfrm>
            <a:prstGeom prst="roundRect">
              <a:avLst>
                <a:gd name="adj" fmla="val 36307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7" name="Image 0" descr="preencoded.png"/>
            <p:cNvPicPr>
              <a:picLocks noChangeAspect="1"/>
            </p:cNvPicPr>
            <p:nvPr/>
          </p:nvPicPr>
          <p:blipFill>
            <a:blip r:embed="rId3"/>
            <a:srcRect t="-100" b="-100"/>
            <a:stretch/>
          </p:blipFill>
          <p:spPr>
            <a:xfrm>
              <a:off x="580644" y="7116775"/>
              <a:ext cx="114300" cy="152705"/>
            </a:xfrm>
            <a:prstGeom prst="rect">
              <a:avLst/>
            </a:prstGeom>
          </p:spPr>
        </p:pic>
        <p:sp>
          <p:nvSpPr>
            <p:cNvPr id="88" name="Text 85"/>
            <p:cNvSpPr txBox="1"/>
            <p:nvPr/>
          </p:nvSpPr>
          <p:spPr>
            <a:xfrm>
              <a:off x="809244" y="7069226"/>
              <a:ext cx="107871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E3A8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Insight: 한국의 '정(情)'이나 '가족애' 마케팅보다는, 미국 소비자의 개인적 효능감(Performance)과 취향(Taste)을 자극하는 직관적이고 명쾌한(Low Context) 커뮤니케이션이 필요함.</a:t>
              </a:r>
              <a:endParaRPr lang="en-US" sz="1000" dirty="0"/>
            </a:p>
          </p:txBody>
        </p:sp>
        <p:sp>
          <p:nvSpPr>
            <p:cNvPr id="89" name="Shape 86"/>
            <p:cNvSpPr/>
            <p:nvPr/>
          </p:nvSpPr>
          <p:spPr>
            <a:xfrm>
              <a:off x="0" y="7697419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Shape 87"/>
            <p:cNvSpPr/>
            <p:nvPr/>
          </p:nvSpPr>
          <p:spPr>
            <a:xfrm>
              <a:off x="0" y="7697419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Text 88"/>
            <p:cNvSpPr txBox="1"/>
            <p:nvPr/>
          </p:nvSpPr>
          <p:spPr>
            <a:xfrm>
              <a:off x="457199" y="7811719"/>
              <a:ext cx="344820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MBA Session 11: National Culture &amp; Global Business</a:t>
              </a:r>
              <a:endParaRPr lang="en-US" sz="900" dirty="0"/>
            </a:p>
          </p:txBody>
        </p:sp>
      </p:grpSp>
      <p:sp>
        <p:nvSpPr>
          <p:cNvPr id="94" name="Rectangle 13">
            <a:extLst>
              <a:ext uri="{FF2B5EF4-FFF2-40B4-BE49-F238E27FC236}">
                <a16:creationId xmlns:a16="http://schemas.microsoft.com/office/drawing/2014/main" id="{D0ADFF4E-FE47-B1CF-5B5F-986CF781C33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23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0EDFFD10-C528-22EE-B998-2A1DF04B9CE2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9864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SECTION SUMMARY | COUNTRY LEVEL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463833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수요 환경은 견고하나 규제(Regulation)와 문화(Culture)의 세밀한 갭(Gap) 관리가 현지화의 성패를 좌우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0292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3562502" cy="4267505"/>
            </a:xfrm>
            <a:prstGeom prst="roundRect">
              <a:avLst>
                <a:gd name="adj" fmla="val 5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57200" y="1819656"/>
              <a:ext cx="3536899" cy="38405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3294583" y="1800454"/>
              <a:ext cx="905256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F1F5F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01</a:t>
              </a:r>
              <a:endParaRPr lang="en-US" sz="3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94944" y="2057400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04672" y="2190902"/>
              <a:ext cx="237744" cy="190195"/>
            </a:xfrm>
            <a:prstGeom prst="rect">
              <a:avLst/>
            </a:prstGeom>
          </p:spPr>
        </p:pic>
        <p:sp>
          <p:nvSpPr>
            <p:cNvPr id="14" name="Text 11"/>
            <p:cNvSpPr txBox="1"/>
            <p:nvPr/>
          </p:nvSpPr>
          <p:spPr>
            <a:xfrm>
              <a:off x="694944" y="2676449"/>
              <a:ext cx="206288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REGULATION &amp; LEGAL</a:t>
              </a:r>
              <a:endParaRPr lang="en-US" sz="13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694944" y="3000146"/>
              <a:ext cx="1077163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규제 준수와</a:t>
              </a:r>
              <a:endParaRPr lang="en-US" sz="1500" dirty="0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694944" y="3267151"/>
              <a:ext cx="178125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라벨링 컴플라이언스</a:t>
              </a:r>
              <a:endParaRPr lang="en-US" sz="15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694944" y="3705149"/>
              <a:ext cx="2938882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FDA &amp; FOP: FOP(Front-of-Package) 라벨 의무화('25) 및 영양 성분 표시 규제 강화</a:t>
              </a:r>
              <a:endParaRPr lang="en-US" sz="100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694944" y="4252874"/>
              <a:ext cx="3062326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Claim Management: '고단백', '천연', '콜라겐' 등 기능성 클레임의 과학적 입증 및 표기법 준수 필수</a:t>
              </a:r>
              <a:endParaRPr lang="en-US" sz="10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94944" y="5115154"/>
              <a:ext cx="3086100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694944" y="5266944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21" name="Text 18"/>
            <p:cNvSpPr txBox="1"/>
            <p:nvPr/>
          </p:nvSpPr>
          <p:spPr>
            <a:xfrm>
              <a:off x="694944" y="5467198"/>
              <a:ext cx="310073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제품 개발 초기부터 FDA 가이드라인을 반영한 R&amp;D 및 패키징 디자인 수행 필요</a:t>
              </a:r>
              <a:endParaRPr lang="en-US" sz="100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4317797" y="1819656"/>
              <a:ext cx="3562502" cy="4267505"/>
            </a:xfrm>
            <a:prstGeom prst="roundRect">
              <a:avLst>
                <a:gd name="adj" fmla="val 5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20"/>
            <p:cNvSpPr/>
            <p:nvPr/>
          </p:nvSpPr>
          <p:spPr>
            <a:xfrm>
              <a:off x="4317797" y="1819656"/>
              <a:ext cx="3536899" cy="38405"/>
            </a:xfrm>
            <a:prstGeom prst="rect">
              <a:avLst/>
            </a:prstGeom>
            <a:solidFill>
              <a:srgbClr val="0056B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7155180" y="1800454"/>
              <a:ext cx="905256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F1F5F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02</a:t>
              </a:r>
              <a:endParaRPr lang="en-US" sz="36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4556455" y="2057400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6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665269" y="2190902"/>
              <a:ext cx="237744" cy="190195"/>
            </a:xfrm>
            <a:prstGeom prst="rect">
              <a:avLst/>
            </a:prstGeom>
          </p:spPr>
        </p:pic>
        <p:sp>
          <p:nvSpPr>
            <p:cNvPr id="27" name="Text 23"/>
            <p:cNvSpPr txBox="1"/>
            <p:nvPr/>
          </p:nvSpPr>
          <p:spPr>
            <a:xfrm>
              <a:off x="4556455" y="2676449"/>
              <a:ext cx="195773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CULTURAL DISTANCE</a:t>
              </a:r>
              <a:endParaRPr lang="en-US" sz="1300" dirty="0"/>
            </a:p>
          </p:txBody>
        </p:sp>
        <p:sp>
          <p:nvSpPr>
            <p:cNvPr id="28" name="Text 24"/>
            <p:cNvSpPr txBox="1"/>
            <p:nvPr/>
          </p:nvSpPr>
          <p:spPr>
            <a:xfrm>
              <a:off x="4556455" y="3000146"/>
              <a:ext cx="12481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식문화 차이와</a:t>
              </a:r>
              <a:endParaRPr lang="en-US" sz="1500" dirty="0"/>
            </a:p>
          </p:txBody>
        </p:sp>
        <p:sp>
          <p:nvSpPr>
            <p:cNvPr id="29" name="Text 25"/>
            <p:cNvSpPr txBox="1"/>
            <p:nvPr/>
          </p:nvSpPr>
          <p:spPr>
            <a:xfrm>
              <a:off x="4556455" y="3267151"/>
              <a:ext cx="1077163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현지화 전략</a:t>
              </a:r>
              <a:endParaRPr lang="en-US" sz="1500" dirty="0"/>
            </a:p>
          </p:txBody>
        </p:sp>
        <p:sp>
          <p:nvSpPr>
            <p:cNvPr id="30" name="Text 26"/>
            <p:cNvSpPr txBox="1"/>
            <p:nvPr/>
          </p:nvSpPr>
          <p:spPr>
            <a:xfrm>
              <a:off x="4556455" y="3705149"/>
              <a:ext cx="3176626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Taste Profile: 매운맛 허용도와 염도 선호 차이 고려 (미국 소비자의 나트륨 민감도 증가)</a:t>
              </a:r>
              <a:endParaRPr lang="en-US" sz="1000" dirty="0"/>
            </a:p>
          </p:txBody>
        </p:sp>
        <p:sp>
          <p:nvSpPr>
            <p:cNvPr id="31" name="Text 27"/>
            <p:cNvSpPr txBox="1"/>
            <p:nvPr/>
          </p:nvSpPr>
          <p:spPr>
            <a:xfrm>
              <a:off x="4556455" y="4252874"/>
              <a:ext cx="3005633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Storytelling: 정통성(Authenticity)과 기능성(Functionality)을 연결하는 고맥락 스토리텔링 필요</a:t>
              </a:r>
              <a:endParaRPr lang="en-US" sz="1000" dirty="0"/>
            </a:p>
          </p:txBody>
        </p:sp>
        <p:sp>
          <p:nvSpPr>
            <p:cNvPr id="32" name="Shape 28"/>
            <p:cNvSpPr/>
            <p:nvPr/>
          </p:nvSpPr>
          <p:spPr>
            <a:xfrm>
              <a:off x="4556455" y="5115154"/>
              <a:ext cx="3086100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29"/>
            <p:cNvSpPr txBox="1"/>
            <p:nvPr/>
          </p:nvSpPr>
          <p:spPr>
            <a:xfrm>
              <a:off x="4556455" y="5266944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34" name="Text 30"/>
            <p:cNvSpPr txBox="1"/>
            <p:nvPr/>
          </p:nvSpPr>
          <p:spPr>
            <a:xfrm>
              <a:off x="4556455" y="5467198"/>
              <a:ext cx="3148279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한국적 정통성을 유지하되 맛과 마케팅 메시지는 철저히 현지 코드에 맞게 변환</a:t>
              </a:r>
              <a:endParaRPr lang="en-US" sz="1000" dirty="0"/>
            </a:p>
          </p:txBody>
        </p:sp>
        <p:sp>
          <p:nvSpPr>
            <p:cNvPr id="35" name="Shape 31"/>
            <p:cNvSpPr/>
            <p:nvPr/>
          </p:nvSpPr>
          <p:spPr>
            <a:xfrm>
              <a:off x="8178394" y="1819656"/>
              <a:ext cx="3562502" cy="4267505"/>
            </a:xfrm>
            <a:prstGeom prst="roundRect">
              <a:avLst>
                <a:gd name="adj" fmla="val 5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2"/>
            <p:cNvSpPr/>
            <p:nvPr/>
          </p:nvSpPr>
          <p:spPr>
            <a:xfrm>
              <a:off x="8178394" y="1819656"/>
              <a:ext cx="3536899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3"/>
            <p:cNvSpPr txBox="1"/>
            <p:nvPr/>
          </p:nvSpPr>
          <p:spPr>
            <a:xfrm>
              <a:off x="11015777" y="1800454"/>
              <a:ext cx="905256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F1F5F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03</a:t>
              </a:r>
              <a:endParaRPr lang="en-US" sz="3600" dirty="0"/>
            </a:p>
          </p:txBody>
        </p:sp>
        <p:sp>
          <p:nvSpPr>
            <p:cNvPr id="38" name="Shape 34"/>
            <p:cNvSpPr/>
            <p:nvPr/>
          </p:nvSpPr>
          <p:spPr>
            <a:xfrm>
              <a:off x="8417052" y="2057400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9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526780" y="2190902"/>
              <a:ext cx="237744" cy="190195"/>
            </a:xfrm>
            <a:prstGeom prst="rect">
              <a:avLst/>
            </a:prstGeom>
          </p:spPr>
        </p:pic>
        <p:sp>
          <p:nvSpPr>
            <p:cNvPr id="40" name="Text 35"/>
            <p:cNvSpPr txBox="1"/>
            <p:nvPr/>
          </p:nvSpPr>
          <p:spPr>
            <a:xfrm>
              <a:off x="8417052" y="2676449"/>
              <a:ext cx="1653235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LOGISTICS &amp; OPS</a:t>
              </a:r>
              <a:endParaRPr lang="en-US" sz="1300" dirty="0"/>
            </a:p>
          </p:txBody>
        </p:sp>
        <p:sp>
          <p:nvSpPr>
            <p:cNvPr id="41" name="Text 36"/>
            <p:cNvSpPr txBox="1"/>
            <p:nvPr/>
          </p:nvSpPr>
          <p:spPr>
            <a:xfrm>
              <a:off x="8417052" y="3000146"/>
              <a:ext cx="1077163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콜드체인 및</a:t>
              </a:r>
              <a:endParaRPr lang="en-US" sz="1500" dirty="0"/>
            </a:p>
          </p:txBody>
        </p:sp>
        <p:sp>
          <p:nvSpPr>
            <p:cNvPr id="42" name="Text 37"/>
            <p:cNvSpPr txBox="1"/>
            <p:nvPr/>
          </p:nvSpPr>
          <p:spPr>
            <a:xfrm>
              <a:off x="8417052" y="3267151"/>
              <a:ext cx="14767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지리적 거리 극복</a:t>
              </a:r>
              <a:endParaRPr lang="en-US" sz="1500" dirty="0"/>
            </a:p>
          </p:txBody>
        </p:sp>
        <p:sp>
          <p:nvSpPr>
            <p:cNvPr id="43" name="Text 38"/>
            <p:cNvSpPr txBox="1"/>
            <p:nvPr/>
          </p:nvSpPr>
          <p:spPr>
            <a:xfrm>
              <a:off x="8417052" y="3705149"/>
              <a:ext cx="3024835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Cold Chain: 광활한 영토 특성상 냉동/냉장 물류비용 부담 및 리드타임 관리 중요</a:t>
              </a:r>
              <a:endParaRPr lang="en-US" sz="1000" dirty="0"/>
            </a:p>
          </p:txBody>
        </p:sp>
        <p:sp>
          <p:nvSpPr>
            <p:cNvPr id="44" name="Text 39"/>
            <p:cNvSpPr txBox="1"/>
            <p:nvPr/>
          </p:nvSpPr>
          <p:spPr>
            <a:xfrm>
              <a:off x="8417052" y="4252874"/>
              <a:ext cx="3081528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Inventory Ops: 해상 운송 리드타임 감안한 재고 최적화 및 현지 허브 활용 전략</a:t>
              </a:r>
              <a:endParaRPr lang="en-US" sz="1000" dirty="0"/>
            </a:p>
          </p:txBody>
        </p:sp>
        <p:sp>
          <p:nvSpPr>
            <p:cNvPr id="45" name="Shape 40"/>
            <p:cNvSpPr/>
            <p:nvPr/>
          </p:nvSpPr>
          <p:spPr>
            <a:xfrm>
              <a:off x="8417052" y="5115154"/>
              <a:ext cx="3086100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1"/>
            <p:cNvSpPr txBox="1"/>
            <p:nvPr/>
          </p:nvSpPr>
          <p:spPr>
            <a:xfrm>
              <a:off x="8417052" y="5266944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47" name="Text 42"/>
            <p:cNvSpPr txBox="1"/>
            <p:nvPr/>
          </p:nvSpPr>
          <p:spPr>
            <a:xfrm>
              <a:off x="8417052" y="5467198"/>
              <a:ext cx="3186684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초기에는 3PL 활용으로 고정비 최소화, 장기적으로는 주요 거점별 유통망 최적화</a:t>
              </a:r>
              <a:endParaRPr lang="en-US" sz="1000" dirty="0"/>
            </a:p>
          </p:txBody>
        </p:sp>
        <p:sp>
          <p:nvSpPr>
            <p:cNvPr id="48" name="Shape 43"/>
            <p:cNvSpPr/>
            <p:nvPr/>
          </p:nvSpPr>
          <p:spPr>
            <a:xfrm>
              <a:off x="0" y="646755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44"/>
            <p:cNvSpPr/>
            <p:nvPr/>
          </p:nvSpPr>
          <p:spPr>
            <a:xfrm>
              <a:off x="0" y="646755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5"/>
            <p:cNvSpPr txBox="1"/>
            <p:nvPr/>
          </p:nvSpPr>
          <p:spPr>
            <a:xfrm>
              <a:off x="457200" y="6581851"/>
              <a:ext cx="317662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FDA, Hofstede Insights</a:t>
              </a:r>
              <a:endParaRPr lang="en-US" sz="900" dirty="0"/>
            </a:p>
          </p:txBody>
        </p:sp>
      </p:grpSp>
      <p:sp>
        <p:nvSpPr>
          <p:cNvPr id="53" name="Rectangle 13">
            <a:extLst>
              <a:ext uri="{FF2B5EF4-FFF2-40B4-BE49-F238E27FC236}">
                <a16:creationId xmlns:a16="http://schemas.microsoft.com/office/drawing/2014/main" id="{1857C26B-CDB5-26B6-DD1A-91A172C50F6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24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E8A0-94E5-645D-7F33-22611251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6EAAF0-7ED8-FBFF-C7CA-A09A0862F00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B42DCE1-4F80-7A44-9AE5-3A10B17D84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77202" y="-142646"/>
            <a:ext cx="7144207" cy="7144207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8E5580E4-846B-33EC-EA45-265F7B0893F5}"/>
              </a:ext>
            </a:extLst>
          </p:cNvPr>
          <p:cNvSpPr/>
          <p:nvPr/>
        </p:nvSpPr>
        <p:spPr>
          <a:xfrm>
            <a:off x="914400" y="549555"/>
            <a:ext cx="952805" cy="7589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6EA41AD-F10C-C74A-188C-DC2CFE9DEE78}"/>
              </a:ext>
            </a:extLst>
          </p:cNvPr>
          <p:cNvSpPr txBox="1"/>
          <p:nvPr/>
        </p:nvSpPr>
        <p:spPr>
          <a:xfrm>
            <a:off x="914400" y="987552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K-푸드 미국 시장 진출 환경분석: Bone Broth 중심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8B86B3B5-7835-2A95-713E-917114E070ED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lumMod val="20000"/>
              <a:lumOff val="80000"/>
              <a:alpha val="15000"/>
            </a:schemeClr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82789C7-BDD4-C851-BC1E-7B23FCCFC934}"/>
              </a:ext>
            </a:extLst>
          </p:cNvPr>
          <p:cNvSpPr txBox="1"/>
          <p:nvPr/>
        </p:nvSpPr>
        <p:spPr>
          <a:xfrm>
            <a:off x="914400" y="2687727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4000" b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altLang="ko-KR" dirty="0"/>
              <a:t>5. Industry Level Analysis</a:t>
            </a:r>
          </a:p>
        </p:txBody>
      </p:sp>
    </p:spTree>
    <p:extLst>
      <p:ext uri="{BB962C8B-B14F-4D97-AF65-F5344CB8AC3E}">
        <p14:creationId xmlns:p14="http://schemas.microsoft.com/office/powerpoint/2010/main" val="4015993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그룹 81">
            <a:extLst>
              <a:ext uri="{FF2B5EF4-FFF2-40B4-BE49-F238E27FC236}">
                <a16:creationId xmlns:a16="http://schemas.microsoft.com/office/drawing/2014/main" id="{75CDBEFB-5402-2705-1AC2-1C120FCCE86A}"/>
              </a:ext>
            </a:extLst>
          </p:cNvPr>
          <p:cNvGrpSpPr/>
          <p:nvPr/>
        </p:nvGrpSpPr>
        <p:grpSpPr>
          <a:xfrm>
            <a:off x="0" y="1"/>
            <a:ext cx="12191695" cy="6858000"/>
            <a:chOff x="0" y="0"/>
            <a:chExt cx="12191695" cy="8415223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16712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INDUSTRY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483035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HMR은 가정 내 조리를 대체하는 식사 솔루션으로, 조리 편의성 수준에 </a:t>
              </a: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따라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RTE, RTH, RTC로 세분화됨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6590995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5486400" cy="5829300"/>
            </a:xfrm>
            <a:prstGeom prst="roundRect">
              <a:avLst>
                <a:gd name="adj" fmla="val 2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828800"/>
              <a:ext cx="5467198" cy="694944"/>
            </a:xfrm>
            <a:prstGeom prst="rect">
              <a:avLst/>
            </a:prstGeom>
            <a:solidFill>
              <a:srgbClr val="F8FAFC"/>
            </a:solidFill>
            <a:ln w="50800">
              <a:solidFill>
                <a:srgbClr val="051C2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 l="-1648" r="-1648"/>
            <a:stretch/>
          </p:blipFill>
          <p:spPr>
            <a:xfrm>
              <a:off x="694944" y="2100377"/>
              <a:ext cx="171907" cy="190195"/>
            </a:xfrm>
            <a:prstGeom prst="rect">
              <a:avLst/>
            </a:prstGeom>
          </p:spPr>
        </p:pic>
        <p:sp>
          <p:nvSpPr>
            <p:cNvPr id="12" name="Text 9"/>
            <p:cNvSpPr txBox="1"/>
            <p:nvPr/>
          </p:nvSpPr>
          <p:spPr>
            <a:xfrm>
              <a:off x="942746" y="2048256"/>
              <a:ext cx="1800454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HMR의 정의 및 범위</a:t>
              </a:r>
              <a:endParaRPr lang="en-US" sz="15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993538" y="2066544"/>
              <a:ext cx="714146" cy="247802"/>
            </a:xfrm>
            <a:prstGeom prst="roundRect">
              <a:avLst>
                <a:gd name="adj" fmla="val 56770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5069434" y="2104949"/>
              <a:ext cx="64831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Definition</a:t>
              </a:r>
              <a:endParaRPr lang="en-US" sz="9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694944" y="2752344"/>
              <a:ext cx="5009998" cy="1047902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Shape 13"/>
            <p:cNvSpPr/>
            <p:nvPr/>
          </p:nvSpPr>
          <p:spPr>
            <a:xfrm>
              <a:off x="694944" y="2752344"/>
              <a:ext cx="38405" cy="1047902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886054" y="2915107"/>
              <a:ext cx="224393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Home Meal Replacement</a:t>
              </a:r>
              <a:endParaRPr lang="en-US" sz="130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886054" y="3219602"/>
              <a:ext cx="4586630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가정에서 간편하게 섭취할 수 있도록 1차 조리된 식품으로, '집밥'의 정서적 가치와 '외식'의 편의성을 동시에 제공하는 식사 대용식 산업 전반을 의미함.</a:t>
              </a:r>
              <a:endParaRPr lang="en-US" sz="10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94944" y="4329684"/>
              <a:ext cx="5009998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694944" y="4062679"/>
              <a:ext cx="22247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핵심 가치 제안 (Value Proposition)</a:t>
              </a:r>
              <a:endParaRPr lang="en-US" sz="100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694944" y="4453128"/>
              <a:ext cx="5009998" cy="590702"/>
            </a:xfrm>
            <a:prstGeom prst="roundRect">
              <a:avLst>
                <a:gd name="adj" fmla="val 1498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19"/>
            <p:cNvSpPr/>
            <p:nvPr/>
          </p:nvSpPr>
          <p:spPr>
            <a:xfrm>
              <a:off x="819302" y="4595774"/>
              <a:ext cx="304495" cy="304495"/>
            </a:xfrm>
            <a:prstGeom prst="ellipse">
              <a:avLst/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3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05256" y="4681728"/>
              <a:ext cx="133502" cy="133502"/>
            </a:xfrm>
            <a:prstGeom prst="rect">
              <a:avLst/>
            </a:prstGeom>
          </p:spPr>
        </p:pic>
        <p:sp>
          <p:nvSpPr>
            <p:cNvPr id="24" name="Text 20"/>
            <p:cNvSpPr txBox="1"/>
            <p:nvPr/>
          </p:nvSpPr>
          <p:spPr>
            <a:xfrm>
              <a:off x="1276502" y="4576572"/>
              <a:ext cx="159562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Time-Saving (시간 절약)</a:t>
              </a:r>
              <a:endParaRPr lang="en-US" sz="1000" dirty="0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1276502" y="4757623"/>
              <a:ext cx="213421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장보기, 재료 손질, 조리 시간의 획기적 단축</a:t>
              </a:r>
              <a:endParaRPr lang="en-US" sz="900" dirty="0"/>
            </a:p>
          </p:txBody>
        </p:sp>
        <p:sp>
          <p:nvSpPr>
            <p:cNvPr id="26" name="Shape 22"/>
            <p:cNvSpPr/>
            <p:nvPr/>
          </p:nvSpPr>
          <p:spPr>
            <a:xfrm>
              <a:off x="694944" y="5158130"/>
              <a:ext cx="5009998" cy="590702"/>
            </a:xfrm>
            <a:prstGeom prst="roundRect">
              <a:avLst>
                <a:gd name="adj" fmla="val 1498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3"/>
            <p:cNvSpPr/>
            <p:nvPr/>
          </p:nvSpPr>
          <p:spPr>
            <a:xfrm>
              <a:off x="819302" y="5300777"/>
              <a:ext cx="304495" cy="304495"/>
            </a:xfrm>
            <a:prstGeom prst="ellipse">
              <a:avLst/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8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05256" y="5386730"/>
              <a:ext cx="133502" cy="133502"/>
            </a:xfrm>
            <a:prstGeom prst="rect">
              <a:avLst/>
            </a:prstGeom>
          </p:spPr>
        </p:pic>
        <p:sp>
          <p:nvSpPr>
            <p:cNvPr id="29" name="Text 24"/>
            <p:cNvSpPr txBox="1"/>
            <p:nvPr/>
          </p:nvSpPr>
          <p:spPr>
            <a:xfrm>
              <a:off x="1276502" y="5281574"/>
              <a:ext cx="14529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Convenience (편의성)</a:t>
              </a:r>
              <a:endParaRPr lang="en-US" sz="1000" dirty="0"/>
            </a:p>
          </p:txBody>
        </p:sp>
        <p:sp>
          <p:nvSpPr>
            <p:cNvPr id="30" name="Text 25"/>
            <p:cNvSpPr txBox="1"/>
            <p:nvPr/>
          </p:nvSpPr>
          <p:spPr>
            <a:xfrm>
              <a:off x="1276502" y="5462626"/>
              <a:ext cx="22768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전자레인지, 에어프라이어 등을 통한 간편 조리</a:t>
              </a:r>
              <a:endParaRPr lang="en-US" sz="900" dirty="0"/>
            </a:p>
          </p:txBody>
        </p:sp>
        <p:sp>
          <p:nvSpPr>
            <p:cNvPr id="31" name="Shape 26"/>
            <p:cNvSpPr/>
            <p:nvPr/>
          </p:nvSpPr>
          <p:spPr>
            <a:xfrm>
              <a:off x="694944" y="5862218"/>
              <a:ext cx="5009998" cy="743407"/>
            </a:xfrm>
            <a:prstGeom prst="roundRect">
              <a:avLst>
                <a:gd name="adj" fmla="val 9462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Shape 27"/>
            <p:cNvSpPr/>
            <p:nvPr/>
          </p:nvSpPr>
          <p:spPr>
            <a:xfrm>
              <a:off x="819302" y="6081674"/>
              <a:ext cx="304495" cy="304495"/>
            </a:xfrm>
            <a:prstGeom prst="ellipse">
              <a:avLst/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3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905256" y="6167628"/>
              <a:ext cx="133502" cy="133502"/>
            </a:xfrm>
            <a:prstGeom prst="rect">
              <a:avLst/>
            </a:prstGeom>
          </p:spPr>
        </p:pic>
        <p:sp>
          <p:nvSpPr>
            <p:cNvPr id="34" name="Text 28"/>
            <p:cNvSpPr txBox="1"/>
            <p:nvPr/>
          </p:nvSpPr>
          <p:spPr>
            <a:xfrm>
              <a:off x="1276502" y="5986577"/>
              <a:ext cx="20153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Wellness Evolution (건강 진화)</a:t>
              </a:r>
              <a:endParaRPr lang="en-US" sz="1000" dirty="0"/>
            </a:p>
          </p:txBody>
        </p:sp>
        <p:sp>
          <p:nvSpPr>
            <p:cNvPr id="35" name="Text 29"/>
            <p:cNvSpPr txBox="1"/>
            <p:nvPr/>
          </p:nvSpPr>
          <p:spPr>
            <a:xfrm>
              <a:off x="1276502" y="6167628"/>
              <a:ext cx="270571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단순 인스턴트에서 영양 밸런스를 갖춘 건강식으로 진화</a:t>
              </a:r>
              <a:endParaRPr lang="en-US" sz="900" dirty="0"/>
            </a:p>
          </p:txBody>
        </p:sp>
        <p:sp>
          <p:nvSpPr>
            <p:cNvPr id="36" name="Text 30"/>
            <p:cNvSpPr txBox="1"/>
            <p:nvPr/>
          </p:nvSpPr>
          <p:spPr>
            <a:xfrm>
              <a:off x="1276502" y="6319418"/>
              <a:ext cx="17145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(Bone Broth의 핵심 진입 포인트)</a:t>
              </a:r>
              <a:endParaRPr lang="en-US" sz="900" dirty="0"/>
            </a:p>
          </p:txBody>
        </p:sp>
        <p:sp>
          <p:nvSpPr>
            <p:cNvPr id="37" name="Shape 31"/>
            <p:cNvSpPr/>
            <p:nvPr/>
          </p:nvSpPr>
          <p:spPr>
            <a:xfrm>
              <a:off x="694944" y="6795821"/>
              <a:ext cx="5009998" cy="609905"/>
            </a:xfrm>
            <a:prstGeom prst="roundRect">
              <a:avLst>
                <a:gd name="adj" fmla="val 9370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2"/>
            <p:cNvSpPr txBox="1"/>
            <p:nvPr/>
          </p:nvSpPr>
          <p:spPr>
            <a:xfrm>
              <a:off x="2799893" y="6900977"/>
              <a:ext cx="8961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산업 경계의 확장</a:t>
              </a:r>
              <a:endParaRPr lang="en-US" sz="900" dirty="0"/>
            </a:p>
          </p:txBody>
        </p:sp>
        <p:sp>
          <p:nvSpPr>
            <p:cNvPr id="39" name="Text 33"/>
            <p:cNvSpPr txBox="1"/>
            <p:nvPr/>
          </p:nvSpPr>
          <p:spPr>
            <a:xfrm>
              <a:off x="2280514" y="7101230"/>
              <a:ext cx="59618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가공식품</a:t>
              </a:r>
              <a:endParaRPr lang="en-US" sz="1000" dirty="0"/>
            </a:p>
          </p:txBody>
        </p:sp>
        <p:pic>
          <p:nvPicPr>
            <p:cNvPr id="40" name="Image 4" descr="preencoded.png"/>
            <p:cNvPicPr>
              <a:picLocks noChangeAspect="1"/>
            </p:cNvPicPr>
            <p:nvPr/>
          </p:nvPicPr>
          <p:blipFill>
            <a:blip r:embed="rId7"/>
            <a:srcRect l="-2571" r="-2571"/>
            <a:stretch/>
          </p:blipFill>
          <p:spPr>
            <a:xfrm>
              <a:off x="2847442" y="7138721"/>
              <a:ext cx="105156" cy="114300"/>
            </a:xfrm>
            <a:prstGeom prst="rect">
              <a:avLst/>
            </a:prstGeom>
          </p:spPr>
        </p:pic>
        <p:sp>
          <p:nvSpPr>
            <p:cNvPr id="41" name="Text 34"/>
            <p:cNvSpPr txBox="1"/>
            <p:nvPr/>
          </p:nvSpPr>
          <p:spPr>
            <a:xfrm>
              <a:off x="3028493" y="7101230"/>
              <a:ext cx="4151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HMR</a:t>
              </a:r>
              <a:endParaRPr lang="en-US" sz="1000" dirty="0"/>
            </a:p>
          </p:txBody>
        </p:sp>
        <p:pic>
          <p:nvPicPr>
            <p:cNvPr id="42" name="Image 5" descr="preencoded.png"/>
            <p:cNvPicPr>
              <a:picLocks noChangeAspect="1"/>
            </p:cNvPicPr>
            <p:nvPr/>
          </p:nvPicPr>
          <p:blipFill>
            <a:blip r:embed="rId7"/>
            <a:srcRect l="-2571" r="-2571"/>
            <a:stretch/>
          </p:blipFill>
          <p:spPr>
            <a:xfrm>
              <a:off x="3410712" y="7138721"/>
              <a:ext cx="105156" cy="114300"/>
            </a:xfrm>
            <a:prstGeom prst="rect">
              <a:avLst/>
            </a:prstGeom>
          </p:spPr>
        </p:pic>
        <p:sp>
          <p:nvSpPr>
            <p:cNvPr id="43" name="Text 35"/>
            <p:cNvSpPr txBox="1"/>
            <p:nvPr/>
          </p:nvSpPr>
          <p:spPr>
            <a:xfrm>
              <a:off x="3591763" y="7101230"/>
              <a:ext cx="6336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외식 배달</a:t>
              </a:r>
              <a:endParaRPr lang="en-US" sz="1000" dirty="0"/>
            </a:p>
          </p:txBody>
        </p:sp>
        <p:sp>
          <p:nvSpPr>
            <p:cNvPr id="44" name="Shape 36"/>
            <p:cNvSpPr/>
            <p:nvPr/>
          </p:nvSpPr>
          <p:spPr>
            <a:xfrm>
              <a:off x="6248095" y="1819656"/>
              <a:ext cx="5486400" cy="5829300"/>
            </a:xfrm>
            <a:prstGeom prst="roundRect">
              <a:avLst>
                <a:gd name="adj" fmla="val 2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37"/>
            <p:cNvSpPr/>
            <p:nvPr/>
          </p:nvSpPr>
          <p:spPr>
            <a:xfrm>
              <a:off x="6258154" y="1828800"/>
              <a:ext cx="5467198" cy="694944"/>
            </a:xfrm>
            <a:prstGeom prst="rect">
              <a:avLst/>
            </a:prstGeom>
            <a:solidFill>
              <a:srgbClr val="F0F9FF"/>
            </a:solidFill>
            <a:ln w="50800">
              <a:solidFill>
                <a:srgbClr val="00A3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6" name="Image 6" descr="preencoded.png"/>
            <p:cNvPicPr>
              <a:picLocks noChangeAspect="1"/>
            </p:cNvPicPr>
            <p:nvPr/>
          </p:nvPicPr>
          <p:blipFill>
            <a:blip r:embed="rId8"/>
            <a:srcRect l="-1282" r="-1282"/>
            <a:stretch/>
          </p:blipFill>
          <p:spPr>
            <a:xfrm>
              <a:off x="6486754" y="2100377"/>
              <a:ext cx="219456" cy="190195"/>
            </a:xfrm>
            <a:prstGeom prst="rect">
              <a:avLst/>
            </a:prstGeom>
          </p:spPr>
        </p:pic>
        <p:sp>
          <p:nvSpPr>
            <p:cNvPr id="47" name="Text 38"/>
            <p:cNvSpPr txBox="1"/>
            <p:nvPr/>
          </p:nvSpPr>
          <p:spPr>
            <a:xfrm>
              <a:off x="6782105" y="2048256"/>
              <a:ext cx="3172054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제품 유형별 세분화 (Segmentation)</a:t>
              </a:r>
              <a:endParaRPr lang="en-US" sz="1500" dirty="0"/>
            </a:p>
          </p:txBody>
        </p:sp>
        <p:sp>
          <p:nvSpPr>
            <p:cNvPr id="48" name="Shape 39"/>
            <p:cNvSpPr/>
            <p:nvPr/>
          </p:nvSpPr>
          <p:spPr>
            <a:xfrm>
              <a:off x="10750601" y="2066544"/>
              <a:ext cx="752551" cy="247802"/>
            </a:xfrm>
            <a:prstGeom prst="roundRect">
              <a:avLst>
                <a:gd name="adj" fmla="val 56770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0"/>
            <p:cNvSpPr txBox="1"/>
            <p:nvPr/>
          </p:nvSpPr>
          <p:spPr>
            <a:xfrm>
              <a:off x="10826496" y="2104949"/>
              <a:ext cx="6858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Categories</a:t>
              </a:r>
              <a:endParaRPr lang="en-US" sz="900" dirty="0"/>
            </a:p>
          </p:txBody>
        </p:sp>
        <p:sp>
          <p:nvSpPr>
            <p:cNvPr id="50" name="Shape 41"/>
            <p:cNvSpPr/>
            <p:nvPr/>
          </p:nvSpPr>
          <p:spPr>
            <a:xfrm>
              <a:off x="6486754" y="2752344"/>
              <a:ext cx="5009998" cy="1076249"/>
            </a:xfrm>
            <a:prstGeom prst="roundRect">
              <a:avLst>
                <a:gd name="adj" fmla="val 6015"/>
              </a:avLst>
            </a:prstGeom>
            <a:solidFill>
              <a:srgbClr val="ECFDF5"/>
            </a:solidFill>
            <a:ln w="12700">
              <a:solidFill>
                <a:srgbClr val="A7F3D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1" name="Image 7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6648602" y="2952598"/>
              <a:ext cx="152705" cy="152705"/>
            </a:xfrm>
            <a:prstGeom prst="rect">
              <a:avLst/>
            </a:prstGeom>
          </p:spPr>
        </p:pic>
        <p:sp>
          <p:nvSpPr>
            <p:cNvPr id="52" name="Text 42"/>
            <p:cNvSpPr txBox="1"/>
            <p:nvPr/>
          </p:nvSpPr>
          <p:spPr>
            <a:xfrm>
              <a:off x="6877202" y="2915107"/>
              <a:ext cx="15151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RTE (Ready to Eat)</a:t>
              </a:r>
              <a:endParaRPr lang="en-US" sz="1200" dirty="0"/>
            </a:p>
          </p:txBody>
        </p:sp>
        <p:sp>
          <p:nvSpPr>
            <p:cNvPr id="53" name="Shape 43"/>
            <p:cNvSpPr/>
            <p:nvPr/>
          </p:nvSpPr>
          <p:spPr>
            <a:xfrm>
              <a:off x="10790834" y="2933395"/>
              <a:ext cx="552298" cy="190195"/>
            </a:xfrm>
            <a:prstGeom prst="roundRect">
              <a:avLst>
                <a:gd name="adj" fmla="val 96154"/>
              </a:avLst>
            </a:prstGeom>
            <a:solidFill>
              <a:srgbClr val="D1FAE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44"/>
            <p:cNvSpPr txBox="1"/>
            <p:nvPr/>
          </p:nvSpPr>
          <p:spPr>
            <a:xfrm>
              <a:off x="10852099" y="2948940"/>
              <a:ext cx="50932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4785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즉석 섭취</a:t>
              </a:r>
              <a:endParaRPr lang="en-US" sz="800" dirty="0"/>
            </a:p>
          </p:txBody>
        </p:sp>
        <p:sp>
          <p:nvSpPr>
            <p:cNvPr id="55" name="Text 45"/>
            <p:cNvSpPr txBox="1"/>
            <p:nvPr/>
          </p:nvSpPr>
          <p:spPr>
            <a:xfrm>
              <a:off x="6648602" y="3209544"/>
              <a:ext cx="375544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별도의 가열이나 조리 과정 없이 구입 후 바로 섭취할 수 있는 제품군.</a:t>
              </a:r>
              <a:endParaRPr lang="en-US" sz="1000" dirty="0"/>
            </a:p>
          </p:txBody>
        </p:sp>
        <p:pic>
          <p:nvPicPr>
            <p:cNvPr id="56" name="Image 8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648602" y="3511296"/>
              <a:ext cx="114300" cy="114300"/>
            </a:xfrm>
            <a:prstGeom prst="rect">
              <a:avLst/>
            </a:prstGeom>
          </p:spPr>
        </p:pic>
        <p:sp>
          <p:nvSpPr>
            <p:cNvPr id="57" name="Text 46"/>
            <p:cNvSpPr txBox="1"/>
            <p:nvPr/>
          </p:nvSpPr>
          <p:spPr>
            <a:xfrm>
              <a:off x="6838798" y="3477463"/>
              <a:ext cx="164409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샌드위치, 샐러드, 김밥, 반찬류</a:t>
              </a:r>
              <a:endParaRPr lang="en-US" sz="900" dirty="0"/>
            </a:p>
          </p:txBody>
        </p:sp>
        <p:sp>
          <p:nvSpPr>
            <p:cNvPr id="58" name="Shape 47"/>
            <p:cNvSpPr/>
            <p:nvPr/>
          </p:nvSpPr>
          <p:spPr>
            <a:xfrm>
              <a:off x="6486754" y="5453482"/>
              <a:ext cx="5009998" cy="1076249"/>
            </a:xfrm>
            <a:prstGeom prst="roundRect">
              <a:avLst>
                <a:gd name="adj" fmla="val 601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9" name="Image 9" descr="preencoded.png"/>
            <p:cNvPicPr>
              <a:picLocks noChangeAspect="1"/>
            </p:cNvPicPr>
            <p:nvPr/>
          </p:nvPicPr>
          <p:blipFill>
            <a:blip r:embed="rId11"/>
            <a:srcRect t="-180" b="-180"/>
            <a:stretch/>
          </p:blipFill>
          <p:spPr>
            <a:xfrm>
              <a:off x="6648602" y="5653735"/>
              <a:ext cx="190195" cy="152705"/>
            </a:xfrm>
            <a:prstGeom prst="rect">
              <a:avLst/>
            </a:prstGeom>
          </p:spPr>
        </p:pic>
        <p:sp>
          <p:nvSpPr>
            <p:cNvPr id="60" name="Text 48"/>
            <p:cNvSpPr txBox="1"/>
            <p:nvPr/>
          </p:nvSpPr>
          <p:spPr>
            <a:xfrm>
              <a:off x="6915607" y="5615330"/>
              <a:ext cx="16578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RTC (Ready to Cook)</a:t>
              </a:r>
              <a:endParaRPr lang="en-US" sz="1200" dirty="0"/>
            </a:p>
          </p:txBody>
        </p:sp>
        <p:sp>
          <p:nvSpPr>
            <p:cNvPr id="61" name="Shape 49"/>
            <p:cNvSpPr/>
            <p:nvPr/>
          </p:nvSpPr>
          <p:spPr>
            <a:xfrm>
              <a:off x="10790834" y="5634533"/>
              <a:ext cx="552298" cy="190195"/>
            </a:xfrm>
            <a:prstGeom prst="roundRect">
              <a:avLst>
                <a:gd name="adj" fmla="val 96154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 50"/>
            <p:cNvSpPr txBox="1"/>
            <p:nvPr/>
          </p:nvSpPr>
          <p:spPr>
            <a:xfrm>
              <a:off x="10852099" y="5650078"/>
              <a:ext cx="50932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D4ED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즉석 조리</a:t>
              </a:r>
              <a:endParaRPr lang="en-US" sz="800" dirty="0"/>
            </a:p>
          </p:txBody>
        </p:sp>
        <p:sp>
          <p:nvSpPr>
            <p:cNvPr id="63" name="Text 51"/>
            <p:cNvSpPr txBox="1"/>
            <p:nvPr/>
          </p:nvSpPr>
          <p:spPr>
            <a:xfrm>
              <a:off x="6648602" y="5910682"/>
              <a:ext cx="41934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손질된 식재료와 양념이 포함되어 있어 간단한 조리 과정을 거쳐야 하는 제품.</a:t>
              </a:r>
              <a:endParaRPr lang="en-US" sz="1000" dirty="0"/>
            </a:p>
          </p:txBody>
        </p:sp>
        <p:pic>
          <p:nvPicPr>
            <p:cNvPr id="64" name="Image 10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648602" y="6212434"/>
              <a:ext cx="114300" cy="114300"/>
            </a:xfrm>
            <a:prstGeom prst="rect">
              <a:avLst/>
            </a:prstGeom>
          </p:spPr>
        </p:pic>
        <p:sp>
          <p:nvSpPr>
            <p:cNvPr id="65" name="Text 52"/>
            <p:cNvSpPr txBox="1"/>
            <p:nvPr/>
          </p:nvSpPr>
          <p:spPr>
            <a:xfrm>
              <a:off x="6838798" y="6177686"/>
              <a:ext cx="1054303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i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냉동만두 (Bibigo)</a:t>
              </a:r>
              <a:endParaRPr lang="en-US" sz="900" dirty="0"/>
            </a:p>
          </p:txBody>
        </p:sp>
        <p:sp>
          <p:nvSpPr>
            <p:cNvPr id="66" name="Text 53"/>
            <p:cNvSpPr txBox="1"/>
            <p:nvPr/>
          </p:nvSpPr>
          <p:spPr>
            <a:xfrm>
              <a:off x="7872070" y="6177686"/>
              <a:ext cx="113019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, 밀키트, 냉동볶음밥</a:t>
              </a:r>
              <a:endParaRPr lang="en-US" sz="900" dirty="0"/>
            </a:p>
          </p:txBody>
        </p:sp>
        <p:sp>
          <p:nvSpPr>
            <p:cNvPr id="67" name="Shape 54"/>
            <p:cNvSpPr/>
            <p:nvPr/>
          </p:nvSpPr>
          <p:spPr>
            <a:xfrm>
              <a:off x="6486754" y="6967728"/>
              <a:ext cx="5009998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8" name="Image 11" descr="preencoded.png"/>
            <p:cNvPicPr>
              <a:picLocks noChangeAspect="1"/>
            </p:cNvPicPr>
            <p:nvPr/>
          </p:nvPicPr>
          <p:blipFill>
            <a:blip r:embed="rId12"/>
            <a:srcRect t="-100" b="-100"/>
            <a:stretch/>
          </p:blipFill>
          <p:spPr>
            <a:xfrm>
              <a:off x="6486754" y="7129577"/>
              <a:ext cx="114300" cy="152705"/>
            </a:xfrm>
            <a:prstGeom prst="rect">
              <a:avLst/>
            </a:prstGeom>
          </p:spPr>
        </p:pic>
        <p:sp>
          <p:nvSpPr>
            <p:cNvPr id="69" name="Text 55"/>
            <p:cNvSpPr txBox="1"/>
            <p:nvPr/>
          </p:nvSpPr>
          <p:spPr>
            <a:xfrm>
              <a:off x="6676949" y="7082028"/>
              <a:ext cx="4886554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Implication: K-HMR의 주력인 Bone Broth는 RTH (상온/냉장 파우치)와 RTC (냉동 농축) 영역에 걸쳐 있으며, 최근 편의성을 강조한 RTH 포맷의 성장이 두드러짐.</a:t>
              </a:r>
              <a:endParaRPr lang="en-US" sz="900" dirty="0"/>
            </a:p>
          </p:txBody>
        </p:sp>
        <p:sp>
          <p:nvSpPr>
            <p:cNvPr id="70" name="Shape 56"/>
            <p:cNvSpPr/>
            <p:nvPr/>
          </p:nvSpPr>
          <p:spPr>
            <a:xfrm>
              <a:off x="0" y="8024774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Shape 57"/>
            <p:cNvSpPr/>
            <p:nvPr/>
          </p:nvSpPr>
          <p:spPr>
            <a:xfrm>
              <a:off x="0" y="8024774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Text 58"/>
            <p:cNvSpPr txBox="1"/>
            <p:nvPr/>
          </p:nvSpPr>
          <p:spPr>
            <a:xfrm>
              <a:off x="457200" y="8139074"/>
              <a:ext cx="44677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KREI 한국농촌경제연구원 '가정간편식 산업의 현황과 정책과제', Industry Reports</a:t>
              </a:r>
              <a:endParaRPr lang="en-US" sz="900" dirty="0"/>
            </a:p>
          </p:txBody>
        </p:sp>
        <p:sp>
          <p:nvSpPr>
            <p:cNvPr id="74" name="Shape 60"/>
            <p:cNvSpPr/>
            <p:nvPr/>
          </p:nvSpPr>
          <p:spPr>
            <a:xfrm>
              <a:off x="6486754" y="4012387"/>
              <a:ext cx="5009998" cy="1257300"/>
            </a:xfrm>
            <a:prstGeom prst="roundRect">
              <a:avLst>
                <a:gd name="adj" fmla="val 4408"/>
              </a:avLst>
            </a:prstGeom>
            <a:solidFill>
              <a:srgbClr val="FFF7ED"/>
            </a:solidFill>
            <a:ln w="12700">
              <a:solidFill>
                <a:srgbClr val="FDBA74"/>
              </a:solidFill>
              <a:prstDash val="solid"/>
            </a:ln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5" name="Image 12" descr="preencoded.png"/>
            <p:cNvPicPr>
              <a:picLocks noChangeAspect="1"/>
            </p:cNvPicPr>
            <p:nvPr/>
          </p:nvPicPr>
          <p:blipFill>
            <a:blip r:embed="rId13"/>
            <a:srcRect t="-2644" b="-2644"/>
            <a:stretch/>
          </p:blipFill>
          <p:spPr>
            <a:xfrm>
              <a:off x="6531559" y="4963363"/>
              <a:ext cx="142646" cy="133502"/>
            </a:xfrm>
            <a:prstGeom prst="rect">
              <a:avLst/>
            </a:prstGeom>
          </p:spPr>
        </p:pic>
        <p:sp>
          <p:nvSpPr>
            <p:cNvPr id="76" name="Text 61"/>
            <p:cNvSpPr txBox="1"/>
            <p:nvPr/>
          </p:nvSpPr>
          <p:spPr>
            <a:xfrm>
              <a:off x="8300923" y="4932274"/>
              <a:ext cx="121615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, 햇반, 레토르트 수프</a:t>
              </a:r>
              <a:endParaRPr lang="en-US" sz="900" dirty="0"/>
            </a:p>
          </p:txBody>
        </p:sp>
        <p:sp>
          <p:nvSpPr>
            <p:cNvPr id="77" name="Text 62"/>
            <p:cNvSpPr txBox="1"/>
            <p:nvPr/>
          </p:nvSpPr>
          <p:spPr>
            <a:xfrm>
              <a:off x="6611112" y="4151376"/>
              <a:ext cx="171450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RTH (Ready to Heat)</a:t>
              </a:r>
              <a:endParaRPr lang="en-US" sz="1200" dirty="0"/>
            </a:p>
          </p:txBody>
        </p:sp>
        <p:sp>
          <p:nvSpPr>
            <p:cNvPr id="78" name="Text 63"/>
            <p:cNvSpPr txBox="1"/>
            <p:nvPr/>
          </p:nvSpPr>
          <p:spPr>
            <a:xfrm>
              <a:off x="10944454" y="4187038"/>
              <a:ext cx="52852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즉석 데움</a:t>
              </a:r>
              <a:endParaRPr lang="en-US" sz="800" dirty="0"/>
            </a:p>
          </p:txBody>
        </p:sp>
        <p:sp>
          <p:nvSpPr>
            <p:cNvPr id="79" name="Text 64"/>
            <p:cNvSpPr txBox="1"/>
            <p:nvPr/>
          </p:nvSpPr>
          <p:spPr>
            <a:xfrm>
              <a:off x="6531559" y="4461358"/>
              <a:ext cx="245973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짧은 시간 데우거나 끓여서 섭취하는 제품.</a:t>
              </a:r>
              <a:endParaRPr lang="en-US" sz="1000" dirty="0"/>
            </a:p>
          </p:txBody>
        </p:sp>
        <p:sp>
          <p:nvSpPr>
            <p:cNvPr id="80" name="Text 65"/>
            <p:cNvSpPr txBox="1"/>
            <p:nvPr/>
          </p:nvSpPr>
          <p:spPr>
            <a:xfrm>
              <a:off x="6531559" y="4651553"/>
              <a:ext cx="207843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K-Food 국/탕/찌개류의 주력 시장.</a:t>
              </a:r>
              <a:endParaRPr lang="en-US" sz="1000" dirty="0"/>
            </a:p>
          </p:txBody>
        </p:sp>
        <p:sp>
          <p:nvSpPr>
            <p:cNvPr id="81" name="Text 66"/>
            <p:cNvSpPr txBox="1"/>
            <p:nvPr/>
          </p:nvSpPr>
          <p:spPr>
            <a:xfrm>
              <a:off x="6751015" y="4932274"/>
              <a:ext cx="156819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i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Bone Broth (액상 파우치)</a:t>
              </a:r>
              <a:endParaRPr lang="en-US" sz="900" dirty="0"/>
            </a:p>
          </p:txBody>
        </p:sp>
      </p:grpSp>
      <p:sp>
        <p:nvSpPr>
          <p:cNvPr id="83" name="Rectangle 13">
            <a:extLst>
              <a:ext uri="{FF2B5EF4-FFF2-40B4-BE49-F238E27FC236}">
                <a16:creationId xmlns:a16="http://schemas.microsoft.com/office/drawing/2014/main" id="{8B7C7785-0451-1056-6AA1-E2B1F6BC92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26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그룹 47">
            <a:extLst>
              <a:ext uri="{FF2B5EF4-FFF2-40B4-BE49-F238E27FC236}">
                <a16:creationId xmlns:a16="http://schemas.microsoft.com/office/drawing/2014/main" id="{68D69BB4-34FE-A0A2-D42E-A8D21F006EA1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086307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047902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16712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INDUSTRY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0120579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HMR 시장은 2032년 828억 달러 규모 전망, 연평균 3%의 안정적 성장세 유지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080821"/>
              <a:ext cx="12191695" cy="5391302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462126"/>
              <a:ext cx="3610051" cy="4629607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94944" y="4655210"/>
              <a:ext cx="3133649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694944" y="4893869"/>
              <a:ext cx="10479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시장 성장 전망</a:t>
              </a:r>
              <a:endParaRPr lang="en-US" sz="12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694944" y="5207508"/>
              <a:ext cx="3129077" cy="6291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인플레이션 둔화 및 실질 소득 변화에 따라 가성비 높은 가정간편식(HMR)이 외식을 대체하며 꾸준한 수요 증가세를 보일 것으로 전망됩니다.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291279" y="1462126"/>
              <a:ext cx="3610051" cy="4629607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4529023" y="1699870"/>
              <a:ext cx="322508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MARKET GROWTH PROJECTION (2024-2032)</a:t>
              </a:r>
              <a:endParaRPr lang="en-US" sz="1000" dirty="0"/>
            </a:p>
          </p:txBody>
        </p:sp>
        <p:pic>
          <p:nvPicPr>
            <p:cNvPr id="16" name="Image 0" descr="preencoded.png"/>
            <p:cNvPicPr>
              <a:picLocks noChangeAspect="1"/>
            </p:cNvPicPr>
            <p:nvPr/>
          </p:nvPicPr>
          <p:blipFill>
            <a:blip r:embed="rId3"/>
            <a:srcRect t="-9" b="-9"/>
            <a:stretch/>
          </p:blipFill>
          <p:spPr>
            <a:xfrm>
              <a:off x="4529023" y="2042770"/>
              <a:ext cx="3133649" cy="2800807"/>
            </a:xfrm>
            <a:prstGeom prst="rect">
              <a:avLst/>
            </a:prstGeom>
          </p:spPr>
        </p:pic>
        <p:sp>
          <p:nvSpPr>
            <p:cNvPr id="17" name="Shape 14"/>
            <p:cNvSpPr/>
            <p:nvPr/>
          </p:nvSpPr>
          <p:spPr>
            <a:xfrm>
              <a:off x="4529023" y="5352898"/>
              <a:ext cx="3133649" cy="495605"/>
            </a:xfrm>
            <a:prstGeom prst="roundRect">
              <a:avLst>
                <a:gd name="adj" fmla="val 14192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199278" y="5541264"/>
              <a:ext cx="133502" cy="133502"/>
            </a:xfrm>
            <a:prstGeom prst="rect">
              <a:avLst/>
            </a:prstGeom>
          </p:spPr>
        </p:pic>
        <p:sp>
          <p:nvSpPr>
            <p:cNvPr id="19" name="Text 15"/>
            <p:cNvSpPr txBox="1"/>
            <p:nvPr/>
          </p:nvSpPr>
          <p:spPr>
            <a:xfrm>
              <a:off x="5408676" y="5505602"/>
              <a:ext cx="169072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지속적인 우상향 성장 트렌드</a:t>
              </a:r>
              <a:endParaRPr lang="en-US" sz="10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8129930" y="1462126"/>
              <a:ext cx="3610051" cy="4629607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19"/>
            <p:cNvSpPr/>
            <p:nvPr/>
          </p:nvSpPr>
          <p:spPr>
            <a:xfrm>
              <a:off x="8367674" y="2119579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8367674" y="1699870"/>
              <a:ext cx="27486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MARKET SEGMENTATION STRUCTURE</a:t>
              </a:r>
              <a:endParaRPr lang="en-US" sz="1000" dirty="0"/>
            </a:p>
          </p:txBody>
        </p:sp>
        <p:sp>
          <p:nvSpPr>
            <p:cNvPr id="22" name="Shape 18"/>
            <p:cNvSpPr/>
            <p:nvPr/>
          </p:nvSpPr>
          <p:spPr>
            <a:xfrm>
              <a:off x="8367674" y="2853842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0"/>
            <p:cNvSpPr txBox="1"/>
            <p:nvPr/>
          </p:nvSpPr>
          <p:spPr>
            <a:xfrm>
              <a:off x="8900770" y="2119579"/>
              <a:ext cx="173918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RTE (Ready to Eat) - 45%</a:t>
              </a:r>
              <a:endParaRPr lang="en-US" sz="1000" dirty="0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8900770" y="2338121"/>
              <a:ext cx="264810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즉석 섭취. 샌드위치, 샐러드 등 별도 조리 없이 바로 섭취 가능한 카테고리.</a:t>
              </a:r>
              <a:endParaRPr lang="en-US" sz="900" dirty="0"/>
            </a:p>
          </p:txBody>
        </p:sp>
        <p:sp>
          <p:nvSpPr>
            <p:cNvPr id="26" name="Shape 22"/>
            <p:cNvSpPr/>
            <p:nvPr/>
          </p:nvSpPr>
          <p:spPr>
            <a:xfrm>
              <a:off x="8367674" y="3787445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3"/>
            <p:cNvSpPr/>
            <p:nvPr/>
          </p:nvSpPr>
          <p:spPr>
            <a:xfrm>
              <a:off x="8367674" y="3053182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8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438998" y="3148279"/>
              <a:ext cx="237744" cy="190195"/>
            </a:xfrm>
            <a:prstGeom prst="rect">
              <a:avLst/>
            </a:prstGeom>
          </p:spPr>
        </p:pic>
        <p:sp>
          <p:nvSpPr>
            <p:cNvPr id="29" name="Text 24"/>
            <p:cNvSpPr txBox="1"/>
            <p:nvPr/>
          </p:nvSpPr>
          <p:spPr>
            <a:xfrm>
              <a:off x="8900770" y="3053182"/>
              <a:ext cx="185348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RTC (Ready to Cook) - 35%</a:t>
              </a:r>
              <a:endParaRPr lang="en-US" sz="1000" dirty="0"/>
            </a:p>
          </p:txBody>
        </p:sp>
        <p:sp>
          <p:nvSpPr>
            <p:cNvPr id="30" name="Text 25"/>
            <p:cNvSpPr txBox="1"/>
            <p:nvPr/>
          </p:nvSpPr>
          <p:spPr>
            <a:xfrm>
              <a:off x="8900770" y="3271723"/>
              <a:ext cx="264810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간편 조리. 냉동 만두, 밀키트 등 간단한 가열 조리가 필요한 고성장 분야.</a:t>
              </a:r>
              <a:endParaRPr lang="en-US" sz="900" dirty="0"/>
            </a:p>
          </p:txBody>
        </p:sp>
        <p:sp>
          <p:nvSpPr>
            <p:cNvPr id="31" name="Shape 26"/>
            <p:cNvSpPr/>
            <p:nvPr/>
          </p:nvSpPr>
          <p:spPr>
            <a:xfrm>
              <a:off x="8367674" y="4720133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Shape 27"/>
            <p:cNvSpPr/>
            <p:nvPr/>
          </p:nvSpPr>
          <p:spPr>
            <a:xfrm>
              <a:off x="8367674" y="3985870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28"/>
            <p:cNvSpPr txBox="1"/>
            <p:nvPr/>
          </p:nvSpPr>
          <p:spPr>
            <a:xfrm>
              <a:off x="8900770" y="3985870"/>
              <a:ext cx="18434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RTH (Ready to Heat) - 20%</a:t>
              </a:r>
              <a:endParaRPr lang="en-US" sz="1000" dirty="0"/>
            </a:p>
          </p:txBody>
        </p:sp>
        <p:sp>
          <p:nvSpPr>
            <p:cNvPr id="34" name="Text 29"/>
            <p:cNvSpPr txBox="1"/>
            <p:nvPr/>
          </p:nvSpPr>
          <p:spPr>
            <a:xfrm>
              <a:off x="8900770" y="4205326"/>
              <a:ext cx="2591410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즉석 가열. 전자레인지용 수프, 햇반 등 편의성을 극대화한 제품군.</a:t>
              </a:r>
              <a:endParaRPr lang="en-US" sz="900" dirty="0"/>
            </a:p>
          </p:txBody>
        </p:sp>
        <p:sp>
          <p:nvSpPr>
            <p:cNvPr id="35" name="Shape 30"/>
            <p:cNvSpPr/>
            <p:nvPr/>
          </p:nvSpPr>
          <p:spPr>
            <a:xfrm>
              <a:off x="8367674" y="5533949"/>
              <a:ext cx="3133649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1"/>
            <p:cNvSpPr txBox="1"/>
            <p:nvPr/>
          </p:nvSpPr>
          <p:spPr>
            <a:xfrm>
              <a:off x="8367674" y="5686654"/>
              <a:ext cx="26005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NOTE: K-Food(만두, 곰탕)는 주로 RTC/RTH에 해당</a:t>
              </a:r>
              <a:endParaRPr lang="en-US" sz="900" dirty="0"/>
            </a:p>
          </p:txBody>
        </p:sp>
        <p:sp>
          <p:nvSpPr>
            <p:cNvPr id="37" name="Shape 32"/>
            <p:cNvSpPr/>
            <p:nvPr/>
          </p:nvSpPr>
          <p:spPr>
            <a:xfrm>
              <a:off x="0" y="646755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Shape 33"/>
            <p:cNvSpPr/>
            <p:nvPr/>
          </p:nvSpPr>
          <p:spPr>
            <a:xfrm>
              <a:off x="0" y="646755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34"/>
            <p:cNvSpPr txBox="1"/>
            <p:nvPr/>
          </p:nvSpPr>
          <p:spPr>
            <a:xfrm>
              <a:off x="457200" y="6581851"/>
              <a:ext cx="3610051" cy="185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Grand View Research 2024, Statista Market Insights</a:t>
              </a:r>
              <a:endParaRPr lang="en-US" sz="900" dirty="0"/>
            </a:p>
          </p:txBody>
        </p:sp>
        <p:pic>
          <p:nvPicPr>
            <p:cNvPr id="41" name="Image 3" descr="preencoded.png"/>
            <p:cNvPicPr>
              <a:picLocks noChangeAspect="1"/>
            </p:cNvPicPr>
            <p:nvPr/>
          </p:nvPicPr>
          <p:blipFill>
            <a:blip r:embed="rId6"/>
            <a:srcRect l="-2512" r="-2512"/>
            <a:stretch/>
          </p:blipFill>
          <p:spPr>
            <a:xfrm>
              <a:off x="809244" y="3486607"/>
              <a:ext cx="105156" cy="133502"/>
            </a:xfrm>
            <a:prstGeom prst="rect">
              <a:avLst/>
            </a:prstGeom>
          </p:spPr>
        </p:pic>
        <p:sp>
          <p:nvSpPr>
            <p:cNvPr id="42" name="Text 36"/>
            <p:cNvSpPr txBox="1"/>
            <p:nvPr/>
          </p:nvSpPr>
          <p:spPr>
            <a:xfrm>
              <a:off x="990295" y="3452774"/>
              <a:ext cx="164317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96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CAGR 3.0% (2024-2032)</a:t>
              </a:r>
              <a:endParaRPr lang="en-US" sz="1000" dirty="0"/>
            </a:p>
          </p:txBody>
        </p:sp>
        <p:sp>
          <p:nvSpPr>
            <p:cNvPr id="43" name="Text 37"/>
            <p:cNvSpPr txBox="1"/>
            <p:nvPr/>
          </p:nvSpPr>
          <p:spPr>
            <a:xfrm>
              <a:off x="694944" y="1699870"/>
              <a:ext cx="22530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US HMR MARKET SIZE (2024E)</a:t>
              </a:r>
              <a:endParaRPr lang="en-US" sz="1000" dirty="0"/>
            </a:p>
          </p:txBody>
        </p:sp>
        <p:sp>
          <p:nvSpPr>
            <p:cNvPr id="44" name="Text 38"/>
            <p:cNvSpPr txBox="1"/>
            <p:nvPr/>
          </p:nvSpPr>
          <p:spPr>
            <a:xfrm>
              <a:off x="694944" y="1986077"/>
              <a:ext cx="1543507" cy="8769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649</a:t>
              </a:r>
              <a:endParaRPr lang="en-US" sz="4800" dirty="0"/>
            </a:p>
          </p:txBody>
        </p:sp>
        <p:sp>
          <p:nvSpPr>
            <p:cNvPr id="45" name="Text 39"/>
            <p:cNvSpPr txBox="1"/>
            <p:nvPr/>
          </p:nvSpPr>
          <p:spPr>
            <a:xfrm>
              <a:off x="1848917" y="2424074"/>
              <a:ext cx="866851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억 달러</a:t>
              </a:r>
              <a:endParaRPr lang="en-US" sz="1800" dirty="0"/>
            </a:p>
          </p:txBody>
        </p:sp>
        <p:sp>
          <p:nvSpPr>
            <p:cNvPr id="46" name="Text 40"/>
            <p:cNvSpPr txBox="1"/>
            <p:nvPr/>
          </p:nvSpPr>
          <p:spPr>
            <a:xfrm>
              <a:off x="694944" y="2842870"/>
              <a:ext cx="7863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(약 87조 원)</a:t>
              </a:r>
              <a:endParaRPr lang="en-US" sz="1000" dirty="0"/>
            </a:p>
          </p:txBody>
        </p:sp>
      </p:grpSp>
      <p:sp>
        <p:nvSpPr>
          <p:cNvPr id="49" name="Rectangle 13">
            <a:extLst>
              <a:ext uri="{FF2B5EF4-FFF2-40B4-BE49-F238E27FC236}">
                <a16:creationId xmlns:a16="http://schemas.microsoft.com/office/drawing/2014/main" id="{F70E20F5-77B7-926D-4E1D-BA91C21A7C0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27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2191695" cy="649677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"/>
            <a:ext cx="12191695" cy="64967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"/>
            <a:ext cx="12191695" cy="1362591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1326210"/>
            <a:ext cx="12191695" cy="36382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16560"/>
            <a:ext cx="2167128" cy="18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INDUSTRY LEVEL 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396737"/>
            <a:ext cx="10834726" cy="740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높은 경쟁 강도와 구매자 교섭력은 수익성을 위협하나, 차별화된 브랜드와 제품력으로 니치(Niche) 진입 기회는 유효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1362592"/>
            <a:ext cx="12191695" cy="512552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0" y="6488118"/>
            <a:ext cx="12191695" cy="3698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0" y="6488118"/>
            <a:ext cx="12191695" cy="866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5992688" y="4187570"/>
            <a:ext cx="191883" cy="19216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991185" y="1507254"/>
            <a:ext cx="4199993" cy="1352840"/>
          </a:xfrm>
          <a:prstGeom prst="roundRect">
            <a:avLst>
              <a:gd name="adj" fmla="val 2690"/>
            </a:avLst>
          </a:prstGeom>
          <a:solidFill>
            <a:srgbClr val="FFFFFF"/>
          </a:solidFill>
          <a:ln w="50800">
            <a:solidFill>
              <a:srgbClr val="F9731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2000"/>
          </a:p>
        </p:txBody>
      </p:sp>
      <p:sp>
        <p:nvSpPr>
          <p:cNvPr id="18" name="Shape 12"/>
          <p:cNvSpPr/>
          <p:nvPr/>
        </p:nvSpPr>
        <p:spPr>
          <a:xfrm>
            <a:off x="7254217" y="1704030"/>
            <a:ext cx="712417" cy="176024"/>
          </a:xfrm>
          <a:prstGeom prst="roundRect">
            <a:avLst>
              <a:gd name="adj" fmla="val 436680"/>
            </a:avLst>
          </a:prstGeom>
          <a:solidFill>
            <a:srgbClr val="FFEDD5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9" name="Text 13"/>
          <p:cNvSpPr txBox="1"/>
          <p:nvPr/>
        </p:nvSpPr>
        <p:spPr>
          <a:xfrm>
            <a:off x="4347393" y="2163690"/>
            <a:ext cx="2350567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대형 유통 슬롯팅 비용 및 마케팅 투자 부담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347393" y="2339711"/>
            <a:ext cx="2531223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코패킹(Co-packing) 활성화로 초기 제조 용이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4347393" y="2515735"/>
            <a:ext cx="2222985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온라인/SNS 기반 D2C 브랜드 진입 활발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rcRect l="-3561" r="-3561"/>
          <a:stretch/>
        </p:blipFill>
        <p:spPr>
          <a:xfrm>
            <a:off x="4214708" y="1738620"/>
            <a:ext cx="191883" cy="11991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491306" y="1699419"/>
            <a:ext cx="1514652" cy="176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NEW ENTRANTS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338931" y="1723247"/>
            <a:ext cx="631786" cy="12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3412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MEDIUM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4214708" y="1945390"/>
            <a:ext cx="2749644" cy="152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유통망 진입 장벽은 높으나, 기술적 장벽은 낮음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241300" y="3052259"/>
            <a:ext cx="3497783" cy="1529632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50800">
            <a:solidFill>
              <a:srgbClr val="22C55E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2000"/>
          </a:p>
        </p:txBody>
      </p:sp>
      <p:sp>
        <p:nvSpPr>
          <p:cNvPr id="27" name="Shape 20"/>
          <p:cNvSpPr/>
          <p:nvPr/>
        </p:nvSpPr>
        <p:spPr>
          <a:xfrm>
            <a:off x="2719449" y="3249036"/>
            <a:ext cx="797131" cy="176024"/>
          </a:xfrm>
          <a:prstGeom prst="roundRect">
            <a:avLst>
              <a:gd name="adj" fmla="val 43668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28" name="Text 21"/>
          <p:cNvSpPr txBox="1"/>
          <p:nvPr/>
        </p:nvSpPr>
        <p:spPr>
          <a:xfrm>
            <a:off x="597509" y="3884717"/>
            <a:ext cx="2158684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일반 원료(뼈, 야채)는 공급처 다수 존재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597509" y="4061509"/>
            <a:ext cx="2806800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'Organic', 'Grass-fed' 등 특수 원료는 공급 제한적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597509" y="4237532"/>
            <a:ext cx="2276059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대형 식품기업의 구매 파워가 공급자 압도</a:t>
            </a:r>
            <a:endParaRPr lang="en-US" sz="1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rcRect l="-3333" r="-3333"/>
          <a:stretch/>
        </p:blipFill>
        <p:spPr>
          <a:xfrm>
            <a:off x="463802" y="3283625"/>
            <a:ext cx="212296" cy="11991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61834" y="3244424"/>
            <a:ext cx="1120678" cy="176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2804164" y="3268253"/>
            <a:ext cx="717520" cy="12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6534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LOW-MED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463802" y="3491164"/>
            <a:ext cx="2622062" cy="152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원재료 공급처 다변화 가능, 특수 원료는 예외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440217" y="3052259"/>
            <a:ext cx="3497783" cy="1529632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50800">
            <a:solidFill>
              <a:srgbClr val="DC262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2000"/>
          </a:p>
        </p:txBody>
      </p:sp>
      <p:sp>
        <p:nvSpPr>
          <p:cNvPr id="36" name="Shape 28"/>
          <p:cNvSpPr/>
          <p:nvPr/>
        </p:nvSpPr>
        <p:spPr>
          <a:xfrm>
            <a:off x="10836715" y="3249036"/>
            <a:ext cx="882866" cy="176024"/>
          </a:xfrm>
          <a:prstGeom prst="roundRect">
            <a:avLst>
              <a:gd name="adj" fmla="val 436680"/>
            </a:avLst>
          </a:prstGeom>
          <a:solidFill>
            <a:srgbClr val="7F1D1D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37" name="Text 29"/>
          <p:cNvSpPr txBox="1"/>
          <p:nvPr/>
        </p:nvSpPr>
        <p:spPr>
          <a:xfrm>
            <a:off x="8797446" y="3884717"/>
            <a:ext cx="2700651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Walmart, Costco 등 대형 유통 채널의 과점 구조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8797446" y="4061509"/>
            <a:ext cx="2424054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소비자의 가격 민감도 상승 및 다양한 선택지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8797446" y="4237532"/>
            <a:ext cx="2350567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높은 품질 요구와 낮은 납품 단가 압박 병존</a:t>
            </a:r>
            <a:endParaRPr lang="en-US" sz="10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6"/>
          <a:srcRect l="-3561" r="-3561"/>
          <a:stretch/>
        </p:blipFill>
        <p:spPr>
          <a:xfrm>
            <a:off x="8663741" y="3283625"/>
            <a:ext cx="191883" cy="119911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940338" y="3244424"/>
            <a:ext cx="823668" cy="176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BUYERS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10922449" y="3268253"/>
            <a:ext cx="802234" cy="12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ECACA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VERY HIGH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8663741" y="3491164"/>
            <a:ext cx="2749644" cy="152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소매 유통사의 압도적 교섭력 및 낮은 전환 비용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3991185" y="4774057"/>
            <a:ext cx="4199993" cy="1352840"/>
          </a:xfrm>
          <a:prstGeom prst="roundRect">
            <a:avLst>
              <a:gd name="adj" fmla="val 2690"/>
            </a:avLst>
          </a:prstGeom>
          <a:solidFill>
            <a:srgbClr val="FFFFFF"/>
          </a:solidFill>
          <a:ln w="50800">
            <a:solidFill>
              <a:srgbClr val="DC262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2000"/>
          </a:p>
        </p:txBody>
      </p:sp>
      <p:sp>
        <p:nvSpPr>
          <p:cNvPr id="45" name="Shape 36"/>
          <p:cNvSpPr/>
          <p:nvPr/>
        </p:nvSpPr>
        <p:spPr>
          <a:xfrm>
            <a:off x="7455285" y="4970833"/>
            <a:ext cx="510327" cy="176024"/>
          </a:xfrm>
          <a:prstGeom prst="roundRect">
            <a:avLst>
              <a:gd name="adj" fmla="val 43668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46" name="Text 37"/>
          <p:cNvSpPr txBox="1"/>
          <p:nvPr/>
        </p:nvSpPr>
        <p:spPr>
          <a:xfrm>
            <a:off x="4347393" y="5430492"/>
            <a:ext cx="2551636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레스토랑 및 배달 앱(UberEats) 이용의 편의성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4347393" y="5606514"/>
            <a:ext cx="2222985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신선 밀키트(Meal Kit) 시장의 지속 성장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4347393" y="5782538"/>
            <a:ext cx="3200772" cy="14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직접 조리(Home Cooking) 대비 가격 경쟁력 열위 시 이탈</a:t>
            </a:r>
            <a:endParaRPr lang="en-US" sz="100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7"/>
          <a:srcRect l="-3480" r="-3480"/>
          <a:stretch/>
        </p:blipFill>
        <p:spPr>
          <a:xfrm>
            <a:off x="4214708" y="5005423"/>
            <a:ext cx="149015" cy="119911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4448438" y="4966221"/>
            <a:ext cx="1344202" cy="176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SUBSTITUTES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7540001" y="4990049"/>
            <a:ext cx="429695" cy="12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HIGH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4214708" y="5212192"/>
            <a:ext cx="2005586" cy="152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외식, 배달, 밀키트 등 대체재 풍부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3991185" y="3052259"/>
            <a:ext cx="4199993" cy="1529632"/>
          </a:xfrm>
          <a:prstGeom prst="roundRect">
            <a:avLst>
              <a:gd name="adj" fmla="val 2105"/>
            </a:avLst>
          </a:prstGeom>
          <a:solidFill>
            <a:srgbClr val="FFF1F2"/>
          </a:solidFill>
          <a:ln w="50800">
            <a:solidFill>
              <a:srgbClr val="FECACA"/>
            </a:solidFill>
            <a:prstDash val="solid"/>
          </a:ln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2000"/>
          </a:p>
        </p:txBody>
      </p:sp>
      <p:sp>
        <p:nvSpPr>
          <p:cNvPr id="54" name="Shape 44"/>
          <p:cNvSpPr/>
          <p:nvPr/>
        </p:nvSpPr>
        <p:spPr>
          <a:xfrm>
            <a:off x="7136842" y="3220596"/>
            <a:ext cx="924712" cy="184478"/>
          </a:xfrm>
          <a:prstGeom prst="roundRect">
            <a:avLst>
              <a:gd name="adj" fmla="val 416667"/>
            </a:avLst>
          </a:prstGeom>
          <a:solidFill>
            <a:srgbClr val="7F1D1D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55" name="Text 45"/>
          <p:cNvSpPr txBox="1"/>
          <p:nvPr/>
        </p:nvSpPr>
        <p:spPr>
          <a:xfrm>
            <a:off x="4260637" y="3703314"/>
            <a:ext cx="2945608" cy="152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Major Players: Nestle, Campbell 등 자본력 우위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4260637" y="3888560"/>
            <a:ext cx="2988476" cy="152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Private Label: Costco, Trader Joe's 등 저가 공세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4260637" y="4073039"/>
            <a:ext cx="2753725" cy="152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Niche Brands: Kettle &amp; Fire 등 프리미엄 선점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4260637" y="4258286"/>
            <a:ext cx="1893314" cy="152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가격 할인 및 프로모션 경쟁 심화</a:t>
            </a:r>
            <a:endParaRPr lang="en-US" sz="10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8"/>
          <a:srcRect l="-3914" r="-3914"/>
          <a:stretch/>
        </p:blipFill>
        <p:spPr>
          <a:xfrm>
            <a:off x="4120808" y="3248268"/>
            <a:ext cx="170450" cy="136053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4376992" y="3215984"/>
            <a:ext cx="898176" cy="19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1B1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RIVALRY</a:t>
            </a:r>
            <a:endParaRPr lang="en-US" sz="1200" dirty="0"/>
          </a:p>
        </p:txBody>
      </p:sp>
      <p:sp>
        <p:nvSpPr>
          <p:cNvPr id="61" name="Text 50"/>
          <p:cNvSpPr txBox="1"/>
          <p:nvPr/>
        </p:nvSpPr>
        <p:spPr>
          <a:xfrm>
            <a:off x="7225638" y="3241349"/>
            <a:ext cx="833875" cy="13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ECACA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VERY HIGH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4120808" y="3475022"/>
            <a:ext cx="2855791" cy="16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1D1D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메이저, PB, 스타트업 간의 치열한 점유율 경쟁</a:t>
            </a:r>
            <a:endParaRPr lang="en-US" sz="10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4B1EA3C-3268-11FF-BCE7-59859D0E95BA}"/>
              </a:ext>
            </a:extLst>
          </p:cNvPr>
          <p:cNvCxnSpPr>
            <a:cxnSpLocks/>
            <a:stCxn id="26" idx="3"/>
            <a:endCxn id="53" idx="1"/>
          </p:cNvCxnSpPr>
          <p:nvPr/>
        </p:nvCxnSpPr>
        <p:spPr>
          <a:xfrm>
            <a:off x="3739083" y="3817075"/>
            <a:ext cx="252102" cy="0"/>
          </a:xfrm>
          <a:prstGeom prst="straightConnector1">
            <a:avLst/>
          </a:prstGeom>
          <a:ln w="38100" cap="flat" cmpd="sng" algn="ctr">
            <a:solidFill>
              <a:srgbClr val="051C2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FA6764D-0B0B-FA60-3CCE-92A838C6DFA8}"/>
              </a:ext>
            </a:extLst>
          </p:cNvPr>
          <p:cNvCxnSpPr>
            <a:cxnSpLocks/>
            <a:stCxn id="17" idx="2"/>
            <a:endCxn id="53" idx="0"/>
          </p:cNvCxnSpPr>
          <p:nvPr/>
        </p:nvCxnSpPr>
        <p:spPr>
          <a:xfrm>
            <a:off x="6091182" y="2860094"/>
            <a:ext cx="0" cy="192165"/>
          </a:xfrm>
          <a:prstGeom prst="straightConnector1">
            <a:avLst/>
          </a:prstGeom>
          <a:ln w="38100" cap="flat" cmpd="sng" algn="ctr">
            <a:solidFill>
              <a:srgbClr val="051C2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415BE669-4713-FE3F-AF16-55E54C6140A8}"/>
              </a:ext>
            </a:extLst>
          </p:cNvPr>
          <p:cNvCxnSpPr>
            <a:cxnSpLocks/>
            <a:stCxn id="35" idx="1"/>
            <a:endCxn id="53" idx="3"/>
          </p:cNvCxnSpPr>
          <p:nvPr/>
        </p:nvCxnSpPr>
        <p:spPr>
          <a:xfrm flipH="1">
            <a:off x="8191178" y="3817075"/>
            <a:ext cx="249039" cy="0"/>
          </a:xfrm>
          <a:prstGeom prst="straightConnector1">
            <a:avLst/>
          </a:prstGeom>
          <a:ln w="38100" cap="flat" cmpd="sng" algn="ctr">
            <a:solidFill>
              <a:srgbClr val="051C2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DF7CFDD9-C9B8-B39F-8A0C-C6A4C285E1BC}"/>
              </a:ext>
            </a:extLst>
          </p:cNvPr>
          <p:cNvCxnSpPr>
            <a:cxnSpLocks/>
            <a:stCxn id="44" idx="0"/>
            <a:endCxn id="53" idx="2"/>
          </p:cNvCxnSpPr>
          <p:nvPr/>
        </p:nvCxnSpPr>
        <p:spPr>
          <a:xfrm flipV="1">
            <a:off x="6091182" y="4581891"/>
            <a:ext cx="0" cy="192166"/>
          </a:xfrm>
          <a:prstGeom prst="straightConnector1">
            <a:avLst/>
          </a:prstGeom>
          <a:ln w="38100" cap="flat" cmpd="sng" algn="ctr">
            <a:solidFill>
              <a:srgbClr val="051C2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Rectangle 13">
            <a:extLst>
              <a:ext uri="{FF2B5EF4-FFF2-40B4-BE49-F238E27FC236}">
                <a16:creationId xmlns:a16="http://schemas.microsoft.com/office/drawing/2014/main" id="{4AFC4D72-BA54-F6E8-8972-F40B327925C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28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B2B10874-1A0A-7013-5CB3-B9D109579458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741487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16712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INDUSTRY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483035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메이저·PB 중심의 치열한 경쟁(High)이 수익성을 압박하나, 니치 마켓과 </a:t>
              </a: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온라인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</a:t>
              </a: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채널이</a:t>
              </a:r>
              <a:endPara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endParaRPr>
            </a:p>
            <a:p>
              <a:pPr marL="0" indent="0" algn="l">
                <a:buNone/>
              </a:pP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신규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진입의 틈새를 제공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591556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5486400" cy="4828946"/>
            </a:xfrm>
            <a:prstGeom prst="roundRect">
              <a:avLst>
                <a:gd name="adj" fmla="val 29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828800"/>
              <a:ext cx="5467198" cy="694944"/>
            </a:xfrm>
            <a:prstGeom prst="rect">
              <a:avLst/>
            </a:prstGeom>
            <a:solidFill>
              <a:srgbClr val="FFF1F2"/>
            </a:solidFill>
            <a:ln w="50800">
              <a:solidFill>
                <a:srgbClr val="BE123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 l="-1648" r="-1648"/>
            <a:stretch/>
          </p:blipFill>
          <p:spPr>
            <a:xfrm>
              <a:off x="694944" y="2100377"/>
              <a:ext cx="171907" cy="190195"/>
            </a:xfrm>
            <a:prstGeom prst="rect">
              <a:avLst/>
            </a:prstGeom>
          </p:spPr>
        </p:pic>
        <p:sp>
          <p:nvSpPr>
            <p:cNvPr id="12" name="Text 9"/>
            <p:cNvSpPr txBox="1"/>
            <p:nvPr/>
          </p:nvSpPr>
          <p:spPr>
            <a:xfrm>
              <a:off x="942746" y="2048256"/>
              <a:ext cx="23911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기존 기업 간 경쟁 (Rivalry)</a:t>
              </a:r>
              <a:endParaRPr lang="en-US" sz="15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405579" y="2066544"/>
              <a:ext cx="1304849" cy="247802"/>
            </a:xfrm>
            <a:prstGeom prst="roundRect">
              <a:avLst>
                <a:gd name="adj" fmla="val 369004"/>
              </a:avLst>
            </a:prstGeom>
            <a:solidFill>
              <a:srgbClr val="BE123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4519879" y="2104949"/>
              <a:ext cx="11622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INTENSITY: HIGH</a:t>
              </a:r>
              <a:endParaRPr lang="en-US" sz="9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694944" y="2743200"/>
              <a:ext cx="8668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Global Majors</a:t>
              </a:r>
              <a:endParaRPr lang="en-US" sz="900" dirty="0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2902306" y="2743200"/>
              <a:ext cx="7717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Retailer PBs</a:t>
              </a:r>
              <a:endParaRPr lang="en-US" sz="9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5019142" y="2743200"/>
              <a:ext cx="7818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Small/Niche</a:t>
              </a:r>
              <a:endParaRPr lang="en-US" sz="90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694944" y="2980944"/>
              <a:ext cx="1981505" cy="75895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Shape 16"/>
            <p:cNvSpPr/>
            <p:nvPr/>
          </p:nvSpPr>
          <p:spPr>
            <a:xfrm>
              <a:off x="2706624" y="2980944"/>
              <a:ext cx="1485900" cy="7589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Shape 17"/>
            <p:cNvSpPr/>
            <p:nvPr/>
          </p:nvSpPr>
          <p:spPr>
            <a:xfrm>
              <a:off x="4225442" y="2980944"/>
              <a:ext cx="1485900" cy="75895"/>
            </a:xfrm>
            <a:prstGeom prst="rect">
              <a:avLst/>
            </a:prstGeom>
            <a:solidFill>
              <a:srgbClr val="CBD5E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18"/>
            <p:cNvSpPr/>
            <p:nvPr/>
          </p:nvSpPr>
          <p:spPr>
            <a:xfrm>
              <a:off x="694944" y="4144061"/>
              <a:ext cx="5009998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19"/>
            <p:cNvSpPr/>
            <p:nvPr/>
          </p:nvSpPr>
          <p:spPr>
            <a:xfrm>
              <a:off x="694944" y="3286354"/>
              <a:ext cx="418795" cy="418795"/>
            </a:xfrm>
            <a:prstGeom prst="roundRect">
              <a:avLst>
                <a:gd name="adj" fmla="val 39698"/>
              </a:avLst>
            </a:prstGeom>
            <a:solidFill>
              <a:srgbClr val="FFE4E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3" name="Image 1" descr="preencoded.png"/>
            <p:cNvPicPr>
              <a:picLocks noChangeAspect="1"/>
            </p:cNvPicPr>
            <p:nvPr/>
          </p:nvPicPr>
          <p:blipFill>
            <a:blip r:embed="rId4"/>
            <a:srcRect l="-1082" r="-1082"/>
            <a:stretch/>
          </p:blipFill>
          <p:spPr>
            <a:xfrm>
              <a:off x="823874" y="3405226"/>
              <a:ext cx="161849" cy="181051"/>
            </a:xfrm>
            <a:prstGeom prst="rect">
              <a:avLst/>
            </a:prstGeom>
          </p:spPr>
        </p:pic>
        <p:sp>
          <p:nvSpPr>
            <p:cNvPr id="24" name="Text 20"/>
            <p:cNvSpPr txBox="1"/>
            <p:nvPr/>
          </p:nvSpPr>
          <p:spPr>
            <a:xfrm>
              <a:off x="1266444" y="3286354"/>
              <a:ext cx="31245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과점 기업의 지배력 (Market Concentration)</a:t>
              </a:r>
              <a:endParaRPr lang="en-US" sz="1200" dirty="0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1266444" y="3552444"/>
              <a:ext cx="4529938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Nestlé, ConAgra 등 상위 4개사가 냉동/상온 HMR 매대의 60% 이상을 장악. 브랜드 파워와 자본력을 앞세운 방어 전략 전개.</a:t>
              </a:r>
              <a:endParaRPr lang="en-US" sz="1000" dirty="0"/>
            </a:p>
          </p:txBody>
        </p:sp>
        <p:sp>
          <p:nvSpPr>
            <p:cNvPr id="26" name="Shape 22"/>
            <p:cNvSpPr/>
            <p:nvPr/>
          </p:nvSpPr>
          <p:spPr>
            <a:xfrm>
              <a:off x="694944" y="5201107"/>
              <a:ext cx="5009998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3"/>
            <p:cNvSpPr/>
            <p:nvPr/>
          </p:nvSpPr>
          <p:spPr>
            <a:xfrm>
              <a:off x="694944" y="4343400"/>
              <a:ext cx="418795" cy="418795"/>
            </a:xfrm>
            <a:prstGeom prst="roundRect">
              <a:avLst>
                <a:gd name="adj" fmla="val 39698"/>
              </a:avLst>
            </a:prstGeom>
            <a:solidFill>
              <a:srgbClr val="FFE4E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8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14730" y="4462272"/>
              <a:ext cx="181051" cy="181051"/>
            </a:xfrm>
            <a:prstGeom prst="rect">
              <a:avLst/>
            </a:prstGeom>
          </p:spPr>
        </p:pic>
        <p:sp>
          <p:nvSpPr>
            <p:cNvPr id="29" name="Text 24"/>
            <p:cNvSpPr txBox="1"/>
            <p:nvPr/>
          </p:nvSpPr>
          <p:spPr>
            <a:xfrm>
              <a:off x="1266444" y="4343400"/>
              <a:ext cx="20674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PB(Private Brand)의 급성장</a:t>
              </a:r>
              <a:endParaRPr lang="en-US" sz="1200" dirty="0"/>
            </a:p>
          </p:txBody>
        </p:sp>
        <p:sp>
          <p:nvSpPr>
            <p:cNvPr id="30" name="Text 25"/>
            <p:cNvSpPr txBox="1"/>
            <p:nvPr/>
          </p:nvSpPr>
          <p:spPr>
            <a:xfrm>
              <a:off x="1266444" y="4610405"/>
              <a:ext cx="4262933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Costco(Kirkland), Kroger 등 유통사 PB가 '가성비'를 무기로 점유율 확대. NB(National Brand) 대비 20~30% 저렴한 가격으로 압박.</a:t>
              </a:r>
              <a:endParaRPr lang="en-US" sz="1000" dirty="0"/>
            </a:p>
          </p:txBody>
        </p:sp>
        <p:sp>
          <p:nvSpPr>
            <p:cNvPr id="31" name="Shape 26"/>
            <p:cNvSpPr/>
            <p:nvPr/>
          </p:nvSpPr>
          <p:spPr>
            <a:xfrm>
              <a:off x="694944" y="5400446"/>
              <a:ext cx="418795" cy="418795"/>
            </a:xfrm>
            <a:prstGeom prst="roundRect">
              <a:avLst>
                <a:gd name="adj" fmla="val 39698"/>
              </a:avLst>
            </a:prstGeom>
            <a:solidFill>
              <a:srgbClr val="FFE4E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2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814730" y="5519318"/>
              <a:ext cx="181051" cy="181051"/>
            </a:xfrm>
            <a:prstGeom prst="rect">
              <a:avLst/>
            </a:prstGeom>
          </p:spPr>
        </p:pic>
        <p:sp>
          <p:nvSpPr>
            <p:cNvPr id="33" name="Text 27"/>
            <p:cNvSpPr txBox="1"/>
            <p:nvPr/>
          </p:nvSpPr>
          <p:spPr>
            <a:xfrm>
              <a:off x="1266444" y="5400446"/>
              <a:ext cx="23820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가격 및 프로모션 전쟁 (Price War)</a:t>
              </a:r>
              <a:endParaRPr lang="en-US" sz="1200" dirty="0"/>
            </a:p>
          </p:txBody>
        </p:sp>
        <p:sp>
          <p:nvSpPr>
            <p:cNvPr id="34" name="Text 28"/>
            <p:cNvSpPr txBox="1"/>
            <p:nvPr/>
          </p:nvSpPr>
          <p:spPr>
            <a:xfrm>
              <a:off x="1266444" y="5667451"/>
              <a:ext cx="4539082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인플레이션으로 인한 소비자의 가격 민감도 상승으로 'Buy 1 Get 1' 등 상시 프로모션 경쟁 심화. 마진 구조 악화 요인.</a:t>
              </a:r>
              <a:endParaRPr lang="en-US" sz="1000" dirty="0"/>
            </a:p>
          </p:txBody>
        </p:sp>
        <p:sp>
          <p:nvSpPr>
            <p:cNvPr id="35" name="Shape 29"/>
            <p:cNvSpPr/>
            <p:nvPr/>
          </p:nvSpPr>
          <p:spPr>
            <a:xfrm>
              <a:off x="6248095" y="1819656"/>
              <a:ext cx="5486400" cy="4828946"/>
            </a:xfrm>
            <a:prstGeom prst="roundRect">
              <a:avLst>
                <a:gd name="adj" fmla="val 29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0"/>
            <p:cNvSpPr/>
            <p:nvPr/>
          </p:nvSpPr>
          <p:spPr>
            <a:xfrm>
              <a:off x="6258154" y="1828800"/>
              <a:ext cx="5467198" cy="694944"/>
            </a:xfrm>
            <a:prstGeom prst="rect">
              <a:avLst/>
            </a:prstGeom>
            <a:solidFill>
              <a:srgbClr val="FFF7ED"/>
            </a:solidFill>
            <a:ln w="508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7" name="Image 4" descr="preencoded.png"/>
            <p:cNvPicPr>
              <a:picLocks noChangeAspect="1"/>
            </p:cNvPicPr>
            <p:nvPr/>
          </p:nvPicPr>
          <p:blipFill>
            <a:blip r:embed="rId7"/>
            <a:srcRect l="-1282" r="-1282"/>
            <a:stretch/>
          </p:blipFill>
          <p:spPr>
            <a:xfrm>
              <a:off x="6486754" y="2100377"/>
              <a:ext cx="219456" cy="190195"/>
            </a:xfrm>
            <a:prstGeom prst="rect">
              <a:avLst/>
            </a:prstGeom>
          </p:spPr>
        </p:pic>
        <p:sp>
          <p:nvSpPr>
            <p:cNvPr id="38" name="Text 31"/>
            <p:cNvSpPr txBox="1"/>
            <p:nvPr/>
          </p:nvSpPr>
          <p:spPr>
            <a:xfrm>
              <a:off x="6782105" y="2048256"/>
              <a:ext cx="265816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신규 진입의 위협 (New Entry)</a:t>
              </a:r>
              <a:endParaRPr lang="en-US" sz="1500" dirty="0"/>
            </a:p>
          </p:txBody>
        </p:sp>
        <p:sp>
          <p:nvSpPr>
            <p:cNvPr id="39" name="Shape 32"/>
            <p:cNvSpPr/>
            <p:nvPr/>
          </p:nvSpPr>
          <p:spPr>
            <a:xfrm>
              <a:off x="10116922" y="2066544"/>
              <a:ext cx="1380744" cy="247802"/>
            </a:xfrm>
            <a:prstGeom prst="roundRect">
              <a:avLst>
                <a:gd name="adj" fmla="val 369004"/>
              </a:avLst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3"/>
            <p:cNvSpPr txBox="1"/>
            <p:nvPr/>
          </p:nvSpPr>
          <p:spPr>
            <a:xfrm>
              <a:off x="10231222" y="2104949"/>
              <a:ext cx="12390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BARRIER: MEDIUM</a:t>
              </a:r>
              <a:endParaRPr lang="en-US" sz="900" dirty="0"/>
            </a:p>
          </p:txBody>
        </p:sp>
        <p:sp>
          <p:nvSpPr>
            <p:cNvPr id="41" name="Shape 34"/>
            <p:cNvSpPr/>
            <p:nvPr/>
          </p:nvSpPr>
          <p:spPr>
            <a:xfrm>
              <a:off x="6486754" y="2752344"/>
              <a:ext cx="5009998" cy="685800"/>
            </a:xfrm>
            <a:prstGeom prst="roundRect">
              <a:avLst>
                <a:gd name="adj" fmla="val 7407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35"/>
            <p:cNvSpPr txBox="1"/>
            <p:nvPr/>
          </p:nvSpPr>
          <p:spPr>
            <a:xfrm>
              <a:off x="6610198" y="2885846"/>
              <a:ext cx="4586630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전통적인 오프라인 유통 장벽은 높으나, 온라인/D2C 채널과 세분화된 소비자 니즈(Wellness, Ethnic)가 우회 진입로를 열어줌.</a:t>
              </a:r>
              <a:endParaRPr lang="en-US" sz="1000" dirty="0"/>
            </a:p>
          </p:txBody>
        </p:sp>
        <p:sp>
          <p:nvSpPr>
            <p:cNvPr id="43" name="Shape 36"/>
            <p:cNvSpPr/>
            <p:nvPr/>
          </p:nvSpPr>
          <p:spPr>
            <a:xfrm>
              <a:off x="6486754" y="4482389"/>
              <a:ext cx="5009998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37"/>
            <p:cNvSpPr/>
            <p:nvPr/>
          </p:nvSpPr>
          <p:spPr>
            <a:xfrm>
              <a:off x="6486754" y="3624682"/>
              <a:ext cx="418795" cy="418795"/>
            </a:xfrm>
            <a:prstGeom prst="roundRect">
              <a:avLst>
                <a:gd name="adj" fmla="val 39698"/>
              </a:avLst>
            </a:prstGeom>
            <a:solidFill>
              <a:srgbClr val="FFEDD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5" name="Image 5" descr="preencoded.png"/>
            <p:cNvPicPr>
              <a:picLocks noChangeAspect="1"/>
            </p:cNvPicPr>
            <p:nvPr/>
          </p:nvPicPr>
          <p:blipFill>
            <a:blip r:embed="rId8"/>
            <a:srcRect l="-505" r="-505"/>
            <a:stretch/>
          </p:blipFill>
          <p:spPr>
            <a:xfrm>
              <a:off x="6581851" y="3743554"/>
              <a:ext cx="228600" cy="181051"/>
            </a:xfrm>
            <a:prstGeom prst="rect">
              <a:avLst/>
            </a:prstGeom>
          </p:spPr>
        </p:pic>
        <p:sp>
          <p:nvSpPr>
            <p:cNvPr id="46" name="Text 38"/>
            <p:cNvSpPr txBox="1"/>
            <p:nvPr/>
          </p:nvSpPr>
          <p:spPr>
            <a:xfrm>
              <a:off x="7058254" y="3624682"/>
              <a:ext cx="21241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높은 유통 진입 장벽 (Barriers)</a:t>
              </a:r>
              <a:endParaRPr lang="en-US" sz="1200" dirty="0"/>
            </a:p>
          </p:txBody>
        </p:sp>
        <p:sp>
          <p:nvSpPr>
            <p:cNvPr id="47" name="Text 39"/>
            <p:cNvSpPr txBox="1"/>
            <p:nvPr/>
          </p:nvSpPr>
          <p:spPr>
            <a:xfrm>
              <a:off x="7058254" y="3890772"/>
              <a:ext cx="4463186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주류 대형마트 입점을 위한 높은 Slotting Fee(입점비)와 엄격한 공급망 요건 충족 필요. 초기 자본 부담 큼.</a:t>
              </a:r>
              <a:endParaRPr lang="en-US" sz="1000" dirty="0"/>
            </a:p>
          </p:txBody>
        </p:sp>
        <p:sp>
          <p:nvSpPr>
            <p:cNvPr id="48" name="Shape 40"/>
            <p:cNvSpPr/>
            <p:nvPr/>
          </p:nvSpPr>
          <p:spPr>
            <a:xfrm>
              <a:off x="6486754" y="5539435"/>
              <a:ext cx="5009998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41"/>
            <p:cNvSpPr/>
            <p:nvPr/>
          </p:nvSpPr>
          <p:spPr>
            <a:xfrm>
              <a:off x="6486754" y="4681728"/>
              <a:ext cx="418795" cy="418795"/>
            </a:xfrm>
            <a:prstGeom prst="roundRect">
              <a:avLst>
                <a:gd name="adj" fmla="val 39698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0" name="Image 6" descr="preencoded.png"/>
            <p:cNvPicPr>
              <a:picLocks noChangeAspect="1"/>
            </p:cNvPicPr>
            <p:nvPr/>
          </p:nvPicPr>
          <p:blipFill>
            <a:blip r:embed="rId9"/>
            <a:srcRect l="-505" r="-505"/>
            <a:stretch/>
          </p:blipFill>
          <p:spPr>
            <a:xfrm>
              <a:off x="6581851" y="4800600"/>
              <a:ext cx="228600" cy="181051"/>
            </a:xfrm>
            <a:prstGeom prst="rect">
              <a:avLst/>
            </a:prstGeom>
          </p:spPr>
        </p:pic>
        <p:sp>
          <p:nvSpPr>
            <p:cNvPr id="51" name="Text 42"/>
            <p:cNvSpPr txBox="1"/>
            <p:nvPr/>
          </p:nvSpPr>
          <p:spPr>
            <a:xfrm>
              <a:off x="7058254" y="4681728"/>
              <a:ext cx="21433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디지털 채널의 기회 (Enablers)</a:t>
              </a:r>
              <a:endParaRPr lang="en-US" sz="1200" dirty="0"/>
            </a:p>
          </p:txBody>
        </p:sp>
        <p:sp>
          <p:nvSpPr>
            <p:cNvPr id="52" name="Text 43"/>
            <p:cNvSpPr txBox="1"/>
            <p:nvPr/>
          </p:nvSpPr>
          <p:spPr>
            <a:xfrm>
              <a:off x="7058254" y="4947818"/>
              <a:ext cx="4463186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Amazon, 자사몰(D2C)을 통한 진입 용이. 소비자 리뷰와 팬덤을 먼저 구축한 뒤 오프라인으로 역진출(Reverse-entry)하는 전략 유효.</a:t>
              </a:r>
              <a:endParaRPr lang="en-US" sz="1000" dirty="0"/>
            </a:p>
          </p:txBody>
        </p:sp>
        <p:sp>
          <p:nvSpPr>
            <p:cNvPr id="53" name="Shape 44"/>
            <p:cNvSpPr/>
            <p:nvPr/>
          </p:nvSpPr>
          <p:spPr>
            <a:xfrm>
              <a:off x="6486754" y="5738774"/>
              <a:ext cx="418795" cy="418795"/>
            </a:xfrm>
            <a:prstGeom prst="roundRect">
              <a:avLst>
                <a:gd name="adj" fmla="val 39698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4" name="Image 7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605626" y="5857646"/>
              <a:ext cx="181051" cy="181051"/>
            </a:xfrm>
            <a:prstGeom prst="rect">
              <a:avLst/>
            </a:prstGeom>
          </p:spPr>
        </p:pic>
        <p:sp>
          <p:nvSpPr>
            <p:cNvPr id="55" name="Text 45"/>
            <p:cNvSpPr txBox="1"/>
            <p:nvPr/>
          </p:nvSpPr>
          <p:spPr>
            <a:xfrm>
              <a:off x="7058254" y="5738774"/>
              <a:ext cx="28867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니치/프리미엄 세그먼트 (Differentiation)</a:t>
              </a:r>
              <a:endParaRPr lang="en-US" sz="1200" dirty="0"/>
            </a:p>
          </p:txBody>
        </p:sp>
        <p:sp>
          <p:nvSpPr>
            <p:cNvPr id="56" name="Text 46"/>
            <p:cNvSpPr txBox="1"/>
            <p:nvPr/>
          </p:nvSpPr>
          <p:spPr>
            <a:xfrm>
              <a:off x="7058254" y="6005779"/>
              <a:ext cx="4472330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K-Food, Bone Broth, Plant-based 등 메이저가 커버하지 못하는 특화 영역에서는 신규 브랜드 수용도가 높음.</a:t>
              </a:r>
              <a:endParaRPr lang="en-US" sz="1000" dirty="0"/>
            </a:p>
          </p:txBody>
        </p:sp>
        <p:sp>
          <p:nvSpPr>
            <p:cNvPr id="57" name="Shape 47"/>
            <p:cNvSpPr/>
            <p:nvPr/>
          </p:nvSpPr>
          <p:spPr>
            <a:xfrm>
              <a:off x="0" y="702442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Shape 48"/>
            <p:cNvSpPr/>
            <p:nvPr/>
          </p:nvSpPr>
          <p:spPr>
            <a:xfrm>
              <a:off x="0" y="702442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 49"/>
            <p:cNvSpPr txBox="1"/>
            <p:nvPr/>
          </p:nvSpPr>
          <p:spPr>
            <a:xfrm>
              <a:off x="457200" y="7138721"/>
              <a:ext cx="6448349" cy="213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IBISWorld US Frozen Food Manufacturing Report, McKinsey Consumer Sentiment Survey 2024</a:t>
              </a:r>
              <a:endParaRPr lang="en-US" sz="900" dirty="0"/>
            </a:p>
          </p:txBody>
        </p:sp>
      </p:grpSp>
      <p:sp>
        <p:nvSpPr>
          <p:cNvPr id="62" name="Rectangle 13">
            <a:extLst>
              <a:ext uri="{FF2B5EF4-FFF2-40B4-BE49-F238E27FC236}">
                <a16:creationId xmlns:a16="http://schemas.microsoft.com/office/drawing/2014/main" id="{4E0BA656-42F0-F0BE-EBFF-A44D704ABDE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29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그룹 64">
            <a:extLst>
              <a:ext uri="{FF2B5EF4-FFF2-40B4-BE49-F238E27FC236}">
                <a16:creationId xmlns:a16="http://schemas.microsoft.com/office/drawing/2014/main" id="{8DEB6508-5339-208A-3FAB-0C5256F50487}"/>
              </a:ext>
            </a:extLst>
          </p:cNvPr>
          <p:cNvGrpSpPr/>
          <p:nvPr/>
        </p:nvGrpSpPr>
        <p:grpSpPr>
          <a:xfrm>
            <a:off x="0" y="1"/>
            <a:ext cx="12191695" cy="6819446"/>
            <a:chOff x="0" y="0"/>
            <a:chExt cx="12191695" cy="8248802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71942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PORTER'S 5 FORCES ANALYSIS (2)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472977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외식·배달앱이 강력한 대체재로 작용하며, </a:t>
              </a:r>
            </a:p>
            <a:p>
              <a:pPr marL="0" indent="0" algn="l">
                <a:buNone/>
              </a:pP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대형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유통사의 구매자 교섭력(Buyer Power)이 가격을 통제함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6467551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5486400" cy="5705856"/>
            </a:xfrm>
            <a:prstGeom prst="roundRect">
              <a:avLst>
                <a:gd name="adj" fmla="val 2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828800"/>
              <a:ext cx="5467198" cy="694944"/>
            </a:xfrm>
            <a:prstGeom prst="rect">
              <a:avLst/>
            </a:prstGeom>
            <a:solidFill>
              <a:srgbClr val="FFF1F2"/>
            </a:solidFill>
            <a:ln w="50800">
              <a:solidFill>
                <a:srgbClr val="E11D4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 l="-1648" r="-1648"/>
            <a:stretch/>
          </p:blipFill>
          <p:spPr>
            <a:xfrm>
              <a:off x="694944" y="2100377"/>
              <a:ext cx="171907" cy="190195"/>
            </a:xfrm>
            <a:prstGeom prst="rect">
              <a:avLst/>
            </a:prstGeom>
          </p:spPr>
        </p:pic>
        <p:sp>
          <p:nvSpPr>
            <p:cNvPr id="12" name="Text 9"/>
            <p:cNvSpPr txBox="1"/>
            <p:nvPr/>
          </p:nvSpPr>
          <p:spPr>
            <a:xfrm>
              <a:off x="942746" y="2048256"/>
              <a:ext cx="2524658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대체재의 위협 (Substitutes)</a:t>
              </a:r>
              <a:endParaRPr lang="en-US" sz="15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705502" y="2066544"/>
              <a:ext cx="1000354" cy="247802"/>
            </a:xfrm>
            <a:prstGeom prst="roundRect">
              <a:avLst>
                <a:gd name="adj" fmla="val 369004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4796942" y="2104949"/>
              <a:ext cx="9052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91B1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HIGH THREAT</a:t>
              </a:r>
              <a:endParaRPr lang="en-US" sz="9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694944" y="2762402"/>
              <a:ext cx="5082235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소비자에게 HMR은 '한 끼 식사'를 위한 여러 옵션 중 하나일 뿐이며, 엔데믹 이후 외식 수요 회복과 배달앱의 편의성이 HMR의 성장을 위협하고 있습니다.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694944" y="4272077"/>
              <a:ext cx="5009998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694944" y="3414370"/>
              <a:ext cx="457200" cy="457200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1" descr="preencoded.png"/>
            <p:cNvPicPr>
              <a:picLocks noChangeAspect="1"/>
            </p:cNvPicPr>
            <p:nvPr/>
          </p:nvPicPr>
          <p:blipFill>
            <a:blip r:embed="rId4"/>
            <a:srcRect l="-1282" r="-1282"/>
            <a:stretch/>
          </p:blipFill>
          <p:spPr>
            <a:xfrm>
              <a:off x="814730" y="3547872"/>
              <a:ext cx="219456" cy="190195"/>
            </a:xfrm>
            <a:prstGeom prst="rect">
              <a:avLst/>
            </a:prstGeom>
          </p:spPr>
        </p:pic>
        <p:sp>
          <p:nvSpPr>
            <p:cNvPr id="19" name="Text 15"/>
            <p:cNvSpPr txBox="1"/>
            <p:nvPr/>
          </p:nvSpPr>
          <p:spPr>
            <a:xfrm>
              <a:off x="1304849" y="3414370"/>
              <a:ext cx="14484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외식 (Restaurants)</a:t>
              </a:r>
              <a:endParaRPr lang="en-US" sz="12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4986223" y="3414370"/>
              <a:ext cx="724205" cy="228600"/>
            </a:xfrm>
            <a:prstGeom prst="roundRect">
              <a:avLst>
                <a:gd name="adj" fmla="val 66667"/>
              </a:avLst>
            </a:prstGeom>
            <a:solidFill>
              <a:srgbClr val="FEF2F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5062118" y="3424428"/>
              <a:ext cx="6574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EF444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경험가치 ↑</a:t>
              </a:r>
              <a:endParaRPr lang="en-US" sz="900" dirty="0"/>
            </a:p>
          </p:txBody>
        </p:sp>
        <p:sp>
          <p:nvSpPr>
            <p:cNvPr id="22" name="Text 18"/>
            <p:cNvSpPr txBox="1"/>
            <p:nvPr/>
          </p:nvSpPr>
          <p:spPr>
            <a:xfrm>
              <a:off x="1304849" y="3681374"/>
              <a:ext cx="4433926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단순한 끼니 해결을 넘어선 '미식 경험'과 '사회적 교류'를 제공. 인플레이션에도 불구하고 보복 소비 성향 지속으로 강력한 대체재로 작용.</a:t>
              </a:r>
              <a:endParaRPr lang="en-US" sz="1000" dirty="0"/>
            </a:p>
          </p:txBody>
        </p:sp>
        <p:sp>
          <p:nvSpPr>
            <p:cNvPr id="23" name="Shape 19"/>
            <p:cNvSpPr/>
            <p:nvPr/>
          </p:nvSpPr>
          <p:spPr>
            <a:xfrm>
              <a:off x="694944" y="5330038"/>
              <a:ext cx="5009998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20"/>
            <p:cNvSpPr/>
            <p:nvPr/>
          </p:nvSpPr>
          <p:spPr>
            <a:xfrm>
              <a:off x="694944" y="4472330"/>
              <a:ext cx="457200" cy="457200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5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04672" y="4604918"/>
              <a:ext cx="237744" cy="190195"/>
            </a:xfrm>
            <a:prstGeom prst="rect">
              <a:avLst/>
            </a:prstGeom>
          </p:spPr>
        </p:pic>
        <p:sp>
          <p:nvSpPr>
            <p:cNvPr id="26" name="Text 21"/>
            <p:cNvSpPr txBox="1"/>
            <p:nvPr/>
          </p:nvSpPr>
          <p:spPr>
            <a:xfrm>
              <a:off x="1304849" y="4472330"/>
              <a:ext cx="19147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음식 배달 (Delivery Apps)</a:t>
              </a:r>
              <a:endParaRPr lang="en-US" sz="1200" dirty="0"/>
            </a:p>
          </p:txBody>
        </p:sp>
        <p:sp>
          <p:nvSpPr>
            <p:cNvPr id="27" name="Shape 22"/>
            <p:cNvSpPr/>
            <p:nvPr/>
          </p:nvSpPr>
          <p:spPr>
            <a:xfrm>
              <a:off x="4995367" y="4472330"/>
              <a:ext cx="714146" cy="228600"/>
            </a:xfrm>
            <a:prstGeom prst="roundRect">
              <a:avLst>
                <a:gd name="adj" fmla="val 66667"/>
              </a:avLst>
            </a:prstGeom>
            <a:solidFill>
              <a:srgbClr val="FEF2F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3"/>
            <p:cNvSpPr txBox="1"/>
            <p:nvPr/>
          </p:nvSpPr>
          <p:spPr>
            <a:xfrm>
              <a:off x="5071262" y="4481474"/>
              <a:ext cx="64831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EF444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편의성 극대</a:t>
              </a:r>
              <a:endParaRPr lang="en-US" sz="900" dirty="0"/>
            </a:p>
          </p:txBody>
        </p:sp>
        <p:sp>
          <p:nvSpPr>
            <p:cNvPr id="29" name="Text 24"/>
            <p:cNvSpPr txBox="1"/>
            <p:nvPr/>
          </p:nvSpPr>
          <p:spPr>
            <a:xfrm>
              <a:off x="1304849" y="4738421"/>
              <a:ext cx="4482389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UberEats, DoorDash 등 플랫폼의 고도화로 조리 과정 없는 즉시 섭취(RTE) 경쟁력 보유. HMR의 '간편함'이라는 핵심 가치를 잠식.</a:t>
              </a:r>
              <a:endParaRPr lang="en-US" sz="1000" dirty="0"/>
            </a:p>
          </p:txBody>
        </p:sp>
        <p:sp>
          <p:nvSpPr>
            <p:cNvPr id="30" name="Shape 25"/>
            <p:cNvSpPr/>
            <p:nvPr/>
          </p:nvSpPr>
          <p:spPr>
            <a:xfrm>
              <a:off x="694944" y="5529377"/>
              <a:ext cx="457200" cy="457200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1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828446" y="5662879"/>
              <a:ext cx="190195" cy="190195"/>
            </a:xfrm>
            <a:prstGeom prst="rect">
              <a:avLst/>
            </a:prstGeom>
          </p:spPr>
        </p:pic>
        <p:sp>
          <p:nvSpPr>
            <p:cNvPr id="32" name="Text 26"/>
            <p:cNvSpPr txBox="1"/>
            <p:nvPr/>
          </p:nvSpPr>
          <p:spPr>
            <a:xfrm>
              <a:off x="1304849" y="5529377"/>
              <a:ext cx="26106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가정 내 직접 조리 (Scratch Cooking)</a:t>
              </a:r>
              <a:endParaRPr lang="en-US" sz="1200" dirty="0"/>
            </a:p>
          </p:txBody>
        </p:sp>
        <p:sp>
          <p:nvSpPr>
            <p:cNvPr id="33" name="Shape 27"/>
            <p:cNvSpPr/>
            <p:nvPr/>
          </p:nvSpPr>
          <p:spPr>
            <a:xfrm>
              <a:off x="5132527" y="5529377"/>
              <a:ext cx="580644" cy="228600"/>
            </a:xfrm>
            <a:prstGeom prst="roundRect">
              <a:avLst>
                <a:gd name="adj" fmla="val 66667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28"/>
            <p:cNvSpPr txBox="1"/>
            <p:nvPr/>
          </p:nvSpPr>
          <p:spPr>
            <a:xfrm>
              <a:off x="5208422" y="5538521"/>
              <a:ext cx="5148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B82F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비용절감</a:t>
              </a:r>
              <a:endParaRPr lang="en-US" sz="900" dirty="0"/>
            </a:p>
          </p:txBody>
        </p:sp>
        <p:sp>
          <p:nvSpPr>
            <p:cNvPr id="35" name="Text 29"/>
            <p:cNvSpPr txBox="1"/>
            <p:nvPr/>
          </p:nvSpPr>
          <p:spPr>
            <a:xfrm>
              <a:off x="1304849" y="5796382"/>
              <a:ext cx="4443984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고물가 시대에 가공식품 가격 상승에 대한 반작용으로 원물 식재료 구매 후 직접 요리하는 알뜰 소비층 증가.</a:t>
              </a:r>
              <a:endParaRPr lang="en-US" sz="1000" dirty="0"/>
            </a:p>
          </p:txBody>
        </p:sp>
        <p:sp>
          <p:nvSpPr>
            <p:cNvPr id="36" name="Shape 30"/>
            <p:cNvSpPr/>
            <p:nvPr/>
          </p:nvSpPr>
          <p:spPr>
            <a:xfrm>
              <a:off x="6248095" y="1819656"/>
              <a:ext cx="5486400" cy="5705856"/>
            </a:xfrm>
            <a:prstGeom prst="roundRect">
              <a:avLst>
                <a:gd name="adj" fmla="val 2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31"/>
            <p:cNvSpPr/>
            <p:nvPr/>
          </p:nvSpPr>
          <p:spPr>
            <a:xfrm>
              <a:off x="6258154" y="1828800"/>
              <a:ext cx="5467198" cy="694944"/>
            </a:xfrm>
            <a:prstGeom prst="rect">
              <a:avLst/>
            </a:prstGeom>
            <a:solidFill>
              <a:srgbClr val="FFF7ED"/>
            </a:solidFill>
            <a:ln w="508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8" name="Image 4" descr="preencoded.png"/>
            <p:cNvPicPr>
              <a:picLocks noChangeAspect="1"/>
            </p:cNvPicPr>
            <p:nvPr/>
          </p:nvPicPr>
          <p:blipFill>
            <a:blip r:embed="rId7"/>
            <a:srcRect l="-1282" r="-1282"/>
            <a:stretch/>
          </p:blipFill>
          <p:spPr>
            <a:xfrm>
              <a:off x="6486754" y="2100377"/>
              <a:ext cx="219456" cy="190195"/>
            </a:xfrm>
            <a:prstGeom prst="rect">
              <a:avLst/>
            </a:prstGeom>
          </p:spPr>
        </p:pic>
        <p:sp>
          <p:nvSpPr>
            <p:cNvPr id="39" name="Text 32"/>
            <p:cNvSpPr txBox="1"/>
            <p:nvPr/>
          </p:nvSpPr>
          <p:spPr>
            <a:xfrm>
              <a:off x="6782105" y="2048256"/>
              <a:ext cx="253380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교섭력 (Bargaining Power)</a:t>
              </a:r>
              <a:endParaRPr lang="en-US" sz="1500" dirty="0"/>
            </a:p>
          </p:txBody>
        </p:sp>
        <p:sp>
          <p:nvSpPr>
            <p:cNvPr id="40" name="Shape 33"/>
            <p:cNvSpPr/>
            <p:nvPr/>
          </p:nvSpPr>
          <p:spPr>
            <a:xfrm>
              <a:off x="10439705" y="2066544"/>
              <a:ext cx="1057046" cy="247802"/>
            </a:xfrm>
            <a:prstGeom prst="roundRect">
              <a:avLst>
                <a:gd name="adj" fmla="val 369004"/>
              </a:avLst>
            </a:prstGeom>
            <a:solidFill>
              <a:srgbClr val="FFEDD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4"/>
            <p:cNvSpPr txBox="1"/>
            <p:nvPr/>
          </p:nvSpPr>
          <p:spPr>
            <a:xfrm>
              <a:off x="10531145" y="2104949"/>
              <a:ext cx="9628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A3412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CRITICAL RISK</a:t>
              </a:r>
              <a:endParaRPr lang="en-US" sz="900" dirty="0"/>
            </a:p>
          </p:txBody>
        </p:sp>
        <p:sp>
          <p:nvSpPr>
            <p:cNvPr id="42" name="Shape 35"/>
            <p:cNvSpPr/>
            <p:nvPr/>
          </p:nvSpPr>
          <p:spPr>
            <a:xfrm>
              <a:off x="6486754" y="2752344"/>
              <a:ext cx="5009998" cy="2152498"/>
            </a:xfrm>
            <a:prstGeom prst="roundRect">
              <a:avLst>
                <a:gd name="adj" fmla="val 1504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3" name="Image 5" descr="preencoded.png"/>
            <p:cNvPicPr>
              <a:picLocks noChangeAspect="1"/>
            </p:cNvPicPr>
            <p:nvPr/>
          </p:nvPicPr>
          <p:blipFill>
            <a:blip r:embed="rId8"/>
            <a:srcRect l="-1282" r="-1282"/>
            <a:stretch/>
          </p:blipFill>
          <p:spPr>
            <a:xfrm>
              <a:off x="6486754" y="2781605"/>
              <a:ext cx="219456" cy="190195"/>
            </a:xfrm>
            <a:prstGeom prst="rect">
              <a:avLst/>
            </a:prstGeom>
          </p:spPr>
        </p:pic>
        <p:sp>
          <p:nvSpPr>
            <p:cNvPr id="44" name="Text 36"/>
            <p:cNvSpPr txBox="1"/>
            <p:nvPr/>
          </p:nvSpPr>
          <p:spPr>
            <a:xfrm>
              <a:off x="6782105" y="2762402"/>
              <a:ext cx="21241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구매자 교섭력 (Buyer Power)</a:t>
              </a:r>
              <a:endParaRPr lang="en-US" sz="1200" dirty="0"/>
            </a:p>
          </p:txBody>
        </p:sp>
        <p:sp>
          <p:nvSpPr>
            <p:cNvPr id="45" name="Shape 37"/>
            <p:cNvSpPr/>
            <p:nvPr/>
          </p:nvSpPr>
          <p:spPr>
            <a:xfrm>
              <a:off x="10662818" y="2752344"/>
              <a:ext cx="838505" cy="247802"/>
            </a:xfrm>
            <a:prstGeom prst="roundRect">
              <a:avLst>
                <a:gd name="adj" fmla="val 369004"/>
              </a:avLst>
            </a:prstGeom>
            <a:solidFill>
              <a:srgbClr val="FFEDD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38"/>
            <p:cNvSpPr txBox="1"/>
            <p:nvPr/>
          </p:nvSpPr>
          <p:spPr>
            <a:xfrm>
              <a:off x="10754258" y="2790749"/>
              <a:ext cx="7434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A3412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VERY HIGH</a:t>
              </a:r>
              <a:endParaRPr lang="en-US" sz="900" dirty="0"/>
            </a:p>
          </p:txBody>
        </p:sp>
        <p:sp>
          <p:nvSpPr>
            <p:cNvPr id="47" name="Shape 39"/>
            <p:cNvSpPr/>
            <p:nvPr/>
          </p:nvSpPr>
          <p:spPr>
            <a:xfrm>
              <a:off x="6486754" y="3114446"/>
              <a:ext cx="5009998" cy="75895"/>
            </a:xfrm>
            <a:prstGeom prst="roundRect">
              <a:avLst>
                <a:gd name="adj" fmla="val 602411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Shape 40"/>
            <p:cNvSpPr/>
            <p:nvPr/>
          </p:nvSpPr>
          <p:spPr>
            <a:xfrm>
              <a:off x="6486754" y="3305556"/>
              <a:ext cx="5009998" cy="1600200"/>
            </a:xfrm>
            <a:prstGeom prst="roundRect">
              <a:avLst>
                <a:gd name="adj" fmla="val 2721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1"/>
            <p:cNvSpPr txBox="1"/>
            <p:nvPr/>
          </p:nvSpPr>
          <p:spPr>
            <a:xfrm>
              <a:off x="6801307" y="3457346"/>
              <a:ext cx="456742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유통 과점화: Walmart, Costco, Kroger, Target 등 상위 4-5개 유통사가 미국 식료품 시장의 압도적 점유율 보유.</a:t>
              </a:r>
              <a:endParaRPr lang="en-US" sz="1000" dirty="0"/>
            </a:p>
          </p:txBody>
        </p:sp>
        <p:sp>
          <p:nvSpPr>
            <p:cNvPr id="50" name="Text 42"/>
            <p:cNvSpPr txBox="1"/>
            <p:nvPr/>
          </p:nvSpPr>
          <p:spPr>
            <a:xfrm>
              <a:off x="6801307" y="3907231"/>
              <a:ext cx="453908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Slotting Fees: 매대 확보를 위한 입점비(Slotting Allowance)와 판촉비 요구 수준이 매우 높아 신규 진입 기업에 치명적.</a:t>
              </a:r>
              <a:endParaRPr lang="en-US" sz="1000" dirty="0"/>
            </a:p>
          </p:txBody>
        </p:sp>
        <p:sp>
          <p:nvSpPr>
            <p:cNvPr id="51" name="Text 43"/>
            <p:cNvSpPr txBox="1"/>
            <p:nvPr/>
          </p:nvSpPr>
          <p:spPr>
            <a:xfrm>
              <a:off x="6801307" y="4356202"/>
              <a:ext cx="4558284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PB(Private Brand) 위협: 유통사가 자사 PB 상품(예: Kirkland, Great Value)을 확대하며 HMR 제조사의 경쟁자이자 고객으로 군림.</a:t>
              </a:r>
              <a:endParaRPr lang="en-US" sz="1000" dirty="0"/>
            </a:p>
          </p:txBody>
        </p:sp>
        <p:sp>
          <p:nvSpPr>
            <p:cNvPr id="52" name="Shape 44"/>
            <p:cNvSpPr/>
            <p:nvPr/>
          </p:nvSpPr>
          <p:spPr>
            <a:xfrm>
              <a:off x="6486754" y="5358384"/>
              <a:ext cx="5009998" cy="1705356"/>
            </a:xfrm>
            <a:prstGeom prst="roundRect">
              <a:avLst>
                <a:gd name="adj" fmla="val 2396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3" name="Image 6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6486754" y="5386730"/>
              <a:ext cx="237744" cy="190195"/>
            </a:xfrm>
            <a:prstGeom prst="rect">
              <a:avLst/>
            </a:prstGeom>
          </p:spPr>
        </p:pic>
        <p:sp>
          <p:nvSpPr>
            <p:cNvPr id="54" name="Text 45"/>
            <p:cNvSpPr txBox="1"/>
            <p:nvPr/>
          </p:nvSpPr>
          <p:spPr>
            <a:xfrm>
              <a:off x="6801307" y="5367528"/>
              <a:ext cx="23152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공급자 교섭력 (Supplier Power)</a:t>
              </a:r>
              <a:endParaRPr lang="en-US" sz="1200" dirty="0"/>
            </a:p>
          </p:txBody>
        </p:sp>
        <p:sp>
          <p:nvSpPr>
            <p:cNvPr id="55" name="Shape 46"/>
            <p:cNvSpPr/>
            <p:nvPr/>
          </p:nvSpPr>
          <p:spPr>
            <a:xfrm>
              <a:off x="10404043" y="5358384"/>
              <a:ext cx="1095451" cy="247802"/>
            </a:xfrm>
            <a:prstGeom prst="roundRect">
              <a:avLst>
                <a:gd name="adj" fmla="val 369004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47"/>
            <p:cNvSpPr txBox="1"/>
            <p:nvPr/>
          </p:nvSpPr>
          <p:spPr>
            <a:xfrm>
              <a:off x="10495483" y="5396789"/>
              <a:ext cx="10003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66534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LOW ~ MEDIUM</a:t>
              </a:r>
              <a:endParaRPr lang="en-US" sz="900" dirty="0"/>
            </a:p>
          </p:txBody>
        </p:sp>
        <p:sp>
          <p:nvSpPr>
            <p:cNvPr id="57" name="Shape 48"/>
            <p:cNvSpPr/>
            <p:nvPr/>
          </p:nvSpPr>
          <p:spPr>
            <a:xfrm>
              <a:off x="6486754" y="5720486"/>
              <a:ext cx="5009998" cy="75895"/>
            </a:xfrm>
            <a:prstGeom prst="roundRect">
              <a:avLst>
                <a:gd name="adj" fmla="val 602411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Shape 49"/>
            <p:cNvSpPr/>
            <p:nvPr/>
          </p:nvSpPr>
          <p:spPr>
            <a:xfrm>
              <a:off x="6486754" y="5910682"/>
              <a:ext cx="5009998" cy="1152144"/>
            </a:xfrm>
            <a:prstGeom prst="roundRect">
              <a:avLst>
                <a:gd name="adj" fmla="val 5247"/>
              </a:avLst>
            </a:prstGeom>
            <a:solidFill>
              <a:srgbClr val="ECFDF5"/>
            </a:solidFill>
            <a:ln w="12700">
              <a:solidFill>
                <a:srgbClr val="D1FAE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 50"/>
            <p:cNvSpPr txBox="1"/>
            <p:nvPr/>
          </p:nvSpPr>
          <p:spPr>
            <a:xfrm>
              <a:off x="6801307" y="6063386"/>
              <a:ext cx="456742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원재료 다변화: 일반 농산물 및 육류는 공급처가 다수 존재하여 제조사의 교섭력이 우위.</a:t>
              </a:r>
              <a:endParaRPr lang="en-US" sz="1000" dirty="0"/>
            </a:p>
          </p:txBody>
        </p:sp>
        <p:sp>
          <p:nvSpPr>
            <p:cNvPr id="60" name="Text 51"/>
            <p:cNvSpPr txBox="1"/>
            <p:nvPr/>
          </p:nvSpPr>
          <p:spPr>
            <a:xfrm>
              <a:off x="6801307" y="6512357"/>
              <a:ext cx="4596689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특수 원료 이슈: 단, 'Organic', 'Grass-fed' 사골 등 프리미엄 Bone Broth용 특수 원료는 공급이 한정적이라 공급자 파워 일부 존재.</a:t>
              </a:r>
              <a:endParaRPr lang="en-US" sz="1000" dirty="0"/>
            </a:p>
          </p:txBody>
        </p:sp>
        <p:sp>
          <p:nvSpPr>
            <p:cNvPr id="62" name="Shape 53"/>
            <p:cNvSpPr/>
            <p:nvPr/>
          </p:nvSpPr>
          <p:spPr>
            <a:xfrm>
              <a:off x="0" y="7904988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 54"/>
            <p:cNvSpPr txBox="1"/>
            <p:nvPr/>
          </p:nvSpPr>
          <p:spPr>
            <a:xfrm>
              <a:off x="457200" y="8019288"/>
              <a:ext cx="6146800" cy="2295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IBISWorld US Supermarkets &amp; Grocery Stores Report 2024, USDA Economic Research Service</a:t>
              </a:r>
              <a:endParaRPr lang="en-US" sz="900" dirty="0"/>
            </a:p>
          </p:txBody>
        </p:sp>
      </p:grpSp>
      <p:sp>
        <p:nvSpPr>
          <p:cNvPr id="66" name="Rectangle 13">
            <a:extLst>
              <a:ext uri="{FF2B5EF4-FFF2-40B4-BE49-F238E27FC236}">
                <a16:creationId xmlns:a16="http://schemas.microsoft.com/office/drawing/2014/main" id="{E8682420-A8AF-A4B7-669A-CFEF16BE4F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30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그룹 85">
            <a:extLst>
              <a:ext uri="{FF2B5EF4-FFF2-40B4-BE49-F238E27FC236}">
                <a16:creationId xmlns:a16="http://schemas.microsoft.com/office/drawing/2014/main" id="{FD0E2432-78FA-733F-C76F-4EBE17C8424F}"/>
              </a:ext>
            </a:extLst>
          </p:cNvPr>
          <p:cNvGrpSpPr/>
          <p:nvPr/>
        </p:nvGrpSpPr>
        <p:grpSpPr>
          <a:xfrm>
            <a:off x="0" y="1"/>
            <a:ext cx="12191695" cy="6858000"/>
            <a:chOff x="0" y="0"/>
            <a:chExt cx="12191695" cy="7079285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16712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INDUSTRY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435486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가치사슬 전반의 병목(Bottleneck)을 최적화하여 비용 경쟁력과 고객 반응 속도를 동시에 확보해야 함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2578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742846"/>
              <a:ext cx="2133295" cy="3619195"/>
            </a:xfrm>
            <a:prstGeom prst="roundRect">
              <a:avLst>
                <a:gd name="adj" fmla="val 15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2720340"/>
              <a:ext cx="2115007" cy="2638044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9049" y="3010205"/>
              <a:ext cx="75895" cy="75895"/>
            </a:xfrm>
            <a:prstGeom prst="rect">
              <a:avLst/>
            </a:prstGeom>
          </p:spPr>
        </p:pic>
        <p:sp>
          <p:nvSpPr>
            <p:cNvPr id="12" name="Text 9"/>
            <p:cNvSpPr txBox="1"/>
            <p:nvPr/>
          </p:nvSpPr>
          <p:spPr>
            <a:xfrm>
              <a:off x="771754" y="2939796"/>
              <a:ext cx="164409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레시피 현지화: 저염, 클린라벨, 현지 입맛(Taste) 튜닝</a:t>
              </a:r>
              <a:endParaRPr lang="en-US" sz="900" dirty="0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9049" y="3472891"/>
              <a:ext cx="75895" cy="75895"/>
            </a:xfrm>
            <a:prstGeom prst="rect">
              <a:avLst/>
            </a:prstGeom>
          </p:spPr>
        </p:pic>
        <p:sp>
          <p:nvSpPr>
            <p:cNvPr id="14" name="Text 10"/>
            <p:cNvSpPr txBox="1"/>
            <p:nvPr/>
          </p:nvSpPr>
          <p:spPr>
            <a:xfrm>
              <a:off x="771754" y="3402482"/>
              <a:ext cx="1749247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원료 소싱: Non-GMO, 유기농 원료 확보 및 안정적 수급</a:t>
              </a:r>
              <a:endParaRPr lang="en-US" sz="900" dirty="0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9049" y="3936492"/>
              <a:ext cx="75895" cy="75895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771754" y="3866083"/>
              <a:ext cx="172090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패키징 연구개발: 친환경 소재 및 HPP 적합 파우치 개발</a:t>
              </a:r>
              <a:endParaRPr lang="en-US" sz="900" dirty="0"/>
            </a:p>
          </p:txBody>
        </p:sp>
        <p:sp>
          <p:nvSpPr>
            <p:cNvPr id="17" name="Shape 12"/>
            <p:cNvSpPr/>
            <p:nvPr/>
          </p:nvSpPr>
          <p:spPr>
            <a:xfrm>
              <a:off x="2743200" y="1742846"/>
              <a:ext cx="2133295" cy="3619195"/>
            </a:xfrm>
            <a:prstGeom prst="roundRect">
              <a:avLst>
                <a:gd name="adj" fmla="val 15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3"/>
            <p:cNvSpPr/>
            <p:nvPr/>
          </p:nvSpPr>
          <p:spPr>
            <a:xfrm>
              <a:off x="4155034" y="1828800"/>
              <a:ext cx="638251" cy="209398"/>
            </a:xfrm>
            <a:prstGeom prst="roundRect">
              <a:avLst>
                <a:gd name="adj" fmla="val 436680"/>
              </a:avLst>
            </a:prstGeom>
            <a:solidFill>
              <a:srgbClr val="EF4444"/>
            </a:solidFill>
            <a:ln/>
            <a:effectLst>
              <a:outerShdw blurRad="38100" dist="25400" dir="5400000" algn="bl" rotWithShape="0">
                <a:srgbClr val="EF4444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4"/>
            <p:cNvSpPr txBox="1"/>
            <p:nvPr/>
          </p:nvSpPr>
          <p:spPr>
            <a:xfrm>
              <a:off x="4231843" y="1858975"/>
              <a:ext cx="56235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비용 리스크</a:t>
              </a:r>
              <a:endParaRPr lang="en-US" sz="800" dirty="0"/>
            </a:p>
          </p:txBody>
        </p:sp>
        <p:sp>
          <p:nvSpPr>
            <p:cNvPr id="20" name="Shape 15"/>
            <p:cNvSpPr/>
            <p:nvPr/>
          </p:nvSpPr>
          <p:spPr>
            <a:xfrm>
              <a:off x="2752344" y="2720340"/>
              <a:ext cx="2115007" cy="2638044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905049" y="3010205"/>
              <a:ext cx="75895" cy="75895"/>
            </a:xfrm>
            <a:prstGeom prst="rect">
              <a:avLst/>
            </a:prstGeom>
          </p:spPr>
        </p:pic>
        <p:sp>
          <p:nvSpPr>
            <p:cNvPr id="22" name="Text 16"/>
            <p:cNvSpPr txBox="1"/>
            <p:nvPr/>
          </p:nvSpPr>
          <p:spPr>
            <a:xfrm>
              <a:off x="3057754" y="2939796"/>
              <a:ext cx="1710842" cy="5239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위탁생산(Co-packing): 초기 진입 시 현지 OEM/ODM 활용 (투자비 최소화)</a:t>
              </a:r>
              <a:endParaRPr lang="en-US" sz="900" dirty="0"/>
            </a:p>
          </p:txBody>
        </p:sp>
        <p:pic>
          <p:nvPicPr>
            <p:cNvPr id="23" name="Image 4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905049" y="3643884"/>
              <a:ext cx="75895" cy="75895"/>
            </a:xfrm>
            <a:prstGeom prst="rect">
              <a:avLst/>
            </a:prstGeom>
          </p:spPr>
        </p:pic>
        <p:sp>
          <p:nvSpPr>
            <p:cNvPr id="24" name="Text 17"/>
            <p:cNvSpPr txBox="1"/>
            <p:nvPr/>
          </p:nvSpPr>
          <p:spPr>
            <a:xfrm>
              <a:off x="3057754" y="3573475"/>
              <a:ext cx="1749247" cy="5239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품질 및 안전관리: FDA/USDA 기준 준수, HACCP/FSMA 인증 관리</a:t>
              </a:r>
              <a:endParaRPr lang="en-US" sz="900" dirty="0"/>
            </a:p>
          </p:txBody>
        </p:sp>
        <p:pic>
          <p:nvPicPr>
            <p:cNvPr id="25" name="Image 5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905049" y="4277563"/>
              <a:ext cx="75895" cy="75895"/>
            </a:xfrm>
            <a:prstGeom prst="rect">
              <a:avLst/>
            </a:prstGeom>
          </p:spPr>
        </p:pic>
        <p:sp>
          <p:nvSpPr>
            <p:cNvPr id="26" name="Text 18"/>
            <p:cNvSpPr txBox="1"/>
            <p:nvPr/>
          </p:nvSpPr>
          <p:spPr>
            <a:xfrm>
              <a:off x="3057754" y="4207154"/>
              <a:ext cx="168249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생산 확대: 물량 증대 시 전용 라인 구축 또는 자체 공장 전환</a:t>
              </a:r>
              <a:endParaRPr lang="en-US" sz="900" dirty="0"/>
            </a:p>
          </p:txBody>
        </p:sp>
        <p:sp>
          <p:nvSpPr>
            <p:cNvPr id="27" name="Shape 19"/>
            <p:cNvSpPr/>
            <p:nvPr/>
          </p:nvSpPr>
          <p:spPr>
            <a:xfrm>
              <a:off x="5029200" y="1742846"/>
              <a:ext cx="2133295" cy="3619195"/>
            </a:xfrm>
            <a:prstGeom prst="roundRect">
              <a:avLst>
                <a:gd name="adj" fmla="val 15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20"/>
            <p:cNvSpPr/>
            <p:nvPr/>
          </p:nvSpPr>
          <p:spPr>
            <a:xfrm>
              <a:off x="6559906" y="1828800"/>
              <a:ext cx="523951" cy="209398"/>
            </a:xfrm>
            <a:prstGeom prst="roundRect">
              <a:avLst>
                <a:gd name="adj" fmla="val 436680"/>
              </a:avLst>
            </a:prstGeom>
            <a:solidFill>
              <a:srgbClr val="EF4444"/>
            </a:solidFill>
            <a:ln/>
            <a:effectLst>
              <a:outerShdw blurRad="38100" dist="25400" dir="5400000" algn="bl" rotWithShape="0">
                <a:srgbClr val="EF4444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1"/>
            <p:cNvSpPr txBox="1"/>
            <p:nvPr/>
          </p:nvSpPr>
          <p:spPr>
            <a:xfrm>
              <a:off x="6636715" y="1858975"/>
              <a:ext cx="44805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리드타임</a:t>
              </a:r>
              <a:endParaRPr lang="en-US" sz="800" dirty="0"/>
            </a:p>
          </p:txBody>
        </p:sp>
        <p:sp>
          <p:nvSpPr>
            <p:cNvPr id="30" name="Shape 22"/>
            <p:cNvSpPr/>
            <p:nvPr/>
          </p:nvSpPr>
          <p:spPr>
            <a:xfrm>
              <a:off x="5038344" y="2720340"/>
              <a:ext cx="2115007" cy="2638044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1" name="Image 6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191049" y="3010205"/>
              <a:ext cx="75895" cy="75895"/>
            </a:xfrm>
            <a:prstGeom prst="rect">
              <a:avLst/>
            </a:prstGeom>
          </p:spPr>
        </p:pic>
        <p:sp>
          <p:nvSpPr>
            <p:cNvPr id="32" name="Text 23"/>
            <p:cNvSpPr txBox="1"/>
            <p:nvPr/>
          </p:nvSpPr>
          <p:spPr>
            <a:xfrm>
              <a:off x="5343754" y="2939796"/>
              <a:ext cx="1740103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콜드체인: 냉동/냉장 신선도 유지를 위한 온도 관리 시스템</a:t>
              </a:r>
              <a:endParaRPr lang="en-US" sz="900" dirty="0"/>
            </a:p>
          </p:txBody>
        </p:sp>
        <p:pic>
          <p:nvPicPr>
            <p:cNvPr id="33" name="Image 7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191049" y="3472891"/>
              <a:ext cx="75895" cy="75895"/>
            </a:xfrm>
            <a:prstGeom prst="rect">
              <a:avLst/>
            </a:prstGeom>
          </p:spPr>
        </p:pic>
        <p:sp>
          <p:nvSpPr>
            <p:cNvPr id="34" name="Text 24"/>
            <p:cNvSpPr txBox="1"/>
            <p:nvPr/>
          </p:nvSpPr>
          <p:spPr>
            <a:xfrm>
              <a:off x="5343754" y="3402482"/>
              <a:ext cx="172090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재고 관리: 리드타임 감안 안전재고 확보, 폐기율 관리</a:t>
              </a:r>
              <a:endParaRPr lang="en-US" sz="900" dirty="0"/>
            </a:p>
          </p:txBody>
        </p:sp>
        <p:pic>
          <p:nvPicPr>
            <p:cNvPr id="35" name="Image 8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191049" y="3936492"/>
              <a:ext cx="75895" cy="75895"/>
            </a:xfrm>
            <a:prstGeom prst="rect">
              <a:avLst/>
            </a:prstGeom>
          </p:spPr>
        </p:pic>
        <p:sp>
          <p:nvSpPr>
            <p:cNvPr id="36" name="Text 25"/>
            <p:cNvSpPr txBox="1"/>
            <p:nvPr/>
          </p:nvSpPr>
          <p:spPr>
            <a:xfrm>
              <a:off x="5343754" y="3866083"/>
              <a:ext cx="1615745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라스트 마일: D2C 배송 효율화 및 풀필먼트 센터(3PL) 최적화</a:t>
              </a:r>
              <a:endParaRPr lang="en-US" sz="900" dirty="0"/>
            </a:p>
          </p:txBody>
        </p:sp>
        <p:sp>
          <p:nvSpPr>
            <p:cNvPr id="37" name="Shape 26"/>
            <p:cNvSpPr/>
            <p:nvPr/>
          </p:nvSpPr>
          <p:spPr>
            <a:xfrm>
              <a:off x="7315200" y="1742846"/>
              <a:ext cx="2133295" cy="3619195"/>
            </a:xfrm>
            <a:prstGeom prst="roundRect">
              <a:avLst>
                <a:gd name="adj" fmla="val 15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Shape 27"/>
            <p:cNvSpPr/>
            <p:nvPr/>
          </p:nvSpPr>
          <p:spPr>
            <a:xfrm>
              <a:off x="7324344" y="2720340"/>
              <a:ext cx="2115007" cy="2638044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9" name="Image 9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477049" y="3010205"/>
              <a:ext cx="75895" cy="75895"/>
            </a:xfrm>
            <a:prstGeom prst="rect">
              <a:avLst/>
            </a:prstGeom>
          </p:spPr>
        </p:pic>
        <p:sp>
          <p:nvSpPr>
            <p:cNvPr id="40" name="Text 28"/>
            <p:cNvSpPr txBox="1"/>
            <p:nvPr/>
          </p:nvSpPr>
          <p:spPr>
            <a:xfrm>
              <a:off x="7629754" y="2939796"/>
              <a:ext cx="1682496" cy="5239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채널 전략: 특화(Asian) → 클럽(Costco) → 메인(Walmart) 단계별 확장</a:t>
              </a:r>
              <a:endParaRPr lang="en-US" sz="900" dirty="0"/>
            </a:p>
          </p:txBody>
        </p:sp>
        <p:pic>
          <p:nvPicPr>
            <p:cNvPr id="41" name="Image 1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477049" y="3643884"/>
              <a:ext cx="75895" cy="75895"/>
            </a:xfrm>
            <a:prstGeom prst="rect">
              <a:avLst/>
            </a:prstGeom>
          </p:spPr>
        </p:pic>
        <p:sp>
          <p:nvSpPr>
            <p:cNvPr id="42" name="Text 29"/>
            <p:cNvSpPr txBox="1"/>
            <p:nvPr/>
          </p:nvSpPr>
          <p:spPr>
            <a:xfrm>
              <a:off x="7629754" y="3573475"/>
              <a:ext cx="1520647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입점 관리: 매대 진입 비용(Slotting Fee) 협상 및 관리</a:t>
              </a:r>
              <a:endParaRPr lang="en-US" sz="900" dirty="0"/>
            </a:p>
          </p:txBody>
        </p:sp>
        <p:pic>
          <p:nvPicPr>
            <p:cNvPr id="43" name="Image 1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477049" y="4107485"/>
              <a:ext cx="75895" cy="75895"/>
            </a:xfrm>
            <a:prstGeom prst="rect">
              <a:avLst/>
            </a:prstGeom>
          </p:spPr>
        </p:pic>
        <p:sp>
          <p:nvSpPr>
            <p:cNvPr id="44" name="Text 30"/>
            <p:cNvSpPr txBox="1"/>
            <p:nvPr/>
          </p:nvSpPr>
          <p:spPr>
            <a:xfrm>
              <a:off x="7629754" y="4037076"/>
              <a:ext cx="1730045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옴니채널: 온-오프라인 연계 판매 (O2O) 및 재고 통합</a:t>
              </a:r>
              <a:endParaRPr lang="en-US" sz="900" dirty="0"/>
            </a:p>
          </p:txBody>
        </p:sp>
        <p:sp>
          <p:nvSpPr>
            <p:cNvPr id="45" name="Shape 31"/>
            <p:cNvSpPr/>
            <p:nvPr/>
          </p:nvSpPr>
          <p:spPr>
            <a:xfrm>
              <a:off x="9601200" y="1742846"/>
              <a:ext cx="2133295" cy="3619195"/>
            </a:xfrm>
            <a:prstGeom prst="roundRect">
              <a:avLst>
                <a:gd name="adj" fmla="val 1531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Shape 32"/>
            <p:cNvSpPr/>
            <p:nvPr/>
          </p:nvSpPr>
          <p:spPr>
            <a:xfrm>
              <a:off x="9610344" y="2720340"/>
              <a:ext cx="2115007" cy="2638044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7" name="Image 12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763049" y="3010205"/>
              <a:ext cx="75895" cy="75895"/>
            </a:xfrm>
            <a:prstGeom prst="rect">
              <a:avLst/>
            </a:prstGeom>
          </p:spPr>
        </p:pic>
        <p:sp>
          <p:nvSpPr>
            <p:cNvPr id="48" name="Text 33"/>
            <p:cNvSpPr txBox="1"/>
            <p:nvPr/>
          </p:nvSpPr>
          <p:spPr>
            <a:xfrm>
              <a:off x="9915754" y="2939796"/>
              <a:ext cx="1730045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디지털 마케팅: SNS, 인플루언서 활용 타겟 고객 도달</a:t>
              </a:r>
              <a:endParaRPr lang="en-US" sz="900" dirty="0"/>
            </a:p>
          </p:txBody>
        </p:sp>
        <p:pic>
          <p:nvPicPr>
            <p:cNvPr id="49" name="Image 13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763049" y="3472891"/>
              <a:ext cx="75895" cy="75895"/>
            </a:xfrm>
            <a:prstGeom prst="rect">
              <a:avLst/>
            </a:prstGeom>
          </p:spPr>
        </p:pic>
        <p:sp>
          <p:nvSpPr>
            <p:cNvPr id="50" name="Text 34"/>
            <p:cNvSpPr txBox="1"/>
            <p:nvPr/>
          </p:nvSpPr>
          <p:spPr>
            <a:xfrm>
              <a:off x="9915754" y="3402482"/>
              <a:ext cx="172090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리테일 미디어: 유통사 플랫폼 내 광고 집행 (ROAS 최적화)</a:t>
              </a:r>
              <a:endParaRPr lang="en-US" sz="900" dirty="0"/>
            </a:p>
          </p:txBody>
        </p:sp>
        <p:pic>
          <p:nvPicPr>
            <p:cNvPr id="51" name="Image 14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763049" y="3936492"/>
              <a:ext cx="75895" cy="75895"/>
            </a:xfrm>
            <a:prstGeom prst="rect">
              <a:avLst/>
            </a:prstGeom>
          </p:spPr>
        </p:pic>
        <p:sp>
          <p:nvSpPr>
            <p:cNvPr id="52" name="Text 35"/>
            <p:cNvSpPr txBox="1"/>
            <p:nvPr/>
          </p:nvSpPr>
          <p:spPr>
            <a:xfrm>
              <a:off x="9915754" y="3866083"/>
              <a:ext cx="1673352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CRM: 재구매 유도 및 충성 고객(Fan) 커뮤니티 구축</a:t>
              </a:r>
              <a:endParaRPr lang="en-US" sz="900" dirty="0"/>
            </a:p>
          </p:txBody>
        </p:sp>
        <p:sp>
          <p:nvSpPr>
            <p:cNvPr id="53" name="Shape 36"/>
            <p:cNvSpPr/>
            <p:nvPr/>
          </p:nvSpPr>
          <p:spPr>
            <a:xfrm>
              <a:off x="457200" y="5667451"/>
              <a:ext cx="11277295" cy="724205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Shape 37"/>
            <p:cNvSpPr/>
            <p:nvPr/>
          </p:nvSpPr>
          <p:spPr>
            <a:xfrm>
              <a:off x="457200" y="5667451"/>
              <a:ext cx="47549" cy="7242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5" name="Image 15" descr="preencoded.png"/>
            <p:cNvPicPr>
              <a:picLocks noChangeAspect="1"/>
            </p:cNvPicPr>
            <p:nvPr/>
          </p:nvPicPr>
          <p:blipFill>
            <a:blip r:embed="rId4"/>
            <a:srcRect l="-133" r="-133"/>
            <a:stretch/>
          </p:blipFill>
          <p:spPr>
            <a:xfrm>
              <a:off x="733349" y="5920740"/>
              <a:ext cx="171907" cy="228600"/>
            </a:xfrm>
            <a:prstGeom prst="rect">
              <a:avLst/>
            </a:prstGeom>
          </p:spPr>
        </p:pic>
        <p:sp>
          <p:nvSpPr>
            <p:cNvPr id="56" name="Text 38"/>
            <p:cNvSpPr txBox="1"/>
            <p:nvPr/>
          </p:nvSpPr>
          <p:spPr>
            <a:xfrm>
              <a:off x="1057046" y="5820156"/>
              <a:ext cx="128198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전략적 최적화 포인트</a:t>
              </a:r>
              <a:endParaRPr lang="en-US" sz="1000" dirty="0"/>
            </a:p>
          </p:txBody>
        </p:sp>
        <p:sp>
          <p:nvSpPr>
            <p:cNvPr id="57" name="Text 39"/>
            <p:cNvSpPr txBox="1"/>
            <p:nvPr/>
          </p:nvSpPr>
          <p:spPr>
            <a:xfrm>
              <a:off x="1057046" y="6038698"/>
              <a:ext cx="104159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초기 진입 단계에서는 현지 코패킹(제조)과 3PL(물류배송)을 활용하여 고정비를 변동비화하고, 역량을 R&amp;D(제품 차별화)와 마케팅(브랜드 인지도)에 집중하는 'Asset-Light' 전략이 유효함.</a:t>
              </a:r>
              <a:endParaRPr lang="en-US" sz="1000" dirty="0"/>
            </a:p>
          </p:txBody>
        </p:sp>
        <p:sp>
          <p:nvSpPr>
            <p:cNvPr id="58" name="Shape 40"/>
            <p:cNvSpPr/>
            <p:nvPr/>
          </p:nvSpPr>
          <p:spPr>
            <a:xfrm>
              <a:off x="0" y="6688836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Shape 41"/>
            <p:cNvSpPr/>
            <p:nvPr/>
          </p:nvSpPr>
          <p:spPr>
            <a:xfrm>
              <a:off x="0" y="6688836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 42"/>
            <p:cNvSpPr txBox="1"/>
            <p:nvPr/>
          </p:nvSpPr>
          <p:spPr>
            <a:xfrm>
              <a:off x="457200" y="6803136"/>
              <a:ext cx="40894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Porter's Value Chain Analysis, Industry Expert Interviews</a:t>
              </a:r>
              <a:endParaRPr lang="en-US" sz="900" dirty="0"/>
            </a:p>
          </p:txBody>
        </p:sp>
        <p:pic>
          <p:nvPicPr>
            <p:cNvPr id="62" name="Image 16" descr="preencoded.png"/>
            <p:cNvPicPr>
              <a:picLocks noChangeAspect="1"/>
            </p:cNvPicPr>
            <p:nvPr/>
          </p:nvPicPr>
          <p:blipFill>
            <a:blip r:embed="rId5"/>
            <a:srcRect t="-80" b="-80"/>
            <a:stretch/>
          </p:blipFill>
          <p:spPr>
            <a:xfrm>
              <a:off x="2609698" y="3438144"/>
              <a:ext cx="142646" cy="228600"/>
            </a:xfrm>
            <a:prstGeom prst="rect">
              <a:avLst/>
            </a:prstGeom>
          </p:spPr>
        </p:pic>
        <p:pic>
          <p:nvPicPr>
            <p:cNvPr id="63" name="Image 17" descr="preencoded.png"/>
            <p:cNvPicPr>
              <a:picLocks noChangeAspect="1"/>
            </p:cNvPicPr>
            <p:nvPr/>
          </p:nvPicPr>
          <p:blipFill>
            <a:blip r:embed="rId5"/>
            <a:srcRect t="-80" b="-80"/>
            <a:stretch/>
          </p:blipFill>
          <p:spPr>
            <a:xfrm>
              <a:off x="4895698" y="3438144"/>
              <a:ext cx="142646" cy="228600"/>
            </a:xfrm>
            <a:prstGeom prst="rect">
              <a:avLst/>
            </a:prstGeom>
          </p:spPr>
        </p:pic>
        <p:pic>
          <p:nvPicPr>
            <p:cNvPr id="64" name="Image 18" descr="preencoded.png"/>
            <p:cNvPicPr>
              <a:picLocks noChangeAspect="1"/>
            </p:cNvPicPr>
            <p:nvPr/>
          </p:nvPicPr>
          <p:blipFill>
            <a:blip r:embed="rId5"/>
            <a:srcRect t="-80" b="-80"/>
            <a:stretch/>
          </p:blipFill>
          <p:spPr>
            <a:xfrm>
              <a:off x="7181698" y="3438144"/>
              <a:ext cx="142646" cy="228600"/>
            </a:xfrm>
            <a:prstGeom prst="rect">
              <a:avLst/>
            </a:prstGeom>
          </p:spPr>
        </p:pic>
        <p:pic>
          <p:nvPicPr>
            <p:cNvPr id="65" name="Image 19" descr="preencoded.png"/>
            <p:cNvPicPr>
              <a:picLocks noChangeAspect="1"/>
            </p:cNvPicPr>
            <p:nvPr/>
          </p:nvPicPr>
          <p:blipFill>
            <a:blip r:embed="rId5"/>
            <a:srcRect t="-80" b="-80"/>
            <a:stretch/>
          </p:blipFill>
          <p:spPr>
            <a:xfrm>
              <a:off x="9467698" y="3438144"/>
              <a:ext cx="142646" cy="228600"/>
            </a:xfrm>
            <a:prstGeom prst="rect">
              <a:avLst/>
            </a:prstGeom>
          </p:spPr>
        </p:pic>
        <p:sp>
          <p:nvSpPr>
            <p:cNvPr id="66" name="Shape 44"/>
            <p:cNvSpPr/>
            <p:nvPr/>
          </p:nvSpPr>
          <p:spPr>
            <a:xfrm>
              <a:off x="466344" y="1752905"/>
              <a:ext cx="2115007" cy="972007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Shape 45"/>
            <p:cNvSpPr/>
            <p:nvPr/>
          </p:nvSpPr>
          <p:spPr>
            <a:xfrm>
              <a:off x="1333195" y="1904695"/>
              <a:ext cx="381305" cy="381305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8" name="Image 20" descr="preencoded.png"/>
            <p:cNvPicPr>
              <a:picLocks noChangeAspect="1"/>
            </p:cNvPicPr>
            <p:nvPr/>
          </p:nvPicPr>
          <p:blipFill>
            <a:blip r:embed="rId6"/>
            <a:srcRect l="-57" r="-57"/>
            <a:stretch/>
          </p:blipFill>
          <p:spPr>
            <a:xfrm>
              <a:off x="1423721" y="1981505"/>
              <a:ext cx="200254" cy="228600"/>
            </a:xfrm>
            <a:prstGeom prst="rect">
              <a:avLst/>
            </a:prstGeom>
          </p:spPr>
        </p:pic>
        <p:sp>
          <p:nvSpPr>
            <p:cNvPr id="69" name="Text 46"/>
            <p:cNvSpPr txBox="1"/>
            <p:nvPr/>
          </p:nvSpPr>
          <p:spPr>
            <a:xfrm>
              <a:off x="1025957" y="2361895"/>
              <a:ext cx="110368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연구개발 &amp; 소싱</a:t>
              </a:r>
              <a:endParaRPr lang="en-US" sz="1000" dirty="0"/>
            </a:p>
          </p:txBody>
        </p:sp>
        <p:sp>
          <p:nvSpPr>
            <p:cNvPr id="70" name="Shape 47"/>
            <p:cNvSpPr/>
            <p:nvPr/>
          </p:nvSpPr>
          <p:spPr>
            <a:xfrm>
              <a:off x="2752344" y="1752905"/>
              <a:ext cx="2115007" cy="972007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Shape 48"/>
            <p:cNvSpPr/>
            <p:nvPr/>
          </p:nvSpPr>
          <p:spPr>
            <a:xfrm>
              <a:off x="3619195" y="1904695"/>
              <a:ext cx="381305" cy="381305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2" name="Image 21" descr="preencoded.png"/>
            <p:cNvPicPr>
              <a:picLocks noChangeAspect="1"/>
            </p:cNvPicPr>
            <p:nvPr/>
          </p:nvPicPr>
          <p:blipFill>
            <a:blip r:embed="rId7"/>
            <a:srcRect t="-45" b="-45"/>
            <a:stretch/>
          </p:blipFill>
          <p:spPr>
            <a:xfrm>
              <a:off x="3681374" y="1981505"/>
              <a:ext cx="256946" cy="228600"/>
            </a:xfrm>
            <a:prstGeom prst="rect">
              <a:avLst/>
            </a:prstGeom>
          </p:spPr>
        </p:pic>
        <p:sp>
          <p:nvSpPr>
            <p:cNvPr id="73" name="Text 49"/>
            <p:cNvSpPr txBox="1"/>
            <p:nvPr/>
          </p:nvSpPr>
          <p:spPr>
            <a:xfrm>
              <a:off x="3676802" y="2361895"/>
              <a:ext cx="37033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제조</a:t>
              </a:r>
              <a:endParaRPr lang="en-US" sz="1000" dirty="0"/>
            </a:p>
          </p:txBody>
        </p:sp>
        <p:sp>
          <p:nvSpPr>
            <p:cNvPr id="74" name="Shape 50"/>
            <p:cNvSpPr/>
            <p:nvPr/>
          </p:nvSpPr>
          <p:spPr>
            <a:xfrm>
              <a:off x="5038344" y="1752905"/>
              <a:ext cx="2115007" cy="972007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Shape 51"/>
            <p:cNvSpPr/>
            <p:nvPr/>
          </p:nvSpPr>
          <p:spPr>
            <a:xfrm>
              <a:off x="5905195" y="1904695"/>
              <a:ext cx="381305" cy="381305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 52"/>
            <p:cNvSpPr txBox="1"/>
            <p:nvPr/>
          </p:nvSpPr>
          <p:spPr>
            <a:xfrm>
              <a:off x="5905195" y="1923898"/>
              <a:ext cx="4572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📦</a:t>
              </a:r>
              <a:endParaRPr lang="en-US" sz="1800" dirty="0"/>
            </a:p>
          </p:txBody>
        </p:sp>
        <p:sp>
          <p:nvSpPr>
            <p:cNvPr id="77" name="Text 53"/>
            <p:cNvSpPr txBox="1"/>
            <p:nvPr/>
          </p:nvSpPr>
          <p:spPr>
            <a:xfrm>
              <a:off x="5830214" y="2361895"/>
              <a:ext cx="63642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물류배송</a:t>
              </a:r>
              <a:endParaRPr lang="en-US" sz="1000" dirty="0"/>
            </a:p>
          </p:txBody>
        </p:sp>
        <p:sp>
          <p:nvSpPr>
            <p:cNvPr id="78" name="Shape 54"/>
            <p:cNvSpPr/>
            <p:nvPr/>
          </p:nvSpPr>
          <p:spPr>
            <a:xfrm>
              <a:off x="7324344" y="1752905"/>
              <a:ext cx="2115007" cy="972007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Shape 55"/>
            <p:cNvSpPr/>
            <p:nvPr/>
          </p:nvSpPr>
          <p:spPr>
            <a:xfrm>
              <a:off x="8191195" y="1904695"/>
              <a:ext cx="381305" cy="381305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0" name="Image 22" descr="preencoded.png"/>
            <p:cNvPicPr>
              <a:picLocks noChangeAspect="1"/>
            </p:cNvPicPr>
            <p:nvPr/>
          </p:nvPicPr>
          <p:blipFill>
            <a:blip r:embed="rId8"/>
            <a:srcRect t="-45" b="-45"/>
            <a:stretch/>
          </p:blipFill>
          <p:spPr>
            <a:xfrm>
              <a:off x="8253374" y="1981505"/>
              <a:ext cx="256946" cy="228600"/>
            </a:xfrm>
            <a:prstGeom prst="rect">
              <a:avLst/>
            </a:prstGeom>
          </p:spPr>
        </p:pic>
        <p:sp>
          <p:nvSpPr>
            <p:cNvPr id="81" name="Text 56"/>
            <p:cNvSpPr txBox="1"/>
            <p:nvPr/>
          </p:nvSpPr>
          <p:spPr>
            <a:xfrm>
              <a:off x="8248802" y="2361895"/>
              <a:ext cx="37033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유통</a:t>
              </a:r>
              <a:endParaRPr lang="en-US" sz="1000" dirty="0"/>
            </a:p>
          </p:txBody>
        </p:sp>
        <p:sp>
          <p:nvSpPr>
            <p:cNvPr id="82" name="Shape 57"/>
            <p:cNvSpPr/>
            <p:nvPr/>
          </p:nvSpPr>
          <p:spPr>
            <a:xfrm>
              <a:off x="9610344" y="1752905"/>
              <a:ext cx="2115007" cy="972007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Shape 58"/>
            <p:cNvSpPr/>
            <p:nvPr/>
          </p:nvSpPr>
          <p:spPr>
            <a:xfrm>
              <a:off x="10477195" y="1904695"/>
              <a:ext cx="381305" cy="381305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4" name="Image 23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10554005" y="1981505"/>
              <a:ext cx="228600" cy="228600"/>
            </a:xfrm>
            <a:prstGeom prst="rect">
              <a:avLst/>
            </a:prstGeom>
          </p:spPr>
        </p:pic>
        <p:sp>
          <p:nvSpPr>
            <p:cNvPr id="85" name="Text 59"/>
            <p:cNvSpPr txBox="1"/>
            <p:nvPr/>
          </p:nvSpPr>
          <p:spPr>
            <a:xfrm>
              <a:off x="10468051" y="2361895"/>
              <a:ext cx="50292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마케팅</a:t>
              </a:r>
              <a:endParaRPr lang="en-US" sz="1000" dirty="0"/>
            </a:p>
          </p:txBody>
        </p:sp>
      </p:grpSp>
      <p:sp>
        <p:nvSpPr>
          <p:cNvPr id="87" name="Rectangle 13">
            <a:extLst>
              <a:ext uri="{FF2B5EF4-FFF2-40B4-BE49-F238E27FC236}">
                <a16:creationId xmlns:a16="http://schemas.microsoft.com/office/drawing/2014/main" id="{C17F549F-0FC4-14E2-EDC7-A14F1726566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31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28080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28080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10756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1077987"/>
            <a:ext cx="12191695" cy="29573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76027"/>
            <a:ext cx="2167128" cy="147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INDUSTRY LEVEL 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322481"/>
            <a:ext cx="11063326" cy="602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주요 경쟁사 (1) 글로벌 메이저: 유통 장악력과 규모의 경제 Nestlé, ConAgra, Campbell, PB 브랜드가 시장 주도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1107560"/>
            <a:ext cx="12191695" cy="544978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42027"/>
            <a:ext cx="6782105" cy="4980147"/>
          </a:xfrm>
          <a:prstGeom prst="roundRect">
            <a:avLst>
              <a:gd name="adj" fmla="val 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94944" y="1532841"/>
            <a:ext cx="3538728" cy="396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US HMR Market: Competitive Landscape Map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61942" y="1613813"/>
            <a:ext cx="752551" cy="23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Global Major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467198" y="1672254"/>
            <a:ext cx="695858" cy="117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Specialized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319418" y="1613813"/>
            <a:ext cx="762610" cy="23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Private Label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694944" y="1994734"/>
            <a:ext cx="6295644" cy="396764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826971" y="6014480"/>
            <a:ext cx="4124858" cy="1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X축: HMR 카테고리 다양성 (수프~냉동~상온) | Y축: 미국 시장 내 매출 규모 및 영향력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36485" y="1342027"/>
            <a:ext cx="4200754" cy="813947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7536485" y="1342027"/>
            <a:ext cx="38405" cy="813947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765085" y="1466654"/>
            <a:ext cx="1062533" cy="19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Nestlé USA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388498" y="1474400"/>
            <a:ext cx="1200607" cy="17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200" b="1">
                <a:solidFill>
                  <a:srgbClr val="1E40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dirty="0"/>
              <a:t>Market Leader</a:t>
            </a:r>
          </a:p>
        </p:txBody>
      </p:sp>
      <p:sp>
        <p:nvSpPr>
          <p:cNvPr id="20" name="Text 17"/>
          <p:cNvSpPr txBox="1"/>
          <p:nvPr/>
        </p:nvSpPr>
        <p:spPr>
          <a:xfrm>
            <a:off x="7765085" y="1701826"/>
            <a:ext cx="3838651" cy="271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브랜드: Lean Cuisine, Stouffer's, Life Cuisine 전략: 'Health &amp; Wellness'를 핵심으로 냉동 HMR의 프리미엄화 주도. 저염, 고단백 라인업 지속 확장 중.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536485" y="2244692"/>
            <a:ext cx="4200754" cy="813947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7536485" y="2244692"/>
            <a:ext cx="38405" cy="813947"/>
          </a:xfrm>
          <a:prstGeom prst="rect">
            <a:avLst/>
          </a:prstGeom>
          <a:solidFill>
            <a:srgbClr val="0056B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7765085" y="2369319"/>
            <a:ext cx="1481328" cy="19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ConAgra Brands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514686" y="2376360"/>
            <a:ext cx="1077163" cy="17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Frozen Giant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765085" y="2603787"/>
            <a:ext cx="3867912" cy="271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브랜드: Marie Callender's, Healthy Choice, Birds Eye 전략: 냉동 HMR에 집중하며 젊은 층 타겟의 'Power Bowls' 등 현대적 메뉴 혁신에 강점.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536485" y="3146653"/>
            <a:ext cx="4200754" cy="96110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7536485" y="3146653"/>
            <a:ext cx="38405" cy="961106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7765085" y="3271280"/>
            <a:ext cx="1748333" cy="19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Campbell Soup Co.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0116922" y="3278321"/>
            <a:ext cx="1467612" cy="17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200" b="1">
                <a:solidFill>
                  <a:srgbClr val="1E40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dirty="0"/>
              <a:t>Direct Competitor</a:t>
            </a:r>
          </a:p>
        </p:txBody>
      </p:sp>
      <p:sp>
        <p:nvSpPr>
          <p:cNvPr id="30" name="Text 27"/>
          <p:cNvSpPr txBox="1"/>
          <p:nvPr/>
        </p:nvSpPr>
        <p:spPr>
          <a:xfrm>
            <a:off x="7765085" y="3505748"/>
            <a:ext cx="3781958" cy="41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브랜드: Campbell's, Pacific Foods, Swanson 전략: 액상 수프 및 육수(Broth) 시장 절대 강자. Pacific Foods 인수로 유기농 Bone Broth 라인업 확보.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536485" y="4191547"/>
            <a:ext cx="4200754" cy="96110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7536485" y="4191547"/>
            <a:ext cx="38405" cy="96110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7765085" y="4316175"/>
            <a:ext cx="1786738" cy="19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Private Brands (PB)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0645445" y="4323919"/>
            <a:ext cx="943661" cy="17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200" b="1">
                <a:solidFill>
                  <a:srgbClr val="1E40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dirty="0"/>
              <a:t>Price Killer</a:t>
            </a:r>
          </a:p>
        </p:txBody>
      </p:sp>
      <p:sp>
        <p:nvSpPr>
          <p:cNvPr id="35" name="Text 32"/>
          <p:cNvSpPr txBox="1"/>
          <p:nvPr/>
        </p:nvSpPr>
        <p:spPr>
          <a:xfrm>
            <a:off x="7765085" y="4551347"/>
            <a:ext cx="3791102" cy="41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주요사: Walmart (Great Value), Costco (Kirkland Signature) 전략: 압도적 가성비와 매대 점유율로 범용 제품 시장 잠식. 최근 프리미엄/유기농 PB로 영역 확장.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536485" y="5526534"/>
            <a:ext cx="4200754" cy="799161"/>
          </a:xfrm>
          <a:prstGeom prst="roundRect">
            <a:avLst>
              <a:gd name="adj" fmla="val 646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7659929" y="5644120"/>
            <a:ext cx="105156" cy="102799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7840980" y="5621589"/>
            <a:ext cx="1405433" cy="147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Competitive Insight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7659929" y="5805360"/>
            <a:ext cx="4010558" cy="41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글로벌 메이저는 유통 장악력(Slotting Power)과 가격 경쟁력이 매우 높음. 직접 경쟁보다는 이들이 커버하지 못하는 'Authentic Ethnic' 니치 시장을 공략 후, 브랜드 파워를 바탕으로 메인스트림으로 진입하는 우회 전략이 필수적임.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0" y="6557346"/>
            <a:ext cx="12191695" cy="3006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0" y="6557346"/>
            <a:ext cx="12191695" cy="7041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8"/>
          <p:cNvSpPr txBox="1"/>
          <p:nvPr/>
        </p:nvSpPr>
        <p:spPr>
          <a:xfrm>
            <a:off x="457200" y="6645360"/>
            <a:ext cx="5494629" cy="15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Source: Euromonitor, Company Annual Reports (2023-2024), Statista Market Outlook</a:t>
            </a:r>
            <a:endParaRPr lang="en-US" sz="900" dirty="0"/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7AAE8ECB-646D-90E0-2A6F-4C663C4DB7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32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411F2459-D107-0CB1-0429-7F10D431AEA9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855787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38148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K-HMR &amp; ASIAN FOOD COMPETITIVE LANDSCAPE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277295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CJ Bibigo가 독보적 리더(M/S 40%+)로 자리매김, 일본계(Ajinomoto)와 신생 </a:t>
              </a: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브랜드가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추격하는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'1강 다중' 구도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6734556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742846"/>
              <a:ext cx="7477049" cy="6124651"/>
            </a:xfrm>
            <a:prstGeom prst="roundRect">
              <a:avLst>
                <a:gd name="adj" fmla="val 18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694944" y="1990649"/>
              <a:ext cx="35295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Group Map: Asian HMR Players</a:t>
              </a:r>
              <a:endParaRPr lang="en-US" sz="13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4742993" y="2038198"/>
              <a:ext cx="85770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Market Leader</a:t>
              </a:r>
              <a:endParaRPr lang="en-US" sz="9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5811012" y="2038198"/>
              <a:ext cx="10479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Main Competitors</a:t>
              </a:r>
              <a:endParaRPr lang="en-US" sz="9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7068312" y="2038198"/>
              <a:ext cx="71506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Challengers</a:t>
              </a:r>
              <a:endParaRPr lang="en-US" sz="900" dirty="0"/>
            </a:p>
          </p:txBody>
        </p:sp>
        <p:pic>
          <p:nvPicPr>
            <p:cNvPr id="14" name="Image 0" descr="preencoded.png"/>
            <p:cNvPicPr>
              <a:picLocks noChangeAspect="1"/>
            </p:cNvPicPr>
            <p:nvPr/>
          </p:nvPicPr>
          <p:blipFill>
            <a:blip r:embed="rId3"/>
            <a:srcRect t="-5" b="-5"/>
            <a:stretch/>
          </p:blipFill>
          <p:spPr>
            <a:xfrm>
              <a:off x="694944" y="2324405"/>
              <a:ext cx="7000646" cy="5067605"/>
            </a:xfrm>
            <a:prstGeom prst="rect">
              <a:avLst/>
            </a:prstGeom>
          </p:spPr>
        </p:pic>
        <p:sp>
          <p:nvSpPr>
            <p:cNvPr id="15" name="Text 12"/>
            <p:cNvSpPr txBox="1"/>
            <p:nvPr/>
          </p:nvSpPr>
          <p:spPr>
            <a:xfrm>
              <a:off x="974750" y="7462418"/>
              <a:ext cx="65343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X축: 현지화 수준 (Authentic ↔ Localized) | Y축: 유통 커버리지 및 브랜드 인지도 (Niche ↔ Mainstream) | 원 크기: 추정 시장 점유율</a:t>
              </a:r>
              <a:endParaRPr lang="en-US" sz="9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8238744" y="1742846"/>
              <a:ext cx="3495751" cy="158099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8238744" y="1742846"/>
              <a:ext cx="38405" cy="1580998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8467344" y="1943100"/>
              <a:ext cx="92903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CJ Bibigo</a:t>
              </a:r>
              <a:endParaRPr lang="en-US" sz="1300" dirty="0"/>
            </a:p>
          </p:txBody>
        </p:sp>
        <p:sp>
          <p:nvSpPr>
            <p:cNvPr id="19" name="Text 16"/>
            <p:cNvSpPr txBox="1"/>
            <p:nvPr/>
          </p:nvSpPr>
          <p:spPr>
            <a:xfrm>
              <a:off x="10206533" y="1923897"/>
              <a:ext cx="152796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1200" b="1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defRPr>
              </a:lvl1pPr>
            </a:lstStyle>
            <a:p>
              <a:r>
                <a:rPr lang="en-US" dirty="0"/>
                <a:t>Dominant Leader</a:t>
              </a:r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8467344" y="2229307"/>
              <a:ext cx="3062326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냉동만두 시장 1위(40%+). Schwan's 인수로 물류망 확보. 만두에서 K-Street Food 및 국물요리로 카테고리 확장 중.</a:t>
              </a:r>
              <a:endParaRPr lang="en-US" sz="100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8467344" y="2940710"/>
              <a:ext cx="809244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9"/>
            <p:cNvSpPr txBox="1"/>
            <p:nvPr/>
          </p:nvSpPr>
          <p:spPr>
            <a:xfrm>
              <a:off x="8544154" y="2956255"/>
              <a:ext cx="73792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Share: ~42%</a:t>
              </a:r>
              <a:endParaRPr lang="en-US" sz="8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9346082" y="2940710"/>
              <a:ext cx="1285646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9421978" y="2956255"/>
              <a:ext cx="121432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Strength: Distribution</a:t>
              </a:r>
              <a:endParaRPr lang="en-US" sz="8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8238744" y="3473806"/>
              <a:ext cx="3495751" cy="1399946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3"/>
            <p:cNvSpPr/>
            <p:nvPr/>
          </p:nvSpPr>
          <p:spPr>
            <a:xfrm>
              <a:off x="8238744" y="3473806"/>
              <a:ext cx="38405" cy="1399946"/>
            </a:xfrm>
            <a:prstGeom prst="rect">
              <a:avLst/>
            </a:prstGeom>
            <a:solidFill>
              <a:srgbClr val="C4123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8467344" y="3674059"/>
              <a:ext cx="100492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Ajinomoto</a:t>
              </a:r>
              <a:endParaRPr lang="en-US" sz="1300" dirty="0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10206533" y="3578962"/>
              <a:ext cx="1352397" cy="257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1200" b="1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defRPr>
              </a:lvl1pPr>
            </a:lstStyle>
            <a:p>
              <a:r>
                <a:rPr lang="en-US" dirty="0"/>
                <a:t>Japanese Giant</a:t>
              </a:r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8467344" y="3960266"/>
              <a:ext cx="3129077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전통의 아시안 식품 강자. Windsor Quality 인수로 생산기지 보유. 교자, 볶음밥, 라면 등 일본식 메뉴에 강점.</a:t>
              </a:r>
              <a:endParaRPr lang="en-US" sz="1000" dirty="0"/>
            </a:p>
          </p:txBody>
        </p:sp>
        <p:sp>
          <p:nvSpPr>
            <p:cNvPr id="30" name="Shape 27"/>
            <p:cNvSpPr/>
            <p:nvPr/>
          </p:nvSpPr>
          <p:spPr>
            <a:xfrm>
              <a:off x="8467344" y="4488790"/>
              <a:ext cx="875995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8"/>
            <p:cNvSpPr txBox="1"/>
            <p:nvPr/>
          </p:nvSpPr>
          <p:spPr>
            <a:xfrm>
              <a:off x="8544154" y="4503420"/>
              <a:ext cx="80467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Focus: J-Food</a:t>
              </a:r>
              <a:endParaRPr lang="en-US" sz="8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9416491" y="4488790"/>
              <a:ext cx="1248156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30"/>
            <p:cNvSpPr txBox="1"/>
            <p:nvPr/>
          </p:nvSpPr>
          <p:spPr>
            <a:xfrm>
              <a:off x="9492386" y="4503420"/>
              <a:ext cx="117591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Strength: Production</a:t>
              </a:r>
              <a:endParaRPr lang="en-US" sz="8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8238744" y="5021885"/>
              <a:ext cx="3495751" cy="158099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2"/>
            <p:cNvSpPr/>
            <p:nvPr/>
          </p:nvSpPr>
          <p:spPr>
            <a:xfrm>
              <a:off x="8238744" y="5021885"/>
              <a:ext cx="38405" cy="1580998"/>
            </a:xfrm>
            <a:prstGeom prst="rect">
              <a:avLst/>
            </a:prstGeom>
            <a:solidFill>
              <a:srgbClr val="76C04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3"/>
            <p:cNvSpPr txBox="1"/>
            <p:nvPr/>
          </p:nvSpPr>
          <p:spPr>
            <a:xfrm>
              <a:off x="8467344" y="5222138"/>
              <a:ext cx="1739189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Pulmuone / Others</a:t>
              </a:r>
              <a:endParaRPr lang="en-US" sz="1300" dirty="0"/>
            </a:p>
          </p:txBody>
        </p:sp>
        <p:sp>
          <p:nvSpPr>
            <p:cNvPr id="37" name="Text 34"/>
            <p:cNvSpPr txBox="1"/>
            <p:nvPr/>
          </p:nvSpPr>
          <p:spPr>
            <a:xfrm>
              <a:off x="10511029" y="5173675"/>
              <a:ext cx="1046988" cy="2112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1200" b="1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defRPr>
              </a:lvl1pPr>
            </a:lstStyle>
            <a:p>
              <a:r>
                <a:rPr lang="en-US" dirty="0"/>
                <a:t>Emerging</a:t>
              </a:r>
            </a:p>
          </p:txBody>
        </p:sp>
        <p:sp>
          <p:nvSpPr>
            <p:cNvPr id="38" name="Text 35"/>
            <p:cNvSpPr txBox="1"/>
            <p:nvPr/>
          </p:nvSpPr>
          <p:spPr>
            <a:xfrm>
              <a:off x="8467344" y="5507431"/>
              <a:ext cx="3100730" cy="5623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풀무원(두부/식물성), 대상 O'Food 등. 건강/식물성 트렌드와 결합하여 니치 마켓 공략. H-Mart 등 한인 채널 기반 성장.</a:t>
              </a:r>
              <a:endParaRPr lang="en-US" sz="1000" dirty="0"/>
            </a:p>
          </p:txBody>
        </p:sp>
        <p:sp>
          <p:nvSpPr>
            <p:cNvPr id="39" name="Shape 36"/>
            <p:cNvSpPr/>
            <p:nvPr/>
          </p:nvSpPr>
          <p:spPr>
            <a:xfrm>
              <a:off x="8467344" y="6219749"/>
              <a:ext cx="972007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7"/>
            <p:cNvSpPr txBox="1"/>
            <p:nvPr/>
          </p:nvSpPr>
          <p:spPr>
            <a:xfrm>
              <a:off x="8544154" y="6234379"/>
              <a:ext cx="89977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Focus: Wellness</a:t>
              </a:r>
              <a:endParaRPr lang="en-US" sz="800" dirty="0"/>
            </a:p>
          </p:txBody>
        </p:sp>
        <p:sp>
          <p:nvSpPr>
            <p:cNvPr id="41" name="Shape 38"/>
            <p:cNvSpPr/>
            <p:nvPr/>
          </p:nvSpPr>
          <p:spPr>
            <a:xfrm>
              <a:off x="9514332" y="6219749"/>
              <a:ext cx="1152144" cy="190195"/>
            </a:xfrm>
            <a:prstGeom prst="roundRect">
              <a:avLst>
                <a:gd name="adj" fmla="val 96154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39"/>
            <p:cNvSpPr txBox="1"/>
            <p:nvPr/>
          </p:nvSpPr>
          <p:spPr>
            <a:xfrm>
              <a:off x="9590227" y="6234379"/>
              <a:ext cx="108082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Strategy: Authentic</a:t>
              </a:r>
              <a:endParaRPr lang="en-US" sz="800" dirty="0"/>
            </a:p>
          </p:txBody>
        </p:sp>
        <p:sp>
          <p:nvSpPr>
            <p:cNvPr id="43" name="Shape 40"/>
            <p:cNvSpPr/>
            <p:nvPr/>
          </p:nvSpPr>
          <p:spPr>
            <a:xfrm>
              <a:off x="8238744" y="6752844"/>
              <a:ext cx="3495751" cy="1114654"/>
            </a:xfrm>
            <a:prstGeom prst="roundRect">
              <a:avLst>
                <a:gd name="adj" fmla="val 5609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4" name="Image 1" descr="preencoded.png"/>
            <p:cNvPicPr>
              <a:picLocks noChangeAspect="1"/>
            </p:cNvPicPr>
            <p:nvPr/>
          </p:nvPicPr>
          <p:blipFill>
            <a:blip r:embed="rId4"/>
            <a:srcRect l="-2512" r="-2512"/>
            <a:stretch/>
          </p:blipFill>
          <p:spPr>
            <a:xfrm>
              <a:off x="8401507" y="6950354"/>
              <a:ext cx="105156" cy="133502"/>
            </a:xfrm>
            <a:prstGeom prst="rect">
              <a:avLst/>
            </a:prstGeom>
          </p:spPr>
        </p:pic>
        <p:sp>
          <p:nvSpPr>
            <p:cNvPr id="45" name="Text 41"/>
            <p:cNvSpPr txBox="1"/>
            <p:nvPr/>
          </p:nvSpPr>
          <p:spPr>
            <a:xfrm>
              <a:off x="8581644" y="6914693"/>
              <a:ext cx="11859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Insight</a:t>
              </a:r>
              <a:endParaRPr lang="en-US" sz="1000" dirty="0"/>
            </a:p>
          </p:txBody>
        </p:sp>
        <p:sp>
          <p:nvSpPr>
            <p:cNvPr id="46" name="Text 42"/>
            <p:cNvSpPr txBox="1"/>
            <p:nvPr/>
          </p:nvSpPr>
          <p:spPr>
            <a:xfrm>
              <a:off x="8401507" y="7152437"/>
              <a:ext cx="3267151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Bibigo가 이미 '대중적 K-Food' 포지션을 선점. 후발주자는 Bibigo와 직접 경쟁하기보다 '프리미엄/건강(Bone Broth)' 또는 '초(超)정통성'으로 차별화해야 함.</a:t>
              </a:r>
              <a:endParaRPr lang="en-US" sz="900" dirty="0"/>
            </a:p>
          </p:txBody>
        </p:sp>
        <p:sp>
          <p:nvSpPr>
            <p:cNvPr id="47" name="Shape 43"/>
            <p:cNvSpPr/>
            <p:nvPr/>
          </p:nvSpPr>
          <p:spPr>
            <a:xfrm>
              <a:off x="0" y="816742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Shape 44"/>
            <p:cNvSpPr/>
            <p:nvPr/>
          </p:nvSpPr>
          <p:spPr>
            <a:xfrm>
              <a:off x="0" y="816742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5"/>
            <p:cNvSpPr txBox="1"/>
            <p:nvPr/>
          </p:nvSpPr>
          <p:spPr>
            <a:xfrm>
              <a:off x="457200" y="8281721"/>
              <a:ext cx="5143500" cy="186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CJ CheilJedang Investor Relations (2024), NielsenIQ Data, Industry Reports</a:t>
              </a:r>
              <a:endParaRPr lang="en-US" sz="900" dirty="0"/>
            </a:p>
          </p:txBody>
        </p:sp>
      </p:grpSp>
      <p:sp>
        <p:nvSpPr>
          <p:cNvPr id="52" name="Rectangle 13">
            <a:extLst>
              <a:ext uri="{FF2B5EF4-FFF2-40B4-BE49-F238E27FC236}">
                <a16:creationId xmlns:a16="http://schemas.microsoft.com/office/drawing/2014/main" id="{48DF1388-2A13-A950-DAE6-C80C1FA6D6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33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CB8C2E64-56BF-4CB6-6DF4-764FA6380415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30248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SECTION SUMMARY | INDUSTRY LEVEL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199" y="418795"/>
              <a:ext cx="11734495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유통 권력의 과점과 경쟁 심화 속에서, 니치 차별화(Differentiation)와 가치사슬 </a:t>
              </a: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최적화가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수익성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방어의 핵심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0292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3562502" cy="4267505"/>
            </a:xfrm>
            <a:prstGeom prst="roundRect">
              <a:avLst>
                <a:gd name="adj" fmla="val 5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57200" y="1819656"/>
              <a:ext cx="3536899" cy="38405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3294583" y="1800454"/>
              <a:ext cx="905256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F1F5F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01</a:t>
              </a:r>
              <a:endParaRPr lang="en-US" sz="3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94944" y="2057400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0" descr="preencoded.png"/>
            <p:cNvPicPr>
              <a:picLocks noChangeAspect="1"/>
            </p:cNvPicPr>
            <p:nvPr/>
          </p:nvPicPr>
          <p:blipFill>
            <a:blip r:embed="rId3"/>
            <a:srcRect l="-1282" r="-1282"/>
            <a:stretch/>
          </p:blipFill>
          <p:spPr>
            <a:xfrm>
              <a:off x="814730" y="2190902"/>
              <a:ext cx="219456" cy="190195"/>
            </a:xfrm>
            <a:prstGeom prst="rect">
              <a:avLst/>
            </a:prstGeom>
          </p:spPr>
        </p:pic>
        <p:sp>
          <p:nvSpPr>
            <p:cNvPr id="14" name="Text 11"/>
            <p:cNvSpPr txBox="1"/>
            <p:nvPr/>
          </p:nvSpPr>
          <p:spPr>
            <a:xfrm>
              <a:off x="694944" y="2676449"/>
              <a:ext cx="1976933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MARKET STRUCTURE</a:t>
              </a:r>
              <a:endParaRPr lang="en-US" sz="13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694944" y="3000146"/>
              <a:ext cx="151516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메이저 vs 니치의</a:t>
              </a:r>
              <a:endParaRPr lang="en-US" sz="1500" dirty="0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694944" y="3267151"/>
              <a:ext cx="1305763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이중 경쟁 구도</a:t>
              </a:r>
              <a:endParaRPr lang="en-US" sz="15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694944" y="3705149"/>
              <a:ext cx="3033979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양극화 심화: 글로벌 대기업(규모의 경제)과 전문 에스닉/건강 브랜드(차별화)로 시장 양분</a:t>
              </a:r>
              <a:endParaRPr lang="en-US" sz="100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694944" y="4252874"/>
              <a:ext cx="3072384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SKU 포화: 단순 미투(Me-too) 제품은 생존 불가능, 카테고리 내 명확한 포지셔닝 필수</a:t>
              </a:r>
              <a:endParaRPr lang="en-US" sz="10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94944" y="5115154"/>
              <a:ext cx="3086100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694944" y="5266944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21" name="Text 18"/>
            <p:cNvSpPr txBox="1"/>
            <p:nvPr/>
          </p:nvSpPr>
          <p:spPr>
            <a:xfrm>
              <a:off x="694944" y="5467198"/>
              <a:ext cx="3091586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범용 시장보다 'Premium Asian Wellness'라는 확실한 니치 영역 선점 필요</a:t>
              </a:r>
              <a:endParaRPr lang="en-US" sz="100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4317797" y="1819656"/>
              <a:ext cx="3562502" cy="4267505"/>
            </a:xfrm>
            <a:prstGeom prst="roundRect">
              <a:avLst>
                <a:gd name="adj" fmla="val 5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20"/>
            <p:cNvSpPr/>
            <p:nvPr/>
          </p:nvSpPr>
          <p:spPr>
            <a:xfrm>
              <a:off x="4317797" y="1819656"/>
              <a:ext cx="3536899" cy="38405"/>
            </a:xfrm>
            <a:prstGeom prst="rect">
              <a:avLst/>
            </a:prstGeom>
            <a:solidFill>
              <a:srgbClr val="0056B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7155180" y="1800454"/>
              <a:ext cx="905256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F1F5F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02</a:t>
              </a:r>
              <a:endParaRPr lang="en-US" sz="36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4556455" y="2057400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6" name="Image 1" descr="preencoded.png"/>
            <p:cNvPicPr>
              <a:picLocks noChangeAspect="1"/>
            </p:cNvPicPr>
            <p:nvPr/>
          </p:nvPicPr>
          <p:blipFill>
            <a:blip r:embed="rId4"/>
            <a:srcRect l="-1282" r="-1282"/>
            <a:stretch/>
          </p:blipFill>
          <p:spPr>
            <a:xfrm>
              <a:off x="4675327" y="2190902"/>
              <a:ext cx="219456" cy="190195"/>
            </a:xfrm>
            <a:prstGeom prst="rect">
              <a:avLst/>
            </a:prstGeom>
          </p:spPr>
        </p:pic>
        <p:sp>
          <p:nvSpPr>
            <p:cNvPr id="27" name="Text 23"/>
            <p:cNvSpPr txBox="1"/>
            <p:nvPr/>
          </p:nvSpPr>
          <p:spPr>
            <a:xfrm>
              <a:off x="4556455" y="2676449"/>
              <a:ext cx="141457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BUYER POWER</a:t>
              </a:r>
              <a:endParaRPr lang="en-US" sz="1300" dirty="0"/>
            </a:p>
          </p:txBody>
        </p:sp>
        <p:sp>
          <p:nvSpPr>
            <p:cNvPr id="28" name="Text 24"/>
            <p:cNvSpPr txBox="1"/>
            <p:nvPr/>
          </p:nvSpPr>
          <p:spPr>
            <a:xfrm>
              <a:off x="4556455" y="3000146"/>
              <a:ext cx="182880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구매자 교섭력 극대화</a:t>
              </a:r>
              <a:endParaRPr lang="en-US" sz="1500" dirty="0"/>
            </a:p>
          </p:txBody>
        </p:sp>
        <p:sp>
          <p:nvSpPr>
            <p:cNvPr id="29" name="Text 25"/>
            <p:cNvSpPr txBox="1"/>
            <p:nvPr/>
          </p:nvSpPr>
          <p:spPr>
            <a:xfrm>
              <a:off x="4556455" y="3267151"/>
              <a:ext cx="213421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(Retailer Dominance)</a:t>
              </a:r>
              <a:endParaRPr lang="en-US" sz="1500" dirty="0"/>
            </a:p>
          </p:txBody>
        </p:sp>
        <p:sp>
          <p:nvSpPr>
            <p:cNvPr id="30" name="Text 26"/>
            <p:cNvSpPr txBox="1"/>
            <p:nvPr/>
          </p:nvSpPr>
          <p:spPr>
            <a:xfrm>
              <a:off x="4556455" y="3705149"/>
              <a:ext cx="3139135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유통 과점: Walmart, Costco 등 상위 유통사의 가격 결정권 및 높은 슬롯팅 비용 요구</a:t>
              </a:r>
              <a:endParaRPr lang="en-US" sz="1000" dirty="0"/>
            </a:p>
          </p:txBody>
        </p:sp>
        <p:sp>
          <p:nvSpPr>
            <p:cNvPr id="31" name="Text 27"/>
            <p:cNvSpPr txBox="1"/>
            <p:nvPr/>
          </p:nvSpPr>
          <p:spPr>
            <a:xfrm>
              <a:off x="4556455" y="4252874"/>
              <a:ext cx="3139135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비용 부담: 리테일 미디어 광고비 및 프로모션 비용 증가로 인한 마진 압박</a:t>
              </a:r>
              <a:endParaRPr lang="en-US" sz="1000" dirty="0"/>
            </a:p>
          </p:txBody>
        </p:sp>
        <p:sp>
          <p:nvSpPr>
            <p:cNvPr id="32" name="Shape 28"/>
            <p:cNvSpPr/>
            <p:nvPr/>
          </p:nvSpPr>
          <p:spPr>
            <a:xfrm>
              <a:off x="4556455" y="5115154"/>
              <a:ext cx="3086100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29"/>
            <p:cNvSpPr txBox="1"/>
            <p:nvPr/>
          </p:nvSpPr>
          <p:spPr>
            <a:xfrm>
              <a:off x="4556455" y="5266944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34" name="Text 30"/>
            <p:cNvSpPr txBox="1"/>
            <p:nvPr/>
          </p:nvSpPr>
          <p:spPr>
            <a:xfrm>
              <a:off x="4556455" y="5467198"/>
              <a:ext cx="316748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브랜드 인지도(Pull) 강화로 협상력을 높이고, 채널별 수익성(P&amp;L) 관리 철저</a:t>
              </a:r>
              <a:endParaRPr lang="en-US" sz="1000" dirty="0"/>
            </a:p>
          </p:txBody>
        </p:sp>
        <p:sp>
          <p:nvSpPr>
            <p:cNvPr id="35" name="Shape 31"/>
            <p:cNvSpPr/>
            <p:nvPr/>
          </p:nvSpPr>
          <p:spPr>
            <a:xfrm>
              <a:off x="8178394" y="1819656"/>
              <a:ext cx="3562502" cy="4267505"/>
            </a:xfrm>
            <a:prstGeom prst="roundRect">
              <a:avLst>
                <a:gd name="adj" fmla="val 5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2"/>
            <p:cNvSpPr/>
            <p:nvPr/>
          </p:nvSpPr>
          <p:spPr>
            <a:xfrm>
              <a:off x="8178394" y="1819656"/>
              <a:ext cx="3536899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3"/>
            <p:cNvSpPr txBox="1"/>
            <p:nvPr/>
          </p:nvSpPr>
          <p:spPr>
            <a:xfrm>
              <a:off x="11015777" y="1800454"/>
              <a:ext cx="905256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F1F5F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03</a:t>
              </a:r>
              <a:endParaRPr lang="en-US" sz="3600" dirty="0"/>
            </a:p>
          </p:txBody>
        </p:sp>
        <p:sp>
          <p:nvSpPr>
            <p:cNvPr id="38" name="Shape 34"/>
            <p:cNvSpPr/>
            <p:nvPr/>
          </p:nvSpPr>
          <p:spPr>
            <a:xfrm>
              <a:off x="8417052" y="2057400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9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526780" y="2190902"/>
              <a:ext cx="237744" cy="190195"/>
            </a:xfrm>
            <a:prstGeom prst="rect">
              <a:avLst/>
            </a:prstGeom>
          </p:spPr>
        </p:pic>
        <p:sp>
          <p:nvSpPr>
            <p:cNvPr id="40" name="Text 35"/>
            <p:cNvSpPr txBox="1"/>
            <p:nvPr/>
          </p:nvSpPr>
          <p:spPr>
            <a:xfrm>
              <a:off x="8417052" y="2676449"/>
              <a:ext cx="130027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VALUE CHAIN</a:t>
              </a:r>
              <a:endParaRPr lang="en-US" sz="1300" dirty="0"/>
            </a:p>
          </p:txBody>
        </p:sp>
        <p:sp>
          <p:nvSpPr>
            <p:cNvPr id="41" name="Text 36"/>
            <p:cNvSpPr txBox="1"/>
            <p:nvPr/>
          </p:nvSpPr>
          <p:spPr>
            <a:xfrm>
              <a:off x="8417052" y="3000146"/>
              <a:ext cx="200985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가치사슬 최적화를 통한</a:t>
              </a:r>
              <a:endParaRPr lang="en-US" sz="1500" dirty="0"/>
            </a:p>
          </p:txBody>
        </p:sp>
        <p:sp>
          <p:nvSpPr>
            <p:cNvPr id="42" name="Text 37"/>
            <p:cNvSpPr txBox="1"/>
            <p:nvPr/>
          </p:nvSpPr>
          <p:spPr>
            <a:xfrm>
              <a:off x="8417052" y="3267151"/>
              <a:ext cx="14767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원가 경쟁력 확보</a:t>
              </a:r>
              <a:endParaRPr lang="en-US" sz="1500" dirty="0"/>
            </a:p>
          </p:txBody>
        </p:sp>
        <p:sp>
          <p:nvSpPr>
            <p:cNvPr id="43" name="Text 38"/>
            <p:cNvSpPr txBox="1"/>
            <p:nvPr/>
          </p:nvSpPr>
          <p:spPr>
            <a:xfrm>
              <a:off x="8417052" y="3705149"/>
              <a:ext cx="3129077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Cost Efficiency: 인플레이션 환경 하에서 제조/물류 비용 효율화가 생존의 조건</a:t>
              </a:r>
              <a:endParaRPr lang="en-US" sz="1000" dirty="0"/>
            </a:p>
          </p:txBody>
        </p:sp>
        <p:sp>
          <p:nvSpPr>
            <p:cNvPr id="44" name="Text 39"/>
            <p:cNvSpPr txBox="1"/>
            <p:nvPr/>
          </p:nvSpPr>
          <p:spPr>
            <a:xfrm>
              <a:off x="8417052" y="4252874"/>
              <a:ext cx="3158338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Supply Agility: 현지 Co-packing 및 물류 허브 활용으로 재고 회전율 및 대응 속도 제고</a:t>
              </a:r>
              <a:endParaRPr lang="en-US" sz="1000" dirty="0"/>
            </a:p>
          </p:txBody>
        </p:sp>
        <p:sp>
          <p:nvSpPr>
            <p:cNvPr id="45" name="Shape 40"/>
            <p:cNvSpPr/>
            <p:nvPr/>
          </p:nvSpPr>
          <p:spPr>
            <a:xfrm>
              <a:off x="8417052" y="5115154"/>
              <a:ext cx="3086100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1"/>
            <p:cNvSpPr txBox="1"/>
            <p:nvPr/>
          </p:nvSpPr>
          <p:spPr>
            <a:xfrm>
              <a:off x="8417052" y="5266944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</a:t>
              </a:r>
              <a:endParaRPr lang="en-US" sz="900" dirty="0"/>
            </a:p>
          </p:txBody>
        </p:sp>
        <p:sp>
          <p:nvSpPr>
            <p:cNvPr id="47" name="Text 42"/>
            <p:cNvSpPr txBox="1"/>
            <p:nvPr/>
          </p:nvSpPr>
          <p:spPr>
            <a:xfrm>
              <a:off x="8417052" y="5467198"/>
              <a:ext cx="3119933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고부가가치(프리미엄 가격) 제품 믹스와 물류비 절감 구조의 병행 추진</a:t>
              </a:r>
              <a:endParaRPr lang="en-US" sz="1000" dirty="0"/>
            </a:p>
          </p:txBody>
        </p:sp>
        <p:sp>
          <p:nvSpPr>
            <p:cNvPr id="48" name="Shape 43"/>
            <p:cNvSpPr/>
            <p:nvPr/>
          </p:nvSpPr>
          <p:spPr>
            <a:xfrm>
              <a:off x="0" y="646755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44"/>
            <p:cNvSpPr/>
            <p:nvPr/>
          </p:nvSpPr>
          <p:spPr>
            <a:xfrm>
              <a:off x="0" y="646755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5"/>
            <p:cNvSpPr txBox="1"/>
            <p:nvPr/>
          </p:nvSpPr>
          <p:spPr>
            <a:xfrm>
              <a:off x="457199" y="6581851"/>
              <a:ext cx="421812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Industry Analysis, Porter's 5 Forces Model, </a:t>
              </a:r>
              <a:endParaRPr lang="en-US" sz="900" dirty="0"/>
            </a:p>
          </p:txBody>
        </p:sp>
      </p:grpSp>
      <p:sp>
        <p:nvSpPr>
          <p:cNvPr id="53" name="Rectangle 13">
            <a:extLst>
              <a:ext uri="{FF2B5EF4-FFF2-40B4-BE49-F238E27FC236}">
                <a16:creationId xmlns:a16="http://schemas.microsoft.com/office/drawing/2014/main" id="{B5A26C37-1DEF-F8E5-8063-CCC59D97F28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34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4F1E3-D6BB-AB87-DFC0-6C673E61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9B02B5-48D2-B5E8-193B-BDFE504AE7F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C4604CE-F7B6-2C45-6687-04141E9E07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77202" y="-142646"/>
            <a:ext cx="7144207" cy="7144207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D44E82B9-8F4A-89FC-B8B5-D1DCBC3B371D}"/>
              </a:ext>
            </a:extLst>
          </p:cNvPr>
          <p:cNvSpPr/>
          <p:nvPr/>
        </p:nvSpPr>
        <p:spPr>
          <a:xfrm>
            <a:off x="914400" y="549555"/>
            <a:ext cx="952805" cy="7589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795FDAA-D648-52A9-AFB2-EC72FD0AA289}"/>
              </a:ext>
            </a:extLst>
          </p:cNvPr>
          <p:cNvSpPr txBox="1"/>
          <p:nvPr/>
        </p:nvSpPr>
        <p:spPr>
          <a:xfrm>
            <a:off x="914400" y="987552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K-푸드 미국 시장 진출 환경분석: Bone Broth 중심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466DD768-D401-7727-5388-34F693BE55CB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lumMod val="20000"/>
              <a:lumOff val="80000"/>
              <a:alpha val="15000"/>
            </a:schemeClr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C48D05E3-7AC5-079C-171A-87ADEB586878}"/>
              </a:ext>
            </a:extLst>
          </p:cNvPr>
          <p:cNvSpPr txBox="1"/>
          <p:nvPr/>
        </p:nvSpPr>
        <p:spPr>
          <a:xfrm>
            <a:off x="914400" y="2687727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4000" b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altLang="ko-KR" dirty="0"/>
              <a:t>6. Market Level Analysis</a:t>
            </a:r>
          </a:p>
        </p:txBody>
      </p:sp>
    </p:spTree>
    <p:extLst>
      <p:ext uri="{BB962C8B-B14F-4D97-AF65-F5344CB8AC3E}">
        <p14:creationId xmlns:p14="http://schemas.microsoft.com/office/powerpoint/2010/main" val="2383091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38351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1399946"/>
            <a:ext cx="12191695" cy="3840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2024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MARKET LEVEL 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418795"/>
            <a:ext cx="11377879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시장 세분화(Segmentation Funnel)를 </a:t>
            </a:r>
            <a:r>
              <a:rPr lang="en-US" sz="2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통해</a:t>
            </a: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</a:t>
            </a:r>
            <a:r>
              <a:rPr lang="en-US" sz="2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HMR의</a:t>
            </a: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니치 마켓인 Bone Broth를 핵심 타깃으로 정의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1438351"/>
            <a:ext cx="12191695" cy="5029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42846"/>
            <a:ext cx="6133795" cy="4419295"/>
          </a:xfrm>
          <a:prstGeom prst="roundRect">
            <a:avLst>
              <a:gd name="adj" fmla="val 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619049" y="1904695"/>
            <a:ext cx="5810098" cy="409559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059022" y="5838444"/>
            <a:ext cx="2457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*시장 규모는 추정치 및 2023-2024년 데이터 기반</a:t>
            </a:r>
            <a:endParaRPr lang="en-US" sz="900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786B734-60EB-4645-3536-5EE2BD0B3A06}"/>
              </a:ext>
            </a:extLst>
          </p:cNvPr>
          <p:cNvGrpSpPr/>
          <p:nvPr/>
        </p:nvGrpSpPr>
        <p:grpSpPr>
          <a:xfrm>
            <a:off x="6896405" y="1742846"/>
            <a:ext cx="4839005" cy="2573122"/>
            <a:chOff x="6896405" y="1271016"/>
            <a:chExt cx="4839005" cy="3044952"/>
          </a:xfrm>
        </p:grpSpPr>
        <p:sp>
          <p:nvSpPr>
            <p:cNvPr id="12" name="Shape 9"/>
            <p:cNvSpPr/>
            <p:nvPr/>
          </p:nvSpPr>
          <p:spPr>
            <a:xfrm>
              <a:off x="6896405" y="1271016"/>
              <a:ext cx="4839005" cy="9144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6896405" y="1271016"/>
              <a:ext cx="57607" cy="914400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7144207" y="1423721"/>
              <a:ext cx="18772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1. Total US HMR Market</a:t>
              </a:r>
              <a:endParaRPr lang="en-US" sz="12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11015777" y="1438351"/>
              <a:ext cx="533095" cy="200254"/>
            </a:xfrm>
            <a:prstGeom prst="roundRect">
              <a:avLst>
                <a:gd name="adj" fmla="val 86975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11072470" y="1457554"/>
              <a:ext cx="49926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~$64.9B</a:t>
              </a:r>
              <a:endParaRPr lang="en-US" sz="8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7144207" y="1680667"/>
              <a:ext cx="316839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냉동식품, 레토르트, 즉석섭취(RTE) 등 가정간편식 전체 시장.</a:t>
              </a:r>
              <a:endParaRPr lang="en-US" sz="90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7144207" y="1851660"/>
              <a:ext cx="2568550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성숙 단계이나 편의성 수요로 연 3%대 완만 성장.</a:t>
              </a:r>
              <a:endParaRPr lang="en-US" sz="9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896405" y="2336292"/>
              <a:ext cx="4839005" cy="9144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Shape 17"/>
            <p:cNvSpPr/>
            <p:nvPr/>
          </p:nvSpPr>
          <p:spPr>
            <a:xfrm>
              <a:off x="6896405" y="2336292"/>
              <a:ext cx="57607" cy="914400"/>
            </a:xfrm>
            <a:prstGeom prst="rect">
              <a:avLst/>
            </a:prstGeom>
            <a:solidFill>
              <a:srgbClr val="BAE6F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8"/>
            <p:cNvSpPr txBox="1"/>
            <p:nvPr/>
          </p:nvSpPr>
          <p:spPr>
            <a:xfrm>
              <a:off x="7144207" y="2488997"/>
              <a:ext cx="17245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2. Ethnic / Asian HMR</a:t>
              </a:r>
              <a:endParaRPr lang="en-US" sz="120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10774375" y="2503627"/>
              <a:ext cx="771754" cy="200254"/>
            </a:xfrm>
            <a:prstGeom prst="roundRect">
              <a:avLst>
                <a:gd name="adj" fmla="val 86975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20"/>
            <p:cNvSpPr txBox="1"/>
            <p:nvPr/>
          </p:nvSpPr>
          <p:spPr>
            <a:xfrm>
              <a:off x="10831068" y="2522830"/>
              <a:ext cx="73792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284C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High Growth</a:t>
              </a:r>
              <a:endParaRPr lang="en-US" sz="800" dirty="0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7144207" y="2745943"/>
              <a:ext cx="373075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내 아시아계 인구 증가 및 밀레니얼/Z세대의 이국적 미식 탐험 수요.</a:t>
              </a:r>
              <a:endParaRPr lang="en-US" sz="900" dirty="0"/>
            </a:p>
          </p:txBody>
        </p:sp>
        <p:sp>
          <p:nvSpPr>
            <p:cNvPr id="25" name="Text 22"/>
            <p:cNvSpPr txBox="1"/>
            <p:nvPr/>
          </p:nvSpPr>
          <p:spPr>
            <a:xfrm>
              <a:off x="7144207" y="2916936"/>
              <a:ext cx="190195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중식, 일식 위주에서 다양화 진행 중.</a:t>
              </a:r>
              <a:endParaRPr lang="en-US" sz="9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6896405" y="3401568"/>
              <a:ext cx="4839005" cy="9144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4"/>
            <p:cNvSpPr/>
            <p:nvPr/>
          </p:nvSpPr>
          <p:spPr>
            <a:xfrm>
              <a:off x="6896405" y="3401568"/>
              <a:ext cx="57607" cy="914400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7144207" y="3554273"/>
              <a:ext cx="19248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3. K-HMR (Korean Food)</a:t>
              </a:r>
              <a:endParaRPr lang="en-US" sz="1200" dirty="0"/>
            </a:p>
          </p:txBody>
        </p:sp>
        <p:sp>
          <p:nvSpPr>
            <p:cNvPr id="29" name="Shape 26"/>
            <p:cNvSpPr/>
            <p:nvPr/>
          </p:nvSpPr>
          <p:spPr>
            <a:xfrm>
              <a:off x="10746943" y="3568903"/>
              <a:ext cx="800100" cy="200254"/>
            </a:xfrm>
            <a:prstGeom prst="roundRect">
              <a:avLst>
                <a:gd name="adj" fmla="val 86975"/>
              </a:avLst>
            </a:prstGeom>
            <a:solidFill>
              <a:srgbClr val="F0F9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7"/>
            <p:cNvSpPr txBox="1"/>
            <p:nvPr/>
          </p:nvSpPr>
          <p:spPr>
            <a:xfrm>
              <a:off x="10803636" y="3588106"/>
              <a:ext cx="76626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A3E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Trend Leader</a:t>
              </a:r>
              <a:endParaRPr lang="en-US" sz="800" dirty="0"/>
            </a:p>
          </p:txBody>
        </p:sp>
        <p:sp>
          <p:nvSpPr>
            <p:cNvPr id="31" name="Text 28"/>
            <p:cNvSpPr txBox="1"/>
            <p:nvPr/>
          </p:nvSpPr>
          <p:spPr>
            <a:xfrm>
              <a:off x="7144207" y="3811219"/>
              <a:ext cx="395935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한류(K-Wave)와 함께 급부상. 만두(Dumplings)의 성공으로 주류 채널 진입.</a:t>
              </a:r>
              <a:endParaRPr lang="en-US" sz="900" dirty="0"/>
            </a:p>
          </p:txBody>
        </p:sp>
        <p:sp>
          <p:nvSpPr>
            <p:cNvPr id="32" name="Text 29"/>
            <p:cNvSpPr txBox="1"/>
            <p:nvPr/>
          </p:nvSpPr>
          <p:spPr>
            <a:xfrm>
              <a:off x="7144207" y="3982212"/>
              <a:ext cx="179679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'건강하고 힙한' 이미지 구축 단계.</a:t>
              </a:r>
              <a:endParaRPr lang="en-US" sz="900" dirty="0"/>
            </a:p>
          </p:txBody>
        </p:sp>
      </p:grpSp>
      <p:sp>
        <p:nvSpPr>
          <p:cNvPr id="33" name="Shape 30"/>
          <p:cNvSpPr/>
          <p:nvPr/>
        </p:nvSpPr>
        <p:spPr>
          <a:xfrm>
            <a:off x="6896405" y="4466844"/>
            <a:ext cx="4839005" cy="914400"/>
          </a:xfrm>
          <a:prstGeom prst="roundRect">
            <a:avLst>
              <a:gd name="adj" fmla="val 6250"/>
            </a:avLst>
          </a:prstGeom>
          <a:solidFill>
            <a:srgbClr val="051C2C"/>
          </a:solidFill>
          <a:ln/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6896405" y="4466844"/>
            <a:ext cx="57607" cy="9144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44207" y="4667098"/>
            <a:ext cx="152705" cy="152705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372807" y="4619549"/>
            <a:ext cx="2248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4. Bone Broth (Target Niche)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10779862" y="4634179"/>
            <a:ext cx="771754" cy="200254"/>
          </a:xfrm>
          <a:prstGeom prst="roundRect">
            <a:avLst>
              <a:gd name="adj" fmla="val 86975"/>
            </a:avLst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10837469" y="4653382"/>
            <a:ext cx="7379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~$840M (US)</a:t>
            </a:r>
            <a:endParaRPr lang="en-US" sz="800" dirty="0"/>
          </a:p>
        </p:txBody>
      </p:sp>
      <p:sp>
        <p:nvSpPr>
          <p:cNvPr id="39" name="Text 35"/>
          <p:cNvSpPr txBox="1"/>
          <p:nvPr/>
        </p:nvSpPr>
        <p:spPr>
          <a:xfrm>
            <a:off x="7144207" y="4876495"/>
            <a:ext cx="445404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한국의 곰탕/설렁탕과 유사한 고단백 기능성 국물 요리. Wellness와 K-Food Heritage가 교차하는 최적의 공략 지점.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6896405" y="5418125"/>
            <a:ext cx="4839005" cy="943661"/>
          </a:xfrm>
          <a:prstGeom prst="roundRect">
            <a:avLst>
              <a:gd name="adj" fmla="val 570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58254" y="5732374"/>
            <a:ext cx="142646" cy="190195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7353605" y="5579974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SEGMENTATION STRATEGY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7353605" y="5799430"/>
            <a:ext cx="428213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40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거대하지만 경쟁이 치열한 범용 HMR 시장 대신, '기능성(건강)'과 '문화적 정통성(Korean)'이 결합된 Bone Broth 세그먼트에서 '카테고리 킬러'로 진입하여 프리미엄 이미지를 구축해야 함.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0" y="6467551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0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 txBox="1"/>
          <p:nvPr/>
        </p:nvSpPr>
        <p:spPr>
          <a:xfrm>
            <a:off x="457200" y="6581851"/>
            <a:ext cx="4419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Source: Market Research Reports (Euromonitor, Mintel), 2024 Analysis</a:t>
            </a:r>
            <a:endParaRPr lang="en-US" sz="900" dirty="0"/>
          </a:p>
        </p:txBody>
      </p:sp>
      <p:sp>
        <p:nvSpPr>
          <p:cNvPr id="50" name="Rectangle 13">
            <a:extLst>
              <a:ext uri="{FF2B5EF4-FFF2-40B4-BE49-F238E27FC236}">
                <a16:creationId xmlns:a16="http://schemas.microsoft.com/office/drawing/2014/main" id="{977CBE34-7E6A-5DC9-FC02-029FB6D8DD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36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그룹 49">
            <a:extLst>
              <a:ext uri="{FF2B5EF4-FFF2-40B4-BE49-F238E27FC236}">
                <a16:creationId xmlns:a16="http://schemas.microsoft.com/office/drawing/2014/main" id="{170F8DDB-536A-4414-0C62-E7D949743C8D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086307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047902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6910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MARKET LEVEL ANALYSIS | K-HMR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0482682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K-HMR 시장은 CJ Bibigo가 주도하며, 미국 내 메인스트림 식품 카테고리로 급부상 중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080821"/>
              <a:ext cx="12191695" cy="5391302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462126"/>
              <a:ext cx="3610051" cy="4629607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94944" y="4655210"/>
              <a:ext cx="3133649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694944" y="4893869"/>
              <a:ext cx="14200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K-HMR 성장 모멘텀</a:t>
              </a:r>
              <a:endParaRPr lang="en-US" sz="12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694944" y="5207508"/>
              <a:ext cx="3205886" cy="6291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슈완스(Schwan's) 유통망 통합 시너지와 'Bibigo' 브랜드 파워가 결합되어 분기 매출 1조 원 대를 돌파, K-Food의 주류 시장 안착을 입증했습니다.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291279" y="1462126"/>
              <a:ext cx="3610051" cy="4629607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4529023" y="1699870"/>
              <a:ext cx="288218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US FROZEN DUMPLING MARKET SHARE</a:t>
              </a:r>
              <a:endParaRPr lang="en-US" sz="1000" dirty="0"/>
            </a:p>
          </p:txBody>
        </p:sp>
        <p:pic>
          <p:nvPicPr>
            <p:cNvPr id="16" name="Image 0" descr="preencoded.png"/>
            <p:cNvPicPr>
              <a:picLocks noChangeAspect="1"/>
            </p:cNvPicPr>
            <p:nvPr/>
          </p:nvPicPr>
          <p:blipFill>
            <a:blip r:embed="rId3"/>
            <a:srcRect t="-9" b="-9"/>
            <a:stretch/>
          </p:blipFill>
          <p:spPr>
            <a:xfrm>
              <a:off x="4529023" y="2042770"/>
              <a:ext cx="3133649" cy="2800807"/>
            </a:xfrm>
            <a:prstGeom prst="rect">
              <a:avLst/>
            </a:prstGeom>
          </p:spPr>
        </p:pic>
        <p:sp>
          <p:nvSpPr>
            <p:cNvPr id="17" name="Shape 14"/>
            <p:cNvSpPr/>
            <p:nvPr/>
          </p:nvSpPr>
          <p:spPr>
            <a:xfrm>
              <a:off x="4529023" y="5352898"/>
              <a:ext cx="3133649" cy="495605"/>
            </a:xfrm>
            <a:prstGeom prst="roundRect">
              <a:avLst>
                <a:gd name="adj" fmla="val 14192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1" descr="preencoded.png"/>
            <p:cNvPicPr>
              <a:picLocks noChangeAspect="1"/>
            </p:cNvPicPr>
            <p:nvPr/>
          </p:nvPicPr>
          <p:blipFill>
            <a:blip r:embed="rId4"/>
            <a:srcRect l="-837" r="-837"/>
            <a:stretch/>
          </p:blipFill>
          <p:spPr>
            <a:xfrm>
              <a:off x="5074006" y="5541264"/>
              <a:ext cx="152705" cy="133502"/>
            </a:xfrm>
            <a:prstGeom prst="rect">
              <a:avLst/>
            </a:prstGeom>
          </p:spPr>
        </p:pic>
        <p:sp>
          <p:nvSpPr>
            <p:cNvPr id="19" name="Text 15"/>
            <p:cNvSpPr txBox="1"/>
            <p:nvPr/>
          </p:nvSpPr>
          <p:spPr>
            <a:xfrm>
              <a:off x="5302606" y="5505602"/>
              <a:ext cx="191932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2위 브랜드 대비 3배 이상의 격차</a:t>
              </a:r>
              <a:endParaRPr lang="en-US" sz="10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8129930" y="1462126"/>
              <a:ext cx="3610051" cy="4629607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8367674" y="1699870"/>
              <a:ext cx="17483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KEY SUCCESS FACTORS</a:t>
              </a:r>
              <a:endParaRPr lang="en-US" sz="1000" dirty="0"/>
            </a:p>
          </p:txBody>
        </p:sp>
        <p:sp>
          <p:nvSpPr>
            <p:cNvPr id="22" name="Shape 18"/>
            <p:cNvSpPr/>
            <p:nvPr/>
          </p:nvSpPr>
          <p:spPr>
            <a:xfrm>
              <a:off x="8367674" y="2853842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19"/>
            <p:cNvSpPr/>
            <p:nvPr/>
          </p:nvSpPr>
          <p:spPr>
            <a:xfrm>
              <a:off x="8367674" y="2119579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2" descr="preencoded.png"/>
            <p:cNvPicPr>
              <a:picLocks noChangeAspect="1"/>
            </p:cNvPicPr>
            <p:nvPr/>
          </p:nvPicPr>
          <p:blipFill>
            <a:blip r:embed="rId5"/>
            <a:srcRect l="-1282" r="-1282"/>
            <a:stretch/>
          </p:blipFill>
          <p:spPr>
            <a:xfrm>
              <a:off x="8449056" y="2214677"/>
              <a:ext cx="219456" cy="190195"/>
            </a:xfrm>
            <a:prstGeom prst="rect">
              <a:avLst/>
            </a:prstGeom>
          </p:spPr>
        </p:pic>
        <p:sp>
          <p:nvSpPr>
            <p:cNvPr id="25" name="Text 20"/>
            <p:cNvSpPr txBox="1"/>
            <p:nvPr/>
          </p:nvSpPr>
          <p:spPr>
            <a:xfrm>
              <a:off x="8900770" y="2119579"/>
              <a:ext cx="19101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메인스트림 침투 (Mainstream)</a:t>
              </a:r>
              <a:endParaRPr lang="en-US" sz="1000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8900770" y="2338121"/>
              <a:ext cx="2591410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Costco, Walmart 등 대형 유통 채널 입점 및 매대 점유율 확대</a:t>
              </a:r>
              <a:endParaRPr lang="en-US" sz="900" dirty="0"/>
            </a:p>
          </p:txBody>
        </p:sp>
        <p:sp>
          <p:nvSpPr>
            <p:cNvPr id="27" name="Shape 22"/>
            <p:cNvSpPr/>
            <p:nvPr/>
          </p:nvSpPr>
          <p:spPr>
            <a:xfrm>
              <a:off x="8367674" y="3787445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23"/>
            <p:cNvSpPr/>
            <p:nvPr/>
          </p:nvSpPr>
          <p:spPr>
            <a:xfrm>
              <a:off x="8367674" y="3053182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9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8462772" y="3148279"/>
              <a:ext cx="190195" cy="190195"/>
            </a:xfrm>
            <a:prstGeom prst="rect">
              <a:avLst/>
            </a:prstGeom>
          </p:spPr>
        </p:pic>
        <p:sp>
          <p:nvSpPr>
            <p:cNvPr id="30" name="Text 24"/>
            <p:cNvSpPr txBox="1"/>
            <p:nvPr/>
          </p:nvSpPr>
          <p:spPr>
            <a:xfrm>
              <a:off x="8900770" y="3053182"/>
              <a:ext cx="180502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철저한 현지화 (Localization)</a:t>
              </a:r>
              <a:endParaRPr lang="en-US" sz="1000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8900770" y="3271723"/>
              <a:ext cx="2686507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현지 입맛에 맞춘 얇은 피, 닭고기/고수 활용 등 R&amp;D 혁신</a:t>
              </a:r>
              <a:endParaRPr lang="en-US" sz="900" dirty="0"/>
            </a:p>
          </p:txBody>
        </p:sp>
        <p:sp>
          <p:nvSpPr>
            <p:cNvPr id="32" name="Shape 26"/>
            <p:cNvSpPr/>
            <p:nvPr/>
          </p:nvSpPr>
          <p:spPr>
            <a:xfrm>
              <a:off x="8367674" y="4720133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Shape 27"/>
            <p:cNvSpPr/>
            <p:nvPr/>
          </p:nvSpPr>
          <p:spPr>
            <a:xfrm>
              <a:off x="8367674" y="3985870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4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462772" y="4081882"/>
              <a:ext cx="190195" cy="190195"/>
            </a:xfrm>
            <a:prstGeom prst="rect">
              <a:avLst/>
            </a:prstGeom>
          </p:spPr>
        </p:pic>
        <p:sp>
          <p:nvSpPr>
            <p:cNvPr id="35" name="Text 28"/>
            <p:cNvSpPr txBox="1"/>
            <p:nvPr/>
          </p:nvSpPr>
          <p:spPr>
            <a:xfrm>
              <a:off x="8900770" y="3985870"/>
              <a:ext cx="15197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한류 시너지 (K-Culture)</a:t>
              </a:r>
              <a:endParaRPr lang="en-US" sz="1000" dirty="0"/>
            </a:p>
          </p:txBody>
        </p:sp>
        <p:sp>
          <p:nvSpPr>
            <p:cNvPr id="36" name="Text 29"/>
            <p:cNvSpPr txBox="1"/>
            <p:nvPr/>
          </p:nvSpPr>
          <p:spPr>
            <a:xfrm>
              <a:off x="8900770" y="4205326"/>
              <a:ext cx="2581351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K-Content 인기와 연계한 마케팅으로 젊은 소비자층 유입 가속</a:t>
              </a:r>
              <a:endParaRPr lang="en-US" sz="900" dirty="0"/>
            </a:p>
          </p:txBody>
        </p:sp>
        <p:sp>
          <p:nvSpPr>
            <p:cNvPr id="37" name="Shape 30"/>
            <p:cNvSpPr/>
            <p:nvPr/>
          </p:nvSpPr>
          <p:spPr>
            <a:xfrm>
              <a:off x="8367674" y="5533949"/>
              <a:ext cx="3133649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1"/>
            <p:cNvSpPr txBox="1"/>
            <p:nvPr/>
          </p:nvSpPr>
          <p:spPr>
            <a:xfrm>
              <a:off x="8367674" y="5686654"/>
              <a:ext cx="25438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NOTE: 햇반, 치킨 등 차기 K-HMR 카테고리 확장 중</a:t>
              </a:r>
              <a:endParaRPr lang="en-US" sz="900" dirty="0"/>
            </a:p>
          </p:txBody>
        </p:sp>
        <p:sp>
          <p:nvSpPr>
            <p:cNvPr id="39" name="Shape 32"/>
            <p:cNvSpPr/>
            <p:nvPr/>
          </p:nvSpPr>
          <p:spPr>
            <a:xfrm>
              <a:off x="0" y="646755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33"/>
            <p:cNvSpPr/>
            <p:nvPr/>
          </p:nvSpPr>
          <p:spPr>
            <a:xfrm>
              <a:off x="0" y="646755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4"/>
            <p:cNvSpPr txBox="1"/>
            <p:nvPr/>
          </p:nvSpPr>
          <p:spPr>
            <a:xfrm>
              <a:off x="457200" y="6581851"/>
              <a:ext cx="3443630" cy="144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CJ CheilJedang IR Report 2024, Nielsen IQ Data</a:t>
              </a:r>
              <a:endParaRPr lang="en-US" sz="900" dirty="0"/>
            </a:p>
          </p:txBody>
        </p:sp>
        <p:pic>
          <p:nvPicPr>
            <p:cNvPr id="43" name="Image 5" descr="preencoded.png"/>
            <p:cNvPicPr>
              <a:picLocks noChangeAspect="1"/>
            </p:cNvPicPr>
            <p:nvPr/>
          </p:nvPicPr>
          <p:blipFill>
            <a:blip r:embed="rId8"/>
            <a:srcRect l="-837" r="-837"/>
            <a:stretch/>
          </p:blipFill>
          <p:spPr>
            <a:xfrm>
              <a:off x="809244" y="3676802"/>
              <a:ext cx="152705" cy="133502"/>
            </a:xfrm>
            <a:prstGeom prst="rect">
              <a:avLst/>
            </a:prstGeom>
          </p:spPr>
        </p:pic>
        <p:sp>
          <p:nvSpPr>
            <p:cNvPr id="44" name="Text 36"/>
            <p:cNvSpPr txBox="1"/>
            <p:nvPr/>
          </p:nvSpPr>
          <p:spPr>
            <a:xfrm>
              <a:off x="1037844" y="3642970"/>
              <a:ext cx="170078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96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만두 시장 점유율 1위 (42%)</a:t>
              </a:r>
              <a:endParaRPr lang="en-US" sz="1000" dirty="0"/>
            </a:p>
          </p:txBody>
        </p:sp>
        <p:sp>
          <p:nvSpPr>
            <p:cNvPr id="45" name="Text 37"/>
            <p:cNvSpPr txBox="1"/>
            <p:nvPr/>
          </p:nvSpPr>
          <p:spPr>
            <a:xfrm>
              <a:off x="694944" y="1699870"/>
              <a:ext cx="271028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CJ CHEILJEDANG US FOOD REVENUE (24.1Q)</a:t>
              </a:r>
              <a:endParaRPr lang="en-US" sz="1000" dirty="0"/>
            </a:p>
          </p:txBody>
        </p:sp>
        <p:sp>
          <p:nvSpPr>
            <p:cNvPr id="46" name="Text 38"/>
            <p:cNvSpPr txBox="1"/>
            <p:nvPr/>
          </p:nvSpPr>
          <p:spPr>
            <a:xfrm>
              <a:off x="694944" y="2176272"/>
              <a:ext cx="1381658" cy="8769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8.7</a:t>
              </a:r>
              <a:endParaRPr lang="en-US" sz="4800" dirty="0"/>
            </a:p>
          </p:txBody>
        </p:sp>
        <p:sp>
          <p:nvSpPr>
            <p:cNvPr id="47" name="Text 39"/>
            <p:cNvSpPr txBox="1"/>
            <p:nvPr/>
          </p:nvSpPr>
          <p:spPr>
            <a:xfrm>
              <a:off x="1692554" y="2614270"/>
              <a:ext cx="866851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억 달러</a:t>
              </a:r>
              <a:endParaRPr lang="en-US" sz="1800" dirty="0"/>
            </a:p>
          </p:txBody>
        </p:sp>
        <p:sp>
          <p:nvSpPr>
            <p:cNvPr id="48" name="Text 40"/>
            <p:cNvSpPr txBox="1"/>
            <p:nvPr/>
          </p:nvSpPr>
          <p:spPr>
            <a:xfrm>
              <a:off x="694944" y="3033979"/>
              <a:ext cx="17675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(분기 매출 약 1조 1,800억 원)</a:t>
              </a:r>
              <a:endParaRPr lang="en-US" sz="1000" dirty="0"/>
            </a:p>
          </p:txBody>
        </p:sp>
      </p:grpSp>
      <p:sp>
        <p:nvSpPr>
          <p:cNvPr id="10" name="Rectangle 13">
            <a:extLst>
              <a:ext uri="{FF2B5EF4-FFF2-40B4-BE49-F238E27FC236}">
                <a16:creationId xmlns:a16="http://schemas.microsoft.com/office/drawing/2014/main" id="{0C247BAC-4BC0-227E-223C-74E6F62A1B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37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그룹 49">
            <a:extLst>
              <a:ext uri="{FF2B5EF4-FFF2-40B4-BE49-F238E27FC236}">
                <a16:creationId xmlns:a16="http://schemas.microsoft.com/office/drawing/2014/main" id="{BFE448E8-5016-DBF4-216B-7043CFA3C5A1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0244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MARKET LEVEL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358677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Bone Broth 시장은 웰니스 트렌드로 연 5~6% 성장, </a:t>
              </a:r>
            </a:p>
            <a:p>
              <a:pPr marL="0" indent="0" algn="l">
                <a:buNone/>
              </a:pP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북미는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글로벌 수요의 약 38%를 점유하는 핵심 시장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0292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3610051" cy="4267505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94944" y="4655210"/>
              <a:ext cx="3133649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694944" y="4893869"/>
              <a:ext cx="7242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성장 동력</a:t>
              </a:r>
              <a:endParaRPr lang="en-US" sz="12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694944" y="5207508"/>
              <a:ext cx="3167482" cy="6291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키토제닉(Keto), 팔레오(Paleo) 다이어트 유행과 '장 건강', '관절 건강' 등 기능성 식품에 대한 수요가 시장 확대를 주도하고 있습니다.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291279" y="1819656"/>
              <a:ext cx="3610051" cy="4267505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4529023" y="2057400"/>
              <a:ext cx="24624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GLOBAL REGIONAL SHARE (2023)</a:t>
              </a:r>
              <a:endParaRPr lang="en-US" sz="1000" dirty="0"/>
            </a:p>
          </p:txBody>
        </p:sp>
        <p:pic>
          <p:nvPicPr>
            <p:cNvPr id="16" name="Image 0" descr="preencoded.png"/>
            <p:cNvPicPr>
              <a:picLocks noChangeAspect="1"/>
            </p:cNvPicPr>
            <p:nvPr/>
          </p:nvPicPr>
          <p:blipFill>
            <a:blip r:embed="rId3"/>
            <a:srcRect t="-9" b="-9"/>
            <a:stretch/>
          </p:blipFill>
          <p:spPr>
            <a:xfrm>
              <a:off x="4529023" y="2400300"/>
              <a:ext cx="3133649" cy="2800807"/>
            </a:xfrm>
            <a:prstGeom prst="rect">
              <a:avLst/>
            </a:prstGeom>
          </p:spPr>
        </p:pic>
        <p:sp>
          <p:nvSpPr>
            <p:cNvPr id="17" name="Shape 14"/>
            <p:cNvSpPr/>
            <p:nvPr/>
          </p:nvSpPr>
          <p:spPr>
            <a:xfrm>
              <a:off x="4529023" y="5352898"/>
              <a:ext cx="3133649" cy="495605"/>
            </a:xfrm>
            <a:prstGeom prst="roundRect">
              <a:avLst>
                <a:gd name="adj" fmla="val 14192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1" descr="preencoded.png"/>
            <p:cNvPicPr>
              <a:picLocks noChangeAspect="1"/>
            </p:cNvPicPr>
            <p:nvPr/>
          </p:nvPicPr>
          <p:blipFill>
            <a:blip r:embed="rId4"/>
            <a:srcRect l="-2512" r="-2512"/>
            <a:stretch/>
          </p:blipFill>
          <p:spPr>
            <a:xfrm>
              <a:off x="4899355" y="5541264"/>
              <a:ext cx="105156" cy="133502"/>
            </a:xfrm>
            <a:prstGeom prst="rect">
              <a:avLst/>
            </a:prstGeom>
          </p:spPr>
        </p:pic>
        <p:sp>
          <p:nvSpPr>
            <p:cNvPr id="19" name="Text 15"/>
            <p:cNvSpPr txBox="1"/>
            <p:nvPr/>
          </p:nvSpPr>
          <p:spPr>
            <a:xfrm>
              <a:off x="5080406" y="5505602"/>
              <a:ext cx="23198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시장 규모 2031년 8.4억 달러 전망</a:t>
              </a:r>
              <a:endParaRPr lang="en-US" sz="10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8129930" y="1819656"/>
              <a:ext cx="3610051" cy="4267505"/>
            </a:xfrm>
            <a:prstGeom prst="roundRect">
              <a:avLst>
                <a:gd name="adj" fmla="val 53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8367674" y="2057400"/>
              <a:ext cx="17483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KEY SUCCESS FACTORS</a:t>
              </a:r>
              <a:endParaRPr lang="en-US" sz="1000" dirty="0"/>
            </a:p>
          </p:txBody>
        </p:sp>
        <p:sp>
          <p:nvSpPr>
            <p:cNvPr id="22" name="Shape 18"/>
            <p:cNvSpPr/>
            <p:nvPr/>
          </p:nvSpPr>
          <p:spPr>
            <a:xfrm>
              <a:off x="8367674" y="3210458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19"/>
            <p:cNvSpPr/>
            <p:nvPr/>
          </p:nvSpPr>
          <p:spPr>
            <a:xfrm>
              <a:off x="8367674" y="2476195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462772" y="2572207"/>
              <a:ext cx="190195" cy="190195"/>
            </a:xfrm>
            <a:prstGeom prst="rect">
              <a:avLst/>
            </a:prstGeom>
          </p:spPr>
        </p:pic>
        <p:sp>
          <p:nvSpPr>
            <p:cNvPr id="25" name="Text 20"/>
            <p:cNvSpPr txBox="1"/>
            <p:nvPr/>
          </p:nvSpPr>
          <p:spPr>
            <a:xfrm>
              <a:off x="8900770" y="2476195"/>
              <a:ext cx="16724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면역 &amp; 기능성 (Immunity)</a:t>
              </a:r>
              <a:endParaRPr lang="en-US" sz="1000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8900770" y="2695651"/>
              <a:ext cx="2591410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"Liquid Gold"로 인식되며 콜라겐, 아미노산 등 영양 섭취원으로 각광</a:t>
              </a:r>
              <a:endParaRPr lang="en-US" sz="900" dirty="0"/>
            </a:p>
          </p:txBody>
        </p:sp>
        <p:sp>
          <p:nvSpPr>
            <p:cNvPr id="27" name="Shape 22"/>
            <p:cNvSpPr/>
            <p:nvPr/>
          </p:nvSpPr>
          <p:spPr>
            <a:xfrm>
              <a:off x="8367674" y="4144061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23"/>
            <p:cNvSpPr/>
            <p:nvPr/>
          </p:nvSpPr>
          <p:spPr>
            <a:xfrm>
              <a:off x="8367674" y="3409798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9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8462772" y="3504895"/>
              <a:ext cx="190195" cy="190195"/>
            </a:xfrm>
            <a:prstGeom prst="rect">
              <a:avLst/>
            </a:prstGeom>
          </p:spPr>
        </p:pic>
        <p:sp>
          <p:nvSpPr>
            <p:cNvPr id="30" name="Text 24"/>
            <p:cNvSpPr txBox="1"/>
            <p:nvPr/>
          </p:nvSpPr>
          <p:spPr>
            <a:xfrm>
              <a:off x="8900770" y="3409798"/>
              <a:ext cx="15389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클린 라벨 (Clean Label)</a:t>
              </a:r>
              <a:endParaRPr lang="en-US" sz="1000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8900770" y="3629254"/>
              <a:ext cx="2667305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항생제/호르몬 프리(Free), 유기농 원료 등 투명성 중시 트렌드</a:t>
              </a:r>
              <a:endParaRPr lang="en-US" sz="900" dirty="0"/>
            </a:p>
          </p:txBody>
        </p:sp>
        <p:sp>
          <p:nvSpPr>
            <p:cNvPr id="32" name="Shape 26"/>
            <p:cNvSpPr/>
            <p:nvPr/>
          </p:nvSpPr>
          <p:spPr>
            <a:xfrm>
              <a:off x="8367674" y="5077663"/>
              <a:ext cx="3133649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Shape 27"/>
            <p:cNvSpPr/>
            <p:nvPr/>
          </p:nvSpPr>
          <p:spPr>
            <a:xfrm>
              <a:off x="8367674" y="4343400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4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438998" y="4438498"/>
              <a:ext cx="237744" cy="190195"/>
            </a:xfrm>
            <a:prstGeom prst="rect">
              <a:avLst/>
            </a:prstGeom>
          </p:spPr>
        </p:pic>
        <p:sp>
          <p:nvSpPr>
            <p:cNvPr id="35" name="Text 28"/>
            <p:cNvSpPr txBox="1"/>
            <p:nvPr/>
          </p:nvSpPr>
          <p:spPr>
            <a:xfrm>
              <a:off x="8900770" y="4343400"/>
              <a:ext cx="14337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포맷 다양화 (Formats)</a:t>
              </a:r>
              <a:endParaRPr lang="en-US" sz="1000" dirty="0"/>
            </a:p>
          </p:txBody>
        </p:sp>
        <p:sp>
          <p:nvSpPr>
            <p:cNvPr id="36" name="Text 29"/>
            <p:cNvSpPr txBox="1"/>
            <p:nvPr/>
          </p:nvSpPr>
          <p:spPr>
            <a:xfrm>
              <a:off x="8900770" y="4562856"/>
              <a:ext cx="2667305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전통적 HMR 외 상온 보관 가능한 RTD 팩, 스틱형 파우더, K-Cup 등장</a:t>
              </a:r>
              <a:endParaRPr lang="en-US" sz="900" dirty="0"/>
            </a:p>
          </p:txBody>
        </p:sp>
        <p:sp>
          <p:nvSpPr>
            <p:cNvPr id="37" name="Shape 30"/>
            <p:cNvSpPr/>
            <p:nvPr/>
          </p:nvSpPr>
          <p:spPr>
            <a:xfrm>
              <a:off x="8367674" y="5533949"/>
              <a:ext cx="3133649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1"/>
            <p:cNvSpPr txBox="1"/>
            <p:nvPr/>
          </p:nvSpPr>
          <p:spPr>
            <a:xfrm>
              <a:off x="8367674" y="5686654"/>
              <a:ext cx="31912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OPPORTUNITY: 한국식 '사골곰탕'의 깊은 맛과 가성비 소구 가능</a:t>
              </a:r>
              <a:endParaRPr lang="en-US" sz="900" dirty="0"/>
            </a:p>
          </p:txBody>
        </p:sp>
        <p:sp>
          <p:nvSpPr>
            <p:cNvPr id="39" name="Shape 32"/>
            <p:cNvSpPr/>
            <p:nvPr/>
          </p:nvSpPr>
          <p:spPr>
            <a:xfrm>
              <a:off x="0" y="646755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33"/>
            <p:cNvSpPr/>
            <p:nvPr/>
          </p:nvSpPr>
          <p:spPr>
            <a:xfrm>
              <a:off x="0" y="646755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4"/>
            <p:cNvSpPr txBox="1"/>
            <p:nvPr/>
          </p:nvSpPr>
          <p:spPr>
            <a:xfrm>
              <a:off x="457200" y="6581851"/>
              <a:ext cx="6032500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Grand View Research, Cognitive Market Research, Global Bone Broth Market Analysis 2024</a:t>
              </a:r>
              <a:endParaRPr lang="en-US" sz="900" dirty="0"/>
            </a:p>
          </p:txBody>
        </p:sp>
        <p:pic>
          <p:nvPicPr>
            <p:cNvPr id="43" name="Image 5" descr="preencoded.png"/>
            <p:cNvPicPr>
              <a:picLocks noChangeAspect="1"/>
            </p:cNvPicPr>
            <p:nvPr/>
          </p:nvPicPr>
          <p:blipFill>
            <a:blip r:embed="rId8"/>
            <a:srcRect l="-2512" r="-2512"/>
            <a:stretch/>
          </p:blipFill>
          <p:spPr>
            <a:xfrm>
              <a:off x="809244" y="3843223"/>
              <a:ext cx="105156" cy="133502"/>
            </a:xfrm>
            <a:prstGeom prst="rect">
              <a:avLst/>
            </a:prstGeom>
          </p:spPr>
        </p:pic>
        <p:sp>
          <p:nvSpPr>
            <p:cNvPr id="44" name="Text 36"/>
            <p:cNvSpPr txBox="1"/>
            <p:nvPr/>
          </p:nvSpPr>
          <p:spPr>
            <a:xfrm>
              <a:off x="990295" y="3810305"/>
              <a:ext cx="164317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96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CAGR 5.8% (2024-2030)</a:t>
              </a:r>
              <a:endParaRPr lang="en-US" sz="1000" dirty="0"/>
            </a:p>
          </p:txBody>
        </p:sp>
        <p:sp>
          <p:nvSpPr>
            <p:cNvPr id="45" name="Text 37"/>
            <p:cNvSpPr txBox="1"/>
            <p:nvPr/>
          </p:nvSpPr>
          <p:spPr>
            <a:xfrm>
              <a:off x="694944" y="2057400"/>
              <a:ext cx="26718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GLOBAL MARKET FORECAST (2030E)</a:t>
              </a:r>
              <a:endParaRPr lang="en-US" sz="1000" dirty="0"/>
            </a:p>
          </p:txBody>
        </p:sp>
        <p:sp>
          <p:nvSpPr>
            <p:cNvPr id="46" name="Text 38"/>
            <p:cNvSpPr txBox="1"/>
            <p:nvPr/>
          </p:nvSpPr>
          <p:spPr>
            <a:xfrm>
              <a:off x="694944" y="2343607"/>
              <a:ext cx="1181405" cy="8769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16</a:t>
              </a:r>
              <a:endParaRPr lang="en-US" sz="4800" dirty="0"/>
            </a:p>
          </p:txBody>
        </p:sp>
        <p:sp>
          <p:nvSpPr>
            <p:cNvPr id="47" name="Text 39"/>
            <p:cNvSpPr txBox="1"/>
            <p:nvPr/>
          </p:nvSpPr>
          <p:spPr>
            <a:xfrm>
              <a:off x="1614831" y="2781605"/>
              <a:ext cx="866851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억 달러</a:t>
              </a:r>
              <a:endParaRPr lang="en-US" sz="1800" dirty="0"/>
            </a:p>
          </p:txBody>
        </p:sp>
        <p:sp>
          <p:nvSpPr>
            <p:cNvPr id="48" name="Text 40"/>
            <p:cNvSpPr txBox="1"/>
            <p:nvPr/>
          </p:nvSpPr>
          <p:spPr>
            <a:xfrm>
              <a:off x="694944" y="3200400"/>
              <a:ext cx="19485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(2023년 10.8억 달러 대비 1.5배)</a:t>
              </a:r>
              <a:endParaRPr lang="en-US" sz="1000" dirty="0"/>
            </a:p>
          </p:txBody>
        </p:sp>
      </p:grpSp>
      <p:sp>
        <p:nvSpPr>
          <p:cNvPr id="10" name="Rectangle 13">
            <a:extLst>
              <a:ext uri="{FF2B5EF4-FFF2-40B4-BE49-F238E27FC236}">
                <a16:creationId xmlns:a16="http://schemas.microsoft.com/office/drawing/2014/main" id="{E02F039E-F9E5-2064-C5D6-243740C94F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38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E58A68EB-163B-33C3-0C08-CAD96998BD31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68058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4149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MARKET LIFE CYCLE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0654589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K-HMR은 성장기(Growth)에서 채널을 확장 중이며, </a:t>
              </a:r>
            </a:p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Bone Broth는 성숙기 진입(Late Growth) 단계로 기능성 차별화가 핵심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429707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742846"/>
              <a:ext cx="11277295" cy="2476195"/>
            </a:xfrm>
            <a:prstGeom prst="roundRect">
              <a:avLst>
                <a:gd name="adj" fmla="val 11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 l="-3" r="-3"/>
            <a:stretch/>
          </p:blipFill>
          <p:spPr>
            <a:xfrm>
              <a:off x="619049" y="1904695"/>
              <a:ext cx="10953598" cy="2152498"/>
            </a:xfrm>
            <a:prstGeom prst="rect">
              <a:avLst/>
            </a:prstGeom>
          </p:spPr>
        </p:pic>
        <p:sp>
          <p:nvSpPr>
            <p:cNvPr id="11" name="Shape 8"/>
            <p:cNvSpPr/>
            <p:nvPr/>
          </p:nvSpPr>
          <p:spPr>
            <a:xfrm>
              <a:off x="457200" y="4448556"/>
              <a:ext cx="5486400" cy="2115007"/>
            </a:xfrm>
            <a:prstGeom prst="roundRect">
              <a:avLst>
                <a:gd name="adj" fmla="val 1558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733349" y="5181905"/>
              <a:ext cx="4972507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38505" y="4809744"/>
              <a:ext cx="171907" cy="171907"/>
            </a:xfrm>
            <a:prstGeom prst="rect">
              <a:avLst/>
            </a:prstGeom>
          </p:spPr>
        </p:pic>
        <p:sp>
          <p:nvSpPr>
            <p:cNvPr id="14" name="Text 10"/>
            <p:cNvSpPr txBox="1"/>
            <p:nvPr/>
          </p:nvSpPr>
          <p:spPr>
            <a:xfrm>
              <a:off x="1228954" y="4677156"/>
              <a:ext cx="78181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K-HMR</a:t>
              </a:r>
              <a:endParaRPr lang="en-US" sz="1500" dirty="0"/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1228954" y="4943246"/>
              <a:ext cx="18388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Korean Home Meal Replacement</a:t>
              </a:r>
              <a:endParaRPr lang="en-US" sz="900" dirty="0"/>
            </a:p>
          </p:txBody>
        </p:sp>
        <p:sp>
          <p:nvSpPr>
            <p:cNvPr id="16" name="Shape 12"/>
            <p:cNvSpPr/>
            <p:nvPr/>
          </p:nvSpPr>
          <p:spPr>
            <a:xfrm>
              <a:off x="4557370" y="4772254"/>
              <a:ext cx="1152144" cy="247802"/>
            </a:xfrm>
            <a:prstGeom prst="roundRect">
              <a:avLst>
                <a:gd name="adj" fmla="val 369004"/>
              </a:avLst>
            </a:prstGeom>
            <a:solidFill>
              <a:srgbClr val="E0F2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4671670" y="4809744"/>
              <a:ext cx="10104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369A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GROWTH PHASE</a:t>
              </a:r>
              <a:endParaRPr lang="en-US" sz="900" dirty="0"/>
            </a:p>
          </p:txBody>
        </p:sp>
        <p:sp>
          <p:nvSpPr>
            <p:cNvPr id="18" name="Text 14"/>
            <p:cNvSpPr txBox="1"/>
            <p:nvPr/>
          </p:nvSpPr>
          <p:spPr>
            <a:xfrm>
              <a:off x="733349" y="5343754"/>
              <a:ext cx="5074920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시장 특징: 매출 급성장, 초기 수용자(Early Adopter)에서 대중 시장(Early Majority)으로 확산.</a:t>
              </a:r>
              <a:endParaRPr lang="en-US" sz="1000" dirty="0"/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733349" y="5831129"/>
              <a:ext cx="5074920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핵심 전략: 유통 채널(Costco → Walmart) 공격적 확장 및 브랜드 인지도 제고에 투자 집중.</a:t>
              </a:r>
              <a:endParaRPr lang="en-US" sz="10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6248095" y="4448556"/>
              <a:ext cx="5486400" cy="2115007"/>
            </a:xfrm>
            <a:prstGeom prst="roundRect">
              <a:avLst>
                <a:gd name="adj" fmla="val 1558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17"/>
            <p:cNvSpPr/>
            <p:nvPr/>
          </p:nvSpPr>
          <p:spPr>
            <a:xfrm>
              <a:off x="6524244" y="5181905"/>
              <a:ext cx="4972507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2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629400" y="4809744"/>
              <a:ext cx="171907" cy="171907"/>
            </a:xfrm>
            <a:prstGeom prst="rect">
              <a:avLst/>
            </a:prstGeom>
          </p:spPr>
        </p:pic>
        <p:sp>
          <p:nvSpPr>
            <p:cNvPr id="23" name="Text 18"/>
            <p:cNvSpPr txBox="1"/>
            <p:nvPr/>
          </p:nvSpPr>
          <p:spPr>
            <a:xfrm>
              <a:off x="7019849" y="4677156"/>
              <a:ext cx="120975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Bone Broth</a:t>
              </a:r>
              <a:endParaRPr lang="en-US" sz="1500" dirty="0"/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7019849" y="4943246"/>
              <a:ext cx="1476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Wellness Liquid &amp; Powder</a:t>
              </a:r>
              <a:endParaRPr lang="en-US" sz="900" dirty="0"/>
            </a:p>
          </p:txBody>
        </p:sp>
        <p:sp>
          <p:nvSpPr>
            <p:cNvPr id="25" name="Shape 20"/>
            <p:cNvSpPr/>
            <p:nvPr/>
          </p:nvSpPr>
          <p:spPr>
            <a:xfrm>
              <a:off x="9403690" y="4772254"/>
              <a:ext cx="2095805" cy="247802"/>
            </a:xfrm>
            <a:prstGeom prst="roundRect">
              <a:avLst>
                <a:gd name="adj" fmla="val 369004"/>
              </a:avLst>
            </a:prstGeom>
            <a:solidFill>
              <a:srgbClr val="F0F9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9517990" y="4809744"/>
              <a:ext cx="19531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A3E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LATE GROWTH / EARLY MATURITY</a:t>
              </a:r>
              <a:endParaRPr lang="en-US" sz="900" dirty="0"/>
            </a:p>
          </p:txBody>
        </p:sp>
        <p:sp>
          <p:nvSpPr>
            <p:cNvPr id="27" name="Text 22"/>
            <p:cNvSpPr txBox="1"/>
            <p:nvPr/>
          </p:nvSpPr>
          <p:spPr>
            <a:xfrm>
              <a:off x="6524244" y="5343754"/>
              <a:ext cx="5074920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시장 특징: 성장률 둔화, 경쟁 심화. 단순 제품만으로는 차별화가 어려운 레드오션 진입 직전.</a:t>
              </a:r>
              <a:endParaRPr lang="en-US" sz="1000" dirty="0"/>
            </a:p>
          </p:txBody>
        </p:sp>
        <p:sp>
          <p:nvSpPr>
            <p:cNvPr id="28" name="Text 23"/>
            <p:cNvSpPr txBox="1"/>
            <p:nvPr/>
          </p:nvSpPr>
          <p:spPr>
            <a:xfrm>
              <a:off x="6524244" y="5831129"/>
              <a:ext cx="5074920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핵심 전략: 기능성(고단백·저염·오가닉) 스펙 강화 및 충성 고객(Fanbase) 확보를 통한 수익성 방어.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2191695" cy="656645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"/>
            <a:ext cx="12191695" cy="6566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"/>
            <a:ext cx="12191695" cy="1377203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1340432"/>
            <a:ext cx="12191695" cy="36772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18883"/>
            <a:ext cx="2024482" cy="182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MARKET LEVEL 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400992"/>
            <a:ext cx="11263579" cy="748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4대 핵심 소비자층(Segment)의 니즈에 맞춘 차별화된 가치 제안(Value Proposition) 정립 필요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05" y="1418758"/>
            <a:ext cx="12191695" cy="548079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68754"/>
            <a:ext cx="5524805" cy="2343785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50800">
            <a:solidFill>
              <a:srgbClr val="0284C7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9B2F13F-9454-7C1B-F674-4C189F0AC888}"/>
              </a:ext>
            </a:extLst>
          </p:cNvPr>
          <p:cNvGrpSpPr/>
          <p:nvPr/>
        </p:nvGrpSpPr>
        <p:grpSpPr>
          <a:xfrm>
            <a:off x="4282338" y="1724740"/>
            <a:ext cx="1628546" cy="237267"/>
            <a:chOff x="4193438" y="1851740"/>
            <a:chExt cx="1628546" cy="237267"/>
          </a:xfrm>
        </p:grpSpPr>
        <p:sp>
          <p:nvSpPr>
            <p:cNvPr id="10" name="Shape 8"/>
            <p:cNvSpPr/>
            <p:nvPr/>
          </p:nvSpPr>
          <p:spPr>
            <a:xfrm>
              <a:off x="4193438" y="1851740"/>
              <a:ext cx="1628546" cy="237267"/>
            </a:xfrm>
            <a:prstGeom prst="roundRect">
              <a:avLst>
                <a:gd name="adj" fmla="val 369004"/>
              </a:avLst>
            </a:prstGeom>
            <a:solidFill>
              <a:srgbClr val="051C2C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4307738" y="1887635"/>
              <a:ext cx="1485900" cy="1558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Primary Target (Loyalist)</a:t>
              </a:r>
              <a:endParaRPr lang="en-US" sz="9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694944" y="1924408"/>
            <a:ext cx="533095" cy="510432"/>
          </a:xfrm>
          <a:prstGeom prst="roundRect">
            <a:avLst>
              <a:gd name="adj" fmla="val 36756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8446" y="2052236"/>
            <a:ext cx="267005" cy="25565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80744" y="1961181"/>
            <a:ext cx="3200400" cy="26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84C7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한인 및 아시아계 (Asian-American)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380744" y="2271117"/>
            <a:ext cx="2253082" cy="182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정통의 맛을 추구하는 핵심 충성 고객층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" y="2608195"/>
            <a:ext cx="4418381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Authenticity First: 현지화된 맛보다는 한국 본연의 깊은 맛(진한 국물) 선호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" y="2864724"/>
            <a:ext cx="4513478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High Frequency: 일상식(Staple Food)으로 소비하며 대용량 및 멀티팩 선호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" y="3122129"/>
            <a:ext cx="3151022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Channel: H-Mart, 99 Ranch 등 에스닉 마켓 주 이용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4944" y="3524871"/>
            <a:ext cx="590702" cy="255654"/>
          </a:xfrm>
          <a:prstGeom prst="roundRect">
            <a:avLst>
              <a:gd name="adj" fmla="val 73385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96442" y="3570398"/>
            <a:ext cx="476402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369A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#정통성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355141" y="3524871"/>
            <a:ext cx="694944" cy="255654"/>
          </a:xfrm>
          <a:prstGeom prst="roundRect">
            <a:avLst>
              <a:gd name="adj" fmla="val 73385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1455725" y="3570398"/>
            <a:ext cx="581558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369A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#집밥대체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120494" y="3524871"/>
            <a:ext cx="657454" cy="255654"/>
          </a:xfrm>
          <a:prstGeom prst="roundRect">
            <a:avLst>
              <a:gd name="adj" fmla="val 73385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2221078" y="3570398"/>
            <a:ext cx="543154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369A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#H-Mart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10605" y="1668754"/>
            <a:ext cx="5524805" cy="2343785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50800">
            <a:solidFill>
              <a:srgbClr val="E11D48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CA9E5B6-4409-0061-D16C-BE41AD4B58FD}"/>
              </a:ext>
            </a:extLst>
          </p:cNvPr>
          <p:cNvGrpSpPr/>
          <p:nvPr/>
        </p:nvGrpSpPr>
        <p:grpSpPr>
          <a:xfrm>
            <a:off x="9578543" y="1724740"/>
            <a:ext cx="2085746" cy="237267"/>
            <a:chOff x="9489643" y="1851740"/>
            <a:chExt cx="2085746" cy="237267"/>
          </a:xfrm>
        </p:grpSpPr>
        <p:sp>
          <p:nvSpPr>
            <p:cNvPr id="26" name="Shape 23"/>
            <p:cNvSpPr/>
            <p:nvPr/>
          </p:nvSpPr>
          <p:spPr>
            <a:xfrm>
              <a:off x="9489643" y="1851740"/>
              <a:ext cx="2085746" cy="237267"/>
            </a:xfrm>
            <a:prstGeom prst="roundRect">
              <a:avLst>
                <a:gd name="adj" fmla="val 369004"/>
              </a:avLst>
            </a:prstGeom>
            <a:solidFill>
              <a:srgbClr val="051C2C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9603943" y="1887635"/>
              <a:ext cx="1943100" cy="1558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Expansion Target (Early Adopter)</a:t>
              </a:r>
              <a:endParaRPr lang="en-US" sz="900" dirty="0"/>
            </a:p>
          </p:txBody>
        </p:sp>
      </p:grpSp>
      <p:sp>
        <p:nvSpPr>
          <p:cNvPr id="28" name="Shape 25"/>
          <p:cNvSpPr/>
          <p:nvPr/>
        </p:nvSpPr>
        <p:spPr>
          <a:xfrm>
            <a:off x="6448349" y="1924408"/>
            <a:ext cx="533095" cy="510432"/>
          </a:xfrm>
          <a:prstGeom prst="roundRect">
            <a:avLst>
              <a:gd name="adj" fmla="val 36756"/>
            </a:avLst>
          </a:prstGeom>
          <a:solidFill>
            <a:srgbClr val="FFF1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6596482" y="2052236"/>
            <a:ext cx="237744" cy="255654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134149" y="1961181"/>
            <a:ext cx="3324758" cy="26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11D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미국 푸디 &amp; MZ세대 (Global Foodie)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7134149" y="2271117"/>
            <a:ext cx="2453335" cy="182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K-Culture와 새로운 미식을 즐기는 탐험가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6448349" y="2608195"/>
            <a:ext cx="4789627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Experience &amp; Trend: K-Drama/Pop 영향으로 한식 경험 자체를 트렌디하게 인식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6448349" y="2864724"/>
            <a:ext cx="4427525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Flavor Adventure: 매운맛(Spicy), 퓨전 메뉴 등 자극적이고 새로운 맛 선호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6448349" y="3122129"/>
            <a:ext cx="3579876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Channel: Trader Joe's, Whole Foods, SNS(TikTok) Viral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448349" y="3524871"/>
            <a:ext cx="685800" cy="255654"/>
          </a:xfrm>
          <a:prstGeom prst="roundRect">
            <a:avLst>
              <a:gd name="adj" fmla="val 73385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/>
          <p:cNvSpPr txBox="1"/>
          <p:nvPr/>
        </p:nvSpPr>
        <p:spPr>
          <a:xfrm>
            <a:off x="6548933" y="3570398"/>
            <a:ext cx="571500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E123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#K-Wave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7207301" y="3524871"/>
            <a:ext cx="800100" cy="255654"/>
          </a:xfrm>
          <a:prstGeom prst="roundRect">
            <a:avLst>
              <a:gd name="adj" fmla="val 73385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7308799" y="3570398"/>
            <a:ext cx="685800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E123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#새로운경험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8077810" y="3524871"/>
            <a:ext cx="705002" cy="255654"/>
          </a:xfrm>
          <a:prstGeom prst="roundRect">
            <a:avLst>
              <a:gd name="adj" fmla="val 73385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6"/>
          <p:cNvSpPr txBox="1"/>
          <p:nvPr/>
        </p:nvSpPr>
        <p:spPr>
          <a:xfrm>
            <a:off x="8178394" y="3570398"/>
            <a:ext cx="590702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E123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#SNS공유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57200" y="4227043"/>
            <a:ext cx="5524805" cy="2343785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50800">
            <a:solidFill>
              <a:srgbClr val="16A34A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52C2568C-E09F-5FCE-F7C3-E0218F37EF5F}"/>
              </a:ext>
            </a:extLst>
          </p:cNvPr>
          <p:cNvGrpSpPr/>
          <p:nvPr/>
        </p:nvGrpSpPr>
        <p:grpSpPr>
          <a:xfrm>
            <a:off x="4071112" y="4282153"/>
            <a:ext cx="1837944" cy="237267"/>
            <a:chOff x="3982212" y="4409153"/>
            <a:chExt cx="1837944" cy="237267"/>
          </a:xfrm>
        </p:grpSpPr>
        <p:sp>
          <p:nvSpPr>
            <p:cNvPr id="42" name="Shape 38"/>
            <p:cNvSpPr/>
            <p:nvPr/>
          </p:nvSpPr>
          <p:spPr>
            <a:xfrm>
              <a:off x="3982212" y="4409153"/>
              <a:ext cx="1837944" cy="237267"/>
            </a:xfrm>
            <a:prstGeom prst="roundRect">
              <a:avLst>
                <a:gd name="adj" fmla="val 369004"/>
              </a:avLst>
            </a:prstGeom>
            <a:solidFill>
              <a:srgbClr val="051C2C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39"/>
            <p:cNvSpPr txBox="1"/>
            <p:nvPr/>
          </p:nvSpPr>
          <p:spPr>
            <a:xfrm>
              <a:off x="4096512" y="4445925"/>
              <a:ext cx="1696212" cy="1558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Target (High Value)</a:t>
              </a:r>
              <a:endParaRPr lang="en-US" sz="900" dirty="0"/>
            </a:p>
          </p:txBody>
        </p:sp>
      </p:grpSp>
      <p:sp>
        <p:nvSpPr>
          <p:cNvPr id="44" name="Shape 40"/>
          <p:cNvSpPr/>
          <p:nvPr/>
        </p:nvSpPr>
        <p:spPr>
          <a:xfrm>
            <a:off x="694944" y="4481822"/>
            <a:ext cx="533095" cy="510432"/>
          </a:xfrm>
          <a:prstGeom prst="roundRect">
            <a:avLst>
              <a:gd name="adj" fmla="val 3675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8446" y="4609649"/>
            <a:ext cx="267005" cy="255654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1380744" y="4518594"/>
            <a:ext cx="3038551" cy="26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A34A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건강·웰니스족 (Wellness Seeker)</a:t>
            </a:r>
            <a:endParaRPr lang="en-US" sz="1500" dirty="0"/>
          </a:p>
        </p:txBody>
      </p:sp>
      <p:sp>
        <p:nvSpPr>
          <p:cNvPr id="47" name="Text 42"/>
          <p:cNvSpPr txBox="1"/>
          <p:nvPr/>
        </p:nvSpPr>
        <p:spPr>
          <a:xfrm>
            <a:off x="1380744" y="4828530"/>
            <a:ext cx="2214677" cy="182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성분과 기능을 중시하는 고관여 소비자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694944" y="5166483"/>
            <a:ext cx="4932274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Functional Benefits: 고단백(Protein), 콜라겐, 저탄수(Keto/Paleo) 등 기능성 중시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694944" y="5423013"/>
            <a:ext cx="4323283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Clean Label: 첨가물 없는 천연 재료, Non-GMO, Organic 인증 확인 필수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694944" y="5679543"/>
            <a:ext cx="3665830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Need: Bone Broth를 '국물'이 아닌 '건강 음료/보충제'로 인식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694944" y="6082285"/>
            <a:ext cx="590702" cy="255654"/>
          </a:xfrm>
          <a:prstGeom prst="roundRect">
            <a:avLst>
              <a:gd name="adj" fmla="val 7338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7"/>
          <p:cNvSpPr txBox="1"/>
          <p:nvPr/>
        </p:nvSpPr>
        <p:spPr>
          <a:xfrm>
            <a:off x="796442" y="6127812"/>
            <a:ext cx="476402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803D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#고단백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1355141" y="6082285"/>
            <a:ext cx="694944" cy="255654"/>
          </a:xfrm>
          <a:prstGeom prst="roundRect">
            <a:avLst>
              <a:gd name="adj" fmla="val 7338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9"/>
          <p:cNvSpPr txBox="1"/>
          <p:nvPr/>
        </p:nvSpPr>
        <p:spPr>
          <a:xfrm>
            <a:off x="1455725" y="6127812"/>
            <a:ext cx="581558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803D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#클린라벨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2120494" y="6082285"/>
            <a:ext cx="981151" cy="255654"/>
          </a:xfrm>
          <a:prstGeom prst="roundRect">
            <a:avLst>
              <a:gd name="adj" fmla="val 7338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1"/>
          <p:cNvSpPr txBox="1"/>
          <p:nvPr/>
        </p:nvSpPr>
        <p:spPr>
          <a:xfrm>
            <a:off x="2221078" y="6127812"/>
            <a:ext cx="866851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803D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#KetoFriendly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6210605" y="4227043"/>
            <a:ext cx="5524805" cy="2343785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50800">
            <a:solidFill>
              <a:srgbClr val="4B5563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B60CCF55-E772-62C0-EF18-611DC0DD6143}"/>
              </a:ext>
            </a:extLst>
          </p:cNvPr>
          <p:cNvGrpSpPr/>
          <p:nvPr/>
        </p:nvGrpSpPr>
        <p:grpSpPr>
          <a:xfrm>
            <a:off x="9798914" y="4282153"/>
            <a:ext cx="1867205" cy="237267"/>
            <a:chOff x="9710014" y="4409153"/>
            <a:chExt cx="1867205" cy="237267"/>
          </a:xfrm>
        </p:grpSpPr>
        <p:sp>
          <p:nvSpPr>
            <p:cNvPr id="58" name="Shape 53"/>
            <p:cNvSpPr/>
            <p:nvPr/>
          </p:nvSpPr>
          <p:spPr>
            <a:xfrm>
              <a:off x="9710014" y="4409153"/>
              <a:ext cx="1867205" cy="237267"/>
            </a:xfrm>
            <a:prstGeom prst="roundRect">
              <a:avLst>
                <a:gd name="adj" fmla="val 369004"/>
              </a:avLst>
            </a:prstGeom>
            <a:solidFill>
              <a:srgbClr val="051C2C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 54"/>
            <p:cNvSpPr txBox="1"/>
            <p:nvPr/>
          </p:nvSpPr>
          <p:spPr>
            <a:xfrm>
              <a:off x="9824314" y="4445925"/>
              <a:ext cx="1724558" cy="1558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Volume Target (Mass Market)</a:t>
              </a:r>
              <a:endParaRPr lang="en-US" sz="900" dirty="0"/>
            </a:p>
          </p:txBody>
        </p:sp>
      </p:grpSp>
      <p:sp>
        <p:nvSpPr>
          <p:cNvPr id="60" name="Shape 55"/>
          <p:cNvSpPr/>
          <p:nvPr/>
        </p:nvSpPr>
        <p:spPr>
          <a:xfrm>
            <a:off x="6448349" y="4481822"/>
            <a:ext cx="533095" cy="510432"/>
          </a:xfrm>
          <a:prstGeom prst="roundRect">
            <a:avLst>
              <a:gd name="adj" fmla="val 3675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81851" y="4609649"/>
            <a:ext cx="267005" cy="255654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7134149" y="4518594"/>
            <a:ext cx="2943454" cy="26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556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편의성·일반 소비자 (Pragmatist)</a:t>
            </a:r>
            <a:endParaRPr lang="en-US" sz="1500" dirty="0"/>
          </a:p>
        </p:txBody>
      </p:sp>
      <p:sp>
        <p:nvSpPr>
          <p:cNvPr id="63" name="Text 57"/>
          <p:cNvSpPr txBox="1"/>
          <p:nvPr/>
        </p:nvSpPr>
        <p:spPr>
          <a:xfrm>
            <a:off x="7134149" y="4828530"/>
            <a:ext cx="2052828" cy="182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가성비와 간편함을 최우선하는 대중</a:t>
            </a:r>
            <a:endParaRPr lang="en-US" sz="1000" dirty="0"/>
          </a:p>
        </p:txBody>
      </p:sp>
      <p:sp>
        <p:nvSpPr>
          <p:cNvPr id="64" name="Text 58"/>
          <p:cNvSpPr txBox="1"/>
          <p:nvPr/>
        </p:nvSpPr>
        <p:spPr>
          <a:xfrm>
            <a:off x="6448349" y="5166483"/>
            <a:ext cx="4399178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Convenience: 전자레인지 조리(Microwavable), 상온 보관 등 편의성 필수</a:t>
            </a:r>
            <a:endParaRPr lang="en-US" sz="1000" dirty="0"/>
          </a:p>
        </p:txBody>
      </p:sp>
      <p:sp>
        <p:nvSpPr>
          <p:cNvPr id="65" name="Text 59"/>
          <p:cNvSpPr txBox="1"/>
          <p:nvPr/>
        </p:nvSpPr>
        <p:spPr>
          <a:xfrm>
            <a:off x="6448349" y="5423013"/>
            <a:ext cx="3674974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Price Sensitivity: 가성비 중시, 대형마트 PB 상품과 가격 비교</a:t>
            </a:r>
            <a:endParaRPr lang="en-US" sz="1000" dirty="0"/>
          </a:p>
        </p:txBody>
      </p:sp>
      <p:sp>
        <p:nvSpPr>
          <p:cNvPr id="66" name="Text 60"/>
          <p:cNvSpPr txBox="1"/>
          <p:nvPr/>
        </p:nvSpPr>
        <p:spPr>
          <a:xfrm>
            <a:off x="6448349" y="5679543"/>
            <a:ext cx="3389681" cy="19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Channel: Walmart, Kroger, Costco 등 메인스트림 채널</a:t>
            </a:r>
            <a:endParaRPr lang="en-US" sz="1000" dirty="0"/>
          </a:p>
        </p:txBody>
      </p:sp>
      <p:sp>
        <p:nvSpPr>
          <p:cNvPr id="67" name="Shape 61"/>
          <p:cNvSpPr/>
          <p:nvPr/>
        </p:nvSpPr>
        <p:spPr>
          <a:xfrm>
            <a:off x="6448349" y="6082285"/>
            <a:ext cx="590702" cy="255654"/>
          </a:xfrm>
          <a:prstGeom prst="roundRect">
            <a:avLst>
              <a:gd name="adj" fmla="val 7338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2"/>
          <p:cNvSpPr txBox="1"/>
          <p:nvPr/>
        </p:nvSpPr>
        <p:spPr>
          <a:xfrm>
            <a:off x="6548933" y="6127812"/>
            <a:ext cx="476402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#가성비</a:t>
            </a:r>
            <a:endParaRPr lang="en-US" sz="900" dirty="0"/>
          </a:p>
        </p:txBody>
      </p:sp>
      <p:sp>
        <p:nvSpPr>
          <p:cNvPr id="69" name="Shape 63"/>
          <p:cNvSpPr/>
          <p:nvPr/>
        </p:nvSpPr>
        <p:spPr>
          <a:xfrm>
            <a:off x="7108546" y="6082285"/>
            <a:ext cx="800100" cy="255654"/>
          </a:xfrm>
          <a:prstGeom prst="roundRect">
            <a:avLst>
              <a:gd name="adj" fmla="val 7338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4"/>
          <p:cNvSpPr txBox="1"/>
          <p:nvPr/>
        </p:nvSpPr>
        <p:spPr>
          <a:xfrm>
            <a:off x="7209130" y="6127812"/>
            <a:ext cx="685800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#전자레인지</a:t>
            </a:r>
            <a:endParaRPr lang="en-US" sz="900" dirty="0"/>
          </a:p>
        </p:txBody>
      </p:sp>
      <p:sp>
        <p:nvSpPr>
          <p:cNvPr id="71" name="Shape 65"/>
          <p:cNvSpPr/>
          <p:nvPr/>
        </p:nvSpPr>
        <p:spPr>
          <a:xfrm>
            <a:off x="7978140" y="6082285"/>
            <a:ext cx="590702" cy="255654"/>
          </a:xfrm>
          <a:prstGeom prst="roundRect">
            <a:avLst>
              <a:gd name="adj" fmla="val 7338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6"/>
          <p:cNvSpPr txBox="1"/>
          <p:nvPr/>
        </p:nvSpPr>
        <p:spPr>
          <a:xfrm>
            <a:off x="8079638" y="6127812"/>
            <a:ext cx="476402" cy="15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#간편식</a:t>
            </a:r>
            <a:endParaRPr lang="en-US" sz="900" dirty="0"/>
          </a:p>
        </p:txBody>
      </p:sp>
      <p:sp>
        <p:nvSpPr>
          <p:cNvPr id="73" name="Rectangle 13">
            <a:extLst>
              <a:ext uri="{FF2B5EF4-FFF2-40B4-BE49-F238E27FC236}">
                <a16:creationId xmlns:a16="http://schemas.microsoft.com/office/drawing/2014/main" id="{960D2F4F-B2BA-01DE-2D21-6EBDD4A2832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40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69">
            <a:extLst>
              <a:ext uri="{FF2B5EF4-FFF2-40B4-BE49-F238E27FC236}">
                <a16:creationId xmlns:a16="http://schemas.microsoft.com/office/drawing/2014/main" id="{9E0824CB-7D37-AAA2-8B69-4706E2214649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362456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24051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190195"/>
              <a:ext cx="31290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CONSUMER NEEDS &amp; TRENDS ANALYSIS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381305"/>
              <a:ext cx="9549079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소비자는 '건강한 스펙(Low Sodium/High Protein)’과 </a:t>
              </a:r>
            </a:p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'진정성 있는 맛(Authenticity)'을 동시에 요구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362456"/>
              <a:ext cx="12191695" cy="5105095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666951"/>
              <a:ext cx="5486400" cy="4496105"/>
            </a:xfrm>
            <a:prstGeom prst="roundRect">
              <a:avLst>
                <a:gd name="adj" fmla="val 34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676095"/>
              <a:ext cx="5467198" cy="619049"/>
            </a:xfrm>
            <a:prstGeom prst="rect">
              <a:avLst/>
            </a:prstGeom>
            <a:solidFill>
              <a:srgbClr val="F8FAFC"/>
            </a:solidFill>
            <a:ln w="50800">
              <a:solidFill>
                <a:srgbClr val="051C2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94944" y="1926641"/>
              <a:ext cx="171907" cy="171907"/>
            </a:xfrm>
            <a:prstGeom prst="rect">
              <a:avLst/>
            </a:prstGeom>
          </p:spPr>
        </p:pic>
        <p:sp>
          <p:nvSpPr>
            <p:cNvPr id="12" name="Text 9"/>
            <p:cNvSpPr txBox="1"/>
            <p:nvPr/>
          </p:nvSpPr>
          <p:spPr>
            <a:xfrm>
              <a:off x="942746" y="1876349"/>
              <a:ext cx="2310689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Health &amp; Wellness (기능성)</a:t>
              </a:r>
              <a:endParaRPr lang="en-US" sz="13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025542" y="1890065"/>
              <a:ext cx="685800" cy="228600"/>
            </a:xfrm>
            <a:prstGeom prst="roundRect">
              <a:avLst>
                <a:gd name="adj" fmla="val 66667"/>
              </a:avLst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5085893" y="1920240"/>
              <a:ext cx="64282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91B1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Must-Have</a:t>
              </a:r>
              <a:endParaRPr lang="en-US" sz="8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657454" y="4230014"/>
              <a:ext cx="5086807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Shape 13"/>
            <p:cNvSpPr/>
            <p:nvPr/>
          </p:nvSpPr>
          <p:spPr>
            <a:xfrm>
              <a:off x="657454" y="2486254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7" name="Image 1" descr="preencoded.png"/>
            <p:cNvPicPr>
              <a:picLocks noChangeAspect="1"/>
            </p:cNvPicPr>
            <p:nvPr/>
          </p:nvPicPr>
          <p:blipFill>
            <a:blip r:embed="rId4"/>
            <a:srcRect t="-2725" b="-2725"/>
            <a:stretch/>
          </p:blipFill>
          <p:spPr>
            <a:xfrm>
              <a:off x="776326" y="2590495"/>
              <a:ext cx="142646" cy="171907"/>
            </a:xfrm>
            <a:prstGeom prst="rect">
              <a:avLst/>
            </a:prstGeom>
          </p:spPr>
        </p:pic>
        <p:sp>
          <p:nvSpPr>
            <p:cNvPr id="18" name="Text 14"/>
            <p:cNvSpPr txBox="1"/>
            <p:nvPr/>
          </p:nvSpPr>
          <p:spPr>
            <a:xfrm>
              <a:off x="1152144" y="2486254"/>
              <a:ext cx="14859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Low Sodium (저염)</a:t>
              </a:r>
              <a:endParaRPr lang="en-US" sz="1200" dirty="0"/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1152144" y="2727655"/>
              <a:ext cx="464058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한식 국물의 높은 나트륨은 최대 진입 장벽. 'Healthy Soup' 인식을 위해 서빙당 함량 조절 필수.</a:t>
              </a:r>
              <a:endParaRPr lang="en-US" sz="10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1152144" y="3176626"/>
              <a:ext cx="4591202" cy="933602"/>
            </a:xfrm>
            <a:prstGeom prst="roundRect">
              <a:avLst>
                <a:gd name="adj" fmla="val 5997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1276502" y="3311957"/>
              <a:ext cx="14575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Typical K-Soup (800mg+)</a:t>
              </a:r>
              <a:endParaRPr lang="en-US" sz="900" dirty="0"/>
            </a:p>
          </p:txBody>
        </p:sp>
        <p:sp>
          <p:nvSpPr>
            <p:cNvPr id="22" name="Text 18"/>
            <p:cNvSpPr txBox="1"/>
            <p:nvPr/>
          </p:nvSpPr>
          <p:spPr>
            <a:xfrm>
              <a:off x="5054803" y="3300070"/>
              <a:ext cx="66934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Too High</a:t>
              </a:r>
              <a:endParaRPr lang="en-US" sz="1000" dirty="0"/>
            </a:p>
          </p:txBody>
        </p:sp>
        <p:sp>
          <p:nvSpPr>
            <p:cNvPr id="23" name="Shape 19"/>
            <p:cNvSpPr/>
            <p:nvPr/>
          </p:nvSpPr>
          <p:spPr>
            <a:xfrm>
              <a:off x="1276502" y="3547872"/>
              <a:ext cx="4343400" cy="57607"/>
            </a:xfrm>
            <a:prstGeom prst="roundRect">
              <a:avLst>
                <a:gd name="adj" fmla="val 793654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20"/>
            <p:cNvSpPr/>
            <p:nvPr/>
          </p:nvSpPr>
          <p:spPr>
            <a:xfrm>
              <a:off x="1276502" y="3547872"/>
              <a:ext cx="3914546" cy="57607"/>
            </a:xfrm>
            <a:prstGeom prst="roundRect">
              <a:avLst>
                <a:gd name="adj" fmla="val 793654"/>
              </a:avLst>
            </a:prstGeom>
            <a:solidFill>
              <a:srgbClr val="F8717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1276502" y="3692347"/>
              <a:ext cx="14008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Target for US (≤500mg)</a:t>
              </a:r>
              <a:endParaRPr lang="en-US" sz="900" dirty="0"/>
            </a:p>
          </p:txBody>
        </p:sp>
        <p:sp>
          <p:nvSpPr>
            <p:cNvPr id="26" name="Text 22"/>
            <p:cNvSpPr txBox="1"/>
            <p:nvPr/>
          </p:nvSpPr>
          <p:spPr>
            <a:xfrm>
              <a:off x="5105095" y="3681374"/>
              <a:ext cx="62179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Optimal</a:t>
              </a:r>
              <a:endParaRPr lang="en-US" sz="1000" dirty="0"/>
            </a:p>
          </p:txBody>
        </p:sp>
        <p:sp>
          <p:nvSpPr>
            <p:cNvPr id="27" name="Shape 23"/>
            <p:cNvSpPr/>
            <p:nvPr/>
          </p:nvSpPr>
          <p:spPr>
            <a:xfrm>
              <a:off x="1276502" y="3929177"/>
              <a:ext cx="4343400" cy="57607"/>
            </a:xfrm>
            <a:prstGeom prst="roundRect">
              <a:avLst>
                <a:gd name="adj" fmla="val 793654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24"/>
            <p:cNvSpPr/>
            <p:nvPr/>
          </p:nvSpPr>
          <p:spPr>
            <a:xfrm>
              <a:off x="1276502" y="3929177"/>
              <a:ext cx="2391156" cy="57607"/>
            </a:xfrm>
            <a:prstGeom prst="roundRect">
              <a:avLst>
                <a:gd name="adj" fmla="val 793654"/>
              </a:avLst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Shape 25"/>
            <p:cNvSpPr/>
            <p:nvPr/>
          </p:nvSpPr>
          <p:spPr>
            <a:xfrm>
              <a:off x="657454" y="5386730"/>
              <a:ext cx="5086807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Shape 26"/>
            <p:cNvSpPr/>
            <p:nvPr/>
          </p:nvSpPr>
          <p:spPr>
            <a:xfrm>
              <a:off x="657454" y="4386377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1" name="Image 2" descr="preencoded.png"/>
            <p:cNvPicPr>
              <a:picLocks noChangeAspect="1"/>
            </p:cNvPicPr>
            <p:nvPr/>
          </p:nvPicPr>
          <p:blipFill>
            <a:blip r:embed="rId5"/>
            <a:srcRect t="-1310" b="-1310"/>
            <a:stretch/>
          </p:blipFill>
          <p:spPr>
            <a:xfrm>
              <a:off x="743407" y="4490618"/>
              <a:ext cx="209398" cy="171907"/>
            </a:xfrm>
            <a:prstGeom prst="rect">
              <a:avLst/>
            </a:prstGeom>
          </p:spPr>
        </p:pic>
        <p:sp>
          <p:nvSpPr>
            <p:cNvPr id="32" name="Text 27"/>
            <p:cNvSpPr txBox="1"/>
            <p:nvPr/>
          </p:nvSpPr>
          <p:spPr>
            <a:xfrm>
              <a:off x="1152144" y="4386377"/>
              <a:ext cx="16386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High Protein (고단백)</a:t>
              </a:r>
              <a:endParaRPr lang="en-US" sz="1200" dirty="0"/>
            </a:p>
          </p:txBody>
        </p:sp>
        <p:sp>
          <p:nvSpPr>
            <p:cNvPr id="33" name="Text 28"/>
            <p:cNvSpPr txBox="1"/>
            <p:nvPr/>
          </p:nvSpPr>
          <p:spPr>
            <a:xfrm>
              <a:off x="1152144" y="4627778"/>
              <a:ext cx="464058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단순 국물이 아닌 '마시는 단백질'로 인식. Keto/Paleo 다이어트 및 운동 인구 공략 포인트.</a:t>
              </a:r>
              <a:endParaRPr lang="en-US" sz="1000" dirty="0"/>
            </a:p>
          </p:txBody>
        </p:sp>
        <p:sp>
          <p:nvSpPr>
            <p:cNvPr id="34" name="Shape 29"/>
            <p:cNvSpPr/>
            <p:nvPr/>
          </p:nvSpPr>
          <p:spPr>
            <a:xfrm>
              <a:off x="1152144" y="5038344"/>
              <a:ext cx="1561795" cy="228600"/>
            </a:xfrm>
            <a:prstGeom prst="roundRect">
              <a:avLst>
                <a:gd name="adj" fmla="val 66667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30"/>
            <p:cNvSpPr txBox="1"/>
            <p:nvPr/>
          </p:nvSpPr>
          <p:spPr>
            <a:xfrm>
              <a:off x="1228954" y="5066690"/>
              <a:ext cx="14959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Target: 10g+ Protein/Cup</a:t>
              </a:r>
              <a:endParaRPr lang="en-US" sz="900" dirty="0"/>
            </a:p>
          </p:txBody>
        </p:sp>
        <p:sp>
          <p:nvSpPr>
            <p:cNvPr id="36" name="Shape 31"/>
            <p:cNvSpPr/>
            <p:nvPr/>
          </p:nvSpPr>
          <p:spPr>
            <a:xfrm>
              <a:off x="2784348" y="5038344"/>
              <a:ext cx="1000354" cy="228600"/>
            </a:xfrm>
            <a:prstGeom prst="roundRect">
              <a:avLst>
                <a:gd name="adj" fmla="val 66667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2"/>
            <p:cNvSpPr txBox="1"/>
            <p:nvPr/>
          </p:nvSpPr>
          <p:spPr>
            <a:xfrm>
              <a:off x="2860243" y="5066690"/>
              <a:ext cx="9336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B556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Collagen Claim</a:t>
              </a:r>
              <a:endParaRPr lang="en-US" sz="900" dirty="0"/>
            </a:p>
          </p:txBody>
        </p:sp>
        <p:sp>
          <p:nvSpPr>
            <p:cNvPr id="38" name="Shape 33"/>
            <p:cNvSpPr/>
            <p:nvPr/>
          </p:nvSpPr>
          <p:spPr>
            <a:xfrm>
              <a:off x="657454" y="5543093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9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61695" y="5648249"/>
              <a:ext cx="171907" cy="171907"/>
            </a:xfrm>
            <a:prstGeom prst="rect">
              <a:avLst/>
            </a:prstGeom>
          </p:spPr>
        </p:pic>
        <p:sp>
          <p:nvSpPr>
            <p:cNvPr id="40" name="Text 34"/>
            <p:cNvSpPr txBox="1"/>
            <p:nvPr/>
          </p:nvSpPr>
          <p:spPr>
            <a:xfrm>
              <a:off x="1152144" y="5543093"/>
              <a:ext cx="20391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Clean Label (첨가물 무첨가)</a:t>
              </a:r>
              <a:endParaRPr lang="en-US" sz="1200" dirty="0"/>
            </a:p>
          </p:txBody>
        </p:sp>
        <p:sp>
          <p:nvSpPr>
            <p:cNvPr id="41" name="Text 35"/>
            <p:cNvSpPr txBox="1"/>
            <p:nvPr/>
          </p:nvSpPr>
          <p:spPr>
            <a:xfrm>
              <a:off x="1152144" y="5785409"/>
              <a:ext cx="4631436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MSG, 인공보존료 배제. 'Real Ingredients', 'Non-GMO' 인증이 프리미엄 가격의 전제.</a:t>
              </a:r>
              <a:endParaRPr lang="en-US" sz="1000" dirty="0"/>
            </a:p>
          </p:txBody>
        </p:sp>
        <p:sp>
          <p:nvSpPr>
            <p:cNvPr id="42" name="Shape 36"/>
            <p:cNvSpPr/>
            <p:nvPr/>
          </p:nvSpPr>
          <p:spPr>
            <a:xfrm>
              <a:off x="6248095" y="1666951"/>
              <a:ext cx="5486400" cy="4496105"/>
            </a:xfrm>
            <a:prstGeom prst="roundRect">
              <a:avLst>
                <a:gd name="adj" fmla="val 34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37"/>
            <p:cNvSpPr/>
            <p:nvPr/>
          </p:nvSpPr>
          <p:spPr>
            <a:xfrm>
              <a:off x="6258154" y="1676095"/>
              <a:ext cx="5467198" cy="619049"/>
            </a:xfrm>
            <a:prstGeom prst="rect">
              <a:avLst/>
            </a:prstGeom>
            <a:solidFill>
              <a:srgbClr val="F0F9FF"/>
            </a:solidFill>
            <a:ln w="50800">
              <a:solidFill>
                <a:srgbClr val="00A3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4" name="Image 4" descr="preencoded.png"/>
            <p:cNvPicPr>
              <a:picLocks noChangeAspect="1"/>
            </p:cNvPicPr>
            <p:nvPr/>
          </p:nvPicPr>
          <p:blipFill>
            <a:blip r:embed="rId7"/>
            <a:srcRect t="-842" b="-842"/>
            <a:stretch/>
          </p:blipFill>
          <p:spPr>
            <a:xfrm>
              <a:off x="6486754" y="1926641"/>
              <a:ext cx="190195" cy="171907"/>
            </a:xfrm>
            <a:prstGeom prst="rect">
              <a:avLst/>
            </a:prstGeom>
          </p:spPr>
        </p:pic>
        <p:sp>
          <p:nvSpPr>
            <p:cNvPr id="45" name="Text 38"/>
            <p:cNvSpPr txBox="1"/>
            <p:nvPr/>
          </p:nvSpPr>
          <p:spPr>
            <a:xfrm>
              <a:off x="6752844" y="1876349"/>
              <a:ext cx="297728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Authenticity &amp; Convenience (경험)</a:t>
              </a:r>
              <a:endParaRPr lang="en-US" sz="1300" dirty="0"/>
            </a:p>
          </p:txBody>
        </p:sp>
        <p:sp>
          <p:nvSpPr>
            <p:cNvPr id="46" name="Shape 39"/>
            <p:cNvSpPr/>
            <p:nvPr/>
          </p:nvSpPr>
          <p:spPr>
            <a:xfrm>
              <a:off x="10661904" y="1890065"/>
              <a:ext cx="838505" cy="228600"/>
            </a:xfrm>
            <a:prstGeom prst="roundRect">
              <a:avLst>
                <a:gd name="adj" fmla="val 66667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40"/>
            <p:cNvSpPr txBox="1"/>
            <p:nvPr/>
          </p:nvSpPr>
          <p:spPr>
            <a:xfrm>
              <a:off x="10722254" y="1920240"/>
              <a:ext cx="79461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E40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Differentiator</a:t>
              </a:r>
              <a:endParaRPr lang="en-US" sz="800" dirty="0"/>
            </a:p>
          </p:txBody>
        </p:sp>
        <p:sp>
          <p:nvSpPr>
            <p:cNvPr id="48" name="Shape 41"/>
            <p:cNvSpPr/>
            <p:nvPr/>
          </p:nvSpPr>
          <p:spPr>
            <a:xfrm>
              <a:off x="6448349" y="3792017"/>
              <a:ext cx="5086807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42"/>
            <p:cNvSpPr/>
            <p:nvPr/>
          </p:nvSpPr>
          <p:spPr>
            <a:xfrm>
              <a:off x="6448349" y="2486254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0" name="Image 5" descr="preencoded.png"/>
            <p:cNvPicPr>
              <a:picLocks noChangeAspect="1"/>
            </p:cNvPicPr>
            <p:nvPr/>
          </p:nvPicPr>
          <p:blipFill>
            <a:blip r:embed="rId8"/>
            <a:srcRect t="-2725" b="-2725"/>
            <a:stretch/>
          </p:blipFill>
          <p:spPr>
            <a:xfrm>
              <a:off x="6567221" y="2590495"/>
              <a:ext cx="142646" cy="171907"/>
            </a:xfrm>
            <a:prstGeom prst="rect">
              <a:avLst/>
            </a:prstGeom>
          </p:spPr>
        </p:pic>
        <p:sp>
          <p:nvSpPr>
            <p:cNvPr id="51" name="Text 43"/>
            <p:cNvSpPr txBox="1"/>
            <p:nvPr/>
          </p:nvSpPr>
          <p:spPr>
            <a:xfrm>
              <a:off x="6943954" y="2486254"/>
              <a:ext cx="16294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Authenticity (정통성)</a:t>
              </a:r>
              <a:endParaRPr lang="en-US" sz="1200" dirty="0"/>
            </a:p>
          </p:txBody>
        </p:sp>
        <p:sp>
          <p:nvSpPr>
            <p:cNvPr id="52" name="Text 44"/>
            <p:cNvSpPr txBox="1"/>
            <p:nvPr/>
          </p:nvSpPr>
          <p:spPr>
            <a:xfrm>
              <a:off x="6943954" y="2727655"/>
              <a:ext cx="462229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서구권 수프와 차별화된 깊은 맛과 제조 방식(Slow-cooked) 스토리텔링. '가마솥' 등 전통 이미지 소구.</a:t>
              </a:r>
              <a:endParaRPr lang="en-US" sz="1000" dirty="0"/>
            </a:p>
          </p:txBody>
        </p:sp>
        <p:sp>
          <p:nvSpPr>
            <p:cNvPr id="53" name="Shape 45"/>
            <p:cNvSpPr/>
            <p:nvPr/>
          </p:nvSpPr>
          <p:spPr>
            <a:xfrm>
              <a:off x="6943954" y="3138221"/>
              <a:ext cx="4591202" cy="543154"/>
            </a:xfrm>
            <a:prstGeom prst="roundRect">
              <a:avLst>
                <a:gd name="adj" fmla="val 11814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4" name="Image 6" descr="preencoded.png"/>
            <p:cNvPicPr>
              <a:picLocks noChangeAspect="1"/>
            </p:cNvPicPr>
            <p:nvPr/>
          </p:nvPicPr>
          <p:blipFill>
            <a:blip r:embed="rId9"/>
            <a:srcRect t="-1100" b="-1100"/>
            <a:stretch/>
          </p:blipFill>
          <p:spPr>
            <a:xfrm>
              <a:off x="7029907" y="3249778"/>
              <a:ext cx="114300" cy="133502"/>
            </a:xfrm>
            <a:prstGeom prst="rect">
              <a:avLst/>
            </a:prstGeom>
          </p:spPr>
        </p:pic>
        <p:sp>
          <p:nvSpPr>
            <p:cNvPr id="55" name="Text 46"/>
            <p:cNvSpPr txBox="1"/>
            <p:nvPr/>
          </p:nvSpPr>
          <p:spPr>
            <a:xfrm>
              <a:off x="7181698" y="3214116"/>
              <a:ext cx="274594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"It's not just broth, it's a 72-hour tradition."</a:t>
              </a:r>
              <a:endParaRPr lang="en-US" sz="1000" dirty="0"/>
            </a:p>
          </p:txBody>
        </p:sp>
        <p:sp>
          <p:nvSpPr>
            <p:cNvPr id="56" name="Text 47"/>
            <p:cNvSpPr txBox="1"/>
            <p:nvPr/>
          </p:nvSpPr>
          <p:spPr>
            <a:xfrm>
              <a:off x="7029907" y="3396082"/>
              <a:ext cx="272674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단순 육수가 아닌 '보양식(Soul Food)' 개념 전달</a:t>
              </a:r>
              <a:endParaRPr lang="en-US" sz="1000" dirty="0"/>
            </a:p>
          </p:txBody>
        </p:sp>
        <p:sp>
          <p:nvSpPr>
            <p:cNvPr id="57" name="Shape 48"/>
            <p:cNvSpPr/>
            <p:nvPr/>
          </p:nvSpPr>
          <p:spPr>
            <a:xfrm>
              <a:off x="6448349" y="4683557"/>
              <a:ext cx="5086807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Shape 49"/>
            <p:cNvSpPr/>
            <p:nvPr/>
          </p:nvSpPr>
          <p:spPr>
            <a:xfrm>
              <a:off x="6448349" y="3949294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9" name="Image 7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553505" y="4053535"/>
              <a:ext cx="171907" cy="171907"/>
            </a:xfrm>
            <a:prstGeom prst="rect">
              <a:avLst/>
            </a:prstGeom>
          </p:spPr>
        </p:pic>
        <p:sp>
          <p:nvSpPr>
            <p:cNvPr id="60" name="Text 50"/>
            <p:cNvSpPr txBox="1"/>
            <p:nvPr/>
          </p:nvSpPr>
          <p:spPr>
            <a:xfrm>
              <a:off x="6943954" y="3949294"/>
              <a:ext cx="16578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Convenience (편의성)</a:t>
              </a:r>
              <a:endParaRPr lang="en-US" sz="1200" dirty="0"/>
            </a:p>
          </p:txBody>
        </p:sp>
        <p:sp>
          <p:nvSpPr>
            <p:cNvPr id="61" name="Text 51"/>
            <p:cNvSpPr txBox="1"/>
            <p:nvPr/>
          </p:nvSpPr>
          <p:spPr>
            <a:xfrm>
              <a:off x="6943954" y="4190695"/>
              <a:ext cx="4678985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조리 시간 단축 니즈. 해동 후 바로 끓이거나 전자레인지 조리 가능한 패키징. 'Sipping Broth' 수요 확대.</a:t>
              </a:r>
              <a:endParaRPr lang="en-US" sz="1000" dirty="0"/>
            </a:p>
          </p:txBody>
        </p:sp>
        <p:sp>
          <p:nvSpPr>
            <p:cNvPr id="62" name="Shape 52"/>
            <p:cNvSpPr/>
            <p:nvPr/>
          </p:nvSpPr>
          <p:spPr>
            <a:xfrm>
              <a:off x="6448349" y="4839005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3" name="Image 8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6553505" y="4944161"/>
              <a:ext cx="171907" cy="171907"/>
            </a:xfrm>
            <a:prstGeom prst="rect">
              <a:avLst/>
            </a:prstGeom>
          </p:spPr>
        </p:pic>
        <p:sp>
          <p:nvSpPr>
            <p:cNvPr id="64" name="Text 53"/>
            <p:cNvSpPr txBox="1"/>
            <p:nvPr/>
          </p:nvSpPr>
          <p:spPr>
            <a:xfrm>
              <a:off x="6943954" y="4839005"/>
              <a:ext cx="20391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Taste Localization (현지화)</a:t>
              </a:r>
              <a:endParaRPr lang="en-US" sz="1200" dirty="0"/>
            </a:p>
          </p:txBody>
        </p:sp>
        <p:sp>
          <p:nvSpPr>
            <p:cNvPr id="65" name="Text 54"/>
            <p:cNvSpPr txBox="1"/>
            <p:nvPr/>
          </p:nvSpPr>
          <p:spPr>
            <a:xfrm>
              <a:off x="6943954" y="5081321"/>
              <a:ext cx="4593031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익숙하지 않은 냄새(잡내) 제거 및 텍스처 조정. 밥 없이 국물만 마셔도 부담없는 담백한 맛(Mild) 구현.</a:t>
              </a:r>
              <a:endParaRPr lang="en-US" sz="1000" dirty="0"/>
            </a:p>
          </p:txBody>
        </p:sp>
        <p:sp>
          <p:nvSpPr>
            <p:cNvPr id="66" name="Shape 55"/>
            <p:cNvSpPr/>
            <p:nvPr/>
          </p:nvSpPr>
          <p:spPr>
            <a:xfrm>
              <a:off x="0" y="6467551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Shape 56"/>
            <p:cNvSpPr/>
            <p:nvPr/>
          </p:nvSpPr>
          <p:spPr>
            <a:xfrm>
              <a:off x="0" y="6467551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Text 57"/>
            <p:cNvSpPr txBox="1"/>
            <p:nvPr/>
          </p:nvSpPr>
          <p:spPr>
            <a:xfrm>
              <a:off x="457200" y="6581851"/>
              <a:ext cx="525414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Mintel Global Food Trends 2024, Project Uploaded Files (Market Analysis)</a:t>
              </a:r>
              <a:endParaRPr lang="en-US" sz="900" dirty="0"/>
            </a:p>
          </p:txBody>
        </p:sp>
      </p:grpSp>
      <p:sp>
        <p:nvSpPr>
          <p:cNvPr id="71" name="Rectangle 13">
            <a:extLst>
              <a:ext uri="{FF2B5EF4-FFF2-40B4-BE49-F238E27FC236}">
                <a16:creationId xmlns:a16="http://schemas.microsoft.com/office/drawing/2014/main" id="{9BC0FF91-5B7B-6484-6C1E-55DAB6BB164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41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38351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1399946"/>
            <a:ext cx="12191695" cy="3840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1739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CONSUMER 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418795"/>
            <a:ext cx="1121603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구매 여정의 핵심은 디지털 탐색(UGC)과 오프라인 경험의 연계, </a:t>
            </a:r>
          </a:p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리테일</a:t>
            </a: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미디어와 구독 모델로 충성도(Loyalty) 강화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1438351"/>
            <a:ext cx="12191695" cy="541964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6200546"/>
            <a:ext cx="11277295" cy="2761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6200546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6233464"/>
            <a:ext cx="552480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Source: Consumer Journey Mapping based on Market Research &amp; Focus Group Interviews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21385" y="2247595"/>
            <a:ext cx="10153498" cy="3840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1971446"/>
            <a:ext cx="2648102" cy="3847795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57454" y="3042209"/>
            <a:ext cx="2247595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Shape 14"/>
          <p:cNvSpPr/>
          <p:nvPr/>
        </p:nvSpPr>
        <p:spPr>
          <a:xfrm>
            <a:off x="657454" y="3042209"/>
            <a:ext cx="28346" cy="11430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 l="-1677" r="-1677"/>
          <a:stretch/>
        </p:blipFill>
        <p:spPr>
          <a:xfrm>
            <a:off x="800100" y="3416198"/>
            <a:ext cx="95098" cy="1051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72007" y="3377794"/>
            <a:ext cx="1500530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TikTok/Shorts 레시피</a:t>
            </a:r>
            <a:endParaRPr lang="en-US" sz="10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800100" y="3644798"/>
            <a:ext cx="95098" cy="1051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2007" y="3606394"/>
            <a:ext cx="13011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코스트코/마트 시식행사</a:t>
            </a:r>
            <a:endParaRPr lang="en-US" sz="10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783" r="-783"/>
          <a:stretch/>
        </p:blipFill>
        <p:spPr>
          <a:xfrm>
            <a:off x="800100" y="3873398"/>
            <a:ext cx="133502" cy="1051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09498" y="3834993"/>
            <a:ext cx="1569111" cy="288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인플루언서(Mukbang)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57454" y="4934102"/>
            <a:ext cx="2247595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19"/>
          <p:cNvSpPr txBox="1"/>
          <p:nvPr/>
        </p:nvSpPr>
        <p:spPr>
          <a:xfrm>
            <a:off x="800100" y="3156509"/>
            <a:ext cx="1726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KEY TOUCHPOINTS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657454" y="5057546"/>
            <a:ext cx="11183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CONSUMER ACTION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57454" y="5332273"/>
            <a:ext cx="230154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"이 한국 곰탕이 틱톡에서 유행하네? 건강하고 맛있어 보이는데?"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66344" y="2848356"/>
            <a:ext cx="26289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 23"/>
          <p:cNvSpPr txBox="1"/>
          <p:nvPr/>
        </p:nvSpPr>
        <p:spPr>
          <a:xfrm>
            <a:off x="824067" y="2425904"/>
            <a:ext cx="1922982" cy="26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AWARENESS (인지)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1476756" y="1676095"/>
            <a:ext cx="609905" cy="6099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94A3B8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1628546" y="1848002"/>
            <a:ext cx="304495" cy="26700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3333902" y="1971446"/>
            <a:ext cx="2648102" cy="3847795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 w="12700">
            <a:solidFill>
              <a:srgbClr val="00A3E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3534156" y="3042209"/>
            <a:ext cx="2247595" cy="1143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Shape 27"/>
          <p:cNvSpPr/>
          <p:nvPr/>
        </p:nvSpPr>
        <p:spPr>
          <a:xfrm>
            <a:off x="3534156" y="3042209"/>
            <a:ext cx="28346" cy="114300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2174" r="-2174"/>
          <a:stretch/>
        </p:blipFill>
        <p:spPr>
          <a:xfrm>
            <a:off x="3676802" y="3416198"/>
            <a:ext cx="123444" cy="10515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3877056" y="3377794"/>
            <a:ext cx="17492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영양성분표 확인 (단백질/나트륨)</a:t>
            </a:r>
            <a:endParaRPr lang="en-US" sz="105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l="-2174" r="-2174"/>
          <a:stretch/>
        </p:blipFill>
        <p:spPr>
          <a:xfrm>
            <a:off x="3676802" y="3644798"/>
            <a:ext cx="123444" cy="10515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877056" y="3606394"/>
            <a:ext cx="12252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아마존/구글 리뷰 검색</a:t>
            </a:r>
            <a:endParaRPr lang="en-US" sz="105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676802" y="3873398"/>
            <a:ext cx="105156" cy="10515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857854" y="3834994"/>
            <a:ext cx="9683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가격/가성비 비교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3534156" y="4934102"/>
            <a:ext cx="2247595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Text 32"/>
          <p:cNvSpPr txBox="1"/>
          <p:nvPr/>
        </p:nvSpPr>
        <p:spPr>
          <a:xfrm>
            <a:off x="3676802" y="3156509"/>
            <a:ext cx="1726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KEY TOUCHPOINTS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3534156" y="5057546"/>
            <a:ext cx="11183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CONSUMER ACTION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3534156" y="5332273"/>
            <a:ext cx="227319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"나트륨 함량이 낮고 단백질은 높네. 리뷰도 좋으니 한번 먹어볼까?"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3343046" y="2848356"/>
            <a:ext cx="26289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Text 36"/>
          <p:cNvSpPr txBox="1"/>
          <p:nvPr/>
        </p:nvSpPr>
        <p:spPr>
          <a:xfrm>
            <a:off x="3510574" y="2425904"/>
            <a:ext cx="2334205" cy="26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E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CONSIDERATION (고려)</a:t>
            </a:r>
            <a:endParaRPr lang="en-US" sz="1600" dirty="0"/>
          </a:p>
        </p:txBody>
      </p:sp>
      <p:sp>
        <p:nvSpPr>
          <p:cNvPr id="46" name="Shape 37"/>
          <p:cNvSpPr/>
          <p:nvPr/>
        </p:nvSpPr>
        <p:spPr>
          <a:xfrm>
            <a:off x="4352544" y="1676095"/>
            <a:ext cx="609905" cy="6099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A3E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24451" y="1848002"/>
            <a:ext cx="267005" cy="267005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6210605" y="1971446"/>
            <a:ext cx="2648102" cy="3847795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 w="12700">
            <a:solidFill>
              <a:srgbClr val="0056B3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9"/>
          <p:cNvSpPr/>
          <p:nvPr/>
        </p:nvSpPr>
        <p:spPr>
          <a:xfrm>
            <a:off x="6409944" y="3042209"/>
            <a:ext cx="2247595" cy="11430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0" name="Shape 40"/>
          <p:cNvSpPr/>
          <p:nvPr/>
        </p:nvSpPr>
        <p:spPr>
          <a:xfrm>
            <a:off x="6409944" y="3042209"/>
            <a:ext cx="28346" cy="1143000"/>
          </a:xfrm>
          <a:prstGeom prst="rect">
            <a:avLst/>
          </a:prstGeom>
          <a:solidFill>
            <a:srgbClr val="0056B3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rcRect l="-2174" r="-2174"/>
          <a:stretch/>
        </p:blipFill>
        <p:spPr>
          <a:xfrm>
            <a:off x="6553505" y="3416198"/>
            <a:ext cx="123444" cy="105156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6752844" y="3377794"/>
            <a:ext cx="12252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매장 내 프로모션/쿠폰</a:t>
            </a:r>
            <a:endParaRPr lang="en-US" sz="105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2"/>
          <a:srcRect l="-2174" r="-2174"/>
          <a:stretch/>
        </p:blipFill>
        <p:spPr>
          <a:xfrm>
            <a:off x="6553505" y="3644798"/>
            <a:ext cx="123444" cy="105156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6752844" y="3606394"/>
            <a:ext cx="16258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리테일 미디어 광고 (검색상단)</a:t>
            </a:r>
            <a:endParaRPr lang="en-US" sz="105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3"/>
          <a:srcRect l="-1677" r="-1677"/>
          <a:stretch/>
        </p:blipFill>
        <p:spPr>
          <a:xfrm>
            <a:off x="6553505" y="3873398"/>
            <a:ext cx="95098" cy="105156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6724498" y="3834994"/>
            <a:ext cx="11868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패키지 디자인/소구점</a:t>
            </a:r>
            <a:endParaRPr lang="en-US" sz="1050" dirty="0"/>
          </a:p>
        </p:txBody>
      </p:sp>
      <p:sp>
        <p:nvSpPr>
          <p:cNvPr id="57" name="Shape 44"/>
          <p:cNvSpPr/>
          <p:nvPr/>
        </p:nvSpPr>
        <p:spPr>
          <a:xfrm>
            <a:off x="6409944" y="4934102"/>
            <a:ext cx="2247595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8" name="Text 45"/>
          <p:cNvSpPr txBox="1"/>
          <p:nvPr/>
        </p:nvSpPr>
        <p:spPr>
          <a:xfrm>
            <a:off x="6553505" y="3156509"/>
            <a:ext cx="1726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KEY TOUCHPOINTS</a:t>
            </a:r>
            <a:endParaRPr lang="en-US" sz="1000" dirty="0"/>
          </a:p>
        </p:txBody>
      </p:sp>
      <p:sp>
        <p:nvSpPr>
          <p:cNvPr id="59" name="Text 46"/>
          <p:cNvSpPr txBox="1"/>
          <p:nvPr/>
        </p:nvSpPr>
        <p:spPr>
          <a:xfrm>
            <a:off x="6409944" y="5057546"/>
            <a:ext cx="11183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CONSUMER ACTION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6409944" y="5332273"/>
            <a:ext cx="233995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"오늘 세일하니까 2개 사봐야지. 포장도 깔끔하고 조리도 간편하네."</a:t>
            </a:r>
            <a:endParaRPr lang="en-US" sz="1200" dirty="0"/>
          </a:p>
        </p:txBody>
      </p:sp>
      <p:sp>
        <p:nvSpPr>
          <p:cNvPr id="61" name="Shape 48"/>
          <p:cNvSpPr/>
          <p:nvPr/>
        </p:nvSpPr>
        <p:spPr>
          <a:xfrm>
            <a:off x="6219749" y="2848356"/>
            <a:ext cx="26289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Text 49"/>
          <p:cNvSpPr txBox="1"/>
          <p:nvPr/>
        </p:nvSpPr>
        <p:spPr>
          <a:xfrm>
            <a:off x="6641479" y="2425904"/>
            <a:ext cx="1789852" cy="26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6B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PURCHASE (구매)</a:t>
            </a:r>
            <a:endParaRPr lang="en-US" sz="1600" dirty="0"/>
          </a:p>
        </p:txBody>
      </p:sp>
      <p:sp>
        <p:nvSpPr>
          <p:cNvPr id="63" name="Shape 50"/>
          <p:cNvSpPr/>
          <p:nvPr/>
        </p:nvSpPr>
        <p:spPr>
          <a:xfrm>
            <a:off x="7229246" y="1676095"/>
            <a:ext cx="609905" cy="6099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56B3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4"/>
          <a:srcRect l="-685" r="-685"/>
          <a:stretch/>
        </p:blipFill>
        <p:spPr>
          <a:xfrm>
            <a:off x="7381951" y="1848002"/>
            <a:ext cx="304495" cy="267005"/>
          </a:xfrm>
          <a:prstGeom prst="rect">
            <a:avLst/>
          </a:prstGeom>
        </p:spPr>
      </p:pic>
      <p:sp>
        <p:nvSpPr>
          <p:cNvPr id="65" name="Shape 51"/>
          <p:cNvSpPr/>
          <p:nvPr/>
        </p:nvSpPr>
        <p:spPr>
          <a:xfrm>
            <a:off x="9087307" y="1971446"/>
            <a:ext cx="2648102" cy="3847795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 w="12700">
            <a:solidFill>
              <a:srgbClr val="051C2C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52"/>
          <p:cNvSpPr/>
          <p:nvPr/>
        </p:nvSpPr>
        <p:spPr>
          <a:xfrm>
            <a:off x="9286646" y="3042209"/>
            <a:ext cx="2247595" cy="1143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7" name="Shape 53"/>
          <p:cNvSpPr/>
          <p:nvPr/>
        </p:nvSpPr>
        <p:spPr>
          <a:xfrm>
            <a:off x="9286646" y="3042209"/>
            <a:ext cx="28346" cy="1143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68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430207" y="3416198"/>
            <a:ext cx="105156" cy="105156"/>
          </a:xfrm>
          <a:prstGeom prst="rect">
            <a:avLst/>
          </a:prstGeom>
        </p:spPr>
      </p:pic>
      <p:sp>
        <p:nvSpPr>
          <p:cNvPr id="69" name="Text 54"/>
          <p:cNvSpPr txBox="1"/>
          <p:nvPr/>
        </p:nvSpPr>
        <p:spPr>
          <a:xfrm>
            <a:off x="9610344" y="3377794"/>
            <a:ext cx="1895551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정기구독 (Subscribe &amp; Save)</a:t>
            </a:r>
            <a:endParaRPr lang="en-US" sz="1050" dirty="0"/>
          </a:p>
        </p:txBody>
      </p:sp>
      <p:pic>
        <p:nvPicPr>
          <p:cNvPr id="70" name="Image 13" descr="preencoded.png"/>
          <p:cNvPicPr>
            <a:picLocks noChangeAspect="1"/>
          </p:cNvPicPr>
          <p:nvPr/>
        </p:nvPicPr>
        <p:blipFill>
          <a:blip r:embed="rId16"/>
          <a:srcRect l="-1677" r="-1677"/>
          <a:stretch/>
        </p:blipFill>
        <p:spPr>
          <a:xfrm>
            <a:off x="9430207" y="3644798"/>
            <a:ext cx="95098" cy="105156"/>
          </a:xfrm>
          <a:prstGeom prst="rect">
            <a:avLst/>
          </a:prstGeom>
        </p:spPr>
      </p:pic>
      <p:sp>
        <p:nvSpPr>
          <p:cNvPr id="71" name="Text 55"/>
          <p:cNvSpPr txBox="1"/>
          <p:nvPr/>
        </p:nvSpPr>
        <p:spPr>
          <a:xfrm>
            <a:off x="9601200" y="3606394"/>
            <a:ext cx="13395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SNS 인증샷/레시피 공유</a:t>
            </a:r>
            <a:endParaRPr lang="en-US" sz="1050" dirty="0"/>
          </a:p>
        </p:txBody>
      </p:sp>
      <p:pic>
        <p:nvPicPr>
          <p:cNvPr id="72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9430207" y="3873398"/>
            <a:ext cx="105156" cy="105156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9610344" y="3834993"/>
            <a:ext cx="1781556" cy="24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CRM/뉴스레터 (신메뉴 알림)</a:t>
            </a:r>
            <a:endParaRPr lang="en-US" sz="1050" dirty="0"/>
          </a:p>
        </p:txBody>
      </p:sp>
      <p:sp>
        <p:nvSpPr>
          <p:cNvPr id="74" name="Shape 57"/>
          <p:cNvSpPr/>
          <p:nvPr/>
        </p:nvSpPr>
        <p:spPr>
          <a:xfrm>
            <a:off x="9286646" y="4934102"/>
            <a:ext cx="2247595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75" name="Text 58"/>
          <p:cNvSpPr txBox="1"/>
          <p:nvPr/>
        </p:nvSpPr>
        <p:spPr>
          <a:xfrm>
            <a:off x="9430207" y="3156509"/>
            <a:ext cx="1726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KEY TOUCHPOINTS</a:t>
            </a:r>
            <a:endParaRPr lang="en-US" sz="1000" dirty="0"/>
          </a:p>
        </p:txBody>
      </p:sp>
      <p:sp>
        <p:nvSpPr>
          <p:cNvPr id="76" name="Text 59"/>
          <p:cNvSpPr txBox="1"/>
          <p:nvPr/>
        </p:nvSpPr>
        <p:spPr>
          <a:xfrm>
            <a:off x="9286646" y="5057546"/>
            <a:ext cx="11183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CONSUMER ACTION</a:t>
            </a:r>
            <a:endParaRPr lang="en-US" sz="1000" dirty="0"/>
          </a:p>
        </p:txBody>
      </p:sp>
      <p:sp>
        <p:nvSpPr>
          <p:cNvPr id="77" name="Text 60"/>
          <p:cNvSpPr txBox="1"/>
          <p:nvPr/>
        </p:nvSpPr>
        <p:spPr>
          <a:xfrm>
            <a:off x="9286646" y="5332273"/>
            <a:ext cx="227319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"아침 대용으로 딱이야. 정기 배송 신청하고 친구한테도 추천해야지."</a:t>
            </a:r>
            <a:endParaRPr lang="en-US" sz="1200" dirty="0"/>
          </a:p>
        </p:txBody>
      </p:sp>
      <p:sp>
        <p:nvSpPr>
          <p:cNvPr id="78" name="Shape 61"/>
          <p:cNvSpPr/>
          <p:nvPr/>
        </p:nvSpPr>
        <p:spPr>
          <a:xfrm>
            <a:off x="9096451" y="2848356"/>
            <a:ext cx="26289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79" name="Text 62"/>
          <p:cNvSpPr txBox="1"/>
          <p:nvPr/>
        </p:nvSpPr>
        <p:spPr>
          <a:xfrm>
            <a:off x="9631567" y="2425904"/>
            <a:ext cx="1543316" cy="26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LOYALTY (충성)</a:t>
            </a:r>
            <a:endParaRPr lang="en-US" sz="1600" dirty="0"/>
          </a:p>
        </p:txBody>
      </p:sp>
      <p:sp>
        <p:nvSpPr>
          <p:cNvPr id="80" name="Shape 63"/>
          <p:cNvSpPr/>
          <p:nvPr/>
        </p:nvSpPr>
        <p:spPr>
          <a:xfrm>
            <a:off x="10105949" y="1676095"/>
            <a:ext cx="609905" cy="6099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51C2C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1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277856" y="1848002"/>
            <a:ext cx="267005" cy="267005"/>
          </a:xfrm>
          <a:prstGeom prst="rect">
            <a:avLst/>
          </a:prstGeom>
        </p:spPr>
      </p:pic>
      <p:sp>
        <p:nvSpPr>
          <p:cNvPr id="82" name="Rectangle 13">
            <a:extLst>
              <a:ext uri="{FF2B5EF4-FFF2-40B4-BE49-F238E27FC236}">
                <a16:creationId xmlns:a16="http://schemas.microsoft.com/office/drawing/2014/main" id="{2F3882B1-C3A7-81AF-E7A9-966CCAA0637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42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7E71E768-1F95-865A-0758-F8FE70A71DA1}"/>
              </a:ext>
            </a:extLst>
          </p:cNvPr>
          <p:cNvGrpSpPr/>
          <p:nvPr/>
        </p:nvGrpSpPr>
        <p:grpSpPr>
          <a:xfrm>
            <a:off x="0" y="0"/>
            <a:ext cx="12191695" cy="6873545"/>
            <a:chOff x="0" y="0"/>
            <a:chExt cx="12191695" cy="7720279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32817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MARKET LEVEL ANALYSIS (COMPETITION)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330330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Bone Broth 시장은 '프리미엄(기능성)'과 '매스(편의성)'로 양분, </a:t>
              </a:r>
            </a:p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</a:t>
              </a: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Brand는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고단백 스펙을 유지하되 '가격 경쟁력' 확보가 관건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896051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742846"/>
              <a:ext cx="11277295" cy="4410151"/>
            </a:xfrm>
            <a:prstGeom prst="roundRect">
              <a:avLst>
                <a:gd name="adj" fmla="val 358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752905"/>
              <a:ext cx="11259007" cy="523951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466344" y="2257654"/>
              <a:ext cx="11259007" cy="19202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694944" y="1904695"/>
              <a:ext cx="146944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BRAND &amp; SEGMENT</a:t>
              </a:r>
              <a:endParaRPr lang="en-US" sz="10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2986430" y="1904695"/>
              <a:ext cx="242133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KEY SPECS (PROTEIN &amp; SODIUM)</a:t>
              </a:r>
              <a:endParaRPr lang="en-US" sz="10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6586423" y="1904695"/>
              <a:ext cx="129753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PRICE &amp; FORMAT</a:t>
              </a:r>
              <a:endParaRPr lang="en-US" sz="10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8550554" y="1904695"/>
              <a:ext cx="187909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POSITIONING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66344" y="3233318"/>
              <a:ext cx="11259007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694944" y="2535631"/>
              <a:ext cx="10579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Kettle &amp; Fire</a:t>
              </a:r>
              <a:endParaRPr lang="en-US" sz="1200" dirty="0"/>
            </a:p>
          </p:txBody>
        </p:sp>
        <p:pic>
          <p:nvPicPr>
            <p:cNvPr id="18" name="Image 0" descr="preencoded.png"/>
            <p:cNvPicPr>
              <a:picLocks noChangeAspect="1"/>
            </p:cNvPicPr>
            <p:nvPr/>
          </p:nvPicPr>
          <p:blipFill>
            <a:blip r:embed="rId3"/>
            <a:srcRect l="-1911" r="-1911"/>
            <a:stretch/>
          </p:blipFill>
          <p:spPr>
            <a:xfrm>
              <a:off x="1782166" y="2592324"/>
              <a:ext cx="133502" cy="114300"/>
            </a:xfrm>
            <a:prstGeom prst="rect">
              <a:avLst/>
            </a:prstGeom>
          </p:spPr>
        </p:pic>
        <p:sp>
          <p:nvSpPr>
            <p:cNvPr id="19" name="Text 16"/>
            <p:cNvSpPr txBox="1"/>
            <p:nvPr/>
          </p:nvSpPr>
          <p:spPr>
            <a:xfrm>
              <a:off x="694944" y="2794406"/>
              <a:ext cx="167701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Shelf-stable Premium Leader</a:t>
              </a:r>
              <a:endParaRPr lang="en-US" sz="900" dirty="0"/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2986430" y="2541118"/>
              <a:ext cx="4956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Protein</a:t>
              </a:r>
              <a:endParaRPr lang="en-US" sz="90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3672230" y="2598725"/>
              <a:ext cx="2115007" cy="57607"/>
            </a:xfrm>
            <a:prstGeom prst="roundRect">
              <a:avLst>
                <a:gd name="adj" fmla="val 793654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19"/>
            <p:cNvSpPr/>
            <p:nvPr/>
          </p:nvSpPr>
          <p:spPr>
            <a:xfrm>
              <a:off x="3672230" y="2598725"/>
              <a:ext cx="1800454" cy="57607"/>
            </a:xfrm>
            <a:prstGeom prst="roundRect">
              <a:avLst>
                <a:gd name="adj" fmla="val 793654"/>
              </a:avLst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20"/>
            <p:cNvSpPr txBox="1"/>
            <p:nvPr/>
          </p:nvSpPr>
          <p:spPr>
            <a:xfrm>
              <a:off x="6158484" y="2541118"/>
              <a:ext cx="2862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10g</a:t>
              </a:r>
              <a:endParaRPr lang="en-US" sz="900" dirty="0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2986430" y="2788920"/>
              <a:ext cx="5239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Sodium</a:t>
              </a:r>
              <a:endParaRPr lang="en-US" sz="9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3672230" y="2845613"/>
              <a:ext cx="2115007" cy="57607"/>
            </a:xfrm>
            <a:prstGeom prst="roundRect">
              <a:avLst>
                <a:gd name="adj" fmla="val 793654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3"/>
            <p:cNvSpPr/>
            <p:nvPr/>
          </p:nvSpPr>
          <p:spPr>
            <a:xfrm>
              <a:off x="3672230" y="2845613"/>
              <a:ext cx="743407" cy="57607"/>
            </a:xfrm>
            <a:prstGeom prst="roundRect">
              <a:avLst>
                <a:gd name="adj" fmla="val 793654"/>
              </a:avLst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5982919" y="2788920"/>
              <a:ext cx="4672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350mg</a:t>
              </a:r>
              <a:endParaRPr lang="en-US" sz="90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6586423" y="2423160"/>
              <a:ext cx="724205" cy="256946"/>
            </a:xfrm>
            <a:prstGeom prst="roundRect">
              <a:avLst>
                <a:gd name="adj" fmla="val 52722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6663233" y="2453335"/>
              <a:ext cx="66934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$$$ High</a:t>
              </a:r>
              <a:endParaRPr lang="en-US" sz="1000" dirty="0"/>
            </a:p>
          </p:txBody>
        </p:sp>
        <p:pic>
          <p:nvPicPr>
            <p:cNvPr id="30" name="Image 1" descr="preencoded.png"/>
            <p:cNvPicPr>
              <a:picLocks noChangeAspect="1"/>
            </p:cNvPicPr>
            <p:nvPr/>
          </p:nvPicPr>
          <p:blipFill>
            <a:blip r:embed="rId4"/>
            <a:srcRect l="-2571" r="-2571"/>
            <a:stretch/>
          </p:blipFill>
          <p:spPr>
            <a:xfrm>
              <a:off x="6586423" y="2745029"/>
              <a:ext cx="105156" cy="114300"/>
            </a:xfrm>
            <a:prstGeom prst="rect">
              <a:avLst/>
            </a:prstGeom>
          </p:spPr>
        </p:pic>
        <p:sp>
          <p:nvSpPr>
            <p:cNvPr id="31" name="Text 27"/>
            <p:cNvSpPr txBox="1"/>
            <p:nvPr/>
          </p:nvSpPr>
          <p:spPr>
            <a:xfrm>
              <a:off x="6737299" y="2716682"/>
              <a:ext cx="781812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Carton (RTD)</a:t>
              </a:r>
              <a:endParaRPr lang="en-US" sz="900" dirty="0"/>
            </a:p>
          </p:txBody>
        </p:sp>
        <p:sp>
          <p:nvSpPr>
            <p:cNvPr id="32" name="Text 28"/>
            <p:cNvSpPr txBox="1"/>
            <p:nvPr/>
          </p:nvSpPr>
          <p:spPr>
            <a:xfrm>
              <a:off x="6586423" y="2916022"/>
              <a:ext cx="8293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$7.99 / 16.9oz</a:t>
              </a:r>
              <a:endParaRPr lang="en-US" sz="900" dirty="0"/>
            </a:p>
          </p:txBody>
        </p:sp>
        <p:sp>
          <p:nvSpPr>
            <p:cNvPr id="33" name="Shape 29"/>
            <p:cNvSpPr/>
            <p:nvPr/>
          </p:nvSpPr>
          <p:spPr>
            <a:xfrm>
              <a:off x="8550554" y="2461565"/>
              <a:ext cx="752551" cy="190195"/>
            </a:xfrm>
            <a:prstGeom prst="roundRect">
              <a:avLst>
                <a:gd name="adj" fmla="val 96154"/>
              </a:avLst>
            </a:prstGeom>
            <a:solidFill>
              <a:srgbClr val="F0F9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30"/>
            <p:cNvSpPr txBox="1"/>
            <p:nvPr/>
          </p:nvSpPr>
          <p:spPr>
            <a:xfrm>
              <a:off x="8617306" y="2470709"/>
              <a:ext cx="69951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A3E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Clean Label</a:t>
              </a:r>
              <a:endParaRPr lang="en-US" sz="800" dirty="0"/>
            </a:p>
          </p:txBody>
        </p:sp>
        <p:sp>
          <p:nvSpPr>
            <p:cNvPr id="35" name="Shape 31"/>
            <p:cNvSpPr/>
            <p:nvPr/>
          </p:nvSpPr>
          <p:spPr>
            <a:xfrm>
              <a:off x="9296705" y="2461565"/>
              <a:ext cx="638251" cy="190195"/>
            </a:xfrm>
            <a:prstGeom prst="roundRect">
              <a:avLst>
                <a:gd name="adj" fmla="val 96154"/>
              </a:avLst>
            </a:prstGeom>
            <a:solidFill>
              <a:srgbClr val="F0F9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2"/>
            <p:cNvSpPr txBox="1"/>
            <p:nvPr/>
          </p:nvSpPr>
          <p:spPr>
            <a:xfrm>
              <a:off x="9363456" y="2470709"/>
              <a:ext cx="58521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A3E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Grass-fed</a:t>
              </a:r>
              <a:endParaRPr lang="en-US" sz="800" dirty="0"/>
            </a:p>
          </p:txBody>
        </p:sp>
        <p:sp>
          <p:nvSpPr>
            <p:cNvPr id="37" name="Text 33"/>
            <p:cNvSpPr txBox="1"/>
            <p:nvPr/>
          </p:nvSpPr>
          <p:spPr>
            <a:xfrm>
              <a:off x="8550554" y="2677363"/>
              <a:ext cx="2974543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100% 목초사육 및 유기농 원료 강조. 다이어트(Keto/Paleo) 부족민을 위한 기능성 음료로 포지셔닝.</a:t>
              </a:r>
              <a:endParaRPr lang="en-US" sz="1000" dirty="0"/>
            </a:p>
          </p:txBody>
        </p:sp>
        <p:sp>
          <p:nvSpPr>
            <p:cNvPr id="38" name="Shape 34"/>
            <p:cNvSpPr/>
            <p:nvPr/>
          </p:nvSpPr>
          <p:spPr>
            <a:xfrm>
              <a:off x="466344" y="4203497"/>
              <a:ext cx="11259007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35"/>
            <p:cNvSpPr txBox="1"/>
            <p:nvPr/>
          </p:nvSpPr>
          <p:spPr>
            <a:xfrm>
              <a:off x="694944" y="3504895"/>
              <a:ext cx="8001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Bonafide</a:t>
              </a:r>
              <a:endParaRPr lang="en-US" sz="1200" dirty="0"/>
            </a:p>
          </p:txBody>
        </p:sp>
        <p:sp>
          <p:nvSpPr>
            <p:cNvPr id="40" name="Text 36"/>
            <p:cNvSpPr txBox="1"/>
            <p:nvPr/>
          </p:nvSpPr>
          <p:spPr>
            <a:xfrm>
              <a:off x="694944" y="3763670"/>
              <a:ext cx="13624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Frozen/Fresh Authentic</a:t>
              </a:r>
              <a:endParaRPr lang="en-US" sz="900" dirty="0"/>
            </a:p>
          </p:txBody>
        </p:sp>
        <p:sp>
          <p:nvSpPr>
            <p:cNvPr id="41" name="Text 37"/>
            <p:cNvSpPr txBox="1"/>
            <p:nvPr/>
          </p:nvSpPr>
          <p:spPr>
            <a:xfrm>
              <a:off x="2986430" y="3510382"/>
              <a:ext cx="4956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Protein</a:t>
              </a:r>
              <a:endParaRPr lang="en-US" sz="900" dirty="0"/>
            </a:p>
          </p:txBody>
        </p:sp>
        <p:sp>
          <p:nvSpPr>
            <p:cNvPr id="42" name="Shape 38"/>
            <p:cNvSpPr/>
            <p:nvPr/>
          </p:nvSpPr>
          <p:spPr>
            <a:xfrm>
              <a:off x="3672230" y="3567989"/>
              <a:ext cx="2115007" cy="57607"/>
            </a:xfrm>
            <a:prstGeom prst="roundRect">
              <a:avLst>
                <a:gd name="adj" fmla="val 793654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39"/>
            <p:cNvSpPr/>
            <p:nvPr/>
          </p:nvSpPr>
          <p:spPr>
            <a:xfrm>
              <a:off x="3672230" y="3567989"/>
              <a:ext cx="2009851" cy="57607"/>
            </a:xfrm>
            <a:prstGeom prst="roundRect">
              <a:avLst>
                <a:gd name="adj" fmla="val 793654"/>
              </a:avLst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40"/>
            <p:cNvSpPr txBox="1"/>
            <p:nvPr/>
          </p:nvSpPr>
          <p:spPr>
            <a:xfrm>
              <a:off x="6158484" y="3510382"/>
              <a:ext cx="2862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12g</a:t>
              </a:r>
              <a:endParaRPr lang="en-US" sz="900" dirty="0"/>
            </a:p>
          </p:txBody>
        </p:sp>
        <p:sp>
          <p:nvSpPr>
            <p:cNvPr id="45" name="Text 41"/>
            <p:cNvSpPr txBox="1"/>
            <p:nvPr/>
          </p:nvSpPr>
          <p:spPr>
            <a:xfrm>
              <a:off x="2986430" y="3758184"/>
              <a:ext cx="5239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Sodium</a:t>
              </a:r>
              <a:endParaRPr lang="en-US" sz="900" dirty="0"/>
            </a:p>
          </p:txBody>
        </p:sp>
        <p:sp>
          <p:nvSpPr>
            <p:cNvPr id="46" name="Shape 42"/>
            <p:cNvSpPr/>
            <p:nvPr/>
          </p:nvSpPr>
          <p:spPr>
            <a:xfrm>
              <a:off x="3672230" y="3815791"/>
              <a:ext cx="2115007" cy="57607"/>
            </a:xfrm>
            <a:prstGeom prst="roundRect">
              <a:avLst>
                <a:gd name="adj" fmla="val 793654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Shape 43"/>
            <p:cNvSpPr/>
            <p:nvPr/>
          </p:nvSpPr>
          <p:spPr>
            <a:xfrm>
              <a:off x="3672230" y="3815791"/>
              <a:ext cx="895198" cy="57607"/>
            </a:xfrm>
            <a:prstGeom prst="roundRect">
              <a:avLst>
                <a:gd name="adj" fmla="val 793654"/>
              </a:avLst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44"/>
            <p:cNvSpPr txBox="1"/>
            <p:nvPr/>
          </p:nvSpPr>
          <p:spPr>
            <a:xfrm>
              <a:off x="5982919" y="3758184"/>
              <a:ext cx="4672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420mg</a:t>
              </a:r>
              <a:endParaRPr lang="en-US" sz="900" dirty="0"/>
            </a:p>
          </p:txBody>
        </p:sp>
        <p:sp>
          <p:nvSpPr>
            <p:cNvPr id="49" name="Shape 45"/>
            <p:cNvSpPr/>
            <p:nvPr/>
          </p:nvSpPr>
          <p:spPr>
            <a:xfrm>
              <a:off x="6586423" y="3392424"/>
              <a:ext cx="1114654" cy="256946"/>
            </a:xfrm>
            <a:prstGeom prst="roundRect">
              <a:avLst>
                <a:gd name="adj" fmla="val 52722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6"/>
            <p:cNvSpPr txBox="1"/>
            <p:nvPr/>
          </p:nvSpPr>
          <p:spPr>
            <a:xfrm>
              <a:off x="6663233" y="3422599"/>
              <a:ext cx="105979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$$$$ Very High</a:t>
              </a:r>
              <a:endParaRPr lang="en-US" sz="1000" dirty="0"/>
            </a:p>
          </p:txBody>
        </p:sp>
        <p:pic>
          <p:nvPicPr>
            <p:cNvPr id="51" name="Image 2" descr="preencoded.png"/>
            <p:cNvPicPr>
              <a:picLocks noChangeAspect="1"/>
            </p:cNvPicPr>
            <p:nvPr/>
          </p:nvPicPr>
          <p:blipFill>
            <a:blip r:embed="rId5"/>
            <a:srcRect l="-2571" r="-2571"/>
            <a:stretch/>
          </p:blipFill>
          <p:spPr>
            <a:xfrm>
              <a:off x="6586423" y="3714293"/>
              <a:ext cx="105156" cy="114300"/>
            </a:xfrm>
            <a:prstGeom prst="rect">
              <a:avLst/>
            </a:prstGeom>
          </p:spPr>
        </p:pic>
        <p:sp>
          <p:nvSpPr>
            <p:cNvPr id="52" name="Text 47"/>
            <p:cNvSpPr txBox="1"/>
            <p:nvPr/>
          </p:nvSpPr>
          <p:spPr>
            <a:xfrm>
              <a:off x="6737299" y="3685946"/>
              <a:ext cx="685800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Frozen Bag</a:t>
              </a:r>
              <a:endParaRPr lang="en-US" sz="900" dirty="0"/>
            </a:p>
          </p:txBody>
        </p:sp>
        <p:sp>
          <p:nvSpPr>
            <p:cNvPr id="53" name="Text 48"/>
            <p:cNvSpPr txBox="1"/>
            <p:nvPr/>
          </p:nvSpPr>
          <p:spPr>
            <a:xfrm>
              <a:off x="6586423" y="3886200"/>
              <a:ext cx="7342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$9.99 / 24oz</a:t>
              </a:r>
              <a:endParaRPr lang="en-US" sz="900" dirty="0"/>
            </a:p>
          </p:txBody>
        </p:sp>
        <p:sp>
          <p:nvSpPr>
            <p:cNvPr id="54" name="Shape 49"/>
            <p:cNvSpPr/>
            <p:nvPr/>
          </p:nvSpPr>
          <p:spPr>
            <a:xfrm>
              <a:off x="8550554" y="3430829"/>
              <a:ext cx="647395" cy="190195"/>
            </a:xfrm>
            <a:prstGeom prst="roundRect">
              <a:avLst>
                <a:gd name="adj" fmla="val 96154"/>
              </a:avLst>
            </a:prstGeom>
            <a:solidFill>
              <a:srgbClr val="F0F9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 50"/>
            <p:cNvSpPr txBox="1"/>
            <p:nvPr/>
          </p:nvSpPr>
          <p:spPr>
            <a:xfrm>
              <a:off x="8617306" y="3439973"/>
              <a:ext cx="59436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A3E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Authentic</a:t>
              </a:r>
              <a:endParaRPr lang="en-US" sz="800" dirty="0"/>
            </a:p>
          </p:txBody>
        </p:sp>
        <p:sp>
          <p:nvSpPr>
            <p:cNvPr id="56" name="Shape 51"/>
            <p:cNvSpPr/>
            <p:nvPr/>
          </p:nvSpPr>
          <p:spPr>
            <a:xfrm>
              <a:off x="9196121" y="3430829"/>
              <a:ext cx="619049" cy="190195"/>
            </a:xfrm>
            <a:prstGeom prst="roundRect">
              <a:avLst>
                <a:gd name="adj" fmla="val 96154"/>
              </a:avLst>
            </a:prstGeom>
            <a:solidFill>
              <a:srgbClr val="F0F9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52"/>
            <p:cNvSpPr txBox="1"/>
            <p:nvPr/>
          </p:nvSpPr>
          <p:spPr>
            <a:xfrm>
              <a:off x="9262872" y="3439973"/>
              <a:ext cx="56601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A3E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Tradition</a:t>
              </a:r>
              <a:endParaRPr lang="en-US" sz="800" dirty="0"/>
            </a:p>
          </p:txBody>
        </p:sp>
        <p:sp>
          <p:nvSpPr>
            <p:cNvPr id="58" name="Text 53"/>
            <p:cNvSpPr txBox="1"/>
            <p:nvPr/>
          </p:nvSpPr>
          <p:spPr>
            <a:xfrm>
              <a:off x="8550554" y="3646627"/>
              <a:ext cx="293613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"전통 방식 그대로 얼린" 신선함 강조. 가장 집에서 만든 맛에 가까운 프리미엄 미식 타겟.</a:t>
              </a:r>
              <a:endParaRPr lang="en-US" sz="1000" dirty="0"/>
            </a:p>
          </p:txBody>
        </p:sp>
        <p:sp>
          <p:nvSpPr>
            <p:cNvPr id="59" name="Shape 54"/>
            <p:cNvSpPr/>
            <p:nvPr/>
          </p:nvSpPr>
          <p:spPr>
            <a:xfrm>
              <a:off x="466344" y="5172761"/>
              <a:ext cx="11259007" cy="9144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 55"/>
            <p:cNvSpPr txBox="1"/>
            <p:nvPr/>
          </p:nvSpPr>
          <p:spPr>
            <a:xfrm>
              <a:off x="694944" y="4474159"/>
              <a:ext cx="7717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LonoLife</a:t>
              </a:r>
              <a:endParaRPr lang="en-US" sz="1200" dirty="0"/>
            </a:p>
          </p:txBody>
        </p:sp>
        <p:sp>
          <p:nvSpPr>
            <p:cNvPr id="61" name="Text 56"/>
            <p:cNvSpPr txBox="1"/>
            <p:nvPr/>
          </p:nvSpPr>
          <p:spPr>
            <a:xfrm>
              <a:off x="694943" y="4733850"/>
              <a:ext cx="1469441" cy="121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Convenience/Powder</a:t>
              </a:r>
              <a:endParaRPr lang="en-US" sz="900" dirty="0"/>
            </a:p>
          </p:txBody>
        </p:sp>
        <p:sp>
          <p:nvSpPr>
            <p:cNvPr id="62" name="Text 57"/>
            <p:cNvSpPr txBox="1"/>
            <p:nvPr/>
          </p:nvSpPr>
          <p:spPr>
            <a:xfrm>
              <a:off x="2986430" y="4480560"/>
              <a:ext cx="4956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Protein</a:t>
              </a:r>
              <a:endParaRPr lang="en-US" sz="900" dirty="0"/>
            </a:p>
          </p:txBody>
        </p:sp>
        <p:sp>
          <p:nvSpPr>
            <p:cNvPr id="63" name="Shape 58"/>
            <p:cNvSpPr/>
            <p:nvPr/>
          </p:nvSpPr>
          <p:spPr>
            <a:xfrm>
              <a:off x="3672230" y="4537253"/>
              <a:ext cx="2115007" cy="57607"/>
            </a:xfrm>
            <a:prstGeom prst="roundRect">
              <a:avLst>
                <a:gd name="adj" fmla="val 793654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Shape 59"/>
            <p:cNvSpPr/>
            <p:nvPr/>
          </p:nvSpPr>
          <p:spPr>
            <a:xfrm>
              <a:off x="3672230" y="4537253"/>
              <a:ext cx="1695298" cy="57607"/>
            </a:xfrm>
            <a:prstGeom prst="roundRect">
              <a:avLst>
                <a:gd name="adj" fmla="val 793654"/>
              </a:avLst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Text 60"/>
            <p:cNvSpPr txBox="1"/>
            <p:nvPr/>
          </p:nvSpPr>
          <p:spPr>
            <a:xfrm>
              <a:off x="6158484" y="4480560"/>
              <a:ext cx="2862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10g</a:t>
              </a:r>
              <a:endParaRPr lang="en-US" sz="900" dirty="0"/>
            </a:p>
          </p:txBody>
        </p:sp>
        <p:sp>
          <p:nvSpPr>
            <p:cNvPr id="66" name="Text 61"/>
            <p:cNvSpPr txBox="1"/>
            <p:nvPr/>
          </p:nvSpPr>
          <p:spPr>
            <a:xfrm>
              <a:off x="2986430" y="4727448"/>
              <a:ext cx="5239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Sodium</a:t>
              </a:r>
              <a:endParaRPr lang="en-US" sz="900" dirty="0"/>
            </a:p>
          </p:txBody>
        </p:sp>
        <p:sp>
          <p:nvSpPr>
            <p:cNvPr id="67" name="Shape 62"/>
            <p:cNvSpPr/>
            <p:nvPr/>
          </p:nvSpPr>
          <p:spPr>
            <a:xfrm>
              <a:off x="3672230" y="4785055"/>
              <a:ext cx="2115007" cy="57607"/>
            </a:xfrm>
            <a:prstGeom prst="roundRect">
              <a:avLst>
                <a:gd name="adj" fmla="val 793654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Shape 63"/>
            <p:cNvSpPr/>
            <p:nvPr/>
          </p:nvSpPr>
          <p:spPr>
            <a:xfrm>
              <a:off x="3672230" y="4785055"/>
              <a:ext cx="1380744" cy="57607"/>
            </a:xfrm>
            <a:prstGeom prst="roundRect">
              <a:avLst>
                <a:gd name="adj" fmla="val 793654"/>
              </a:avLst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 64"/>
            <p:cNvSpPr txBox="1"/>
            <p:nvPr/>
          </p:nvSpPr>
          <p:spPr>
            <a:xfrm>
              <a:off x="5982919" y="4727448"/>
              <a:ext cx="4672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650mg</a:t>
              </a:r>
              <a:endParaRPr lang="en-US" sz="900" dirty="0"/>
            </a:p>
          </p:txBody>
        </p:sp>
        <p:sp>
          <p:nvSpPr>
            <p:cNvPr id="70" name="Shape 65"/>
            <p:cNvSpPr/>
            <p:nvPr/>
          </p:nvSpPr>
          <p:spPr>
            <a:xfrm>
              <a:off x="6586423" y="4362602"/>
              <a:ext cx="580644" cy="256946"/>
            </a:xfrm>
            <a:prstGeom prst="roundRect">
              <a:avLst>
                <a:gd name="adj" fmla="val 52722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Text 66"/>
            <p:cNvSpPr txBox="1"/>
            <p:nvPr/>
          </p:nvSpPr>
          <p:spPr>
            <a:xfrm>
              <a:off x="6663233" y="4392778"/>
              <a:ext cx="52669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$$ Mid</a:t>
              </a:r>
              <a:endParaRPr lang="en-US" sz="1000" dirty="0"/>
            </a:p>
          </p:txBody>
        </p:sp>
        <p:pic>
          <p:nvPicPr>
            <p:cNvPr id="72" name="Image 3" descr="preencoded.png"/>
            <p:cNvPicPr>
              <a:picLocks noChangeAspect="1"/>
            </p:cNvPicPr>
            <p:nvPr/>
          </p:nvPicPr>
          <p:blipFill>
            <a:blip r:embed="rId6"/>
            <a:srcRect l="-2571" r="-2571"/>
            <a:stretch/>
          </p:blipFill>
          <p:spPr>
            <a:xfrm>
              <a:off x="6586423" y="4683557"/>
              <a:ext cx="105156" cy="114300"/>
            </a:xfrm>
            <a:prstGeom prst="rect">
              <a:avLst/>
            </a:prstGeom>
          </p:spPr>
        </p:pic>
        <p:sp>
          <p:nvSpPr>
            <p:cNvPr id="73" name="Text 67"/>
            <p:cNvSpPr txBox="1"/>
            <p:nvPr/>
          </p:nvSpPr>
          <p:spPr>
            <a:xfrm>
              <a:off x="6737299" y="4655210"/>
              <a:ext cx="790956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Powder Stick</a:t>
              </a:r>
              <a:endParaRPr lang="en-US" sz="900" dirty="0"/>
            </a:p>
          </p:txBody>
        </p:sp>
        <p:sp>
          <p:nvSpPr>
            <p:cNvPr id="74" name="Text 68"/>
            <p:cNvSpPr txBox="1"/>
            <p:nvPr/>
          </p:nvSpPr>
          <p:spPr>
            <a:xfrm>
              <a:off x="6586423" y="4855464"/>
              <a:ext cx="7342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$2.20 / stick</a:t>
              </a:r>
              <a:endParaRPr lang="en-US" sz="900" dirty="0"/>
            </a:p>
          </p:txBody>
        </p:sp>
        <p:sp>
          <p:nvSpPr>
            <p:cNvPr id="75" name="Shape 69"/>
            <p:cNvSpPr/>
            <p:nvPr/>
          </p:nvSpPr>
          <p:spPr>
            <a:xfrm>
              <a:off x="8550554" y="4400093"/>
              <a:ext cx="694944" cy="190195"/>
            </a:xfrm>
            <a:prstGeom prst="roundRect">
              <a:avLst>
                <a:gd name="adj" fmla="val 96154"/>
              </a:avLst>
            </a:prstGeom>
            <a:solidFill>
              <a:srgbClr val="F0F9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 70"/>
            <p:cNvSpPr txBox="1"/>
            <p:nvPr/>
          </p:nvSpPr>
          <p:spPr>
            <a:xfrm>
              <a:off x="8617306" y="4410151"/>
              <a:ext cx="64282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A3E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Portability</a:t>
              </a:r>
              <a:endParaRPr lang="en-US" sz="800" dirty="0"/>
            </a:p>
          </p:txBody>
        </p:sp>
        <p:sp>
          <p:nvSpPr>
            <p:cNvPr id="77" name="Shape 71"/>
            <p:cNvSpPr/>
            <p:nvPr/>
          </p:nvSpPr>
          <p:spPr>
            <a:xfrm>
              <a:off x="9242755" y="4400093"/>
              <a:ext cx="666598" cy="190195"/>
            </a:xfrm>
            <a:prstGeom prst="roundRect">
              <a:avLst>
                <a:gd name="adj" fmla="val 96154"/>
              </a:avLst>
            </a:prstGeom>
            <a:solidFill>
              <a:srgbClr val="F0F9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Text 72"/>
            <p:cNvSpPr txBox="1"/>
            <p:nvPr/>
          </p:nvSpPr>
          <p:spPr>
            <a:xfrm>
              <a:off x="9309506" y="4410151"/>
              <a:ext cx="61356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A3E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On-the-go</a:t>
              </a:r>
              <a:endParaRPr lang="en-US" sz="800" dirty="0"/>
            </a:p>
          </p:txBody>
        </p:sp>
        <p:sp>
          <p:nvSpPr>
            <p:cNvPr id="79" name="Text 73"/>
            <p:cNvSpPr txBox="1"/>
            <p:nvPr/>
          </p:nvSpPr>
          <p:spPr>
            <a:xfrm>
              <a:off x="8550554" y="4616806"/>
              <a:ext cx="294528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사무실/여행용 간편 섭취 강조. 맛을 위해 나트륨 함량이 다소 높으나 편의성으로 승부.</a:t>
              </a:r>
              <a:endParaRPr lang="en-US" sz="1000" dirty="0"/>
            </a:p>
          </p:txBody>
        </p:sp>
        <p:sp>
          <p:nvSpPr>
            <p:cNvPr id="80" name="Text 74"/>
            <p:cNvSpPr txBox="1"/>
            <p:nvPr/>
          </p:nvSpPr>
          <p:spPr>
            <a:xfrm>
              <a:off x="694944" y="5444338"/>
              <a:ext cx="9628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Campbell's</a:t>
              </a:r>
              <a:endParaRPr lang="en-US" sz="1200" dirty="0"/>
            </a:p>
          </p:txBody>
        </p:sp>
        <p:sp>
          <p:nvSpPr>
            <p:cNvPr id="81" name="Text 75"/>
            <p:cNvSpPr txBox="1"/>
            <p:nvPr/>
          </p:nvSpPr>
          <p:spPr>
            <a:xfrm>
              <a:off x="694944" y="5703113"/>
              <a:ext cx="133411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Mass Market / Cooking</a:t>
              </a:r>
              <a:endParaRPr lang="en-US" sz="900" dirty="0"/>
            </a:p>
          </p:txBody>
        </p:sp>
        <p:sp>
          <p:nvSpPr>
            <p:cNvPr id="82" name="Text 76"/>
            <p:cNvSpPr txBox="1"/>
            <p:nvPr/>
          </p:nvSpPr>
          <p:spPr>
            <a:xfrm>
              <a:off x="2986430" y="5449824"/>
              <a:ext cx="4956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Protein</a:t>
              </a:r>
              <a:endParaRPr lang="en-US" sz="900" dirty="0"/>
            </a:p>
          </p:txBody>
        </p:sp>
        <p:sp>
          <p:nvSpPr>
            <p:cNvPr id="83" name="Shape 77"/>
            <p:cNvSpPr/>
            <p:nvPr/>
          </p:nvSpPr>
          <p:spPr>
            <a:xfrm>
              <a:off x="3672230" y="5506517"/>
              <a:ext cx="2115007" cy="57607"/>
            </a:xfrm>
            <a:prstGeom prst="roundRect">
              <a:avLst>
                <a:gd name="adj" fmla="val 793654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Shape 78"/>
            <p:cNvSpPr/>
            <p:nvPr/>
          </p:nvSpPr>
          <p:spPr>
            <a:xfrm>
              <a:off x="3672230" y="5506517"/>
              <a:ext cx="1276502" cy="57607"/>
            </a:xfrm>
            <a:prstGeom prst="roundRect">
              <a:avLst>
                <a:gd name="adj" fmla="val 793654"/>
              </a:avLst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Text 79"/>
            <p:cNvSpPr txBox="1"/>
            <p:nvPr/>
          </p:nvSpPr>
          <p:spPr>
            <a:xfrm>
              <a:off x="6116422" y="5449824"/>
              <a:ext cx="3337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7-9g</a:t>
              </a:r>
              <a:endParaRPr lang="en-US" sz="900" dirty="0"/>
            </a:p>
          </p:txBody>
        </p:sp>
        <p:sp>
          <p:nvSpPr>
            <p:cNvPr id="86" name="Text 80"/>
            <p:cNvSpPr txBox="1"/>
            <p:nvPr/>
          </p:nvSpPr>
          <p:spPr>
            <a:xfrm>
              <a:off x="2986430" y="5697626"/>
              <a:ext cx="5239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Sodium</a:t>
              </a:r>
              <a:endParaRPr lang="en-US" sz="900" dirty="0"/>
            </a:p>
          </p:txBody>
        </p:sp>
        <p:sp>
          <p:nvSpPr>
            <p:cNvPr id="87" name="Shape 81"/>
            <p:cNvSpPr/>
            <p:nvPr/>
          </p:nvSpPr>
          <p:spPr>
            <a:xfrm>
              <a:off x="3672230" y="5754319"/>
              <a:ext cx="2115007" cy="57607"/>
            </a:xfrm>
            <a:prstGeom prst="roundRect">
              <a:avLst>
                <a:gd name="adj" fmla="val 793654"/>
              </a:avLst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8" name="Shape 82"/>
            <p:cNvSpPr/>
            <p:nvPr/>
          </p:nvSpPr>
          <p:spPr>
            <a:xfrm>
              <a:off x="3672230" y="5754319"/>
              <a:ext cx="1904695" cy="57607"/>
            </a:xfrm>
            <a:prstGeom prst="roundRect">
              <a:avLst>
                <a:gd name="adj" fmla="val 793654"/>
              </a:avLst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9" name="Text 83"/>
            <p:cNvSpPr txBox="1"/>
            <p:nvPr/>
          </p:nvSpPr>
          <p:spPr>
            <a:xfrm>
              <a:off x="5917082" y="5697626"/>
              <a:ext cx="53401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850mg+</a:t>
              </a:r>
              <a:endParaRPr lang="en-US" sz="900" dirty="0"/>
            </a:p>
          </p:txBody>
        </p:sp>
        <p:sp>
          <p:nvSpPr>
            <p:cNvPr id="90" name="Shape 84"/>
            <p:cNvSpPr/>
            <p:nvPr/>
          </p:nvSpPr>
          <p:spPr>
            <a:xfrm>
              <a:off x="6586423" y="5331866"/>
              <a:ext cx="533095" cy="256946"/>
            </a:xfrm>
            <a:prstGeom prst="roundRect">
              <a:avLst>
                <a:gd name="adj" fmla="val 52722"/>
              </a:avLst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Text 85"/>
            <p:cNvSpPr txBox="1"/>
            <p:nvPr/>
          </p:nvSpPr>
          <p:spPr>
            <a:xfrm>
              <a:off x="6663233" y="5362042"/>
              <a:ext cx="47823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$ Low</a:t>
              </a:r>
              <a:endParaRPr lang="en-US" sz="1000" dirty="0"/>
            </a:p>
          </p:txBody>
        </p:sp>
        <p:pic>
          <p:nvPicPr>
            <p:cNvPr id="92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586423" y="5653735"/>
              <a:ext cx="114300" cy="114300"/>
            </a:xfrm>
            <a:prstGeom prst="rect">
              <a:avLst/>
            </a:prstGeom>
          </p:spPr>
        </p:pic>
        <p:sp>
          <p:nvSpPr>
            <p:cNvPr id="93" name="Text 86"/>
            <p:cNvSpPr txBox="1"/>
            <p:nvPr/>
          </p:nvSpPr>
          <p:spPr>
            <a:xfrm>
              <a:off x="6746443" y="5624474"/>
              <a:ext cx="743407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Sipping Cup</a:t>
              </a:r>
              <a:endParaRPr lang="en-US" sz="900" dirty="0"/>
            </a:p>
          </p:txBody>
        </p:sp>
        <p:sp>
          <p:nvSpPr>
            <p:cNvPr id="94" name="Text 87"/>
            <p:cNvSpPr txBox="1"/>
            <p:nvPr/>
          </p:nvSpPr>
          <p:spPr>
            <a:xfrm>
              <a:off x="6586423" y="5824728"/>
              <a:ext cx="6858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$2.50 / cup</a:t>
              </a:r>
              <a:endParaRPr lang="en-US" sz="900" dirty="0"/>
            </a:p>
          </p:txBody>
        </p:sp>
        <p:sp>
          <p:nvSpPr>
            <p:cNvPr id="95" name="Shape 88"/>
            <p:cNvSpPr/>
            <p:nvPr/>
          </p:nvSpPr>
          <p:spPr>
            <a:xfrm>
              <a:off x="8550554" y="5369357"/>
              <a:ext cx="780898" cy="190195"/>
            </a:xfrm>
            <a:prstGeom prst="roundRect">
              <a:avLst>
                <a:gd name="adj" fmla="val 96154"/>
              </a:avLst>
            </a:prstGeom>
            <a:solidFill>
              <a:srgbClr val="F0F9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6" name="Text 89"/>
            <p:cNvSpPr txBox="1"/>
            <p:nvPr/>
          </p:nvSpPr>
          <p:spPr>
            <a:xfrm>
              <a:off x="8617306" y="5379415"/>
              <a:ext cx="72786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A3E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Accessibility</a:t>
              </a:r>
              <a:endParaRPr lang="en-US" sz="800" dirty="0"/>
            </a:p>
          </p:txBody>
        </p:sp>
        <p:sp>
          <p:nvSpPr>
            <p:cNvPr id="97" name="Shape 90"/>
            <p:cNvSpPr/>
            <p:nvPr/>
          </p:nvSpPr>
          <p:spPr>
            <a:xfrm>
              <a:off x="9330538" y="5369357"/>
              <a:ext cx="847649" cy="190195"/>
            </a:xfrm>
            <a:prstGeom prst="roundRect">
              <a:avLst>
                <a:gd name="adj" fmla="val 96154"/>
              </a:avLst>
            </a:prstGeom>
            <a:solidFill>
              <a:srgbClr val="F0F9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Text 91"/>
            <p:cNvSpPr txBox="1"/>
            <p:nvPr/>
          </p:nvSpPr>
          <p:spPr>
            <a:xfrm>
              <a:off x="9397289" y="5379415"/>
              <a:ext cx="79461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A3E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Cooking Base</a:t>
              </a:r>
              <a:endParaRPr lang="en-US" sz="800" dirty="0"/>
            </a:p>
          </p:txBody>
        </p:sp>
        <p:sp>
          <p:nvSpPr>
            <p:cNvPr id="99" name="Text 92"/>
            <p:cNvSpPr txBox="1"/>
            <p:nvPr/>
          </p:nvSpPr>
          <p:spPr>
            <a:xfrm>
              <a:off x="8550554" y="5586070"/>
              <a:ext cx="2964485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압도적인 유통망과 저렴한 가격. '요리용 육수'와 '간편 수프' 사이의 매스 마켓 포지션.</a:t>
              </a:r>
              <a:endParaRPr lang="en-US" sz="1000" dirty="0"/>
            </a:p>
          </p:txBody>
        </p:sp>
        <p:sp>
          <p:nvSpPr>
            <p:cNvPr id="100" name="Shape 93"/>
            <p:cNvSpPr/>
            <p:nvPr/>
          </p:nvSpPr>
          <p:spPr>
            <a:xfrm>
              <a:off x="457200" y="6339535"/>
              <a:ext cx="11277295" cy="685800"/>
            </a:xfrm>
            <a:prstGeom prst="roundRect">
              <a:avLst>
                <a:gd name="adj" fmla="val 14815"/>
              </a:avLst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1" name="Image 5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790956" y="6596482"/>
              <a:ext cx="171907" cy="171907"/>
            </a:xfrm>
            <a:prstGeom prst="rect">
              <a:avLst/>
            </a:prstGeom>
          </p:spPr>
        </p:pic>
        <p:sp>
          <p:nvSpPr>
            <p:cNvPr id="102" name="Text 94"/>
            <p:cNvSpPr txBox="1"/>
            <p:nvPr/>
          </p:nvSpPr>
          <p:spPr>
            <a:xfrm>
              <a:off x="1218895" y="6482182"/>
              <a:ext cx="138165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TARGETING STRATEGY</a:t>
              </a:r>
              <a:endParaRPr lang="en-US" sz="900" dirty="0"/>
            </a:p>
          </p:txBody>
        </p:sp>
        <p:sp>
          <p:nvSpPr>
            <p:cNvPr id="103" name="Text 95"/>
            <p:cNvSpPr txBox="1"/>
            <p:nvPr/>
          </p:nvSpPr>
          <p:spPr>
            <a:xfrm>
              <a:off x="1218895" y="6682435"/>
              <a:ext cx="99495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K-Bone Broth는 Kettle &amp; Fire(프리미엄)의 스펙(고단백/저염)을 벤치마킹하되, 가격은 중가($$)로 설정하여 가성비 틈새를 공략해야 함. 특히 나트륨 저감 기술이 핵심 진입 장벽임.</a:t>
              </a:r>
              <a:endParaRPr lang="en-US" sz="1000" dirty="0"/>
            </a:p>
          </p:txBody>
        </p:sp>
        <p:sp>
          <p:nvSpPr>
            <p:cNvPr id="104" name="Shape 96"/>
            <p:cNvSpPr/>
            <p:nvPr/>
          </p:nvSpPr>
          <p:spPr>
            <a:xfrm>
              <a:off x="0" y="7329830"/>
              <a:ext cx="12191695" cy="3904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" name="Shape 97"/>
            <p:cNvSpPr/>
            <p:nvPr/>
          </p:nvSpPr>
          <p:spPr>
            <a:xfrm>
              <a:off x="0" y="7329830"/>
              <a:ext cx="12191695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Text 98"/>
            <p:cNvSpPr txBox="1"/>
            <p:nvPr/>
          </p:nvSpPr>
          <p:spPr>
            <a:xfrm>
              <a:off x="457200" y="7444129"/>
              <a:ext cx="4724400" cy="2586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Source: Amazon Best Sellers, Brand Official Websites (Nutritional Facts 2024)</a:t>
              </a:r>
              <a:endParaRPr lang="en-US" sz="900" dirty="0"/>
            </a:p>
          </p:txBody>
        </p:sp>
      </p:grpSp>
      <p:sp>
        <p:nvSpPr>
          <p:cNvPr id="109" name="Rectangle 13">
            <a:extLst>
              <a:ext uri="{FF2B5EF4-FFF2-40B4-BE49-F238E27FC236}">
                <a16:creationId xmlns:a16="http://schemas.microsoft.com/office/drawing/2014/main" id="{034AE589-CA22-D40E-B64F-0326A5704D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43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2252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2252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3091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1392704"/>
            <a:ext cx="12191695" cy="38206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7417"/>
            <a:ext cx="4253789" cy="19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MARKET LEVEL ANALYSIS: COMPETITIVE POSITIONING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416629"/>
            <a:ext cx="10158984" cy="777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K-Bone Broth는 '정통성(Authenticity)'과 '기능성(Function)’을 </a:t>
            </a:r>
          </a:p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모두</a:t>
            </a: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충족하는</a:t>
            </a: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</a:t>
            </a:r>
            <a:r>
              <a:rPr lang="ko-KR" altLang="en-US" sz="2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경쟁없는</a:t>
            </a:r>
            <a:r>
              <a:rPr lang="ko-KR" alt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시장 공간</a:t>
            </a: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</a:t>
            </a:r>
            <a:r>
              <a:rPr lang="en-US" sz="2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우상단</a:t>
            </a: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)</a:t>
            </a:r>
            <a:r>
              <a:rPr lang="ko-KR" alt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을</a:t>
            </a: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공략해야 함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1430910"/>
            <a:ext cx="12191695" cy="500318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3830"/>
            <a:ext cx="7429500" cy="4396433"/>
          </a:xfrm>
          <a:prstGeom prst="roundRect">
            <a:avLst>
              <a:gd name="adj" fmla="val 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619049" y="1894842"/>
            <a:ext cx="7095744" cy="407441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9049" y="1894842"/>
            <a:ext cx="1266444" cy="398435"/>
          </a:xfrm>
          <a:prstGeom prst="roundRect">
            <a:avLst>
              <a:gd name="adj" fmla="val 21744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05002" y="1933048"/>
            <a:ext cx="1181405" cy="16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Functional Western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05002" y="2084963"/>
            <a:ext cx="1133856" cy="16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(Modern Wellness)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92901" y="1894842"/>
            <a:ext cx="1429207" cy="398435"/>
          </a:xfrm>
          <a:prstGeom prst="roundRect">
            <a:avLst>
              <a:gd name="adj" fmla="val 2174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FDBFE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378854" y="1933048"/>
            <a:ext cx="876910" cy="16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TARGET ZONE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378854" y="2084963"/>
            <a:ext cx="1343254" cy="16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(Premium K-Wellness)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9049" y="5571727"/>
            <a:ext cx="923544" cy="398435"/>
          </a:xfrm>
          <a:prstGeom prst="roundRect">
            <a:avLst>
              <a:gd name="adj" fmla="val 21744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05002" y="5609933"/>
            <a:ext cx="790956" cy="16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Mass Market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05002" y="5760938"/>
            <a:ext cx="838505" cy="16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(Commodity)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060643" y="5571727"/>
            <a:ext cx="1657807" cy="398435"/>
          </a:xfrm>
          <a:prstGeom prst="roundRect">
            <a:avLst>
              <a:gd name="adj" fmla="val 21744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146597" y="5609933"/>
            <a:ext cx="1057961" cy="16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Traditional Niche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146597" y="5760938"/>
            <a:ext cx="1571854" cy="16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(Low Function Perception)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0" y="6434093"/>
            <a:ext cx="12191695" cy="3884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2"/>
          <p:cNvSpPr/>
          <p:nvPr/>
        </p:nvSpPr>
        <p:spPr>
          <a:xfrm>
            <a:off x="0" y="6434093"/>
            <a:ext cx="12191695" cy="9097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3"/>
          <p:cNvSpPr txBox="1"/>
          <p:nvPr/>
        </p:nvSpPr>
        <p:spPr>
          <a:xfrm>
            <a:off x="457200" y="6547802"/>
            <a:ext cx="4470400" cy="199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Source: Competitor Nutrition Facts Analysis, Brand Positioning Mapping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8413394" y="5529150"/>
            <a:ext cx="3095244" cy="5825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9"/>
          <p:cNvSpPr txBox="1"/>
          <p:nvPr/>
        </p:nvSpPr>
        <p:spPr>
          <a:xfrm>
            <a:off x="8413394" y="5316547"/>
            <a:ext cx="1890979" cy="15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Strategic Implication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Text 40"/>
          <p:cNvSpPr txBox="1"/>
          <p:nvPr/>
        </p:nvSpPr>
        <p:spPr>
          <a:xfrm>
            <a:off x="8413394" y="5589727"/>
            <a:ext cx="3119933" cy="540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기존 한인 마켓용 제품(우하단)을 그대로 가져가는 것이 아니라, 스펙(나트륨↓, 단백질↑)을 업그레이드하여 Kettle &amp; Fire(좌상단)의 고객을 뺏어오는 전략이 필요함.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184794" y="1733830"/>
            <a:ext cx="3552444" cy="1128790"/>
          </a:xfrm>
          <a:prstGeom prst="roundRect">
            <a:avLst>
              <a:gd name="adj" fmla="val 2196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8413394" y="2047898"/>
            <a:ext cx="3124505" cy="579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428" r="-428"/>
          <a:stretch/>
        </p:blipFill>
        <p:spPr>
          <a:xfrm>
            <a:off x="8413394" y="1884490"/>
            <a:ext cx="161849" cy="9039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652053" y="1860732"/>
            <a:ext cx="1642262" cy="13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Winning Zone (우상단)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10836554" y="1864209"/>
            <a:ext cx="705002" cy="132697"/>
          </a:xfrm>
          <a:prstGeom prst="roundRect">
            <a:avLst>
              <a:gd name="adj" fmla="val 79396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10913364" y="1878695"/>
            <a:ext cx="632765" cy="96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4ED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STRATEGY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8413394" y="2124966"/>
            <a:ext cx="2339035" cy="121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High Authenticity + High Function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8604504" y="2287795"/>
            <a:ext cx="2860243" cy="24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K-Bone Broth Target: 전통 가마솥 방식의 깊은 맛(Flavor)과 고단백/저염 스펙(Function) 동시 충족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8604504" y="2566515"/>
            <a:ext cx="1717243" cy="121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경쟁자가 적은 '블루오션' 영역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184794" y="3007486"/>
            <a:ext cx="3552444" cy="923661"/>
          </a:xfrm>
          <a:prstGeom prst="roundRect">
            <a:avLst>
              <a:gd name="adj" fmla="val 32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Shape 29"/>
          <p:cNvSpPr/>
          <p:nvPr/>
        </p:nvSpPr>
        <p:spPr>
          <a:xfrm>
            <a:off x="8413394" y="3320974"/>
            <a:ext cx="3124505" cy="579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rcRect t="-556" b="-556"/>
          <a:stretch/>
        </p:blipFill>
        <p:spPr>
          <a:xfrm>
            <a:off x="8413394" y="3157566"/>
            <a:ext cx="123444" cy="9039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613648" y="3133808"/>
            <a:ext cx="2042770" cy="13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Functional Western (좌상단)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8413394" y="3398042"/>
            <a:ext cx="1805026" cy="121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ex. Kettle &amp; Fire, LonoLife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8413394" y="3573618"/>
            <a:ext cx="3105302" cy="2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건강 기능성은 높으나 '맛의 깊이'나 '전통성' 스토리텔링이 부족. 서구식 허브/향신료 베이스로 아시안 입맛과는 거리감 존재.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8184794" y="4074273"/>
            <a:ext cx="3552444" cy="923661"/>
          </a:xfrm>
          <a:prstGeom prst="roundRect">
            <a:avLst>
              <a:gd name="adj" fmla="val 3280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4"/>
          <p:cNvSpPr/>
          <p:nvPr/>
        </p:nvSpPr>
        <p:spPr>
          <a:xfrm>
            <a:off x="8413394" y="4388341"/>
            <a:ext cx="3124505" cy="579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13394" y="4224353"/>
            <a:ext cx="142646" cy="90396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8632850" y="4201175"/>
            <a:ext cx="2128723" cy="13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Traditional Dilemma (우하단)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8413394" y="4465409"/>
            <a:ext cx="1881835" cy="121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ex. Existing K-Retort Soups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8413394" y="4640407"/>
            <a:ext cx="3105302" cy="2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정통성은 높으나 고나트륨, MSG 이슈로 웰니스 소비층에게 외면받을 위험. '건강식'보다 '간편식' 인식 강함.</a:t>
            </a:r>
            <a:endParaRPr lang="en-US" sz="900" dirty="0"/>
          </a:p>
        </p:txBody>
      </p:sp>
      <p:sp>
        <p:nvSpPr>
          <p:cNvPr id="51" name="Rectangle 13">
            <a:extLst>
              <a:ext uri="{FF2B5EF4-FFF2-40B4-BE49-F238E27FC236}">
                <a16:creationId xmlns:a16="http://schemas.microsoft.com/office/drawing/2014/main" id="{02C7CB2F-B0AB-52F0-5A41-3044E0551B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44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4211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74211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04313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1172156"/>
            <a:ext cx="12191695" cy="32156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91404"/>
            <a:ext cx="4120286" cy="160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MARKET LEVEL ANALYSIS: COMPETITIVE ADVANTAGE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350652"/>
            <a:ext cx="11406226" cy="654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한국식 정통 레시피와 추출 기술의 결합은 모방하기 어려운(Imperfectly Imitable) </a:t>
            </a:r>
          </a:p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지속적</a:t>
            </a:r>
            <a:r>
              <a:rPr lang="en-US" sz="2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경쟁우위 원천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1204313"/>
            <a:ext cx="12191695" cy="535165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59262"/>
            <a:ext cx="11277295" cy="622445"/>
          </a:xfrm>
          <a:prstGeom prst="roundRect">
            <a:avLst>
              <a:gd name="adj" fmla="val 6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8446" y="1690478"/>
            <a:ext cx="190195" cy="1592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66444" y="1594776"/>
            <a:ext cx="2210105" cy="19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핵심 역량 (Core Competency)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66444" y="1786180"/>
            <a:ext cx="5511089" cy="160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12시간 이상 고아내는 전통 가마솥 추출 방식 &amp; 잡내 제거 노하우 (Authentic Slow-Boiled Tech)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222078" y="1675166"/>
            <a:ext cx="1276502" cy="191404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0336378" y="1698900"/>
            <a:ext cx="1133856" cy="1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ANALYSIS TARGET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273112"/>
            <a:ext cx="2704795" cy="2966759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66344" y="2280768"/>
            <a:ext cx="2686507" cy="749538"/>
          </a:xfrm>
          <a:prstGeom prst="rect">
            <a:avLst/>
          </a:prstGeom>
          <a:solidFill>
            <a:srgbClr val="0056B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711757" y="2384891"/>
            <a:ext cx="428854" cy="36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V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37437" y="2727887"/>
            <a:ext cx="838505" cy="1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VALUE (가치)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06831" y="3221708"/>
            <a:ext cx="2307031" cy="327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해당 역량이 시장의 기회를 활용하거나 위협을 무력화하는가?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80998" y="3684906"/>
            <a:ext cx="457200" cy="38280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94944" y="4259117"/>
            <a:ext cx="2229307" cy="781693"/>
          </a:xfrm>
          <a:prstGeom prst="roundRect">
            <a:avLst>
              <a:gd name="adj" fmla="val 599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809244" y="4354819"/>
            <a:ext cx="360274" cy="167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YES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809244" y="4550817"/>
            <a:ext cx="2009851" cy="391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미국 소비자의 Wellness(고단백/콜라겐) 니즈와 Clean Label 트렌드에 완벽히 부합하며 프리미엄 가치를 창출함.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314700" y="2273112"/>
            <a:ext cx="2704795" cy="2966759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3323844" y="2280768"/>
            <a:ext cx="2686507" cy="749538"/>
          </a:xfrm>
          <a:prstGeom prst="rect">
            <a:avLst/>
          </a:prstGeom>
          <a:solidFill>
            <a:srgbClr val="0077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4559198" y="2384891"/>
            <a:ext cx="448056" cy="36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R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4216298" y="2727887"/>
            <a:ext cx="991210" cy="1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RARITY (희소성)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3610051" y="3221708"/>
            <a:ext cx="2221992" cy="160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해당 역량을 소유한 경쟁사가 소수인가?</a:t>
            </a:r>
            <a:endParaRPr lang="en-US" sz="10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8498" y="3684906"/>
            <a:ext cx="457200" cy="382808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3552444" y="4259117"/>
            <a:ext cx="2229307" cy="781693"/>
          </a:xfrm>
          <a:prstGeom prst="roundRect">
            <a:avLst>
              <a:gd name="adj" fmla="val 599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3666744" y="4354819"/>
            <a:ext cx="360274" cy="167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YES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3666744" y="4550817"/>
            <a:ext cx="2076602" cy="391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대다수 경쟁사는 파우더/농축액 희석식을 사용. 장시간 직접 우려낸 Liquid Broth의 깊은 맛은 대량생산 체제에서 희소함.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172200" y="2273112"/>
            <a:ext cx="2704795" cy="2966759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6181344" y="2280768"/>
            <a:ext cx="2686507" cy="749538"/>
          </a:xfrm>
          <a:prstGeom prst="rect">
            <a:avLst/>
          </a:prstGeom>
          <a:solidFill>
            <a:srgbClr val="0099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 txBox="1"/>
          <p:nvPr/>
        </p:nvSpPr>
        <p:spPr>
          <a:xfrm>
            <a:off x="7471562" y="2384891"/>
            <a:ext cx="342900" cy="36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</a:t>
            </a:r>
            <a:endParaRPr lang="en-US" sz="2400" dirty="0"/>
          </a:p>
        </p:txBody>
      </p:sp>
      <p:sp>
        <p:nvSpPr>
          <p:cNvPr id="36" name="Text 31"/>
          <p:cNvSpPr txBox="1"/>
          <p:nvPr/>
        </p:nvSpPr>
        <p:spPr>
          <a:xfrm>
            <a:off x="6815023" y="2727887"/>
            <a:ext cx="1505102" cy="1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IMITABILITY (모방난이도)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6481267" y="3221708"/>
            <a:ext cx="2192731" cy="327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경쟁사가 비용 불리 없이 이를 모방하기 어려운가?</a:t>
            </a:r>
            <a:endParaRPr lang="en-US" sz="10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95998" y="3620595"/>
            <a:ext cx="457200" cy="3828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6409944" y="4131259"/>
            <a:ext cx="2229307" cy="909551"/>
          </a:xfrm>
          <a:prstGeom prst="roundRect">
            <a:avLst>
              <a:gd name="adj" fmla="val 443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 txBox="1"/>
          <p:nvPr/>
        </p:nvSpPr>
        <p:spPr>
          <a:xfrm>
            <a:off x="6524244" y="4226961"/>
            <a:ext cx="1151230" cy="167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YES (High Cost)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6524244" y="4422959"/>
            <a:ext cx="2019910" cy="51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한식 특유의 감칠맛(Umami) 프로파일과 잡내 제어 기술은 암묵지(Tacit Knowledge) 영역으로 단기간 모방이 어려움.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9029700" y="2273112"/>
            <a:ext cx="2704795" cy="2966759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9038844" y="2280768"/>
            <a:ext cx="2686507" cy="749538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/>
          <p:cNvSpPr txBox="1"/>
          <p:nvPr/>
        </p:nvSpPr>
        <p:spPr>
          <a:xfrm>
            <a:off x="10262311" y="2384891"/>
            <a:ext cx="476402" cy="36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O</a:t>
            </a:r>
            <a:endParaRPr lang="en-US" sz="2400" dirty="0"/>
          </a:p>
        </p:txBody>
      </p:sp>
      <p:sp>
        <p:nvSpPr>
          <p:cNvPr id="45" name="Text 39"/>
          <p:cNvSpPr txBox="1"/>
          <p:nvPr/>
        </p:nvSpPr>
        <p:spPr>
          <a:xfrm>
            <a:off x="9740189" y="2727887"/>
            <a:ext cx="1371600" cy="1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ORGANIZATION (조직)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9279331" y="3221708"/>
            <a:ext cx="2307031" cy="327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역량을 활용할 조직적 구조와 시스템을 갖췄는가?</a:t>
            </a:r>
            <a:endParaRPr lang="en-US" sz="100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53498" y="3684906"/>
            <a:ext cx="457200" cy="382808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9267444" y="4259117"/>
            <a:ext cx="2229307" cy="781693"/>
          </a:xfrm>
          <a:prstGeom prst="roundRect">
            <a:avLst>
              <a:gd name="adj" fmla="val 599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2"/>
          <p:cNvSpPr txBox="1"/>
          <p:nvPr/>
        </p:nvSpPr>
        <p:spPr>
          <a:xfrm>
            <a:off x="9381744" y="4354819"/>
            <a:ext cx="360274" cy="167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YES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9381744" y="4550817"/>
            <a:ext cx="2029054" cy="391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CJ/풀무원 등은 이미 글로벌 SCM과 미국 내 유통망(Bibigo Network)을 보유하여 이 가치를 즉시 수익화 가능함.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457200" y="5428212"/>
            <a:ext cx="11277295" cy="868973"/>
          </a:xfrm>
          <a:prstGeom prst="roundRect">
            <a:avLst>
              <a:gd name="adj" fmla="val 646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5"/>
          <p:cNvSpPr txBox="1"/>
          <p:nvPr/>
        </p:nvSpPr>
        <p:spPr>
          <a:xfrm>
            <a:off x="1548079" y="5696177"/>
            <a:ext cx="457200" cy="1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STEP 1</a:t>
            </a:r>
            <a:endParaRPr lang="en-US" sz="900" dirty="0"/>
          </a:p>
        </p:txBody>
      </p:sp>
      <p:sp>
        <p:nvSpPr>
          <p:cNvPr id="53" name="Text 46"/>
          <p:cNvSpPr txBox="1"/>
          <p:nvPr/>
        </p:nvSpPr>
        <p:spPr>
          <a:xfrm>
            <a:off x="1202436" y="5863081"/>
            <a:ext cx="1158545" cy="151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Competitive Parity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3773729" y="5696177"/>
            <a:ext cx="457200" cy="1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STEP 2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3332074" y="5863081"/>
            <a:ext cx="1348740" cy="151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Temporary Advantage</a:t>
            </a:r>
            <a:endParaRPr lang="en-US" sz="900" dirty="0"/>
          </a:p>
        </p:txBody>
      </p:sp>
      <p:sp>
        <p:nvSpPr>
          <p:cNvPr id="56" name="Text 49"/>
          <p:cNvSpPr txBox="1"/>
          <p:nvPr/>
        </p:nvSpPr>
        <p:spPr>
          <a:xfrm>
            <a:off x="5999378" y="5696177"/>
            <a:ext cx="457200" cy="1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STEP 3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5650078" y="5863081"/>
            <a:ext cx="1168603" cy="151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Unused Advantage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7296912" y="5563726"/>
            <a:ext cx="2229307" cy="597945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2"/>
          <p:cNvSpPr txBox="1"/>
          <p:nvPr/>
        </p:nvSpPr>
        <p:spPr>
          <a:xfrm>
            <a:off x="7911389" y="5619615"/>
            <a:ext cx="1086307" cy="1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CURRENT STATUS</a:t>
            </a:r>
            <a:endParaRPr lang="en-US" sz="900" dirty="0"/>
          </a:p>
        </p:txBody>
      </p:sp>
      <p:sp>
        <p:nvSpPr>
          <p:cNvPr id="60" name="Text 53"/>
          <p:cNvSpPr txBox="1"/>
          <p:nvPr/>
        </p:nvSpPr>
        <p:spPr>
          <a:xfrm>
            <a:off x="7671816" y="5786519"/>
            <a:ext cx="1577340" cy="311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Sustainable Competitive Advantage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9675266" y="5709958"/>
            <a:ext cx="1904695" cy="303183"/>
          </a:xfrm>
          <a:prstGeom prst="roundRect">
            <a:avLst>
              <a:gd name="adj" fmla="val 252526"/>
            </a:avLst>
          </a:prstGeom>
          <a:solidFill>
            <a:srgbClr val="051C2C"/>
          </a:solidFill>
          <a:ln/>
          <a:effectLst>
            <a:outerShdw blurRad="63500" dist="38100" dir="5400000" algn="bl" rotWithShape="0">
              <a:srgbClr val="051C2C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9903866" y="5812551"/>
            <a:ext cx="152705" cy="111779"/>
          </a:xfrm>
          <a:prstGeom prst="rect">
            <a:avLst/>
          </a:prstGeom>
        </p:spPr>
      </p:pic>
      <p:sp>
        <p:nvSpPr>
          <p:cNvPr id="63" name="Text 55"/>
          <p:cNvSpPr txBox="1"/>
          <p:nvPr/>
        </p:nvSpPr>
        <p:spPr>
          <a:xfrm>
            <a:off x="10132466" y="5774270"/>
            <a:ext cx="1322222" cy="167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지속적 경쟁우위 확보</a:t>
            </a:r>
            <a:endParaRPr lang="en-US" sz="1000" dirty="0"/>
          </a:p>
        </p:txBody>
      </p:sp>
      <p:sp>
        <p:nvSpPr>
          <p:cNvPr id="65" name="Shape 57"/>
          <p:cNvSpPr/>
          <p:nvPr/>
        </p:nvSpPr>
        <p:spPr>
          <a:xfrm>
            <a:off x="0" y="6547541"/>
            <a:ext cx="12191695" cy="765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8"/>
          <p:cNvSpPr txBox="1"/>
          <p:nvPr/>
        </p:nvSpPr>
        <p:spPr>
          <a:xfrm>
            <a:off x="457200" y="6643243"/>
            <a:ext cx="5192878" cy="14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Framework: Barney's VRIO Analysis / Analysis based on K-Food Industry Capabilities</a:t>
            </a:r>
            <a:endParaRPr lang="en-US" sz="900" dirty="0"/>
          </a:p>
        </p:txBody>
      </p:sp>
      <p:sp>
        <p:nvSpPr>
          <p:cNvPr id="69" name="Rectangle 13">
            <a:extLst>
              <a:ext uri="{FF2B5EF4-FFF2-40B4-BE49-F238E27FC236}">
                <a16:creationId xmlns:a16="http://schemas.microsoft.com/office/drawing/2014/main" id="{3E3FC463-3EE0-1AAB-3E5D-B98D23396A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45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그룹 84">
            <a:extLst>
              <a:ext uri="{FF2B5EF4-FFF2-40B4-BE49-F238E27FC236}">
                <a16:creationId xmlns:a16="http://schemas.microsoft.com/office/drawing/2014/main" id="{0FA5994B-5307-ED48-A754-71041A23B7C0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7334402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28245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DISTRIBUTION CHANNEL STRATEGY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425428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특화 채널에서 브랜드 검증(Validation) 후, 메인스트림과 온라인으로 확장하는 단계적 진입 전략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5896051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2648102" cy="3715207"/>
            </a:xfrm>
            <a:prstGeom prst="roundRect">
              <a:avLst>
                <a:gd name="adj" fmla="val 994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6344" y="1828800"/>
              <a:ext cx="2628900" cy="1333195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1168603" y="1914754"/>
              <a:ext cx="1228954" cy="247802"/>
            </a:xfrm>
            <a:prstGeom prst="roundRect">
              <a:avLst>
                <a:gd name="adj" fmla="val 369004"/>
              </a:avLst>
            </a:prstGeom>
            <a:solidFill>
              <a:srgbClr val="FFFFFF">
                <a:alpha val="2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1282903" y="1952244"/>
              <a:ext cx="10863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PHASE 1: ENTRY</a:t>
              </a:r>
              <a:endParaRPr lang="en-US" sz="900" dirty="0"/>
            </a:p>
          </p:txBody>
        </p:sp>
        <p:pic>
          <p:nvPicPr>
            <p:cNvPr id="13" name="Image 0" descr="preencoded.png"/>
            <p:cNvPicPr>
              <a:picLocks noChangeAspect="1"/>
            </p:cNvPicPr>
            <p:nvPr/>
          </p:nvPicPr>
          <p:blipFill>
            <a:blip r:embed="rId3"/>
            <a:srcRect l="-90" r="-90"/>
            <a:stretch/>
          </p:blipFill>
          <p:spPr>
            <a:xfrm>
              <a:off x="1591056" y="2238451"/>
              <a:ext cx="381305" cy="304495"/>
            </a:xfrm>
            <a:prstGeom prst="rect">
              <a:avLst/>
            </a:prstGeom>
          </p:spPr>
        </p:pic>
        <p:sp>
          <p:nvSpPr>
            <p:cNvPr id="14" name="Text 11"/>
            <p:cNvSpPr txBox="1"/>
            <p:nvPr/>
          </p:nvSpPr>
          <p:spPr>
            <a:xfrm>
              <a:off x="1110996" y="2590495"/>
              <a:ext cx="148590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Ethnic / Niche</a:t>
              </a:r>
              <a:endParaRPr lang="en-US" sz="15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1196950" y="2885846"/>
              <a:ext cx="12719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>
                      <a:alpha val="80000"/>
                    </a:srgbClr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(H-Mart, 99 Ranch)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66344" y="3161995"/>
              <a:ext cx="2628900" cy="2361895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694944" y="3390595"/>
              <a:ext cx="2171700" cy="638251"/>
            </a:xfrm>
            <a:prstGeom prst="roundRect">
              <a:avLst>
                <a:gd name="adj" fmla="val 12830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5"/>
            <p:cNvSpPr/>
            <p:nvPr/>
          </p:nvSpPr>
          <p:spPr>
            <a:xfrm>
              <a:off x="694944" y="3390595"/>
              <a:ext cx="28346" cy="6382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6"/>
            <p:cNvSpPr txBox="1"/>
            <p:nvPr/>
          </p:nvSpPr>
          <p:spPr>
            <a:xfrm>
              <a:off x="838505" y="3504895"/>
              <a:ext cx="10003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CORE STRATEGY</a:t>
              </a:r>
              <a:endParaRPr lang="en-US" sz="900" dirty="0"/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838505" y="3715207"/>
              <a:ext cx="163129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Authenticity Verification</a:t>
              </a:r>
              <a:endParaRPr lang="en-US" sz="1000" dirty="0"/>
            </a:p>
          </p:txBody>
        </p:sp>
        <p:sp>
          <p:nvSpPr>
            <p:cNvPr id="21" name="Text 18"/>
            <p:cNvSpPr txBox="1"/>
            <p:nvPr/>
          </p:nvSpPr>
          <p:spPr>
            <a:xfrm>
              <a:off x="694944" y="4166006"/>
              <a:ext cx="2210105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한인 및 아시안 교포를 핵심 고객(Core Fan)으로 확보하여 초기 매출 기반 마련 및 레시피 검증.</a:t>
              </a:r>
              <a:endParaRPr lang="en-US" sz="900" dirty="0"/>
            </a:p>
          </p:txBody>
        </p:sp>
        <p:pic>
          <p:nvPicPr>
            <p:cNvPr id="22" name="Image 1" descr="preencoded.png"/>
            <p:cNvPicPr>
              <a:picLocks noChangeAspect="1"/>
            </p:cNvPicPr>
            <p:nvPr/>
          </p:nvPicPr>
          <p:blipFill>
            <a:blip r:embed="rId4"/>
            <a:srcRect l="-1677" r="-1677"/>
            <a:stretch/>
          </p:blipFill>
          <p:spPr>
            <a:xfrm>
              <a:off x="694944" y="4839005"/>
              <a:ext cx="95098" cy="105156"/>
            </a:xfrm>
            <a:prstGeom prst="rect">
              <a:avLst/>
            </a:prstGeom>
          </p:spPr>
        </p:pic>
        <p:sp>
          <p:nvSpPr>
            <p:cNvPr id="23" name="Text 19"/>
            <p:cNvSpPr txBox="1"/>
            <p:nvPr/>
          </p:nvSpPr>
          <p:spPr>
            <a:xfrm>
              <a:off x="866851" y="4799686"/>
              <a:ext cx="209087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Taste Acceptance Test</a:t>
              </a:r>
              <a:endParaRPr lang="en-US" sz="1000" dirty="0"/>
            </a:p>
          </p:txBody>
        </p:sp>
        <p:pic>
          <p:nvPicPr>
            <p:cNvPr id="24" name="Image 2" descr="preencoded.png"/>
            <p:cNvPicPr>
              <a:picLocks noChangeAspect="1"/>
            </p:cNvPicPr>
            <p:nvPr/>
          </p:nvPicPr>
          <p:blipFill>
            <a:blip r:embed="rId4"/>
            <a:srcRect l="-1677" r="-1677"/>
            <a:stretch/>
          </p:blipFill>
          <p:spPr>
            <a:xfrm>
              <a:off x="694944" y="5082235"/>
              <a:ext cx="95098" cy="105156"/>
            </a:xfrm>
            <a:prstGeom prst="rect">
              <a:avLst/>
            </a:prstGeom>
          </p:spPr>
        </p:pic>
        <p:sp>
          <p:nvSpPr>
            <p:cNvPr id="25" name="Text 20"/>
            <p:cNvSpPr txBox="1"/>
            <p:nvPr/>
          </p:nvSpPr>
          <p:spPr>
            <a:xfrm>
              <a:off x="866850" y="5043830"/>
              <a:ext cx="212084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Initial Review Seeding</a:t>
              </a:r>
              <a:endParaRPr lang="en-US" sz="1000" dirty="0"/>
            </a:p>
          </p:txBody>
        </p:sp>
        <p:sp>
          <p:nvSpPr>
            <p:cNvPr id="26" name="Shape 21"/>
            <p:cNvSpPr/>
            <p:nvPr/>
          </p:nvSpPr>
          <p:spPr>
            <a:xfrm>
              <a:off x="3333902" y="1819656"/>
              <a:ext cx="2648102" cy="3715207"/>
            </a:xfrm>
            <a:prstGeom prst="roundRect">
              <a:avLst>
                <a:gd name="adj" fmla="val 994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2"/>
            <p:cNvSpPr/>
            <p:nvPr/>
          </p:nvSpPr>
          <p:spPr>
            <a:xfrm>
              <a:off x="3343046" y="1828800"/>
              <a:ext cx="2628900" cy="1333195"/>
            </a:xfrm>
            <a:prstGeom prst="rect">
              <a:avLst/>
            </a:prstGeom>
            <a:solidFill>
              <a:srgbClr val="0056B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23"/>
            <p:cNvSpPr/>
            <p:nvPr/>
          </p:nvSpPr>
          <p:spPr>
            <a:xfrm>
              <a:off x="3941978" y="1914754"/>
              <a:ext cx="1438351" cy="247802"/>
            </a:xfrm>
            <a:prstGeom prst="roundRect">
              <a:avLst>
                <a:gd name="adj" fmla="val 369004"/>
              </a:avLst>
            </a:prstGeom>
            <a:solidFill>
              <a:srgbClr val="FFFFFF">
                <a:alpha val="2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4"/>
            <p:cNvSpPr txBox="1"/>
            <p:nvPr/>
          </p:nvSpPr>
          <p:spPr>
            <a:xfrm>
              <a:off x="4056278" y="1952244"/>
              <a:ext cx="12957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PHASE 2: SCALE-UP</a:t>
              </a:r>
              <a:endParaRPr lang="en-US" sz="900" dirty="0"/>
            </a:p>
          </p:txBody>
        </p:sp>
        <p:pic>
          <p:nvPicPr>
            <p:cNvPr id="30" name="Image 3" descr="preencoded.png"/>
            <p:cNvPicPr>
              <a:picLocks noChangeAspect="1"/>
            </p:cNvPicPr>
            <p:nvPr/>
          </p:nvPicPr>
          <p:blipFill>
            <a:blip r:embed="rId5"/>
            <a:srcRect l="-90" r="-90"/>
            <a:stretch/>
          </p:blipFill>
          <p:spPr>
            <a:xfrm>
              <a:off x="4466844" y="2238451"/>
              <a:ext cx="381305" cy="304495"/>
            </a:xfrm>
            <a:prstGeom prst="rect">
              <a:avLst/>
            </a:prstGeom>
          </p:spPr>
        </p:pic>
        <p:sp>
          <p:nvSpPr>
            <p:cNvPr id="31" name="Text 25"/>
            <p:cNvSpPr txBox="1"/>
            <p:nvPr/>
          </p:nvSpPr>
          <p:spPr>
            <a:xfrm>
              <a:off x="4105656" y="2590495"/>
              <a:ext cx="12481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Club Stores</a:t>
              </a:r>
              <a:endParaRPr lang="en-US" sz="1500" dirty="0"/>
            </a:p>
          </p:txBody>
        </p:sp>
        <p:sp>
          <p:nvSpPr>
            <p:cNvPr id="32" name="Text 26"/>
            <p:cNvSpPr txBox="1"/>
            <p:nvPr/>
          </p:nvSpPr>
          <p:spPr>
            <a:xfrm>
              <a:off x="4177894" y="2885846"/>
              <a:ext cx="10625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>
                      <a:alpha val="80000"/>
                    </a:srgbClr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(Costco, Sam's)</a:t>
              </a:r>
              <a:endParaRPr lang="en-US" sz="1000" dirty="0"/>
            </a:p>
          </p:txBody>
        </p:sp>
        <p:sp>
          <p:nvSpPr>
            <p:cNvPr id="33" name="Shape 27"/>
            <p:cNvSpPr/>
            <p:nvPr/>
          </p:nvSpPr>
          <p:spPr>
            <a:xfrm>
              <a:off x="3343046" y="3161995"/>
              <a:ext cx="2628900" cy="2361895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Shape 28"/>
            <p:cNvSpPr/>
            <p:nvPr/>
          </p:nvSpPr>
          <p:spPr>
            <a:xfrm>
              <a:off x="3571646" y="3390595"/>
              <a:ext cx="2171700" cy="638251"/>
            </a:xfrm>
            <a:prstGeom prst="roundRect">
              <a:avLst>
                <a:gd name="adj" fmla="val 12830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29"/>
            <p:cNvSpPr/>
            <p:nvPr/>
          </p:nvSpPr>
          <p:spPr>
            <a:xfrm>
              <a:off x="3571646" y="3390595"/>
              <a:ext cx="28346" cy="638251"/>
            </a:xfrm>
            <a:prstGeom prst="rect">
              <a:avLst/>
            </a:prstGeom>
            <a:solidFill>
              <a:srgbClr val="0056B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0"/>
            <p:cNvSpPr txBox="1"/>
            <p:nvPr/>
          </p:nvSpPr>
          <p:spPr>
            <a:xfrm>
              <a:off x="3715207" y="3504895"/>
              <a:ext cx="10003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CORE STRATEGY</a:t>
              </a:r>
              <a:endParaRPr lang="en-US" sz="900" dirty="0"/>
            </a:p>
          </p:txBody>
        </p:sp>
        <p:sp>
          <p:nvSpPr>
            <p:cNvPr id="37" name="Text 31"/>
            <p:cNvSpPr txBox="1"/>
            <p:nvPr/>
          </p:nvSpPr>
          <p:spPr>
            <a:xfrm>
              <a:off x="3715207" y="3715207"/>
              <a:ext cx="102138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Volume &amp; Trial</a:t>
              </a:r>
              <a:endParaRPr lang="en-US" sz="1000" dirty="0"/>
            </a:p>
          </p:txBody>
        </p:sp>
        <p:sp>
          <p:nvSpPr>
            <p:cNvPr id="38" name="Text 32"/>
            <p:cNvSpPr txBox="1"/>
            <p:nvPr/>
          </p:nvSpPr>
          <p:spPr>
            <a:xfrm>
              <a:off x="3571646" y="4166006"/>
              <a:ext cx="2248510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대용량 멀티팩 운영 및 로드쇼(Roadshow) 시식을 통해 대규모 체험 기회 제공 및 브랜드 인지도 확산.</a:t>
              </a:r>
              <a:endParaRPr lang="en-US" sz="900" dirty="0"/>
            </a:p>
          </p:txBody>
        </p:sp>
        <p:pic>
          <p:nvPicPr>
            <p:cNvPr id="39" name="Image 4" descr="preencoded.png"/>
            <p:cNvPicPr>
              <a:picLocks noChangeAspect="1"/>
            </p:cNvPicPr>
            <p:nvPr/>
          </p:nvPicPr>
          <p:blipFill>
            <a:blip r:embed="rId4"/>
            <a:srcRect l="-1677" r="-1677"/>
            <a:stretch/>
          </p:blipFill>
          <p:spPr>
            <a:xfrm>
              <a:off x="3571646" y="4839005"/>
              <a:ext cx="95098" cy="105156"/>
            </a:xfrm>
            <a:prstGeom prst="rect">
              <a:avLst/>
            </a:prstGeom>
          </p:spPr>
        </p:pic>
        <p:sp>
          <p:nvSpPr>
            <p:cNvPr id="40" name="Text 33"/>
            <p:cNvSpPr txBox="1"/>
            <p:nvPr/>
          </p:nvSpPr>
          <p:spPr>
            <a:xfrm>
              <a:off x="3743554" y="4799686"/>
              <a:ext cx="165985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Rotation Velocity</a:t>
              </a:r>
              <a:endParaRPr lang="en-US" sz="1000" dirty="0"/>
            </a:p>
          </p:txBody>
        </p:sp>
        <p:pic>
          <p:nvPicPr>
            <p:cNvPr id="41" name="Image 5" descr="preencoded.png"/>
            <p:cNvPicPr>
              <a:picLocks noChangeAspect="1"/>
            </p:cNvPicPr>
            <p:nvPr/>
          </p:nvPicPr>
          <p:blipFill>
            <a:blip r:embed="rId4"/>
            <a:srcRect l="-1677" r="-1677"/>
            <a:stretch/>
          </p:blipFill>
          <p:spPr>
            <a:xfrm>
              <a:off x="3571646" y="5082235"/>
              <a:ext cx="95098" cy="105156"/>
            </a:xfrm>
            <a:prstGeom prst="rect">
              <a:avLst/>
            </a:prstGeom>
          </p:spPr>
        </p:pic>
        <p:sp>
          <p:nvSpPr>
            <p:cNvPr id="42" name="Text 34"/>
            <p:cNvSpPr txBox="1"/>
            <p:nvPr/>
          </p:nvSpPr>
          <p:spPr>
            <a:xfrm>
              <a:off x="3743554" y="5043830"/>
              <a:ext cx="215081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Membership Trial Rate</a:t>
              </a:r>
              <a:endParaRPr lang="en-US" sz="1000" dirty="0"/>
            </a:p>
          </p:txBody>
        </p:sp>
        <p:sp>
          <p:nvSpPr>
            <p:cNvPr id="43" name="Shape 35"/>
            <p:cNvSpPr/>
            <p:nvPr/>
          </p:nvSpPr>
          <p:spPr>
            <a:xfrm>
              <a:off x="6210605" y="1819656"/>
              <a:ext cx="2648102" cy="3715207"/>
            </a:xfrm>
            <a:prstGeom prst="roundRect">
              <a:avLst>
                <a:gd name="adj" fmla="val 994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36"/>
            <p:cNvSpPr/>
            <p:nvPr/>
          </p:nvSpPr>
          <p:spPr>
            <a:xfrm>
              <a:off x="6219749" y="1828800"/>
              <a:ext cx="2628900" cy="1333195"/>
            </a:xfrm>
            <a:prstGeom prst="rect">
              <a:avLst/>
            </a:prstGeom>
            <a:solidFill>
              <a:srgbClr val="0088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37"/>
            <p:cNvSpPr/>
            <p:nvPr/>
          </p:nvSpPr>
          <p:spPr>
            <a:xfrm>
              <a:off x="6769303" y="1914754"/>
              <a:ext cx="1533449" cy="247802"/>
            </a:xfrm>
            <a:prstGeom prst="roundRect">
              <a:avLst>
                <a:gd name="adj" fmla="val 369004"/>
              </a:avLst>
            </a:prstGeom>
            <a:solidFill>
              <a:srgbClr val="FFFFFF">
                <a:alpha val="2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38"/>
            <p:cNvSpPr txBox="1"/>
            <p:nvPr/>
          </p:nvSpPr>
          <p:spPr>
            <a:xfrm>
              <a:off x="6883603" y="1952244"/>
              <a:ext cx="139080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PHASE 3: EXPANSION</a:t>
              </a:r>
              <a:endParaRPr lang="en-US" sz="900" dirty="0"/>
            </a:p>
          </p:txBody>
        </p:sp>
        <p:pic>
          <p:nvPicPr>
            <p:cNvPr id="47" name="Image 6" descr="preencoded.png"/>
            <p:cNvPicPr>
              <a:picLocks noChangeAspect="1"/>
            </p:cNvPicPr>
            <p:nvPr/>
          </p:nvPicPr>
          <p:blipFill>
            <a:blip r:embed="rId6"/>
            <a:srcRect l="-50" r="-50"/>
            <a:stretch/>
          </p:blipFill>
          <p:spPr>
            <a:xfrm>
              <a:off x="7362749" y="2238451"/>
              <a:ext cx="342900" cy="304495"/>
            </a:xfrm>
            <a:prstGeom prst="rect">
              <a:avLst/>
            </a:prstGeom>
          </p:spPr>
        </p:pic>
        <p:sp>
          <p:nvSpPr>
            <p:cNvPr id="48" name="Text 39"/>
            <p:cNvSpPr txBox="1"/>
            <p:nvPr/>
          </p:nvSpPr>
          <p:spPr>
            <a:xfrm>
              <a:off x="6963156" y="2590495"/>
              <a:ext cx="128656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Mainstream</a:t>
              </a:r>
              <a:endParaRPr lang="en-US" sz="1500" dirty="0"/>
            </a:p>
          </p:txBody>
        </p:sp>
        <p:sp>
          <p:nvSpPr>
            <p:cNvPr id="49" name="Text 40"/>
            <p:cNvSpPr txBox="1"/>
            <p:nvPr/>
          </p:nvSpPr>
          <p:spPr>
            <a:xfrm>
              <a:off x="6980530" y="2885846"/>
              <a:ext cx="12152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>
                      <a:alpha val="80000"/>
                    </a:srgbClr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(Walmart, Kroger)</a:t>
              </a:r>
              <a:endParaRPr lang="en-US" sz="1000" dirty="0"/>
            </a:p>
          </p:txBody>
        </p:sp>
        <p:sp>
          <p:nvSpPr>
            <p:cNvPr id="50" name="Shape 41"/>
            <p:cNvSpPr/>
            <p:nvPr/>
          </p:nvSpPr>
          <p:spPr>
            <a:xfrm>
              <a:off x="6219749" y="3161995"/>
              <a:ext cx="2628900" cy="2361895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Shape 42"/>
            <p:cNvSpPr/>
            <p:nvPr/>
          </p:nvSpPr>
          <p:spPr>
            <a:xfrm>
              <a:off x="6448349" y="3390595"/>
              <a:ext cx="2171700" cy="638251"/>
            </a:xfrm>
            <a:prstGeom prst="roundRect">
              <a:avLst>
                <a:gd name="adj" fmla="val 12830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Shape 43"/>
            <p:cNvSpPr/>
            <p:nvPr/>
          </p:nvSpPr>
          <p:spPr>
            <a:xfrm>
              <a:off x="6448349" y="3390595"/>
              <a:ext cx="28346" cy="638251"/>
            </a:xfrm>
            <a:prstGeom prst="rect">
              <a:avLst/>
            </a:prstGeom>
            <a:solidFill>
              <a:srgbClr val="0088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44"/>
            <p:cNvSpPr txBox="1"/>
            <p:nvPr/>
          </p:nvSpPr>
          <p:spPr>
            <a:xfrm>
              <a:off x="6590995" y="3504895"/>
              <a:ext cx="10003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CORE STRATEGY</a:t>
              </a:r>
              <a:endParaRPr lang="en-US" sz="900" dirty="0"/>
            </a:p>
          </p:txBody>
        </p:sp>
        <p:sp>
          <p:nvSpPr>
            <p:cNvPr id="54" name="Text 45"/>
            <p:cNvSpPr txBox="1"/>
            <p:nvPr/>
          </p:nvSpPr>
          <p:spPr>
            <a:xfrm>
              <a:off x="6590995" y="3715207"/>
              <a:ext cx="118323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Mass Penetration</a:t>
              </a:r>
              <a:endParaRPr lang="en-US" sz="1000" dirty="0"/>
            </a:p>
          </p:txBody>
        </p:sp>
        <p:sp>
          <p:nvSpPr>
            <p:cNvPr id="55" name="Text 46"/>
            <p:cNvSpPr txBox="1"/>
            <p:nvPr/>
          </p:nvSpPr>
          <p:spPr>
            <a:xfrm>
              <a:off x="6448349" y="4166006"/>
              <a:ext cx="2238451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Phase 1, 2의 성과 데이터를 기반으로 슬롯팅(Slotting) 협상력을 높여 전국 단위 매장(ACV) 입점.</a:t>
              </a:r>
              <a:endParaRPr lang="en-US" sz="900" dirty="0"/>
            </a:p>
          </p:txBody>
        </p:sp>
        <p:pic>
          <p:nvPicPr>
            <p:cNvPr id="56" name="Image 7" descr="preencoded.png"/>
            <p:cNvPicPr>
              <a:picLocks noChangeAspect="1"/>
            </p:cNvPicPr>
            <p:nvPr/>
          </p:nvPicPr>
          <p:blipFill>
            <a:blip r:embed="rId4"/>
            <a:srcRect l="-1677" r="-1677"/>
            <a:stretch/>
          </p:blipFill>
          <p:spPr>
            <a:xfrm>
              <a:off x="6448349" y="4839005"/>
              <a:ext cx="95098" cy="105156"/>
            </a:xfrm>
            <a:prstGeom prst="rect">
              <a:avLst/>
            </a:prstGeom>
          </p:spPr>
        </p:pic>
        <p:sp>
          <p:nvSpPr>
            <p:cNvPr id="57" name="Text 47"/>
            <p:cNvSpPr txBox="1"/>
            <p:nvPr/>
          </p:nvSpPr>
          <p:spPr>
            <a:xfrm>
              <a:off x="6620256" y="4799686"/>
              <a:ext cx="232921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ACV (All Commodity Vol)</a:t>
              </a:r>
              <a:endParaRPr lang="en-US" sz="1000" dirty="0"/>
            </a:p>
          </p:txBody>
        </p:sp>
        <p:pic>
          <p:nvPicPr>
            <p:cNvPr id="58" name="Image 8" descr="preencoded.png"/>
            <p:cNvPicPr>
              <a:picLocks noChangeAspect="1"/>
            </p:cNvPicPr>
            <p:nvPr/>
          </p:nvPicPr>
          <p:blipFill>
            <a:blip r:embed="rId4"/>
            <a:srcRect l="-1677" r="-1677"/>
            <a:stretch/>
          </p:blipFill>
          <p:spPr>
            <a:xfrm>
              <a:off x="6448349" y="5082235"/>
              <a:ext cx="95098" cy="105156"/>
            </a:xfrm>
            <a:prstGeom prst="rect">
              <a:avLst/>
            </a:prstGeom>
          </p:spPr>
        </p:pic>
        <p:sp>
          <p:nvSpPr>
            <p:cNvPr id="59" name="Text 48"/>
            <p:cNvSpPr txBox="1"/>
            <p:nvPr/>
          </p:nvSpPr>
          <p:spPr>
            <a:xfrm>
              <a:off x="6620256" y="5043830"/>
              <a:ext cx="139153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Shelf Share %</a:t>
              </a:r>
              <a:endParaRPr lang="en-US" sz="1000" dirty="0"/>
            </a:p>
          </p:txBody>
        </p:sp>
        <p:sp>
          <p:nvSpPr>
            <p:cNvPr id="60" name="Shape 49"/>
            <p:cNvSpPr/>
            <p:nvPr/>
          </p:nvSpPr>
          <p:spPr>
            <a:xfrm>
              <a:off x="9087307" y="1819656"/>
              <a:ext cx="2648102" cy="3715207"/>
            </a:xfrm>
            <a:prstGeom prst="roundRect">
              <a:avLst>
                <a:gd name="adj" fmla="val 994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Shape 50"/>
            <p:cNvSpPr/>
            <p:nvPr/>
          </p:nvSpPr>
          <p:spPr>
            <a:xfrm>
              <a:off x="9096451" y="1828800"/>
              <a:ext cx="2628900" cy="133319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Shape 51"/>
            <p:cNvSpPr/>
            <p:nvPr/>
          </p:nvSpPr>
          <p:spPr>
            <a:xfrm>
              <a:off x="9700870" y="1914754"/>
              <a:ext cx="1429207" cy="247802"/>
            </a:xfrm>
            <a:prstGeom prst="roundRect">
              <a:avLst>
                <a:gd name="adj" fmla="val 369004"/>
              </a:avLst>
            </a:prstGeom>
            <a:solidFill>
              <a:srgbClr val="FFFFFF">
                <a:alpha val="2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 52"/>
            <p:cNvSpPr txBox="1"/>
            <p:nvPr/>
          </p:nvSpPr>
          <p:spPr>
            <a:xfrm>
              <a:off x="9815170" y="1952244"/>
              <a:ext cx="12865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PHASE 4: UBIQUITY</a:t>
              </a:r>
              <a:endParaRPr lang="en-US" sz="900" dirty="0"/>
            </a:p>
          </p:txBody>
        </p:sp>
        <p:pic>
          <p:nvPicPr>
            <p:cNvPr id="64" name="Image 9" descr="preencoded.png"/>
            <p:cNvPicPr>
              <a:picLocks noChangeAspect="1"/>
            </p:cNvPicPr>
            <p:nvPr/>
          </p:nvPicPr>
          <p:blipFill>
            <a:blip r:embed="rId7"/>
            <a:srcRect l="-90" r="-90"/>
            <a:stretch/>
          </p:blipFill>
          <p:spPr>
            <a:xfrm>
              <a:off x="10220249" y="2238451"/>
              <a:ext cx="381305" cy="304495"/>
            </a:xfrm>
            <a:prstGeom prst="rect">
              <a:avLst/>
            </a:prstGeom>
          </p:spPr>
        </p:pic>
        <p:sp>
          <p:nvSpPr>
            <p:cNvPr id="65" name="Text 53"/>
            <p:cNvSpPr txBox="1"/>
            <p:nvPr/>
          </p:nvSpPr>
          <p:spPr>
            <a:xfrm>
              <a:off x="9810598" y="2590495"/>
              <a:ext cx="135331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Online / D2C</a:t>
              </a:r>
              <a:endParaRPr lang="en-US" sz="1500" dirty="0"/>
            </a:p>
          </p:txBody>
        </p:sp>
        <p:sp>
          <p:nvSpPr>
            <p:cNvPr id="66" name="Text 54"/>
            <p:cNvSpPr txBox="1"/>
            <p:nvPr/>
          </p:nvSpPr>
          <p:spPr>
            <a:xfrm>
              <a:off x="9829800" y="2885846"/>
              <a:ext cx="12627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>
                      <a:alpha val="80000"/>
                    </a:srgbClr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(Amazon, Website)</a:t>
              </a:r>
              <a:endParaRPr lang="en-US" sz="1000" dirty="0"/>
            </a:p>
          </p:txBody>
        </p:sp>
        <p:sp>
          <p:nvSpPr>
            <p:cNvPr id="67" name="Shape 55"/>
            <p:cNvSpPr/>
            <p:nvPr/>
          </p:nvSpPr>
          <p:spPr>
            <a:xfrm>
              <a:off x="9096451" y="3161995"/>
              <a:ext cx="2628900" cy="2361895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Shape 56"/>
            <p:cNvSpPr/>
            <p:nvPr/>
          </p:nvSpPr>
          <p:spPr>
            <a:xfrm>
              <a:off x="9325051" y="3390595"/>
              <a:ext cx="2171700" cy="638251"/>
            </a:xfrm>
            <a:prstGeom prst="roundRect">
              <a:avLst>
                <a:gd name="adj" fmla="val 12830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Shape 57"/>
            <p:cNvSpPr/>
            <p:nvPr/>
          </p:nvSpPr>
          <p:spPr>
            <a:xfrm>
              <a:off x="9325051" y="3390595"/>
              <a:ext cx="28346" cy="638251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Text 58"/>
            <p:cNvSpPr txBox="1"/>
            <p:nvPr/>
          </p:nvSpPr>
          <p:spPr>
            <a:xfrm>
              <a:off x="9467698" y="3504895"/>
              <a:ext cx="10003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4748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CORE STRATEGY</a:t>
              </a:r>
              <a:endParaRPr lang="en-US" sz="900" dirty="0"/>
            </a:p>
          </p:txBody>
        </p:sp>
        <p:sp>
          <p:nvSpPr>
            <p:cNvPr id="71" name="Text 59"/>
            <p:cNvSpPr txBox="1"/>
            <p:nvPr/>
          </p:nvSpPr>
          <p:spPr>
            <a:xfrm>
              <a:off x="9467698" y="3715207"/>
              <a:ext cx="11073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Lock-in &amp; Reach</a:t>
              </a:r>
              <a:endParaRPr lang="en-US" sz="1000" dirty="0"/>
            </a:p>
          </p:txBody>
        </p:sp>
        <p:sp>
          <p:nvSpPr>
            <p:cNvPr id="72" name="Text 60"/>
            <p:cNvSpPr txBox="1"/>
            <p:nvPr/>
          </p:nvSpPr>
          <p:spPr>
            <a:xfrm>
              <a:off x="9325051" y="4166006"/>
              <a:ext cx="2171700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오프라인 미입점 지역 커버리지 확대 및 구독 모델(Subscribe &amp; Save)을 통한 충성 고객 락인.</a:t>
              </a:r>
              <a:endParaRPr lang="en-US" sz="900" dirty="0"/>
            </a:p>
          </p:txBody>
        </p:sp>
        <p:pic>
          <p:nvPicPr>
            <p:cNvPr id="73" name="Image 10" descr="preencoded.png"/>
            <p:cNvPicPr>
              <a:picLocks noChangeAspect="1"/>
            </p:cNvPicPr>
            <p:nvPr/>
          </p:nvPicPr>
          <p:blipFill>
            <a:blip r:embed="rId4"/>
            <a:srcRect l="-1677" r="-1677"/>
            <a:stretch/>
          </p:blipFill>
          <p:spPr>
            <a:xfrm>
              <a:off x="9325051" y="4839005"/>
              <a:ext cx="95098" cy="105156"/>
            </a:xfrm>
            <a:prstGeom prst="rect">
              <a:avLst/>
            </a:prstGeom>
          </p:spPr>
        </p:pic>
        <p:sp>
          <p:nvSpPr>
            <p:cNvPr id="74" name="Text 61"/>
            <p:cNvSpPr txBox="1"/>
            <p:nvPr/>
          </p:nvSpPr>
          <p:spPr>
            <a:xfrm>
              <a:off x="9496044" y="4799686"/>
              <a:ext cx="207660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Search Ranking (SEO)</a:t>
              </a:r>
              <a:endParaRPr lang="en-US" sz="1000" dirty="0"/>
            </a:p>
          </p:txBody>
        </p:sp>
        <p:pic>
          <p:nvPicPr>
            <p:cNvPr id="75" name="Image 11" descr="preencoded.png"/>
            <p:cNvPicPr>
              <a:picLocks noChangeAspect="1"/>
            </p:cNvPicPr>
            <p:nvPr/>
          </p:nvPicPr>
          <p:blipFill>
            <a:blip r:embed="rId4"/>
            <a:srcRect l="-1677" r="-1677"/>
            <a:stretch/>
          </p:blipFill>
          <p:spPr>
            <a:xfrm>
              <a:off x="9325051" y="5082235"/>
              <a:ext cx="95098" cy="105156"/>
            </a:xfrm>
            <a:prstGeom prst="rect">
              <a:avLst/>
            </a:prstGeom>
          </p:spPr>
        </p:pic>
        <p:sp>
          <p:nvSpPr>
            <p:cNvPr id="76" name="Text 62"/>
            <p:cNvSpPr txBox="1"/>
            <p:nvPr/>
          </p:nvSpPr>
          <p:spPr>
            <a:xfrm>
              <a:off x="9496044" y="5043830"/>
              <a:ext cx="18239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Recurring Revenue</a:t>
              </a:r>
              <a:endParaRPr lang="en-US" sz="1000" dirty="0"/>
            </a:p>
          </p:txBody>
        </p:sp>
        <p:sp>
          <p:nvSpPr>
            <p:cNvPr id="77" name="Shape 63"/>
            <p:cNvSpPr/>
            <p:nvPr/>
          </p:nvSpPr>
          <p:spPr>
            <a:xfrm>
              <a:off x="457200" y="5830214"/>
              <a:ext cx="11277295" cy="1123798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Shape 64"/>
            <p:cNvSpPr/>
            <p:nvPr/>
          </p:nvSpPr>
          <p:spPr>
            <a:xfrm>
              <a:off x="457200" y="5830214"/>
              <a:ext cx="47549" cy="1123798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9" name="Image 12" descr="preencoded.png"/>
            <p:cNvPicPr>
              <a:picLocks noChangeAspect="1"/>
            </p:cNvPicPr>
            <p:nvPr/>
          </p:nvPicPr>
          <p:blipFill>
            <a:blip r:embed="rId8"/>
            <a:srcRect l="-133" r="-133"/>
            <a:stretch/>
          </p:blipFill>
          <p:spPr>
            <a:xfrm>
              <a:off x="809244" y="6058814"/>
              <a:ext cx="171907" cy="228600"/>
            </a:xfrm>
            <a:prstGeom prst="rect">
              <a:avLst/>
            </a:prstGeom>
          </p:spPr>
        </p:pic>
        <p:sp>
          <p:nvSpPr>
            <p:cNvPr id="80" name="Text 65"/>
            <p:cNvSpPr txBox="1"/>
            <p:nvPr/>
          </p:nvSpPr>
          <p:spPr>
            <a:xfrm>
              <a:off x="1209751" y="6030468"/>
              <a:ext cx="461497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Implication: "Build Power, Then Negotiate"</a:t>
              </a:r>
              <a:endParaRPr lang="en-US" sz="1300" dirty="0"/>
            </a:p>
          </p:txBody>
        </p:sp>
        <p:sp>
          <p:nvSpPr>
            <p:cNvPr id="81" name="Text 66"/>
            <p:cNvSpPr txBox="1"/>
            <p:nvPr/>
          </p:nvSpPr>
          <p:spPr>
            <a:xfrm>
              <a:off x="1209751" y="6334963"/>
              <a:ext cx="10254082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7415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진입 장벽이 높고 슬롯팅 비용이 비싼 메인스트림(Walmart/Kroger)에 바로 진입하기보다, 특화 채널(H-Mart)과 클럽 채널(Costco)에서 검증된 판매 데이터(Velocity)를 확보한 후 이를 레버리지로 협상하는 것이 유리함.</a:t>
              </a:r>
              <a:endParaRPr lang="en-US" sz="1000" dirty="0"/>
            </a:p>
          </p:txBody>
        </p:sp>
        <p:pic>
          <p:nvPicPr>
            <p:cNvPr id="82" name="Image 13" descr="preencoded.png"/>
            <p:cNvPicPr>
              <a:picLocks noChangeAspect="1"/>
            </p:cNvPicPr>
            <p:nvPr/>
          </p:nvPicPr>
          <p:blipFill>
            <a:blip r:embed="rId9"/>
            <a:srcRect t="-80" b="-80"/>
            <a:stretch/>
          </p:blipFill>
          <p:spPr>
            <a:xfrm>
              <a:off x="3143707" y="2495398"/>
              <a:ext cx="142646" cy="228600"/>
            </a:xfrm>
            <a:prstGeom prst="rect">
              <a:avLst/>
            </a:prstGeom>
          </p:spPr>
        </p:pic>
        <p:pic>
          <p:nvPicPr>
            <p:cNvPr id="83" name="Image 14" descr="preencoded.png"/>
            <p:cNvPicPr>
              <a:picLocks noChangeAspect="1"/>
            </p:cNvPicPr>
            <p:nvPr/>
          </p:nvPicPr>
          <p:blipFill>
            <a:blip r:embed="rId9"/>
            <a:srcRect t="-80" b="-80"/>
            <a:stretch/>
          </p:blipFill>
          <p:spPr>
            <a:xfrm>
              <a:off x="6019495" y="2495398"/>
              <a:ext cx="142646" cy="228600"/>
            </a:xfrm>
            <a:prstGeom prst="rect">
              <a:avLst/>
            </a:prstGeom>
          </p:spPr>
        </p:pic>
        <p:pic>
          <p:nvPicPr>
            <p:cNvPr id="84" name="Image 15" descr="preencoded.png"/>
            <p:cNvPicPr>
              <a:picLocks noChangeAspect="1"/>
            </p:cNvPicPr>
            <p:nvPr/>
          </p:nvPicPr>
          <p:blipFill>
            <a:blip r:embed="rId9"/>
            <a:srcRect t="-80" b="-80"/>
            <a:stretch/>
          </p:blipFill>
          <p:spPr>
            <a:xfrm>
              <a:off x="8896198" y="2495398"/>
              <a:ext cx="142646" cy="228600"/>
            </a:xfrm>
            <a:prstGeom prst="rect">
              <a:avLst/>
            </a:prstGeom>
          </p:spPr>
        </p:pic>
      </p:grpSp>
      <p:sp>
        <p:nvSpPr>
          <p:cNvPr id="87" name="Rectangle 13">
            <a:extLst>
              <a:ext uri="{FF2B5EF4-FFF2-40B4-BE49-F238E27FC236}">
                <a16:creationId xmlns:a16="http://schemas.microsoft.com/office/drawing/2014/main" id="{1DC2FFF9-71DC-0A24-CA64-B839DEF1640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46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F4878-2DB2-274F-C358-CF7A87C25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718B60-D076-C41B-C133-5562DEBF692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63C74CD-90C9-D6FF-DAFE-A27DEEAE77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77202" y="-142646"/>
            <a:ext cx="7144207" cy="7144207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F15BF704-7BE0-77D2-2864-F6A0E77C29C2}"/>
              </a:ext>
            </a:extLst>
          </p:cNvPr>
          <p:cNvSpPr/>
          <p:nvPr/>
        </p:nvSpPr>
        <p:spPr>
          <a:xfrm>
            <a:off x="914400" y="549555"/>
            <a:ext cx="952805" cy="7589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37BD07B-2CBF-6F8D-13FA-D0DEF51E7296}"/>
              </a:ext>
            </a:extLst>
          </p:cNvPr>
          <p:cNvSpPr txBox="1"/>
          <p:nvPr/>
        </p:nvSpPr>
        <p:spPr>
          <a:xfrm>
            <a:off x="914400" y="987552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K-푸드 미국 시장 진출 환경분석: Bone Broth 중심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CBB446A0-22A8-20E2-F9F4-979879F098DA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lumMod val="20000"/>
              <a:lumOff val="80000"/>
              <a:alpha val="15000"/>
            </a:schemeClr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2BA9B826-C304-4B94-D084-2CCBE4AD9994}"/>
              </a:ext>
            </a:extLst>
          </p:cNvPr>
          <p:cNvSpPr txBox="1"/>
          <p:nvPr/>
        </p:nvSpPr>
        <p:spPr>
          <a:xfrm>
            <a:off x="914400" y="2687727"/>
            <a:ext cx="10668304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4000" b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defRPr>
            </a:lvl1pPr>
          </a:lstStyle>
          <a:p>
            <a:r>
              <a:rPr lang="en-US" altLang="ko-KR" dirty="0"/>
              <a:t>7. Conclusions &amp; Implications</a:t>
            </a:r>
          </a:p>
        </p:txBody>
      </p:sp>
    </p:spTree>
    <p:extLst>
      <p:ext uri="{BB962C8B-B14F-4D97-AF65-F5344CB8AC3E}">
        <p14:creationId xmlns:p14="http://schemas.microsoft.com/office/powerpoint/2010/main" val="26126397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그룹 58">
            <a:extLst>
              <a:ext uri="{FF2B5EF4-FFF2-40B4-BE49-F238E27FC236}">
                <a16:creationId xmlns:a16="http://schemas.microsoft.com/office/drawing/2014/main" id="{265126F3-2ABD-E50B-4622-19A8118EF045}"/>
              </a:ext>
            </a:extLst>
          </p:cNvPr>
          <p:cNvGrpSpPr/>
          <p:nvPr/>
        </p:nvGrpSpPr>
        <p:grpSpPr>
          <a:xfrm>
            <a:off x="0" y="0"/>
            <a:ext cx="12191695" cy="6810451"/>
            <a:chOff x="0" y="0"/>
            <a:chExt cx="12191695" cy="7487107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1438351"/>
            </a:xfrm>
            <a:prstGeom prst="rect">
              <a:avLst/>
            </a:prstGeom>
            <a:solidFill>
              <a:srgbClr val="051C2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0" y="1399946"/>
              <a:ext cx="12191695" cy="38405"/>
            </a:xfrm>
            <a:prstGeom prst="rect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457200" y="228600"/>
              <a:ext cx="16148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FINAL CONCLUSION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57200" y="418795"/>
              <a:ext cx="11282782" cy="781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'정통성(Authenticity) + 기능성(Wellness)' </a:t>
              </a: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포지셔닝으로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단계적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채널 확장을 </a:t>
              </a: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통해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</a:t>
              </a:r>
              <a:r>
                <a:rPr lang="en-US" sz="22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성장</a:t>
              </a:r>
              <a:r>
                <a:rPr lang="en-US" sz="2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 기회를 포착해야 함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0" y="1438351"/>
              <a:ext cx="12191695" cy="6048756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19656"/>
              <a:ext cx="11277295" cy="1257300"/>
            </a:xfrm>
            <a:prstGeom prst="roundRect">
              <a:avLst>
                <a:gd name="adj" fmla="val 4408"/>
              </a:avLst>
            </a:prstGeom>
            <a:solidFill>
              <a:srgbClr val="051C2C"/>
            </a:solidFill>
            <a:ln/>
            <a:effectLst>
              <a:outerShdw blurRad="635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761695" y="2143354"/>
              <a:ext cx="609905" cy="609905"/>
            </a:xfrm>
            <a:prstGeom prst="ellipse">
              <a:avLst/>
            </a:prstGeom>
            <a:solidFill>
              <a:srgbClr val="00A3E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 l="-50" r="-50"/>
            <a:stretch/>
          </p:blipFill>
          <p:spPr>
            <a:xfrm>
              <a:off x="952805" y="2295144"/>
              <a:ext cx="228600" cy="304495"/>
            </a:xfrm>
            <a:prstGeom prst="rect">
              <a:avLst/>
            </a:prstGeom>
          </p:spPr>
        </p:pic>
        <p:sp>
          <p:nvSpPr>
            <p:cNvPr id="12" name="Text 9"/>
            <p:cNvSpPr txBox="1"/>
            <p:nvPr/>
          </p:nvSpPr>
          <p:spPr>
            <a:xfrm>
              <a:off x="1600200" y="2066544"/>
              <a:ext cx="4058107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STRATEGIC VERDICT: 진입 권장 (GO)</a:t>
              </a:r>
              <a:endParaRPr lang="en-US" sz="1800" dirty="0"/>
            </a:p>
          </p:txBody>
        </p:sp>
        <p:sp>
          <p:nvSpPr>
            <p:cNvPr id="13" name="Text 10"/>
            <p:cNvSpPr txBox="1"/>
            <p:nvPr/>
          </p:nvSpPr>
          <p:spPr>
            <a:xfrm>
              <a:off x="1600200" y="2428646"/>
              <a:ext cx="8634679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D1D5D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미국 HMR 및 Bone Broth 시장의 성장세와 K-Wave 트렌드는 명확한 기회 요인임. 단, 유통 과점 구조와 엄격한 규제를 고려하여 '차별화된 니치(Niche) 진입 후 스케일업' 전략이 필수적.</a:t>
              </a:r>
              <a:endParaRPr lang="en-US" sz="1000" dirty="0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10497312" y="2048256"/>
              <a:ext cx="1034186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>
                      <a:alpha val="70000"/>
                    </a:srgbClr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FEASIBILITY SCORE</a:t>
              </a:r>
              <a:endParaRPr lang="en-US" sz="10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10617098" y="2409444"/>
              <a:ext cx="1077163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7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High</a:t>
              </a:r>
              <a:endParaRPr lang="en-US" sz="27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3473238"/>
              <a:ext cx="3610051" cy="3276295"/>
            </a:xfrm>
            <a:prstGeom prst="roundRect">
              <a:avLst>
                <a:gd name="adj" fmla="val 6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466344" y="3314700"/>
              <a:ext cx="3590849" cy="638251"/>
            </a:xfrm>
            <a:prstGeom prst="rect">
              <a:avLst/>
            </a:prstGeom>
            <a:solidFill>
              <a:srgbClr val="EFF6FF"/>
            </a:solidFill>
            <a:ln w="50800">
              <a:solidFill>
                <a:srgbClr val="0056B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57454" y="3569818"/>
              <a:ext cx="152705" cy="152705"/>
            </a:xfrm>
            <a:prstGeom prst="rect">
              <a:avLst/>
            </a:prstGeom>
          </p:spPr>
        </p:pic>
        <p:sp>
          <p:nvSpPr>
            <p:cNvPr id="19" name="Text 15"/>
            <p:cNvSpPr txBox="1"/>
            <p:nvPr/>
          </p:nvSpPr>
          <p:spPr>
            <a:xfrm>
              <a:off x="923544" y="3543300"/>
              <a:ext cx="208483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56B3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1. PRODUCT POSITIONING</a:t>
              </a:r>
              <a:endParaRPr lang="en-US" sz="1000" dirty="0"/>
            </a:p>
          </p:txBody>
        </p:sp>
        <p:pic>
          <p:nvPicPr>
            <p:cNvPr id="20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94944" y="4208069"/>
              <a:ext cx="123444" cy="123444"/>
            </a:xfrm>
            <a:prstGeom prst="rect">
              <a:avLst/>
            </a:prstGeom>
          </p:spPr>
        </p:pic>
        <p:sp>
          <p:nvSpPr>
            <p:cNvPr id="21" name="Text 16"/>
            <p:cNvSpPr txBox="1"/>
            <p:nvPr/>
          </p:nvSpPr>
          <p:spPr>
            <a:xfrm>
              <a:off x="933602" y="4177894"/>
              <a:ext cx="144658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Authentic Wellness:</a:t>
              </a:r>
              <a:endParaRPr lang="en-US" sz="1000" dirty="0"/>
            </a:p>
          </p:txBody>
        </p:sp>
        <p:sp>
          <p:nvSpPr>
            <p:cNvPr id="22" name="Text 17"/>
            <p:cNvSpPr txBox="1"/>
            <p:nvPr/>
          </p:nvSpPr>
          <p:spPr>
            <a:xfrm>
              <a:off x="933602" y="4317512"/>
              <a:ext cx="2884932" cy="6199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'한국 전통 방식(Slow-cooked)'의 깊은 맛과 서구권 'Bone Broth(고단백/콜라겐)' 트렌드를 결합.</a:t>
              </a:r>
              <a:endParaRPr lang="en-US" sz="1100" dirty="0"/>
            </a:p>
          </p:txBody>
        </p:sp>
        <p:pic>
          <p:nvPicPr>
            <p:cNvPr id="23" name="Image 3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94944" y="4977994"/>
              <a:ext cx="123444" cy="123444"/>
            </a:xfrm>
            <a:prstGeom prst="rect">
              <a:avLst/>
            </a:prstGeom>
          </p:spPr>
        </p:pic>
        <p:sp>
          <p:nvSpPr>
            <p:cNvPr id="24" name="Text 18"/>
            <p:cNvSpPr txBox="1"/>
            <p:nvPr/>
          </p:nvSpPr>
          <p:spPr>
            <a:xfrm>
              <a:off x="933602" y="4947818"/>
              <a:ext cx="130302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Clean Label Spec:</a:t>
              </a:r>
              <a:endParaRPr lang="en-US" sz="1000" dirty="0"/>
            </a:p>
          </p:txBody>
        </p:sp>
        <p:sp>
          <p:nvSpPr>
            <p:cNvPr id="25" name="Text 19"/>
            <p:cNvSpPr txBox="1"/>
            <p:nvPr/>
          </p:nvSpPr>
          <p:spPr>
            <a:xfrm>
              <a:off x="933602" y="5129388"/>
              <a:ext cx="2969971" cy="6199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FDA 규제 및 소비자 눈높이에 맞춰 '저나트륨(Low Sodium)', 'Non-GMO', 'No MSG' 스펙 준수 필수.</a:t>
              </a:r>
              <a:endParaRPr lang="en-US" sz="1100" dirty="0"/>
            </a:p>
          </p:txBody>
        </p:sp>
        <p:pic>
          <p:nvPicPr>
            <p:cNvPr id="26" name="Image 4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94944" y="5747918"/>
              <a:ext cx="123444" cy="123444"/>
            </a:xfrm>
            <a:prstGeom prst="rect">
              <a:avLst/>
            </a:prstGeom>
          </p:spPr>
        </p:pic>
        <p:sp>
          <p:nvSpPr>
            <p:cNvPr id="27" name="Text 20"/>
            <p:cNvSpPr txBox="1"/>
            <p:nvPr/>
          </p:nvSpPr>
          <p:spPr>
            <a:xfrm>
              <a:off x="933602" y="5717743"/>
              <a:ext cx="90342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Local Taste:</a:t>
              </a:r>
              <a:endParaRPr lang="en-US" sz="1000" dirty="0"/>
            </a:p>
          </p:txBody>
        </p:sp>
        <p:sp>
          <p:nvSpPr>
            <p:cNvPr id="28" name="Text 21"/>
            <p:cNvSpPr txBox="1"/>
            <p:nvPr/>
          </p:nvSpPr>
          <p:spPr>
            <a:xfrm>
              <a:off x="933602" y="5983090"/>
              <a:ext cx="2922422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매운맛(Spicy) 단계를 조절하고 1인용 파우치/컵수프 형태로 편의성 강화.</a:t>
              </a:r>
              <a:endParaRPr lang="en-US" sz="1100" dirty="0"/>
            </a:p>
          </p:txBody>
        </p:sp>
        <p:sp>
          <p:nvSpPr>
            <p:cNvPr id="29" name="Shape 22"/>
            <p:cNvSpPr/>
            <p:nvPr/>
          </p:nvSpPr>
          <p:spPr>
            <a:xfrm>
              <a:off x="4292194" y="3305556"/>
              <a:ext cx="3610051" cy="3276295"/>
            </a:xfrm>
            <a:prstGeom prst="roundRect">
              <a:avLst>
                <a:gd name="adj" fmla="val 6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Shape 23"/>
            <p:cNvSpPr/>
            <p:nvPr/>
          </p:nvSpPr>
          <p:spPr>
            <a:xfrm>
              <a:off x="4302252" y="3314700"/>
              <a:ext cx="3590849" cy="638251"/>
            </a:xfrm>
            <a:prstGeom prst="rect">
              <a:avLst/>
            </a:prstGeom>
            <a:solidFill>
              <a:srgbClr val="F0FDFA"/>
            </a:solidFill>
            <a:ln w="508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1" name="Image 5" descr="preencoded.png"/>
            <p:cNvPicPr>
              <a:picLocks noChangeAspect="1"/>
            </p:cNvPicPr>
            <p:nvPr/>
          </p:nvPicPr>
          <p:blipFill>
            <a:blip r:embed="rId6"/>
            <a:srcRect l="-33" r="-33"/>
            <a:stretch/>
          </p:blipFill>
          <p:spPr>
            <a:xfrm>
              <a:off x="4492447" y="3569818"/>
              <a:ext cx="171907" cy="152705"/>
            </a:xfrm>
            <a:prstGeom prst="rect">
              <a:avLst/>
            </a:prstGeom>
          </p:spPr>
        </p:pic>
        <p:sp>
          <p:nvSpPr>
            <p:cNvPr id="32" name="Text 24"/>
            <p:cNvSpPr txBox="1"/>
            <p:nvPr/>
          </p:nvSpPr>
          <p:spPr>
            <a:xfrm>
              <a:off x="4778654" y="3543300"/>
              <a:ext cx="181782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D948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2. PHASED EXPANSION</a:t>
              </a:r>
              <a:endParaRPr lang="en-US" sz="1000" dirty="0"/>
            </a:p>
          </p:txBody>
        </p:sp>
        <p:pic>
          <p:nvPicPr>
            <p:cNvPr id="33" name="Image 6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530852" y="4208069"/>
              <a:ext cx="123444" cy="123444"/>
            </a:xfrm>
            <a:prstGeom prst="rect">
              <a:avLst/>
            </a:prstGeom>
          </p:spPr>
        </p:pic>
        <p:sp>
          <p:nvSpPr>
            <p:cNvPr id="34" name="Text 25"/>
            <p:cNvSpPr txBox="1"/>
            <p:nvPr/>
          </p:nvSpPr>
          <p:spPr>
            <a:xfrm>
              <a:off x="4768596" y="4177894"/>
              <a:ext cx="109362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Phase 1 (Test):</a:t>
              </a:r>
              <a:endParaRPr lang="en-US" sz="1000" dirty="0"/>
            </a:p>
          </p:txBody>
        </p:sp>
        <p:sp>
          <p:nvSpPr>
            <p:cNvPr id="35" name="Text 26"/>
            <p:cNvSpPr txBox="1"/>
            <p:nvPr/>
          </p:nvSpPr>
          <p:spPr>
            <a:xfrm>
              <a:off x="4768596" y="4317512"/>
              <a:ext cx="2884932" cy="6199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H-Mart 등 아시안 채널과 Amazon/D2C를 통해 초기 팬덤(Fandom) 및 리뷰 확보.</a:t>
              </a:r>
              <a:endParaRPr lang="en-US" sz="1100" dirty="0"/>
            </a:p>
          </p:txBody>
        </p:sp>
        <p:pic>
          <p:nvPicPr>
            <p:cNvPr id="36" name="Image 7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530852" y="4977994"/>
              <a:ext cx="123444" cy="123444"/>
            </a:xfrm>
            <a:prstGeom prst="rect">
              <a:avLst/>
            </a:prstGeom>
          </p:spPr>
        </p:pic>
        <p:sp>
          <p:nvSpPr>
            <p:cNvPr id="37" name="Text 27"/>
            <p:cNvSpPr txBox="1"/>
            <p:nvPr/>
          </p:nvSpPr>
          <p:spPr>
            <a:xfrm>
              <a:off x="4768596" y="4947818"/>
              <a:ext cx="133228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Phase 2 (Volume):</a:t>
              </a:r>
              <a:endParaRPr lang="en-US" sz="1000" dirty="0"/>
            </a:p>
          </p:txBody>
        </p:sp>
        <p:sp>
          <p:nvSpPr>
            <p:cNvPr id="38" name="Text 28"/>
            <p:cNvSpPr txBox="1"/>
            <p:nvPr/>
          </p:nvSpPr>
          <p:spPr>
            <a:xfrm>
              <a:off x="4768596" y="5087436"/>
              <a:ext cx="2884932" cy="6199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Costco, Sam's Club 등 클럽 채널 로드쇼를 통해 대량 판매 및 시식 경험 제공.</a:t>
              </a:r>
              <a:endParaRPr lang="en-US" sz="1100" dirty="0"/>
            </a:p>
          </p:txBody>
        </p:sp>
        <p:pic>
          <p:nvPicPr>
            <p:cNvPr id="39" name="Image 8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530852" y="5747918"/>
              <a:ext cx="123444" cy="123444"/>
            </a:xfrm>
            <a:prstGeom prst="rect">
              <a:avLst/>
            </a:prstGeom>
          </p:spPr>
        </p:pic>
        <p:sp>
          <p:nvSpPr>
            <p:cNvPr id="40" name="Text 29"/>
            <p:cNvSpPr txBox="1"/>
            <p:nvPr/>
          </p:nvSpPr>
          <p:spPr>
            <a:xfrm>
              <a:off x="4768596" y="5717743"/>
              <a:ext cx="117957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Phase 3 (Scale):</a:t>
              </a:r>
              <a:endParaRPr lang="en-US" sz="1000" dirty="0"/>
            </a:p>
          </p:txBody>
        </p:sp>
        <p:sp>
          <p:nvSpPr>
            <p:cNvPr id="41" name="Text 30"/>
            <p:cNvSpPr txBox="1"/>
            <p:nvPr/>
          </p:nvSpPr>
          <p:spPr>
            <a:xfrm>
              <a:off x="4768596" y="5857361"/>
              <a:ext cx="2855671" cy="6199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브랜드 인지도를 바탕으로 Walmart, Kroger 등 메인스트림 유통사 진입 협상.</a:t>
              </a:r>
              <a:endParaRPr lang="en-US" sz="1100" dirty="0"/>
            </a:p>
          </p:txBody>
        </p:sp>
        <p:sp>
          <p:nvSpPr>
            <p:cNvPr id="42" name="Shape 31"/>
            <p:cNvSpPr/>
            <p:nvPr/>
          </p:nvSpPr>
          <p:spPr>
            <a:xfrm>
              <a:off x="8128102" y="3305556"/>
              <a:ext cx="3610051" cy="3276295"/>
            </a:xfrm>
            <a:prstGeom prst="roundRect">
              <a:avLst>
                <a:gd name="adj" fmla="val 64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32"/>
            <p:cNvSpPr/>
            <p:nvPr/>
          </p:nvSpPr>
          <p:spPr>
            <a:xfrm>
              <a:off x="8137246" y="3314700"/>
              <a:ext cx="3590849" cy="638251"/>
            </a:xfrm>
            <a:prstGeom prst="rect">
              <a:avLst/>
            </a:prstGeom>
            <a:solidFill>
              <a:srgbClr val="F8FAFC"/>
            </a:solidFill>
            <a:ln w="508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4" name="Image 9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328355" y="3569818"/>
              <a:ext cx="152705" cy="152705"/>
            </a:xfrm>
            <a:prstGeom prst="rect">
              <a:avLst/>
            </a:prstGeom>
          </p:spPr>
        </p:pic>
        <p:sp>
          <p:nvSpPr>
            <p:cNvPr id="45" name="Text 33"/>
            <p:cNvSpPr txBox="1"/>
            <p:nvPr/>
          </p:nvSpPr>
          <p:spPr>
            <a:xfrm>
              <a:off x="8594446" y="3543300"/>
              <a:ext cx="159837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75569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3. RISK MITIGATION</a:t>
              </a:r>
              <a:endParaRPr lang="en-US" sz="1000" dirty="0"/>
            </a:p>
          </p:txBody>
        </p:sp>
        <p:pic>
          <p:nvPicPr>
            <p:cNvPr id="46" name="Image 10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365846" y="4208069"/>
              <a:ext cx="123444" cy="123444"/>
            </a:xfrm>
            <a:prstGeom prst="rect">
              <a:avLst/>
            </a:prstGeom>
          </p:spPr>
        </p:pic>
        <p:sp>
          <p:nvSpPr>
            <p:cNvPr id="47" name="Text 34"/>
            <p:cNvSpPr txBox="1"/>
            <p:nvPr/>
          </p:nvSpPr>
          <p:spPr>
            <a:xfrm>
              <a:off x="8604504" y="4177894"/>
              <a:ext cx="172273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Regulatory Compliance:</a:t>
              </a:r>
              <a:endParaRPr lang="en-US" sz="1000" dirty="0"/>
            </a:p>
          </p:txBody>
        </p:sp>
        <p:sp>
          <p:nvSpPr>
            <p:cNvPr id="48" name="Text 35"/>
            <p:cNvSpPr txBox="1"/>
            <p:nvPr/>
          </p:nvSpPr>
          <p:spPr>
            <a:xfrm>
              <a:off x="8604504" y="4317512"/>
              <a:ext cx="2989174" cy="6199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2025년 예상되는 FDA 'Healthy' 정의 및 FOP(포장 전면) 라벨링 규제 선제 대응.</a:t>
              </a:r>
              <a:endParaRPr lang="en-US" sz="1100" dirty="0"/>
            </a:p>
          </p:txBody>
        </p:sp>
        <p:pic>
          <p:nvPicPr>
            <p:cNvPr id="49" name="Image 11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365846" y="4977994"/>
              <a:ext cx="123444" cy="123444"/>
            </a:xfrm>
            <a:prstGeom prst="rect">
              <a:avLst/>
            </a:prstGeom>
          </p:spPr>
        </p:pic>
        <p:sp>
          <p:nvSpPr>
            <p:cNvPr id="50" name="Text 36"/>
            <p:cNvSpPr txBox="1"/>
            <p:nvPr/>
          </p:nvSpPr>
          <p:spPr>
            <a:xfrm>
              <a:off x="8604504" y="4947818"/>
              <a:ext cx="152247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Supply Chain Agility:</a:t>
              </a:r>
              <a:endParaRPr lang="en-US" sz="1000" dirty="0"/>
            </a:p>
          </p:txBody>
        </p:sp>
        <p:sp>
          <p:nvSpPr>
            <p:cNvPr id="51" name="Text 37"/>
            <p:cNvSpPr txBox="1"/>
            <p:nvPr/>
          </p:nvSpPr>
          <p:spPr>
            <a:xfrm>
              <a:off x="8604504" y="5129321"/>
              <a:ext cx="2989174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초기 물류비/관세 리스크 완화를 위해 현지 Co-packing 파트너십 활용 검토.</a:t>
              </a:r>
              <a:endParaRPr lang="en-US" sz="1100" dirty="0"/>
            </a:p>
          </p:txBody>
        </p:sp>
        <p:pic>
          <p:nvPicPr>
            <p:cNvPr id="52" name="Image 1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365846" y="5783281"/>
              <a:ext cx="123444" cy="123444"/>
            </a:xfrm>
            <a:prstGeom prst="rect">
              <a:avLst/>
            </a:prstGeom>
          </p:spPr>
        </p:pic>
        <p:sp>
          <p:nvSpPr>
            <p:cNvPr id="53" name="Text 38"/>
            <p:cNvSpPr txBox="1"/>
            <p:nvPr/>
          </p:nvSpPr>
          <p:spPr>
            <a:xfrm>
              <a:off x="8604504" y="5753106"/>
              <a:ext cx="108447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F172A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Sustainability:</a:t>
              </a:r>
              <a:endParaRPr lang="en-US" sz="1000" dirty="0"/>
            </a:p>
          </p:txBody>
        </p:sp>
        <p:sp>
          <p:nvSpPr>
            <p:cNvPr id="54" name="Text 39"/>
            <p:cNvSpPr txBox="1"/>
            <p:nvPr/>
          </p:nvSpPr>
          <p:spPr>
            <a:xfrm>
              <a:off x="8604504" y="5934609"/>
              <a:ext cx="2884932" cy="409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34155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친환경 포장재 적용으로 ESG 요구사항 충족 및 프리미엄 이미지 제고.</a:t>
              </a:r>
              <a:endParaRPr lang="en-US" sz="1100" dirty="0"/>
            </a:p>
          </p:txBody>
        </p:sp>
        <p:sp>
          <p:nvSpPr>
            <p:cNvPr id="55" name="Shape 40"/>
            <p:cNvSpPr/>
            <p:nvPr/>
          </p:nvSpPr>
          <p:spPr>
            <a:xfrm>
              <a:off x="457200" y="6801307"/>
              <a:ext cx="11277295" cy="9144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6" name="Rectangle 13">
            <a:extLst>
              <a:ext uri="{FF2B5EF4-FFF2-40B4-BE49-F238E27FC236}">
                <a16:creationId xmlns:a16="http://schemas.microsoft.com/office/drawing/2014/main" id="{607D4C2B-71DF-4430-AC90-C1826D3C90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48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>
            <a:extLst>
              <a:ext uri="{FF2B5EF4-FFF2-40B4-BE49-F238E27FC236}">
                <a16:creationId xmlns:a16="http://schemas.microsoft.com/office/drawing/2014/main" id="{7738C177-550C-B2AF-1197-19BE929C55F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9" name="Shape 1">
            <a:extLst>
              <a:ext uri="{FF2B5EF4-FFF2-40B4-BE49-F238E27FC236}">
                <a16:creationId xmlns:a16="http://schemas.microsoft.com/office/drawing/2014/main" id="{A2A7108F-48E4-FE07-2873-D6CF60D49F0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0" name="Shape 2">
            <a:extLst>
              <a:ext uri="{FF2B5EF4-FFF2-40B4-BE49-F238E27FC236}">
                <a16:creationId xmlns:a16="http://schemas.microsoft.com/office/drawing/2014/main" id="{A63B7F53-8988-8640-FAEA-5219532DCB09}"/>
              </a:ext>
            </a:extLst>
          </p:cNvPr>
          <p:cNvSpPr/>
          <p:nvPr/>
        </p:nvSpPr>
        <p:spPr>
          <a:xfrm>
            <a:off x="0" y="0"/>
            <a:ext cx="12191695" cy="724205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2" name="Text 4">
            <a:extLst>
              <a:ext uri="{FF2B5EF4-FFF2-40B4-BE49-F238E27FC236}">
                <a16:creationId xmlns:a16="http://schemas.microsoft.com/office/drawing/2014/main" id="{76F30C6C-F07D-24AE-37B4-61B7D4B73187}"/>
              </a:ext>
            </a:extLst>
          </p:cNvPr>
          <p:cNvSpPr txBox="1"/>
          <p:nvPr/>
        </p:nvSpPr>
        <p:spPr>
          <a:xfrm>
            <a:off x="381305" y="123444"/>
            <a:ext cx="1390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EXECUTIVE SUMMARY</a:t>
            </a:r>
            <a:endParaRPr lang="en-US" sz="9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18ADF02D-C7E3-DCFE-C493-180CB9E72154}"/>
              </a:ext>
            </a:extLst>
          </p:cNvPr>
          <p:cNvSpPr txBox="1"/>
          <p:nvPr/>
        </p:nvSpPr>
        <p:spPr>
          <a:xfrm>
            <a:off x="381305" y="262433"/>
            <a:ext cx="39246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미국 시장 진출 타당성 및 실행 우선과제</a:t>
            </a:r>
            <a:endParaRPr lang="en-US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6" name="Shape 8">
            <a:extLst>
              <a:ext uri="{FF2B5EF4-FFF2-40B4-BE49-F238E27FC236}">
                <a16:creationId xmlns:a16="http://schemas.microsoft.com/office/drawing/2014/main" id="{6E49E391-9568-9A8F-E9BB-9C4F7F280A15}"/>
              </a:ext>
            </a:extLst>
          </p:cNvPr>
          <p:cNvSpPr/>
          <p:nvPr/>
        </p:nvSpPr>
        <p:spPr>
          <a:xfrm>
            <a:off x="0" y="724205"/>
            <a:ext cx="12191695" cy="61337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1" name="Shape 3">
            <a:extLst>
              <a:ext uri="{FF2B5EF4-FFF2-40B4-BE49-F238E27FC236}">
                <a16:creationId xmlns:a16="http://schemas.microsoft.com/office/drawing/2014/main" id="{EE902E58-80E5-1496-AB71-5FE488CF7C85}"/>
              </a:ext>
            </a:extLst>
          </p:cNvPr>
          <p:cNvSpPr/>
          <p:nvPr/>
        </p:nvSpPr>
        <p:spPr>
          <a:xfrm>
            <a:off x="0" y="762609"/>
            <a:ext cx="12191695" cy="3840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7" name="Text 9">
            <a:extLst>
              <a:ext uri="{FF2B5EF4-FFF2-40B4-BE49-F238E27FC236}">
                <a16:creationId xmlns:a16="http://schemas.microsoft.com/office/drawing/2014/main" id="{8E969A3B-1611-EDFB-91AE-ADB848DA8C66}"/>
              </a:ext>
            </a:extLst>
          </p:cNvPr>
          <p:cNvSpPr txBox="1"/>
          <p:nvPr/>
        </p:nvSpPr>
        <p:spPr>
          <a:xfrm>
            <a:off x="76200" y="1176832"/>
            <a:ext cx="64008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BD5E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01. FINDINGS</a:t>
            </a:r>
            <a:endParaRPr 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" name="Shape 10">
            <a:extLst>
              <a:ext uri="{FF2B5EF4-FFF2-40B4-BE49-F238E27FC236}">
                <a16:creationId xmlns:a16="http://schemas.microsoft.com/office/drawing/2014/main" id="{2287437A-17D9-28B2-3693-F8DCF39EF5F0}"/>
              </a:ext>
            </a:extLst>
          </p:cNvPr>
          <p:cNvSpPr/>
          <p:nvPr/>
        </p:nvSpPr>
        <p:spPr>
          <a:xfrm>
            <a:off x="761695" y="952804"/>
            <a:ext cx="3581705" cy="123809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9" name="Shape 11">
            <a:extLst>
              <a:ext uri="{FF2B5EF4-FFF2-40B4-BE49-F238E27FC236}">
                <a16:creationId xmlns:a16="http://schemas.microsoft.com/office/drawing/2014/main" id="{815DED80-7100-55CF-A92D-65C7E2C54299}"/>
              </a:ext>
            </a:extLst>
          </p:cNvPr>
          <p:cNvSpPr/>
          <p:nvPr/>
        </p:nvSpPr>
        <p:spPr>
          <a:xfrm>
            <a:off x="761695" y="952804"/>
            <a:ext cx="38405" cy="1218895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0" name="Shape 12">
            <a:extLst>
              <a:ext uri="{FF2B5EF4-FFF2-40B4-BE49-F238E27FC236}">
                <a16:creationId xmlns:a16="http://schemas.microsoft.com/office/drawing/2014/main" id="{77438DA6-F481-3B5C-3010-41FAF8E85731}"/>
              </a:ext>
            </a:extLst>
          </p:cNvPr>
          <p:cNvSpPr/>
          <p:nvPr/>
        </p:nvSpPr>
        <p:spPr>
          <a:xfrm>
            <a:off x="923544" y="1343253"/>
            <a:ext cx="457200" cy="457200"/>
          </a:xfrm>
          <a:prstGeom prst="ellipse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81" name="Image 0" descr="preencoded.png">
            <a:extLst>
              <a:ext uri="{FF2B5EF4-FFF2-40B4-BE49-F238E27FC236}">
                <a16:creationId xmlns:a16="http://schemas.microsoft.com/office/drawing/2014/main" id="{7DA47055-BE5A-6AC7-AD8B-77C7F79F98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7046" y="1476755"/>
            <a:ext cx="190195" cy="190195"/>
          </a:xfrm>
          <a:prstGeom prst="rect">
            <a:avLst/>
          </a:prstGeom>
        </p:spPr>
      </p:pic>
      <p:sp>
        <p:nvSpPr>
          <p:cNvPr id="82" name="Text 13">
            <a:extLst>
              <a:ext uri="{FF2B5EF4-FFF2-40B4-BE49-F238E27FC236}">
                <a16:creationId xmlns:a16="http://schemas.microsoft.com/office/drawing/2014/main" id="{A4986C94-8171-9781-C240-30B403F63936}"/>
              </a:ext>
            </a:extLst>
          </p:cNvPr>
          <p:cNvSpPr txBox="1"/>
          <p:nvPr/>
        </p:nvSpPr>
        <p:spPr>
          <a:xfrm>
            <a:off x="1503274" y="1007465"/>
            <a:ext cx="3005300" cy="183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MARKET OPPORTUNITY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3" name="Text 14">
            <a:extLst>
              <a:ext uri="{FF2B5EF4-FFF2-40B4-BE49-F238E27FC236}">
                <a16:creationId xmlns:a16="http://schemas.microsoft.com/office/drawing/2014/main" id="{02081A8D-36E2-69C3-ABC0-A2A6D86DF3B2}"/>
              </a:ext>
            </a:extLst>
          </p:cNvPr>
          <p:cNvSpPr txBox="1"/>
          <p:nvPr/>
        </p:nvSpPr>
        <p:spPr>
          <a:xfrm>
            <a:off x="1503274" y="1214323"/>
            <a:ext cx="140909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5.6%</a:t>
            </a:r>
            <a:endParaRPr lang="en-US" sz="2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4" name="Text 15">
            <a:extLst>
              <a:ext uri="{FF2B5EF4-FFF2-40B4-BE49-F238E27FC236}">
                <a16:creationId xmlns:a16="http://schemas.microsoft.com/office/drawing/2014/main" id="{47277F01-B136-5EF1-2DFC-4E47E3B7E0A9}"/>
              </a:ext>
            </a:extLst>
          </p:cNvPr>
          <p:cNvSpPr txBox="1"/>
          <p:nvPr/>
        </p:nvSpPr>
        <p:spPr>
          <a:xfrm>
            <a:off x="1503274" y="1640434"/>
            <a:ext cx="2127833" cy="94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Bone Broth 시장 고성장 및</a:t>
            </a:r>
            <a:endParaRPr 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5" name="Text 16">
            <a:extLst>
              <a:ext uri="{FF2B5EF4-FFF2-40B4-BE49-F238E27FC236}">
                <a16:creationId xmlns:a16="http://schemas.microsoft.com/office/drawing/2014/main" id="{FDE51283-E4FC-4729-D342-CBF5D7467DAE}"/>
              </a:ext>
            </a:extLst>
          </p:cNvPr>
          <p:cNvSpPr txBox="1"/>
          <p:nvPr/>
        </p:nvSpPr>
        <p:spPr>
          <a:xfrm>
            <a:off x="1503273" y="1853794"/>
            <a:ext cx="1722267" cy="94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Wellness 트렌드 결합</a:t>
            </a:r>
            <a:endParaRPr 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6" name="Shape 17">
            <a:extLst>
              <a:ext uri="{FF2B5EF4-FFF2-40B4-BE49-F238E27FC236}">
                <a16:creationId xmlns:a16="http://schemas.microsoft.com/office/drawing/2014/main" id="{32D2A2ED-37D8-CAC5-7FC6-B3830711559D}"/>
              </a:ext>
            </a:extLst>
          </p:cNvPr>
          <p:cNvSpPr/>
          <p:nvPr/>
        </p:nvSpPr>
        <p:spPr>
          <a:xfrm>
            <a:off x="4496105" y="952804"/>
            <a:ext cx="3581705" cy="123809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7" name="Shape 18">
            <a:extLst>
              <a:ext uri="{FF2B5EF4-FFF2-40B4-BE49-F238E27FC236}">
                <a16:creationId xmlns:a16="http://schemas.microsoft.com/office/drawing/2014/main" id="{0BFEA1DC-AA9F-15F1-CE7F-4760D796199B}"/>
              </a:ext>
            </a:extLst>
          </p:cNvPr>
          <p:cNvSpPr/>
          <p:nvPr/>
        </p:nvSpPr>
        <p:spPr>
          <a:xfrm>
            <a:off x="4496105" y="952804"/>
            <a:ext cx="38405" cy="1218895"/>
          </a:xfrm>
          <a:prstGeom prst="rect">
            <a:avLst/>
          </a:prstGeom>
          <a:solidFill>
            <a:srgbClr val="0056B3"/>
          </a:solidFill>
          <a:ln/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8" name="Shape 19">
            <a:extLst>
              <a:ext uri="{FF2B5EF4-FFF2-40B4-BE49-F238E27FC236}">
                <a16:creationId xmlns:a16="http://schemas.microsoft.com/office/drawing/2014/main" id="{33C6453C-CEE9-74D7-6E81-0C1D057486E8}"/>
              </a:ext>
            </a:extLst>
          </p:cNvPr>
          <p:cNvSpPr/>
          <p:nvPr/>
        </p:nvSpPr>
        <p:spPr>
          <a:xfrm>
            <a:off x="4657954" y="1343253"/>
            <a:ext cx="457200" cy="457200"/>
          </a:xfrm>
          <a:prstGeom prst="ellipse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89" name="Image 1" descr="preencoded.png">
            <a:extLst>
              <a:ext uri="{FF2B5EF4-FFF2-40B4-BE49-F238E27FC236}">
                <a16:creationId xmlns:a16="http://schemas.microsoft.com/office/drawing/2014/main" id="{10CB0A4A-11CE-38CC-C40D-2CD31C2F0B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91456" y="1476755"/>
            <a:ext cx="190195" cy="190195"/>
          </a:xfrm>
          <a:prstGeom prst="rect">
            <a:avLst/>
          </a:prstGeom>
        </p:spPr>
      </p:pic>
      <p:sp>
        <p:nvSpPr>
          <p:cNvPr id="90" name="Text 20">
            <a:extLst>
              <a:ext uri="{FF2B5EF4-FFF2-40B4-BE49-F238E27FC236}">
                <a16:creationId xmlns:a16="http://schemas.microsoft.com/office/drawing/2014/main" id="{8C11F122-3B48-77DA-AB2C-9855D34C6235}"/>
              </a:ext>
            </a:extLst>
          </p:cNvPr>
          <p:cNvSpPr txBox="1"/>
          <p:nvPr/>
        </p:nvSpPr>
        <p:spPr>
          <a:xfrm>
            <a:off x="5236768" y="1007465"/>
            <a:ext cx="2440503" cy="183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CONSUMER NEEDS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1" name="Text 21">
            <a:extLst>
              <a:ext uri="{FF2B5EF4-FFF2-40B4-BE49-F238E27FC236}">
                <a16:creationId xmlns:a16="http://schemas.microsoft.com/office/drawing/2014/main" id="{02EDE1DA-38D7-033B-F5AB-AB8869B4385E}"/>
              </a:ext>
            </a:extLst>
          </p:cNvPr>
          <p:cNvSpPr txBox="1"/>
          <p:nvPr/>
        </p:nvSpPr>
        <p:spPr>
          <a:xfrm>
            <a:off x="5236768" y="1214323"/>
            <a:ext cx="31932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Umami</a:t>
            </a:r>
            <a:endParaRPr lang="en-US" sz="2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2" name="Text 22">
            <a:extLst>
              <a:ext uri="{FF2B5EF4-FFF2-40B4-BE49-F238E27FC236}">
                <a16:creationId xmlns:a16="http://schemas.microsoft.com/office/drawing/2014/main" id="{A4AA194E-C194-EC10-FE20-616E0527B1D2}"/>
              </a:ext>
            </a:extLst>
          </p:cNvPr>
          <p:cNvSpPr txBox="1"/>
          <p:nvPr/>
        </p:nvSpPr>
        <p:spPr>
          <a:xfrm>
            <a:off x="5236768" y="1640434"/>
            <a:ext cx="2040331" cy="94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깊은 맛과 고단백/클린라벨</a:t>
            </a:r>
            <a:endParaRPr 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3" name="Text 23">
            <a:extLst>
              <a:ext uri="{FF2B5EF4-FFF2-40B4-BE49-F238E27FC236}">
                <a16:creationId xmlns:a16="http://schemas.microsoft.com/office/drawing/2014/main" id="{F4515695-A41C-35F4-9896-A5D23A8A0789}"/>
              </a:ext>
            </a:extLst>
          </p:cNvPr>
          <p:cNvSpPr txBox="1"/>
          <p:nvPr/>
        </p:nvSpPr>
        <p:spPr>
          <a:xfrm>
            <a:off x="5236768" y="1853794"/>
            <a:ext cx="1187531" cy="94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스펙 동시 요구</a:t>
            </a:r>
            <a:endParaRPr 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4" name="Shape 24">
            <a:extLst>
              <a:ext uri="{FF2B5EF4-FFF2-40B4-BE49-F238E27FC236}">
                <a16:creationId xmlns:a16="http://schemas.microsoft.com/office/drawing/2014/main" id="{9E400E96-8FDA-2EE2-D99E-2CF868EC7AA6}"/>
              </a:ext>
            </a:extLst>
          </p:cNvPr>
          <p:cNvSpPr/>
          <p:nvPr/>
        </p:nvSpPr>
        <p:spPr>
          <a:xfrm>
            <a:off x="8229600" y="952804"/>
            <a:ext cx="3581705" cy="123809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5" name="Shape 25">
            <a:extLst>
              <a:ext uri="{FF2B5EF4-FFF2-40B4-BE49-F238E27FC236}">
                <a16:creationId xmlns:a16="http://schemas.microsoft.com/office/drawing/2014/main" id="{CF369407-C8D9-0D19-D12D-4D0185462BBE}"/>
              </a:ext>
            </a:extLst>
          </p:cNvPr>
          <p:cNvSpPr/>
          <p:nvPr/>
        </p:nvSpPr>
        <p:spPr>
          <a:xfrm>
            <a:off x="8229600" y="952804"/>
            <a:ext cx="38405" cy="1218895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6" name="Shape 26">
            <a:extLst>
              <a:ext uri="{FF2B5EF4-FFF2-40B4-BE49-F238E27FC236}">
                <a16:creationId xmlns:a16="http://schemas.microsoft.com/office/drawing/2014/main" id="{536BEADB-9BEF-3373-81FB-F4BD463F0741}"/>
              </a:ext>
            </a:extLst>
          </p:cNvPr>
          <p:cNvSpPr/>
          <p:nvPr/>
        </p:nvSpPr>
        <p:spPr>
          <a:xfrm>
            <a:off x="8391449" y="1343253"/>
            <a:ext cx="457200" cy="457200"/>
          </a:xfrm>
          <a:prstGeom prst="ellipse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97" name="Image 2" descr="preencoded.png">
            <a:extLst>
              <a:ext uri="{FF2B5EF4-FFF2-40B4-BE49-F238E27FC236}">
                <a16:creationId xmlns:a16="http://schemas.microsoft.com/office/drawing/2014/main" id="{05227245-9263-40DA-13C4-66397F96E4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24951" y="1476755"/>
            <a:ext cx="190195" cy="190195"/>
          </a:xfrm>
          <a:prstGeom prst="rect">
            <a:avLst/>
          </a:prstGeom>
        </p:spPr>
      </p:pic>
      <p:sp>
        <p:nvSpPr>
          <p:cNvPr id="98" name="Text 27">
            <a:extLst>
              <a:ext uri="{FF2B5EF4-FFF2-40B4-BE49-F238E27FC236}">
                <a16:creationId xmlns:a16="http://schemas.microsoft.com/office/drawing/2014/main" id="{85ED1D79-FAC0-3183-5DD2-A4E62B944864}"/>
              </a:ext>
            </a:extLst>
          </p:cNvPr>
          <p:cNvSpPr txBox="1"/>
          <p:nvPr/>
        </p:nvSpPr>
        <p:spPr>
          <a:xfrm>
            <a:off x="8970264" y="1007465"/>
            <a:ext cx="2246680" cy="183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ENTRY BARRIERS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9" name="Text 28">
            <a:extLst>
              <a:ext uri="{FF2B5EF4-FFF2-40B4-BE49-F238E27FC236}">
                <a16:creationId xmlns:a16="http://schemas.microsoft.com/office/drawing/2014/main" id="{2935AB86-E379-0BCC-32BC-94268630E40B}"/>
              </a:ext>
            </a:extLst>
          </p:cNvPr>
          <p:cNvSpPr txBox="1"/>
          <p:nvPr/>
        </p:nvSpPr>
        <p:spPr>
          <a:xfrm>
            <a:off x="8970264" y="1214323"/>
            <a:ext cx="116154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FDA</a:t>
            </a:r>
            <a:endParaRPr lang="en-US" sz="2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0" name="Text 29">
            <a:extLst>
              <a:ext uri="{FF2B5EF4-FFF2-40B4-BE49-F238E27FC236}">
                <a16:creationId xmlns:a16="http://schemas.microsoft.com/office/drawing/2014/main" id="{718BE574-BADD-7BF3-688F-61D69FE184BC}"/>
              </a:ext>
            </a:extLst>
          </p:cNvPr>
          <p:cNvSpPr txBox="1"/>
          <p:nvPr/>
        </p:nvSpPr>
        <p:spPr>
          <a:xfrm>
            <a:off x="8970263" y="1640434"/>
            <a:ext cx="1909771" cy="94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FOP 라벨링 규제 강화 및</a:t>
            </a:r>
            <a:endParaRPr 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" name="Text 30">
            <a:extLst>
              <a:ext uri="{FF2B5EF4-FFF2-40B4-BE49-F238E27FC236}">
                <a16:creationId xmlns:a16="http://schemas.microsoft.com/office/drawing/2014/main" id="{43FBA59B-DD5C-D6C3-28E1-07B368EFE3A2}"/>
              </a:ext>
            </a:extLst>
          </p:cNvPr>
          <p:cNvSpPr txBox="1"/>
          <p:nvPr/>
        </p:nvSpPr>
        <p:spPr>
          <a:xfrm>
            <a:off x="8970263" y="1853794"/>
            <a:ext cx="1548651" cy="94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유통 진입 장벽 존재</a:t>
            </a:r>
            <a:endParaRPr 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2" name="Text 31">
            <a:extLst>
              <a:ext uri="{FF2B5EF4-FFF2-40B4-BE49-F238E27FC236}">
                <a16:creationId xmlns:a16="http://schemas.microsoft.com/office/drawing/2014/main" id="{272B040E-C957-6259-F07F-7FDBE94977B7}"/>
              </a:ext>
            </a:extLst>
          </p:cNvPr>
          <p:cNvSpPr txBox="1"/>
          <p:nvPr/>
        </p:nvSpPr>
        <p:spPr>
          <a:xfrm>
            <a:off x="76200" y="2755189"/>
            <a:ext cx="640080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BD5E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02. STRATEGY</a:t>
            </a:r>
            <a:endParaRPr 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3" name="Shape 32">
            <a:extLst>
              <a:ext uri="{FF2B5EF4-FFF2-40B4-BE49-F238E27FC236}">
                <a16:creationId xmlns:a16="http://schemas.microsoft.com/office/drawing/2014/main" id="{C902956C-1092-8F26-F14D-6806348B5816}"/>
              </a:ext>
            </a:extLst>
          </p:cNvPr>
          <p:cNvSpPr/>
          <p:nvPr/>
        </p:nvSpPr>
        <p:spPr>
          <a:xfrm>
            <a:off x="761695" y="2397658"/>
            <a:ext cx="3581705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" name="Shape 33">
            <a:extLst>
              <a:ext uri="{FF2B5EF4-FFF2-40B4-BE49-F238E27FC236}">
                <a16:creationId xmlns:a16="http://schemas.microsoft.com/office/drawing/2014/main" id="{2C8204B9-7BCD-4627-434C-1B9527587651}"/>
              </a:ext>
            </a:extLst>
          </p:cNvPr>
          <p:cNvSpPr/>
          <p:nvPr/>
        </p:nvSpPr>
        <p:spPr>
          <a:xfrm>
            <a:off x="771754" y="2406802"/>
            <a:ext cx="3562502" cy="352044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05" name="Image 3" descr="preencoded.png">
            <a:extLst>
              <a:ext uri="{FF2B5EF4-FFF2-40B4-BE49-F238E27FC236}">
                <a16:creationId xmlns:a16="http://schemas.microsoft.com/office/drawing/2014/main" id="{0CDA673A-011A-94F2-79AE-20084D9B11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3369" y="2513787"/>
            <a:ext cx="133502" cy="133502"/>
          </a:xfrm>
          <a:prstGeom prst="rect">
            <a:avLst/>
          </a:prstGeom>
        </p:spPr>
      </p:pic>
      <p:sp>
        <p:nvSpPr>
          <p:cNvPr id="106" name="Text 34">
            <a:extLst>
              <a:ext uri="{FF2B5EF4-FFF2-40B4-BE49-F238E27FC236}">
                <a16:creationId xmlns:a16="http://schemas.microsoft.com/office/drawing/2014/main" id="{03DD8260-CB1F-FD4F-EC1B-D3A5BB2D7906}"/>
              </a:ext>
            </a:extLst>
          </p:cNvPr>
          <p:cNvSpPr txBox="1"/>
          <p:nvPr/>
        </p:nvSpPr>
        <p:spPr>
          <a:xfrm>
            <a:off x="1102766" y="2482697"/>
            <a:ext cx="8211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Positioning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7" name="Shape 35">
            <a:extLst>
              <a:ext uri="{FF2B5EF4-FFF2-40B4-BE49-F238E27FC236}">
                <a16:creationId xmlns:a16="http://schemas.microsoft.com/office/drawing/2014/main" id="{8F7910A2-370C-BA3C-7208-0E093C0A5BB5}"/>
              </a:ext>
            </a:extLst>
          </p:cNvPr>
          <p:cNvSpPr/>
          <p:nvPr/>
        </p:nvSpPr>
        <p:spPr>
          <a:xfrm>
            <a:off x="893369" y="3011221"/>
            <a:ext cx="1421891" cy="22311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8" name="Text 36">
            <a:extLst>
              <a:ext uri="{FF2B5EF4-FFF2-40B4-BE49-F238E27FC236}">
                <a16:creationId xmlns:a16="http://schemas.microsoft.com/office/drawing/2014/main" id="{1DD749AB-187A-76FB-117B-D30048962D30}"/>
              </a:ext>
            </a:extLst>
          </p:cNvPr>
          <p:cNvSpPr txBox="1"/>
          <p:nvPr/>
        </p:nvSpPr>
        <p:spPr>
          <a:xfrm>
            <a:off x="979322" y="3051455"/>
            <a:ext cx="1803652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Authentic Wellness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9" name="Text 37">
            <a:extLst>
              <a:ext uri="{FF2B5EF4-FFF2-40B4-BE49-F238E27FC236}">
                <a16:creationId xmlns:a16="http://schemas.microsoft.com/office/drawing/2014/main" id="{AE34F467-97E1-F543-ED91-8EDB792AB3A4}"/>
              </a:ext>
            </a:extLst>
          </p:cNvPr>
          <p:cNvSpPr txBox="1"/>
          <p:nvPr/>
        </p:nvSpPr>
        <p:spPr>
          <a:xfrm>
            <a:off x="893369" y="3379114"/>
            <a:ext cx="320680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전통 가마솥 방식의 정통성(Authenticity)과 현대적 영양 스펙(Functionality)의 결합.</a:t>
            </a:r>
            <a:endParaRPr 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0" name="Shape 38">
            <a:extLst>
              <a:ext uri="{FF2B5EF4-FFF2-40B4-BE49-F238E27FC236}">
                <a16:creationId xmlns:a16="http://schemas.microsoft.com/office/drawing/2014/main" id="{C4070702-06FE-1AB7-23C2-747F6E765A85}"/>
              </a:ext>
            </a:extLst>
          </p:cNvPr>
          <p:cNvSpPr/>
          <p:nvPr/>
        </p:nvSpPr>
        <p:spPr>
          <a:xfrm>
            <a:off x="4496105" y="2397658"/>
            <a:ext cx="3581705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1" name="Shape 39">
            <a:extLst>
              <a:ext uri="{FF2B5EF4-FFF2-40B4-BE49-F238E27FC236}">
                <a16:creationId xmlns:a16="http://schemas.microsoft.com/office/drawing/2014/main" id="{EEF6A1D8-903C-915D-D95E-47DBFAFA99CA}"/>
              </a:ext>
            </a:extLst>
          </p:cNvPr>
          <p:cNvSpPr/>
          <p:nvPr/>
        </p:nvSpPr>
        <p:spPr>
          <a:xfrm>
            <a:off x="4505249" y="2406802"/>
            <a:ext cx="3562502" cy="35204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12" name="Image 4" descr="preencoded.png">
            <a:extLst>
              <a:ext uri="{FF2B5EF4-FFF2-40B4-BE49-F238E27FC236}">
                <a16:creationId xmlns:a16="http://schemas.microsoft.com/office/drawing/2014/main" id="{BB562A5E-8740-7BC0-83BA-EB6901C5BD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554" b="-1554"/>
          <a:stretch/>
        </p:blipFill>
        <p:spPr>
          <a:xfrm>
            <a:off x="4626864" y="2513787"/>
            <a:ext cx="161849" cy="133502"/>
          </a:xfrm>
          <a:prstGeom prst="rect">
            <a:avLst/>
          </a:prstGeom>
        </p:spPr>
      </p:pic>
      <p:sp>
        <p:nvSpPr>
          <p:cNvPr id="113" name="Text 40">
            <a:extLst>
              <a:ext uri="{FF2B5EF4-FFF2-40B4-BE49-F238E27FC236}">
                <a16:creationId xmlns:a16="http://schemas.microsoft.com/office/drawing/2014/main" id="{DDBC7746-09F3-9B57-6238-275C21117B9D}"/>
              </a:ext>
            </a:extLst>
          </p:cNvPr>
          <p:cNvSpPr txBox="1"/>
          <p:nvPr/>
        </p:nvSpPr>
        <p:spPr>
          <a:xfrm>
            <a:off x="4865522" y="2482697"/>
            <a:ext cx="887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Channel Mix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4" name="Shape 41">
            <a:extLst>
              <a:ext uri="{FF2B5EF4-FFF2-40B4-BE49-F238E27FC236}">
                <a16:creationId xmlns:a16="http://schemas.microsoft.com/office/drawing/2014/main" id="{D98E971B-F3A6-CAF0-EC5D-2C29A9EBB277}"/>
              </a:ext>
            </a:extLst>
          </p:cNvPr>
          <p:cNvSpPr/>
          <p:nvPr/>
        </p:nvSpPr>
        <p:spPr>
          <a:xfrm>
            <a:off x="4626864" y="3011221"/>
            <a:ext cx="1126540" cy="22311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5" name="Text 42">
            <a:extLst>
              <a:ext uri="{FF2B5EF4-FFF2-40B4-BE49-F238E27FC236}">
                <a16:creationId xmlns:a16="http://schemas.microsoft.com/office/drawing/2014/main" id="{5A886C1B-F3B3-A65A-9287-73DF96A99E5C}"/>
              </a:ext>
            </a:extLst>
          </p:cNvPr>
          <p:cNvSpPr txBox="1"/>
          <p:nvPr/>
        </p:nvSpPr>
        <p:spPr>
          <a:xfrm>
            <a:off x="4712818" y="3051455"/>
            <a:ext cx="1281582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O2O Synergy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6" name="Text 43">
            <a:extLst>
              <a:ext uri="{FF2B5EF4-FFF2-40B4-BE49-F238E27FC236}">
                <a16:creationId xmlns:a16="http://schemas.microsoft.com/office/drawing/2014/main" id="{DB70B1B3-0C91-1AC6-0C8D-7F910ABB935A}"/>
              </a:ext>
            </a:extLst>
          </p:cNvPr>
          <p:cNvSpPr txBox="1"/>
          <p:nvPr/>
        </p:nvSpPr>
        <p:spPr>
          <a:xfrm>
            <a:off x="4626864" y="3379114"/>
            <a:ext cx="33777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오프라인 시식(Trial) 경험을 온라인 구독(Lock-in) 모델로 연계하여 충성도 제고.</a:t>
            </a:r>
            <a:endParaRPr 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7" name="Shape 44">
            <a:extLst>
              <a:ext uri="{FF2B5EF4-FFF2-40B4-BE49-F238E27FC236}">
                <a16:creationId xmlns:a16="http://schemas.microsoft.com/office/drawing/2014/main" id="{9D2AD1D3-CAC6-1D81-5F31-9DDDF0A27946}"/>
              </a:ext>
            </a:extLst>
          </p:cNvPr>
          <p:cNvSpPr/>
          <p:nvPr/>
        </p:nvSpPr>
        <p:spPr>
          <a:xfrm>
            <a:off x="8229600" y="2397658"/>
            <a:ext cx="3581705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2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8" name="Shape 45">
            <a:extLst>
              <a:ext uri="{FF2B5EF4-FFF2-40B4-BE49-F238E27FC236}">
                <a16:creationId xmlns:a16="http://schemas.microsoft.com/office/drawing/2014/main" id="{D2B1E369-8F62-B707-2625-B5BD2041C600}"/>
              </a:ext>
            </a:extLst>
          </p:cNvPr>
          <p:cNvSpPr/>
          <p:nvPr/>
        </p:nvSpPr>
        <p:spPr>
          <a:xfrm>
            <a:off x="8238744" y="2406802"/>
            <a:ext cx="3562502" cy="3520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19" name="Image 5" descr="preencoded.png">
            <a:extLst>
              <a:ext uri="{FF2B5EF4-FFF2-40B4-BE49-F238E27FC236}">
                <a16:creationId xmlns:a16="http://schemas.microsoft.com/office/drawing/2014/main" id="{077F98A6-4EA9-B6A5-BC2A-7C6800D3941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554" b="-1554"/>
          <a:stretch/>
        </p:blipFill>
        <p:spPr>
          <a:xfrm>
            <a:off x="8361274" y="2513787"/>
            <a:ext cx="161849" cy="133502"/>
          </a:xfrm>
          <a:prstGeom prst="rect">
            <a:avLst/>
          </a:prstGeom>
        </p:spPr>
      </p:pic>
      <p:sp>
        <p:nvSpPr>
          <p:cNvPr id="120" name="Text 46">
            <a:extLst>
              <a:ext uri="{FF2B5EF4-FFF2-40B4-BE49-F238E27FC236}">
                <a16:creationId xmlns:a16="http://schemas.microsoft.com/office/drawing/2014/main" id="{D6D862DC-B3A3-418D-7446-72AAA84FF1CF}"/>
              </a:ext>
            </a:extLst>
          </p:cNvPr>
          <p:cNvSpPr txBox="1"/>
          <p:nvPr/>
        </p:nvSpPr>
        <p:spPr>
          <a:xfrm>
            <a:off x="8599018" y="2482697"/>
            <a:ext cx="611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Product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1" name="Shape 47">
            <a:extLst>
              <a:ext uri="{FF2B5EF4-FFF2-40B4-BE49-F238E27FC236}">
                <a16:creationId xmlns:a16="http://schemas.microsoft.com/office/drawing/2014/main" id="{EA0912CA-49F4-EBAC-A171-A78478DE32EF}"/>
              </a:ext>
            </a:extLst>
          </p:cNvPr>
          <p:cNvSpPr/>
          <p:nvPr/>
        </p:nvSpPr>
        <p:spPr>
          <a:xfrm>
            <a:off x="8361274" y="3011221"/>
            <a:ext cx="1770538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2" name="Text 48">
            <a:extLst>
              <a:ext uri="{FF2B5EF4-FFF2-40B4-BE49-F238E27FC236}">
                <a16:creationId xmlns:a16="http://schemas.microsoft.com/office/drawing/2014/main" id="{642760D0-F407-38BC-69A9-0D6BC5A7AA91}"/>
              </a:ext>
            </a:extLst>
          </p:cNvPr>
          <p:cNvSpPr txBox="1"/>
          <p:nvPr/>
        </p:nvSpPr>
        <p:spPr>
          <a:xfrm>
            <a:off x="8446313" y="3051455"/>
            <a:ext cx="2111881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Localized Convenience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3" name="Text 49">
            <a:extLst>
              <a:ext uri="{FF2B5EF4-FFF2-40B4-BE49-F238E27FC236}">
                <a16:creationId xmlns:a16="http://schemas.microsoft.com/office/drawing/2014/main" id="{3DE3C22A-0A00-3EA8-D24A-573292E8AD86}"/>
              </a:ext>
            </a:extLst>
          </p:cNvPr>
          <p:cNvSpPr txBox="1"/>
          <p:nvPr/>
        </p:nvSpPr>
        <p:spPr>
          <a:xfrm>
            <a:off x="8361274" y="3379114"/>
            <a:ext cx="341619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1인 가구 타깃 컵/파우치(RTD) 형태 및 현지인 입맛에 맞춘 매운맛 단계 세분화.</a:t>
            </a:r>
            <a:endParaRPr 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4" name="Text 50">
            <a:extLst>
              <a:ext uri="{FF2B5EF4-FFF2-40B4-BE49-F238E27FC236}">
                <a16:creationId xmlns:a16="http://schemas.microsoft.com/office/drawing/2014/main" id="{A12C5FC2-45A8-2910-405F-1BDE00C077CD}"/>
              </a:ext>
            </a:extLst>
          </p:cNvPr>
          <p:cNvSpPr txBox="1"/>
          <p:nvPr/>
        </p:nvSpPr>
        <p:spPr>
          <a:xfrm>
            <a:off x="76200" y="4644948"/>
            <a:ext cx="6400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BD5E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03. ROADMAP</a:t>
            </a:r>
            <a:endParaRPr 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5" name="Shape 51">
            <a:extLst>
              <a:ext uri="{FF2B5EF4-FFF2-40B4-BE49-F238E27FC236}">
                <a16:creationId xmlns:a16="http://schemas.microsoft.com/office/drawing/2014/main" id="{9378FEE4-C6FC-BE6A-EEFA-966069B066CC}"/>
              </a:ext>
            </a:extLst>
          </p:cNvPr>
          <p:cNvSpPr/>
          <p:nvPr/>
        </p:nvSpPr>
        <p:spPr>
          <a:xfrm>
            <a:off x="761695" y="4185920"/>
            <a:ext cx="11048695" cy="171450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 sz="24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6" name="Text 52">
            <a:extLst>
              <a:ext uri="{FF2B5EF4-FFF2-40B4-BE49-F238E27FC236}">
                <a16:creationId xmlns:a16="http://schemas.microsoft.com/office/drawing/2014/main" id="{5BEDB1BE-451C-184A-6987-CA94AC225005}"/>
              </a:ext>
            </a:extLst>
          </p:cNvPr>
          <p:cNvSpPr txBox="1"/>
          <p:nvPr/>
        </p:nvSpPr>
        <p:spPr>
          <a:xfrm>
            <a:off x="1076249" y="4461562"/>
            <a:ext cx="2079946" cy="23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1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PHASE 1: ENTRY (0-6M)</a:t>
            </a:r>
            <a:endParaRPr 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7" name="Text 53">
            <a:extLst>
              <a:ext uri="{FF2B5EF4-FFF2-40B4-BE49-F238E27FC236}">
                <a16:creationId xmlns:a16="http://schemas.microsoft.com/office/drawing/2014/main" id="{1CE5D18E-76F3-9A3A-9E1E-CA47AEC490FD}"/>
              </a:ext>
            </a:extLst>
          </p:cNvPr>
          <p:cNvSpPr txBox="1"/>
          <p:nvPr/>
        </p:nvSpPr>
        <p:spPr>
          <a:xfrm>
            <a:off x="1076249" y="4753864"/>
            <a:ext cx="13990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시장 검증 및 팬덤 확보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8" name="Text 54">
            <a:extLst>
              <a:ext uri="{FF2B5EF4-FFF2-40B4-BE49-F238E27FC236}">
                <a16:creationId xmlns:a16="http://schemas.microsoft.com/office/drawing/2014/main" id="{9D7F9B44-94D0-B78A-818D-D0AAE6E4490A}"/>
              </a:ext>
            </a:extLst>
          </p:cNvPr>
          <p:cNvSpPr txBox="1"/>
          <p:nvPr/>
        </p:nvSpPr>
        <p:spPr>
          <a:xfrm>
            <a:off x="1076249" y="5085384"/>
            <a:ext cx="3114751" cy="65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H-Mart, Amazon 진입 및 인플루언서 마케팅을 통한 초기 리뷰 확보</a:t>
            </a:r>
            <a:endParaRPr 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9" name="Text 55">
            <a:extLst>
              <a:ext uri="{FF2B5EF4-FFF2-40B4-BE49-F238E27FC236}">
                <a16:creationId xmlns:a16="http://schemas.microsoft.com/office/drawing/2014/main" id="{CE1E8246-D7AE-04B1-916A-BE2B4A30C4B9}"/>
              </a:ext>
            </a:extLst>
          </p:cNvPr>
          <p:cNvSpPr txBox="1"/>
          <p:nvPr/>
        </p:nvSpPr>
        <p:spPr>
          <a:xfrm>
            <a:off x="4651552" y="4461562"/>
            <a:ext cx="2604123" cy="23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56B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PHASE 2: EXPANSION (6-18M)</a:t>
            </a:r>
            <a:endParaRPr 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0" name="Text 56">
            <a:extLst>
              <a:ext uri="{FF2B5EF4-FFF2-40B4-BE49-F238E27FC236}">
                <a16:creationId xmlns:a16="http://schemas.microsoft.com/office/drawing/2014/main" id="{A4A5F437-6F18-12E6-B00C-4EE090613D98}"/>
              </a:ext>
            </a:extLst>
          </p:cNvPr>
          <p:cNvSpPr txBox="1"/>
          <p:nvPr/>
        </p:nvSpPr>
        <p:spPr>
          <a:xfrm>
            <a:off x="4651553" y="4753864"/>
            <a:ext cx="15508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채널 확장 및 SKU 다변화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1" name="Text 57">
            <a:extLst>
              <a:ext uri="{FF2B5EF4-FFF2-40B4-BE49-F238E27FC236}">
                <a16:creationId xmlns:a16="http://schemas.microsoft.com/office/drawing/2014/main" id="{CF27139B-A0A5-FFD1-B37D-E7C770697609}"/>
              </a:ext>
            </a:extLst>
          </p:cNvPr>
          <p:cNvSpPr txBox="1"/>
          <p:nvPr/>
        </p:nvSpPr>
        <p:spPr>
          <a:xfrm>
            <a:off x="4651553" y="5085384"/>
            <a:ext cx="2917984" cy="65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Costco, Whole Foods 입점 및 제품군 확대로 소비자 접점 강화</a:t>
            </a:r>
            <a:endParaRPr 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2" name="Text 58">
            <a:extLst>
              <a:ext uri="{FF2B5EF4-FFF2-40B4-BE49-F238E27FC236}">
                <a16:creationId xmlns:a16="http://schemas.microsoft.com/office/drawing/2014/main" id="{9B40DB09-7DED-3898-50AE-1FEC7A9F0FA7}"/>
              </a:ext>
            </a:extLst>
          </p:cNvPr>
          <p:cNvSpPr txBox="1"/>
          <p:nvPr/>
        </p:nvSpPr>
        <p:spPr>
          <a:xfrm>
            <a:off x="8225942" y="4461562"/>
            <a:ext cx="2683358" cy="23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3E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PHASE 3: MAINSTREAM (18M+)</a:t>
            </a:r>
            <a:endParaRPr 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3" name="Text 59">
            <a:extLst>
              <a:ext uri="{FF2B5EF4-FFF2-40B4-BE49-F238E27FC236}">
                <a16:creationId xmlns:a16="http://schemas.microsoft.com/office/drawing/2014/main" id="{8825C90B-349C-FF8E-1C3A-1649988CA106}"/>
              </a:ext>
            </a:extLst>
          </p:cNvPr>
          <p:cNvSpPr txBox="1"/>
          <p:nvPr/>
        </p:nvSpPr>
        <p:spPr>
          <a:xfrm>
            <a:off x="8225942" y="4753864"/>
            <a:ext cx="1608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메인스트림 진입 및 현지화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4" name="Text 60">
            <a:extLst>
              <a:ext uri="{FF2B5EF4-FFF2-40B4-BE49-F238E27FC236}">
                <a16:creationId xmlns:a16="http://schemas.microsoft.com/office/drawing/2014/main" id="{C645D400-8B0C-4BA2-A1A9-EAC34F3C3EE8}"/>
              </a:ext>
            </a:extLst>
          </p:cNvPr>
          <p:cNvSpPr txBox="1"/>
          <p:nvPr/>
        </p:nvSpPr>
        <p:spPr>
          <a:xfrm>
            <a:off x="8225942" y="5085384"/>
            <a:ext cx="2810579" cy="65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Walmart, Kroger 진입 및 현지 생산(Co-packing) 체제 전환</a:t>
            </a:r>
            <a:endParaRPr 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5" name="Shape 61">
            <a:extLst>
              <a:ext uri="{FF2B5EF4-FFF2-40B4-BE49-F238E27FC236}">
                <a16:creationId xmlns:a16="http://schemas.microsoft.com/office/drawing/2014/main" id="{F33132F0-964B-714E-4748-1A47AC219520}"/>
              </a:ext>
            </a:extLst>
          </p:cNvPr>
          <p:cNvSpPr/>
          <p:nvPr/>
        </p:nvSpPr>
        <p:spPr>
          <a:xfrm>
            <a:off x="381305" y="6078931"/>
            <a:ext cx="11430000" cy="362102"/>
          </a:xfrm>
          <a:prstGeom prst="roundRect">
            <a:avLst>
              <a:gd name="adj" fmla="val 3987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36" name="Image 6" descr="preencoded.png">
            <a:extLst>
              <a:ext uri="{FF2B5EF4-FFF2-40B4-BE49-F238E27FC236}">
                <a16:creationId xmlns:a16="http://schemas.microsoft.com/office/drawing/2014/main" id="{29DCCF00-B679-74F3-F554-98F2590928E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43154" y="6194146"/>
            <a:ext cx="123444" cy="123444"/>
          </a:xfrm>
          <a:prstGeom prst="rect">
            <a:avLst/>
          </a:prstGeom>
        </p:spPr>
      </p:pic>
      <p:sp>
        <p:nvSpPr>
          <p:cNvPr id="137" name="Text 62">
            <a:extLst>
              <a:ext uri="{FF2B5EF4-FFF2-40B4-BE49-F238E27FC236}">
                <a16:creationId xmlns:a16="http://schemas.microsoft.com/office/drawing/2014/main" id="{A820F24A-DCEB-D4B0-28E8-1963209AE646}"/>
              </a:ext>
            </a:extLst>
          </p:cNvPr>
          <p:cNvSpPr txBox="1"/>
          <p:nvPr/>
        </p:nvSpPr>
        <p:spPr>
          <a:xfrm>
            <a:off x="780898" y="6164885"/>
            <a:ext cx="14822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Critical Success Factor:</a:t>
            </a:r>
            <a:endParaRPr lang="en-US" sz="9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8" name="Text 63">
            <a:extLst>
              <a:ext uri="{FF2B5EF4-FFF2-40B4-BE49-F238E27FC236}">
                <a16:creationId xmlns:a16="http://schemas.microsoft.com/office/drawing/2014/main" id="{76B8F686-255D-2137-CCCF-6394BFF089F9}"/>
              </a:ext>
            </a:extLst>
          </p:cNvPr>
          <p:cNvSpPr txBox="1"/>
          <p:nvPr/>
        </p:nvSpPr>
        <p:spPr>
          <a:xfrm>
            <a:off x="2315260" y="6164885"/>
            <a:ext cx="85940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2400E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현지 규제(FDA) 준수와 'Authentic but Modern' 브랜드 스토리텔링의 일관성 유지가 성공의 핵심 열쇠.</a:t>
            </a:r>
            <a:endParaRPr 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9" name="Shape 64">
            <a:extLst>
              <a:ext uri="{FF2B5EF4-FFF2-40B4-BE49-F238E27FC236}">
                <a16:creationId xmlns:a16="http://schemas.microsoft.com/office/drawing/2014/main" id="{3996A6E8-4C00-6359-5022-D9453FB28A0B}"/>
              </a:ext>
            </a:extLst>
          </p:cNvPr>
          <p:cNvSpPr/>
          <p:nvPr/>
        </p:nvSpPr>
        <p:spPr>
          <a:xfrm>
            <a:off x="381305" y="6509614"/>
            <a:ext cx="114300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DAF65E47-E729-0A28-C64E-B587390262A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735410" y="6610972"/>
            <a:ext cx="344796" cy="1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Narrow" panose="020B0606020202030204" pitchFamily="34" charset="0"/>
                <a:ea typeface="a고딕14" panose="02020600000000000000" pitchFamily="18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49</a:t>
            </a:fld>
            <a:endParaRPr lang="en-GB" altLang="ko-KR" sz="900" b="0" i="0" baseline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9574</Words>
  <Application>Microsoft Office PowerPoint</Application>
  <PresentationFormat>와이드스크린</PresentationFormat>
  <Paragraphs>1330</Paragraphs>
  <Slides>49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3" baseType="lpstr">
      <vt:lpstr>페이퍼로지 5 Medium</vt:lpstr>
      <vt:lpstr>Arial</vt:lpstr>
      <vt:lpstr>Arial Narrow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석주 이</cp:lastModifiedBy>
  <cp:revision>2</cp:revision>
  <dcterms:created xsi:type="dcterms:W3CDTF">2025-12-16T00:30:04Z</dcterms:created>
  <dcterms:modified xsi:type="dcterms:W3CDTF">2025-12-16T11:21:14Z</dcterms:modified>
</cp:coreProperties>
</file>