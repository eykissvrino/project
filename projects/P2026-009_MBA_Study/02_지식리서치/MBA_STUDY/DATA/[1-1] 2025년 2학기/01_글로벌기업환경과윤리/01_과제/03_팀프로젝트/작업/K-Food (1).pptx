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4630400" cy="10972800"/>
  <p:notesSz cx="10972800" cy="14630400"/>
  <p:embeddedFontLst>
    <p:embeddedFont>
      <p:font typeface="Inter"/>
      <p:regular r:id="rId27"/>
    </p:embeddedFont>
    <p:embeddedFont>
      <p:font typeface="Inter"/>
      <p:regular r:id="rId28"/>
    </p:embeddedFont>
    <p:embeddedFont>
      <p:font typeface="Inter"/>
      <p:regular r:id="rId29"/>
    </p:embeddedFont>
    <p:embeddedFont>
      <p:font typeface="Inter"/>
      <p:regular r:id="rId30"/>
    </p:embeddedFont>
    <p:embeddedFont>
      <p:font typeface="Inter"/>
      <p:regular r:id="rId31"/>
    </p:embeddedFont>
    <p:embeddedFont>
      <p:font typeface="Inter"/>
      <p:regular r:id="rId32"/>
    </p:embeddedFont>
    <p:embeddedFont>
      <p:font typeface="Inter"/>
      <p:regular r:id="rId33"/>
    </p:embeddedFont>
    <p:embeddedFont>
      <p:font typeface="Inter"/>
      <p:regular r:id="rId3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5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6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260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미국 프리미엄 K-Food 시장 진출 전략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1837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한우 곰탕·우족탕으로 미국 시장을 공략하는 완주의선물의 전략적 로드맵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4823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글로벌 식품 산업의 성장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239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무역 규모 급증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97609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글로벌 식품 교역은 2000년 4천억 달러에서 2022년 1조9천억 달러로 약 5배 성장했습니다.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26887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2024년 전 세계 상품 무역은 32.2조 달러에 달하며, 식품은 전체 무역의 약 6%를 차지합니다.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43239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소비 트렌드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4976098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 세계 소비자의 60% 이상이 더 건강한 식단을 추구하며, 지속가능한 생산에 프리미엄을 지불할 의향이 있습니다.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6631781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레디밀 시장은 2024년 1,776억 달러 규모로 2025년 1,900억 달러를 넘어설 전망입니다.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066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미국 시장 환경 분석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269105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503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정치·제도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9939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한미 FTA로 대다수 품목 무관세 접근 가능. FDA, USDA의 엄격한 식품안전규제 준수 필요.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4269105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45035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49939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세계 최대 소비시장(GDP 25조 달러). 최근 인플레이션으로 가격 민감도 상승했으나 구매력은 여전히 높음.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618101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6415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사회·문화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690586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다문화 환경에서 K-푸드 인기 급상승. 건강 지향 소비 확대, 비만율 40% 넘어 식습관 개선 노력 중.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618101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64154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690586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 식품시장 958억 달러 규모. 옴니채널 강화로 냉장물류망 전국 구축, 푸드테크 투자 활발.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84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미국 HMR 시장의 기회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425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시장 규모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6358"/>
            <a:ext cx="48850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2024년 미국 레디밀 시장은 약 475억 달러 규모이며, 냉동식품 포함 전체 가정간편식은 835억 달러에 달합니다.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89138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2030년까지 1,232억 달러로 연 8.1% 성장 전망입니다.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9828" y="3572589"/>
            <a:ext cx="7604284" cy="42583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83412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냉동 카테고리가 시장의 최대 비중을 차지하며, 슈퍼마켓과 대형마트가 HMR 판매의 약 60%를 담당합니다.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5198864"/>
            <a:ext cx="57266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K-푸드의 미국 시장 약진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36115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$14.6억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7392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2024년 대미 수출액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788336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전세계 K-푸드 수출의 20.8% 차지, 중국·일본 제치고 1위 시장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636115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+17%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7392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전년 대비 성장률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788336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2024년 상반기 기준, 라면·김치·소스류 등 주요 품목 고속 성장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6361152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7,000+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7392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미국 내 한식당 수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788336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전국적으로 확산된 한식 인프라, K-컬처와 시너지 효과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81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경쟁사 성공 사례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13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CJ 비비고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23379"/>
            <a:ext cx="3933349" cy="39333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7411879"/>
            <a:ext cx="39333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2019년 Schwan's 인수로 현지 생산거점 확보. 미국 냉동만두 시장점유율 42%로 1위 달성.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8704659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2024년 1분기 미국 매출 1.18조원(+45% 성장).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88161" y="2613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오뚜기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161" y="3223379"/>
            <a:ext cx="3933349" cy="39333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8161" y="7411879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진라면 등으로 교포시장 공략. 2027년 미국 현지 라면공장 건설 계획.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5288161" y="8341757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2030년 해외 매출 목표 1.1조원(현재의 3배).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782532" y="26138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Kettle &amp; Fire</a:t>
            </a:r>
            <a:endParaRPr lang="en-US" sz="2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532" y="3223379"/>
            <a:ext cx="4069199" cy="40691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82532" y="7547729"/>
            <a:ext cx="4069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미국 본 브로스 전문 브랜드. 유기농 뼈 육수로 2018년 매출 3,500만 달러 돌파.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9782532" y="8477607"/>
            <a:ext cx="4069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건강 트렌드 활용한 프리미엄 포지셔닝 성공.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72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완주의선물 기업 역량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59693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59693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516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00740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완주 한우 사골 안정적 공급망 확보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4449604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전통 레시피와 현대 기술 접목 역량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2524" y="4891802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HACCP 인증 시설 보유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42524" y="5334000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지역 상생 모델로 사회적 가치 창출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8548" y="3259693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98067" y="3259693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7282" y="35169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약점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7282" y="4007406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인지도 부족(국내외)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777282" y="4449604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자본 및 생산 규모의 한계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777282" y="4891802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해외 시장 경험 부족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777282" y="5334000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라인업 협소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6181011"/>
            <a:ext cx="6407944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310" y="6181011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9" name="Text 17"/>
          <p:cNvSpPr/>
          <p:nvPr/>
        </p:nvSpPr>
        <p:spPr>
          <a:xfrm>
            <a:off x="1142524" y="643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2524" y="692872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글로벌 K-푸드 열풍과 건강식 트렌드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42524" y="737092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정부·지자체 수출 지원 제도 활용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42524" y="7813119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전통 국물 HMR 분야 선점 가능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42524" y="825531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한우 차별화 소재 보유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181011"/>
            <a:ext cx="6408063" cy="2694503"/>
          </a:xfrm>
          <a:prstGeom prst="roundRect">
            <a:avLst>
              <a:gd name="adj" fmla="val 543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8067" y="6181011"/>
            <a:ext cx="121920" cy="2694503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7282" y="643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위협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77282" y="6928723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대기업의 유사 제품 출시 가능성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777282" y="7370921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현지 규제 및 문화적 차이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777282" y="781311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소비자 반응의 불확실성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777282" y="825531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물류비 및 탄소발자국 이슈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391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제품 차별화 포인트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1490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한우 곰탕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66701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특징: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한우 사골을 10시간 이상 고아 만든 뽀얀 유백색 국물. 담백하면서 깊은 감칠맛.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95979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차별성: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한우 특유의 풍미, 전통 제법의 국물 농축, 고단백·저지방 영양 구성.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401490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한우 우족탕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856321" y="466701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특징: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소 발을 푹 삶아 콜라겐과 젤라틴이 풍부한 진한 국물. 독특한 점성과 식감.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5959793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차별성: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월등한 콜라겐 함량으로 피부·관절 건강 어필, 미국·유럽에 유사 음식 거의 없음.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750772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제품 모두 화학조미료 미첨가, 소재 본연의 맛 중시. 건강 트렌드에 부합하는 Low-sodium 옵션 제공 가능.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5887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타겟 고객 세분화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7511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5106233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5280541"/>
            <a:ext cx="3641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1차 타겟: 한인·아시안 커뮤니티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77095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곰탕·우족탕의 맛과 가치를 이미 아는 층. H Mart 등 아시안 마트 이용자 중심으로 초기 시장 형성.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47511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5106233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5280541"/>
            <a:ext cx="31761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2차 타겟: 건강·웰빙 관심층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577095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Paleo, 저탄수 고단백 식단 선호자, 피트니스 인구. Bone Broth 트렌드에 익숙하며 기능성 제품 수용도 높음.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475118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5106233"/>
            <a:ext cx="4196358" cy="3048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5280541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3차 타겟: 글로벌 미식가·한식 입문자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612528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K-컬처로 한국 음식에 호기심 있는 일반 소비자. Authentic ethnic food로 접근하여 장기적 확보.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03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포지셔닝 전략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52763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2871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474244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94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웰니스 보양식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84871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저지방 고단백, 글루텐프리, Keto/Paleo 친화적. 몸을 편안하게 해주는 건강 수프로 브랜딩.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3052763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32871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3474244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4194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정통 에스닉 구르메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4684871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100년 전통 한국 보양식의 문화적 가치. Whole Foods 같은 고급 식품관에서 프리미엄 수프로 진열.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871924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61063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6293406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70136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간편식 솔루션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750403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전자레인지 5분 조리로 레스토랑급 국물요리. 바쁜 직장인과 가정을 위한 편의성 부각.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5871924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610635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6293406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70136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프리미엄 선물세트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750403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"Wanju's Gift" 컨셉 활용. 명절·홀리데이 건강식 선물 수요 공략, 예쁜 패키지로 차별화.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93790" y="87194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메시지: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"Authentic Korean Hanwoo Bone Broth – Premium Wellness from Tradition"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031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제품 전략 (Product)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789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현지화 조정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53104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염도 조절: 기존보다 약간 싱겁게, 소비자 추가 간 가능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33614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1팩 분량 500ml 내외로 미국 1인식사 기준 맞춤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412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냉동·레토르트 2가지 버전 개발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58344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영어/한국어 병기 라벨, 영양성분 투명 공개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87893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패키징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4856321" y="453104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전통 문양과 한우 이미지로 고급스러운 디자인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33614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"High Protein, No MSG, Gluten-Free" 헬스 클레임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614124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유래 스토리 삽입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658344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대용량 파우치와 선물용 박스세트 구성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764369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USDA 육류검사 마크, FDA FCE/SID 획득 등 품질보증 강화. 레시피 카드 동봉으로 활용도 제고.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77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가격 전략 (Price)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4444484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$8.99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3026807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712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한우 곰탕 1팩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720304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500ml 기준, 시중 유기농 bone broth 대비 20-30% 프리미엄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4444484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$9.99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3026807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712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우족탕 1팩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720304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콜라겐 풍부한 프리미엄 제품으로 차별화된 가격 설정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4444484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3026807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712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초기 할인율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7203043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구매자 대상 프로모션, 시식 유도 및 재구매 촉진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81839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가격 정당화: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한우 원재료 가치, 전통 제조법, 고농축 국물(물 타서 2인분 활용 가능) 강조. 외식 대비 저렴한 한 끼 식사로 포지셔닝.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3790" y="88020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세트 구매 할인(5팩 세트 시 1팩 무료 등)으로 재구매 유도하되, 프리미엄 이미지 훼손 방지.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666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유통 전략 (Place)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015615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32424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1단계: 아시안 마트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3732848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Mart, 99 Ranch 등 입점. 1차 타겟 접근성 높고 한국 HMR 코너 활용 가능.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85467"/>
            <a:ext cx="1134070" cy="16698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49122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2단계: 온라인 판매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540269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Fresh, 자사 D2C 웹사이트, Yamibuy 등. 2차 타겟 전국 접근 및 구독 모델 구축.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355318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65821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3단계: 메인스트림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7072551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Foods, Sprouts 등 고급 식료품점. 성과 기반 단계적 확장, 지역 테스트 후 전국 진출.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93790" y="828032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파트너십: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미국 내 한인 식품 수입/유통사와 계약하여 물류 위탁. 서부(LA)와 동부(NJ)에 창고 거점 확보로 배송 리드타임 단축.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1218"/>
            <a:ext cx="66850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프로모션 전략 (Promotion)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8362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134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디지털 마케팅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624507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인스타그램, 틱톡 숏폼 영상. 한류 팬덤 공략 해시태그 챌린지, 유튜브 K-food 유튜버 협업.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8362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4134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인플루언서 &amp; K-컬처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4624507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K-pop 콘서트, 한식 페스티벌 스폰서. 현지 셰프와 제휴한 레시피 영상, 시식 부스 운영.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5803940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665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전문가 추천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7144822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영양사, 피트니스 트레이너 추천 확보. Paleo, Whole30 커뮤니티에 샘플 제공 및 리뷰 획득.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5803940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6654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미디어 &amp; PR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7144822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Times, NYT Cooking 등 푸드 섹션 보도자료 배포. 지역 방송 출연으로 "겨울 보양식" 조명.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81257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스토리텔링: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완주 농장 사진, 전통 가마솥 이미지 활용. "Wanju's Gift"의 의미(농부의 정성이 담긴 선물) 웹사이트와 홍보물에 일관되게 전달.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336" y="613053"/>
            <a:ext cx="5573911" cy="69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ESG 경영 전략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336" y="1867019"/>
            <a:ext cx="2786896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환경 (E)</a:t>
            </a:r>
            <a:endParaRPr lang="en-US" sz="2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336" y="2466142"/>
            <a:ext cx="3948589" cy="39485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0336" y="6665476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탄소 중립 프로그램 참여, Net Zero Shipping 추진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0336" y="7456884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FSC 인증 종이박스, 재활용 가능 포장재 사용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0336" y="8248293"/>
            <a:ext cx="3948589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축산 부산물 활용으로 식품폐기물 감소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0336" y="8682990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장기적 현지 생산 검토로 운송 탄소 절감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80422" y="1867019"/>
            <a:ext cx="2786896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사회 (S)</a:t>
            </a:r>
            <a:endParaRPr lang="en-US" sz="2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422" y="2466142"/>
            <a:ext cx="3948589" cy="39485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0422" y="6665476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동물복지형 축사 한우 사용, 관련 인증 취득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5280422" y="7456884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완주 지역 10개 농가와 상생 모델 투명 공개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5280422" y="8248293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정확한 성분·영양정보 제공, 과장 광고 지양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280422" y="9039701"/>
            <a:ext cx="3948589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다양성·포용성 고려한 마케팅 자료 제작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9780508" y="1867019"/>
            <a:ext cx="2786896" cy="34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거버넌스 (G)</a:t>
            </a:r>
            <a:endParaRPr lang="en-US" sz="2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508" y="2466142"/>
            <a:ext cx="4084677" cy="408467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80508" y="6801564"/>
            <a:ext cx="4084677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FDA, USDA 규정 엄격 준수, FSMA 대응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9780508" y="7592973"/>
            <a:ext cx="4084677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정확한 라벨 표기로 소비자 알권리 보장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9780508" y="8027670"/>
            <a:ext cx="4084677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광고 윤리 준수, 소비자 오인 방지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780508" y="8462367"/>
            <a:ext cx="4084677" cy="713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반부패·공정거래 원칙, 투명경영 방침 공개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780336" y="10081855"/>
            <a:ext cx="13069729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ESG 노력을 패키지, 홈페이지에 "Our Sustainability Promise"로 소통. 연간 지속가능 성과 공개로 신뢰도 제고.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89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실행 로드맵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606754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3301960" y="53871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3062049" y="58123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47120" y="58548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899642" y="2481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1단계 (0-6개월)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2971800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진입 준비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0604" y="3470791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FDA/USDA 인증 획득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0604" y="3912989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현지 유통 파트너 선정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20604" y="4355187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현지화 완료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0604" y="4797385"/>
            <a:ext cx="459331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Mart 등 아시안 마트 입점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5967293" y="60675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4" name="Shape 12"/>
          <p:cNvSpPr/>
          <p:nvPr/>
        </p:nvSpPr>
        <p:spPr>
          <a:xfrm>
            <a:off x="5727382" y="58123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2453" y="58548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4564856" y="697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2단계 (6-12개월)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85818" y="7465219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초기 시장 확보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3685818" y="7964210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 판매 채널 구축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85818" y="8406408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SNS 마케팅 캠페인 시작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685818" y="8848606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한인 커뮤니티 입소문 형성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685818" y="9290804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매출 목표 달성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8632508" y="5387102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23" name="Shape 21"/>
          <p:cNvSpPr/>
          <p:nvPr/>
        </p:nvSpPr>
        <p:spPr>
          <a:xfrm>
            <a:off x="8392597" y="58123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7667" y="58548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25" name="Text 23"/>
          <p:cNvSpPr/>
          <p:nvPr/>
        </p:nvSpPr>
        <p:spPr>
          <a:xfrm>
            <a:off x="7230070" y="2481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3단계 (1-2년)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51032" y="2971800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확장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351032" y="3470791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Whole Foods 등 진출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6351032" y="3912989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건강 소비자층 공략 강화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6351032" y="4355187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제품 라인업 확대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6351032" y="4797385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브랜드 인지도 제고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11297841" y="6067544"/>
            <a:ext cx="30480" cy="680442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57930" y="58123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43000" y="585489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34" name="Text 32"/>
          <p:cNvSpPr/>
          <p:nvPr/>
        </p:nvSpPr>
        <p:spPr>
          <a:xfrm>
            <a:off x="9895403" y="69748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4단계 (2-3년)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016365" y="7465219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메인스트림 진입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9016365" y="7964210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현지 생산 검토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9016365" y="8406408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급식시장 진출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9016365" y="8848606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전국 유통망 확보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9016365" y="9290804"/>
            <a:ext cx="45934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지속가능 성장 기반 구축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61987"/>
            <a:ext cx="6006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예상 도전과제와 대응방안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724394"/>
            <a:ext cx="6407944" cy="2229803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981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낮은 초기 인지도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4472107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도전: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브랜드 무명, 제품 생소함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51084" y="49710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대응: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집중적 스토리텔링, 시식 이벤트, 인플루언서 마케팅으로 바이럴 효과 창출. 한류 문화와 연계한 감성 콘텐츠 제작.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724394"/>
            <a:ext cx="6408063" cy="2229803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5842" y="3981688"/>
            <a:ext cx="30690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유통업자 보수적 입점 정책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5842" y="4472107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도전: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대형 체인의 신규 브랜드 입점 장벽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85842" y="497109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대응: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아시안 마트에서 판매 실적 쌓은 후 데이터 기반 제안. 지역 단위 테스트 세일로 점진적 확대.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6181011"/>
            <a:ext cx="6407944" cy="2229803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084" y="643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현지 규제 대응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084" y="692872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도전: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FDA 라벨링, 검역 등 복잡한 절차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51084" y="7427714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대응: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전문 컨설팅 활용, KOTRA·aT 지원 프로그램 참여. 초기부터 철저한 컴플라이언스 체계 구축.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6181011"/>
            <a:ext cx="6408063" cy="2229803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5842" y="6438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소비자 반응 불확실성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85842" y="692872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도전: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맛과 식감에 대한 거부감 가능성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685842" y="7427714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대응: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현지 입맛 반영한 제품 조정, 다양한 버전 테스트. 고객 피드백 루프 구축하여 지속 개선.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154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성공 지표 (KPI)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691182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$1M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5722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1년차 매출 목표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6213396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아시안 마트 및 온라인 판매 중심, 초기 시장 형성 단계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6911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50+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5722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입점 매장 수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62133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Mart, 99 Ranch 등 주요 아시안 마트 체인 전국 확보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46911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10,000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5722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온라인 월 판매량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62133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Amazon, 자사몰 합산 목표. 구독 모델로 재구매율 30% 이상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4691182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4.5★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894933" y="57229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고객 만족도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6213396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 리뷰 평점 목표. 제품 품질과 스토리로 높은 평가 확보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719435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추가 지표: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브랜드 인지도(설문 조사), SNS 팔로워 수, 미디어 노출 횟수, 재구매율, 고객 생애 가치(LTV) 등을 정기적으로 모니터링.</a:t>
            </a:r>
            <a:endParaRPr lang="en-US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402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장기 비전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5160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3년 후 목표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16814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미국 Korean Bone Broth 카테고리 선도 브랜드 확립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7324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 매출 $10M 달성, 전국 500개 이상 매장 입점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77834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설렁탕, 삼계탕 등 제품 라인업 확대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658344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현지 생산시설 가동으로 원가 절감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5160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5년 후 비전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342721" y="416814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메인스트림 시장 진입, 일반 소비자 인지도 50% 이상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4973241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캐나다, 유럽 등 제3국 시장 진출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41543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K-푸드 프리미엄 건강식의 글로벌 대표 브랜드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22053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지속가능 경영 모범 사례로 업계 인정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280190" y="764369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궁극적 목표: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한우 곰탕·우족탕을 통해 한국 전통 HMR의 세계화를 선도하고, 완주의선물이 K-푸드 글로벌화의 성공 모델이 되어 다른 중소기업에게 벤치마크를 제공합니다.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4505"/>
            <a:ext cx="484751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결론: 성공을 위한 핵심 전략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303770" y="1676281"/>
            <a:ext cx="22860" cy="7451050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4" name="Shape 2"/>
          <p:cNvSpPr/>
          <p:nvPr/>
        </p:nvSpPr>
        <p:spPr>
          <a:xfrm>
            <a:off x="770930" y="1676281"/>
            <a:ext cx="6521410" cy="1267420"/>
          </a:xfrm>
          <a:prstGeom prst="roundRect">
            <a:avLst>
              <a:gd name="adj" fmla="val 56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95862" y="1853922"/>
            <a:ext cx="212645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프리미엄 니치 시장 선점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48571" y="2221706"/>
            <a:ext cx="617374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Korean Bone Broth 카테고리를 개척하여 First Mover Advantage 확보. 품질 기반 프리미엄화로 충성고객 확보.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38060" y="3283863"/>
            <a:ext cx="6521410" cy="1267420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08081" y="3461504"/>
            <a:ext cx="212645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현지화와 전통성의 균형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08081" y="3829288"/>
            <a:ext cx="617374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현지 입맛 반영하되 한우와 전통 조리법 스토리 유지. 타겟별 맞춤 메시지로 효율적 마케팅.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0930" y="4891445"/>
            <a:ext cx="6521410" cy="1020723"/>
          </a:xfrm>
          <a:prstGeom prst="roundRect">
            <a:avLst>
              <a:gd name="adj" fmla="val 70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5862" y="5069086"/>
            <a:ext cx="212645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전략적 파트너십 활용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48571" y="5436870"/>
            <a:ext cx="6173748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현지 유통업체, K-푸드 수입사, 공공 지원 기관과 협력. 제한된 자원으로 최대 효과 창출.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38060" y="6252329"/>
            <a:ext cx="6521410" cy="1267420"/>
          </a:xfrm>
          <a:prstGeom prst="rect">
            <a:avLst/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8081" y="6429970"/>
            <a:ext cx="212645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브랜드 스토리 구축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08081" y="6797754"/>
            <a:ext cx="617374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완주의 지역성, 한우의 명품성, 전통 보양식 이야기로 감성 자극. 소셜미디어 통한 바이럴 마케팅.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0930" y="7859911"/>
            <a:ext cx="6521410" cy="1267420"/>
          </a:xfrm>
          <a:prstGeom prst="roundRect">
            <a:avLst>
              <a:gd name="adj" fmla="val 56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9313" y="8037552"/>
            <a:ext cx="2143006" cy="265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ESG 경영으로 신뢰 획득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48571" y="8405336"/>
            <a:ext cx="6173748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친환경 포장, 동물복지, 투명 경영으로 지속가능 브랜드 이미지. 현대 소비자의 가치소비 트렌드 부합.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3790" y="9403700"/>
            <a:ext cx="13042821" cy="28813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3790" y="9623822"/>
            <a:ext cx="13042821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메시지: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철저한 시장 조사와 전략적 실행으로 한우 곰탕·우족탕은 미국에서 작지만 탄탄한 프리미엄 K-푸드 브랜드로 성장할 것입니다. 완주의선물은 "완주에서 온 선물"을 미국 소비자의 일상식으로 자리매김시켜, 기업 성장과 한국 농식품의 세계적 위상 제고라는 이중의 성과를 달성할 것입니다.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2025-11-18T04:20:25Z</dcterms:created>
  <dcterms:modified xsi:type="dcterms:W3CDTF">2025-11-18T04:20:25Z</dcterms:modified>
</cp:coreProperties>
</file>