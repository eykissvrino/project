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10972800"/>
  <p:notesSz cx="10972800" cy="14630400"/>
  <p:embeddedFontLs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10972800"/>
          </a:xfrm>
          <a:prstGeom prst="rect">
            <a:avLst/>
          </a:prstGeom>
          <a:solidFill>
            <a:srgbClr val="F6F4F4"/>
          </a:solidFill>
          <a:ln/>
        </p:spPr>
      </p:sp>
      <p:sp>
        <p:nvSpPr>
          <p:cNvPr id="3" name="Shape 1"/>
          <p:cNvSpPr/>
          <p:nvPr/>
        </p:nvSpPr>
        <p:spPr>
          <a:xfrm>
            <a:off x="0" y="0"/>
            <a:ext cx="14630400" cy="109728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slideLayout" Target="../slideLayouts/slideLayout7.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10972800"/>
          </a:xfrm>
          <a:prstGeom prst="rect">
            <a:avLst/>
          </a:prstGeom>
        </p:spPr>
      </p:pic>
      <p:sp>
        <p:nvSpPr>
          <p:cNvPr id="3" name="Text 0"/>
          <p:cNvSpPr/>
          <p:nvPr/>
        </p:nvSpPr>
        <p:spPr>
          <a:xfrm>
            <a:off x="793790" y="4868704"/>
            <a:ext cx="6542723" cy="620078"/>
          </a:xfrm>
          <a:prstGeom prst="rect">
            <a:avLst/>
          </a:prstGeom>
          <a:noFill/>
          <a:ln/>
        </p:spPr>
        <p:txBody>
          <a:bodyPr wrap="none" lIns="0" tIns="0" rIns="0" bIns="0" rtlCol="0" anchor="t"/>
          <a:lstStyle/>
          <a:p>
            <a:pPr algn="l" indent="0" marL="0">
              <a:lnSpc>
                <a:spcPts val="4850"/>
              </a:lnSpc>
              <a:buNone/>
            </a:pPr>
            <a:r>
              <a:rPr lang="en-US" sz="3900" b="1" dirty="0">
                <a:solidFill>
                  <a:srgbClr val="000000"/>
                </a:solidFill>
                <a:latin typeface="Inter Bold" pitchFamily="34" charset="0"/>
                <a:ea typeface="Inter Bold" pitchFamily="34" charset="-122"/>
                <a:cs typeface="Inter Bold" pitchFamily="34" charset="-120"/>
              </a:rPr>
              <a:t>K-FOOD의 미국 시장 진출 전략</a:t>
            </a:r>
            <a:endParaRPr lang="en-US" sz="3900" dirty="0"/>
          </a:p>
        </p:txBody>
      </p:sp>
      <p:sp>
        <p:nvSpPr>
          <p:cNvPr id="4" name="Text 1"/>
          <p:cNvSpPr/>
          <p:nvPr/>
        </p:nvSpPr>
        <p:spPr>
          <a:xfrm>
            <a:off x="793790" y="5786438"/>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완주의선물 한우 곰탕의 미국 Bone Broth 시장 진출을 위한 종합 전략 분석</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68197"/>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000000"/>
                </a:solidFill>
                <a:latin typeface="Inter Bold" pitchFamily="34" charset="0"/>
                <a:ea typeface="Inter Bold" pitchFamily="34" charset="-122"/>
                <a:cs typeface="Inter Bold" pitchFamily="34" charset="-120"/>
              </a:rPr>
              <a:t>프로젝트 개요</a:t>
            </a:r>
            <a:endParaRPr lang="en-US" sz="3900" dirty="0"/>
          </a:p>
        </p:txBody>
      </p:sp>
      <p:sp>
        <p:nvSpPr>
          <p:cNvPr id="3" name="Text 1"/>
          <p:cNvSpPr/>
          <p:nvPr/>
        </p:nvSpPr>
        <p:spPr>
          <a:xfrm>
            <a:off x="793790" y="2884289"/>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분석 목적 및 범위</a:t>
            </a:r>
            <a:endParaRPr lang="en-US" sz="2300" dirty="0"/>
          </a:p>
        </p:txBody>
      </p:sp>
      <p:sp>
        <p:nvSpPr>
          <p:cNvPr id="4" name="Text 2"/>
          <p:cNvSpPr/>
          <p:nvPr/>
        </p:nvSpPr>
        <p:spPr>
          <a:xfrm>
            <a:off x="793790" y="3454717"/>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본 프로젝트는 완주의선물의 한우 곰탕이 미국 Bone Broth 시장에 성공적으로 진입하기 위한 전략을 수립하는 것을 목표로 합니다. 글로벌 환경부터 구체적인 제품 전략까지 체계적인 분석을 통해 실행 가능한 로드맵을 제시합니다.</a:t>
            </a:r>
            <a:endParaRPr lang="en-US" sz="1550" dirty="0"/>
          </a:p>
        </p:txBody>
      </p:sp>
      <p:sp>
        <p:nvSpPr>
          <p:cNvPr id="5" name="Text 3"/>
          <p:cNvSpPr/>
          <p:nvPr/>
        </p:nvSpPr>
        <p:spPr>
          <a:xfrm>
            <a:off x="793790" y="460569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00000"/>
                </a:solidFill>
                <a:latin typeface="Inter Bold" pitchFamily="34" charset="0"/>
                <a:ea typeface="Inter Bold" pitchFamily="34" charset="-122"/>
                <a:cs typeface="Inter Bold" pitchFamily="34" charset="-120"/>
              </a:rPr>
              <a:t>주요 분석 범위</a:t>
            </a:r>
            <a:endParaRPr lang="en-US" sz="1950" dirty="0"/>
          </a:p>
        </p:txBody>
      </p:sp>
      <p:sp>
        <p:nvSpPr>
          <p:cNvPr id="6" name="Text 4"/>
          <p:cNvSpPr/>
          <p:nvPr/>
        </p:nvSpPr>
        <p:spPr>
          <a:xfrm>
            <a:off x="793790" y="5114211"/>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글로벌 무역 환경 및 식품 트렌드 분석</a:t>
            </a:r>
            <a:endParaRPr lang="en-US" sz="1550" dirty="0"/>
          </a:p>
        </p:txBody>
      </p:sp>
      <p:sp>
        <p:nvSpPr>
          <p:cNvPr id="7" name="Text 5"/>
          <p:cNvSpPr/>
          <p:nvPr/>
        </p:nvSpPr>
        <p:spPr>
          <a:xfrm>
            <a:off x="793790" y="5501164"/>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미국 시장의 정치·경제·사회·기술 환경</a:t>
            </a:r>
            <a:endParaRPr lang="en-US" sz="1550" dirty="0"/>
          </a:p>
        </p:txBody>
      </p:sp>
      <p:sp>
        <p:nvSpPr>
          <p:cNvPr id="8" name="Text 6"/>
          <p:cNvSpPr/>
          <p:nvPr/>
        </p:nvSpPr>
        <p:spPr>
          <a:xfrm>
            <a:off x="793790" y="5888117"/>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HMR 및 Bone Broth 산업 구조</a:t>
            </a:r>
            <a:endParaRPr lang="en-US" sz="1550" dirty="0"/>
          </a:p>
        </p:txBody>
      </p:sp>
      <p:sp>
        <p:nvSpPr>
          <p:cNvPr id="9" name="Text 7"/>
          <p:cNvSpPr/>
          <p:nvPr/>
        </p:nvSpPr>
        <p:spPr>
          <a:xfrm>
            <a:off x="793790" y="6275070"/>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K-Food 시장 현황 및 경쟁 분석</a:t>
            </a:r>
            <a:endParaRPr lang="en-US" sz="1550" dirty="0"/>
          </a:p>
        </p:txBody>
      </p:sp>
      <p:sp>
        <p:nvSpPr>
          <p:cNvPr id="10" name="Text 8"/>
          <p:cNvSpPr/>
          <p:nvPr/>
        </p:nvSpPr>
        <p:spPr>
          <a:xfrm>
            <a:off x="793790" y="6662023"/>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완주의선물의 핵심 역량 평가</a:t>
            </a:r>
            <a:endParaRPr lang="en-US" sz="1550" dirty="0"/>
          </a:p>
        </p:txBody>
      </p:sp>
      <p:sp>
        <p:nvSpPr>
          <p:cNvPr id="11" name="Text 9"/>
          <p:cNvSpPr/>
          <p:nvPr/>
        </p:nvSpPr>
        <p:spPr>
          <a:xfrm>
            <a:off x="793790" y="7048976"/>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시장 진입 전략 및 실행 계획</a:t>
            </a:r>
            <a:endParaRPr lang="en-US" sz="1550" dirty="0"/>
          </a:p>
        </p:txBody>
      </p:sp>
      <p:sp>
        <p:nvSpPr>
          <p:cNvPr id="12" name="Text 10"/>
          <p:cNvSpPr/>
          <p:nvPr/>
        </p:nvSpPr>
        <p:spPr>
          <a:xfrm>
            <a:off x="793790" y="7564874"/>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00000"/>
                </a:solidFill>
                <a:latin typeface="Inter Bold" pitchFamily="34" charset="0"/>
                <a:ea typeface="Inter Bold" pitchFamily="34" charset="-122"/>
                <a:cs typeface="Inter Bold" pitchFamily="34" charset="-120"/>
              </a:rPr>
              <a:t>분석 방법론</a:t>
            </a:r>
            <a:endParaRPr lang="en-US" sz="1950" dirty="0"/>
          </a:p>
        </p:txBody>
      </p:sp>
      <p:sp>
        <p:nvSpPr>
          <p:cNvPr id="13" name="Text 11"/>
          <p:cNvSpPr/>
          <p:nvPr/>
        </p:nvSpPr>
        <p:spPr>
          <a:xfrm>
            <a:off x="793790" y="8073390"/>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맥킨지식 구조화 접근법을 활용하여 정량적 데이터와 정성적 인사이트를 결합했습니다. World → Country → Industry → Market → Firm → Product → Strategy의 7단계 프레임워크를 통해 체계적으로 분석을 진행했습니다.</a:t>
            </a:r>
            <a:endParaRPr lang="en-US" sz="1550" dirty="0"/>
          </a:p>
        </p:txBody>
      </p:sp>
      <p:sp>
        <p:nvSpPr>
          <p:cNvPr id="14" name="Text 12"/>
          <p:cNvSpPr/>
          <p:nvPr/>
        </p:nvSpPr>
        <p:spPr>
          <a:xfrm>
            <a:off x="8917543" y="288428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00000"/>
                </a:solidFill>
                <a:latin typeface="Inter Bold" pitchFamily="34" charset="0"/>
                <a:ea typeface="Inter Bold" pitchFamily="34" charset="-122"/>
                <a:cs typeface="Inter Bold" pitchFamily="34" charset="-120"/>
              </a:rPr>
              <a:t>핵심 결과 요약</a:t>
            </a:r>
            <a:endParaRPr lang="en-US" sz="1950" dirty="0"/>
          </a:p>
        </p:txBody>
      </p:sp>
      <p:sp>
        <p:nvSpPr>
          <p:cNvPr id="15" name="Shape 13"/>
          <p:cNvSpPr/>
          <p:nvPr/>
        </p:nvSpPr>
        <p:spPr>
          <a:xfrm>
            <a:off x="8917543" y="3417689"/>
            <a:ext cx="4926568" cy="1555552"/>
          </a:xfrm>
          <a:prstGeom prst="roundRect">
            <a:avLst>
              <a:gd name="adj" fmla="val 5359"/>
            </a:avLst>
          </a:prstGeom>
          <a:solidFill>
            <a:srgbClr val="DADBF1"/>
          </a:solidFill>
          <a:ln w="7620">
            <a:solidFill>
              <a:srgbClr val="C0C1D7"/>
            </a:solidFill>
            <a:prstDash val="solid"/>
          </a:ln>
        </p:spPr>
      </p:sp>
      <p:sp>
        <p:nvSpPr>
          <p:cNvPr id="16" name="Text 14"/>
          <p:cNvSpPr/>
          <p:nvPr/>
        </p:nvSpPr>
        <p:spPr>
          <a:xfrm>
            <a:off x="9123521" y="362366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Inter Bold" pitchFamily="34" charset="0"/>
                <a:ea typeface="Inter Bold" pitchFamily="34" charset="-122"/>
                <a:cs typeface="Inter Bold" pitchFamily="34" charset="-120"/>
              </a:rPr>
              <a:t>시장 기회</a:t>
            </a:r>
            <a:endParaRPr lang="en-US" sz="1950" dirty="0"/>
          </a:p>
        </p:txBody>
      </p:sp>
      <p:sp>
        <p:nvSpPr>
          <p:cNvPr id="17" name="Text 15"/>
          <p:cNvSpPr/>
          <p:nvPr/>
        </p:nvSpPr>
        <p:spPr>
          <a:xfrm>
            <a:off x="9123521" y="4132183"/>
            <a:ext cx="4514612"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미국 Bone Broth 시장의 고성장과 K-Food 확산이 만나는 전략적 기회</a:t>
            </a:r>
            <a:endParaRPr lang="en-US" sz="1550" dirty="0"/>
          </a:p>
        </p:txBody>
      </p:sp>
      <p:sp>
        <p:nvSpPr>
          <p:cNvPr id="18" name="Shape 16"/>
          <p:cNvSpPr/>
          <p:nvPr/>
        </p:nvSpPr>
        <p:spPr>
          <a:xfrm>
            <a:off x="8917543" y="5171599"/>
            <a:ext cx="4926568" cy="1238012"/>
          </a:xfrm>
          <a:prstGeom prst="roundRect">
            <a:avLst>
              <a:gd name="adj" fmla="val 6733"/>
            </a:avLst>
          </a:prstGeom>
          <a:solidFill>
            <a:srgbClr val="DADBF1"/>
          </a:solidFill>
          <a:ln w="7620">
            <a:solidFill>
              <a:srgbClr val="C0C1D7"/>
            </a:solidFill>
            <a:prstDash val="solid"/>
          </a:ln>
        </p:spPr>
      </p:sp>
      <p:sp>
        <p:nvSpPr>
          <p:cNvPr id="19" name="Text 17"/>
          <p:cNvSpPr/>
          <p:nvPr/>
        </p:nvSpPr>
        <p:spPr>
          <a:xfrm>
            <a:off x="9123521" y="537757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Inter Bold" pitchFamily="34" charset="0"/>
                <a:ea typeface="Inter Bold" pitchFamily="34" charset="-122"/>
                <a:cs typeface="Inter Bold" pitchFamily="34" charset="-120"/>
              </a:rPr>
              <a:t>경쟁 우위</a:t>
            </a:r>
            <a:endParaRPr lang="en-US" sz="1950" dirty="0"/>
          </a:p>
        </p:txBody>
      </p:sp>
      <p:sp>
        <p:nvSpPr>
          <p:cNvPr id="20" name="Text 18"/>
          <p:cNvSpPr/>
          <p:nvPr/>
        </p:nvSpPr>
        <p:spPr>
          <a:xfrm>
            <a:off x="9123521" y="5886093"/>
            <a:ext cx="4514612"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한우 기반 프리미엄 품질과 클린라벨 포지셔닝</a:t>
            </a:r>
            <a:endParaRPr lang="en-US" sz="1550" dirty="0"/>
          </a:p>
        </p:txBody>
      </p:sp>
      <p:sp>
        <p:nvSpPr>
          <p:cNvPr id="21" name="Shape 19"/>
          <p:cNvSpPr/>
          <p:nvPr/>
        </p:nvSpPr>
        <p:spPr>
          <a:xfrm>
            <a:off x="8917543" y="6607969"/>
            <a:ext cx="4926568" cy="1238012"/>
          </a:xfrm>
          <a:prstGeom prst="roundRect">
            <a:avLst>
              <a:gd name="adj" fmla="val 6733"/>
            </a:avLst>
          </a:prstGeom>
          <a:solidFill>
            <a:srgbClr val="DADBF1"/>
          </a:solidFill>
          <a:ln w="7620">
            <a:solidFill>
              <a:srgbClr val="C0C1D7"/>
            </a:solidFill>
            <a:prstDash val="solid"/>
          </a:ln>
        </p:spPr>
      </p:sp>
      <p:sp>
        <p:nvSpPr>
          <p:cNvPr id="22" name="Text 20"/>
          <p:cNvSpPr/>
          <p:nvPr/>
        </p:nvSpPr>
        <p:spPr>
          <a:xfrm>
            <a:off x="9123521" y="681394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Inter Bold" pitchFamily="34" charset="0"/>
                <a:ea typeface="Inter Bold" pitchFamily="34" charset="-122"/>
                <a:cs typeface="Inter Bold" pitchFamily="34" charset="-120"/>
              </a:rPr>
              <a:t>성공 요인</a:t>
            </a:r>
            <a:endParaRPr lang="en-US" sz="1950" dirty="0"/>
          </a:p>
        </p:txBody>
      </p:sp>
      <p:sp>
        <p:nvSpPr>
          <p:cNvPr id="23" name="Text 21"/>
          <p:cNvSpPr/>
          <p:nvPr/>
        </p:nvSpPr>
        <p:spPr>
          <a:xfrm>
            <a:off x="9123521" y="7322463"/>
            <a:ext cx="4514612"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FDA 규정 준수, 현지화, 단계적 유통 확대</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10972800"/>
          </a:xfrm>
          <a:prstGeom prst="rect">
            <a:avLst/>
          </a:prstGeom>
        </p:spPr>
      </p:pic>
      <p:sp>
        <p:nvSpPr>
          <p:cNvPr id="3" name="Text 0"/>
          <p:cNvSpPr/>
          <p:nvPr/>
        </p:nvSpPr>
        <p:spPr>
          <a:xfrm>
            <a:off x="6280190" y="577453"/>
            <a:ext cx="4713684" cy="589121"/>
          </a:xfrm>
          <a:prstGeom prst="rect">
            <a:avLst/>
          </a:prstGeom>
          <a:noFill/>
          <a:ln/>
        </p:spPr>
        <p:txBody>
          <a:bodyPr wrap="none" lIns="0" tIns="0" rIns="0" bIns="0" rtlCol="0" anchor="t"/>
          <a:lstStyle/>
          <a:p>
            <a:pPr algn="l" indent="0" marL="0">
              <a:lnSpc>
                <a:spcPts val="4600"/>
              </a:lnSpc>
              <a:buNone/>
            </a:pPr>
            <a:r>
              <a:rPr lang="en-US" sz="3700" b="1" dirty="0">
                <a:solidFill>
                  <a:srgbClr val="000000"/>
                </a:solidFill>
                <a:latin typeface="Inter Bold" pitchFamily="34" charset="0"/>
                <a:ea typeface="Inter Bold" pitchFamily="34" charset="-122"/>
                <a:cs typeface="Inter Bold" pitchFamily="34" charset="-120"/>
              </a:rPr>
              <a:t>분석 프레임워크</a:t>
            </a:r>
            <a:endParaRPr lang="en-US" sz="3700" dirty="0"/>
          </a:p>
        </p:txBody>
      </p:sp>
      <p:sp>
        <p:nvSpPr>
          <p:cNvPr id="4" name="Text 1"/>
          <p:cNvSpPr/>
          <p:nvPr/>
        </p:nvSpPr>
        <p:spPr>
          <a:xfrm>
            <a:off x="6280190" y="1449348"/>
            <a:ext cx="7556421" cy="603409"/>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본 프로젝트는 거시적 환경에서 미시적 실행 전략까지 7단계로 구조화된 분석 프레임워크를 따릅니다. 각 단계는 다음 단계의 기반이 되며, 전체적으로 일관된 전략적 방향성을 제시합니다.</a:t>
            </a:r>
            <a:endParaRPr lang="en-US" sz="1450" dirty="0"/>
          </a:p>
        </p:txBody>
      </p:sp>
      <p:pic>
        <p:nvPicPr>
          <p:cNvPr id="5" name="Image 1" descr="preencoded.png">    </p:cNvPr>
          <p:cNvPicPr>
            <a:picLocks noChangeAspect="1"/>
          </p:cNvPicPr>
          <p:nvPr/>
        </p:nvPicPr>
        <p:blipFill>
          <a:blip r:embed="rId2"/>
          <a:stretch>
            <a:fillRect/>
          </a:stretch>
        </p:blipFill>
        <p:spPr>
          <a:xfrm>
            <a:off x="6280190" y="2264807"/>
            <a:ext cx="942737" cy="1131213"/>
          </a:xfrm>
          <a:prstGeom prst="rect">
            <a:avLst/>
          </a:prstGeom>
        </p:spPr>
      </p:pic>
      <p:sp>
        <p:nvSpPr>
          <p:cNvPr id="6" name="Text 2"/>
          <p:cNvSpPr/>
          <p:nvPr/>
        </p:nvSpPr>
        <p:spPr>
          <a:xfrm>
            <a:off x="7411403" y="2453283"/>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World</a:t>
            </a:r>
            <a:endParaRPr lang="en-US" sz="1850" dirty="0"/>
          </a:p>
        </p:txBody>
      </p:sp>
      <p:sp>
        <p:nvSpPr>
          <p:cNvPr id="7" name="Text 3"/>
          <p:cNvSpPr/>
          <p:nvPr/>
        </p:nvSpPr>
        <p:spPr>
          <a:xfrm>
            <a:off x="7411403" y="2861072"/>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글로벌 무역·FDI 환경, 식품 규범, 소비 트렌드</a:t>
            </a:r>
            <a:endParaRPr lang="en-US" sz="1450" dirty="0"/>
          </a:p>
        </p:txBody>
      </p:sp>
      <p:pic>
        <p:nvPicPr>
          <p:cNvPr id="8" name="Image 2" descr="preencoded.png">    </p:cNvPr>
          <p:cNvPicPr>
            <a:picLocks noChangeAspect="1"/>
          </p:cNvPicPr>
          <p:nvPr/>
        </p:nvPicPr>
        <p:blipFill>
          <a:blip r:embed="rId3"/>
          <a:stretch>
            <a:fillRect/>
          </a:stretch>
        </p:blipFill>
        <p:spPr>
          <a:xfrm>
            <a:off x="6280190" y="3396020"/>
            <a:ext cx="942737" cy="1131213"/>
          </a:xfrm>
          <a:prstGeom prst="rect">
            <a:avLst/>
          </a:prstGeom>
        </p:spPr>
      </p:pic>
      <p:sp>
        <p:nvSpPr>
          <p:cNvPr id="9" name="Text 4"/>
          <p:cNvSpPr/>
          <p:nvPr/>
        </p:nvSpPr>
        <p:spPr>
          <a:xfrm>
            <a:off x="7411403" y="3584496"/>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Country</a:t>
            </a:r>
            <a:endParaRPr lang="en-US" sz="1850" dirty="0"/>
          </a:p>
        </p:txBody>
      </p:sp>
      <p:sp>
        <p:nvSpPr>
          <p:cNvPr id="10" name="Text 5"/>
          <p:cNvSpPr/>
          <p:nvPr/>
        </p:nvSpPr>
        <p:spPr>
          <a:xfrm>
            <a:off x="7411403" y="3992285"/>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미국의 정치·경제·사회·기술 환경 분석</a:t>
            </a:r>
            <a:endParaRPr lang="en-US" sz="1450" dirty="0"/>
          </a:p>
        </p:txBody>
      </p:sp>
      <p:pic>
        <p:nvPicPr>
          <p:cNvPr id="11" name="Image 3" descr="preencoded.png">    </p:cNvPr>
          <p:cNvPicPr>
            <a:picLocks noChangeAspect="1"/>
          </p:cNvPicPr>
          <p:nvPr/>
        </p:nvPicPr>
        <p:blipFill>
          <a:blip r:embed="rId4"/>
          <a:stretch>
            <a:fillRect/>
          </a:stretch>
        </p:blipFill>
        <p:spPr>
          <a:xfrm>
            <a:off x="6280190" y="4527233"/>
            <a:ext cx="942737" cy="1131213"/>
          </a:xfrm>
          <a:prstGeom prst="rect">
            <a:avLst/>
          </a:prstGeom>
        </p:spPr>
      </p:pic>
      <p:sp>
        <p:nvSpPr>
          <p:cNvPr id="12" name="Text 6"/>
          <p:cNvSpPr/>
          <p:nvPr/>
        </p:nvSpPr>
        <p:spPr>
          <a:xfrm>
            <a:off x="7411403" y="4715708"/>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Industry</a:t>
            </a:r>
            <a:endParaRPr lang="en-US" sz="1850" dirty="0"/>
          </a:p>
        </p:txBody>
      </p:sp>
      <p:sp>
        <p:nvSpPr>
          <p:cNvPr id="13" name="Text 7"/>
          <p:cNvSpPr/>
          <p:nvPr/>
        </p:nvSpPr>
        <p:spPr>
          <a:xfrm>
            <a:off x="7411403" y="5123498"/>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HMR 및 Bone Broth 산업 구조와 경쟁 환경</a:t>
            </a:r>
            <a:endParaRPr lang="en-US" sz="1450" dirty="0"/>
          </a:p>
        </p:txBody>
      </p:sp>
      <p:pic>
        <p:nvPicPr>
          <p:cNvPr id="14" name="Image 4" descr="preencoded.png">    </p:cNvPr>
          <p:cNvPicPr>
            <a:picLocks noChangeAspect="1"/>
          </p:cNvPicPr>
          <p:nvPr/>
        </p:nvPicPr>
        <p:blipFill>
          <a:blip r:embed="rId5"/>
          <a:stretch>
            <a:fillRect/>
          </a:stretch>
        </p:blipFill>
        <p:spPr>
          <a:xfrm>
            <a:off x="6280190" y="5658445"/>
            <a:ext cx="942737" cy="1131213"/>
          </a:xfrm>
          <a:prstGeom prst="rect">
            <a:avLst/>
          </a:prstGeom>
        </p:spPr>
      </p:pic>
      <p:sp>
        <p:nvSpPr>
          <p:cNvPr id="15" name="Text 8"/>
          <p:cNvSpPr/>
          <p:nvPr/>
        </p:nvSpPr>
        <p:spPr>
          <a:xfrm>
            <a:off x="7411403" y="5846921"/>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Market</a:t>
            </a:r>
            <a:endParaRPr lang="en-US" sz="1850" dirty="0"/>
          </a:p>
        </p:txBody>
      </p:sp>
      <p:sp>
        <p:nvSpPr>
          <p:cNvPr id="16" name="Text 9"/>
          <p:cNvSpPr/>
          <p:nvPr/>
        </p:nvSpPr>
        <p:spPr>
          <a:xfrm>
            <a:off x="7411403" y="6254710"/>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K-Food 시장 규모, 소비자 세그먼트, 경쟁사</a:t>
            </a:r>
            <a:endParaRPr lang="en-US" sz="1450" dirty="0"/>
          </a:p>
        </p:txBody>
      </p:sp>
      <p:pic>
        <p:nvPicPr>
          <p:cNvPr id="17" name="Image 5" descr="preencoded.png">    </p:cNvPr>
          <p:cNvPicPr>
            <a:picLocks noChangeAspect="1"/>
          </p:cNvPicPr>
          <p:nvPr/>
        </p:nvPicPr>
        <p:blipFill>
          <a:blip r:embed="rId6"/>
          <a:stretch>
            <a:fillRect/>
          </a:stretch>
        </p:blipFill>
        <p:spPr>
          <a:xfrm>
            <a:off x="6280190" y="7001708"/>
            <a:ext cx="942737" cy="1131213"/>
          </a:xfrm>
          <a:prstGeom prst="rect">
            <a:avLst/>
          </a:prstGeom>
        </p:spPr>
      </p:pic>
      <p:sp>
        <p:nvSpPr>
          <p:cNvPr id="18" name="Text 10"/>
          <p:cNvSpPr/>
          <p:nvPr/>
        </p:nvSpPr>
        <p:spPr>
          <a:xfrm>
            <a:off x="7411403" y="7190184"/>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Firm</a:t>
            </a:r>
            <a:endParaRPr lang="en-US" sz="1850" dirty="0"/>
          </a:p>
        </p:txBody>
      </p:sp>
      <p:sp>
        <p:nvSpPr>
          <p:cNvPr id="19" name="Text 11"/>
          <p:cNvSpPr/>
          <p:nvPr/>
        </p:nvSpPr>
        <p:spPr>
          <a:xfrm>
            <a:off x="7411403" y="7597973"/>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완주의선물의 핵심 역량과 경쟁 우위</a:t>
            </a:r>
            <a:endParaRPr lang="en-US" sz="1450" dirty="0"/>
          </a:p>
        </p:txBody>
      </p:sp>
      <p:pic>
        <p:nvPicPr>
          <p:cNvPr id="20" name="Image 6" descr="preencoded.png">    </p:cNvPr>
          <p:cNvPicPr>
            <a:picLocks noChangeAspect="1"/>
          </p:cNvPicPr>
          <p:nvPr/>
        </p:nvPicPr>
        <p:blipFill>
          <a:blip r:embed="rId7"/>
          <a:stretch>
            <a:fillRect/>
          </a:stretch>
        </p:blipFill>
        <p:spPr>
          <a:xfrm>
            <a:off x="6280190" y="8132921"/>
            <a:ext cx="942737" cy="1131213"/>
          </a:xfrm>
          <a:prstGeom prst="rect">
            <a:avLst/>
          </a:prstGeom>
        </p:spPr>
      </p:pic>
      <p:sp>
        <p:nvSpPr>
          <p:cNvPr id="21" name="Text 12"/>
          <p:cNvSpPr/>
          <p:nvPr/>
        </p:nvSpPr>
        <p:spPr>
          <a:xfrm>
            <a:off x="7411403" y="8321397"/>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Product</a:t>
            </a:r>
            <a:endParaRPr lang="en-US" sz="1850" dirty="0"/>
          </a:p>
        </p:txBody>
      </p:sp>
      <p:sp>
        <p:nvSpPr>
          <p:cNvPr id="22" name="Text 13"/>
          <p:cNvSpPr/>
          <p:nvPr/>
        </p:nvSpPr>
        <p:spPr>
          <a:xfrm>
            <a:off x="7411403" y="8729186"/>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제품 특징, 영양 성분, 포지셔닝</a:t>
            </a:r>
            <a:endParaRPr lang="en-US" sz="1450" dirty="0"/>
          </a:p>
        </p:txBody>
      </p:sp>
      <p:pic>
        <p:nvPicPr>
          <p:cNvPr id="23" name="Image 7" descr="preencoded.png">    </p:cNvPr>
          <p:cNvPicPr>
            <a:picLocks noChangeAspect="1"/>
          </p:cNvPicPr>
          <p:nvPr/>
        </p:nvPicPr>
        <p:blipFill>
          <a:blip r:embed="rId8"/>
          <a:stretch>
            <a:fillRect/>
          </a:stretch>
        </p:blipFill>
        <p:spPr>
          <a:xfrm>
            <a:off x="6280190" y="9264134"/>
            <a:ext cx="942737" cy="1131213"/>
          </a:xfrm>
          <a:prstGeom prst="rect">
            <a:avLst/>
          </a:prstGeom>
        </p:spPr>
      </p:pic>
      <p:sp>
        <p:nvSpPr>
          <p:cNvPr id="24" name="Text 14"/>
          <p:cNvSpPr/>
          <p:nvPr/>
        </p:nvSpPr>
        <p:spPr>
          <a:xfrm>
            <a:off x="7411403" y="9452610"/>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Strategy</a:t>
            </a:r>
            <a:endParaRPr lang="en-US" sz="1850" dirty="0"/>
          </a:p>
        </p:txBody>
      </p:sp>
      <p:sp>
        <p:nvSpPr>
          <p:cNvPr id="25" name="Text 15"/>
          <p:cNvSpPr/>
          <p:nvPr/>
        </p:nvSpPr>
        <p:spPr>
          <a:xfrm>
            <a:off x="7411403" y="9860399"/>
            <a:ext cx="6425208"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타겟팅, 포지셔닝, 4P 전략, 실행 로드맵</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32021"/>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000000"/>
                </a:solidFill>
                <a:latin typeface="Inter Bold" pitchFamily="34" charset="0"/>
                <a:ea typeface="Inter Bold" pitchFamily="34" charset="-122"/>
                <a:cs typeface="Inter Bold" pitchFamily="34" charset="-120"/>
              </a:rPr>
              <a:t>글로벌 환경 변화</a:t>
            </a:r>
            <a:endParaRPr lang="en-US" sz="3900" dirty="0"/>
          </a:p>
        </p:txBody>
      </p:sp>
      <p:sp>
        <p:nvSpPr>
          <p:cNvPr id="3" name="Text 1"/>
          <p:cNvSpPr/>
          <p:nvPr/>
        </p:nvSpPr>
        <p:spPr>
          <a:xfrm>
            <a:off x="793790" y="2048113"/>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글로벌 무역 및 FDI 환경</a:t>
            </a:r>
            <a:endParaRPr lang="en-US" sz="2300" dirty="0"/>
          </a:p>
        </p:txBody>
      </p:sp>
      <p:sp>
        <p:nvSpPr>
          <p:cNvPr id="4" name="Text 2"/>
          <p:cNvSpPr/>
          <p:nvPr/>
        </p:nvSpPr>
        <p:spPr>
          <a:xfrm>
            <a:off x="793790" y="261854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최근 10년간 글로벌 식품 산업의 FDI는 지속적으로 증가하고 있으며, 특히 아시아 기업들의 미국 시장 진출이 활발합니다. 그러나 동시에 보호무역주의 강화와 식품 규제 강화로 인해 진입 장벽도 높아지고 있습니다.</a:t>
            </a:r>
            <a:endParaRPr lang="en-US" sz="1550" dirty="0"/>
          </a:p>
        </p:txBody>
      </p:sp>
      <p:sp>
        <p:nvSpPr>
          <p:cNvPr id="5" name="Text 3"/>
          <p:cNvSpPr/>
          <p:nvPr/>
        </p:nvSpPr>
        <p:spPr>
          <a:xfrm>
            <a:off x="793790" y="376951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00000"/>
                </a:solidFill>
                <a:latin typeface="Inter Bold" pitchFamily="34" charset="0"/>
                <a:ea typeface="Inter Bold" pitchFamily="34" charset="-122"/>
                <a:cs typeface="Inter Bold" pitchFamily="34" charset="-120"/>
              </a:rPr>
              <a:t>주요 변화</a:t>
            </a:r>
            <a:endParaRPr lang="en-US" sz="1950" dirty="0"/>
          </a:p>
        </p:txBody>
      </p:sp>
      <p:sp>
        <p:nvSpPr>
          <p:cNvPr id="6" name="Text 4"/>
          <p:cNvSpPr/>
          <p:nvPr/>
        </p:nvSpPr>
        <p:spPr>
          <a:xfrm>
            <a:off x="793790" y="427803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아시아 → 미국 식품기업 FDI 증가</a:t>
            </a:r>
            <a:endParaRPr lang="en-US" sz="1550" dirty="0"/>
          </a:p>
        </p:txBody>
      </p:sp>
      <p:sp>
        <p:nvSpPr>
          <p:cNvPr id="7" name="Text 5"/>
          <p:cNvSpPr/>
          <p:nvPr/>
        </p:nvSpPr>
        <p:spPr>
          <a:xfrm>
            <a:off x="793790" y="466498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글로벌 보호무역 및 관세 장벽 강화</a:t>
            </a:r>
            <a:endParaRPr lang="en-US" sz="1550" dirty="0"/>
          </a:p>
        </p:txBody>
      </p:sp>
      <p:sp>
        <p:nvSpPr>
          <p:cNvPr id="8" name="Text 6"/>
          <p:cNvSpPr/>
          <p:nvPr/>
        </p:nvSpPr>
        <p:spPr>
          <a:xfrm>
            <a:off x="793790" y="505194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식품 안전 규제 강화 추세</a:t>
            </a:r>
            <a:endParaRPr lang="en-US" sz="1550" dirty="0"/>
          </a:p>
        </p:txBody>
      </p:sp>
      <p:sp>
        <p:nvSpPr>
          <p:cNvPr id="9" name="Text 7"/>
          <p:cNvSpPr/>
          <p:nvPr/>
        </p:nvSpPr>
        <p:spPr>
          <a:xfrm>
            <a:off x="793790" y="543889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교역 구조의 지역화·블록화</a:t>
            </a:r>
            <a:endParaRPr lang="en-US" sz="1550" dirty="0"/>
          </a:p>
        </p:txBody>
      </p:sp>
      <p:sp>
        <p:nvSpPr>
          <p:cNvPr id="10" name="Text 8"/>
          <p:cNvSpPr/>
          <p:nvPr/>
        </p:nvSpPr>
        <p:spPr>
          <a:xfrm>
            <a:off x="793790" y="5954792"/>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글로벌 식품 규범 변화</a:t>
            </a:r>
            <a:endParaRPr lang="en-US" sz="2300" dirty="0"/>
          </a:p>
        </p:txBody>
      </p:sp>
      <p:sp>
        <p:nvSpPr>
          <p:cNvPr id="11" name="Text 9"/>
          <p:cNvSpPr/>
          <p:nvPr/>
        </p:nvSpPr>
        <p:spPr>
          <a:xfrm>
            <a:off x="793790" y="652522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WTO와 Codex를 중심으로 식품 안전성 기준이 강화되고 있습니다. 성분표 표기, 첨가물 규제, 영양 정보 공개 등이 더욱 엄격해지고 있으며, FDA 기준과의 조화가 진행되고 있습니다.</a:t>
            </a:r>
            <a:endParaRPr lang="en-US" sz="1550" dirty="0"/>
          </a:p>
        </p:txBody>
      </p:sp>
      <p:sp>
        <p:nvSpPr>
          <p:cNvPr id="12" name="Text 10"/>
          <p:cNvSpPr/>
          <p:nvPr/>
        </p:nvSpPr>
        <p:spPr>
          <a:xfrm>
            <a:off x="793790" y="765643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Codex 식품 기준 지속적 증가</a:t>
            </a:r>
            <a:endParaRPr lang="en-US" sz="1550" dirty="0"/>
          </a:p>
        </p:txBody>
      </p:sp>
      <p:sp>
        <p:nvSpPr>
          <p:cNvPr id="13" name="Text 11"/>
          <p:cNvSpPr/>
          <p:nvPr/>
        </p:nvSpPr>
        <p:spPr>
          <a:xfrm>
            <a:off x="793790" y="804338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성분표 및 첨가물 규제 강화</a:t>
            </a:r>
            <a:endParaRPr lang="en-US" sz="1550" dirty="0"/>
          </a:p>
        </p:txBody>
      </p:sp>
      <p:sp>
        <p:nvSpPr>
          <p:cNvPr id="14" name="Text 12"/>
          <p:cNvSpPr/>
          <p:nvPr/>
        </p:nvSpPr>
        <p:spPr>
          <a:xfrm>
            <a:off x="793790" y="843033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FDA와 국제 기준의 표준화</a:t>
            </a:r>
            <a:endParaRPr lang="en-US" sz="1550" dirty="0"/>
          </a:p>
        </p:txBody>
      </p:sp>
      <p:sp>
        <p:nvSpPr>
          <p:cNvPr id="15" name="Text 13"/>
          <p:cNvSpPr/>
          <p:nvPr/>
        </p:nvSpPr>
        <p:spPr>
          <a:xfrm>
            <a:off x="793790" y="881729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투명성 및 추적성 요구 증대</a:t>
            </a:r>
            <a:endParaRPr lang="en-US" sz="1550" dirty="0"/>
          </a:p>
        </p:txBody>
      </p:sp>
      <p:sp>
        <p:nvSpPr>
          <p:cNvPr id="16" name="Text 14"/>
          <p:cNvSpPr/>
          <p:nvPr/>
        </p:nvSpPr>
        <p:spPr>
          <a:xfrm>
            <a:off x="7564874" y="2048113"/>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글로벌 소비 트렌드</a:t>
            </a:r>
            <a:endParaRPr lang="en-US" sz="2300" dirty="0"/>
          </a:p>
        </p:txBody>
      </p:sp>
      <p:sp>
        <p:nvSpPr>
          <p:cNvPr id="17" name="Shape 15"/>
          <p:cNvSpPr/>
          <p:nvPr/>
        </p:nvSpPr>
        <p:spPr>
          <a:xfrm>
            <a:off x="7564874" y="2643426"/>
            <a:ext cx="6279356" cy="1586032"/>
          </a:xfrm>
          <a:prstGeom prst="roundRect">
            <a:avLst>
              <a:gd name="adj" fmla="val 5256"/>
            </a:avLst>
          </a:prstGeom>
          <a:solidFill>
            <a:srgbClr val="FFFFFF"/>
          </a:solidFill>
          <a:ln w="22860">
            <a:solidFill>
              <a:srgbClr val="C0C1D7"/>
            </a:solidFill>
            <a:prstDash val="solid"/>
          </a:ln>
        </p:spPr>
      </p:sp>
      <p:sp>
        <p:nvSpPr>
          <p:cNvPr id="18" name="Text 16"/>
          <p:cNvSpPr/>
          <p:nvPr/>
        </p:nvSpPr>
        <p:spPr>
          <a:xfrm>
            <a:off x="7786092" y="2864644"/>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Inter Bold" pitchFamily="34" charset="0"/>
                <a:ea typeface="Inter Bold" pitchFamily="34" charset="-122"/>
                <a:cs typeface="Inter Bold" pitchFamily="34" charset="-120"/>
              </a:rPr>
              <a:t>단백질 중심 식단</a:t>
            </a:r>
            <a:endParaRPr lang="en-US" sz="1950" dirty="0"/>
          </a:p>
        </p:txBody>
      </p:sp>
      <p:sp>
        <p:nvSpPr>
          <p:cNvPr id="19" name="Text 17"/>
          <p:cNvSpPr/>
          <p:nvPr/>
        </p:nvSpPr>
        <p:spPr>
          <a:xfrm>
            <a:off x="7786092" y="3373160"/>
            <a:ext cx="5836920"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고단백·저탄수화물 식단에 대한 수요가 급증하며 Bone Broth 같은 단백질 기반 제품이 주목받고 있습니다.</a:t>
            </a:r>
            <a:endParaRPr lang="en-US" sz="1550" dirty="0"/>
          </a:p>
        </p:txBody>
      </p:sp>
      <p:sp>
        <p:nvSpPr>
          <p:cNvPr id="20" name="Shape 18"/>
          <p:cNvSpPr/>
          <p:nvPr/>
        </p:nvSpPr>
        <p:spPr>
          <a:xfrm>
            <a:off x="7564874" y="4427815"/>
            <a:ext cx="6279356" cy="1586032"/>
          </a:xfrm>
          <a:prstGeom prst="roundRect">
            <a:avLst>
              <a:gd name="adj" fmla="val 5256"/>
            </a:avLst>
          </a:prstGeom>
          <a:solidFill>
            <a:srgbClr val="FFFFFF"/>
          </a:solidFill>
          <a:ln w="22860">
            <a:solidFill>
              <a:srgbClr val="C0C1D7"/>
            </a:solidFill>
            <a:prstDash val="solid"/>
          </a:ln>
        </p:spPr>
      </p:sp>
      <p:sp>
        <p:nvSpPr>
          <p:cNvPr id="21" name="Text 19"/>
          <p:cNvSpPr/>
          <p:nvPr/>
        </p:nvSpPr>
        <p:spPr>
          <a:xfrm>
            <a:off x="7786092" y="464903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Inter Bold" pitchFamily="34" charset="0"/>
                <a:ea typeface="Inter Bold" pitchFamily="34" charset="-122"/>
                <a:cs typeface="Inter Bold" pitchFamily="34" charset="-120"/>
              </a:rPr>
              <a:t>클린라벨 선호</a:t>
            </a:r>
            <a:endParaRPr lang="en-US" sz="1950" dirty="0"/>
          </a:p>
        </p:txBody>
      </p:sp>
      <p:sp>
        <p:nvSpPr>
          <p:cNvPr id="22" name="Text 20"/>
          <p:cNvSpPr/>
          <p:nvPr/>
        </p:nvSpPr>
        <p:spPr>
          <a:xfrm>
            <a:off x="7786092" y="5157549"/>
            <a:ext cx="5836920"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무첨가, 자연 원료, 투명한 성분표를 선호하는 소비자가 증가하고 있습니다.</a:t>
            </a:r>
            <a:endParaRPr lang="en-US" sz="1550" dirty="0"/>
          </a:p>
        </p:txBody>
      </p:sp>
      <p:sp>
        <p:nvSpPr>
          <p:cNvPr id="23" name="Shape 21"/>
          <p:cNvSpPr/>
          <p:nvPr/>
        </p:nvSpPr>
        <p:spPr>
          <a:xfrm>
            <a:off x="7564874" y="6212205"/>
            <a:ext cx="6279356" cy="1586032"/>
          </a:xfrm>
          <a:prstGeom prst="roundRect">
            <a:avLst>
              <a:gd name="adj" fmla="val 5256"/>
            </a:avLst>
          </a:prstGeom>
          <a:solidFill>
            <a:srgbClr val="FFFFFF"/>
          </a:solidFill>
          <a:ln w="22860">
            <a:solidFill>
              <a:srgbClr val="C0C1D7"/>
            </a:solidFill>
            <a:prstDash val="solid"/>
          </a:ln>
        </p:spPr>
      </p:sp>
      <p:sp>
        <p:nvSpPr>
          <p:cNvPr id="24" name="Text 22"/>
          <p:cNvSpPr/>
          <p:nvPr/>
        </p:nvSpPr>
        <p:spPr>
          <a:xfrm>
            <a:off x="7786092" y="643342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Inter Bold" pitchFamily="34" charset="0"/>
                <a:ea typeface="Inter Bold" pitchFamily="34" charset="-122"/>
                <a:cs typeface="Inter Bold" pitchFamily="34" charset="-120"/>
              </a:rPr>
              <a:t>RTD 시장 성장</a:t>
            </a:r>
            <a:endParaRPr lang="en-US" sz="1950" dirty="0"/>
          </a:p>
        </p:txBody>
      </p:sp>
      <p:sp>
        <p:nvSpPr>
          <p:cNvPr id="25" name="Text 23"/>
          <p:cNvSpPr/>
          <p:nvPr/>
        </p:nvSpPr>
        <p:spPr>
          <a:xfrm>
            <a:off x="7786092" y="6941939"/>
            <a:ext cx="5836920"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Ready-to-Drink 및 Ready Meal 시장이 빠르게 성장하며 편의성과 건강을 동시에 추구합니다.</a:t>
            </a:r>
            <a:endParaRPr lang="en-US" sz="1550" dirty="0"/>
          </a:p>
        </p:txBody>
      </p:sp>
      <p:sp>
        <p:nvSpPr>
          <p:cNvPr id="26" name="Text 24"/>
          <p:cNvSpPr/>
          <p:nvPr/>
        </p:nvSpPr>
        <p:spPr>
          <a:xfrm>
            <a:off x="7564874" y="8021479"/>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K-푸드 글로벌 확산</a:t>
            </a:r>
            <a:endParaRPr lang="en-US" sz="2300" dirty="0"/>
          </a:p>
        </p:txBody>
      </p:sp>
      <p:sp>
        <p:nvSpPr>
          <p:cNvPr id="27" name="Text 25"/>
          <p:cNvSpPr/>
          <p:nvPr/>
        </p:nvSpPr>
        <p:spPr>
          <a:xfrm>
            <a:off x="7564874" y="8591907"/>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한류 콘텐츠의 영향으로 K-푸드에 대한 글로벌 관심이 급증하고 있습니다. SNS와 유튜브를 통한 바이럴 마케팅이 효과적이며, K-푸드는 프리미엄 이미지를 구축하고 있습니다. 특히 K-Soup와 Bone Broth는 자연스러운 연결고리를 가지고 있어 시장 진입에 유리합니다.</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95551"/>
            <a:ext cx="4217551" cy="527090"/>
          </a:xfrm>
          <a:prstGeom prst="rect">
            <a:avLst/>
          </a:prstGeom>
          <a:noFill/>
          <a:ln/>
        </p:spPr>
        <p:txBody>
          <a:bodyPr wrap="none" lIns="0" tIns="0" rIns="0" bIns="0" rtlCol="0" anchor="t"/>
          <a:lstStyle/>
          <a:p>
            <a:pPr algn="l" indent="0" marL="0">
              <a:lnSpc>
                <a:spcPts val="4150"/>
              </a:lnSpc>
              <a:buNone/>
            </a:pPr>
            <a:r>
              <a:rPr lang="en-US" sz="3300" b="1" dirty="0">
                <a:solidFill>
                  <a:srgbClr val="000000"/>
                </a:solidFill>
                <a:latin typeface="Inter Bold" pitchFamily="34" charset="0"/>
                <a:ea typeface="Inter Bold" pitchFamily="34" charset="-122"/>
                <a:cs typeface="Inter Bold" pitchFamily="34" charset="-120"/>
              </a:rPr>
              <a:t>미국 시장 환경 분석</a:t>
            </a:r>
            <a:endParaRPr lang="en-US" sz="3300" dirty="0"/>
          </a:p>
        </p:txBody>
      </p:sp>
      <p:sp>
        <p:nvSpPr>
          <p:cNvPr id="3" name="Text 1"/>
          <p:cNvSpPr/>
          <p:nvPr/>
        </p:nvSpPr>
        <p:spPr>
          <a:xfrm>
            <a:off x="793790" y="1190030"/>
            <a:ext cx="2825353" cy="316230"/>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정치·법적 환경 (FDA 중심)</a:t>
            </a:r>
            <a:endParaRPr lang="en-US" sz="1950" dirty="0"/>
          </a:p>
        </p:txBody>
      </p:sp>
      <p:sp>
        <p:nvSpPr>
          <p:cNvPr id="4" name="Text 2"/>
          <p:cNvSpPr/>
          <p:nvPr/>
        </p:nvSpPr>
        <p:spPr>
          <a:xfrm>
            <a:off x="793790" y="1911072"/>
            <a:ext cx="6988373" cy="809744"/>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미국 식품 시장 진입의 가장 큰 장벽은 FDA 규정입니다. 라벨링, 영양 성분 표기, 첨가물 사용 등에 대한 엄격한 기준을 준수해야 하며, 주별로 추가 규제가 존재합니다. 특히 캘리포니아의 Prop 65와 같은 주별 규정도 고려해야 합니다. 육류 기반 제품의 경우 USDA 기준도 함께 검토해야 합니다.</a:t>
            </a:r>
            <a:endParaRPr lang="en-US" sz="1300" dirty="0"/>
          </a:p>
        </p:txBody>
      </p:sp>
      <p:sp>
        <p:nvSpPr>
          <p:cNvPr id="5" name="Text 3"/>
          <p:cNvSpPr/>
          <p:nvPr/>
        </p:nvSpPr>
        <p:spPr>
          <a:xfrm>
            <a:off x="793790" y="2889409"/>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주요 규제 사항</a:t>
            </a:r>
            <a:endParaRPr lang="en-US" sz="1650" dirty="0"/>
          </a:p>
        </p:txBody>
      </p:sp>
      <p:sp>
        <p:nvSpPr>
          <p:cNvPr id="6" name="Text 4"/>
          <p:cNvSpPr/>
          <p:nvPr/>
        </p:nvSpPr>
        <p:spPr>
          <a:xfrm>
            <a:off x="793790" y="3321487"/>
            <a:ext cx="6988373"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FDA 식품 라벨링 규정 (영양 성분, 알레르기 정보)</a:t>
            </a:r>
            <a:endParaRPr lang="en-US" sz="1300" dirty="0"/>
          </a:p>
        </p:txBody>
      </p:sp>
      <p:sp>
        <p:nvSpPr>
          <p:cNvPr id="7" name="Text 5"/>
          <p:cNvSpPr/>
          <p:nvPr/>
        </p:nvSpPr>
        <p:spPr>
          <a:xfrm>
            <a:off x="793790" y="3650337"/>
            <a:ext cx="6988373"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첨가물 및 보존료 사용 제한</a:t>
            </a:r>
            <a:endParaRPr lang="en-US" sz="1300" dirty="0"/>
          </a:p>
        </p:txBody>
      </p:sp>
      <p:sp>
        <p:nvSpPr>
          <p:cNvPr id="8" name="Text 6"/>
          <p:cNvSpPr/>
          <p:nvPr/>
        </p:nvSpPr>
        <p:spPr>
          <a:xfrm>
            <a:off x="793790" y="3979188"/>
            <a:ext cx="6988373"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주별 추가 규제 (Prop 65 등)</a:t>
            </a:r>
            <a:endParaRPr lang="en-US" sz="1300" dirty="0"/>
          </a:p>
        </p:txBody>
      </p:sp>
      <p:sp>
        <p:nvSpPr>
          <p:cNvPr id="9" name="Text 7"/>
          <p:cNvSpPr/>
          <p:nvPr/>
        </p:nvSpPr>
        <p:spPr>
          <a:xfrm>
            <a:off x="793790" y="4308038"/>
            <a:ext cx="6988373"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USDA 육류 제품 기준</a:t>
            </a:r>
            <a:endParaRPr lang="en-US" sz="1300" dirty="0"/>
          </a:p>
        </p:txBody>
      </p:sp>
      <p:sp>
        <p:nvSpPr>
          <p:cNvPr id="10" name="Text 8"/>
          <p:cNvSpPr/>
          <p:nvPr/>
        </p:nvSpPr>
        <p:spPr>
          <a:xfrm>
            <a:off x="793790" y="4636889"/>
            <a:ext cx="6988373"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수입 식품 검역 및 인증</a:t>
            </a:r>
            <a:endParaRPr lang="en-US" sz="1300" dirty="0"/>
          </a:p>
        </p:txBody>
      </p:sp>
      <p:sp>
        <p:nvSpPr>
          <p:cNvPr id="11" name="Shape 9"/>
          <p:cNvSpPr/>
          <p:nvPr/>
        </p:nvSpPr>
        <p:spPr>
          <a:xfrm>
            <a:off x="8201263" y="1949053"/>
            <a:ext cx="5642848" cy="1084898"/>
          </a:xfrm>
          <a:prstGeom prst="roundRect">
            <a:avLst>
              <a:gd name="adj" fmla="val 10114"/>
            </a:avLst>
          </a:prstGeom>
          <a:solidFill>
            <a:srgbClr val="FFFFFF"/>
          </a:solidFill>
          <a:ln w="22860">
            <a:solidFill>
              <a:srgbClr val="C0C1D7"/>
            </a:solidFill>
            <a:prstDash val="solid"/>
          </a:ln>
        </p:spPr>
      </p:sp>
      <p:sp>
        <p:nvSpPr>
          <p:cNvPr id="12" name="Shape 10"/>
          <p:cNvSpPr/>
          <p:nvPr/>
        </p:nvSpPr>
        <p:spPr>
          <a:xfrm>
            <a:off x="8178403" y="1949053"/>
            <a:ext cx="91440" cy="1084898"/>
          </a:xfrm>
          <a:prstGeom prst="roundRect">
            <a:avLst>
              <a:gd name="adj" fmla="val 77488"/>
            </a:avLst>
          </a:prstGeom>
          <a:solidFill>
            <a:srgbClr val="4950BC"/>
          </a:solidFill>
          <a:ln/>
        </p:spPr>
      </p:sp>
      <p:sp>
        <p:nvSpPr>
          <p:cNvPr id="13" name="Text 11"/>
          <p:cNvSpPr/>
          <p:nvPr/>
        </p:nvSpPr>
        <p:spPr>
          <a:xfrm>
            <a:off x="8461296" y="2140506"/>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272525"/>
                </a:solidFill>
                <a:latin typeface="Inter Bold" pitchFamily="34" charset="0"/>
                <a:ea typeface="Inter Bold" pitchFamily="34" charset="-122"/>
                <a:cs typeface="Inter Bold" pitchFamily="34" charset="-120"/>
              </a:rPr>
              <a:t>라벨링</a:t>
            </a:r>
            <a:endParaRPr lang="en-US" sz="1650" dirty="0"/>
          </a:p>
        </p:txBody>
      </p:sp>
      <p:sp>
        <p:nvSpPr>
          <p:cNvPr id="14" name="Text 12"/>
          <p:cNvSpPr/>
          <p:nvPr/>
        </p:nvSpPr>
        <p:spPr>
          <a:xfrm>
            <a:off x="8461296" y="2572583"/>
            <a:ext cx="5191363" cy="269915"/>
          </a:xfrm>
          <a:prstGeom prst="rect">
            <a:avLst/>
          </a:prstGeom>
          <a:noFill/>
          <a:ln/>
        </p:spPr>
        <p:txBody>
          <a:bodyPr wrap="non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영양 성분, 알레르기 정보, 원산지 표기 필수</a:t>
            </a:r>
            <a:endParaRPr lang="en-US" sz="1300" dirty="0"/>
          </a:p>
        </p:txBody>
      </p:sp>
      <p:sp>
        <p:nvSpPr>
          <p:cNvPr id="15" name="Shape 13"/>
          <p:cNvSpPr/>
          <p:nvPr/>
        </p:nvSpPr>
        <p:spPr>
          <a:xfrm>
            <a:off x="8201263" y="3202543"/>
            <a:ext cx="5642848" cy="1084898"/>
          </a:xfrm>
          <a:prstGeom prst="roundRect">
            <a:avLst>
              <a:gd name="adj" fmla="val 10114"/>
            </a:avLst>
          </a:prstGeom>
          <a:solidFill>
            <a:srgbClr val="FFFFFF"/>
          </a:solidFill>
          <a:ln w="22860">
            <a:solidFill>
              <a:srgbClr val="C0C1D7"/>
            </a:solidFill>
            <a:prstDash val="solid"/>
          </a:ln>
        </p:spPr>
      </p:sp>
      <p:sp>
        <p:nvSpPr>
          <p:cNvPr id="16" name="Shape 14"/>
          <p:cNvSpPr/>
          <p:nvPr/>
        </p:nvSpPr>
        <p:spPr>
          <a:xfrm>
            <a:off x="8178403" y="3202543"/>
            <a:ext cx="91440" cy="1084898"/>
          </a:xfrm>
          <a:prstGeom prst="roundRect">
            <a:avLst>
              <a:gd name="adj" fmla="val 77488"/>
            </a:avLst>
          </a:prstGeom>
          <a:solidFill>
            <a:srgbClr val="4950BC"/>
          </a:solidFill>
          <a:ln/>
        </p:spPr>
      </p:sp>
      <p:sp>
        <p:nvSpPr>
          <p:cNvPr id="17" name="Text 15"/>
          <p:cNvSpPr/>
          <p:nvPr/>
        </p:nvSpPr>
        <p:spPr>
          <a:xfrm>
            <a:off x="8461296" y="3393996"/>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272525"/>
                </a:solidFill>
                <a:latin typeface="Inter Bold" pitchFamily="34" charset="0"/>
                <a:ea typeface="Inter Bold" pitchFamily="34" charset="-122"/>
                <a:cs typeface="Inter Bold" pitchFamily="34" charset="-120"/>
              </a:rPr>
              <a:t>성분 규제</a:t>
            </a:r>
            <a:endParaRPr lang="en-US" sz="1650" dirty="0"/>
          </a:p>
        </p:txBody>
      </p:sp>
      <p:sp>
        <p:nvSpPr>
          <p:cNvPr id="18" name="Text 16"/>
          <p:cNvSpPr/>
          <p:nvPr/>
        </p:nvSpPr>
        <p:spPr>
          <a:xfrm>
            <a:off x="8461296" y="3826073"/>
            <a:ext cx="5191363" cy="269915"/>
          </a:xfrm>
          <a:prstGeom prst="rect">
            <a:avLst/>
          </a:prstGeom>
          <a:noFill/>
          <a:ln/>
        </p:spPr>
        <p:txBody>
          <a:bodyPr wrap="non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FDA 승인 첨가물만 사용 가능</a:t>
            </a:r>
            <a:endParaRPr lang="en-US" sz="1300" dirty="0"/>
          </a:p>
        </p:txBody>
      </p:sp>
      <p:sp>
        <p:nvSpPr>
          <p:cNvPr id="19" name="Shape 17"/>
          <p:cNvSpPr/>
          <p:nvPr/>
        </p:nvSpPr>
        <p:spPr>
          <a:xfrm>
            <a:off x="8201263" y="4456033"/>
            <a:ext cx="5642848" cy="1084898"/>
          </a:xfrm>
          <a:prstGeom prst="roundRect">
            <a:avLst>
              <a:gd name="adj" fmla="val 10114"/>
            </a:avLst>
          </a:prstGeom>
          <a:solidFill>
            <a:srgbClr val="FFFFFF"/>
          </a:solidFill>
          <a:ln w="22860">
            <a:solidFill>
              <a:srgbClr val="C0C1D7"/>
            </a:solidFill>
            <a:prstDash val="solid"/>
          </a:ln>
        </p:spPr>
      </p:sp>
      <p:sp>
        <p:nvSpPr>
          <p:cNvPr id="20" name="Shape 18"/>
          <p:cNvSpPr/>
          <p:nvPr/>
        </p:nvSpPr>
        <p:spPr>
          <a:xfrm>
            <a:off x="8178403" y="4456033"/>
            <a:ext cx="91440" cy="1084898"/>
          </a:xfrm>
          <a:prstGeom prst="roundRect">
            <a:avLst>
              <a:gd name="adj" fmla="val 77488"/>
            </a:avLst>
          </a:prstGeom>
          <a:solidFill>
            <a:srgbClr val="4950BC"/>
          </a:solidFill>
          <a:ln/>
        </p:spPr>
      </p:sp>
      <p:sp>
        <p:nvSpPr>
          <p:cNvPr id="21" name="Text 19"/>
          <p:cNvSpPr/>
          <p:nvPr/>
        </p:nvSpPr>
        <p:spPr>
          <a:xfrm>
            <a:off x="8461296" y="4647486"/>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272525"/>
                </a:solidFill>
                <a:latin typeface="Inter Bold" pitchFamily="34" charset="0"/>
                <a:ea typeface="Inter Bold" pitchFamily="34" charset="-122"/>
                <a:cs typeface="Inter Bold" pitchFamily="34" charset="-120"/>
              </a:rPr>
              <a:t>검역</a:t>
            </a:r>
            <a:endParaRPr lang="en-US" sz="1650" dirty="0"/>
          </a:p>
        </p:txBody>
      </p:sp>
      <p:sp>
        <p:nvSpPr>
          <p:cNvPr id="22" name="Text 20"/>
          <p:cNvSpPr/>
          <p:nvPr/>
        </p:nvSpPr>
        <p:spPr>
          <a:xfrm>
            <a:off x="8461296" y="5079563"/>
            <a:ext cx="5191363" cy="269915"/>
          </a:xfrm>
          <a:prstGeom prst="rect">
            <a:avLst/>
          </a:prstGeom>
          <a:noFill/>
          <a:ln/>
        </p:spPr>
        <p:txBody>
          <a:bodyPr wrap="non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수입 식품 안전 검사 및 인증</a:t>
            </a:r>
            <a:endParaRPr lang="en-US" sz="1300" dirty="0"/>
          </a:p>
        </p:txBody>
      </p:sp>
      <p:sp>
        <p:nvSpPr>
          <p:cNvPr id="23" name="Text 21"/>
          <p:cNvSpPr/>
          <p:nvPr/>
        </p:nvSpPr>
        <p:spPr>
          <a:xfrm>
            <a:off x="793790" y="5983724"/>
            <a:ext cx="2530435" cy="316230"/>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경제 환경</a:t>
            </a:r>
            <a:endParaRPr lang="en-US" sz="1950" dirty="0"/>
          </a:p>
        </p:txBody>
      </p:sp>
      <p:sp>
        <p:nvSpPr>
          <p:cNvPr id="24" name="Text 22"/>
          <p:cNvSpPr/>
          <p:nvPr/>
        </p:nvSpPr>
        <p:spPr>
          <a:xfrm>
            <a:off x="793790" y="6704767"/>
            <a:ext cx="6315670" cy="809744"/>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미국 식품 시장은 세계 최대 규모로, 지속적인 성장세를 보이고 있습니다. 최근 인플레이션으로 식품 가격이 상승했지만, 건강식에 대한 소비자 지출은 오히려 증가하고 있습니다. 특히 프리미엄 건강식품 카테고리는 가격 탄력성이 낮아 안정적인 성장을 보입니다.</a:t>
            </a:r>
            <a:endParaRPr lang="en-US" sz="1300" dirty="0"/>
          </a:p>
        </p:txBody>
      </p:sp>
      <p:sp>
        <p:nvSpPr>
          <p:cNvPr id="25" name="Text 23"/>
          <p:cNvSpPr/>
          <p:nvPr/>
        </p:nvSpPr>
        <p:spPr>
          <a:xfrm>
            <a:off x="793790" y="7683103"/>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시장 특징</a:t>
            </a:r>
            <a:endParaRPr lang="en-US" sz="1650" dirty="0"/>
          </a:p>
        </p:txBody>
      </p:sp>
      <p:sp>
        <p:nvSpPr>
          <p:cNvPr id="26" name="Text 24"/>
          <p:cNvSpPr/>
          <p:nvPr/>
        </p:nvSpPr>
        <p:spPr>
          <a:xfrm>
            <a:off x="793790" y="8115181"/>
            <a:ext cx="6315670"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미국 식품 시장 규모: 약 1조 달러 이상</a:t>
            </a:r>
            <a:endParaRPr lang="en-US" sz="1300" dirty="0"/>
          </a:p>
        </p:txBody>
      </p:sp>
      <p:sp>
        <p:nvSpPr>
          <p:cNvPr id="27" name="Text 25"/>
          <p:cNvSpPr/>
          <p:nvPr/>
        </p:nvSpPr>
        <p:spPr>
          <a:xfrm>
            <a:off x="793790" y="8444032"/>
            <a:ext cx="6315670"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인플레이션에도 건강식 지출 증가</a:t>
            </a:r>
            <a:endParaRPr lang="en-US" sz="1300" dirty="0"/>
          </a:p>
        </p:txBody>
      </p:sp>
      <p:sp>
        <p:nvSpPr>
          <p:cNvPr id="28" name="Text 26"/>
          <p:cNvSpPr/>
          <p:nvPr/>
        </p:nvSpPr>
        <p:spPr>
          <a:xfrm>
            <a:off x="793790" y="8772882"/>
            <a:ext cx="6315670"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프리미엄 제품 수요 지속 성장</a:t>
            </a:r>
            <a:endParaRPr lang="en-US" sz="1300" dirty="0"/>
          </a:p>
        </p:txBody>
      </p:sp>
      <p:sp>
        <p:nvSpPr>
          <p:cNvPr id="29" name="Text 27"/>
          <p:cNvSpPr/>
          <p:nvPr/>
        </p:nvSpPr>
        <p:spPr>
          <a:xfrm>
            <a:off x="793790" y="9101733"/>
            <a:ext cx="6315670"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온라인 식품 구매 급증</a:t>
            </a:r>
            <a:endParaRPr lang="en-US" sz="1300" dirty="0"/>
          </a:p>
        </p:txBody>
      </p:sp>
      <p:sp>
        <p:nvSpPr>
          <p:cNvPr id="30" name="Text 28"/>
          <p:cNvSpPr/>
          <p:nvPr/>
        </p:nvSpPr>
        <p:spPr>
          <a:xfrm>
            <a:off x="7528560" y="6827044"/>
            <a:ext cx="3052405" cy="556617"/>
          </a:xfrm>
          <a:prstGeom prst="rect">
            <a:avLst/>
          </a:prstGeom>
          <a:noFill/>
          <a:ln/>
        </p:spPr>
        <p:txBody>
          <a:bodyPr wrap="none" lIns="0" tIns="0" rIns="0" bIns="0" rtlCol="0" anchor="t"/>
          <a:lstStyle/>
          <a:p>
            <a:pPr algn="ctr" indent="0" marL="0">
              <a:lnSpc>
                <a:spcPts val="4350"/>
              </a:lnSpc>
              <a:buNone/>
            </a:pPr>
            <a:r>
              <a:rPr lang="en-US" sz="4350" b="1" dirty="0">
                <a:solidFill>
                  <a:srgbClr val="272525"/>
                </a:solidFill>
                <a:latin typeface="Inter Bold" pitchFamily="34" charset="0"/>
                <a:ea typeface="Inter Bold" pitchFamily="34" charset="-122"/>
                <a:cs typeface="Inter Bold" pitchFamily="34" charset="-120"/>
              </a:rPr>
              <a:t>$1T+</a:t>
            </a:r>
            <a:endParaRPr lang="en-US" sz="4350" dirty="0"/>
          </a:p>
        </p:txBody>
      </p:sp>
      <p:sp>
        <p:nvSpPr>
          <p:cNvPr id="31" name="Text 29"/>
          <p:cNvSpPr/>
          <p:nvPr/>
        </p:nvSpPr>
        <p:spPr>
          <a:xfrm>
            <a:off x="8000405" y="7594402"/>
            <a:ext cx="2108716" cy="263485"/>
          </a:xfrm>
          <a:prstGeom prst="rect">
            <a:avLst/>
          </a:prstGeom>
          <a:noFill/>
          <a:ln/>
        </p:spPr>
        <p:txBody>
          <a:bodyPr wrap="none" lIns="0" tIns="0" rIns="0" bIns="0" rtlCol="0" anchor="t"/>
          <a:lstStyle/>
          <a:p>
            <a:pPr algn="ctr" indent="0" marL="0">
              <a:lnSpc>
                <a:spcPts val="2050"/>
              </a:lnSpc>
              <a:buNone/>
            </a:pPr>
            <a:r>
              <a:rPr lang="en-US" sz="1650" b="1" dirty="0">
                <a:solidFill>
                  <a:srgbClr val="272525"/>
                </a:solidFill>
                <a:latin typeface="Inter Bold" pitchFamily="34" charset="0"/>
                <a:ea typeface="Inter Bold" pitchFamily="34" charset="-122"/>
                <a:cs typeface="Inter Bold" pitchFamily="34" charset="-120"/>
              </a:rPr>
              <a:t>시장 규모</a:t>
            </a:r>
            <a:endParaRPr lang="en-US" sz="1650" dirty="0"/>
          </a:p>
        </p:txBody>
      </p:sp>
      <p:sp>
        <p:nvSpPr>
          <p:cNvPr id="32" name="Text 30"/>
          <p:cNvSpPr/>
          <p:nvPr/>
        </p:nvSpPr>
        <p:spPr>
          <a:xfrm>
            <a:off x="7528560" y="8026479"/>
            <a:ext cx="3052405" cy="269915"/>
          </a:xfrm>
          <a:prstGeom prst="rect">
            <a:avLst/>
          </a:prstGeom>
          <a:noFill/>
          <a:ln/>
        </p:spPr>
        <p:txBody>
          <a:bodyPr wrap="none" lIns="0" tIns="0" rIns="0" bIns="0" rtlCol="0" anchor="t"/>
          <a:lstStyle/>
          <a:p>
            <a:pPr algn="ctr" indent="0" marL="0">
              <a:lnSpc>
                <a:spcPts val="2100"/>
              </a:lnSpc>
              <a:buNone/>
            </a:pPr>
            <a:r>
              <a:rPr lang="en-US" sz="1300" dirty="0">
                <a:solidFill>
                  <a:srgbClr val="272525"/>
                </a:solidFill>
                <a:latin typeface="Inter" pitchFamily="34" charset="0"/>
                <a:ea typeface="Inter" pitchFamily="34" charset="-122"/>
                <a:cs typeface="Inter" pitchFamily="34" charset="-120"/>
              </a:rPr>
              <a:t>미국 식품 시장 전체 규모</a:t>
            </a:r>
            <a:endParaRPr lang="en-US" sz="1300" dirty="0"/>
          </a:p>
        </p:txBody>
      </p:sp>
      <p:sp>
        <p:nvSpPr>
          <p:cNvPr id="33" name="Text 31"/>
          <p:cNvSpPr/>
          <p:nvPr/>
        </p:nvSpPr>
        <p:spPr>
          <a:xfrm>
            <a:off x="10791825" y="6827044"/>
            <a:ext cx="3052405" cy="556617"/>
          </a:xfrm>
          <a:prstGeom prst="rect">
            <a:avLst/>
          </a:prstGeom>
          <a:noFill/>
          <a:ln/>
        </p:spPr>
        <p:txBody>
          <a:bodyPr wrap="none" lIns="0" tIns="0" rIns="0" bIns="0" rtlCol="0" anchor="t"/>
          <a:lstStyle/>
          <a:p>
            <a:pPr algn="ctr" indent="0" marL="0">
              <a:lnSpc>
                <a:spcPts val="4350"/>
              </a:lnSpc>
              <a:buNone/>
            </a:pPr>
            <a:r>
              <a:rPr lang="en-US" sz="4350" b="1" dirty="0">
                <a:solidFill>
                  <a:srgbClr val="272525"/>
                </a:solidFill>
                <a:latin typeface="Inter Bold" pitchFamily="34" charset="0"/>
                <a:ea typeface="Inter Bold" pitchFamily="34" charset="-122"/>
                <a:cs typeface="Inter Bold" pitchFamily="34" charset="-120"/>
              </a:rPr>
              <a:t>15%</a:t>
            </a:r>
            <a:endParaRPr lang="en-US" sz="4350" dirty="0"/>
          </a:p>
        </p:txBody>
      </p:sp>
      <p:sp>
        <p:nvSpPr>
          <p:cNvPr id="34" name="Text 32"/>
          <p:cNvSpPr/>
          <p:nvPr/>
        </p:nvSpPr>
        <p:spPr>
          <a:xfrm>
            <a:off x="11263670" y="7594402"/>
            <a:ext cx="2108716" cy="263485"/>
          </a:xfrm>
          <a:prstGeom prst="rect">
            <a:avLst/>
          </a:prstGeom>
          <a:noFill/>
          <a:ln/>
        </p:spPr>
        <p:txBody>
          <a:bodyPr wrap="none" lIns="0" tIns="0" rIns="0" bIns="0" rtlCol="0" anchor="t"/>
          <a:lstStyle/>
          <a:p>
            <a:pPr algn="ctr" indent="0" marL="0">
              <a:lnSpc>
                <a:spcPts val="2050"/>
              </a:lnSpc>
              <a:buNone/>
            </a:pPr>
            <a:r>
              <a:rPr lang="en-US" sz="1650" b="1" dirty="0">
                <a:solidFill>
                  <a:srgbClr val="272525"/>
                </a:solidFill>
                <a:latin typeface="Inter Bold" pitchFamily="34" charset="0"/>
                <a:ea typeface="Inter Bold" pitchFamily="34" charset="-122"/>
                <a:cs typeface="Inter Bold" pitchFamily="34" charset="-120"/>
              </a:rPr>
              <a:t>건강식 성장</a:t>
            </a:r>
            <a:endParaRPr lang="en-US" sz="1650" dirty="0"/>
          </a:p>
        </p:txBody>
      </p:sp>
      <p:sp>
        <p:nvSpPr>
          <p:cNvPr id="35" name="Text 33"/>
          <p:cNvSpPr/>
          <p:nvPr/>
        </p:nvSpPr>
        <p:spPr>
          <a:xfrm>
            <a:off x="10791825" y="8026479"/>
            <a:ext cx="3052405" cy="269915"/>
          </a:xfrm>
          <a:prstGeom prst="rect">
            <a:avLst/>
          </a:prstGeom>
          <a:noFill/>
          <a:ln/>
        </p:spPr>
        <p:txBody>
          <a:bodyPr wrap="none" lIns="0" tIns="0" rIns="0" bIns="0" rtlCol="0" anchor="t"/>
          <a:lstStyle/>
          <a:p>
            <a:pPr algn="ctr" indent="0" marL="0">
              <a:lnSpc>
                <a:spcPts val="2100"/>
              </a:lnSpc>
              <a:buNone/>
            </a:pPr>
            <a:r>
              <a:rPr lang="en-US" sz="1300" dirty="0">
                <a:solidFill>
                  <a:srgbClr val="272525"/>
                </a:solidFill>
                <a:latin typeface="Inter" pitchFamily="34" charset="0"/>
                <a:ea typeface="Inter" pitchFamily="34" charset="-122"/>
                <a:cs typeface="Inter" pitchFamily="34" charset="-120"/>
              </a:rPr>
              <a:t>건강식품 카테고리 연평균 성장률</a:t>
            </a:r>
            <a:endParaRPr lang="en-US" sz="1300" dirty="0"/>
          </a:p>
        </p:txBody>
      </p:sp>
      <p:sp>
        <p:nvSpPr>
          <p:cNvPr id="36" name="Text 34"/>
          <p:cNvSpPr/>
          <p:nvPr/>
        </p:nvSpPr>
        <p:spPr>
          <a:xfrm>
            <a:off x="9160193" y="8717994"/>
            <a:ext cx="3052405" cy="556617"/>
          </a:xfrm>
          <a:prstGeom prst="rect">
            <a:avLst/>
          </a:prstGeom>
          <a:noFill/>
          <a:ln/>
        </p:spPr>
        <p:txBody>
          <a:bodyPr wrap="none" lIns="0" tIns="0" rIns="0" bIns="0" rtlCol="0" anchor="t"/>
          <a:lstStyle/>
          <a:p>
            <a:pPr algn="ctr" indent="0" marL="0">
              <a:lnSpc>
                <a:spcPts val="4350"/>
              </a:lnSpc>
              <a:buNone/>
            </a:pPr>
            <a:r>
              <a:rPr lang="en-US" sz="4350" b="1" dirty="0">
                <a:solidFill>
                  <a:srgbClr val="272525"/>
                </a:solidFill>
                <a:latin typeface="Inter Bold" pitchFamily="34" charset="0"/>
                <a:ea typeface="Inter Bold" pitchFamily="34" charset="-122"/>
                <a:cs typeface="Inter Bold" pitchFamily="34" charset="-120"/>
              </a:rPr>
              <a:t>25%</a:t>
            </a:r>
            <a:endParaRPr lang="en-US" sz="4350" dirty="0"/>
          </a:p>
        </p:txBody>
      </p:sp>
      <p:sp>
        <p:nvSpPr>
          <p:cNvPr id="37" name="Text 35"/>
          <p:cNvSpPr/>
          <p:nvPr/>
        </p:nvSpPr>
        <p:spPr>
          <a:xfrm>
            <a:off x="9632037" y="9485352"/>
            <a:ext cx="2108716" cy="263485"/>
          </a:xfrm>
          <a:prstGeom prst="rect">
            <a:avLst/>
          </a:prstGeom>
          <a:noFill/>
          <a:ln/>
        </p:spPr>
        <p:txBody>
          <a:bodyPr wrap="none" lIns="0" tIns="0" rIns="0" bIns="0" rtlCol="0" anchor="t"/>
          <a:lstStyle/>
          <a:p>
            <a:pPr algn="ctr" indent="0" marL="0">
              <a:lnSpc>
                <a:spcPts val="2050"/>
              </a:lnSpc>
              <a:buNone/>
            </a:pPr>
            <a:r>
              <a:rPr lang="en-US" sz="1650" b="1" dirty="0">
                <a:solidFill>
                  <a:srgbClr val="272525"/>
                </a:solidFill>
                <a:latin typeface="Inter Bold" pitchFamily="34" charset="0"/>
                <a:ea typeface="Inter Bold" pitchFamily="34" charset="-122"/>
                <a:cs typeface="Inter Bold" pitchFamily="34" charset="-120"/>
              </a:rPr>
              <a:t>온라인 증가</a:t>
            </a:r>
            <a:endParaRPr lang="en-US" sz="1650" dirty="0"/>
          </a:p>
        </p:txBody>
      </p:sp>
      <p:sp>
        <p:nvSpPr>
          <p:cNvPr id="38" name="Text 36"/>
          <p:cNvSpPr/>
          <p:nvPr/>
        </p:nvSpPr>
        <p:spPr>
          <a:xfrm>
            <a:off x="9160193" y="9917430"/>
            <a:ext cx="3052405" cy="269915"/>
          </a:xfrm>
          <a:prstGeom prst="rect">
            <a:avLst/>
          </a:prstGeom>
          <a:noFill/>
          <a:ln/>
        </p:spPr>
        <p:txBody>
          <a:bodyPr wrap="none" lIns="0" tIns="0" rIns="0" bIns="0" rtlCol="0" anchor="t"/>
          <a:lstStyle/>
          <a:p>
            <a:pPr algn="ctr" indent="0" marL="0">
              <a:lnSpc>
                <a:spcPts val="2100"/>
              </a:lnSpc>
              <a:buNone/>
            </a:pPr>
            <a:r>
              <a:rPr lang="en-US" sz="1300" dirty="0">
                <a:solidFill>
                  <a:srgbClr val="272525"/>
                </a:solidFill>
                <a:latin typeface="Inter" pitchFamily="34" charset="0"/>
                <a:ea typeface="Inter" pitchFamily="34" charset="-122"/>
                <a:cs typeface="Inter" pitchFamily="34" charset="-120"/>
              </a:rPr>
              <a:t>온라인 식품 구매 증가율</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5551" y="409456"/>
            <a:ext cx="4031694" cy="441960"/>
          </a:xfrm>
          <a:prstGeom prst="rect">
            <a:avLst/>
          </a:prstGeom>
          <a:noFill/>
          <a:ln/>
        </p:spPr>
        <p:txBody>
          <a:bodyPr wrap="none" lIns="0" tIns="0" rIns="0" bIns="0" rtlCol="0" anchor="t"/>
          <a:lstStyle/>
          <a:p>
            <a:pPr algn="l" indent="0" marL="0">
              <a:lnSpc>
                <a:spcPts val="3450"/>
              </a:lnSpc>
              <a:buNone/>
            </a:pPr>
            <a:r>
              <a:rPr lang="en-US" sz="2750" b="1" dirty="0">
                <a:solidFill>
                  <a:srgbClr val="000000"/>
                </a:solidFill>
                <a:latin typeface="Inter Bold" pitchFamily="34" charset="0"/>
                <a:ea typeface="Inter Bold" pitchFamily="34" charset="-122"/>
                <a:cs typeface="Inter Bold" pitchFamily="34" charset="-120"/>
              </a:rPr>
              <a:t>미국 사회·문화 및 기술 환경</a:t>
            </a:r>
            <a:endParaRPr lang="en-US" sz="2750" dirty="0"/>
          </a:p>
        </p:txBody>
      </p:sp>
      <p:sp>
        <p:nvSpPr>
          <p:cNvPr id="3" name="Text 1"/>
          <p:cNvSpPr/>
          <p:nvPr/>
        </p:nvSpPr>
        <p:spPr>
          <a:xfrm>
            <a:off x="595551" y="907971"/>
            <a:ext cx="2121932" cy="265152"/>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사회·문화 환경</a:t>
            </a:r>
            <a:endParaRPr lang="en-US" sz="1650" dirty="0"/>
          </a:p>
        </p:txBody>
      </p:sp>
      <p:sp>
        <p:nvSpPr>
          <p:cNvPr id="4" name="Text 2"/>
          <p:cNvSpPr/>
          <p:nvPr/>
        </p:nvSpPr>
        <p:spPr>
          <a:xfrm>
            <a:off x="595551" y="1512570"/>
            <a:ext cx="6547128" cy="678656"/>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미국 사회에서 아시아 음식은 더 이상 이국적인 음식이 아닌 주류 식문화로 자리잡았습니다. 특히 Z세대와 밀레니얼 세대는 다양한 식문화에 개방적이며, 건강을 중시하는 라이프스타일을 추구합니다. Asian comfort food에 대한 관심이 높아지면서 한국의 전통 수프류도 주목받고 있습니다.</a:t>
            </a:r>
            <a:endParaRPr lang="en-US" sz="1100" dirty="0"/>
          </a:p>
        </p:txBody>
      </p:sp>
      <p:sp>
        <p:nvSpPr>
          <p:cNvPr id="5" name="Text 3"/>
          <p:cNvSpPr/>
          <p:nvPr/>
        </p:nvSpPr>
        <p:spPr>
          <a:xfrm>
            <a:off x="595551" y="2332673"/>
            <a:ext cx="1768197" cy="220980"/>
          </a:xfrm>
          <a:prstGeom prst="rect">
            <a:avLst/>
          </a:prstGeom>
          <a:noFill/>
          <a:ln/>
        </p:spPr>
        <p:txBody>
          <a:bodyPr wrap="none" lIns="0" tIns="0" rIns="0" bIns="0" rtlCol="0" anchor="t"/>
          <a:lstStyle/>
          <a:p>
            <a:pPr algn="l" indent="0" marL="0">
              <a:lnSpc>
                <a:spcPts val="1700"/>
              </a:lnSpc>
              <a:buNone/>
            </a:pPr>
            <a:r>
              <a:rPr lang="en-US" sz="1350" b="1" dirty="0">
                <a:solidFill>
                  <a:srgbClr val="000000"/>
                </a:solidFill>
                <a:latin typeface="Inter Bold" pitchFamily="34" charset="0"/>
                <a:ea typeface="Inter Bold" pitchFamily="34" charset="-122"/>
                <a:cs typeface="Inter Bold" pitchFamily="34" charset="-120"/>
              </a:rPr>
              <a:t>주요 트렌드</a:t>
            </a:r>
            <a:endParaRPr lang="en-US" sz="1350" dirty="0"/>
          </a:p>
        </p:txBody>
      </p:sp>
      <p:sp>
        <p:nvSpPr>
          <p:cNvPr id="6" name="Text 4"/>
          <p:cNvSpPr/>
          <p:nvPr/>
        </p:nvSpPr>
        <p:spPr>
          <a:xfrm>
            <a:off x="595551" y="2695099"/>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아시아 음식의 주류 편입</a:t>
            </a:r>
            <a:endParaRPr lang="en-US" sz="1100" dirty="0"/>
          </a:p>
        </p:txBody>
      </p:sp>
      <p:sp>
        <p:nvSpPr>
          <p:cNvPr id="7" name="Text 5"/>
          <p:cNvSpPr/>
          <p:nvPr/>
        </p:nvSpPr>
        <p:spPr>
          <a:xfrm>
            <a:off x="595551" y="2970728"/>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Z·M세대의 식문화 다양성 추구</a:t>
            </a:r>
            <a:endParaRPr lang="en-US" sz="1100" dirty="0"/>
          </a:p>
        </p:txBody>
      </p:sp>
      <p:sp>
        <p:nvSpPr>
          <p:cNvPr id="8" name="Text 6"/>
          <p:cNvSpPr/>
          <p:nvPr/>
        </p:nvSpPr>
        <p:spPr>
          <a:xfrm>
            <a:off x="595551" y="3246358"/>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Health-conscious Lifestyle 확산</a:t>
            </a:r>
            <a:endParaRPr lang="en-US" sz="1100" dirty="0"/>
          </a:p>
        </p:txBody>
      </p:sp>
      <p:sp>
        <p:nvSpPr>
          <p:cNvPr id="9" name="Text 7"/>
          <p:cNvSpPr/>
          <p:nvPr/>
        </p:nvSpPr>
        <p:spPr>
          <a:xfrm>
            <a:off x="595551" y="3521988"/>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Asian comfort food 인기 급증</a:t>
            </a:r>
            <a:endParaRPr lang="en-US" sz="1100" dirty="0"/>
          </a:p>
        </p:txBody>
      </p:sp>
      <p:sp>
        <p:nvSpPr>
          <p:cNvPr id="10" name="Text 8"/>
          <p:cNvSpPr/>
          <p:nvPr/>
        </p:nvSpPr>
        <p:spPr>
          <a:xfrm>
            <a:off x="595551" y="3797617"/>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Authentic 경험에 대한 가치 부여</a:t>
            </a:r>
            <a:endParaRPr lang="en-US" sz="11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5342" y="1544360"/>
            <a:ext cx="353616" cy="353616"/>
          </a:xfrm>
          <a:prstGeom prst="rect">
            <a:avLst/>
          </a:prstGeom>
        </p:spPr>
      </p:pic>
      <p:sp>
        <p:nvSpPr>
          <p:cNvPr id="12" name="Text 9"/>
          <p:cNvSpPr/>
          <p:nvPr/>
        </p:nvSpPr>
        <p:spPr>
          <a:xfrm>
            <a:off x="8025765" y="1628299"/>
            <a:ext cx="1768197" cy="220980"/>
          </a:xfrm>
          <a:prstGeom prst="rect">
            <a:avLst/>
          </a:prstGeom>
          <a:noFill/>
          <a:ln/>
        </p:spPr>
        <p:txBody>
          <a:bodyPr wrap="none" lIns="0" tIns="0" rIns="0" bIns="0" rtlCol="0" anchor="t"/>
          <a:lstStyle/>
          <a:p>
            <a:pPr algn="l" indent="0" marL="0">
              <a:lnSpc>
                <a:spcPts val="1700"/>
              </a:lnSpc>
              <a:buNone/>
            </a:pPr>
            <a:r>
              <a:rPr lang="en-US" sz="1350" b="1" dirty="0">
                <a:solidFill>
                  <a:srgbClr val="272525"/>
                </a:solidFill>
                <a:latin typeface="Inter Bold" pitchFamily="34" charset="0"/>
                <a:ea typeface="Inter Bold" pitchFamily="34" charset="-122"/>
                <a:cs typeface="Inter Bold" pitchFamily="34" charset="-120"/>
              </a:rPr>
              <a:t>Healthy</a:t>
            </a:r>
            <a:endParaRPr lang="en-US" sz="1350" dirty="0"/>
          </a:p>
        </p:txBody>
      </p:sp>
      <p:sp>
        <p:nvSpPr>
          <p:cNvPr id="13" name="Text 10"/>
          <p:cNvSpPr/>
          <p:nvPr/>
        </p:nvSpPr>
        <p:spPr>
          <a:xfrm>
            <a:off x="8025765" y="1990725"/>
            <a:ext cx="6016704" cy="226219"/>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건강과 웰빙을 최우선 가치로 추구</a:t>
            </a:r>
            <a:endParaRPr lang="en-US" sz="11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5342" y="2499836"/>
            <a:ext cx="353616" cy="353616"/>
          </a:xfrm>
          <a:prstGeom prst="rect">
            <a:avLst/>
          </a:prstGeom>
        </p:spPr>
      </p:pic>
      <p:sp>
        <p:nvSpPr>
          <p:cNvPr id="15" name="Text 11"/>
          <p:cNvSpPr/>
          <p:nvPr/>
        </p:nvSpPr>
        <p:spPr>
          <a:xfrm>
            <a:off x="8025765" y="2583775"/>
            <a:ext cx="1768197" cy="220980"/>
          </a:xfrm>
          <a:prstGeom prst="rect">
            <a:avLst/>
          </a:prstGeom>
          <a:noFill/>
          <a:ln/>
        </p:spPr>
        <p:txBody>
          <a:bodyPr wrap="none" lIns="0" tIns="0" rIns="0" bIns="0" rtlCol="0" anchor="t"/>
          <a:lstStyle/>
          <a:p>
            <a:pPr algn="l" indent="0" marL="0">
              <a:lnSpc>
                <a:spcPts val="1700"/>
              </a:lnSpc>
              <a:buNone/>
            </a:pPr>
            <a:r>
              <a:rPr lang="en-US" sz="1350" b="1" dirty="0">
                <a:solidFill>
                  <a:srgbClr val="272525"/>
                </a:solidFill>
                <a:latin typeface="Inter Bold" pitchFamily="34" charset="0"/>
                <a:ea typeface="Inter Bold" pitchFamily="34" charset="-122"/>
                <a:cs typeface="Inter Bold" pitchFamily="34" charset="-120"/>
              </a:rPr>
              <a:t>Authentic</a:t>
            </a:r>
            <a:endParaRPr lang="en-US" sz="1350" dirty="0"/>
          </a:p>
        </p:txBody>
      </p:sp>
      <p:sp>
        <p:nvSpPr>
          <p:cNvPr id="16" name="Text 12"/>
          <p:cNvSpPr/>
          <p:nvPr/>
        </p:nvSpPr>
        <p:spPr>
          <a:xfrm>
            <a:off x="8025765" y="2946202"/>
            <a:ext cx="6016704" cy="226219"/>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진정성 있는 문화적 경험 선호</a:t>
            </a:r>
            <a:endParaRPr lang="en-US" sz="110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95342" y="3455313"/>
            <a:ext cx="353616" cy="353616"/>
          </a:xfrm>
          <a:prstGeom prst="rect">
            <a:avLst/>
          </a:prstGeom>
        </p:spPr>
      </p:pic>
      <p:sp>
        <p:nvSpPr>
          <p:cNvPr id="18" name="Text 13"/>
          <p:cNvSpPr/>
          <p:nvPr/>
        </p:nvSpPr>
        <p:spPr>
          <a:xfrm>
            <a:off x="8025765" y="3539252"/>
            <a:ext cx="1768197" cy="220980"/>
          </a:xfrm>
          <a:prstGeom prst="rect">
            <a:avLst/>
          </a:prstGeom>
          <a:noFill/>
          <a:ln/>
        </p:spPr>
        <p:txBody>
          <a:bodyPr wrap="none" lIns="0" tIns="0" rIns="0" bIns="0" rtlCol="0" anchor="t"/>
          <a:lstStyle/>
          <a:p>
            <a:pPr algn="l" indent="0" marL="0">
              <a:lnSpc>
                <a:spcPts val="1700"/>
              </a:lnSpc>
              <a:buNone/>
            </a:pPr>
            <a:r>
              <a:rPr lang="en-US" sz="1350" b="1" dirty="0">
                <a:solidFill>
                  <a:srgbClr val="272525"/>
                </a:solidFill>
                <a:latin typeface="Inter Bold" pitchFamily="34" charset="0"/>
                <a:ea typeface="Inter Bold" pitchFamily="34" charset="-122"/>
                <a:cs typeface="Inter Bold" pitchFamily="34" charset="-120"/>
              </a:rPr>
              <a:t>Convenience</a:t>
            </a:r>
            <a:endParaRPr lang="en-US" sz="1350" dirty="0"/>
          </a:p>
        </p:txBody>
      </p:sp>
      <p:sp>
        <p:nvSpPr>
          <p:cNvPr id="19" name="Text 14"/>
          <p:cNvSpPr/>
          <p:nvPr/>
        </p:nvSpPr>
        <p:spPr>
          <a:xfrm>
            <a:off x="8025765" y="3901678"/>
            <a:ext cx="6016704" cy="226219"/>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편리함과 품질의 균형 추구</a:t>
            </a:r>
            <a:endParaRPr lang="en-US" sz="1100" dirty="0"/>
          </a:p>
        </p:txBody>
      </p:sp>
      <p:sp>
        <p:nvSpPr>
          <p:cNvPr id="20" name="Text 15"/>
          <p:cNvSpPr/>
          <p:nvPr/>
        </p:nvSpPr>
        <p:spPr>
          <a:xfrm>
            <a:off x="595551" y="4499134"/>
            <a:ext cx="2121932" cy="265152"/>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기술 환경</a:t>
            </a:r>
            <a:endParaRPr lang="en-US" sz="1650" dirty="0"/>
          </a:p>
        </p:txBody>
      </p:sp>
      <p:sp>
        <p:nvSpPr>
          <p:cNvPr id="21" name="Text 16"/>
          <p:cNvSpPr/>
          <p:nvPr/>
        </p:nvSpPr>
        <p:spPr>
          <a:xfrm>
            <a:off x="595551" y="5103733"/>
            <a:ext cx="6547128" cy="678656"/>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Cold-chain 물류망의 고도화로 신선식품의 전국 유통이 가능해졌습니다. Amazon Fresh와 Instacart를 중심으로 온라인 식품 구매가 급증하고 있으며, HMR 및 RTD 제조 기술의 발전으로 품질과 편의성이 동시에 향상되었습니다.</a:t>
            </a:r>
            <a:endParaRPr lang="en-US" sz="1100" dirty="0"/>
          </a:p>
        </p:txBody>
      </p:sp>
      <p:sp>
        <p:nvSpPr>
          <p:cNvPr id="22" name="Text 17"/>
          <p:cNvSpPr/>
          <p:nvPr/>
        </p:nvSpPr>
        <p:spPr>
          <a:xfrm>
            <a:off x="595551" y="5923836"/>
            <a:ext cx="1768197" cy="220980"/>
          </a:xfrm>
          <a:prstGeom prst="rect">
            <a:avLst/>
          </a:prstGeom>
          <a:noFill/>
          <a:ln/>
        </p:spPr>
        <p:txBody>
          <a:bodyPr wrap="none" lIns="0" tIns="0" rIns="0" bIns="0" rtlCol="0" anchor="t"/>
          <a:lstStyle/>
          <a:p>
            <a:pPr algn="l" indent="0" marL="0">
              <a:lnSpc>
                <a:spcPts val="1700"/>
              </a:lnSpc>
              <a:buNone/>
            </a:pPr>
            <a:r>
              <a:rPr lang="en-US" sz="1350" b="1" dirty="0">
                <a:solidFill>
                  <a:srgbClr val="000000"/>
                </a:solidFill>
                <a:latin typeface="Inter Bold" pitchFamily="34" charset="0"/>
                <a:ea typeface="Inter Bold" pitchFamily="34" charset="-122"/>
                <a:cs typeface="Inter Bold" pitchFamily="34" charset="-120"/>
              </a:rPr>
              <a:t>기술 발전</a:t>
            </a:r>
            <a:endParaRPr lang="en-US" sz="1350" dirty="0"/>
          </a:p>
        </p:txBody>
      </p:sp>
      <p:sp>
        <p:nvSpPr>
          <p:cNvPr id="23" name="Text 18"/>
          <p:cNvSpPr/>
          <p:nvPr/>
        </p:nvSpPr>
        <p:spPr>
          <a:xfrm>
            <a:off x="595551" y="6286262"/>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Cold-chain 물류망 전국 확대</a:t>
            </a:r>
            <a:endParaRPr lang="en-US" sz="1100" dirty="0"/>
          </a:p>
        </p:txBody>
      </p:sp>
      <p:sp>
        <p:nvSpPr>
          <p:cNvPr id="24" name="Text 19"/>
          <p:cNvSpPr/>
          <p:nvPr/>
        </p:nvSpPr>
        <p:spPr>
          <a:xfrm>
            <a:off x="595551" y="6561892"/>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Amazon·Instacart 온라인 플랫폼 성장</a:t>
            </a:r>
            <a:endParaRPr lang="en-US" sz="1100" dirty="0"/>
          </a:p>
        </p:txBody>
      </p:sp>
      <p:sp>
        <p:nvSpPr>
          <p:cNvPr id="25" name="Text 20"/>
          <p:cNvSpPr/>
          <p:nvPr/>
        </p:nvSpPr>
        <p:spPr>
          <a:xfrm>
            <a:off x="595551" y="6837521"/>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HMR·RTD 제조 기술 혁신</a:t>
            </a:r>
            <a:endParaRPr lang="en-US" sz="1100" dirty="0"/>
          </a:p>
        </p:txBody>
      </p:sp>
      <p:sp>
        <p:nvSpPr>
          <p:cNvPr id="26" name="Text 21"/>
          <p:cNvSpPr/>
          <p:nvPr/>
        </p:nvSpPr>
        <p:spPr>
          <a:xfrm>
            <a:off x="595551" y="7113151"/>
            <a:ext cx="6547128"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272525"/>
                </a:solidFill>
                <a:latin typeface="Inter" pitchFamily="34" charset="0"/>
                <a:ea typeface="Inter" pitchFamily="34" charset="-122"/>
                <a:cs typeface="Inter" pitchFamily="34" charset="-120"/>
              </a:rPr>
              <a:t>식품 안전 추적 시스템 고도화</a:t>
            </a:r>
            <a:endParaRPr lang="en-US" sz="1100" dirty="0"/>
          </a:p>
        </p:txBody>
      </p:sp>
      <p:pic>
        <p:nvPicPr>
          <p:cNvPr id="27" name="Image 3" descr="preencoded.png">    </p:cNvPr>
          <p:cNvPicPr>
            <a:picLocks noChangeAspect="1"/>
          </p:cNvPicPr>
          <p:nvPr/>
        </p:nvPicPr>
        <p:blipFill>
          <a:blip r:embed="rId7"/>
          <a:stretch>
            <a:fillRect/>
          </a:stretch>
        </p:blipFill>
        <p:spPr>
          <a:xfrm>
            <a:off x="7495342" y="5135523"/>
            <a:ext cx="6219706" cy="62197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3761" y="387548"/>
            <a:ext cx="2857619" cy="286345"/>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Inter Bold" pitchFamily="34" charset="0"/>
                <a:ea typeface="Inter Bold" pitchFamily="34" charset="-122"/>
                <a:cs typeface="Inter Bold" pitchFamily="34" charset="-120"/>
              </a:rPr>
              <a:t>미국 HMR 및 Soup 시장 구조</a:t>
            </a:r>
            <a:endParaRPr lang="en-US" sz="1800" dirty="0"/>
          </a:p>
        </p:txBody>
      </p:sp>
      <p:sp>
        <p:nvSpPr>
          <p:cNvPr id="3" name="Text 1"/>
          <p:cNvSpPr/>
          <p:nvPr/>
        </p:nvSpPr>
        <p:spPr>
          <a:xfrm>
            <a:off x="563761" y="710446"/>
            <a:ext cx="1374338" cy="171688"/>
          </a:xfrm>
          <a:prstGeom prst="rect">
            <a:avLst/>
          </a:prstGeom>
          <a:noFill/>
          <a:ln/>
        </p:spPr>
        <p:txBody>
          <a:bodyPr wrap="none" lIns="0" tIns="0" rIns="0" bIns="0" rtlCol="0" anchor="t"/>
          <a:lstStyle/>
          <a:p>
            <a:pPr algn="l" indent="0" marL="0">
              <a:lnSpc>
                <a:spcPts val="1350"/>
              </a:lnSpc>
              <a:buNone/>
            </a:pPr>
            <a:r>
              <a:rPr lang="en-US" sz="1050" b="1" dirty="0">
                <a:solidFill>
                  <a:srgbClr val="000000"/>
                </a:solidFill>
                <a:latin typeface="Inter Bold" pitchFamily="34" charset="0"/>
                <a:ea typeface="Inter Bold" pitchFamily="34" charset="-122"/>
                <a:cs typeface="Inter Bold" pitchFamily="34" charset="-120"/>
              </a:rPr>
              <a:t>HMR 시장 개요</a:t>
            </a:r>
            <a:endParaRPr lang="en-US" sz="1050" dirty="0"/>
          </a:p>
        </p:txBody>
      </p:sp>
      <p:sp>
        <p:nvSpPr>
          <p:cNvPr id="4" name="Text 2"/>
          <p:cNvSpPr/>
          <p:nvPr/>
        </p:nvSpPr>
        <p:spPr>
          <a:xfrm>
            <a:off x="563761" y="1019532"/>
            <a:ext cx="13502878" cy="146685"/>
          </a:xfrm>
          <a:prstGeom prst="rect">
            <a:avLst/>
          </a:prstGeom>
          <a:noFill/>
          <a:ln/>
        </p:spPr>
        <p:txBody>
          <a:bodyPr wrap="none" lIns="0" tIns="0" rIns="0" bIns="0" rtlCol="0" anchor="t"/>
          <a:lstStyle/>
          <a:p>
            <a:pPr algn="l" indent="0" marL="0">
              <a:lnSpc>
                <a:spcPts val="1150"/>
              </a:lnSpc>
              <a:buNone/>
            </a:pPr>
            <a:r>
              <a:rPr lang="en-US" sz="700" dirty="0">
                <a:solidFill>
                  <a:srgbClr val="272525"/>
                </a:solidFill>
                <a:latin typeface="Inter" pitchFamily="34" charset="0"/>
                <a:ea typeface="Inter" pitchFamily="34" charset="-122"/>
                <a:cs typeface="Inter" pitchFamily="34" charset="-120"/>
              </a:rPr>
              <a:t>미국 HMR(Home Meal Replacement) 시장은 팬데믹 이후 구조적 성장을 지속하고 있습니다. 재택근무 증가와 건강식에 대한 관심이 맞물리면서 프리미엄 HMR 제품의 수요가 급증했습니다. 시장은 냉동식품, RTD 수프, 샐러드, 도시락 등 다양한 카테고리로 구성되어 있습니다.</a:t>
            </a:r>
            <a:endParaRPr lang="en-US" sz="700" dirty="0"/>
          </a:p>
        </p:txBody>
      </p:sp>
      <p:sp>
        <p:nvSpPr>
          <p:cNvPr id="5" name="Text 3"/>
          <p:cNvSpPr/>
          <p:nvPr/>
        </p:nvSpPr>
        <p:spPr>
          <a:xfrm>
            <a:off x="563761" y="1417915"/>
            <a:ext cx="5267087" cy="302300"/>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$50B+</a:t>
            </a:r>
            <a:endParaRPr lang="en-US" sz="2350" dirty="0"/>
          </a:p>
        </p:txBody>
      </p:sp>
      <p:sp>
        <p:nvSpPr>
          <p:cNvPr id="6" name="Text 4"/>
          <p:cNvSpPr/>
          <p:nvPr/>
        </p:nvSpPr>
        <p:spPr>
          <a:xfrm>
            <a:off x="2624614" y="1834634"/>
            <a:ext cx="1145262" cy="143113"/>
          </a:xfrm>
          <a:prstGeom prst="rect">
            <a:avLst/>
          </a:prstGeom>
          <a:noFill/>
          <a:ln/>
        </p:spPr>
        <p:txBody>
          <a:bodyPr wrap="none" lIns="0" tIns="0" rIns="0" bIns="0" rtlCol="0" anchor="t"/>
          <a:lstStyle/>
          <a:p>
            <a:pPr algn="ctr" indent="0" marL="0">
              <a:lnSpc>
                <a:spcPts val="1100"/>
              </a:lnSpc>
              <a:buNone/>
            </a:pPr>
            <a:r>
              <a:rPr lang="en-US" sz="900" b="1" dirty="0">
                <a:solidFill>
                  <a:srgbClr val="272525"/>
                </a:solidFill>
                <a:latin typeface="Inter Bold" pitchFamily="34" charset="0"/>
                <a:ea typeface="Inter Bold" pitchFamily="34" charset="-122"/>
                <a:cs typeface="Inter Bold" pitchFamily="34" charset="-120"/>
              </a:rPr>
              <a:t>시장 규모</a:t>
            </a:r>
            <a:endParaRPr lang="en-US" sz="900" dirty="0"/>
          </a:p>
        </p:txBody>
      </p:sp>
      <p:sp>
        <p:nvSpPr>
          <p:cNvPr id="7" name="Text 5"/>
          <p:cNvSpPr/>
          <p:nvPr/>
        </p:nvSpPr>
        <p:spPr>
          <a:xfrm>
            <a:off x="563761" y="2069306"/>
            <a:ext cx="5267087" cy="146685"/>
          </a:xfrm>
          <a:prstGeom prst="rect">
            <a:avLst/>
          </a:prstGeom>
          <a:noFill/>
          <a:ln/>
        </p:spPr>
        <p:txBody>
          <a:bodyPr wrap="none" lIns="0" tIns="0" rIns="0" bIns="0" rtlCol="0" anchor="t"/>
          <a:lstStyle/>
          <a:p>
            <a:pPr algn="ctr" indent="0" marL="0">
              <a:lnSpc>
                <a:spcPts val="1150"/>
              </a:lnSpc>
              <a:buNone/>
            </a:pPr>
            <a:r>
              <a:rPr lang="en-US" sz="700" dirty="0">
                <a:solidFill>
                  <a:srgbClr val="272525"/>
                </a:solidFill>
                <a:latin typeface="Inter" pitchFamily="34" charset="0"/>
                <a:ea typeface="Inter" pitchFamily="34" charset="-122"/>
                <a:cs typeface="Inter" pitchFamily="34" charset="-120"/>
              </a:rPr>
              <a:t>미국 HMR 시장 전체 규모</a:t>
            </a:r>
            <a:endParaRPr lang="en-US" sz="700" dirty="0"/>
          </a:p>
        </p:txBody>
      </p:sp>
      <p:sp>
        <p:nvSpPr>
          <p:cNvPr id="8" name="Text 6"/>
          <p:cNvSpPr/>
          <p:nvPr/>
        </p:nvSpPr>
        <p:spPr>
          <a:xfrm>
            <a:off x="563761" y="2444948"/>
            <a:ext cx="5267087" cy="302300"/>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12%</a:t>
            </a:r>
            <a:endParaRPr lang="en-US" sz="2350" dirty="0"/>
          </a:p>
        </p:txBody>
      </p:sp>
      <p:sp>
        <p:nvSpPr>
          <p:cNvPr id="9" name="Text 7"/>
          <p:cNvSpPr/>
          <p:nvPr/>
        </p:nvSpPr>
        <p:spPr>
          <a:xfrm>
            <a:off x="2624614" y="2861667"/>
            <a:ext cx="1145262" cy="143113"/>
          </a:xfrm>
          <a:prstGeom prst="rect">
            <a:avLst/>
          </a:prstGeom>
          <a:noFill/>
          <a:ln/>
        </p:spPr>
        <p:txBody>
          <a:bodyPr wrap="none" lIns="0" tIns="0" rIns="0" bIns="0" rtlCol="0" anchor="t"/>
          <a:lstStyle/>
          <a:p>
            <a:pPr algn="ctr" indent="0" marL="0">
              <a:lnSpc>
                <a:spcPts val="1100"/>
              </a:lnSpc>
              <a:buNone/>
            </a:pPr>
            <a:r>
              <a:rPr lang="en-US" sz="900" b="1" dirty="0">
                <a:solidFill>
                  <a:srgbClr val="272525"/>
                </a:solidFill>
                <a:latin typeface="Inter Bold" pitchFamily="34" charset="0"/>
                <a:ea typeface="Inter Bold" pitchFamily="34" charset="-122"/>
                <a:cs typeface="Inter Bold" pitchFamily="34" charset="-120"/>
              </a:rPr>
              <a:t>연평균 성장률</a:t>
            </a:r>
            <a:endParaRPr lang="en-US" sz="900" dirty="0"/>
          </a:p>
        </p:txBody>
      </p:sp>
      <p:sp>
        <p:nvSpPr>
          <p:cNvPr id="10" name="Text 8"/>
          <p:cNvSpPr/>
          <p:nvPr/>
        </p:nvSpPr>
        <p:spPr>
          <a:xfrm>
            <a:off x="563761" y="3096339"/>
            <a:ext cx="5267087" cy="146685"/>
          </a:xfrm>
          <a:prstGeom prst="rect">
            <a:avLst/>
          </a:prstGeom>
          <a:noFill/>
          <a:ln/>
        </p:spPr>
        <p:txBody>
          <a:bodyPr wrap="none" lIns="0" tIns="0" rIns="0" bIns="0" rtlCol="0" anchor="t"/>
          <a:lstStyle/>
          <a:p>
            <a:pPr algn="ctr" indent="0" marL="0">
              <a:lnSpc>
                <a:spcPts val="1150"/>
              </a:lnSpc>
              <a:buNone/>
            </a:pPr>
            <a:r>
              <a:rPr lang="en-US" sz="700" dirty="0">
                <a:solidFill>
                  <a:srgbClr val="272525"/>
                </a:solidFill>
                <a:latin typeface="Inter" pitchFamily="34" charset="0"/>
                <a:ea typeface="Inter" pitchFamily="34" charset="-122"/>
                <a:cs typeface="Inter" pitchFamily="34" charset="-120"/>
              </a:rPr>
              <a:t>2020-2025 CAGR</a:t>
            </a:r>
            <a:endParaRPr lang="en-US" sz="700" dirty="0"/>
          </a:p>
        </p:txBody>
      </p:sp>
      <p:sp>
        <p:nvSpPr>
          <p:cNvPr id="11" name="Text 9"/>
          <p:cNvSpPr/>
          <p:nvPr/>
        </p:nvSpPr>
        <p:spPr>
          <a:xfrm>
            <a:off x="563761" y="3471982"/>
            <a:ext cx="5267087" cy="302300"/>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35%</a:t>
            </a:r>
            <a:endParaRPr lang="en-US" sz="2350" dirty="0"/>
          </a:p>
        </p:txBody>
      </p:sp>
      <p:sp>
        <p:nvSpPr>
          <p:cNvPr id="12" name="Text 10"/>
          <p:cNvSpPr/>
          <p:nvPr/>
        </p:nvSpPr>
        <p:spPr>
          <a:xfrm>
            <a:off x="2624614" y="3888700"/>
            <a:ext cx="1145262" cy="143113"/>
          </a:xfrm>
          <a:prstGeom prst="rect">
            <a:avLst/>
          </a:prstGeom>
          <a:noFill/>
          <a:ln/>
        </p:spPr>
        <p:txBody>
          <a:bodyPr wrap="none" lIns="0" tIns="0" rIns="0" bIns="0" rtlCol="0" anchor="t"/>
          <a:lstStyle/>
          <a:p>
            <a:pPr algn="ctr" indent="0" marL="0">
              <a:lnSpc>
                <a:spcPts val="1100"/>
              </a:lnSpc>
              <a:buNone/>
            </a:pPr>
            <a:r>
              <a:rPr lang="en-US" sz="900" b="1" dirty="0">
                <a:solidFill>
                  <a:srgbClr val="272525"/>
                </a:solidFill>
                <a:latin typeface="Inter Bold" pitchFamily="34" charset="0"/>
                <a:ea typeface="Inter Bold" pitchFamily="34" charset="-122"/>
                <a:cs typeface="Inter Bold" pitchFamily="34" charset="-120"/>
              </a:rPr>
              <a:t>온라인 비중</a:t>
            </a:r>
            <a:endParaRPr lang="en-US" sz="900" dirty="0"/>
          </a:p>
        </p:txBody>
      </p:sp>
      <p:sp>
        <p:nvSpPr>
          <p:cNvPr id="13" name="Text 11"/>
          <p:cNvSpPr/>
          <p:nvPr/>
        </p:nvSpPr>
        <p:spPr>
          <a:xfrm>
            <a:off x="563761" y="4123373"/>
            <a:ext cx="5267087" cy="146685"/>
          </a:xfrm>
          <a:prstGeom prst="rect">
            <a:avLst/>
          </a:prstGeom>
          <a:noFill/>
          <a:ln/>
        </p:spPr>
        <p:txBody>
          <a:bodyPr wrap="none" lIns="0" tIns="0" rIns="0" bIns="0" rtlCol="0" anchor="t"/>
          <a:lstStyle/>
          <a:p>
            <a:pPr algn="ctr" indent="0" marL="0">
              <a:lnSpc>
                <a:spcPts val="1150"/>
              </a:lnSpc>
              <a:buNone/>
            </a:pPr>
            <a:r>
              <a:rPr lang="en-US" sz="700" dirty="0">
                <a:solidFill>
                  <a:srgbClr val="272525"/>
                </a:solidFill>
                <a:latin typeface="Inter" pitchFamily="34" charset="0"/>
                <a:ea typeface="Inter" pitchFamily="34" charset="-122"/>
                <a:cs typeface="Inter" pitchFamily="34" charset="-120"/>
              </a:rPr>
              <a:t>온라인 채널 판매 비중</a:t>
            </a:r>
            <a:endParaRPr lang="en-US" sz="700" dirty="0"/>
          </a:p>
        </p:txBody>
      </p:sp>
      <p:sp>
        <p:nvSpPr>
          <p:cNvPr id="14" name="Text 12"/>
          <p:cNvSpPr/>
          <p:nvPr/>
        </p:nvSpPr>
        <p:spPr>
          <a:xfrm>
            <a:off x="6061829" y="1360765"/>
            <a:ext cx="1145262" cy="143113"/>
          </a:xfrm>
          <a:prstGeom prst="rect">
            <a:avLst/>
          </a:prstGeom>
          <a:noFill/>
          <a:ln/>
        </p:spPr>
        <p:txBody>
          <a:bodyPr wrap="none" lIns="0" tIns="0" rIns="0" bIns="0" rtlCol="0" anchor="t"/>
          <a:lstStyle/>
          <a:p>
            <a:pPr algn="l" indent="0" marL="0">
              <a:lnSpc>
                <a:spcPts val="1100"/>
              </a:lnSpc>
              <a:buNone/>
            </a:pPr>
            <a:r>
              <a:rPr lang="en-US" sz="900" b="1" dirty="0">
                <a:solidFill>
                  <a:srgbClr val="000000"/>
                </a:solidFill>
                <a:latin typeface="Inter Bold" pitchFamily="34" charset="0"/>
                <a:ea typeface="Inter Bold" pitchFamily="34" charset="-122"/>
                <a:cs typeface="Inter Bold" pitchFamily="34" charset="-120"/>
              </a:rPr>
              <a:t>주요 카테고리</a:t>
            </a:r>
            <a:endParaRPr lang="en-US" sz="900" dirty="0"/>
          </a:p>
        </p:txBody>
      </p:sp>
      <p:sp>
        <p:nvSpPr>
          <p:cNvPr id="15" name="Text 13"/>
          <p:cNvSpPr/>
          <p:nvPr/>
        </p:nvSpPr>
        <p:spPr>
          <a:xfrm>
            <a:off x="6061829" y="1595438"/>
            <a:ext cx="8012311"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냉동 완제품 (Frozen Meals)</a:t>
            </a:r>
            <a:endParaRPr lang="en-US" sz="700" dirty="0"/>
          </a:p>
        </p:txBody>
      </p:sp>
      <p:sp>
        <p:nvSpPr>
          <p:cNvPr id="16" name="Text 14"/>
          <p:cNvSpPr/>
          <p:nvPr/>
        </p:nvSpPr>
        <p:spPr>
          <a:xfrm>
            <a:off x="6061829" y="1774150"/>
            <a:ext cx="8012311"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RTD 수프 및 브로스 (Ready-to-Drink Soup/Broth)</a:t>
            </a:r>
            <a:endParaRPr lang="en-US" sz="700" dirty="0"/>
          </a:p>
        </p:txBody>
      </p:sp>
      <p:sp>
        <p:nvSpPr>
          <p:cNvPr id="17" name="Text 15"/>
          <p:cNvSpPr/>
          <p:nvPr/>
        </p:nvSpPr>
        <p:spPr>
          <a:xfrm>
            <a:off x="6061829" y="1952863"/>
            <a:ext cx="8012311"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샐러드 및 신선 도시락</a:t>
            </a:r>
            <a:endParaRPr lang="en-US" sz="700" dirty="0"/>
          </a:p>
        </p:txBody>
      </p:sp>
      <p:sp>
        <p:nvSpPr>
          <p:cNvPr id="18" name="Text 16"/>
          <p:cNvSpPr/>
          <p:nvPr/>
        </p:nvSpPr>
        <p:spPr>
          <a:xfrm>
            <a:off x="6061829" y="2131576"/>
            <a:ext cx="8012311"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프리미엄 HMR 키트</a:t>
            </a:r>
            <a:endParaRPr lang="en-US" sz="700" dirty="0"/>
          </a:p>
        </p:txBody>
      </p:sp>
      <p:sp>
        <p:nvSpPr>
          <p:cNvPr id="19" name="Text 17"/>
          <p:cNvSpPr/>
          <p:nvPr/>
        </p:nvSpPr>
        <p:spPr>
          <a:xfrm>
            <a:off x="563761" y="4510445"/>
            <a:ext cx="1374338" cy="171688"/>
          </a:xfrm>
          <a:prstGeom prst="rect">
            <a:avLst/>
          </a:prstGeom>
          <a:noFill/>
          <a:ln/>
        </p:spPr>
        <p:txBody>
          <a:bodyPr wrap="none" lIns="0" tIns="0" rIns="0" bIns="0" rtlCol="0" anchor="t"/>
          <a:lstStyle/>
          <a:p>
            <a:pPr algn="l" indent="0" marL="0">
              <a:lnSpc>
                <a:spcPts val="1350"/>
              </a:lnSpc>
              <a:buNone/>
            </a:pPr>
            <a:r>
              <a:rPr lang="en-US" sz="1050" b="1" dirty="0">
                <a:solidFill>
                  <a:srgbClr val="000000"/>
                </a:solidFill>
                <a:latin typeface="Inter Bold" pitchFamily="34" charset="0"/>
                <a:ea typeface="Inter Bold" pitchFamily="34" charset="-122"/>
                <a:cs typeface="Inter Bold" pitchFamily="34" charset="-120"/>
              </a:rPr>
              <a:t>Soup·Broth 시장 구조</a:t>
            </a:r>
            <a:endParaRPr lang="en-US" sz="1050" dirty="0"/>
          </a:p>
        </p:txBody>
      </p:sp>
      <p:sp>
        <p:nvSpPr>
          <p:cNvPr id="20" name="Text 18"/>
          <p:cNvSpPr/>
          <p:nvPr/>
        </p:nvSpPr>
        <p:spPr>
          <a:xfrm>
            <a:off x="563761" y="4901922"/>
            <a:ext cx="6639758" cy="293370"/>
          </a:xfrm>
          <a:prstGeom prst="rect">
            <a:avLst/>
          </a:prstGeom>
          <a:noFill/>
          <a:ln/>
        </p:spPr>
        <p:txBody>
          <a:bodyPr wrap="square" lIns="0" tIns="0" rIns="0" bIns="0" rtlCol="0" anchor="t"/>
          <a:lstStyle/>
          <a:p>
            <a:pPr algn="l" indent="0" marL="0">
              <a:lnSpc>
                <a:spcPts val="1150"/>
              </a:lnSpc>
              <a:buNone/>
            </a:pPr>
            <a:r>
              <a:rPr lang="en-US" sz="700" dirty="0">
                <a:solidFill>
                  <a:srgbClr val="272525"/>
                </a:solidFill>
                <a:latin typeface="Inter" pitchFamily="34" charset="0"/>
                <a:ea typeface="Inter" pitchFamily="34" charset="-122"/>
                <a:cs typeface="Inter" pitchFamily="34" charset="-120"/>
              </a:rPr>
              <a:t>미국 수프 시장은 RTD Soup, Condensed Soup, Broth로 구분됩니다. 최근 Bone Broth 카테고리가 빠르게 성장하며 시장 구조를 변화시키고 있습니다. Bone Broth는 단순한 수프가 아닌 건강 기능식품으로 인식되며, 헬스·다이어트 소비층을 중심으로 수요가 확대되고 있습니다.</a:t>
            </a:r>
            <a:endParaRPr lang="en-US" sz="700" dirty="0"/>
          </a:p>
        </p:txBody>
      </p:sp>
      <p:sp>
        <p:nvSpPr>
          <p:cNvPr id="21" name="Text 19"/>
          <p:cNvSpPr/>
          <p:nvPr/>
        </p:nvSpPr>
        <p:spPr>
          <a:xfrm>
            <a:off x="563761" y="5286851"/>
            <a:ext cx="1145262" cy="143113"/>
          </a:xfrm>
          <a:prstGeom prst="rect">
            <a:avLst/>
          </a:prstGeom>
          <a:noFill/>
          <a:ln/>
        </p:spPr>
        <p:txBody>
          <a:bodyPr wrap="none" lIns="0" tIns="0" rIns="0" bIns="0" rtlCol="0" anchor="t"/>
          <a:lstStyle/>
          <a:p>
            <a:pPr algn="l" indent="0" marL="0">
              <a:lnSpc>
                <a:spcPts val="1100"/>
              </a:lnSpc>
              <a:buNone/>
            </a:pPr>
            <a:r>
              <a:rPr lang="en-US" sz="900" b="1" dirty="0">
                <a:solidFill>
                  <a:srgbClr val="000000"/>
                </a:solidFill>
                <a:latin typeface="Inter Bold" pitchFamily="34" charset="0"/>
                <a:ea typeface="Inter Bold" pitchFamily="34" charset="-122"/>
                <a:cs typeface="Inter Bold" pitchFamily="34" charset="-120"/>
              </a:rPr>
              <a:t>시장 세분화</a:t>
            </a:r>
            <a:endParaRPr lang="en-US" sz="900" dirty="0"/>
          </a:p>
        </p:txBody>
      </p:sp>
      <p:sp>
        <p:nvSpPr>
          <p:cNvPr id="22" name="Text 20"/>
          <p:cNvSpPr/>
          <p:nvPr/>
        </p:nvSpPr>
        <p:spPr>
          <a:xfrm>
            <a:off x="563761" y="5521523"/>
            <a:ext cx="6639758"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RTD Soup: 즉석 섭취 가능한 수프</a:t>
            </a:r>
            <a:endParaRPr lang="en-US" sz="700" dirty="0"/>
          </a:p>
        </p:txBody>
      </p:sp>
      <p:sp>
        <p:nvSpPr>
          <p:cNvPr id="23" name="Text 21"/>
          <p:cNvSpPr/>
          <p:nvPr/>
        </p:nvSpPr>
        <p:spPr>
          <a:xfrm>
            <a:off x="563761" y="5700236"/>
            <a:ext cx="6639758"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Condensed Soup: 농축 수프 (Campbell's 등)</a:t>
            </a:r>
            <a:endParaRPr lang="en-US" sz="700" dirty="0"/>
          </a:p>
        </p:txBody>
      </p:sp>
      <p:sp>
        <p:nvSpPr>
          <p:cNvPr id="24" name="Text 22"/>
          <p:cNvSpPr/>
          <p:nvPr/>
        </p:nvSpPr>
        <p:spPr>
          <a:xfrm>
            <a:off x="563761" y="5878949"/>
            <a:ext cx="6639758"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Bone Broth: 고단백 기능성 육수</a:t>
            </a:r>
            <a:endParaRPr lang="en-US" sz="700" dirty="0"/>
          </a:p>
        </p:txBody>
      </p:sp>
      <p:sp>
        <p:nvSpPr>
          <p:cNvPr id="25" name="Text 23"/>
          <p:cNvSpPr/>
          <p:nvPr/>
        </p:nvSpPr>
        <p:spPr>
          <a:xfrm>
            <a:off x="563761" y="6057662"/>
            <a:ext cx="6639758" cy="146685"/>
          </a:xfrm>
          <a:prstGeom prst="rect">
            <a:avLst/>
          </a:prstGeom>
          <a:noFill/>
          <a:ln/>
        </p:spPr>
        <p:txBody>
          <a:bodyPr wrap="none" lIns="0" tIns="0" rIns="0" bIns="0" rtlCol="0" anchor="t"/>
          <a:lstStyle/>
          <a:p>
            <a:pPr algn="l" marL="342900" indent="-342900">
              <a:lnSpc>
                <a:spcPts val="1150"/>
              </a:lnSpc>
              <a:buSzPct val="100000"/>
              <a:buChar char="•"/>
            </a:pPr>
            <a:r>
              <a:rPr lang="en-US" sz="700" dirty="0">
                <a:solidFill>
                  <a:srgbClr val="272525"/>
                </a:solidFill>
                <a:latin typeface="Inter" pitchFamily="34" charset="0"/>
                <a:ea typeface="Inter" pitchFamily="34" charset="-122"/>
                <a:cs typeface="Inter" pitchFamily="34" charset="-120"/>
              </a:rPr>
              <a:t>Organic/Premium Soup: 프리미엄 카테고리</a:t>
            </a:r>
            <a:endParaRPr lang="en-US" sz="700" dirty="0"/>
          </a:p>
        </p:txBody>
      </p:sp>
      <p:sp>
        <p:nvSpPr>
          <p:cNvPr id="26" name="Text 24"/>
          <p:cNvSpPr/>
          <p:nvPr/>
        </p:nvSpPr>
        <p:spPr>
          <a:xfrm>
            <a:off x="10190798" y="5517952"/>
            <a:ext cx="1126927" cy="228957"/>
          </a:xfrm>
          <a:prstGeom prst="rect">
            <a:avLst/>
          </a:prstGeom>
          <a:noFill/>
          <a:ln/>
        </p:spPr>
        <p:txBody>
          <a:bodyPr wrap="none" lIns="0" tIns="0" rIns="0" bIns="0" rtlCol="0" anchor="t"/>
          <a:lstStyle/>
          <a:p>
            <a:pPr algn="ctr" indent="0" marL="0">
              <a:lnSpc>
                <a:spcPts val="1800"/>
              </a:lnSpc>
              <a:buNone/>
            </a:pPr>
            <a:r>
              <a:rPr lang="en-US" sz="1800" b="1" dirty="0">
                <a:solidFill>
                  <a:srgbClr val="272525"/>
                </a:solidFill>
                <a:latin typeface="Inter Bold" pitchFamily="34" charset="0"/>
                <a:ea typeface="Inter Bold" pitchFamily="34" charset="-122"/>
                <a:cs typeface="Inter Bold" pitchFamily="34" charset="-120"/>
              </a:rPr>
              <a:t>40%</a:t>
            </a:r>
            <a:endParaRPr lang="en-US" sz="1800" dirty="0"/>
          </a:p>
        </p:txBody>
      </p:sp>
      <p:pic>
        <p:nvPicPr>
          <p:cNvPr id="27" name="Image 0" descr="preencoded.png">    </p:cNvPr>
          <p:cNvPicPr>
            <a:picLocks noChangeAspect="1"/>
          </p:cNvPicPr>
          <p:nvPr/>
        </p:nvPicPr>
        <p:blipFill>
          <a:blip r:embed="rId1"/>
          <a:stretch>
            <a:fillRect/>
          </a:stretch>
        </p:blipFill>
        <p:spPr>
          <a:xfrm>
            <a:off x="10067211" y="4945380"/>
            <a:ext cx="1374338" cy="1374338"/>
          </a:xfrm>
          <a:prstGeom prst="rect">
            <a:avLst/>
          </a:prstGeom>
        </p:spPr>
      </p:pic>
      <p:sp>
        <p:nvSpPr>
          <p:cNvPr id="28" name="Text 25"/>
          <p:cNvSpPr/>
          <p:nvPr/>
        </p:nvSpPr>
        <p:spPr>
          <a:xfrm>
            <a:off x="10181749" y="6434138"/>
            <a:ext cx="1145262" cy="143113"/>
          </a:xfrm>
          <a:prstGeom prst="rect">
            <a:avLst/>
          </a:prstGeom>
          <a:noFill/>
          <a:ln/>
        </p:spPr>
        <p:txBody>
          <a:bodyPr wrap="none" lIns="0" tIns="0" rIns="0" bIns="0" rtlCol="0" anchor="t"/>
          <a:lstStyle/>
          <a:p>
            <a:pPr algn="ctr" indent="0" marL="0">
              <a:lnSpc>
                <a:spcPts val="1100"/>
              </a:lnSpc>
              <a:buNone/>
            </a:pPr>
            <a:r>
              <a:rPr lang="en-US" sz="900" b="1" dirty="0">
                <a:solidFill>
                  <a:srgbClr val="272525"/>
                </a:solidFill>
                <a:latin typeface="Inter Bold" pitchFamily="34" charset="0"/>
                <a:ea typeface="Inter Bold" pitchFamily="34" charset="-122"/>
                <a:cs typeface="Inter Bold" pitchFamily="34" charset="-120"/>
              </a:rPr>
              <a:t>RTD Soup</a:t>
            </a:r>
            <a:endParaRPr lang="en-US" sz="900" dirty="0"/>
          </a:p>
        </p:txBody>
      </p:sp>
      <p:sp>
        <p:nvSpPr>
          <p:cNvPr id="29" name="Text 26"/>
          <p:cNvSpPr/>
          <p:nvPr/>
        </p:nvSpPr>
        <p:spPr>
          <a:xfrm>
            <a:off x="10190798" y="7355919"/>
            <a:ext cx="1126927" cy="228957"/>
          </a:xfrm>
          <a:prstGeom prst="rect">
            <a:avLst/>
          </a:prstGeom>
          <a:noFill/>
          <a:ln/>
        </p:spPr>
        <p:txBody>
          <a:bodyPr wrap="none" lIns="0" tIns="0" rIns="0" bIns="0" rtlCol="0" anchor="t"/>
          <a:lstStyle/>
          <a:p>
            <a:pPr algn="ctr" indent="0" marL="0">
              <a:lnSpc>
                <a:spcPts val="1800"/>
              </a:lnSpc>
              <a:buNone/>
            </a:pPr>
            <a:r>
              <a:rPr lang="en-US" sz="1800" b="1" dirty="0">
                <a:solidFill>
                  <a:srgbClr val="272525"/>
                </a:solidFill>
                <a:latin typeface="Inter Bold" pitchFamily="34" charset="0"/>
                <a:ea typeface="Inter Bold" pitchFamily="34" charset="-122"/>
                <a:cs typeface="Inter Bold" pitchFamily="34" charset="-120"/>
              </a:rPr>
              <a:t>35%</a:t>
            </a:r>
            <a:endParaRPr lang="en-US" sz="1800" dirty="0"/>
          </a:p>
        </p:txBody>
      </p:sp>
      <p:pic>
        <p:nvPicPr>
          <p:cNvPr id="30" name="Image 1" descr="preencoded.png">    </p:cNvPr>
          <p:cNvPicPr>
            <a:picLocks noChangeAspect="1"/>
          </p:cNvPicPr>
          <p:nvPr/>
        </p:nvPicPr>
        <p:blipFill>
          <a:blip r:embed="rId2"/>
          <a:stretch>
            <a:fillRect/>
          </a:stretch>
        </p:blipFill>
        <p:spPr>
          <a:xfrm>
            <a:off x="10067211" y="6783348"/>
            <a:ext cx="1374338" cy="1374338"/>
          </a:xfrm>
          <a:prstGeom prst="rect">
            <a:avLst/>
          </a:prstGeom>
        </p:spPr>
      </p:pic>
      <p:sp>
        <p:nvSpPr>
          <p:cNvPr id="31" name="Text 27"/>
          <p:cNvSpPr/>
          <p:nvPr/>
        </p:nvSpPr>
        <p:spPr>
          <a:xfrm>
            <a:off x="10181749" y="8272105"/>
            <a:ext cx="1145262" cy="143113"/>
          </a:xfrm>
          <a:prstGeom prst="rect">
            <a:avLst/>
          </a:prstGeom>
          <a:noFill/>
          <a:ln/>
        </p:spPr>
        <p:txBody>
          <a:bodyPr wrap="none" lIns="0" tIns="0" rIns="0" bIns="0" rtlCol="0" anchor="t"/>
          <a:lstStyle/>
          <a:p>
            <a:pPr algn="ctr" indent="0" marL="0">
              <a:lnSpc>
                <a:spcPts val="1100"/>
              </a:lnSpc>
              <a:buNone/>
            </a:pPr>
            <a:r>
              <a:rPr lang="en-US" sz="900" b="1" dirty="0">
                <a:solidFill>
                  <a:srgbClr val="272525"/>
                </a:solidFill>
                <a:latin typeface="Inter Bold" pitchFamily="34" charset="0"/>
                <a:ea typeface="Inter Bold" pitchFamily="34" charset="-122"/>
                <a:cs typeface="Inter Bold" pitchFamily="34" charset="-120"/>
              </a:rPr>
              <a:t>Condensed</a:t>
            </a:r>
            <a:endParaRPr lang="en-US" sz="900" dirty="0"/>
          </a:p>
        </p:txBody>
      </p:sp>
      <p:sp>
        <p:nvSpPr>
          <p:cNvPr id="32" name="Text 28"/>
          <p:cNvSpPr/>
          <p:nvPr/>
        </p:nvSpPr>
        <p:spPr>
          <a:xfrm>
            <a:off x="10190798" y="9193887"/>
            <a:ext cx="1126927" cy="228957"/>
          </a:xfrm>
          <a:prstGeom prst="rect">
            <a:avLst/>
          </a:prstGeom>
          <a:noFill/>
          <a:ln/>
        </p:spPr>
        <p:txBody>
          <a:bodyPr wrap="none" lIns="0" tIns="0" rIns="0" bIns="0" rtlCol="0" anchor="t"/>
          <a:lstStyle/>
          <a:p>
            <a:pPr algn="ctr" indent="0" marL="0">
              <a:lnSpc>
                <a:spcPts val="1800"/>
              </a:lnSpc>
              <a:buNone/>
            </a:pPr>
            <a:r>
              <a:rPr lang="en-US" sz="1800" b="1" dirty="0">
                <a:solidFill>
                  <a:srgbClr val="272525"/>
                </a:solidFill>
                <a:latin typeface="Inter Bold" pitchFamily="34" charset="0"/>
                <a:ea typeface="Inter Bold" pitchFamily="34" charset="-122"/>
                <a:cs typeface="Inter Bold" pitchFamily="34" charset="-120"/>
              </a:rPr>
              <a:t>25%</a:t>
            </a:r>
            <a:endParaRPr lang="en-US" sz="1800" dirty="0"/>
          </a:p>
        </p:txBody>
      </p:sp>
      <p:pic>
        <p:nvPicPr>
          <p:cNvPr id="33" name="Image 2" descr="preencoded.png">    </p:cNvPr>
          <p:cNvPicPr>
            <a:picLocks noChangeAspect="1"/>
          </p:cNvPicPr>
          <p:nvPr/>
        </p:nvPicPr>
        <p:blipFill>
          <a:blip r:embed="rId3"/>
          <a:stretch>
            <a:fillRect/>
          </a:stretch>
        </p:blipFill>
        <p:spPr>
          <a:xfrm>
            <a:off x="10067211" y="8621316"/>
            <a:ext cx="1374338" cy="1374338"/>
          </a:xfrm>
          <a:prstGeom prst="rect">
            <a:avLst/>
          </a:prstGeom>
        </p:spPr>
      </p:pic>
      <p:sp>
        <p:nvSpPr>
          <p:cNvPr id="34" name="Text 29"/>
          <p:cNvSpPr/>
          <p:nvPr/>
        </p:nvSpPr>
        <p:spPr>
          <a:xfrm>
            <a:off x="10181749" y="10110073"/>
            <a:ext cx="1145262" cy="143113"/>
          </a:xfrm>
          <a:prstGeom prst="rect">
            <a:avLst/>
          </a:prstGeom>
          <a:noFill/>
          <a:ln/>
        </p:spPr>
        <p:txBody>
          <a:bodyPr wrap="none" lIns="0" tIns="0" rIns="0" bIns="0" rtlCol="0" anchor="t"/>
          <a:lstStyle/>
          <a:p>
            <a:pPr algn="ctr" indent="0" marL="0">
              <a:lnSpc>
                <a:spcPts val="1100"/>
              </a:lnSpc>
              <a:buNone/>
            </a:pPr>
            <a:r>
              <a:rPr lang="en-US" sz="900" b="1" dirty="0">
                <a:solidFill>
                  <a:srgbClr val="272525"/>
                </a:solidFill>
                <a:latin typeface="Inter Bold" pitchFamily="34" charset="0"/>
                <a:ea typeface="Inter Bold" pitchFamily="34" charset="-122"/>
                <a:cs typeface="Inter Bold" pitchFamily="34" charset="-120"/>
              </a:rPr>
              <a:t>Bone Broth</a:t>
            </a:r>
            <a:endParaRPr lang="en-US" sz="900" dirty="0"/>
          </a:p>
        </p:txBody>
      </p:sp>
      <p:sp>
        <p:nvSpPr>
          <p:cNvPr id="35" name="Text 30"/>
          <p:cNvSpPr/>
          <p:nvPr/>
        </p:nvSpPr>
        <p:spPr>
          <a:xfrm>
            <a:off x="7434501" y="10356175"/>
            <a:ext cx="6639758" cy="146685"/>
          </a:xfrm>
          <a:prstGeom prst="rect">
            <a:avLst/>
          </a:prstGeom>
          <a:noFill/>
          <a:ln/>
        </p:spPr>
        <p:txBody>
          <a:bodyPr wrap="none" lIns="0" tIns="0" rIns="0" bIns="0" rtlCol="0" anchor="t"/>
          <a:lstStyle/>
          <a:p>
            <a:pPr algn="l" indent="0" marL="0">
              <a:lnSpc>
                <a:spcPts val="1150"/>
              </a:lnSpc>
              <a:buNone/>
            </a:pPr>
            <a:r>
              <a:rPr lang="en-US" sz="700" dirty="0">
                <a:solidFill>
                  <a:srgbClr val="272525"/>
                </a:solidFill>
                <a:latin typeface="Inter" pitchFamily="34" charset="0"/>
                <a:ea typeface="Inter" pitchFamily="34" charset="-122"/>
                <a:cs typeface="Inter" pitchFamily="34" charset="-120"/>
              </a:rPr>
              <a:t>미국 Soup 시장 카테고리별 비중 (2024 추정)</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53998"/>
            <a:ext cx="5905976" cy="589121"/>
          </a:xfrm>
          <a:prstGeom prst="rect">
            <a:avLst/>
          </a:prstGeom>
          <a:noFill/>
          <a:ln/>
        </p:spPr>
        <p:txBody>
          <a:bodyPr wrap="none" lIns="0" tIns="0" rIns="0" bIns="0" rtlCol="0" anchor="t"/>
          <a:lstStyle/>
          <a:p>
            <a:pPr algn="l" indent="0" marL="0">
              <a:lnSpc>
                <a:spcPts val="4600"/>
              </a:lnSpc>
              <a:buNone/>
            </a:pPr>
            <a:r>
              <a:rPr lang="en-US" sz="3700" b="1" dirty="0">
                <a:solidFill>
                  <a:srgbClr val="000000"/>
                </a:solidFill>
                <a:latin typeface="Inter Bold" pitchFamily="34" charset="0"/>
                <a:ea typeface="Inter Bold" pitchFamily="34" charset="-122"/>
                <a:cs typeface="Inter Bold" pitchFamily="34" charset="-120"/>
              </a:rPr>
              <a:t>Bone Broth 시장 고성장 요인</a:t>
            </a:r>
            <a:endParaRPr lang="en-US" sz="3700" dirty="0"/>
          </a:p>
        </p:txBody>
      </p:sp>
      <p:sp>
        <p:nvSpPr>
          <p:cNvPr id="3" name="Text 1"/>
          <p:cNvSpPr/>
          <p:nvPr/>
        </p:nvSpPr>
        <p:spPr>
          <a:xfrm>
            <a:off x="793790" y="1614368"/>
            <a:ext cx="2828211" cy="353378"/>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시장 성장 동력</a:t>
            </a:r>
            <a:endParaRPr lang="en-US" sz="2200" dirty="0"/>
          </a:p>
        </p:txBody>
      </p:sp>
      <p:sp>
        <p:nvSpPr>
          <p:cNvPr id="4" name="Text 2"/>
          <p:cNvSpPr/>
          <p:nvPr/>
        </p:nvSpPr>
        <p:spPr>
          <a:xfrm>
            <a:off x="793790" y="2156222"/>
            <a:ext cx="6966466" cy="603409"/>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Bone Broth 시장은 연평균 20% 이상의 고성장을 기록하고 있습니다. 이는 단순한 트렌드가 아닌 구조적 변화로, 여러 요인이 복합적으로 작용하고 있습니다.</a:t>
            </a:r>
            <a:endParaRPr lang="en-US" sz="1450" dirty="0"/>
          </a:p>
        </p:txBody>
      </p:sp>
      <p:sp>
        <p:nvSpPr>
          <p:cNvPr id="5" name="Text 3"/>
          <p:cNvSpPr/>
          <p:nvPr/>
        </p:nvSpPr>
        <p:spPr>
          <a:xfrm>
            <a:off x="793790" y="2948107"/>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Inter Bold" pitchFamily="34" charset="0"/>
                <a:ea typeface="Inter Bold" pitchFamily="34" charset="-122"/>
                <a:cs typeface="Inter Bold" pitchFamily="34" charset="-120"/>
              </a:rPr>
              <a:t>핵심 성장 요인</a:t>
            </a:r>
            <a:endParaRPr lang="en-US" sz="1850" dirty="0"/>
          </a:p>
        </p:txBody>
      </p:sp>
      <p:sp>
        <p:nvSpPr>
          <p:cNvPr id="6" name="Text 4"/>
          <p:cNvSpPr/>
          <p:nvPr/>
        </p:nvSpPr>
        <p:spPr>
          <a:xfrm>
            <a:off x="793790" y="3431262"/>
            <a:ext cx="6966466" cy="603409"/>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272525"/>
                </a:solidFill>
                <a:latin typeface="Inter" pitchFamily="34" charset="0"/>
                <a:ea typeface="Inter" pitchFamily="34" charset="-122"/>
                <a:cs typeface="Inter" pitchFamily="34" charset="-120"/>
              </a:rPr>
              <a:t>단백질·저지방 식단 트렌드:</a:t>
            </a:r>
            <a:pPr algn="l" indent="0" marL="0">
              <a:lnSpc>
                <a:spcPts val="2350"/>
              </a:lnSpc>
              <a:buNone/>
            </a:pPr>
            <a:r>
              <a:rPr lang="en-US" sz="1450" dirty="0">
                <a:solidFill>
                  <a:srgbClr val="272525"/>
                </a:solidFill>
                <a:latin typeface="Inter" pitchFamily="34" charset="0"/>
                <a:ea typeface="Inter" pitchFamily="34" charset="-122"/>
                <a:cs typeface="Inter" pitchFamily="34" charset="-120"/>
              </a:rPr>
              <a:t> 케토, 팔레오 다이어트 등 고단백·저탄수화물 식단의 인기로 Bone Broth가 이상적인 식품으로 부상</a:t>
            </a:r>
            <a:endParaRPr lang="en-US" sz="1450" dirty="0"/>
          </a:p>
        </p:txBody>
      </p:sp>
      <p:sp>
        <p:nvSpPr>
          <p:cNvPr id="7" name="Text 5"/>
          <p:cNvSpPr/>
          <p:nvPr/>
        </p:nvSpPr>
        <p:spPr>
          <a:xfrm>
            <a:off x="793790" y="4100632"/>
            <a:ext cx="6966466" cy="301704"/>
          </a:xfrm>
          <a:prstGeom prst="rect">
            <a:avLst/>
          </a:prstGeom>
          <a:noFill/>
          <a:ln/>
        </p:spPr>
        <p:txBody>
          <a:bodyPr wrap="none" lIns="0" tIns="0" rIns="0" bIns="0" rtlCol="0" anchor="t"/>
          <a:lstStyle/>
          <a:p>
            <a:pPr algn="l" marL="342900" indent="-342900">
              <a:lnSpc>
                <a:spcPts val="2350"/>
              </a:lnSpc>
              <a:buSzPct val="100000"/>
              <a:buChar char="•"/>
            </a:pPr>
            <a:r>
              <a:rPr lang="en-US" sz="1450" b="1" dirty="0">
                <a:solidFill>
                  <a:srgbClr val="272525"/>
                </a:solidFill>
                <a:latin typeface="Inter" pitchFamily="34" charset="0"/>
                <a:ea typeface="Inter" pitchFamily="34" charset="-122"/>
                <a:cs typeface="Inter" pitchFamily="34" charset="-120"/>
              </a:rPr>
              <a:t>기능성 식품 트렌드:</a:t>
            </a:r>
            <a:pPr algn="l" indent="0" marL="0">
              <a:lnSpc>
                <a:spcPts val="2350"/>
              </a:lnSpc>
              <a:buNone/>
            </a:pPr>
            <a:r>
              <a:rPr lang="en-US" sz="1450" dirty="0">
                <a:solidFill>
                  <a:srgbClr val="272525"/>
                </a:solidFill>
                <a:latin typeface="Inter" pitchFamily="34" charset="0"/>
                <a:ea typeface="Inter" pitchFamily="34" charset="-122"/>
                <a:cs typeface="Inter" pitchFamily="34" charset="-120"/>
              </a:rPr>
              <a:t> 콜라겐, 아미노산 등 건강 기능 성분에 대한 관심 증가</a:t>
            </a:r>
            <a:endParaRPr lang="en-US" sz="1450" dirty="0"/>
          </a:p>
        </p:txBody>
      </p:sp>
      <p:sp>
        <p:nvSpPr>
          <p:cNvPr id="8" name="Text 6"/>
          <p:cNvSpPr/>
          <p:nvPr/>
        </p:nvSpPr>
        <p:spPr>
          <a:xfrm>
            <a:off x="793790" y="4468297"/>
            <a:ext cx="6966466" cy="603409"/>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272525"/>
                </a:solidFill>
                <a:latin typeface="Inter" pitchFamily="34" charset="0"/>
                <a:ea typeface="Inter" pitchFamily="34" charset="-122"/>
                <a:cs typeface="Inter" pitchFamily="34" charset="-120"/>
              </a:rPr>
              <a:t>프리미엄 브랜드 성장:</a:t>
            </a:r>
            <a:pPr algn="l" indent="0" marL="0">
              <a:lnSpc>
                <a:spcPts val="2350"/>
              </a:lnSpc>
              <a:buNone/>
            </a:pPr>
            <a:r>
              <a:rPr lang="en-US" sz="1450" dirty="0">
                <a:solidFill>
                  <a:srgbClr val="272525"/>
                </a:solidFill>
                <a:latin typeface="Inter" pitchFamily="34" charset="0"/>
                <a:ea typeface="Inter" pitchFamily="34" charset="-122"/>
                <a:cs typeface="Inter" pitchFamily="34" charset="-120"/>
              </a:rPr>
              <a:t> Kettle &amp; Fire, Pacific Foods 등이 프리미엄 포지셔닝으로 시장 확대</a:t>
            </a:r>
            <a:endParaRPr lang="en-US" sz="1450" dirty="0"/>
          </a:p>
        </p:txBody>
      </p:sp>
      <p:sp>
        <p:nvSpPr>
          <p:cNvPr id="9" name="Text 7"/>
          <p:cNvSpPr/>
          <p:nvPr/>
        </p:nvSpPr>
        <p:spPr>
          <a:xfrm>
            <a:off x="793790" y="5137666"/>
            <a:ext cx="6966466" cy="301704"/>
          </a:xfrm>
          <a:prstGeom prst="rect">
            <a:avLst/>
          </a:prstGeom>
          <a:noFill/>
          <a:ln/>
        </p:spPr>
        <p:txBody>
          <a:bodyPr wrap="none" lIns="0" tIns="0" rIns="0" bIns="0" rtlCol="0" anchor="t"/>
          <a:lstStyle/>
          <a:p>
            <a:pPr algn="l" marL="342900" indent="-342900">
              <a:lnSpc>
                <a:spcPts val="2350"/>
              </a:lnSpc>
              <a:buSzPct val="100000"/>
              <a:buChar char="•"/>
            </a:pPr>
            <a:r>
              <a:rPr lang="en-US" sz="1450" b="1" dirty="0">
                <a:solidFill>
                  <a:srgbClr val="272525"/>
                </a:solidFill>
                <a:latin typeface="Inter" pitchFamily="34" charset="0"/>
                <a:ea typeface="Inter" pitchFamily="34" charset="-122"/>
                <a:cs typeface="Inter" pitchFamily="34" charset="-120"/>
              </a:rPr>
              <a:t>편의성:</a:t>
            </a:r>
            <a:pPr algn="l" indent="0" marL="0">
              <a:lnSpc>
                <a:spcPts val="2350"/>
              </a:lnSpc>
              <a:buNone/>
            </a:pPr>
            <a:r>
              <a:rPr lang="en-US" sz="1450" dirty="0">
                <a:solidFill>
                  <a:srgbClr val="272525"/>
                </a:solidFill>
                <a:latin typeface="Inter" pitchFamily="34" charset="0"/>
                <a:ea typeface="Inter" pitchFamily="34" charset="-122"/>
                <a:cs typeface="Inter" pitchFamily="34" charset="-120"/>
              </a:rPr>
              <a:t> RTD 형태로 언제든 섭취 가능한 편리함</a:t>
            </a:r>
            <a:endParaRPr lang="en-US" sz="1450" dirty="0"/>
          </a:p>
        </p:txBody>
      </p:sp>
      <p:sp>
        <p:nvSpPr>
          <p:cNvPr id="10" name="Text 8"/>
          <p:cNvSpPr/>
          <p:nvPr/>
        </p:nvSpPr>
        <p:spPr>
          <a:xfrm>
            <a:off x="793790" y="5505331"/>
            <a:ext cx="6966466" cy="301704"/>
          </a:xfrm>
          <a:prstGeom prst="rect">
            <a:avLst/>
          </a:prstGeom>
          <a:noFill/>
          <a:ln/>
        </p:spPr>
        <p:txBody>
          <a:bodyPr wrap="none" lIns="0" tIns="0" rIns="0" bIns="0" rtlCol="0" anchor="t"/>
          <a:lstStyle/>
          <a:p>
            <a:pPr algn="l" marL="342900" indent="-342900">
              <a:lnSpc>
                <a:spcPts val="2350"/>
              </a:lnSpc>
              <a:buSzPct val="100000"/>
              <a:buChar char="•"/>
            </a:pPr>
            <a:r>
              <a:rPr lang="en-US" sz="1450" b="1" dirty="0">
                <a:solidFill>
                  <a:srgbClr val="272525"/>
                </a:solidFill>
                <a:latin typeface="Inter" pitchFamily="34" charset="0"/>
                <a:ea typeface="Inter" pitchFamily="34" charset="-122"/>
                <a:cs typeface="Inter" pitchFamily="34" charset="-120"/>
              </a:rPr>
              <a:t>다용도성:</a:t>
            </a:r>
            <a:pPr algn="l" indent="0" marL="0">
              <a:lnSpc>
                <a:spcPts val="2350"/>
              </a:lnSpc>
              <a:buNone/>
            </a:pPr>
            <a:r>
              <a:rPr lang="en-US" sz="1450" dirty="0">
                <a:solidFill>
                  <a:srgbClr val="272525"/>
                </a:solidFill>
                <a:latin typeface="Inter" pitchFamily="34" charset="0"/>
                <a:ea typeface="Inter" pitchFamily="34" charset="-122"/>
                <a:cs typeface="Inter" pitchFamily="34" charset="-120"/>
              </a:rPr>
              <a:t> 그대로 마시거나 요리 베이스로 활용 가능</a:t>
            </a:r>
            <a:endParaRPr lang="en-US" sz="1450" dirty="0"/>
          </a:p>
        </p:txBody>
      </p:sp>
      <p:sp>
        <p:nvSpPr>
          <p:cNvPr id="11" name="Text 9"/>
          <p:cNvSpPr/>
          <p:nvPr/>
        </p:nvSpPr>
        <p:spPr>
          <a:xfrm>
            <a:off x="793790" y="5995511"/>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Inter Bold" pitchFamily="34" charset="0"/>
                <a:ea typeface="Inter Bold" pitchFamily="34" charset="-122"/>
                <a:cs typeface="Inter Bold" pitchFamily="34" charset="-120"/>
              </a:rPr>
              <a:t>소비자 프로필</a:t>
            </a:r>
            <a:endParaRPr lang="en-US" sz="1850" dirty="0"/>
          </a:p>
        </p:txBody>
      </p:sp>
      <p:sp>
        <p:nvSpPr>
          <p:cNvPr id="12" name="Text 10"/>
          <p:cNvSpPr/>
          <p:nvPr/>
        </p:nvSpPr>
        <p:spPr>
          <a:xfrm>
            <a:off x="793790" y="6478667"/>
            <a:ext cx="6966466" cy="9051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주요 소비층은 건강을 중시하는 25-45세 도시 거주자, 피트니스 애호가, 케토·팔레오 다이어트 실천자들입니다. 이들은 가격보다 품질과 기능성을 우선시하며, 프리미엄 제품에 기꺼이 지불할 의향이 있습니다.</a:t>
            </a:r>
            <a:endParaRPr lang="en-US" sz="1450" dirty="0"/>
          </a:p>
        </p:txBody>
      </p:sp>
      <p:sp>
        <p:nvSpPr>
          <p:cNvPr id="13" name="Text 11"/>
          <p:cNvSpPr/>
          <p:nvPr/>
        </p:nvSpPr>
        <p:spPr>
          <a:xfrm>
            <a:off x="8227933" y="1732121"/>
            <a:ext cx="2690217" cy="622102"/>
          </a:xfrm>
          <a:prstGeom prst="rect">
            <a:avLst/>
          </a:prstGeom>
          <a:noFill/>
          <a:ln/>
        </p:spPr>
        <p:txBody>
          <a:bodyPr wrap="none" lIns="0" tIns="0" rIns="0" bIns="0" rtlCol="0" anchor="t"/>
          <a:lstStyle/>
          <a:p>
            <a:pPr algn="ctr" indent="0" marL="0">
              <a:lnSpc>
                <a:spcPts val="4850"/>
              </a:lnSpc>
              <a:buNone/>
            </a:pPr>
            <a:r>
              <a:rPr lang="en-US" sz="4850" b="1" dirty="0">
                <a:solidFill>
                  <a:srgbClr val="272525"/>
                </a:solidFill>
                <a:latin typeface="Inter Bold" pitchFamily="34" charset="0"/>
                <a:ea typeface="Inter Bold" pitchFamily="34" charset="-122"/>
                <a:cs typeface="Inter Bold" pitchFamily="34" charset="-120"/>
              </a:rPr>
              <a:t>20%+</a:t>
            </a:r>
            <a:endParaRPr lang="en-US" sz="4850" dirty="0"/>
          </a:p>
        </p:txBody>
      </p:sp>
      <p:sp>
        <p:nvSpPr>
          <p:cNvPr id="14" name="Text 12"/>
          <p:cNvSpPr/>
          <p:nvPr/>
        </p:nvSpPr>
        <p:spPr>
          <a:xfrm>
            <a:off x="8394621" y="2589728"/>
            <a:ext cx="2356842" cy="294680"/>
          </a:xfrm>
          <a:prstGeom prst="rect">
            <a:avLst/>
          </a:prstGeom>
          <a:noFill/>
          <a:ln/>
        </p:spPr>
        <p:txBody>
          <a:bodyPr wrap="none" lIns="0" tIns="0" rIns="0" bIns="0" rtlCol="0" anchor="t"/>
          <a:lstStyle/>
          <a:p>
            <a:pPr algn="ctr"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연평균 성장률</a:t>
            </a:r>
            <a:endParaRPr lang="en-US" sz="1850" dirty="0"/>
          </a:p>
        </p:txBody>
      </p:sp>
      <p:sp>
        <p:nvSpPr>
          <p:cNvPr id="15" name="Text 13"/>
          <p:cNvSpPr/>
          <p:nvPr/>
        </p:nvSpPr>
        <p:spPr>
          <a:xfrm>
            <a:off x="8227933" y="3072884"/>
            <a:ext cx="2690217" cy="301704"/>
          </a:xfrm>
          <a:prstGeom prst="rect">
            <a:avLst/>
          </a:prstGeom>
          <a:noFill/>
          <a:ln/>
        </p:spPr>
        <p:txBody>
          <a:bodyPr wrap="none" lIns="0" tIns="0" rIns="0" bIns="0" rtlCol="0" anchor="t"/>
          <a:lstStyle/>
          <a:p>
            <a:pPr algn="ctr" indent="0" marL="0">
              <a:lnSpc>
                <a:spcPts val="2350"/>
              </a:lnSpc>
              <a:buNone/>
            </a:pPr>
            <a:r>
              <a:rPr lang="en-US" sz="1450" dirty="0">
                <a:solidFill>
                  <a:srgbClr val="272525"/>
                </a:solidFill>
                <a:latin typeface="Inter" pitchFamily="34" charset="0"/>
                <a:ea typeface="Inter" pitchFamily="34" charset="-122"/>
                <a:cs typeface="Inter" pitchFamily="34" charset="-120"/>
              </a:rPr>
              <a:t>Bone Broth 시장 CAGR</a:t>
            </a:r>
            <a:endParaRPr lang="en-US" sz="1450" dirty="0"/>
          </a:p>
        </p:txBody>
      </p:sp>
      <p:sp>
        <p:nvSpPr>
          <p:cNvPr id="16" name="Text 14"/>
          <p:cNvSpPr/>
          <p:nvPr/>
        </p:nvSpPr>
        <p:spPr>
          <a:xfrm>
            <a:off x="11153775" y="1732121"/>
            <a:ext cx="2690336" cy="622102"/>
          </a:xfrm>
          <a:prstGeom prst="rect">
            <a:avLst/>
          </a:prstGeom>
          <a:noFill/>
          <a:ln/>
        </p:spPr>
        <p:txBody>
          <a:bodyPr wrap="none" lIns="0" tIns="0" rIns="0" bIns="0" rtlCol="0" anchor="t"/>
          <a:lstStyle/>
          <a:p>
            <a:pPr algn="ctr" indent="0" marL="0">
              <a:lnSpc>
                <a:spcPts val="4850"/>
              </a:lnSpc>
              <a:buNone/>
            </a:pPr>
            <a:r>
              <a:rPr lang="en-US" sz="4850" b="1" dirty="0">
                <a:solidFill>
                  <a:srgbClr val="272525"/>
                </a:solidFill>
                <a:latin typeface="Inter Bold" pitchFamily="34" charset="0"/>
                <a:ea typeface="Inter Bold" pitchFamily="34" charset="-122"/>
                <a:cs typeface="Inter Bold" pitchFamily="34" charset="-120"/>
              </a:rPr>
              <a:t>$500M</a:t>
            </a:r>
            <a:endParaRPr lang="en-US" sz="4850" dirty="0"/>
          </a:p>
        </p:txBody>
      </p:sp>
      <p:sp>
        <p:nvSpPr>
          <p:cNvPr id="17" name="Text 15"/>
          <p:cNvSpPr/>
          <p:nvPr/>
        </p:nvSpPr>
        <p:spPr>
          <a:xfrm>
            <a:off x="11320462" y="2589728"/>
            <a:ext cx="2356842" cy="294680"/>
          </a:xfrm>
          <a:prstGeom prst="rect">
            <a:avLst/>
          </a:prstGeom>
          <a:noFill/>
          <a:ln/>
        </p:spPr>
        <p:txBody>
          <a:bodyPr wrap="none" lIns="0" tIns="0" rIns="0" bIns="0" rtlCol="0" anchor="t"/>
          <a:lstStyle/>
          <a:p>
            <a:pPr algn="ctr"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시장 규모</a:t>
            </a:r>
            <a:endParaRPr lang="en-US" sz="1850" dirty="0"/>
          </a:p>
        </p:txBody>
      </p:sp>
      <p:sp>
        <p:nvSpPr>
          <p:cNvPr id="18" name="Text 16"/>
          <p:cNvSpPr/>
          <p:nvPr/>
        </p:nvSpPr>
        <p:spPr>
          <a:xfrm>
            <a:off x="11153775" y="3072884"/>
            <a:ext cx="2690336" cy="301704"/>
          </a:xfrm>
          <a:prstGeom prst="rect">
            <a:avLst/>
          </a:prstGeom>
          <a:noFill/>
          <a:ln/>
        </p:spPr>
        <p:txBody>
          <a:bodyPr wrap="none" lIns="0" tIns="0" rIns="0" bIns="0" rtlCol="0" anchor="t"/>
          <a:lstStyle/>
          <a:p>
            <a:pPr algn="ctr" indent="0" marL="0">
              <a:lnSpc>
                <a:spcPts val="2350"/>
              </a:lnSpc>
              <a:buNone/>
            </a:pPr>
            <a:r>
              <a:rPr lang="en-US" sz="1450" dirty="0">
                <a:solidFill>
                  <a:srgbClr val="272525"/>
                </a:solidFill>
                <a:latin typeface="Inter" pitchFamily="34" charset="0"/>
                <a:ea typeface="Inter" pitchFamily="34" charset="-122"/>
                <a:cs typeface="Inter" pitchFamily="34" charset="-120"/>
              </a:rPr>
              <a:t>2024년 추정 시장 규모</a:t>
            </a:r>
            <a:endParaRPr lang="en-US" sz="1450" dirty="0"/>
          </a:p>
        </p:txBody>
      </p:sp>
      <p:sp>
        <p:nvSpPr>
          <p:cNvPr id="19" name="Text 17"/>
          <p:cNvSpPr/>
          <p:nvPr/>
        </p:nvSpPr>
        <p:spPr>
          <a:xfrm>
            <a:off x="9690854" y="3845838"/>
            <a:ext cx="2690217" cy="622102"/>
          </a:xfrm>
          <a:prstGeom prst="rect">
            <a:avLst/>
          </a:prstGeom>
          <a:noFill/>
          <a:ln/>
        </p:spPr>
        <p:txBody>
          <a:bodyPr wrap="none" lIns="0" tIns="0" rIns="0" bIns="0" rtlCol="0" anchor="t"/>
          <a:lstStyle/>
          <a:p>
            <a:pPr algn="ctr" indent="0" marL="0">
              <a:lnSpc>
                <a:spcPts val="4850"/>
              </a:lnSpc>
              <a:buNone/>
            </a:pPr>
            <a:r>
              <a:rPr lang="en-US" sz="4850" b="1" dirty="0">
                <a:solidFill>
                  <a:srgbClr val="272525"/>
                </a:solidFill>
                <a:latin typeface="Inter Bold" pitchFamily="34" charset="0"/>
                <a:ea typeface="Inter Bold" pitchFamily="34" charset="-122"/>
                <a:cs typeface="Inter Bold" pitchFamily="34" charset="-120"/>
              </a:rPr>
              <a:t>3X</a:t>
            </a:r>
            <a:endParaRPr lang="en-US" sz="4850" dirty="0"/>
          </a:p>
        </p:txBody>
      </p:sp>
      <p:sp>
        <p:nvSpPr>
          <p:cNvPr id="20" name="Text 18"/>
          <p:cNvSpPr/>
          <p:nvPr/>
        </p:nvSpPr>
        <p:spPr>
          <a:xfrm>
            <a:off x="9857542" y="4703445"/>
            <a:ext cx="2356842" cy="294680"/>
          </a:xfrm>
          <a:prstGeom prst="rect">
            <a:avLst/>
          </a:prstGeom>
          <a:noFill/>
          <a:ln/>
        </p:spPr>
        <p:txBody>
          <a:bodyPr wrap="none" lIns="0" tIns="0" rIns="0" bIns="0" rtlCol="0" anchor="t"/>
          <a:lstStyle/>
          <a:p>
            <a:pPr algn="ctr"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성장 배수</a:t>
            </a:r>
            <a:endParaRPr lang="en-US" sz="1850" dirty="0"/>
          </a:p>
        </p:txBody>
      </p:sp>
      <p:sp>
        <p:nvSpPr>
          <p:cNvPr id="21" name="Text 19"/>
          <p:cNvSpPr/>
          <p:nvPr/>
        </p:nvSpPr>
        <p:spPr>
          <a:xfrm>
            <a:off x="9690854" y="5186601"/>
            <a:ext cx="2690217" cy="301704"/>
          </a:xfrm>
          <a:prstGeom prst="rect">
            <a:avLst/>
          </a:prstGeom>
          <a:noFill/>
          <a:ln/>
        </p:spPr>
        <p:txBody>
          <a:bodyPr wrap="none" lIns="0" tIns="0" rIns="0" bIns="0" rtlCol="0" anchor="t"/>
          <a:lstStyle/>
          <a:p>
            <a:pPr algn="ctr" indent="0" marL="0">
              <a:lnSpc>
                <a:spcPts val="2350"/>
              </a:lnSpc>
              <a:buNone/>
            </a:pPr>
            <a:r>
              <a:rPr lang="en-US" sz="1450" dirty="0">
                <a:solidFill>
                  <a:srgbClr val="272525"/>
                </a:solidFill>
                <a:latin typeface="Inter" pitchFamily="34" charset="0"/>
                <a:ea typeface="Inter" pitchFamily="34" charset="-122"/>
                <a:cs typeface="Inter" pitchFamily="34" charset="-120"/>
              </a:rPr>
              <a:t>2020 대비 2025 시장 규모</a:t>
            </a:r>
            <a:endParaRPr lang="en-US" sz="1450" dirty="0"/>
          </a:p>
        </p:txBody>
      </p:sp>
      <p:sp>
        <p:nvSpPr>
          <p:cNvPr id="22" name="Text 20"/>
          <p:cNvSpPr/>
          <p:nvPr/>
        </p:nvSpPr>
        <p:spPr>
          <a:xfrm>
            <a:off x="8227933" y="5700355"/>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Inter Bold" pitchFamily="34" charset="0"/>
                <a:ea typeface="Inter Bold" pitchFamily="34" charset="-122"/>
                <a:cs typeface="Inter Bold" pitchFamily="34" charset="-120"/>
              </a:rPr>
              <a:t>주요 브랜드</a:t>
            </a:r>
            <a:endParaRPr lang="en-US" sz="1850" dirty="0"/>
          </a:p>
        </p:txBody>
      </p:sp>
      <p:sp>
        <p:nvSpPr>
          <p:cNvPr id="23" name="Shape 21"/>
          <p:cNvSpPr/>
          <p:nvPr/>
        </p:nvSpPr>
        <p:spPr>
          <a:xfrm>
            <a:off x="8227933" y="6207085"/>
            <a:ext cx="5616178" cy="1207532"/>
          </a:xfrm>
          <a:prstGeom prst="roundRect">
            <a:avLst>
              <a:gd name="adj" fmla="val 6558"/>
            </a:avLst>
          </a:prstGeom>
          <a:solidFill>
            <a:srgbClr val="FFFFFF"/>
          </a:solidFill>
          <a:ln w="22860">
            <a:solidFill>
              <a:srgbClr val="C0C1D7"/>
            </a:solidFill>
            <a:prstDash val="solid"/>
          </a:ln>
        </p:spPr>
      </p:sp>
      <p:sp>
        <p:nvSpPr>
          <p:cNvPr id="24" name="Text 22"/>
          <p:cNvSpPr/>
          <p:nvPr/>
        </p:nvSpPr>
        <p:spPr>
          <a:xfrm>
            <a:off x="8439269" y="6418421"/>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Kettle &amp; Fire</a:t>
            </a:r>
            <a:endParaRPr lang="en-US" sz="1850" dirty="0"/>
          </a:p>
        </p:txBody>
      </p:sp>
      <p:sp>
        <p:nvSpPr>
          <p:cNvPr id="25" name="Text 23"/>
          <p:cNvSpPr/>
          <p:nvPr/>
        </p:nvSpPr>
        <p:spPr>
          <a:xfrm>
            <a:off x="8439269" y="6901577"/>
            <a:ext cx="5193506"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프리미엄 시장 리더</a:t>
            </a:r>
            <a:endParaRPr lang="en-US" sz="1450" dirty="0"/>
          </a:p>
        </p:txBody>
      </p:sp>
      <p:sp>
        <p:nvSpPr>
          <p:cNvPr id="26" name="Shape 24"/>
          <p:cNvSpPr/>
          <p:nvPr/>
        </p:nvSpPr>
        <p:spPr>
          <a:xfrm>
            <a:off x="8227933" y="7603093"/>
            <a:ext cx="5616178" cy="1207532"/>
          </a:xfrm>
          <a:prstGeom prst="roundRect">
            <a:avLst>
              <a:gd name="adj" fmla="val 6558"/>
            </a:avLst>
          </a:prstGeom>
          <a:solidFill>
            <a:srgbClr val="FFFFFF"/>
          </a:solidFill>
          <a:ln w="22860">
            <a:solidFill>
              <a:srgbClr val="C0C1D7"/>
            </a:solidFill>
            <a:prstDash val="solid"/>
          </a:ln>
        </p:spPr>
      </p:sp>
      <p:sp>
        <p:nvSpPr>
          <p:cNvPr id="27" name="Text 25"/>
          <p:cNvSpPr/>
          <p:nvPr/>
        </p:nvSpPr>
        <p:spPr>
          <a:xfrm>
            <a:off x="8439269" y="7814429"/>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Pacific Foods</a:t>
            </a:r>
            <a:endParaRPr lang="en-US" sz="1850" dirty="0"/>
          </a:p>
        </p:txBody>
      </p:sp>
      <p:sp>
        <p:nvSpPr>
          <p:cNvPr id="28" name="Text 26"/>
          <p:cNvSpPr/>
          <p:nvPr/>
        </p:nvSpPr>
        <p:spPr>
          <a:xfrm>
            <a:off x="8439269" y="8297585"/>
            <a:ext cx="5193506"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오가닉 포지셔닝</a:t>
            </a:r>
            <a:endParaRPr lang="en-US" sz="1450" dirty="0"/>
          </a:p>
        </p:txBody>
      </p:sp>
      <p:sp>
        <p:nvSpPr>
          <p:cNvPr id="29" name="Shape 27"/>
          <p:cNvSpPr/>
          <p:nvPr/>
        </p:nvSpPr>
        <p:spPr>
          <a:xfrm>
            <a:off x="8227933" y="8999101"/>
            <a:ext cx="5616178" cy="1207532"/>
          </a:xfrm>
          <a:prstGeom prst="roundRect">
            <a:avLst>
              <a:gd name="adj" fmla="val 6558"/>
            </a:avLst>
          </a:prstGeom>
          <a:solidFill>
            <a:srgbClr val="FFFFFF"/>
          </a:solidFill>
          <a:ln w="22860">
            <a:solidFill>
              <a:srgbClr val="C0C1D7"/>
            </a:solidFill>
            <a:prstDash val="solid"/>
          </a:ln>
        </p:spPr>
      </p:sp>
      <p:sp>
        <p:nvSpPr>
          <p:cNvPr id="30" name="Text 28"/>
          <p:cNvSpPr/>
          <p:nvPr/>
        </p:nvSpPr>
        <p:spPr>
          <a:xfrm>
            <a:off x="8439269" y="9210437"/>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272525"/>
                </a:solidFill>
                <a:latin typeface="Inter Bold" pitchFamily="34" charset="0"/>
                <a:ea typeface="Inter Bold" pitchFamily="34" charset="-122"/>
                <a:cs typeface="Inter Bold" pitchFamily="34" charset="-120"/>
              </a:rPr>
              <a:t>Bonafide</a:t>
            </a:r>
            <a:endParaRPr lang="en-US" sz="1850" dirty="0"/>
          </a:p>
        </p:txBody>
      </p:sp>
      <p:sp>
        <p:nvSpPr>
          <p:cNvPr id="31" name="Text 29"/>
          <p:cNvSpPr/>
          <p:nvPr/>
        </p:nvSpPr>
        <p:spPr>
          <a:xfrm>
            <a:off x="8439269" y="9693593"/>
            <a:ext cx="5193506" cy="301704"/>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기능성 강조</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89002" y="404932"/>
            <a:ext cx="3011686" cy="34504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Inter Bold" pitchFamily="34" charset="0"/>
                <a:ea typeface="Inter Bold" pitchFamily="34" charset="-122"/>
                <a:cs typeface="Inter Bold" pitchFamily="34" charset="-120"/>
              </a:rPr>
              <a:t>K-Food 시장 및 경쟁 환경</a:t>
            </a:r>
            <a:endParaRPr lang="en-US" sz="2150" dirty="0"/>
          </a:p>
        </p:txBody>
      </p:sp>
      <p:sp>
        <p:nvSpPr>
          <p:cNvPr id="3" name="Text 1"/>
          <p:cNvSpPr/>
          <p:nvPr/>
        </p:nvSpPr>
        <p:spPr>
          <a:xfrm>
            <a:off x="589002" y="794147"/>
            <a:ext cx="1807250" cy="206931"/>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미국 내 K-Food 시장 성장</a:t>
            </a:r>
            <a:endParaRPr lang="en-US" sz="1300" dirty="0"/>
          </a:p>
        </p:txBody>
      </p:sp>
      <p:sp>
        <p:nvSpPr>
          <p:cNvPr id="4" name="Text 2"/>
          <p:cNvSpPr/>
          <p:nvPr/>
        </p:nvSpPr>
        <p:spPr>
          <a:xfrm>
            <a:off x="589002" y="1265992"/>
            <a:ext cx="6591538" cy="353378"/>
          </a:xfrm>
          <a:prstGeom prst="rect">
            <a:avLst/>
          </a:prstGeom>
          <a:noFill/>
          <a:ln/>
        </p:spPr>
        <p:txBody>
          <a:bodyPr wrap="square" lIns="0" tIns="0" rIns="0" bIns="0" rtlCol="0" anchor="t"/>
          <a:lstStyle/>
          <a:p>
            <a:pPr algn="l" indent="0" marL="0">
              <a:lnSpc>
                <a:spcPts val="1350"/>
              </a:lnSpc>
              <a:buNone/>
            </a:pPr>
            <a:r>
              <a:rPr lang="en-US" sz="850" dirty="0">
                <a:solidFill>
                  <a:srgbClr val="272525"/>
                </a:solidFill>
                <a:latin typeface="Inter" pitchFamily="34" charset="0"/>
                <a:ea typeface="Inter" pitchFamily="34" charset="-122"/>
                <a:cs typeface="Inter" pitchFamily="34" charset="-120"/>
              </a:rPr>
              <a:t>미국 내 K-Food 시장은 한류 콘텐츠의 영향으로 폭발적으로 성장하고 있습니다. 특히 K-HMR 카테고리는 연평균 30% 이상 성장하며, Soup/Broth 카테고리 내에서도 한식의 잠재력이 주목받고 있습니다.</a:t>
            </a:r>
            <a:endParaRPr lang="en-US" sz="850" dirty="0"/>
          </a:p>
        </p:txBody>
      </p:sp>
      <p:sp>
        <p:nvSpPr>
          <p:cNvPr id="5" name="Text 3"/>
          <p:cNvSpPr/>
          <p:nvPr/>
        </p:nvSpPr>
        <p:spPr>
          <a:xfrm>
            <a:off x="589002" y="1729740"/>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000000"/>
                </a:solidFill>
                <a:latin typeface="Inter Bold" pitchFamily="34" charset="0"/>
                <a:ea typeface="Inter Bold" pitchFamily="34" charset="-122"/>
                <a:cs typeface="Inter Bold" pitchFamily="34" charset="-120"/>
              </a:rPr>
              <a:t>시장 특징</a:t>
            </a:r>
            <a:endParaRPr lang="en-US" sz="1050" dirty="0"/>
          </a:p>
        </p:txBody>
      </p:sp>
      <p:sp>
        <p:nvSpPr>
          <p:cNvPr id="6" name="Text 4"/>
          <p:cNvSpPr/>
          <p:nvPr/>
        </p:nvSpPr>
        <p:spPr>
          <a:xfrm>
            <a:off x="589002" y="2012752"/>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dirty="0">
                <a:solidFill>
                  <a:srgbClr val="272525"/>
                </a:solidFill>
                <a:latin typeface="Inter" pitchFamily="34" charset="0"/>
                <a:ea typeface="Inter" pitchFamily="34" charset="-122"/>
                <a:cs typeface="Inter" pitchFamily="34" charset="-120"/>
              </a:rPr>
              <a:t>K-Food 수입액 지속적 증가</a:t>
            </a:r>
            <a:endParaRPr lang="en-US" sz="850" dirty="0"/>
          </a:p>
        </p:txBody>
      </p:sp>
      <p:sp>
        <p:nvSpPr>
          <p:cNvPr id="7" name="Text 5"/>
          <p:cNvSpPr/>
          <p:nvPr/>
        </p:nvSpPr>
        <p:spPr>
          <a:xfrm>
            <a:off x="589002" y="2228017"/>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dirty="0">
                <a:solidFill>
                  <a:srgbClr val="272525"/>
                </a:solidFill>
                <a:latin typeface="Inter" pitchFamily="34" charset="0"/>
                <a:ea typeface="Inter" pitchFamily="34" charset="-122"/>
                <a:cs typeface="Inter" pitchFamily="34" charset="-120"/>
              </a:rPr>
              <a:t>비아시아계 소비자 비중 확대</a:t>
            </a:r>
            <a:endParaRPr lang="en-US" sz="850" dirty="0"/>
          </a:p>
        </p:txBody>
      </p:sp>
      <p:sp>
        <p:nvSpPr>
          <p:cNvPr id="8" name="Text 6"/>
          <p:cNvSpPr/>
          <p:nvPr/>
        </p:nvSpPr>
        <p:spPr>
          <a:xfrm>
            <a:off x="589002" y="2443282"/>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dirty="0">
                <a:solidFill>
                  <a:srgbClr val="272525"/>
                </a:solidFill>
                <a:latin typeface="Inter" pitchFamily="34" charset="0"/>
                <a:ea typeface="Inter" pitchFamily="34" charset="-122"/>
                <a:cs typeface="Inter" pitchFamily="34" charset="-120"/>
              </a:rPr>
              <a:t>프리미엄 이미지 구축 성공</a:t>
            </a:r>
            <a:endParaRPr lang="en-US" sz="850" dirty="0"/>
          </a:p>
        </p:txBody>
      </p:sp>
      <p:sp>
        <p:nvSpPr>
          <p:cNvPr id="9" name="Text 7"/>
          <p:cNvSpPr/>
          <p:nvPr/>
        </p:nvSpPr>
        <p:spPr>
          <a:xfrm>
            <a:off x="589002" y="2658547"/>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dirty="0">
                <a:solidFill>
                  <a:srgbClr val="272525"/>
                </a:solidFill>
                <a:latin typeface="Inter" pitchFamily="34" charset="0"/>
                <a:ea typeface="Inter" pitchFamily="34" charset="-122"/>
                <a:cs typeface="Inter" pitchFamily="34" charset="-120"/>
              </a:rPr>
              <a:t>온라인 채널 중심 성장</a:t>
            </a:r>
            <a:endParaRPr lang="en-US" sz="850" dirty="0"/>
          </a:p>
        </p:txBody>
      </p:sp>
      <p:sp>
        <p:nvSpPr>
          <p:cNvPr id="10" name="Shape 8"/>
          <p:cNvSpPr/>
          <p:nvPr/>
        </p:nvSpPr>
        <p:spPr>
          <a:xfrm>
            <a:off x="7457480" y="1346002"/>
            <a:ext cx="6192917" cy="137993"/>
          </a:xfrm>
          <a:prstGeom prst="roundRect">
            <a:avLst>
              <a:gd name="adj" fmla="val 33615"/>
            </a:avLst>
          </a:prstGeom>
          <a:solidFill>
            <a:srgbClr val="DADBF1"/>
          </a:solidFill>
          <a:ln w="7620">
            <a:solidFill>
              <a:srgbClr val="C0C1D7"/>
            </a:solidFill>
            <a:prstDash val="solid"/>
          </a:ln>
        </p:spPr>
      </p:sp>
      <p:sp>
        <p:nvSpPr>
          <p:cNvPr id="11" name="Shape 9"/>
          <p:cNvSpPr/>
          <p:nvPr/>
        </p:nvSpPr>
        <p:spPr>
          <a:xfrm>
            <a:off x="7457480" y="1346002"/>
            <a:ext cx="5263872" cy="137993"/>
          </a:xfrm>
          <a:prstGeom prst="roundRect">
            <a:avLst>
              <a:gd name="adj" fmla="val 33615"/>
            </a:avLst>
          </a:prstGeom>
          <a:solidFill>
            <a:srgbClr val="4950BC"/>
          </a:solidFill>
          <a:ln/>
        </p:spPr>
      </p:sp>
      <p:sp>
        <p:nvSpPr>
          <p:cNvPr id="12" name="Text 10"/>
          <p:cNvSpPr/>
          <p:nvPr/>
        </p:nvSpPr>
        <p:spPr>
          <a:xfrm>
            <a:off x="13733145" y="1346002"/>
            <a:ext cx="315873" cy="137993"/>
          </a:xfrm>
          <a:prstGeom prst="rect">
            <a:avLst/>
          </a:prstGeom>
          <a:noFill/>
          <a:ln/>
        </p:spPr>
        <p:txBody>
          <a:bodyPr wrap="none" lIns="0" tIns="0" rIns="0" bIns="0" rtlCol="0" anchor="t"/>
          <a:lstStyle/>
          <a:p>
            <a:pPr algn="l" indent="0" marL="0">
              <a:lnSpc>
                <a:spcPts val="1050"/>
              </a:lnSpc>
              <a:buNone/>
            </a:pPr>
            <a:r>
              <a:rPr lang="en-US" sz="1050" b="1" dirty="0">
                <a:solidFill>
                  <a:srgbClr val="272525"/>
                </a:solidFill>
                <a:latin typeface="Inter Bold" pitchFamily="34" charset="0"/>
                <a:ea typeface="Inter Bold" pitchFamily="34" charset="-122"/>
                <a:cs typeface="Inter Bold" pitchFamily="34" charset="-120"/>
              </a:rPr>
              <a:t>85%</a:t>
            </a:r>
            <a:endParaRPr lang="en-US" sz="1050" dirty="0"/>
          </a:p>
        </p:txBody>
      </p:sp>
      <p:sp>
        <p:nvSpPr>
          <p:cNvPr id="13" name="Text 11"/>
          <p:cNvSpPr/>
          <p:nvPr/>
        </p:nvSpPr>
        <p:spPr>
          <a:xfrm>
            <a:off x="7457480" y="1621869"/>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인지도 증가</a:t>
            </a:r>
            <a:endParaRPr lang="en-US" sz="1050" dirty="0"/>
          </a:p>
        </p:txBody>
      </p:sp>
      <p:sp>
        <p:nvSpPr>
          <p:cNvPr id="14" name="Shape 12"/>
          <p:cNvSpPr/>
          <p:nvPr/>
        </p:nvSpPr>
        <p:spPr>
          <a:xfrm>
            <a:off x="7457480" y="2070497"/>
            <a:ext cx="6193155" cy="137993"/>
          </a:xfrm>
          <a:prstGeom prst="roundRect">
            <a:avLst>
              <a:gd name="adj" fmla="val 33615"/>
            </a:avLst>
          </a:prstGeom>
          <a:solidFill>
            <a:srgbClr val="DADBF1"/>
          </a:solidFill>
          <a:ln w="7620">
            <a:solidFill>
              <a:srgbClr val="C0C1D7"/>
            </a:solidFill>
            <a:prstDash val="solid"/>
          </a:ln>
        </p:spPr>
      </p:sp>
      <p:sp>
        <p:nvSpPr>
          <p:cNvPr id="15" name="Shape 13"/>
          <p:cNvSpPr/>
          <p:nvPr/>
        </p:nvSpPr>
        <p:spPr>
          <a:xfrm>
            <a:off x="7457480" y="2070497"/>
            <a:ext cx="4025503" cy="137993"/>
          </a:xfrm>
          <a:prstGeom prst="roundRect">
            <a:avLst>
              <a:gd name="adj" fmla="val 33615"/>
            </a:avLst>
          </a:prstGeom>
          <a:solidFill>
            <a:srgbClr val="4950BC"/>
          </a:solidFill>
          <a:ln/>
        </p:spPr>
      </p:sp>
      <p:sp>
        <p:nvSpPr>
          <p:cNvPr id="16" name="Text 14"/>
          <p:cNvSpPr/>
          <p:nvPr/>
        </p:nvSpPr>
        <p:spPr>
          <a:xfrm>
            <a:off x="13733383" y="2070497"/>
            <a:ext cx="315635" cy="137993"/>
          </a:xfrm>
          <a:prstGeom prst="rect">
            <a:avLst/>
          </a:prstGeom>
          <a:noFill/>
          <a:ln/>
        </p:spPr>
        <p:txBody>
          <a:bodyPr wrap="none" lIns="0" tIns="0" rIns="0" bIns="0" rtlCol="0" anchor="t"/>
          <a:lstStyle/>
          <a:p>
            <a:pPr algn="l" indent="0" marL="0">
              <a:lnSpc>
                <a:spcPts val="1050"/>
              </a:lnSpc>
              <a:buNone/>
            </a:pPr>
            <a:r>
              <a:rPr lang="en-US" sz="1050" b="1" dirty="0">
                <a:solidFill>
                  <a:srgbClr val="272525"/>
                </a:solidFill>
                <a:latin typeface="Inter Bold" pitchFamily="34" charset="0"/>
                <a:ea typeface="Inter Bold" pitchFamily="34" charset="-122"/>
                <a:cs typeface="Inter Bold" pitchFamily="34" charset="-120"/>
              </a:rPr>
              <a:t>65%</a:t>
            </a:r>
            <a:endParaRPr lang="en-US" sz="1050" dirty="0"/>
          </a:p>
        </p:txBody>
      </p:sp>
      <p:sp>
        <p:nvSpPr>
          <p:cNvPr id="17" name="Text 15"/>
          <p:cNvSpPr/>
          <p:nvPr/>
        </p:nvSpPr>
        <p:spPr>
          <a:xfrm>
            <a:off x="7457480" y="2346365"/>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구매 경험</a:t>
            </a:r>
            <a:endParaRPr lang="en-US" sz="1050" dirty="0"/>
          </a:p>
        </p:txBody>
      </p:sp>
      <p:sp>
        <p:nvSpPr>
          <p:cNvPr id="18" name="Shape 16"/>
          <p:cNvSpPr/>
          <p:nvPr/>
        </p:nvSpPr>
        <p:spPr>
          <a:xfrm>
            <a:off x="7457480" y="2794992"/>
            <a:ext cx="6189464" cy="137993"/>
          </a:xfrm>
          <a:prstGeom prst="roundRect">
            <a:avLst>
              <a:gd name="adj" fmla="val 33615"/>
            </a:avLst>
          </a:prstGeom>
          <a:solidFill>
            <a:srgbClr val="DADBF1"/>
          </a:solidFill>
          <a:ln w="7620">
            <a:solidFill>
              <a:srgbClr val="C0C1D7"/>
            </a:solidFill>
            <a:prstDash val="solid"/>
          </a:ln>
        </p:spPr>
      </p:sp>
      <p:sp>
        <p:nvSpPr>
          <p:cNvPr id="19" name="Shape 17"/>
          <p:cNvSpPr/>
          <p:nvPr/>
        </p:nvSpPr>
        <p:spPr>
          <a:xfrm>
            <a:off x="7457480" y="2794992"/>
            <a:ext cx="2785229" cy="137993"/>
          </a:xfrm>
          <a:prstGeom prst="roundRect">
            <a:avLst>
              <a:gd name="adj" fmla="val 33615"/>
            </a:avLst>
          </a:prstGeom>
          <a:solidFill>
            <a:srgbClr val="4950BC"/>
          </a:solidFill>
          <a:ln/>
        </p:spPr>
      </p:sp>
      <p:sp>
        <p:nvSpPr>
          <p:cNvPr id="20" name="Text 18"/>
          <p:cNvSpPr/>
          <p:nvPr/>
        </p:nvSpPr>
        <p:spPr>
          <a:xfrm>
            <a:off x="13729692" y="2794992"/>
            <a:ext cx="319326" cy="137993"/>
          </a:xfrm>
          <a:prstGeom prst="rect">
            <a:avLst/>
          </a:prstGeom>
          <a:noFill/>
          <a:ln/>
        </p:spPr>
        <p:txBody>
          <a:bodyPr wrap="none" lIns="0" tIns="0" rIns="0" bIns="0" rtlCol="0" anchor="t"/>
          <a:lstStyle/>
          <a:p>
            <a:pPr algn="l" indent="0" marL="0">
              <a:lnSpc>
                <a:spcPts val="1050"/>
              </a:lnSpc>
              <a:buNone/>
            </a:pPr>
            <a:r>
              <a:rPr lang="en-US" sz="1050" b="1" dirty="0">
                <a:solidFill>
                  <a:srgbClr val="272525"/>
                </a:solidFill>
                <a:latin typeface="Inter Bold" pitchFamily="34" charset="0"/>
                <a:ea typeface="Inter Bold" pitchFamily="34" charset="-122"/>
                <a:cs typeface="Inter Bold" pitchFamily="34" charset="-120"/>
              </a:rPr>
              <a:t>45%</a:t>
            </a:r>
            <a:endParaRPr lang="en-US" sz="1050" dirty="0"/>
          </a:p>
        </p:txBody>
      </p:sp>
      <p:sp>
        <p:nvSpPr>
          <p:cNvPr id="21" name="Text 19"/>
          <p:cNvSpPr/>
          <p:nvPr/>
        </p:nvSpPr>
        <p:spPr>
          <a:xfrm>
            <a:off x="7457480" y="3070860"/>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정기 구매</a:t>
            </a:r>
            <a:endParaRPr lang="en-US" sz="1050" dirty="0"/>
          </a:p>
        </p:txBody>
      </p:sp>
      <p:sp>
        <p:nvSpPr>
          <p:cNvPr id="22" name="Text 20"/>
          <p:cNvSpPr/>
          <p:nvPr/>
        </p:nvSpPr>
        <p:spPr>
          <a:xfrm>
            <a:off x="7457480" y="3367683"/>
            <a:ext cx="6591538" cy="176689"/>
          </a:xfrm>
          <a:prstGeom prst="rect">
            <a:avLst/>
          </a:prstGeom>
          <a:noFill/>
          <a:ln/>
        </p:spPr>
        <p:txBody>
          <a:bodyPr wrap="none" lIns="0" tIns="0" rIns="0" bIns="0" rtlCol="0" anchor="t"/>
          <a:lstStyle/>
          <a:p>
            <a:pPr algn="l" indent="0" marL="0">
              <a:lnSpc>
                <a:spcPts val="1350"/>
              </a:lnSpc>
              <a:buNone/>
            </a:pPr>
            <a:r>
              <a:rPr lang="en-US" sz="850" i="1" dirty="0">
                <a:solidFill>
                  <a:srgbClr val="272525"/>
                </a:solidFill>
                <a:latin typeface="Inter" pitchFamily="34" charset="0"/>
                <a:ea typeface="Inter" pitchFamily="34" charset="-122"/>
                <a:cs typeface="Inter" pitchFamily="34" charset="-120"/>
              </a:rPr>
              <a:t>미국 소비자의 K-Food 관련 지표 (2024)</a:t>
            </a:r>
            <a:endParaRPr lang="en-US" sz="850" dirty="0"/>
          </a:p>
        </p:txBody>
      </p:sp>
      <p:sp>
        <p:nvSpPr>
          <p:cNvPr id="23" name="Text 21"/>
          <p:cNvSpPr/>
          <p:nvPr/>
        </p:nvSpPr>
        <p:spPr>
          <a:xfrm>
            <a:off x="589002" y="3809286"/>
            <a:ext cx="1656636" cy="206931"/>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소비자 세그먼트</a:t>
            </a:r>
            <a:endParaRPr lang="en-US" sz="1300" dirty="0"/>
          </a:p>
        </p:txBody>
      </p:sp>
      <p:sp>
        <p:nvSpPr>
          <p:cNvPr id="24" name="Shape 22"/>
          <p:cNvSpPr/>
          <p:nvPr/>
        </p:nvSpPr>
        <p:spPr>
          <a:xfrm>
            <a:off x="589002" y="4181832"/>
            <a:ext cx="6670953" cy="651510"/>
          </a:xfrm>
          <a:prstGeom prst="roundRect">
            <a:avLst>
              <a:gd name="adj" fmla="val 7120"/>
            </a:avLst>
          </a:prstGeom>
          <a:solidFill>
            <a:srgbClr val="DADBF1"/>
          </a:solidFill>
          <a:ln w="7620">
            <a:solidFill>
              <a:srgbClr val="C0C1D7"/>
            </a:solidFill>
            <a:prstDash val="solid"/>
          </a:ln>
        </p:spPr>
      </p:sp>
      <p:sp>
        <p:nvSpPr>
          <p:cNvPr id="25" name="Text 23"/>
          <p:cNvSpPr/>
          <p:nvPr/>
        </p:nvSpPr>
        <p:spPr>
          <a:xfrm>
            <a:off x="706993" y="4299823"/>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아시아계 미국인</a:t>
            </a:r>
            <a:endParaRPr lang="en-US" sz="1050" dirty="0"/>
          </a:p>
        </p:txBody>
      </p:sp>
      <p:sp>
        <p:nvSpPr>
          <p:cNvPr id="26" name="Text 24"/>
          <p:cNvSpPr/>
          <p:nvPr/>
        </p:nvSpPr>
        <p:spPr>
          <a:xfrm>
            <a:off x="706993" y="4538663"/>
            <a:ext cx="6434971" cy="176689"/>
          </a:xfrm>
          <a:prstGeom prst="rect">
            <a:avLst/>
          </a:prstGeom>
          <a:noFill/>
          <a:ln/>
        </p:spPr>
        <p:txBody>
          <a:bodyPr wrap="none" lIns="0" tIns="0" rIns="0" bIns="0" rtlCol="0" anchor="t"/>
          <a:lstStyle/>
          <a:p>
            <a:pPr algn="l" indent="0" marL="0">
              <a:lnSpc>
                <a:spcPts val="1350"/>
              </a:lnSpc>
              <a:buNone/>
            </a:pPr>
            <a:r>
              <a:rPr lang="en-US" sz="850" dirty="0">
                <a:solidFill>
                  <a:srgbClr val="272525"/>
                </a:solidFill>
                <a:latin typeface="Inter" pitchFamily="34" charset="0"/>
                <a:ea typeface="Inter" pitchFamily="34" charset="-122"/>
                <a:cs typeface="Inter" pitchFamily="34" charset="-120"/>
              </a:rPr>
              <a:t>전통적 핵심 소비층, 정통성과 품질 중시</a:t>
            </a:r>
            <a:endParaRPr lang="en-US" sz="850" dirty="0"/>
          </a:p>
        </p:txBody>
      </p:sp>
      <p:sp>
        <p:nvSpPr>
          <p:cNvPr id="27" name="Shape 25"/>
          <p:cNvSpPr/>
          <p:nvPr/>
        </p:nvSpPr>
        <p:spPr>
          <a:xfrm>
            <a:off x="7370326" y="4181832"/>
            <a:ext cx="6671072" cy="651510"/>
          </a:xfrm>
          <a:prstGeom prst="roundRect">
            <a:avLst>
              <a:gd name="adj" fmla="val 7120"/>
            </a:avLst>
          </a:prstGeom>
          <a:solidFill>
            <a:srgbClr val="DADBF1"/>
          </a:solidFill>
          <a:ln w="7620">
            <a:solidFill>
              <a:srgbClr val="C0C1D7"/>
            </a:solidFill>
            <a:prstDash val="solid"/>
          </a:ln>
        </p:spPr>
      </p:sp>
      <p:sp>
        <p:nvSpPr>
          <p:cNvPr id="28" name="Text 26"/>
          <p:cNvSpPr/>
          <p:nvPr/>
        </p:nvSpPr>
        <p:spPr>
          <a:xfrm>
            <a:off x="7488317" y="4299823"/>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K-Food 팬층</a:t>
            </a:r>
            <a:endParaRPr lang="en-US" sz="1050" dirty="0"/>
          </a:p>
        </p:txBody>
      </p:sp>
      <p:sp>
        <p:nvSpPr>
          <p:cNvPr id="29" name="Text 27"/>
          <p:cNvSpPr/>
          <p:nvPr/>
        </p:nvSpPr>
        <p:spPr>
          <a:xfrm>
            <a:off x="7488317" y="4538663"/>
            <a:ext cx="6435090" cy="176689"/>
          </a:xfrm>
          <a:prstGeom prst="rect">
            <a:avLst/>
          </a:prstGeom>
          <a:noFill/>
          <a:ln/>
        </p:spPr>
        <p:txBody>
          <a:bodyPr wrap="none" lIns="0" tIns="0" rIns="0" bIns="0" rtlCol="0" anchor="t"/>
          <a:lstStyle/>
          <a:p>
            <a:pPr algn="l" indent="0" marL="0">
              <a:lnSpc>
                <a:spcPts val="1350"/>
              </a:lnSpc>
              <a:buNone/>
            </a:pPr>
            <a:r>
              <a:rPr lang="en-US" sz="850" dirty="0">
                <a:solidFill>
                  <a:srgbClr val="272525"/>
                </a:solidFill>
                <a:latin typeface="Inter" pitchFamily="34" charset="0"/>
                <a:ea typeface="Inter" pitchFamily="34" charset="-122"/>
                <a:cs typeface="Inter" pitchFamily="34" charset="-120"/>
              </a:rPr>
              <a:t>한류 콘텐츠를 통해 K-Food에 관심을 가진 비아시아계</a:t>
            </a:r>
            <a:endParaRPr lang="en-US" sz="850" dirty="0"/>
          </a:p>
        </p:txBody>
      </p:sp>
      <p:sp>
        <p:nvSpPr>
          <p:cNvPr id="30" name="Shape 28"/>
          <p:cNvSpPr/>
          <p:nvPr/>
        </p:nvSpPr>
        <p:spPr>
          <a:xfrm>
            <a:off x="589002" y="4943713"/>
            <a:ext cx="6670953" cy="651510"/>
          </a:xfrm>
          <a:prstGeom prst="roundRect">
            <a:avLst>
              <a:gd name="adj" fmla="val 7120"/>
            </a:avLst>
          </a:prstGeom>
          <a:solidFill>
            <a:srgbClr val="DADBF1"/>
          </a:solidFill>
          <a:ln w="7620">
            <a:solidFill>
              <a:srgbClr val="C0C1D7"/>
            </a:solidFill>
            <a:prstDash val="solid"/>
          </a:ln>
        </p:spPr>
      </p:sp>
      <p:sp>
        <p:nvSpPr>
          <p:cNvPr id="31" name="Text 29"/>
          <p:cNvSpPr/>
          <p:nvPr/>
        </p:nvSpPr>
        <p:spPr>
          <a:xfrm>
            <a:off x="706993" y="5061704"/>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Z세대</a:t>
            </a:r>
            <a:endParaRPr lang="en-US" sz="1050" dirty="0"/>
          </a:p>
        </p:txBody>
      </p:sp>
      <p:sp>
        <p:nvSpPr>
          <p:cNvPr id="32" name="Text 30"/>
          <p:cNvSpPr/>
          <p:nvPr/>
        </p:nvSpPr>
        <p:spPr>
          <a:xfrm>
            <a:off x="706993" y="5300543"/>
            <a:ext cx="6434971" cy="176689"/>
          </a:xfrm>
          <a:prstGeom prst="rect">
            <a:avLst/>
          </a:prstGeom>
          <a:noFill/>
          <a:ln/>
        </p:spPr>
        <p:txBody>
          <a:bodyPr wrap="none" lIns="0" tIns="0" rIns="0" bIns="0" rtlCol="0" anchor="t"/>
          <a:lstStyle/>
          <a:p>
            <a:pPr algn="l" indent="0" marL="0">
              <a:lnSpc>
                <a:spcPts val="1350"/>
              </a:lnSpc>
              <a:buNone/>
            </a:pPr>
            <a:r>
              <a:rPr lang="en-US" sz="850" dirty="0">
                <a:solidFill>
                  <a:srgbClr val="272525"/>
                </a:solidFill>
                <a:latin typeface="Inter" pitchFamily="34" charset="0"/>
                <a:ea typeface="Inter" pitchFamily="34" charset="-122"/>
                <a:cs typeface="Inter" pitchFamily="34" charset="-120"/>
              </a:rPr>
              <a:t>SNS를 통해 새로운 음식 경험을 추구하는 젊은 층</a:t>
            </a:r>
            <a:endParaRPr lang="en-US" sz="850" dirty="0"/>
          </a:p>
        </p:txBody>
      </p:sp>
      <p:sp>
        <p:nvSpPr>
          <p:cNvPr id="33" name="Shape 31"/>
          <p:cNvSpPr/>
          <p:nvPr/>
        </p:nvSpPr>
        <p:spPr>
          <a:xfrm>
            <a:off x="7370326" y="4943713"/>
            <a:ext cx="6671072" cy="651510"/>
          </a:xfrm>
          <a:prstGeom prst="roundRect">
            <a:avLst>
              <a:gd name="adj" fmla="val 7120"/>
            </a:avLst>
          </a:prstGeom>
          <a:solidFill>
            <a:srgbClr val="DADBF1"/>
          </a:solidFill>
          <a:ln w="7620">
            <a:solidFill>
              <a:srgbClr val="C0C1D7"/>
            </a:solidFill>
            <a:prstDash val="solid"/>
          </a:ln>
        </p:spPr>
      </p:sp>
      <p:sp>
        <p:nvSpPr>
          <p:cNvPr id="34" name="Text 32"/>
          <p:cNvSpPr/>
          <p:nvPr/>
        </p:nvSpPr>
        <p:spPr>
          <a:xfrm>
            <a:off x="7488317" y="5061704"/>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272525"/>
                </a:solidFill>
                <a:latin typeface="Inter Bold" pitchFamily="34" charset="0"/>
                <a:ea typeface="Inter Bold" pitchFamily="34" charset="-122"/>
                <a:cs typeface="Inter Bold" pitchFamily="34" charset="-120"/>
              </a:rPr>
              <a:t>건강식 중시층</a:t>
            </a:r>
            <a:endParaRPr lang="en-US" sz="1050" dirty="0"/>
          </a:p>
        </p:txBody>
      </p:sp>
      <p:sp>
        <p:nvSpPr>
          <p:cNvPr id="35" name="Text 33"/>
          <p:cNvSpPr/>
          <p:nvPr/>
        </p:nvSpPr>
        <p:spPr>
          <a:xfrm>
            <a:off x="7488317" y="5300543"/>
            <a:ext cx="6435090" cy="176689"/>
          </a:xfrm>
          <a:prstGeom prst="rect">
            <a:avLst/>
          </a:prstGeom>
          <a:noFill/>
          <a:ln/>
        </p:spPr>
        <p:txBody>
          <a:bodyPr wrap="none" lIns="0" tIns="0" rIns="0" bIns="0" rtlCol="0" anchor="t"/>
          <a:lstStyle/>
          <a:p>
            <a:pPr algn="l" indent="0" marL="0">
              <a:lnSpc>
                <a:spcPts val="1350"/>
              </a:lnSpc>
              <a:buNone/>
            </a:pPr>
            <a:r>
              <a:rPr lang="en-US" sz="850" dirty="0">
                <a:solidFill>
                  <a:srgbClr val="272525"/>
                </a:solidFill>
                <a:latin typeface="Inter" pitchFamily="34" charset="0"/>
                <a:ea typeface="Inter" pitchFamily="34" charset="-122"/>
                <a:cs typeface="Inter" pitchFamily="34" charset="-120"/>
              </a:rPr>
              <a:t>영양과 기능성을 우선시하는 헬스 컨셔스 소비자</a:t>
            </a:r>
            <a:endParaRPr lang="en-US" sz="850" dirty="0"/>
          </a:p>
        </p:txBody>
      </p:sp>
      <p:sp>
        <p:nvSpPr>
          <p:cNvPr id="36" name="Text 34"/>
          <p:cNvSpPr/>
          <p:nvPr/>
        </p:nvSpPr>
        <p:spPr>
          <a:xfrm>
            <a:off x="589002" y="5760839"/>
            <a:ext cx="1656636" cy="206931"/>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경쟁사 분석</a:t>
            </a:r>
            <a:endParaRPr lang="en-US" sz="1300" dirty="0"/>
          </a:p>
        </p:txBody>
      </p:sp>
      <p:sp>
        <p:nvSpPr>
          <p:cNvPr id="37" name="Text 35"/>
          <p:cNvSpPr/>
          <p:nvPr/>
        </p:nvSpPr>
        <p:spPr>
          <a:xfrm>
            <a:off x="589002" y="6243757"/>
            <a:ext cx="1380530" cy="172641"/>
          </a:xfrm>
          <a:prstGeom prst="rect">
            <a:avLst/>
          </a:prstGeom>
          <a:noFill/>
          <a:ln/>
        </p:spPr>
        <p:txBody>
          <a:bodyPr wrap="none" lIns="0" tIns="0" rIns="0" bIns="0" rtlCol="0" anchor="t"/>
          <a:lstStyle/>
          <a:p>
            <a:pPr algn="l" indent="0" marL="0">
              <a:lnSpc>
                <a:spcPts val="1350"/>
              </a:lnSpc>
              <a:buNone/>
            </a:pPr>
            <a:r>
              <a:rPr lang="en-US" sz="1050" b="1" dirty="0">
                <a:solidFill>
                  <a:srgbClr val="000000"/>
                </a:solidFill>
                <a:latin typeface="Inter Bold" pitchFamily="34" charset="0"/>
                <a:ea typeface="Inter Bold" pitchFamily="34" charset="-122"/>
                <a:cs typeface="Inter Bold" pitchFamily="34" charset="-120"/>
              </a:rPr>
              <a:t>한국 브랜드</a:t>
            </a:r>
            <a:endParaRPr lang="en-US" sz="1050" dirty="0"/>
          </a:p>
        </p:txBody>
      </p:sp>
      <p:sp>
        <p:nvSpPr>
          <p:cNvPr id="38" name="Text 36"/>
          <p:cNvSpPr/>
          <p:nvPr/>
        </p:nvSpPr>
        <p:spPr>
          <a:xfrm>
            <a:off x="589002" y="6526768"/>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272525"/>
                </a:solidFill>
                <a:latin typeface="Inter" pitchFamily="34" charset="0"/>
                <a:ea typeface="Inter" pitchFamily="34" charset="-122"/>
                <a:cs typeface="Inter" pitchFamily="34" charset="-120"/>
              </a:rPr>
              <a:t>CJ 비비고:</a:t>
            </a:r>
            <a:pPr algn="l" indent="0" marL="0">
              <a:lnSpc>
                <a:spcPts val="1350"/>
              </a:lnSpc>
              <a:buNone/>
            </a:pPr>
            <a:r>
              <a:rPr lang="en-US" sz="850" dirty="0">
                <a:solidFill>
                  <a:srgbClr val="272525"/>
                </a:solidFill>
                <a:latin typeface="Inter" pitchFamily="34" charset="0"/>
                <a:ea typeface="Inter" pitchFamily="34" charset="-122"/>
                <a:cs typeface="Inter" pitchFamily="34" charset="-120"/>
              </a:rPr>
              <a:t> 미국 시장 선도 브랜드, 광범위한 유통망, 만두·김치 중심</a:t>
            </a:r>
            <a:endParaRPr lang="en-US" sz="850" dirty="0"/>
          </a:p>
        </p:txBody>
      </p:sp>
      <p:sp>
        <p:nvSpPr>
          <p:cNvPr id="39" name="Text 37"/>
          <p:cNvSpPr/>
          <p:nvPr/>
        </p:nvSpPr>
        <p:spPr>
          <a:xfrm>
            <a:off x="589002" y="6742033"/>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272525"/>
                </a:solidFill>
                <a:latin typeface="Inter" pitchFamily="34" charset="0"/>
                <a:ea typeface="Inter" pitchFamily="34" charset="-122"/>
                <a:cs typeface="Inter" pitchFamily="34" charset="-120"/>
              </a:rPr>
              <a:t>오뚜기:</a:t>
            </a:r>
            <a:pPr algn="l" indent="0" marL="0">
              <a:lnSpc>
                <a:spcPts val="1350"/>
              </a:lnSpc>
              <a:buNone/>
            </a:pPr>
            <a:r>
              <a:rPr lang="en-US" sz="850" dirty="0">
                <a:solidFill>
                  <a:srgbClr val="272525"/>
                </a:solidFill>
                <a:latin typeface="Inter" pitchFamily="34" charset="0"/>
                <a:ea typeface="Inter" pitchFamily="34" charset="-122"/>
                <a:cs typeface="Inter" pitchFamily="34" charset="-120"/>
              </a:rPr>
              <a:t> 라면·소스 중심, 아시아 마켓 강세</a:t>
            </a:r>
            <a:endParaRPr lang="en-US" sz="850" dirty="0"/>
          </a:p>
        </p:txBody>
      </p:sp>
      <p:sp>
        <p:nvSpPr>
          <p:cNvPr id="40" name="Text 38"/>
          <p:cNvSpPr/>
          <p:nvPr/>
        </p:nvSpPr>
        <p:spPr>
          <a:xfrm>
            <a:off x="589002" y="7029093"/>
            <a:ext cx="1442442" cy="172641"/>
          </a:xfrm>
          <a:prstGeom prst="rect">
            <a:avLst/>
          </a:prstGeom>
          <a:noFill/>
          <a:ln/>
        </p:spPr>
        <p:txBody>
          <a:bodyPr wrap="none" lIns="0" tIns="0" rIns="0" bIns="0" rtlCol="0" anchor="t"/>
          <a:lstStyle/>
          <a:p>
            <a:pPr algn="l" indent="0" marL="0">
              <a:lnSpc>
                <a:spcPts val="1350"/>
              </a:lnSpc>
              <a:buNone/>
            </a:pPr>
            <a:r>
              <a:rPr lang="en-US" sz="1050" b="1" dirty="0">
                <a:solidFill>
                  <a:srgbClr val="000000"/>
                </a:solidFill>
                <a:latin typeface="Inter Bold" pitchFamily="34" charset="0"/>
                <a:ea typeface="Inter Bold" pitchFamily="34" charset="-122"/>
                <a:cs typeface="Inter Bold" pitchFamily="34" charset="-120"/>
              </a:rPr>
              <a:t>미국 Bone Broth 브랜드</a:t>
            </a:r>
            <a:endParaRPr lang="en-US" sz="1050" dirty="0"/>
          </a:p>
        </p:txBody>
      </p:sp>
      <p:sp>
        <p:nvSpPr>
          <p:cNvPr id="41" name="Text 39"/>
          <p:cNvSpPr/>
          <p:nvPr/>
        </p:nvSpPr>
        <p:spPr>
          <a:xfrm>
            <a:off x="589002" y="7312104"/>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272525"/>
                </a:solidFill>
                <a:latin typeface="Inter" pitchFamily="34" charset="0"/>
                <a:ea typeface="Inter" pitchFamily="34" charset="-122"/>
                <a:cs typeface="Inter" pitchFamily="34" charset="-120"/>
              </a:rPr>
              <a:t>Kettle &amp; Fire:</a:t>
            </a:r>
            <a:pPr algn="l" indent="0" marL="0">
              <a:lnSpc>
                <a:spcPts val="1350"/>
              </a:lnSpc>
              <a:buNone/>
            </a:pPr>
            <a:r>
              <a:rPr lang="en-US" sz="850" dirty="0">
                <a:solidFill>
                  <a:srgbClr val="272525"/>
                </a:solidFill>
                <a:latin typeface="Inter" pitchFamily="34" charset="0"/>
                <a:ea typeface="Inter" pitchFamily="34" charset="-122"/>
                <a:cs typeface="Inter" pitchFamily="34" charset="-120"/>
              </a:rPr>
              <a:t> 프리미엄 포지셔닝, $8-12/팩, 온라인 강세</a:t>
            </a:r>
            <a:endParaRPr lang="en-US" sz="850" dirty="0"/>
          </a:p>
        </p:txBody>
      </p:sp>
      <p:sp>
        <p:nvSpPr>
          <p:cNvPr id="42" name="Text 40"/>
          <p:cNvSpPr/>
          <p:nvPr/>
        </p:nvSpPr>
        <p:spPr>
          <a:xfrm>
            <a:off x="589002" y="7527369"/>
            <a:ext cx="6591538" cy="176689"/>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272525"/>
                </a:solidFill>
                <a:latin typeface="Inter" pitchFamily="34" charset="0"/>
                <a:ea typeface="Inter" pitchFamily="34" charset="-122"/>
                <a:cs typeface="Inter" pitchFamily="34" charset="-120"/>
              </a:rPr>
              <a:t>Pacific Foods:</a:t>
            </a:r>
            <a:pPr algn="l" indent="0" marL="0">
              <a:lnSpc>
                <a:spcPts val="1350"/>
              </a:lnSpc>
              <a:buNone/>
            </a:pPr>
            <a:r>
              <a:rPr lang="en-US" sz="850" dirty="0">
                <a:solidFill>
                  <a:srgbClr val="272525"/>
                </a:solidFill>
                <a:latin typeface="Inter" pitchFamily="34" charset="0"/>
                <a:ea typeface="Inter" pitchFamily="34" charset="-122"/>
                <a:cs typeface="Inter" pitchFamily="34" charset="-120"/>
              </a:rPr>
              <a:t> 오가닉 강조, $6-10/팩, 전국 유통</a:t>
            </a:r>
            <a:endParaRPr lang="en-US" sz="850" dirty="0"/>
          </a:p>
        </p:txBody>
      </p:sp>
      <p:pic>
        <p:nvPicPr>
          <p:cNvPr id="43" name="Image 0" descr="preencoded.png">    </p:cNvPr>
          <p:cNvPicPr>
            <a:picLocks noChangeAspect="1"/>
          </p:cNvPicPr>
          <p:nvPr/>
        </p:nvPicPr>
        <p:blipFill>
          <a:blip r:embed="rId1"/>
          <a:stretch>
            <a:fillRect/>
          </a:stretch>
        </p:blipFill>
        <p:spPr>
          <a:xfrm>
            <a:off x="7457480" y="6257568"/>
            <a:ext cx="4943594" cy="49435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2242" y="545544"/>
            <a:ext cx="7128034" cy="618887"/>
          </a:xfrm>
          <a:prstGeom prst="rect">
            <a:avLst/>
          </a:prstGeom>
          <a:noFill/>
          <a:ln/>
        </p:spPr>
        <p:txBody>
          <a:bodyPr wrap="none" lIns="0" tIns="0" rIns="0" bIns="0" rtlCol="0" anchor="t"/>
          <a:lstStyle/>
          <a:p>
            <a:pPr algn="l" indent="0" marL="0">
              <a:lnSpc>
                <a:spcPts val="4850"/>
              </a:lnSpc>
              <a:buNone/>
            </a:pPr>
            <a:r>
              <a:rPr lang="en-US" sz="3850" b="1" dirty="0">
                <a:solidFill>
                  <a:srgbClr val="000000"/>
                </a:solidFill>
                <a:latin typeface="Inter Bold" pitchFamily="34" charset="0"/>
                <a:ea typeface="Inter Bold" pitchFamily="34" charset="-122"/>
                <a:cs typeface="Inter Bold" pitchFamily="34" charset="-120"/>
              </a:rPr>
              <a:t>완주의선물: 핵심 역량 및 경쟁 우위</a:t>
            </a:r>
            <a:endParaRPr lang="en-US" sz="3850" dirty="0"/>
          </a:p>
        </p:txBody>
      </p:sp>
      <p:sp>
        <p:nvSpPr>
          <p:cNvPr id="3" name="Text 1"/>
          <p:cNvSpPr/>
          <p:nvPr/>
        </p:nvSpPr>
        <p:spPr>
          <a:xfrm>
            <a:off x="792242" y="1659493"/>
            <a:ext cx="2970847" cy="371237"/>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기업 개요</a:t>
            </a:r>
            <a:endParaRPr lang="en-US" sz="2300" dirty="0"/>
          </a:p>
        </p:txBody>
      </p:sp>
      <p:sp>
        <p:nvSpPr>
          <p:cNvPr id="4" name="Text 2"/>
          <p:cNvSpPr/>
          <p:nvPr/>
        </p:nvSpPr>
        <p:spPr>
          <a:xfrm>
            <a:off x="792242" y="2228731"/>
            <a:ext cx="6281380" cy="950833"/>
          </a:xfrm>
          <a:prstGeom prst="rect">
            <a:avLst/>
          </a:prstGeom>
          <a:noFill/>
          <a:ln/>
        </p:spPr>
        <p:txBody>
          <a:bodyPr wrap="square" lIns="0" tIns="0" rIns="0" bIns="0" rtlCol="0" anchor="t"/>
          <a:lstStyle/>
          <a:p>
            <a:pPr algn="l" indent="0" marL="0">
              <a:lnSpc>
                <a:spcPts val="2450"/>
              </a:lnSpc>
              <a:buNone/>
            </a:pPr>
            <a:r>
              <a:rPr lang="en-US" sz="1550" dirty="0">
                <a:solidFill>
                  <a:srgbClr val="272525"/>
                </a:solidFill>
                <a:latin typeface="Inter" pitchFamily="34" charset="0"/>
                <a:ea typeface="Inter" pitchFamily="34" charset="-122"/>
                <a:cs typeface="Inter" pitchFamily="34" charset="-120"/>
              </a:rPr>
              <a:t>완주의선물은 한우를 기반으로 한 프리미엄 육수 전문 제조업체입니다. HACCP 인증 시설에서 무첨가·클린라벨 원칙을 고수하며, 수작업 기반의 전통 방식으로 깊은 맛을 구현합니다.</a:t>
            </a:r>
            <a:endParaRPr lang="en-US" sz="1550" dirty="0"/>
          </a:p>
        </p:txBody>
      </p:sp>
      <p:sp>
        <p:nvSpPr>
          <p:cNvPr id="5" name="Text 3"/>
          <p:cNvSpPr/>
          <p:nvPr/>
        </p:nvSpPr>
        <p:spPr>
          <a:xfrm>
            <a:off x="792242" y="3377565"/>
            <a:ext cx="2970847" cy="371237"/>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4대 핵심 역량</a:t>
            </a:r>
            <a:endParaRPr lang="en-US" sz="2300" dirty="0"/>
          </a:p>
        </p:txBody>
      </p:sp>
      <p:sp>
        <p:nvSpPr>
          <p:cNvPr id="6" name="Shape 4"/>
          <p:cNvSpPr/>
          <p:nvPr/>
        </p:nvSpPr>
        <p:spPr>
          <a:xfrm>
            <a:off x="792242" y="3971568"/>
            <a:ext cx="6281380" cy="1265992"/>
          </a:xfrm>
          <a:prstGeom prst="roundRect">
            <a:avLst>
              <a:gd name="adj" fmla="val 6571"/>
            </a:avLst>
          </a:prstGeom>
          <a:solidFill>
            <a:srgbClr val="FFFFFF"/>
          </a:solidFill>
          <a:ln w="22860">
            <a:solidFill>
              <a:srgbClr val="C0C1D7"/>
            </a:solidFill>
            <a:prstDash val="solid"/>
          </a:ln>
        </p:spPr>
      </p:sp>
      <p:sp>
        <p:nvSpPr>
          <p:cNvPr id="7" name="Shape 5"/>
          <p:cNvSpPr/>
          <p:nvPr/>
        </p:nvSpPr>
        <p:spPr>
          <a:xfrm>
            <a:off x="815102" y="3994428"/>
            <a:ext cx="792242" cy="1220272"/>
          </a:xfrm>
          <a:prstGeom prst="roundRect">
            <a:avLst>
              <a:gd name="adj" fmla="val 7037"/>
            </a:avLst>
          </a:prstGeom>
          <a:solidFill>
            <a:srgbClr val="DADBF1"/>
          </a:solidFill>
          <a:ln/>
        </p:spPr>
      </p:sp>
      <p:sp>
        <p:nvSpPr>
          <p:cNvPr id="8" name="Text 6"/>
          <p:cNvSpPr/>
          <p:nvPr/>
        </p:nvSpPr>
        <p:spPr>
          <a:xfrm>
            <a:off x="1058823" y="4418886"/>
            <a:ext cx="297061" cy="371356"/>
          </a:xfrm>
          <a:prstGeom prst="rect">
            <a:avLst/>
          </a:prstGeom>
          <a:noFill/>
          <a:ln/>
        </p:spPr>
        <p:txBody>
          <a:bodyPr wrap="none" lIns="0" tIns="0" rIns="0" bIns="0" rtlCol="0" anchor="t"/>
          <a:lstStyle/>
          <a:p>
            <a:pPr algn="l" indent="0" marL="0">
              <a:lnSpc>
                <a:spcPts val="2300"/>
              </a:lnSpc>
              <a:buNone/>
            </a:pPr>
            <a:r>
              <a:rPr lang="en-US" sz="2300" b="1" dirty="0">
                <a:solidFill>
                  <a:srgbClr val="272525"/>
                </a:solidFill>
                <a:latin typeface="Inter Bold" pitchFamily="34" charset="0"/>
                <a:ea typeface="Inter Bold" pitchFamily="34" charset="-122"/>
                <a:cs typeface="Inter Bold" pitchFamily="34" charset="-120"/>
              </a:rPr>
              <a:t>1</a:t>
            </a:r>
            <a:endParaRPr lang="en-US" sz="2300" dirty="0"/>
          </a:p>
        </p:txBody>
      </p:sp>
      <p:sp>
        <p:nvSpPr>
          <p:cNvPr id="9" name="Text 7"/>
          <p:cNvSpPr/>
          <p:nvPr/>
        </p:nvSpPr>
        <p:spPr>
          <a:xfrm>
            <a:off x="1805345" y="4192429"/>
            <a:ext cx="2475667" cy="309324"/>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한우 100% 원료</a:t>
            </a:r>
            <a:endParaRPr lang="en-US" sz="1900" dirty="0"/>
          </a:p>
        </p:txBody>
      </p:sp>
      <p:sp>
        <p:nvSpPr>
          <p:cNvPr id="10" name="Text 8"/>
          <p:cNvSpPr/>
          <p:nvPr/>
        </p:nvSpPr>
        <p:spPr>
          <a:xfrm>
            <a:off x="1805345" y="4699754"/>
            <a:ext cx="5047417" cy="316944"/>
          </a:xfrm>
          <a:prstGeom prst="rect">
            <a:avLst/>
          </a:prstGeom>
          <a:noFill/>
          <a:ln/>
        </p:spPr>
        <p:txBody>
          <a:bodyPr wrap="none" lIns="0" tIns="0" rIns="0" bIns="0" rtlCol="0" anchor="t"/>
          <a:lstStyle/>
          <a:p>
            <a:pPr algn="l" indent="0" marL="0">
              <a:lnSpc>
                <a:spcPts val="2450"/>
              </a:lnSpc>
              <a:buNone/>
            </a:pPr>
            <a:r>
              <a:rPr lang="en-US" sz="1550" dirty="0">
                <a:solidFill>
                  <a:srgbClr val="272525"/>
                </a:solidFill>
                <a:latin typeface="Inter" pitchFamily="34" charset="0"/>
                <a:ea typeface="Inter" pitchFamily="34" charset="-122"/>
                <a:cs typeface="Inter" pitchFamily="34" charset="-120"/>
              </a:rPr>
              <a:t>최고급 한우만을 사용한 프리미엄 품질</a:t>
            </a:r>
            <a:endParaRPr lang="en-US" sz="1550" dirty="0"/>
          </a:p>
        </p:txBody>
      </p:sp>
      <p:sp>
        <p:nvSpPr>
          <p:cNvPr id="11" name="Shape 9"/>
          <p:cNvSpPr/>
          <p:nvPr/>
        </p:nvSpPr>
        <p:spPr>
          <a:xfrm>
            <a:off x="792242" y="5435560"/>
            <a:ext cx="6281380" cy="1265992"/>
          </a:xfrm>
          <a:prstGeom prst="roundRect">
            <a:avLst>
              <a:gd name="adj" fmla="val 6571"/>
            </a:avLst>
          </a:prstGeom>
          <a:solidFill>
            <a:srgbClr val="FFFFFF"/>
          </a:solidFill>
          <a:ln w="22860">
            <a:solidFill>
              <a:srgbClr val="C0C1D7"/>
            </a:solidFill>
            <a:prstDash val="solid"/>
          </a:ln>
        </p:spPr>
      </p:sp>
      <p:sp>
        <p:nvSpPr>
          <p:cNvPr id="12" name="Shape 10"/>
          <p:cNvSpPr/>
          <p:nvPr/>
        </p:nvSpPr>
        <p:spPr>
          <a:xfrm>
            <a:off x="815102" y="5458420"/>
            <a:ext cx="792242" cy="1220272"/>
          </a:xfrm>
          <a:prstGeom prst="roundRect">
            <a:avLst>
              <a:gd name="adj" fmla="val 7037"/>
            </a:avLst>
          </a:prstGeom>
          <a:solidFill>
            <a:srgbClr val="DADBF1"/>
          </a:solidFill>
          <a:ln/>
        </p:spPr>
      </p:sp>
      <p:sp>
        <p:nvSpPr>
          <p:cNvPr id="13" name="Text 11"/>
          <p:cNvSpPr/>
          <p:nvPr/>
        </p:nvSpPr>
        <p:spPr>
          <a:xfrm>
            <a:off x="1058823" y="5882878"/>
            <a:ext cx="297061" cy="371356"/>
          </a:xfrm>
          <a:prstGeom prst="rect">
            <a:avLst/>
          </a:prstGeom>
          <a:noFill/>
          <a:ln/>
        </p:spPr>
        <p:txBody>
          <a:bodyPr wrap="none" lIns="0" tIns="0" rIns="0" bIns="0" rtlCol="0" anchor="t"/>
          <a:lstStyle/>
          <a:p>
            <a:pPr algn="l" indent="0" marL="0">
              <a:lnSpc>
                <a:spcPts val="2300"/>
              </a:lnSpc>
              <a:buNone/>
            </a:pPr>
            <a:r>
              <a:rPr lang="en-US" sz="2300" b="1" dirty="0">
                <a:solidFill>
                  <a:srgbClr val="272525"/>
                </a:solidFill>
                <a:latin typeface="Inter Bold" pitchFamily="34" charset="0"/>
                <a:ea typeface="Inter Bold" pitchFamily="34" charset="-122"/>
                <a:cs typeface="Inter Bold" pitchFamily="34" charset="-120"/>
              </a:rPr>
              <a:t>2</a:t>
            </a:r>
            <a:endParaRPr lang="en-US" sz="2300" dirty="0"/>
          </a:p>
        </p:txBody>
      </p:sp>
      <p:sp>
        <p:nvSpPr>
          <p:cNvPr id="14" name="Text 12"/>
          <p:cNvSpPr/>
          <p:nvPr/>
        </p:nvSpPr>
        <p:spPr>
          <a:xfrm>
            <a:off x="1805345" y="5656421"/>
            <a:ext cx="2475667" cy="309324"/>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전통 제조 방식</a:t>
            </a:r>
            <a:endParaRPr lang="en-US" sz="1900" dirty="0"/>
          </a:p>
        </p:txBody>
      </p:sp>
      <p:sp>
        <p:nvSpPr>
          <p:cNvPr id="15" name="Text 13"/>
          <p:cNvSpPr/>
          <p:nvPr/>
        </p:nvSpPr>
        <p:spPr>
          <a:xfrm>
            <a:off x="1805345" y="6163747"/>
            <a:ext cx="5047417" cy="316944"/>
          </a:xfrm>
          <a:prstGeom prst="rect">
            <a:avLst/>
          </a:prstGeom>
          <a:noFill/>
          <a:ln/>
        </p:spPr>
        <p:txBody>
          <a:bodyPr wrap="none" lIns="0" tIns="0" rIns="0" bIns="0" rtlCol="0" anchor="t"/>
          <a:lstStyle/>
          <a:p>
            <a:pPr algn="l" indent="0" marL="0">
              <a:lnSpc>
                <a:spcPts val="2450"/>
              </a:lnSpc>
              <a:buNone/>
            </a:pPr>
            <a:r>
              <a:rPr lang="en-US" sz="1550" dirty="0">
                <a:solidFill>
                  <a:srgbClr val="272525"/>
                </a:solidFill>
                <a:latin typeface="Inter" pitchFamily="34" charset="0"/>
                <a:ea typeface="Inter" pitchFamily="34" charset="-122"/>
                <a:cs typeface="Inter" pitchFamily="34" charset="-120"/>
              </a:rPr>
              <a:t>장시간 저온 추출로 영양과 풍미 극대화</a:t>
            </a:r>
            <a:endParaRPr lang="en-US" sz="1550" dirty="0"/>
          </a:p>
        </p:txBody>
      </p:sp>
      <p:sp>
        <p:nvSpPr>
          <p:cNvPr id="16" name="Shape 14"/>
          <p:cNvSpPr/>
          <p:nvPr/>
        </p:nvSpPr>
        <p:spPr>
          <a:xfrm>
            <a:off x="792242" y="6899553"/>
            <a:ext cx="6281380" cy="1265992"/>
          </a:xfrm>
          <a:prstGeom prst="roundRect">
            <a:avLst>
              <a:gd name="adj" fmla="val 6571"/>
            </a:avLst>
          </a:prstGeom>
          <a:solidFill>
            <a:srgbClr val="FFFFFF"/>
          </a:solidFill>
          <a:ln w="22860">
            <a:solidFill>
              <a:srgbClr val="C0C1D7"/>
            </a:solidFill>
            <a:prstDash val="solid"/>
          </a:ln>
        </p:spPr>
      </p:sp>
      <p:sp>
        <p:nvSpPr>
          <p:cNvPr id="17" name="Shape 15"/>
          <p:cNvSpPr/>
          <p:nvPr/>
        </p:nvSpPr>
        <p:spPr>
          <a:xfrm>
            <a:off x="815102" y="6922413"/>
            <a:ext cx="792242" cy="1220272"/>
          </a:xfrm>
          <a:prstGeom prst="roundRect">
            <a:avLst>
              <a:gd name="adj" fmla="val 7037"/>
            </a:avLst>
          </a:prstGeom>
          <a:solidFill>
            <a:srgbClr val="DADBF1"/>
          </a:solidFill>
          <a:ln/>
        </p:spPr>
      </p:sp>
      <p:sp>
        <p:nvSpPr>
          <p:cNvPr id="18" name="Text 16"/>
          <p:cNvSpPr/>
          <p:nvPr/>
        </p:nvSpPr>
        <p:spPr>
          <a:xfrm>
            <a:off x="1058823" y="7346871"/>
            <a:ext cx="297061" cy="371356"/>
          </a:xfrm>
          <a:prstGeom prst="rect">
            <a:avLst/>
          </a:prstGeom>
          <a:noFill/>
          <a:ln/>
        </p:spPr>
        <p:txBody>
          <a:bodyPr wrap="none" lIns="0" tIns="0" rIns="0" bIns="0" rtlCol="0" anchor="t"/>
          <a:lstStyle/>
          <a:p>
            <a:pPr algn="l" indent="0" marL="0">
              <a:lnSpc>
                <a:spcPts val="2300"/>
              </a:lnSpc>
              <a:buNone/>
            </a:pPr>
            <a:r>
              <a:rPr lang="en-US" sz="2300" b="1" dirty="0">
                <a:solidFill>
                  <a:srgbClr val="272525"/>
                </a:solidFill>
                <a:latin typeface="Inter Bold" pitchFamily="34" charset="0"/>
                <a:ea typeface="Inter Bold" pitchFamily="34" charset="-122"/>
                <a:cs typeface="Inter Bold" pitchFamily="34" charset="-120"/>
              </a:rPr>
              <a:t>3</a:t>
            </a:r>
            <a:endParaRPr lang="en-US" sz="2300" dirty="0"/>
          </a:p>
        </p:txBody>
      </p:sp>
      <p:sp>
        <p:nvSpPr>
          <p:cNvPr id="19" name="Text 17"/>
          <p:cNvSpPr/>
          <p:nvPr/>
        </p:nvSpPr>
        <p:spPr>
          <a:xfrm>
            <a:off x="1805345" y="7120414"/>
            <a:ext cx="2475667" cy="309324"/>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클린라벨</a:t>
            </a:r>
            <a:endParaRPr lang="en-US" sz="1900" dirty="0"/>
          </a:p>
        </p:txBody>
      </p:sp>
      <p:sp>
        <p:nvSpPr>
          <p:cNvPr id="20" name="Text 18"/>
          <p:cNvSpPr/>
          <p:nvPr/>
        </p:nvSpPr>
        <p:spPr>
          <a:xfrm>
            <a:off x="1805345" y="7627739"/>
            <a:ext cx="5047417" cy="316944"/>
          </a:xfrm>
          <a:prstGeom prst="rect">
            <a:avLst/>
          </a:prstGeom>
          <a:noFill/>
          <a:ln/>
        </p:spPr>
        <p:txBody>
          <a:bodyPr wrap="none" lIns="0" tIns="0" rIns="0" bIns="0" rtlCol="0" anchor="t"/>
          <a:lstStyle/>
          <a:p>
            <a:pPr algn="l" indent="0" marL="0">
              <a:lnSpc>
                <a:spcPts val="2450"/>
              </a:lnSpc>
              <a:buNone/>
            </a:pPr>
            <a:r>
              <a:rPr lang="en-US" sz="1550" dirty="0">
                <a:solidFill>
                  <a:srgbClr val="272525"/>
                </a:solidFill>
                <a:latin typeface="Inter" pitchFamily="34" charset="0"/>
                <a:ea typeface="Inter" pitchFamily="34" charset="-122"/>
                <a:cs typeface="Inter" pitchFamily="34" charset="-120"/>
              </a:rPr>
              <a:t>무첨가·무보존료 자연 그대로의 맛</a:t>
            </a:r>
            <a:endParaRPr lang="en-US" sz="1550" dirty="0"/>
          </a:p>
        </p:txBody>
      </p:sp>
      <p:sp>
        <p:nvSpPr>
          <p:cNvPr id="21" name="Shape 19"/>
          <p:cNvSpPr/>
          <p:nvPr/>
        </p:nvSpPr>
        <p:spPr>
          <a:xfrm>
            <a:off x="792242" y="8363545"/>
            <a:ext cx="6281380" cy="1265992"/>
          </a:xfrm>
          <a:prstGeom prst="roundRect">
            <a:avLst>
              <a:gd name="adj" fmla="val 6571"/>
            </a:avLst>
          </a:prstGeom>
          <a:solidFill>
            <a:srgbClr val="FFFFFF"/>
          </a:solidFill>
          <a:ln w="22860">
            <a:solidFill>
              <a:srgbClr val="C0C1D7"/>
            </a:solidFill>
            <a:prstDash val="solid"/>
          </a:ln>
        </p:spPr>
      </p:sp>
      <p:sp>
        <p:nvSpPr>
          <p:cNvPr id="22" name="Shape 20"/>
          <p:cNvSpPr/>
          <p:nvPr/>
        </p:nvSpPr>
        <p:spPr>
          <a:xfrm>
            <a:off x="815102" y="8386405"/>
            <a:ext cx="792242" cy="1220272"/>
          </a:xfrm>
          <a:prstGeom prst="roundRect">
            <a:avLst>
              <a:gd name="adj" fmla="val 7037"/>
            </a:avLst>
          </a:prstGeom>
          <a:solidFill>
            <a:srgbClr val="DADBF1"/>
          </a:solidFill>
          <a:ln/>
        </p:spPr>
      </p:sp>
      <p:sp>
        <p:nvSpPr>
          <p:cNvPr id="23" name="Text 21"/>
          <p:cNvSpPr/>
          <p:nvPr/>
        </p:nvSpPr>
        <p:spPr>
          <a:xfrm>
            <a:off x="1058823" y="8810863"/>
            <a:ext cx="297061" cy="371356"/>
          </a:xfrm>
          <a:prstGeom prst="rect">
            <a:avLst/>
          </a:prstGeom>
          <a:noFill/>
          <a:ln/>
        </p:spPr>
        <p:txBody>
          <a:bodyPr wrap="none" lIns="0" tIns="0" rIns="0" bIns="0" rtlCol="0" anchor="t"/>
          <a:lstStyle/>
          <a:p>
            <a:pPr algn="l" indent="0" marL="0">
              <a:lnSpc>
                <a:spcPts val="2300"/>
              </a:lnSpc>
              <a:buNone/>
            </a:pPr>
            <a:r>
              <a:rPr lang="en-US" sz="2300" b="1" dirty="0">
                <a:solidFill>
                  <a:srgbClr val="272525"/>
                </a:solidFill>
                <a:latin typeface="Inter Bold" pitchFamily="34" charset="0"/>
                <a:ea typeface="Inter Bold" pitchFamily="34" charset="-122"/>
                <a:cs typeface="Inter Bold" pitchFamily="34" charset="-120"/>
              </a:rPr>
              <a:t>4</a:t>
            </a:r>
            <a:endParaRPr lang="en-US" sz="2300" dirty="0"/>
          </a:p>
        </p:txBody>
      </p:sp>
      <p:sp>
        <p:nvSpPr>
          <p:cNvPr id="24" name="Text 22"/>
          <p:cNvSpPr/>
          <p:nvPr/>
        </p:nvSpPr>
        <p:spPr>
          <a:xfrm>
            <a:off x="1805345" y="8584406"/>
            <a:ext cx="2475667" cy="309324"/>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HACCP 인증</a:t>
            </a:r>
            <a:endParaRPr lang="en-US" sz="1900" dirty="0"/>
          </a:p>
        </p:txBody>
      </p:sp>
      <p:sp>
        <p:nvSpPr>
          <p:cNvPr id="25" name="Text 23"/>
          <p:cNvSpPr/>
          <p:nvPr/>
        </p:nvSpPr>
        <p:spPr>
          <a:xfrm>
            <a:off x="1805345" y="9091732"/>
            <a:ext cx="5047417" cy="316944"/>
          </a:xfrm>
          <a:prstGeom prst="rect">
            <a:avLst/>
          </a:prstGeom>
          <a:noFill/>
          <a:ln/>
        </p:spPr>
        <p:txBody>
          <a:bodyPr wrap="none" lIns="0" tIns="0" rIns="0" bIns="0" rtlCol="0" anchor="t"/>
          <a:lstStyle/>
          <a:p>
            <a:pPr algn="l" indent="0" marL="0">
              <a:lnSpc>
                <a:spcPts val="2450"/>
              </a:lnSpc>
              <a:buNone/>
            </a:pPr>
            <a:r>
              <a:rPr lang="en-US" sz="1550" dirty="0">
                <a:solidFill>
                  <a:srgbClr val="272525"/>
                </a:solidFill>
                <a:latin typeface="Inter" pitchFamily="34" charset="0"/>
                <a:ea typeface="Inter" pitchFamily="34" charset="-122"/>
                <a:cs typeface="Inter" pitchFamily="34" charset="-120"/>
              </a:rPr>
              <a:t>국제 수준의 식품 안전 관리</a:t>
            </a:r>
            <a:endParaRPr lang="en-US" sz="1550" dirty="0"/>
          </a:p>
        </p:txBody>
      </p:sp>
      <p:sp>
        <p:nvSpPr>
          <p:cNvPr id="26" name="Text 24"/>
          <p:cNvSpPr/>
          <p:nvPr/>
        </p:nvSpPr>
        <p:spPr>
          <a:xfrm>
            <a:off x="7564398" y="1659493"/>
            <a:ext cx="2970847" cy="371237"/>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글로벌 진출 적합성</a:t>
            </a:r>
            <a:endParaRPr lang="en-US" sz="2300" dirty="0"/>
          </a:p>
        </p:txBody>
      </p:sp>
      <p:sp>
        <p:nvSpPr>
          <p:cNvPr id="27" name="Text 25"/>
          <p:cNvSpPr/>
          <p:nvPr/>
        </p:nvSpPr>
        <p:spPr>
          <a:xfrm>
            <a:off x="7564398" y="2228731"/>
            <a:ext cx="6281380" cy="633889"/>
          </a:xfrm>
          <a:prstGeom prst="rect">
            <a:avLst/>
          </a:prstGeom>
          <a:noFill/>
          <a:ln/>
        </p:spPr>
        <p:txBody>
          <a:bodyPr wrap="square" lIns="0" tIns="0" rIns="0" bIns="0" rtlCol="0" anchor="t"/>
          <a:lstStyle/>
          <a:p>
            <a:pPr algn="l" indent="0" marL="0">
              <a:lnSpc>
                <a:spcPts val="2450"/>
              </a:lnSpc>
              <a:buNone/>
            </a:pPr>
            <a:r>
              <a:rPr lang="en-US" sz="1550" dirty="0">
                <a:solidFill>
                  <a:srgbClr val="272525"/>
                </a:solidFill>
                <a:latin typeface="Inter" pitchFamily="34" charset="0"/>
                <a:ea typeface="Inter" pitchFamily="34" charset="-122"/>
                <a:cs typeface="Inter" pitchFamily="34" charset="-120"/>
              </a:rPr>
              <a:t>완주의선물은 미국 Bone Broth 시장 진출에 최적화된 조건을 갖추고 있습니다.</a:t>
            </a:r>
            <a:endParaRPr lang="en-US" sz="1550" dirty="0"/>
          </a:p>
        </p:txBody>
      </p:sp>
      <p:sp>
        <p:nvSpPr>
          <p:cNvPr id="28" name="Text 26"/>
          <p:cNvSpPr/>
          <p:nvPr/>
        </p:nvSpPr>
        <p:spPr>
          <a:xfrm>
            <a:off x="7564398" y="3060621"/>
            <a:ext cx="2475667" cy="309324"/>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Inter Bold" pitchFamily="34" charset="0"/>
                <a:ea typeface="Inter Bold" pitchFamily="34" charset="-122"/>
                <a:cs typeface="Inter Bold" pitchFamily="34" charset="-120"/>
              </a:rPr>
              <a:t>경쟁 우위 요소</a:t>
            </a:r>
            <a:endParaRPr lang="en-US" sz="1900" dirty="0"/>
          </a:p>
        </p:txBody>
      </p:sp>
      <p:sp>
        <p:nvSpPr>
          <p:cNvPr id="29" name="Text 27"/>
          <p:cNvSpPr/>
          <p:nvPr/>
        </p:nvSpPr>
        <p:spPr>
          <a:xfrm>
            <a:off x="7564398" y="3567946"/>
            <a:ext cx="6281380" cy="316944"/>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자연스러운 시장 연계:</a:t>
            </a:r>
            <a:pPr algn="l" indent="0" marL="0">
              <a:lnSpc>
                <a:spcPts val="2450"/>
              </a:lnSpc>
              <a:buNone/>
            </a:pPr>
            <a:r>
              <a:rPr lang="en-US" sz="1550" dirty="0">
                <a:solidFill>
                  <a:srgbClr val="272525"/>
                </a:solidFill>
                <a:latin typeface="Inter" pitchFamily="34" charset="0"/>
                <a:ea typeface="Inter" pitchFamily="34" charset="-122"/>
                <a:cs typeface="Inter" pitchFamily="34" charset="-120"/>
              </a:rPr>
              <a:t> 한우 곰탕과 Bone Broth의 개념적 유사성</a:t>
            </a:r>
            <a:endParaRPr lang="en-US" sz="1550" dirty="0"/>
          </a:p>
        </p:txBody>
      </p:sp>
      <p:sp>
        <p:nvSpPr>
          <p:cNvPr id="30" name="Text 28"/>
          <p:cNvSpPr/>
          <p:nvPr/>
        </p:nvSpPr>
        <p:spPr>
          <a:xfrm>
            <a:off x="7564398" y="3954185"/>
            <a:ext cx="6281380" cy="316944"/>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포지셔닝 적합성:</a:t>
            </a:r>
            <a:pPr algn="l" indent="0" marL="0">
              <a:lnSpc>
                <a:spcPts val="2450"/>
              </a:lnSpc>
              <a:buNone/>
            </a:pPr>
            <a:r>
              <a:rPr lang="en-US" sz="1550" dirty="0">
                <a:solidFill>
                  <a:srgbClr val="272525"/>
                </a:solidFill>
                <a:latin typeface="Inter" pitchFamily="34" charset="0"/>
                <a:ea typeface="Inter" pitchFamily="34" charset="-122"/>
                <a:cs typeface="Inter" pitchFamily="34" charset="-120"/>
              </a:rPr>
              <a:t> Healthy·Authentic 트렌드와 완벽히 부합</a:t>
            </a:r>
            <a:endParaRPr lang="en-US" sz="1550" dirty="0"/>
          </a:p>
        </p:txBody>
      </p:sp>
      <p:sp>
        <p:nvSpPr>
          <p:cNvPr id="31" name="Text 29"/>
          <p:cNvSpPr/>
          <p:nvPr/>
        </p:nvSpPr>
        <p:spPr>
          <a:xfrm>
            <a:off x="7564398" y="4340423"/>
            <a:ext cx="6281380" cy="316944"/>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제품 차별화:</a:t>
            </a:r>
            <a:pPr algn="l" indent="0" marL="0">
              <a:lnSpc>
                <a:spcPts val="2450"/>
              </a:lnSpc>
              <a:buNone/>
            </a:pPr>
            <a:r>
              <a:rPr lang="en-US" sz="1550" dirty="0">
                <a:solidFill>
                  <a:srgbClr val="272525"/>
                </a:solidFill>
                <a:latin typeface="Inter" pitchFamily="34" charset="0"/>
                <a:ea typeface="Inter" pitchFamily="34" charset="-122"/>
                <a:cs typeface="Inter" pitchFamily="34" charset="-120"/>
              </a:rPr>
              <a:t> 한우 기반의 독특한 풍미와 영양</a:t>
            </a:r>
            <a:endParaRPr lang="en-US" sz="1550" dirty="0"/>
          </a:p>
        </p:txBody>
      </p:sp>
      <p:sp>
        <p:nvSpPr>
          <p:cNvPr id="32" name="Text 30"/>
          <p:cNvSpPr/>
          <p:nvPr/>
        </p:nvSpPr>
        <p:spPr>
          <a:xfrm>
            <a:off x="7564398" y="4726662"/>
            <a:ext cx="6281380" cy="316944"/>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스토리텔링:</a:t>
            </a:r>
            <a:pPr algn="l" indent="0" marL="0">
              <a:lnSpc>
                <a:spcPts val="2450"/>
              </a:lnSpc>
              <a:buNone/>
            </a:pPr>
            <a:r>
              <a:rPr lang="en-US" sz="1550" dirty="0">
                <a:solidFill>
                  <a:srgbClr val="272525"/>
                </a:solidFill>
                <a:latin typeface="Inter" pitchFamily="34" charset="0"/>
                <a:ea typeface="Inter" pitchFamily="34" charset="-122"/>
                <a:cs typeface="Inter" pitchFamily="34" charset="-120"/>
              </a:rPr>
              <a:t> 한우와 전통 방식의 프리미엄 내러티브</a:t>
            </a:r>
            <a:endParaRPr lang="en-US" sz="1550" dirty="0"/>
          </a:p>
        </p:txBody>
      </p:sp>
      <p:sp>
        <p:nvSpPr>
          <p:cNvPr id="33" name="Text 31"/>
          <p:cNvSpPr/>
          <p:nvPr/>
        </p:nvSpPr>
        <p:spPr>
          <a:xfrm>
            <a:off x="7564398" y="5112901"/>
            <a:ext cx="6281380" cy="316944"/>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품질 우위:</a:t>
            </a:r>
            <a:pPr algn="l" indent="0" marL="0">
              <a:lnSpc>
                <a:spcPts val="2450"/>
              </a:lnSpc>
              <a:buNone/>
            </a:pPr>
            <a:r>
              <a:rPr lang="en-US" sz="1550" dirty="0">
                <a:solidFill>
                  <a:srgbClr val="272525"/>
                </a:solidFill>
                <a:latin typeface="Inter" pitchFamily="34" charset="0"/>
                <a:ea typeface="Inter" pitchFamily="34" charset="-122"/>
                <a:cs typeface="Inter" pitchFamily="34" charset="-120"/>
              </a:rPr>
              <a:t> 고단백·저지방·무첨가의 클린라벨</a:t>
            </a:r>
            <a:endParaRPr lang="en-US" sz="1550" dirty="0"/>
          </a:p>
        </p:txBody>
      </p:sp>
      <p:sp>
        <p:nvSpPr>
          <p:cNvPr id="34" name="Text 32"/>
          <p:cNvSpPr/>
          <p:nvPr/>
        </p:nvSpPr>
        <p:spPr>
          <a:xfrm>
            <a:off x="7564398" y="5627846"/>
            <a:ext cx="2475667" cy="309324"/>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Inter Bold" pitchFamily="34" charset="0"/>
                <a:ea typeface="Inter Bold" pitchFamily="34" charset="-122"/>
                <a:cs typeface="Inter Bold" pitchFamily="34" charset="-120"/>
              </a:rPr>
              <a:t>제품 특징</a:t>
            </a:r>
            <a:endParaRPr lang="en-US" sz="1900" dirty="0"/>
          </a:p>
        </p:txBody>
      </p:sp>
      <p:sp>
        <p:nvSpPr>
          <p:cNvPr id="35" name="Text 33"/>
          <p:cNvSpPr/>
          <p:nvPr/>
        </p:nvSpPr>
        <p:spPr>
          <a:xfrm>
            <a:off x="7564398" y="6258878"/>
            <a:ext cx="3016925" cy="653534"/>
          </a:xfrm>
          <a:prstGeom prst="rect">
            <a:avLst/>
          </a:prstGeom>
          <a:noFill/>
          <a:ln/>
        </p:spPr>
        <p:txBody>
          <a:bodyPr wrap="none" lIns="0" tIns="0" rIns="0" bIns="0" rtlCol="0" anchor="t"/>
          <a:lstStyle/>
          <a:p>
            <a:pPr algn="ctr" indent="0" marL="0">
              <a:lnSpc>
                <a:spcPts val="5100"/>
              </a:lnSpc>
              <a:buNone/>
            </a:pPr>
            <a:r>
              <a:rPr lang="en-US" sz="5100" b="1" dirty="0">
                <a:solidFill>
                  <a:srgbClr val="272525"/>
                </a:solidFill>
                <a:latin typeface="Inter Bold" pitchFamily="34" charset="0"/>
                <a:ea typeface="Inter Bold" pitchFamily="34" charset="-122"/>
                <a:cs typeface="Inter Bold" pitchFamily="34" charset="-120"/>
              </a:rPr>
              <a:t>20g+</a:t>
            </a:r>
            <a:endParaRPr lang="en-US" sz="5100" dirty="0"/>
          </a:p>
        </p:txBody>
      </p:sp>
      <p:sp>
        <p:nvSpPr>
          <p:cNvPr id="36" name="Text 34"/>
          <p:cNvSpPr/>
          <p:nvPr/>
        </p:nvSpPr>
        <p:spPr>
          <a:xfrm>
            <a:off x="7835027" y="7159823"/>
            <a:ext cx="2475667" cy="309324"/>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단백질</a:t>
            </a:r>
            <a:endParaRPr lang="en-US" sz="1900" dirty="0"/>
          </a:p>
        </p:txBody>
      </p:sp>
      <p:sp>
        <p:nvSpPr>
          <p:cNvPr id="37" name="Text 35"/>
          <p:cNvSpPr/>
          <p:nvPr/>
        </p:nvSpPr>
        <p:spPr>
          <a:xfrm>
            <a:off x="7564398" y="7667149"/>
            <a:ext cx="3016925" cy="316944"/>
          </a:xfrm>
          <a:prstGeom prst="rect">
            <a:avLst/>
          </a:prstGeom>
          <a:noFill/>
          <a:ln/>
        </p:spPr>
        <p:txBody>
          <a:bodyPr wrap="none" lIns="0" tIns="0" rIns="0" bIns="0" rtlCol="0" anchor="t"/>
          <a:lstStyle/>
          <a:p>
            <a:pPr algn="ctr" indent="0" marL="0">
              <a:lnSpc>
                <a:spcPts val="2450"/>
              </a:lnSpc>
              <a:buNone/>
            </a:pPr>
            <a:r>
              <a:rPr lang="en-US" sz="1550" dirty="0">
                <a:solidFill>
                  <a:srgbClr val="272525"/>
                </a:solidFill>
                <a:latin typeface="Inter" pitchFamily="34" charset="0"/>
                <a:ea typeface="Inter" pitchFamily="34" charset="-122"/>
                <a:cs typeface="Inter" pitchFamily="34" charset="-120"/>
              </a:rPr>
              <a:t>1회 제공량당 단백질 함량</a:t>
            </a:r>
            <a:endParaRPr lang="en-US" sz="1550" dirty="0"/>
          </a:p>
        </p:txBody>
      </p:sp>
      <p:sp>
        <p:nvSpPr>
          <p:cNvPr id="38" name="Text 36"/>
          <p:cNvSpPr/>
          <p:nvPr/>
        </p:nvSpPr>
        <p:spPr>
          <a:xfrm>
            <a:off x="10828853" y="6258878"/>
            <a:ext cx="3016925" cy="653534"/>
          </a:xfrm>
          <a:prstGeom prst="rect">
            <a:avLst/>
          </a:prstGeom>
          <a:noFill/>
          <a:ln/>
        </p:spPr>
        <p:txBody>
          <a:bodyPr wrap="none" lIns="0" tIns="0" rIns="0" bIns="0" rtlCol="0" anchor="t"/>
          <a:lstStyle/>
          <a:p>
            <a:pPr algn="ctr" indent="0" marL="0">
              <a:lnSpc>
                <a:spcPts val="5100"/>
              </a:lnSpc>
              <a:buNone/>
            </a:pPr>
            <a:r>
              <a:rPr lang="en-US" sz="5100" b="1" dirty="0">
                <a:solidFill>
                  <a:srgbClr val="272525"/>
                </a:solidFill>
                <a:latin typeface="Inter Bold" pitchFamily="34" charset="0"/>
                <a:ea typeface="Inter Bold" pitchFamily="34" charset="-122"/>
                <a:cs typeface="Inter Bold" pitchFamily="34" charset="-120"/>
              </a:rPr>
              <a:t>0g</a:t>
            </a:r>
            <a:endParaRPr lang="en-US" sz="5100" dirty="0"/>
          </a:p>
        </p:txBody>
      </p:sp>
      <p:sp>
        <p:nvSpPr>
          <p:cNvPr id="39" name="Text 37"/>
          <p:cNvSpPr/>
          <p:nvPr/>
        </p:nvSpPr>
        <p:spPr>
          <a:xfrm>
            <a:off x="11099483" y="7159823"/>
            <a:ext cx="2475667" cy="309324"/>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첨가물</a:t>
            </a:r>
            <a:endParaRPr lang="en-US" sz="1900" dirty="0"/>
          </a:p>
        </p:txBody>
      </p:sp>
      <p:sp>
        <p:nvSpPr>
          <p:cNvPr id="40" name="Text 38"/>
          <p:cNvSpPr/>
          <p:nvPr/>
        </p:nvSpPr>
        <p:spPr>
          <a:xfrm>
            <a:off x="10828853" y="7667149"/>
            <a:ext cx="3016925" cy="316944"/>
          </a:xfrm>
          <a:prstGeom prst="rect">
            <a:avLst/>
          </a:prstGeom>
          <a:noFill/>
          <a:ln/>
        </p:spPr>
        <p:txBody>
          <a:bodyPr wrap="none" lIns="0" tIns="0" rIns="0" bIns="0" rtlCol="0" anchor="t"/>
          <a:lstStyle/>
          <a:p>
            <a:pPr algn="ctr" indent="0" marL="0">
              <a:lnSpc>
                <a:spcPts val="2450"/>
              </a:lnSpc>
              <a:buNone/>
            </a:pPr>
            <a:r>
              <a:rPr lang="en-US" sz="1550" dirty="0">
                <a:solidFill>
                  <a:srgbClr val="272525"/>
                </a:solidFill>
                <a:latin typeface="Inter" pitchFamily="34" charset="0"/>
                <a:ea typeface="Inter" pitchFamily="34" charset="-122"/>
                <a:cs typeface="Inter" pitchFamily="34" charset="-120"/>
              </a:rPr>
              <a:t>인공 첨가물 제로</a:t>
            </a:r>
            <a:endParaRPr lang="en-US" sz="1550" dirty="0"/>
          </a:p>
        </p:txBody>
      </p:sp>
      <p:sp>
        <p:nvSpPr>
          <p:cNvPr id="41" name="Text 39"/>
          <p:cNvSpPr/>
          <p:nvPr/>
        </p:nvSpPr>
        <p:spPr>
          <a:xfrm>
            <a:off x="9196626" y="8479155"/>
            <a:ext cx="3016925" cy="653534"/>
          </a:xfrm>
          <a:prstGeom prst="rect">
            <a:avLst/>
          </a:prstGeom>
          <a:noFill/>
          <a:ln/>
        </p:spPr>
        <p:txBody>
          <a:bodyPr wrap="none" lIns="0" tIns="0" rIns="0" bIns="0" rtlCol="0" anchor="t"/>
          <a:lstStyle/>
          <a:p>
            <a:pPr algn="ctr" indent="0" marL="0">
              <a:lnSpc>
                <a:spcPts val="5100"/>
              </a:lnSpc>
              <a:buNone/>
            </a:pPr>
            <a:r>
              <a:rPr lang="en-US" sz="5100" b="1" dirty="0">
                <a:solidFill>
                  <a:srgbClr val="272525"/>
                </a:solidFill>
                <a:latin typeface="Inter Bold" pitchFamily="34" charset="0"/>
                <a:ea typeface="Inter Bold" pitchFamily="34" charset="-122"/>
                <a:cs typeface="Inter Bold" pitchFamily="34" charset="-120"/>
              </a:rPr>
              <a:t>100%</a:t>
            </a:r>
            <a:endParaRPr lang="en-US" sz="5100" dirty="0"/>
          </a:p>
        </p:txBody>
      </p:sp>
      <p:sp>
        <p:nvSpPr>
          <p:cNvPr id="42" name="Text 40"/>
          <p:cNvSpPr/>
          <p:nvPr/>
        </p:nvSpPr>
        <p:spPr>
          <a:xfrm>
            <a:off x="9467255" y="9380101"/>
            <a:ext cx="2475667" cy="309324"/>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Inter Bold" pitchFamily="34" charset="0"/>
                <a:ea typeface="Inter Bold" pitchFamily="34" charset="-122"/>
                <a:cs typeface="Inter Bold" pitchFamily="34" charset="-120"/>
              </a:rPr>
              <a:t>한우</a:t>
            </a:r>
            <a:endParaRPr lang="en-US" sz="1900" dirty="0"/>
          </a:p>
        </p:txBody>
      </p:sp>
      <p:sp>
        <p:nvSpPr>
          <p:cNvPr id="43" name="Text 41"/>
          <p:cNvSpPr/>
          <p:nvPr/>
        </p:nvSpPr>
        <p:spPr>
          <a:xfrm>
            <a:off x="9196626" y="9887426"/>
            <a:ext cx="3016925" cy="316944"/>
          </a:xfrm>
          <a:prstGeom prst="rect">
            <a:avLst/>
          </a:prstGeom>
          <a:noFill/>
          <a:ln/>
        </p:spPr>
        <p:txBody>
          <a:bodyPr wrap="none" lIns="0" tIns="0" rIns="0" bIns="0" rtlCol="0" anchor="t"/>
          <a:lstStyle/>
          <a:p>
            <a:pPr algn="ctr" indent="0" marL="0">
              <a:lnSpc>
                <a:spcPts val="2450"/>
              </a:lnSpc>
              <a:buNone/>
            </a:pPr>
            <a:r>
              <a:rPr lang="en-US" sz="1550" dirty="0">
                <a:solidFill>
                  <a:srgbClr val="272525"/>
                </a:solidFill>
                <a:latin typeface="Inter" pitchFamily="34" charset="0"/>
                <a:ea typeface="Inter" pitchFamily="34" charset="-122"/>
                <a:cs typeface="Inter" pitchFamily="34" charset="-120"/>
              </a:rPr>
              <a:t>한우 100% 사용</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2025-11-18T04:18:07Z</dcterms:created>
  <dcterms:modified xsi:type="dcterms:W3CDTF">2025-11-18T04:18:07Z</dcterms:modified>
</cp:coreProperties>
</file>