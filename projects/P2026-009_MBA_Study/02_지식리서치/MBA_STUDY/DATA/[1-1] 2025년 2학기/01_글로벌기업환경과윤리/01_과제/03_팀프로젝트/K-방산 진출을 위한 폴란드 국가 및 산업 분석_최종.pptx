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59" r:id="rId4"/>
    <p:sldId id="260" r:id="rId5"/>
    <p:sldId id="261" r:id="rId6"/>
    <p:sldId id="280" r:id="rId7"/>
    <p:sldId id="262" r:id="rId8"/>
    <p:sldId id="271" r:id="rId9"/>
    <p:sldId id="270" r:id="rId10"/>
    <p:sldId id="263" r:id="rId11"/>
    <p:sldId id="279" r:id="rId12"/>
    <p:sldId id="277" r:id="rId13"/>
    <p:sldId id="284" r:id="rId14"/>
    <p:sldId id="283" r:id="rId15"/>
    <p:sldId id="264" r:id="rId16"/>
    <p:sldId id="281" r:id="rId17"/>
    <p:sldId id="282" r:id="rId18"/>
    <p:sldId id="285" r:id="rId19"/>
    <p:sldId id="265" r:id="rId20"/>
    <p:sldId id="273" r:id="rId21"/>
    <p:sldId id="267" r:id="rId22"/>
    <p:sldId id="268" r:id="rId23"/>
    <p:sldId id="286" r:id="rId24"/>
    <p:sldId id="26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  <p15:guide id="4" orient="horz" pos="1003" userDrawn="1">
          <p15:clr>
            <a:srgbClr val="A4A3A4"/>
          </p15:clr>
        </p15:guide>
        <p15:guide id="5" orient="horz" pos="1117" userDrawn="1">
          <p15:clr>
            <a:srgbClr val="A4A3A4"/>
          </p15:clr>
        </p15:guide>
        <p15:guide id="6" orient="horz" pos="1162" userDrawn="1">
          <p15:clr>
            <a:srgbClr val="A4A3A4"/>
          </p15:clr>
        </p15:guide>
        <p15:guide id="7" orient="horz" pos="913" userDrawn="1">
          <p15:clr>
            <a:srgbClr val="A4A3A4"/>
          </p15:clr>
        </p15:guide>
        <p15:guide id="8" pos="302" userDrawn="1">
          <p15:clr>
            <a:srgbClr val="A4A3A4"/>
          </p15:clr>
        </p15:guide>
        <p15:guide id="9" orient="horz" pos="3770" userDrawn="1">
          <p15:clr>
            <a:srgbClr val="A4A3A4"/>
          </p15:clr>
        </p15:guide>
        <p15:guide id="10" pos="3659" userDrawn="1">
          <p15:clr>
            <a:srgbClr val="A4A3A4"/>
          </p15:clr>
        </p15:guide>
        <p15:guide id="11" pos="4021" userDrawn="1">
          <p15:clr>
            <a:srgbClr val="A4A3A4"/>
          </p15:clr>
        </p15:guide>
        <p15:guide id="13" orient="horz" pos="3158" userDrawn="1">
          <p15:clr>
            <a:srgbClr val="A4A3A4"/>
          </p15:clr>
        </p15:guide>
        <p15:guide id="14" pos="7378" userDrawn="1">
          <p15:clr>
            <a:srgbClr val="A4A3A4"/>
          </p15:clr>
        </p15:guide>
        <p15:guide id="15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37"/>
    <a:srgbClr val="F1F1F1"/>
    <a:srgbClr val="FFC606"/>
    <a:srgbClr val="C31236"/>
    <a:srgbClr val="88BD2D"/>
    <a:srgbClr val="004AA1"/>
    <a:srgbClr val="9B9B9B"/>
    <a:srgbClr val="ABABAB"/>
    <a:srgbClr val="00264C"/>
    <a:srgbClr val="0035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1" autoAdjust="0"/>
    <p:restoredTop sz="85986" autoAdjust="0"/>
  </p:normalViewPr>
  <p:slideViewPr>
    <p:cSldViewPr snapToGrid="0" showGuides="1">
      <p:cViewPr varScale="1">
        <p:scale>
          <a:sx n="101" d="100"/>
          <a:sy n="101" d="100"/>
        </p:scale>
        <p:origin x="1144" y="184"/>
      </p:cViewPr>
      <p:guideLst>
        <p:guide orient="horz" pos="2160"/>
        <p:guide pos="3840"/>
        <p:guide orient="horz" pos="754"/>
        <p:guide orient="horz" pos="1003"/>
        <p:guide orient="horz" pos="1117"/>
        <p:guide orient="horz" pos="1162"/>
        <p:guide orient="horz" pos="913"/>
        <p:guide pos="302"/>
        <p:guide orient="horz" pos="3770"/>
        <p:guide pos="3659"/>
        <p:guide pos="4021"/>
        <p:guide orient="horz" pos="3158"/>
        <p:guide pos="7378"/>
        <p:guide orient="horz" pos="397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D(JH)\Desktop\&#44608;&#51648;&#54980;\KUMBA\1st%20Semester\&#44544;&#47196;&#48268;&#44592;&#50629;&#54872;&#44221;&#44284;%20&#50980;&#47532;\Session%2014\&#53685;&#54633;%20&#47928;&#49436;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62650150786688"/>
          <c:y val="6.6135270494250928E-2"/>
          <c:w val="0.78526065703547754"/>
          <c:h val="0.6209993044621023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4AA1"/>
            </a:solidFill>
            <a:ln>
              <a:noFill/>
            </a:ln>
            <a:effectLst/>
          </c:spPr>
          <c:invertIfNegative val="0"/>
          <c:cat>
            <c:strRef>
              <c:f>Sheet1!$B$2:$B$22</c:f>
              <c:strCache>
                <c:ptCount val="21"/>
                <c:pt idx="0">
                  <c:v>Albania</c:v>
                </c:pt>
                <c:pt idx="1">
                  <c:v>Netherlands</c:v>
                </c:pt>
                <c:pt idx="2">
                  <c:v>France</c:v>
                </c:pt>
                <c:pt idx="3">
                  <c:v>Turkey</c:v>
                </c:pt>
                <c:pt idx="4">
                  <c:v>Czech Rep</c:v>
                </c:pt>
                <c:pt idx="5">
                  <c:v>Hungary</c:v>
                </c:pt>
                <c:pt idx="6">
                  <c:v>Germany</c:v>
                </c:pt>
                <c:pt idx="7">
                  <c:v>Sweden</c:v>
                </c:pt>
                <c:pt idx="8">
                  <c:v>Bulgaria</c:v>
                </c:pt>
                <c:pt idx="9">
                  <c:v>Norway</c:v>
                </c:pt>
                <c:pt idx="10">
                  <c:v>North Macedonia</c:v>
                </c:pt>
                <c:pt idx="11">
                  <c:v>Romania</c:v>
                </c:pt>
                <c:pt idx="12">
                  <c:v>UK</c:v>
                </c:pt>
                <c:pt idx="13">
                  <c:v>Denmark</c:v>
                </c:pt>
                <c:pt idx="14">
                  <c:v>Finland</c:v>
                </c:pt>
                <c:pt idx="15">
                  <c:v>Lithuania</c:v>
                </c:pt>
                <c:pt idx="16">
                  <c:v>Greece</c:v>
                </c:pt>
                <c:pt idx="17">
                  <c:v>Latvia</c:v>
                </c:pt>
                <c:pt idx="18">
                  <c:v>US</c:v>
                </c:pt>
                <c:pt idx="19">
                  <c:v>Estonia</c:v>
                </c:pt>
                <c:pt idx="20">
                  <c:v>Poland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2.0009999999999999</c:v>
                </c:pt>
                <c:pt idx="1">
                  <c:v>2.0249999999999999</c:v>
                </c:pt>
                <c:pt idx="2">
                  <c:v>2.0499999999999998</c:v>
                </c:pt>
                <c:pt idx="3">
                  <c:v>2.0649999999999999</c:v>
                </c:pt>
                <c:pt idx="4">
                  <c:v>2.0750000000000002</c:v>
                </c:pt>
                <c:pt idx="5">
                  <c:v>2.1</c:v>
                </c:pt>
                <c:pt idx="6">
                  <c:v>2.125</c:v>
                </c:pt>
                <c:pt idx="7">
                  <c:v>2.15</c:v>
                </c:pt>
                <c:pt idx="8">
                  <c:v>2.1749999999999998</c:v>
                </c:pt>
                <c:pt idx="9">
                  <c:v>2.2000000000000002</c:v>
                </c:pt>
                <c:pt idx="10">
                  <c:v>2.2250000000000001</c:v>
                </c:pt>
                <c:pt idx="11">
                  <c:v>2.25</c:v>
                </c:pt>
                <c:pt idx="12">
                  <c:v>2.35</c:v>
                </c:pt>
                <c:pt idx="13">
                  <c:v>2.375</c:v>
                </c:pt>
                <c:pt idx="14">
                  <c:v>2.4</c:v>
                </c:pt>
                <c:pt idx="15">
                  <c:v>2.4500000000000002</c:v>
                </c:pt>
                <c:pt idx="16">
                  <c:v>2.85</c:v>
                </c:pt>
                <c:pt idx="17">
                  <c:v>3.1</c:v>
                </c:pt>
                <c:pt idx="18">
                  <c:v>3.3</c:v>
                </c:pt>
                <c:pt idx="19">
                  <c:v>3.4</c:v>
                </c:pt>
                <c:pt idx="20">
                  <c:v>4.1500000000000004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A7-44E9-B658-041CE085B7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100"/>
        <c:axId val="567955535"/>
        <c:axId val="567959695"/>
      </c:barChart>
      <c:catAx>
        <c:axId val="5679555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73737"/>
                </a:solidFill>
                <a:latin typeface="프리젠테이션VF 7 Bold" pitchFamily="2" charset="-127"/>
                <a:ea typeface="프리젠테이션VF 7 Bold" pitchFamily="2" charset="-127"/>
                <a:cs typeface="+mn-cs"/>
              </a:defRPr>
            </a:pPr>
            <a:endParaRPr lang="ko-KR"/>
          </a:p>
        </c:txPr>
        <c:crossAx val="567959695"/>
        <c:crosses val="autoZero"/>
        <c:auto val="1"/>
        <c:lblAlgn val="ctr"/>
        <c:lblOffset val="100"/>
        <c:noMultiLvlLbl val="0"/>
      </c:catAx>
      <c:valAx>
        <c:axId val="5679596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프리젠테이션VF 7 Bold" pitchFamily="2" charset="-127"/>
                <a:ea typeface="프리젠테이션VF 7 Bold" pitchFamily="2" charset="-127"/>
                <a:cs typeface="+mn-cs"/>
              </a:defRPr>
            </a:pPr>
            <a:endParaRPr lang="ko-KR"/>
          </a:p>
        </c:txPr>
        <c:crossAx val="567955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1F1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'Sheet1 (2)'!$C$2</c:f>
              <c:strCache>
                <c:ptCount val="1"/>
                <c:pt idx="0">
                  <c:v>미국</c:v>
                </c:pt>
              </c:strCache>
            </c:strRef>
          </c:tx>
          <c:spPr>
            <a:ln w="28575" cap="rnd">
              <a:solidFill>
                <a:srgbClr val="004AA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4AA1"/>
              </a:solidFill>
              <a:ln w="9525">
                <a:solidFill>
                  <a:srgbClr val="004AA1"/>
                </a:solidFill>
              </a:ln>
              <a:effectLst/>
            </c:spPr>
          </c:marker>
          <c:cat>
            <c:strRef>
              <c:f>'Sheet1 (2)'!$B$3:$B$7</c:f>
              <c:strCache>
                <c:ptCount val="5"/>
                <c:pt idx="0">
                  <c:v>기술력</c:v>
                </c:pt>
                <c:pt idx="1">
                  <c:v>납기</c:v>
                </c:pt>
                <c:pt idx="2">
                  <c:v>지정학적 미묘함</c:v>
                </c:pt>
                <c:pt idx="3">
                  <c:v>가격</c:v>
                </c:pt>
                <c:pt idx="4">
                  <c:v>기술이전/산업협력</c:v>
                </c:pt>
              </c:strCache>
            </c:strRef>
          </c:cat>
          <c:val>
            <c:numRef>
              <c:f>'Sheet1 (2)'!$C$3:$C$7</c:f>
              <c:numCache>
                <c:formatCode>General</c:formatCode>
                <c:ptCount val="5"/>
                <c:pt idx="0">
                  <c:v>5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B1-40E8-9933-4D3AD1248E66}"/>
            </c:ext>
          </c:extLst>
        </c:ser>
        <c:ser>
          <c:idx val="1"/>
          <c:order val="1"/>
          <c:tx>
            <c:strRef>
              <c:f>'Sheet1 (2)'!$D$2</c:f>
              <c:strCache>
                <c:ptCount val="1"/>
                <c:pt idx="0">
                  <c:v>독일</c:v>
                </c:pt>
              </c:strCache>
            </c:strRef>
          </c:tx>
          <c:spPr>
            <a:ln w="28575" cap="rnd">
              <a:solidFill>
                <a:srgbClr val="FFC60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C606"/>
              </a:solidFill>
              <a:ln w="9525">
                <a:solidFill>
                  <a:srgbClr val="FFC606"/>
                </a:solidFill>
              </a:ln>
              <a:effectLst/>
            </c:spPr>
          </c:marker>
          <c:cat>
            <c:strRef>
              <c:f>'Sheet1 (2)'!$B$3:$B$7</c:f>
              <c:strCache>
                <c:ptCount val="5"/>
                <c:pt idx="0">
                  <c:v>기술력</c:v>
                </c:pt>
                <c:pt idx="1">
                  <c:v>납기</c:v>
                </c:pt>
                <c:pt idx="2">
                  <c:v>지정학적 미묘함</c:v>
                </c:pt>
                <c:pt idx="3">
                  <c:v>가격</c:v>
                </c:pt>
                <c:pt idx="4">
                  <c:v>기술이전/산업협력</c:v>
                </c:pt>
              </c:strCache>
            </c:strRef>
          </c:cat>
          <c:val>
            <c:numRef>
              <c:f>'Sheet1 (2)'!$D$3:$D$7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B1-40E8-9933-4D3AD1248E66}"/>
            </c:ext>
          </c:extLst>
        </c:ser>
        <c:ser>
          <c:idx val="2"/>
          <c:order val="2"/>
          <c:tx>
            <c:strRef>
              <c:f>'Sheet1 (2)'!$E$2</c:f>
              <c:strCache>
                <c:ptCount val="1"/>
                <c:pt idx="0">
                  <c:v>프랑스</c:v>
                </c:pt>
              </c:strCache>
            </c:strRef>
          </c:tx>
          <c:spPr>
            <a:ln w="28575" cap="rnd">
              <a:solidFill>
                <a:srgbClr val="88BD2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88BD2D"/>
              </a:solidFill>
              <a:ln w="9525">
                <a:solidFill>
                  <a:srgbClr val="88BD2D"/>
                </a:solidFill>
              </a:ln>
              <a:effectLst/>
            </c:spPr>
          </c:marker>
          <c:cat>
            <c:strRef>
              <c:f>'Sheet1 (2)'!$B$3:$B$7</c:f>
              <c:strCache>
                <c:ptCount val="5"/>
                <c:pt idx="0">
                  <c:v>기술력</c:v>
                </c:pt>
                <c:pt idx="1">
                  <c:v>납기</c:v>
                </c:pt>
                <c:pt idx="2">
                  <c:v>지정학적 미묘함</c:v>
                </c:pt>
                <c:pt idx="3">
                  <c:v>가격</c:v>
                </c:pt>
                <c:pt idx="4">
                  <c:v>기술이전/산업협력</c:v>
                </c:pt>
              </c:strCache>
            </c:strRef>
          </c:cat>
          <c:val>
            <c:numRef>
              <c:f>'Sheet1 (2)'!$E$3:$E$7</c:f>
              <c:numCache>
                <c:formatCode>General</c:formatCode>
                <c:ptCount val="5"/>
                <c:pt idx="0">
                  <c:v>4.2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B1-40E8-9933-4D3AD1248E66}"/>
            </c:ext>
          </c:extLst>
        </c:ser>
        <c:ser>
          <c:idx val="3"/>
          <c:order val="3"/>
          <c:tx>
            <c:strRef>
              <c:f>'Sheet1 (2)'!$F$2</c:f>
              <c:strCache>
                <c:ptCount val="1"/>
                <c:pt idx="0">
                  <c:v>한국</c:v>
                </c:pt>
              </c:strCache>
            </c:strRef>
          </c:tx>
          <c:spPr>
            <a:ln w="28575" cap="rnd">
              <a:solidFill>
                <a:srgbClr val="C3123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31236"/>
              </a:solidFill>
              <a:ln w="9525">
                <a:solidFill>
                  <a:srgbClr val="C31236"/>
                </a:solidFill>
              </a:ln>
              <a:effectLst/>
            </c:spPr>
          </c:marker>
          <c:cat>
            <c:strRef>
              <c:f>'Sheet1 (2)'!$B$3:$B$7</c:f>
              <c:strCache>
                <c:ptCount val="5"/>
                <c:pt idx="0">
                  <c:v>기술력</c:v>
                </c:pt>
                <c:pt idx="1">
                  <c:v>납기</c:v>
                </c:pt>
                <c:pt idx="2">
                  <c:v>지정학적 미묘함</c:v>
                </c:pt>
                <c:pt idx="3">
                  <c:v>가격</c:v>
                </c:pt>
                <c:pt idx="4">
                  <c:v>기술이전/산업협력</c:v>
                </c:pt>
              </c:strCache>
            </c:strRef>
          </c:cat>
          <c:val>
            <c:numRef>
              <c:f>'Sheet1 (2)'!$F$3:$F$7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B1-40E8-9933-4D3AD1248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5929839"/>
        <c:axId val="1155926927"/>
      </c:radarChart>
      <c:catAx>
        <c:axId val="115592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+mn-cs"/>
              </a:defRPr>
            </a:pPr>
            <a:endParaRPr lang="ko-KR"/>
          </a:p>
        </c:txPr>
        <c:crossAx val="1155926927"/>
        <c:crosses val="autoZero"/>
        <c:auto val="1"/>
        <c:lblAlgn val="ctr"/>
        <c:lblOffset val="100"/>
        <c:noMultiLvlLbl val="0"/>
      </c:catAx>
      <c:valAx>
        <c:axId val="1155926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373737">
                  <a:alpha val="9400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glow rad="63500">
                    <a:schemeClr val="bg1">
                      <a:alpha val="90000"/>
                    </a:schemeClr>
                  </a:glow>
                </a:effectLst>
                <a:latin typeface="프리젠테이션 6 SemiBold" pitchFamily="2" charset="-127"/>
                <a:ea typeface="프리젠테이션 6 SemiBold" pitchFamily="2" charset="-127"/>
                <a:cs typeface="+mn-cs"/>
              </a:defRPr>
            </a:pPr>
            <a:endParaRPr lang="ko-KR"/>
          </a:p>
        </c:txPr>
        <c:crossAx val="1155929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8691601049868766E-2"/>
          <c:y val="0.79900590551181105"/>
          <c:w val="0.94539457567804019"/>
          <c:h val="7.59940944881889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프리젠테이션 6 SemiBold" pitchFamily="2" charset="-127"/>
          <a:ea typeface="프리젠테이션 6 SemiBold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fld id="{D3325FFC-F4FB-4DDD-8D24-7F30E6A75CA8}" type="datetimeFigureOut">
              <a:rPr lang="ko-KR" altLang="en-US" smtClean="0"/>
              <a:pPr/>
              <a:t>2025. 12. 16.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fld id="{AA8990B2-46FC-427A-84C6-EAFFA0D9B88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11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5 Medium" pitchFamily="2" charset="-127"/>
        <a:ea typeface="프리젠테이션 5 Medium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5 Medium" pitchFamily="2" charset="-127"/>
        <a:ea typeface="프리젠테이션 5 Medium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5 Medium" pitchFamily="2" charset="-127"/>
        <a:ea typeface="프리젠테이션 5 Medium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5 Medium" pitchFamily="2" charset="-127"/>
        <a:ea typeface="프리젠테이션 5 Medium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5 Medium" pitchFamily="2" charset="-127"/>
        <a:ea typeface="프리젠테이션 5 Medium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0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 목차는 </a:t>
            </a:r>
            <a:r>
              <a:rPr lang="ko-KR" altLang="en-US" sz="1200" dirty="0"/>
              <a:t>폴란드가 </a:t>
            </a:r>
            <a:r>
              <a:rPr lang="en-US" altLang="ko-KR" sz="1200" dirty="0"/>
              <a:t>K-</a:t>
            </a:r>
            <a:r>
              <a:rPr lang="ko-KR" altLang="en-US" sz="1200" dirty="0"/>
              <a:t>방산의 유럽 진출 교두보로 부상한 배경과 </a:t>
            </a:r>
            <a:r>
              <a:rPr lang="ko-KR" altLang="en-US" dirty="0"/>
              <a:t>글로벌 방산산업 및 폴란드 방산산업 분석 그리고 </a:t>
            </a:r>
            <a:r>
              <a:rPr lang="en-US" altLang="ko-KR" dirty="0"/>
              <a:t>K-</a:t>
            </a:r>
            <a:r>
              <a:rPr lang="ko-KR" altLang="en-US" dirty="0"/>
              <a:t>방산의 진출 성과를 말씀드리고 결론 및 시사점을 도출하겠습니다</a:t>
            </a:r>
            <a:r>
              <a:rPr lang="en-US" altLang="ko-KR" dirty="0"/>
              <a:t>.</a:t>
            </a:r>
          </a:p>
          <a:p>
            <a:r>
              <a:rPr lang="en-US" altLang="ko-KR" sz="1200" dirty="0"/>
              <a:t>.</a:t>
            </a:r>
            <a:r>
              <a:rPr lang="ko-KR" altLang="en-US" sz="1200" dirty="0"/>
              <a:t>발표의 목적은 단순한 현황 소개를 넘어 폴란드 시장에서 </a:t>
            </a:r>
            <a:r>
              <a:rPr lang="en-US" altLang="ko-KR" sz="1200" dirty="0"/>
              <a:t>K-</a:t>
            </a:r>
            <a:r>
              <a:rPr lang="ko-KR" altLang="en-US" sz="1200" dirty="0"/>
              <a:t>방산이 지속가능한 경쟁력을 확보하기 위한 전략적 인사이트를 도출하는 데 있습니다</a:t>
            </a:r>
            <a:r>
              <a:rPr lang="en-US" altLang="ko-KR" sz="1200" dirty="0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137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 방산산업을 선정한 배경을 말씀드리겠습니다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009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폴란드는 지정학적으로 유럽의 중심에 위치해 있으며</a:t>
            </a:r>
            <a:r>
              <a:rPr lang="en-US" altLang="ko-KR" dirty="0"/>
              <a:t>, </a:t>
            </a:r>
            <a:r>
              <a:rPr lang="ko-KR" altLang="en-US" dirty="0"/>
              <a:t>동쪽으로는 러시아</a:t>
            </a:r>
            <a:r>
              <a:rPr lang="en-US" altLang="ko-KR" dirty="0"/>
              <a:t>/</a:t>
            </a:r>
            <a:r>
              <a:rPr lang="ko-KR" altLang="en-US" dirty="0" err="1"/>
              <a:t>밸라루스</a:t>
            </a:r>
            <a:r>
              <a:rPr lang="en-US" altLang="ko-KR" dirty="0"/>
              <a:t>, </a:t>
            </a:r>
            <a:r>
              <a:rPr lang="ko-KR" altLang="en-US" dirty="0"/>
              <a:t>남쪽으로는 우크라이나와 국경을 접하고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러시아의 우크라이나 침공 이후 폴란드는 </a:t>
            </a:r>
            <a:r>
              <a:rPr lang="en-US" altLang="ko-KR" dirty="0"/>
              <a:t>NATO </a:t>
            </a:r>
            <a:r>
              <a:rPr lang="ko-KR" altLang="en-US" dirty="0"/>
              <a:t>동부 방위의 핵심 국가로 부상하며</a:t>
            </a:r>
            <a:r>
              <a:rPr lang="en-US" altLang="ko-KR" dirty="0"/>
              <a:t>, </a:t>
            </a:r>
            <a:r>
              <a:rPr lang="ko-KR" altLang="en-US" dirty="0"/>
              <a:t>국방비를 </a:t>
            </a:r>
            <a:r>
              <a:rPr lang="en-US" altLang="ko-KR" dirty="0"/>
              <a:t>GDP</a:t>
            </a:r>
            <a:r>
              <a:rPr lang="ko-KR" altLang="en-US" dirty="0"/>
              <a:t>의 </a:t>
            </a:r>
            <a:r>
              <a:rPr lang="en-US" altLang="ko-KR" dirty="0"/>
              <a:t>4% </a:t>
            </a:r>
            <a:r>
              <a:rPr lang="ko-KR" altLang="en-US" dirty="0"/>
              <a:t>이상으로 대폭 확대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유럽 평균 </a:t>
            </a:r>
            <a:r>
              <a:rPr lang="en-US" altLang="ko-KR" dirty="0"/>
              <a:t>2% </a:t>
            </a:r>
            <a:r>
              <a:rPr lang="ko-KR" altLang="en-US" dirty="0"/>
              <a:t>내외를 크게 상회하는 수치로</a:t>
            </a:r>
            <a:r>
              <a:rPr lang="en-US" altLang="ko-KR" dirty="0"/>
              <a:t>, </a:t>
            </a:r>
            <a:r>
              <a:rPr lang="ko-KR" altLang="en-US" dirty="0"/>
              <a:t>군 현대화와 첨단 무기 도입에 대한 강한 의지가 반영되어 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K-</a:t>
            </a:r>
            <a:r>
              <a:rPr lang="ko-KR" altLang="en-US" b="1" dirty="0"/>
              <a:t>방산</a:t>
            </a:r>
            <a:r>
              <a:rPr lang="ko-KR" altLang="en-US" dirty="0"/>
              <a:t>은 최근 해외 수출 확대를 통해 국가 경제와 외교에 크게 기여하고 있습니다</a:t>
            </a:r>
            <a:r>
              <a:rPr lang="en-US" altLang="ko-KR" dirty="0"/>
              <a:t>. </a:t>
            </a:r>
            <a:r>
              <a:rPr lang="ko-KR" altLang="en-US" dirty="0"/>
              <a:t>러시아</a:t>
            </a:r>
            <a:r>
              <a:rPr lang="en-US" altLang="ko-KR" dirty="0"/>
              <a:t>-</a:t>
            </a:r>
            <a:r>
              <a:rPr lang="ko-KR" altLang="en-US" dirty="0"/>
              <a:t>우크라이나 전쟁 등으로 글로벌 무기 수요가 급증하는 가운데</a:t>
            </a:r>
            <a:r>
              <a:rPr lang="en-US" altLang="ko-KR" dirty="0"/>
              <a:t>, </a:t>
            </a:r>
            <a:r>
              <a:rPr lang="ko-KR" altLang="en-US" dirty="0"/>
              <a:t>한국은 세계에서 가장 빠르게 방산 수출을 늘리며 </a:t>
            </a:r>
            <a:r>
              <a:rPr lang="ko-KR" altLang="en-US" b="1" dirty="0"/>
              <a:t>향후 </a:t>
            </a:r>
            <a:r>
              <a:rPr lang="en-US" altLang="ko-KR" b="1" dirty="0"/>
              <a:t>2027</a:t>
            </a:r>
            <a:r>
              <a:rPr lang="ko-KR" altLang="en-US" b="1" dirty="0"/>
              <a:t>년까지 세계 </a:t>
            </a:r>
            <a:r>
              <a:rPr lang="en-US" altLang="ko-KR" b="1" dirty="0"/>
              <a:t>4</a:t>
            </a:r>
            <a:r>
              <a:rPr lang="ko-KR" altLang="en-US" b="1" dirty="0"/>
              <a:t>위 방산수출국</a:t>
            </a:r>
            <a:r>
              <a:rPr lang="ko-KR" altLang="en-US" dirty="0"/>
              <a:t>을 목표로 하고 있습니다</a:t>
            </a:r>
            <a:r>
              <a:rPr lang="en-US" altLang="ko-KR" dirty="0"/>
              <a:t>. </a:t>
            </a:r>
            <a:r>
              <a:rPr lang="ko-KR" altLang="en-US" dirty="0"/>
              <a:t>정부도 방산 수출을 단순 무기 판매가 아닌 </a:t>
            </a:r>
            <a:r>
              <a:rPr lang="ko-KR" altLang="en-US" b="1" dirty="0"/>
              <a:t>금융</a:t>
            </a:r>
            <a:r>
              <a:rPr lang="en-US" altLang="ko-KR" b="1" dirty="0"/>
              <a:t>·</a:t>
            </a:r>
            <a:r>
              <a:rPr lang="ko-KR" altLang="en-US" b="1" dirty="0"/>
              <a:t>기술 협력과 외교를 아우르는 통합형 경제외교 프로젝트</a:t>
            </a:r>
            <a:r>
              <a:rPr lang="ko-KR" altLang="en-US" dirty="0"/>
              <a:t>로 추진하고 있으며</a:t>
            </a:r>
            <a:r>
              <a:rPr lang="en-US" altLang="ko-KR" dirty="0"/>
              <a:t>, </a:t>
            </a:r>
            <a:r>
              <a:rPr lang="ko-KR" altLang="en-US" dirty="0"/>
              <a:t>이를 통한 </a:t>
            </a:r>
            <a:r>
              <a:rPr lang="ko-KR" altLang="en-US" b="1" dirty="0"/>
              <a:t>방산 외교</a:t>
            </a:r>
            <a:r>
              <a:rPr lang="ko-KR" altLang="en-US" dirty="0"/>
              <a:t>를 적극 장려하고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폴란드는 우크라이나 재건사업의 물류생산 </a:t>
            </a:r>
            <a:r>
              <a:rPr lang="ko-KR" altLang="en-US" dirty="0" err="1"/>
              <a:t>허브로서의</a:t>
            </a:r>
            <a:r>
              <a:rPr lang="ko-KR" altLang="en-US" dirty="0"/>
              <a:t> 역할도 강화하고 있어 유럽 방산 시장에서 전략적 중요성이 더욱 커지고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한국산 무기의 신속한 납품</a:t>
            </a:r>
            <a:r>
              <a:rPr lang="en-US" altLang="ko-KR" dirty="0"/>
              <a:t>, </a:t>
            </a:r>
            <a:r>
              <a:rPr lang="ko-KR" altLang="en-US" dirty="0"/>
              <a:t>기술이전</a:t>
            </a:r>
            <a:r>
              <a:rPr lang="en-US" altLang="ko-KR" dirty="0"/>
              <a:t>, </a:t>
            </a:r>
            <a:r>
              <a:rPr lang="ko-KR" altLang="en-US" dirty="0"/>
              <a:t>현지 생산 등 </a:t>
            </a:r>
            <a:r>
              <a:rPr lang="ko-KR" altLang="en-US" dirty="0" err="1"/>
              <a:t>플란드가</a:t>
            </a:r>
            <a:r>
              <a:rPr lang="ko-KR" altLang="en-US" dirty="0"/>
              <a:t> </a:t>
            </a:r>
            <a:r>
              <a:rPr lang="en-US" altLang="ko-KR" dirty="0"/>
              <a:t>K-</a:t>
            </a:r>
            <a:r>
              <a:rPr lang="ko-KR" altLang="en-US" dirty="0"/>
              <a:t>방산을 전략적 파트너로 선택한 주요 요인입니다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이에 따라 </a:t>
            </a:r>
            <a:r>
              <a:rPr lang="en-US" altLang="ko-KR" b="1" dirty="0"/>
              <a:t>K-</a:t>
            </a:r>
            <a:r>
              <a:rPr lang="ko-KR" altLang="en-US" b="1" dirty="0"/>
              <a:t>방산의 폴란드 진출 전략</a:t>
            </a:r>
            <a:r>
              <a:rPr lang="ko-KR" altLang="en-US" dirty="0"/>
              <a:t>을 살펴보는 것은 한국 방위산업의 경쟁력 요인과 향후 </a:t>
            </a:r>
            <a:r>
              <a:rPr lang="ko-KR" altLang="en-US" b="1" dirty="0"/>
              <a:t>유럽 시장 확대 전략</a:t>
            </a:r>
            <a:r>
              <a:rPr lang="ko-KR" altLang="en-US" dirty="0"/>
              <a:t>을 모색하는 데 매우 의미가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61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폴란드의 국가 환경은 국제 관계</a:t>
            </a:r>
            <a:r>
              <a:rPr lang="en-US" altLang="ko-KR" dirty="0"/>
              <a:t>, </a:t>
            </a:r>
            <a:r>
              <a:rPr lang="ko-KR" altLang="en-US" dirty="0"/>
              <a:t>경제적 환경</a:t>
            </a:r>
            <a:r>
              <a:rPr lang="en-US" altLang="ko-KR" dirty="0"/>
              <a:t>, </a:t>
            </a:r>
            <a:r>
              <a:rPr lang="ko-KR" altLang="en-US" dirty="0"/>
              <a:t>안보 위협</a:t>
            </a:r>
            <a:r>
              <a:rPr lang="en-US" altLang="ko-KR" dirty="0"/>
              <a:t>, </a:t>
            </a:r>
            <a:r>
              <a:rPr lang="ko-KR" altLang="en-US" dirty="0"/>
              <a:t>정치적 의지가 결합되어 세계에서 가장 역동적인 방산 시장을 창출했습니다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631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현 정치 상황 </a:t>
            </a:r>
            <a:endParaRPr lang="en-US" altLang="ko-KR" dirty="0"/>
          </a:p>
          <a:p>
            <a:r>
              <a:rPr lang="ko-KR" altLang="en-US" dirty="0"/>
              <a:t>폴란드는 민주공화국으로서 삼권분립 체제를 갖추고 있으며</a:t>
            </a:r>
            <a:r>
              <a:rPr lang="en-US" altLang="ko-KR" dirty="0"/>
              <a:t>, 2015</a:t>
            </a:r>
            <a:r>
              <a:rPr lang="ko-KR" altLang="en-US" dirty="0"/>
              <a:t>년부터 </a:t>
            </a:r>
            <a:r>
              <a:rPr lang="en-US" altLang="ko-KR" dirty="0"/>
              <a:t>8</a:t>
            </a:r>
            <a:r>
              <a:rPr lang="ko-KR" altLang="en-US" dirty="0"/>
              <a:t>년간 집권했던 국민주의 성향의 법과정의당 </a:t>
            </a:r>
            <a:r>
              <a:rPr lang="en-US" altLang="ko-KR" dirty="0"/>
              <a:t>(PiS) </a:t>
            </a:r>
            <a:r>
              <a:rPr lang="ko-KR" altLang="en-US" dirty="0"/>
              <a:t>정부 아래에서 사법개혁과 언론장악 등의 이슈로 </a:t>
            </a:r>
            <a:r>
              <a:rPr lang="en-US" altLang="ko-KR" dirty="0"/>
              <a:t>EU</a:t>
            </a:r>
            <a:r>
              <a:rPr lang="ko-KR" altLang="en-US" dirty="0"/>
              <a:t>와 마찰을 빚었습니다</a:t>
            </a:r>
            <a:r>
              <a:rPr lang="en-US" altLang="ko-KR" dirty="0"/>
              <a:t>. 2023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 총선에서 중도 성향의 </a:t>
            </a:r>
            <a:r>
              <a:rPr lang="ko-KR" altLang="en-US" dirty="0" err="1"/>
              <a:t>도날트</a:t>
            </a:r>
            <a:r>
              <a:rPr lang="ko-KR" altLang="en-US" dirty="0"/>
              <a:t> </a:t>
            </a:r>
            <a:r>
              <a:rPr lang="ko-KR" altLang="en-US" dirty="0" err="1"/>
              <a:t>투스크</a:t>
            </a:r>
            <a:r>
              <a:rPr lang="ko-KR" altLang="en-US" dirty="0"/>
              <a:t> 전 총리가 이끄는 야권 연합이 승리하여 정권이 교체되었으며</a:t>
            </a:r>
            <a:r>
              <a:rPr lang="en-US" altLang="ko-KR" dirty="0"/>
              <a:t>, </a:t>
            </a:r>
            <a:r>
              <a:rPr lang="ko-KR" altLang="en-US" dirty="0"/>
              <a:t>새로운 연정 정부는 법치 회복과 대서양 동맹 강화를 표방하고 있습니다</a:t>
            </a:r>
            <a:r>
              <a:rPr lang="en-US" altLang="ko-KR" dirty="0"/>
              <a:t>. </a:t>
            </a:r>
            <a:r>
              <a:rPr lang="ko-KR" altLang="en-US" dirty="0" err="1"/>
              <a:t>투스크</a:t>
            </a:r>
            <a:r>
              <a:rPr lang="ko-KR" altLang="en-US" dirty="0"/>
              <a:t> 정부는 </a:t>
            </a:r>
            <a:r>
              <a:rPr lang="en-US" altLang="ko-KR" dirty="0"/>
              <a:t>EU</a:t>
            </a:r>
            <a:r>
              <a:rPr lang="ko-KR" altLang="en-US" dirty="0"/>
              <a:t>만으로는 폴란드 안보를 보장하기 어렵다는 현실 인식 하에</a:t>
            </a:r>
            <a:r>
              <a:rPr lang="en-US" altLang="ko-KR" dirty="0"/>
              <a:t>, NATO </a:t>
            </a:r>
            <a:r>
              <a:rPr lang="ko-KR" altLang="en-US" dirty="0"/>
              <a:t>및 비</a:t>
            </a:r>
            <a:r>
              <a:rPr lang="en-US" altLang="ko-KR" dirty="0"/>
              <a:t>(</a:t>
            </a:r>
            <a:r>
              <a:rPr lang="ko-KR" altLang="en-US" dirty="0"/>
              <a:t>非</a:t>
            </a:r>
            <a:r>
              <a:rPr lang="en-US" altLang="ko-KR" dirty="0"/>
              <a:t>)</a:t>
            </a:r>
            <a:r>
              <a:rPr lang="ko-KR" altLang="en-US" dirty="0"/>
              <a:t>유럽 동맹과의 협력을 더욱 중시하고 있습니다</a:t>
            </a:r>
            <a:r>
              <a:rPr lang="en-US" altLang="ko-KR" dirty="0"/>
              <a:t>. </a:t>
            </a:r>
            <a:r>
              <a:rPr lang="ko-KR" altLang="en-US" dirty="0" err="1"/>
              <a:t>투스크</a:t>
            </a:r>
            <a:r>
              <a:rPr lang="ko-KR" altLang="en-US" dirty="0"/>
              <a:t> 총리는 “우리의 안보를 위해 </a:t>
            </a:r>
            <a:r>
              <a:rPr lang="en-US" altLang="ko-KR" dirty="0"/>
              <a:t>EU</a:t>
            </a:r>
            <a:r>
              <a:rPr lang="ko-KR" altLang="en-US" dirty="0"/>
              <a:t>만을 의지할 수 </a:t>
            </a:r>
            <a:r>
              <a:rPr lang="ko-KR" altLang="en-US" dirty="0" err="1"/>
              <a:t>없다”고</a:t>
            </a:r>
            <a:r>
              <a:rPr lang="ko-KR" altLang="en-US" dirty="0"/>
              <a:t> </a:t>
            </a:r>
            <a:r>
              <a:rPr lang="ko-KR" altLang="en-US" dirty="0" err="1"/>
              <a:t>밝</a:t>
            </a:r>
            <a:r>
              <a:rPr lang="ko-KR" altLang="en-US" dirty="0"/>
              <a:t> </a:t>
            </a:r>
            <a:r>
              <a:rPr lang="ko-KR" altLang="en-US" dirty="0" err="1"/>
              <a:t>히며</a:t>
            </a:r>
            <a:r>
              <a:rPr lang="ko-KR" altLang="en-US" dirty="0"/>
              <a:t> 미국</a:t>
            </a:r>
            <a:r>
              <a:rPr lang="en-US" altLang="ko-KR" dirty="0"/>
              <a:t>, </a:t>
            </a:r>
            <a:r>
              <a:rPr lang="ko-KR" altLang="en-US" dirty="0"/>
              <a:t>한국 등 역외 파트너와의 방위 협력을 강화하는 한편</a:t>
            </a:r>
            <a:r>
              <a:rPr lang="en-US" altLang="ko-KR" dirty="0"/>
              <a:t>, </a:t>
            </a:r>
            <a:r>
              <a:rPr lang="ko-KR" altLang="en-US" dirty="0"/>
              <a:t>유럽 내부의 전략적 단결과 공동 방위체계 구축도 촉구 하고 있습니다 </a:t>
            </a:r>
            <a:r>
              <a:rPr lang="en-US" altLang="ko-KR" dirty="0"/>
              <a:t>. </a:t>
            </a:r>
            <a:r>
              <a:rPr lang="ko-KR" altLang="en-US" dirty="0"/>
              <a:t>정치적으로 폴란드는 러시아의 위협에 강경하게 대응하는 초당적 합의가 있고</a:t>
            </a:r>
            <a:r>
              <a:rPr lang="en-US" altLang="ko-KR" dirty="0"/>
              <a:t>, </a:t>
            </a:r>
            <a:r>
              <a:rPr lang="ko-KR" altLang="en-US" dirty="0"/>
              <a:t>특히 우크라이나 전쟁 이 후 여야를 막론하고 국방력 증강에 대한 의지가 강합니다</a:t>
            </a:r>
            <a:r>
              <a:rPr lang="en-US" altLang="ko-KR" dirty="0"/>
              <a:t>. </a:t>
            </a: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새 정부는 전임 정부 시기의 일부 무기 도입 계약에 대한 재검토 가능성을 내비치며 </a:t>
            </a:r>
            <a:r>
              <a:rPr lang="en-US" altLang="ko-KR" dirty="0"/>
              <a:t>, </a:t>
            </a:r>
            <a:r>
              <a:rPr lang="ko-KR" altLang="en-US" dirty="0"/>
              <a:t>방산정책의 투명성과 효율성을 높이려 노력하고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032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폴란드는 </a:t>
            </a:r>
            <a:r>
              <a:rPr lang="en-US" altLang="ko-KR" dirty="0"/>
              <a:t>NATO </a:t>
            </a:r>
            <a:r>
              <a:rPr lang="ko-KR" altLang="en-US" dirty="0"/>
              <a:t>동부 최전선 국가로서 러시아의 우크라이나 침공 이후 </a:t>
            </a:r>
            <a:r>
              <a:rPr lang="en-US" altLang="ko-KR" dirty="0"/>
              <a:t>NATO</a:t>
            </a:r>
            <a:r>
              <a:rPr lang="ko-KR" altLang="en-US" dirty="0"/>
              <a:t>동맹 내 위상이 크게 높아졌습니다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러시아의 침략에 직면한 우크라이나를 가장 적극적으로 지원하고 있으며</a:t>
            </a:r>
            <a:r>
              <a:rPr lang="en-US" altLang="ko-KR" dirty="0"/>
              <a:t>, </a:t>
            </a:r>
            <a:r>
              <a:rPr lang="ko-KR" altLang="en-US" dirty="0"/>
              <a:t>자국 군비 증강을 통해 </a:t>
            </a:r>
            <a:r>
              <a:rPr lang="en-US" altLang="ko-KR" dirty="0"/>
              <a:t>NATO </a:t>
            </a:r>
            <a:r>
              <a:rPr lang="ko-KR" altLang="en-US" dirty="0"/>
              <a:t>동부 억제력 강화에 핵심 역할을 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미국과는 긴밀한 군사 동맹 관계로</a:t>
            </a:r>
            <a:r>
              <a:rPr lang="en-US" altLang="ko-KR" dirty="0"/>
              <a:t>, </a:t>
            </a:r>
            <a:r>
              <a:rPr lang="ko-KR" altLang="en-US" dirty="0"/>
              <a:t>미군 영구주둔과 </a:t>
            </a:r>
            <a:r>
              <a:rPr lang="en-US" altLang="ko-KR" dirty="0"/>
              <a:t>F-35 </a:t>
            </a:r>
            <a:r>
              <a:rPr lang="ko-KR" altLang="en-US" dirty="0"/>
              <a:t>전투기</a:t>
            </a:r>
            <a:r>
              <a:rPr lang="en-US" altLang="ko-KR" dirty="0"/>
              <a:t>, </a:t>
            </a:r>
            <a:r>
              <a:rPr lang="ko-KR" altLang="en-US" dirty="0" err="1"/>
              <a:t>패트리어트</a:t>
            </a:r>
            <a:r>
              <a:rPr lang="ko-KR" altLang="en-US" dirty="0"/>
              <a:t> 미사일 등 첨단 무기 도입을 진행 중에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한편 </a:t>
            </a:r>
            <a:r>
              <a:rPr lang="en-US" altLang="ko-KR" dirty="0"/>
              <a:t>EU </a:t>
            </a:r>
            <a:r>
              <a:rPr lang="ko-KR" altLang="en-US" dirty="0"/>
              <a:t>회원국으로서 폴란드는 </a:t>
            </a:r>
            <a:r>
              <a:rPr lang="en-US" altLang="ko-KR" dirty="0"/>
              <a:t>EU</a:t>
            </a:r>
            <a:r>
              <a:rPr lang="ko-KR" altLang="en-US" dirty="0"/>
              <a:t>의 공동 안보</a:t>
            </a:r>
            <a:r>
              <a:rPr lang="en-US" altLang="ko-KR" dirty="0"/>
              <a:t>·</a:t>
            </a:r>
            <a:r>
              <a:rPr lang="ko-KR" altLang="en-US" dirty="0"/>
              <a:t>방위 정책에도 참여하지만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EU </a:t>
            </a:r>
            <a:r>
              <a:rPr lang="ko-KR" altLang="en-US" dirty="0"/>
              <a:t>자체만으로는 안보 보장이 미흡하다는 입장으로 </a:t>
            </a:r>
            <a:r>
              <a:rPr lang="en-US" altLang="ko-KR" dirty="0"/>
              <a:t>EU </a:t>
            </a:r>
            <a:r>
              <a:rPr lang="ko-KR" altLang="en-US" dirty="0"/>
              <a:t>방산협력보다는 </a:t>
            </a:r>
            <a:r>
              <a:rPr lang="en-US" altLang="ko-KR" dirty="0"/>
              <a:t>NATO </a:t>
            </a:r>
            <a:r>
              <a:rPr lang="ko-KR" altLang="en-US" dirty="0"/>
              <a:t>및 양자 협력을 선호하고 있습니다</a:t>
            </a:r>
            <a:r>
              <a:rPr lang="en-US" altLang="ko-KR" dirty="0"/>
              <a:t>.. </a:t>
            </a:r>
          </a:p>
          <a:p>
            <a:r>
              <a:rPr lang="ko-KR" altLang="en-US" dirty="0"/>
              <a:t>특히 프랑스</a:t>
            </a:r>
            <a:r>
              <a:rPr lang="en-US" altLang="ko-KR" dirty="0"/>
              <a:t>·</a:t>
            </a:r>
            <a:r>
              <a:rPr lang="ko-KR" altLang="en-US" dirty="0"/>
              <a:t>독일 주도의 </a:t>
            </a:r>
            <a:r>
              <a:rPr lang="en-US" altLang="ko-KR" dirty="0"/>
              <a:t>EU </a:t>
            </a:r>
            <a:r>
              <a:rPr lang="ko-KR" altLang="en-US" dirty="0"/>
              <a:t>방산 통합 전략보다는</a:t>
            </a:r>
            <a:r>
              <a:rPr lang="en-US" altLang="ko-KR" dirty="0"/>
              <a:t>,</a:t>
            </a:r>
            <a:r>
              <a:rPr lang="ko-KR" altLang="en-US" dirty="0"/>
              <a:t> 미국</a:t>
            </a:r>
            <a:r>
              <a:rPr lang="en-US" altLang="ko-KR" dirty="0"/>
              <a:t>·</a:t>
            </a:r>
            <a:r>
              <a:rPr lang="ko-KR" altLang="en-US" dirty="0"/>
              <a:t>한국 등 신뢰할 수 있는 공급처를 통해 신속히 무장을 강화하는 실용 노선을 택하고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NATO </a:t>
            </a:r>
            <a:r>
              <a:rPr lang="ko-KR" altLang="en-US" dirty="0"/>
              <a:t>측면에서는 폴란드의 이 같은 군비 증강이 동부 전선의 억제력을 높여 동맹 전체 안보에 기여한다는 평가이며</a:t>
            </a:r>
            <a:r>
              <a:rPr lang="en-US" altLang="ko-KR" dirty="0"/>
              <a:t>, </a:t>
            </a:r>
            <a:r>
              <a:rPr lang="ko-KR" altLang="en-US" dirty="0"/>
              <a:t>미국도 폴란드를 유럽 내 핵심 안보 파트너로 인식하고 협력을 강화하고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EU </a:t>
            </a:r>
            <a:r>
              <a:rPr lang="ko-KR" altLang="en-US" dirty="0"/>
              <a:t>측에서는 폴란드의 대규모 비 </a:t>
            </a:r>
            <a:r>
              <a:rPr lang="en-US" altLang="ko-KR" dirty="0"/>
              <a:t>EU</a:t>
            </a:r>
            <a:r>
              <a:rPr lang="ko-KR" altLang="en-US" dirty="0"/>
              <a:t>국가 무기 도입이 유럽 방산산업 육성 전략에 반하지 않는지 우려가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EU </a:t>
            </a:r>
            <a:r>
              <a:rPr lang="ko-KR" altLang="en-US" dirty="0"/>
              <a:t>집행위원회는 “</a:t>
            </a:r>
            <a:r>
              <a:rPr lang="en-US" altLang="ko-KR" dirty="0"/>
              <a:t>2030</a:t>
            </a:r>
            <a:r>
              <a:rPr lang="ko-KR" altLang="en-US" dirty="0"/>
              <a:t>년까지 방위 조달 예산의 최소 </a:t>
            </a:r>
            <a:r>
              <a:rPr lang="en-US" altLang="ko-KR" dirty="0"/>
              <a:t>50%</a:t>
            </a:r>
            <a:r>
              <a:rPr lang="ko-KR" altLang="en-US" dirty="0"/>
              <a:t>를 </a:t>
            </a:r>
            <a:r>
              <a:rPr lang="en-US" altLang="ko-KR" dirty="0"/>
              <a:t>EU </a:t>
            </a:r>
            <a:r>
              <a:rPr lang="ko-KR" altLang="en-US" dirty="0"/>
              <a:t>내에서 사용할 것</a:t>
            </a:r>
            <a:r>
              <a:rPr lang="en-US" altLang="ko-KR" dirty="0"/>
              <a:t>”</a:t>
            </a:r>
            <a:r>
              <a:rPr lang="ko-KR" altLang="en-US" dirty="0"/>
              <a:t>을 권고하여 폴란드를 포함한 회원국들의 무기 구매가 가급적 유럽 기업에게 돌아가도록 유도하고 있습니다 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국제 환경 속에서 폴란드는 </a:t>
            </a:r>
            <a:r>
              <a:rPr lang="en-US" altLang="ko-KR" dirty="0"/>
              <a:t>NATO </a:t>
            </a:r>
            <a:r>
              <a:rPr lang="ko-KR" altLang="en-US" dirty="0"/>
              <a:t>동맹 유지</a:t>
            </a:r>
            <a:r>
              <a:rPr lang="en-US" altLang="ko-KR" dirty="0"/>
              <a:t>, EU </a:t>
            </a:r>
            <a:r>
              <a:rPr lang="ko-KR" altLang="en-US" dirty="0"/>
              <a:t>규범 준수</a:t>
            </a:r>
            <a:r>
              <a:rPr lang="en-US" altLang="ko-KR" dirty="0"/>
              <a:t>, </a:t>
            </a:r>
            <a:r>
              <a:rPr lang="ko-KR" altLang="en-US" dirty="0"/>
              <a:t>그리고 신속한 전력 증강 간 균형을 모색하고 있는 상황입니다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우리나라는 신속한 무기 도입을 위한 공급처로 기술이전까지 지원해주는 전략적 파트너로 입지가 부상하고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459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 방산 시장 성장의 가장 큰 드라이브 요인은 안보 위기의식입니다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2022</a:t>
            </a:r>
            <a:r>
              <a:rPr lang="ko-KR" altLang="en-US" dirty="0"/>
              <a:t>년 러시아의 우크라이나 침공은 폴란드로 하여금 대규모 국방 강화 프로그램을 가속화하게 만든 직접적 계기였습니다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폴란드는 우크라이나에 전차</a:t>
            </a:r>
            <a:r>
              <a:rPr lang="en-US" altLang="ko-KR" dirty="0"/>
              <a:t>, </a:t>
            </a:r>
            <a:r>
              <a:rPr lang="ko-KR" altLang="en-US" dirty="0"/>
              <a:t>장갑차</a:t>
            </a:r>
            <a:r>
              <a:rPr lang="en-US" altLang="ko-KR" dirty="0"/>
              <a:t>, </a:t>
            </a:r>
            <a:r>
              <a:rPr lang="ko-KR" altLang="en-US" dirty="0" err="1"/>
              <a:t>자주포</a:t>
            </a:r>
            <a:r>
              <a:rPr lang="en-US" altLang="ko-KR" dirty="0"/>
              <a:t>, </a:t>
            </a:r>
            <a:r>
              <a:rPr lang="ko-KR" altLang="en-US" dirty="0"/>
              <a:t>미사일 등을 수 천대 규모로 지원하여 자신의 재고를 소진한 상태에서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이를 신속히 대체하고 러시아에 대한 </a:t>
            </a:r>
            <a:r>
              <a:rPr lang="ko-KR" altLang="en-US" dirty="0" err="1"/>
              <a:t>억지력을</a:t>
            </a:r>
            <a:r>
              <a:rPr lang="ko-KR" altLang="en-US" dirty="0"/>
              <a:t> 높이기 위해 공격적으로 신규 무기 도입에 나섰습니다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따라서 러시아발 안보 위협이 현재 폴란드 방산 수요를 견인하는 </a:t>
            </a:r>
            <a:r>
              <a:rPr lang="en-US" altLang="ko-KR" dirty="0"/>
              <a:t>1</a:t>
            </a:r>
            <a:r>
              <a:rPr lang="ko-KR" altLang="en-US" dirty="0"/>
              <a:t>차 요인이 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 요인은 동맹과 국제적 역할 강화입니다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폴란드는 </a:t>
            </a:r>
            <a:r>
              <a:rPr lang="en-US" altLang="ko-KR" dirty="0"/>
              <a:t>NATO </a:t>
            </a:r>
            <a:r>
              <a:rPr lang="ko-KR" altLang="en-US" dirty="0"/>
              <a:t>내 위상을 높이고 미군 주둔 등 동맹의 확실한 지원을 얻기 위해 솔선수범하여 군사력을 증강하고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실제로 </a:t>
            </a:r>
            <a:r>
              <a:rPr lang="en-US" altLang="ko-KR" dirty="0"/>
              <a:t>NATO </a:t>
            </a:r>
            <a:r>
              <a:rPr lang="ko-KR" altLang="en-US" dirty="0"/>
              <a:t>권고인 </a:t>
            </a:r>
            <a:r>
              <a:rPr lang="en-US" altLang="ko-KR" dirty="0"/>
              <a:t>GDP 2%</a:t>
            </a:r>
            <a:r>
              <a:rPr lang="ko-KR" altLang="en-US" dirty="0"/>
              <a:t>의 두 배 이상을 지출함으로써 다른 회원국들 에게 방위노력에 대한 압박을 가하고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동시에 유럽 안보의 중심으로 자리매김하고 있습니다</a:t>
            </a:r>
            <a:r>
              <a:rPr lang="en-US" altLang="ko-KR" dirty="0"/>
              <a:t>.  </a:t>
            </a:r>
            <a:br>
              <a:rPr lang="en-US" altLang="ko-KR" dirty="0"/>
            </a:br>
            <a:r>
              <a:rPr lang="ko-KR" altLang="en-US" dirty="0"/>
              <a:t>셋째 요인은</a:t>
            </a:r>
            <a:r>
              <a:rPr lang="en-US" altLang="ko-KR" dirty="0"/>
              <a:t>, </a:t>
            </a:r>
            <a:r>
              <a:rPr lang="ko-KR" altLang="en-US" dirty="0"/>
              <a:t>국민적 지지와 군 현대화 염원입니다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폴란드 국민들은 오랜 기간 상대적으로 낙후된 소련제 장비에 의존해온 군대를 최신 </a:t>
            </a:r>
            <a:r>
              <a:rPr lang="en-US" altLang="ko-KR" dirty="0"/>
              <a:t>NATO </a:t>
            </a:r>
            <a:r>
              <a:rPr lang="ko-KR" altLang="en-US" dirty="0"/>
              <a:t>표준으로 바꾸기를 희망해왔습니다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국내 여론의 호응은 정치권이 과감한 예산 투입을 정당화하는 근거가 되었고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특히 우크라이나 전쟁을 지켜보며 강한 군대만이 평화를 지킨다는 인식이 퍼져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정치인들이 경쟁적으로 국방 공약을 내걸고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이는 군 현대화 사업의 연속성을 보장하는 요인입니다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결론적으로 이와 같이 안보위협</a:t>
            </a:r>
            <a:r>
              <a:rPr lang="en-US" altLang="ko-KR" dirty="0"/>
              <a:t>, </a:t>
            </a:r>
            <a:r>
              <a:rPr lang="ko-KR" altLang="en-US" dirty="0"/>
              <a:t>동맹전략</a:t>
            </a:r>
            <a:r>
              <a:rPr lang="en-US" altLang="ko-KR" dirty="0"/>
              <a:t>, </a:t>
            </a:r>
            <a:r>
              <a:rPr lang="ko-KR" altLang="en-US" dirty="0"/>
              <a:t>국민지지</a:t>
            </a:r>
            <a:r>
              <a:rPr lang="en-US" altLang="ko-KR" dirty="0"/>
              <a:t>, </a:t>
            </a:r>
            <a:r>
              <a:rPr lang="ko-KR" altLang="en-US" dirty="0"/>
              <a:t>산업정책</a:t>
            </a:r>
            <a:r>
              <a:rPr lang="en-US" altLang="ko-KR" dirty="0"/>
              <a:t>, </a:t>
            </a:r>
            <a:r>
              <a:rPr lang="ko-KR" altLang="en-US" dirty="0"/>
              <a:t>국제협력 요인들이 복합적으로 폴란드 방산시장 성장을 견인하고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 중 가장 근본적 원인은 러시아발 안보 위협이고</a:t>
            </a:r>
            <a:r>
              <a:rPr lang="en-US" altLang="ko-KR" dirty="0"/>
              <a:t>, </a:t>
            </a:r>
            <a:r>
              <a:rPr lang="ko-KR" altLang="en-US" dirty="0"/>
              <a:t>나머지 요인들이 이를 증폭시키는 역할을 한다고 볼 수 있습니다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257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폴란드의 명목</a:t>
            </a:r>
            <a:r>
              <a:rPr lang="en-US" altLang="ko-KR" dirty="0"/>
              <a:t>GDP</a:t>
            </a:r>
            <a:r>
              <a:rPr lang="ko-KR" altLang="en-US" dirty="0"/>
              <a:t>는 </a:t>
            </a:r>
            <a:r>
              <a:rPr lang="en-US" altLang="ko-KR" dirty="0"/>
              <a:t>8,800</a:t>
            </a:r>
            <a:r>
              <a:rPr lang="ko-KR" altLang="en-US" dirty="0"/>
              <a:t>억 달러</a:t>
            </a:r>
            <a:r>
              <a:rPr lang="en-US" altLang="ko-KR" dirty="0"/>
              <a:t>, 1</a:t>
            </a:r>
            <a:r>
              <a:rPr lang="ko-KR" altLang="en-US" dirty="0"/>
              <a:t>인당 </a:t>
            </a:r>
            <a:r>
              <a:rPr lang="en-US" altLang="ko-KR" dirty="0"/>
              <a:t>GDP</a:t>
            </a:r>
            <a:r>
              <a:rPr lang="ko-KR" altLang="en-US" dirty="0"/>
              <a:t>는 </a:t>
            </a:r>
            <a:r>
              <a:rPr lang="en-US" altLang="ko-KR" dirty="0"/>
              <a:t>24,140</a:t>
            </a:r>
            <a:r>
              <a:rPr lang="ko-KR" altLang="en-US" dirty="0"/>
              <a:t>달러 규모로 </a:t>
            </a:r>
            <a:r>
              <a:rPr lang="en-US" altLang="ko-KR" dirty="0"/>
              <a:t>8</a:t>
            </a:r>
            <a:r>
              <a:rPr lang="ko-KR" altLang="en-US" dirty="0"/>
              <a:t>년간 연평균 </a:t>
            </a:r>
            <a:r>
              <a:rPr lang="en-US" altLang="ko-KR" dirty="0"/>
              <a:t>6.5%</a:t>
            </a:r>
            <a:r>
              <a:rPr lang="ko-KR" altLang="en-US" dirty="0"/>
              <a:t>대로 성장하며</a:t>
            </a:r>
            <a:r>
              <a:rPr lang="en-US" altLang="ko-KR" dirty="0"/>
              <a:t>, </a:t>
            </a:r>
            <a:r>
              <a:rPr lang="ko-KR" altLang="en-US" dirty="0"/>
              <a:t>신흥시장에서 선진경제로 이행 중인 역동적인 경제환경을 가지고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EU </a:t>
            </a:r>
            <a:r>
              <a:rPr lang="ko-KR" altLang="en-US" dirty="0"/>
              <a:t>구조기금 수혜와 제조업 성장으로 </a:t>
            </a:r>
            <a:r>
              <a:rPr lang="en-US" altLang="ko-KR" dirty="0"/>
              <a:t>2010</a:t>
            </a:r>
            <a:r>
              <a:rPr lang="ko-KR" altLang="en-US" dirty="0"/>
              <a:t>년대에 연평균 </a:t>
            </a:r>
            <a:r>
              <a:rPr lang="en-US" altLang="ko-KR" dirty="0"/>
              <a:t>3~4%</a:t>
            </a:r>
            <a:r>
              <a:rPr lang="ko-KR" altLang="en-US" dirty="0"/>
              <a:t>의 건실한 성장을 지속했으나</a:t>
            </a:r>
            <a:r>
              <a:rPr lang="en-US" altLang="ko-KR" dirty="0"/>
              <a:t>, </a:t>
            </a:r>
            <a:r>
              <a:rPr lang="ko-KR" altLang="en-US" dirty="0"/>
              <a:t>최근 우크라이나 전쟁 여파와 에너지 가격 상승으로 일시적 둔화를 겪기도 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그럼에도 불구하고</a:t>
            </a:r>
            <a:r>
              <a:rPr lang="en-US" altLang="ko-KR" dirty="0"/>
              <a:t>,</a:t>
            </a:r>
            <a:r>
              <a:rPr lang="ko-KR" altLang="en-US" dirty="0"/>
              <a:t> 국가 재정 건전성은 비교적 양호하고 정부 부채비율도 </a:t>
            </a:r>
            <a:r>
              <a:rPr lang="en-US" altLang="ko-KR" dirty="0"/>
              <a:t>52% </a:t>
            </a:r>
            <a:r>
              <a:rPr lang="ko-KR" altLang="en-US" dirty="0"/>
              <a:t>정도로 </a:t>
            </a:r>
            <a:r>
              <a:rPr lang="en-US" altLang="ko-KR" dirty="0"/>
              <a:t>EU </a:t>
            </a:r>
            <a:r>
              <a:rPr lang="ko-KR" altLang="en-US" dirty="0"/>
              <a:t>평균 이하 수준으로 관리되고 있어</a:t>
            </a:r>
            <a:r>
              <a:rPr lang="en-US" altLang="ko-KR" dirty="0"/>
              <a:t>, </a:t>
            </a:r>
            <a:r>
              <a:rPr lang="ko-KR" altLang="en-US" dirty="0"/>
              <a:t>국방비 지출에 재정 여력이 있는 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실제로 폴란드 정부는 국방예산을 </a:t>
            </a:r>
            <a:r>
              <a:rPr lang="en-US" altLang="ko-KR" dirty="0"/>
              <a:t>GDP </a:t>
            </a:r>
            <a:r>
              <a:rPr lang="ko-KR" altLang="en-US" dirty="0"/>
              <a:t>대비 </a:t>
            </a:r>
            <a:r>
              <a:rPr lang="en-US" altLang="ko-KR" dirty="0"/>
              <a:t>2% </a:t>
            </a:r>
            <a:r>
              <a:rPr lang="ko-KR" altLang="en-US" dirty="0"/>
              <a:t>수준 에서 </a:t>
            </a:r>
            <a:r>
              <a:rPr lang="en-US" altLang="ko-KR" dirty="0"/>
              <a:t>23</a:t>
            </a:r>
            <a:r>
              <a:rPr lang="ko-KR" altLang="en-US" dirty="0"/>
              <a:t>년에 </a:t>
            </a:r>
            <a:r>
              <a:rPr lang="en-US" altLang="ko-KR" dirty="0"/>
              <a:t>4% </a:t>
            </a:r>
            <a:r>
              <a:rPr lang="ko-KR" altLang="en-US" dirty="0"/>
              <a:t>이상으로 대폭 증액하였고</a:t>
            </a:r>
            <a:r>
              <a:rPr lang="en-US" altLang="ko-KR" dirty="0"/>
              <a:t>, 24</a:t>
            </a:r>
            <a:r>
              <a:rPr lang="ko-KR" altLang="en-US" dirty="0"/>
              <a:t>년에는 </a:t>
            </a:r>
            <a:r>
              <a:rPr lang="en-US" altLang="ko-KR" dirty="0"/>
              <a:t>GDP </a:t>
            </a:r>
            <a:r>
              <a:rPr lang="ko-KR" altLang="en-US" dirty="0"/>
              <a:t>대비 </a:t>
            </a:r>
            <a:r>
              <a:rPr lang="en-US" altLang="ko-KR" dirty="0"/>
              <a:t>4.3%</a:t>
            </a:r>
            <a:r>
              <a:rPr lang="ko-KR" altLang="en-US" dirty="0"/>
              <a:t>를 책정하였으며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25</a:t>
            </a:r>
            <a:r>
              <a:rPr lang="ko-KR" altLang="en-US" dirty="0"/>
              <a:t>년에는 </a:t>
            </a:r>
            <a:r>
              <a:rPr lang="en-US" altLang="ko-KR" dirty="0"/>
              <a:t>4.7%</a:t>
            </a:r>
            <a:r>
              <a:rPr lang="ko-KR" altLang="en-US" dirty="0"/>
              <a:t>까지 늘릴 계획입니다 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이는 </a:t>
            </a:r>
            <a:r>
              <a:rPr lang="en-US" altLang="ko-KR" dirty="0"/>
              <a:t>NATO </a:t>
            </a:r>
            <a:r>
              <a:rPr lang="ko-KR" altLang="en-US" dirty="0"/>
              <a:t>회원국 중 최고 수준이며</a:t>
            </a:r>
            <a:r>
              <a:rPr lang="en-US" altLang="ko-KR" dirty="0"/>
              <a:t>, 2026</a:t>
            </a:r>
            <a:r>
              <a:rPr lang="ko-KR" altLang="en-US" dirty="0"/>
              <a:t>년까지 </a:t>
            </a:r>
            <a:r>
              <a:rPr lang="en-US" altLang="ko-KR" dirty="0"/>
              <a:t>4.8% </a:t>
            </a:r>
            <a:r>
              <a:rPr lang="ko-KR" altLang="en-US" dirty="0"/>
              <a:t>수준의 예산안을 발표함에 따라 향후 상당한 규모의 국방예산이 지속될 전망입니다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국방예산 증액을 위해 폴란드 정부는 국군지원기금이라는 준조세적 특별기금을 운용하여 국채 발행 등으로 재원을 확보하고</a:t>
            </a:r>
            <a:r>
              <a:rPr lang="en-US" altLang="ko-KR" dirty="0"/>
              <a:t>, </a:t>
            </a:r>
            <a:r>
              <a:rPr lang="ko-KR" altLang="en-US" dirty="0"/>
              <a:t>이를 통해 신속하고 대규모의 무기 구매를 가능케 하고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이러한 유연한 재정 운용 덕분에 </a:t>
            </a:r>
            <a:r>
              <a:rPr lang="en-US" altLang="ko-KR" dirty="0"/>
              <a:t>2024</a:t>
            </a:r>
            <a:r>
              <a:rPr lang="ko-KR" altLang="en-US" dirty="0"/>
              <a:t>년 한 해에만 국방부가 </a:t>
            </a:r>
            <a:r>
              <a:rPr lang="en-US" altLang="ko-KR" dirty="0"/>
              <a:t>408</a:t>
            </a:r>
            <a:r>
              <a:rPr lang="ko-KR" altLang="en-US" dirty="0"/>
              <a:t>억 달러 상당의 </a:t>
            </a:r>
            <a:r>
              <a:rPr lang="en-US" altLang="ko-KR" dirty="0"/>
              <a:t>130</a:t>
            </a:r>
            <a:r>
              <a:rPr lang="ko-KR" altLang="en-US" dirty="0"/>
              <a:t>여 건 계약을 체결하는 등 대규모 조달이 이루어지고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물가 측면에서는 최근 인플레이션이 다소 높았으나</a:t>
            </a:r>
            <a:r>
              <a:rPr lang="en-US" altLang="ko-KR" dirty="0"/>
              <a:t>, </a:t>
            </a:r>
            <a:r>
              <a:rPr lang="ko-KR" altLang="en-US" dirty="0"/>
              <a:t>방산 분야는 정부가 장기 계약 형태로 추진하므로 큰 영향을 받지 않고 있습니다</a:t>
            </a:r>
            <a:r>
              <a:rPr lang="en-US" altLang="ko-KR" dirty="0"/>
              <a:t>. </a:t>
            </a:r>
          </a:p>
          <a:p>
            <a:r>
              <a:rPr lang="ko-KR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환율은 폴란드 </a:t>
            </a:r>
            <a:r>
              <a:rPr lang="ko-KR" alt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즈워티</a:t>
            </a:r>
            <a:r>
              <a:rPr lang="en-US" altLang="ko-KR" dirty="0">
                <a:solidFill>
                  <a:srgbClr val="FF0000"/>
                </a:solidFill>
                <a:highlight>
                  <a:srgbClr val="00FFFF"/>
                </a:highlight>
              </a:rPr>
              <a:t>(PLN)</a:t>
            </a:r>
            <a:r>
              <a:rPr lang="ko-KR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와 유로</a:t>
            </a:r>
            <a:r>
              <a:rPr lang="en-US" altLang="ko-KR" dirty="0">
                <a:solidFill>
                  <a:srgbClr val="FF0000"/>
                </a:solidFill>
                <a:highlight>
                  <a:srgbClr val="00FFFF"/>
                </a:highlight>
              </a:rPr>
              <a:t>/</a:t>
            </a:r>
            <a:r>
              <a:rPr lang="ko-KR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달러의 변동성이 존재하는데</a:t>
            </a:r>
            <a:r>
              <a:rPr lang="en-US" altLang="ko-KR" dirty="0">
                <a:solidFill>
                  <a:srgbClr val="FF0000"/>
                </a:solidFill>
                <a:highlight>
                  <a:srgbClr val="00FFFF"/>
                </a:highlight>
              </a:rPr>
              <a:t>, </a:t>
            </a:r>
            <a:r>
              <a:rPr lang="ko-KR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폴란드는 아직 유로화를 도입하지 않아 </a:t>
            </a:r>
            <a:r>
              <a:rPr lang="ko-KR" alt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환위험</a:t>
            </a:r>
            <a:r>
              <a:rPr lang="ko-KR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 관리가 경제 변수로 남아 있습니다</a:t>
            </a:r>
            <a:r>
              <a:rPr lang="en-US" altLang="ko-KR" dirty="0">
                <a:solidFill>
                  <a:srgbClr val="FF0000"/>
                </a:solidFill>
                <a:highlight>
                  <a:srgbClr val="00FFFF"/>
                </a:highlight>
              </a:rPr>
              <a:t>. </a:t>
            </a:r>
            <a:br>
              <a:rPr lang="en-US" altLang="ko-KR" dirty="0">
                <a:solidFill>
                  <a:srgbClr val="FF0000"/>
                </a:solidFill>
                <a:highlight>
                  <a:srgbClr val="00FFFF"/>
                </a:highlight>
              </a:rPr>
            </a:br>
            <a:r>
              <a:rPr lang="ko-KR" altLang="en-US" dirty="0">
                <a:solidFill>
                  <a:srgbClr val="FF0000"/>
                </a:solidFill>
                <a:highlight>
                  <a:srgbClr val="00FFFF"/>
                </a:highlight>
              </a:rPr>
              <a:t>전반적으로 폴란드의 거시경제는 안정적으로 성장하고 있어 대규모 국방비 집행의 지속 가능성을 뒷받침하고 있습니다</a:t>
            </a:r>
            <a:r>
              <a:rPr lang="en-US" altLang="ko-KR" dirty="0">
                <a:solidFill>
                  <a:srgbClr val="FF0000"/>
                </a:solidFill>
                <a:highlight>
                  <a:srgbClr val="00FFFF"/>
                </a:highlight>
              </a:rPr>
              <a:t>. </a:t>
            </a:r>
          </a:p>
          <a:p>
            <a:r>
              <a:rPr lang="ko-KR" altLang="en-US" dirty="0"/>
              <a:t>또한 시장경제 체제가 정착되어 외국 기업의 이윤 송금</a:t>
            </a:r>
            <a:r>
              <a:rPr lang="en-US" altLang="ko-KR" dirty="0"/>
              <a:t>, </a:t>
            </a:r>
            <a:r>
              <a:rPr lang="ko-KR" altLang="en-US" dirty="0"/>
              <a:t>현지 법인 설립 등이 자유롭고</a:t>
            </a:r>
            <a:r>
              <a:rPr lang="en-US" altLang="ko-KR" dirty="0"/>
              <a:t>, </a:t>
            </a:r>
            <a:r>
              <a:rPr lang="ko-KR" altLang="en-US" dirty="0"/>
              <a:t>노동력도 숙련되었으며 임금 수준은 서유럽 대비 낮아 제조 투자에도 유리합니다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이러한 경제적 환경은 한국 방산기업의 폴란드 진출 및 운영에도 비교적 우호적이며</a:t>
            </a:r>
            <a:r>
              <a:rPr lang="en-US" altLang="ko-KR" dirty="0"/>
              <a:t>, </a:t>
            </a:r>
            <a:r>
              <a:rPr lang="ko-KR" altLang="en-US" dirty="0"/>
              <a:t>특히 현지 생산시설 투자 시 비용경쟁력을 제공합니다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다만</a:t>
            </a:r>
            <a:r>
              <a:rPr lang="en-US" altLang="ko-KR" dirty="0"/>
              <a:t>,</a:t>
            </a:r>
            <a:r>
              <a:rPr lang="ko-KR" altLang="en-US" dirty="0"/>
              <a:t> 폴란드 화폐의 가치 변동에 대비하여 수익 환산과 계약 통화에 신중을 기해야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48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폴란드 방산 산업 및 </a:t>
            </a:r>
            <a:r>
              <a:rPr lang="ko-KR" altLang="en-US" dirty="0" err="1"/>
              <a:t>시장환경입니다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폴란드 방산 산업은 국가 주도의 구조개편과 외국 기술 흡수를 통해 급속도로 현대화되고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전통적인 국영기업 중심에서 글로벌 협력 네트워크로 전환하고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322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글로벌 방산 시장 환경</a:t>
            </a:r>
          </a:p>
          <a:p>
            <a:r>
              <a:rPr lang="ko-KR" altLang="en-US" b="1" dirty="0"/>
              <a:t>세계 방산 시장은 지속 성장 추세</a:t>
            </a:r>
            <a:r>
              <a:rPr lang="ko-KR" altLang="en-US" dirty="0"/>
              <a:t>에 있습니다</a:t>
            </a:r>
            <a:r>
              <a:rPr lang="en-US" altLang="ko-KR" dirty="0"/>
              <a:t>. 2024</a:t>
            </a:r>
            <a:r>
              <a:rPr lang="ko-KR" altLang="en-US" dirty="0"/>
              <a:t>년 전 세계 </a:t>
            </a:r>
            <a:r>
              <a:rPr lang="en-US" altLang="ko-KR" dirty="0"/>
              <a:t>100</a:t>
            </a:r>
            <a:r>
              <a:rPr lang="ko-KR" altLang="en-US" dirty="0"/>
              <a:t>대 방산기업 매출은 약 </a:t>
            </a:r>
            <a:r>
              <a:rPr lang="en-US" altLang="ko-KR" b="1" dirty="0"/>
              <a:t>6,790</a:t>
            </a:r>
            <a:r>
              <a:rPr lang="ko-KR" altLang="en-US" b="1" dirty="0"/>
              <a:t>억 달러</a:t>
            </a:r>
            <a:r>
              <a:rPr lang="ko-KR" altLang="en-US" dirty="0"/>
              <a:t>로 전년 대비 </a:t>
            </a:r>
            <a:r>
              <a:rPr lang="en-US" altLang="ko-KR" dirty="0"/>
              <a:t>5.9% </a:t>
            </a:r>
            <a:r>
              <a:rPr lang="ko-KR" altLang="en-US" dirty="0"/>
              <a:t>증가하여 역대 최고치를 경신했습니다</a:t>
            </a:r>
            <a:r>
              <a:rPr lang="en-US" altLang="ko-KR" dirty="0"/>
              <a:t>. </a:t>
            </a:r>
            <a:r>
              <a:rPr lang="ko-KR" altLang="en-US" dirty="0"/>
              <a:t>이러한 증가는 </a:t>
            </a:r>
            <a:r>
              <a:rPr lang="ko-KR" altLang="en-US" b="1" dirty="0"/>
              <a:t>러시아</a:t>
            </a:r>
            <a:r>
              <a:rPr lang="en-US" altLang="ko-KR" b="1" dirty="0"/>
              <a:t>-</a:t>
            </a:r>
            <a:r>
              <a:rPr lang="ko-KR" altLang="en-US" b="1" dirty="0"/>
              <a:t>우크라이나 전쟁</a:t>
            </a:r>
            <a:r>
              <a:rPr lang="ko-KR" altLang="en-US" dirty="0"/>
              <a:t>과 </a:t>
            </a:r>
            <a:r>
              <a:rPr lang="ko-KR" altLang="en-US" b="1" dirty="0"/>
              <a:t>중동 분쟁</a:t>
            </a:r>
            <a:r>
              <a:rPr lang="ko-KR" altLang="en-US" dirty="0"/>
              <a:t> 등 지역 분쟁과 지정학적 긴장 고조</a:t>
            </a:r>
            <a:r>
              <a:rPr lang="en-US" altLang="ko-KR" dirty="0"/>
              <a:t>, </a:t>
            </a:r>
            <a:r>
              <a:rPr lang="ko-KR" altLang="en-US" dirty="0"/>
              <a:t>군사비 지출 상승이 배경에 있습니다</a:t>
            </a:r>
            <a:r>
              <a:rPr lang="en-US" altLang="ko-KR" dirty="0"/>
              <a:t>. </a:t>
            </a:r>
            <a:r>
              <a:rPr lang="ko-KR" altLang="en-US" b="1" dirty="0"/>
              <a:t>글로벌 무기 수출입</a:t>
            </a:r>
            <a:r>
              <a:rPr lang="ko-KR" altLang="en-US" dirty="0"/>
              <a:t>은 </a:t>
            </a:r>
            <a:r>
              <a:rPr lang="en-US" altLang="ko-KR" dirty="0"/>
              <a:t>2018~22</a:t>
            </a:r>
            <a:r>
              <a:rPr lang="ko-KR" altLang="en-US" dirty="0"/>
              <a:t>년</a:t>
            </a:r>
            <a:r>
              <a:rPr lang="en-US" altLang="ko-KR" dirty="0"/>
              <a:t> 5</a:t>
            </a:r>
            <a:r>
              <a:rPr lang="ko-KR" altLang="en-US" dirty="0"/>
              <a:t>년간</a:t>
            </a:r>
            <a:r>
              <a:rPr lang="en-US" altLang="ko-KR" dirty="0"/>
              <a:t> </a:t>
            </a:r>
            <a:r>
              <a:rPr lang="ko-KR" altLang="en-US" dirty="0"/>
              <a:t>다소 감소했으나</a:t>
            </a:r>
            <a:r>
              <a:rPr lang="en-US" altLang="ko-KR" dirty="0"/>
              <a:t>(-5.1%), </a:t>
            </a:r>
            <a:r>
              <a:rPr lang="ko-KR" altLang="en-US" b="1" dirty="0"/>
              <a:t>유럽의 무기 수입은 같은 기간 </a:t>
            </a:r>
            <a:r>
              <a:rPr lang="en-US" altLang="ko-KR" b="1" dirty="0"/>
              <a:t>47%</a:t>
            </a:r>
            <a:r>
              <a:rPr lang="ko-KR" altLang="en-US" b="1" dirty="0"/>
              <a:t>나 급증</a:t>
            </a:r>
            <a:r>
              <a:rPr lang="ko-KR" altLang="en-US" dirty="0"/>
              <a:t>하였습니다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NATO </a:t>
            </a:r>
            <a:r>
              <a:rPr lang="ko-KR" altLang="en-US" dirty="0"/>
              <a:t>유럽 회원국들은 안보 위협에 대응해 무기 도입을 크게 늘렸으며</a:t>
            </a:r>
            <a:r>
              <a:rPr lang="en-US" altLang="ko-KR" dirty="0"/>
              <a:t>, 2014-18 </a:t>
            </a:r>
            <a:r>
              <a:rPr lang="ko-KR" altLang="en-US" dirty="0"/>
              <a:t>대비 </a:t>
            </a:r>
            <a:r>
              <a:rPr lang="en-US" altLang="ko-KR" dirty="0"/>
              <a:t>2019-23</a:t>
            </a:r>
            <a:r>
              <a:rPr lang="ko-KR" altLang="en-US" dirty="0"/>
              <a:t>에는 유럽 무기 수입이 </a:t>
            </a:r>
            <a:r>
              <a:rPr lang="en-US" altLang="ko-KR" b="1" dirty="0"/>
              <a:t>94% </a:t>
            </a:r>
            <a:r>
              <a:rPr lang="ko-KR" altLang="en-US" b="1" dirty="0"/>
              <a:t>폭증</a:t>
            </a:r>
            <a:r>
              <a:rPr lang="ko-KR" altLang="en-US" dirty="0"/>
              <a:t>한 것으로 나타났습니다</a:t>
            </a:r>
            <a:r>
              <a:rPr lang="en-US" altLang="ko-KR" dirty="0"/>
              <a:t>. </a:t>
            </a:r>
            <a:r>
              <a:rPr lang="ko-KR" altLang="en-US" dirty="0"/>
              <a:t>반면 아프리카</a:t>
            </a:r>
            <a:r>
              <a:rPr lang="en-US" altLang="ko-KR" dirty="0"/>
              <a:t>, </a:t>
            </a:r>
            <a:r>
              <a:rPr lang="ko-KR" altLang="en-US" dirty="0"/>
              <a:t>아메리카</a:t>
            </a:r>
            <a:r>
              <a:rPr lang="en-US" altLang="ko-KR" dirty="0"/>
              <a:t>, </a:t>
            </a:r>
            <a:r>
              <a:rPr lang="ko-KR" altLang="en-US" dirty="0"/>
              <a:t>중동 등의 수입은 감소하거나 정체되었습니다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환경 속에서 </a:t>
            </a:r>
            <a:r>
              <a:rPr lang="ko-KR" altLang="en-US" b="1" dirty="0"/>
              <a:t>주요 방산 수출국</a:t>
            </a:r>
            <a:r>
              <a:rPr lang="ko-KR" altLang="en-US" dirty="0"/>
              <a:t> 지형에도 변화가 있습니다</a:t>
            </a:r>
            <a:r>
              <a:rPr lang="en-US" altLang="ko-KR" dirty="0"/>
              <a:t>. </a:t>
            </a:r>
            <a:r>
              <a:rPr lang="ko-KR" altLang="en-US" b="1" dirty="0"/>
              <a:t>미국</a:t>
            </a:r>
            <a:r>
              <a:rPr lang="ko-KR" altLang="en-US" dirty="0"/>
              <a:t>은 </a:t>
            </a:r>
            <a:r>
              <a:rPr lang="en-US" altLang="ko-KR" dirty="0"/>
              <a:t>2018-22</a:t>
            </a:r>
            <a:r>
              <a:rPr lang="ko-KR" altLang="en-US" dirty="0"/>
              <a:t>년 전 세계 무기 수출의 </a:t>
            </a:r>
            <a:r>
              <a:rPr lang="en-US" altLang="ko-KR" dirty="0"/>
              <a:t>40%</a:t>
            </a:r>
            <a:r>
              <a:rPr lang="ko-KR" altLang="en-US" dirty="0"/>
              <a:t>를 차지하며 압도적 </a:t>
            </a:r>
            <a:r>
              <a:rPr lang="en-US" altLang="ko-KR" dirty="0"/>
              <a:t>1</a:t>
            </a:r>
            <a:r>
              <a:rPr lang="ko-KR" altLang="en-US" dirty="0"/>
              <a:t>위를 지켰고</a:t>
            </a:r>
            <a:r>
              <a:rPr lang="en-US" altLang="ko-KR" dirty="0"/>
              <a:t>, </a:t>
            </a:r>
            <a:r>
              <a:rPr lang="ko-KR" altLang="en-US" b="1" dirty="0"/>
              <a:t>러시아</a:t>
            </a:r>
            <a:r>
              <a:rPr lang="ko-KR" altLang="en-US" dirty="0"/>
              <a:t>는 </a:t>
            </a:r>
            <a:r>
              <a:rPr lang="en-US" altLang="ko-KR" dirty="0"/>
              <a:t>16%</a:t>
            </a:r>
            <a:r>
              <a:rPr lang="ko-KR" altLang="en-US" dirty="0"/>
              <a:t>로 </a:t>
            </a:r>
            <a:r>
              <a:rPr lang="en-US" altLang="ko-KR" dirty="0"/>
              <a:t>2</a:t>
            </a:r>
            <a:r>
              <a:rPr lang="ko-KR" altLang="en-US" dirty="0"/>
              <a:t>위였으나 우크라이나 전쟁 등의 영향으로 급격히 위상이 낮아지고 있습니다</a:t>
            </a:r>
            <a:r>
              <a:rPr lang="en-US" altLang="ko-KR" dirty="0"/>
              <a:t>. </a:t>
            </a:r>
            <a:r>
              <a:rPr lang="ko-KR" altLang="en-US" b="1" dirty="0"/>
              <a:t>프랑스</a:t>
            </a:r>
            <a:r>
              <a:rPr lang="ko-KR" altLang="en-US" dirty="0"/>
              <a:t>는 인도 등의 대규모 계약으로 </a:t>
            </a:r>
            <a:r>
              <a:rPr lang="en-US" altLang="ko-KR" dirty="0"/>
              <a:t>11%</a:t>
            </a:r>
            <a:r>
              <a:rPr lang="ko-KR" altLang="en-US" dirty="0"/>
              <a:t>까지 점유율을 높여 러시아를 제치고 </a:t>
            </a:r>
            <a:r>
              <a:rPr lang="en-US" altLang="ko-KR" dirty="0"/>
              <a:t>2</a:t>
            </a:r>
            <a:r>
              <a:rPr lang="ko-KR" altLang="en-US" dirty="0"/>
              <a:t>위권으로 부상했습니다</a:t>
            </a:r>
            <a:r>
              <a:rPr lang="en-US" altLang="ko-KR" dirty="0"/>
              <a:t>. </a:t>
            </a:r>
            <a:r>
              <a:rPr lang="ko-KR" altLang="en-US" dirty="0"/>
              <a:t>그 뒤를 </a:t>
            </a:r>
            <a:r>
              <a:rPr lang="ko-KR" altLang="en-US" b="1" dirty="0"/>
              <a:t>중국 </a:t>
            </a:r>
            <a:r>
              <a:rPr lang="ko-KR" altLang="en-US" dirty="0"/>
              <a:t>약 </a:t>
            </a:r>
            <a:r>
              <a:rPr lang="en-US" altLang="ko-KR" dirty="0"/>
              <a:t>5%, </a:t>
            </a:r>
            <a:r>
              <a:rPr lang="ko-KR" altLang="en-US" b="1" dirty="0"/>
              <a:t>독일</a:t>
            </a:r>
            <a:r>
              <a:rPr lang="en-US" altLang="ko-KR" dirty="0"/>
              <a:t>4% </a:t>
            </a:r>
            <a:r>
              <a:rPr lang="ko-KR" altLang="en-US" dirty="0"/>
              <a:t>등이 잇고 있으며</a:t>
            </a:r>
            <a:r>
              <a:rPr lang="en-US" altLang="ko-KR" dirty="0"/>
              <a:t>, </a:t>
            </a:r>
            <a:r>
              <a:rPr lang="ko-KR" altLang="en-US" b="1" dirty="0"/>
              <a:t>한국</a:t>
            </a:r>
            <a:r>
              <a:rPr lang="ko-KR" altLang="en-US" dirty="0"/>
              <a:t>도 </a:t>
            </a:r>
            <a:r>
              <a:rPr lang="en-US" altLang="ko-KR" dirty="0"/>
              <a:t>2018-22</a:t>
            </a:r>
            <a:r>
              <a:rPr lang="ko-KR" altLang="en-US" dirty="0"/>
              <a:t>년 세계 수출의 약 </a:t>
            </a:r>
            <a:r>
              <a:rPr lang="en-US" altLang="ko-KR" dirty="0"/>
              <a:t>2%</a:t>
            </a:r>
            <a:r>
              <a:rPr lang="ko-KR" altLang="en-US" dirty="0"/>
              <a:t>를 차지하여 </a:t>
            </a:r>
            <a:r>
              <a:rPr lang="en-US" altLang="ko-KR" dirty="0"/>
              <a:t>9~10</a:t>
            </a:r>
            <a:r>
              <a:rPr lang="ko-KR" altLang="en-US" dirty="0"/>
              <a:t>위권에 진입했습니다</a:t>
            </a:r>
            <a:r>
              <a:rPr lang="en-US" altLang="ko-KR" dirty="0"/>
              <a:t>. </a:t>
            </a:r>
            <a:r>
              <a:rPr lang="ko-KR" altLang="en-US" dirty="0"/>
              <a:t>특히 한국은 최근 </a:t>
            </a:r>
            <a:r>
              <a:rPr lang="en-US" altLang="ko-KR" dirty="0"/>
              <a:t>5</a:t>
            </a:r>
            <a:r>
              <a:rPr lang="ko-KR" altLang="en-US" dirty="0"/>
              <a:t>년간 수출 증가율 </a:t>
            </a:r>
            <a:r>
              <a:rPr lang="en-US" altLang="ko-KR" dirty="0"/>
              <a:t>177% </a:t>
            </a:r>
            <a:r>
              <a:rPr lang="ko-KR" altLang="en-US" dirty="0"/>
              <a:t>세계 </a:t>
            </a:r>
            <a:r>
              <a:rPr lang="en-US" altLang="ko-KR" dirty="0"/>
              <a:t>1</a:t>
            </a:r>
            <a:r>
              <a:rPr lang="ko-KR" altLang="en-US" dirty="0"/>
              <a:t>위의 폭발적 성장을 보였으며</a:t>
            </a:r>
            <a:r>
              <a:rPr lang="en-US" altLang="ko-KR" dirty="0"/>
              <a:t>, </a:t>
            </a:r>
            <a:r>
              <a:rPr lang="ko-KR" altLang="en-US" dirty="0"/>
              <a:t>정부는 </a:t>
            </a:r>
            <a:r>
              <a:rPr lang="ko-KR" altLang="en-US" b="1" dirty="0"/>
              <a:t>세계 시장 점유율 </a:t>
            </a:r>
            <a:r>
              <a:rPr lang="en-US" altLang="ko-KR" b="1" dirty="0"/>
              <a:t>5%</a:t>
            </a:r>
            <a:r>
              <a:rPr lang="ko-KR" altLang="en-US" b="1" dirty="0"/>
              <a:t>로 확대하여 미국</a:t>
            </a:r>
            <a:r>
              <a:rPr lang="en-US" altLang="ko-KR" b="1" dirty="0"/>
              <a:t>, </a:t>
            </a:r>
            <a:r>
              <a:rPr lang="ko-KR" altLang="en-US" b="1" dirty="0"/>
              <a:t>러시아</a:t>
            </a:r>
            <a:r>
              <a:rPr lang="en-US" altLang="ko-KR" b="1" dirty="0"/>
              <a:t>, </a:t>
            </a:r>
            <a:r>
              <a:rPr lang="ko-KR" altLang="en-US" b="1" dirty="0"/>
              <a:t>프랑스에 이어 세계 </a:t>
            </a:r>
            <a:r>
              <a:rPr lang="en-US" altLang="ko-KR" b="1" dirty="0"/>
              <a:t>4</a:t>
            </a:r>
            <a:r>
              <a:rPr lang="ko-KR" altLang="en-US" b="1" dirty="0"/>
              <a:t>위 수출국 도약</a:t>
            </a:r>
            <a:r>
              <a:rPr lang="ko-KR" altLang="en-US" dirty="0"/>
              <a:t>을 공식 천명한 바 있습니다</a:t>
            </a:r>
            <a:r>
              <a:rPr lang="en-US" altLang="ko-KR" dirty="0"/>
              <a:t>. </a:t>
            </a:r>
            <a:r>
              <a:rPr lang="ko-KR" altLang="en-US" dirty="0"/>
              <a:t>이는 한국이 지속적인 북한 위협에 대비해 전차</a:t>
            </a:r>
            <a:r>
              <a:rPr lang="en-US" altLang="ko-KR" dirty="0"/>
              <a:t>·</a:t>
            </a:r>
            <a:r>
              <a:rPr lang="ko-KR" altLang="en-US" dirty="0"/>
              <a:t>포병 생산능력을 유지해온 덕분에 </a:t>
            </a:r>
            <a:r>
              <a:rPr lang="ko-KR" altLang="en-US" b="1" dirty="0"/>
              <a:t>단기간에 대규모 장비 생산</a:t>
            </a:r>
            <a:r>
              <a:rPr lang="en-US" altLang="ko-KR" b="1" dirty="0"/>
              <a:t>·</a:t>
            </a:r>
            <a:r>
              <a:rPr lang="ko-KR" altLang="en-US" b="1" dirty="0"/>
              <a:t>공급이 가능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우방국에 </a:t>
            </a:r>
            <a:r>
              <a:rPr lang="ko-KR" altLang="en-US" b="1" dirty="0"/>
              <a:t>기술이전과 현지생산</a:t>
            </a:r>
            <a:r>
              <a:rPr lang="ko-KR" altLang="en-US" dirty="0"/>
              <a:t>도 적극 제안하는 경쟁력을 갖췄기 때문입니다</a:t>
            </a:r>
            <a:r>
              <a:rPr lang="en-US" altLang="ko-KR" dirty="0"/>
              <a:t>. </a:t>
            </a:r>
            <a:r>
              <a:rPr lang="ko-KR" altLang="en-US" dirty="0"/>
              <a:t>요약하면 </a:t>
            </a:r>
            <a:r>
              <a:rPr lang="ko-KR" altLang="en-US" b="1" dirty="0"/>
              <a:t>지정학적 위기</a:t>
            </a:r>
            <a:r>
              <a:rPr lang="ko-KR" altLang="en-US" dirty="0"/>
              <a:t>로 </a:t>
            </a:r>
            <a:r>
              <a:rPr lang="ko-KR" altLang="en-US" b="1" dirty="0"/>
              <a:t>유럽 중심의 무기 수요 급등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ko-KR" altLang="en-US" b="1" dirty="0"/>
              <a:t>한국 등 신흥 수출국의 부상</a:t>
            </a:r>
            <a:r>
              <a:rPr lang="ko-KR" altLang="en-US" dirty="0"/>
              <a:t>이 최근 글로벌 방산 시장의 핵심 트렌드라 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839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 방산산업의 시장 세분화를 육군</a:t>
            </a:r>
            <a:r>
              <a:rPr lang="en-US" altLang="ko-KR" dirty="0"/>
              <a:t>, </a:t>
            </a:r>
            <a:r>
              <a:rPr lang="ko-KR" altLang="en-US" dirty="0"/>
              <a:t>해군</a:t>
            </a:r>
            <a:r>
              <a:rPr lang="en-US" altLang="ko-KR" dirty="0"/>
              <a:t>, </a:t>
            </a:r>
            <a:r>
              <a:rPr lang="ko-KR" altLang="en-US" dirty="0"/>
              <a:t>공군으로 구분해 분석했습니다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우크라이나 전쟁 이후 폴란드는 전 군에 걸친 대규모 현대화에 돌입했지만</a:t>
            </a:r>
            <a:r>
              <a:rPr lang="en-US" altLang="ko-KR" dirty="0"/>
              <a:t>, </a:t>
            </a:r>
            <a:r>
              <a:rPr lang="ko-KR" altLang="en-US" dirty="0"/>
              <a:t>그 중에서도 </a:t>
            </a:r>
            <a:r>
              <a:rPr lang="ko-KR" altLang="en-US" b="1" dirty="0"/>
              <a:t>육군 세그먼트가 한국 방산기업에 가장 유리한 시장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K2 </a:t>
            </a:r>
            <a:r>
              <a:rPr lang="ko-KR" altLang="en-US" dirty="0"/>
              <a:t>전차와 </a:t>
            </a:r>
            <a:r>
              <a:rPr lang="en-US" altLang="ko-KR" dirty="0"/>
              <a:t>K9 </a:t>
            </a:r>
            <a:r>
              <a:rPr lang="ko-KR" altLang="en-US" dirty="0" err="1"/>
              <a:t>자주포</a:t>
            </a:r>
            <a:r>
              <a:rPr lang="ko-KR" altLang="en-US" dirty="0"/>
              <a:t> 중심의 계약을 통해 </a:t>
            </a:r>
            <a:r>
              <a:rPr lang="ko-KR" altLang="en-US" b="1" dirty="0" err="1"/>
              <a:t>단납기</a:t>
            </a:r>
            <a:r>
              <a:rPr lang="en-US" altLang="ko-KR" b="1" dirty="0"/>
              <a:t>·</a:t>
            </a:r>
            <a:r>
              <a:rPr lang="ko-KR" altLang="en-US" b="1" dirty="0"/>
              <a:t>가격경쟁력</a:t>
            </a:r>
            <a:r>
              <a:rPr lang="en-US" altLang="ko-KR" b="1" dirty="0"/>
              <a:t>·</a:t>
            </a:r>
            <a:r>
              <a:rPr lang="ko-KR" altLang="en-US" b="1" dirty="0"/>
              <a:t>기술이전 수용성</a:t>
            </a:r>
            <a:r>
              <a:rPr lang="ko-KR" altLang="en-US" dirty="0"/>
              <a:t>이라는 핵심 요소를 충족했고</a:t>
            </a:r>
            <a:r>
              <a:rPr lang="en-US" altLang="ko-KR" dirty="0"/>
              <a:t>, </a:t>
            </a:r>
            <a:r>
              <a:rPr lang="ko-KR" altLang="en-US" dirty="0"/>
              <a:t>특히 단기간 조달 실적에서 한국은 미국과 유럽 경쟁국을 압도했습니다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공군은 </a:t>
            </a:r>
            <a:r>
              <a:rPr lang="en-US" altLang="ko-KR" dirty="0"/>
              <a:t>F-35 </a:t>
            </a:r>
            <a:r>
              <a:rPr lang="ko-KR" altLang="en-US" dirty="0"/>
              <a:t>중심 첨단화 전략을 채택해 미국 중심 협력이 강하고</a:t>
            </a:r>
            <a:r>
              <a:rPr lang="en-US" altLang="ko-KR" dirty="0"/>
              <a:t>, </a:t>
            </a:r>
            <a:r>
              <a:rPr lang="ko-KR" altLang="en-US" dirty="0"/>
              <a:t>해군은 유럽 기반 해상전력 중심으로 기술적 진입 장벽이 높습니다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우리는 육군 중심 전략에 집중하는 것이 효과적이며</a:t>
            </a:r>
            <a:r>
              <a:rPr lang="en-US" altLang="ko-KR" dirty="0"/>
              <a:t>, </a:t>
            </a:r>
            <a:r>
              <a:rPr lang="ko-KR" altLang="en-US" dirty="0"/>
              <a:t>이후 슬라이드에서는 그 타당성과 경쟁력 분석을 자세히 다루겠습니다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2552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K-</a:t>
            </a:r>
            <a:r>
              <a:rPr lang="ko-KR" altLang="en-US" dirty="0"/>
              <a:t>방산에 유리한 육군 시장을 더 세분화 하여 분석하기 위해</a:t>
            </a:r>
            <a:r>
              <a:rPr lang="en-US" altLang="ko-KR" dirty="0"/>
              <a:t> </a:t>
            </a:r>
            <a:r>
              <a:rPr lang="ko-KR" altLang="en-US" dirty="0"/>
              <a:t>한국의 대표적 육군 무기인 </a:t>
            </a:r>
            <a:r>
              <a:rPr lang="ko-KR" altLang="en-US" dirty="0" err="1"/>
              <a:t>자주포</a:t>
            </a:r>
            <a:r>
              <a:rPr lang="ko-KR" altLang="en-US" dirty="0"/>
              <a:t> </a:t>
            </a:r>
            <a:r>
              <a:rPr lang="en-US" altLang="ko-KR" b="1" dirty="0"/>
              <a:t>K9</a:t>
            </a:r>
            <a:r>
              <a:rPr lang="ko-KR" altLang="en-US" b="1" dirty="0"/>
              <a:t>을</a:t>
            </a:r>
            <a:r>
              <a:rPr lang="ko-KR" altLang="en-US" dirty="0"/>
              <a:t> 중심으로</a:t>
            </a:r>
            <a:r>
              <a:rPr lang="en-US" altLang="ko-KR" dirty="0"/>
              <a:t>, </a:t>
            </a:r>
            <a:r>
              <a:rPr lang="ko-KR" altLang="en-US" dirty="0" err="1"/>
              <a:t>자주포의</a:t>
            </a:r>
            <a:r>
              <a:rPr lang="ko-KR" altLang="en-US" dirty="0"/>
              <a:t> 경쟁상품을 분석하도록 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한국의 </a:t>
            </a:r>
            <a:r>
              <a:rPr lang="en-US" altLang="ko-KR" dirty="0"/>
              <a:t>K9</a:t>
            </a:r>
            <a:r>
              <a:rPr lang="ko-KR" altLang="en-US" dirty="0"/>
              <a:t>은 미국의 </a:t>
            </a:r>
            <a:r>
              <a:rPr lang="ko-KR" altLang="en-US" dirty="0" err="1"/>
              <a:t>팔라딘</a:t>
            </a:r>
            <a:r>
              <a:rPr lang="en-US" altLang="ko-KR" dirty="0"/>
              <a:t>, </a:t>
            </a:r>
            <a:r>
              <a:rPr lang="ko-KR" altLang="en-US" dirty="0"/>
              <a:t>독일의 </a:t>
            </a:r>
            <a:r>
              <a:rPr lang="en-US" altLang="ko-KR" dirty="0" err="1"/>
              <a:t>PzH</a:t>
            </a:r>
            <a:r>
              <a:rPr lang="en-US" altLang="ko-KR" dirty="0"/>
              <a:t> 2000, </a:t>
            </a:r>
            <a:r>
              <a:rPr lang="ko-KR" altLang="en-US" dirty="0"/>
              <a:t>프랑스의 </a:t>
            </a:r>
            <a:r>
              <a:rPr lang="ko-KR" altLang="en-US" dirty="0" err="1"/>
              <a:t>세자르</a:t>
            </a:r>
            <a:r>
              <a:rPr lang="ko-KR" altLang="en-US" dirty="0"/>
              <a:t> </a:t>
            </a:r>
            <a:r>
              <a:rPr lang="ko-KR" altLang="en-US" dirty="0" err="1"/>
              <a:t>자주포와</a:t>
            </a:r>
            <a:r>
              <a:rPr lang="ko-KR" altLang="en-US" dirty="0"/>
              <a:t> 경쟁하고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우크라이나 전쟁 이후 폴란드 육군은 러시아 </a:t>
            </a:r>
            <a:r>
              <a:rPr lang="ko-KR" altLang="en-US" dirty="0" err="1"/>
              <a:t>장사정포와의</a:t>
            </a:r>
            <a:r>
              <a:rPr lang="ko-KR" altLang="en-US" dirty="0"/>
              <a:t> 전면전에 대비해 </a:t>
            </a:r>
            <a:r>
              <a:rPr lang="ko-KR" altLang="en-US" b="1" dirty="0"/>
              <a:t>기동성과 지속화력</a:t>
            </a:r>
            <a:r>
              <a:rPr lang="en-US" altLang="ko-KR" b="1" dirty="0"/>
              <a:t>, </a:t>
            </a:r>
            <a:r>
              <a:rPr lang="ko-KR" altLang="en-US" b="1" dirty="0"/>
              <a:t>통합 패키지 전력화</a:t>
            </a:r>
            <a:r>
              <a:rPr lang="ko-KR" altLang="en-US" dirty="0"/>
              <a:t>를 핵심 기준으로 </a:t>
            </a:r>
            <a:r>
              <a:rPr lang="ko-KR" altLang="en-US" dirty="0" err="1"/>
              <a:t>자주포</a:t>
            </a:r>
            <a:r>
              <a:rPr lang="ko-KR" altLang="en-US" dirty="0"/>
              <a:t> 조달을 추진하고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ko-KR" altLang="en-US" b="1" dirty="0"/>
              <a:t>기술 스펙</a:t>
            </a:r>
            <a:r>
              <a:rPr lang="ko-KR" altLang="en-US" dirty="0"/>
              <a:t>부터 보면</a:t>
            </a:r>
            <a:r>
              <a:rPr lang="en-US" altLang="ko-K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사거리</a:t>
            </a:r>
            <a:r>
              <a:rPr lang="ko-KR" altLang="en-US" dirty="0"/>
              <a:t>는 모든 </a:t>
            </a:r>
            <a:r>
              <a:rPr lang="ko-KR" altLang="en-US" dirty="0" err="1"/>
              <a:t>자주포가</a:t>
            </a:r>
            <a:r>
              <a:rPr lang="ko-KR" altLang="en-US" dirty="0"/>
              <a:t> </a:t>
            </a:r>
            <a:r>
              <a:rPr lang="en-US" altLang="ko-KR" dirty="0"/>
              <a:t>HE</a:t>
            </a:r>
            <a:r>
              <a:rPr lang="ko-KR" altLang="en-US" dirty="0"/>
              <a:t>탄 기준 </a:t>
            </a:r>
            <a:r>
              <a:rPr lang="en-US" altLang="ko-KR" dirty="0"/>
              <a:t>30km, BB</a:t>
            </a:r>
            <a:r>
              <a:rPr lang="ko-KR" altLang="en-US" dirty="0"/>
              <a:t>탄 기준 </a:t>
            </a:r>
            <a:r>
              <a:rPr lang="en-US" altLang="ko-KR" dirty="0"/>
              <a:t>40km </a:t>
            </a:r>
            <a:r>
              <a:rPr lang="ko-KR" altLang="en-US" dirty="0"/>
              <a:t>수준으로 유사하지만</a:t>
            </a:r>
            <a:r>
              <a:rPr lang="en-US" altLang="ko-KR" dirty="0"/>
              <a:t>, </a:t>
            </a:r>
            <a:r>
              <a:rPr lang="en-US" altLang="ko-KR" b="1" dirty="0" err="1"/>
              <a:t>PzH</a:t>
            </a:r>
            <a:r>
              <a:rPr lang="en-US" altLang="ko-KR" b="1" dirty="0"/>
              <a:t> 2000</a:t>
            </a:r>
            <a:r>
              <a:rPr lang="ko-KR" altLang="en-US" b="1" dirty="0"/>
              <a:t>만 </a:t>
            </a:r>
            <a:r>
              <a:rPr lang="en-US" altLang="ko-KR" b="1" dirty="0"/>
              <a:t>VLAP </a:t>
            </a:r>
            <a:r>
              <a:rPr lang="ko-KR" altLang="en-US" b="1" dirty="0"/>
              <a:t>탄 적용 시 최대 </a:t>
            </a:r>
            <a:r>
              <a:rPr lang="en-US" altLang="ko-KR" b="1" dirty="0"/>
              <a:t>56km</a:t>
            </a:r>
            <a:r>
              <a:rPr lang="ko-KR" altLang="en-US" b="1" dirty="0"/>
              <a:t>까지</a:t>
            </a:r>
            <a:r>
              <a:rPr lang="ko-KR" altLang="en-US" dirty="0"/>
              <a:t> 가능하다는 차이가 있습니다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기동성</a:t>
            </a:r>
            <a:r>
              <a:rPr lang="ko-KR" altLang="en-US" dirty="0"/>
              <a:t>에서는 </a:t>
            </a:r>
            <a:r>
              <a:rPr lang="en-US" altLang="ko-KR" dirty="0"/>
              <a:t>K9</a:t>
            </a:r>
            <a:r>
              <a:rPr lang="ko-KR" altLang="en-US" dirty="0"/>
              <a:t>이 </a:t>
            </a:r>
            <a:r>
              <a:rPr lang="ko-KR" altLang="en-US" b="1" dirty="0"/>
              <a:t>궤도형 </a:t>
            </a:r>
            <a:r>
              <a:rPr lang="en-US" altLang="ko-KR" b="1" dirty="0"/>
              <a:t>+ 1,000</a:t>
            </a:r>
            <a:r>
              <a:rPr lang="ko-KR" altLang="en-US" b="1" dirty="0"/>
              <a:t>마력 엔진</a:t>
            </a:r>
            <a:r>
              <a:rPr lang="ko-KR" altLang="en-US" dirty="0"/>
              <a:t> 조합으로 산악</a:t>
            </a:r>
            <a:r>
              <a:rPr lang="en-US" altLang="ko-KR" dirty="0"/>
              <a:t>, </a:t>
            </a:r>
            <a:r>
              <a:rPr lang="ko-KR" altLang="en-US" dirty="0"/>
              <a:t>진흙</a:t>
            </a:r>
            <a:r>
              <a:rPr lang="en-US" altLang="ko-KR" dirty="0"/>
              <a:t>, </a:t>
            </a:r>
            <a:r>
              <a:rPr lang="ko-KR" altLang="en-US" dirty="0"/>
              <a:t>도심 등 전 지형 기동이 가능해 세자르</a:t>
            </a:r>
            <a:r>
              <a:rPr lang="ko-KR" altLang="en-US" b="1" dirty="0"/>
              <a:t>의 </a:t>
            </a:r>
            <a:r>
              <a:rPr lang="ko-KR" altLang="en-US" b="1" dirty="0" err="1"/>
              <a:t>고속륜형보다</a:t>
            </a:r>
            <a:r>
              <a:rPr lang="ko-KR" altLang="en-US" b="1" dirty="0"/>
              <a:t> 실전 적용성이 넓습니다</a:t>
            </a:r>
            <a:r>
              <a:rPr lang="en-US" altLang="ko-KR" b="1" dirty="0"/>
              <a:t>.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자동화</a:t>
            </a:r>
            <a:r>
              <a:rPr lang="ko-KR" altLang="en-US" dirty="0"/>
              <a:t> 측면에서 </a:t>
            </a:r>
            <a:r>
              <a:rPr lang="en-US" altLang="ko-KR" dirty="0"/>
              <a:t>K9</a:t>
            </a:r>
            <a:r>
              <a:rPr lang="ko-KR" altLang="en-US" dirty="0"/>
              <a:t>은 </a:t>
            </a:r>
            <a:r>
              <a:rPr lang="ko-KR" altLang="en-US" b="1" dirty="0"/>
              <a:t>자동 장전 기능</a:t>
            </a:r>
            <a:r>
              <a:rPr lang="ko-KR" altLang="en-US" dirty="0"/>
              <a:t>과 </a:t>
            </a:r>
            <a:r>
              <a:rPr lang="ko-KR" altLang="en-US" b="1" dirty="0"/>
              <a:t>탄약운반차</a:t>
            </a:r>
            <a:r>
              <a:rPr lang="en-US" altLang="ko-KR" b="1" dirty="0"/>
              <a:t>(K10), </a:t>
            </a:r>
            <a:r>
              <a:rPr lang="ko-KR" altLang="en-US" b="1" dirty="0"/>
              <a:t>사격지휘차</a:t>
            </a:r>
            <a:r>
              <a:rPr lang="en-US" altLang="ko-KR" b="1" dirty="0"/>
              <a:t>(K77) </a:t>
            </a:r>
            <a:r>
              <a:rPr lang="ko-KR" altLang="en-US" b="1" dirty="0"/>
              <a:t>등 통합 전투체계 패키지 연계가 가능</a:t>
            </a:r>
            <a:r>
              <a:rPr lang="ko-KR" altLang="en-US" dirty="0"/>
              <a:t>하다는 점이 특징입니다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</a:t>
            </a:r>
            <a:r>
              <a:rPr lang="en-US" altLang="ko-KR" dirty="0"/>
              <a:t>K9</a:t>
            </a:r>
            <a:r>
              <a:rPr lang="ko-KR" altLang="en-US" dirty="0"/>
              <a:t>의 장점은 단순 성능을 넘어 </a:t>
            </a:r>
            <a:r>
              <a:rPr lang="ko-KR" altLang="en-US" b="1" dirty="0"/>
              <a:t>전술 운용 효율성과 운용 편의성</a:t>
            </a:r>
            <a:r>
              <a:rPr lang="ko-KR" altLang="en-US" dirty="0"/>
              <a:t> 측면에서 평가받습니다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기계적 성능만으로 비교하면 </a:t>
            </a:r>
            <a:r>
              <a:rPr lang="en-US" altLang="ko-KR" dirty="0" err="1"/>
              <a:t>PzH</a:t>
            </a:r>
            <a:r>
              <a:rPr lang="ko-KR" altLang="en-US" dirty="0"/>
              <a:t>나 </a:t>
            </a:r>
            <a:r>
              <a:rPr lang="ko-KR" altLang="en-US" dirty="0" err="1"/>
              <a:t>팔라딘이</a:t>
            </a:r>
            <a:r>
              <a:rPr lang="ko-KR" altLang="en-US" dirty="0"/>
              <a:t> 우위일 수 있지만</a:t>
            </a:r>
            <a:r>
              <a:rPr lang="en-US" altLang="ko-KR" dirty="0"/>
              <a:t>, </a:t>
            </a:r>
            <a:r>
              <a:rPr lang="ko-KR" altLang="en-US" b="1" dirty="0"/>
              <a:t>실전에서의 병참 편의성</a:t>
            </a:r>
            <a:r>
              <a:rPr lang="en-US" altLang="ko-KR" b="1" dirty="0"/>
              <a:t>, </a:t>
            </a:r>
            <a:r>
              <a:rPr lang="ko-KR" altLang="en-US" b="1" dirty="0"/>
              <a:t>유지보수성</a:t>
            </a:r>
            <a:r>
              <a:rPr lang="en-US" altLang="ko-KR" b="1" dirty="0"/>
              <a:t>, </a:t>
            </a:r>
            <a:r>
              <a:rPr lang="ko-KR" altLang="en-US" b="1" dirty="0"/>
              <a:t>전력화 속도에서 </a:t>
            </a:r>
            <a:r>
              <a:rPr lang="en-US" altLang="ko-KR" b="1" dirty="0"/>
              <a:t>K9</a:t>
            </a:r>
            <a:r>
              <a:rPr lang="ko-KR" altLang="en-US" b="1" dirty="0"/>
              <a:t>이 균형 잡힌 모델</a:t>
            </a:r>
            <a:r>
              <a:rPr lang="ko-KR" altLang="en-US" dirty="0"/>
              <a:t>로 인정받는 것입니다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조달 관점</a:t>
            </a:r>
            <a:r>
              <a:rPr lang="ko-KR" altLang="en-US" dirty="0"/>
              <a:t>에서 가장 큰 차별점은 </a:t>
            </a:r>
            <a:r>
              <a:rPr lang="en-US" altLang="ko-KR" b="1" dirty="0"/>
              <a:t>K9</a:t>
            </a:r>
            <a:r>
              <a:rPr lang="ko-KR" altLang="en-US" b="1" dirty="0"/>
              <a:t>이 실제 납품을 완료한 유일한 플랫폼</a:t>
            </a:r>
            <a:r>
              <a:rPr lang="ko-KR" altLang="en-US" dirty="0"/>
              <a:t>이라는 점입니다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2022~2024</a:t>
            </a:r>
            <a:r>
              <a:rPr lang="ko-KR" altLang="en-US" dirty="0"/>
              <a:t>년까지 폴란드 육군에 수백 대 단위 납품 완료</a:t>
            </a:r>
            <a:r>
              <a:rPr lang="en-US" altLang="ko-KR" dirty="0"/>
              <a:t>, PGZ</a:t>
            </a:r>
            <a:r>
              <a:rPr lang="ko-KR" altLang="en-US" dirty="0"/>
              <a:t>와 조립생산</a:t>
            </a:r>
            <a:r>
              <a:rPr lang="en-US" altLang="ko-KR" dirty="0"/>
              <a:t>, </a:t>
            </a:r>
            <a:r>
              <a:rPr lang="ko-KR" altLang="en-US" dirty="0"/>
              <a:t>유지정비 협약까지 이행 중입니다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이와 달리 </a:t>
            </a:r>
            <a:r>
              <a:rPr lang="ko-KR" altLang="en-US" dirty="0" err="1"/>
              <a:t>팔라딘</a:t>
            </a:r>
            <a:r>
              <a:rPr lang="en-US" altLang="ko-KR" dirty="0"/>
              <a:t>, </a:t>
            </a:r>
            <a:r>
              <a:rPr lang="en-US" altLang="ko-KR" dirty="0" err="1"/>
              <a:t>PzH</a:t>
            </a:r>
            <a:r>
              <a:rPr lang="en-US" altLang="ko-KR" dirty="0"/>
              <a:t>, </a:t>
            </a:r>
            <a:r>
              <a:rPr lang="ko-KR" altLang="en-US" dirty="0"/>
              <a:t>세자르는 납기 지연 또는 의회 승인 문제로 계약 </a:t>
            </a:r>
            <a:r>
              <a:rPr lang="ko-KR" altLang="en-US" dirty="0" err="1"/>
              <a:t>실행률이</a:t>
            </a:r>
            <a:r>
              <a:rPr lang="ko-KR" altLang="en-US" dirty="0"/>
              <a:t> 저조합니다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ko-KR" altLang="en-US" b="1" dirty="0"/>
              <a:t>한국은 기술이전 수용성</a:t>
            </a:r>
            <a:r>
              <a:rPr lang="ko-KR" altLang="en-US" dirty="0"/>
              <a:t>이 높고 </a:t>
            </a:r>
            <a:r>
              <a:rPr lang="ko-KR" altLang="en-US" b="1" dirty="0"/>
              <a:t>정치적 중립국이자 </a:t>
            </a:r>
            <a:r>
              <a:rPr lang="en-US" altLang="ko-KR" b="1" dirty="0"/>
              <a:t>NATO </a:t>
            </a:r>
            <a:r>
              <a:rPr lang="ko-KR" altLang="en-US" b="1" dirty="0"/>
              <a:t>파트너</a:t>
            </a:r>
            <a:r>
              <a:rPr lang="ko-KR" altLang="en-US" dirty="0"/>
              <a:t>로서 </a:t>
            </a:r>
            <a:r>
              <a:rPr lang="ko-KR" altLang="en-US" b="1" dirty="0"/>
              <a:t>지정학적 부담이 적다</a:t>
            </a:r>
            <a:r>
              <a:rPr lang="ko-KR" altLang="en-US" dirty="0"/>
              <a:t>는 점도 폴란드 입장에서는 </a:t>
            </a:r>
            <a:r>
              <a:rPr lang="ko-KR" altLang="en-US" b="1" dirty="0"/>
              <a:t>공급 다변화 및 실전 준비성</a:t>
            </a:r>
            <a:r>
              <a:rPr lang="ko-KR" altLang="en-US" dirty="0"/>
              <a:t>을 동시에 만족시켜주는 파트너라는 인식을 </a:t>
            </a:r>
            <a:r>
              <a:rPr lang="ko-KR" altLang="en-US" dirty="0" err="1"/>
              <a:t>강화시키고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 </a:t>
            </a:r>
            <a:r>
              <a:rPr lang="en-US" altLang="ko-KR" dirty="0"/>
              <a:t>K9</a:t>
            </a:r>
            <a:r>
              <a:rPr lang="ko-KR" altLang="en-US" dirty="0"/>
              <a:t>은 </a:t>
            </a:r>
            <a:r>
              <a:rPr lang="ko-KR" altLang="en-US" b="1" dirty="0"/>
              <a:t>기술력 </a:t>
            </a:r>
            <a:r>
              <a:rPr lang="en-US" altLang="ko-KR" b="1" dirty="0"/>
              <a:t>+ </a:t>
            </a:r>
            <a:r>
              <a:rPr lang="ko-KR" altLang="en-US" b="1" dirty="0"/>
              <a:t>통합 패키지 </a:t>
            </a:r>
            <a:r>
              <a:rPr lang="en-US" altLang="ko-KR" b="1" dirty="0"/>
              <a:t>+ </a:t>
            </a:r>
            <a:r>
              <a:rPr lang="ko-KR" altLang="en-US" b="1" dirty="0"/>
              <a:t>빠른 납기 </a:t>
            </a:r>
            <a:r>
              <a:rPr lang="en-US" altLang="ko-KR" b="1" dirty="0"/>
              <a:t>+ </a:t>
            </a:r>
            <a:r>
              <a:rPr lang="ko-KR" altLang="en-US" b="1" dirty="0"/>
              <a:t>실전 경험</a:t>
            </a:r>
            <a:r>
              <a:rPr lang="ko-KR" altLang="en-US" dirty="0"/>
              <a:t>이라는 </a:t>
            </a:r>
            <a:r>
              <a:rPr lang="en-US" altLang="ko-KR" dirty="0"/>
              <a:t>4</a:t>
            </a:r>
            <a:r>
              <a:rPr lang="ko-KR" altLang="en-US" dirty="0"/>
              <a:t>박자를 충족하면서도</a:t>
            </a:r>
            <a:r>
              <a:rPr lang="en-US" altLang="ko-KR" dirty="0"/>
              <a:t>, </a:t>
            </a:r>
            <a:r>
              <a:rPr lang="ko-KR" altLang="en-US" dirty="0"/>
              <a:t>경쟁사 대비 </a:t>
            </a:r>
            <a:r>
              <a:rPr lang="ko-KR" altLang="en-US" b="1" dirty="0"/>
              <a:t>효율적인 단가와 파트너십 유연성</a:t>
            </a:r>
            <a:r>
              <a:rPr lang="ko-KR" altLang="en-US" dirty="0"/>
              <a:t>을 갖춘 자주포로 평가되고 있습니다</a:t>
            </a:r>
            <a:r>
              <a:rPr lang="en-US" altLang="ko-KR" dirty="0"/>
              <a:t>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4381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“이 그래프는 기술력</a:t>
            </a:r>
            <a:r>
              <a:rPr lang="en-US" altLang="ko-KR" dirty="0"/>
              <a:t>, </a:t>
            </a:r>
            <a:r>
              <a:rPr lang="ko-KR" altLang="en-US" dirty="0"/>
              <a:t>납기</a:t>
            </a:r>
            <a:r>
              <a:rPr lang="en-US" altLang="ko-KR" dirty="0"/>
              <a:t>, </a:t>
            </a:r>
            <a:r>
              <a:rPr lang="ko-KR" altLang="en-US" dirty="0"/>
              <a:t>지정학적 미묘함</a:t>
            </a:r>
            <a:r>
              <a:rPr lang="en-US" altLang="ko-KR" dirty="0"/>
              <a:t>, </a:t>
            </a:r>
            <a:r>
              <a:rPr lang="ko-KR" altLang="en-US" dirty="0"/>
              <a:t>가격</a:t>
            </a:r>
            <a:r>
              <a:rPr lang="en-US" altLang="ko-KR" dirty="0"/>
              <a:t>, </a:t>
            </a:r>
            <a:r>
              <a:rPr lang="ko-KR" altLang="en-US" dirty="0"/>
              <a:t>기술이전</a:t>
            </a:r>
            <a:r>
              <a:rPr lang="en-US" altLang="ko-KR" dirty="0"/>
              <a:t>/</a:t>
            </a:r>
            <a:r>
              <a:rPr lang="ko-KR" altLang="en-US" dirty="0"/>
              <a:t>산업협력의 </a:t>
            </a:r>
            <a:r>
              <a:rPr lang="en-US" altLang="ko-KR" dirty="0"/>
              <a:t>5</a:t>
            </a:r>
            <a:r>
              <a:rPr lang="ko-KR" altLang="en-US" dirty="0"/>
              <a:t>가지 항목을 기준으로 </a:t>
            </a:r>
            <a:r>
              <a:rPr lang="en-US" altLang="ko-KR" dirty="0"/>
              <a:t>4</a:t>
            </a:r>
            <a:r>
              <a:rPr lang="ko-KR" altLang="en-US" dirty="0"/>
              <a:t>개국 주요 방산 경쟁국을 비교한 결과입니다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기술력</a:t>
            </a:r>
            <a:r>
              <a:rPr lang="ko-KR" altLang="en-US" dirty="0"/>
              <a:t>은 미국이 우위지만</a:t>
            </a:r>
            <a:r>
              <a:rPr lang="en-US" altLang="ko-KR" dirty="0"/>
              <a:t>, </a:t>
            </a:r>
            <a:r>
              <a:rPr lang="ko-KR" altLang="en-US" dirty="0"/>
              <a:t>한국도 검증된 </a:t>
            </a:r>
            <a:r>
              <a:rPr lang="en-US" altLang="ko-KR" dirty="0"/>
              <a:t>K9 </a:t>
            </a:r>
            <a:r>
              <a:rPr lang="ko-KR" altLang="en-US" dirty="0"/>
              <a:t>플랫폼을 통해 충분히 경쟁 가능합니다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납기</a:t>
            </a:r>
            <a:r>
              <a:rPr lang="ko-KR" altLang="en-US" dirty="0"/>
              <a:t>는 한국이 압도적입니다</a:t>
            </a:r>
            <a:r>
              <a:rPr lang="en-US" altLang="ko-KR" dirty="0"/>
              <a:t>. 2022~2024</a:t>
            </a:r>
            <a:r>
              <a:rPr lang="ko-KR" altLang="en-US" dirty="0"/>
              <a:t>년 실 납품 완료 사례가 납기 이슈를 겪고 있는 </a:t>
            </a:r>
            <a:r>
              <a:rPr lang="ko-KR" altLang="en-US" dirty="0" err="1"/>
              <a:t>팔라딘</a:t>
            </a:r>
            <a:r>
              <a:rPr lang="en-US" altLang="ko-KR" dirty="0"/>
              <a:t>·</a:t>
            </a:r>
            <a:r>
              <a:rPr lang="en-US" altLang="ko-KR" dirty="0" err="1"/>
              <a:t>PzH</a:t>
            </a:r>
            <a:r>
              <a:rPr lang="en-US" altLang="ko-KR" dirty="0"/>
              <a:t>·</a:t>
            </a:r>
            <a:r>
              <a:rPr lang="ko-KR" altLang="en-US" dirty="0" err="1"/>
              <a:t>세자르</a:t>
            </a:r>
            <a:r>
              <a:rPr lang="en-US" altLang="ko-KR" dirty="0"/>
              <a:t> </a:t>
            </a:r>
            <a:r>
              <a:rPr lang="ko-KR" altLang="en-US" dirty="0"/>
              <a:t>대비 큰 강점입니다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지정학적 미묘함의 경우</a:t>
            </a:r>
            <a:r>
              <a:rPr lang="en-US" altLang="ko-KR" b="1" dirty="0"/>
              <a:t>, </a:t>
            </a:r>
            <a:r>
              <a:rPr lang="ko-KR" altLang="en-US" dirty="0"/>
              <a:t>한국은 동북아 정세에서는 지정학적 위험이 상당하지만</a:t>
            </a:r>
            <a:r>
              <a:rPr lang="en-US" altLang="ko-KR" dirty="0"/>
              <a:t>, </a:t>
            </a:r>
            <a:r>
              <a:rPr lang="ko-KR" altLang="en-US" dirty="0"/>
              <a:t>유럽대륙에서의 한국은 상황이 많이 다릅니다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NATO </a:t>
            </a:r>
            <a:r>
              <a:rPr lang="ko-KR" altLang="en-US" dirty="0"/>
              <a:t>외곽에 있지만 중립적이고 정치적 부담이 적어 평가가 높습니다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가격</a:t>
            </a:r>
            <a:r>
              <a:rPr lang="ko-KR" altLang="en-US" dirty="0"/>
              <a:t>은 한국이 </a:t>
            </a:r>
            <a:r>
              <a:rPr lang="ko-KR" altLang="en-US" dirty="0" err="1"/>
              <a:t>팔라딘보다</a:t>
            </a:r>
            <a:r>
              <a:rPr lang="ko-KR" altLang="en-US" dirty="0"/>
              <a:t> 낮고 세자르보다 성능 대비 효율성이 우수한 수준입니다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마지막으로 </a:t>
            </a:r>
            <a:r>
              <a:rPr lang="ko-KR" altLang="en-US" b="1" dirty="0"/>
              <a:t>기술이전 및 산업협력</a:t>
            </a:r>
            <a:r>
              <a:rPr lang="ko-KR" altLang="en-US" dirty="0"/>
              <a:t>은 한국만이 폴란드와 실질적인 공동생산 계약을 이행하고 있다는 점에서 가장 높은 점수를 받았습니다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종합하면 한국은 납기</a:t>
            </a:r>
            <a:r>
              <a:rPr lang="en-US" altLang="ko-KR" dirty="0"/>
              <a:t>·</a:t>
            </a:r>
            <a:r>
              <a:rPr lang="ko-KR" altLang="en-US" dirty="0"/>
              <a:t>기술협력</a:t>
            </a:r>
            <a:r>
              <a:rPr lang="en-US" altLang="ko-KR" dirty="0"/>
              <a:t>·</a:t>
            </a:r>
            <a:r>
              <a:rPr lang="ko-KR" altLang="en-US" dirty="0"/>
              <a:t>정치적 중립성 등 실전형 조달 요건에서 탁월한 경쟁 우위를 확보하고 있습니다</a:t>
            </a:r>
            <a:r>
              <a:rPr lang="en-US" altLang="ko-KR" dirty="0"/>
              <a:t>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9517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폴란드의 방산 산업은 전통적으로 국유 중심의 구조를 가져왔습니다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냉전기에는 국내 수요를 충당하기 위해 정부 산하 국영 방산공장들이 소련 기술에 기반한 무기를 생산하였으나</a:t>
            </a:r>
            <a:r>
              <a:rPr lang="en-US" altLang="ko-KR" dirty="0"/>
              <a:t>, </a:t>
            </a:r>
            <a:r>
              <a:rPr lang="ko-KR" altLang="en-US" dirty="0"/>
              <a:t>현대화된 첨단무기 기술은 부족한 형편이었습니다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2015</a:t>
            </a:r>
            <a:r>
              <a:rPr lang="ko-KR" altLang="en-US" dirty="0"/>
              <a:t>년 폴란드 정부는 국방 산업 재편을 위해 다수의 국영 기업을 통합하여 </a:t>
            </a:r>
            <a:r>
              <a:rPr lang="en-US" altLang="ko-KR" dirty="0"/>
              <a:t>PGZ</a:t>
            </a:r>
            <a:r>
              <a:rPr lang="ko-KR" altLang="en-US" dirty="0"/>
              <a:t>라는 거대 방산지주 회사를 설립하였습니다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PGZ </a:t>
            </a:r>
            <a:r>
              <a:rPr lang="ko-KR" altLang="en-US" dirty="0"/>
              <a:t>그룹은 현재 전차</a:t>
            </a:r>
            <a:r>
              <a:rPr lang="en-US" altLang="ko-KR" dirty="0"/>
              <a:t>, </a:t>
            </a:r>
            <a:r>
              <a:rPr lang="ko-KR" altLang="en-US" dirty="0" err="1"/>
              <a:t>자주포</a:t>
            </a:r>
            <a:r>
              <a:rPr lang="en-US" altLang="ko-KR" dirty="0"/>
              <a:t>, </a:t>
            </a:r>
            <a:r>
              <a:rPr lang="ko-KR" altLang="en-US" dirty="0"/>
              <a:t>미사일</a:t>
            </a:r>
            <a:r>
              <a:rPr lang="en-US" altLang="ko-KR" dirty="0"/>
              <a:t>, </a:t>
            </a:r>
            <a:r>
              <a:rPr lang="ko-KR" altLang="en-US" dirty="0"/>
              <a:t>함정</a:t>
            </a:r>
            <a:r>
              <a:rPr lang="en-US" altLang="ko-KR" dirty="0"/>
              <a:t>, </a:t>
            </a:r>
            <a:r>
              <a:rPr lang="ko-KR" altLang="en-US" dirty="0"/>
              <a:t>전자장비 등 다양한 분야에서 약 </a:t>
            </a:r>
            <a:r>
              <a:rPr lang="en-US" altLang="ko-KR" dirty="0"/>
              <a:t>50</a:t>
            </a:r>
            <a:r>
              <a:rPr lang="ko-KR" altLang="en-US" dirty="0"/>
              <a:t>여 개 방산 자회사를 거느리고 있으며</a:t>
            </a:r>
            <a:r>
              <a:rPr lang="en-US" altLang="ko-KR" dirty="0"/>
              <a:t>, </a:t>
            </a:r>
            <a:r>
              <a:rPr lang="ko-KR" altLang="en-US" dirty="0"/>
              <a:t>폴란드 방산 생산의 상당 부분을 차지하고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그러나</a:t>
            </a:r>
            <a:r>
              <a:rPr lang="en-US" altLang="ko-KR" dirty="0"/>
              <a:t>,</a:t>
            </a:r>
            <a:r>
              <a:rPr lang="ko-KR" altLang="en-US" dirty="0"/>
              <a:t> 그 규모나 기술력 면에서 미국</a:t>
            </a:r>
            <a:r>
              <a:rPr lang="en-US" altLang="ko-KR" dirty="0"/>
              <a:t>·</a:t>
            </a:r>
            <a:r>
              <a:rPr lang="ko-KR" altLang="en-US" dirty="0"/>
              <a:t>서유럽의 </a:t>
            </a:r>
            <a:r>
              <a:rPr lang="en-US" altLang="ko-KR" dirty="0"/>
              <a:t>‘</a:t>
            </a:r>
            <a:r>
              <a:rPr lang="ko-KR" altLang="en-US" dirty="0" err="1"/>
              <a:t>록히드마틴</a:t>
            </a:r>
            <a:r>
              <a:rPr lang="en-US" altLang="ko-KR" dirty="0"/>
              <a:t>’, ‘</a:t>
            </a:r>
            <a:r>
              <a:rPr lang="ko-KR" altLang="en-US" dirty="0" err="1"/>
              <a:t>레이시온</a:t>
            </a:r>
            <a:r>
              <a:rPr lang="en-US" altLang="ko-KR" dirty="0"/>
              <a:t>’, ‘BAE’ </a:t>
            </a:r>
            <a:r>
              <a:rPr lang="ko-KR" altLang="en-US" dirty="0"/>
              <a:t>등 거대 방산기업들과 비교하면 아직 열세에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폴란드 방산 산업구조의 특징은 정부의 역할이 지배적이라는 점입니다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국방부와 군비청이 주요 무기 취득의 결정권을 갖고</a:t>
            </a:r>
            <a:r>
              <a:rPr lang="en-US" altLang="ko-KR" dirty="0"/>
              <a:t>, PGZ </a:t>
            </a:r>
            <a:r>
              <a:rPr lang="ko-KR" altLang="en-US" dirty="0"/>
              <a:t>등 국내 기업과 해외 공급업체 간 산업협력 조건을 조율합니다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국내 산업 보호를 위해 가급적 국내 생산이나 기술이전이 수반되는 계약을 선호하며</a:t>
            </a:r>
            <a:r>
              <a:rPr lang="en-US" altLang="ko-KR" dirty="0"/>
              <a:t>, </a:t>
            </a:r>
            <a:r>
              <a:rPr lang="ko-KR" altLang="en-US" dirty="0"/>
              <a:t>해외 </a:t>
            </a:r>
            <a:r>
              <a:rPr lang="ko-KR" altLang="en-US" dirty="0" err="1"/>
              <a:t>직구매</a:t>
            </a:r>
            <a:r>
              <a:rPr lang="en-US" altLang="ko-KR" dirty="0"/>
              <a:t> </a:t>
            </a:r>
            <a:r>
              <a:rPr lang="ko-KR" altLang="en-US" dirty="0"/>
              <a:t>등은 제한적으로 활용합니다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예를 들어</a:t>
            </a:r>
            <a:r>
              <a:rPr lang="en-US" altLang="ko-KR" dirty="0"/>
              <a:t>,</a:t>
            </a:r>
            <a:r>
              <a:rPr lang="ko-KR" altLang="en-US" dirty="0"/>
              <a:t> 폴란드는 한국과의 대규모 무기 계약에서도 </a:t>
            </a:r>
            <a:r>
              <a:rPr lang="en-US" altLang="ko-KR" dirty="0"/>
              <a:t>1</a:t>
            </a:r>
            <a:r>
              <a:rPr lang="ko-KR" altLang="en-US" dirty="0"/>
              <a:t>차로 신속히 완제품을 도입하되</a:t>
            </a:r>
            <a:r>
              <a:rPr lang="en-US" altLang="ko-KR" dirty="0"/>
              <a:t>, 2</a:t>
            </a:r>
            <a:r>
              <a:rPr lang="ko-KR" altLang="en-US" dirty="0"/>
              <a:t>차 단계부터는 현지 생산라인 구축과 공동생산을 포함하는 구조로 설계했습니다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이는 국내 방산 기반을 강화하면서도 해외 기술을 들여오는 전략이라 할 수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이러한 구조 덕분에 폴란드의 방산업은 러</a:t>
            </a:r>
            <a:r>
              <a:rPr lang="en-US" altLang="ko-KR" dirty="0"/>
              <a:t>-</a:t>
            </a:r>
            <a:r>
              <a:rPr lang="ko-KR" altLang="en-US" dirty="0"/>
              <a:t>우 전쟁 이후 외부 협력을 통한 급성장 기회를 맞았고</a:t>
            </a:r>
            <a:r>
              <a:rPr lang="en-US" altLang="ko-KR" dirty="0"/>
              <a:t>,</a:t>
            </a:r>
            <a:r>
              <a:rPr lang="ko-KR" altLang="en-US" dirty="0"/>
              <a:t>한국</a:t>
            </a:r>
            <a:r>
              <a:rPr lang="en-US" altLang="ko-KR" dirty="0"/>
              <a:t>, </a:t>
            </a:r>
            <a:r>
              <a:rPr lang="ko-KR" altLang="en-US" dirty="0"/>
              <a:t>미국 등으로부터 첨단 장비를 들여오면서</a:t>
            </a:r>
            <a:r>
              <a:rPr lang="en-US" altLang="ko-KR" dirty="0"/>
              <a:t>, </a:t>
            </a:r>
            <a:r>
              <a:rPr lang="ko-KR" altLang="en-US" dirty="0"/>
              <a:t>한편으로 현지 공장에서 면허를 생산하거나 일부 부품을 국산화하여 자국 생산능력을 높이고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글로벌 방산산업 구조 측면에서 볼 때</a:t>
            </a:r>
            <a:r>
              <a:rPr lang="en-US" altLang="ko-KR" dirty="0"/>
              <a:t>, </a:t>
            </a:r>
            <a:r>
              <a:rPr lang="ko-KR" altLang="en-US" dirty="0"/>
              <a:t>폴란드 시장은 매우 거대화되고 경쟁적인 수입시장으로 분류됩니다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2022~2025</a:t>
            </a:r>
            <a:r>
              <a:rPr lang="ko-KR" altLang="en-US" dirty="0"/>
              <a:t>년 폴란드가 체결했거나 추진 중인 무기 도입 계약 규모는 수백억 달러에 달하며</a:t>
            </a:r>
            <a:r>
              <a:rPr lang="en-US" altLang="ko-KR" dirty="0"/>
              <a:t>, </a:t>
            </a:r>
            <a:r>
              <a:rPr lang="ko-KR" altLang="en-US" dirty="0"/>
              <a:t>이는 세계에서 가장 빠르게 성장하는 방산 시장 중 하나입니다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그러나</a:t>
            </a:r>
            <a:r>
              <a:rPr lang="en-US" altLang="ko-KR" dirty="0"/>
              <a:t>,</a:t>
            </a:r>
            <a:r>
              <a:rPr lang="ko-KR" altLang="en-US" dirty="0"/>
              <a:t> 공급 측에서는 진입장벽이 높은 과점 시장의 특징을 가지고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첨단 방산 기술은 소수 국가와 기업에 집중되어 있고</a:t>
            </a:r>
            <a:r>
              <a:rPr lang="en-US" altLang="ko-KR" dirty="0"/>
              <a:t>, </a:t>
            </a:r>
            <a:r>
              <a:rPr lang="ko-KR" altLang="en-US" dirty="0"/>
              <a:t>구매자인 폴란드 정부가 가격</a:t>
            </a:r>
            <a:r>
              <a:rPr lang="en-US" altLang="ko-KR" dirty="0"/>
              <a:t>, </a:t>
            </a:r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기술이전과 같은 엄격한 조건을 제시하기 때문에 아무 기업이나 참여할 수 없습니다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이러한 구조적 특성상 폴란드 방산시장에서 국가 간 전략적 협력이 기업 간 경쟁만큼이나 중요한 역할을 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정리하면 폴란드 방산 산업구조는 국내 국영기업을 축으로 하면서 해외 선진기업의 기술과 제품을 도입하여</a:t>
            </a:r>
            <a:r>
              <a:rPr lang="en-US" altLang="ko-KR" dirty="0"/>
              <a:t>,</a:t>
            </a:r>
            <a:r>
              <a:rPr lang="ko-KR" altLang="en-US" dirty="0"/>
              <a:t> 하이브리드 형태로 발전하고 있습니다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정부의 의지가 강하게 반영되는 정책 주도형 산업구조이며</a:t>
            </a:r>
            <a:r>
              <a:rPr lang="en-US" altLang="ko-KR" dirty="0"/>
              <a:t>, </a:t>
            </a:r>
            <a:r>
              <a:rPr lang="ko-KR" altLang="en-US" dirty="0"/>
              <a:t>이에 따라 한국 기업 역시 정부 대 정부 협력채널을 통해 시장에 접근하는 전략이 필수적입니다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321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기존 경쟁자 간 경쟁</a:t>
            </a:r>
            <a:r>
              <a:rPr lang="en-US" altLang="ko-KR" dirty="0"/>
              <a:t>: </a:t>
            </a:r>
            <a:r>
              <a:rPr lang="ko-KR" altLang="en-US" dirty="0"/>
              <a:t>폴란드 방산 조달을 둘러싼 </a:t>
            </a:r>
            <a:r>
              <a:rPr lang="ko-KR" altLang="en-US" b="1" dirty="0"/>
              <a:t>국제 방산업체들의 경쟁이 매우 치열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미국</a:t>
            </a:r>
            <a:r>
              <a:rPr lang="en-US" altLang="ko-KR" dirty="0"/>
              <a:t>, </a:t>
            </a:r>
            <a:r>
              <a:rPr lang="ko-KR" altLang="en-US" dirty="0"/>
              <a:t>독일</a:t>
            </a:r>
            <a:r>
              <a:rPr lang="en-US" altLang="ko-KR" dirty="0"/>
              <a:t>, </a:t>
            </a:r>
            <a:r>
              <a:rPr lang="ko-KR" altLang="en-US" dirty="0"/>
              <a:t>프랑스</a:t>
            </a:r>
            <a:r>
              <a:rPr lang="en-US" altLang="ko-KR" dirty="0"/>
              <a:t>, </a:t>
            </a:r>
            <a:r>
              <a:rPr lang="ko-KR" altLang="en-US" dirty="0"/>
              <a:t>영국</a:t>
            </a:r>
            <a:r>
              <a:rPr lang="en-US" altLang="ko-KR" dirty="0"/>
              <a:t>, </a:t>
            </a:r>
            <a:r>
              <a:rPr lang="ko-KR" altLang="en-US" dirty="0"/>
              <a:t>한국 등 주요 수출국들은 폴란드의 대형 계약을 </a:t>
            </a:r>
            <a:r>
              <a:rPr lang="ko-KR" altLang="en-US" dirty="0" err="1"/>
              <a:t>따내기</a:t>
            </a:r>
            <a:r>
              <a:rPr lang="ko-KR" altLang="en-US" dirty="0"/>
              <a:t> 위해 경합하며</a:t>
            </a:r>
            <a:r>
              <a:rPr lang="en-US" altLang="ko-KR" dirty="0"/>
              <a:t>, </a:t>
            </a:r>
            <a:r>
              <a:rPr lang="ko-KR" altLang="en-US" b="1" dirty="0"/>
              <a:t>정치</a:t>
            </a:r>
            <a:r>
              <a:rPr lang="en-US" altLang="ko-KR" b="1" dirty="0"/>
              <a:t>·</a:t>
            </a:r>
            <a:r>
              <a:rPr lang="ko-KR" altLang="en-US" b="1" dirty="0"/>
              <a:t>외교적 영향력까지 동원한 경쟁</a:t>
            </a:r>
            <a:r>
              <a:rPr lang="ko-KR" altLang="en-US" dirty="0"/>
              <a:t>이 벌어지곤 합니다</a:t>
            </a:r>
            <a:r>
              <a:rPr lang="en-US" altLang="ko-KR" dirty="0"/>
              <a:t>. </a:t>
            </a:r>
            <a:r>
              <a:rPr lang="ko-KR" altLang="en-US" dirty="0"/>
              <a:t>예컨대 </a:t>
            </a:r>
            <a:r>
              <a:rPr lang="ko-KR" altLang="en-US" b="1" dirty="0"/>
              <a:t>노르웨이 전차 사업</a:t>
            </a:r>
            <a:r>
              <a:rPr lang="ko-KR" altLang="en-US" dirty="0"/>
              <a:t>에서 한국 </a:t>
            </a:r>
            <a:r>
              <a:rPr lang="en-US" altLang="ko-KR" dirty="0"/>
              <a:t>K2</a:t>
            </a:r>
            <a:r>
              <a:rPr lang="ko-KR" altLang="en-US" dirty="0"/>
              <a:t>전차가 독일 </a:t>
            </a:r>
            <a:r>
              <a:rPr lang="en-US" altLang="ko-KR" dirty="0"/>
              <a:t>Leopard2</a:t>
            </a:r>
            <a:r>
              <a:rPr lang="ko-KR" altLang="en-US" dirty="0"/>
              <a:t>에 패배한 배경에는 </a:t>
            </a:r>
            <a:r>
              <a:rPr lang="en-US" altLang="ko-KR" b="1" dirty="0"/>
              <a:t>NATO </a:t>
            </a:r>
            <a:r>
              <a:rPr lang="ko-KR" altLang="en-US" b="1" dirty="0"/>
              <a:t>회원국 간 연대와 신뢰관계</a:t>
            </a:r>
            <a:r>
              <a:rPr lang="ko-KR" altLang="en-US" dirty="0"/>
              <a:t> 등 비가격 요인이 작용했는데</a:t>
            </a:r>
            <a:r>
              <a:rPr lang="en-US" altLang="ko-KR" dirty="0"/>
              <a:t>, </a:t>
            </a:r>
            <a:r>
              <a:rPr lang="ko-KR" altLang="en-US" dirty="0"/>
              <a:t>폴란드 사업에서도 이처럼 </a:t>
            </a:r>
            <a:r>
              <a:rPr lang="ko-KR" altLang="en-US" b="1" dirty="0"/>
              <a:t>동맹 논리</a:t>
            </a:r>
            <a:r>
              <a:rPr lang="ko-KR" altLang="en-US" dirty="0"/>
              <a:t>가 개입될 수 있습니다</a:t>
            </a:r>
            <a:r>
              <a:rPr lang="en-US" altLang="ko-KR" dirty="0"/>
              <a:t>. </a:t>
            </a:r>
            <a:r>
              <a:rPr lang="ko-KR" altLang="en-US" dirty="0"/>
              <a:t>또한 경쟁 국가 간에는 상대 제품에 대한 </a:t>
            </a:r>
            <a:r>
              <a:rPr lang="ko-KR" altLang="en-US" b="1" dirty="0"/>
              <a:t>허위정보 유포나 여론전</a:t>
            </a:r>
            <a:r>
              <a:rPr lang="ko-KR" altLang="en-US" dirty="0"/>
              <a:t>까지 벌어지는 등 </a:t>
            </a:r>
            <a:r>
              <a:rPr lang="ko-KR" altLang="en-US" b="1" dirty="0"/>
              <a:t>산업 내 경쟁강도는 매우 높습니다</a:t>
            </a:r>
            <a:r>
              <a:rPr lang="en-US" altLang="ko-KR" dirty="0"/>
              <a:t>. </a:t>
            </a:r>
            <a:r>
              <a:rPr lang="ko-KR" altLang="en-US" dirty="0"/>
              <a:t>다만 폴란드 정부가 전략적으로 다원화를 추구하여 미국</a:t>
            </a:r>
            <a:r>
              <a:rPr lang="en-US" altLang="ko-KR" dirty="0"/>
              <a:t>, </a:t>
            </a:r>
            <a:r>
              <a:rPr lang="ko-KR" altLang="en-US" dirty="0"/>
              <a:t>한국 등 여러 나라와 동시 협력하고 있어</a:t>
            </a:r>
            <a:r>
              <a:rPr lang="en-US" altLang="ko-KR" dirty="0"/>
              <a:t>, </a:t>
            </a:r>
            <a:r>
              <a:rPr lang="ko-KR" altLang="en-US" dirty="0"/>
              <a:t>특정 한 나라가 독점하기보다는 </a:t>
            </a:r>
            <a:r>
              <a:rPr lang="ko-KR" altLang="en-US" b="1" dirty="0"/>
              <a:t>복수 업체가 시장을 </a:t>
            </a:r>
            <a:r>
              <a:rPr lang="ko-KR" altLang="en-US" b="1" dirty="0" err="1"/>
              <a:t>분점</a:t>
            </a:r>
            <a:r>
              <a:rPr lang="ko-KR" altLang="en-US" dirty="0" err="1"/>
              <a:t>하는</a:t>
            </a:r>
            <a:r>
              <a:rPr lang="ko-KR" altLang="en-US" dirty="0"/>
              <a:t> 양상입니다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잠재 진입자의 위협</a:t>
            </a:r>
            <a:r>
              <a:rPr lang="en-US" altLang="ko-KR" dirty="0"/>
              <a:t>: </a:t>
            </a:r>
            <a:r>
              <a:rPr lang="ko-KR" altLang="en-US" dirty="0"/>
              <a:t>방산 시장은 </a:t>
            </a:r>
            <a:r>
              <a:rPr lang="ko-KR" altLang="en-US" b="1" dirty="0"/>
              <a:t>높은 진입장벽</a:t>
            </a:r>
            <a:r>
              <a:rPr lang="ko-KR" altLang="en-US" dirty="0"/>
              <a:t>으로 신규 기업의 직접 진출은 어렵지만</a:t>
            </a:r>
            <a:r>
              <a:rPr lang="en-US" altLang="ko-KR" dirty="0"/>
              <a:t>, </a:t>
            </a:r>
            <a:r>
              <a:rPr lang="ko-KR" altLang="en-US" dirty="0"/>
              <a:t>국가 단위로 보면 한국</a:t>
            </a:r>
            <a:r>
              <a:rPr lang="en-US" altLang="ko-KR" dirty="0"/>
              <a:t>, </a:t>
            </a:r>
            <a:r>
              <a:rPr lang="ko-KR" altLang="en-US" dirty="0"/>
              <a:t>이스라엘</a:t>
            </a:r>
            <a:r>
              <a:rPr lang="en-US" altLang="ko-KR" dirty="0"/>
              <a:t>, </a:t>
            </a:r>
            <a:r>
              <a:rPr lang="ko-KR" altLang="en-US" dirty="0" err="1"/>
              <a:t>튀르키엘</a:t>
            </a:r>
            <a:r>
              <a:rPr lang="ko-KR" altLang="en-US" dirty="0"/>
              <a:t> 등 신흥 방산국의 부상이 기존 강자들을 위협하고 있습니다</a:t>
            </a:r>
            <a:r>
              <a:rPr lang="en-US" altLang="ko-KR" dirty="0"/>
              <a:t>. </a:t>
            </a:r>
            <a:r>
              <a:rPr lang="ko-KR" altLang="en-US" dirty="0"/>
              <a:t>폴란드의 경우 </a:t>
            </a:r>
            <a:r>
              <a:rPr lang="ko-KR" altLang="en-US" b="1" dirty="0"/>
              <a:t>한국 </a:t>
            </a:r>
            <a:r>
              <a:rPr lang="en-US" altLang="ko-KR" b="1" dirty="0"/>
              <a:t>K-</a:t>
            </a:r>
            <a:r>
              <a:rPr lang="ko-KR" altLang="en-US" b="1" dirty="0"/>
              <a:t>방산이 새로운 공급자로 성공적 진입</a:t>
            </a:r>
            <a:r>
              <a:rPr lang="ko-KR" altLang="en-US" dirty="0"/>
              <a:t>한 대표 사례입니다</a:t>
            </a:r>
            <a:r>
              <a:rPr lang="en-US" altLang="ko-KR" dirty="0"/>
              <a:t>. </a:t>
            </a:r>
            <a:r>
              <a:rPr lang="ko-KR" altLang="en-US" dirty="0"/>
              <a:t>향후에도 </a:t>
            </a:r>
            <a:r>
              <a:rPr lang="ko-KR" altLang="en-US" b="1" dirty="0"/>
              <a:t>체코</a:t>
            </a:r>
            <a:r>
              <a:rPr lang="en-US" altLang="ko-KR" b="1" dirty="0"/>
              <a:t>, </a:t>
            </a:r>
            <a:r>
              <a:rPr lang="ko-KR" altLang="en-US" b="1" dirty="0" err="1"/>
              <a:t>튀르키예</a:t>
            </a:r>
            <a:r>
              <a:rPr lang="ko-KR" altLang="en-US" dirty="0"/>
              <a:t> 등 인근 </a:t>
            </a:r>
            <a:r>
              <a:rPr lang="ko-KR" altLang="en-US" dirty="0" err="1"/>
              <a:t>국가산</a:t>
            </a:r>
            <a:r>
              <a:rPr lang="ko-KR" altLang="en-US" dirty="0"/>
              <a:t> 무기나 </a:t>
            </a:r>
            <a:r>
              <a:rPr lang="ko-KR" altLang="en-US" b="1" dirty="0"/>
              <a:t>이스라엘제 첨단무기</a:t>
            </a:r>
            <a:r>
              <a:rPr lang="ko-KR" altLang="en-US" dirty="0"/>
              <a:t> 등이 진입할 가능성이 있습니다</a:t>
            </a:r>
            <a:r>
              <a:rPr lang="en-US" altLang="ko-KR" dirty="0"/>
              <a:t>. </a:t>
            </a:r>
            <a:r>
              <a:rPr lang="ko-KR" altLang="en-US" dirty="0"/>
              <a:t>그러나 폴란드 정부는 </a:t>
            </a:r>
            <a:r>
              <a:rPr lang="en-US" altLang="ko-KR" b="1" dirty="0"/>
              <a:t>NATO </a:t>
            </a:r>
            <a:r>
              <a:rPr lang="ko-KR" altLang="en-US" b="1" dirty="0"/>
              <a:t>표준</a:t>
            </a:r>
            <a:r>
              <a:rPr lang="ko-KR" altLang="en-US" dirty="0"/>
              <a:t>과 </a:t>
            </a:r>
            <a:r>
              <a:rPr lang="ko-KR" altLang="en-US" b="1" dirty="0"/>
              <a:t>동맹 호환성</a:t>
            </a:r>
            <a:r>
              <a:rPr lang="ko-KR" altLang="en-US" dirty="0"/>
              <a:t>을 중시하므로</a:t>
            </a:r>
            <a:r>
              <a:rPr lang="en-US" altLang="ko-KR" dirty="0"/>
              <a:t>, </a:t>
            </a:r>
            <a:r>
              <a:rPr lang="ko-KR" altLang="en-US" dirty="0"/>
              <a:t>완전히 새로운 국가의 진입 가능성은 매우 낮습니다</a:t>
            </a:r>
            <a:r>
              <a:rPr lang="en-US" altLang="ko-KR" dirty="0"/>
              <a:t>. </a:t>
            </a:r>
            <a:r>
              <a:rPr lang="ko-KR" altLang="en-US" b="1" dirty="0"/>
              <a:t>진입장벽 요소</a:t>
            </a:r>
            <a:r>
              <a:rPr lang="ko-KR" altLang="en-US" dirty="0"/>
              <a:t>로는 막대한 자본과 기술</a:t>
            </a:r>
            <a:r>
              <a:rPr lang="en-US" altLang="ko-KR" dirty="0"/>
              <a:t>, </a:t>
            </a:r>
            <a:r>
              <a:rPr lang="ko-KR" altLang="en-US" dirty="0"/>
              <a:t>정치적 신뢰 등이 있으며</a:t>
            </a:r>
            <a:r>
              <a:rPr lang="en-US" altLang="ko-KR" dirty="0"/>
              <a:t>, </a:t>
            </a:r>
            <a:r>
              <a:rPr lang="ko-KR" altLang="en-US" dirty="0"/>
              <a:t>한국의 진출은 이 요건을 충족한 예로 볼 수 있습니다</a:t>
            </a:r>
            <a:r>
              <a:rPr lang="en-US" altLang="ko-KR" dirty="0"/>
              <a:t>. EU </a:t>
            </a:r>
            <a:r>
              <a:rPr lang="ko-KR" altLang="en-US" dirty="0"/>
              <a:t>차원의 “</a:t>
            </a:r>
            <a:r>
              <a:rPr lang="ko-KR" altLang="en-US" dirty="0" err="1"/>
              <a:t>유럽산</a:t>
            </a:r>
            <a:r>
              <a:rPr lang="ko-KR" altLang="en-US" dirty="0"/>
              <a:t> 무기 우선” 정책도 </a:t>
            </a:r>
            <a:r>
              <a:rPr lang="ko-KR" altLang="en-US" dirty="0" err="1"/>
              <a:t>비유럽</a:t>
            </a:r>
            <a:r>
              <a:rPr lang="ko-KR" altLang="en-US" dirty="0"/>
              <a:t> 국가의 진입장벽을 높이고 있어</a:t>
            </a:r>
            <a:r>
              <a:rPr lang="en-US" altLang="ko-KR" dirty="0"/>
              <a:t>, </a:t>
            </a:r>
            <a:r>
              <a:rPr lang="ko-KR" altLang="en-US" dirty="0"/>
              <a:t>신규 진입자는 </a:t>
            </a:r>
            <a:r>
              <a:rPr lang="ko-KR" altLang="en-US" b="1" dirty="0"/>
              <a:t>현지 생산 등 우회전략</a:t>
            </a:r>
            <a:r>
              <a:rPr lang="ko-KR" altLang="en-US" dirty="0"/>
              <a:t>이 필요합니다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구매자의</a:t>
            </a:r>
            <a:r>
              <a:rPr lang="en-US" altLang="ko-KR" b="1" dirty="0"/>
              <a:t>(</a:t>
            </a:r>
            <a:r>
              <a:rPr lang="ko-KR" altLang="en-US" b="1" dirty="0"/>
              <a:t>폴란드정부</a:t>
            </a:r>
            <a:r>
              <a:rPr lang="en-US" altLang="ko-KR" b="1" dirty="0"/>
              <a:t>)</a:t>
            </a:r>
            <a:r>
              <a:rPr lang="ko-KR" altLang="en-US" b="1" dirty="0"/>
              <a:t> 교섭력</a:t>
            </a:r>
            <a:r>
              <a:rPr lang="en-US" altLang="ko-KR" dirty="0"/>
              <a:t>: </a:t>
            </a:r>
            <a:r>
              <a:rPr lang="ko-KR" altLang="en-US" dirty="0"/>
              <a:t>폴란드 국방부는 </a:t>
            </a:r>
            <a:r>
              <a:rPr lang="ko-KR" altLang="en-US" b="1" dirty="0"/>
              <a:t>매우 큰 구매력과 결정권</a:t>
            </a:r>
            <a:r>
              <a:rPr lang="ko-KR" altLang="en-US" dirty="0"/>
              <a:t>을 지니며</a:t>
            </a:r>
            <a:r>
              <a:rPr lang="en-US" altLang="ko-KR" dirty="0"/>
              <a:t>, </a:t>
            </a:r>
            <a:r>
              <a:rPr lang="ko-KR" altLang="en-US" dirty="0"/>
              <a:t>공급업체들 사이 경쟁이 심한 만큼 </a:t>
            </a:r>
            <a:r>
              <a:rPr lang="ko-KR" altLang="en-US" b="1" dirty="0"/>
              <a:t>구매자 측 협상력도 상당히 높습니다</a:t>
            </a:r>
            <a:r>
              <a:rPr lang="en-US" altLang="ko-KR" dirty="0"/>
              <a:t>. </a:t>
            </a:r>
            <a:r>
              <a:rPr lang="ko-KR" altLang="en-US" dirty="0"/>
              <a:t>폴란드 정부는 이를 활용해 </a:t>
            </a:r>
            <a:r>
              <a:rPr lang="ko-KR" altLang="en-US" b="1" dirty="0"/>
              <a:t>가격 인하</a:t>
            </a:r>
            <a:r>
              <a:rPr lang="en-US" altLang="ko-KR" b="1" dirty="0"/>
              <a:t>, </a:t>
            </a:r>
            <a:r>
              <a:rPr lang="ko-KR" altLang="en-US" b="1" dirty="0"/>
              <a:t>빠른 인도</a:t>
            </a:r>
            <a:r>
              <a:rPr lang="en-US" altLang="ko-KR" b="1" dirty="0"/>
              <a:t>, </a:t>
            </a:r>
            <a:r>
              <a:rPr lang="ko-KR" altLang="en-US" b="1" dirty="0"/>
              <a:t>기술이전</a:t>
            </a:r>
            <a:r>
              <a:rPr lang="en-US" altLang="ko-KR" b="1" dirty="0"/>
              <a:t>, </a:t>
            </a:r>
            <a:r>
              <a:rPr lang="ko-KR" altLang="en-US" b="1" dirty="0"/>
              <a:t>현지생산</a:t>
            </a:r>
            <a:r>
              <a:rPr lang="en-US" altLang="ko-KR" b="1" dirty="0"/>
              <a:t>, </a:t>
            </a:r>
            <a:r>
              <a:rPr lang="ko-KR" altLang="en-US" b="1" dirty="0"/>
              <a:t>후속군수 지원</a:t>
            </a:r>
            <a:r>
              <a:rPr lang="ko-KR" altLang="en-US" dirty="0"/>
              <a:t> 등 여러 조건을 공급자에게 요구하고 있습니다</a:t>
            </a:r>
            <a:r>
              <a:rPr lang="en-US" altLang="ko-KR" dirty="0"/>
              <a:t>. </a:t>
            </a:r>
            <a:r>
              <a:rPr lang="ko-KR" altLang="en-US" dirty="0"/>
              <a:t>예를 들어 한국과의 계약에서도 </a:t>
            </a:r>
            <a:r>
              <a:rPr lang="ko-KR" altLang="en-US" b="1" dirty="0"/>
              <a:t>훈련 패키지</a:t>
            </a:r>
            <a:r>
              <a:rPr lang="en-US" altLang="ko-KR" b="1" dirty="0"/>
              <a:t>, </a:t>
            </a:r>
            <a:r>
              <a:rPr lang="ko-KR" altLang="en-US" b="1" dirty="0"/>
              <a:t>탄약 및 군수지원 포함 총괄 계약</a:t>
            </a:r>
            <a:r>
              <a:rPr lang="ko-KR" altLang="en-US" dirty="0"/>
              <a:t>을 이끌어내어 </a:t>
            </a:r>
            <a:r>
              <a:rPr lang="ko-KR" altLang="en-US" b="1" dirty="0"/>
              <a:t>전체 규모 </a:t>
            </a:r>
            <a:r>
              <a:rPr lang="en-US" altLang="ko-KR" b="1" dirty="0"/>
              <a:t>400</a:t>
            </a:r>
            <a:r>
              <a:rPr lang="ko-KR" altLang="en-US" b="1" dirty="0"/>
              <a:t>억 달러 상당</a:t>
            </a:r>
            <a:r>
              <a:rPr lang="ko-KR" altLang="en-US" dirty="0"/>
              <a:t>의 포괄적 거래를 성사시켰습니다</a:t>
            </a:r>
            <a:r>
              <a:rPr lang="en-US" altLang="ko-KR" dirty="0"/>
              <a:t>. </a:t>
            </a:r>
            <a:r>
              <a:rPr lang="ko-KR" altLang="en-US" dirty="0"/>
              <a:t>또한 미국으로부터 </a:t>
            </a:r>
            <a:r>
              <a:rPr lang="ko-KR" altLang="en-US" dirty="0" err="1"/>
              <a:t>에이브럼스</a:t>
            </a:r>
            <a:r>
              <a:rPr lang="ko-KR" altLang="en-US" dirty="0"/>
              <a:t> 전차를 도입하면서 </a:t>
            </a:r>
            <a:r>
              <a:rPr lang="ko-KR" altLang="en-US" b="1" dirty="0"/>
              <a:t>중고 물량 조기인도와 최신형 후속 인도</a:t>
            </a:r>
            <a:r>
              <a:rPr lang="ko-KR" altLang="en-US" dirty="0"/>
              <a:t>를 결합하는 유리한 조건을 얻었습니다</a:t>
            </a:r>
            <a:r>
              <a:rPr lang="en-US" altLang="ko-KR" dirty="0"/>
              <a:t>. </a:t>
            </a:r>
            <a:r>
              <a:rPr lang="ko-KR" altLang="en-US" dirty="0"/>
              <a:t>다만 </a:t>
            </a:r>
            <a:r>
              <a:rPr lang="ko-KR" altLang="en-US" b="1" dirty="0"/>
              <a:t>대체 공급자 선택지가 제한</a:t>
            </a:r>
            <a:r>
              <a:rPr lang="ko-KR" altLang="en-US" dirty="0"/>
              <a:t>되는 전략무기분야에서는 폴란드의 협상력이 상대적으로 낮고 공급자 주도 계약을 수용하기도 합니다</a:t>
            </a:r>
            <a:r>
              <a:rPr lang="en-US" altLang="ko-KR" dirty="0"/>
              <a:t>. </a:t>
            </a:r>
            <a:r>
              <a:rPr lang="ko-KR" altLang="en-US" dirty="0"/>
              <a:t>종합하면</a:t>
            </a:r>
            <a:r>
              <a:rPr lang="en-US" altLang="ko-KR" dirty="0"/>
              <a:t>, </a:t>
            </a:r>
            <a:r>
              <a:rPr lang="ko-KR" altLang="en-US" b="1" dirty="0"/>
              <a:t>폴란드 정부는 다수 공급국을 저울질하며</a:t>
            </a:r>
            <a:r>
              <a:rPr lang="ko-KR" altLang="en-US" dirty="0"/>
              <a:t> 상당한 협상력을 행사하지만</a:t>
            </a:r>
            <a:r>
              <a:rPr lang="en-US" altLang="ko-KR" dirty="0"/>
              <a:t>, </a:t>
            </a:r>
            <a:r>
              <a:rPr lang="ko-KR" altLang="en-US" b="1" dirty="0"/>
              <a:t>일부 필수무기는 특정국에 의존</a:t>
            </a:r>
            <a:r>
              <a:rPr lang="ko-KR" altLang="en-US" dirty="0"/>
              <a:t>하는 상황입니다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공급자</a:t>
            </a:r>
            <a:r>
              <a:rPr lang="en-US" altLang="ko-KR" b="1" dirty="0"/>
              <a:t>(</a:t>
            </a:r>
            <a:r>
              <a:rPr lang="ko-KR" altLang="en-US" b="1" dirty="0"/>
              <a:t>방산업체</a:t>
            </a:r>
            <a:r>
              <a:rPr lang="en-US" altLang="ko-KR" b="1" dirty="0"/>
              <a:t>) </a:t>
            </a:r>
            <a:r>
              <a:rPr lang="ko-KR" altLang="en-US" b="1" dirty="0"/>
              <a:t>교섭력</a:t>
            </a:r>
            <a:r>
              <a:rPr lang="en-US" altLang="ko-KR" dirty="0"/>
              <a:t>: </a:t>
            </a:r>
            <a:r>
              <a:rPr lang="ko-KR" altLang="en-US" dirty="0"/>
              <a:t>일반적으로 개별 무기체계는 </a:t>
            </a:r>
            <a:r>
              <a:rPr lang="ko-KR" altLang="en-US" b="1" dirty="0"/>
              <a:t>대체재가 제한적</a:t>
            </a:r>
            <a:r>
              <a:rPr lang="ko-KR" altLang="en-US" dirty="0"/>
              <a:t>이어서</a:t>
            </a:r>
            <a:r>
              <a:rPr lang="en-US" altLang="ko-KR" dirty="0"/>
              <a:t>, </a:t>
            </a:r>
            <a:r>
              <a:rPr lang="ko-KR" altLang="en-US" dirty="0"/>
              <a:t>특정 분야 선도기업의 협상력은 높습니다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ko-KR" altLang="en-US" b="1" dirty="0" err="1"/>
              <a:t>스텔스</a:t>
            </a:r>
            <a:r>
              <a:rPr lang="ko-KR" altLang="en-US" b="1" dirty="0"/>
              <a:t> 전투기</a:t>
            </a:r>
            <a:r>
              <a:rPr lang="ko-KR" altLang="en-US" dirty="0"/>
              <a:t>는 미국 </a:t>
            </a:r>
            <a:r>
              <a:rPr lang="en-US" altLang="ko-KR" dirty="0"/>
              <a:t>F-35</a:t>
            </a:r>
            <a:r>
              <a:rPr lang="ko-KR" altLang="en-US" dirty="0"/>
              <a:t>가 독보적이어서 공급자 우위 계약이 됩니다</a:t>
            </a:r>
            <a:r>
              <a:rPr lang="en-US" altLang="ko-KR" dirty="0"/>
              <a:t>. </a:t>
            </a:r>
            <a:r>
              <a:rPr lang="ko-KR" altLang="en-US" b="1" dirty="0"/>
              <a:t>첨단 레이더</a:t>
            </a:r>
            <a:r>
              <a:rPr lang="en-US" altLang="ko-KR" b="1" dirty="0"/>
              <a:t>, </a:t>
            </a:r>
            <a:r>
              <a:rPr lang="ko-KR" altLang="en-US" b="1" dirty="0"/>
              <a:t>미사일 등</a:t>
            </a:r>
            <a:r>
              <a:rPr lang="ko-KR" altLang="en-US" dirty="0"/>
              <a:t>도 서방 몇몇 기업만 기술을 보유하여 그들의 조건을 폴란드가 수용해야 합니다</a:t>
            </a:r>
            <a:r>
              <a:rPr lang="en-US" altLang="ko-KR" dirty="0"/>
              <a:t>. </a:t>
            </a:r>
            <a:r>
              <a:rPr lang="ko-KR" altLang="en-US" dirty="0"/>
              <a:t>그러나 폴란드의 대규모 사업은 여러 글로벌 업체들이 </a:t>
            </a:r>
            <a:r>
              <a:rPr lang="ko-KR" altLang="en-US" b="1" dirty="0"/>
              <a:t>수주 경쟁</a:t>
            </a:r>
            <a:r>
              <a:rPr lang="ko-KR" altLang="en-US" dirty="0"/>
              <a:t>을 벌이므로</a:t>
            </a:r>
            <a:r>
              <a:rPr lang="en-US" altLang="ko-KR" dirty="0"/>
              <a:t>, </a:t>
            </a:r>
            <a:r>
              <a:rPr lang="ko-KR" altLang="en-US" dirty="0"/>
              <a:t>공급자 교섭력은 그들 사이의 경쟁으로 제한되는 측면이 있습니다</a:t>
            </a:r>
            <a:r>
              <a:rPr lang="en-US" altLang="ko-KR" dirty="0"/>
              <a:t>. </a:t>
            </a:r>
            <a:r>
              <a:rPr lang="ko-KR" altLang="en-US" dirty="0"/>
              <a:t>또한 폴란드가 요구하는 </a:t>
            </a:r>
            <a:r>
              <a:rPr lang="ko-KR" altLang="en-US" b="1" dirty="0"/>
              <a:t>기술이전과 현지 조립</a:t>
            </a:r>
            <a:r>
              <a:rPr lang="ko-KR" altLang="en-US" dirty="0"/>
              <a:t>은 사실상 공급자가 독점적으로 행사해온 지식재산에 대한 양보를 뜻하기에</a:t>
            </a:r>
            <a:r>
              <a:rPr lang="en-US" altLang="ko-KR" dirty="0"/>
              <a:t>, </a:t>
            </a:r>
            <a:r>
              <a:rPr lang="ko-KR" altLang="en-US" dirty="0"/>
              <a:t>이를 두고 협상이 치열합니다</a:t>
            </a:r>
            <a:r>
              <a:rPr lang="en-US" altLang="ko-KR" dirty="0"/>
              <a:t>. </a:t>
            </a:r>
            <a:r>
              <a:rPr lang="ko-KR" altLang="en-US" dirty="0"/>
              <a:t>한국 기업들은 </a:t>
            </a:r>
            <a:r>
              <a:rPr lang="ko-KR" altLang="en-US" b="1" dirty="0"/>
              <a:t>적극적 기술이전 의지</a:t>
            </a:r>
            <a:r>
              <a:rPr lang="ko-KR" altLang="en-US" dirty="0"/>
              <a:t>를 보여 폴란드에 매력적인 공급자가 되었으며</a:t>
            </a:r>
            <a:r>
              <a:rPr lang="en-US" altLang="ko-KR" dirty="0"/>
              <a:t>, </a:t>
            </a:r>
            <a:r>
              <a:rPr lang="ko-KR" altLang="en-US" dirty="0"/>
              <a:t>반면 일부 서유럽 기업들은 소극적이어서 배제되기도 합니다</a:t>
            </a:r>
            <a:r>
              <a:rPr lang="en-US" altLang="ko-KR" dirty="0"/>
              <a:t>. </a:t>
            </a:r>
            <a:r>
              <a:rPr lang="ko-KR" altLang="en-US" b="1" dirty="0"/>
              <a:t>요약하면</a:t>
            </a:r>
            <a:r>
              <a:rPr lang="en-US" altLang="ko-KR" dirty="0"/>
              <a:t>: </a:t>
            </a:r>
            <a:r>
              <a:rPr lang="ko-KR" altLang="en-US" dirty="0"/>
              <a:t>폴란드 시장에서 공급자들은 세계적 거대기업으로 힘이 크지만</a:t>
            </a:r>
            <a:r>
              <a:rPr lang="en-US" altLang="ko-KR" dirty="0"/>
              <a:t>, </a:t>
            </a:r>
            <a:r>
              <a:rPr lang="ko-KR" altLang="en-US" b="1" dirty="0"/>
              <a:t>폴란드 정부의 조건을 충족하지 않으면 계약을 </a:t>
            </a:r>
            <a:r>
              <a:rPr lang="ko-KR" altLang="en-US" b="1" dirty="0" err="1"/>
              <a:t>따내기</a:t>
            </a:r>
            <a:r>
              <a:rPr lang="ko-KR" altLang="en-US" b="1" dirty="0"/>
              <a:t> 어려워</a:t>
            </a:r>
            <a:r>
              <a:rPr lang="ko-KR" altLang="en-US" dirty="0"/>
              <a:t> 제한적인 협상력을 행사합니다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대체재의 위협</a:t>
            </a:r>
            <a:r>
              <a:rPr lang="en-US" altLang="ko-KR" dirty="0"/>
              <a:t>: </a:t>
            </a:r>
            <a:r>
              <a:rPr lang="ko-KR" altLang="en-US" dirty="0"/>
              <a:t>방산 분야에서 대체재란 </a:t>
            </a:r>
            <a:r>
              <a:rPr lang="ko-KR" altLang="en-US" i="1" dirty="0"/>
              <a:t>무기체계의 다른 해결책</a:t>
            </a:r>
            <a:r>
              <a:rPr lang="ko-KR" altLang="en-US" dirty="0"/>
              <a:t>을 의미합니다</a:t>
            </a:r>
            <a:r>
              <a:rPr lang="en-US" altLang="ko-KR" dirty="0"/>
              <a:t>. </a:t>
            </a:r>
            <a:r>
              <a:rPr lang="ko-KR" altLang="en-US" dirty="0"/>
              <a:t>폴란드의 안보 딜레마에서 사실상 </a:t>
            </a:r>
            <a:r>
              <a:rPr lang="ko-KR" altLang="en-US" b="1" dirty="0"/>
              <a:t>무장 강화 외에 뚜렷한 대안이 없으므로</a:t>
            </a:r>
            <a:r>
              <a:rPr lang="en-US" altLang="ko-KR" dirty="0"/>
              <a:t>, </a:t>
            </a:r>
            <a:r>
              <a:rPr lang="ko-KR" altLang="en-US" dirty="0"/>
              <a:t>대체재의 위협은 낮은 편입니다</a:t>
            </a:r>
            <a:r>
              <a:rPr lang="en-US" altLang="ko-KR" dirty="0"/>
              <a:t>. </a:t>
            </a:r>
            <a:r>
              <a:rPr lang="ko-KR" altLang="en-US" dirty="0"/>
              <a:t>한 가지 대체 수단으로 </a:t>
            </a:r>
            <a:r>
              <a:rPr lang="ko-KR" altLang="en-US" b="1" dirty="0"/>
              <a:t>동맹국의 군사적 지원 보장</a:t>
            </a:r>
            <a:r>
              <a:rPr lang="ko-KR" altLang="en-US" dirty="0"/>
              <a:t>이나 </a:t>
            </a:r>
            <a:r>
              <a:rPr lang="ko-KR" altLang="en-US" b="1" dirty="0"/>
              <a:t>집단안보체제 강화</a:t>
            </a:r>
            <a:r>
              <a:rPr lang="ko-KR" altLang="en-US" dirty="0"/>
              <a:t>가 있으나</a:t>
            </a:r>
            <a:r>
              <a:rPr lang="en-US" altLang="ko-KR" dirty="0"/>
              <a:t>, </a:t>
            </a:r>
            <a:r>
              <a:rPr lang="ko-KR" altLang="en-US" dirty="0"/>
              <a:t>폴란드는 이를 </a:t>
            </a:r>
            <a:r>
              <a:rPr lang="ko-KR" altLang="en-US" b="1" dirty="0"/>
              <a:t>추가적 </a:t>
            </a:r>
            <a:r>
              <a:rPr lang="ko-KR" altLang="en-US" b="1" dirty="0" err="1"/>
              <a:t>억지력</a:t>
            </a:r>
            <a:r>
              <a:rPr lang="ko-KR" altLang="en-US" dirty="0" err="1"/>
              <a:t>으로</a:t>
            </a:r>
            <a:r>
              <a:rPr lang="ko-KR" altLang="en-US" dirty="0"/>
              <a:t> 보고 자체 무장 강화 노력을 대체하지 않습니다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ko-KR" altLang="en-US" b="1" dirty="0"/>
              <a:t>중고 무기 업그레이드</a:t>
            </a:r>
            <a:r>
              <a:rPr lang="ko-KR" altLang="en-US" dirty="0"/>
              <a:t>나 </a:t>
            </a:r>
            <a:r>
              <a:rPr lang="ko-KR" altLang="en-US" b="1" dirty="0"/>
              <a:t>기존 무기의 수명 연장</a:t>
            </a:r>
            <a:r>
              <a:rPr lang="ko-KR" altLang="en-US" dirty="0"/>
              <a:t>이 잠정적인 대안이 될 수 있었으나</a:t>
            </a:r>
            <a:r>
              <a:rPr lang="en-US" altLang="ko-KR" dirty="0"/>
              <a:t>, </a:t>
            </a:r>
            <a:r>
              <a:rPr lang="ko-KR" altLang="en-US" dirty="0"/>
              <a:t>러시아 위협의 현실화 이후 이러한 임시방편은 고려되지 않고 신형 도입으로 방향이 잡혔습니다</a:t>
            </a:r>
            <a:r>
              <a:rPr lang="en-US" altLang="ko-KR" dirty="0"/>
              <a:t>. </a:t>
            </a:r>
            <a:r>
              <a:rPr lang="ko-KR" altLang="en-US" dirty="0"/>
              <a:t>요컨대 폴란드의 방위력 증강은 필수불가결한 것으로 인식되어 </a:t>
            </a:r>
            <a:r>
              <a:rPr lang="ko-KR" altLang="en-US" b="1" dirty="0"/>
              <a:t>무기 획득을 대체할 다른 선택지는 현실성이 낮다</a:t>
            </a:r>
            <a:r>
              <a:rPr lang="ko-KR" altLang="en-US" dirty="0"/>
              <a:t>고 평가됩니다</a:t>
            </a:r>
            <a:r>
              <a:rPr lang="en-US" altLang="ko-KR" dirty="0"/>
              <a:t>. </a:t>
            </a:r>
            <a:r>
              <a:rPr lang="ko-KR" altLang="en-US" dirty="0"/>
              <a:t>이런 환경은 </a:t>
            </a:r>
            <a:r>
              <a:rPr lang="ko-KR" altLang="en-US" b="1" dirty="0"/>
              <a:t>무기 공급자에 대한 수요 의존도를 높여주므로</a:t>
            </a:r>
            <a:r>
              <a:rPr lang="en-US" altLang="ko-KR" dirty="0"/>
              <a:t>, </a:t>
            </a:r>
            <a:r>
              <a:rPr lang="ko-KR" altLang="en-US" dirty="0"/>
              <a:t>방산시장 자체의 안정적 수요를 뒷받침하고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0604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폴란드 국방부와 군은 방산시장에서는 ‘최종 </a:t>
            </a:r>
            <a:r>
              <a:rPr lang="ko-KR" altLang="en-US" dirty="0" err="1"/>
              <a:t>고객’으로서</a:t>
            </a:r>
            <a:r>
              <a:rPr lang="ko-KR" altLang="en-US" dirty="0"/>
              <a:t> 몇 가지 뚜렷한 특성을 보입니다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첫째</a:t>
            </a:r>
            <a:r>
              <a:rPr lang="en-US" altLang="ko-KR" dirty="0"/>
              <a:t>, </a:t>
            </a:r>
            <a:r>
              <a:rPr lang="ko-KR" altLang="en-US" b="1" dirty="0"/>
              <a:t>신속성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우크라이나 전쟁 발발 이후 폴란드 군은 가능한 한 빠른 시일 내에 전력을 증강하려 하고 있습니다</a:t>
            </a:r>
            <a:r>
              <a:rPr lang="en-US" altLang="ko-KR" dirty="0"/>
              <a:t>. </a:t>
            </a:r>
            <a:r>
              <a:rPr lang="ko-KR" altLang="en-US" dirty="0"/>
              <a:t>따라서 즉시 도입 가능 여부가 무기 선정의 중요 기준이 되었습니다</a:t>
            </a:r>
            <a:r>
              <a:rPr lang="en-US" altLang="ko-KR" dirty="0"/>
              <a:t>. </a:t>
            </a:r>
            <a:r>
              <a:rPr lang="ko-KR" altLang="en-US" dirty="0"/>
              <a:t>한국이 폴란드와의 계약에서 성공한 요인 중 하나도 </a:t>
            </a:r>
            <a:r>
              <a:rPr lang="ko-KR" altLang="en-US" b="1" dirty="0"/>
              <a:t>수개월 내 초도 물량 생산</a:t>
            </a:r>
            <a:r>
              <a:rPr lang="en-US" altLang="ko-KR" b="1" dirty="0"/>
              <a:t>·</a:t>
            </a:r>
            <a:r>
              <a:rPr lang="ko-KR" altLang="en-US" b="1" dirty="0"/>
              <a:t>인도</a:t>
            </a:r>
            <a:r>
              <a:rPr lang="ko-KR" altLang="en-US" dirty="0"/>
              <a:t>가 가능했던 점이었습니다</a:t>
            </a:r>
            <a:r>
              <a:rPr lang="en-US" altLang="ko-KR" dirty="0"/>
              <a:t>. </a:t>
            </a:r>
            <a:r>
              <a:rPr lang="ko-KR" altLang="en-US" dirty="0"/>
              <a:t>실제로 첫 </a:t>
            </a:r>
            <a:r>
              <a:rPr lang="en-US" altLang="ko-KR" dirty="0"/>
              <a:t>K2 </a:t>
            </a:r>
            <a:r>
              <a:rPr lang="ko-KR" altLang="en-US" dirty="0"/>
              <a:t>전차 </a:t>
            </a:r>
            <a:r>
              <a:rPr lang="en-US" altLang="ko-KR" dirty="0"/>
              <a:t>10</a:t>
            </a:r>
            <a:r>
              <a:rPr lang="ko-KR" altLang="en-US" dirty="0"/>
              <a:t>대와 </a:t>
            </a:r>
            <a:r>
              <a:rPr lang="en-US" altLang="ko-KR" dirty="0"/>
              <a:t>K9 </a:t>
            </a:r>
            <a:r>
              <a:rPr lang="ko-KR" altLang="en-US" dirty="0" err="1"/>
              <a:t>자주포</a:t>
            </a:r>
            <a:r>
              <a:rPr lang="ko-KR" altLang="en-US" dirty="0"/>
              <a:t> </a:t>
            </a:r>
            <a:r>
              <a:rPr lang="en-US" altLang="ko-KR" dirty="0"/>
              <a:t>24</a:t>
            </a:r>
            <a:r>
              <a:rPr lang="ko-KR" altLang="en-US" dirty="0"/>
              <a:t>문이 계약 후 </a:t>
            </a:r>
            <a:r>
              <a:rPr lang="ko-KR" altLang="en-US" b="1" dirty="0"/>
              <a:t>불과 </a:t>
            </a:r>
            <a:r>
              <a:rPr lang="en-US" altLang="ko-KR" b="1" dirty="0"/>
              <a:t>3</a:t>
            </a:r>
            <a:r>
              <a:rPr lang="ko-KR" altLang="en-US" b="1" dirty="0" err="1"/>
              <a:t>개월여만에</a:t>
            </a:r>
            <a:r>
              <a:rPr lang="ko-KR" altLang="en-US" b="1" dirty="0"/>
              <a:t> 폴란드에 도착</a:t>
            </a:r>
            <a:r>
              <a:rPr lang="ko-KR" altLang="en-US" dirty="0"/>
              <a:t>하여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월에 공식 인도되었습니다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가격 대비 성능인 운용 효용을 중시합니다</a:t>
            </a:r>
            <a:r>
              <a:rPr lang="en-US" altLang="ko-KR" dirty="0"/>
              <a:t>. </a:t>
            </a:r>
            <a:r>
              <a:rPr lang="ko-KR" altLang="en-US" dirty="0"/>
              <a:t>한정된 예산으로 최대 전력을 구축하기 위해 폴란드는 개별 무기의 최첨단 성능보다는 </a:t>
            </a:r>
            <a:r>
              <a:rPr lang="ko-KR" altLang="en-US" b="1" dirty="0"/>
              <a:t>검증된 성능과 운용 경제성</a:t>
            </a:r>
            <a:r>
              <a:rPr lang="ko-KR" altLang="en-US" dirty="0"/>
              <a:t>을 고려합니다</a:t>
            </a:r>
            <a:r>
              <a:rPr lang="en-US" altLang="ko-KR" dirty="0"/>
              <a:t>. </a:t>
            </a:r>
            <a:r>
              <a:rPr lang="ko-KR" altLang="en-US" dirty="0"/>
              <a:t>예를 들어 독일의 최신 전차 </a:t>
            </a:r>
            <a:r>
              <a:rPr lang="en-US" altLang="ko-KR" dirty="0"/>
              <a:t>Leopard 2A7</a:t>
            </a:r>
            <a:r>
              <a:rPr lang="ko-KR" altLang="en-US" dirty="0"/>
              <a:t>보다 한국 </a:t>
            </a:r>
            <a:r>
              <a:rPr lang="en-US" altLang="ko-KR" dirty="0"/>
              <a:t>K2</a:t>
            </a:r>
            <a:r>
              <a:rPr lang="ko-KR" altLang="en-US" dirty="0"/>
              <a:t>를 선택한 데에는 </a:t>
            </a:r>
            <a:r>
              <a:rPr lang="en-US" altLang="ko-KR" dirty="0"/>
              <a:t>K2</a:t>
            </a:r>
            <a:r>
              <a:rPr lang="ko-KR" altLang="en-US" dirty="0"/>
              <a:t>의 </a:t>
            </a:r>
            <a:r>
              <a:rPr lang="ko-KR" altLang="en-US" b="1" dirty="0"/>
              <a:t>가격 경쟁력과 향후 개량 잠재성</a:t>
            </a:r>
            <a:r>
              <a:rPr lang="ko-KR" altLang="en-US" dirty="0"/>
              <a:t>이 한 몫 했습니다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ko-KR" altLang="en-US" dirty="0" err="1"/>
              <a:t>자주포</a:t>
            </a:r>
            <a:r>
              <a:rPr lang="ko-KR" altLang="en-US" dirty="0"/>
              <a:t> 역시 성능이 입증되고 가격이 상대적으로 저렴한 </a:t>
            </a:r>
            <a:r>
              <a:rPr lang="en-US" altLang="ko-KR" dirty="0"/>
              <a:t>K9</a:t>
            </a:r>
            <a:r>
              <a:rPr lang="ko-KR" altLang="en-US" dirty="0"/>
              <a:t>을 대량 도입했습니다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셋째</a:t>
            </a:r>
            <a:r>
              <a:rPr lang="en-US" altLang="ko-KR" dirty="0"/>
              <a:t>, </a:t>
            </a:r>
            <a:r>
              <a:rPr lang="ko-KR" altLang="en-US" b="1" dirty="0" err="1"/>
              <a:t>상호운용성</a:t>
            </a:r>
            <a:r>
              <a:rPr lang="ko-KR" altLang="en-US" dirty="0" err="1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폴란드 고객은 단순히 하드웨어 </a:t>
            </a:r>
            <a:r>
              <a:rPr lang="ko-KR" altLang="en-US" dirty="0" err="1"/>
              <a:t>장비뿐</a:t>
            </a:r>
            <a:r>
              <a:rPr lang="ko-KR" altLang="en-US" dirty="0"/>
              <a:t> 아니라 </a:t>
            </a:r>
            <a:r>
              <a:rPr lang="ko-KR" altLang="en-US" b="1" dirty="0"/>
              <a:t>훈련</a:t>
            </a:r>
            <a:r>
              <a:rPr lang="en-US" altLang="ko-KR" b="1" dirty="0"/>
              <a:t>, </a:t>
            </a:r>
            <a:r>
              <a:rPr lang="ko-KR" altLang="en-US" b="1" dirty="0"/>
              <a:t>정비</a:t>
            </a:r>
            <a:r>
              <a:rPr lang="en-US" altLang="ko-KR" b="1" dirty="0"/>
              <a:t>, </a:t>
            </a:r>
            <a:r>
              <a:rPr lang="ko-KR" altLang="en-US" b="1" dirty="0"/>
              <a:t>탄약</a:t>
            </a:r>
            <a:r>
              <a:rPr lang="en-US" altLang="ko-KR" b="1" dirty="0"/>
              <a:t>, </a:t>
            </a:r>
            <a:r>
              <a:rPr lang="ko-KR" altLang="en-US" b="1" dirty="0"/>
              <a:t>부품 등 패키지 일괄 지원</a:t>
            </a:r>
            <a:r>
              <a:rPr lang="ko-KR" altLang="en-US" dirty="0"/>
              <a:t>을 원합니다</a:t>
            </a:r>
            <a:r>
              <a:rPr lang="en-US" altLang="ko-KR" dirty="0"/>
              <a:t>. </a:t>
            </a:r>
            <a:r>
              <a:rPr lang="ko-KR" altLang="en-US" dirty="0"/>
              <a:t>한국과의 계약에는 </a:t>
            </a:r>
            <a:r>
              <a:rPr lang="ko-KR" altLang="en-US" b="1" dirty="0"/>
              <a:t>훈련 교리 전수</a:t>
            </a:r>
            <a:r>
              <a:rPr lang="en-US" altLang="ko-KR" b="1" dirty="0"/>
              <a:t>, </a:t>
            </a:r>
            <a:r>
              <a:rPr lang="ko-KR" altLang="en-US" b="1" dirty="0"/>
              <a:t>정비 인력 교육</a:t>
            </a:r>
            <a:r>
              <a:rPr lang="en-US" altLang="ko-KR" b="1" dirty="0"/>
              <a:t>, </a:t>
            </a:r>
            <a:r>
              <a:rPr lang="ko-KR" altLang="en-US" b="1" dirty="0"/>
              <a:t>부품 공급망 구축</a:t>
            </a:r>
            <a:r>
              <a:rPr lang="ko-KR" altLang="en-US" dirty="0"/>
              <a:t> 등이 포함되어 있어 폴란드가 </a:t>
            </a:r>
            <a:r>
              <a:rPr lang="ko-KR" altLang="en-US" b="1" dirty="0"/>
              <a:t>도입 즉시 전력을 운용</a:t>
            </a:r>
            <a:r>
              <a:rPr lang="ko-KR" altLang="en-US" dirty="0"/>
              <a:t>할 수 있게 했습니다</a:t>
            </a:r>
            <a:r>
              <a:rPr lang="en-US" altLang="ko-KR" dirty="0"/>
              <a:t>. </a:t>
            </a:r>
            <a:r>
              <a:rPr lang="ko-KR" altLang="en-US" dirty="0"/>
              <a:t>또한 미군 및 주변 </a:t>
            </a:r>
            <a:r>
              <a:rPr lang="en-US" altLang="ko-KR" dirty="0"/>
              <a:t>NATO</a:t>
            </a:r>
            <a:r>
              <a:rPr lang="ko-KR" altLang="en-US" dirty="0"/>
              <a:t>군과의 **상호운용성</a:t>
            </a:r>
            <a:r>
              <a:rPr lang="en-US" altLang="ko-KR" dirty="0"/>
              <a:t>**</a:t>
            </a:r>
            <a:r>
              <a:rPr lang="ko-KR" altLang="en-US" dirty="0"/>
              <a:t>을 고려하여 통신체계 통합</a:t>
            </a:r>
            <a:r>
              <a:rPr lang="en-US" altLang="ko-KR" dirty="0"/>
              <a:t>, </a:t>
            </a:r>
            <a:r>
              <a:rPr lang="ko-KR" altLang="en-US" dirty="0"/>
              <a:t>식별장비</a:t>
            </a:r>
            <a:r>
              <a:rPr lang="en-US" altLang="ko-KR" dirty="0"/>
              <a:t>, </a:t>
            </a:r>
            <a:r>
              <a:rPr lang="ko-KR" altLang="en-US" dirty="0"/>
              <a:t>지휘통제체계 연동 등을 요구합니다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넷째</a:t>
            </a:r>
            <a:r>
              <a:rPr lang="en-US" altLang="ko-KR" dirty="0"/>
              <a:t>, </a:t>
            </a:r>
            <a:r>
              <a:rPr lang="ko-KR" altLang="en-US" b="1" dirty="0"/>
              <a:t>정치적 고려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폴란드 정부는 무기 도입을 </a:t>
            </a:r>
            <a:r>
              <a:rPr lang="ko-KR" altLang="en-US" b="1" dirty="0"/>
              <a:t>외교 전략과 연계</a:t>
            </a:r>
            <a:r>
              <a:rPr lang="ko-KR" altLang="en-US" dirty="0"/>
              <a:t>시킵니다</a:t>
            </a:r>
            <a:r>
              <a:rPr lang="en-US" altLang="ko-KR" dirty="0"/>
              <a:t>. </a:t>
            </a:r>
            <a:r>
              <a:rPr lang="ko-KR" altLang="en-US" dirty="0"/>
              <a:t>미국산 </a:t>
            </a:r>
            <a:r>
              <a:rPr lang="en-US" altLang="ko-KR" dirty="0"/>
              <a:t>F-35 </a:t>
            </a:r>
            <a:r>
              <a:rPr lang="ko-KR" altLang="en-US" dirty="0"/>
              <a:t>도입은 미 폴란드 동맹을</a:t>
            </a:r>
            <a:r>
              <a:rPr lang="en-US" altLang="ko-KR" dirty="0"/>
              <a:t>, </a:t>
            </a:r>
            <a:r>
              <a:rPr lang="ko-KR" altLang="en-US" dirty="0"/>
              <a:t>한국산 무기 도입은 신흥 강국 한국과의 전략적 동반자 관계를 강화하는 효과를 염두에 둔 것입니다</a:t>
            </a:r>
            <a:r>
              <a:rPr lang="en-US" altLang="ko-KR" dirty="0"/>
              <a:t>. </a:t>
            </a:r>
            <a:r>
              <a:rPr lang="ko-KR" altLang="en-US" dirty="0"/>
              <a:t>실제 폴란드 외무부는 “한국과의 방산 협력이 </a:t>
            </a:r>
            <a:r>
              <a:rPr lang="en-US" altLang="ko-KR" dirty="0"/>
              <a:t>NATO </a:t>
            </a:r>
            <a:r>
              <a:rPr lang="ko-KR" altLang="en-US" dirty="0"/>
              <a:t>동부 전선 방어에 직접 기여하고</a:t>
            </a:r>
            <a:r>
              <a:rPr lang="en-US" altLang="ko-KR" dirty="0"/>
              <a:t>, </a:t>
            </a:r>
            <a:r>
              <a:rPr lang="ko-KR" altLang="en-US" b="1" dirty="0"/>
              <a:t>한국</a:t>
            </a:r>
            <a:r>
              <a:rPr lang="en-US" altLang="ko-KR" b="1" dirty="0"/>
              <a:t>-</a:t>
            </a:r>
            <a:r>
              <a:rPr lang="ko-KR" altLang="en-US" b="1" dirty="0"/>
              <a:t>나토 파트너십 강화</a:t>
            </a:r>
            <a:r>
              <a:rPr lang="ko-KR" altLang="en-US" dirty="0"/>
              <a:t>로도 </a:t>
            </a:r>
            <a:r>
              <a:rPr lang="ko-KR" altLang="en-US" dirty="0" err="1"/>
              <a:t>이어진다”고</a:t>
            </a:r>
            <a:r>
              <a:rPr lang="ko-KR" altLang="en-US" dirty="0"/>
              <a:t> 평가합니다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따라서 폴란드의 </a:t>
            </a:r>
            <a:r>
              <a:rPr lang="ko-KR" altLang="en-US" dirty="0" err="1"/>
              <a:t>고객으로서의</a:t>
            </a:r>
            <a:r>
              <a:rPr lang="ko-KR" altLang="en-US" dirty="0"/>
              <a:t> 행동은 </a:t>
            </a:r>
            <a:r>
              <a:rPr lang="ko-KR" altLang="en-US" b="1" dirty="0"/>
              <a:t>단순 군사적 </a:t>
            </a:r>
            <a:r>
              <a:rPr lang="ko-KR" altLang="en-US" b="1" dirty="0" err="1"/>
              <a:t>필요뿐</a:t>
            </a:r>
            <a:r>
              <a:rPr lang="ko-KR" altLang="en-US" b="1" dirty="0"/>
              <a:t> 아니라 국제정치적 득실을 함께 계산</a:t>
            </a:r>
            <a:r>
              <a:rPr lang="ko-KR" altLang="en-US" dirty="0"/>
              <a:t>한 결과라 할 수 있습니다</a:t>
            </a:r>
            <a:r>
              <a:rPr lang="en-US" altLang="ko-KR" dirty="0"/>
              <a:t>. </a:t>
            </a:r>
            <a:r>
              <a:rPr lang="ko-KR" altLang="en-US" i="1" dirty="0"/>
              <a:t>즉</a:t>
            </a:r>
            <a:r>
              <a:rPr lang="en-US" altLang="ko-KR" i="1" dirty="0"/>
              <a:t>, </a:t>
            </a:r>
            <a:r>
              <a:rPr lang="ko-KR" altLang="en-US" i="1" dirty="0"/>
              <a:t>폴란드는 무기 도입을 통해 얻게 될 </a:t>
            </a:r>
            <a:r>
              <a:rPr lang="ko-KR" altLang="en-US" b="1" i="1" dirty="0"/>
              <a:t>외교적 이득</a:t>
            </a:r>
            <a:r>
              <a:rPr lang="ko-KR" altLang="en-US" i="1" dirty="0"/>
              <a:t>까지 고려</a:t>
            </a:r>
            <a:r>
              <a:rPr lang="ko-KR" altLang="en-US" dirty="0"/>
              <a:t>하여 공급국을 선택하고 조건을 협상하는 것입니다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1167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K-</a:t>
            </a:r>
            <a:r>
              <a:rPr lang="ko-KR" altLang="en-US" b="1" dirty="0"/>
              <a:t>방산의 폴란드 방산시장 진출 </a:t>
            </a:r>
            <a:r>
              <a:rPr lang="en-US" altLang="ko-KR" b="1" dirty="0"/>
              <a:t>SWOT </a:t>
            </a:r>
            <a:r>
              <a:rPr lang="ko-KR" altLang="en-US" b="1" dirty="0"/>
              <a:t>분석</a:t>
            </a:r>
          </a:p>
          <a:p>
            <a:r>
              <a:rPr lang="ko-KR" altLang="en-US" b="1" dirty="0"/>
              <a:t>강점</a:t>
            </a:r>
          </a:p>
          <a:p>
            <a:r>
              <a:rPr lang="ko-KR" altLang="en-US" dirty="0"/>
              <a:t>한국의 </a:t>
            </a:r>
            <a:r>
              <a:rPr lang="en-US" altLang="ko-KR" dirty="0"/>
              <a:t>K2 </a:t>
            </a:r>
            <a:r>
              <a:rPr lang="ko-KR" altLang="en-US" dirty="0"/>
              <a:t>전차와 </a:t>
            </a:r>
            <a:r>
              <a:rPr lang="en-US" altLang="ko-KR" dirty="0"/>
              <a:t>K9 </a:t>
            </a:r>
            <a:r>
              <a:rPr lang="ko-KR" altLang="en-US" dirty="0" err="1"/>
              <a:t>자주포는</a:t>
            </a:r>
            <a:r>
              <a:rPr lang="ko-KR" altLang="en-US" dirty="0"/>
              <a:t> 최신형 성능과 높은 신뢰도로 폴란드군의 긴급 수요를 충족했습니다</a:t>
            </a:r>
            <a:r>
              <a:rPr lang="en-US" altLang="ko-KR" dirty="0"/>
              <a:t>. </a:t>
            </a:r>
            <a:r>
              <a:rPr lang="ko-KR" altLang="en-US" dirty="0"/>
              <a:t>특히 한국 업체들은 탁월한 생산 능력과 빠른 납기 능력을 바탕으로 대규모 계약을 단기간에 이행하며 ‘빠른 </a:t>
            </a:r>
            <a:r>
              <a:rPr lang="ko-KR" altLang="en-US" dirty="0" err="1"/>
              <a:t>납기’를</a:t>
            </a:r>
            <a:r>
              <a:rPr lang="ko-KR" altLang="en-US" dirty="0"/>
              <a:t> 입증했습니다 또한 나토 표준</a:t>
            </a:r>
            <a:r>
              <a:rPr lang="en-US" altLang="ko-KR" dirty="0"/>
              <a:t> </a:t>
            </a:r>
            <a:r>
              <a:rPr lang="ko-KR" altLang="en-US" dirty="0"/>
              <a:t>호환 설계와 함께 현지 생산</a:t>
            </a:r>
            <a:r>
              <a:rPr lang="en-US" altLang="ko-KR" dirty="0"/>
              <a:t>·</a:t>
            </a:r>
            <a:r>
              <a:rPr lang="ko-KR" altLang="en-US" dirty="0"/>
              <a:t>기술 이전 약속은 폴란드 측에 구체적 </a:t>
            </a:r>
            <a:r>
              <a:rPr lang="ko-KR" altLang="en-US" dirty="0" err="1"/>
              <a:t>이점을제공했습니다</a:t>
            </a:r>
            <a:r>
              <a:rPr lang="en-US" altLang="ko-KR" dirty="0"/>
              <a:t>. K9 </a:t>
            </a:r>
            <a:r>
              <a:rPr lang="ko-KR" altLang="en-US" dirty="0" err="1"/>
              <a:t>자주포는</a:t>
            </a:r>
            <a:r>
              <a:rPr lang="ko-KR" altLang="en-US" dirty="0"/>
              <a:t> 현재 약 </a:t>
            </a:r>
            <a:r>
              <a:rPr lang="en-US" altLang="ko-KR" dirty="0"/>
              <a:t>10</a:t>
            </a:r>
            <a:r>
              <a:rPr lang="ko-KR" altLang="en-US" dirty="0"/>
              <a:t>여 개 나토 회원국에 배치되어 정밀사격과 높은 신뢰성 덕분에 유럽에서 가장 빠르게 채택된 포병 체계로 평가받고 있습니다</a:t>
            </a:r>
            <a:r>
              <a:rPr lang="en-US" altLang="ko-KR" dirty="0"/>
              <a:t>		</a:t>
            </a:r>
            <a:endParaRPr lang="ko-KR" altLang="en-US" dirty="0"/>
          </a:p>
          <a:p>
            <a:r>
              <a:rPr lang="ko-KR" altLang="en-US" b="1" dirty="0"/>
              <a:t>약점</a:t>
            </a:r>
          </a:p>
          <a:p>
            <a:r>
              <a:rPr lang="ko-KR" altLang="en-US" dirty="0"/>
              <a:t>유럽 선진국 방산시장에서 한국산 무기의 인지도는 아직 낮은 편입니다</a:t>
            </a:r>
            <a:r>
              <a:rPr lang="en-US" altLang="ko-KR" dirty="0"/>
              <a:t>. </a:t>
            </a:r>
            <a:r>
              <a:rPr lang="ko-KR" altLang="en-US" dirty="0"/>
              <a:t>프랑스</a:t>
            </a:r>
            <a:r>
              <a:rPr lang="en-US" altLang="ko-KR" dirty="0"/>
              <a:t>·</a:t>
            </a:r>
            <a:r>
              <a:rPr lang="ko-KR" altLang="en-US" dirty="0"/>
              <a:t>독일 등 전통적 무기 수출국들은 </a:t>
            </a:r>
            <a:r>
              <a:rPr lang="ko-KR" altLang="en-US" dirty="0" err="1"/>
              <a:t>유럽산</a:t>
            </a:r>
            <a:r>
              <a:rPr lang="ko-KR" altLang="en-US" dirty="0"/>
              <a:t> 무기 구매를 권장하며 자국산을 우선 지원하고 있어 한국산 무기의 본격적 진출에 제동이 걸리는 분위기입니다</a:t>
            </a:r>
            <a:r>
              <a:rPr lang="en-US" altLang="ko-KR" dirty="0"/>
              <a:t>. </a:t>
            </a:r>
            <a:r>
              <a:rPr lang="ko-KR" altLang="en-US" dirty="0"/>
              <a:t>실제로 영국은 차륜형 </a:t>
            </a:r>
            <a:r>
              <a:rPr lang="ko-KR" altLang="en-US" dirty="0" err="1"/>
              <a:t>자주포</a:t>
            </a:r>
            <a:r>
              <a:rPr lang="ko-KR" altLang="en-US" dirty="0"/>
              <a:t> 사업에서 </a:t>
            </a:r>
            <a:r>
              <a:rPr lang="en-US" altLang="ko-KR" dirty="0"/>
              <a:t>K9 </a:t>
            </a:r>
            <a:r>
              <a:rPr lang="ko-KR" altLang="en-US" dirty="0"/>
              <a:t>대신 </a:t>
            </a:r>
            <a:r>
              <a:rPr lang="ko-KR" altLang="en-US" dirty="0" err="1"/>
              <a:t>독일제</a:t>
            </a:r>
            <a:r>
              <a:rPr lang="ko-KR" altLang="en-US" dirty="0"/>
              <a:t> </a:t>
            </a:r>
            <a:r>
              <a:rPr lang="en-US" altLang="ko-KR" dirty="0"/>
              <a:t>RCH-155</a:t>
            </a:r>
            <a:r>
              <a:rPr lang="ko-KR" altLang="en-US" dirty="0"/>
              <a:t>를 선택했고</a:t>
            </a:r>
            <a:r>
              <a:rPr lang="en-US" altLang="ko-KR" dirty="0"/>
              <a:t>, </a:t>
            </a:r>
            <a:r>
              <a:rPr lang="ko-KR" altLang="en-US" dirty="0"/>
              <a:t>노르웨이는 차세대 전차 사업에서 </a:t>
            </a:r>
            <a:r>
              <a:rPr lang="en-US" altLang="ko-KR" dirty="0"/>
              <a:t>K2 </a:t>
            </a:r>
            <a:r>
              <a:rPr lang="ko-KR" altLang="en-US" dirty="0"/>
              <a:t>대신 </a:t>
            </a:r>
            <a:r>
              <a:rPr lang="ko-KR" altLang="en-US" dirty="0" err="1"/>
              <a:t>레오파르트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를 도입하며 한국 제품이 경쟁 우위를 확보하지 못했습니다</a:t>
            </a:r>
            <a:r>
              <a:rPr lang="en-US" altLang="ko-KR" dirty="0"/>
              <a:t>. </a:t>
            </a:r>
            <a:r>
              <a:rPr lang="ko-KR" altLang="en-US" dirty="0"/>
              <a:t>이처럼 보수적 시장에서는 정치</a:t>
            </a:r>
            <a:r>
              <a:rPr lang="en-US" altLang="ko-KR" dirty="0"/>
              <a:t>·</a:t>
            </a:r>
            <a:r>
              <a:rPr lang="ko-KR" altLang="en-US" dirty="0"/>
              <a:t>외교적 영향이 크게 작용해 한국 방산기업의 진출에 걸림돌이 되고 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기회</a:t>
            </a:r>
          </a:p>
          <a:p>
            <a:r>
              <a:rPr lang="ko-KR" altLang="en-US" dirty="0"/>
              <a:t>폴란드는 러시아 위협 대응을 위해 국방비를 </a:t>
            </a:r>
            <a:r>
              <a:rPr lang="en-US" altLang="ko-KR" dirty="0"/>
              <a:t>GDP</a:t>
            </a:r>
            <a:r>
              <a:rPr lang="ko-KR" altLang="en-US" dirty="0"/>
              <a:t>의 </a:t>
            </a:r>
            <a:r>
              <a:rPr lang="en-US" altLang="ko-KR" dirty="0"/>
              <a:t>4.7%</a:t>
            </a:r>
            <a:r>
              <a:rPr lang="ko-KR" altLang="en-US" dirty="0"/>
              <a:t>로 확대하며 대대적인 군 현대화를 추진 중입니다</a:t>
            </a:r>
            <a:r>
              <a:rPr lang="en-US" altLang="ko-KR" dirty="0"/>
              <a:t>. </a:t>
            </a:r>
            <a:r>
              <a:rPr lang="ko-KR" altLang="en-US" dirty="0"/>
              <a:t>이 과정에서 </a:t>
            </a:r>
            <a:r>
              <a:rPr lang="en-US" altLang="ko-KR" dirty="0"/>
              <a:t>K2 </a:t>
            </a:r>
            <a:r>
              <a:rPr lang="ko-KR" altLang="en-US" dirty="0"/>
              <a:t>전차 </a:t>
            </a:r>
            <a:r>
              <a:rPr lang="en-US" altLang="ko-KR" dirty="0"/>
              <a:t>180</a:t>
            </a:r>
            <a:r>
              <a:rPr lang="ko-KR" altLang="en-US" dirty="0"/>
              <a:t>대를 추가 도입하는 계약을 체결했으며</a:t>
            </a:r>
            <a:r>
              <a:rPr lang="en-US" altLang="ko-KR" dirty="0"/>
              <a:t>, </a:t>
            </a:r>
            <a:r>
              <a:rPr lang="ko-KR" altLang="en-US" dirty="0"/>
              <a:t>특히 계약의 핵심으로 폴란드 현지 생산과 기술 이전이 추진되고 습니다</a:t>
            </a:r>
            <a:r>
              <a:rPr lang="en-US" altLang="ko-KR" dirty="0"/>
              <a:t>. K2 </a:t>
            </a:r>
            <a:r>
              <a:rPr lang="ko-KR" altLang="en-US" dirty="0"/>
              <a:t>현지 조립은 폴란드산 부품 사용 확대와 약 </a:t>
            </a:r>
            <a:r>
              <a:rPr lang="en-US" altLang="ko-KR" dirty="0"/>
              <a:t>2500</a:t>
            </a:r>
            <a:r>
              <a:rPr lang="ko-KR" altLang="en-US" dirty="0"/>
              <a:t>개 일자리 창출로 이어지며 방산 역량 강화를 기대하게 합니다</a:t>
            </a:r>
            <a:r>
              <a:rPr lang="en-US" altLang="ko-KR" dirty="0"/>
              <a:t>.</a:t>
            </a:r>
            <a:r>
              <a:rPr lang="ko-KR" altLang="en-US" dirty="0"/>
              <a:t> 아울러 폴란드를 거점으로 동유럽 내 추가 시장 진출도 </a:t>
            </a:r>
            <a:r>
              <a:rPr lang="ko-KR" altLang="en-US" dirty="0" err="1"/>
              <a:t>용이해졌습니다</a:t>
            </a:r>
            <a:r>
              <a:rPr lang="en-US" altLang="ko-KR" dirty="0"/>
              <a:t>. </a:t>
            </a:r>
            <a:r>
              <a:rPr lang="ko-KR" altLang="en-US" dirty="0"/>
              <a:t>실제로 스페인 등 다른 나토 회원국들도 포병 현대화 사업에서 </a:t>
            </a:r>
            <a:r>
              <a:rPr lang="en-US" altLang="ko-KR" dirty="0"/>
              <a:t>K9 </a:t>
            </a:r>
            <a:r>
              <a:rPr lang="ko-KR" altLang="en-US" dirty="0" err="1"/>
              <a:t>자주포</a:t>
            </a:r>
            <a:r>
              <a:rPr lang="ko-KR" altLang="en-US" dirty="0"/>
              <a:t> 도입을 검토 중이며</a:t>
            </a:r>
            <a:r>
              <a:rPr lang="en-US" altLang="ko-KR" dirty="0"/>
              <a:t>, </a:t>
            </a:r>
            <a:r>
              <a:rPr lang="ko-KR" altLang="en-US" dirty="0"/>
              <a:t>현지 생산</a:t>
            </a:r>
            <a:r>
              <a:rPr lang="en-US" altLang="ko-KR" dirty="0"/>
              <a:t>·</a:t>
            </a:r>
            <a:r>
              <a:rPr lang="ko-KR" altLang="en-US" dirty="0"/>
              <a:t>기술 이전 약속이 한국산의 강점으로 부각되고 있습니다</a:t>
            </a:r>
            <a:r>
              <a:rPr lang="en-US" altLang="ko-KR" dirty="0"/>
              <a:t>. </a:t>
            </a:r>
            <a:r>
              <a:rPr lang="ko-KR" altLang="en-US" dirty="0"/>
              <a:t>나토 표준 호환성 덕분에 동맹군 연합훈련 참여 등을 통한 협력 기회도 확대되고 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위협</a:t>
            </a:r>
          </a:p>
          <a:p>
            <a:r>
              <a:rPr lang="ko-KR" altLang="en-US" dirty="0"/>
              <a:t>그러나 유럽 방산시장은 보호주의 강화와 경쟁 심화로 어려움이 큽니다</a:t>
            </a:r>
            <a:r>
              <a:rPr lang="en-US" altLang="ko-KR" dirty="0"/>
              <a:t>. EU</a:t>
            </a:r>
            <a:r>
              <a:rPr lang="ko-KR" altLang="en-US" dirty="0"/>
              <a:t>는 </a:t>
            </a:r>
            <a:r>
              <a:rPr lang="en-US" altLang="ko-KR" dirty="0"/>
              <a:t>2035</a:t>
            </a:r>
            <a:r>
              <a:rPr lang="ko-KR" altLang="en-US" dirty="0"/>
              <a:t>년까지 역내 방산 조달 비중을 </a:t>
            </a:r>
            <a:r>
              <a:rPr lang="en-US" altLang="ko-KR" dirty="0"/>
              <a:t>60%</a:t>
            </a:r>
            <a:r>
              <a:rPr lang="ko-KR" altLang="en-US" dirty="0"/>
              <a:t>로 높이는 정책을 추진하고 </a:t>
            </a:r>
            <a:r>
              <a:rPr lang="ko-KR" altLang="en-US" dirty="0" err="1"/>
              <a:t>있어한국산</a:t>
            </a:r>
            <a:r>
              <a:rPr lang="ko-KR" altLang="en-US" dirty="0"/>
              <a:t> 무기의 수출 기회가 축소될 수 있습니다</a:t>
            </a:r>
            <a:r>
              <a:rPr lang="en-US" altLang="ko-KR" dirty="0"/>
              <a:t>. </a:t>
            </a:r>
            <a:r>
              <a:rPr lang="ko-KR" altLang="en-US" dirty="0"/>
              <a:t>프랑스</a:t>
            </a:r>
            <a:r>
              <a:rPr lang="en-US" altLang="ko-KR" dirty="0"/>
              <a:t>·</a:t>
            </a:r>
            <a:r>
              <a:rPr lang="ko-KR" altLang="en-US" dirty="0"/>
              <a:t>독일 지도자들도 한국산 대신 </a:t>
            </a:r>
            <a:r>
              <a:rPr lang="ko-KR" altLang="en-US" dirty="0" err="1"/>
              <a:t>유럽산</a:t>
            </a:r>
            <a:r>
              <a:rPr lang="ko-KR" altLang="en-US" dirty="0"/>
              <a:t> 무기 구매를 촉구하는 등 보호무역 조짐이 뚜렷하기에</a:t>
            </a:r>
            <a:r>
              <a:rPr lang="en-US" altLang="ko-KR" dirty="0"/>
              <a:t> </a:t>
            </a:r>
            <a:r>
              <a:rPr lang="ko-KR" altLang="en-US" dirty="0"/>
              <a:t>이로 인해 한국산 무기의 유럽 내 추가 진출이 제한될 우려가 있습니다</a:t>
            </a:r>
            <a:r>
              <a:rPr lang="en-US" altLang="ko-KR" dirty="0"/>
              <a:t>. </a:t>
            </a:r>
            <a:r>
              <a:rPr lang="ko-KR" altLang="en-US" dirty="0"/>
              <a:t>특히 독일은 동유럽 주요국들을 상대로 한국과 치열히 경쟁 중이며</a:t>
            </a:r>
            <a:r>
              <a:rPr lang="en-US" altLang="ko-KR" dirty="0"/>
              <a:t>, </a:t>
            </a:r>
            <a:r>
              <a:rPr lang="ko-KR" altLang="en-US" dirty="0"/>
              <a:t>방산 업계에서는 유럽 국가들이 ‘방산 </a:t>
            </a:r>
            <a:r>
              <a:rPr lang="ko-KR" altLang="en-US" dirty="0" err="1"/>
              <a:t>카르텔’을</a:t>
            </a:r>
            <a:r>
              <a:rPr lang="ko-KR" altLang="en-US" dirty="0"/>
              <a:t> 형성할 가능성까지 언급되고 있습니다</a:t>
            </a:r>
            <a:r>
              <a:rPr lang="en-US" altLang="ko-KR" dirty="0"/>
              <a:t>. </a:t>
            </a:r>
            <a:r>
              <a:rPr lang="ko-KR" altLang="en-US" dirty="0"/>
              <a:t>이러한 외부 압력과 정치적 리스크는 한국 무기의 경쟁력을 위협하는 요인입니다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3596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그렇다면 대한민국 방산의 폴란드 진출 성과는 어떨까요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094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대한민국 방산산업은 폴란드 진출을 통해 사상 최대 규모의 수출 성과를 달성했습니다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2022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년 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-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우 전쟁이 발발한 직후 한국과 폴란드는 급속도로 방산 협력을 강화하여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2022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년 하반기에만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120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억 달러 이상 규모의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차 계약을 체결했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습니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2023~2024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년에 추가 계약 논의가 진행되어 총 계약 규모는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166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억 달러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22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조 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에 이르는 것으로 추정됩니다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2024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년 한 해 동안 한국 전체 방산 수출의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46%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가 폴란드로 향했을 정도로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 비중은 압도적입니다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이로 인해 한국은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2020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년대 중반 글로벌 방산수출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Top 5~6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위권으로 부상했으며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2024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년 전세계 방산 수출시장에서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2.2%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의 점유율을 차지한 것으로 집계됩니다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한국은 폴란드를 통해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NATO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핵심 회원국에 주요 무기를 공급함으로써 제품의 신뢰성을 입증했습니다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NATO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표준에 부합하는 탄약 규격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통신체계 등을 한국 무기가 구현해냈고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실전 배치된 폴란드군의 평가도 긍정적인 것으로 알려졌습니다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이러한 성과는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 한국이 방산수출 강국으로 도약하는 전환점이 되었으며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"K-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방산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이라는 용어가 국제 무기시장에서 하나의 브랜드로 자리잡는 결과를 낳았습니다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430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마지막으로 </a:t>
            </a:r>
            <a:r>
              <a:rPr lang="en-US" altLang="ko-KR" dirty="0"/>
              <a:t>K-</a:t>
            </a:r>
            <a:r>
              <a:rPr lang="ko-KR" altLang="en-US" dirty="0"/>
              <a:t>방산의 향후 방향성과 대응전략에 대해 간단히 살펴보겠습니다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060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폴란드와의 성공적인 방산 협력을 기반으로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한국 방산산업은 글로벌 시장에서의 입지를 더욱 강화해야 하는 중요한 시점에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환율 변동성 관리부터 현지화 전략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ESG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기준 준수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기술협력 심화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그리고 유럽 전역으로의 시장 확대에 이르기까지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다각적이고 체계적인 접근이 필요합니다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첫째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외환 및 환리스크 관리 전략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폴란드와의 방산 거래에서 환율 변동 위험은 수익성에 큰 영향을 줄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대부분의 계약이 미 달러화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(USD)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나 유로화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(EUR)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로 체결되었고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한국 기업들은 원화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(KRW)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로 비용을 지출하므로 환리스크 관리가 필수적입니다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둘째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현지화 및 협력 전략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 방산시장에서 장기적 성공을 위해서는 현지화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와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협력전략을 지속적으로 추진해야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앞서 현지 생산과 기술이전을 실행해왔지만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이를 넘어 경영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인력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문화적 현지화와 다각적 파트너십을 강화할 필요가 있습니다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세번째는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글로벌 윤리 및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ESG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기준 통합 전략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국제 방산시장에서 신뢰받는 기업으로 남기 위해서는 글로벌 윤리경영과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ESG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기준을 일관되게 통합하여 준수해야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특히 폴란드 진출 경험을 바탕으로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이를 더 넓은 유럽 및 국제무대에 적용할 전략이 필요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네번째는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중장기 기술이전 및 공동개발 방향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폴란드와의 방산 협력을 중장기적으로 발전시키려면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기술이전의 심화와 공동개발로의 진화가 필요합니다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차적인 기술이전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(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생산기술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정비기술 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은 진행 중이나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이를 넘어 미래 지향적 협력으로 나아가야 합니다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마지막으로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유럽시장 확대를 위한 확장 전략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 성공을 발판으로 유럽 전체 시장에서 영향력을 확대하려면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보다 거시적인 시각의 확장 전략이 필요합니다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폴란드가 동유럽의 군사중심지로 부상하고 있기에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폴란드를 교두보로 삼으면 주변국을 지원하는 연대를 구축하면서 한국 방산은 유럽 안보의 한 축으로 인정받게 될 것입니다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이러한 전략을 바탕으로 전략적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문화적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산업적으로 유럽 깊숙이 스며드는 확장 전략을 실행한다면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K-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cs typeface="+mn-cs"/>
              </a:rPr>
              <a:t>방산의 전성기는 한층 더 오래 이어갈 수 있을 것으로 생각됩니다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cs typeface="+mn-cs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86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K-</a:t>
            </a:r>
            <a:r>
              <a:rPr lang="ko-KR" altLang="en-US" dirty="0"/>
              <a:t>방산이 폴란드 방산시장 진출에 성공한 것은 민관 협업과 현지 시장 분석이 어우러진 결과이며</a:t>
            </a:r>
            <a:r>
              <a:rPr lang="en-US" altLang="ko-KR" dirty="0"/>
              <a:t>, </a:t>
            </a:r>
            <a:r>
              <a:rPr lang="ko-KR" altLang="en-US" dirty="0"/>
              <a:t>향후 유럽 확장을 위한 세 가지 시사점이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현지화 전략을 지속하여 </a:t>
            </a:r>
            <a:r>
              <a:rPr lang="en-US" altLang="ko-KR" dirty="0"/>
              <a:t>EU</a:t>
            </a:r>
            <a:r>
              <a:rPr lang="ko-KR" altLang="en-US" dirty="0"/>
              <a:t>의 무기 국산화 기조에 부합하는 기술 이전 및 합작 생산 제안을 강화해야 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각국의 전력 공백에 맞춘 맞춤형 패키지와 금융조건 제공으로 </a:t>
            </a:r>
            <a:r>
              <a:rPr lang="ko-KR" altLang="en-US" dirty="0" err="1"/>
              <a:t>시장별</a:t>
            </a:r>
            <a:r>
              <a:rPr lang="ko-KR" altLang="en-US" dirty="0"/>
              <a:t> 맞춤 접근이 필요합니다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철저한 사후관리와 계약 이행으로 한국산 무기의 신뢰도를 지속 확보하고</a:t>
            </a:r>
            <a:r>
              <a:rPr lang="en-US" altLang="ko-KR" dirty="0"/>
              <a:t>, </a:t>
            </a:r>
            <a:r>
              <a:rPr lang="ko-KR" altLang="en-US" dirty="0"/>
              <a:t>방산 외교와 홍보도 병행해 나가야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ko-KR" altLang="en-US" dirty="0"/>
              <a:t>폴란드 사례는 방산 수출이 외교적 영향력 확대의 지렛대가 될 수 있음을 보여줍니다</a:t>
            </a:r>
            <a:r>
              <a:rPr lang="en-US" altLang="ko-KR" dirty="0"/>
              <a:t>. </a:t>
            </a:r>
            <a:r>
              <a:rPr lang="ko-KR" altLang="en-US" dirty="0"/>
              <a:t>한국은 이 경험을 바탕으로 유럽과 글로벌 시장에서 전략적 파트너로 자리잡아 ‘세계 </a:t>
            </a:r>
            <a:r>
              <a:rPr lang="en-US" altLang="ko-KR" dirty="0"/>
              <a:t>4</a:t>
            </a:r>
            <a:r>
              <a:rPr lang="ko-KR" altLang="en-US" dirty="0"/>
              <a:t>위 방산 수출국’ 도약을 현실화할 수 있을 것입니다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055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발표를 </a:t>
            </a:r>
            <a:r>
              <a:rPr lang="ko-KR" altLang="en-US" dirty="0" err="1"/>
              <a:t>경청해주시어</a:t>
            </a:r>
            <a:r>
              <a:rPr lang="ko-KR" altLang="en-US" dirty="0"/>
              <a:t> 감사합니다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Q&amp;A </a:t>
            </a:r>
            <a:r>
              <a:rPr lang="ko-KR" altLang="en-US" dirty="0"/>
              <a:t>시간을 갖도록 하겠습니다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990B2-46FC-427A-84C6-EAFFA0D9B889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234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97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65801-EEF3-4B12-BAAE-D45EB20274A0}"/>
              </a:ext>
            </a:extLst>
          </p:cNvPr>
          <p:cNvSpPr txBox="1"/>
          <p:nvPr userDrawn="1"/>
        </p:nvSpPr>
        <p:spPr>
          <a:xfrm>
            <a:off x="342772" y="6316963"/>
            <a:ext cx="12460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" altLang="ko-KR" sz="1200" b="1" i="0" kern="120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+mn-cs"/>
              </a:rPr>
              <a:t>Team Field Project</a:t>
            </a:r>
            <a:endParaRPr kumimoji="1" lang="ko-KR" altLang="en-US" sz="1200" b="1" i="0" kern="120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C2CEF-FD03-447C-B6DE-FD997CDC7AAA}"/>
              </a:ext>
            </a:extLst>
          </p:cNvPr>
          <p:cNvSpPr txBox="1"/>
          <p:nvPr userDrawn="1"/>
        </p:nvSpPr>
        <p:spPr>
          <a:xfrm>
            <a:off x="9144000" y="6316963"/>
            <a:ext cx="270522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ko-KR" sz="1200" b="1" i="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Global Business Environment and Ethics</a:t>
            </a:r>
            <a:endParaRPr kumimoji="1" lang="ko-KR" altLang="en-US" sz="1200" b="1" i="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4DA6F6-99FC-4F71-9321-5D20D54EB971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12192001" cy="101065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112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83A8-22D6-4D82-8BA9-385A4D007E57}"/>
              </a:ext>
            </a:extLst>
          </p:cNvPr>
          <p:cNvSpPr txBox="1">
            <a:spLocks/>
          </p:cNvSpPr>
          <p:nvPr userDrawn="1"/>
        </p:nvSpPr>
        <p:spPr>
          <a:xfrm>
            <a:off x="5067300" y="6226733"/>
            <a:ext cx="20574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KoPub돋움체_Pro Medium" panose="00000600000000000000" pitchFamily="50" charset="-127"/>
                <a:ea typeface="KoPub돋움체_Pro Medium" panose="000006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BFE5F1-6C91-48DE-9EFB-04B1E51C7EB0}" type="slidenum">
              <a:rPr lang="ko-KR" altLang="en-US" sz="1200" smtClean="0">
                <a:latin typeface="Freesentation 5 Medium" pitchFamily="2" charset="-127"/>
                <a:ea typeface="Freesentation 5 Medium" pitchFamily="2" charset="-127"/>
              </a:rPr>
              <a:pPr/>
              <a:t>‹#›</a:t>
            </a:fld>
            <a:endParaRPr lang="ko-KR" altLang="en-US" sz="1200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49874-8762-4DC2-BB98-8EA505CA7467}"/>
              </a:ext>
            </a:extLst>
          </p:cNvPr>
          <p:cNvSpPr txBox="1"/>
          <p:nvPr userDrawn="1"/>
        </p:nvSpPr>
        <p:spPr>
          <a:xfrm>
            <a:off x="1146849" y="591916"/>
            <a:ext cx="315631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1. </a:t>
            </a:r>
            <a:r>
              <a:rPr lang="ko-KR" altLang="en-US" sz="2400" b="1" kern="1200" dirty="0" err="1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폴란드ㆍ방산산업</a:t>
            </a:r>
            <a:r>
              <a:rPr lang="ko-KR" altLang="en-US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 선정 배경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4ED22C-D504-4987-86EB-D989426F40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957" y="424826"/>
            <a:ext cx="585827" cy="58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3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  <p15:guide id="4" orient="horz" pos="2360" userDrawn="1">
          <p15:clr>
            <a:srgbClr val="FBAE40"/>
          </p15:clr>
        </p15:guide>
        <p15:guide id="5" pos="3940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pos="211" userDrawn="1">
          <p15:clr>
            <a:srgbClr val="FBAE40"/>
          </p15:clr>
        </p15:guide>
        <p15:guide id="8" pos="7469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orient="horz" pos="388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65801-EEF3-4B12-BAAE-D45EB20274A0}"/>
              </a:ext>
            </a:extLst>
          </p:cNvPr>
          <p:cNvSpPr txBox="1"/>
          <p:nvPr userDrawn="1"/>
        </p:nvSpPr>
        <p:spPr>
          <a:xfrm>
            <a:off x="342772" y="6316963"/>
            <a:ext cx="12460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" altLang="ko-KR" sz="1200" b="1" i="0" kern="120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+mn-cs"/>
              </a:rPr>
              <a:t>Team Field Project</a:t>
            </a:r>
            <a:endParaRPr kumimoji="1" lang="ko-KR" altLang="en-US" sz="1200" b="1" i="0" kern="120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C2CEF-FD03-447C-B6DE-FD997CDC7AAA}"/>
              </a:ext>
            </a:extLst>
          </p:cNvPr>
          <p:cNvSpPr txBox="1"/>
          <p:nvPr userDrawn="1"/>
        </p:nvSpPr>
        <p:spPr>
          <a:xfrm>
            <a:off x="9144000" y="6316963"/>
            <a:ext cx="270522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ko-KR" sz="1200" b="1" i="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Global Business Environment and Ethics</a:t>
            </a:r>
            <a:endParaRPr kumimoji="1" lang="ko-KR" altLang="en-US" sz="1200" b="1" i="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4DA6F6-99FC-4F71-9321-5D20D54EB971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12192001" cy="101065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112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83A8-22D6-4D82-8BA9-385A4D007E57}"/>
              </a:ext>
            </a:extLst>
          </p:cNvPr>
          <p:cNvSpPr txBox="1">
            <a:spLocks/>
          </p:cNvSpPr>
          <p:nvPr userDrawn="1"/>
        </p:nvSpPr>
        <p:spPr>
          <a:xfrm>
            <a:off x="5067300" y="6226733"/>
            <a:ext cx="20574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KoPub돋움체_Pro Medium" panose="00000600000000000000" pitchFamily="50" charset="-127"/>
                <a:ea typeface="KoPub돋움체_Pro Medium" panose="000006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BFE5F1-6C91-48DE-9EFB-04B1E51C7EB0}" type="slidenum">
              <a:rPr lang="ko-KR" altLang="en-US" sz="1200" smtClean="0">
                <a:latin typeface="Freesentation 5 Medium" pitchFamily="2" charset="-127"/>
                <a:ea typeface="Freesentation 5 Medium" pitchFamily="2" charset="-127"/>
              </a:rPr>
              <a:pPr/>
              <a:t>‹#›</a:t>
            </a:fld>
            <a:endParaRPr lang="ko-KR" altLang="en-US" sz="1200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49874-8762-4DC2-BB98-8EA505CA7467}"/>
              </a:ext>
            </a:extLst>
          </p:cNvPr>
          <p:cNvSpPr txBox="1"/>
          <p:nvPr userDrawn="1"/>
        </p:nvSpPr>
        <p:spPr>
          <a:xfrm>
            <a:off x="1146849" y="591916"/>
            <a:ext cx="209031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2. </a:t>
            </a:r>
            <a:r>
              <a:rPr lang="ko-KR" altLang="en-US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폴란드 국가 환경</a:t>
            </a:r>
          </a:p>
        </p:txBody>
      </p:sp>
      <p:pic>
        <p:nvPicPr>
          <p:cNvPr id="9" name="Picture 2" descr="Poland Logo PNG Vector (EPS) Free Download">
            <a:extLst>
              <a:ext uri="{FF2B5EF4-FFF2-40B4-BE49-F238E27FC236}">
                <a16:creationId xmlns:a16="http://schemas.microsoft.com/office/drawing/2014/main" id="{217B9238-05F2-4B60-90CF-A942BEDFA1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17" y="239127"/>
            <a:ext cx="771527" cy="77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772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  <p15:guide id="4" orient="horz" pos="2360">
          <p15:clr>
            <a:srgbClr val="FBAE40"/>
          </p15:clr>
        </p15:guide>
        <p15:guide id="5" pos="3940">
          <p15:clr>
            <a:srgbClr val="FBAE40"/>
          </p15:clr>
        </p15:guide>
        <p15:guide id="6" pos="3749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orient="horz" pos="38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65801-EEF3-4B12-BAAE-D45EB20274A0}"/>
              </a:ext>
            </a:extLst>
          </p:cNvPr>
          <p:cNvSpPr txBox="1"/>
          <p:nvPr userDrawn="1"/>
        </p:nvSpPr>
        <p:spPr>
          <a:xfrm>
            <a:off x="342772" y="6316963"/>
            <a:ext cx="12460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" altLang="ko-KR" sz="1200" b="1" i="0" kern="120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+mn-cs"/>
              </a:rPr>
              <a:t>Team Field Project</a:t>
            </a:r>
            <a:endParaRPr kumimoji="1" lang="ko-KR" altLang="en-US" sz="1200" b="1" i="0" kern="120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C2CEF-FD03-447C-B6DE-FD997CDC7AAA}"/>
              </a:ext>
            </a:extLst>
          </p:cNvPr>
          <p:cNvSpPr txBox="1"/>
          <p:nvPr userDrawn="1"/>
        </p:nvSpPr>
        <p:spPr>
          <a:xfrm>
            <a:off x="9144000" y="6316963"/>
            <a:ext cx="270522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ko-KR" sz="1200" b="1" i="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Global Business Environment and Ethics</a:t>
            </a:r>
            <a:endParaRPr kumimoji="1" lang="ko-KR" altLang="en-US" sz="1200" b="1" i="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4DA6F6-99FC-4F71-9321-5D20D54EB971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12192001" cy="101065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112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83A8-22D6-4D82-8BA9-385A4D007E57}"/>
              </a:ext>
            </a:extLst>
          </p:cNvPr>
          <p:cNvSpPr txBox="1">
            <a:spLocks/>
          </p:cNvSpPr>
          <p:nvPr userDrawn="1"/>
        </p:nvSpPr>
        <p:spPr>
          <a:xfrm>
            <a:off x="5067300" y="6226733"/>
            <a:ext cx="20574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KoPub돋움체_Pro Medium" panose="00000600000000000000" pitchFamily="50" charset="-127"/>
                <a:ea typeface="KoPub돋움체_Pro Medium" panose="000006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BFE5F1-6C91-48DE-9EFB-04B1E51C7EB0}" type="slidenum">
              <a:rPr lang="ko-KR" altLang="en-US" sz="1200" smtClean="0">
                <a:latin typeface="Freesentation 5 Medium" pitchFamily="2" charset="-127"/>
                <a:ea typeface="Freesentation 5 Medium" pitchFamily="2" charset="-127"/>
              </a:rPr>
              <a:pPr/>
              <a:t>‹#›</a:t>
            </a:fld>
            <a:endParaRPr lang="ko-KR" altLang="en-US" sz="1200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49874-8762-4DC2-BB98-8EA505CA7467}"/>
              </a:ext>
            </a:extLst>
          </p:cNvPr>
          <p:cNvSpPr txBox="1"/>
          <p:nvPr userDrawn="1"/>
        </p:nvSpPr>
        <p:spPr>
          <a:xfrm>
            <a:off x="1146849" y="591916"/>
            <a:ext cx="345447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3. </a:t>
            </a:r>
            <a:r>
              <a:rPr lang="ko-KR" altLang="en-US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폴란드 방산 산업</a:t>
            </a:r>
            <a:r>
              <a:rPr lang="en-US" altLang="ko-KR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 </a:t>
            </a:r>
            <a:r>
              <a:rPr lang="ko-KR" altLang="en-US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및 시장 환경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F4E790-9CEB-4511-BF92-98EB31E6E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34963" y="311149"/>
            <a:ext cx="771527" cy="77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15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  <p15:guide id="4" orient="horz" pos="2360">
          <p15:clr>
            <a:srgbClr val="FBAE40"/>
          </p15:clr>
        </p15:guide>
        <p15:guide id="5" pos="3940">
          <p15:clr>
            <a:srgbClr val="FBAE40"/>
          </p15:clr>
        </p15:guide>
        <p15:guide id="6" pos="3749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orient="horz" pos="38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65801-EEF3-4B12-BAAE-D45EB20274A0}"/>
              </a:ext>
            </a:extLst>
          </p:cNvPr>
          <p:cNvSpPr txBox="1"/>
          <p:nvPr userDrawn="1"/>
        </p:nvSpPr>
        <p:spPr>
          <a:xfrm>
            <a:off x="342772" y="6316963"/>
            <a:ext cx="12460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" altLang="ko-KR" sz="1200" b="1" i="0" kern="120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+mn-cs"/>
              </a:rPr>
              <a:t>Team Field Project</a:t>
            </a:r>
            <a:endParaRPr kumimoji="1" lang="ko-KR" altLang="en-US" sz="1200" b="1" i="0" kern="120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C2CEF-FD03-447C-B6DE-FD997CDC7AAA}"/>
              </a:ext>
            </a:extLst>
          </p:cNvPr>
          <p:cNvSpPr txBox="1"/>
          <p:nvPr userDrawn="1"/>
        </p:nvSpPr>
        <p:spPr>
          <a:xfrm>
            <a:off x="9144000" y="6316963"/>
            <a:ext cx="270522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ko-KR" sz="1200" b="1" i="0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Global Business Environment and Ethics</a:t>
            </a:r>
            <a:endParaRPr kumimoji="1" lang="ko-KR" altLang="en-US" sz="1200" b="1" i="0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4DA6F6-99FC-4F71-9321-5D20D54EB971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12192001" cy="101065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112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83A8-22D6-4D82-8BA9-385A4D007E57}"/>
              </a:ext>
            </a:extLst>
          </p:cNvPr>
          <p:cNvSpPr txBox="1">
            <a:spLocks/>
          </p:cNvSpPr>
          <p:nvPr userDrawn="1"/>
        </p:nvSpPr>
        <p:spPr>
          <a:xfrm>
            <a:off x="5067300" y="6226733"/>
            <a:ext cx="20574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KoPub돋움체_Pro Medium" panose="00000600000000000000" pitchFamily="50" charset="-127"/>
                <a:ea typeface="KoPub돋움체_Pro Medium" panose="000006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BFE5F1-6C91-48DE-9EFB-04B1E51C7EB0}" type="slidenum">
              <a:rPr lang="ko-KR" altLang="en-US" sz="1200" smtClean="0">
                <a:latin typeface="Freesentation 5 Medium" pitchFamily="2" charset="-127"/>
                <a:ea typeface="Freesentation 5 Medium" pitchFamily="2" charset="-127"/>
              </a:rPr>
              <a:pPr/>
              <a:t>‹#›</a:t>
            </a:fld>
            <a:endParaRPr lang="ko-KR" altLang="en-US" sz="1200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49874-8762-4DC2-BB98-8EA505CA7467}"/>
              </a:ext>
            </a:extLst>
          </p:cNvPr>
          <p:cNvSpPr txBox="1"/>
          <p:nvPr userDrawn="1"/>
        </p:nvSpPr>
        <p:spPr>
          <a:xfrm>
            <a:off x="1146849" y="591916"/>
            <a:ext cx="39187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4. K-</a:t>
            </a:r>
            <a:r>
              <a:rPr lang="ko-KR" altLang="en-US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방산산업 폴란드 진출 성과 분석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20A4DCB-F27E-4DBA-B380-511AC060D7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068" y="461112"/>
            <a:ext cx="549541" cy="54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47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  <p15:guide id="4" orient="horz" pos="2360">
          <p15:clr>
            <a:srgbClr val="FBAE40"/>
          </p15:clr>
        </p15:guide>
        <p15:guide id="5" pos="3940">
          <p15:clr>
            <a:srgbClr val="FBAE40"/>
          </p15:clr>
        </p15:guide>
        <p15:guide id="6" pos="3749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orient="horz" pos="38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65801-EEF3-4B12-BAAE-D45EB20274A0}"/>
              </a:ext>
            </a:extLst>
          </p:cNvPr>
          <p:cNvSpPr txBox="1"/>
          <p:nvPr userDrawn="1"/>
        </p:nvSpPr>
        <p:spPr>
          <a:xfrm>
            <a:off x="342772" y="6316963"/>
            <a:ext cx="12460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" altLang="ko-KR" sz="1200" b="1" i="0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+mn-cs"/>
              </a:rPr>
              <a:t>Team Field Project</a:t>
            </a:r>
            <a:endParaRPr kumimoji="1" lang="ko-KR" altLang="en-US" sz="1200" b="1" i="0" kern="1200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C2CEF-FD03-447C-B6DE-FD997CDC7AAA}"/>
              </a:ext>
            </a:extLst>
          </p:cNvPr>
          <p:cNvSpPr txBox="1"/>
          <p:nvPr userDrawn="1"/>
        </p:nvSpPr>
        <p:spPr>
          <a:xfrm>
            <a:off x="9144000" y="6316963"/>
            <a:ext cx="270522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ko-KR" sz="1200" b="1" i="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Global Business Environment and Ethics</a:t>
            </a:r>
            <a:endParaRPr kumimoji="1" lang="ko-KR" altLang="en-US" sz="1200" b="1" i="0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4DA6F6-99FC-4F71-9321-5D20D54EB971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12192001" cy="101065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112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83A8-22D6-4D82-8BA9-385A4D007E57}"/>
              </a:ext>
            </a:extLst>
          </p:cNvPr>
          <p:cNvSpPr txBox="1">
            <a:spLocks/>
          </p:cNvSpPr>
          <p:nvPr userDrawn="1"/>
        </p:nvSpPr>
        <p:spPr>
          <a:xfrm>
            <a:off x="5067300" y="6226733"/>
            <a:ext cx="20574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KoPub돋움체_Pro Medium" panose="00000600000000000000" pitchFamily="50" charset="-127"/>
                <a:ea typeface="KoPub돋움체_Pro Medium" panose="000006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BFE5F1-6C91-48DE-9EFB-04B1E51C7EB0}" type="slidenum">
              <a:rPr lang="ko-KR" altLang="en-US" sz="1200" smtClean="0">
                <a:solidFill>
                  <a:srgbClr val="F1F1F1"/>
                </a:solidFill>
                <a:latin typeface="Freesentation 5 Medium" pitchFamily="2" charset="-127"/>
                <a:ea typeface="Freesentation 5 Medium" pitchFamily="2" charset="-127"/>
              </a:rPr>
              <a:pPr/>
              <a:t>‹#›</a:t>
            </a:fld>
            <a:endParaRPr lang="ko-KR" altLang="en-US" sz="1200" dirty="0">
              <a:solidFill>
                <a:srgbClr val="F1F1F1"/>
              </a:solidFill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49874-8762-4DC2-BB98-8EA505CA7467}"/>
              </a:ext>
            </a:extLst>
          </p:cNvPr>
          <p:cNvSpPr txBox="1"/>
          <p:nvPr userDrawn="1"/>
        </p:nvSpPr>
        <p:spPr>
          <a:xfrm>
            <a:off x="1146849" y="591916"/>
            <a:ext cx="39187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5. K-</a:t>
            </a:r>
            <a:r>
              <a:rPr lang="ko-KR" altLang="en-US" sz="2400" b="1" kern="1200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방산의 향후 방향성과 대응 전략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11DEAEA-6A5B-415C-B2C8-C22C49A255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1013"/>
            <a:ext cx="715040" cy="71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21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  <p15:guide id="4" orient="horz" pos="2360">
          <p15:clr>
            <a:srgbClr val="FBAE40"/>
          </p15:clr>
        </p15:guide>
        <p15:guide id="5" pos="3940">
          <p15:clr>
            <a:srgbClr val="FBAE40"/>
          </p15:clr>
        </p15:guide>
        <p15:guide id="6" pos="3749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orient="horz" pos="38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54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hart" Target="../charts/chart1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hyperlink" Target="https://www.youtube.com/watch?v=15Mf1AF8oUo" TargetMode="Externa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emf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56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11" Type="http://schemas.openxmlformats.org/officeDocument/2006/relationships/image" Target="../media/image54.png"/><Relationship Id="rId5" Type="http://schemas.openxmlformats.org/officeDocument/2006/relationships/image" Target="../media/image50.png"/><Relationship Id="rId10" Type="http://schemas.openxmlformats.org/officeDocument/2006/relationships/image" Target="../media/image53.png"/><Relationship Id="rId4" Type="http://schemas.openxmlformats.org/officeDocument/2006/relationships/image" Target="../media/image49.png"/><Relationship Id="rId9" Type="http://schemas.openxmlformats.org/officeDocument/2006/relationships/chart" Target="../charts/chart2.xml"/><Relationship Id="rId1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microsoft.com/office/2007/relationships/hdphoto" Target="../media/hdphoto4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0" Type="http://schemas.openxmlformats.org/officeDocument/2006/relationships/image" Target="../media/image66.png"/><Relationship Id="rId4" Type="http://schemas.openxmlformats.org/officeDocument/2006/relationships/image" Target="../media/image63.png"/><Relationship Id="rId9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jpeg"/><Relationship Id="rId5" Type="http://schemas.openxmlformats.org/officeDocument/2006/relationships/image" Target="../media/image69.png"/><Relationship Id="rId4" Type="http://schemas.openxmlformats.org/officeDocument/2006/relationships/image" Target="../media/image6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9.jpeg"/><Relationship Id="rId4" Type="http://schemas.openxmlformats.org/officeDocument/2006/relationships/image" Target="../media/image7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jpe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sv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jpeg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F007352-7F60-47E7-AE10-C2E0F454E29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Freesentation 5 Medium" pitchFamily="2" charset="-127"/>
              <a:ea typeface="Freesentation 5 Medium" pitchFamily="2" charset="-127"/>
            </a:endParaRPr>
          </a:p>
        </p:txBody>
      </p:sp>
      <p:pic>
        <p:nvPicPr>
          <p:cNvPr id="5" name="Picture 2" descr="Poland Logo PNG Vector (EPS) Free Download">
            <a:extLst>
              <a:ext uri="{FF2B5EF4-FFF2-40B4-BE49-F238E27FC236}">
                <a16:creationId xmlns:a16="http://schemas.microsoft.com/office/drawing/2014/main" id="{F25A632E-E8FE-42F9-9ADD-0B1F0BFFF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07" y="539755"/>
            <a:ext cx="1550307" cy="155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794FC5-47BB-4FCF-91AD-658C6AAFC287}"/>
              </a:ext>
            </a:extLst>
          </p:cNvPr>
          <p:cNvSpPr txBox="1"/>
          <p:nvPr/>
        </p:nvSpPr>
        <p:spPr>
          <a:xfrm>
            <a:off x="344951" y="2222765"/>
            <a:ext cx="709643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ko-KR" sz="3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K-</a:t>
            </a:r>
            <a:r>
              <a:rPr kumimoji="1" lang="ko-KR" altLang="en-US" sz="3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방산 진출을 위한 폴란드 국가 및 산업 분석</a:t>
            </a:r>
          </a:p>
        </p:txBody>
      </p:sp>
      <p:cxnSp>
        <p:nvCxnSpPr>
          <p:cNvPr id="7" name="직선 연결선[R] 15">
            <a:extLst>
              <a:ext uri="{FF2B5EF4-FFF2-40B4-BE49-F238E27FC236}">
                <a16:creationId xmlns:a16="http://schemas.microsoft.com/office/drawing/2014/main" id="{93AE6449-3E2E-4BC5-BA27-35DBDAFDC6BA}"/>
              </a:ext>
            </a:extLst>
          </p:cNvPr>
          <p:cNvCxnSpPr>
            <a:cxnSpLocks/>
          </p:cNvCxnSpPr>
          <p:nvPr/>
        </p:nvCxnSpPr>
        <p:spPr>
          <a:xfrm>
            <a:off x="336549" y="2802583"/>
            <a:ext cx="11514932" cy="0"/>
          </a:xfrm>
          <a:prstGeom prst="line">
            <a:avLst/>
          </a:prstGeom>
          <a:ln w="44450">
            <a:solidFill>
              <a:srgbClr val="F1F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D5A6BA-6CEA-494A-95B5-59D0F1622732}"/>
              </a:ext>
            </a:extLst>
          </p:cNvPr>
          <p:cNvSpPr txBox="1"/>
          <p:nvPr/>
        </p:nvSpPr>
        <p:spPr>
          <a:xfrm>
            <a:off x="248704" y="5963241"/>
            <a:ext cx="5585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Global Business Environment and Ethics</a:t>
            </a:r>
            <a:endParaRPr lang="ko-KR" altLang="en-US" sz="2400" b="1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B652BE-6053-42E1-814E-5D2B1E925266}"/>
              </a:ext>
            </a:extLst>
          </p:cNvPr>
          <p:cNvSpPr txBox="1"/>
          <p:nvPr/>
        </p:nvSpPr>
        <p:spPr>
          <a:xfrm>
            <a:off x="9658633" y="6055580"/>
            <a:ext cx="22910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Session 14  2025. 12. 2.</a:t>
            </a:r>
            <a:endParaRPr lang="ko-KR" altLang="en-US" sz="1600" b="1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08811E-4454-4DC5-A65A-7CC679322B35}"/>
              </a:ext>
            </a:extLst>
          </p:cNvPr>
          <p:cNvSpPr txBox="1"/>
          <p:nvPr/>
        </p:nvSpPr>
        <p:spPr>
          <a:xfrm>
            <a:off x="8895284" y="5718812"/>
            <a:ext cx="3054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KUMBA</a:t>
            </a:r>
            <a:r>
              <a:rPr lang="ko-KR" altLang="en-US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32</a:t>
            </a:r>
            <a:r>
              <a:rPr lang="ko-KR" altLang="en-US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기 </a:t>
            </a:r>
            <a:r>
              <a:rPr lang="en-US" altLang="ko-KR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Team </a:t>
            </a:r>
            <a:r>
              <a:rPr lang="ko-KR" altLang="en-US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강석범 </a:t>
            </a:r>
            <a:r>
              <a:rPr lang="en-US" altLang="ko-KR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&amp; </a:t>
            </a:r>
            <a:r>
              <a:rPr lang="ko-KR" altLang="en-US" sz="16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김지후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DB33B8-53F8-4E8F-BF1D-F0909FCC7786}"/>
              </a:ext>
            </a:extLst>
          </p:cNvPr>
          <p:cNvSpPr txBox="1"/>
          <p:nvPr/>
        </p:nvSpPr>
        <p:spPr>
          <a:xfrm>
            <a:off x="345668" y="2831219"/>
            <a:ext cx="70986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en" altLang="ko-KR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The One-page Progress Report on Team Field 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D591A-5FFC-44C0-A5B6-5760C7A6F32A}"/>
              </a:ext>
            </a:extLst>
          </p:cNvPr>
          <p:cNvSpPr txBox="1"/>
          <p:nvPr/>
        </p:nvSpPr>
        <p:spPr>
          <a:xfrm>
            <a:off x="10897887" y="2831219"/>
            <a:ext cx="94897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buNone/>
            </a:pPr>
            <a:r>
              <a:rPr lang="ko-KR" altLang="en-US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최종발표</a:t>
            </a:r>
            <a:endParaRPr lang="en" altLang="ko-KR" sz="2400" b="1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472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번째 K9 도입국 탄생”… 한화에어로스페이스, 루마니아와 1.4조 계약 | 한화그룹">
            <a:extLst>
              <a:ext uri="{FF2B5EF4-FFF2-40B4-BE49-F238E27FC236}">
                <a16:creationId xmlns:a16="http://schemas.microsoft.com/office/drawing/2014/main" id="{1D0DE144-8FBB-4382-99E9-F73E13610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21" b="12483"/>
          <a:stretch/>
        </p:blipFill>
        <p:spPr bwMode="auto">
          <a:xfrm>
            <a:off x="-16933" y="0"/>
            <a:ext cx="1220893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E621FBA-45CB-4454-B3CC-ADD98898C958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lumMod val="85000"/>
              <a:lumOff val="1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ED7F3-D342-4F0C-8A62-4FD64CEFC832}"/>
              </a:ext>
            </a:extLst>
          </p:cNvPr>
          <p:cNvSpPr txBox="1"/>
          <p:nvPr/>
        </p:nvSpPr>
        <p:spPr>
          <a:xfrm>
            <a:off x="4831235" y="239144"/>
            <a:ext cx="2529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Table of Contents</a:t>
            </a:r>
            <a:endParaRPr kumimoji="1" lang="ko-KR" altLang="en-US" sz="2400" b="1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D5C7D87-4491-4C92-A5C3-F342D7B6B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06536"/>
              </p:ext>
            </p:extLst>
          </p:nvPr>
        </p:nvGraphicFramePr>
        <p:xfrm>
          <a:off x="479425" y="700799"/>
          <a:ext cx="11233150" cy="560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3063">
                  <a:extLst>
                    <a:ext uri="{9D8B030D-6E8A-4147-A177-3AD203B41FA5}">
                      <a16:colId xmlns:a16="http://schemas.microsoft.com/office/drawing/2014/main" val="963067029"/>
                    </a:ext>
                  </a:extLst>
                </a:gridCol>
                <a:gridCol w="6930087">
                  <a:extLst>
                    <a:ext uri="{9D8B030D-6E8A-4147-A177-3AD203B41FA5}">
                      <a16:colId xmlns:a16="http://schemas.microsoft.com/office/drawing/2014/main" val="1381471855"/>
                    </a:ext>
                  </a:extLst>
                </a:gridCol>
              </a:tblGrid>
              <a:tr h="20333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목차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565852"/>
                  </a:ext>
                </a:extLst>
              </a:tr>
              <a:tr h="2711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1. </a:t>
                      </a:r>
                      <a:r>
                        <a:rPr lang="ko-KR" altLang="en-US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</a:t>
                      </a:r>
                      <a:r>
                        <a:rPr lang="en-US" altLang="ko-KR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방산산업 선정 배경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글로벌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방산산업 현황 및 중요성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653378"/>
                  </a:ext>
                </a:extLst>
              </a:tr>
              <a:tr h="10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2. </a:t>
                      </a:r>
                      <a:r>
                        <a:rPr lang="ko-KR" altLang="en-US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 국가 환경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 정치 상황</a:t>
                      </a: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국제 관계 및 이슈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(NATO, EU 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등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)</a:t>
                      </a: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 방산 시장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유럽 최대 성장 동력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경제적 환경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591605"/>
                  </a:ext>
                </a:extLst>
              </a:tr>
              <a:tr h="2194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3. </a:t>
                      </a:r>
                      <a:r>
                        <a:rPr lang="ko-KR" altLang="en-US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 방산산업 및 시장환경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글로벌 방산산업 환경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 방산산업 세분화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육해공을 중심으로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K-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방산 주력 육군 관련 경쟁상품 분석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경쟁자 분석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 방산산업 구조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산업분석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: 5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가지 힘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포터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)</a:t>
                      </a: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폴란드 방산시장 고객 특성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K-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방산의 폴란드 방산시장 진출 </a:t>
                      </a: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SWOT 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분석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755476"/>
                  </a:ext>
                </a:extLst>
              </a:tr>
              <a:tr h="2711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4. K-</a:t>
                      </a:r>
                      <a:r>
                        <a:rPr lang="ko-KR" altLang="en-US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방산의 폴란드 진출 성과 분석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K-</a:t>
                      </a: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방산 진출 성과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039937"/>
                  </a:ext>
                </a:extLst>
              </a:tr>
              <a:tr h="1321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5. K-</a:t>
                      </a:r>
                      <a:r>
                        <a:rPr lang="ko-KR" altLang="en-US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방산의 향후 방향성과 대응 전략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외환 리스크 관리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현지화 및 협력 전략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중장기 기술이전 및 공동개발 방향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유럽시장 확대를 위한 확장 전략</a:t>
                      </a:r>
                      <a:endParaRPr lang="en-US" altLang="ko-KR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C606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결론 및 시사점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9475"/>
                  </a:ext>
                </a:extLst>
              </a:tr>
              <a:tr h="2711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6. Q&amp;A</a:t>
                      </a:r>
                      <a:endParaRPr lang="ko-KR" altLang="en-US" sz="1600" dirty="0">
                        <a:solidFill>
                          <a:srgbClr val="F1F1F1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1400" dirty="0">
                        <a:solidFill>
                          <a:srgbClr val="FFC606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70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05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8E0276D2-F8C5-463B-8EF4-83401375C19C}"/>
              </a:ext>
            </a:extLst>
          </p:cNvPr>
          <p:cNvGrpSpPr/>
          <p:nvPr/>
        </p:nvGrpSpPr>
        <p:grpSpPr>
          <a:xfrm>
            <a:off x="0" y="0"/>
            <a:ext cx="12192000" cy="6857999"/>
            <a:chOff x="0" y="1"/>
            <a:chExt cx="9144001" cy="51435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90FE32AE-1BF4-40D9-8624-497EF24233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470" t="4166" r="385" b="2083"/>
            <a:stretch/>
          </p:blipFill>
          <p:spPr>
            <a:xfrm>
              <a:off x="0" y="1"/>
              <a:ext cx="9144000" cy="5143500"/>
            </a:xfrm>
            <a:prstGeom prst="rect">
              <a:avLst/>
            </a:prstGeom>
          </p:spPr>
        </p:pic>
        <p:pic>
          <p:nvPicPr>
            <p:cNvPr id="4" name="Picture 10" descr="플래그와 함께 폴란드의 3d 지도 | 프리미엄 벡터">
              <a:extLst>
                <a:ext uri="{FF2B5EF4-FFF2-40B4-BE49-F238E27FC236}">
                  <a16:creationId xmlns:a16="http://schemas.microsoft.com/office/drawing/2014/main" id="{CA02B710-6F9B-48CD-9A9B-D0D48C11E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DCDDDF"/>
                </a:clrFrom>
                <a:clrTo>
                  <a:srgbClr val="DCDDD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1072" y="747041"/>
              <a:ext cx="1051576" cy="1051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Collection of PNG HD Magnifying Glass. | PlusPNG">
              <a:extLst>
                <a:ext uri="{FF2B5EF4-FFF2-40B4-BE49-F238E27FC236}">
                  <a16:creationId xmlns:a16="http://schemas.microsoft.com/office/drawing/2014/main" id="{3ADC00A0-10A5-43D6-AADF-FC77E79927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8563" r="94563">
                          <a14:foregroundMark x1="10250" y1="53833" x2="8188" y2="43333"/>
                          <a14:foregroundMark x1="8188" y1="43333" x2="9125" y2="33333"/>
                          <a14:foregroundMark x1="9125" y1="33333" x2="12875" y2="24750"/>
                          <a14:foregroundMark x1="12875" y1="24750" x2="18375" y2="18250"/>
                          <a14:foregroundMark x1="18375" y1="18250" x2="25813" y2="14500"/>
                          <a14:foregroundMark x1="25813" y1="14500" x2="33813" y2="14833"/>
                          <a14:foregroundMark x1="33813" y1="14833" x2="41875" y2="20083"/>
                          <a14:foregroundMark x1="41875" y1="20083" x2="46938" y2="28333"/>
                          <a14:foregroundMark x1="46938" y1="28333" x2="50000" y2="39500"/>
                          <a14:foregroundMark x1="49918" y1="41000" x2="49375" y2="50917"/>
                          <a14:foregroundMark x1="50000" y1="39500" x2="49918" y2="41000"/>
                          <a14:foregroundMark x1="44039" y1="58776" x2="38000" y2="67667"/>
                          <a14:foregroundMark x1="49375" y1="50917" x2="45996" y2="55892"/>
                          <a14:foregroundMark x1="38000" y1="67667" x2="29500" y2="71667"/>
                          <a14:foregroundMark x1="29500" y1="71667" x2="22188" y2="69667"/>
                          <a14:foregroundMark x1="22188" y1="69667" x2="14125" y2="62750"/>
                          <a14:foregroundMark x1="14125" y1="62750" x2="9438" y2="53167"/>
                          <a14:foregroundMark x1="9438" y1="53167" x2="8563" y2="34000"/>
                          <a14:foregroundMark x1="89125" y1="77833" x2="92625" y2="86667"/>
                          <a14:foregroundMark x1="92625" y1="86667" x2="94563" y2="83667"/>
                          <a14:backgroundMark x1="49063" y1="41000" x2="49063" y2="41000"/>
                          <a14:backgroundMark x1="19375" y1="22000" x2="29125" y2="21500"/>
                          <a14:backgroundMark x1="29125" y1="21500" x2="38063" y2="26500"/>
                          <a14:backgroundMark x1="38063" y1="26500" x2="43188" y2="34500"/>
                          <a14:backgroundMark x1="43188" y1="34500" x2="45750" y2="46417"/>
                          <a14:backgroundMark x1="45750" y1="46417" x2="44750" y2="57917"/>
                          <a14:backgroundMark x1="44750" y1="57917" x2="43813" y2="58417"/>
                          <a14:backgroundMark x1="35563" y1="51750" x2="32688" y2="43167"/>
                          <a14:backgroundMark x1="6500" y1="36250" x2="6500" y2="36250"/>
                          <a14:backgroundMark x1="6688" y1="35500" x2="5500" y2="39000"/>
                          <a14:backgroundMark x1="7938" y1="32250" x2="6688" y2="3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00000">
              <a:off x="1610934" y="541362"/>
              <a:ext cx="3569164" cy="2676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8057B90-D7E0-43A9-97D9-40807CF8DF90}"/>
                </a:ext>
              </a:extLst>
            </p:cNvPr>
            <p:cNvSpPr/>
            <p:nvPr/>
          </p:nvSpPr>
          <p:spPr>
            <a:xfrm>
              <a:off x="3558541" y="1"/>
              <a:ext cx="5585460" cy="51435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30000">
                  <a:srgbClr val="F1F1F1">
                    <a:alpha val="25000"/>
                  </a:srgbClr>
                </a:gs>
                <a:gs pos="50000">
                  <a:srgbClr val="F1F1F1">
                    <a:alpha val="50000"/>
                  </a:srgbClr>
                </a:gs>
                <a:gs pos="100000">
                  <a:srgbClr val="F1F1F1"/>
                </a:gs>
                <a:gs pos="75000">
                  <a:srgbClr val="F1F1F1"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47B764-A48A-4361-A6F5-05197D70022E}"/>
              </a:ext>
            </a:extLst>
          </p:cNvPr>
          <p:cNvSpPr txBox="1"/>
          <p:nvPr/>
        </p:nvSpPr>
        <p:spPr>
          <a:xfrm>
            <a:off x="324904" y="6026109"/>
            <a:ext cx="540083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Global Business Environment and Ethics</a:t>
            </a:r>
            <a:endParaRPr lang="ko-KR" altLang="en-US" sz="2400" b="1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7FD8D-930C-4BE9-AF69-B034BA0BC1EF}"/>
              </a:ext>
            </a:extLst>
          </p:cNvPr>
          <p:cNvSpPr txBox="1"/>
          <p:nvPr/>
        </p:nvSpPr>
        <p:spPr>
          <a:xfrm>
            <a:off x="7286351" y="1088582"/>
            <a:ext cx="464710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6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1. </a:t>
            </a:r>
            <a:r>
              <a:rPr lang="ko-KR" altLang="en-US" sz="36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폴란드 방산산업 선정 배경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21EFF-A422-494C-9F00-02AE9A6682FC}"/>
              </a:ext>
            </a:extLst>
          </p:cNvPr>
          <p:cNvSpPr txBox="1"/>
          <p:nvPr/>
        </p:nvSpPr>
        <p:spPr>
          <a:xfrm>
            <a:off x="8354239" y="1692009"/>
            <a:ext cx="35530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K-</a:t>
            </a:r>
            <a:r>
              <a:rPr kumimoji="1" lang="ko-KR" altLang="en-US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방산 진출을 위한 폴란드 국가 및 산업 분석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3D4EFBB-50A4-4D51-A92E-057EFFFB9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30428"/>
              </p:ext>
            </p:extLst>
          </p:nvPr>
        </p:nvGraphicFramePr>
        <p:xfrm>
          <a:off x="8541408" y="5929516"/>
          <a:ext cx="331615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159">
                  <a:extLst>
                    <a:ext uri="{9D8B030D-6E8A-4147-A177-3AD203B41FA5}">
                      <a16:colId xmlns:a16="http://schemas.microsoft.com/office/drawing/2014/main" val="335268546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글로벌 방산산업 현황 및 중요성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648139"/>
                  </a:ext>
                </a:extLst>
              </a:tr>
            </a:tbl>
          </a:graphicData>
        </a:graphic>
      </p:graphicFrame>
      <p:cxnSp>
        <p:nvCxnSpPr>
          <p:cNvPr id="12" name="직선 연결선[R] 9">
            <a:extLst>
              <a:ext uri="{FF2B5EF4-FFF2-40B4-BE49-F238E27FC236}">
                <a16:creationId xmlns:a16="http://schemas.microsoft.com/office/drawing/2014/main" id="{20CD7A41-563A-4657-9AE9-050D2FC141BE}"/>
              </a:ext>
            </a:extLst>
          </p:cNvPr>
          <p:cNvCxnSpPr>
            <a:cxnSpLocks/>
          </p:cNvCxnSpPr>
          <p:nvPr/>
        </p:nvCxnSpPr>
        <p:spPr>
          <a:xfrm>
            <a:off x="5943600" y="1651826"/>
            <a:ext cx="5913967" cy="0"/>
          </a:xfrm>
          <a:prstGeom prst="line">
            <a:avLst/>
          </a:prstGeom>
          <a:ln w="444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89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차트 38">
            <a:extLst>
              <a:ext uri="{FF2B5EF4-FFF2-40B4-BE49-F238E27FC236}">
                <a16:creationId xmlns:a16="http://schemas.microsoft.com/office/drawing/2014/main" id="{819DB47A-ED52-4B68-92F0-713C490574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4878397"/>
              </p:ext>
            </p:extLst>
          </p:nvPr>
        </p:nvGraphicFramePr>
        <p:xfrm>
          <a:off x="6251574" y="1841975"/>
          <a:ext cx="5602285" cy="4330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AAA61FF-DD3A-4DF2-B839-2611E809EE2A}"/>
              </a:ext>
            </a:extLst>
          </p:cNvPr>
          <p:cNvSpPr txBox="1"/>
          <p:nvPr/>
        </p:nvSpPr>
        <p:spPr>
          <a:xfrm>
            <a:off x="319090" y="1194614"/>
            <a:ext cx="77214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글로벌 방산산업 현황 및 중요성</a:t>
            </a:r>
            <a:r>
              <a:rPr kumimoji="1" lang="en-US" altLang="ko-KR" b="1" dirty="0">
                <a:solidFill>
                  <a:schemeClr val="bg1"/>
                </a:solidFill>
                <a:latin typeface="Freesentation 7 Bold" pitchFamily="2" charset="-127"/>
                <a:ea typeface="Freesentation 7 Bold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https://www.youtube.com/watch?v=15Mf1AF8oUo</a:t>
            </a:r>
            <a:r>
              <a:rPr kumimoji="1" lang="en-US" altLang="ko-KR" b="1" dirty="0">
                <a:solidFill>
                  <a:schemeClr val="bg1"/>
                </a:solidFill>
                <a:latin typeface="Freesentation 7 Bold" pitchFamily="2" charset="-127"/>
                <a:ea typeface="Freesentation 7 Bold" pitchFamily="2" charset="-127"/>
              </a:rPr>
              <a:t> </a:t>
            </a:r>
            <a:endParaRPr kumimoji="1" lang="ko-KR" altLang="en-US" b="1" dirty="0">
              <a:solidFill>
                <a:schemeClr val="bg1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2F7236E-CC2E-4F50-A636-B97F4E9DF1FC}"/>
              </a:ext>
            </a:extLst>
          </p:cNvPr>
          <p:cNvGrpSpPr/>
          <p:nvPr/>
        </p:nvGrpSpPr>
        <p:grpSpPr>
          <a:xfrm>
            <a:off x="338140" y="1566863"/>
            <a:ext cx="1081221" cy="215444"/>
            <a:chOff x="338140" y="1566863"/>
            <a:chExt cx="1081221" cy="21544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938DB21-0FDA-4153-B66C-411AABBDBD5E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8BB8DD-66C4-47D7-AF92-74EF6470B016}"/>
                </a:ext>
              </a:extLst>
            </p:cNvPr>
            <p:cNvSpPr txBox="1"/>
            <p:nvPr/>
          </p:nvSpPr>
          <p:spPr>
            <a:xfrm>
              <a:off x="420690" y="1566863"/>
              <a:ext cx="99867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지정학적 요충지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67F6D3-0CEC-4D17-982B-EF86C9434258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A489EF-902F-48F5-9A76-A9AB3F3F5F0F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1BD82A-94BA-4694-BDE3-0502784ABE86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586EE1-479A-45CE-BEEC-1212BA781DA9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776DA1-BC83-472B-80A4-F64BDBBC3A1F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578D3B-BDE3-4853-B69A-092D37ECBBF7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46E294F-038B-4E0F-8F5D-DB6AB94EBB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437" t="11222" r="44836" b="29667"/>
          <a:stretch/>
        </p:blipFill>
        <p:spPr>
          <a:xfrm>
            <a:off x="338140" y="1848324"/>
            <a:ext cx="5613398" cy="4324044"/>
          </a:xfrm>
          <a:prstGeom prst="rect">
            <a:avLst/>
          </a:prstGeom>
        </p:spPr>
      </p:pic>
      <p:pic>
        <p:nvPicPr>
          <p:cNvPr id="22" name="Picture 10" descr="플래그와 함께 폴란드의 3d 지도 | 프리미엄 벡터">
            <a:extLst>
              <a:ext uri="{FF2B5EF4-FFF2-40B4-BE49-F238E27FC236}">
                <a16:creationId xmlns:a16="http://schemas.microsoft.com/office/drawing/2014/main" id="{9E35E312-96DF-4304-BFB9-718A155F5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DCDDDF"/>
              </a:clrFrom>
              <a:clrTo>
                <a:srgbClr val="DCDDD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788" y="2372830"/>
            <a:ext cx="1465745" cy="1465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152B7E-4442-4643-95ED-341D0DB33933}"/>
              </a:ext>
            </a:extLst>
          </p:cNvPr>
          <p:cNvSpPr/>
          <p:nvPr/>
        </p:nvSpPr>
        <p:spPr>
          <a:xfrm rot="5400000">
            <a:off x="981228" y="1195542"/>
            <a:ext cx="4324044" cy="561657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rgbClr val="F1F1F1">
                  <a:alpha val="25000"/>
                </a:srgbClr>
              </a:gs>
              <a:gs pos="50000">
                <a:srgbClr val="F1F1F1">
                  <a:alpha val="50000"/>
                </a:srgbClr>
              </a:gs>
              <a:gs pos="100000">
                <a:srgbClr val="F1F1F1"/>
              </a:gs>
              <a:gs pos="75000">
                <a:srgbClr val="F1F1F1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274E1-356E-64C3-B63D-4B6AFAD48665}"/>
              </a:ext>
            </a:extLst>
          </p:cNvPr>
          <p:cNvSpPr txBox="1"/>
          <p:nvPr/>
        </p:nvSpPr>
        <p:spPr>
          <a:xfrm>
            <a:off x="479425" y="4855118"/>
            <a:ext cx="4253163" cy="1155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독일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/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러시아 사이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NATO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동부 최전선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Freesentation 7 Bold" pitchFamily="2" charset="-127"/>
                <a:ea typeface="Freesentation 7 Bold" pitchFamily="2" charset="-127"/>
              </a:rPr>
              <a:t>러〮우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 전쟁 이후 안보 위협 고조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군 현대화 수요 폭증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1999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년 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NATO, 2004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년 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EU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가입으로 서방 진영 편입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FD267DE-BF3C-459C-ACD2-DFFAD8230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6600" y="2977824"/>
            <a:ext cx="720000" cy="72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70BAD8B-46E5-46B7-AE92-99E8F03C83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006" y="2237328"/>
            <a:ext cx="720000" cy="72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469499F-1A6C-430D-A441-3605E2D26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7189" y="3365300"/>
            <a:ext cx="720000" cy="720000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7661E717-CF33-4BA0-B3DA-90C0255E6869}"/>
              </a:ext>
            </a:extLst>
          </p:cNvPr>
          <p:cNvGrpSpPr/>
          <p:nvPr/>
        </p:nvGrpSpPr>
        <p:grpSpPr>
          <a:xfrm>
            <a:off x="6254750" y="1566863"/>
            <a:ext cx="943363" cy="215444"/>
            <a:chOff x="338140" y="1566863"/>
            <a:chExt cx="943363" cy="215444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1ECB45A-F497-4868-A93C-9020FA0291F3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76535F-B32E-4BD2-BBA7-4397E54476B4}"/>
                </a:ext>
              </a:extLst>
            </p:cNvPr>
            <p:cNvSpPr txBox="1"/>
            <p:nvPr/>
          </p:nvSpPr>
          <p:spPr>
            <a:xfrm>
              <a:off x="420690" y="1566863"/>
              <a:ext cx="86081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전략적 중요성</a:t>
              </a: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4E583DA1-DA6A-44F3-BD29-B8FF01A93E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9110" y="2928827"/>
            <a:ext cx="464975" cy="4649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3179E64-AC71-4295-BED0-6051ED9E4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929" y="3865966"/>
            <a:ext cx="1282348" cy="96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599F23B-84DB-4F32-97FC-708BAC81EB0B}"/>
              </a:ext>
            </a:extLst>
          </p:cNvPr>
          <p:cNvCxnSpPr/>
          <p:nvPr/>
        </p:nvCxnSpPr>
        <p:spPr>
          <a:xfrm>
            <a:off x="3943183" y="1841806"/>
            <a:ext cx="0" cy="3021881"/>
          </a:xfrm>
          <a:prstGeom prst="line">
            <a:avLst/>
          </a:prstGeom>
          <a:ln w="25400">
            <a:solidFill>
              <a:srgbClr val="00499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48421C7-26ED-FC98-A7F3-5913ECB3DAFA}"/>
              </a:ext>
            </a:extLst>
          </p:cNvPr>
          <p:cNvSpPr txBox="1"/>
          <p:nvPr/>
        </p:nvSpPr>
        <p:spPr>
          <a:xfrm>
            <a:off x="6406020" y="4855118"/>
            <a:ext cx="5319712" cy="1154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대규모 국방예산 확대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(GDP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대비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4%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이상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NATO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내 최상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우크라이나 재건사업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유럽 방산 허브로 부상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한국산 무기 신속 </a:t>
            </a:r>
            <a:r>
              <a:rPr lang="ko-KR" altLang="en-US" sz="1600" dirty="0" err="1">
                <a:latin typeface="Freesentation 7 Bold" pitchFamily="2" charset="-127"/>
                <a:ea typeface="Freesentation 7 Bold" pitchFamily="2" charset="-127"/>
              </a:rPr>
              <a:t>도입〮기술이전〮현지화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 적극적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D01F84-C0F5-5188-FBFA-9629F0546288}"/>
              </a:ext>
            </a:extLst>
          </p:cNvPr>
          <p:cNvSpPr/>
          <p:nvPr/>
        </p:nvSpPr>
        <p:spPr>
          <a:xfrm>
            <a:off x="6300469" y="2085730"/>
            <a:ext cx="5495291" cy="204080"/>
          </a:xfrm>
          <a:prstGeom prst="rect">
            <a:avLst/>
          </a:prstGeom>
          <a:noFill/>
          <a:ln w="38100">
            <a:solidFill>
              <a:srgbClr val="C31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87EBCC-CA77-4424-9CF8-D97E587DDFB5}"/>
              </a:ext>
            </a:extLst>
          </p:cNvPr>
          <p:cNvSpPr txBox="1"/>
          <p:nvPr/>
        </p:nvSpPr>
        <p:spPr>
          <a:xfrm>
            <a:off x="9304864" y="4568336"/>
            <a:ext cx="240771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b="1" dirty="0">
                <a:solidFill>
                  <a:srgbClr val="373737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[GDP </a:t>
            </a:r>
            <a:r>
              <a:rPr lang="ko-KR" altLang="en-US" b="1" dirty="0">
                <a:solidFill>
                  <a:srgbClr val="373737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대비 국방비 편성 비중</a:t>
            </a:r>
            <a:r>
              <a:rPr lang="en-US" altLang="ko-KR" b="1" dirty="0">
                <a:solidFill>
                  <a:srgbClr val="373737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]</a:t>
            </a:r>
            <a:endParaRPr lang="ko-KR" altLang="en-US" b="1" dirty="0">
              <a:solidFill>
                <a:srgbClr val="373737"/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38F7D7-A117-47D5-B790-D69C158D7E19}"/>
              </a:ext>
            </a:extLst>
          </p:cNvPr>
          <p:cNvSpPr txBox="1"/>
          <p:nvPr/>
        </p:nvSpPr>
        <p:spPr>
          <a:xfrm>
            <a:off x="11374535" y="1687918"/>
            <a:ext cx="48250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(</a:t>
            </a:r>
            <a:r>
              <a:rPr lang="ko-KR" altLang="en-US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단위</a:t>
            </a:r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 %)</a:t>
            </a:r>
            <a:endParaRPr lang="ko-KR" altLang="en-US" sz="1000" dirty="0">
              <a:solidFill>
                <a:srgbClr val="373737"/>
              </a:solidFill>
              <a:latin typeface="Freesentation 5 Medium" pitchFamily="2" charset="-127"/>
              <a:ea typeface="Freesentation 5 Medium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1DFE6C-E3AA-484D-99C6-4D11F1CDF45A}"/>
              </a:ext>
            </a:extLst>
          </p:cNvPr>
          <p:cNvSpPr txBox="1"/>
          <p:nvPr/>
        </p:nvSpPr>
        <p:spPr>
          <a:xfrm>
            <a:off x="6254750" y="6172368"/>
            <a:ext cx="133369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※</a:t>
            </a:r>
            <a:r>
              <a:rPr lang="ko-KR" altLang="en-US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자료</a:t>
            </a:r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 FY, ’2025. 01. 13.</a:t>
            </a:r>
            <a:endParaRPr lang="ko-KR" altLang="en-US" sz="1000" dirty="0">
              <a:solidFill>
                <a:srgbClr val="373737"/>
              </a:solidFill>
              <a:latin typeface="Freesentation 5 Medium" pitchFamily="2" charset="-127"/>
              <a:ea typeface="Freesentation 5 Medium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A44AFE-5AE6-4838-AF93-93CE9F8A96BA}"/>
              </a:ext>
            </a:extLst>
          </p:cNvPr>
          <p:cNvSpPr txBox="1"/>
          <p:nvPr/>
        </p:nvSpPr>
        <p:spPr>
          <a:xfrm>
            <a:off x="3141372" y="1980859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rgbClr val="FFC606"/>
                </a:solidFill>
                <a:effectLst>
                  <a:glow rad="63500">
                    <a:schemeClr val="tx1">
                      <a:alpha val="47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칼리닌</a:t>
            </a:r>
            <a:r>
              <a:rPr lang="ko-KR" altLang="en-US" sz="1400" dirty="0">
                <a:solidFill>
                  <a:srgbClr val="FFC606"/>
                </a:solidFill>
                <a:effectLst>
                  <a:glow rad="63500">
                    <a:schemeClr val="tx1">
                      <a:alpha val="47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 </a:t>
            </a:r>
            <a:r>
              <a:rPr lang="ko-KR" altLang="en-US" sz="1400" dirty="0" err="1">
                <a:solidFill>
                  <a:srgbClr val="FFC606"/>
                </a:solidFill>
                <a:effectLst>
                  <a:glow rad="63500">
                    <a:schemeClr val="tx1">
                      <a:alpha val="47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그라드</a:t>
            </a:r>
            <a:r>
              <a:rPr lang="en-US" altLang="ko-KR" sz="1400" dirty="0">
                <a:solidFill>
                  <a:srgbClr val="FFC606"/>
                </a:solidFill>
                <a:effectLst>
                  <a:glow rad="63500">
                    <a:schemeClr val="tx1">
                      <a:alpha val="47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(</a:t>
            </a:r>
            <a:r>
              <a:rPr lang="ko-KR" altLang="en-US" sz="1400" dirty="0">
                <a:solidFill>
                  <a:srgbClr val="FFC606"/>
                </a:solidFill>
                <a:effectLst>
                  <a:glow rad="63500">
                    <a:schemeClr val="tx1">
                      <a:alpha val="47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러시아 영토</a:t>
            </a:r>
            <a:r>
              <a:rPr lang="en-US" altLang="ko-KR" sz="1400" dirty="0">
                <a:solidFill>
                  <a:srgbClr val="FFC606"/>
                </a:solidFill>
                <a:effectLst>
                  <a:glow rad="63500">
                    <a:schemeClr val="tx1">
                      <a:alpha val="47000"/>
                    </a:schemeClr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)</a:t>
            </a:r>
            <a:endParaRPr lang="ko-KR" altLang="en-US" sz="1400" dirty="0">
              <a:solidFill>
                <a:srgbClr val="FFC606"/>
              </a:solidFill>
              <a:effectLst>
                <a:glow rad="63500">
                  <a:schemeClr val="tx1">
                    <a:alpha val="47000"/>
                  </a:schemeClr>
                </a:glow>
              </a:effectLst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416002DC-AEF2-4F91-8A6D-3C8AAFBD4FC3}"/>
              </a:ext>
            </a:extLst>
          </p:cNvPr>
          <p:cNvSpPr/>
          <p:nvPr/>
        </p:nvSpPr>
        <p:spPr>
          <a:xfrm>
            <a:off x="3183731" y="2512219"/>
            <a:ext cx="452438" cy="169069"/>
          </a:xfrm>
          <a:custGeom>
            <a:avLst/>
            <a:gdLst>
              <a:gd name="connsiteX0" fmla="*/ 0 w 452438"/>
              <a:gd name="connsiteY0" fmla="*/ 169069 h 169069"/>
              <a:gd name="connsiteX1" fmla="*/ 47625 w 452438"/>
              <a:gd name="connsiteY1" fmla="*/ 121444 h 169069"/>
              <a:gd name="connsiteX2" fmla="*/ 45244 w 452438"/>
              <a:gd name="connsiteY2" fmla="*/ 80962 h 169069"/>
              <a:gd name="connsiteX3" fmla="*/ 69057 w 452438"/>
              <a:gd name="connsiteY3" fmla="*/ 59531 h 169069"/>
              <a:gd name="connsiteX4" fmla="*/ 138113 w 452438"/>
              <a:gd name="connsiteY4" fmla="*/ 57150 h 169069"/>
              <a:gd name="connsiteX5" fmla="*/ 185738 w 452438"/>
              <a:gd name="connsiteY5" fmla="*/ 78581 h 169069"/>
              <a:gd name="connsiteX6" fmla="*/ 197644 w 452438"/>
              <a:gd name="connsiteY6" fmla="*/ 0 h 169069"/>
              <a:gd name="connsiteX7" fmla="*/ 452438 w 452438"/>
              <a:gd name="connsiteY7" fmla="*/ 54769 h 169069"/>
              <a:gd name="connsiteX8" fmla="*/ 419100 w 452438"/>
              <a:gd name="connsiteY8" fmla="*/ 169069 h 169069"/>
              <a:gd name="connsiteX9" fmla="*/ 233363 w 452438"/>
              <a:gd name="connsiteY9" fmla="*/ 169069 h 169069"/>
              <a:gd name="connsiteX10" fmla="*/ 50007 w 452438"/>
              <a:gd name="connsiteY10" fmla="*/ 150019 h 169069"/>
              <a:gd name="connsiteX11" fmla="*/ 0 w 452438"/>
              <a:gd name="connsiteY11" fmla="*/ 169069 h 16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2438" h="169069">
                <a:moveTo>
                  <a:pt x="0" y="169069"/>
                </a:moveTo>
                <a:lnTo>
                  <a:pt x="47625" y="121444"/>
                </a:lnTo>
                <a:lnTo>
                  <a:pt x="45244" y="80962"/>
                </a:lnTo>
                <a:lnTo>
                  <a:pt x="69057" y="59531"/>
                </a:lnTo>
                <a:lnTo>
                  <a:pt x="138113" y="57150"/>
                </a:lnTo>
                <a:lnTo>
                  <a:pt x="185738" y="78581"/>
                </a:lnTo>
                <a:lnTo>
                  <a:pt x="197644" y="0"/>
                </a:lnTo>
                <a:lnTo>
                  <a:pt x="452438" y="54769"/>
                </a:lnTo>
                <a:lnTo>
                  <a:pt x="419100" y="169069"/>
                </a:lnTo>
                <a:lnTo>
                  <a:pt x="233363" y="169069"/>
                </a:lnTo>
                <a:lnTo>
                  <a:pt x="50007" y="150019"/>
                </a:lnTo>
                <a:lnTo>
                  <a:pt x="0" y="169069"/>
                </a:lnTo>
                <a:close/>
              </a:path>
            </a:pathLst>
          </a:cu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00837BB-D1A3-4F3C-B50A-5B09C046FD6F}"/>
              </a:ext>
            </a:extLst>
          </p:cNvPr>
          <p:cNvCxnSpPr>
            <a:stCxn id="43" idx="5"/>
          </p:cNvCxnSpPr>
          <p:nvPr/>
        </p:nvCxnSpPr>
        <p:spPr>
          <a:xfrm flipH="1" flipV="1">
            <a:off x="3365500" y="2237328"/>
            <a:ext cx="3969" cy="353472"/>
          </a:xfrm>
          <a:prstGeom prst="straightConnector1">
            <a:avLst/>
          </a:prstGeom>
          <a:ln w="19050">
            <a:solidFill>
              <a:srgbClr val="C3123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813B1F-1AC8-4AC3-A3B7-6DE113F85C5F}"/>
              </a:ext>
            </a:extLst>
          </p:cNvPr>
          <p:cNvSpPr txBox="1"/>
          <p:nvPr/>
        </p:nvSpPr>
        <p:spPr>
          <a:xfrm>
            <a:off x="3536030" y="4642436"/>
            <a:ext cx="39017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Freesentation 7 Bold" pitchFamily="2" charset="-127"/>
                <a:ea typeface="Freesentation 7 Bold" pitchFamily="2" charset="-127"/>
              </a:rPr>
              <a:t>NATO</a:t>
            </a:r>
            <a:endParaRPr lang="ko-KR" altLang="en-US" sz="1200" dirty="0">
              <a:solidFill>
                <a:schemeClr val="bg1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83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The Warsaw Uprising Monument">
            <a:extLst>
              <a:ext uri="{FF2B5EF4-FFF2-40B4-BE49-F238E27FC236}">
                <a16:creationId xmlns:a16="http://schemas.microsoft.com/office/drawing/2014/main" id="{27EDAD7B-5F88-4F35-9743-01BC65BC6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" b="11912"/>
          <a:stretch>
            <a:fillRect/>
          </a:stretch>
        </p:blipFill>
        <p:spPr bwMode="auto">
          <a:xfrm>
            <a:off x="9" y="-1"/>
            <a:ext cx="1235633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01CF328-49F4-4ED4-A1DA-BB02814B9DEF}"/>
              </a:ext>
            </a:extLst>
          </p:cNvPr>
          <p:cNvSpPr>
            <a:spLocks/>
          </p:cNvSpPr>
          <p:nvPr/>
        </p:nvSpPr>
        <p:spPr>
          <a:xfrm>
            <a:off x="1" y="-1"/>
            <a:ext cx="12356331" cy="6858001"/>
          </a:xfrm>
          <a:prstGeom prst="rect">
            <a:avLst/>
          </a:prstGeom>
          <a:solidFill>
            <a:srgbClr val="F1F1F1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pic>
        <p:nvPicPr>
          <p:cNvPr id="6" name="Picture 2" descr="Poland Logo PNG Vector (EPS) Free Download">
            <a:extLst>
              <a:ext uri="{FF2B5EF4-FFF2-40B4-BE49-F238E27FC236}">
                <a16:creationId xmlns:a16="http://schemas.microsoft.com/office/drawing/2014/main" id="{AE3C0D35-6DD9-43B7-80D7-F6F264019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7" y="713632"/>
            <a:ext cx="2049724" cy="204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87C44B7-76F7-44DA-874A-CAF9B3D1F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00338"/>
              </p:ext>
            </p:extLst>
          </p:nvPr>
        </p:nvGraphicFramePr>
        <p:xfrm>
          <a:off x="8541408" y="4825365"/>
          <a:ext cx="331615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159">
                  <a:extLst>
                    <a:ext uri="{9D8B030D-6E8A-4147-A177-3AD203B41FA5}">
                      <a16:colId xmlns:a16="http://schemas.microsoft.com/office/drawing/2014/main" val="335268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폴란드의 정치 상황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432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국제 관계 및 이슈</a:t>
                      </a:r>
                      <a:r>
                        <a:rPr lang="en-US" altLang="ko-KR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(NATO, EU </a:t>
                      </a:r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등</a:t>
                      </a:r>
                      <a:r>
                        <a:rPr lang="en-US" altLang="ko-KR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)</a:t>
                      </a:r>
                      <a:endParaRPr lang="ko-KR" altLang="en-US" sz="1800" b="1" i="0" dirty="0">
                        <a:solidFill>
                          <a:srgbClr val="373737"/>
                        </a:solidFill>
                        <a:latin typeface="Freesentation 6 SemiBold" pitchFamily="2" charset="-127"/>
                        <a:ea typeface="Freesentation 6 SemiBold" pitchFamily="2" charset="-127"/>
                      </a:endParaRP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317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폴란드 방산 시장</a:t>
                      </a:r>
                      <a:r>
                        <a:rPr lang="en-US" altLang="ko-KR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: </a:t>
                      </a:r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유럽 최대 성장 동력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64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경제적 환경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54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8B9E46E-DF91-4B09-980B-D518B8577C53}"/>
              </a:ext>
            </a:extLst>
          </p:cNvPr>
          <p:cNvSpPr txBox="1"/>
          <p:nvPr/>
        </p:nvSpPr>
        <p:spPr>
          <a:xfrm>
            <a:off x="324904" y="6026109"/>
            <a:ext cx="540083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Global Business Environment and Ethics</a:t>
            </a:r>
            <a:endParaRPr lang="ko-KR" altLang="en-US" sz="2400" b="1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59AD6DE-BBFD-4556-9CCE-6CDE76631780}"/>
              </a:ext>
            </a:extLst>
          </p:cNvPr>
          <p:cNvGrpSpPr/>
          <p:nvPr/>
        </p:nvGrpSpPr>
        <p:grpSpPr>
          <a:xfrm>
            <a:off x="8354239" y="1088582"/>
            <a:ext cx="3553024" cy="880426"/>
            <a:chOff x="8354239" y="1088582"/>
            <a:chExt cx="3553024" cy="88042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206F4D-1326-49DD-864B-2DD7BCBE18FF}"/>
                </a:ext>
              </a:extLst>
            </p:cNvPr>
            <p:cNvSpPr txBox="1"/>
            <p:nvPr/>
          </p:nvSpPr>
          <p:spPr>
            <a:xfrm>
              <a:off x="8771789" y="1088582"/>
              <a:ext cx="313547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36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  <a:cs typeface="Pretendard SemiBold" panose="02000703000000020004" pitchFamily="50" charset="-127"/>
                </a:rPr>
                <a:t>2. </a:t>
              </a:r>
              <a:r>
                <a:rPr lang="ko-KR" altLang="en-US" sz="36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  <a:cs typeface="Pretendard SemiBold" panose="02000703000000020004" pitchFamily="50" charset="-127"/>
                </a:rPr>
                <a:t>폴란드 국가 환경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6F2AF6-F78F-4492-8E21-EC45E0CCFD7E}"/>
                </a:ext>
              </a:extLst>
            </p:cNvPr>
            <p:cNvSpPr txBox="1"/>
            <p:nvPr/>
          </p:nvSpPr>
          <p:spPr>
            <a:xfrm>
              <a:off x="8354239" y="1692009"/>
              <a:ext cx="355302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K-</a:t>
              </a:r>
              <a:r>
                <a:rPr kumimoji="1" lang="ko-KR" altLang="en-US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방산 진출을 위한 폴란드 국가 및 산업 분석</a:t>
              </a:r>
            </a:p>
          </p:txBody>
        </p:sp>
      </p:grpSp>
      <p:cxnSp>
        <p:nvCxnSpPr>
          <p:cNvPr id="16" name="직선 연결선[R] 9">
            <a:extLst>
              <a:ext uri="{FF2B5EF4-FFF2-40B4-BE49-F238E27FC236}">
                <a16:creationId xmlns:a16="http://schemas.microsoft.com/office/drawing/2014/main" id="{67F124ED-DA1A-4185-AD59-1FB6B57E1633}"/>
              </a:ext>
            </a:extLst>
          </p:cNvPr>
          <p:cNvCxnSpPr>
            <a:cxnSpLocks/>
          </p:cNvCxnSpPr>
          <p:nvPr/>
        </p:nvCxnSpPr>
        <p:spPr>
          <a:xfrm>
            <a:off x="5943600" y="1651826"/>
            <a:ext cx="5913967" cy="0"/>
          </a:xfrm>
          <a:prstGeom prst="line">
            <a:avLst/>
          </a:prstGeom>
          <a:ln w="444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267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AA61FF-DD3A-4DF2-B839-2611E809EE2A}"/>
              </a:ext>
            </a:extLst>
          </p:cNvPr>
          <p:cNvSpPr txBox="1"/>
          <p:nvPr/>
        </p:nvSpPr>
        <p:spPr>
          <a:xfrm>
            <a:off x="319090" y="1194614"/>
            <a:ext cx="151323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폴란드의 정치 상황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67F6D3-0CEC-4D17-982B-EF86C9434258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A489EF-902F-48F5-9A76-A9AB3F3F5F0F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1BD82A-94BA-4694-BDE3-0502784ABE86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586EE1-479A-45CE-BEEC-1212BA781DA9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776DA1-BC83-472B-80A4-F64BDBBC3A1F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578D3B-BDE3-4853-B69A-092D37ECBBF7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347DEB5-C58A-4663-BF97-CA438D45768B}"/>
              </a:ext>
            </a:extLst>
          </p:cNvPr>
          <p:cNvSpPr/>
          <p:nvPr/>
        </p:nvSpPr>
        <p:spPr>
          <a:xfrm>
            <a:off x="401490" y="1651275"/>
            <a:ext cx="3539047" cy="2232850"/>
          </a:xfrm>
          <a:prstGeom prst="rect">
            <a:avLst/>
          </a:prstGeom>
          <a:noFill/>
          <a:ln w="104775">
            <a:gradFill flip="none" rotWithShape="1">
              <a:gsLst>
                <a:gs pos="0">
                  <a:srgbClr val="004990">
                    <a:lumMod val="5000"/>
                    <a:lumOff val="95000"/>
                  </a:srgbClr>
                </a:gs>
                <a:gs pos="47000">
                  <a:srgbClr val="004990"/>
                </a:gs>
                <a:gs pos="83000">
                  <a:srgbClr val="004990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삼권분립 민주공화국</a:t>
            </a:r>
            <a:endParaRPr lang="en-US" altLang="ko-KR" sz="1600" b="1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r>
              <a:rPr lang="ko-KR" altLang="en-US" sz="1400" dirty="0" err="1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행정</a:t>
            </a:r>
            <a:r>
              <a:rPr lang="ko-KR" altLang="en-US" sz="1400" b="1" dirty="0" err="1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ㆍ</a:t>
            </a:r>
            <a:r>
              <a:rPr lang="ko-KR" altLang="en-US" sz="1400" dirty="0" err="1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입법</a:t>
            </a:r>
            <a:r>
              <a:rPr lang="ko-KR" altLang="en-US" sz="1400" b="1" dirty="0" err="1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ㆍ</a:t>
            </a:r>
            <a:r>
              <a:rPr lang="ko-KR" altLang="en-US" sz="1400" dirty="0" err="1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사법부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 간 권력 균형</a:t>
            </a: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ko-KR" altLang="en-US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3BB787-A882-4BB9-B143-0289C58A0B5E}"/>
              </a:ext>
            </a:extLst>
          </p:cNvPr>
          <p:cNvSpPr/>
          <p:nvPr/>
        </p:nvSpPr>
        <p:spPr>
          <a:xfrm>
            <a:off x="4324200" y="1651275"/>
            <a:ext cx="3539047" cy="2232850"/>
          </a:xfrm>
          <a:prstGeom prst="rect">
            <a:avLst/>
          </a:prstGeom>
          <a:noFill/>
          <a:ln w="104775">
            <a:gradFill flip="none" rotWithShape="1">
              <a:gsLst>
                <a:gs pos="0">
                  <a:srgbClr val="004990">
                    <a:lumMod val="5000"/>
                    <a:lumOff val="95000"/>
                  </a:srgbClr>
                </a:gs>
                <a:gs pos="47000">
                  <a:srgbClr val="004990"/>
                </a:gs>
                <a:gs pos="83000">
                  <a:srgbClr val="004990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2015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년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~2023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년 법과정의당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600" b="1" dirty="0" err="1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Pis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 err="1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사법개혁</a:t>
            </a:r>
            <a:r>
              <a:rPr lang="ko-KR" altLang="en-US" sz="1400" b="1" dirty="0" err="1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ㆍ</a:t>
            </a:r>
            <a:r>
              <a:rPr lang="ko-KR" altLang="en-US" sz="1400" dirty="0" err="1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언론장악으로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EU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와 긴장</a:t>
            </a: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ko-KR" altLang="en-US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A467401-216D-43DA-837D-5CA5B5CB2002}"/>
              </a:ext>
            </a:extLst>
          </p:cNvPr>
          <p:cNvSpPr/>
          <p:nvPr/>
        </p:nvSpPr>
        <p:spPr>
          <a:xfrm>
            <a:off x="8250088" y="1651275"/>
            <a:ext cx="3539047" cy="2232850"/>
          </a:xfrm>
          <a:prstGeom prst="rect">
            <a:avLst/>
          </a:prstGeom>
          <a:noFill/>
          <a:ln w="104775">
            <a:gradFill flip="none" rotWithShape="1">
              <a:gsLst>
                <a:gs pos="0">
                  <a:srgbClr val="004990">
                    <a:lumMod val="5000"/>
                    <a:lumOff val="95000"/>
                  </a:srgbClr>
                </a:gs>
                <a:gs pos="47000">
                  <a:srgbClr val="004990"/>
                </a:gs>
                <a:gs pos="83000">
                  <a:srgbClr val="004990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2023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년 정권 교체</a:t>
            </a:r>
            <a:endParaRPr lang="en-US" altLang="ko-KR" sz="1600" b="1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r>
              <a:rPr lang="ko-KR" altLang="en-US" sz="1400" dirty="0" err="1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투스크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 야권 연합 총선 승리</a:t>
            </a: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spcAft>
                <a:spcPts val="600"/>
              </a:spcAft>
            </a:pP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1675D92-4E3C-4AA4-B5CA-625D0064D3FE}"/>
              </a:ext>
            </a:extLst>
          </p:cNvPr>
          <p:cNvGrpSpPr/>
          <p:nvPr/>
        </p:nvGrpSpPr>
        <p:grpSpPr>
          <a:xfrm>
            <a:off x="338140" y="4556188"/>
            <a:ext cx="1424264" cy="215444"/>
            <a:chOff x="338140" y="1566863"/>
            <a:chExt cx="1424264" cy="215444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A2D46E1-DED6-47AE-ADC7-0DA87D48243A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BD962C8-98AA-46C5-8131-95D27A86E608}"/>
                </a:ext>
              </a:extLst>
            </p:cNvPr>
            <p:cNvSpPr txBox="1"/>
            <p:nvPr/>
          </p:nvSpPr>
          <p:spPr>
            <a:xfrm>
              <a:off x="420690" y="1566863"/>
              <a:ext cx="1341714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 err="1">
                  <a:latin typeface="Freesentation 7 Bold" pitchFamily="2" charset="-127"/>
                  <a:ea typeface="Freesentation 7 Bold" pitchFamily="2" charset="-127"/>
                </a:rPr>
                <a:t>투스크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 정부 핵심 기조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9565919-8A2B-4255-B802-6840C050840F}"/>
              </a:ext>
            </a:extLst>
          </p:cNvPr>
          <p:cNvGrpSpPr/>
          <p:nvPr/>
        </p:nvGrpSpPr>
        <p:grpSpPr>
          <a:xfrm>
            <a:off x="6254750" y="4556188"/>
            <a:ext cx="1114884" cy="215444"/>
            <a:chOff x="338140" y="1566863"/>
            <a:chExt cx="1114884" cy="21544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492C576-1AE8-47CB-A7A5-BA3E14C05043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A741B88-70BA-4B43-B498-A2DCD13D5533}"/>
                </a:ext>
              </a:extLst>
            </p:cNvPr>
            <p:cNvSpPr txBox="1"/>
            <p:nvPr/>
          </p:nvSpPr>
          <p:spPr>
            <a:xfrm>
              <a:off x="420690" y="1566863"/>
              <a:ext cx="1032334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안보 인식의 변화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48F49C5-AFB8-4E8A-93D3-CEE2F93C4CE9}"/>
              </a:ext>
            </a:extLst>
          </p:cNvPr>
          <p:cNvSpPr txBox="1"/>
          <p:nvPr/>
        </p:nvSpPr>
        <p:spPr>
          <a:xfrm>
            <a:off x="479425" y="4824638"/>
            <a:ext cx="5329239" cy="1340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법치주의 회복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대서양 동맹 강화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NATO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중심 안보 전략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역외 파트너쉽 확대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E07613-6EFC-48F3-90DB-0447382E5F2B}"/>
              </a:ext>
            </a:extLst>
          </p:cNvPr>
          <p:cNvSpPr txBox="1"/>
          <p:nvPr/>
        </p:nvSpPr>
        <p:spPr>
          <a:xfrm>
            <a:off x="6254750" y="4824638"/>
            <a:ext cx="5329239" cy="1155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“EU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만으로 폴란드 안보 불충분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”</a:t>
            </a: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미국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한국 등 </a:t>
            </a:r>
            <a:r>
              <a:rPr lang="ko-KR" altLang="en-US" sz="1600" dirty="0" err="1">
                <a:latin typeface="Freesentation 7 Bold" pitchFamily="2" charset="-127"/>
                <a:ea typeface="Freesentation 7 Bold" pitchFamily="2" charset="-127"/>
              </a:rPr>
              <a:t>비유럽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 동맹과 방위 협력 강화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유럽 전략적 단결 및 공동 방위체계 구축 촉구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8C2E40-FD35-406F-918E-B11A4963D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434" y="3085200"/>
            <a:ext cx="661300" cy="661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90B08E-1955-4C5B-B83F-87FED84B6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78" y="3085199"/>
            <a:ext cx="661301" cy="66130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AF96D12-7D50-4F73-A516-9574C9091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3256" y="2654950"/>
            <a:ext cx="661301" cy="661301"/>
          </a:xfrm>
          <a:prstGeom prst="rect">
            <a:avLst/>
          </a:prstGeom>
        </p:spPr>
      </p:pic>
      <p:pic>
        <p:nvPicPr>
          <p:cNvPr id="26" name="Picture 2" descr="한국산 무기 가성비 뛰어나다&quot; 폴란드 여권, 야당 지적에 반발">
            <a:extLst>
              <a:ext uri="{FF2B5EF4-FFF2-40B4-BE49-F238E27FC236}">
                <a16:creationId xmlns:a16="http://schemas.microsoft.com/office/drawing/2014/main" id="{BD713E3B-607E-4132-A948-76D819449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259" y="2585994"/>
            <a:ext cx="1099482" cy="115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D334ECE-C996-49C5-89D3-95241DF2F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B7AB91"/>
              </a:clrFrom>
              <a:clrTo>
                <a:srgbClr val="B7AB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259" y="2467428"/>
            <a:ext cx="989993" cy="127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78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9220C99-E904-283D-4A9C-4DF10D17A1B7}"/>
              </a:ext>
            </a:extLst>
          </p:cNvPr>
          <p:cNvSpPr txBox="1"/>
          <p:nvPr/>
        </p:nvSpPr>
        <p:spPr>
          <a:xfrm>
            <a:off x="346443" y="5950668"/>
            <a:ext cx="1136613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EU 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집행위원회는 </a:t>
            </a:r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“2030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년까지 방위 조달 예산의 최소 </a:t>
            </a:r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50%, 2035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년까지 </a:t>
            </a:r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60%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를 </a:t>
            </a:r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EU 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내에서 지출</a:t>
            </a:r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”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을 권고</a:t>
            </a:r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(’24. 3.)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하며</a:t>
            </a:r>
            <a:r>
              <a:rPr lang="en-US" altLang="ko-KR" sz="1400" dirty="0">
                <a:latin typeface="Freesentation 7 Bold" pitchFamily="2" charset="-127"/>
                <a:ea typeface="Freesentation 7 Bold" pitchFamily="2" charset="-127"/>
              </a:rPr>
              <a:t>, EU </a:t>
            </a:r>
            <a:r>
              <a:rPr lang="ko-KR" altLang="en-US" sz="1400" dirty="0">
                <a:latin typeface="Freesentation 7 Bold" pitchFamily="2" charset="-127"/>
                <a:ea typeface="Freesentation 7 Bold" pitchFamily="2" charset="-127"/>
              </a:rPr>
              <a:t>내 방위산업 육성 기조 제시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AFB45C-065F-4B83-9017-446EAC76E4D8}"/>
              </a:ext>
            </a:extLst>
          </p:cNvPr>
          <p:cNvSpPr txBox="1"/>
          <p:nvPr/>
        </p:nvSpPr>
        <p:spPr>
          <a:xfrm>
            <a:off x="319090" y="1194614"/>
            <a:ext cx="27485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국제 관계 및 이슈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(NATO, EU 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등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)</a:t>
            </a:r>
            <a:endParaRPr kumimoji="1" lang="ko-KR" altLang="en-US" b="1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B21AAD-3A1D-4EE2-9F9C-B9B1C5414E9B}"/>
              </a:ext>
            </a:extLst>
          </p:cNvPr>
          <p:cNvSpPr/>
          <p:nvPr/>
        </p:nvSpPr>
        <p:spPr>
          <a:xfrm>
            <a:off x="334963" y="1592264"/>
            <a:ext cx="11522075" cy="775961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폴란드는 러시아의 우크라이나 침공 이후 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NATO 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동부 최전선 국가로서 위상이 크게 높아졌으며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, </a:t>
            </a:r>
          </a:p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우크라이나를 가장 적극적으로 지원하는 동시에 자국 군비 증강을 통해 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NATO 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동부 억제력 강화의 핵심 역할 수행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24C771-4944-43F4-A553-172C2ECE0CA5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E38041-5525-42EF-AA54-50D0EE057DD6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F8D1D7-18B6-4C0E-AAF5-581E734F0FAC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5112CF-519F-4ED7-BA3D-A91F5645565B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880130-C3C8-4599-A1EF-6B40450161C2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4970CC-5152-48FA-A02D-03B919AAC269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35B443-881D-40C3-8437-D9C30916A9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8" t="5635" r="27136" b="10601"/>
          <a:stretch/>
        </p:blipFill>
        <p:spPr>
          <a:xfrm>
            <a:off x="1686576" y="2571456"/>
            <a:ext cx="1648502" cy="208947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3A02144-7E84-4C29-8BC0-E83FF25D5F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3" t="9232" r="30077" b="20385"/>
          <a:stretch/>
        </p:blipFill>
        <p:spPr>
          <a:xfrm>
            <a:off x="5189225" y="2615860"/>
            <a:ext cx="1813550" cy="204507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80CF481-2776-4A79-8DDE-84687404E84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2" t="30237" r="9399" b="20765"/>
          <a:stretch/>
        </p:blipFill>
        <p:spPr>
          <a:xfrm>
            <a:off x="8858568" y="2628097"/>
            <a:ext cx="1950101" cy="203283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70CBC7C-7137-4053-87D0-58442019793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066" y="5081516"/>
            <a:ext cx="3091166" cy="41896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9C1A4BF-E22F-4F1B-B190-03EE3EC8679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49569" y="5081516"/>
            <a:ext cx="3091166" cy="41896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92B6DE48-8B75-454C-AECF-2A967F68696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31072" y="5081516"/>
            <a:ext cx="3091166" cy="418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92D140-76E7-4291-3169-1A8439CE1B5C}"/>
              </a:ext>
            </a:extLst>
          </p:cNvPr>
          <p:cNvSpPr txBox="1"/>
          <p:nvPr/>
        </p:nvSpPr>
        <p:spPr>
          <a:xfrm>
            <a:off x="978472" y="4690836"/>
            <a:ext cx="3064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긴밀한 군사동맹으로 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F-35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전투기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</a:t>
            </a:r>
            <a:b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</a:br>
            <a:r>
              <a:rPr lang="ko-KR" altLang="en-US" sz="1600" dirty="0" err="1">
                <a:latin typeface="Freesentation 7 Bold" pitchFamily="2" charset="-127"/>
                <a:ea typeface="Freesentation 7 Bold" pitchFamily="2" charset="-127"/>
              </a:rPr>
              <a:t>패트리어트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 미사일 등 첨단무기 도입 진행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70DCE3-E457-0A0E-429A-27CF6D83BAE9}"/>
              </a:ext>
            </a:extLst>
          </p:cNvPr>
          <p:cNvSpPr txBox="1"/>
          <p:nvPr/>
        </p:nvSpPr>
        <p:spPr>
          <a:xfrm>
            <a:off x="4543926" y="4706224"/>
            <a:ext cx="34107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EU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회원국이나 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EU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자체만으로 안보보장 미흡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</a:t>
            </a:r>
          </a:p>
          <a:p>
            <a:pPr algn="ctr"/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NATO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및 양자협력 선호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5012CA-8C11-D22D-8A64-51F29533B61C}"/>
              </a:ext>
            </a:extLst>
          </p:cNvPr>
          <p:cNvSpPr txBox="1"/>
          <p:nvPr/>
        </p:nvSpPr>
        <p:spPr>
          <a:xfrm>
            <a:off x="8455407" y="4690836"/>
            <a:ext cx="2756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신속한 무기 도입과 기술이전으로 </a:t>
            </a:r>
            <a:b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</a:b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전략적 파트너로 부상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731E7E1-8F50-495E-909C-A760BC7A3175}"/>
              </a:ext>
            </a:extLst>
          </p:cNvPr>
          <p:cNvGrpSpPr/>
          <p:nvPr/>
        </p:nvGrpSpPr>
        <p:grpSpPr>
          <a:xfrm>
            <a:off x="338140" y="5663386"/>
            <a:ext cx="2259428" cy="215444"/>
            <a:chOff x="338140" y="1566863"/>
            <a:chExt cx="2259428" cy="21544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2A03D3C-7C82-4CA8-942B-40445D15876D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B15E96-A8A2-4001-AE68-A15B8301E560}"/>
                </a:ext>
              </a:extLst>
            </p:cNvPr>
            <p:cNvSpPr txBox="1"/>
            <p:nvPr/>
          </p:nvSpPr>
          <p:spPr>
            <a:xfrm>
              <a:off x="420690" y="1566863"/>
              <a:ext cx="2176878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EU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 유럽방산프로그램</a:t>
              </a:r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(EDIP) 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내용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88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44A56-E64D-3D4A-84A5-B0333A98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1BCB232-5870-7BEE-6816-8B16D2B578E0}"/>
              </a:ext>
            </a:extLst>
          </p:cNvPr>
          <p:cNvSpPr txBox="1"/>
          <p:nvPr/>
        </p:nvSpPr>
        <p:spPr>
          <a:xfrm>
            <a:off x="319090" y="1194614"/>
            <a:ext cx="302647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폴란드 방산 시장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: 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유럽 최대 성장 동력</a:t>
            </a:r>
          </a:p>
        </p:txBody>
      </p:sp>
      <p:grpSp>
        <p:nvGrpSpPr>
          <p:cNvPr id="2088" name="그룹 2087">
            <a:extLst>
              <a:ext uri="{FF2B5EF4-FFF2-40B4-BE49-F238E27FC236}">
                <a16:creationId xmlns:a16="http://schemas.microsoft.com/office/drawing/2014/main" id="{8FB075A2-6AA6-4939-91F9-698366A76118}"/>
              </a:ext>
            </a:extLst>
          </p:cNvPr>
          <p:cNvGrpSpPr/>
          <p:nvPr/>
        </p:nvGrpSpPr>
        <p:grpSpPr>
          <a:xfrm>
            <a:off x="6254749" y="2168923"/>
            <a:ext cx="5602289" cy="2298302"/>
            <a:chOff x="6254749" y="1852372"/>
            <a:chExt cx="5602289" cy="2298302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97573AAB-BA64-CF20-9BCC-DE697E46BE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8" b="6465"/>
            <a:stretch/>
          </p:blipFill>
          <p:spPr bwMode="auto">
            <a:xfrm>
              <a:off x="6254749" y="1852372"/>
              <a:ext cx="5602289" cy="221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2257216C-D842-495F-8C47-47A28F36B2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3812" r="39210"/>
            <a:stretch/>
          </p:blipFill>
          <p:spPr bwMode="auto">
            <a:xfrm>
              <a:off x="6254750" y="4063445"/>
              <a:ext cx="3925094" cy="87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>
              <a:extLst>
                <a:ext uri="{FF2B5EF4-FFF2-40B4-BE49-F238E27FC236}">
                  <a16:creationId xmlns:a16="http://schemas.microsoft.com/office/drawing/2014/main" id="{E2ABC437-7149-4FEE-A531-FDFB9D8E06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035" t="93699" r="10625" b="107"/>
            <a:stretch/>
          </p:blipFill>
          <p:spPr bwMode="auto">
            <a:xfrm>
              <a:off x="10179844" y="4063299"/>
              <a:ext cx="1677194" cy="87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74529CD-A354-E7FA-2BE3-968368988559}"/>
                </a:ext>
              </a:extLst>
            </p:cNvPr>
            <p:cNvSpPr/>
            <p:nvPr/>
          </p:nvSpPr>
          <p:spPr>
            <a:xfrm>
              <a:off x="7606937" y="3067050"/>
              <a:ext cx="316006" cy="1021419"/>
            </a:xfrm>
            <a:prstGeom prst="rect">
              <a:avLst/>
            </a:prstGeom>
            <a:noFill/>
            <a:ln w="19050">
              <a:solidFill>
                <a:srgbClr val="C312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D927943-02B9-48C8-9894-168689ACC050}"/>
              </a:ext>
            </a:extLst>
          </p:cNvPr>
          <p:cNvGrpSpPr/>
          <p:nvPr/>
        </p:nvGrpSpPr>
        <p:grpSpPr>
          <a:xfrm>
            <a:off x="338140" y="1566863"/>
            <a:ext cx="1148547" cy="215444"/>
            <a:chOff x="338140" y="1566863"/>
            <a:chExt cx="1148547" cy="215444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B87B8DA4-2FBB-43D7-BC2F-4D905D826FCE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FCA3E0A-ADFD-4F7A-BE89-3F7A714A4B45}"/>
                </a:ext>
              </a:extLst>
            </p:cNvPr>
            <p:cNvSpPr txBox="1"/>
            <p:nvPr/>
          </p:nvSpPr>
          <p:spPr>
            <a:xfrm>
              <a:off x="420690" y="1566863"/>
              <a:ext cx="106599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시장 규모 및 전망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6124E59-68C9-44FD-8295-997B842F2F35}"/>
              </a:ext>
            </a:extLst>
          </p:cNvPr>
          <p:cNvSpPr txBox="1"/>
          <p:nvPr/>
        </p:nvSpPr>
        <p:spPr>
          <a:xfrm>
            <a:off x="343690" y="1856952"/>
            <a:ext cx="4126698" cy="123251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폴란드는 현재 유럽에서 가장 빠르게 성장하는 방산시장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171450" indent="-1714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2025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년 국방비는 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300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억 달러 돌파 예상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171450" indent="-1714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무기 도입 및 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R&amp;D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예산은 전체 절반 이상 차지</a:t>
            </a:r>
            <a:b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</a:b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-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이는 독일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프랑스 국방 예산과 필적하는 수준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E0A09BBF-1BDE-4720-A301-4A67D398FD99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CCBB737-1B22-4310-A002-046F7BC15A0F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72E2D4D-BC26-4343-87CA-03DE5D37C56E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5A791BF-9A79-434D-9E5F-4256BD5C2337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6D4EC099-44B4-4479-9F0D-A311535620EE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BB68911-504B-48BC-B79B-04D45CAA6E14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B9810C75-1093-4BCC-9319-0F601AC4CCAB}"/>
              </a:ext>
            </a:extLst>
          </p:cNvPr>
          <p:cNvGrpSpPr/>
          <p:nvPr/>
        </p:nvGrpSpPr>
        <p:grpSpPr>
          <a:xfrm>
            <a:off x="338140" y="4595699"/>
            <a:ext cx="1390600" cy="215444"/>
            <a:chOff x="338140" y="1566863"/>
            <a:chExt cx="1390600" cy="215444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D6493BD3-0BC8-43DD-B457-F37FEF3FF74F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78195AB-3EB8-4ED1-84B6-A97F30377149}"/>
                </a:ext>
              </a:extLst>
            </p:cNvPr>
            <p:cNvSpPr txBox="1"/>
            <p:nvPr/>
          </p:nvSpPr>
          <p:spPr>
            <a:xfrm>
              <a:off x="420690" y="1566863"/>
              <a:ext cx="1308050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지속가능한 성장 동력</a:t>
              </a:r>
            </a:p>
          </p:txBody>
        </p:sp>
      </p:grpSp>
      <p:grpSp>
        <p:nvGrpSpPr>
          <p:cNvPr id="2092" name="그룹 2091">
            <a:extLst>
              <a:ext uri="{FF2B5EF4-FFF2-40B4-BE49-F238E27FC236}">
                <a16:creationId xmlns:a16="http://schemas.microsoft.com/office/drawing/2014/main" id="{8F2D4EE1-1B69-4B9A-A78D-77001BD82625}"/>
              </a:ext>
            </a:extLst>
          </p:cNvPr>
          <p:cNvGrpSpPr/>
          <p:nvPr/>
        </p:nvGrpSpPr>
        <p:grpSpPr>
          <a:xfrm>
            <a:off x="319090" y="3153728"/>
            <a:ext cx="5639685" cy="1380158"/>
            <a:chOff x="319090" y="3145094"/>
            <a:chExt cx="5639685" cy="1380158"/>
          </a:xfrm>
        </p:grpSpPr>
        <p:pic>
          <p:nvPicPr>
            <p:cNvPr id="140" name="그림 139">
              <a:extLst>
                <a:ext uri="{FF2B5EF4-FFF2-40B4-BE49-F238E27FC236}">
                  <a16:creationId xmlns:a16="http://schemas.microsoft.com/office/drawing/2014/main" id="{CBEAFD17-6060-49D3-A879-37B32A818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23454" y="3538300"/>
              <a:ext cx="1857792" cy="25179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0A0CAA-63EC-0D80-A785-02663DD9EBBD}"/>
                </a:ext>
              </a:extLst>
            </p:cNvPr>
            <p:cNvSpPr txBox="1"/>
            <p:nvPr/>
          </p:nvSpPr>
          <p:spPr>
            <a:xfrm>
              <a:off x="642968" y="3160483"/>
              <a:ext cx="22187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$1,300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억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  <a:p>
              <a:pPr algn="ctr"/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향후 </a:t>
              </a:r>
              <a:r>
                <a:rPr lang="en-US" altLang="ko-KR" sz="1200" dirty="0">
                  <a:latin typeface="프리젠테이션 4 Regular" pitchFamily="2" charset="-127"/>
                  <a:ea typeface="프리젠테이션 4 Regular" pitchFamily="2" charset="-127"/>
                </a:rPr>
                <a:t>10</a:t>
              </a:r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년간 군사력 투자 규모</a:t>
              </a:r>
            </a:p>
          </p:txBody>
        </p: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36745BD1-E154-429F-B551-64318B503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84924" y="3538300"/>
              <a:ext cx="1857792" cy="251798"/>
            </a:xfrm>
            <a:prstGeom prst="rect">
              <a:avLst/>
            </a:prstGeom>
          </p:spPr>
        </p:pic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12AD9FCD-4859-4EC0-868B-C134A8716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23454" y="4131776"/>
              <a:ext cx="1857792" cy="251798"/>
            </a:xfrm>
            <a:prstGeom prst="rect">
              <a:avLst/>
            </a:prstGeom>
          </p:spPr>
        </p:pic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5DD5ACD5-68AC-4939-B77E-3A0463ACA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84924" y="4131776"/>
              <a:ext cx="1857792" cy="25179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BB07A0-DB9B-9DDF-85F7-33026121FE6E}"/>
                </a:ext>
              </a:extLst>
            </p:cNvPr>
            <p:cNvSpPr txBox="1"/>
            <p:nvPr/>
          </p:nvSpPr>
          <p:spPr>
            <a:xfrm>
              <a:off x="3180052" y="3145094"/>
              <a:ext cx="24675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최대 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1,000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대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  <a:p>
              <a:pPr algn="ctr"/>
              <a:r>
                <a:rPr lang="en-US" altLang="ko-KR" sz="1200" dirty="0">
                  <a:latin typeface="프리젠테이션 4 Regular" pitchFamily="2" charset="-127"/>
                  <a:ea typeface="프리젠테이션 4 Regular" pitchFamily="2" charset="-127"/>
                </a:rPr>
                <a:t>K2</a:t>
              </a:r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계열 전차 도입</a:t>
              </a:r>
              <a:r>
                <a:rPr lang="en-US" altLang="ko-KR" sz="1200" dirty="0">
                  <a:latin typeface="프리젠테이션 4 Regular" pitchFamily="2" charset="-127"/>
                  <a:ea typeface="프리젠테이션 4 Regular" pitchFamily="2" charset="-127"/>
                </a:rPr>
                <a:t>, </a:t>
              </a:r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지상 전력 현대화 계획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78C5C80-A6A5-4EC7-9005-2E079EFED24A}"/>
                </a:ext>
              </a:extLst>
            </p:cNvPr>
            <p:cNvSpPr txBox="1"/>
            <p:nvPr/>
          </p:nvSpPr>
          <p:spPr>
            <a:xfrm>
              <a:off x="642968" y="3753959"/>
              <a:ext cx="22187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672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문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  <a:p>
              <a:pPr algn="ctr"/>
              <a:r>
                <a:rPr lang="en-US" altLang="ko-KR" sz="1200" dirty="0">
                  <a:latin typeface="프리젠테이션 4 Regular" pitchFamily="2" charset="-127"/>
                  <a:ea typeface="프리젠테이션 4 Regular" pitchFamily="2" charset="-127"/>
                </a:rPr>
                <a:t>K9 </a:t>
              </a:r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곡사포 도입</a:t>
              </a:r>
              <a:r>
                <a:rPr lang="en-US" altLang="ko-KR" sz="1200" dirty="0">
                  <a:latin typeface="프리젠테이션 4 Regular" pitchFamily="2" charset="-127"/>
                  <a:ea typeface="프리젠테이션 4 Regular" pitchFamily="2" charset="-127"/>
                </a:rPr>
                <a:t>, </a:t>
              </a:r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포병 전력 증강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32491EC-5751-47EF-89A3-F8B6E78142F1}"/>
                </a:ext>
              </a:extLst>
            </p:cNvPr>
            <p:cNvSpPr txBox="1"/>
            <p:nvPr/>
          </p:nvSpPr>
          <p:spPr>
            <a:xfrm>
              <a:off x="3180052" y="3738570"/>
              <a:ext cx="24675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500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대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  <a:p>
              <a:pPr algn="ctr"/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다연장로켓</a:t>
              </a:r>
              <a:r>
                <a:rPr lang="en-US" altLang="ko-KR" sz="1200" dirty="0">
                  <a:latin typeface="프리젠테이션 4 Regular" pitchFamily="2" charset="-127"/>
                  <a:ea typeface="프리젠테이션 4 Regular" pitchFamily="2" charset="-127"/>
                </a:rPr>
                <a:t>, </a:t>
              </a:r>
              <a:r>
                <a:rPr lang="ko-KR" altLang="en-US" sz="1200" dirty="0">
                  <a:latin typeface="프리젠테이션 4 Regular" pitchFamily="2" charset="-127"/>
                  <a:ea typeface="프리젠테이션 4 Regular" pitchFamily="2" charset="-127"/>
                </a:rPr>
                <a:t>장거리 타격 능력 확보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1277A69-0E23-4EAF-B9C4-BE7421274AD8}"/>
                </a:ext>
              </a:extLst>
            </p:cNvPr>
            <p:cNvSpPr txBox="1"/>
            <p:nvPr/>
          </p:nvSpPr>
          <p:spPr>
            <a:xfrm>
              <a:off x="319090" y="4371364"/>
              <a:ext cx="563968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※</a:t>
              </a:r>
              <a:r>
                <a:rPr lang="ko-KR" altLang="en-US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출처</a:t>
              </a:r>
              <a:r>
                <a:rPr lang="en-US" altLang="ko-KR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:</a:t>
              </a:r>
              <a:r>
                <a:rPr lang="en-US" altLang="ko-KR" sz="1000" spc="-2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 Poland and South Korea Should Further Develop Security Cooperation, </a:t>
              </a:r>
              <a:r>
                <a:rPr lang="ko-KR" altLang="en-US" sz="1000" spc="-2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폴란드</a:t>
              </a:r>
              <a:r>
                <a:rPr lang="en-US" altLang="ko-KR" sz="1000" spc="-2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 </a:t>
              </a:r>
              <a:r>
                <a:rPr lang="ko-KR" altLang="en-US" sz="1000" spc="-2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국제관계 연구소</a:t>
              </a:r>
              <a:r>
                <a:rPr lang="en-US" altLang="ko-KR" sz="1000" spc="-2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(’24.10.28.)</a:t>
              </a:r>
              <a:endPara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091" name="그룹 2090">
            <a:extLst>
              <a:ext uri="{FF2B5EF4-FFF2-40B4-BE49-F238E27FC236}">
                <a16:creationId xmlns:a16="http://schemas.microsoft.com/office/drawing/2014/main" id="{161E2A91-E26D-4126-866D-0AA5539E7E26}"/>
              </a:ext>
            </a:extLst>
          </p:cNvPr>
          <p:cNvGrpSpPr/>
          <p:nvPr/>
        </p:nvGrpSpPr>
        <p:grpSpPr>
          <a:xfrm>
            <a:off x="990407" y="4907051"/>
            <a:ext cx="2965075" cy="679218"/>
            <a:chOff x="990407" y="5156312"/>
            <a:chExt cx="2965075" cy="679218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C1B5F49-5687-4FF5-BDEC-396E9A23DE37}"/>
                </a:ext>
              </a:extLst>
            </p:cNvPr>
            <p:cNvSpPr>
              <a:spLocks/>
            </p:cNvSpPr>
            <p:nvPr/>
          </p:nvSpPr>
          <p:spPr>
            <a:xfrm>
              <a:off x="990407" y="5156312"/>
              <a:ext cx="2965075" cy="275676"/>
            </a:xfrm>
            <a:prstGeom prst="rect">
              <a:avLst/>
            </a:prstGeom>
            <a:solidFill>
              <a:srgbClr val="004AA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1400" dirty="0">
                  <a:latin typeface="Freesentation 5 Medium" pitchFamily="2" charset="-127"/>
                  <a:ea typeface="Freesentation 5 Medium" pitchFamily="2" charset="-127"/>
                </a:rPr>
                <a:t>안보 위협의 지속</a:t>
              </a: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84AEA1B1-C0E4-4BC9-954C-1EACF7A69606}"/>
                </a:ext>
              </a:extLst>
            </p:cNvPr>
            <p:cNvSpPr>
              <a:spLocks/>
            </p:cNvSpPr>
            <p:nvPr/>
          </p:nvSpPr>
          <p:spPr>
            <a:xfrm>
              <a:off x="995169" y="5404643"/>
              <a:ext cx="2952000" cy="430887"/>
            </a:xfrm>
            <a:prstGeom prst="rect">
              <a:avLst/>
            </a:prstGeom>
            <a:noFill/>
            <a:ln>
              <a:solidFill>
                <a:srgbClr val="004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러시아의 군사적 위협 지속</a:t>
              </a:r>
              <a:endParaRPr kumimoji="1" lang="en-US" altLang="ko-KR" sz="12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kumimoji="1" lang="en-US" altLang="ko-KR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NATO </a:t>
              </a: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회원국 국방비 증액 권고</a:t>
              </a:r>
            </a:p>
          </p:txBody>
        </p:sp>
      </p:grpSp>
      <p:grpSp>
        <p:nvGrpSpPr>
          <p:cNvPr id="2090" name="그룹 2089">
            <a:extLst>
              <a:ext uri="{FF2B5EF4-FFF2-40B4-BE49-F238E27FC236}">
                <a16:creationId xmlns:a16="http://schemas.microsoft.com/office/drawing/2014/main" id="{E20DF4AB-4D2F-4CE0-8001-F0953C834358}"/>
              </a:ext>
            </a:extLst>
          </p:cNvPr>
          <p:cNvGrpSpPr/>
          <p:nvPr/>
        </p:nvGrpSpPr>
        <p:grpSpPr>
          <a:xfrm>
            <a:off x="4610926" y="4907051"/>
            <a:ext cx="2965075" cy="679218"/>
            <a:chOff x="4610926" y="5156312"/>
            <a:chExt cx="2965075" cy="679218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FD066215-FA89-4745-9161-0E3EA6B44D97}"/>
                </a:ext>
              </a:extLst>
            </p:cNvPr>
            <p:cNvSpPr>
              <a:spLocks/>
            </p:cNvSpPr>
            <p:nvPr/>
          </p:nvSpPr>
          <p:spPr>
            <a:xfrm>
              <a:off x="4610926" y="5156312"/>
              <a:ext cx="2965075" cy="275676"/>
            </a:xfrm>
            <a:prstGeom prst="rect">
              <a:avLst/>
            </a:prstGeom>
            <a:solidFill>
              <a:srgbClr val="004AA1"/>
            </a:solidFill>
            <a:ln>
              <a:noFill/>
            </a:ln>
            <a:effectLst>
              <a:outerShdw blurRad="50800" dist="38100" dir="54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1400" dirty="0">
                  <a:latin typeface="Freesentation 5 Medium" pitchFamily="2" charset="-127"/>
                  <a:ea typeface="Freesentation 5 Medium" pitchFamily="2" charset="-127"/>
                </a:rPr>
                <a:t>국가 경제력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1C9838E3-CDA7-4464-A744-8E5ECC2172EC}"/>
                </a:ext>
              </a:extLst>
            </p:cNvPr>
            <p:cNvSpPr>
              <a:spLocks/>
            </p:cNvSpPr>
            <p:nvPr/>
          </p:nvSpPr>
          <p:spPr>
            <a:xfrm>
              <a:off x="4614702" y="5404643"/>
              <a:ext cx="2952000" cy="430887"/>
            </a:xfrm>
            <a:prstGeom prst="rect">
              <a:avLst/>
            </a:prstGeom>
            <a:noFill/>
            <a:ln>
              <a:solidFill>
                <a:srgbClr val="004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kumimoji="1" lang="en-US" altLang="ko-KR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GDP </a:t>
              </a: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대비 국가채무 </a:t>
              </a:r>
              <a:r>
                <a:rPr kumimoji="1" lang="en-US" altLang="ko-KR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50% </a:t>
              </a: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초반</a:t>
              </a:r>
              <a:endParaRPr kumimoji="1" lang="en-US" altLang="ko-KR" sz="12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국민소득 증가로 국방비 지출이 사회적 수용</a:t>
              </a:r>
            </a:p>
          </p:txBody>
        </p:sp>
      </p:grpSp>
      <p:grpSp>
        <p:nvGrpSpPr>
          <p:cNvPr id="2089" name="그룹 2088">
            <a:extLst>
              <a:ext uri="{FF2B5EF4-FFF2-40B4-BE49-F238E27FC236}">
                <a16:creationId xmlns:a16="http://schemas.microsoft.com/office/drawing/2014/main" id="{A4A7A0CB-30AF-466B-8AC0-203CF930EA67}"/>
              </a:ext>
            </a:extLst>
          </p:cNvPr>
          <p:cNvGrpSpPr/>
          <p:nvPr/>
        </p:nvGrpSpPr>
        <p:grpSpPr>
          <a:xfrm>
            <a:off x="8231445" y="4907051"/>
            <a:ext cx="2965075" cy="679218"/>
            <a:chOff x="8231445" y="5156312"/>
            <a:chExt cx="2965075" cy="679218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A0F28DED-B5A5-4A48-AEFA-A2C1E6D30B2E}"/>
                </a:ext>
              </a:extLst>
            </p:cNvPr>
            <p:cNvSpPr>
              <a:spLocks/>
            </p:cNvSpPr>
            <p:nvPr/>
          </p:nvSpPr>
          <p:spPr>
            <a:xfrm>
              <a:off x="8231445" y="5156312"/>
              <a:ext cx="2965075" cy="275676"/>
            </a:xfrm>
            <a:prstGeom prst="rect">
              <a:avLst/>
            </a:prstGeom>
            <a:solidFill>
              <a:srgbClr val="004AA1"/>
            </a:solidFill>
            <a:ln>
              <a:noFill/>
            </a:ln>
            <a:effectLst>
              <a:outerShdw blurRad="50800" dist="38100" dir="5400000" algn="t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1400" dirty="0">
                  <a:latin typeface="Freesentation 5 Medium" pitchFamily="2" charset="-127"/>
                  <a:ea typeface="Freesentation 5 Medium" pitchFamily="2" charset="-127"/>
                </a:rPr>
                <a:t>국내 산업 육성</a:t>
              </a: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A4799D7-4EB6-45F9-AD18-02B21106BC01}"/>
                </a:ext>
              </a:extLst>
            </p:cNvPr>
            <p:cNvSpPr>
              <a:spLocks/>
            </p:cNvSpPr>
            <p:nvPr/>
          </p:nvSpPr>
          <p:spPr>
            <a:xfrm>
              <a:off x="8236708" y="5404643"/>
              <a:ext cx="2952000" cy="430887"/>
            </a:xfrm>
            <a:prstGeom prst="rect">
              <a:avLst/>
            </a:prstGeom>
            <a:noFill/>
            <a:ln>
              <a:solidFill>
                <a:srgbClr val="004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폴란드 역내 방산 생산 허브 구축 목표</a:t>
              </a:r>
              <a:endParaRPr kumimoji="1" lang="en-US" altLang="ko-KR" sz="12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kumimoji="1" lang="en-US" altLang="ko-KR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K2</a:t>
              </a: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전차 개량형 </a:t>
              </a:r>
              <a:r>
                <a:rPr kumimoji="1" lang="en-US" altLang="ko-KR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K2PL </a:t>
              </a:r>
              <a:r>
                <a:rPr kumimoji="1" lang="ko-KR" altLang="en-US" sz="1200" dirty="0">
                  <a:solidFill>
                    <a:srgbClr val="373737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자체 생산하여 역수출</a:t>
              </a:r>
            </a:p>
          </p:txBody>
        </p:sp>
      </p:grp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7D82C9C3-B9AB-4F2E-A8AA-BC5F6163BBA6}"/>
              </a:ext>
            </a:extLst>
          </p:cNvPr>
          <p:cNvSpPr/>
          <p:nvPr/>
        </p:nvSpPr>
        <p:spPr>
          <a:xfrm>
            <a:off x="334963" y="5695549"/>
            <a:ext cx="11522075" cy="444872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폴란드 방산시장은 위협 지속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, 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풍부한 경제력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, 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정부 의지 결합으로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향후 </a:t>
            </a:r>
            <a:r>
              <a:rPr lang="en-US" altLang="ko-KR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10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년간 호황 국면 추정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되며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, 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이는 한국 방산기업에게 기회이자 경쟁의 무대</a:t>
            </a:r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073B2E22-7750-4130-B36A-0DFDFA6826B7}"/>
              </a:ext>
            </a:extLst>
          </p:cNvPr>
          <p:cNvSpPr txBox="1"/>
          <p:nvPr/>
        </p:nvSpPr>
        <p:spPr>
          <a:xfrm>
            <a:off x="7679816" y="1906257"/>
            <a:ext cx="27645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Freesentation 7 Bold" pitchFamily="2" charset="-127"/>
                <a:ea typeface="Freesentation 7 Bold" pitchFamily="2" charset="-127"/>
              </a:rPr>
              <a:t>[NATO </a:t>
            </a:r>
            <a:r>
              <a:rPr lang="ko-KR" altLang="en-US" sz="1200" dirty="0">
                <a:latin typeface="Freesentation 7 Bold" pitchFamily="2" charset="-127"/>
                <a:ea typeface="Freesentation 7 Bold" pitchFamily="2" charset="-127"/>
              </a:rPr>
              <a:t>국방비 지출액 및 한국방산 수출액 추이</a:t>
            </a:r>
            <a:r>
              <a:rPr lang="en-US" altLang="ko-KR" sz="1200" dirty="0">
                <a:latin typeface="Freesentation 7 Bold" pitchFamily="2" charset="-127"/>
                <a:ea typeface="Freesentation 7 Bold" pitchFamily="2" charset="-127"/>
              </a:rPr>
              <a:t>]</a:t>
            </a:r>
            <a:endParaRPr lang="ko-KR" altLang="en-US" sz="1200" dirty="0">
              <a:latin typeface="Freesentation 7 Bold" pitchFamily="2" charset="-127"/>
              <a:ea typeface="Freesentation 7 Bold" pitchFamily="2" charset="-127"/>
            </a:endParaRPr>
          </a:p>
        </p:txBody>
      </p:sp>
      <p:pic>
        <p:nvPicPr>
          <p:cNvPr id="2095" name="그림 2094">
            <a:extLst>
              <a:ext uri="{FF2B5EF4-FFF2-40B4-BE49-F238E27FC236}">
                <a16:creationId xmlns:a16="http://schemas.microsoft.com/office/drawing/2014/main" id="{C2A8B096-11E6-4B99-AA68-CE6B2684E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2913" y="4785261"/>
            <a:ext cx="362033" cy="362033"/>
          </a:xfrm>
          <a:prstGeom prst="rect">
            <a:avLst/>
          </a:prstGeom>
        </p:spPr>
      </p:pic>
      <p:pic>
        <p:nvPicPr>
          <p:cNvPr id="2097" name="그림 2096">
            <a:extLst>
              <a:ext uri="{FF2B5EF4-FFF2-40B4-BE49-F238E27FC236}">
                <a16:creationId xmlns:a16="http://schemas.microsoft.com/office/drawing/2014/main" id="{67F7A24E-DCDD-4D1E-86B3-B1E725E6D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5346" y="4793349"/>
            <a:ext cx="362033" cy="362033"/>
          </a:xfrm>
          <a:prstGeom prst="rect">
            <a:avLst/>
          </a:prstGeom>
        </p:spPr>
      </p:pic>
      <p:pic>
        <p:nvPicPr>
          <p:cNvPr id="2099" name="그림 2098">
            <a:extLst>
              <a:ext uri="{FF2B5EF4-FFF2-40B4-BE49-F238E27FC236}">
                <a16:creationId xmlns:a16="http://schemas.microsoft.com/office/drawing/2014/main" id="{763450AE-9BA7-499F-A677-B6090B1E40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115" y="4678155"/>
            <a:ext cx="504571" cy="50457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E5DDEB7-B18C-4095-A6F4-3563CED263A8}"/>
              </a:ext>
            </a:extLst>
          </p:cNvPr>
          <p:cNvSpPr txBox="1"/>
          <p:nvPr/>
        </p:nvSpPr>
        <p:spPr>
          <a:xfrm>
            <a:off x="6251334" y="4452879"/>
            <a:ext cx="71173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※</a:t>
            </a:r>
            <a:r>
              <a:rPr lang="ko-KR" altLang="en-US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자료</a:t>
            </a:r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NATO</a:t>
            </a:r>
            <a:endParaRPr lang="ko-KR" altLang="en-US" sz="1000" spc="-20" dirty="0">
              <a:solidFill>
                <a:srgbClr val="373737"/>
              </a:solidFill>
              <a:latin typeface="Freesentation 5 Medium" pitchFamily="2" charset="-127"/>
              <a:ea typeface="Freesentation 5 Medium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D54281-7F42-41EB-A141-B30E7AC66FA7}"/>
              </a:ext>
            </a:extLst>
          </p:cNvPr>
          <p:cNvSpPr txBox="1"/>
          <p:nvPr/>
        </p:nvSpPr>
        <p:spPr>
          <a:xfrm>
            <a:off x="10179844" y="4452879"/>
            <a:ext cx="8797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※</a:t>
            </a:r>
            <a:r>
              <a:rPr lang="ko-KR" altLang="en-US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자료</a:t>
            </a:r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방위산업청</a:t>
            </a:r>
          </a:p>
        </p:txBody>
      </p:sp>
    </p:spTree>
    <p:extLst>
      <p:ext uri="{BB962C8B-B14F-4D97-AF65-F5344CB8AC3E}">
        <p14:creationId xmlns:p14="http://schemas.microsoft.com/office/powerpoint/2010/main" val="96333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E655E-0ACC-3115-FF40-94D808ACC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D1369E5D-FA6C-4330-8FDF-01B19E50EC5B}"/>
              </a:ext>
            </a:extLst>
          </p:cNvPr>
          <p:cNvSpPr txBox="1"/>
          <p:nvPr/>
        </p:nvSpPr>
        <p:spPr>
          <a:xfrm>
            <a:off x="319090" y="1194614"/>
            <a:ext cx="93455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경제적 환경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B2884F4-78EA-4E02-919B-51EAE8628C3F}"/>
              </a:ext>
            </a:extLst>
          </p:cNvPr>
          <p:cNvGrpSpPr/>
          <p:nvPr/>
        </p:nvGrpSpPr>
        <p:grpSpPr>
          <a:xfrm>
            <a:off x="319090" y="1853935"/>
            <a:ext cx="5641822" cy="4472321"/>
            <a:chOff x="319090" y="1853935"/>
            <a:chExt cx="5641822" cy="447232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DF9E292-7CD6-45DF-AE6A-F7BF63EC9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963" y="2347624"/>
              <a:ext cx="5625949" cy="382201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BA0BFB-53FB-4CD6-BF7E-16FFCAACB5E5}"/>
                </a:ext>
              </a:extLst>
            </p:cNvPr>
            <p:cNvSpPr txBox="1"/>
            <p:nvPr/>
          </p:nvSpPr>
          <p:spPr>
            <a:xfrm>
              <a:off x="319090" y="6172368"/>
              <a:ext cx="1200650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※</a:t>
              </a:r>
              <a:r>
                <a:rPr lang="ko-KR" altLang="en-US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자료</a:t>
              </a:r>
              <a:r>
                <a:rPr lang="en-US" altLang="ko-KR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: IMF</a:t>
              </a:r>
              <a:r>
                <a:rPr lang="ko-KR" altLang="en-US" sz="1000" dirty="0" err="1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  <a:cs typeface="Pretendard SemiBold" panose="02000703000000020004" pitchFamily="50" charset="-127"/>
                </a:rPr>
                <a:t>ㆍ</a:t>
              </a:r>
              <a:r>
                <a:rPr lang="en-US" altLang="ko-KR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EIU</a:t>
              </a:r>
              <a:r>
                <a:rPr lang="ko-KR" altLang="en-US" sz="1000" dirty="0" err="1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  <a:cs typeface="Pretendard SemiBold" panose="02000703000000020004" pitchFamily="50" charset="-127"/>
                </a:rPr>
                <a:t>ㆍ</a:t>
              </a:r>
              <a:r>
                <a:rPr lang="ko-KR" altLang="en-US" sz="1000" dirty="0" err="1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피치</a:t>
              </a:r>
              <a:r>
                <a:rPr lang="ko-KR" altLang="en-US" sz="1000" dirty="0">
                  <a:solidFill>
                    <a:srgbClr val="373737"/>
                  </a:solidFill>
                  <a:latin typeface="Freesentation 5 Medium" pitchFamily="2" charset="-127"/>
                  <a:ea typeface="Freesentation 5 Medium" pitchFamily="2" charset="-127"/>
                  <a:cs typeface="Pretendard SemiBold" panose="02000703000000020004" pitchFamily="50" charset="-127"/>
                </a:rPr>
                <a:t> 등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F27650C-9EF4-4CBA-A2CB-15655782035B}"/>
                </a:ext>
              </a:extLst>
            </p:cNvPr>
            <p:cNvSpPr txBox="1"/>
            <p:nvPr/>
          </p:nvSpPr>
          <p:spPr>
            <a:xfrm>
              <a:off x="495696" y="3637977"/>
              <a:ext cx="419987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15,500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7CC1B0-C528-4412-A694-716EC1688379}"/>
                </a:ext>
              </a:extLst>
            </p:cNvPr>
            <p:cNvSpPr txBox="1"/>
            <p:nvPr/>
          </p:nvSpPr>
          <p:spPr>
            <a:xfrm>
              <a:off x="1193203" y="3617520"/>
              <a:ext cx="419987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15,690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276587-36AA-402C-BBA1-5B5D9BBEDE6C}"/>
                </a:ext>
              </a:extLst>
            </p:cNvPr>
            <p:cNvSpPr txBox="1"/>
            <p:nvPr/>
          </p:nvSpPr>
          <p:spPr>
            <a:xfrm>
              <a:off x="1890709" y="3602705"/>
              <a:ext cx="419988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15,790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E331C8-F8EF-46A0-851C-FF0A9822BA34}"/>
                </a:ext>
              </a:extLst>
            </p:cNvPr>
            <p:cNvSpPr txBox="1"/>
            <p:nvPr/>
          </p:nvSpPr>
          <p:spPr>
            <a:xfrm>
              <a:off x="2588216" y="3383388"/>
              <a:ext cx="419988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18,010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59702BB-C815-4C5E-BBE5-BEC5D028C51D}"/>
                </a:ext>
              </a:extLst>
            </p:cNvPr>
            <p:cNvSpPr txBox="1"/>
            <p:nvPr/>
          </p:nvSpPr>
          <p:spPr>
            <a:xfrm>
              <a:off x="3285723" y="3350048"/>
              <a:ext cx="419988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18,280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2D09556-E55D-43A6-B6D0-99275D23489C}"/>
                </a:ext>
              </a:extLst>
            </p:cNvPr>
            <p:cNvSpPr txBox="1"/>
            <p:nvPr/>
          </p:nvSpPr>
          <p:spPr>
            <a:xfrm>
              <a:off x="3983231" y="3150018"/>
              <a:ext cx="419988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22,000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30479D9-11A3-4B3B-9692-8D0FB8AE2B7B}"/>
                </a:ext>
              </a:extLst>
            </p:cNvPr>
            <p:cNvSpPr txBox="1"/>
            <p:nvPr/>
          </p:nvSpPr>
          <p:spPr>
            <a:xfrm>
              <a:off x="4680736" y="2869030"/>
              <a:ext cx="419987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23,010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70A413E-676D-4ED5-A8C4-F3D60C313F6F}"/>
                </a:ext>
              </a:extLst>
            </p:cNvPr>
            <p:cNvSpPr txBox="1"/>
            <p:nvPr/>
          </p:nvSpPr>
          <p:spPr>
            <a:xfrm>
              <a:off x="5378243" y="2757786"/>
              <a:ext cx="419988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24,140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1F3BC8-2B87-4AA1-88FB-EDCF7466D387}"/>
                </a:ext>
              </a:extLst>
            </p:cNvPr>
            <p:cNvSpPr txBox="1"/>
            <p:nvPr/>
          </p:nvSpPr>
          <p:spPr>
            <a:xfrm>
              <a:off x="611113" y="3909960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5.9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6C9EFD-222F-46A5-87EF-EBDAEFC921FC}"/>
                </a:ext>
              </a:extLst>
            </p:cNvPr>
            <p:cNvSpPr txBox="1"/>
            <p:nvPr/>
          </p:nvSpPr>
          <p:spPr>
            <a:xfrm>
              <a:off x="1308620" y="3889503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4.4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DBB85D-4E95-48A8-BEF9-EFDE1C2FD799}"/>
                </a:ext>
              </a:extLst>
            </p:cNvPr>
            <p:cNvSpPr txBox="1"/>
            <p:nvPr/>
          </p:nvSpPr>
          <p:spPr>
            <a:xfrm>
              <a:off x="1979676" y="5122463"/>
              <a:ext cx="2420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-2.0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B5252E-FD61-4483-AA52-FD2C96156DDD}"/>
                </a:ext>
              </a:extLst>
            </p:cNvPr>
            <p:cNvSpPr txBox="1"/>
            <p:nvPr/>
          </p:nvSpPr>
          <p:spPr>
            <a:xfrm>
              <a:off x="2703634" y="3766821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6.9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55ADAF7-A96C-44E8-96BA-1EC436A5478A}"/>
                </a:ext>
              </a:extLst>
            </p:cNvPr>
            <p:cNvSpPr txBox="1"/>
            <p:nvPr/>
          </p:nvSpPr>
          <p:spPr>
            <a:xfrm>
              <a:off x="3362668" y="2368371"/>
              <a:ext cx="26609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14.4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E78F856-A28D-4B66-9289-CA1D4FC449AE}"/>
                </a:ext>
              </a:extLst>
            </p:cNvPr>
            <p:cNvSpPr txBox="1"/>
            <p:nvPr/>
          </p:nvSpPr>
          <p:spPr>
            <a:xfrm>
              <a:off x="4060176" y="2814760"/>
              <a:ext cx="26609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11.4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C95A2B-BBFD-4E61-B579-AD3C3923E7D8}"/>
                </a:ext>
              </a:extLst>
            </p:cNvPr>
            <p:cNvSpPr txBox="1"/>
            <p:nvPr/>
          </p:nvSpPr>
          <p:spPr>
            <a:xfrm>
              <a:off x="4852257" y="3787838"/>
              <a:ext cx="7694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5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58B5DFE-6F29-4790-9651-EAAF672D57B9}"/>
                </a:ext>
              </a:extLst>
            </p:cNvPr>
            <p:cNvSpPr txBox="1"/>
            <p:nvPr/>
          </p:nvSpPr>
          <p:spPr>
            <a:xfrm>
              <a:off x="5549765" y="3806326"/>
              <a:ext cx="7694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5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047B39C-7E66-404E-A62E-39B8EA3E8CF8}"/>
                </a:ext>
              </a:extLst>
            </p:cNvPr>
            <p:cNvSpPr txBox="1"/>
            <p:nvPr/>
          </p:nvSpPr>
          <p:spPr>
            <a:xfrm>
              <a:off x="611113" y="4208548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3.8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A609F15-0574-4674-87D4-AF610B7011A9}"/>
                </a:ext>
              </a:extLst>
            </p:cNvPr>
            <p:cNvSpPr txBox="1"/>
            <p:nvPr/>
          </p:nvSpPr>
          <p:spPr>
            <a:xfrm>
              <a:off x="1308620" y="4087315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3.3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E15857E-60EF-44C1-BDC6-04E83290E7BB}"/>
                </a:ext>
              </a:extLst>
            </p:cNvPr>
            <p:cNvSpPr txBox="1"/>
            <p:nvPr/>
          </p:nvSpPr>
          <p:spPr>
            <a:xfrm>
              <a:off x="2006127" y="4121063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3.2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FBF12C-CEA4-4401-A562-250E0B2EB99D}"/>
                </a:ext>
              </a:extLst>
            </p:cNvPr>
            <p:cNvSpPr txBox="1"/>
            <p:nvPr/>
          </p:nvSpPr>
          <p:spPr>
            <a:xfrm>
              <a:off x="2703635" y="4025812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5.1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6778FC6-CB5B-4780-AA78-D8E60457C71D}"/>
                </a:ext>
              </a:extLst>
            </p:cNvPr>
            <p:cNvSpPr txBox="1"/>
            <p:nvPr/>
          </p:nvSpPr>
          <p:spPr>
            <a:xfrm>
              <a:off x="3401141" y="4020636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5.3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9CF1E8B-514A-4221-8823-D858D2EE0FA7}"/>
                </a:ext>
              </a:extLst>
            </p:cNvPr>
            <p:cNvSpPr txBox="1"/>
            <p:nvPr/>
          </p:nvSpPr>
          <p:spPr>
            <a:xfrm>
              <a:off x="4098649" y="4136848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2.8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8D589D5-9404-4D4D-AAE4-45DCC74776A6}"/>
                </a:ext>
              </a:extLst>
            </p:cNvPr>
            <p:cNvSpPr txBox="1"/>
            <p:nvPr/>
          </p:nvSpPr>
          <p:spPr>
            <a:xfrm>
              <a:off x="4796153" y="4125617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3.1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2160E21-7624-49DB-9437-4B06D842CC04}"/>
                </a:ext>
              </a:extLst>
            </p:cNvPr>
            <p:cNvSpPr txBox="1"/>
            <p:nvPr/>
          </p:nvSpPr>
          <p:spPr>
            <a:xfrm>
              <a:off x="5493660" y="4052209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3.5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3C7910A-1544-4E54-AC32-E37DDA7E4BF2}"/>
                </a:ext>
              </a:extLst>
            </p:cNvPr>
            <p:cNvSpPr txBox="1"/>
            <p:nvPr/>
          </p:nvSpPr>
          <p:spPr>
            <a:xfrm>
              <a:off x="611113" y="4504245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1.8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7657D64-22D9-4993-96BA-8EF01EA5B0F9}"/>
                </a:ext>
              </a:extLst>
            </p:cNvPr>
            <p:cNvSpPr txBox="1"/>
            <p:nvPr/>
          </p:nvSpPr>
          <p:spPr>
            <a:xfrm>
              <a:off x="1308620" y="4463785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2.2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AA89DF2-2FBE-4230-A730-6BCE63E13FC5}"/>
                </a:ext>
              </a:extLst>
            </p:cNvPr>
            <p:cNvSpPr txBox="1"/>
            <p:nvPr/>
          </p:nvSpPr>
          <p:spPr>
            <a:xfrm>
              <a:off x="2006127" y="4334087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3.0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99BD7CA-AF30-47D9-9798-4314D36E8EC6}"/>
                </a:ext>
              </a:extLst>
            </p:cNvPr>
            <p:cNvSpPr txBox="1"/>
            <p:nvPr/>
          </p:nvSpPr>
          <p:spPr>
            <a:xfrm>
              <a:off x="2703634" y="4289465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3.4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9A50046-CB51-45AF-A2B5-E4ABBF244009}"/>
                </a:ext>
              </a:extLst>
            </p:cNvPr>
            <p:cNvSpPr txBox="1"/>
            <p:nvPr/>
          </p:nvSpPr>
          <p:spPr>
            <a:xfrm>
              <a:off x="3401141" y="4392533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2.9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BE24363-5104-4964-A716-0D39AB0C4437}"/>
                </a:ext>
              </a:extLst>
            </p:cNvPr>
            <p:cNvSpPr txBox="1"/>
            <p:nvPr/>
          </p:nvSpPr>
          <p:spPr>
            <a:xfrm>
              <a:off x="4098649" y="4770682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0.2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72203A0-6155-4551-88BB-00BDE64AC9DC}"/>
                </a:ext>
              </a:extLst>
            </p:cNvPr>
            <p:cNvSpPr txBox="1"/>
            <p:nvPr/>
          </p:nvSpPr>
          <p:spPr>
            <a:xfrm>
              <a:off x="4796153" y="4374050"/>
              <a:ext cx="18915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2.9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9D09813-C459-4E0E-B29E-89F2506283D9}"/>
                </a:ext>
              </a:extLst>
            </p:cNvPr>
            <p:cNvSpPr txBox="1"/>
            <p:nvPr/>
          </p:nvSpPr>
          <p:spPr>
            <a:xfrm>
              <a:off x="5549765" y="4365769"/>
              <a:ext cx="7694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>
                  <a:effectLst>
                    <a:glow rad="63500">
                      <a:schemeClr val="bg1">
                        <a:alpha val="70000"/>
                      </a:schemeClr>
                    </a:glow>
                  </a:effectLst>
                  <a:latin typeface="Freesentation 5 Medium" pitchFamily="2" charset="-127"/>
                  <a:ea typeface="Freesentation 5 Medium" pitchFamily="2" charset="-127"/>
                </a:rPr>
                <a:t>3</a:t>
              </a:r>
              <a:endParaRPr lang="ko-KR" altLang="en-US" sz="1100" dirty="0">
                <a:effectLst>
                  <a:glow rad="63500">
                    <a:schemeClr val="bg1">
                      <a:alpha val="70000"/>
                    </a:schemeClr>
                  </a:glow>
                </a:effectLst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8B50A85-F4A5-40DE-8339-6C08E1B7DF59}"/>
                </a:ext>
              </a:extLst>
            </p:cNvPr>
            <p:cNvSpPr/>
            <p:nvPr/>
          </p:nvSpPr>
          <p:spPr>
            <a:xfrm>
              <a:off x="334963" y="1853935"/>
              <a:ext cx="5616575" cy="502557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pic>
        <p:nvPicPr>
          <p:cNvPr id="2049" name="그림 2048">
            <a:extLst>
              <a:ext uri="{FF2B5EF4-FFF2-40B4-BE49-F238E27FC236}">
                <a16:creationId xmlns:a16="http://schemas.microsoft.com/office/drawing/2014/main" id="{C28D1A5D-7F6F-42A6-874D-ACACC5402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5" y="1988849"/>
            <a:ext cx="1165085" cy="1165085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65CCA6E5-BF74-4549-B35A-8F42B24D1CAF}"/>
              </a:ext>
            </a:extLst>
          </p:cNvPr>
          <p:cNvGrpSpPr/>
          <p:nvPr/>
        </p:nvGrpSpPr>
        <p:grpSpPr>
          <a:xfrm>
            <a:off x="338140" y="1566863"/>
            <a:ext cx="2882997" cy="215444"/>
            <a:chOff x="338140" y="1566863"/>
            <a:chExt cx="2882997" cy="2154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8786749-6580-4E55-8F2E-CB1D3B7D05D3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CFDD64E-0818-4641-BC72-C5B98C249289}"/>
                </a:ext>
              </a:extLst>
            </p:cNvPr>
            <p:cNvSpPr txBox="1"/>
            <p:nvPr/>
          </p:nvSpPr>
          <p:spPr>
            <a:xfrm>
              <a:off x="420690" y="1566863"/>
              <a:ext cx="280044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최근 </a:t>
              </a:r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8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년</a:t>
              </a:r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(’18~’25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년</a:t>
              </a:r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) 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폴란드 주요 경제지표</a:t>
              </a:r>
            </a:p>
          </p:txBody>
        </p:sp>
      </p:grpSp>
      <p:pic>
        <p:nvPicPr>
          <p:cNvPr id="2052" name="그래픽 2051" descr="막대 그래프 상향 추세 단색으로 채워진">
            <a:extLst>
              <a:ext uri="{FF2B5EF4-FFF2-40B4-BE49-F238E27FC236}">
                <a16:creationId xmlns:a16="http://schemas.microsoft.com/office/drawing/2014/main" id="{9FD3684A-1FEC-483B-A1CB-56D877AE39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0808" y="1894435"/>
            <a:ext cx="807034" cy="807034"/>
          </a:xfrm>
          <a:prstGeom prst="rect">
            <a:avLst/>
          </a:prstGeom>
        </p:spPr>
      </p:pic>
      <p:pic>
        <p:nvPicPr>
          <p:cNvPr id="2054" name="그래픽 2053" descr="동전 단색으로 채워진">
            <a:extLst>
              <a:ext uri="{FF2B5EF4-FFF2-40B4-BE49-F238E27FC236}">
                <a16:creationId xmlns:a16="http://schemas.microsoft.com/office/drawing/2014/main" id="{8B71C5F9-671C-4F7E-9B69-D4C0CE945C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4236" y="1914116"/>
            <a:ext cx="680099" cy="6800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2DA88FC-CEF7-4511-999C-BC8452562DC2}"/>
              </a:ext>
            </a:extLst>
          </p:cNvPr>
          <p:cNvGrpSpPr/>
          <p:nvPr/>
        </p:nvGrpSpPr>
        <p:grpSpPr>
          <a:xfrm>
            <a:off x="6256336" y="1852026"/>
            <a:ext cx="2743200" cy="1404850"/>
            <a:chOff x="6256186" y="1852026"/>
            <a:chExt cx="2830003" cy="1594696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4D3E9D3-1E75-4ABB-9347-A57E30A106AB}"/>
                </a:ext>
              </a:extLst>
            </p:cNvPr>
            <p:cNvSpPr/>
            <p:nvPr/>
          </p:nvSpPr>
          <p:spPr>
            <a:xfrm>
              <a:off x="6305032" y="2210441"/>
              <a:ext cx="2728800" cy="1236281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2023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년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: GDP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대비 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4%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돌파</a:t>
              </a:r>
              <a:endPara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>
                <a:spcAft>
                  <a:spcPts val="600"/>
                </a:spcAft>
              </a:pP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 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200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억 달러 중반 수준 국방예산 편성</a:t>
              </a:r>
              <a:b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endPara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B209ACD0-041F-463C-B554-83E26D10D8EF}"/>
                </a:ext>
              </a:extLst>
            </p:cNvPr>
            <p:cNvSpPr/>
            <p:nvPr/>
          </p:nvSpPr>
          <p:spPr>
            <a:xfrm>
              <a:off x="6256186" y="1852026"/>
              <a:ext cx="2830003" cy="313323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01.</a:t>
              </a:r>
              <a:endParaRPr lang="ko-KR" altLang="en-US" sz="1400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0A35583-62EA-4F7B-937E-160C06196435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380CA59-7EF4-48C6-A323-438B5E51A6CA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845D7A6-38C8-4767-AB7B-D0339A19FBCC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D568BDC-C3CF-495C-B9FD-C3A3E6BE17C0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73C763F-B54F-42DD-B786-AC14B865FE2A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23BFE9B-4E27-4858-BC33-91512F94E059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222641A-A4E5-4EBE-A90F-22F8403ACC1B}"/>
              </a:ext>
            </a:extLst>
          </p:cNvPr>
          <p:cNvGrpSpPr/>
          <p:nvPr/>
        </p:nvGrpSpPr>
        <p:grpSpPr>
          <a:xfrm>
            <a:off x="6261100" y="1566863"/>
            <a:ext cx="3354279" cy="215444"/>
            <a:chOff x="338140" y="1566863"/>
            <a:chExt cx="3354279" cy="215444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11EE866-F750-41F2-A27B-89AC178A2869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8E3E623-E8EB-4C51-980A-D71C89B44B5F}"/>
                </a:ext>
              </a:extLst>
            </p:cNvPr>
            <p:cNvSpPr txBox="1"/>
            <p:nvPr/>
          </p:nvSpPr>
          <p:spPr>
            <a:xfrm>
              <a:off x="420690" y="1566863"/>
              <a:ext cx="327172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폴란드 </a:t>
              </a:r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GDP 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대비 국방비 최근 지출 현황 및 향후 목표</a:t>
              </a: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A4C8A0E-0ECE-4D5A-BD38-58E07CFF9193}"/>
              </a:ext>
            </a:extLst>
          </p:cNvPr>
          <p:cNvGrpSpPr/>
          <p:nvPr/>
        </p:nvGrpSpPr>
        <p:grpSpPr>
          <a:xfrm>
            <a:off x="9113837" y="1852026"/>
            <a:ext cx="2743200" cy="1404850"/>
            <a:chOff x="6256186" y="1852026"/>
            <a:chExt cx="2830003" cy="1594696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BB5FC932-F30D-4AFA-99BF-BA35B677779F}"/>
                </a:ext>
              </a:extLst>
            </p:cNvPr>
            <p:cNvSpPr/>
            <p:nvPr/>
          </p:nvSpPr>
          <p:spPr>
            <a:xfrm>
              <a:off x="6305032" y="2210441"/>
              <a:ext cx="2728800" cy="1236281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2024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년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: GDP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대비 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4.3%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달성</a:t>
              </a:r>
              <a:endPara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>
                <a:spcAft>
                  <a:spcPts val="600"/>
                </a:spcAft>
              </a:pP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 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267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억 달러 규모로 확대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, </a:t>
              </a:r>
              <a:b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130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여건 계약 체결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CAEBDD0-E194-46F8-A362-A1CD4699E87D}"/>
                </a:ext>
              </a:extLst>
            </p:cNvPr>
            <p:cNvSpPr/>
            <p:nvPr/>
          </p:nvSpPr>
          <p:spPr>
            <a:xfrm>
              <a:off x="6256186" y="1852026"/>
              <a:ext cx="2830003" cy="313323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02.</a:t>
              </a:r>
              <a:endParaRPr lang="ko-KR" altLang="en-US" sz="1400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46AA09F4-5E54-4889-8900-6A846E3C2D6A}"/>
              </a:ext>
            </a:extLst>
          </p:cNvPr>
          <p:cNvGrpSpPr/>
          <p:nvPr/>
        </p:nvGrpSpPr>
        <p:grpSpPr>
          <a:xfrm>
            <a:off x="6256336" y="3385574"/>
            <a:ext cx="2743200" cy="1404850"/>
            <a:chOff x="6256186" y="1852026"/>
            <a:chExt cx="2830003" cy="1594696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60DA5F87-B71A-44B5-96FB-49CC3411A259}"/>
                </a:ext>
              </a:extLst>
            </p:cNvPr>
            <p:cNvSpPr/>
            <p:nvPr/>
          </p:nvSpPr>
          <p:spPr>
            <a:xfrm>
              <a:off x="6305032" y="2210441"/>
              <a:ext cx="2728800" cy="1236281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2025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년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: GDP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대비 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4.7%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목표</a:t>
              </a:r>
              <a:endPara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300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억 달러 이상 예상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,</a:t>
              </a:r>
              <a:b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지속적 증가 추세</a:t>
              </a: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21EB988-51A0-4019-B51C-7346C247C724}"/>
                </a:ext>
              </a:extLst>
            </p:cNvPr>
            <p:cNvSpPr/>
            <p:nvPr/>
          </p:nvSpPr>
          <p:spPr>
            <a:xfrm>
              <a:off x="6256186" y="1852026"/>
              <a:ext cx="2830003" cy="313323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03.</a:t>
              </a:r>
              <a:endParaRPr lang="ko-KR" altLang="en-US" sz="1400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27534E7-8D35-45F6-AE65-7EEE92017979}"/>
              </a:ext>
            </a:extLst>
          </p:cNvPr>
          <p:cNvGrpSpPr/>
          <p:nvPr/>
        </p:nvGrpSpPr>
        <p:grpSpPr>
          <a:xfrm>
            <a:off x="9113837" y="3385574"/>
            <a:ext cx="2743200" cy="1404850"/>
            <a:chOff x="6256186" y="1852026"/>
            <a:chExt cx="2830003" cy="1594696"/>
          </a:xfrm>
        </p:grpSpPr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262F073-635D-4D78-A0BA-D2631516B95B}"/>
                </a:ext>
              </a:extLst>
            </p:cNvPr>
            <p:cNvSpPr/>
            <p:nvPr/>
          </p:nvSpPr>
          <p:spPr>
            <a:xfrm>
              <a:off x="6305032" y="2210441"/>
              <a:ext cx="2728800" cy="1236281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2026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년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: GDP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대비 </a:t>
              </a:r>
              <a:r>
                <a:rPr lang="en-US" altLang="ko-KR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4.8% </a:t>
              </a:r>
              <a:r>
                <a:rPr lang="ko-KR" altLang="en-US" sz="1600" b="1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공언</a:t>
              </a:r>
              <a:endPara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NATO 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회원국 중</a:t>
              </a:r>
              <a:b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최고 수준 유지 계획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D6362D39-2DA6-4A5E-967D-30A2644D25F3}"/>
                </a:ext>
              </a:extLst>
            </p:cNvPr>
            <p:cNvSpPr/>
            <p:nvPr/>
          </p:nvSpPr>
          <p:spPr>
            <a:xfrm>
              <a:off x="6256186" y="1852026"/>
              <a:ext cx="2830003" cy="313323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04.</a:t>
              </a:r>
              <a:endParaRPr lang="ko-KR" altLang="en-US" sz="1400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DC4947B-2FAA-4AB2-AD6F-D0D00AAB176D}"/>
              </a:ext>
            </a:extLst>
          </p:cNvPr>
          <p:cNvSpPr/>
          <p:nvPr/>
        </p:nvSpPr>
        <p:spPr>
          <a:xfrm>
            <a:off x="6256336" y="5063354"/>
            <a:ext cx="5600702" cy="1089104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폴란드는 </a:t>
            </a:r>
            <a:r>
              <a:rPr lang="ko-KR" altLang="en-US" dirty="0" err="1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중동부유럽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 최대 경제국으로 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GDP 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약 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8,800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억 달러 규모로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,</a:t>
            </a:r>
            <a:endParaRPr lang="ko-KR" altLang="en-US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EU 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구조기금 수혜와 제조업 성장으로 </a:t>
            </a:r>
            <a:b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</a:b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2010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년대 이후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연평균 </a:t>
            </a:r>
            <a:r>
              <a:rPr lang="en-US" altLang="ko-KR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3~4%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성장 지속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6FF3FD9-2BE8-41CC-84CC-E4602B901CAA}"/>
              </a:ext>
            </a:extLst>
          </p:cNvPr>
          <p:cNvSpPr txBox="1"/>
          <p:nvPr/>
        </p:nvSpPr>
        <p:spPr>
          <a:xfrm>
            <a:off x="6233313" y="4830148"/>
            <a:ext cx="358207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※</a:t>
            </a:r>
            <a:r>
              <a:rPr lang="ko-KR" altLang="en-US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출처</a:t>
            </a:r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</a:t>
            </a:r>
            <a:r>
              <a:rPr lang="en-US" altLang="ko-KR" sz="1000" spc="-20" dirty="0" err="1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Polska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</a:t>
            </a:r>
            <a:r>
              <a:rPr lang="en-US" altLang="ko-KR" sz="1000" spc="-20" dirty="0" err="1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Agencja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</a:t>
            </a:r>
            <a:r>
              <a:rPr lang="en-US" altLang="ko-KR" sz="1000" spc="-20" dirty="0" err="1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Parasowa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(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폴란드 국영 통신사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), ’24. 7. 13. 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보도자료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9EAAA12-8F59-4EFB-94DF-E8004F66959A}"/>
              </a:ext>
            </a:extLst>
          </p:cNvPr>
          <p:cNvSpPr/>
          <p:nvPr/>
        </p:nvSpPr>
        <p:spPr>
          <a:xfrm>
            <a:off x="3569989" y="6021388"/>
            <a:ext cx="1103968" cy="148247"/>
          </a:xfrm>
          <a:prstGeom prst="roundRect">
            <a:avLst>
              <a:gd name="adj" fmla="val 50000"/>
            </a:avLst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rgbClr val="FFC606"/>
                </a:solidFill>
                <a:effectLst/>
                <a:latin typeface="Freesentation 5 Medium" pitchFamily="2" charset="-127"/>
                <a:ea typeface="Freesentation 5 Medium" pitchFamily="2" charset="-127"/>
              </a:rPr>
              <a:t>GEOMEAN: 3%</a:t>
            </a:r>
            <a:endParaRPr lang="ko-KR" altLang="en-US" sz="1100" b="1" dirty="0">
              <a:solidFill>
                <a:srgbClr val="FFC606"/>
              </a:solidFill>
              <a:effectLst/>
              <a:latin typeface="Freesentation 5 Medium" pitchFamily="2" charset="-127"/>
              <a:ea typeface="Freesentation 5 Medium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AA306DC-43D2-4590-8B27-B7809D9CB2AC}"/>
              </a:ext>
            </a:extLst>
          </p:cNvPr>
          <p:cNvCxnSpPr/>
          <p:nvPr/>
        </p:nvCxnSpPr>
        <p:spPr>
          <a:xfrm>
            <a:off x="3493336" y="5804034"/>
            <a:ext cx="0" cy="348424"/>
          </a:xfrm>
          <a:prstGeom prst="line">
            <a:avLst/>
          </a:prstGeom>
          <a:ln w="15875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8F643E01-A832-40B1-A95D-14250893F19A}"/>
              </a:ext>
            </a:extLst>
          </p:cNvPr>
          <p:cNvCxnSpPr/>
          <p:nvPr/>
        </p:nvCxnSpPr>
        <p:spPr>
          <a:xfrm>
            <a:off x="4750611" y="5804034"/>
            <a:ext cx="0" cy="348424"/>
          </a:xfrm>
          <a:prstGeom prst="line">
            <a:avLst/>
          </a:prstGeom>
          <a:ln w="15875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209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C936B97-0E5F-4326-AA48-2E4F26A809BE}"/>
              </a:ext>
            </a:extLst>
          </p:cNvPr>
          <p:cNvGrpSpPr/>
          <p:nvPr/>
        </p:nvGrpSpPr>
        <p:grpSpPr>
          <a:xfrm>
            <a:off x="1" y="-1"/>
            <a:ext cx="12539388" cy="6959601"/>
            <a:chOff x="1" y="-1"/>
            <a:chExt cx="9345700" cy="518704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7040CA1A-6885-4481-B073-488975FFD9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702" r="257" b="18716"/>
            <a:stretch/>
          </p:blipFill>
          <p:spPr>
            <a:xfrm>
              <a:off x="1" y="1"/>
              <a:ext cx="9144000" cy="5143500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1FC64FD-D320-48C4-8E5B-D02FA9A9BD82}"/>
                </a:ext>
              </a:extLst>
            </p:cNvPr>
            <p:cNvSpPr>
              <a:spLocks/>
            </p:cNvSpPr>
            <p:nvPr/>
          </p:nvSpPr>
          <p:spPr>
            <a:xfrm>
              <a:off x="1" y="-1"/>
              <a:ext cx="9345700" cy="5187043"/>
            </a:xfrm>
            <a:prstGeom prst="rect">
              <a:avLst/>
            </a:prstGeom>
            <a:solidFill>
              <a:srgbClr val="F1F1F1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FDDC740-00FB-4B20-9A3A-51C95ACE8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501" y="214966"/>
              <a:ext cx="2169627" cy="2169627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6F642FA-A548-4E4F-BF0F-4EFFF5E6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964406"/>
              </p:ext>
            </p:extLst>
          </p:nvPr>
        </p:nvGraphicFramePr>
        <p:xfrm>
          <a:off x="8541408" y="3334587"/>
          <a:ext cx="331615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159">
                  <a:extLst>
                    <a:ext uri="{9D8B030D-6E8A-4147-A177-3AD203B41FA5}">
                      <a16:colId xmlns:a16="http://schemas.microsoft.com/office/drawing/2014/main" val="335268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글로벌 방산산업 환경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64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spc="-120" baseline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폴란드 방산산업 세분화</a:t>
                      </a:r>
                      <a:r>
                        <a:rPr lang="en-US" altLang="ko-KR" sz="1800" b="1" i="0" spc="-120" baseline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: </a:t>
                      </a:r>
                      <a:r>
                        <a:rPr lang="ko-KR" altLang="en-US" sz="1700" b="1" i="0" spc="-120" baseline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육해공을 중심으로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19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K-</a:t>
                      </a:r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방산 주력 육군 관련 경쟁상품 분석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92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경쟁자 분석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64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폴란드 방산산업 구조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8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산업분석</a:t>
                      </a:r>
                      <a:r>
                        <a:rPr lang="en-US" altLang="ko-KR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: 5</a:t>
                      </a:r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가지 힘</a:t>
                      </a:r>
                      <a:r>
                        <a:rPr lang="en-US" altLang="ko-KR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(</a:t>
                      </a:r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포터</a:t>
                      </a:r>
                      <a:r>
                        <a:rPr lang="en-US" altLang="ko-KR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)</a:t>
                      </a:r>
                      <a:endParaRPr lang="ko-KR" altLang="en-US" sz="1800" b="1" i="0" dirty="0">
                        <a:solidFill>
                          <a:srgbClr val="373737"/>
                        </a:solidFill>
                        <a:latin typeface="Freesentation 6 SemiBold" pitchFamily="2" charset="-127"/>
                        <a:ea typeface="Freesentation 6 SemiBold" pitchFamily="2" charset="-127"/>
                      </a:endParaRP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5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800" b="1" i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폴란드 방산시장 고객 특성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1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i="0" spc="-150" baseline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K-</a:t>
                      </a:r>
                      <a:r>
                        <a:rPr lang="ko-KR" altLang="en-US" sz="1800" b="1" i="0" spc="-150" baseline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방산의 폴란드 방산시장 진출 </a:t>
                      </a:r>
                      <a:r>
                        <a:rPr lang="en-US" altLang="ko-KR" sz="1800" b="1" i="0" spc="-150" baseline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SWOT </a:t>
                      </a:r>
                      <a:r>
                        <a:rPr lang="ko-KR" altLang="en-US" sz="1800" b="1" i="0" spc="-150" baseline="0" dirty="0">
                          <a:solidFill>
                            <a:srgbClr val="373737"/>
                          </a:solidFill>
                          <a:latin typeface="Freesentation 6 SemiBold" pitchFamily="2" charset="-127"/>
                          <a:ea typeface="Freesentation 6 SemiBold" pitchFamily="2" charset="-127"/>
                        </a:rPr>
                        <a:t>분석</a:t>
                      </a:r>
                    </a:p>
                  </a:txBody>
                  <a:tcPr marR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31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548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BEA18115-88BB-4B1A-B9A0-A1E7CA225E9A}"/>
              </a:ext>
            </a:extLst>
          </p:cNvPr>
          <p:cNvGrpSpPr/>
          <p:nvPr/>
        </p:nvGrpSpPr>
        <p:grpSpPr>
          <a:xfrm>
            <a:off x="6799404" y="1088582"/>
            <a:ext cx="5107859" cy="880426"/>
            <a:chOff x="6799404" y="1088582"/>
            <a:chExt cx="5107859" cy="8804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48D2138-A238-4C02-A415-56FA8122E846}"/>
                </a:ext>
              </a:extLst>
            </p:cNvPr>
            <p:cNvSpPr txBox="1"/>
            <p:nvPr/>
          </p:nvSpPr>
          <p:spPr>
            <a:xfrm>
              <a:off x="6799404" y="1088582"/>
              <a:ext cx="509113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36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  <a:cs typeface="Pretendard SemiBold" panose="02000703000000020004" pitchFamily="50" charset="-127"/>
                </a:rPr>
                <a:t>3. </a:t>
              </a:r>
              <a:r>
                <a:rPr lang="ko-KR" altLang="en-US" sz="36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  <a:cs typeface="Pretendard SemiBold" panose="02000703000000020004" pitchFamily="50" charset="-127"/>
                </a:rPr>
                <a:t>폴란드 방산 산업 및 시장환경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3D5EA9-3310-426F-9FF9-4E0D11AD23A7}"/>
                </a:ext>
              </a:extLst>
            </p:cNvPr>
            <p:cNvSpPr txBox="1"/>
            <p:nvPr/>
          </p:nvSpPr>
          <p:spPr>
            <a:xfrm>
              <a:off x="8354239" y="1692009"/>
              <a:ext cx="355302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K-</a:t>
              </a:r>
              <a:r>
                <a:rPr kumimoji="1" lang="ko-KR" altLang="en-US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방산 진출을 위한 폴란드 국가 및 산업 분석</a:t>
              </a:r>
            </a:p>
          </p:txBody>
        </p:sp>
      </p:grpSp>
      <p:cxnSp>
        <p:nvCxnSpPr>
          <p:cNvPr id="17" name="직선 연결선[R] 9">
            <a:extLst>
              <a:ext uri="{FF2B5EF4-FFF2-40B4-BE49-F238E27FC236}">
                <a16:creationId xmlns:a16="http://schemas.microsoft.com/office/drawing/2014/main" id="{1DF75E5D-DCE9-4BB9-98E1-7D43E1984AAE}"/>
              </a:ext>
            </a:extLst>
          </p:cNvPr>
          <p:cNvCxnSpPr>
            <a:cxnSpLocks/>
          </p:cNvCxnSpPr>
          <p:nvPr/>
        </p:nvCxnSpPr>
        <p:spPr>
          <a:xfrm>
            <a:off x="5943600" y="1651826"/>
            <a:ext cx="5913967" cy="0"/>
          </a:xfrm>
          <a:prstGeom prst="line">
            <a:avLst/>
          </a:prstGeom>
          <a:ln w="444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223C05-362E-49F0-8CED-F869D661163D}"/>
              </a:ext>
            </a:extLst>
          </p:cNvPr>
          <p:cNvSpPr txBox="1"/>
          <p:nvPr/>
        </p:nvSpPr>
        <p:spPr>
          <a:xfrm>
            <a:off x="324904" y="6026109"/>
            <a:ext cx="540083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Global Business Environment and Ethics</a:t>
            </a:r>
            <a:endParaRPr lang="ko-KR" altLang="en-US" sz="2400" b="1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8442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AA61FF-DD3A-4DF2-B839-2611E809EE2A}"/>
              </a:ext>
            </a:extLst>
          </p:cNvPr>
          <p:cNvSpPr txBox="1"/>
          <p:nvPr/>
        </p:nvSpPr>
        <p:spPr>
          <a:xfrm>
            <a:off x="319090" y="1194614"/>
            <a:ext cx="169116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글로벌 방산산업 환경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67F6D3-0CEC-4D17-982B-EF86C9434258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A489EF-902F-48F5-9A76-A9AB3F3F5F0F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1BD82A-94BA-4694-BDE3-0502784ABE86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586EE1-479A-45CE-BEEC-1212BA781DA9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776DA1-BC83-472B-80A4-F64BDBBC3A1F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578D3B-BDE3-4853-B69A-092D37ECBBF7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9BF82F-8BCF-4685-AEDA-43FDCE0DC885}"/>
              </a:ext>
            </a:extLst>
          </p:cNvPr>
          <p:cNvSpPr/>
          <p:nvPr/>
        </p:nvSpPr>
        <p:spPr>
          <a:xfrm>
            <a:off x="401490" y="1908009"/>
            <a:ext cx="3539047" cy="840499"/>
          </a:xfrm>
          <a:prstGeom prst="rect">
            <a:avLst/>
          </a:prstGeom>
          <a:noFill/>
          <a:ln w="104775">
            <a:gradFill flip="none" rotWithShape="1">
              <a:gsLst>
                <a:gs pos="0">
                  <a:srgbClr val="004990">
                    <a:lumMod val="5000"/>
                    <a:lumOff val="95000"/>
                  </a:srgbClr>
                </a:gs>
                <a:gs pos="47000">
                  <a:srgbClr val="004990"/>
                </a:gs>
                <a:gs pos="83000">
                  <a:srgbClr val="004990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6,790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억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$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세계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100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대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2024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년 방산 매출</a:t>
            </a:r>
            <a:b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전년대비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5.9% 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증가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A1190AB-8095-424F-87AB-AD66CE515B87}"/>
              </a:ext>
            </a:extLst>
          </p:cNvPr>
          <p:cNvSpPr/>
          <p:nvPr/>
        </p:nvSpPr>
        <p:spPr>
          <a:xfrm>
            <a:off x="338140" y="1592263"/>
            <a:ext cx="3670300" cy="27602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프리젠테이션 8 ExtraBold" pitchFamily="2" charset="-127"/>
                <a:ea typeface="프리젠테이션 8 ExtraBold" pitchFamily="2" charset="-127"/>
              </a:rPr>
              <a:t>글로벌 방산 시장 규모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9B90C0F-2319-498F-8873-44EA21C40132}"/>
              </a:ext>
            </a:extLst>
          </p:cNvPr>
          <p:cNvSpPr/>
          <p:nvPr/>
        </p:nvSpPr>
        <p:spPr>
          <a:xfrm>
            <a:off x="4324200" y="1908009"/>
            <a:ext cx="3539047" cy="840499"/>
          </a:xfrm>
          <a:prstGeom prst="rect">
            <a:avLst/>
          </a:prstGeom>
          <a:noFill/>
          <a:ln w="104775">
            <a:gradFill flip="none" rotWithShape="1">
              <a:gsLst>
                <a:gs pos="0">
                  <a:srgbClr val="004990">
                    <a:lumMod val="5000"/>
                    <a:lumOff val="95000"/>
                  </a:srgbClr>
                </a:gs>
                <a:gs pos="47000">
                  <a:srgbClr val="004990"/>
                </a:gs>
                <a:gs pos="83000">
                  <a:srgbClr val="004990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47%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유럽 수입 증가</a:t>
            </a:r>
            <a:b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2018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년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~2022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년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, NATO 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회원국 중심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D6031E3-D699-4659-A311-F4DE5EAFBC16}"/>
              </a:ext>
            </a:extLst>
          </p:cNvPr>
          <p:cNvSpPr/>
          <p:nvPr/>
        </p:nvSpPr>
        <p:spPr>
          <a:xfrm>
            <a:off x="4260850" y="1592263"/>
            <a:ext cx="3670300" cy="27602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프리젠테이션 8 ExtraBold" pitchFamily="2" charset="-127"/>
                <a:ea typeface="프리젠테이션 8 ExtraBold" pitchFamily="2" charset="-127"/>
              </a:rPr>
              <a:t>수입국 수요 변화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99A05DF-98B8-45DA-A515-C294042210C8}"/>
              </a:ext>
            </a:extLst>
          </p:cNvPr>
          <p:cNvSpPr/>
          <p:nvPr/>
        </p:nvSpPr>
        <p:spPr>
          <a:xfrm>
            <a:off x="8250088" y="1908009"/>
            <a:ext cx="3539047" cy="840499"/>
          </a:xfrm>
          <a:prstGeom prst="rect">
            <a:avLst/>
          </a:prstGeom>
          <a:noFill/>
          <a:ln w="104775">
            <a:gradFill flip="none" rotWithShape="1">
              <a:gsLst>
                <a:gs pos="0">
                  <a:srgbClr val="004990">
                    <a:lumMod val="5000"/>
                    <a:lumOff val="95000"/>
                  </a:srgbClr>
                </a:gs>
                <a:gs pos="47000">
                  <a:srgbClr val="004990"/>
                </a:gs>
                <a:gs pos="83000">
                  <a:srgbClr val="004990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177%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한국 수출 증가율</a:t>
            </a:r>
            <a:b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최근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5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년 간 세계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1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위 성장세</a:t>
            </a:r>
            <a:endParaRPr lang="en-US" altLang="ko-KR" sz="1400" dirty="0">
              <a:solidFill>
                <a:srgbClr val="37373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E4A3057-3E7F-47C3-AD16-F856C67CFBE7}"/>
              </a:ext>
            </a:extLst>
          </p:cNvPr>
          <p:cNvSpPr/>
          <p:nvPr/>
        </p:nvSpPr>
        <p:spPr>
          <a:xfrm>
            <a:off x="8186738" y="1592263"/>
            <a:ext cx="3670300" cy="276022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프리젠테이션 8 ExtraBold" pitchFamily="2" charset="-127"/>
                <a:ea typeface="프리젠테이션 8 ExtraBold" pitchFamily="2" charset="-127"/>
              </a:rPr>
              <a:t>한국 </a:t>
            </a:r>
            <a:r>
              <a:rPr lang="ko-KR" altLang="en-US" sz="1400" dirty="0" err="1">
                <a:latin typeface="프리젠테이션 8 ExtraBold" pitchFamily="2" charset="-127"/>
                <a:ea typeface="프리젠테이션 8 ExtraBold" pitchFamily="2" charset="-127"/>
              </a:rPr>
              <a:t>방산업</a:t>
            </a:r>
            <a:r>
              <a:rPr lang="ko-KR" altLang="en-US" sz="1400" dirty="0">
                <a:latin typeface="프리젠테이션 8 ExtraBold" pitchFamily="2" charset="-127"/>
                <a:ea typeface="프리젠테이션 8 ExtraBold" pitchFamily="2" charset="-127"/>
              </a:rPr>
              <a:t> 수출 환경 변화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8D84F4B-6AD3-4A3B-A21B-4701E4BB1E04}"/>
              </a:ext>
            </a:extLst>
          </p:cNvPr>
          <p:cNvGrpSpPr/>
          <p:nvPr/>
        </p:nvGrpSpPr>
        <p:grpSpPr>
          <a:xfrm>
            <a:off x="338140" y="2870103"/>
            <a:ext cx="1114884" cy="215444"/>
            <a:chOff x="338140" y="1566863"/>
            <a:chExt cx="1114884" cy="21544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897033D-81CD-4208-A584-2B628D49BBB7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BE4B61F-CDE8-4B18-949F-D9772E718970}"/>
                </a:ext>
              </a:extLst>
            </p:cNvPr>
            <p:cNvSpPr txBox="1"/>
            <p:nvPr/>
          </p:nvSpPr>
          <p:spPr>
            <a:xfrm>
              <a:off x="420690" y="1566863"/>
              <a:ext cx="1032334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주요 방산 수출국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3F81B46-3ADD-46B5-AE81-9893275A430D}"/>
              </a:ext>
            </a:extLst>
          </p:cNvPr>
          <p:cNvGrpSpPr/>
          <p:nvPr/>
        </p:nvGrpSpPr>
        <p:grpSpPr>
          <a:xfrm>
            <a:off x="338140" y="4556188"/>
            <a:ext cx="1286406" cy="215444"/>
            <a:chOff x="338140" y="1566863"/>
            <a:chExt cx="1286406" cy="215444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03D10893-2C7A-46BC-ABAF-DF4867B4EE17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DB9F867-D651-419B-A228-6500116F17FE}"/>
                </a:ext>
              </a:extLst>
            </p:cNvPr>
            <p:cNvSpPr txBox="1"/>
            <p:nvPr/>
          </p:nvSpPr>
          <p:spPr>
            <a:xfrm>
              <a:off x="420690" y="1566863"/>
              <a:ext cx="120385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방산 시장 성장 동인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0DFC2B8-FFC7-48E6-AE81-ED5CCF5DB61F}"/>
              </a:ext>
            </a:extLst>
          </p:cNvPr>
          <p:cNvGrpSpPr/>
          <p:nvPr/>
        </p:nvGrpSpPr>
        <p:grpSpPr>
          <a:xfrm>
            <a:off x="6254750" y="4556188"/>
            <a:ext cx="943363" cy="215444"/>
            <a:chOff x="338140" y="1566863"/>
            <a:chExt cx="943363" cy="215444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6638943-3CEA-4C0B-AAD2-B55ED6239818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641DBA-D4C9-48AD-BE45-D8C0C8B0AFBF}"/>
                </a:ext>
              </a:extLst>
            </p:cNvPr>
            <p:cNvSpPr txBox="1"/>
            <p:nvPr/>
          </p:nvSpPr>
          <p:spPr>
            <a:xfrm>
              <a:off x="420690" y="1566863"/>
              <a:ext cx="86081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한국의 경쟁력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BFAF16E-57D1-4002-AFCB-901BA5446033}"/>
              </a:ext>
            </a:extLst>
          </p:cNvPr>
          <p:cNvSpPr/>
          <p:nvPr/>
        </p:nvSpPr>
        <p:spPr>
          <a:xfrm>
            <a:off x="477836" y="3154039"/>
            <a:ext cx="5330828" cy="612000"/>
          </a:xfrm>
          <a:prstGeom prst="roundRect">
            <a:avLst>
              <a:gd name="adj" fmla="val 13554"/>
            </a:avLst>
          </a:prstGeom>
          <a:noFill/>
          <a:ln w="31750">
            <a:solidFill>
              <a:srgbClr val="004AA1"/>
            </a:solidFill>
          </a:ln>
          <a:effectLst>
            <a:outerShdw blurRad="101600" dist="50800" dir="2700000" algn="tl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미국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: 40%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압도적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1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위 유지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D381741-E55B-4C9C-8A90-4B979C96C765}"/>
              </a:ext>
            </a:extLst>
          </p:cNvPr>
          <p:cNvSpPr/>
          <p:nvPr/>
        </p:nvSpPr>
        <p:spPr>
          <a:xfrm>
            <a:off x="6406020" y="3154039"/>
            <a:ext cx="5330828" cy="612000"/>
          </a:xfrm>
          <a:prstGeom prst="roundRect">
            <a:avLst>
              <a:gd name="adj" fmla="val 13554"/>
            </a:avLst>
          </a:prstGeom>
          <a:noFill/>
          <a:ln w="31750">
            <a:solidFill>
              <a:srgbClr val="004AA1"/>
            </a:solidFill>
          </a:ln>
          <a:effectLst>
            <a:outerShdw blurRad="101600" dist="50800" dir="2700000" algn="tl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프랑스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: 11%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인도 계약 →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위로 부상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83257CF-CB43-4B0E-A3B7-4DC0EEE2CBE6}"/>
              </a:ext>
            </a:extLst>
          </p:cNvPr>
          <p:cNvSpPr/>
          <p:nvPr/>
        </p:nvSpPr>
        <p:spPr>
          <a:xfrm>
            <a:off x="477836" y="3834531"/>
            <a:ext cx="5330828" cy="612000"/>
          </a:xfrm>
          <a:prstGeom prst="roundRect">
            <a:avLst>
              <a:gd name="adj" fmla="val 13554"/>
            </a:avLst>
          </a:prstGeom>
          <a:noFill/>
          <a:ln w="31750">
            <a:solidFill>
              <a:srgbClr val="004AA1"/>
            </a:solidFill>
          </a:ln>
          <a:effectLst>
            <a:outerShdw blurRad="101600" dist="50800" dir="2700000" algn="tl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러시아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: 16%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우크라이나 전쟁 영향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6835EB1-46E7-4C0E-BBF5-795E8BC13A9B}"/>
              </a:ext>
            </a:extLst>
          </p:cNvPr>
          <p:cNvSpPr/>
          <p:nvPr/>
        </p:nvSpPr>
        <p:spPr>
          <a:xfrm>
            <a:off x="6406020" y="3834531"/>
            <a:ext cx="5330828" cy="612000"/>
          </a:xfrm>
          <a:prstGeom prst="roundRect">
            <a:avLst>
              <a:gd name="adj" fmla="val 13554"/>
            </a:avLst>
          </a:prstGeom>
          <a:noFill/>
          <a:ln w="31750">
            <a:solidFill>
              <a:srgbClr val="004AA1"/>
            </a:solidFill>
          </a:ln>
          <a:effectLst>
            <a:outerShdw blurRad="101600" dist="50800" dir="2700000" algn="tl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ko-KR" altLang="en-US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한국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: 2%</a:t>
            </a:r>
          </a:p>
          <a:p>
            <a:pPr algn="ctr">
              <a:spcAft>
                <a:spcPts val="600"/>
              </a:spcAft>
            </a:pP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세계 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9-10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위</a:t>
            </a:r>
            <a:r>
              <a:rPr lang="en-US" altLang="ko-KR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 // 4</a:t>
            </a:r>
            <a:r>
              <a:rPr lang="ko-KR" altLang="en-US" sz="1400" dirty="0">
                <a:solidFill>
                  <a:srgbClr val="373737"/>
                </a:solidFill>
                <a:latin typeface="프리젠테이션 5 Medium" pitchFamily="2" charset="-127"/>
                <a:ea typeface="프리젠테이션 5 Medium" pitchFamily="2" charset="-127"/>
              </a:rPr>
              <a:t>위 목표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D91661-B60A-43E8-860B-ABAFB085B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700" y="3192547"/>
            <a:ext cx="545325" cy="5453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FC98196-FB2E-4C03-9CCA-83D44E05F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700" y="3882156"/>
            <a:ext cx="545325" cy="5453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5C90F23-4441-41CE-ADBD-55CE10C2A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13" y="3192547"/>
            <a:ext cx="545325" cy="5453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6EAA21A4-1F42-474F-A3DD-EE962BC30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13" y="3882156"/>
            <a:ext cx="545325" cy="5453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1682519-ECBE-47A8-BEBD-83313B938F43}"/>
              </a:ext>
            </a:extLst>
          </p:cNvPr>
          <p:cNvSpPr txBox="1"/>
          <p:nvPr/>
        </p:nvSpPr>
        <p:spPr>
          <a:xfrm>
            <a:off x="479425" y="4824638"/>
            <a:ext cx="5329239" cy="1340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러시아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-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우크라이나 전쟁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중동 지역의 지정학적 긴장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(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이스라엘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 VS </a:t>
            </a:r>
            <a:r>
              <a:rPr lang="ko-KR" altLang="en-US" sz="1600" dirty="0" err="1">
                <a:latin typeface="Freesentation 7 Bold" pitchFamily="2" charset="-127"/>
                <a:ea typeface="Freesentation 7 Bold" pitchFamily="2" charset="-127"/>
              </a:rPr>
              <a:t>팔레스타인</a:t>
            </a:r>
            <a:r>
              <a:rPr lang="ko-KR" altLang="en-US" sz="1600" b="1" dirty="0" err="1">
                <a:latin typeface="Freesentation 7 Bold" pitchFamily="2" charset="-127"/>
                <a:ea typeface="Freesentation 7 Bold" pitchFamily="2" charset="-127"/>
              </a:rPr>
              <a:t>ㆍ</a:t>
            </a:r>
            <a:r>
              <a:rPr lang="ko-KR" altLang="en-US" sz="1600" dirty="0" err="1">
                <a:latin typeface="Freesentation 7 Bold" pitchFamily="2" charset="-127"/>
                <a:ea typeface="Freesentation 7 Bold" pitchFamily="2" charset="-127"/>
              </a:rPr>
              <a:t>이란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 등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)</a:t>
            </a: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NATO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 군사비 증가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유럽 안보 위협 대응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8A7533-451B-447F-9060-2C83789A8677}"/>
              </a:ext>
            </a:extLst>
          </p:cNvPr>
          <p:cNvSpPr txBox="1"/>
          <p:nvPr/>
        </p:nvSpPr>
        <p:spPr>
          <a:xfrm>
            <a:off x="6254750" y="4824638"/>
            <a:ext cx="5329239" cy="1155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단기 생산 능력 보유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기술이전 적극 제안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현지생산 협력 모델 보유</a:t>
            </a:r>
            <a:endParaRPr lang="en-US" altLang="ko-KR" sz="1600" dirty="0">
              <a:latin typeface="Freesentation 7 Bold" pitchFamily="2" charset="-127"/>
              <a:ea typeface="Freesentation 7 Bold" pitchFamily="2" charset="-127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319B80CC-17A3-455D-A3C8-182EEFDEF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4151" y="5486400"/>
            <a:ext cx="687387" cy="687387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253425A-27C5-4FF0-8155-64FEC54AAA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5522" y="5477489"/>
            <a:ext cx="687387" cy="68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90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3F1E3-F71F-42CF-9DE0-EDF84AC7A2A3}"/>
              </a:ext>
            </a:extLst>
          </p:cNvPr>
          <p:cNvSpPr txBox="1"/>
          <p:nvPr/>
        </p:nvSpPr>
        <p:spPr>
          <a:xfrm>
            <a:off x="319090" y="1194614"/>
            <a:ext cx="347050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폴란드 방산산업 세분화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: 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육해공을 중심으로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B3BD73B-5AC3-44E1-97BC-7B60F9B91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874925"/>
              </p:ext>
            </p:extLst>
          </p:nvPr>
        </p:nvGraphicFramePr>
        <p:xfrm>
          <a:off x="334962" y="1592262"/>
          <a:ext cx="11522076" cy="2438199"/>
        </p:xfrm>
        <a:graphic>
          <a:graphicData uri="http://schemas.openxmlformats.org/drawingml/2006/table">
            <a:tbl>
              <a:tblPr/>
              <a:tblGrid>
                <a:gridCol w="577803">
                  <a:extLst>
                    <a:ext uri="{9D8B030D-6E8A-4147-A177-3AD203B41FA5}">
                      <a16:colId xmlns:a16="http://schemas.microsoft.com/office/drawing/2014/main" val="869011277"/>
                    </a:ext>
                  </a:extLst>
                </a:gridCol>
                <a:gridCol w="3065706">
                  <a:extLst>
                    <a:ext uri="{9D8B030D-6E8A-4147-A177-3AD203B41FA5}">
                      <a16:colId xmlns:a16="http://schemas.microsoft.com/office/drawing/2014/main" val="617154768"/>
                    </a:ext>
                  </a:extLst>
                </a:gridCol>
                <a:gridCol w="2626189">
                  <a:extLst>
                    <a:ext uri="{9D8B030D-6E8A-4147-A177-3AD203B41FA5}">
                      <a16:colId xmlns:a16="http://schemas.microsoft.com/office/drawing/2014/main" val="3290315093"/>
                    </a:ext>
                  </a:extLst>
                </a:gridCol>
                <a:gridCol w="2626189">
                  <a:extLst>
                    <a:ext uri="{9D8B030D-6E8A-4147-A177-3AD203B41FA5}">
                      <a16:colId xmlns:a16="http://schemas.microsoft.com/office/drawing/2014/main" val="624459792"/>
                    </a:ext>
                  </a:extLst>
                </a:gridCol>
                <a:gridCol w="2626189">
                  <a:extLst>
                    <a:ext uri="{9D8B030D-6E8A-4147-A177-3AD203B41FA5}">
                      <a16:colId xmlns:a16="http://schemas.microsoft.com/office/drawing/2014/main" val="888835098"/>
                    </a:ext>
                  </a:extLst>
                </a:gridCol>
              </a:tblGrid>
              <a:tr h="36391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rgbClr val="F1F1F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rgbClr val="F1F1F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주요 현대화 무기체계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rgbClr val="F1F1F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해외협력 및 도입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rgbClr val="F1F1F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국산화 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rgbClr val="F1F1F1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전략적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31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22710"/>
                  </a:ext>
                </a:extLst>
              </a:tr>
              <a:tr h="7642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육군</a:t>
                      </a:r>
                      <a:endParaRPr lang="ko-KR" altLang="en-US" sz="1400" dirty="0">
                        <a:latin typeface="프리젠테이션 8 ExtraBold" pitchFamily="2" charset="-127"/>
                        <a:ea typeface="프리젠테이션 8 ExtraBold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K2 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전차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K9 </a:t>
                      </a:r>
                      <a:r>
                        <a:rPr lang="ko-KR" altLang="en-US" sz="1200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자주포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HIMARS, M1A2, </a:t>
                      </a:r>
                      <a:b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</a:b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BORSUK 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장갑차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1)2)</a:t>
                      </a:r>
                      <a:endParaRPr lang="ko-KR" altLang="en-US" sz="1200" baseline="300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한국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K2·K9)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미국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HIMARS·M1A2)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영국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NLOS)</a:t>
                      </a:r>
                      <a:r>
                        <a:rPr lang="en-US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1)3)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낮음</a:t>
                      </a:r>
                      <a:endParaRPr lang="en-US" altLang="ko-KR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algn="ctr"/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BORSUK 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등 일부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러 위협 대비 대전차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기갑 중심</a:t>
                      </a:r>
                      <a:endParaRPr lang="en-US" altLang="ko-KR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대규모 현대화 가속 중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한국 방산에 실질적 수요  집중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97061"/>
                  </a:ext>
                </a:extLst>
              </a:tr>
              <a:tr h="76421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공군</a:t>
                      </a:r>
                      <a:endParaRPr lang="ko-KR" altLang="en-US" sz="1400" dirty="0">
                        <a:latin typeface="프리젠테이션 8 ExtraBold" pitchFamily="2" charset="-127"/>
                        <a:ea typeface="프리젠테이션 8 ExtraBold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it-IT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FA-50, F-35A, F-16, Bayraktar TB2,  </a:t>
                      </a:r>
                      <a:br>
                        <a:rPr lang="it-IT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</a:br>
                      <a:r>
                        <a:rPr lang="it-IT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PATRIOT</a:t>
                      </a:r>
                      <a:r>
                        <a:rPr lang="it-IT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1)3)5)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한국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(FA-50)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미국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(F-35)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터키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(TB2)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1)4)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사실상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spc="-20" baseline="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NATO </a:t>
                      </a:r>
                      <a:r>
                        <a:rPr lang="ko-KR" altLang="en-US" sz="1200" spc="-20" baseline="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연동 강조</a:t>
                      </a:r>
                      <a:r>
                        <a:rPr lang="en-US" altLang="ko-KR" sz="1200" spc="-20" baseline="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, F-35 </a:t>
                      </a:r>
                      <a:r>
                        <a:rPr lang="ko-KR" altLang="en-US" sz="1200" spc="-20" baseline="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중심 첨단화</a:t>
                      </a:r>
                      <a:endParaRPr lang="en-US" altLang="ko-KR" sz="1200" spc="-20" baseline="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한국은 제한적 포지션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6)</a:t>
                      </a:r>
                      <a:endParaRPr lang="ko-KR" altLang="en-US" sz="1200" baseline="300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017555"/>
                  </a:ext>
                </a:extLst>
              </a:tr>
              <a:tr h="54586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해군</a:t>
                      </a:r>
                      <a:endParaRPr lang="ko-KR" altLang="en-US" sz="1400" dirty="0">
                        <a:latin typeface="프리젠테이션 8 ExtraBold" pitchFamily="2" charset="-127"/>
                        <a:ea typeface="프리젠테이션 8 ExtraBold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미에치닉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(MIECZNIK) 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호위함</a:t>
                      </a:r>
                      <a:endParaRPr lang="en-US" altLang="ko-KR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ORKA 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잠수함 추진 중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2)4)</a:t>
                      </a:r>
                      <a:endParaRPr lang="ko-KR" altLang="en-US" sz="1200" baseline="300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영국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Babcock)</a:t>
                      </a: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이탈리아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en-US" sz="1200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Fincantieri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  <a:r>
                        <a:rPr lang="en-US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중간</a:t>
                      </a:r>
                      <a:endParaRPr lang="en-US" altLang="ko-KR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algn="ctr"/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en-US" sz="1200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Gdynia·Szczecin</a:t>
                      </a:r>
                      <a:r>
                        <a:rPr 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조선소 기반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발트해 방어</a:t>
                      </a:r>
                      <a:r>
                        <a:rPr lang="en-US" altLang="ko-KR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·</a:t>
                      </a:r>
                      <a:r>
                        <a:rPr lang="ko-KR" altLang="en-US" sz="1200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해상기뢰전</a:t>
                      </a:r>
                      <a:r>
                        <a:rPr lang="ko-KR" altLang="en-US" sz="12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대비</a:t>
                      </a:r>
                      <a:endParaRPr lang="en-US" altLang="ko-KR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기술장벽 높고 진입 어려움</a:t>
                      </a:r>
                      <a:r>
                        <a:rPr lang="en-US" altLang="ko-KR" sz="1200" baseline="300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4)</a:t>
                      </a:r>
                      <a:endParaRPr lang="ko-KR" altLang="en-US" sz="1200" baseline="300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88153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3897ABD-A7D5-4BEC-A327-7F596B83F2E2}"/>
              </a:ext>
            </a:extLst>
          </p:cNvPr>
          <p:cNvSpPr txBox="1"/>
          <p:nvPr/>
        </p:nvSpPr>
        <p:spPr>
          <a:xfrm>
            <a:off x="479425" y="4586597"/>
            <a:ext cx="11183645" cy="168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📌 </a:t>
            </a:r>
            <a:r>
              <a:rPr lang="ko-KR" altLang="en-US" b="1" dirty="0">
                <a:latin typeface="프리젠테이션 5 Medium" pitchFamily="2" charset="-127"/>
                <a:ea typeface="프리젠테이션 5 Medium" pitchFamily="2" charset="-127"/>
              </a:rPr>
              <a:t>핵심 요약 포인트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✅ </a:t>
            </a:r>
            <a:r>
              <a:rPr lang="ko-KR" altLang="en-US" b="1" dirty="0">
                <a:latin typeface="프리젠테이션 5 Medium" pitchFamily="2" charset="-127"/>
                <a:ea typeface="프리젠테이션 5 Medium" pitchFamily="2" charset="-127"/>
              </a:rPr>
              <a:t>육군 세그먼트가 한국 방산기업에 가장 유리</a:t>
            </a:r>
            <a:br>
              <a:rPr lang="en-US" altLang="ko-KR" b="1" dirty="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     → 다량 도입 중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(K2·K9·K239),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조달 </a:t>
            </a:r>
            <a:r>
              <a:rPr lang="ko-KR" altLang="en-US" dirty="0" err="1">
                <a:latin typeface="프리젠테이션 5 Medium" pitchFamily="2" charset="-127"/>
                <a:ea typeface="프리젠테이션 5 Medium" pitchFamily="2" charset="-127"/>
              </a:rPr>
              <a:t>긴급성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 높음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기술이전 및 산업협력 수용성 존재</a:t>
            </a:r>
            <a:b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     → 경쟁국 대비 </a:t>
            </a:r>
            <a:r>
              <a:rPr lang="ko-KR" altLang="en-US" b="1" dirty="0">
                <a:latin typeface="프리젠테이션 5 Medium" pitchFamily="2" charset="-127"/>
                <a:ea typeface="프리젠테이션 5 Medium" pitchFamily="2" charset="-127"/>
              </a:rPr>
              <a:t>가격 경쟁력</a:t>
            </a:r>
            <a:r>
              <a:rPr lang="en-US" altLang="ko-KR" b="1" dirty="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b="1" dirty="0" err="1">
                <a:latin typeface="프리젠테이션 5 Medium" pitchFamily="2" charset="-127"/>
                <a:ea typeface="프리젠테이션 5 Medium" pitchFamily="2" charset="-127"/>
              </a:rPr>
              <a:t>단납기</a:t>
            </a:r>
            <a:r>
              <a:rPr lang="en-US" altLang="ko-KR" b="1" dirty="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b="1" dirty="0" err="1">
                <a:latin typeface="프리젠테이션 5 Medium" pitchFamily="2" charset="-127"/>
                <a:ea typeface="프리젠테이션 5 Medium" pitchFamily="2" charset="-127"/>
              </a:rPr>
              <a:t>실전성</a:t>
            </a:r>
            <a:r>
              <a:rPr lang="ko-KR" altLang="en-US" b="1" dirty="0">
                <a:latin typeface="프리젠테이션 5 Medium" pitchFamily="2" charset="-127"/>
                <a:ea typeface="프리젠테이션 5 Medium" pitchFamily="2" charset="-127"/>
              </a:rPr>
              <a:t> 입증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으로 압도적 우위 확보</a:t>
            </a:r>
          </a:p>
          <a:p>
            <a:pPr>
              <a:spcBef>
                <a:spcPts val="600"/>
              </a:spcBef>
            </a:pP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🔸 공군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·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해군은 미국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서유럽과의 기존 연계 구조 고착화로 </a:t>
            </a:r>
            <a:r>
              <a:rPr lang="ko-KR" altLang="en-US" b="1" dirty="0">
                <a:latin typeface="프리젠테이션 5 Medium" pitchFamily="2" charset="-127"/>
                <a:ea typeface="프리젠테이션 5 Medium" pitchFamily="2" charset="-127"/>
              </a:rPr>
              <a:t>한국 진입 난이도 높음</a:t>
            </a:r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35233-C5B6-4983-8F51-D65E0F9E8C43}"/>
              </a:ext>
            </a:extLst>
          </p:cNvPr>
          <p:cNvSpPr txBox="1"/>
          <p:nvPr/>
        </p:nvSpPr>
        <p:spPr>
          <a:xfrm>
            <a:off x="334962" y="4030461"/>
            <a:ext cx="11522075" cy="461639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 marL="228600" indent="-228600">
              <a:buAutoNum type="arabicParenR"/>
            </a:pP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폴란드 국방부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Technical Modernization Plan 2021–2035</a:t>
            </a:r>
          </a:p>
          <a:p>
            <a:pPr marL="228600" indent="-2286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PGZ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공식 발표 및 프로그램 브리핑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(2023)</a:t>
            </a:r>
          </a:p>
          <a:p>
            <a:pPr marL="228600" indent="-2286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SIPRI Arms Transfers Database, Defense News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보도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(2023–2024)</a:t>
            </a:r>
          </a:p>
          <a:p>
            <a:pPr marL="228600" indent="-2286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Janes 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Defence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Weekly, </a:t>
            </a:r>
            <a:r>
              <a:rPr lang="ko-KR" altLang="en-US" sz="900" dirty="0" err="1">
                <a:latin typeface="프리젠테이션 4 Regular" pitchFamily="2" charset="-127"/>
                <a:ea typeface="프리젠테이션 4 Regular" pitchFamily="2" charset="-127"/>
              </a:rPr>
              <a:t>미에치닉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·ORKA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관련 기사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(2023)</a:t>
            </a:r>
          </a:p>
          <a:p>
            <a:pPr marL="228600" indent="-228600">
              <a:buAutoNum type="arabicParenR"/>
            </a:pP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한국 방위사업청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, KAI,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한화 공식 발표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(2022–2024)</a:t>
            </a:r>
          </a:p>
          <a:p>
            <a:pPr marL="228600" indent="-2286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NATO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공식 브리핑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EuroDefense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Poland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(2024)</a:t>
            </a:r>
            <a:endParaRPr lang="ko-KR" altLang="en-US" sz="9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25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E0276DE-B7C0-4F81-837E-A2C0C6BBE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7"/>
          <a:stretch/>
        </p:blipFill>
        <p:spPr bwMode="auto">
          <a:xfrm>
            <a:off x="3782729" y="2037038"/>
            <a:ext cx="2627885" cy="141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F4AEC7E-1E96-4EAE-BE87-6A28B64CF1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70" b="-1"/>
          <a:stretch/>
        </p:blipFill>
        <p:spPr bwMode="auto">
          <a:xfrm>
            <a:off x="6433435" y="2037038"/>
            <a:ext cx="2627885" cy="141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82CED69-A0C2-4B3A-830F-B3289414E0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2" b="15580"/>
          <a:stretch/>
        </p:blipFill>
        <p:spPr bwMode="auto">
          <a:xfrm>
            <a:off x="9078209" y="2037038"/>
            <a:ext cx="2627886" cy="141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4973219-D30E-412A-BF74-3D2AB4D976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843" y="2037037"/>
            <a:ext cx="2627885" cy="14160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23F1E3-F71F-42CF-9DE0-EDF84AC7A2A3}"/>
              </a:ext>
            </a:extLst>
          </p:cNvPr>
          <p:cNvSpPr txBox="1"/>
          <p:nvPr/>
        </p:nvSpPr>
        <p:spPr>
          <a:xfrm>
            <a:off x="319090" y="1194614"/>
            <a:ext cx="292945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K-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방산 주력 육군 관련 경쟁상품 분석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80EDDD3-E02A-4A0E-ADF5-72F1465150CC}"/>
              </a:ext>
            </a:extLst>
          </p:cNvPr>
          <p:cNvGrpSpPr/>
          <p:nvPr/>
        </p:nvGrpSpPr>
        <p:grpSpPr>
          <a:xfrm>
            <a:off x="338140" y="1567658"/>
            <a:ext cx="1671126" cy="215444"/>
            <a:chOff x="338140" y="1566863"/>
            <a:chExt cx="1671126" cy="21544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5B01F43-A377-4E0E-A7B4-5AE3B18E4E35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2B3D65-4DD2-4171-9464-052263982C17}"/>
                </a:ext>
              </a:extLst>
            </p:cNvPr>
            <p:cNvSpPr txBox="1"/>
            <p:nvPr/>
          </p:nvSpPr>
          <p:spPr>
            <a:xfrm>
              <a:off x="420690" y="1566863"/>
              <a:ext cx="158857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K9 </a:t>
              </a:r>
              <a:r>
                <a:rPr kumimoji="1" lang="ko-KR" altLang="en-US" sz="1400" b="1" dirty="0" err="1">
                  <a:latin typeface="Freesentation 7 Bold" pitchFamily="2" charset="-127"/>
                  <a:ea typeface="Freesentation 7 Bold" pitchFamily="2" charset="-127"/>
                </a:rPr>
                <a:t>자주포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 경쟁 상품 분석</a:t>
              </a:r>
            </a:p>
          </p:txBody>
        </p:sp>
      </p:grp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F46EACB2-CD88-4121-9DF6-68DCD3AFE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71984"/>
              </p:ext>
            </p:extLst>
          </p:nvPr>
        </p:nvGraphicFramePr>
        <p:xfrm>
          <a:off x="336884" y="1844674"/>
          <a:ext cx="11375692" cy="3879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496">
                  <a:extLst>
                    <a:ext uri="{9D8B030D-6E8A-4147-A177-3AD203B41FA5}">
                      <a16:colId xmlns:a16="http://schemas.microsoft.com/office/drawing/2014/main" val="963067029"/>
                    </a:ext>
                  </a:extLst>
                </a:gridCol>
                <a:gridCol w="2644299">
                  <a:extLst>
                    <a:ext uri="{9D8B030D-6E8A-4147-A177-3AD203B41FA5}">
                      <a16:colId xmlns:a16="http://schemas.microsoft.com/office/drawing/2014/main" val="1381471855"/>
                    </a:ext>
                  </a:extLst>
                </a:gridCol>
                <a:gridCol w="2644299">
                  <a:extLst>
                    <a:ext uri="{9D8B030D-6E8A-4147-A177-3AD203B41FA5}">
                      <a16:colId xmlns:a16="http://schemas.microsoft.com/office/drawing/2014/main" val="2691189226"/>
                    </a:ext>
                  </a:extLst>
                </a:gridCol>
                <a:gridCol w="2644299">
                  <a:extLst>
                    <a:ext uri="{9D8B030D-6E8A-4147-A177-3AD203B41FA5}">
                      <a16:colId xmlns:a16="http://schemas.microsoft.com/office/drawing/2014/main" val="1757141720"/>
                    </a:ext>
                  </a:extLst>
                </a:gridCol>
                <a:gridCol w="2644299">
                  <a:extLst>
                    <a:ext uri="{9D8B030D-6E8A-4147-A177-3AD203B41FA5}">
                      <a16:colId xmlns:a16="http://schemas.microsoft.com/office/drawing/2014/main" val="1847751861"/>
                    </a:ext>
                  </a:extLst>
                </a:gridCol>
              </a:tblGrid>
              <a:tr h="184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구분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K9 </a:t>
                      </a:r>
                      <a:r>
                        <a:rPr lang="ko-KR" altLang="en-US" sz="1200" b="1" kern="1200" dirty="0" err="1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썬더</a:t>
                      </a:r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한국</a:t>
                      </a:r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b="1" kern="1200" dirty="0">
                        <a:solidFill>
                          <a:srgbClr val="F1F1F1"/>
                        </a:solidFill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M109A7 </a:t>
                      </a:r>
                      <a:r>
                        <a:rPr lang="ko-KR" altLang="en-US" sz="1200" b="1" kern="1200" dirty="0" err="1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팔라딘</a:t>
                      </a:r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미국</a:t>
                      </a:r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b="1" kern="1200" dirty="0">
                        <a:solidFill>
                          <a:srgbClr val="F1F1F1"/>
                        </a:solidFill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 err="1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PzH</a:t>
                      </a:r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2000(</a:t>
                      </a:r>
                      <a:r>
                        <a:rPr lang="ko-KR" altLang="en-US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독일</a:t>
                      </a:r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b="1" kern="1200" dirty="0">
                        <a:solidFill>
                          <a:srgbClr val="F1F1F1"/>
                        </a:solidFill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CAESER(</a:t>
                      </a:r>
                      <a:r>
                        <a:rPr lang="ko-KR" altLang="en-US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프랑스</a:t>
                      </a:r>
                      <a:r>
                        <a:rPr lang="en-US" altLang="ko-KR" sz="1200" b="1" kern="1200" dirty="0">
                          <a:solidFill>
                            <a:srgbClr val="F1F1F1"/>
                          </a:solidFill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b="1" kern="1200" dirty="0">
                        <a:solidFill>
                          <a:srgbClr val="F1F1F1"/>
                        </a:solidFill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565852"/>
                  </a:ext>
                </a:extLst>
              </a:tr>
              <a:tr h="1847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포신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주포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52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구경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155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㎜ 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강선포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주포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39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구경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155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㎜ 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강선포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주포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52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구경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155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㎜ 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강선포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주포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52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구경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155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㎜ 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강선포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트럭 탑재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653378"/>
                  </a:ext>
                </a:extLst>
              </a:tr>
              <a:tr h="3695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최대사거리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(HE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), 40+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(BB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사제탄약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사용 시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24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(HE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(RAP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(HE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), 40+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(BB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VLAP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시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56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㎞까지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(HE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40+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(BB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591605"/>
                  </a:ext>
                </a:extLst>
              </a:tr>
              <a:tr h="3695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발사속도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6~8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지속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2~3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지속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1~2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지속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3~4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지속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분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0048"/>
                  </a:ext>
                </a:extLst>
              </a:tr>
              <a:tr h="3695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탄약적재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48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차내 적재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K10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탄약차로 자동보급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39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차내 적재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차내 적재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자동장전 시스템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18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차내 적재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수동장전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015787"/>
                  </a:ext>
                </a:extLst>
              </a:tr>
              <a:tr h="1847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승무원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전차장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포수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부포수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2,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운전수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4~6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반자동 장전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자동장전 보조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차량 포함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016522"/>
                  </a:ext>
                </a:extLst>
              </a:tr>
              <a:tr h="3695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장갑</a:t>
                      </a:r>
                      <a:r>
                        <a:rPr lang="en-US" altLang="ko-KR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/</a:t>
                      </a:r>
                      <a:r>
                        <a:rPr lang="ko-KR" altLang="en-US" sz="1200" dirty="0" err="1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생존성</a:t>
                      </a:r>
                      <a:endParaRPr lang="ko-KR" altLang="en-US" sz="1200" dirty="0">
                        <a:solidFill>
                          <a:srgbClr val="373737"/>
                        </a:solidFill>
                        <a:latin typeface="Freesentation 7 Bold" pitchFamily="2" charset="-127"/>
                        <a:ea typeface="Freesentation 7 Bold" pitchFamily="2" charset="-127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전면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측면 경도 장갑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소화기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파편 방호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화생방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자동소화 장비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알류미늄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장갑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소화기 방호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강철 장갑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파편 방호 우수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탑승캐빈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일부 방탄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포탑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없음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299383"/>
                  </a:ext>
                </a:extLst>
              </a:tr>
              <a:tr h="3695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기동력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궤도식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47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톤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1,000hp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디젤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최고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67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/h,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항속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360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궤도식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35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톤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600hp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디젤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최고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/h,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항속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300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궤도식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57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톤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986hp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디젤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최고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/h,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항속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420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 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6×6 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트럭식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18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톤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240hp </a:t>
                      </a: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최고 고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80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/h,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항속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6000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㎞  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755476"/>
                  </a:ext>
                </a:extLst>
              </a:tr>
              <a:tr h="3695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가격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한화 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수출 단가 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4~5M $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추정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개량비용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$2M/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구형 업그레이드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신규생산시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10M+ $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추정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$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7~8M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이상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소량생산 고단가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$ 5M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수준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단순구조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차량 포함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039937"/>
                  </a:ext>
                </a:extLst>
              </a:tr>
              <a:tr h="3695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운용특징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세계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50%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시장 점유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(50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여개국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운용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K10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탄약보급차 연계로 지속사격 탁월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미군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.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동맹국 다수 운용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검증된 내구성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탄약구경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NATO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표준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자동화 높음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빠른 연사 및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MRSI</a:t>
                      </a:r>
                      <a:b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</a:b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(MRSI: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동시 탄착사격 가능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경량 기동성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전략적 이동 편리</a:t>
                      </a:r>
                      <a:endParaRPr lang="en-US" altLang="ko-KR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유지비 낮으나 방호 취약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080313"/>
                  </a:ext>
                </a:extLst>
              </a:tr>
              <a:tr h="1847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주요 수출국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폴란드</a:t>
                      </a:r>
                      <a:r>
                        <a:rPr lang="en-US" altLang="ko-KR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노르웨이</a:t>
                      </a:r>
                      <a:r>
                        <a:rPr lang="en-US" altLang="ko-KR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핀란드</a:t>
                      </a:r>
                      <a:r>
                        <a:rPr lang="en-US" altLang="ko-KR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호주</a:t>
                      </a:r>
                      <a:r>
                        <a:rPr lang="en-US" altLang="ko-KR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spc="-20" baseline="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에스토니아 등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대만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우크라이나 등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네덜란드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크로아티아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헝가리 등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덴마크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리투아니아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우크라이나 등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031103"/>
                  </a:ext>
                </a:extLst>
              </a:tr>
              <a:tr h="1847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50" baseline="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누적 수출 수량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1,000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대 이상</a:t>
                      </a:r>
                      <a:r>
                        <a:rPr lang="en-US" altLang="ko-KR" sz="1200" kern="1200" baseline="300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1)2)</a:t>
                      </a:r>
                      <a:endParaRPr lang="ko-KR" altLang="en-US" sz="1200" kern="1200" baseline="300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400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대 이상</a:t>
                      </a:r>
                      <a:r>
                        <a:rPr lang="en-US" altLang="ko-KR" sz="1200" kern="1200" baseline="300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250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200" kern="1200" baseline="300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4)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300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대 이상</a:t>
                      </a:r>
                      <a:r>
                        <a:rPr lang="en-US" altLang="ko-KR" sz="1200" kern="1200" baseline="300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5)</a:t>
                      </a:r>
                      <a:endParaRPr lang="ko-KR" altLang="en-US" sz="1200" kern="1200" dirty="0">
                        <a:solidFill>
                          <a:srgbClr val="373737"/>
                        </a:solidFill>
                        <a:effectLst>
                          <a:glow rad="63500">
                            <a:schemeClr val="bg1">
                              <a:alpha val="90000"/>
                            </a:schemeClr>
                          </a:glow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Freesentation 7 Bold" pitchFamily="2" charset="-127"/>
                        <a:ea typeface="Freesentation 7 Bold" pitchFamily="2" charset="-127"/>
                        <a:cs typeface="+mn-cs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64661"/>
                  </a:ext>
                </a:extLst>
              </a:tr>
              <a:tr h="1847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5</a:t>
                      </a:r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년 성장률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배 성장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점진적 증가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정체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완만한 성장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581141"/>
                  </a:ext>
                </a:extLst>
              </a:tr>
              <a:tr h="1847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373737"/>
                          </a:solidFill>
                          <a:latin typeface="Freesentation 7 Bold" pitchFamily="2" charset="-127"/>
                          <a:ea typeface="Freesentation 7 Bold" pitchFamily="2" charset="-127"/>
                        </a:rPr>
                        <a:t>특징</a:t>
                      </a:r>
                    </a:p>
                  </a:txBody>
                  <a:tcPr marL="72000" marR="0" marT="0" marB="0">
                    <a:lnL w="12700" cmpd="sng">
                      <a:noFill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단납기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+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가성비 우위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기술이전 포함 계약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미국 내 우선배치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해외 확산 제한적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고성능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고비용 및 납기 제한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고기동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휠기반</a:t>
                      </a:r>
                      <a:r>
                        <a:rPr lang="en-US" altLang="ko-KR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373737"/>
                          </a:solidFill>
                          <a:effectLst>
                            <a:glow rad="63500">
                              <a:schemeClr val="bg1">
                                <a:alpha val="90000"/>
                              </a:schemeClr>
                            </a:glow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Freesentation 7 Bold" pitchFamily="2" charset="-127"/>
                          <a:ea typeface="Freesentation 7 Bold" pitchFamily="2" charset="-127"/>
                          <a:cs typeface="+mn-cs"/>
                        </a:rPr>
                        <a:t>최근 실전 중심 주목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705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85D474-3254-C5D5-70EA-0BEB8F72961B}"/>
              </a:ext>
            </a:extLst>
          </p:cNvPr>
          <p:cNvSpPr txBox="1"/>
          <p:nvPr/>
        </p:nvSpPr>
        <p:spPr>
          <a:xfrm>
            <a:off x="334962" y="5702115"/>
            <a:ext cx="11522075" cy="461639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 marL="228600" indent="-2286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[Hanwha Aerospace, 2023~2024 K9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수출 계약 발표자료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228600" indent="-228600">
              <a:buAutoNum type="arabicParenR"/>
            </a:pPr>
            <a:r>
              <a:rPr lang="en-US" altLang="ko-KR" sz="900" dirty="0"/>
              <a:t>[Defense News / Army Recognition – K9 </a:t>
            </a:r>
            <a:r>
              <a:rPr lang="ko-KR" altLang="en-US" sz="900" dirty="0"/>
              <a:t>및 </a:t>
            </a:r>
            <a:r>
              <a:rPr lang="en-US" altLang="ko-KR" sz="900" dirty="0"/>
              <a:t>K239 </a:t>
            </a:r>
            <a:r>
              <a:rPr lang="ko-KR" altLang="en-US" sz="900" dirty="0"/>
              <a:t>실전 배치 및 납기 보도</a:t>
            </a:r>
            <a:r>
              <a:rPr lang="en-US" altLang="ko-KR" sz="900" dirty="0"/>
              <a:t>]</a:t>
            </a:r>
            <a:endParaRPr lang="en-US" altLang="ko-KR" sz="9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228600" indent="-228600">
              <a:buAutoNum type="arabicParenR"/>
            </a:pPr>
            <a:r>
              <a:rPr lang="en-US" altLang="ko-KR" sz="900" dirty="0"/>
              <a:t>[SIPRI Arms Transfers Database – M109A7, K9, </a:t>
            </a:r>
            <a:r>
              <a:rPr lang="en-US" altLang="ko-KR" sz="900" dirty="0" err="1"/>
              <a:t>PzH</a:t>
            </a:r>
            <a:r>
              <a:rPr lang="en-US" altLang="ko-KR" sz="900" dirty="0"/>
              <a:t> 2000, CAESAR </a:t>
            </a:r>
            <a:r>
              <a:rPr lang="ko-KR" altLang="en-US" sz="900" dirty="0"/>
              <a:t>수출 현황 </a:t>
            </a:r>
            <a:r>
              <a:rPr lang="en-US" altLang="ko-KR" sz="900" dirty="0"/>
              <a:t>(2023)]</a:t>
            </a:r>
          </a:p>
          <a:p>
            <a:pPr marL="228600" indent="-2286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[Janes 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Defence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Weekly– 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PzH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2000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및 납기 이슈 관련 보도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228600" indent="-2286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Nexter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공식 발표 및 우크라이나 관련 보도자료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  <a:endParaRPr lang="ko-KR" altLang="en-US" sz="9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8176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8FB5C87-1A65-408E-AED8-66E2C7473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65059"/>
              </p:ext>
            </p:extLst>
          </p:nvPr>
        </p:nvGraphicFramePr>
        <p:xfrm>
          <a:off x="333375" y="4486342"/>
          <a:ext cx="5618162" cy="1120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9918">
                  <a:extLst>
                    <a:ext uri="{9D8B030D-6E8A-4147-A177-3AD203B41FA5}">
                      <a16:colId xmlns:a16="http://schemas.microsoft.com/office/drawing/2014/main" val="1168085778"/>
                    </a:ext>
                  </a:extLst>
                </a:gridCol>
                <a:gridCol w="972061">
                  <a:extLst>
                    <a:ext uri="{9D8B030D-6E8A-4147-A177-3AD203B41FA5}">
                      <a16:colId xmlns:a16="http://schemas.microsoft.com/office/drawing/2014/main" val="986242460"/>
                    </a:ext>
                  </a:extLst>
                </a:gridCol>
                <a:gridCol w="972061">
                  <a:extLst>
                    <a:ext uri="{9D8B030D-6E8A-4147-A177-3AD203B41FA5}">
                      <a16:colId xmlns:a16="http://schemas.microsoft.com/office/drawing/2014/main" val="1972413778"/>
                    </a:ext>
                  </a:extLst>
                </a:gridCol>
                <a:gridCol w="972061">
                  <a:extLst>
                    <a:ext uri="{9D8B030D-6E8A-4147-A177-3AD203B41FA5}">
                      <a16:colId xmlns:a16="http://schemas.microsoft.com/office/drawing/2014/main" val="3113024060"/>
                    </a:ext>
                  </a:extLst>
                </a:gridCol>
                <a:gridCol w="972061">
                  <a:extLst>
                    <a:ext uri="{9D8B030D-6E8A-4147-A177-3AD203B41FA5}">
                      <a16:colId xmlns:a16="http://schemas.microsoft.com/office/drawing/2014/main" val="1831518464"/>
                    </a:ext>
                  </a:extLst>
                </a:gridCol>
              </a:tblGrid>
              <a:tr h="1867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rgbClr val="F1F1F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비교 항목</a:t>
                      </a:r>
                      <a:endParaRPr lang="ko-KR" altLang="en-US" sz="1200" b="1" i="0" u="none" strike="noStrike" dirty="0">
                        <a:solidFill>
                          <a:srgbClr val="F1F1F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9525" marR="9525" marT="0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rgbClr val="F1F1F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미국</a:t>
                      </a:r>
                      <a:endParaRPr lang="ko-KR" altLang="en-US" sz="1200" b="1" i="0" u="none" strike="noStrike" dirty="0">
                        <a:solidFill>
                          <a:srgbClr val="F1F1F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9525" marR="952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rgbClr val="F1F1F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독일</a:t>
                      </a:r>
                      <a:endParaRPr lang="ko-KR" altLang="en-US" sz="1200" b="1" i="0" u="none" strike="noStrike" dirty="0">
                        <a:solidFill>
                          <a:srgbClr val="F1F1F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9525" marR="952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rgbClr val="F1F1F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프랑스</a:t>
                      </a:r>
                      <a:endParaRPr lang="ko-KR" altLang="en-US" sz="1200" b="1" i="0" u="none" strike="noStrike" dirty="0">
                        <a:solidFill>
                          <a:srgbClr val="F1F1F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9525" marR="952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123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rgbClr val="F1F1F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한국</a:t>
                      </a:r>
                      <a:endParaRPr lang="ko-KR" altLang="en-US" sz="1200" b="1" i="0" u="none" strike="noStrike" dirty="0">
                        <a:solidFill>
                          <a:srgbClr val="F1F1F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9525" marR="9525" marT="0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1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141336"/>
                  </a:ext>
                </a:extLst>
              </a:tr>
              <a:tr h="1867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기술력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144000" marR="9525" marT="0" marB="0" anchor="ctr">
                    <a:lnL w="12700" cmpd="sng">
                      <a:noFill/>
                    </a:lnL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06626"/>
                  </a:ext>
                </a:extLst>
              </a:tr>
              <a:tr h="1867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납기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144000" marR="9525" marT="0" marB="0" anchor="ctr">
                    <a:lnL w="12700" cmpd="sng">
                      <a:noFill/>
                    </a:lnL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0553"/>
                  </a:ext>
                </a:extLst>
              </a:tr>
              <a:tr h="1867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지정학적 미묘함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144000" marR="9525" marT="0" marB="0" anchor="ctr">
                    <a:lnL w="12700" cmpd="sng">
                      <a:noFill/>
                    </a:lnL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769540"/>
                  </a:ext>
                </a:extLst>
              </a:tr>
              <a:tr h="1867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가격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144000" marR="9525" marT="0" marB="0" anchor="ctr">
                    <a:lnL w="12700" cmpd="sng">
                      <a:noFill/>
                    </a:lnL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986412"/>
                  </a:ext>
                </a:extLst>
              </a:tr>
              <a:tr h="18674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기술이전</a:t>
                      </a:r>
                      <a:r>
                        <a:rPr lang="en-US" altLang="ko-KR" sz="1200" u="none" strike="noStrike" dirty="0"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/</a:t>
                      </a:r>
                      <a:r>
                        <a:rPr lang="ko-KR" altLang="en-US" sz="1200" u="none" strike="noStrike" dirty="0"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산업협력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144000" marR="9525" marT="0" marB="0" anchor="ctr"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entation 4 Regular" pitchFamily="2" charset="-127"/>
                          <a:ea typeface="Freesentation 4 Regular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123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246449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0D63A250-325A-448D-B27B-388C642F602C}"/>
              </a:ext>
            </a:extLst>
          </p:cNvPr>
          <p:cNvGrpSpPr/>
          <p:nvPr/>
        </p:nvGrpSpPr>
        <p:grpSpPr>
          <a:xfrm>
            <a:off x="1611313" y="4657561"/>
            <a:ext cx="380950" cy="975980"/>
            <a:chOff x="1611313" y="4763857"/>
            <a:chExt cx="380950" cy="97598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CF67E46-DA7B-4D7F-A517-7909AD2AE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1313" y="4763857"/>
              <a:ext cx="209550" cy="20955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9D009E1-17B2-4118-A95E-1544CD77B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3463" y="4956897"/>
              <a:ext cx="208800" cy="20880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E6F30B3-1950-4FA6-AE2A-0314F193B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1313" y="5136284"/>
              <a:ext cx="208800" cy="2088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8C90E68-102B-45B2-A390-E4307A55C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83463" y="5328574"/>
              <a:ext cx="208800" cy="2088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0403679-34D9-4DE5-8A11-E1CEF6955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11313" y="5531037"/>
              <a:ext cx="208800" cy="208800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1CA8CC-7CD1-4263-B203-1BEC416E9559}"/>
              </a:ext>
            </a:extLst>
          </p:cNvPr>
          <p:cNvGrpSpPr/>
          <p:nvPr/>
        </p:nvGrpSpPr>
        <p:grpSpPr>
          <a:xfrm>
            <a:off x="338140" y="1566863"/>
            <a:ext cx="1972491" cy="215444"/>
            <a:chOff x="338140" y="1566863"/>
            <a:chExt cx="1972491" cy="21544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D36173C-EA26-44DD-8C73-39DA8C381412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BBAE40-DBCF-4A0B-BEFE-85FBF206A41A}"/>
                </a:ext>
              </a:extLst>
            </p:cNvPr>
            <p:cNvSpPr txBox="1"/>
            <p:nvPr/>
          </p:nvSpPr>
          <p:spPr>
            <a:xfrm>
              <a:off x="420690" y="1566863"/>
              <a:ext cx="188994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주요특성별 </a:t>
              </a:r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5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점 척도 비교 분석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9FE3B45-2E6E-4632-ADC2-9BBC897FA0DB}"/>
              </a:ext>
            </a:extLst>
          </p:cNvPr>
          <p:cNvGrpSpPr/>
          <p:nvPr/>
        </p:nvGrpSpPr>
        <p:grpSpPr>
          <a:xfrm>
            <a:off x="819139" y="2010881"/>
            <a:ext cx="4572000" cy="2743200"/>
            <a:chOff x="819139" y="2057400"/>
            <a:chExt cx="4572000" cy="274320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0AC8FBEC-FA1C-41BB-8CF1-9712DC28EDB7}"/>
                </a:ext>
              </a:extLst>
            </p:cNvPr>
            <p:cNvSpPr/>
            <p:nvPr/>
          </p:nvSpPr>
          <p:spPr>
            <a:xfrm>
              <a:off x="2228827" y="2411712"/>
              <a:ext cx="1752624" cy="1752624"/>
            </a:xfrm>
            <a:prstGeom prst="ellipse">
              <a:avLst/>
            </a:prstGeom>
            <a:noFill/>
            <a:ln w="19050">
              <a:solidFill>
                <a:srgbClr val="373737"/>
              </a:solidFill>
            </a:ln>
            <a:effectLst>
              <a:glow rad="63500">
                <a:schemeClr val="bg1">
                  <a:alpha val="9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4" name="차트 13">
              <a:extLst>
                <a:ext uri="{FF2B5EF4-FFF2-40B4-BE49-F238E27FC236}">
                  <a16:creationId xmlns:a16="http://schemas.microsoft.com/office/drawing/2014/main" id="{2A309077-A3AF-4159-8820-AD8CF960F05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98390184"/>
                </p:ext>
              </p:extLst>
            </p:nvPr>
          </p:nvGraphicFramePr>
          <p:xfrm>
            <a:off x="819139" y="2057400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7A4E53-5264-2A49-1D9E-4E838C8AA42D}"/>
              </a:ext>
            </a:extLst>
          </p:cNvPr>
          <p:cNvSpPr txBox="1"/>
          <p:nvPr/>
        </p:nvSpPr>
        <p:spPr>
          <a:xfrm>
            <a:off x="319090" y="1194614"/>
            <a:ext cx="93455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경쟁자 분석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853CCC-2FA1-5473-9A8A-E0D297B67F49}"/>
              </a:ext>
            </a:extLst>
          </p:cNvPr>
          <p:cNvSpPr txBox="1"/>
          <p:nvPr/>
        </p:nvSpPr>
        <p:spPr>
          <a:xfrm>
            <a:off x="334964" y="5581974"/>
            <a:ext cx="11523662" cy="495207"/>
          </a:xfrm>
          <a:prstGeom prst="rect">
            <a:avLst/>
          </a:prstGeom>
          <a:noFill/>
        </p:spPr>
        <p:txBody>
          <a:bodyPr wrap="square" lIns="144000" rIns="144000" numCol="2">
            <a:noAutofit/>
          </a:bodyPr>
          <a:lstStyle/>
          <a:p>
            <a:pPr marL="177800" indent="-1778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[Hanwha Aerospace, 2023~2024 K9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수출 계약 발표자료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177800" indent="-177800">
              <a:buAutoNum type="arabicParenR"/>
            </a:pPr>
            <a:r>
              <a:rPr lang="en-US" altLang="ko-KR" sz="900" dirty="0"/>
              <a:t>[Defense News / Army Recognition – K9 </a:t>
            </a:r>
            <a:r>
              <a:rPr lang="ko-KR" altLang="en-US" sz="900" dirty="0"/>
              <a:t>및 </a:t>
            </a:r>
            <a:r>
              <a:rPr lang="en-US" altLang="ko-KR" sz="900" dirty="0"/>
              <a:t>K239 </a:t>
            </a:r>
            <a:r>
              <a:rPr lang="ko-KR" altLang="en-US" sz="900" dirty="0"/>
              <a:t>실전 배치 및 납기 보도</a:t>
            </a:r>
            <a:r>
              <a:rPr lang="en-US" altLang="ko-KR" sz="900" dirty="0"/>
              <a:t>]</a:t>
            </a:r>
            <a:endParaRPr lang="en-US" altLang="ko-KR" sz="9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177800" indent="-177800">
              <a:buAutoNum type="arabicParenR"/>
            </a:pPr>
            <a:r>
              <a:rPr lang="en-US" altLang="ko-KR" sz="900" dirty="0"/>
              <a:t>[SIPRI Arms Transfers Database – M109A7, K9, </a:t>
            </a:r>
            <a:r>
              <a:rPr lang="en-US" altLang="ko-KR" sz="900" dirty="0" err="1"/>
              <a:t>PzH</a:t>
            </a:r>
            <a:r>
              <a:rPr lang="en-US" altLang="ko-KR" sz="900" dirty="0"/>
              <a:t> 2000, CAESAR </a:t>
            </a:r>
            <a:r>
              <a:rPr lang="ko-KR" altLang="en-US" sz="900" dirty="0"/>
              <a:t>수출 현황 </a:t>
            </a:r>
            <a:r>
              <a:rPr lang="en-US" altLang="ko-KR" sz="900" dirty="0"/>
              <a:t>(2023)]</a:t>
            </a:r>
          </a:p>
          <a:p>
            <a:pPr marL="177800" indent="-177800">
              <a:buAutoNum type="arabicParenR"/>
            </a:pPr>
            <a:endParaRPr lang="en-US" altLang="ko-KR" sz="900" dirty="0"/>
          </a:p>
          <a:p>
            <a:pPr marL="177800" indent="-1778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[Janes 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Defence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Weekly– 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PzH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2000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및 납기 이슈 관련 보도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177800" indent="-1778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Nexter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공식 발표 및 우크라이나 관련 보도자료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177800" indent="-1778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[NATO Defense College Report –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동유럽 무기조달 지정학적 고려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177800" indent="-177800">
              <a:buAutoNum type="arabicParenR"/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[Polish Defence24, </a:t>
            </a:r>
            <a:r>
              <a:rPr lang="en-US" altLang="ko-KR" sz="900" dirty="0" err="1">
                <a:latin typeface="프리젠테이션 4 Regular" pitchFamily="2" charset="-127"/>
                <a:ea typeface="프리젠테이션 4 Regular" pitchFamily="2" charset="-127"/>
              </a:rPr>
              <a:t>EuroDefense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 Poland, 2024]</a:t>
            </a:r>
            <a:endParaRPr lang="ko-KR" altLang="en-US" sz="9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EDE0C38-0F6A-4404-830B-3128718CB5D8}"/>
              </a:ext>
            </a:extLst>
          </p:cNvPr>
          <p:cNvGrpSpPr/>
          <p:nvPr/>
        </p:nvGrpSpPr>
        <p:grpSpPr>
          <a:xfrm>
            <a:off x="6383339" y="1844676"/>
            <a:ext cx="4690295" cy="792396"/>
            <a:chOff x="6383339" y="1844676"/>
            <a:chExt cx="4690295" cy="79239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DC8F544-44E5-4446-8815-4627DC6A6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83339" y="1844676"/>
              <a:ext cx="472178" cy="47217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905811-4646-45BE-B25B-34B7D28686BC}"/>
                </a:ext>
              </a:extLst>
            </p:cNvPr>
            <p:cNvSpPr txBox="1"/>
            <p:nvPr/>
          </p:nvSpPr>
          <p:spPr>
            <a:xfrm>
              <a:off x="7047926" y="1844676"/>
              <a:ext cx="4025708" cy="792396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기술력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: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K9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은 실전 검증되었으나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, 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자동화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/</a:t>
              </a:r>
              <a:r>
                <a:rPr lang="ko-KR" altLang="en-US" sz="1600" dirty="0" err="1">
                  <a:latin typeface="Freesentation 7 Bold" pitchFamily="2" charset="-127"/>
                  <a:ea typeface="Freesentation 7 Bold" pitchFamily="2" charset="-127"/>
                </a:rPr>
                <a:t>탄종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 다양성 면에서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서방 모델보다 보수적</a:t>
              </a:r>
              <a:r>
                <a:rPr lang="en-US" altLang="ko-KR" sz="1600" baseline="30000" dirty="0">
                  <a:latin typeface="Freesentation 7 Bold" pitchFamily="2" charset="-127"/>
                  <a:ea typeface="Freesentation 7 Bold" pitchFamily="2" charset="-127"/>
                </a:rPr>
                <a:t>1) 3)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5CE148A-EC24-4407-B708-C948533484FE}"/>
              </a:ext>
            </a:extLst>
          </p:cNvPr>
          <p:cNvGrpSpPr/>
          <p:nvPr/>
        </p:nvGrpSpPr>
        <p:grpSpPr>
          <a:xfrm>
            <a:off x="6383337" y="2672569"/>
            <a:ext cx="5454930" cy="792396"/>
            <a:chOff x="6383337" y="2767056"/>
            <a:chExt cx="5454930" cy="792396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A2FBC43-FAE1-41AE-B855-CD6B7A4AF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83337" y="2767056"/>
              <a:ext cx="472179" cy="47217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B0BC43-7137-40E4-BD18-B1319EA2B292}"/>
                </a:ext>
              </a:extLst>
            </p:cNvPr>
            <p:cNvSpPr txBox="1"/>
            <p:nvPr/>
          </p:nvSpPr>
          <p:spPr>
            <a:xfrm>
              <a:off x="7047926" y="2767056"/>
              <a:ext cx="4790341" cy="792396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납기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: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K9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은 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2022~2024 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실 납품 완료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, M109·PzH·CAESAR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는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생산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/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인도 지연 다수</a:t>
              </a:r>
              <a:r>
                <a:rPr lang="en-US" altLang="ko-KR" sz="1600" baseline="30000" dirty="0">
                  <a:latin typeface="Freesentation 7 Bold" pitchFamily="2" charset="-127"/>
                  <a:ea typeface="Freesentation 7 Bold" pitchFamily="2" charset="-127"/>
                </a:rPr>
                <a:t>1) 2) 4) 5)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E750BD8-748C-4AAA-B0E2-63D04DEC7104}"/>
              </a:ext>
            </a:extLst>
          </p:cNvPr>
          <p:cNvGrpSpPr/>
          <p:nvPr/>
        </p:nvGrpSpPr>
        <p:grpSpPr>
          <a:xfrm>
            <a:off x="6383337" y="3509064"/>
            <a:ext cx="4671382" cy="521553"/>
            <a:chOff x="6383337" y="3728727"/>
            <a:chExt cx="4671382" cy="521553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BFEE691-79D6-42F7-B1AF-82BF23101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83337" y="3728727"/>
              <a:ext cx="472180" cy="47218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55EB44-583D-4A4E-86B3-9B0EFEEBEE27}"/>
                </a:ext>
              </a:extLst>
            </p:cNvPr>
            <p:cNvSpPr txBox="1"/>
            <p:nvPr/>
          </p:nvSpPr>
          <p:spPr>
            <a:xfrm>
              <a:off x="7047926" y="3728727"/>
              <a:ext cx="4006793" cy="521553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지정학적 미묘함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: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한국은 중립적이며 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NATO 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내부 정치적 압력 적음</a:t>
              </a:r>
              <a:r>
                <a:rPr lang="en-US" altLang="ko-KR" sz="1600" baseline="30000" dirty="0">
                  <a:latin typeface="Freesentation 7 Bold" pitchFamily="2" charset="-127"/>
                  <a:ea typeface="Freesentation 7 Bold" pitchFamily="2" charset="-127"/>
                </a:rPr>
                <a:t> 6) 7)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C9B7A5E-EF2F-4A6C-8A98-68DB73C39A35}"/>
              </a:ext>
            </a:extLst>
          </p:cNvPr>
          <p:cNvGrpSpPr/>
          <p:nvPr/>
        </p:nvGrpSpPr>
        <p:grpSpPr>
          <a:xfrm>
            <a:off x="6383339" y="4156992"/>
            <a:ext cx="5384396" cy="792396"/>
            <a:chOff x="6383339" y="4394933"/>
            <a:chExt cx="5384396" cy="792396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3671773D-238E-4A35-86ED-CE5FD07FB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383339" y="4394933"/>
              <a:ext cx="472178" cy="47217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EDD3A8-EF38-438D-A9DF-9D22D5B52258}"/>
                </a:ext>
              </a:extLst>
            </p:cNvPr>
            <p:cNvSpPr txBox="1"/>
            <p:nvPr/>
          </p:nvSpPr>
          <p:spPr>
            <a:xfrm>
              <a:off x="7047926" y="4394933"/>
              <a:ext cx="4719809" cy="792396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가격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: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K9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은 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M109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보다 단가 낮고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, CAESAR 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대비 성능 우위 </a:t>
              </a:r>
              <a:r>
                <a:rPr lang="ko-KR" altLang="en-US" sz="1600" dirty="0" err="1">
                  <a:latin typeface="Freesentation 7 Bold" pitchFamily="2" charset="-127"/>
                  <a:ea typeface="Freesentation 7 Bold" pitchFamily="2" charset="-127"/>
                </a:rPr>
                <a:t>감안시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효율적</a:t>
              </a:r>
              <a:r>
                <a:rPr lang="en-US" altLang="ko-KR" sz="1600" baseline="30000" dirty="0">
                  <a:latin typeface="Freesentation 7 Bold" pitchFamily="2" charset="-127"/>
                  <a:ea typeface="Freesentation 7 Bold" pitchFamily="2" charset="-127"/>
                </a:rPr>
                <a:t> 2) 4)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5FE8ACC-02FC-49BC-8939-1BC3FA969F54}"/>
              </a:ext>
            </a:extLst>
          </p:cNvPr>
          <p:cNvGrpSpPr/>
          <p:nvPr/>
        </p:nvGrpSpPr>
        <p:grpSpPr>
          <a:xfrm>
            <a:off x="6383338" y="5085277"/>
            <a:ext cx="4305607" cy="521553"/>
            <a:chOff x="6386513" y="5085277"/>
            <a:chExt cx="4305607" cy="52155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8E373F-7449-42C5-A56D-D08F657C946E}"/>
                </a:ext>
              </a:extLst>
            </p:cNvPr>
            <p:cNvSpPr txBox="1"/>
            <p:nvPr/>
          </p:nvSpPr>
          <p:spPr>
            <a:xfrm>
              <a:off x="7047926" y="5085277"/>
              <a:ext cx="3644194" cy="521553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기술이전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/</a:t>
              </a: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산업협력</a:t>
              </a:r>
              <a: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  <a:t>: </a:t>
              </a:r>
              <a:br>
                <a:rPr lang="en-US" altLang="ko-KR" sz="1600" dirty="0">
                  <a:latin typeface="Freesentation 7 Bold" pitchFamily="2" charset="-127"/>
                  <a:ea typeface="Freesentation 7 Bold" pitchFamily="2" charset="-127"/>
                </a:rPr>
              </a:br>
              <a:r>
                <a:rPr lang="ko-KR" altLang="en-US" sz="1600" dirty="0">
                  <a:latin typeface="Freesentation 7 Bold" pitchFamily="2" charset="-127"/>
                  <a:ea typeface="Freesentation 7 Bold" pitchFamily="2" charset="-127"/>
                </a:rPr>
                <a:t>폴란드와 공동생산 계약 실현 중인 유일 사례</a:t>
              </a:r>
              <a:r>
                <a:rPr lang="en-US" altLang="ko-KR" sz="1600" baseline="30000" dirty="0">
                  <a:latin typeface="Freesentation 7 Bold" pitchFamily="2" charset="-127"/>
                  <a:ea typeface="Freesentation 7 Bold" pitchFamily="2" charset="-127"/>
                </a:rPr>
                <a:t> 1) 2)</a:t>
              </a:r>
              <a:endParaRPr lang="en-US" altLang="ko-KR" sz="1600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08B401AC-C21D-4E50-9729-6A8737975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86513" y="5085277"/>
              <a:ext cx="472179" cy="4721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9446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295FD54-9910-44DE-AECA-DDC07149B05D}"/>
              </a:ext>
            </a:extLst>
          </p:cNvPr>
          <p:cNvSpPr txBox="1"/>
          <p:nvPr/>
        </p:nvSpPr>
        <p:spPr>
          <a:xfrm>
            <a:off x="319090" y="1194614"/>
            <a:ext cx="1736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폴란드 방산 산업 구조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CE763BC-9CE3-419A-BD1C-846BBF602A6F}"/>
              </a:ext>
            </a:extLst>
          </p:cNvPr>
          <p:cNvGrpSpPr/>
          <p:nvPr/>
        </p:nvGrpSpPr>
        <p:grpSpPr>
          <a:xfrm>
            <a:off x="338140" y="1566863"/>
            <a:ext cx="2422934" cy="215444"/>
            <a:chOff x="338140" y="1566863"/>
            <a:chExt cx="2422934" cy="21544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915653B-71FF-4E27-BAC4-100503E57B58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0D7858A-F36D-4156-B0E7-85F336B3C31E}"/>
                </a:ext>
              </a:extLst>
            </p:cNvPr>
            <p:cNvSpPr txBox="1"/>
            <p:nvPr/>
          </p:nvSpPr>
          <p:spPr>
            <a:xfrm>
              <a:off x="420690" y="1566863"/>
              <a:ext cx="2340384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국영기업 중심의 하이브리드 발전 모델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B35546-577A-4BF0-9480-771B51672A9D}"/>
              </a:ext>
            </a:extLst>
          </p:cNvPr>
          <p:cNvSpPr/>
          <p:nvPr/>
        </p:nvSpPr>
        <p:spPr>
          <a:xfrm>
            <a:off x="334963" y="1869161"/>
            <a:ext cx="11522075" cy="775961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폴란드 방위산업은 전통적으로 국유 중심 구조를 유지했지만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,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 </a:t>
            </a:r>
            <a:b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</a:b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2015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년 국방산업 재편을 위해 정부는 다수의 국영 기업을 통합하여 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PGZ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라는 거대 방산지주회사 설립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FEBE672-CCBA-425C-BD0C-6626823F27C6}"/>
              </a:ext>
            </a:extLst>
          </p:cNvPr>
          <p:cNvGrpSpPr/>
          <p:nvPr/>
        </p:nvGrpSpPr>
        <p:grpSpPr>
          <a:xfrm>
            <a:off x="338140" y="2779646"/>
            <a:ext cx="1699980" cy="215444"/>
            <a:chOff x="338140" y="1566863"/>
            <a:chExt cx="1699980" cy="21544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7052C30-B282-4F23-BD3F-2ED0BCFF1F6D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5756D4-F31F-4C35-88F3-CC962C6B9517}"/>
                </a:ext>
              </a:extLst>
            </p:cNvPr>
            <p:cNvSpPr txBox="1"/>
            <p:nvPr/>
          </p:nvSpPr>
          <p:spPr>
            <a:xfrm>
              <a:off x="420690" y="1566863"/>
              <a:ext cx="1617430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정부 주도의 산업협력 전략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B30866-5298-479C-A9D9-7ADE28596773}"/>
              </a:ext>
            </a:extLst>
          </p:cNvPr>
          <p:cNvSpPr txBox="1"/>
          <p:nvPr/>
        </p:nvSpPr>
        <p:spPr>
          <a:xfrm>
            <a:off x="343690" y="3020364"/>
            <a:ext cx="7771927" cy="1063240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폴란드 방산 산업구조의 핵심 특징은 정부의 지배적 역할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국방부와 군비청이 주요 무기 취득 결정권을 갖고</a:t>
            </a:r>
            <a:r>
              <a:rPr lang="en-US" altLang="ko-KR" sz="1600" dirty="0">
                <a:latin typeface="Freesentation 7 Bold" pitchFamily="2" charset="-127"/>
                <a:ea typeface="Freesentation 7 Bold" pitchFamily="2" charset="-127"/>
              </a:rPr>
              <a:t>, PGZ </a:t>
            </a: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등 국내 기업과 해외 공급업체간 산업협력 조건 조율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Freesentation 7 Bold" pitchFamily="2" charset="-127"/>
                <a:ea typeface="Freesentation 7 Bold" pitchFamily="2" charset="-127"/>
              </a:rPr>
              <a:t>국내 산업 보호를 위해 국내 생산이나 기술이전이 수반된 계약 선호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D290580-F58A-45C7-B535-95F6781F9F85}"/>
              </a:ext>
            </a:extLst>
          </p:cNvPr>
          <p:cNvGrpSpPr/>
          <p:nvPr/>
        </p:nvGrpSpPr>
        <p:grpSpPr>
          <a:xfrm>
            <a:off x="802748" y="4142830"/>
            <a:ext cx="3399507" cy="1082808"/>
            <a:chOff x="802748" y="4337688"/>
            <a:chExt cx="3399507" cy="1082808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3B5C076-C24C-4146-AA7E-F7CD6EBFC462}"/>
                </a:ext>
              </a:extLst>
            </p:cNvPr>
            <p:cNvGrpSpPr/>
            <p:nvPr/>
          </p:nvGrpSpPr>
          <p:grpSpPr>
            <a:xfrm>
              <a:off x="802748" y="4337688"/>
              <a:ext cx="3399507" cy="1082808"/>
              <a:chOff x="802748" y="4413888"/>
              <a:chExt cx="3399507" cy="1082808"/>
            </a:xfrm>
          </p:grpSpPr>
          <p:sp>
            <p:nvSpPr>
              <p:cNvPr id="28" name="오른쪽 화살표 180">
                <a:extLst>
                  <a:ext uri="{FF2B5EF4-FFF2-40B4-BE49-F238E27FC236}">
                    <a16:creationId xmlns:a16="http://schemas.microsoft.com/office/drawing/2014/main" id="{1079742D-B549-4382-B47E-F854748C6C90}"/>
                  </a:ext>
                </a:extLst>
              </p:cNvPr>
              <p:cNvSpPr/>
              <p:nvPr/>
            </p:nvSpPr>
            <p:spPr>
              <a:xfrm>
                <a:off x="802748" y="4413888"/>
                <a:ext cx="3399507" cy="670820"/>
              </a:xfrm>
              <a:prstGeom prst="rightArrow">
                <a:avLst>
                  <a:gd name="adj1" fmla="val 43613"/>
                  <a:gd name="adj2" fmla="val 50551"/>
                </a:avLst>
              </a:prstGeom>
              <a:gradFill>
                <a:gsLst>
                  <a:gs pos="76000">
                    <a:srgbClr val="00264C"/>
                  </a:gs>
                  <a:gs pos="2000">
                    <a:srgbClr val="373737">
                      <a:alpha val="0"/>
                    </a:srgbClr>
                  </a:gs>
                  <a:gs pos="100000">
                    <a:srgbClr val="00264C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72" dirty="0"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A5728B-AE9E-4B3B-9FB1-A393F4A02697}"/>
                  </a:ext>
                </a:extLst>
              </p:cNvPr>
              <p:cNvSpPr txBox="1"/>
              <p:nvPr/>
            </p:nvSpPr>
            <p:spPr>
              <a:xfrm>
                <a:off x="802748" y="4891183"/>
                <a:ext cx="14077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Freesentation 7 Bold" pitchFamily="2" charset="-127"/>
                    <a:ea typeface="Freesentation 7 Bold" pitchFamily="2" charset="-127"/>
                  </a:rPr>
                  <a:t>1</a:t>
                </a:r>
                <a:r>
                  <a:rPr lang="ko-KR" altLang="en-US" sz="1600" b="1" dirty="0">
                    <a:latin typeface="Freesentation 7 Bold" pitchFamily="2" charset="-127"/>
                    <a:ea typeface="Freesentation 7 Bold" pitchFamily="2" charset="-127"/>
                  </a:rPr>
                  <a:t>단계</a:t>
                </a:r>
                <a:r>
                  <a:rPr lang="en-US" altLang="ko-KR" sz="1600" b="1" dirty="0">
                    <a:latin typeface="Freesentation 7 Bold" pitchFamily="2" charset="-127"/>
                    <a:ea typeface="Freesentation 7 Bold" pitchFamily="2" charset="-127"/>
                  </a:rPr>
                  <a:t>: </a:t>
                </a:r>
                <a:r>
                  <a:rPr lang="ko-KR" altLang="en-US" sz="1600" b="1" dirty="0">
                    <a:latin typeface="Freesentation 7 Bold" pitchFamily="2" charset="-127"/>
                    <a:ea typeface="Freesentation 7 Bold" pitchFamily="2" charset="-127"/>
                  </a:rPr>
                  <a:t>긴급 도입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4C3A19C-AA34-4E16-8F3D-78397204B51C}"/>
                  </a:ext>
                </a:extLst>
              </p:cNvPr>
              <p:cNvSpPr txBox="1"/>
              <p:nvPr/>
            </p:nvSpPr>
            <p:spPr>
              <a:xfrm>
                <a:off x="802748" y="5219697"/>
                <a:ext cx="2319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dirty="0">
                    <a:latin typeface="프리젠테이션 4 Regular" pitchFamily="2" charset="-127"/>
                    <a:ea typeface="프리젠테이션 4 Regular" pitchFamily="2" charset="-127"/>
                  </a:rPr>
                  <a:t>완제품 신속 수입으로 전력 공백 즉시 보완</a:t>
                </a:r>
              </a:p>
            </p:txBody>
          </p:sp>
        </p:grp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6FEA95E8-44CA-481B-880B-269D8E5BF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8981" y="5034297"/>
              <a:ext cx="386199" cy="386199"/>
            </a:xfrm>
            <a:prstGeom prst="rect">
              <a:avLst/>
            </a:prstGeom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FAE145A-8E69-4DE7-BC75-2E792F169CBF}"/>
              </a:ext>
            </a:extLst>
          </p:cNvPr>
          <p:cNvGrpSpPr/>
          <p:nvPr/>
        </p:nvGrpSpPr>
        <p:grpSpPr>
          <a:xfrm>
            <a:off x="4396247" y="4065228"/>
            <a:ext cx="3399507" cy="1082808"/>
            <a:chOff x="4396247" y="4162657"/>
            <a:chExt cx="3399507" cy="1082808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C25AC0A6-5859-41B4-984A-8DAB8DA64752}"/>
                </a:ext>
              </a:extLst>
            </p:cNvPr>
            <p:cNvGrpSpPr/>
            <p:nvPr/>
          </p:nvGrpSpPr>
          <p:grpSpPr>
            <a:xfrm>
              <a:off x="4396247" y="4162657"/>
              <a:ext cx="3399507" cy="1082808"/>
              <a:chOff x="802748" y="4413888"/>
              <a:chExt cx="3399507" cy="1082808"/>
            </a:xfrm>
          </p:grpSpPr>
          <p:sp>
            <p:nvSpPr>
              <p:cNvPr id="41" name="오른쪽 화살표 180">
                <a:extLst>
                  <a:ext uri="{FF2B5EF4-FFF2-40B4-BE49-F238E27FC236}">
                    <a16:creationId xmlns:a16="http://schemas.microsoft.com/office/drawing/2014/main" id="{14553CC3-F06A-45C1-8345-C5A5FC4B31E0}"/>
                  </a:ext>
                </a:extLst>
              </p:cNvPr>
              <p:cNvSpPr/>
              <p:nvPr/>
            </p:nvSpPr>
            <p:spPr>
              <a:xfrm>
                <a:off x="802748" y="4413888"/>
                <a:ext cx="3399507" cy="670820"/>
              </a:xfrm>
              <a:prstGeom prst="rightArrow">
                <a:avLst>
                  <a:gd name="adj1" fmla="val 43613"/>
                  <a:gd name="adj2" fmla="val 50551"/>
                </a:avLst>
              </a:prstGeom>
              <a:gradFill>
                <a:gsLst>
                  <a:gs pos="76000">
                    <a:srgbClr val="00264C"/>
                  </a:gs>
                  <a:gs pos="2000">
                    <a:srgbClr val="373737">
                      <a:alpha val="0"/>
                    </a:srgbClr>
                  </a:gs>
                  <a:gs pos="100000">
                    <a:srgbClr val="00264C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72" dirty="0"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E6DA6E-74CC-49C6-94C7-8AFA3B641886}"/>
                  </a:ext>
                </a:extLst>
              </p:cNvPr>
              <p:cNvSpPr txBox="1"/>
              <p:nvPr/>
            </p:nvSpPr>
            <p:spPr>
              <a:xfrm>
                <a:off x="802748" y="4891183"/>
                <a:ext cx="14077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Freesentation 7 Bold" pitchFamily="2" charset="-127"/>
                    <a:ea typeface="Freesentation 7 Bold" pitchFamily="2" charset="-127"/>
                  </a:rPr>
                  <a:t>2</a:t>
                </a:r>
                <a:r>
                  <a:rPr lang="ko-KR" altLang="en-US" sz="1600" b="1" dirty="0">
                    <a:latin typeface="Freesentation 7 Bold" pitchFamily="2" charset="-127"/>
                    <a:ea typeface="Freesentation 7 Bold" pitchFamily="2" charset="-127"/>
                  </a:rPr>
                  <a:t>단계</a:t>
                </a:r>
                <a:r>
                  <a:rPr lang="en-US" altLang="ko-KR" sz="1600" b="1" dirty="0">
                    <a:latin typeface="Freesentation 7 Bold" pitchFamily="2" charset="-127"/>
                    <a:ea typeface="Freesentation 7 Bold" pitchFamily="2" charset="-127"/>
                  </a:rPr>
                  <a:t>: </a:t>
                </a:r>
                <a:r>
                  <a:rPr lang="ko-KR" altLang="en-US" sz="1600" b="1" dirty="0">
                    <a:latin typeface="Freesentation 7 Bold" pitchFamily="2" charset="-127"/>
                    <a:ea typeface="Freesentation 7 Bold" pitchFamily="2" charset="-127"/>
                  </a:rPr>
                  <a:t>면허 생산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86B658-A99C-4263-9F3E-CDE70E89F66D}"/>
                  </a:ext>
                </a:extLst>
              </p:cNvPr>
              <p:cNvSpPr txBox="1"/>
              <p:nvPr/>
            </p:nvSpPr>
            <p:spPr>
              <a:xfrm>
                <a:off x="802748" y="5219697"/>
                <a:ext cx="21755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dirty="0">
                    <a:latin typeface="프리젠테이션 4 Regular" pitchFamily="2" charset="-127"/>
                    <a:ea typeface="프리젠테이션 4 Regular" pitchFamily="2" charset="-127"/>
                  </a:rPr>
                  <a:t>현지 공장에서 라이선스 기반 생산 개시</a:t>
                </a:r>
              </a:p>
            </p:txBody>
          </p:sp>
        </p:grpSp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B505D8D3-9A84-48A6-A4BA-76A0ABCA2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1481" y="4859266"/>
              <a:ext cx="386199" cy="386199"/>
            </a:xfrm>
            <a:prstGeom prst="rect">
              <a:avLst/>
            </a:prstGeom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CDA12AE-A009-4193-B9E0-D294A4FF8BA2}"/>
              </a:ext>
            </a:extLst>
          </p:cNvPr>
          <p:cNvGrpSpPr/>
          <p:nvPr/>
        </p:nvGrpSpPr>
        <p:grpSpPr>
          <a:xfrm>
            <a:off x="7984937" y="3987625"/>
            <a:ext cx="3399507" cy="1082808"/>
            <a:chOff x="7984937" y="3987625"/>
            <a:chExt cx="3399507" cy="1082808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6BEEC29B-BD5F-4ED4-9E55-59E6A7145758}"/>
                </a:ext>
              </a:extLst>
            </p:cNvPr>
            <p:cNvGrpSpPr/>
            <p:nvPr/>
          </p:nvGrpSpPr>
          <p:grpSpPr>
            <a:xfrm>
              <a:off x="7984937" y="3987625"/>
              <a:ext cx="3399507" cy="1082808"/>
              <a:chOff x="802748" y="4413888"/>
              <a:chExt cx="3399507" cy="1082808"/>
            </a:xfrm>
          </p:grpSpPr>
          <p:sp>
            <p:nvSpPr>
              <p:cNvPr id="45" name="오른쪽 화살표 180">
                <a:extLst>
                  <a:ext uri="{FF2B5EF4-FFF2-40B4-BE49-F238E27FC236}">
                    <a16:creationId xmlns:a16="http://schemas.microsoft.com/office/drawing/2014/main" id="{26B29F26-A739-460C-AC1E-1AD9C5E498ED}"/>
                  </a:ext>
                </a:extLst>
              </p:cNvPr>
              <p:cNvSpPr/>
              <p:nvPr/>
            </p:nvSpPr>
            <p:spPr>
              <a:xfrm>
                <a:off x="802748" y="4413888"/>
                <a:ext cx="3399507" cy="670820"/>
              </a:xfrm>
              <a:prstGeom prst="rightArrow">
                <a:avLst>
                  <a:gd name="adj1" fmla="val 43613"/>
                  <a:gd name="adj2" fmla="val 50551"/>
                </a:avLst>
              </a:prstGeom>
              <a:gradFill>
                <a:gsLst>
                  <a:gs pos="76000">
                    <a:srgbClr val="00264C"/>
                  </a:gs>
                  <a:gs pos="2000">
                    <a:srgbClr val="373737">
                      <a:alpha val="0"/>
                    </a:srgbClr>
                  </a:gs>
                  <a:gs pos="100000">
                    <a:srgbClr val="00264C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72" dirty="0"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4B95A54-1CF6-47EC-96C7-08E311AE4AB4}"/>
                  </a:ext>
                </a:extLst>
              </p:cNvPr>
              <p:cNvSpPr txBox="1"/>
              <p:nvPr/>
            </p:nvSpPr>
            <p:spPr>
              <a:xfrm>
                <a:off x="802748" y="4891183"/>
                <a:ext cx="14077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dirty="0">
                    <a:latin typeface="Freesentation 7 Bold" pitchFamily="2" charset="-127"/>
                    <a:ea typeface="Freesentation 7 Bold" pitchFamily="2" charset="-127"/>
                  </a:rPr>
                  <a:t>3</a:t>
                </a:r>
                <a:r>
                  <a:rPr lang="ko-KR" altLang="en-US" sz="1600" b="1" dirty="0">
                    <a:latin typeface="Freesentation 7 Bold" pitchFamily="2" charset="-127"/>
                    <a:ea typeface="Freesentation 7 Bold" pitchFamily="2" charset="-127"/>
                  </a:rPr>
                  <a:t>단계</a:t>
                </a:r>
                <a:r>
                  <a:rPr lang="en-US" altLang="ko-KR" sz="1600" b="1" dirty="0">
                    <a:latin typeface="Freesentation 7 Bold" pitchFamily="2" charset="-127"/>
                    <a:ea typeface="Freesentation 7 Bold" pitchFamily="2" charset="-127"/>
                  </a:rPr>
                  <a:t>:</a:t>
                </a:r>
                <a:r>
                  <a:rPr lang="ko-KR" altLang="en-US" sz="1600" b="1" dirty="0">
                    <a:latin typeface="Freesentation 7 Bold" pitchFamily="2" charset="-127"/>
                    <a:ea typeface="Freesentation 7 Bold" pitchFamily="2" charset="-127"/>
                  </a:rPr>
                  <a:t>공동 개발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2E02D6-5C47-4ECE-84AD-677211ACC134}"/>
                  </a:ext>
                </a:extLst>
              </p:cNvPr>
              <p:cNvSpPr txBox="1"/>
              <p:nvPr/>
            </p:nvSpPr>
            <p:spPr>
              <a:xfrm>
                <a:off x="802748" y="5219697"/>
                <a:ext cx="2319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dirty="0">
                    <a:latin typeface="프리젠테이션 4 Regular" pitchFamily="2" charset="-127"/>
                    <a:ea typeface="프리젠테이션 4 Regular" pitchFamily="2" charset="-127"/>
                  </a:rPr>
                  <a:t>개량형 개발 및 부품 국산화로 자립도 향상</a:t>
                </a:r>
              </a:p>
            </p:txBody>
          </p: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25C39E68-C8EB-449D-A839-C700A881A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6818" y="4684234"/>
              <a:ext cx="386199" cy="386199"/>
            </a:xfrm>
            <a:prstGeom prst="rect">
              <a:avLst/>
            </a:prstGeom>
          </p:spPr>
        </p:pic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6EB1156-BB91-4791-921C-731FDB32FEE3}"/>
              </a:ext>
            </a:extLst>
          </p:cNvPr>
          <p:cNvSpPr/>
          <p:nvPr/>
        </p:nvSpPr>
        <p:spPr>
          <a:xfrm>
            <a:off x="334963" y="5358372"/>
            <a:ext cx="11522075" cy="782049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이러한 구조적 특성상 폴란드 방산시장에서는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국가간 전략적 협력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이 기업 간 경쟁만큼이나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중요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한 역할</a:t>
            </a:r>
            <a:endParaRPr lang="en-US" altLang="ko-KR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한국 기업 역시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정부 대 정부 협력채널을 통한 시장 접근 전략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 수립 필수</a:t>
            </a:r>
            <a:endParaRPr lang="en-US" altLang="ko-KR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7B39EB11-5D31-4293-9FEA-FADECAD950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751" y="2773185"/>
            <a:ext cx="1990871" cy="13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31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C11DCD1D-A18D-4A0E-9F90-8B83AFDD795A}"/>
              </a:ext>
            </a:extLst>
          </p:cNvPr>
          <p:cNvSpPr/>
          <p:nvPr/>
        </p:nvSpPr>
        <p:spPr>
          <a:xfrm>
            <a:off x="479425" y="2114550"/>
            <a:ext cx="3884403" cy="3257550"/>
          </a:xfrm>
          <a:prstGeom prst="rightArrow">
            <a:avLst/>
          </a:prstGeom>
          <a:solidFill>
            <a:srgbClr val="C31236"/>
          </a:solidFill>
          <a:effectLst>
            <a:outerShdw blurRad="241300" dist="889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BC6A1-23DB-4487-B471-A5CD44BA4066}"/>
              </a:ext>
            </a:extLst>
          </p:cNvPr>
          <p:cNvSpPr txBox="1"/>
          <p:nvPr/>
        </p:nvSpPr>
        <p:spPr>
          <a:xfrm>
            <a:off x="319090" y="1194614"/>
            <a:ext cx="208550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산업분석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: 5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가지 힘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(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포터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)</a:t>
            </a:r>
            <a:endParaRPr kumimoji="1" lang="ko-KR" altLang="en-US" b="1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442014-8D09-4860-839B-24035D1B7636}"/>
              </a:ext>
            </a:extLst>
          </p:cNvPr>
          <p:cNvSpPr/>
          <p:nvPr/>
        </p:nvSpPr>
        <p:spPr>
          <a:xfrm>
            <a:off x="1347246" y="2991339"/>
            <a:ext cx="2571262" cy="148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공급자의 교섭력</a:t>
            </a:r>
            <a:endParaRPr lang="en-US" altLang="ko-KR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특정 분야 기술독점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F35 </a:t>
            </a: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등 대체불가 무기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첨단 시스템 기술 우위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지적재산권 협상 치열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한국</a:t>
            </a:r>
            <a:r>
              <a:rPr lang="en-US" altLang="ko-KR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적극적 기술이전으로 차별화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8AC15F-AE9D-4C4E-80D7-04CC262B61FB}"/>
              </a:ext>
            </a:extLst>
          </p:cNvPr>
          <p:cNvSpPr/>
          <p:nvPr/>
        </p:nvSpPr>
        <p:spPr>
          <a:xfrm>
            <a:off x="4644903" y="3033519"/>
            <a:ext cx="2571262" cy="148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폴란드 방산시장</a:t>
            </a:r>
            <a:endParaRPr lang="en-US" altLang="ko-KR" dirty="0">
              <a:solidFill>
                <a:srgbClr val="C3123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미</a:t>
            </a:r>
            <a:r>
              <a:rPr lang="en-US" altLang="ko-KR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-</a:t>
            </a:r>
            <a:r>
              <a:rPr lang="ko-KR" altLang="en-US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독</a:t>
            </a:r>
            <a:r>
              <a:rPr lang="en-US" altLang="ko-KR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-</a:t>
            </a:r>
            <a:r>
              <a:rPr lang="ko-KR" altLang="en-US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한 등 주요국 치열한 경쟁</a:t>
            </a:r>
            <a:endParaRPr lang="en-US" altLang="ko-KR" sz="1200" dirty="0">
              <a:solidFill>
                <a:srgbClr val="C3123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NATO </a:t>
            </a:r>
            <a:r>
              <a:rPr lang="ko-KR" altLang="en-US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동맹 논리 개입</a:t>
            </a:r>
            <a:endParaRPr lang="en-US" altLang="ko-KR" sz="1200" dirty="0">
              <a:solidFill>
                <a:srgbClr val="C3123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여론전</a:t>
            </a:r>
            <a:r>
              <a:rPr lang="en-US" altLang="ko-KR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정보전 병행</a:t>
            </a:r>
            <a:endParaRPr lang="en-US" altLang="ko-KR" sz="1200" dirty="0">
              <a:solidFill>
                <a:srgbClr val="C3123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C3123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복수업체 시장 분점</a:t>
            </a:r>
            <a:endParaRPr lang="en-US" altLang="ko-KR" sz="1200" dirty="0">
              <a:solidFill>
                <a:srgbClr val="C31236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A4C79C6-1D42-4982-AA40-C8DD5DC25A54}"/>
              </a:ext>
            </a:extLst>
          </p:cNvPr>
          <p:cNvSpPr/>
          <p:nvPr/>
        </p:nvSpPr>
        <p:spPr>
          <a:xfrm flipH="1">
            <a:off x="7828174" y="2114550"/>
            <a:ext cx="3884403" cy="3257550"/>
          </a:xfrm>
          <a:prstGeom prst="rightArrow">
            <a:avLst/>
          </a:prstGeom>
          <a:solidFill>
            <a:srgbClr val="C31236"/>
          </a:solidFill>
          <a:effectLst>
            <a:outerShdw blurRad="241300" dist="889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6D886F-534D-4B1C-A5B8-4DA093060DE5}"/>
              </a:ext>
            </a:extLst>
          </p:cNvPr>
          <p:cNvSpPr/>
          <p:nvPr/>
        </p:nvSpPr>
        <p:spPr>
          <a:xfrm>
            <a:off x="8964240" y="2991339"/>
            <a:ext cx="2571262" cy="148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구매자의 교섭력</a:t>
            </a:r>
            <a:endParaRPr lang="en-US" altLang="ko-KR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폴란드 정부의 강력한 교섭력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400</a:t>
            </a: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억달러 포괄적 계약 주도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기술이전</a:t>
            </a:r>
            <a:r>
              <a:rPr lang="en-US" altLang="ko-KR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현지생산 요구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다원화로 경쟁 유도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1913503-6DC3-42EC-9CD8-8D110DFB26D6}"/>
              </a:ext>
            </a:extLst>
          </p:cNvPr>
          <p:cNvSpPr/>
          <p:nvPr/>
        </p:nvSpPr>
        <p:spPr>
          <a:xfrm rot="16200000" flipH="1">
            <a:off x="5299219" y="-44304"/>
            <a:ext cx="1604963" cy="4636804"/>
          </a:xfrm>
          <a:prstGeom prst="rightArrow">
            <a:avLst>
              <a:gd name="adj1" fmla="val 67666"/>
              <a:gd name="adj2" fmla="val 50000"/>
            </a:avLst>
          </a:prstGeom>
          <a:solidFill>
            <a:srgbClr val="C31236"/>
          </a:solidFill>
          <a:effectLst>
            <a:outerShdw blurRad="241300" dist="889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4CA376-E4B5-4D28-B032-DB578F209D7B}"/>
              </a:ext>
            </a:extLst>
          </p:cNvPr>
          <p:cNvSpPr/>
          <p:nvPr/>
        </p:nvSpPr>
        <p:spPr>
          <a:xfrm>
            <a:off x="4890607" y="1372089"/>
            <a:ext cx="2571262" cy="148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잠재 진입자의 위협</a:t>
            </a:r>
            <a:endParaRPr lang="en-US" altLang="ko-KR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신흥국의 진출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NATO </a:t>
            </a: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표준 진입장벽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현지생산 우회전력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EU</a:t>
            </a: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우선정책 영향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AA402A1F-B91E-4EC5-B441-CB8390763E8F}"/>
              </a:ext>
            </a:extLst>
          </p:cNvPr>
          <p:cNvSpPr/>
          <p:nvPr/>
        </p:nvSpPr>
        <p:spPr>
          <a:xfrm rot="5400000" flipH="1" flipV="1">
            <a:off x="5299219" y="3028410"/>
            <a:ext cx="1604963" cy="4636804"/>
          </a:xfrm>
          <a:prstGeom prst="rightArrow">
            <a:avLst>
              <a:gd name="adj1" fmla="val 67666"/>
              <a:gd name="adj2" fmla="val 50000"/>
            </a:avLst>
          </a:prstGeom>
          <a:solidFill>
            <a:srgbClr val="C31236"/>
          </a:solidFill>
          <a:effectLst>
            <a:outerShdw blurRad="241300" dist="889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A1A4F9-47F2-4193-9FA5-FF3332E33A4A}"/>
              </a:ext>
            </a:extLst>
          </p:cNvPr>
          <p:cNvSpPr/>
          <p:nvPr/>
        </p:nvSpPr>
        <p:spPr>
          <a:xfrm>
            <a:off x="4890607" y="4795942"/>
            <a:ext cx="2571262" cy="148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대체재의 위협</a:t>
            </a:r>
            <a:endParaRPr lang="en-US" altLang="ko-KR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실질적으로 낮음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무장강화 외 대안</a:t>
            </a:r>
            <a:r>
              <a:rPr lang="en-US" altLang="ko-KR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부재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동맹 지원은 </a:t>
            </a:r>
            <a:r>
              <a:rPr lang="ko-KR" altLang="en-US" sz="1200" dirty="0" err="1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보완재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기존 무기 상향은 비현실적</a:t>
            </a:r>
            <a:endParaRPr lang="en-US" altLang="ko-KR" sz="12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endParaRPr lang="en-US" altLang="ko-KR" sz="3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2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안정적 시장 수요 가능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F5FDF25-5ACE-4027-9518-4AD39438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329" y="3458279"/>
            <a:ext cx="678462" cy="67846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65F3FDC-88CB-4AF6-A142-5B82A67986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6498" y="3347144"/>
            <a:ext cx="634884" cy="63488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82F144A-1C23-43E6-90B9-748746048E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4754" y="3332743"/>
            <a:ext cx="678462" cy="67846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61FC0F-9706-43BD-8543-7401DBBCEC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7329" y="1773238"/>
            <a:ext cx="678462" cy="67846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973D98E-D1A1-48E1-AE97-773B221D4C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 flipV="1">
            <a:off x="6627329" y="5197386"/>
            <a:ext cx="678462" cy="67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69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pen drawing a sword">
            <a:extLst>
              <a:ext uri="{FF2B5EF4-FFF2-40B4-BE49-F238E27FC236}">
                <a16:creationId xmlns:a16="http://schemas.microsoft.com/office/drawing/2014/main" id="{E9621B03-5345-4C0D-9E67-8199CEE87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3587901"/>
            <a:ext cx="3062991" cy="172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.Korea's K2 tanks undergo first live fire test in Poland - KED Global">
            <a:extLst>
              <a:ext uri="{FF2B5EF4-FFF2-40B4-BE49-F238E27FC236}">
                <a16:creationId xmlns:a16="http://schemas.microsoft.com/office/drawing/2014/main" id="{BAFBBFE0-C8E3-43F6-B5BE-71466A5CA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4" y="3601094"/>
            <a:ext cx="2570733" cy="170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do I get the best value for money when I buy something? - Money Ready">
            <a:extLst>
              <a:ext uri="{FF2B5EF4-FFF2-40B4-BE49-F238E27FC236}">
                <a16:creationId xmlns:a16="http://schemas.microsoft.com/office/drawing/2014/main" id="{3B33A4EA-4AD1-4194-8FCA-F0BA8F6802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791575" y="1600551"/>
            <a:ext cx="3065462" cy="172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land's PM pledges full support for Ukraine">
            <a:extLst>
              <a:ext uri="{FF2B5EF4-FFF2-40B4-BE49-F238E27FC236}">
                <a16:creationId xmlns:a16="http://schemas.microsoft.com/office/drawing/2014/main" id="{13869F14-4F2C-4FFA-B275-97AB92A710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04" r="11004"/>
          <a:stretch/>
        </p:blipFill>
        <p:spPr bwMode="auto">
          <a:xfrm>
            <a:off x="2885059" y="1593722"/>
            <a:ext cx="3075649" cy="173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B970AB-DF82-4F0D-A4E0-486B3294EFEC}"/>
              </a:ext>
            </a:extLst>
          </p:cNvPr>
          <p:cNvSpPr txBox="1"/>
          <p:nvPr/>
        </p:nvSpPr>
        <p:spPr>
          <a:xfrm>
            <a:off x="319090" y="1194614"/>
            <a:ext cx="209191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폴란드 방산시장 고객 특성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BBE875-3F4E-4476-BB81-4BD0BB0915F1}"/>
              </a:ext>
            </a:extLst>
          </p:cNvPr>
          <p:cNvSpPr/>
          <p:nvPr/>
        </p:nvSpPr>
        <p:spPr>
          <a:xfrm>
            <a:off x="334963" y="5358372"/>
            <a:ext cx="11522075" cy="782049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폴란드 정부는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실전 검증된 신뢰성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을 바탕으로 </a:t>
            </a:r>
            <a:b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</a:b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단순 군사적 필요성을 넘어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국제 정치적 득실까지 고려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하는 전략적 고객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7B6027-B93A-485B-A95C-383E4A7C5FF3}"/>
              </a:ext>
            </a:extLst>
          </p:cNvPr>
          <p:cNvSpPr/>
          <p:nvPr/>
        </p:nvSpPr>
        <p:spPr>
          <a:xfrm flipH="1">
            <a:off x="2523822" y="3587750"/>
            <a:ext cx="3427716" cy="17359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rgbClr val="FFFFFF">
                  <a:alpha val="50000"/>
                </a:srgbClr>
              </a:gs>
              <a:gs pos="25000">
                <a:schemeClr val="bg1"/>
              </a:gs>
              <a:gs pos="75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EB4818-6859-4403-AEE7-8EAF0469DE55}"/>
              </a:ext>
            </a:extLst>
          </p:cNvPr>
          <p:cNvSpPr/>
          <p:nvPr/>
        </p:nvSpPr>
        <p:spPr>
          <a:xfrm flipH="1">
            <a:off x="8429322" y="3587750"/>
            <a:ext cx="3427716" cy="17359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rgbClr val="FFFFFF">
                  <a:alpha val="50000"/>
                </a:srgbClr>
              </a:gs>
              <a:gs pos="25000">
                <a:schemeClr val="bg1"/>
              </a:gs>
              <a:gs pos="75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81BC8-8107-4591-B5C0-ED20588E275D}"/>
              </a:ext>
            </a:extLst>
          </p:cNvPr>
          <p:cNvSpPr/>
          <p:nvPr/>
        </p:nvSpPr>
        <p:spPr>
          <a:xfrm flipH="1">
            <a:off x="2523822" y="1593722"/>
            <a:ext cx="3427716" cy="17359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rgbClr val="FFFFFF">
                  <a:alpha val="50000"/>
                </a:srgbClr>
              </a:gs>
              <a:gs pos="25000">
                <a:schemeClr val="bg1"/>
              </a:gs>
              <a:gs pos="75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9FA21C-A837-4FF0-A7C9-A0132348BDED}"/>
              </a:ext>
            </a:extLst>
          </p:cNvPr>
          <p:cNvSpPr/>
          <p:nvPr/>
        </p:nvSpPr>
        <p:spPr>
          <a:xfrm flipH="1">
            <a:off x="7562850" y="1593722"/>
            <a:ext cx="4294188" cy="17359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8000">
                <a:srgbClr val="FFFFFF">
                  <a:alpha val="0"/>
                </a:srgbClr>
              </a:gs>
              <a:gs pos="35000">
                <a:schemeClr val="bg1">
                  <a:alpha val="75000"/>
                </a:schemeClr>
              </a:gs>
              <a:gs pos="75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62720-4E4F-4290-8003-DE9CF5C9996A}"/>
              </a:ext>
            </a:extLst>
          </p:cNvPr>
          <p:cNvSpPr txBox="1"/>
          <p:nvPr/>
        </p:nvSpPr>
        <p:spPr>
          <a:xfrm>
            <a:off x="399523" y="1459096"/>
            <a:ext cx="3554178" cy="1735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즉시 전력화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sz="1400" dirty="0">
                <a:latin typeface="프리젠테이션 6 SemiBold" pitchFamily="2" charset="-127"/>
                <a:ea typeface="프리젠테이션 6 SemiBold" pitchFamily="2" charset="-127"/>
              </a:rPr>
              <a:t>우크라이나 전쟁 이후 즉시 전력화 가능한 무기가 최우선</a:t>
            </a:r>
            <a:endParaRPr lang="en-US" altLang="ko-KR" sz="14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K2 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전차 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10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대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, K9 </a:t>
            </a:r>
            <a:r>
              <a:rPr lang="ko-KR" altLang="en-US" sz="1200" dirty="0" err="1">
                <a:latin typeface="프리젠테이션 6 SemiBold" pitchFamily="2" charset="-127"/>
                <a:ea typeface="프리젠테이션 6 SemiBold" pitchFamily="2" charset="-127"/>
              </a:rPr>
              <a:t>자주포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24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문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계약 후 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3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개월만에 인도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신속 공급 파트너 평가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5E269-7C8F-4064-9FED-F3B1E57353D4}"/>
              </a:ext>
            </a:extLst>
          </p:cNvPr>
          <p:cNvSpPr txBox="1"/>
          <p:nvPr/>
        </p:nvSpPr>
        <p:spPr>
          <a:xfrm>
            <a:off x="6299140" y="1459096"/>
            <a:ext cx="2260555" cy="1735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운용 효용성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sz="1400" dirty="0">
                <a:latin typeface="프리젠테이션 6 SemiBold" pitchFamily="2" charset="-127"/>
                <a:ea typeface="프리젠테이션 6 SemiBold" pitchFamily="2" charset="-127"/>
              </a:rPr>
              <a:t>한정 예산으로 최대 전력 구축 목표</a:t>
            </a:r>
            <a:endParaRPr lang="en-US" altLang="ko-KR" sz="14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검증된 성능 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+ 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운용 경제성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K2 vs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Leopard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 가격 경쟁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NATO 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표준 호환성 필수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698DBC-817C-4335-8A30-A53701BE0FAC}"/>
              </a:ext>
            </a:extLst>
          </p:cNvPr>
          <p:cNvSpPr txBox="1"/>
          <p:nvPr/>
        </p:nvSpPr>
        <p:spPr>
          <a:xfrm>
            <a:off x="399523" y="3457961"/>
            <a:ext cx="2124299" cy="1735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통합 패키지 솔루션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sz="1400" dirty="0">
                <a:latin typeface="프리젠테이션 6 SemiBold" pitchFamily="2" charset="-127"/>
                <a:ea typeface="프리젠테이션 6 SemiBold" pitchFamily="2" charset="-127"/>
              </a:rPr>
              <a:t>하드웨어 </a:t>
            </a:r>
            <a:r>
              <a:rPr lang="en-US" altLang="ko-KR" sz="1400" dirty="0">
                <a:latin typeface="프리젠테이션 6 SemiBold" pitchFamily="2" charset="-127"/>
                <a:ea typeface="프리젠테이션 6 SemiBold" pitchFamily="2" charset="-127"/>
              </a:rPr>
              <a:t>+ </a:t>
            </a:r>
            <a:r>
              <a:rPr lang="ko-KR" altLang="en-US" sz="1400" dirty="0">
                <a:latin typeface="프리젠테이션 6 SemiBold" pitchFamily="2" charset="-127"/>
                <a:ea typeface="프리젠테이션 6 SemiBold" pitchFamily="2" charset="-127"/>
              </a:rPr>
              <a:t>토탈 지원 체계 요구</a:t>
            </a:r>
            <a:endParaRPr lang="en-US" altLang="ko-KR" sz="14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훈련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장비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부품 일괄 지원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NATO 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지휘체계 연동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상호운용성 확보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E6BFC-1F19-4978-BADA-C407BFE9A485}"/>
              </a:ext>
            </a:extLst>
          </p:cNvPr>
          <p:cNvSpPr txBox="1"/>
          <p:nvPr/>
        </p:nvSpPr>
        <p:spPr>
          <a:xfrm>
            <a:off x="6299140" y="3457961"/>
            <a:ext cx="1851789" cy="1735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전략적 외교 고려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ko-KR" altLang="en-US" sz="1400" dirty="0">
                <a:latin typeface="프리젠테이션 6 SemiBold" pitchFamily="2" charset="-127"/>
                <a:ea typeface="프리젠테이션 6 SemiBold" pitchFamily="2" charset="-127"/>
              </a:rPr>
              <a:t>무기 도입 </a:t>
            </a:r>
            <a:r>
              <a:rPr lang="en-US" altLang="ko-KR" sz="1400" dirty="0">
                <a:latin typeface="프리젠테이션 6 SemiBold" pitchFamily="2" charset="-127"/>
                <a:ea typeface="프리젠테이션 6 SemiBold" pitchFamily="2" charset="-127"/>
              </a:rPr>
              <a:t>= </a:t>
            </a:r>
            <a:r>
              <a:rPr lang="ko-KR" altLang="en-US" sz="1400" dirty="0">
                <a:latin typeface="프리젠테이션 6 SemiBold" pitchFamily="2" charset="-127"/>
                <a:ea typeface="프리젠테이션 6 SemiBold" pitchFamily="2" charset="-127"/>
              </a:rPr>
              <a:t>외교 전략 수단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한국과 동반자 관계 강화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NATO 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동부 전선 방어 기여</a:t>
            </a:r>
            <a:endParaRPr lang="en-US" altLang="ko-KR" sz="12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한</a:t>
            </a:r>
            <a:r>
              <a:rPr lang="en-US" altLang="ko-KR" sz="1200" dirty="0">
                <a:latin typeface="프리젠테이션 6 SemiBold" pitchFamily="2" charset="-127"/>
                <a:ea typeface="프리젠테이션 6 SemiBold" pitchFamily="2" charset="-127"/>
              </a:rPr>
              <a:t>-NATO </a:t>
            </a:r>
            <a:r>
              <a:rPr lang="ko-KR" altLang="en-US" sz="1200" dirty="0">
                <a:latin typeface="프리젠테이션 6 SemiBold" pitchFamily="2" charset="-127"/>
                <a:ea typeface="프리젠테이션 6 SemiBold" pitchFamily="2" charset="-127"/>
              </a:rPr>
              <a:t>파트너쉽 확대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6537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B970AB-DF82-4F0D-A4E0-486B3294EFEC}"/>
              </a:ext>
            </a:extLst>
          </p:cNvPr>
          <p:cNvSpPr txBox="1"/>
          <p:nvPr/>
        </p:nvSpPr>
        <p:spPr>
          <a:xfrm>
            <a:off x="319090" y="1194614"/>
            <a:ext cx="35566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K-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방산의 폴란드 방산시장 진출 </a:t>
            </a:r>
            <a:r>
              <a:rPr kumimoji="1" lang="en-US" altLang="ko-KR" b="1" dirty="0">
                <a:latin typeface="Freesentation 7 Bold" pitchFamily="2" charset="-127"/>
                <a:ea typeface="Freesentation 7 Bold" pitchFamily="2" charset="-127"/>
              </a:rPr>
              <a:t>SWOT </a:t>
            </a:r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BBE875-3F4E-4476-BB81-4BD0BB0915F1}"/>
              </a:ext>
            </a:extLst>
          </p:cNvPr>
          <p:cNvSpPr/>
          <p:nvPr/>
        </p:nvSpPr>
        <p:spPr>
          <a:xfrm>
            <a:off x="334963" y="5358372"/>
            <a:ext cx="11522075" cy="782049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폴란드 정부는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실전 검증된 신뢰성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을 바탕으로 </a:t>
            </a:r>
            <a:b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</a:b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단순 군사적 필요성을 넘어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국제 정치적 득실까지 고려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하는 전략적 고객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AF8826A-7014-41C8-B19C-36AB18080D76}"/>
              </a:ext>
            </a:extLst>
          </p:cNvPr>
          <p:cNvSpPr/>
          <p:nvPr/>
        </p:nvSpPr>
        <p:spPr>
          <a:xfrm>
            <a:off x="334962" y="1592263"/>
            <a:ext cx="5616575" cy="1731962"/>
          </a:xfrm>
          <a:prstGeom prst="roundRect">
            <a:avLst>
              <a:gd name="adj" fmla="val 10068"/>
            </a:avLst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1A0C10A-A8FC-4606-897F-1AAB1DEEFD82}"/>
              </a:ext>
            </a:extLst>
          </p:cNvPr>
          <p:cNvSpPr/>
          <p:nvPr/>
        </p:nvSpPr>
        <p:spPr>
          <a:xfrm>
            <a:off x="334962" y="3475318"/>
            <a:ext cx="5616575" cy="1731962"/>
          </a:xfrm>
          <a:prstGeom prst="roundRect">
            <a:avLst>
              <a:gd name="adj" fmla="val 10617"/>
            </a:avLst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D297A66-BC32-45E8-8BAE-0B69623784C5}"/>
              </a:ext>
            </a:extLst>
          </p:cNvPr>
          <p:cNvSpPr/>
          <p:nvPr/>
        </p:nvSpPr>
        <p:spPr>
          <a:xfrm>
            <a:off x="6254749" y="1592263"/>
            <a:ext cx="5616575" cy="1731962"/>
          </a:xfrm>
          <a:prstGeom prst="roundRect">
            <a:avLst>
              <a:gd name="adj" fmla="val 10068"/>
            </a:avLst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A892484-AACB-4A66-B186-09517D94FA64}"/>
              </a:ext>
            </a:extLst>
          </p:cNvPr>
          <p:cNvSpPr/>
          <p:nvPr/>
        </p:nvSpPr>
        <p:spPr>
          <a:xfrm>
            <a:off x="6254749" y="3475318"/>
            <a:ext cx="5616575" cy="1731962"/>
          </a:xfrm>
          <a:prstGeom prst="roundRect">
            <a:avLst>
              <a:gd name="adj" fmla="val 10617"/>
            </a:avLst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원형: 비어 있음 3">
            <a:extLst>
              <a:ext uri="{FF2B5EF4-FFF2-40B4-BE49-F238E27FC236}">
                <a16:creationId xmlns:a16="http://schemas.microsoft.com/office/drawing/2014/main" id="{6634CBD7-DAD4-42D5-81BF-50B2C3C0D17C}"/>
              </a:ext>
            </a:extLst>
          </p:cNvPr>
          <p:cNvSpPr/>
          <p:nvPr/>
        </p:nvSpPr>
        <p:spPr>
          <a:xfrm>
            <a:off x="4970984" y="2267614"/>
            <a:ext cx="2264318" cy="2264316"/>
          </a:xfrm>
          <a:prstGeom prst="donut">
            <a:avLst>
              <a:gd name="adj" fmla="val 31204"/>
            </a:avLst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8554F1-B533-4C23-ABAF-271243ABA886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E138C4-4F1D-43F5-9D8C-6212711BFDE5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0FB60D8-AD46-4192-B6C7-0EC9623BC730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F4331BE-8DC0-4452-B066-F3DF18A8F526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3393911-02B2-4818-83A0-B4EFCFB2481E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198AC06-A0CE-484F-8A44-79E05F669762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0DAC99-3492-4146-B1D6-B2C68E775CDB}"/>
              </a:ext>
            </a:extLst>
          </p:cNvPr>
          <p:cNvSpPr txBox="1"/>
          <p:nvPr/>
        </p:nvSpPr>
        <p:spPr>
          <a:xfrm>
            <a:off x="733351" y="1652799"/>
            <a:ext cx="1938672" cy="1610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S - </a:t>
            </a:r>
            <a:r>
              <a:rPr lang="ko-KR" altLang="en-US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강점</a:t>
            </a:r>
            <a:endParaRPr lang="en-US" altLang="ko-KR" sz="14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최신 성능</a:t>
            </a:r>
            <a:r>
              <a:rPr lang="en-US" altLang="ko-KR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빠른 납기</a:t>
            </a:r>
            <a:endParaRPr lang="en-US" altLang="ko-KR" sz="16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NATO </a:t>
            </a: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표준 호환 설계</a:t>
            </a:r>
            <a:endParaRPr lang="en-US" altLang="ko-KR" sz="16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현지 생산</a:t>
            </a:r>
            <a:r>
              <a:rPr lang="en-US" altLang="ko-KR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기술 이전</a:t>
            </a:r>
            <a:endParaRPr lang="ko-KR" altLang="en-US" sz="2400" dirty="0">
              <a:solidFill>
                <a:srgbClr val="F1F1F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E2870-5D1E-468F-B707-C4E41CC0FA98}"/>
              </a:ext>
            </a:extLst>
          </p:cNvPr>
          <p:cNvSpPr txBox="1"/>
          <p:nvPr/>
        </p:nvSpPr>
        <p:spPr>
          <a:xfrm>
            <a:off x="733351" y="3535854"/>
            <a:ext cx="2291333" cy="1610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O – </a:t>
            </a:r>
            <a:r>
              <a:rPr lang="ko-KR" altLang="en-US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기회</a:t>
            </a:r>
            <a:endParaRPr lang="en-US" altLang="ko-KR" sz="1400" dirty="0">
              <a:solidFill>
                <a:srgbClr val="373737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폴란드</a:t>
            </a:r>
            <a:r>
              <a:rPr lang="en-US" altLang="ko-KR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국방비 </a:t>
            </a:r>
            <a:r>
              <a:rPr lang="en-US" altLang="ko-KR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4.7% </a:t>
            </a: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확대</a:t>
            </a:r>
            <a:endParaRPr lang="en-US" altLang="ko-KR" sz="1600" dirty="0">
              <a:solidFill>
                <a:srgbClr val="373737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동유럽 거점 확보</a:t>
            </a:r>
            <a:endParaRPr lang="en-US" altLang="ko-KR" sz="1600" dirty="0">
              <a:solidFill>
                <a:srgbClr val="373737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NATO</a:t>
            </a: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 연합 협력 기회 발생</a:t>
            </a:r>
            <a:endParaRPr lang="ko-KR" altLang="en-US" sz="2400" dirty="0">
              <a:solidFill>
                <a:srgbClr val="373737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5B76B3-A13B-4EBD-9631-AD72931B3181}"/>
              </a:ext>
            </a:extLst>
          </p:cNvPr>
          <p:cNvSpPr txBox="1"/>
          <p:nvPr/>
        </p:nvSpPr>
        <p:spPr>
          <a:xfrm>
            <a:off x="7762527" y="1652799"/>
            <a:ext cx="1893467" cy="1610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W – </a:t>
            </a:r>
            <a:r>
              <a:rPr lang="ko-KR" altLang="en-US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약점</a:t>
            </a:r>
            <a:endParaRPr lang="en-US" altLang="ko-KR" sz="1400" dirty="0">
              <a:solidFill>
                <a:srgbClr val="373737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유럽 시장 인지도 부족</a:t>
            </a:r>
            <a:endParaRPr lang="en-US" altLang="ko-KR" sz="1600" dirty="0">
              <a:solidFill>
                <a:srgbClr val="373737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전통 강국 보호주의</a:t>
            </a:r>
            <a:endParaRPr lang="en-US" altLang="ko-KR" sz="1600" dirty="0">
              <a:solidFill>
                <a:srgbClr val="373737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정치</a:t>
            </a:r>
            <a:r>
              <a:rPr lang="en-US" altLang="ko-KR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6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외교적 제약</a:t>
            </a:r>
            <a:endParaRPr lang="ko-KR" altLang="en-US" sz="2400" dirty="0">
              <a:solidFill>
                <a:srgbClr val="373737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99AED6-DFC4-4C8B-B3F3-03B983A0BEC3}"/>
              </a:ext>
            </a:extLst>
          </p:cNvPr>
          <p:cNvSpPr txBox="1"/>
          <p:nvPr/>
        </p:nvSpPr>
        <p:spPr>
          <a:xfrm>
            <a:off x="7762527" y="3535854"/>
            <a:ext cx="2109873" cy="1610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T – </a:t>
            </a:r>
            <a:r>
              <a:rPr lang="ko-KR" altLang="en-US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위협</a:t>
            </a:r>
            <a:endParaRPr lang="en-US" altLang="ko-KR" sz="14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EU </a:t>
            </a: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역내 조달 </a:t>
            </a:r>
            <a:r>
              <a:rPr lang="en-US" altLang="ko-KR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60% </a:t>
            </a: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목표</a:t>
            </a:r>
            <a:endParaRPr lang="en-US" altLang="ko-KR" sz="16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프</a:t>
            </a:r>
            <a:r>
              <a:rPr lang="en-US" altLang="ko-KR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-</a:t>
            </a: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독 견제 강화</a:t>
            </a:r>
            <a:endParaRPr lang="en-US" altLang="ko-KR" sz="1600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방산 카르텔 형성 우려</a:t>
            </a:r>
            <a:endParaRPr lang="ko-KR" altLang="en-US" sz="2400" dirty="0">
              <a:solidFill>
                <a:srgbClr val="F1F1F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78948E-D6B8-462E-9249-5A44FB117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018" y="2071525"/>
            <a:ext cx="1192164" cy="11921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1A0BBB2-19FC-461F-8340-0F2DFE24E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485" y="2071525"/>
            <a:ext cx="1192164" cy="11921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9651613-EDBB-429A-993D-5B03C57C7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018" y="3954580"/>
            <a:ext cx="1192164" cy="119216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28B94D3-7DCB-4A6F-9618-2528E2FEF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9625" y="3703854"/>
            <a:ext cx="1211344" cy="121134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A7E6DAF-6EAD-4209-B01F-133FCBCDC330}"/>
              </a:ext>
            </a:extLst>
          </p:cNvPr>
          <p:cNvSpPr txBox="1"/>
          <p:nvPr/>
        </p:nvSpPr>
        <p:spPr>
          <a:xfrm>
            <a:off x="5412261" y="2470508"/>
            <a:ext cx="396262" cy="59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sz="2800" dirty="0">
                <a:solidFill>
                  <a:srgbClr val="F1F1F1"/>
                </a:solidFill>
                <a:effectLst>
                  <a:glow rad="63500">
                    <a:schemeClr val="tx1">
                      <a:alpha val="76000"/>
                    </a:schemeClr>
                  </a:glow>
                </a:effectLst>
                <a:latin typeface="프리젠테이션 6 SemiBold" pitchFamily="2" charset="-127"/>
                <a:ea typeface="프리젠테이션 6 SemiBold" pitchFamily="2" charset="-127"/>
              </a:rPr>
              <a:t>S</a:t>
            </a:r>
            <a:endParaRPr lang="ko-KR" altLang="en-US" sz="3600" dirty="0">
              <a:solidFill>
                <a:srgbClr val="F1F1F1"/>
              </a:solidFill>
              <a:effectLst>
                <a:glow rad="63500">
                  <a:schemeClr val="tx1">
                    <a:alpha val="76000"/>
                  </a:schemeClr>
                </a:glow>
              </a:effectLs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03AC6C-CBEB-4073-B4B5-2243BE85B8E3}"/>
              </a:ext>
            </a:extLst>
          </p:cNvPr>
          <p:cNvSpPr txBox="1"/>
          <p:nvPr/>
        </p:nvSpPr>
        <p:spPr>
          <a:xfrm>
            <a:off x="6391222" y="2470508"/>
            <a:ext cx="497252" cy="59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sz="2800" dirty="0">
                <a:solidFill>
                  <a:srgbClr val="F1F1F1"/>
                </a:solidFill>
                <a:effectLst>
                  <a:glow rad="63500">
                    <a:schemeClr val="tx1">
                      <a:alpha val="76000"/>
                    </a:schemeClr>
                  </a:glow>
                </a:effectLst>
                <a:latin typeface="프리젠테이션 6 SemiBold" pitchFamily="2" charset="-127"/>
                <a:ea typeface="프리젠테이션 6 SemiBold" pitchFamily="2" charset="-127"/>
              </a:rPr>
              <a:t>W</a:t>
            </a:r>
            <a:endParaRPr lang="ko-KR" altLang="en-US" sz="3600" dirty="0">
              <a:solidFill>
                <a:srgbClr val="F1F1F1"/>
              </a:solidFill>
              <a:effectLst>
                <a:glow rad="63500">
                  <a:schemeClr val="tx1">
                    <a:alpha val="76000"/>
                  </a:schemeClr>
                </a:glo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2CC5F1-3308-4759-B20D-6D6C7B3FE494}"/>
              </a:ext>
            </a:extLst>
          </p:cNvPr>
          <p:cNvSpPr txBox="1"/>
          <p:nvPr/>
        </p:nvSpPr>
        <p:spPr>
          <a:xfrm>
            <a:off x="5380511" y="3621304"/>
            <a:ext cx="428322" cy="59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sz="2800" dirty="0">
                <a:solidFill>
                  <a:srgbClr val="F1F1F1"/>
                </a:solidFill>
                <a:effectLst>
                  <a:glow rad="63500">
                    <a:schemeClr val="tx1">
                      <a:alpha val="76000"/>
                    </a:schemeClr>
                  </a:glow>
                </a:effectLst>
                <a:latin typeface="프리젠테이션 6 SemiBold" pitchFamily="2" charset="-127"/>
                <a:ea typeface="프리젠테이션 6 SemiBold" pitchFamily="2" charset="-127"/>
              </a:rPr>
              <a:t>O</a:t>
            </a:r>
            <a:endParaRPr lang="ko-KR" altLang="en-US" sz="3600" dirty="0">
              <a:solidFill>
                <a:srgbClr val="F1F1F1"/>
              </a:solidFill>
              <a:effectLst>
                <a:glow rad="63500">
                  <a:schemeClr val="tx1">
                    <a:alpha val="76000"/>
                  </a:schemeClr>
                </a:glo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B785E8-BD20-480B-A971-549A9AB3A57E}"/>
              </a:ext>
            </a:extLst>
          </p:cNvPr>
          <p:cNvSpPr txBox="1"/>
          <p:nvPr/>
        </p:nvSpPr>
        <p:spPr>
          <a:xfrm>
            <a:off x="6390115" y="3621304"/>
            <a:ext cx="397866" cy="59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ko-KR" sz="2800" dirty="0">
                <a:solidFill>
                  <a:srgbClr val="F1F1F1"/>
                </a:solidFill>
                <a:effectLst>
                  <a:glow rad="63500">
                    <a:schemeClr val="tx1">
                      <a:alpha val="76000"/>
                    </a:schemeClr>
                  </a:glow>
                </a:effectLst>
                <a:latin typeface="프리젠테이션 6 SemiBold" pitchFamily="2" charset="-127"/>
                <a:ea typeface="프리젠테이션 6 SemiBold" pitchFamily="2" charset="-127"/>
              </a:rPr>
              <a:t>T</a:t>
            </a:r>
            <a:endParaRPr lang="ko-KR" altLang="en-US" sz="3600" dirty="0">
              <a:solidFill>
                <a:srgbClr val="F1F1F1"/>
              </a:solidFill>
              <a:effectLst>
                <a:glow rad="63500">
                  <a:schemeClr val="tx1">
                    <a:alpha val="76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9727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Full view">
            <a:extLst>
              <a:ext uri="{FF2B5EF4-FFF2-40B4-BE49-F238E27FC236}">
                <a16:creationId xmlns:a16="http://schemas.microsoft.com/office/drawing/2014/main" id="{63187B67-C819-4A0F-BEDB-A56C5AF8EB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50"/>
          <a:stretch/>
        </p:blipFill>
        <p:spPr bwMode="auto">
          <a:xfrm>
            <a:off x="-557678" y="-1"/>
            <a:ext cx="1383099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3B177F4-F180-4EBC-86A4-0788C9EFA780}"/>
              </a:ext>
            </a:extLst>
          </p:cNvPr>
          <p:cNvSpPr>
            <a:spLocks/>
          </p:cNvSpPr>
          <p:nvPr/>
        </p:nvSpPr>
        <p:spPr>
          <a:xfrm>
            <a:off x="0" y="-1"/>
            <a:ext cx="12535983" cy="6858001"/>
          </a:xfrm>
          <a:prstGeom prst="rect">
            <a:avLst/>
          </a:prstGeom>
          <a:solidFill>
            <a:srgbClr val="F1F1F1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pic>
        <p:nvPicPr>
          <p:cNvPr id="10" name="Picture 6" descr="국방부 로고 투명배경 PNG JPG AI파일 공유">
            <a:extLst>
              <a:ext uri="{FF2B5EF4-FFF2-40B4-BE49-F238E27FC236}">
                <a16:creationId xmlns:a16="http://schemas.microsoft.com/office/drawing/2014/main" id="{6D2DE41C-A4AF-436C-9A16-38CF84A57B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9" t="12778" r="18902" b="17778"/>
          <a:stretch/>
        </p:blipFill>
        <p:spPr bwMode="auto">
          <a:xfrm>
            <a:off x="482909" y="809158"/>
            <a:ext cx="1703693" cy="136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D4D0C9-0DBF-4F04-9666-CED6AF3A92F7}"/>
              </a:ext>
            </a:extLst>
          </p:cNvPr>
          <p:cNvSpPr txBox="1"/>
          <p:nvPr/>
        </p:nvSpPr>
        <p:spPr>
          <a:xfrm>
            <a:off x="6369863" y="1088582"/>
            <a:ext cx="552067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4. K-</a:t>
            </a:r>
            <a:r>
              <a:rPr lang="ko-KR" altLang="en-US" sz="36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방산의 폴란드 진출 성과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3DFF1A-DC1F-4882-9C3A-8C40E5D51187}"/>
              </a:ext>
            </a:extLst>
          </p:cNvPr>
          <p:cNvSpPr txBox="1"/>
          <p:nvPr/>
        </p:nvSpPr>
        <p:spPr>
          <a:xfrm>
            <a:off x="8354239" y="1692009"/>
            <a:ext cx="35530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K-</a:t>
            </a:r>
            <a:r>
              <a:rPr kumimoji="1" lang="ko-KR" altLang="en-US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방산 진출을 위한 폴란드 국가 및 산업 분석</a:t>
            </a:r>
          </a:p>
        </p:txBody>
      </p:sp>
      <p:cxnSp>
        <p:nvCxnSpPr>
          <p:cNvPr id="12" name="직선 연결선[R] 9">
            <a:extLst>
              <a:ext uri="{FF2B5EF4-FFF2-40B4-BE49-F238E27FC236}">
                <a16:creationId xmlns:a16="http://schemas.microsoft.com/office/drawing/2014/main" id="{35E99F9F-3E3D-4C2C-85E7-ABDB7A4B25A2}"/>
              </a:ext>
            </a:extLst>
          </p:cNvPr>
          <p:cNvCxnSpPr>
            <a:cxnSpLocks/>
          </p:cNvCxnSpPr>
          <p:nvPr/>
        </p:nvCxnSpPr>
        <p:spPr>
          <a:xfrm>
            <a:off x="5943600" y="1651826"/>
            <a:ext cx="5913967" cy="0"/>
          </a:xfrm>
          <a:prstGeom prst="line">
            <a:avLst/>
          </a:prstGeom>
          <a:ln w="444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297F07A-D2D9-477F-8135-5ECA7D2CCB5A}"/>
              </a:ext>
            </a:extLst>
          </p:cNvPr>
          <p:cNvSpPr txBox="1"/>
          <p:nvPr/>
        </p:nvSpPr>
        <p:spPr>
          <a:xfrm>
            <a:off x="324904" y="6026109"/>
            <a:ext cx="540083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Global Business Environment and Ethics</a:t>
            </a:r>
            <a:endParaRPr lang="ko-KR" altLang="en-US" sz="2400" b="1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020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CC9FD-A503-C4C2-3097-FECE4687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3E8820-2E46-114A-5F6E-E7BCC015E9C0}"/>
              </a:ext>
            </a:extLst>
          </p:cNvPr>
          <p:cNvSpPr txBox="1"/>
          <p:nvPr/>
        </p:nvSpPr>
        <p:spPr>
          <a:xfrm>
            <a:off x="319090" y="1194614"/>
            <a:ext cx="1736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한국 방산의 진출 성과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6573863-B22E-446E-AFB0-ADE95466E50D}"/>
              </a:ext>
            </a:extLst>
          </p:cNvPr>
          <p:cNvGrpSpPr/>
          <p:nvPr/>
        </p:nvGrpSpPr>
        <p:grpSpPr>
          <a:xfrm>
            <a:off x="345046" y="2444367"/>
            <a:ext cx="2743200" cy="1177521"/>
            <a:chOff x="345046" y="2153241"/>
            <a:chExt cx="2743200" cy="1177521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248E253-9098-4029-8AEB-CD867C374124}"/>
                </a:ext>
              </a:extLst>
            </p:cNvPr>
            <p:cNvSpPr/>
            <p:nvPr/>
          </p:nvSpPr>
          <p:spPr>
            <a:xfrm>
              <a:off x="392393" y="2468988"/>
              <a:ext cx="2645101" cy="861774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K2 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전차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, K9 </a:t>
              </a:r>
              <a:r>
                <a:rPr lang="ko-KR" altLang="en-US" sz="1400" dirty="0" err="1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자주포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, FA-50 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경공격기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, 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K239 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다연장로켓 등 지상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/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항공 </a:t>
              </a:r>
              <a:b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무기체계 수출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B749243-919F-42E7-A493-D275B7D1C45E}"/>
                </a:ext>
              </a:extLst>
            </p:cNvPr>
            <p:cNvSpPr/>
            <p:nvPr/>
          </p:nvSpPr>
          <p:spPr>
            <a:xfrm>
              <a:off x="345046" y="2153241"/>
              <a:ext cx="2743200" cy="276022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01. </a:t>
              </a:r>
              <a:r>
                <a:rPr lang="ko-KR" altLang="en-US" sz="1400" dirty="0">
                  <a:latin typeface="프리젠테이션 8 ExtraBold" pitchFamily="2" charset="-127"/>
                  <a:ea typeface="프리젠테이션 8 ExtraBold" pitchFamily="2" charset="-127"/>
                </a:rPr>
                <a:t>수출 품목의 다각화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722ED96-1130-4297-AACF-0E6F84D6C5BD}"/>
              </a:ext>
            </a:extLst>
          </p:cNvPr>
          <p:cNvGrpSpPr/>
          <p:nvPr/>
        </p:nvGrpSpPr>
        <p:grpSpPr>
          <a:xfrm>
            <a:off x="3217264" y="2444367"/>
            <a:ext cx="2743200" cy="1177521"/>
            <a:chOff x="3217264" y="2153241"/>
            <a:chExt cx="2743200" cy="117752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516617E-791D-496A-93DD-6561B326D349}"/>
                </a:ext>
              </a:extLst>
            </p:cNvPr>
            <p:cNvSpPr/>
            <p:nvPr/>
          </p:nvSpPr>
          <p:spPr>
            <a:xfrm>
              <a:off x="3264611" y="2468988"/>
              <a:ext cx="2645101" cy="861774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2020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년대 중반 세계 방산수출</a:t>
              </a:r>
              <a:b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Top 5~6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위권 진입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2024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년 글로벌 시장점유율 </a:t>
              </a: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2.4% 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달성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531F7F8-3BC1-41B7-8357-6D695B705973}"/>
                </a:ext>
              </a:extLst>
            </p:cNvPr>
            <p:cNvSpPr/>
            <p:nvPr/>
          </p:nvSpPr>
          <p:spPr>
            <a:xfrm>
              <a:off x="3217264" y="2153241"/>
              <a:ext cx="2743200" cy="276022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02. </a:t>
              </a:r>
              <a:r>
                <a:rPr lang="ko-KR" altLang="en-US" sz="1400" dirty="0">
                  <a:latin typeface="프리젠테이션 8 ExtraBold" pitchFamily="2" charset="-127"/>
                  <a:ea typeface="프리젠테이션 8 ExtraBold" pitchFamily="2" charset="-127"/>
                </a:rPr>
                <a:t>글로벌 위상 재고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005BC5D-A435-43F7-BEDF-5E32F70511E6}"/>
              </a:ext>
            </a:extLst>
          </p:cNvPr>
          <p:cNvGrpSpPr/>
          <p:nvPr/>
        </p:nvGrpSpPr>
        <p:grpSpPr>
          <a:xfrm>
            <a:off x="345046" y="3780586"/>
            <a:ext cx="2743200" cy="1177521"/>
            <a:chOff x="345046" y="2153241"/>
            <a:chExt cx="2743200" cy="1177521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95131BD-BF00-4DBA-A9BC-5AFAE66C4B23}"/>
                </a:ext>
              </a:extLst>
            </p:cNvPr>
            <p:cNvSpPr/>
            <p:nvPr/>
          </p:nvSpPr>
          <p:spPr>
            <a:xfrm>
              <a:off x="392393" y="2468988"/>
              <a:ext cx="2645101" cy="861774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NATO </a:t>
              </a:r>
              <a:r>
                <a:rPr lang="ko-KR" altLang="en-US" sz="1400" spc="-5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핵심 회원국 공급으로 신뢰성 확보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NATO 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표준 부합 실증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9FD3D1-61C9-4D0B-B3DE-D3D6E9FE1B52}"/>
                </a:ext>
              </a:extLst>
            </p:cNvPr>
            <p:cNvSpPr/>
            <p:nvPr/>
          </p:nvSpPr>
          <p:spPr>
            <a:xfrm>
              <a:off x="345046" y="2153241"/>
              <a:ext cx="2743200" cy="276022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03. </a:t>
              </a:r>
              <a:r>
                <a:rPr lang="ko-KR" altLang="en-US" sz="1400" dirty="0">
                  <a:latin typeface="프리젠테이션 8 ExtraBold" pitchFamily="2" charset="-127"/>
                  <a:ea typeface="프리젠테이션 8 ExtraBold" pitchFamily="2" charset="-127"/>
                </a:rPr>
                <a:t>신뢰성 입증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803563D-0606-4693-B42E-2D1DD8E56942}"/>
              </a:ext>
            </a:extLst>
          </p:cNvPr>
          <p:cNvGrpSpPr/>
          <p:nvPr/>
        </p:nvGrpSpPr>
        <p:grpSpPr>
          <a:xfrm>
            <a:off x="3217264" y="3780586"/>
            <a:ext cx="2743200" cy="1177521"/>
            <a:chOff x="3217264" y="2153241"/>
            <a:chExt cx="2743200" cy="117752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2B10F98-9A39-49CE-B927-991DAD1E975E}"/>
                </a:ext>
              </a:extLst>
            </p:cNvPr>
            <p:cNvSpPr/>
            <p:nvPr/>
          </p:nvSpPr>
          <p:spPr>
            <a:xfrm>
              <a:off x="3264611" y="2468988"/>
              <a:ext cx="2645101" cy="861774"/>
            </a:xfrm>
            <a:prstGeom prst="rect">
              <a:avLst/>
            </a:prstGeom>
            <a:noFill/>
            <a:ln w="104775">
              <a:gradFill flip="none" rotWithShape="1">
                <a:gsLst>
                  <a:gs pos="0">
                    <a:srgbClr val="004990">
                      <a:lumMod val="5000"/>
                      <a:lumOff val="95000"/>
                    </a:srgbClr>
                  </a:gs>
                  <a:gs pos="47000">
                    <a:srgbClr val="004990"/>
                  </a:gs>
                  <a:gs pos="83000">
                    <a:srgbClr val="004990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600"/>
                </a:spcAft>
              </a:pPr>
              <a:r>
                <a:rPr lang="ko-KR" altLang="en-US" sz="1400" spc="-5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체코</a:t>
              </a:r>
              <a:r>
                <a:rPr lang="en-US" altLang="ko-KR" sz="1400" spc="-5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, </a:t>
              </a:r>
              <a:r>
                <a:rPr lang="ko-KR" altLang="en-US" sz="1400" spc="-5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루마니아</a:t>
              </a:r>
              <a:r>
                <a:rPr lang="en-US" altLang="ko-KR" sz="1400" spc="-5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, </a:t>
              </a:r>
              <a:r>
                <a:rPr lang="ko-KR" altLang="en-US" sz="1400" spc="-5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슬로바키아 등 인접국가의</a:t>
              </a:r>
              <a:br>
                <a:rPr lang="en-US" altLang="ko-KR" sz="1400" spc="-5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한국산 무기 도입 검토 및 </a:t>
              </a:r>
              <a:r>
                <a:rPr lang="ko-KR" altLang="en-US" sz="1400" dirty="0" err="1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실구매</a:t>
              </a:r>
              <a:r>
                <a:rPr lang="ko-KR" altLang="en-US" sz="1400" dirty="0">
                  <a:solidFill>
                    <a:srgbClr val="373737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증가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C7E8A6A-C224-42AF-BDBF-07BBDC0DB8AA}"/>
                </a:ext>
              </a:extLst>
            </p:cNvPr>
            <p:cNvSpPr/>
            <p:nvPr/>
          </p:nvSpPr>
          <p:spPr>
            <a:xfrm>
              <a:off x="3217264" y="2153241"/>
              <a:ext cx="2743200" cy="276022"/>
            </a:xfrm>
            <a:prstGeom prst="rect">
              <a:avLst/>
            </a:prstGeom>
            <a:solidFill>
              <a:srgbClr val="3737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latin typeface="프리젠테이션 8 ExtraBold" pitchFamily="2" charset="-127"/>
                  <a:ea typeface="프리젠테이션 8 ExtraBold" pitchFamily="2" charset="-127"/>
                </a:rPr>
                <a:t>04. </a:t>
              </a:r>
              <a:r>
                <a:rPr lang="ko-KR" altLang="en-US" sz="1400" dirty="0">
                  <a:latin typeface="프리젠테이션 8 ExtraBold" pitchFamily="2" charset="-127"/>
                  <a:ea typeface="프리젠테이션 8 ExtraBold" pitchFamily="2" charset="-127"/>
                </a:rPr>
                <a:t>유럽시장 교두보 입지 구축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9AC272C-D037-467D-A857-0C2B354B1436}"/>
              </a:ext>
            </a:extLst>
          </p:cNvPr>
          <p:cNvSpPr/>
          <p:nvPr/>
        </p:nvSpPr>
        <p:spPr>
          <a:xfrm>
            <a:off x="334963" y="1595375"/>
            <a:ext cx="11522075" cy="718025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대한민국 방산산업은 폴란드 진출을 통해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사상 최대 규모의 수출 성과 달성</a:t>
            </a:r>
          </a:p>
          <a:p>
            <a:pPr algn="ctr">
              <a:lnSpc>
                <a:spcPct val="120000"/>
              </a:lnSpc>
            </a:pPr>
            <a:r>
              <a:rPr lang="en-US" altLang="ko-KR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2022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년 하반기에만 </a:t>
            </a:r>
            <a:r>
              <a:rPr lang="en-US" altLang="ko-KR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120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억 달러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 이상 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1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차 계약 체결 하고</a:t>
            </a:r>
            <a:r>
              <a:rPr lang="en-US" altLang="ko-KR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, 2024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년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한국 전체 방산 수출의 </a:t>
            </a:r>
            <a:r>
              <a:rPr lang="en-US" altLang="ko-KR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46%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가 폴란드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BE7CA79-E590-4ED0-AB49-1AC16182E68D}"/>
              </a:ext>
            </a:extLst>
          </p:cNvPr>
          <p:cNvSpPr>
            <a:spLocks/>
          </p:cNvSpPr>
          <p:nvPr/>
        </p:nvSpPr>
        <p:spPr>
          <a:xfrm>
            <a:off x="-731520" y="1165225"/>
            <a:ext cx="612000" cy="612000"/>
          </a:xfrm>
          <a:prstGeom prst="rect">
            <a:avLst/>
          </a:prstGeom>
          <a:solidFill>
            <a:srgbClr val="C3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70FC61C-4F00-4060-8349-6E55E1AA57E5}"/>
              </a:ext>
            </a:extLst>
          </p:cNvPr>
          <p:cNvSpPr>
            <a:spLocks/>
          </p:cNvSpPr>
          <p:nvPr/>
        </p:nvSpPr>
        <p:spPr>
          <a:xfrm>
            <a:off x="-731520" y="2071525"/>
            <a:ext cx="612000" cy="612000"/>
          </a:xfrm>
          <a:prstGeom prst="rect">
            <a:avLst/>
          </a:prstGeom>
          <a:solidFill>
            <a:srgbClr val="004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E8F5D3D-371D-4455-B0A7-471C174509B4}"/>
              </a:ext>
            </a:extLst>
          </p:cNvPr>
          <p:cNvSpPr>
            <a:spLocks/>
          </p:cNvSpPr>
          <p:nvPr/>
        </p:nvSpPr>
        <p:spPr>
          <a:xfrm>
            <a:off x="-731520" y="2977825"/>
            <a:ext cx="612000" cy="612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8B3652-9192-4AFD-ADCB-BA4B5829B82C}"/>
              </a:ext>
            </a:extLst>
          </p:cNvPr>
          <p:cNvSpPr>
            <a:spLocks/>
          </p:cNvSpPr>
          <p:nvPr/>
        </p:nvSpPr>
        <p:spPr>
          <a:xfrm>
            <a:off x="-731520" y="3884125"/>
            <a:ext cx="612000" cy="6120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5FC4024-346C-4BF1-8CBA-4D4966C8DCE5}"/>
              </a:ext>
            </a:extLst>
          </p:cNvPr>
          <p:cNvSpPr>
            <a:spLocks/>
          </p:cNvSpPr>
          <p:nvPr/>
        </p:nvSpPr>
        <p:spPr>
          <a:xfrm>
            <a:off x="-731520" y="4790425"/>
            <a:ext cx="612000" cy="612000"/>
          </a:xfrm>
          <a:prstGeom prst="rect">
            <a:avLst/>
          </a:prstGeom>
          <a:solidFill>
            <a:srgbClr val="FFC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38A44A5-FF2D-44DC-AF1D-AC5B13C99591}"/>
              </a:ext>
            </a:extLst>
          </p:cNvPr>
          <p:cNvSpPr>
            <a:spLocks/>
          </p:cNvSpPr>
          <p:nvPr/>
        </p:nvSpPr>
        <p:spPr>
          <a:xfrm>
            <a:off x="-731520" y="5696725"/>
            <a:ext cx="612000" cy="612000"/>
          </a:xfrm>
          <a:prstGeom prst="rect">
            <a:avLst/>
          </a:prstGeom>
          <a:solidFill>
            <a:srgbClr val="88B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D443212-A68B-43D8-B1AF-5AA743E8EA22}"/>
              </a:ext>
            </a:extLst>
          </p:cNvPr>
          <p:cNvSpPr>
            <a:spLocks/>
          </p:cNvSpPr>
          <p:nvPr/>
        </p:nvSpPr>
        <p:spPr>
          <a:xfrm>
            <a:off x="6254749" y="2760114"/>
            <a:ext cx="1822449" cy="2170661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36AF250-5FD4-41EE-B78A-860DF17643C6}"/>
              </a:ext>
            </a:extLst>
          </p:cNvPr>
          <p:cNvSpPr>
            <a:spLocks/>
          </p:cNvSpPr>
          <p:nvPr/>
        </p:nvSpPr>
        <p:spPr>
          <a:xfrm>
            <a:off x="8141932" y="2760114"/>
            <a:ext cx="1822449" cy="2170661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4E2D15C-097D-48B4-998C-5DD8C8CEB1FB}"/>
              </a:ext>
            </a:extLst>
          </p:cNvPr>
          <p:cNvSpPr>
            <a:spLocks/>
          </p:cNvSpPr>
          <p:nvPr/>
        </p:nvSpPr>
        <p:spPr>
          <a:xfrm>
            <a:off x="10032836" y="2760114"/>
            <a:ext cx="1822449" cy="2170661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BF13EF0-6332-4523-A070-38FBB9FF3BFA}"/>
              </a:ext>
            </a:extLst>
          </p:cNvPr>
          <p:cNvGrpSpPr/>
          <p:nvPr/>
        </p:nvGrpSpPr>
        <p:grpSpPr>
          <a:xfrm>
            <a:off x="6254749" y="2413369"/>
            <a:ext cx="1871501" cy="215444"/>
            <a:chOff x="338140" y="1566863"/>
            <a:chExt cx="1871501" cy="215444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814EF01-58C3-4CA5-8B65-36DA40A70F8E}"/>
                </a:ext>
              </a:extLst>
            </p:cNvPr>
            <p:cNvSpPr>
              <a:spLocks/>
            </p:cNvSpPr>
            <p:nvPr/>
          </p:nvSpPr>
          <p:spPr>
            <a:xfrm>
              <a:off x="338140" y="1593688"/>
              <a:ext cx="45719" cy="166215"/>
            </a:xfrm>
            <a:prstGeom prst="rect">
              <a:avLst/>
            </a:prstGeom>
            <a:solidFill>
              <a:srgbClr val="C312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ADE826-0404-47F2-81C9-C6BCE7303FE5}"/>
                </a:ext>
              </a:extLst>
            </p:cNvPr>
            <p:cNvSpPr txBox="1"/>
            <p:nvPr/>
          </p:nvSpPr>
          <p:spPr>
            <a:xfrm>
              <a:off x="420690" y="1566863"/>
              <a:ext cx="178895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폴란드</a:t>
              </a:r>
              <a:r>
                <a:rPr kumimoji="1" lang="en-US" altLang="ko-KR" sz="1400" b="1" dirty="0">
                  <a:latin typeface="Freesentation 7 Bold" pitchFamily="2" charset="-127"/>
                  <a:ea typeface="Freesentation 7 Bold" pitchFamily="2" charset="-127"/>
                </a:rPr>
                <a:t> 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주력수출 </a:t>
              </a:r>
              <a:r>
                <a:rPr kumimoji="1" lang="ko-KR" altLang="en-US" sz="1400" b="1" dirty="0" err="1">
                  <a:latin typeface="Freesentation 7 Bold" pitchFamily="2" charset="-127"/>
                  <a:ea typeface="Freesentation 7 Bold" pitchFamily="2" charset="-127"/>
                </a:rPr>
                <a:t>무기종</a:t>
              </a:r>
              <a:r>
                <a:rPr kumimoji="1" lang="ko-KR" altLang="en-US" sz="1400" b="1" dirty="0">
                  <a:latin typeface="Freesentation 7 Bold" pitchFamily="2" charset="-127"/>
                  <a:ea typeface="Freesentation 7 Bold" pitchFamily="2" charset="-127"/>
                </a:rPr>
                <a:t> 분석</a:t>
              </a:r>
            </a:p>
          </p:txBody>
        </p:sp>
      </p:grpSp>
      <p:pic>
        <p:nvPicPr>
          <p:cNvPr id="2052" name="Picture 4" descr="Full view">
            <a:extLst>
              <a:ext uri="{FF2B5EF4-FFF2-40B4-BE49-F238E27FC236}">
                <a16:creationId xmlns:a16="http://schemas.microsoft.com/office/drawing/2014/main" id="{56E45508-0F72-4555-A37D-D457ED2B1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49" y="2744923"/>
            <a:ext cx="1822448" cy="122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AA5A209B-2FB4-4B50-A1A6-193FC62E8576}"/>
              </a:ext>
            </a:extLst>
          </p:cNvPr>
          <p:cNvSpPr>
            <a:spLocks/>
          </p:cNvSpPr>
          <p:nvPr/>
        </p:nvSpPr>
        <p:spPr>
          <a:xfrm>
            <a:off x="6254749" y="2749469"/>
            <a:ext cx="1822449" cy="1219045"/>
          </a:xfrm>
          <a:prstGeom prst="rect">
            <a:avLst/>
          </a:prstGeom>
          <a:gradFill>
            <a:gsLst>
              <a:gs pos="0">
                <a:srgbClr val="373737"/>
              </a:gs>
              <a:gs pos="47000">
                <a:srgbClr val="373737">
                  <a:alpha val="0"/>
                </a:srgbClr>
              </a:gs>
              <a:gs pos="80000">
                <a:srgbClr val="373737">
                  <a:alpha val="50000"/>
                </a:srgbClr>
              </a:gs>
              <a:gs pos="3000">
                <a:srgbClr val="373737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82A1FC-395E-4790-A0E6-8879A0D7F7C9}"/>
              </a:ext>
            </a:extLst>
          </p:cNvPr>
          <p:cNvSpPr txBox="1"/>
          <p:nvPr/>
        </p:nvSpPr>
        <p:spPr>
          <a:xfrm>
            <a:off x="6676096" y="2749469"/>
            <a:ext cx="979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b="1" dirty="0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K2 ‘</a:t>
            </a:r>
            <a:r>
              <a:rPr kumimoji="1" lang="ko-KR" altLang="en-US" sz="1200" b="1" dirty="0" err="1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흑표</a:t>
            </a:r>
            <a:r>
              <a:rPr kumimoji="1" lang="en-US" altLang="ko-KR" sz="1200" b="1" dirty="0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’ </a:t>
            </a:r>
            <a:r>
              <a:rPr kumimoji="1" lang="ko-KR" altLang="en-US" sz="1200" b="1" dirty="0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전차</a:t>
            </a:r>
          </a:p>
        </p:txBody>
      </p:sp>
      <p:pic>
        <p:nvPicPr>
          <p:cNvPr id="2054" name="Picture 6" descr="Full view">
            <a:extLst>
              <a:ext uri="{FF2B5EF4-FFF2-40B4-BE49-F238E27FC236}">
                <a16:creationId xmlns:a16="http://schemas.microsoft.com/office/drawing/2014/main" id="{B42BE406-DC7D-4D22-BD1D-0096B5BFD2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" r="5461"/>
          <a:stretch/>
        </p:blipFill>
        <p:spPr bwMode="auto">
          <a:xfrm>
            <a:off x="8141932" y="2749469"/>
            <a:ext cx="1822449" cy="121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EACECE15-6D17-48CB-8093-63E75AAB9D43}"/>
              </a:ext>
            </a:extLst>
          </p:cNvPr>
          <p:cNvSpPr>
            <a:spLocks/>
          </p:cNvSpPr>
          <p:nvPr/>
        </p:nvSpPr>
        <p:spPr>
          <a:xfrm>
            <a:off x="8141932" y="2749469"/>
            <a:ext cx="1822449" cy="1219045"/>
          </a:xfrm>
          <a:prstGeom prst="rect">
            <a:avLst/>
          </a:prstGeom>
          <a:gradFill>
            <a:gsLst>
              <a:gs pos="0">
                <a:srgbClr val="373737"/>
              </a:gs>
              <a:gs pos="47000">
                <a:srgbClr val="373737">
                  <a:alpha val="0"/>
                </a:srgbClr>
              </a:gs>
              <a:gs pos="80000">
                <a:srgbClr val="373737">
                  <a:alpha val="50000"/>
                </a:srgbClr>
              </a:gs>
              <a:gs pos="3000">
                <a:srgbClr val="373737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ABB272-1B45-4710-A27A-7033A5175C24}"/>
              </a:ext>
            </a:extLst>
          </p:cNvPr>
          <p:cNvSpPr txBox="1"/>
          <p:nvPr/>
        </p:nvSpPr>
        <p:spPr>
          <a:xfrm>
            <a:off x="8677091" y="2749469"/>
            <a:ext cx="752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b="1" dirty="0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K9 </a:t>
            </a:r>
            <a:r>
              <a:rPr kumimoji="1" lang="ko-KR" altLang="en-US" sz="1200" b="1" dirty="0" err="1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자주포</a:t>
            </a:r>
            <a:endParaRPr kumimoji="1" lang="ko-KR" altLang="en-US" sz="1200" b="1" dirty="0">
              <a:solidFill>
                <a:srgbClr val="F1F1F1"/>
              </a:solidFill>
              <a:effectLst>
                <a:glow rad="88900">
                  <a:schemeClr val="tx1"/>
                </a:glow>
              </a:effectLst>
              <a:latin typeface="Freesentation 7 Bold" pitchFamily="2" charset="-127"/>
              <a:ea typeface="Freesentation 7 Bold" pitchFamily="2" charset="-127"/>
            </a:endParaRPr>
          </a:p>
        </p:txBody>
      </p:sp>
      <p:pic>
        <p:nvPicPr>
          <p:cNvPr id="2056" name="Picture 8" descr="Full view">
            <a:extLst>
              <a:ext uri="{FF2B5EF4-FFF2-40B4-BE49-F238E27FC236}">
                <a16:creationId xmlns:a16="http://schemas.microsoft.com/office/drawing/2014/main" id="{9A95416B-A4BC-40B3-A0DF-08C73E445B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51"/>
          <a:stretch/>
        </p:blipFill>
        <p:spPr bwMode="auto">
          <a:xfrm>
            <a:off x="10035779" y="2749469"/>
            <a:ext cx="1816563" cy="120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A21463AE-0978-4AA1-862A-94D5A1C03177}"/>
              </a:ext>
            </a:extLst>
          </p:cNvPr>
          <p:cNvSpPr>
            <a:spLocks/>
          </p:cNvSpPr>
          <p:nvPr/>
        </p:nvSpPr>
        <p:spPr>
          <a:xfrm>
            <a:off x="10032836" y="2749469"/>
            <a:ext cx="1822449" cy="1219045"/>
          </a:xfrm>
          <a:prstGeom prst="rect">
            <a:avLst/>
          </a:prstGeom>
          <a:gradFill>
            <a:gsLst>
              <a:gs pos="0">
                <a:srgbClr val="373737"/>
              </a:gs>
              <a:gs pos="47000">
                <a:srgbClr val="373737">
                  <a:alpha val="0"/>
                </a:srgbClr>
              </a:gs>
              <a:gs pos="80000">
                <a:srgbClr val="373737">
                  <a:alpha val="50000"/>
                </a:srgbClr>
              </a:gs>
              <a:gs pos="3000">
                <a:srgbClr val="373737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Freesentation 5 Medium" pitchFamily="2" charset="-127"/>
              <a:ea typeface="Freesentation 5 Medium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E40A9C-1AFE-4C04-B18D-B7D090DB8814}"/>
              </a:ext>
            </a:extLst>
          </p:cNvPr>
          <p:cNvSpPr txBox="1"/>
          <p:nvPr/>
        </p:nvSpPr>
        <p:spPr>
          <a:xfrm>
            <a:off x="10399359" y="2749469"/>
            <a:ext cx="1089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b="1" dirty="0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FA-50 </a:t>
            </a:r>
            <a:r>
              <a:rPr kumimoji="1" lang="ko-KR" altLang="en-US" sz="1200" b="1" dirty="0">
                <a:solidFill>
                  <a:srgbClr val="F1F1F1"/>
                </a:solidFill>
                <a:effectLst>
                  <a:glow rad="88900">
                    <a:schemeClr val="tx1"/>
                  </a:glow>
                </a:effectLst>
                <a:latin typeface="Freesentation 7 Bold" pitchFamily="2" charset="-127"/>
                <a:ea typeface="Freesentation 7 Bold" pitchFamily="2" charset="-127"/>
              </a:rPr>
              <a:t>경공격기</a:t>
            </a:r>
          </a:p>
        </p:txBody>
      </p:sp>
      <p:graphicFrame>
        <p:nvGraphicFramePr>
          <p:cNvPr id="41" name="표 55">
            <a:extLst>
              <a:ext uri="{FF2B5EF4-FFF2-40B4-BE49-F238E27FC236}">
                <a16:creationId xmlns:a16="http://schemas.microsoft.com/office/drawing/2014/main" id="{CBE32758-8544-45A1-9290-86B397472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26818"/>
              </p:ext>
            </p:extLst>
          </p:nvPr>
        </p:nvGraphicFramePr>
        <p:xfrm>
          <a:off x="6298578" y="3989085"/>
          <a:ext cx="173479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781">
                  <a:extLst>
                    <a:ext uri="{9D8B030D-6E8A-4147-A177-3AD203B41FA5}">
                      <a16:colId xmlns:a16="http://schemas.microsoft.com/office/drawing/2014/main" val="1416453449"/>
                    </a:ext>
                  </a:extLst>
                </a:gridCol>
                <a:gridCol w="934010">
                  <a:extLst>
                    <a:ext uri="{9D8B030D-6E8A-4147-A177-3AD203B41FA5}">
                      <a16:colId xmlns:a16="http://schemas.microsoft.com/office/drawing/2014/main" val="1046447685"/>
                    </a:ext>
                  </a:extLst>
                </a:gridCol>
              </a:tblGrid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계약 수량</a:t>
                      </a:r>
                      <a:r>
                        <a:rPr lang="en-US" altLang="ko-KR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규모</a:t>
                      </a:r>
                      <a:r>
                        <a:rPr lang="en-US" altLang="ko-KR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)</a:t>
                      </a:r>
                      <a:endParaRPr lang="ko-KR" altLang="en-US" sz="1200" b="0" kern="1200" spc="-50" baseline="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980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16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조 원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)</a:t>
                      </a:r>
                      <a:endParaRPr lang="ko-KR" altLang="en-US" sz="1200" b="1" kern="1200" spc="-80" baseline="0" dirty="0">
                        <a:solidFill>
                          <a:srgbClr val="FFC606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700791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길이</a:t>
                      </a:r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중량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10.8m/55t</a:t>
                      </a:r>
                      <a:endParaRPr lang="ko-KR" altLang="en-US" sz="1200" b="0" kern="120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386837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최대속도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시속 </a:t>
                      </a:r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70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㎞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414425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무장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120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㎜ </a:t>
                      </a:r>
                      <a:r>
                        <a:rPr lang="ko-KR" altLang="en-US" sz="1200" b="0" kern="1200" dirty="0" err="1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활강포</a:t>
                      </a:r>
                      <a:endParaRPr lang="en-US" altLang="ko-KR" sz="1200" b="0" kern="120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kern="1200" spc="-8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12.7</a:t>
                      </a:r>
                      <a:r>
                        <a:rPr lang="ko-KR" altLang="en-US" sz="1200" b="0" kern="1200" spc="-8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㎜ 기관총 등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110440"/>
                  </a:ext>
                </a:extLst>
              </a:tr>
            </a:tbl>
          </a:graphicData>
        </a:graphic>
      </p:graphicFrame>
      <p:graphicFrame>
        <p:nvGraphicFramePr>
          <p:cNvPr id="63" name="표 55">
            <a:extLst>
              <a:ext uri="{FF2B5EF4-FFF2-40B4-BE49-F238E27FC236}">
                <a16:creationId xmlns:a16="http://schemas.microsoft.com/office/drawing/2014/main" id="{93682FD1-F8D5-4EE2-9C20-CC09DF96C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262700"/>
              </p:ext>
            </p:extLst>
          </p:nvPr>
        </p:nvGraphicFramePr>
        <p:xfrm>
          <a:off x="8185761" y="3989085"/>
          <a:ext cx="173479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781">
                  <a:extLst>
                    <a:ext uri="{9D8B030D-6E8A-4147-A177-3AD203B41FA5}">
                      <a16:colId xmlns:a16="http://schemas.microsoft.com/office/drawing/2014/main" val="1416453449"/>
                    </a:ext>
                  </a:extLst>
                </a:gridCol>
                <a:gridCol w="934010">
                  <a:extLst>
                    <a:ext uri="{9D8B030D-6E8A-4147-A177-3AD203B41FA5}">
                      <a16:colId xmlns:a16="http://schemas.microsoft.com/office/drawing/2014/main" val="1046447685"/>
                    </a:ext>
                  </a:extLst>
                </a:gridCol>
              </a:tblGrid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계약 수량</a:t>
                      </a:r>
                      <a:r>
                        <a:rPr lang="en-US" altLang="ko-KR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규모</a:t>
                      </a:r>
                      <a:r>
                        <a:rPr lang="en-US" altLang="ko-KR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)</a:t>
                      </a:r>
                      <a:endParaRPr lang="ko-KR" altLang="en-US" sz="1200" b="0" kern="1200" spc="-50" baseline="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672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문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4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조 원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)</a:t>
                      </a:r>
                      <a:endParaRPr lang="ko-KR" altLang="en-US" sz="1200" b="1" kern="1200" spc="-80" baseline="0" dirty="0">
                        <a:solidFill>
                          <a:srgbClr val="FFC606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700791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길이</a:t>
                      </a:r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중량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12m/47t</a:t>
                      </a:r>
                      <a:endParaRPr lang="ko-KR" altLang="en-US" sz="1200" b="0" kern="120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386837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최대속도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시속 </a:t>
                      </a:r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60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㎞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414425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무장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155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㎜ 곡사포</a:t>
                      </a:r>
                      <a:endParaRPr lang="en-US" altLang="ko-KR" sz="1200" b="0" kern="120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kern="1200" spc="-8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12.7</a:t>
                      </a:r>
                      <a:r>
                        <a:rPr lang="ko-KR" altLang="en-US" sz="1200" b="0" kern="1200" spc="-8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㎜ 기관총 등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110440"/>
                  </a:ext>
                </a:extLst>
              </a:tr>
            </a:tbl>
          </a:graphicData>
        </a:graphic>
      </p:graphicFrame>
      <p:graphicFrame>
        <p:nvGraphicFramePr>
          <p:cNvPr id="64" name="표 55">
            <a:extLst>
              <a:ext uri="{FF2B5EF4-FFF2-40B4-BE49-F238E27FC236}">
                <a16:creationId xmlns:a16="http://schemas.microsoft.com/office/drawing/2014/main" id="{991EA166-2BA1-4E86-B6A0-0C7A76089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35076"/>
              </p:ext>
            </p:extLst>
          </p:nvPr>
        </p:nvGraphicFramePr>
        <p:xfrm>
          <a:off x="10076665" y="3989085"/>
          <a:ext cx="173479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781">
                  <a:extLst>
                    <a:ext uri="{9D8B030D-6E8A-4147-A177-3AD203B41FA5}">
                      <a16:colId xmlns:a16="http://schemas.microsoft.com/office/drawing/2014/main" val="1416453449"/>
                    </a:ext>
                  </a:extLst>
                </a:gridCol>
                <a:gridCol w="934010">
                  <a:extLst>
                    <a:ext uri="{9D8B030D-6E8A-4147-A177-3AD203B41FA5}">
                      <a16:colId xmlns:a16="http://schemas.microsoft.com/office/drawing/2014/main" val="1046447685"/>
                    </a:ext>
                  </a:extLst>
                </a:gridCol>
              </a:tblGrid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계약 수량</a:t>
                      </a:r>
                      <a:r>
                        <a:rPr lang="en-US" altLang="ko-KR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규모</a:t>
                      </a:r>
                      <a:r>
                        <a:rPr lang="en-US" altLang="ko-KR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)</a:t>
                      </a:r>
                      <a:endParaRPr lang="ko-KR" altLang="en-US" sz="1200" b="0" kern="1200" spc="-50" baseline="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48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3</a:t>
                      </a:r>
                      <a:r>
                        <a:rPr lang="ko-KR" altLang="en-US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조 원</a:t>
                      </a:r>
                      <a:r>
                        <a:rPr lang="en-US" altLang="ko-KR" sz="1200" b="1" kern="1200" spc="-80" baseline="0" dirty="0">
                          <a:solidFill>
                            <a:srgbClr val="FFC606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)</a:t>
                      </a:r>
                      <a:endParaRPr lang="ko-KR" altLang="en-US" sz="1200" b="1" kern="1200" spc="-80" baseline="0" dirty="0">
                        <a:solidFill>
                          <a:srgbClr val="FFC606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700791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길이</a:t>
                      </a:r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중량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13.1m/6t</a:t>
                      </a:r>
                      <a:endParaRPr lang="ko-KR" altLang="en-US" sz="1200" b="0" kern="120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386837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최대속도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마하 </a:t>
                      </a:r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1.5</a:t>
                      </a:r>
                      <a:endParaRPr lang="ko-KR" altLang="en-US" sz="1200" b="0" kern="1200" dirty="0">
                        <a:solidFill>
                          <a:srgbClr val="F1F1F1"/>
                        </a:solidFill>
                        <a:latin typeface="프리젠테이션 3 Light" pitchFamily="2" charset="-127"/>
                        <a:ea typeface="프리젠테이션 3 Light" pitchFamily="2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414425"/>
                  </a:ext>
                </a:extLst>
              </a:tr>
              <a:tr h="1660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무장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공대공</a:t>
                      </a:r>
                      <a: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공대지</a:t>
                      </a:r>
                      <a:br>
                        <a:rPr lang="en-US" altLang="ko-KR" sz="1200" b="0" kern="120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</a:br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미사일</a:t>
                      </a:r>
                      <a:r>
                        <a:rPr lang="en-US" altLang="ko-KR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, JDAM </a:t>
                      </a:r>
                      <a:r>
                        <a:rPr lang="ko-KR" altLang="en-US" sz="1200" b="0" kern="1200" spc="-50" baseline="0" dirty="0">
                          <a:solidFill>
                            <a:srgbClr val="F1F1F1"/>
                          </a:solidFill>
                          <a:latin typeface="프리젠테이션 3 Light" pitchFamily="2" charset="-127"/>
                          <a:ea typeface="프리젠테이션 3 Light" pitchFamily="2" charset="-127"/>
                          <a:cs typeface="+mn-cs"/>
                        </a:rPr>
                        <a:t>등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110440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10ABFD1C-F905-4702-9F72-4B11737EC1A8}"/>
              </a:ext>
            </a:extLst>
          </p:cNvPr>
          <p:cNvSpPr txBox="1"/>
          <p:nvPr/>
        </p:nvSpPr>
        <p:spPr>
          <a:xfrm>
            <a:off x="9010650" y="2392935"/>
            <a:ext cx="28498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Freesentation 7 Bold" pitchFamily="2" charset="-127"/>
                <a:ea typeface="Freesentation 7 Bold" pitchFamily="2" charset="-127"/>
              </a:rPr>
              <a:t>2022</a:t>
            </a:r>
            <a:r>
              <a:rPr lang="ko-KR" altLang="en-US" sz="1200" dirty="0">
                <a:latin typeface="Freesentation 7 Bold" pitchFamily="2" charset="-127"/>
                <a:ea typeface="Freesentation 7 Bold" pitchFamily="2" charset="-127"/>
              </a:rPr>
              <a:t>년</a:t>
            </a:r>
            <a:r>
              <a:rPr lang="en-US" altLang="ko-KR" sz="1200" dirty="0">
                <a:latin typeface="Freesentation 7 Bold" pitchFamily="2" charset="-127"/>
                <a:ea typeface="Freesentation 7 Bold" pitchFamily="2" charset="-127"/>
              </a:rPr>
              <a:t>~2024</a:t>
            </a:r>
            <a:r>
              <a:rPr lang="ko-KR" altLang="en-US" sz="1200" dirty="0">
                <a:latin typeface="Freesentation 7 Bold" pitchFamily="2" charset="-127"/>
                <a:ea typeface="Freesentation 7 Bold" pitchFamily="2" charset="-127"/>
              </a:rPr>
              <a:t>년 </a:t>
            </a:r>
            <a:r>
              <a:rPr lang="en-US" altLang="ko-KR" sz="1200" dirty="0">
                <a:solidFill>
                  <a:srgbClr val="C31236"/>
                </a:solidFill>
                <a:latin typeface="Freesentation 7 Bold" pitchFamily="2" charset="-127"/>
                <a:ea typeface="Freesentation 7 Bold" pitchFamily="2" charset="-127"/>
              </a:rPr>
              <a:t>3</a:t>
            </a:r>
            <a:r>
              <a:rPr lang="ko-KR" altLang="en-US" sz="1200" dirty="0">
                <a:solidFill>
                  <a:srgbClr val="C31236"/>
                </a:solidFill>
                <a:latin typeface="Freesentation 7 Bold" pitchFamily="2" charset="-127"/>
                <a:ea typeface="Freesentation 7 Bold" pitchFamily="2" charset="-127"/>
              </a:rPr>
              <a:t>년간 총 계약 규모 약 </a:t>
            </a:r>
            <a:r>
              <a:rPr lang="en-US" altLang="ko-KR" sz="1200" dirty="0">
                <a:solidFill>
                  <a:srgbClr val="C31236"/>
                </a:solidFill>
                <a:latin typeface="Freesentation 7 Bold" pitchFamily="2" charset="-127"/>
                <a:ea typeface="Freesentation 7 Bold" pitchFamily="2" charset="-127"/>
              </a:rPr>
              <a:t>22</a:t>
            </a:r>
            <a:r>
              <a:rPr lang="ko-KR" altLang="en-US" sz="1200" dirty="0">
                <a:solidFill>
                  <a:srgbClr val="C31236"/>
                </a:solidFill>
                <a:latin typeface="Freesentation 7 Bold" pitchFamily="2" charset="-127"/>
                <a:ea typeface="Freesentation 7 Bold" pitchFamily="2" charset="-127"/>
              </a:rPr>
              <a:t>조원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9857A67-C0AA-472A-B4AE-6416B0171121}"/>
              </a:ext>
            </a:extLst>
          </p:cNvPr>
          <p:cNvGrpSpPr/>
          <p:nvPr/>
        </p:nvGrpSpPr>
        <p:grpSpPr>
          <a:xfrm>
            <a:off x="334963" y="5045473"/>
            <a:ext cx="11525564" cy="1181399"/>
            <a:chOff x="334963" y="4959748"/>
            <a:chExt cx="11525564" cy="1181399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50F739DE-864D-4FF2-AB2E-21C81ECD459D}"/>
                </a:ext>
              </a:extLst>
            </p:cNvPr>
            <p:cNvSpPr>
              <a:spLocks/>
            </p:cNvSpPr>
            <p:nvPr/>
          </p:nvSpPr>
          <p:spPr>
            <a:xfrm>
              <a:off x="334963" y="5417221"/>
              <a:ext cx="11525564" cy="251795"/>
            </a:xfrm>
            <a:prstGeom prst="rect">
              <a:avLst/>
            </a:prstGeom>
            <a:gradFill>
              <a:gsLst>
                <a:gs pos="0">
                  <a:srgbClr val="373737"/>
                </a:gs>
                <a:gs pos="47000">
                  <a:srgbClr val="373737">
                    <a:alpha val="60000"/>
                  </a:srgbClr>
                </a:gs>
                <a:gs pos="80000">
                  <a:srgbClr val="373737">
                    <a:alpha val="20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972CA366-332E-4903-9AC6-A8CBF4D805C6}"/>
                </a:ext>
              </a:extLst>
            </p:cNvPr>
            <p:cNvCxnSpPr>
              <a:stCxn id="56" idx="0"/>
            </p:cNvCxnSpPr>
            <p:nvPr/>
          </p:nvCxnSpPr>
          <p:spPr>
            <a:xfrm flipV="1">
              <a:off x="1933705" y="5096425"/>
              <a:ext cx="0" cy="375862"/>
            </a:xfrm>
            <a:prstGeom prst="line">
              <a:avLst/>
            </a:prstGeom>
            <a:ln w="19050">
              <a:solidFill>
                <a:srgbClr val="37373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DBC73619-D72B-4EC3-86DC-B3089C9A2A27}"/>
                </a:ext>
              </a:extLst>
            </p:cNvPr>
            <p:cNvCxnSpPr>
              <a:cxnSpLocks/>
              <a:stCxn id="67" idx="1"/>
              <a:endCxn id="67" idx="3"/>
            </p:cNvCxnSpPr>
            <p:nvPr/>
          </p:nvCxnSpPr>
          <p:spPr>
            <a:xfrm>
              <a:off x="334963" y="5543119"/>
              <a:ext cx="11525564" cy="0"/>
            </a:xfrm>
            <a:prstGeom prst="line">
              <a:avLst/>
            </a:prstGeom>
            <a:ln w="25400">
              <a:solidFill>
                <a:srgbClr val="F1F1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06EC32D6-ED82-437E-BF98-23F8909BDEFA}"/>
                </a:ext>
              </a:extLst>
            </p:cNvPr>
            <p:cNvSpPr/>
            <p:nvPr/>
          </p:nvSpPr>
          <p:spPr>
            <a:xfrm>
              <a:off x="1865688" y="5472287"/>
              <a:ext cx="136034" cy="136034"/>
            </a:xfrm>
            <a:prstGeom prst="ellipse">
              <a:avLst/>
            </a:prstGeom>
            <a:noFill/>
            <a:ln>
              <a:solidFill>
                <a:srgbClr val="37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3728BEA0-EC4B-4594-B59A-810E6F08FA8C}"/>
                </a:ext>
              </a:extLst>
            </p:cNvPr>
            <p:cNvSpPr/>
            <p:nvPr/>
          </p:nvSpPr>
          <p:spPr>
            <a:xfrm>
              <a:off x="4656023" y="5472287"/>
              <a:ext cx="136034" cy="136034"/>
            </a:xfrm>
            <a:prstGeom prst="ellipse">
              <a:avLst/>
            </a:prstGeom>
            <a:noFill/>
            <a:ln>
              <a:solidFill>
                <a:srgbClr val="37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BE9A066-1CD3-420E-86A3-48995642E52B}"/>
                </a:ext>
              </a:extLst>
            </p:cNvPr>
            <p:cNvSpPr/>
            <p:nvPr/>
          </p:nvSpPr>
          <p:spPr>
            <a:xfrm>
              <a:off x="7446358" y="5472287"/>
              <a:ext cx="136034" cy="136034"/>
            </a:xfrm>
            <a:prstGeom prst="ellipse">
              <a:avLst/>
            </a:prstGeom>
            <a:noFill/>
            <a:ln>
              <a:solidFill>
                <a:srgbClr val="F1F1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EC681058-2C37-4CDB-9B17-72416492D116}"/>
                </a:ext>
              </a:extLst>
            </p:cNvPr>
            <p:cNvSpPr/>
            <p:nvPr/>
          </p:nvSpPr>
          <p:spPr>
            <a:xfrm>
              <a:off x="10236692" y="5472287"/>
              <a:ext cx="136034" cy="136034"/>
            </a:xfrm>
            <a:prstGeom prst="ellipse">
              <a:avLst/>
            </a:prstGeom>
            <a:noFill/>
            <a:ln>
              <a:solidFill>
                <a:srgbClr val="F1F1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4193CED6-A2A5-4FEE-84A9-FAFB614D4B2E}"/>
                </a:ext>
              </a:extLst>
            </p:cNvPr>
            <p:cNvGrpSpPr/>
            <p:nvPr/>
          </p:nvGrpSpPr>
          <p:grpSpPr>
            <a:xfrm>
              <a:off x="1899476" y="4959748"/>
              <a:ext cx="1625766" cy="424061"/>
              <a:chOff x="1899476" y="4959748"/>
              <a:chExt cx="1625766" cy="424061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AB91C07-2935-4239-A0A0-BC7231FCF2CE}"/>
                  </a:ext>
                </a:extLst>
              </p:cNvPr>
              <p:cNvSpPr txBox="1"/>
              <p:nvPr/>
            </p:nvSpPr>
            <p:spPr>
              <a:xfrm>
                <a:off x="1899476" y="4959748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>
                    <a:latin typeface="Freesentation 7 Bold" pitchFamily="2" charset="-127"/>
                    <a:ea typeface="Freesentation 7 Bold" pitchFamily="2" charset="-127"/>
                  </a:rPr>
                  <a:t>2013</a:t>
                </a:r>
                <a:endParaRPr lang="ko-KR" altLang="en-US" sz="1200" b="1" dirty="0">
                  <a:latin typeface="Freesentation 7 Bold" pitchFamily="2" charset="-127"/>
                  <a:ea typeface="Freesentation 7 Bold" pitchFamily="2" charset="-127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5A3CD29-97BE-4BC4-93BF-3068364AD851}"/>
                  </a:ext>
                </a:extLst>
              </p:cNvPr>
              <p:cNvSpPr txBox="1"/>
              <p:nvPr/>
            </p:nvSpPr>
            <p:spPr>
              <a:xfrm>
                <a:off x="1899476" y="5129893"/>
                <a:ext cx="162576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dirty="0">
                    <a:latin typeface="프리젠테이션 4 Regular" pitchFamily="2" charset="-127"/>
                    <a:ea typeface="프리젠테이션 4 Regular" pitchFamily="2" charset="-127"/>
                  </a:rPr>
                  <a:t>한</a:t>
                </a:r>
                <a:r>
                  <a:rPr lang="en-US" altLang="ko-KR" sz="1050" dirty="0">
                    <a:latin typeface="프리젠테이션 4 Regular" pitchFamily="2" charset="-127"/>
                    <a:ea typeface="프리젠테이션 4 Regular" pitchFamily="2" charset="-127"/>
                  </a:rPr>
                  <a:t>-</a:t>
                </a:r>
                <a:r>
                  <a:rPr lang="ko-KR" altLang="en-US" sz="1050" dirty="0">
                    <a:latin typeface="프리젠테이션 4 Regular" pitchFamily="2" charset="-127"/>
                    <a:ea typeface="프리젠테이션 4 Regular" pitchFamily="2" charset="-127"/>
                  </a:rPr>
                  <a:t>폴란드 전략적 동반관계 수립</a:t>
                </a:r>
              </a:p>
            </p:txBody>
          </p:sp>
        </p:grp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30D39AF2-4683-41C2-BFBB-670EF628C30C}"/>
                </a:ext>
              </a:extLst>
            </p:cNvPr>
            <p:cNvCxnSpPr/>
            <p:nvPr/>
          </p:nvCxnSpPr>
          <p:spPr>
            <a:xfrm flipV="1">
              <a:off x="7507423" y="5096425"/>
              <a:ext cx="0" cy="375862"/>
            </a:xfrm>
            <a:prstGeom prst="line">
              <a:avLst/>
            </a:prstGeom>
            <a:ln w="19050">
              <a:solidFill>
                <a:srgbClr val="37373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29EA16D9-8E58-44C6-8E9C-1F8D4031FD94}"/>
                </a:ext>
              </a:extLst>
            </p:cNvPr>
            <p:cNvGrpSpPr/>
            <p:nvPr/>
          </p:nvGrpSpPr>
          <p:grpSpPr>
            <a:xfrm>
              <a:off x="7473194" y="4959748"/>
              <a:ext cx="1499128" cy="424061"/>
              <a:chOff x="1899476" y="4959748"/>
              <a:chExt cx="1499128" cy="424061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2F12D53-A60D-4090-B276-C19412EDBBAE}"/>
                  </a:ext>
                </a:extLst>
              </p:cNvPr>
              <p:cNvSpPr txBox="1"/>
              <p:nvPr/>
            </p:nvSpPr>
            <p:spPr>
              <a:xfrm>
                <a:off x="1899476" y="4959748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>
                    <a:latin typeface="Freesentation 7 Bold" pitchFamily="2" charset="-127"/>
                    <a:ea typeface="Freesentation 7 Bold" pitchFamily="2" charset="-127"/>
                  </a:rPr>
                  <a:t>2023</a:t>
                </a:r>
                <a:endParaRPr lang="ko-KR" altLang="en-US" sz="1200" b="1" dirty="0">
                  <a:latin typeface="Freesentation 7 Bold" pitchFamily="2" charset="-127"/>
                  <a:ea typeface="Freesentation 7 Bold" pitchFamily="2" charset="-127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491B869-7379-4BB4-A00D-F5E3D22AAC0D}"/>
                  </a:ext>
                </a:extLst>
              </p:cNvPr>
              <p:cNvSpPr txBox="1"/>
              <p:nvPr/>
            </p:nvSpPr>
            <p:spPr>
              <a:xfrm>
                <a:off x="1899476" y="5129893"/>
                <a:ext cx="149912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dirty="0" err="1">
                    <a:latin typeface="프리젠테이션 4 Regular" pitchFamily="2" charset="-127"/>
                    <a:ea typeface="프리젠테이션 4 Regular" pitchFamily="2" charset="-127"/>
                  </a:rPr>
                  <a:t>윤석열</a:t>
                </a:r>
                <a:r>
                  <a:rPr lang="ko-KR" altLang="en-US" sz="1050" dirty="0">
                    <a:latin typeface="프리젠테이션 4 Regular" pitchFamily="2" charset="-127"/>
                    <a:ea typeface="프리젠테이션 4 Regular" pitchFamily="2" charset="-127"/>
                  </a:rPr>
                  <a:t> 전 대통령 폴란드 방문</a:t>
                </a:r>
              </a:p>
            </p:txBody>
          </p:sp>
        </p:grp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2A97A9EE-E487-4F22-B720-712B61E70795}"/>
                </a:ext>
              </a:extLst>
            </p:cNvPr>
            <p:cNvCxnSpPr>
              <a:cxnSpLocks/>
              <a:stCxn id="71" idx="4"/>
            </p:cNvCxnSpPr>
            <p:nvPr/>
          </p:nvCxnSpPr>
          <p:spPr>
            <a:xfrm>
              <a:off x="10304709" y="5608321"/>
              <a:ext cx="0" cy="241200"/>
            </a:xfrm>
            <a:prstGeom prst="line">
              <a:avLst/>
            </a:prstGeom>
            <a:ln w="19050">
              <a:gradFill>
                <a:gsLst>
                  <a:gs pos="0">
                    <a:srgbClr val="F1F1F1"/>
                  </a:gs>
                  <a:gs pos="74000">
                    <a:srgbClr val="373737"/>
                  </a:gs>
                  <a:gs pos="83000">
                    <a:srgbClr val="373737"/>
                  </a:gs>
                  <a:gs pos="100000">
                    <a:srgbClr val="373737"/>
                  </a:gs>
                </a:gsLst>
                <a:lin ang="5400000" scaled="1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ACDA83DF-ADDB-44FD-AD32-36CEB68A5B28}"/>
                </a:ext>
              </a:extLst>
            </p:cNvPr>
            <p:cNvGrpSpPr/>
            <p:nvPr/>
          </p:nvGrpSpPr>
          <p:grpSpPr>
            <a:xfrm>
              <a:off x="10271094" y="5717086"/>
              <a:ext cx="1499128" cy="424061"/>
              <a:chOff x="1899476" y="4959748"/>
              <a:chExt cx="1499128" cy="424061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BBF8C2B-35E7-462C-934E-4B78A680BDA5}"/>
                  </a:ext>
                </a:extLst>
              </p:cNvPr>
              <p:cNvSpPr txBox="1"/>
              <p:nvPr/>
            </p:nvSpPr>
            <p:spPr>
              <a:xfrm>
                <a:off x="1899476" y="4959748"/>
                <a:ext cx="81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>
                    <a:latin typeface="Freesentation 7 Bold" pitchFamily="2" charset="-127"/>
                    <a:ea typeface="Freesentation 7 Bold" pitchFamily="2" charset="-127"/>
                  </a:rPr>
                  <a:t>2024. 10.</a:t>
                </a:r>
                <a:endParaRPr lang="ko-KR" altLang="en-US" sz="1200" b="1" dirty="0">
                  <a:latin typeface="Freesentation 7 Bold" pitchFamily="2" charset="-127"/>
                  <a:ea typeface="Freesentation 7 Bold" pitchFamily="2" charset="-127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49ED9F8-236F-46FD-B938-2577D93314C8}"/>
                  </a:ext>
                </a:extLst>
              </p:cNvPr>
              <p:cNvSpPr txBox="1"/>
              <p:nvPr/>
            </p:nvSpPr>
            <p:spPr>
              <a:xfrm>
                <a:off x="1899476" y="5129893"/>
                <a:ext cx="149912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dirty="0" err="1">
                    <a:latin typeface="프리젠테이션 4 Regular" pitchFamily="2" charset="-127"/>
                    <a:ea typeface="프리젠테이션 4 Regular" pitchFamily="2" charset="-127"/>
                  </a:rPr>
                  <a:t>안제이</a:t>
                </a:r>
                <a:r>
                  <a:rPr lang="ko-KR" altLang="en-US" sz="1050" dirty="0">
                    <a:latin typeface="프리젠테이션 4 Regular" pitchFamily="2" charset="-127"/>
                    <a:ea typeface="프리젠테이션 4 Regular" pitchFamily="2" charset="-127"/>
                  </a:rPr>
                  <a:t> 두다 대통령 한국 방문</a:t>
                </a:r>
              </a:p>
            </p:txBody>
          </p:sp>
        </p:grp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7964ABE-292D-4080-A2FC-21679822CB79}"/>
                </a:ext>
              </a:extLst>
            </p:cNvPr>
            <p:cNvCxnSpPr>
              <a:cxnSpLocks/>
            </p:cNvCxnSpPr>
            <p:nvPr/>
          </p:nvCxnSpPr>
          <p:spPr>
            <a:xfrm>
              <a:off x="4724166" y="5608321"/>
              <a:ext cx="0" cy="241200"/>
            </a:xfrm>
            <a:prstGeom prst="line">
              <a:avLst/>
            </a:prstGeom>
            <a:ln w="19050">
              <a:gradFill>
                <a:gsLst>
                  <a:gs pos="0">
                    <a:srgbClr val="F1F1F1"/>
                  </a:gs>
                  <a:gs pos="74000">
                    <a:srgbClr val="373737"/>
                  </a:gs>
                  <a:gs pos="83000">
                    <a:srgbClr val="373737"/>
                  </a:gs>
                  <a:gs pos="100000">
                    <a:srgbClr val="373737"/>
                  </a:gs>
                </a:gsLst>
                <a:lin ang="5400000" scaled="1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DB5815FA-A453-4382-80E3-869A908DC1C2}"/>
                </a:ext>
              </a:extLst>
            </p:cNvPr>
            <p:cNvGrpSpPr/>
            <p:nvPr/>
          </p:nvGrpSpPr>
          <p:grpSpPr>
            <a:xfrm>
              <a:off x="4690551" y="5717086"/>
              <a:ext cx="1754006" cy="424061"/>
              <a:chOff x="1899476" y="4959748"/>
              <a:chExt cx="1754006" cy="424061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F2FA287-F0D5-45D9-84F4-866EC0F08C7B}"/>
                  </a:ext>
                </a:extLst>
              </p:cNvPr>
              <p:cNvSpPr txBox="1"/>
              <p:nvPr/>
            </p:nvSpPr>
            <p:spPr>
              <a:xfrm>
                <a:off x="1899476" y="4959748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dirty="0">
                    <a:latin typeface="Freesentation 7 Bold" pitchFamily="2" charset="-127"/>
                    <a:ea typeface="Freesentation 7 Bold" pitchFamily="2" charset="-127"/>
                  </a:rPr>
                  <a:t>2022</a:t>
                </a:r>
                <a:endParaRPr lang="ko-KR" altLang="en-US" sz="1200" b="1" dirty="0">
                  <a:latin typeface="Freesentation 7 Bold" pitchFamily="2" charset="-127"/>
                  <a:ea typeface="Freesentation 7 Bold" pitchFamily="2" charset="-127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CE3773B-C267-45A9-B7FA-BAA5CB5BEB5A}"/>
                  </a:ext>
                </a:extLst>
              </p:cNvPr>
              <p:cNvSpPr txBox="1"/>
              <p:nvPr/>
            </p:nvSpPr>
            <p:spPr>
              <a:xfrm>
                <a:off x="1899476" y="5129893"/>
                <a:ext cx="175400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dirty="0">
                    <a:latin typeface="프리젠테이션 4 Regular" pitchFamily="2" charset="-127"/>
                    <a:ea typeface="프리젠테이션 4 Regular" pitchFamily="2" charset="-127"/>
                  </a:rPr>
                  <a:t>방산협력 본격화</a:t>
                </a:r>
                <a:r>
                  <a:rPr lang="en-US" altLang="ko-KR" sz="1050" dirty="0">
                    <a:latin typeface="프리젠테이션 4 Regular" pitchFamily="2" charset="-127"/>
                    <a:ea typeface="프리젠테이션 4 Regular" pitchFamily="2" charset="-127"/>
                  </a:rPr>
                  <a:t>, 120</a:t>
                </a:r>
                <a:r>
                  <a:rPr lang="ko-KR" altLang="en-US" sz="1050" dirty="0">
                    <a:latin typeface="프리젠테이션 4 Regular" pitchFamily="2" charset="-127"/>
                    <a:ea typeface="프리젠테이션 4 Regular" pitchFamily="2" charset="-127"/>
                  </a:rPr>
                  <a:t>억</a:t>
                </a:r>
                <a:r>
                  <a:rPr lang="en-US" altLang="ko-KR" sz="1050" dirty="0">
                    <a:latin typeface="프리젠테이션 4 Regular" pitchFamily="2" charset="-127"/>
                    <a:ea typeface="프리젠테이션 4 Regular" pitchFamily="2" charset="-127"/>
                  </a:rPr>
                  <a:t> </a:t>
                </a:r>
                <a:r>
                  <a:rPr lang="ko-KR" altLang="en-US" sz="1050" dirty="0">
                    <a:latin typeface="프리젠테이션 4 Regular" pitchFamily="2" charset="-127"/>
                    <a:ea typeface="프리젠테이션 4 Regular" pitchFamily="2" charset="-127"/>
                  </a:rPr>
                  <a:t>달러 계약</a:t>
                </a:r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F2E3355-5F01-4799-A185-AEE7D2C6FEFB}"/>
              </a:ext>
            </a:extLst>
          </p:cNvPr>
          <p:cNvSpPr txBox="1"/>
          <p:nvPr/>
        </p:nvSpPr>
        <p:spPr>
          <a:xfrm>
            <a:off x="6233313" y="4920137"/>
            <a:ext cx="358207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※</a:t>
            </a:r>
            <a:r>
              <a:rPr lang="ko-KR" altLang="en-US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출처</a:t>
            </a:r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</a:t>
            </a:r>
            <a:r>
              <a:rPr lang="en-US" altLang="ko-KR" sz="1000" spc="-20" dirty="0" err="1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Polska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</a:t>
            </a:r>
            <a:r>
              <a:rPr lang="en-US" altLang="ko-KR" sz="1000" spc="-20" dirty="0" err="1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Agencja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 </a:t>
            </a:r>
            <a:r>
              <a:rPr lang="en-US" altLang="ko-KR" sz="1000" spc="-20" dirty="0" err="1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Parasowa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(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폴란드 국영 통신사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), ’24. 7. 13. 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보도자료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2040AA-CE41-493D-A60F-03E764F0217F}"/>
              </a:ext>
            </a:extLst>
          </p:cNvPr>
          <p:cNvSpPr txBox="1"/>
          <p:nvPr/>
        </p:nvSpPr>
        <p:spPr>
          <a:xfrm>
            <a:off x="3214321" y="3633935"/>
            <a:ext cx="244137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※</a:t>
            </a:r>
            <a:r>
              <a:rPr lang="ko-KR" altLang="en-US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출처</a:t>
            </a:r>
            <a:r>
              <a:rPr lang="en-US" altLang="ko-KR" sz="100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2024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년 국제 무기 이전 동향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, SIPRI(’2025. 3.)</a:t>
            </a:r>
            <a:endParaRPr lang="ko-KR" altLang="en-US" sz="1000" spc="-20" dirty="0">
              <a:solidFill>
                <a:srgbClr val="373737"/>
              </a:solidFill>
              <a:latin typeface="Freesentation 5 Medium" pitchFamily="2" charset="-127"/>
              <a:ea typeface="Freesentation 5 Medium" pitchFamily="2" charset="-127"/>
              <a:cs typeface="Pretendard SemiBold" panose="0200070300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9FC1889-2295-4361-A0DB-351C735B5032}"/>
              </a:ext>
            </a:extLst>
          </p:cNvPr>
          <p:cNvSpPr txBox="1"/>
          <p:nvPr/>
        </p:nvSpPr>
        <p:spPr>
          <a:xfrm>
            <a:off x="324678" y="4929099"/>
            <a:ext cx="562942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※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출처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: Poland and South Korea Should Further Develop Security Cooperation, </a:t>
            </a:r>
            <a:r>
              <a:rPr lang="ko-KR" altLang="en-US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폴란드 국제관계 연구소</a:t>
            </a:r>
            <a:r>
              <a:rPr lang="en-US" altLang="ko-KR" sz="1000" spc="-20" dirty="0">
                <a:solidFill>
                  <a:srgbClr val="373737"/>
                </a:solidFill>
                <a:latin typeface="Freesentation 5 Medium" pitchFamily="2" charset="-127"/>
                <a:ea typeface="Freesentation 5 Medium" pitchFamily="2" charset="-127"/>
                <a:cs typeface="Pretendard SemiBold" panose="02000703000000020004" pitchFamily="50" charset="-127"/>
              </a:rPr>
              <a:t>(’24.10.28.)</a:t>
            </a:r>
          </a:p>
        </p:txBody>
      </p:sp>
    </p:spTree>
    <p:extLst>
      <p:ext uri="{BB962C8B-B14F-4D97-AF65-F5344CB8AC3E}">
        <p14:creationId xmlns:p14="http://schemas.microsoft.com/office/powerpoint/2010/main" val="3580444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90BFB00-EC49-4396-9BC3-E801022152D3}"/>
              </a:ext>
            </a:extLst>
          </p:cNvPr>
          <p:cNvGrpSpPr/>
          <p:nvPr/>
        </p:nvGrpSpPr>
        <p:grpSpPr>
          <a:xfrm>
            <a:off x="0" y="-1"/>
            <a:ext cx="12356339" cy="6858001"/>
            <a:chOff x="1" y="-1"/>
            <a:chExt cx="9345706" cy="5187043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04F54953-CAA0-4F8A-9619-2944D86D10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6" b="1014"/>
            <a:stretch/>
          </p:blipFill>
          <p:spPr bwMode="auto">
            <a:xfrm>
              <a:off x="6" y="1"/>
              <a:ext cx="9345701" cy="5174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4217E0D-E0D7-4BEB-AD3F-7716C8503EEF}"/>
                </a:ext>
              </a:extLst>
            </p:cNvPr>
            <p:cNvSpPr>
              <a:spLocks/>
            </p:cNvSpPr>
            <p:nvPr/>
          </p:nvSpPr>
          <p:spPr>
            <a:xfrm>
              <a:off x="1" y="-1"/>
              <a:ext cx="9345700" cy="5187043"/>
            </a:xfrm>
            <a:prstGeom prst="rect">
              <a:avLst/>
            </a:prstGeom>
            <a:solidFill>
              <a:srgbClr val="F1F1F1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Freesentation 5 Medium" pitchFamily="2" charset="-127"/>
                <a:ea typeface="Freesentation 5 Medium" pitchFamily="2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0B6BC50-52D8-4216-A7A6-6B87E6D0F8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137" t="2428" r="4457" b="13442"/>
            <a:stretch/>
          </p:blipFill>
          <p:spPr>
            <a:xfrm>
              <a:off x="258762" y="612001"/>
              <a:ext cx="1197847" cy="11025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5384065-A474-47ED-9DA7-CDA469A35FB0}"/>
              </a:ext>
            </a:extLst>
          </p:cNvPr>
          <p:cNvSpPr txBox="1"/>
          <p:nvPr/>
        </p:nvSpPr>
        <p:spPr>
          <a:xfrm>
            <a:off x="324904" y="6026109"/>
            <a:ext cx="540083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Global Business Environment and Ethics</a:t>
            </a:r>
            <a:endParaRPr lang="ko-KR" altLang="en-US" sz="2400" b="1" dirty="0">
              <a:solidFill>
                <a:srgbClr val="373737"/>
              </a:solidFill>
              <a:latin typeface="Freesentation 7 Bold" pitchFamily="2" charset="-127"/>
              <a:ea typeface="Freesentation 7 Bold" pitchFamily="2" charset="-127"/>
              <a:cs typeface="Pretendard SemiBold" panose="02000703000000020004" pitchFamily="50" charset="-127"/>
            </a:endParaRPr>
          </a:p>
        </p:txBody>
      </p:sp>
      <p:cxnSp>
        <p:nvCxnSpPr>
          <p:cNvPr id="8" name="직선 연결선[R] 9">
            <a:extLst>
              <a:ext uri="{FF2B5EF4-FFF2-40B4-BE49-F238E27FC236}">
                <a16:creationId xmlns:a16="http://schemas.microsoft.com/office/drawing/2014/main" id="{CD05394B-D0A2-43CD-81AB-631A8021E096}"/>
              </a:ext>
            </a:extLst>
          </p:cNvPr>
          <p:cNvCxnSpPr>
            <a:cxnSpLocks/>
          </p:cNvCxnSpPr>
          <p:nvPr/>
        </p:nvCxnSpPr>
        <p:spPr>
          <a:xfrm>
            <a:off x="5943600" y="1651826"/>
            <a:ext cx="5913967" cy="0"/>
          </a:xfrm>
          <a:prstGeom prst="line">
            <a:avLst/>
          </a:prstGeom>
          <a:ln w="44450">
            <a:solidFill>
              <a:srgbClr val="37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6D96CF-06F8-4624-BCB6-8A7D51E45F9C}"/>
              </a:ext>
            </a:extLst>
          </p:cNvPr>
          <p:cNvSpPr txBox="1"/>
          <p:nvPr/>
        </p:nvSpPr>
        <p:spPr>
          <a:xfrm>
            <a:off x="6013996" y="1088582"/>
            <a:ext cx="587654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5. K-</a:t>
            </a:r>
            <a:r>
              <a:rPr lang="ko-KR" altLang="en-US" sz="36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  <a:cs typeface="Pretendard SemiBold" panose="02000703000000020004" pitchFamily="50" charset="-127"/>
              </a:rPr>
              <a:t>방산의 향후 방향성과 대응 전략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3A538-7E5F-4F04-841C-15175D7DF198}"/>
              </a:ext>
            </a:extLst>
          </p:cNvPr>
          <p:cNvSpPr txBox="1"/>
          <p:nvPr/>
        </p:nvSpPr>
        <p:spPr>
          <a:xfrm>
            <a:off x="8354239" y="1692009"/>
            <a:ext cx="35530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K-</a:t>
            </a:r>
            <a:r>
              <a:rPr kumimoji="1" lang="ko-KR" altLang="en-US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rPr>
              <a:t>방산 진출을 위한 폴란드 국가 및 산업 분석</a:t>
            </a:r>
          </a:p>
        </p:txBody>
      </p:sp>
    </p:spTree>
    <p:extLst>
      <p:ext uri="{BB962C8B-B14F-4D97-AF65-F5344CB8AC3E}">
        <p14:creationId xmlns:p14="http://schemas.microsoft.com/office/powerpoint/2010/main" val="2945410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KAI 한국항공우주산업주식회사">
            <a:extLst>
              <a:ext uri="{FF2B5EF4-FFF2-40B4-BE49-F238E27FC236}">
                <a16:creationId xmlns:a16="http://schemas.microsoft.com/office/drawing/2014/main" id="{90231C7E-9DCA-49A5-B141-051F3056E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4" b="9634"/>
          <a:stretch/>
        </p:blipFill>
        <p:spPr bwMode="auto">
          <a:xfrm>
            <a:off x="0" y="990600"/>
            <a:ext cx="1219200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DEDC20F-5D01-46BF-91CE-6916F59FE3CA}"/>
              </a:ext>
            </a:extLst>
          </p:cNvPr>
          <p:cNvSpPr/>
          <p:nvPr/>
        </p:nvSpPr>
        <p:spPr>
          <a:xfrm>
            <a:off x="0" y="990600"/>
            <a:ext cx="12192000" cy="58674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A61BC-ED0F-84E9-1614-B83EDD25920F}"/>
              </a:ext>
            </a:extLst>
          </p:cNvPr>
          <p:cNvSpPr txBox="1"/>
          <p:nvPr/>
        </p:nvSpPr>
        <p:spPr>
          <a:xfrm>
            <a:off x="319090" y="1194614"/>
            <a:ext cx="17272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K-</a:t>
            </a:r>
            <a:r>
              <a:rPr kumimoji="1" lang="ko-KR" altLang="en-US" b="1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방산의 향후 방향성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924E39B-F769-45FC-9F4A-42D3D4679078}"/>
              </a:ext>
            </a:extLst>
          </p:cNvPr>
          <p:cNvSpPr/>
          <p:nvPr/>
        </p:nvSpPr>
        <p:spPr>
          <a:xfrm>
            <a:off x="479425" y="1592263"/>
            <a:ext cx="11233149" cy="809625"/>
          </a:xfrm>
          <a:prstGeom prst="roundRect">
            <a:avLst>
              <a:gd name="adj" fmla="val 50000"/>
            </a:avLst>
          </a:prstGeom>
          <a:solidFill>
            <a:srgbClr val="373737">
              <a:alpha val="71000"/>
            </a:srgbClr>
          </a:solidFill>
          <a:ln w="12700"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DAEB17D-B9DA-4A5B-86A0-2047C92C6958}"/>
              </a:ext>
            </a:extLst>
          </p:cNvPr>
          <p:cNvSpPr/>
          <p:nvPr/>
        </p:nvSpPr>
        <p:spPr>
          <a:xfrm>
            <a:off x="479425" y="2533253"/>
            <a:ext cx="11233149" cy="809625"/>
          </a:xfrm>
          <a:prstGeom prst="roundRect">
            <a:avLst>
              <a:gd name="adj" fmla="val 50000"/>
            </a:avLst>
          </a:prstGeom>
          <a:solidFill>
            <a:srgbClr val="373737">
              <a:alpha val="71000"/>
            </a:srgbClr>
          </a:solidFill>
          <a:ln w="12700"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6E6A623-3146-4564-B49C-CA0C82F6DA89}"/>
              </a:ext>
            </a:extLst>
          </p:cNvPr>
          <p:cNvSpPr/>
          <p:nvPr/>
        </p:nvSpPr>
        <p:spPr>
          <a:xfrm>
            <a:off x="479425" y="3474243"/>
            <a:ext cx="11233149" cy="809625"/>
          </a:xfrm>
          <a:prstGeom prst="roundRect">
            <a:avLst>
              <a:gd name="adj" fmla="val 50000"/>
            </a:avLst>
          </a:prstGeom>
          <a:solidFill>
            <a:srgbClr val="373737">
              <a:alpha val="71000"/>
            </a:srgbClr>
          </a:solidFill>
          <a:ln w="12700"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C7D178F-C907-484E-BEA3-8CC3B14EC65B}"/>
              </a:ext>
            </a:extLst>
          </p:cNvPr>
          <p:cNvSpPr/>
          <p:nvPr/>
        </p:nvSpPr>
        <p:spPr>
          <a:xfrm>
            <a:off x="479425" y="4415233"/>
            <a:ext cx="11233149" cy="809625"/>
          </a:xfrm>
          <a:prstGeom prst="roundRect">
            <a:avLst>
              <a:gd name="adj" fmla="val 50000"/>
            </a:avLst>
          </a:prstGeom>
          <a:solidFill>
            <a:srgbClr val="373737">
              <a:alpha val="71000"/>
            </a:srgbClr>
          </a:solidFill>
          <a:ln w="12700"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ED3F546-0078-4853-9168-CF91D887288A}"/>
              </a:ext>
            </a:extLst>
          </p:cNvPr>
          <p:cNvSpPr/>
          <p:nvPr/>
        </p:nvSpPr>
        <p:spPr>
          <a:xfrm>
            <a:off x="479425" y="5356225"/>
            <a:ext cx="11233149" cy="809625"/>
          </a:xfrm>
          <a:prstGeom prst="roundRect">
            <a:avLst>
              <a:gd name="adj" fmla="val 50000"/>
            </a:avLst>
          </a:prstGeom>
          <a:solidFill>
            <a:srgbClr val="373737">
              <a:alpha val="71000"/>
            </a:srgbClr>
          </a:solidFill>
          <a:ln w="12700"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7D69D95-9D9C-468E-B4E9-7E5E66C42A57}"/>
              </a:ext>
            </a:extLst>
          </p:cNvPr>
          <p:cNvGrpSpPr/>
          <p:nvPr/>
        </p:nvGrpSpPr>
        <p:grpSpPr>
          <a:xfrm>
            <a:off x="876300" y="1716497"/>
            <a:ext cx="5366854" cy="561156"/>
            <a:chOff x="876300" y="1711508"/>
            <a:chExt cx="5366854" cy="56115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1E8232-E9ED-4FE5-A552-1609439B051A}"/>
                </a:ext>
              </a:extLst>
            </p:cNvPr>
            <p:cNvSpPr txBox="1"/>
            <p:nvPr/>
          </p:nvSpPr>
          <p:spPr>
            <a:xfrm>
              <a:off x="876300" y="1711508"/>
              <a:ext cx="173605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Freesentation 7 Bold" pitchFamily="2" charset="-127"/>
                  <a:ea typeface="Freesentation 7 Bold" pitchFamily="2" charset="-127"/>
                </a:rPr>
                <a:t>외환 리스크 관리 전략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FE0CA9-7746-4334-B7A0-CF013E75BDE9}"/>
                </a:ext>
              </a:extLst>
            </p:cNvPr>
            <p:cNvSpPr txBox="1"/>
            <p:nvPr/>
          </p:nvSpPr>
          <p:spPr>
            <a:xfrm>
              <a:off x="876300" y="1995665"/>
              <a:ext cx="536685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폴란드와의 방산 거래는 외화 거래가 발생하므로 환리스크 관리가 필수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C6706FC-6A70-44B0-B43D-9ED08957813A}"/>
              </a:ext>
            </a:extLst>
          </p:cNvPr>
          <p:cNvGrpSpPr/>
          <p:nvPr/>
        </p:nvGrpSpPr>
        <p:grpSpPr>
          <a:xfrm>
            <a:off x="876300" y="2657487"/>
            <a:ext cx="7545335" cy="561156"/>
            <a:chOff x="876300" y="1711508"/>
            <a:chExt cx="7545335" cy="56115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AE5F74-D1AD-460E-B59A-0187FEFAB4EC}"/>
                </a:ext>
              </a:extLst>
            </p:cNvPr>
            <p:cNvSpPr txBox="1"/>
            <p:nvPr/>
          </p:nvSpPr>
          <p:spPr>
            <a:xfrm>
              <a:off x="876300" y="1711508"/>
              <a:ext cx="155811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Freesentation 7 Bold" pitchFamily="2" charset="-127"/>
                  <a:ea typeface="Freesentation 7 Bold" pitchFamily="2" charset="-127"/>
                </a:rPr>
                <a:t>현지화 및 협력 전략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729EC5-8411-4F90-9E62-5C41E61F22CA}"/>
                </a:ext>
              </a:extLst>
            </p:cNvPr>
            <p:cNvSpPr txBox="1"/>
            <p:nvPr/>
          </p:nvSpPr>
          <p:spPr>
            <a:xfrm>
              <a:off x="876300" y="1995665"/>
              <a:ext cx="754533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장기적인 성공을 위해 현지화 및 협력 전략 추진</a:t>
              </a:r>
              <a:r>
                <a:rPr lang="en-US" altLang="ko-KR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, </a:t>
              </a:r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경영</a:t>
              </a:r>
              <a:r>
                <a:rPr lang="en-US" altLang="ko-KR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/</a:t>
              </a:r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인력</a:t>
              </a:r>
              <a:r>
                <a:rPr lang="en-US" altLang="ko-KR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/</a:t>
              </a:r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문화적 현지화 및 다각적 파트너십 필요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C06B068-9A21-496A-8708-4389247B4FE5}"/>
              </a:ext>
            </a:extLst>
          </p:cNvPr>
          <p:cNvGrpSpPr/>
          <p:nvPr/>
        </p:nvGrpSpPr>
        <p:grpSpPr>
          <a:xfrm>
            <a:off x="876300" y="3598477"/>
            <a:ext cx="4740080" cy="561156"/>
            <a:chOff x="876300" y="1711508"/>
            <a:chExt cx="4740080" cy="56115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4B29F1-56D5-42AE-8C98-49F90265D0B0}"/>
                </a:ext>
              </a:extLst>
            </p:cNvPr>
            <p:cNvSpPr txBox="1"/>
            <p:nvPr/>
          </p:nvSpPr>
          <p:spPr>
            <a:xfrm>
              <a:off x="876300" y="1711508"/>
              <a:ext cx="28260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Freesentation 7 Bold" pitchFamily="2" charset="-127"/>
                  <a:ea typeface="Freesentation 7 Bold" pitchFamily="2" charset="-127"/>
                </a:rPr>
                <a:t>글로벌 윤리 및 </a:t>
              </a:r>
              <a:r>
                <a:rPr lang="en-US" altLang="ko-KR" dirty="0">
                  <a:solidFill>
                    <a:srgbClr val="F1F1F1"/>
                  </a:solidFill>
                  <a:latin typeface="Freesentation 7 Bold" pitchFamily="2" charset="-127"/>
                  <a:ea typeface="Freesentation 7 Bold" pitchFamily="2" charset="-127"/>
                </a:rPr>
                <a:t>ESG </a:t>
              </a:r>
              <a:r>
                <a:rPr lang="ko-KR" altLang="en-US" dirty="0">
                  <a:solidFill>
                    <a:srgbClr val="F1F1F1"/>
                  </a:solidFill>
                  <a:latin typeface="Freesentation 7 Bold" pitchFamily="2" charset="-127"/>
                  <a:ea typeface="Freesentation 7 Bold" pitchFamily="2" charset="-127"/>
                </a:rPr>
                <a:t>기준 통합 전략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B5452F-3E39-4B3F-B35C-380D04F63DD9}"/>
                </a:ext>
              </a:extLst>
            </p:cNvPr>
            <p:cNvSpPr txBox="1"/>
            <p:nvPr/>
          </p:nvSpPr>
          <p:spPr>
            <a:xfrm>
              <a:off x="876300" y="1995665"/>
              <a:ext cx="474008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글로벌 윤리경영과 </a:t>
              </a:r>
              <a:r>
                <a:rPr lang="en-US" altLang="ko-KR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ESG </a:t>
              </a:r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기준 통합하여 유럽 및 국제무대 적용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DC8F667-EC69-42D4-A0CC-951B1AF41FC8}"/>
              </a:ext>
            </a:extLst>
          </p:cNvPr>
          <p:cNvGrpSpPr/>
          <p:nvPr/>
        </p:nvGrpSpPr>
        <p:grpSpPr>
          <a:xfrm>
            <a:off x="876300" y="4539467"/>
            <a:ext cx="6578724" cy="561156"/>
            <a:chOff x="876300" y="1711508"/>
            <a:chExt cx="6578724" cy="56115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EE27CC-242B-4BF8-8CE5-CE3126BD2929}"/>
                </a:ext>
              </a:extLst>
            </p:cNvPr>
            <p:cNvSpPr txBox="1"/>
            <p:nvPr/>
          </p:nvSpPr>
          <p:spPr>
            <a:xfrm>
              <a:off x="876300" y="1711508"/>
              <a:ext cx="226985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Freesentation 7 Bold" pitchFamily="2" charset="-127"/>
                  <a:ea typeface="Freesentation 7 Bold" pitchFamily="2" charset="-127"/>
                </a:rPr>
                <a:t>중장기 기술이전 및 공동개발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629DF2-8DCB-4ED7-A13B-4FB551877A8F}"/>
                </a:ext>
              </a:extLst>
            </p:cNvPr>
            <p:cNvSpPr txBox="1"/>
            <p:nvPr/>
          </p:nvSpPr>
          <p:spPr>
            <a:xfrm>
              <a:off x="876300" y="1995665"/>
              <a:ext cx="657872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기술이전 심화 및 공동개발로의 진화를 통해 공고한 협력 관계를 맺어 혁신 시너지 창출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AC562B3-D844-47AB-94C8-798690E73AA3}"/>
              </a:ext>
            </a:extLst>
          </p:cNvPr>
          <p:cNvGrpSpPr/>
          <p:nvPr/>
        </p:nvGrpSpPr>
        <p:grpSpPr>
          <a:xfrm>
            <a:off x="876300" y="5480459"/>
            <a:ext cx="4934043" cy="561156"/>
            <a:chOff x="876300" y="1711508"/>
            <a:chExt cx="4934043" cy="56115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48CE963-19E8-4302-87EA-CD1BA90E7117}"/>
                </a:ext>
              </a:extLst>
            </p:cNvPr>
            <p:cNvSpPr txBox="1"/>
            <p:nvPr/>
          </p:nvSpPr>
          <p:spPr>
            <a:xfrm>
              <a:off x="876300" y="1711508"/>
              <a:ext cx="249267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Freesentation 7 Bold" pitchFamily="2" charset="-127"/>
                  <a:ea typeface="Freesentation 7 Bold" pitchFamily="2" charset="-127"/>
                </a:rPr>
                <a:t>유럽시장 확대를 위한 확장 전략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4694E2-DD60-420E-B654-14D6355B1721}"/>
                </a:ext>
              </a:extLst>
            </p:cNvPr>
            <p:cNvSpPr txBox="1"/>
            <p:nvPr/>
          </p:nvSpPr>
          <p:spPr>
            <a:xfrm>
              <a:off x="876300" y="1995665"/>
              <a:ext cx="493404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dirty="0">
                  <a:solidFill>
                    <a:srgbClr val="F1F1F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동유럽의 군사중심지인 폴란드를 교두보 삼아 유럽시장으로 확대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DF6C69E5-AF6A-4FD5-9B2E-73DE95BA7CB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10146210" y="1697490"/>
            <a:ext cx="647700" cy="59917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C96505B-8338-404C-8C9A-A15E2301684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106523" y="2574528"/>
            <a:ext cx="727075" cy="72707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3CE0F23-B8A4-42CD-B674-29BAC835B3D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082365" y="3491360"/>
            <a:ext cx="775390" cy="77539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F478213-6962-46F5-8965-E01AEA9F2A2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106522" y="4456507"/>
            <a:ext cx="727076" cy="727076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585CF0C3-758C-403C-9551-EDA3489409A6}"/>
              </a:ext>
            </a:extLst>
          </p:cNvPr>
          <p:cNvGrpSpPr/>
          <p:nvPr/>
        </p:nvGrpSpPr>
        <p:grpSpPr>
          <a:xfrm>
            <a:off x="10039537" y="5388860"/>
            <a:ext cx="861047" cy="744354"/>
            <a:chOff x="9968564" y="5388860"/>
            <a:chExt cx="861047" cy="744354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E3BCC45-B46E-4E10-98B7-08018EFFA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>
              <a:off x="9968564" y="5388860"/>
              <a:ext cx="744354" cy="744354"/>
            </a:xfrm>
            <a:prstGeom prst="rect">
              <a:avLst/>
            </a:prstGeom>
          </p:spPr>
        </p:pic>
        <p:pic>
          <p:nvPicPr>
            <p:cNvPr id="45" name="그래픽 44" descr="갈매기형 화살표 단색으로 채워진">
              <a:extLst>
                <a:ext uri="{FF2B5EF4-FFF2-40B4-BE49-F238E27FC236}">
                  <a16:creationId xmlns:a16="http://schemas.microsoft.com/office/drawing/2014/main" id="{A96417C4-724C-475A-B52D-778E9AA2D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10552579" y="5622521"/>
              <a:ext cx="277032" cy="277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8146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A61BC-ED0F-84E9-1614-B83EDD25920F}"/>
              </a:ext>
            </a:extLst>
          </p:cNvPr>
          <p:cNvSpPr txBox="1"/>
          <p:nvPr/>
        </p:nvSpPr>
        <p:spPr>
          <a:xfrm>
            <a:off x="319090" y="1194614"/>
            <a:ext cx="11573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b="1" dirty="0">
                <a:latin typeface="Freesentation 7 Bold" pitchFamily="2" charset="-127"/>
                <a:ea typeface="Freesentation 7 Bold" pitchFamily="2" charset="-127"/>
              </a:rPr>
              <a:t>결론 및 시사점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775E95-C112-4E68-BA61-3E33C9CA0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" y="1592263"/>
            <a:ext cx="2315711" cy="413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C780C3A5-7F57-4F78-9B85-EBC07772134B}"/>
              </a:ext>
            </a:extLst>
          </p:cNvPr>
          <p:cNvSpPr/>
          <p:nvPr/>
        </p:nvSpPr>
        <p:spPr>
          <a:xfrm>
            <a:off x="334963" y="5358372"/>
            <a:ext cx="11522075" cy="782049"/>
          </a:xfrm>
          <a:prstGeom prst="rect">
            <a:avLst/>
          </a:prstGeom>
          <a:solidFill>
            <a:srgbClr val="373737">
              <a:alpha val="50000"/>
            </a:srgbClr>
          </a:solidFill>
          <a:ln w="38100">
            <a:solidFill>
              <a:srgbClr val="373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폴란드 사례는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방산 수출이 외교적 영향력 확대의 지렛대</a:t>
            </a: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가 될 수 있음을 시사</a:t>
            </a:r>
            <a:endParaRPr lang="en-US" altLang="ko-KR" dirty="0">
              <a:solidFill>
                <a:srgbClr val="F1F1F1"/>
              </a:solidFill>
              <a:latin typeface="Freesentation 7 Bold" pitchFamily="2" charset="-127"/>
              <a:ea typeface="Freesentation 7 Bold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dirty="0">
                <a:solidFill>
                  <a:srgbClr val="F1F1F1"/>
                </a:solidFill>
                <a:latin typeface="Freesentation 7 Bold" pitchFamily="2" charset="-127"/>
                <a:ea typeface="Freesentation 7 Bold" pitchFamily="2" charset="-127"/>
              </a:rPr>
              <a:t>한국은 이 경험을 바탕으로 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유럽과 글로벌 시장에서 전략적 파트너로 자리잡아 ‘세계 </a:t>
            </a:r>
            <a:r>
              <a:rPr lang="en-US" altLang="ko-KR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4</a:t>
            </a:r>
            <a:r>
              <a:rPr lang="ko-KR" altLang="en-US" dirty="0">
                <a:solidFill>
                  <a:srgbClr val="FFC606"/>
                </a:solidFill>
                <a:latin typeface="Freesentation 7 Bold" pitchFamily="2" charset="-127"/>
                <a:ea typeface="Freesentation 7 Bold" pitchFamily="2" charset="-127"/>
              </a:rPr>
              <a:t>위 방산 수출국’ 도약을 현실화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F7856C5-4A27-4709-BB81-50076D6AED1E}"/>
              </a:ext>
            </a:extLst>
          </p:cNvPr>
          <p:cNvGrpSpPr/>
          <p:nvPr/>
        </p:nvGrpSpPr>
        <p:grpSpPr>
          <a:xfrm>
            <a:off x="2823099" y="1592263"/>
            <a:ext cx="2853232" cy="3663318"/>
            <a:chOff x="3347452" y="1592263"/>
            <a:chExt cx="2604086" cy="3663318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BC0D154E-FD76-4E95-B9A8-0328DAEE98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4" r="22003"/>
            <a:stretch>
              <a:fillRect/>
            </a:stretch>
          </p:blipFill>
          <p:spPr bwMode="auto">
            <a:xfrm>
              <a:off x="3347452" y="1602419"/>
              <a:ext cx="2604086" cy="3653162"/>
            </a:xfrm>
            <a:custGeom>
              <a:avLst/>
              <a:gdLst>
                <a:gd name="connsiteX0" fmla="*/ 342242 w 2604086"/>
                <a:gd name="connsiteY0" fmla="*/ 0 h 3653162"/>
                <a:gd name="connsiteX1" fmla="*/ 2261845 w 2604086"/>
                <a:gd name="connsiteY1" fmla="*/ 0 h 3653162"/>
                <a:gd name="connsiteX2" fmla="*/ 2339004 w 2604086"/>
                <a:gd name="connsiteY2" fmla="*/ 23952 h 3653162"/>
                <a:gd name="connsiteX3" fmla="*/ 2604086 w 2604086"/>
                <a:gd name="connsiteY3" fmla="*/ 423867 h 3653162"/>
                <a:gd name="connsiteX4" fmla="*/ 2604086 w 2604086"/>
                <a:gd name="connsiteY4" fmla="*/ 3219139 h 3653162"/>
                <a:gd name="connsiteX5" fmla="*/ 2170063 w 2604086"/>
                <a:gd name="connsiteY5" fmla="*/ 3653162 h 3653162"/>
                <a:gd name="connsiteX6" fmla="*/ 434023 w 2604086"/>
                <a:gd name="connsiteY6" fmla="*/ 3653162 h 3653162"/>
                <a:gd name="connsiteX7" fmla="*/ 0 w 2604086"/>
                <a:gd name="connsiteY7" fmla="*/ 3219139 h 3653162"/>
                <a:gd name="connsiteX8" fmla="*/ 0 w 2604086"/>
                <a:gd name="connsiteY8" fmla="*/ 423867 h 3653162"/>
                <a:gd name="connsiteX9" fmla="*/ 265082 w 2604086"/>
                <a:gd name="connsiteY9" fmla="*/ 23952 h 36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04086" h="3653162">
                  <a:moveTo>
                    <a:pt x="342242" y="0"/>
                  </a:moveTo>
                  <a:lnTo>
                    <a:pt x="2261845" y="0"/>
                  </a:lnTo>
                  <a:lnTo>
                    <a:pt x="2339004" y="23952"/>
                  </a:lnTo>
                  <a:cubicBezTo>
                    <a:pt x="2494782" y="89840"/>
                    <a:pt x="2604086" y="244089"/>
                    <a:pt x="2604086" y="423867"/>
                  </a:cubicBezTo>
                  <a:lnTo>
                    <a:pt x="2604086" y="3219139"/>
                  </a:lnTo>
                  <a:cubicBezTo>
                    <a:pt x="2604086" y="3458843"/>
                    <a:pt x="2409767" y="3653162"/>
                    <a:pt x="2170063" y="3653162"/>
                  </a:cubicBezTo>
                  <a:lnTo>
                    <a:pt x="434023" y="3653162"/>
                  </a:lnTo>
                  <a:cubicBezTo>
                    <a:pt x="194319" y="3653162"/>
                    <a:pt x="0" y="3458843"/>
                    <a:pt x="0" y="3219139"/>
                  </a:cubicBezTo>
                  <a:lnTo>
                    <a:pt x="0" y="423867"/>
                  </a:lnTo>
                  <a:cubicBezTo>
                    <a:pt x="0" y="244089"/>
                    <a:pt x="109305" y="89840"/>
                    <a:pt x="265082" y="23952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A1BAEDF7-5A14-4FA6-AA08-0A0A9B5132D1}"/>
                </a:ext>
              </a:extLst>
            </p:cNvPr>
            <p:cNvSpPr/>
            <p:nvPr/>
          </p:nvSpPr>
          <p:spPr>
            <a:xfrm>
              <a:off x="3347452" y="1592263"/>
              <a:ext cx="2604086" cy="3663318"/>
            </a:xfrm>
            <a:prstGeom prst="roundRect">
              <a:avLst/>
            </a:prstGeom>
            <a:solidFill>
              <a:schemeClr val="tx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D21ED26-CC36-4535-B0A0-B0353E48EC2E}"/>
              </a:ext>
            </a:extLst>
          </p:cNvPr>
          <p:cNvGrpSpPr/>
          <p:nvPr/>
        </p:nvGrpSpPr>
        <p:grpSpPr>
          <a:xfrm>
            <a:off x="5838364" y="1592263"/>
            <a:ext cx="2858946" cy="3663318"/>
            <a:chOff x="6227970" y="1592263"/>
            <a:chExt cx="2609301" cy="3663318"/>
          </a:xfrm>
        </p:grpSpPr>
        <p:pic>
          <p:nvPicPr>
            <p:cNvPr id="47" name="그림 46" descr="스토리 핀 이미지">
              <a:extLst>
                <a:ext uri="{FF2B5EF4-FFF2-40B4-BE49-F238E27FC236}">
                  <a16:creationId xmlns:a16="http://schemas.microsoft.com/office/drawing/2014/main" id="{7708F4B6-5A79-4C18-A60C-4C7150684D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9" r="8589" b="276"/>
            <a:stretch>
              <a:fillRect/>
            </a:stretch>
          </p:blipFill>
          <p:spPr bwMode="auto">
            <a:xfrm>
              <a:off x="6227970" y="1592263"/>
              <a:ext cx="2604086" cy="3663318"/>
            </a:xfrm>
            <a:custGeom>
              <a:avLst/>
              <a:gdLst>
                <a:gd name="connsiteX0" fmla="*/ 434023 w 2604086"/>
                <a:gd name="connsiteY0" fmla="*/ 0 h 3663318"/>
                <a:gd name="connsiteX1" fmla="*/ 2170063 w 2604086"/>
                <a:gd name="connsiteY1" fmla="*/ 0 h 3663318"/>
                <a:gd name="connsiteX2" fmla="*/ 2604086 w 2604086"/>
                <a:gd name="connsiteY2" fmla="*/ 434023 h 3663318"/>
                <a:gd name="connsiteX3" fmla="*/ 2604086 w 2604086"/>
                <a:gd name="connsiteY3" fmla="*/ 3229295 h 3663318"/>
                <a:gd name="connsiteX4" fmla="*/ 2170063 w 2604086"/>
                <a:gd name="connsiteY4" fmla="*/ 3663318 h 3663318"/>
                <a:gd name="connsiteX5" fmla="*/ 434023 w 2604086"/>
                <a:gd name="connsiteY5" fmla="*/ 3663318 h 3663318"/>
                <a:gd name="connsiteX6" fmla="*/ 0 w 2604086"/>
                <a:gd name="connsiteY6" fmla="*/ 3229295 h 3663318"/>
                <a:gd name="connsiteX7" fmla="*/ 0 w 2604086"/>
                <a:gd name="connsiteY7" fmla="*/ 434023 h 3663318"/>
                <a:gd name="connsiteX8" fmla="*/ 434023 w 2604086"/>
                <a:gd name="connsiteY8" fmla="*/ 0 h 36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4086" h="3663318">
                  <a:moveTo>
                    <a:pt x="434023" y="0"/>
                  </a:moveTo>
                  <a:lnTo>
                    <a:pt x="2170063" y="0"/>
                  </a:lnTo>
                  <a:cubicBezTo>
                    <a:pt x="2409767" y="0"/>
                    <a:pt x="2604086" y="194319"/>
                    <a:pt x="2604086" y="434023"/>
                  </a:cubicBezTo>
                  <a:lnTo>
                    <a:pt x="2604086" y="3229295"/>
                  </a:lnTo>
                  <a:cubicBezTo>
                    <a:pt x="2604086" y="3468999"/>
                    <a:pt x="2409767" y="3663318"/>
                    <a:pt x="2170063" y="3663318"/>
                  </a:cubicBezTo>
                  <a:lnTo>
                    <a:pt x="434023" y="3663318"/>
                  </a:lnTo>
                  <a:cubicBezTo>
                    <a:pt x="194319" y="3663318"/>
                    <a:pt x="0" y="3468999"/>
                    <a:pt x="0" y="3229295"/>
                  </a:cubicBezTo>
                  <a:lnTo>
                    <a:pt x="0" y="434023"/>
                  </a:lnTo>
                  <a:cubicBezTo>
                    <a:pt x="0" y="194319"/>
                    <a:pt x="194319" y="0"/>
                    <a:pt x="434023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AE88360-92EA-4D40-8904-6572F3D432EA}"/>
                </a:ext>
              </a:extLst>
            </p:cNvPr>
            <p:cNvSpPr/>
            <p:nvPr/>
          </p:nvSpPr>
          <p:spPr>
            <a:xfrm>
              <a:off x="6233185" y="1592263"/>
              <a:ext cx="2604086" cy="3663318"/>
            </a:xfrm>
            <a:prstGeom prst="roundRect">
              <a:avLst/>
            </a:prstGeom>
            <a:solidFill>
              <a:schemeClr val="bg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CFE01BA-9C06-4F0F-8AFE-CFBC3AE4410E}"/>
              </a:ext>
            </a:extLst>
          </p:cNvPr>
          <p:cNvGrpSpPr/>
          <p:nvPr/>
        </p:nvGrpSpPr>
        <p:grpSpPr>
          <a:xfrm>
            <a:off x="8859343" y="1592263"/>
            <a:ext cx="2853232" cy="3663318"/>
            <a:chOff x="9108489" y="1592263"/>
            <a:chExt cx="2604086" cy="3663318"/>
          </a:xfrm>
        </p:grpSpPr>
        <p:pic>
          <p:nvPicPr>
            <p:cNvPr id="49" name="그림 48" descr="List of The Best Defence &amp; Security Expos To Attend Worldwide 2023 » Karve">
              <a:extLst>
                <a:ext uri="{FF2B5EF4-FFF2-40B4-BE49-F238E27FC236}">
                  <a16:creationId xmlns:a16="http://schemas.microsoft.com/office/drawing/2014/main" id="{AFF84C7C-879D-4E17-9939-D695ECBE91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2640" r="27132" b="1119"/>
            <a:stretch/>
          </p:blipFill>
          <p:spPr bwMode="auto">
            <a:xfrm>
              <a:off x="9108490" y="1602419"/>
              <a:ext cx="2604085" cy="3653162"/>
            </a:xfrm>
            <a:custGeom>
              <a:avLst/>
              <a:gdLst>
                <a:gd name="connsiteX0" fmla="*/ 342242 w 2604085"/>
                <a:gd name="connsiteY0" fmla="*/ 0 h 3653162"/>
                <a:gd name="connsiteX1" fmla="*/ 2261845 w 2604085"/>
                <a:gd name="connsiteY1" fmla="*/ 0 h 3653162"/>
                <a:gd name="connsiteX2" fmla="*/ 2339004 w 2604085"/>
                <a:gd name="connsiteY2" fmla="*/ 23952 h 3653162"/>
                <a:gd name="connsiteX3" fmla="*/ 2595268 w 2604085"/>
                <a:gd name="connsiteY3" fmla="*/ 336396 h 3653162"/>
                <a:gd name="connsiteX4" fmla="*/ 2604085 w 2604085"/>
                <a:gd name="connsiteY4" fmla="*/ 423857 h 3653162"/>
                <a:gd name="connsiteX5" fmla="*/ 2604085 w 2604085"/>
                <a:gd name="connsiteY5" fmla="*/ 3219150 h 3653162"/>
                <a:gd name="connsiteX6" fmla="*/ 2595268 w 2604085"/>
                <a:gd name="connsiteY6" fmla="*/ 3306610 h 3653162"/>
                <a:gd name="connsiteX7" fmla="*/ 2170063 w 2604085"/>
                <a:gd name="connsiteY7" fmla="*/ 3653162 h 3653162"/>
                <a:gd name="connsiteX8" fmla="*/ 434023 w 2604085"/>
                <a:gd name="connsiteY8" fmla="*/ 3653162 h 3653162"/>
                <a:gd name="connsiteX9" fmla="*/ 0 w 2604085"/>
                <a:gd name="connsiteY9" fmla="*/ 3219139 h 3653162"/>
                <a:gd name="connsiteX10" fmla="*/ 0 w 2604085"/>
                <a:gd name="connsiteY10" fmla="*/ 423867 h 3653162"/>
                <a:gd name="connsiteX11" fmla="*/ 265082 w 2604085"/>
                <a:gd name="connsiteY11" fmla="*/ 23952 h 36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4085" h="3653162">
                  <a:moveTo>
                    <a:pt x="342242" y="0"/>
                  </a:moveTo>
                  <a:lnTo>
                    <a:pt x="2261845" y="0"/>
                  </a:lnTo>
                  <a:lnTo>
                    <a:pt x="2339004" y="23952"/>
                  </a:lnTo>
                  <a:cubicBezTo>
                    <a:pt x="2468819" y="78859"/>
                    <a:pt x="2566360" y="195127"/>
                    <a:pt x="2595268" y="336396"/>
                  </a:cubicBezTo>
                  <a:lnTo>
                    <a:pt x="2604085" y="423857"/>
                  </a:lnTo>
                  <a:lnTo>
                    <a:pt x="2604085" y="3219150"/>
                  </a:lnTo>
                  <a:lnTo>
                    <a:pt x="2595268" y="3306610"/>
                  </a:lnTo>
                  <a:cubicBezTo>
                    <a:pt x="2554797" y="3504387"/>
                    <a:pt x="2379804" y="3653162"/>
                    <a:pt x="2170063" y="3653162"/>
                  </a:cubicBezTo>
                  <a:lnTo>
                    <a:pt x="434023" y="3653162"/>
                  </a:lnTo>
                  <a:cubicBezTo>
                    <a:pt x="194319" y="3653162"/>
                    <a:pt x="0" y="3458843"/>
                    <a:pt x="0" y="3219139"/>
                  </a:cubicBezTo>
                  <a:lnTo>
                    <a:pt x="0" y="423867"/>
                  </a:lnTo>
                  <a:cubicBezTo>
                    <a:pt x="0" y="244089"/>
                    <a:pt x="109304" y="89840"/>
                    <a:pt x="265082" y="23952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F4876C70-C05A-42E2-ADDD-BD541F720D28}"/>
                </a:ext>
              </a:extLst>
            </p:cNvPr>
            <p:cNvSpPr/>
            <p:nvPr/>
          </p:nvSpPr>
          <p:spPr>
            <a:xfrm>
              <a:off x="9108489" y="1592263"/>
              <a:ext cx="2604086" cy="3663318"/>
            </a:xfrm>
            <a:prstGeom prst="roundRect">
              <a:avLst/>
            </a:prstGeom>
            <a:solidFill>
              <a:schemeClr val="tx1"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34B060B1-38EB-4253-9890-619DDD149AAC}"/>
              </a:ext>
            </a:extLst>
          </p:cNvPr>
          <p:cNvSpPr txBox="1"/>
          <p:nvPr/>
        </p:nvSpPr>
        <p:spPr>
          <a:xfrm>
            <a:off x="2971160" y="1701951"/>
            <a:ext cx="2557110" cy="3431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b="1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1. EU </a:t>
            </a:r>
            <a:r>
              <a:rPr lang="ko-KR" altLang="en-US" b="1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현지화 전략 강화</a:t>
            </a:r>
            <a:endParaRPr lang="en-US" altLang="ko-KR" sz="1400" b="1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EU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는 방산 자립 목표로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전략적 국산화 기조</a:t>
            </a: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’</a:t>
            </a: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강화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→ </a:t>
            </a: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K-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방산 기업은 단순 납품을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넘어</a:t>
            </a: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기술이전</a:t>
            </a: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현지조립</a:t>
            </a: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공동</a:t>
            </a:r>
            <a:b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개발 체계 구축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 등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→ </a:t>
            </a: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EU 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생산 라벨 획득과</a:t>
            </a:r>
            <a:b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지역 일자리 창출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 지원 필요</a:t>
            </a:r>
            <a:endParaRPr lang="en-US" altLang="ko-KR" sz="1600" dirty="0">
              <a:solidFill>
                <a:srgbClr val="F1F1F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이는 규제 장벽을 넘어 지속 수출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 err="1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교두조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 및 정치적 지지도 확보에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효과적임</a:t>
            </a: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.</a:t>
            </a:r>
            <a:endParaRPr lang="ko-KR" altLang="en-US" sz="2400" dirty="0">
              <a:solidFill>
                <a:srgbClr val="F1F1F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FF17CC-C7C4-4368-9AEB-F64D5028857B}"/>
              </a:ext>
            </a:extLst>
          </p:cNvPr>
          <p:cNvSpPr txBox="1"/>
          <p:nvPr/>
        </p:nvSpPr>
        <p:spPr>
          <a:xfrm>
            <a:off x="5891499" y="1701951"/>
            <a:ext cx="2752677" cy="3605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b="1" spc="-1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en-US" b="1" spc="-100" dirty="0">
                <a:solidFill>
                  <a:srgbClr val="373737"/>
                </a:solidFill>
                <a:latin typeface="프리젠테이션 6 SemiBold" pitchFamily="2" charset="-127"/>
                <a:ea typeface="프리젠테이션 6 SemiBold" pitchFamily="2" charset="-127"/>
              </a:rPr>
              <a:t>맞춤형 패키지 및 금융조건 제공</a:t>
            </a:r>
            <a:endParaRPr lang="en-US" altLang="ko-KR" sz="1400" b="1" spc="-100" dirty="0">
              <a:solidFill>
                <a:srgbClr val="373737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spc="-3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유럽 각국은 </a:t>
            </a:r>
            <a:r>
              <a:rPr lang="ko-KR" altLang="en-US" sz="1600" b="1" spc="-3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전력 공백과 예산 제약</a:t>
            </a:r>
            <a:br>
              <a:rPr lang="en-US" altLang="ko-KR" sz="1600" spc="-3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상이함</a:t>
            </a:r>
            <a:r>
              <a:rPr lang="en-US" altLang="ko-KR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K-</a:t>
            </a:r>
            <a:r>
              <a:rPr lang="ko-KR" altLang="en-US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방산은 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무기 패키지 구성 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b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운용 인력 훈련 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유지보수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+</a:t>
            </a:r>
            <a:b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금융조건</a:t>
            </a:r>
            <a:r>
              <a:rPr lang="ko-KR" altLang="en-US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 통합 제공하는 </a:t>
            </a:r>
            <a:br>
              <a:rPr lang="en-US" altLang="ko-KR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‘Turn-Key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형 군사 패키지</a:t>
            </a:r>
            <a: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’</a:t>
            </a:r>
            <a:r>
              <a:rPr lang="ko-KR" altLang="en-US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를</a:t>
            </a:r>
            <a:br>
              <a:rPr lang="en-US" altLang="ko-KR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경쟁사보다 빠르게 제공</a:t>
            </a:r>
            <a:r>
              <a:rPr lang="ko-KR" altLang="en-US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해 왔으며</a:t>
            </a:r>
            <a:r>
              <a:rPr lang="en-US" altLang="ko-KR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,</a:t>
            </a: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특히 </a:t>
            </a:r>
            <a:r>
              <a:rPr lang="ko-KR" altLang="en-US" sz="1600" b="1" spc="-5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단기 납기와 </a:t>
            </a:r>
            <a:r>
              <a:rPr lang="ko-KR" altLang="en-US" sz="1600" b="1" spc="-50" dirty="0" err="1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리스ㆍ할부</a:t>
            </a:r>
            <a:r>
              <a:rPr lang="ko-KR" altLang="en-US" sz="1600" b="1" spc="-5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 구조</a:t>
            </a:r>
            <a:r>
              <a:rPr lang="ko-KR" altLang="en-US" sz="1600" spc="-5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로</a:t>
            </a:r>
            <a:br>
              <a:rPr lang="en-US" altLang="ko-KR" sz="1600" spc="-5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예산 유연성 낮은 국가에서도 </a:t>
            </a:r>
            <a:br>
              <a:rPr lang="en-US" altLang="ko-KR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진입 장벽을 낮춤</a:t>
            </a:r>
            <a:r>
              <a:rPr lang="en-US" altLang="ko-KR" sz="1600" dirty="0">
                <a:solidFill>
                  <a:srgbClr val="373737"/>
                </a:solidFill>
                <a:latin typeface="프리젠테이션 4 Regular" pitchFamily="2" charset="-127"/>
                <a:ea typeface="프리젠테이션 4 Regular" pitchFamily="2" charset="-127"/>
              </a:rPr>
              <a:t>.</a:t>
            </a:r>
            <a:endParaRPr lang="ko-KR" altLang="en-US" sz="2400" dirty="0">
              <a:solidFill>
                <a:srgbClr val="373737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772791-7FF9-47E7-9649-09C51B685507}"/>
              </a:ext>
            </a:extLst>
          </p:cNvPr>
          <p:cNvSpPr txBox="1"/>
          <p:nvPr/>
        </p:nvSpPr>
        <p:spPr>
          <a:xfrm>
            <a:off x="8968932" y="1701951"/>
            <a:ext cx="2634054" cy="3508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b="1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3. </a:t>
            </a:r>
            <a:r>
              <a:rPr lang="ko-KR" altLang="en-US" b="1" dirty="0">
                <a:solidFill>
                  <a:srgbClr val="F1F1F1"/>
                </a:solidFill>
                <a:latin typeface="프리젠테이션 6 SemiBold" pitchFamily="2" charset="-127"/>
                <a:ea typeface="프리젠테이션 6 SemiBold" pitchFamily="2" charset="-127"/>
              </a:rPr>
              <a:t>사후관리와 방산외교 병행</a:t>
            </a:r>
            <a:endParaRPr lang="en-US" altLang="ko-KR" sz="1400" b="1" dirty="0">
              <a:solidFill>
                <a:srgbClr val="F1F1F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단기 계약보다 중요한 것은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신뢰 유지</a:t>
            </a:r>
            <a:endParaRPr lang="en-US" altLang="ko-KR" sz="1600" b="1" dirty="0">
              <a:solidFill>
                <a:srgbClr val="F1F1F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사후 정비</a:t>
            </a: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부품 보급</a:t>
            </a: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성능 개선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등의 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지속적 지원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을 통해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기술력 </a:t>
            </a: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신뢰도</a:t>
            </a:r>
            <a:r>
              <a:rPr lang="en-US" altLang="ko-KR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’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가 결합된</a:t>
            </a:r>
            <a:b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브랜드 이미지 구축 필요</a:t>
            </a:r>
            <a:endParaRPr lang="en-US" altLang="ko-KR" sz="1600" dirty="0">
              <a:solidFill>
                <a:srgbClr val="F1F1F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이를 위해 </a:t>
            </a:r>
            <a:r>
              <a:rPr lang="ko-KR" altLang="en-US" sz="1600" b="1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방산 외교와 무기 전시회</a:t>
            </a:r>
            <a:r>
              <a:rPr lang="en-US" altLang="ko-KR" sz="1600" b="1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,</a:t>
            </a:r>
            <a:br>
              <a:rPr lang="en-US" altLang="ko-KR" sz="1600" b="1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언론 홍보 활동 병행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 필요</a:t>
            </a:r>
            <a:endParaRPr lang="en-US" altLang="ko-KR" sz="1600" dirty="0">
              <a:solidFill>
                <a:srgbClr val="F1F1F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177800" indent="-825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600" b="1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외교 채널 </a:t>
            </a:r>
            <a:r>
              <a:rPr lang="en-US" altLang="ko-KR" sz="1600" b="1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1600" b="1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산업 마케팅이 결합된</a:t>
            </a:r>
            <a:br>
              <a:rPr lang="en-US" altLang="ko-KR" sz="1600" b="1" spc="-5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sz="1600" b="1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방식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이 </a:t>
            </a:r>
            <a:r>
              <a:rPr lang="en-US" altLang="ko-KR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K-</a:t>
            </a:r>
            <a:r>
              <a:rPr lang="ko-KR" altLang="en-US" sz="1600" dirty="0">
                <a:solidFill>
                  <a:srgbClr val="F1F1F1"/>
                </a:solidFill>
                <a:latin typeface="프리젠테이션 4 Regular" pitchFamily="2" charset="-127"/>
                <a:ea typeface="프리젠테이션 4 Regular" pitchFamily="2" charset="-127"/>
              </a:rPr>
              <a:t>방산 경쟁력 핵심</a:t>
            </a:r>
            <a:endParaRPr lang="ko-KR" altLang="en-US" sz="2400" dirty="0">
              <a:solidFill>
                <a:srgbClr val="F1F1F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7791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ABAB6B5-2F1B-49C6-A8B6-8F4A87769367}"/>
              </a:ext>
            </a:extLst>
          </p:cNvPr>
          <p:cNvGrpSpPr/>
          <p:nvPr/>
        </p:nvGrpSpPr>
        <p:grpSpPr>
          <a:xfrm>
            <a:off x="1330855" y="836278"/>
            <a:ext cx="9530290" cy="5600238"/>
            <a:chOff x="1365250" y="2081088"/>
            <a:chExt cx="6413500" cy="3768734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EE8C2563-B2B9-4167-A882-92A58E04B7A5}"/>
                </a:ext>
              </a:extLst>
            </p:cNvPr>
            <p:cNvCxnSpPr>
              <a:cxnSpLocks/>
            </p:cNvCxnSpPr>
            <p:nvPr/>
          </p:nvCxnSpPr>
          <p:spPr>
            <a:xfrm>
              <a:off x="1365250" y="3209703"/>
              <a:ext cx="6413500" cy="0"/>
            </a:xfrm>
            <a:prstGeom prst="line">
              <a:avLst/>
            </a:prstGeom>
            <a:ln w="63500">
              <a:solidFill>
                <a:srgbClr val="FFC60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7342C6-1168-45C2-811D-E049767D9091}"/>
                </a:ext>
              </a:extLst>
            </p:cNvPr>
            <p:cNvSpPr txBox="1"/>
            <p:nvPr/>
          </p:nvSpPr>
          <p:spPr>
            <a:xfrm>
              <a:off x="2973178" y="2081088"/>
              <a:ext cx="3197650" cy="11053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32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이상으로 발표 마치겠습니다</a:t>
              </a:r>
              <a:r>
                <a:rPr lang="en-US" altLang="ko-KR" sz="32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sz="4000" b="1" dirty="0" err="1">
                  <a:solidFill>
                    <a:srgbClr val="0050A4"/>
                  </a:solidFill>
                  <a:latin typeface="Freesentation 7 Bold" pitchFamily="2" charset="-127"/>
                  <a:ea typeface="Freesentation 7 Bold" pitchFamily="2" charset="-127"/>
                </a:rPr>
                <a:t>경청해주시어</a:t>
              </a:r>
              <a:r>
                <a:rPr lang="ko-KR" altLang="en-US" sz="4000" b="1" dirty="0">
                  <a:solidFill>
                    <a:srgbClr val="0050A4"/>
                  </a:solidFill>
                  <a:latin typeface="Freesentation 7 Bold" pitchFamily="2" charset="-127"/>
                  <a:ea typeface="Freesentation 7 Bold" pitchFamily="2" charset="-127"/>
                </a:rPr>
                <a:t> 감사합니다</a:t>
              </a:r>
              <a:r>
                <a:rPr lang="en-US" altLang="ko-KR" sz="4000" b="1" dirty="0">
                  <a:solidFill>
                    <a:srgbClr val="0050A4"/>
                  </a:solidFill>
                  <a:latin typeface="Freesentation 7 Bold" pitchFamily="2" charset="-127"/>
                  <a:ea typeface="Freesentation 7 Bold" pitchFamily="2" charset="-127"/>
                </a:rPr>
                <a:t>.</a:t>
              </a:r>
              <a:endParaRPr lang="ko-KR" altLang="en-US" sz="4000" b="1" dirty="0">
                <a:solidFill>
                  <a:srgbClr val="0050A4"/>
                </a:solidFill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F6505E-FEA0-414D-A140-5A74369F1CDD}"/>
                </a:ext>
              </a:extLst>
            </p:cNvPr>
            <p:cNvSpPr txBox="1"/>
            <p:nvPr/>
          </p:nvSpPr>
          <p:spPr>
            <a:xfrm>
              <a:off x="3338875" y="3209703"/>
              <a:ext cx="2466253" cy="333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Q&amp;A </a:t>
              </a:r>
              <a:r>
                <a:rPr lang="ko-KR" altLang="en-US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시간을 갖도록 하겠습니다</a:t>
              </a:r>
              <a:r>
                <a:rPr lang="en-US" altLang="ko-KR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.</a:t>
              </a:r>
              <a:endParaRPr lang="ko-KR" altLang="en-US" sz="2400" b="1" dirty="0">
                <a:solidFill>
                  <a:srgbClr val="373737"/>
                </a:solidFill>
                <a:latin typeface="Freesentation 7 Bold" pitchFamily="2" charset="-127"/>
                <a:ea typeface="Freesentation 7 Bold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3D4C81-A457-4608-950D-0DD0666D8D0E}"/>
                </a:ext>
              </a:extLst>
            </p:cNvPr>
            <p:cNvSpPr txBox="1"/>
            <p:nvPr/>
          </p:nvSpPr>
          <p:spPr>
            <a:xfrm>
              <a:off x="1933515" y="5000625"/>
              <a:ext cx="5276973" cy="849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rgbClr val="C31236"/>
                  </a:solidFill>
                  <a:latin typeface="Freesentation 7 Bold" pitchFamily="2" charset="-127"/>
                  <a:ea typeface="Freesentation 7 Bold" pitchFamily="2" charset="-127"/>
                </a:rPr>
                <a:t>GLOBAL BUSINESS ENVIRONMENT AND ETHICS</a:t>
              </a:r>
            </a:p>
            <a:p>
              <a:pPr algn="ctr"/>
              <a:endParaRPr lang="en-US" altLang="ko-KR" sz="2400" b="1" dirty="0">
                <a:latin typeface="Freesentation 7 Bold" pitchFamily="2" charset="-127"/>
                <a:ea typeface="Freesentation 7 Bold" pitchFamily="2" charset="-127"/>
              </a:endParaRPr>
            </a:p>
            <a:p>
              <a:pPr algn="ctr"/>
              <a:r>
                <a:rPr lang="en-US" altLang="ko-KR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KUMBA 32</a:t>
              </a:r>
              <a:r>
                <a:rPr lang="en-US" altLang="ko-KR" sz="2400" b="1" baseline="30000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nd</a:t>
              </a:r>
              <a:r>
                <a:rPr lang="en-US" altLang="ko-KR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강석범 </a:t>
              </a:r>
              <a:r>
                <a:rPr lang="en-US" altLang="ko-KR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&amp; </a:t>
              </a:r>
              <a:r>
                <a:rPr lang="ko-KR" altLang="en-US" sz="2400" b="1" dirty="0">
                  <a:solidFill>
                    <a:srgbClr val="373737"/>
                  </a:solidFill>
                  <a:latin typeface="Freesentation 7 Bold" pitchFamily="2" charset="-127"/>
                  <a:ea typeface="Freesentation 7 Bold" pitchFamily="2" charset="-127"/>
                </a:rPr>
                <a:t>김지후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408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12148</TotalTime>
  <Words>7735</Words>
  <Application>Microsoft Macintosh PowerPoint</Application>
  <PresentationFormat>와이드스크린</PresentationFormat>
  <Paragraphs>707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5" baseType="lpstr">
      <vt:lpstr>프리젠테이션 3 Light</vt:lpstr>
      <vt:lpstr>프리젠테이션 4 Regular</vt:lpstr>
      <vt:lpstr>프리젠테이션 5 Medium</vt:lpstr>
      <vt:lpstr>프리젠테이션 6 SemiBold</vt:lpstr>
      <vt:lpstr>프리젠테이션 8 ExtraBold</vt:lpstr>
      <vt:lpstr>Freesentation 4 Regular</vt:lpstr>
      <vt:lpstr>Freesentation 5 Medium</vt:lpstr>
      <vt:lpstr>Freesentation 6 SemiBold</vt:lpstr>
      <vt:lpstr>Freesentation 7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지후 김</dc:creator>
  <cp:lastModifiedBy>김지후</cp:lastModifiedBy>
  <cp:revision>134</cp:revision>
  <cp:lastPrinted>2025-11-18T00:49:21Z</cp:lastPrinted>
  <dcterms:created xsi:type="dcterms:W3CDTF">2025-11-12T07:32:01Z</dcterms:created>
  <dcterms:modified xsi:type="dcterms:W3CDTF">2025-12-16T09:33:59Z</dcterms:modified>
</cp:coreProperties>
</file>